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97" r:id="rId2"/>
    <p:sldMasterId id="2147483711" r:id="rId3"/>
  </p:sldMasterIdLst>
  <p:notesMasterIdLst>
    <p:notesMasterId r:id="rId43"/>
  </p:notesMasterIdLst>
  <p:sldIdLst>
    <p:sldId id="333" r:id="rId4"/>
    <p:sldId id="334" r:id="rId5"/>
    <p:sldId id="257" r:id="rId6"/>
    <p:sldId id="277" r:id="rId7"/>
    <p:sldId id="311" r:id="rId8"/>
    <p:sldId id="312" r:id="rId9"/>
    <p:sldId id="315" r:id="rId10"/>
    <p:sldId id="316" r:id="rId11"/>
    <p:sldId id="317" r:id="rId12"/>
    <p:sldId id="281" r:id="rId13"/>
    <p:sldId id="282" r:id="rId14"/>
    <p:sldId id="314" r:id="rId15"/>
    <p:sldId id="284" r:id="rId16"/>
    <p:sldId id="318" r:id="rId17"/>
    <p:sldId id="319" r:id="rId18"/>
    <p:sldId id="320" r:id="rId19"/>
    <p:sldId id="321" r:id="rId20"/>
    <p:sldId id="322" r:id="rId21"/>
    <p:sldId id="323" r:id="rId22"/>
    <p:sldId id="324" r:id="rId23"/>
    <p:sldId id="325" r:id="rId24"/>
    <p:sldId id="290" r:id="rId25"/>
    <p:sldId id="326" r:id="rId26"/>
    <p:sldId id="298" r:id="rId27"/>
    <p:sldId id="327" r:id="rId28"/>
    <p:sldId id="328" r:id="rId29"/>
    <p:sldId id="329" r:id="rId30"/>
    <p:sldId id="330" r:id="rId31"/>
    <p:sldId id="292" r:id="rId32"/>
    <p:sldId id="331" r:id="rId33"/>
    <p:sldId id="293" r:id="rId34"/>
    <p:sldId id="332" r:id="rId35"/>
    <p:sldId id="301" r:id="rId36"/>
    <p:sldId id="302" r:id="rId37"/>
    <p:sldId id="303" r:id="rId38"/>
    <p:sldId id="304" r:id="rId39"/>
    <p:sldId id="305" r:id="rId40"/>
    <p:sldId id="306" r:id="rId41"/>
    <p:sldId id="310" r:id="rId42"/>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 charset="0"/>
        <a:ea typeface="+mn-ea"/>
        <a:cs typeface="+mn-cs"/>
      </a:defRPr>
    </a:lvl1pPr>
    <a:lvl2pPr marL="457200" algn="l" rtl="0" fontAlgn="base">
      <a:spcBef>
        <a:spcPct val="0"/>
      </a:spcBef>
      <a:spcAft>
        <a:spcPct val="0"/>
      </a:spcAft>
      <a:defRPr kern="1200">
        <a:solidFill>
          <a:schemeClr val="tx1"/>
        </a:solidFill>
        <a:latin typeface="Arial" pitchFamily="-1" charset="0"/>
        <a:ea typeface="+mn-ea"/>
        <a:cs typeface="+mn-cs"/>
      </a:defRPr>
    </a:lvl2pPr>
    <a:lvl3pPr marL="914400" algn="l" rtl="0" fontAlgn="base">
      <a:spcBef>
        <a:spcPct val="0"/>
      </a:spcBef>
      <a:spcAft>
        <a:spcPct val="0"/>
      </a:spcAft>
      <a:defRPr kern="1200">
        <a:solidFill>
          <a:schemeClr val="tx1"/>
        </a:solidFill>
        <a:latin typeface="Arial" pitchFamily="-1" charset="0"/>
        <a:ea typeface="+mn-ea"/>
        <a:cs typeface="+mn-cs"/>
      </a:defRPr>
    </a:lvl3pPr>
    <a:lvl4pPr marL="1371600" algn="l" rtl="0" fontAlgn="base">
      <a:spcBef>
        <a:spcPct val="0"/>
      </a:spcBef>
      <a:spcAft>
        <a:spcPct val="0"/>
      </a:spcAft>
      <a:defRPr kern="1200">
        <a:solidFill>
          <a:schemeClr val="tx1"/>
        </a:solidFill>
        <a:latin typeface="Arial" pitchFamily="-1" charset="0"/>
        <a:ea typeface="+mn-ea"/>
        <a:cs typeface="+mn-cs"/>
      </a:defRPr>
    </a:lvl4pPr>
    <a:lvl5pPr marL="1828800" algn="l" rtl="0" fontAlgn="base">
      <a:spcBef>
        <a:spcPct val="0"/>
      </a:spcBef>
      <a:spcAft>
        <a:spcPct val="0"/>
      </a:spcAft>
      <a:defRPr kern="1200">
        <a:solidFill>
          <a:schemeClr val="tx1"/>
        </a:solidFill>
        <a:latin typeface="Arial" pitchFamily="-1" charset="0"/>
        <a:ea typeface="+mn-ea"/>
        <a:cs typeface="+mn-cs"/>
      </a:defRPr>
    </a:lvl5pPr>
    <a:lvl6pPr marL="2286000" algn="l" defTabSz="457200" rtl="0" eaLnBrk="1" latinLnBrk="0" hangingPunct="1">
      <a:defRPr kern="1200">
        <a:solidFill>
          <a:schemeClr val="tx1"/>
        </a:solidFill>
        <a:latin typeface="Arial" pitchFamily="-1" charset="0"/>
        <a:ea typeface="+mn-ea"/>
        <a:cs typeface="+mn-cs"/>
      </a:defRPr>
    </a:lvl6pPr>
    <a:lvl7pPr marL="2743200" algn="l" defTabSz="457200" rtl="0" eaLnBrk="1" latinLnBrk="0" hangingPunct="1">
      <a:defRPr kern="1200">
        <a:solidFill>
          <a:schemeClr val="tx1"/>
        </a:solidFill>
        <a:latin typeface="Arial" pitchFamily="-1" charset="0"/>
        <a:ea typeface="+mn-ea"/>
        <a:cs typeface="+mn-cs"/>
      </a:defRPr>
    </a:lvl7pPr>
    <a:lvl8pPr marL="3200400" algn="l" defTabSz="457200" rtl="0" eaLnBrk="1" latinLnBrk="0" hangingPunct="1">
      <a:defRPr kern="1200">
        <a:solidFill>
          <a:schemeClr val="tx1"/>
        </a:solidFill>
        <a:latin typeface="Arial" pitchFamily="-1" charset="0"/>
        <a:ea typeface="+mn-ea"/>
        <a:cs typeface="+mn-cs"/>
      </a:defRPr>
    </a:lvl8pPr>
    <a:lvl9pPr marL="3657600" algn="l" defTabSz="457200" rtl="0" eaLnBrk="1" latinLnBrk="0" hangingPunct="1">
      <a:defRPr kern="1200">
        <a:solidFill>
          <a:schemeClr val="tx1"/>
        </a:solidFill>
        <a:latin typeface="Arial"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568" autoAdjust="0"/>
  </p:normalViewPr>
  <p:slideViewPr>
    <p:cSldViewPr>
      <p:cViewPr varScale="1">
        <p:scale>
          <a:sx n="100" d="100"/>
          <a:sy n="100" d="100"/>
        </p:scale>
        <p:origin x="191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31" d="100"/>
          <a:sy n="131" d="100"/>
        </p:scale>
        <p:origin x="-968"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s>
</file>

<file path=ppt/diagrams/_rels/drawing2.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7.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8.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9.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10.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11.xml.rels><?xml version="1.0" encoding="UTF-8" standalone="yes"?>
<Relationships xmlns="http://schemas.openxmlformats.org/package/2006/relationships"><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77DFF2-2E38-4E4D-B8F1-00FF64802FB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4D7F915A-C1B7-D44F-8EFE-FB1849A3CC39}">
      <dgm:prSet/>
      <dgm:spPr>
        <a:solidFill>
          <a:schemeClr val="tx2"/>
        </a:solidFill>
        <a:ln>
          <a:solidFill>
            <a:schemeClr val="bg2"/>
          </a:solidFill>
        </a:ln>
        <a:effectLst/>
      </dgm:spPr>
      <dgm:t>
        <a:bodyPr/>
        <a:lstStyle/>
        <a:p>
          <a:pPr rtl="0"/>
          <a:r>
            <a:rPr lang="en-US" b="1" i="0" dirty="0">
              <a:solidFill>
                <a:schemeClr val="tx2">
                  <a:lumMod val="10000"/>
                </a:schemeClr>
              </a:solidFill>
            </a:rPr>
            <a:t>It is available free worldwide in versions that run on a variety of platforms</a:t>
          </a:r>
        </a:p>
      </dgm:t>
    </dgm:pt>
    <dgm:pt modelId="{90DA75CB-CEC0-BA4E-BB6E-21A7F8A94D75}" type="parTrans" cxnId="{FB682445-D214-B248-93F1-72534E8992F1}">
      <dgm:prSet/>
      <dgm:spPr/>
      <dgm:t>
        <a:bodyPr/>
        <a:lstStyle/>
        <a:p>
          <a:endParaRPr lang="en-US"/>
        </a:p>
      </dgm:t>
    </dgm:pt>
    <dgm:pt modelId="{C94F7191-785D-CB47-A9BE-77B120927E17}" type="sibTrans" cxnId="{FB682445-D214-B248-93F1-72534E8992F1}">
      <dgm:prSet/>
      <dgm:spPr/>
      <dgm:t>
        <a:bodyPr/>
        <a:lstStyle/>
        <a:p>
          <a:endParaRPr lang="en-US"/>
        </a:p>
      </dgm:t>
    </dgm:pt>
    <dgm:pt modelId="{F26E174F-B763-0D47-92A9-3C024561DD32}">
      <dgm:prSet/>
      <dgm:spPr>
        <a:solidFill>
          <a:schemeClr val="tx2"/>
        </a:solidFill>
        <a:ln>
          <a:solidFill>
            <a:schemeClr val="bg2"/>
          </a:solidFill>
        </a:ln>
        <a:effectLst/>
      </dgm:spPr>
      <dgm:t>
        <a:bodyPr/>
        <a:lstStyle/>
        <a:p>
          <a:pPr rtl="0"/>
          <a:r>
            <a:rPr lang="en-US" b="1" i="0" dirty="0">
              <a:solidFill>
                <a:schemeClr val="tx2">
                  <a:lumMod val="10000"/>
                </a:schemeClr>
              </a:solidFill>
            </a:rPr>
            <a:t>The commercial version satisfies users who want a product that comes with vendor support</a:t>
          </a:r>
        </a:p>
      </dgm:t>
    </dgm:pt>
    <dgm:pt modelId="{A54DDE41-53C2-3447-8F8F-A7821756A330}" type="parTrans" cxnId="{FA45F7A1-2CBD-1F47-BAED-34A4835A5C58}">
      <dgm:prSet/>
      <dgm:spPr/>
      <dgm:t>
        <a:bodyPr/>
        <a:lstStyle/>
        <a:p>
          <a:endParaRPr lang="en-US"/>
        </a:p>
      </dgm:t>
    </dgm:pt>
    <dgm:pt modelId="{EFF8C989-E698-CF4E-806D-923888D61831}" type="sibTrans" cxnId="{FA45F7A1-2CBD-1F47-BAED-34A4835A5C58}">
      <dgm:prSet/>
      <dgm:spPr/>
      <dgm:t>
        <a:bodyPr/>
        <a:lstStyle/>
        <a:p>
          <a:endParaRPr lang="en-US"/>
        </a:p>
      </dgm:t>
    </dgm:pt>
    <dgm:pt modelId="{76F7B079-932B-DA46-8155-B5329854E577}">
      <dgm:prSet/>
      <dgm:spPr>
        <a:solidFill>
          <a:schemeClr val="tx2"/>
        </a:solidFill>
        <a:ln>
          <a:solidFill>
            <a:schemeClr val="bg2"/>
          </a:solidFill>
        </a:ln>
        <a:effectLst/>
      </dgm:spPr>
      <dgm:t>
        <a:bodyPr/>
        <a:lstStyle/>
        <a:p>
          <a:pPr rtl="0"/>
          <a:r>
            <a:rPr lang="en-US" b="1" i="0" dirty="0">
              <a:solidFill>
                <a:schemeClr val="tx2">
                  <a:lumMod val="10000"/>
                </a:schemeClr>
              </a:solidFill>
            </a:rPr>
            <a:t>It is based on algorithms that have survived extensive public review and are considered extremely secure</a:t>
          </a:r>
        </a:p>
      </dgm:t>
    </dgm:pt>
    <dgm:pt modelId="{35703684-E635-974F-999E-8D569813AD13}" type="parTrans" cxnId="{E51ADFDD-86D5-4349-A960-8DDDA6A6B84F}">
      <dgm:prSet/>
      <dgm:spPr/>
      <dgm:t>
        <a:bodyPr/>
        <a:lstStyle/>
        <a:p>
          <a:endParaRPr lang="en-US"/>
        </a:p>
      </dgm:t>
    </dgm:pt>
    <dgm:pt modelId="{F96207C5-29F7-934A-8D7F-DCD8DFBA9E98}" type="sibTrans" cxnId="{E51ADFDD-86D5-4349-A960-8DDDA6A6B84F}">
      <dgm:prSet/>
      <dgm:spPr/>
      <dgm:t>
        <a:bodyPr/>
        <a:lstStyle/>
        <a:p>
          <a:endParaRPr lang="en-US"/>
        </a:p>
      </dgm:t>
    </dgm:pt>
    <dgm:pt modelId="{CAFB8964-2B58-3545-A8D2-1E75D9499AA1}">
      <dgm:prSet/>
      <dgm:spPr>
        <a:solidFill>
          <a:schemeClr val="tx2"/>
        </a:solidFill>
        <a:ln>
          <a:solidFill>
            <a:schemeClr val="bg2"/>
          </a:solidFill>
        </a:ln>
        <a:effectLst/>
      </dgm:spPr>
      <dgm:t>
        <a:bodyPr/>
        <a:lstStyle/>
        <a:p>
          <a:pPr rtl="0"/>
          <a:r>
            <a:rPr lang="en-US" b="1" i="0" dirty="0">
              <a:solidFill>
                <a:schemeClr val="tx2">
                  <a:lumMod val="10000"/>
                </a:schemeClr>
              </a:solidFill>
            </a:rPr>
            <a:t>It has a wide range of applicability</a:t>
          </a:r>
        </a:p>
      </dgm:t>
    </dgm:pt>
    <dgm:pt modelId="{3BEE56D2-667F-4847-8B65-48F498ADE306}" type="parTrans" cxnId="{5F1DC3DA-A037-E840-8CE9-0D09B4CA0719}">
      <dgm:prSet/>
      <dgm:spPr/>
      <dgm:t>
        <a:bodyPr/>
        <a:lstStyle/>
        <a:p>
          <a:endParaRPr lang="en-US"/>
        </a:p>
      </dgm:t>
    </dgm:pt>
    <dgm:pt modelId="{EF09F8B1-820E-0649-A520-E9BD3CC44954}" type="sibTrans" cxnId="{5F1DC3DA-A037-E840-8CE9-0D09B4CA0719}">
      <dgm:prSet/>
      <dgm:spPr/>
      <dgm:t>
        <a:bodyPr/>
        <a:lstStyle/>
        <a:p>
          <a:endParaRPr lang="en-US"/>
        </a:p>
      </dgm:t>
    </dgm:pt>
    <dgm:pt modelId="{19442F83-30A2-7A4D-9396-50FCD389343D}">
      <dgm:prSet/>
      <dgm:spPr>
        <a:solidFill>
          <a:schemeClr val="tx2"/>
        </a:solidFill>
        <a:ln>
          <a:solidFill>
            <a:schemeClr val="bg2"/>
          </a:solidFill>
        </a:ln>
        <a:effectLst/>
      </dgm:spPr>
      <dgm:t>
        <a:bodyPr/>
        <a:lstStyle/>
        <a:p>
          <a:pPr rtl="0"/>
          <a:r>
            <a:rPr lang="en-US" b="1" i="0" dirty="0">
              <a:solidFill>
                <a:schemeClr val="tx2">
                  <a:lumMod val="10000"/>
                </a:schemeClr>
              </a:solidFill>
            </a:rPr>
            <a:t>It was not developed by, nor is it controlled by, any governmental or standards organization</a:t>
          </a:r>
        </a:p>
      </dgm:t>
    </dgm:pt>
    <dgm:pt modelId="{2EC218EF-B9CC-214D-BB2B-8ED640AF2D5B}" type="parTrans" cxnId="{C4A8685B-14CC-4649-9517-FB76759B6EF2}">
      <dgm:prSet/>
      <dgm:spPr/>
      <dgm:t>
        <a:bodyPr/>
        <a:lstStyle/>
        <a:p>
          <a:endParaRPr lang="en-US"/>
        </a:p>
      </dgm:t>
    </dgm:pt>
    <dgm:pt modelId="{2C54712B-2FCC-F141-9081-0A45F86FBA48}" type="sibTrans" cxnId="{C4A8685B-14CC-4649-9517-FB76759B6EF2}">
      <dgm:prSet/>
      <dgm:spPr/>
      <dgm:t>
        <a:bodyPr/>
        <a:lstStyle/>
        <a:p>
          <a:endParaRPr lang="en-US"/>
        </a:p>
      </dgm:t>
    </dgm:pt>
    <dgm:pt modelId="{E668AD07-4279-374F-8238-1D9B9A7541A4}">
      <dgm:prSet/>
      <dgm:spPr>
        <a:solidFill>
          <a:schemeClr val="tx2"/>
        </a:solidFill>
        <a:ln>
          <a:solidFill>
            <a:schemeClr val="bg2"/>
          </a:solidFill>
        </a:ln>
        <a:effectLst/>
      </dgm:spPr>
      <dgm:t>
        <a:bodyPr/>
        <a:lstStyle/>
        <a:p>
          <a:pPr rtl="0"/>
          <a:r>
            <a:rPr lang="en-US" b="1" i="0" dirty="0">
              <a:solidFill>
                <a:schemeClr val="tx2">
                  <a:lumMod val="10000"/>
                </a:schemeClr>
              </a:solidFill>
            </a:rPr>
            <a:t>Is now on an Internet standards track, however it still has an aura of an antiestablishment endeavor</a:t>
          </a:r>
        </a:p>
      </dgm:t>
    </dgm:pt>
    <dgm:pt modelId="{B8B85AD2-E62F-3449-B2D6-CD333BF9E6F8}" type="parTrans" cxnId="{E3B0FD9C-30FB-B544-95E0-1BBF1E6589FA}">
      <dgm:prSet/>
      <dgm:spPr/>
      <dgm:t>
        <a:bodyPr/>
        <a:lstStyle/>
        <a:p>
          <a:endParaRPr lang="en-US"/>
        </a:p>
      </dgm:t>
    </dgm:pt>
    <dgm:pt modelId="{D9CA2B2E-F9BE-DA41-B7DF-E5BB257C93C8}" type="sibTrans" cxnId="{E3B0FD9C-30FB-B544-95E0-1BBF1E6589FA}">
      <dgm:prSet/>
      <dgm:spPr/>
      <dgm:t>
        <a:bodyPr/>
        <a:lstStyle/>
        <a:p>
          <a:endParaRPr lang="en-US"/>
        </a:p>
      </dgm:t>
    </dgm:pt>
    <dgm:pt modelId="{FA9FA977-8A10-5E48-8DD8-DFB3E17D9E10}" type="pres">
      <dgm:prSet presAssocID="{D977DFF2-2E38-4E4D-B8F1-00FF64802FBC}" presName="linear" presStyleCnt="0">
        <dgm:presLayoutVars>
          <dgm:animLvl val="lvl"/>
          <dgm:resizeHandles val="exact"/>
        </dgm:presLayoutVars>
      </dgm:prSet>
      <dgm:spPr/>
    </dgm:pt>
    <dgm:pt modelId="{611ECB6D-A646-8F4A-94F4-2A625645C025}" type="pres">
      <dgm:prSet presAssocID="{4D7F915A-C1B7-D44F-8EFE-FB1849A3CC39}" presName="parentText" presStyleLbl="node1" presStyleIdx="0" presStyleCnt="6">
        <dgm:presLayoutVars>
          <dgm:chMax val="0"/>
          <dgm:bulletEnabled val="1"/>
        </dgm:presLayoutVars>
      </dgm:prSet>
      <dgm:spPr/>
    </dgm:pt>
    <dgm:pt modelId="{4447BBC9-A76E-784B-B77C-04F75ADADA54}" type="pres">
      <dgm:prSet presAssocID="{C94F7191-785D-CB47-A9BE-77B120927E17}" presName="spacer" presStyleCnt="0"/>
      <dgm:spPr/>
    </dgm:pt>
    <dgm:pt modelId="{9047F29C-ED91-4844-B37C-A7D79FAC48E5}" type="pres">
      <dgm:prSet presAssocID="{F26E174F-B763-0D47-92A9-3C024561DD32}" presName="parentText" presStyleLbl="node1" presStyleIdx="1" presStyleCnt="6">
        <dgm:presLayoutVars>
          <dgm:chMax val="0"/>
          <dgm:bulletEnabled val="1"/>
        </dgm:presLayoutVars>
      </dgm:prSet>
      <dgm:spPr/>
    </dgm:pt>
    <dgm:pt modelId="{2348196F-E250-554A-A6FD-AAD195F5C347}" type="pres">
      <dgm:prSet presAssocID="{EFF8C989-E698-CF4E-806D-923888D61831}" presName="spacer" presStyleCnt="0"/>
      <dgm:spPr/>
    </dgm:pt>
    <dgm:pt modelId="{50626430-EBC0-2D49-9D99-5DEE880C586D}" type="pres">
      <dgm:prSet presAssocID="{76F7B079-932B-DA46-8155-B5329854E577}" presName="parentText" presStyleLbl="node1" presStyleIdx="2" presStyleCnt="6">
        <dgm:presLayoutVars>
          <dgm:chMax val="0"/>
          <dgm:bulletEnabled val="1"/>
        </dgm:presLayoutVars>
      </dgm:prSet>
      <dgm:spPr/>
    </dgm:pt>
    <dgm:pt modelId="{F9312456-0565-DF47-94EB-B9E6E23032F5}" type="pres">
      <dgm:prSet presAssocID="{F96207C5-29F7-934A-8D7F-DCD8DFBA9E98}" presName="spacer" presStyleCnt="0"/>
      <dgm:spPr/>
    </dgm:pt>
    <dgm:pt modelId="{B223FE5A-4A65-9740-B97C-9E474E7AEA2F}" type="pres">
      <dgm:prSet presAssocID="{CAFB8964-2B58-3545-A8D2-1E75D9499AA1}" presName="parentText" presStyleLbl="node1" presStyleIdx="3" presStyleCnt="6">
        <dgm:presLayoutVars>
          <dgm:chMax val="0"/>
          <dgm:bulletEnabled val="1"/>
        </dgm:presLayoutVars>
      </dgm:prSet>
      <dgm:spPr/>
    </dgm:pt>
    <dgm:pt modelId="{AE1A2033-3746-F14B-BA8A-56F43073EB1A}" type="pres">
      <dgm:prSet presAssocID="{EF09F8B1-820E-0649-A520-E9BD3CC44954}" presName="spacer" presStyleCnt="0"/>
      <dgm:spPr/>
    </dgm:pt>
    <dgm:pt modelId="{FF4ABC8F-C24D-2B43-B809-E05BFF717D35}" type="pres">
      <dgm:prSet presAssocID="{19442F83-30A2-7A4D-9396-50FCD389343D}" presName="parentText" presStyleLbl="node1" presStyleIdx="4" presStyleCnt="6">
        <dgm:presLayoutVars>
          <dgm:chMax val="0"/>
          <dgm:bulletEnabled val="1"/>
        </dgm:presLayoutVars>
      </dgm:prSet>
      <dgm:spPr/>
    </dgm:pt>
    <dgm:pt modelId="{2DDF7FA6-25D3-E942-840A-090CF2D4F80A}" type="pres">
      <dgm:prSet presAssocID="{2C54712B-2FCC-F141-9081-0A45F86FBA48}" presName="spacer" presStyleCnt="0"/>
      <dgm:spPr/>
    </dgm:pt>
    <dgm:pt modelId="{A4340635-66BD-B040-908E-9A8FE9FCC751}" type="pres">
      <dgm:prSet presAssocID="{E668AD07-4279-374F-8238-1D9B9A7541A4}" presName="parentText" presStyleLbl="node1" presStyleIdx="5" presStyleCnt="6">
        <dgm:presLayoutVars>
          <dgm:chMax val="0"/>
          <dgm:bulletEnabled val="1"/>
        </dgm:presLayoutVars>
      </dgm:prSet>
      <dgm:spPr/>
    </dgm:pt>
  </dgm:ptLst>
  <dgm:cxnLst>
    <dgm:cxn modelId="{A9B1A506-82BB-5742-B3E5-DE8ACEB1A4A3}" type="presOf" srcId="{4D7F915A-C1B7-D44F-8EFE-FB1849A3CC39}" destId="{611ECB6D-A646-8F4A-94F4-2A625645C025}" srcOrd="0" destOrd="0" presId="urn:microsoft.com/office/officeart/2005/8/layout/vList2"/>
    <dgm:cxn modelId="{8FA6C932-485A-494D-9B86-17EFDCB3E593}" type="presOf" srcId="{19442F83-30A2-7A4D-9396-50FCD389343D}" destId="{FF4ABC8F-C24D-2B43-B809-E05BFF717D35}" srcOrd="0" destOrd="0" presId="urn:microsoft.com/office/officeart/2005/8/layout/vList2"/>
    <dgm:cxn modelId="{C4A8685B-14CC-4649-9517-FB76759B6EF2}" srcId="{D977DFF2-2E38-4E4D-B8F1-00FF64802FBC}" destId="{19442F83-30A2-7A4D-9396-50FCD389343D}" srcOrd="4" destOrd="0" parTransId="{2EC218EF-B9CC-214D-BB2B-8ED640AF2D5B}" sibTransId="{2C54712B-2FCC-F141-9081-0A45F86FBA48}"/>
    <dgm:cxn modelId="{FB682445-D214-B248-93F1-72534E8992F1}" srcId="{D977DFF2-2E38-4E4D-B8F1-00FF64802FBC}" destId="{4D7F915A-C1B7-D44F-8EFE-FB1849A3CC39}" srcOrd="0" destOrd="0" parTransId="{90DA75CB-CEC0-BA4E-BB6E-21A7F8A94D75}" sibTransId="{C94F7191-785D-CB47-A9BE-77B120927E17}"/>
    <dgm:cxn modelId="{95201F49-D30F-354C-82B3-0CA3B88A5A52}" type="presOf" srcId="{CAFB8964-2B58-3545-A8D2-1E75D9499AA1}" destId="{B223FE5A-4A65-9740-B97C-9E474E7AEA2F}" srcOrd="0" destOrd="0" presId="urn:microsoft.com/office/officeart/2005/8/layout/vList2"/>
    <dgm:cxn modelId="{9291666A-40AA-7E4C-A489-A7AA78FB2C03}" type="presOf" srcId="{76F7B079-932B-DA46-8155-B5329854E577}" destId="{50626430-EBC0-2D49-9D99-5DEE880C586D}" srcOrd="0" destOrd="0" presId="urn:microsoft.com/office/officeart/2005/8/layout/vList2"/>
    <dgm:cxn modelId="{A125D84F-4D52-0347-9AC9-B84E44A5FE35}" type="presOf" srcId="{F26E174F-B763-0D47-92A9-3C024561DD32}" destId="{9047F29C-ED91-4844-B37C-A7D79FAC48E5}" srcOrd="0" destOrd="0" presId="urn:microsoft.com/office/officeart/2005/8/layout/vList2"/>
    <dgm:cxn modelId="{E3B0FD9C-30FB-B544-95E0-1BBF1E6589FA}" srcId="{D977DFF2-2E38-4E4D-B8F1-00FF64802FBC}" destId="{E668AD07-4279-374F-8238-1D9B9A7541A4}" srcOrd="5" destOrd="0" parTransId="{B8B85AD2-E62F-3449-B2D6-CD333BF9E6F8}" sibTransId="{D9CA2B2E-F9BE-DA41-B7DF-E5BB257C93C8}"/>
    <dgm:cxn modelId="{FA45F7A1-2CBD-1F47-BAED-34A4835A5C58}" srcId="{D977DFF2-2E38-4E4D-B8F1-00FF64802FBC}" destId="{F26E174F-B763-0D47-92A9-3C024561DD32}" srcOrd="1" destOrd="0" parTransId="{A54DDE41-53C2-3447-8F8F-A7821756A330}" sibTransId="{EFF8C989-E698-CF4E-806D-923888D61831}"/>
    <dgm:cxn modelId="{04E454A8-39B1-F647-8B21-D27474C2564F}" type="presOf" srcId="{D977DFF2-2E38-4E4D-B8F1-00FF64802FBC}" destId="{FA9FA977-8A10-5E48-8DD8-DFB3E17D9E10}" srcOrd="0" destOrd="0" presId="urn:microsoft.com/office/officeart/2005/8/layout/vList2"/>
    <dgm:cxn modelId="{FF939EAC-3700-5F4E-BB5F-007D1F2FDCC0}" type="presOf" srcId="{E668AD07-4279-374F-8238-1D9B9A7541A4}" destId="{A4340635-66BD-B040-908E-9A8FE9FCC751}" srcOrd="0" destOrd="0" presId="urn:microsoft.com/office/officeart/2005/8/layout/vList2"/>
    <dgm:cxn modelId="{5F1DC3DA-A037-E840-8CE9-0D09B4CA0719}" srcId="{D977DFF2-2E38-4E4D-B8F1-00FF64802FBC}" destId="{CAFB8964-2B58-3545-A8D2-1E75D9499AA1}" srcOrd="3" destOrd="0" parTransId="{3BEE56D2-667F-4847-8B65-48F498ADE306}" sibTransId="{EF09F8B1-820E-0649-A520-E9BD3CC44954}"/>
    <dgm:cxn modelId="{E51ADFDD-86D5-4349-A960-8DDDA6A6B84F}" srcId="{D977DFF2-2E38-4E4D-B8F1-00FF64802FBC}" destId="{76F7B079-932B-DA46-8155-B5329854E577}" srcOrd="2" destOrd="0" parTransId="{35703684-E635-974F-999E-8D569813AD13}" sibTransId="{F96207C5-29F7-934A-8D7F-DCD8DFBA9E98}"/>
    <dgm:cxn modelId="{92ADC04E-6556-C344-A1AA-D938E2414343}" type="presParOf" srcId="{FA9FA977-8A10-5E48-8DD8-DFB3E17D9E10}" destId="{611ECB6D-A646-8F4A-94F4-2A625645C025}" srcOrd="0" destOrd="0" presId="urn:microsoft.com/office/officeart/2005/8/layout/vList2"/>
    <dgm:cxn modelId="{E31A3ED3-B044-2447-A9F8-41E4EBC442ED}" type="presParOf" srcId="{FA9FA977-8A10-5E48-8DD8-DFB3E17D9E10}" destId="{4447BBC9-A76E-784B-B77C-04F75ADADA54}" srcOrd="1" destOrd="0" presId="urn:microsoft.com/office/officeart/2005/8/layout/vList2"/>
    <dgm:cxn modelId="{42CACC74-9DF8-2642-BB80-E653B878F638}" type="presParOf" srcId="{FA9FA977-8A10-5E48-8DD8-DFB3E17D9E10}" destId="{9047F29C-ED91-4844-B37C-A7D79FAC48E5}" srcOrd="2" destOrd="0" presId="urn:microsoft.com/office/officeart/2005/8/layout/vList2"/>
    <dgm:cxn modelId="{72AD0DDF-D88B-914B-8473-B0EE65D9918B}" type="presParOf" srcId="{FA9FA977-8A10-5E48-8DD8-DFB3E17D9E10}" destId="{2348196F-E250-554A-A6FD-AAD195F5C347}" srcOrd="3" destOrd="0" presId="urn:microsoft.com/office/officeart/2005/8/layout/vList2"/>
    <dgm:cxn modelId="{43A28AAD-B896-F846-BE1D-ADA66EFD4394}" type="presParOf" srcId="{FA9FA977-8A10-5E48-8DD8-DFB3E17D9E10}" destId="{50626430-EBC0-2D49-9D99-5DEE880C586D}" srcOrd="4" destOrd="0" presId="urn:microsoft.com/office/officeart/2005/8/layout/vList2"/>
    <dgm:cxn modelId="{428FC2EB-392F-E64B-96BC-D69B4E9E26D0}" type="presParOf" srcId="{FA9FA977-8A10-5E48-8DD8-DFB3E17D9E10}" destId="{F9312456-0565-DF47-94EB-B9E6E23032F5}" srcOrd="5" destOrd="0" presId="urn:microsoft.com/office/officeart/2005/8/layout/vList2"/>
    <dgm:cxn modelId="{593C6441-CD44-B745-BE4D-AA274B619C80}" type="presParOf" srcId="{FA9FA977-8A10-5E48-8DD8-DFB3E17D9E10}" destId="{B223FE5A-4A65-9740-B97C-9E474E7AEA2F}" srcOrd="6" destOrd="0" presId="urn:microsoft.com/office/officeart/2005/8/layout/vList2"/>
    <dgm:cxn modelId="{DB09E971-B8F0-A345-AE1E-2AF07D056B19}" type="presParOf" srcId="{FA9FA977-8A10-5E48-8DD8-DFB3E17D9E10}" destId="{AE1A2033-3746-F14B-BA8A-56F43073EB1A}" srcOrd="7" destOrd="0" presId="urn:microsoft.com/office/officeart/2005/8/layout/vList2"/>
    <dgm:cxn modelId="{1BCD41AB-3D31-0141-AAC9-14AE0624EA49}" type="presParOf" srcId="{FA9FA977-8A10-5E48-8DD8-DFB3E17D9E10}" destId="{FF4ABC8F-C24D-2B43-B809-E05BFF717D35}" srcOrd="8" destOrd="0" presId="urn:microsoft.com/office/officeart/2005/8/layout/vList2"/>
    <dgm:cxn modelId="{8BD44E04-5408-8A4A-9DF3-0A0707512350}" type="presParOf" srcId="{FA9FA977-8A10-5E48-8DD8-DFB3E17D9E10}" destId="{2DDF7FA6-25D3-E942-840A-090CF2D4F80A}" srcOrd="9" destOrd="0" presId="urn:microsoft.com/office/officeart/2005/8/layout/vList2"/>
    <dgm:cxn modelId="{B96BA3A7-5B58-BB43-9192-A5EC3E2063E7}" type="presParOf" srcId="{FA9FA977-8A10-5E48-8DD8-DFB3E17D9E10}" destId="{A4340635-66BD-B040-908E-9A8FE9FCC751}"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AE6445-2F45-3346-98A6-B2A09C685E4F}"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F974E23-BA26-C544-BF00-11283EB8BDB6}">
      <dgm:prSet phldrT="[Text]"/>
      <dgm:spPr>
        <a:ln>
          <a:solidFill>
            <a:schemeClr val="bg2"/>
          </a:solidFill>
        </a:ln>
      </dgm:spPr>
      <dgm:t>
        <a:bodyPr/>
        <a:lstStyle/>
        <a:p>
          <a:r>
            <a:rPr lang="en-US" dirty="0">
              <a:cs typeface="ＭＳ Ｐゴシック" pitchFamily="-84" charset="-128"/>
            </a:rPr>
            <a:t>In PGP each symmetric key is used </a:t>
          </a:r>
          <a:r>
            <a:rPr lang="en-US" dirty="0">
              <a:solidFill>
                <a:srgbClr val="FFFF00"/>
              </a:solidFill>
              <a:cs typeface="ＭＳ Ｐゴシック" pitchFamily="-84" charset="-128"/>
            </a:rPr>
            <a:t>only once</a:t>
          </a:r>
          <a:endParaRPr lang="en-US" dirty="0">
            <a:solidFill>
              <a:srgbClr val="FFFF00"/>
            </a:solidFill>
          </a:endParaRPr>
        </a:p>
      </dgm:t>
    </dgm:pt>
    <dgm:pt modelId="{D6BB5505-05E3-3C4C-9C72-9E577E4D161D}" type="parTrans" cxnId="{A0F989C6-57D2-F04A-9DC4-2BAFAB31FC72}">
      <dgm:prSet/>
      <dgm:spPr/>
      <dgm:t>
        <a:bodyPr/>
        <a:lstStyle/>
        <a:p>
          <a:endParaRPr lang="en-US"/>
        </a:p>
      </dgm:t>
    </dgm:pt>
    <dgm:pt modelId="{83913F64-7491-5C40-A4F0-627BE57F903D}" type="sibTrans" cxnId="{A0F989C6-57D2-F04A-9DC4-2BAFAB31FC72}">
      <dgm:prSet/>
      <dgm:spPr/>
      <dgm:t>
        <a:bodyPr/>
        <a:lstStyle/>
        <a:p>
          <a:endParaRPr lang="en-US"/>
        </a:p>
      </dgm:t>
    </dgm:pt>
    <dgm:pt modelId="{A35E98B1-AA01-524D-88C2-6740EFE8331E}">
      <dgm:prSet/>
      <dgm:spPr>
        <a:solidFill>
          <a:schemeClr val="tx2"/>
        </a:solidFill>
        <a:ln>
          <a:solidFill>
            <a:schemeClr val="bg2"/>
          </a:solidFill>
        </a:ln>
      </dgm:spPr>
      <dgm:t>
        <a:bodyPr/>
        <a:lstStyle/>
        <a:p>
          <a:r>
            <a:rPr lang="en-US" dirty="0">
              <a:solidFill>
                <a:schemeClr val="tx2">
                  <a:lumMod val="10000"/>
                </a:schemeClr>
              </a:solidFill>
            </a:rPr>
            <a:t>Although referred to as a session key, it is in reality a one-time key</a:t>
          </a:r>
        </a:p>
      </dgm:t>
    </dgm:pt>
    <dgm:pt modelId="{67FAE436-F56F-F84E-B068-EA2C2834A968}" type="parTrans" cxnId="{F4D7D2B1-E905-EA4E-94F0-3FADE9C83C22}">
      <dgm:prSet/>
      <dgm:spPr/>
      <dgm:t>
        <a:bodyPr/>
        <a:lstStyle/>
        <a:p>
          <a:endParaRPr lang="en-US"/>
        </a:p>
      </dgm:t>
    </dgm:pt>
    <dgm:pt modelId="{410642FD-E69C-A442-965D-4344B259A582}" type="sibTrans" cxnId="{F4D7D2B1-E905-EA4E-94F0-3FADE9C83C22}">
      <dgm:prSet/>
      <dgm:spPr/>
      <dgm:t>
        <a:bodyPr/>
        <a:lstStyle/>
        <a:p>
          <a:endParaRPr lang="en-US"/>
        </a:p>
      </dgm:t>
    </dgm:pt>
    <dgm:pt modelId="{1A59759A-276D-1C40-99CB-4F33887522C0}">
      <dgm:prSet/>
      <dgm:spPr>
        <a:solidFill>
          <a:schemeClr val="tx2"/>
        </a:solidFill>
        <a:ln>
          <a:solidFill>
            <a:schemeClr val="bg2"/>
          </a:solidFill>
        </a:ln>
      </dgm:spPr>
      <dgm:t>
        <a:bodyPr/>
        <a:lstStyle/>
        <a:p>
          <a:r>
            <a:rPr lang="en-US" dirty="0">
              <a:solidFill>
                <a:schemeClr val="tx2">
                  <a:lumMod val="10000"/>
                </a:schemeClr>
              </a:solidFill>
            </a:rPr>
            <a:t>Session key is bound to the message and transmitted with it</a:t>
          </a:r>
        </a:p>
      </dgm:t>
    </dgm:pt>
    <dgm:pt modelId="{18015D6A-8AC0-EB4A-8317-3E526EA508B1}" type="parTrans" cxnId="{4C537D4C-4232-4447-818C-848A8B465298}">
      <dgm:prSet/>
      <dgm:spPr/>
      <dgm:t>
        <a:bodyPr/>
        <a:lstStyle/>
        <a:p>
          <a:endParaRPr lang="en-US"/>
        </a:p>
      </dgm:t>
    </dgm:pt>
    <dgm:pt modelId="{D9A5F68E-EE70-FB41-9D5B-05ED330C3D40}" type="sibTrans" cxnId="{4C537D4C-4232-4447-818C-848A8B465298}">
      <dgm:prSet/>
      <dgm:spPr/>
      <dgm:t>
        <a:bodyPr/>
        <a:lstStyle/>
        <a:p>
          <a:endParaRPr lang="en-US"/>
        </a:p>
      </dgm:t>
    </dgm:pt>
    <dgm:pt modelId="{7535848A-2751-464A-A3F9-D46E3EB6C455}">
      <dgm:prSet/>
      <dgm:spPr>
        <a:solidFill>
          <a:schemeClr val="tx2"/>
        </a:solidFill>
        <a:ln>
          <a:solidFill>
            <a:schemeClr val="bg2"/>
          </a:solidFill>
        </a:ln>
      </dgm:spPr>
      <dgm:t>
        <a:bodyPr/>
        <a:lstStyle/>
        <a:p>
          <a:r>
            <a:rPr lang="en-US" dirty="0">
              <a:solidFill>
                <a:schemeClr val="tx2">
                  <a:lumMod val="10000"/>
                </a:schemeClr>
              </a:solidFill>
            </a:rPr>
            <a:t>To protect the key, it is encrypted with the receiver’s public key</a:t>
          </a:r>
        </a:p>
      </dgm:t>
    </dgm:pt>
    <dgm:pt modelId="{F8C5E94E-51B5-914B-A1BC-9696B307E1F7}" type="parTrans" cxnId="{8FCBCC6F-805C-0A4D-974A-C1ECA0138B8A}">
      <dgm:prSet/>
      <dgm:spPr/>
      <dgm:t>
        <a:bodyPr/>
        <a:lstStyle/>
        <a:p>
          <a:endParaRPr lang="en-US"/>
        </a:p>
      </dgm:t>
    </dgm:pt>
    <dgm:pt modelId="{87776E0C-7EFF-FE46-AC3D-F4F001A86BF4}" type="sibTrans" cxnId="{8FCBCC6F-805C-0A4D-974A-C1ECA0138B8A}">
      <dgm:prSet/>
      <dgm:spPr/>
      <dgm:t>
        <a:bodyPr/>
        <a:lstStyle/>
        <a:p>
          <a:endParaRPr lang="en-US"/>
        </a:p>
      </dgm:t>
    </dgm:pt>
    <dgm:pt modelId="{4C9FE992-6FE4-3E40-B86D-2BD48C2B1258}" type="pres">
      <dgm:prSet presAssocID="{8BAE6445-2F45-3346-98A6-B2A09C685E4F}" presName="Name0" presStyleCnt="0">
        <dgm:presLayoutVars>
          <dgm:dir/>
          <dgm:animLvl val="lvl"/>
          <dgm:resizeHandles val="exact"/>
        </dgm:presLayoutVars>
      </dgm:prSet>
      <dgm:spPr/>
    </dgm:pt>
    <dgm:pt modelId="{787AC96C-8FD4-274A-81CB-E78365E59716}" type="pres">
      <dgm:prSet presAssocID="{6F974E23-BA26-C544-BF00-11283EB8BDB6}" presName="composite" presStyleCnt="0"/>
      <dgm:spPr/>
    </dgm:pt>
    <dgm:pt modelId="{5C8256E5-E179-9241-BC04-07BA137D65BE}" type="pres">
      <dgm:prSet presAssocID="{6F974E23-BA26-C544-BF00-11283EB8BDB6}" presName="parTx" presStyleLbl="alignNode1" presStyleIdx="0" presStyleCnt="1">
        <dgm:presLayoutVars>
          <dgm:chMax val="0"/>
          <dgm:chPref val="0"/>
          <dgm:bulletEnabled val="1"/>
        </dgm:presLayoutVars>
      </dgm:prSet>
      <dgm:spPr/>
    </dgm:pt>
    <dgm:pt modelId="{CC5D343A-809E-C44E-B9C9-265EA6228B72}" type="pres">
      <dgm:prSet presAssocID="{6F974E23-BA26-C544-BF00-11283EB8BDB6}" presName="desTx" presStyleLbl="alignAccFollowNode1" presStyleIdx="0" presStyleCnt="1">
        <dgm:presLayoutVars>
          <dgm:bulletEnabled val="1"/>
        </dgm:presLayoutVars>
      </dgm:prSet>
      <dgm:spPr/>
    </dgm:pt>
  </dgm:ptLst>
  <dgm:cxnLst>
    <dgm:cxn modelId="{CF49F917-6ED1-8D4E-9507-7D4900BEF7E1}" type="presOf" srcId="{A35E98B1-AA01-524D-88C2-6740EFE8331E}" destId="{CC5D343A-809E-C44E-B9C9-265EA6228B72}" srcOrd="0" destOrd="0" presId="urn:microsoft.com/office/officeart/2005/8/layout/hList1"/>
    <dgm:cxn modelId="{C4A8393C-10A4-CC43-A6CD-03F14407DC5C}" type="presOf" srcId="{1A59759A-276D-1C40-99CB-4F33887522C0}" destId="{CC5D343A-809E-C44E-B9C9-265EA6228B72}" srcOrd="0" destOrd="1" presId="urn:microsoft.com/office/officeart/2005/8/layout/hList1"/>
    <dgm:cxn modelId="{4C537D4C-4232-4447-818C-848A8B465298}" srcId="{6F974E23-BA26-C544-BF00-11283EB8BDB6}" destId="{1A59759A-276D-1C40-99CB-4F33887522C0}" srcOrd="1" destOrd="0" parTransId="{18015D6A-8AC0-EB4A-8317-3E526EA508B1}" sibTransId="{D9A5F68E-EE70-FB41-9D5B-05ED330C3D40}"/>
    <dgm:cxn modelId="{8FCBCC6F-805C-0A4D-974A-C1ECA0138B8A}" srcId="{6F974E23-BA26-C544-BF00-11283EB8BDB6}" destId="{7535848A-2751-464A-A3F9-D46E3EB6C455}" srcOrd="2" destOrd="0" parTransId="{F8C5E94E-51B5-914B-A1BC-9696B307E1F7}" sibTransId="{87776E0C-7EFF-FE46-AC3D-F4F001A86BF4}"/>
    <dgm:cxn modelId="{F040B278-AF4C-5149-9D4C-E2587C9057A4}" type="presOf" srcId="{6F974E23-BA26-C544-BF00-11283EB8BDB6}" destId="{5C8256E5-E179-9241-BC04-07BA137D65BE}" srcOrd="0" destOrd="0" presId="urn:microsoft.com/office/officeart/2005/8/layout/hList1"/>
    <dgm:cxn modelId="{F4D7D2B1-E905-EA4E-94F0-3FADE9C83C22}" srcId="{6F974E23-BA26-C544-BF00-11283EB8BDB6}" destId="{A35E98B1-AA01-524D-88C2-6740EFE8331E}" srcOrd="0" destOrd="0" parTransId="{67FAE436-F56F-F84E-B068-EA2C2834A968}" sibTransId="{410642FD-E69C-A442-965D-4344B259A582}"/>
    <dgm:cxn modelId="{19E2ACB9-74C1-6C4F-A220-B2104FBC051F}" type="presOf" srcId="{7535848A-2751-464A-A3F9-D46E3EB6C455}" destId="{CC5D343A-809E-C44E-B9C9-265EA6228B72}" srcOrd="0" destOrd="2" presId="urn:microsoft.com/office/officeart/2005/8/layout/hList1"/>
    <dgm:cxn modelId="{A0F989C6-57D2-F04A-9DC4-2BAFAB31FC72}" srcId="{8BAE6445-2F45-3346-98A6-B2A09C685E4F}" destId="{6F974E23-BA26-C544-BF00-11283EB8BDB6}" srcOrd="0" destOrd="0" parTransId="{D6BB5505-05E3-3C4C-9C72-9E577E4D161D}" sibTransId="{83913F64-7491-5C40-A4F0-627BE57F903D}"/>
    <dgm:cxn modelId="{7446A3D1-2DA2-B148-9B6A-505B3DB2927B}" type="presOf" srcId="{8BAE6445-2F45-3346-98A6-B2A09C685E4F}" destId="{4C9FE992-6FE4-3E40-B86D-2BD48C2B1258}" srcOrd="0" destOrd="0" presId="urn:microsoft.com/office/officeart/2005/8/layout/hList1"/>
    <dgm:cxn modelId="{B125ADE1-6DD3-5446-B339-81B3F63B2368}" type="presParOf" srcId="{4C9FE992-6FE4-3E40-B86D-2BD48C2B1258}" destId="{787AC96C-8FD4-274A-81CB-E78365E59716}" srcOrd="0" destOrd="0" presId="urn:microsoft.com/office/officeart/2005/8/layout/hList1"/>
    <dgm:cxn modelId="{C4704795-D29C-8E44-ACC5-C38C13AED39D}" type="presParOf" srcId="{787AC96C-8FD4-274A-81CB-E78365E59716}" destId="{5C8256E5-E179-9241-BC04-07BA137D65BE}" srcOrd="0" destOrd="0" presId="urn:microsoft.com/office/officeart/2005/8/layout/hList1"/>
    <dgm:cxn modelId="{DF468F58-F8F9-0148-B8D9-10A53A316633}" type="presParOf" srcId="{787AC96C-8FD4-274A-81CB-E78365E59716}" destId="{CC5D343A-809E-C44E-B9C9-265EA6228B7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B38808-79A5-DF42-A28F-CEF0945C3404}" type="doc">
      <dgm:prSet loTypeId="urn:microsoft.com/office/officeart/2005/8/layout/hProcess9" loCatId="process" qsTypeId="urn:microsoft.com/office/officeart/2005/8/quickstyle/simple4" qsCatId="simple" csTypeId="urn:microsoft.com/office/officeart/2005/8/colors/accent1_2" csCatId="accent1" phldr="1"/>
      <dgm:spPr/>
    </dgm:pt>
    <dgm:pt modelId="{8BF02CC6-771E-584A-AF2D-23238D12794F}">
      <dgm:prSet phldrT="[Text]"/>
      <dgm:spPr>
        <a:ln>
          <a:solidFill>
            <a:schemeClr val="tx1"/>
          </a:solidFill>
        </a:ln>
      </dgm:spPr>
      <dgm:t>
        <a:bodyPr/>
        <a:lstStyle/>
        <a:p>
          <a:r>
            <a:rPr lang="en-US" dirty="0"/>
            <a:t>The sender first signs the message with its own private key</a:t>
          </a:r>
        </a:p>
      </dgm:t>
    </dgm:pt>
    <dgm:pt modelId="{320F35BD-10E8-B240-86F0-791DEE154A39}" type="parTrans" cxnId="{E30F18BF-D03D-C34A-8077-0E0622549308}">
      <dgm:prSet/>
      <dgm:spPr/>
      <dgm:t>
        <a:bodyPr/>
        <a:lstStyle/>
        <a:p>
          <a:endParaRPr lang="en-US"/>
        </a:p>
      </dgm:t>
    </dgm:pt>
    <dgm:pt modelId="{AA85E958-74F5-CE40-AEBA-7572B7AC66CA}" type="sibTrans" cxnId="{E30F18BF-D03D-C34A-8077-0E0622549308}">
      <dgm:prSet/>
      <dgm:spPr/>
      <dgm:t>
        <a:bodyPr/>
        <a:lstStyle/>
        <a:p>
          <a:endParaRPr lang="en-US"/>
        </a:p>
      </dgm:t>
    </dgm:pt>
    <dgm:pt modelId="{E813157A-4F8B-074F-BE03-192E7B2BB552}">
      <dgm:prSet/>
      <dgm:spPr>
        <a:ln>
          <a:solidFill>
            <a:schemeClr val="tx1"/>
          </a:solidFill>
        </a:ln>
      </dgm:spPr>
      <dgm:t>
        <a:bodyPr/>
        <a:lstStyle/>
        <a:p>
          <a:r>
            <a:rPr lang="en-US" dirty="0"/>
            <a:t>Then encrypts the message with a session key</a:t>
          </a:r>
        </a:p>
      </dgm:t>
    </dgm:pt>
    <dgm:pt modelId="{91478DCD-F55C-4341-86B2-FA9656C3E92A}" type="parTrans" cxnId="{6816A70C-86C1-914F-96BF-974693A02720}">
      <dgm:prSet/>
      <dgm:spPr/>
      <dgm:t>
        <a:bodyPr/>
        <a:lstStyle/>
        <a:p>
          <a:endParaRPr lang="en-US"/>
        </a:p>
      </dgm:t>
    </dgm:pt>
    <dgm:pt modelId="{591CAFD4-B3C7-5D44-B98F-E7E400A354B1}" type="sibTrans" cxnId="{6816A70C-86C1-914F-96BF-974693A02720}">
      <dgm:prSet/>
      <dgm:spPr/>
      <dgm:t>
        <a:bodyPr/>
        <a:lstStyle/>
        <a:p>
          <a:endParaRPr lang="en-US"/>
        </a:p>
      </dgm:t>
    </dgm:pt>
    <dgm:pt modelId="{C0FD1171-D04D-334B-8892-477D9D0117A8}">
      <dgm:prSet/>
      <dgm:spPr>
        <a:ln>
          <a:solidFill>
            <a:schemeClr val="tx1"/>
          </a:solidFill>
        </a:ln>
      </dgm:spPr>
      <dgm:t>
        <a:bodyPr/>
        <a:lstStyle/>
        <a:p>
          <a:r>
            <a:rPr lang="en-US" dirty="0"/>
            <a:t>And finally encrypts the session key with the recipient’s public key</a:t>
          </a:r>
        </a:p>
      </dgm:t>
    </dgm:pt>
    <dgm:pt modelId="{0120FF97-E971-8A4D-897F-15CD15955BE6}" type="parTrans" cxnId="{BED0DE5C-E37D-344D-86C7-F771F457322A}">
      <dgm:prSet/>
      <dgm:spPr/>
      <dgm:t>
        <a:bodyPr/>
        <a:lstStyle/>
        <a:p>
          <a:endParaRPr lang="en-US"/>
        </a:p>
      </dgm:t>
    </dgm:pt>
    <dgm:pt modelId="{465BB8F3-55C1-9549-9587-4CCD0EDE3E93}" type="sibTrans" cxnId="{BED0DE5C-E37D-344D-86C7-F771F457322A}">
      <dgm:prSet/>
      <dgm:spPr/>
      <dgm:t>
        <a:bodyPr/>
        <a:lstStyle/>
        <a:p>
          <a:endParaRPr lang="en-US"/>
        </a:p>
      </dgm:t>
    </dgm:pt>
    <dgm:pt modelId="{8726C2C8-B964-6D4E-9E87-5701203A6AB5}" type="pres">
      <dgm:prSet presAssocID="{6EB38808-79A5-DF42-A28F-CEF0945C3404}" presName="CompostProcess" presStyleCnt="0">
        <dgm:presLayoutVars>
          <dgm:dir/>
          <dgm:resizeHandles val="exact"/>
        </dgm:presLayoutVars>
      </dgm:prSet>
      <dgm:spPr/>
    </dgm:pt>
    <dgm:pt modelId="{51B262C0-0D67-1743-AEEE-A96F8D4FECAD}" type="pres">
      <dgm:prSet presAssocID="{6EB38808-79A5-DF42-A28F-CEF0945C3404}" presName="arrow" presStyleLbl="bgShp" presStyleIdx="0" presStyleCnt="1"/>
      <dgm:spPr>
        <a:solidFill>
          <a:schemeClr val="tx1"/>
        </a:solidFill>
        <a:ln>
          <a:solidFill>
            <a:schemeClr val="bg2"/>
          </a:solidFill>
        </a:ln>
      </dgm:spPr>
    </dgm:pt>
    <dgm:pt modelId="{600D894A-0321-C640-8901-5D620EC22168}" type="pres">
      <dgm:prSet presAssocID="{6EB38808-79A5-DF42-A28F-CEF0945C3404}" presName="linearProcess" presStyleCnt="0"/>
      <dgm:spPr/>
    </dgm:pt>
    <dgm:pt modelId="{B931287F-6B31-744A-B957-E77CC5422750}" type="pres">
      <dgm:prSet presAssocID="{8BF02CC6-771E-584A-AF2D-23238D12794F}" presName="textNode" presStyleLbl="node1" presStyleIdx="0" presStyleCnt="3">
        <dgm:presLayoutVars>
          <dgm:bulletEnabled val="1"/>
        </dgm:presLayoutVars>
      </dgm:prSet>
      <dgm:spPr/>
    </dgm:pt>
    <dgm:pt modelId="{79796E12-55F8-1E40-8B39-1A4788E1A9C1}" type="pres">
      <dgm:prSet presAssocID="{AA85E958-74F5-CE40-AEBA-7572B7AC66CA}" presName="sibTrans" presStyleCnt="0"/>
      <dgm:spPr/>
    </dgm:pt>
    <dgm:pt modelId="{1C7E9D8B-E681-224D-B68E-C1D6E0D5DE37}" type="pres">
      <dgm:prSet presAssocID="{E813157A-4F8B-074F-BE03-192E7B2BB552}" presName="textNode" presStyleLbl="node1" presStyleIdx="1" presStyleCnt="3">
        <dgm:presLayoutVars>
          <dgm:bulletEnabled val="1"/>
        </dgm:presLayoutVars>
      </dgm:prSet>
      <dgm:spPr/>
    </dgm:pt>
    <dgm:pt modelId="{FE0197D1-CAF1-2B43-BE94-4EB1E745CCF5}" type="pres">
      <dgm:prSet presAssocID="{591CAFD4-B3C7-5D44-B98F-E7E400A354B1}" presName="sibTrans" presStyleCnt="0"/>
      <dgm:spPr/>
    </dgm:pt>
    <dgm:pt modelId="{D532BAE8-DA51-7D4C-884B-FC2FA30B1506}" type="pres">
      <dgm:prSet presAssocID="{C0FD1171-D04D-334B-8892-477D9D0117A8}" presName="textNode" presStyleLbl="node1" presStyleIdx="2" presStyleCnt="3">
        <dgm:presLayoutVars>
          <dgm:bulletEnabled val="1"/>
        </dgm:presLayoutVars>
      </dgm:prSet>
      <dgm:spPr/>
    </dgm:pt>
  </dgm:ptLst>
  <dgm:cxnLst>
    <dgm:cxn modelId="{6816A70C-86C1-914F-96BF-974693A02720}" srcId="{6EB38808-79A5-DF42-A28F-CEF0945C3404}" destId="{E813157A-4F8B-074F-BE03-192E7B2BB552}" srcOrd="1" destOrd="0" parTransId="{91478DCD-F55C-4341-86B2-FA9656C3E92A}" sibTransId="{591CAFD4-B3C7-5D44-B98F-E7E400A354B1}"/>
    <dgm:cxn modelId="{BED0DE5C-E37D-344D-86C7-F771F457322A}" srcId="{6EB38808-79A5-DF42-A28F-CEF0945C3404}" destId="{C0FD1171-D04D-334B-8892-477D9D0117A8}" srcOrd="2" destOrd="0" parTransId="{0120FF97-E971-8A4D-897F-15CD15955BE6}" sibTransId="{465BB8F3-55C1-9549-9587-4CCD0EDE3E93}"/>
    <dgm:cxn modelId="{CEEE8B48-7A86-264C-A939-9A1ECE53C3AD}" type="presOf" srcId="{C0FD1171-D04D-334B-8892-477D9D0117A8}" destId="{D532BAE8-DA51-7D4C-884B-FC2FA30B1506}" srcOrd="0" destOrd="0" presId="urn:microsoft.com/office/officeart/2005/8/layout/hProcess9"/>
    <dgm:cxn modelId="{010D6C96-272C-F144-8AB7-07AD6081502C}" type="presOf" srcId="{6EB38808-79A5-DF42-A28F-CEF0945C3404}" destId="{8726C2C8-B964-6D4E-9E87-5701203A6AB5}" srcOrd="0" destOrd="0" presId="urn:microsoft.com/office/officeart/2005/8/layout/hProcess9"/>
    <dgm:cxn modelId="{E30F18BF-D03D-C34A-8077-0E0622549308}" srcId="{6EB38808-79A5-DF42-A28F-CEF0945C3404}" destId="{8BF02CC6-771E-584A-AF2D-23238D12794F}" srcOrd="0" destOrd="0" parTransId="{320F35BD-10E8-B240-86F0-791DEE154A39}" sibTransId="{AA85E958-74F5-CE40-AEBA-7572B7AC66CA}"/>
    <dgm:cxn modelId="{C6A507C1-56E3-0542-9AAA-EDA46CBAAA4C}" type="presOf" srcId="{8BF02CC6-771E-584A-AF2D-23238D12794F}" destId="{B931287F-6B31-744A-B957-E77CC5422750}" srcOrd="0" destOrd="0" presId="urn:microsoft.com/office/officeart/2005/8/layout/hProcess9"/>
    <dgm:cxn modelId="{8C1CD1E7-B1D1-A342-A2EE-B486252CD658}" type="presOf" srcId="{E813157A-4F8B-074F-BE03-192E7B2BB552}" destId="{1C7E9D8B-E681-224D-B68E-C1D6E0D5DE37}" srcOrd="0" destOrd="0" presId="urn:microsoft.com/office/officeart/2005/8/layout/hProcess9"/>
    <dgm:cxn modelId="{015BA8C8-63CE-C24B-ABD1-D8D64E02BE22}" type="presParOf" srcId="{8726C2C8-B964-6D4E-9E87-5701203A6AB5}" destId="{51B262C0-0D67-1743-AEEE-A96F8D4FECAD}" srcOrd="0" destOrd="0" presId="urn:microsoft.com/office/officeart/2005/8/layout/hProcess9"/>
    <dgm:cxn modelId="{57786785-F2AF-FD4D-8916-E5B87ACD11DA}" type="presParOf" srcId="{8726C2C8-B964-6D4E-9E87-5701203A6AB5}" destId="{600D894A-0321-C640-8901-5D620EC22168}" srcOrd="1" destOrd="0" presId="urn:microsoft.com/office/officeart/2005/8/layout/hProcess9"/>
    <dgm:cxn modelId="{3E0DC184-7049-D341-B040-3E10E4F24655}" type="presParOf" srcId="{600D894A-0321-C640-8901-5D620EC22168}" destId="{B931287F-6B31-744A-B957-E77CC5422750}" srcOrd="0" destOrd="0" presId="urn:microsoft.com/office/officeart/2005/8/layout/hProcess9"/>
    <dgm:cxn modelId="{78ED34F6-04CC-7443-A997-14F14A172300}" type="presParOf" srcId="{600D894A-0321-C640-8901-5D620EC22168}" destId="{79796E12-55F8-1E40-8B39-1A4788E1A9C1}" srcOrd="1" destOrd="0" presId="urn:microsoft.com/office/officeart/2005/8/layout/hProcess9"/>
    <dgm:cxn modelId="{BB3275CA-7587-314A-836D-66775717C450}" type="presParOf" srcId="{600D894A-0321-C640-8901-5D620EC22168}" destId="{1C7E9D8B-E681-224D-B68E-C1D6E0D5DE37}" srcOrd="2" destOrd="0" presId="urn:microsoft.com/office/officeart/2005/8/layout/hProcess9"/>
    <dgm:cxn modelId="{50BF2944-A2C4-F94E-BF4C-2346CAA710A6}" type="presParOf" srcId="{600D894A-0321-C640-8901-5D620EC22168}" destId="{FE0197D1-CAF1-2B43-BE94-4EB1E745CCF5}" srcOrd="3" destOrd="0" presId="urn:microsoft.com/office/officeart/2005/8/layout/hProcess9"/>
    <dgm:cxn modelId="{93401F90-818C-FD44-B029-A704555187D2}" type="presParOf" srcId="{600D894A-0321-C640-8901-5D620EC22168}" destId="{D532BAE8-DA51-7D4C-884B-FC2FA30B1506}"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02D26EC-46F5-BE46-A80B-4E89EF0C21E2}" type="doc">
      <dgm:prSet loTypeId="urn:microsoft.com/office/officeart/2005/8/layout/bProcess4" loCatId="process" qsTypeId="urn:microsoft.com/office/officeart/2005/8/quickstyle/simple4" qsCatId="simple" csTypeId="urn:microsoft.com/office/officeart/2005/8/colors/accent1_2" csCatId="accent1" phldr="1"/>
      <dgm:spPr/>
    </dgm:pt>
    <dgm:pt modelId="{E5FCE8AB-47CD-1448-8D1B-537996823926}">
      <dgm:prSet phldrT="[Text]" custT="1"/>
      <dgm:spPr>
        <a:ln>
          <a:solidFill>
            <a:schemeClr val="tx1"/>
          </a:solidFill>
        </a:ln>
      </dgm:spPr>
      <dgm:t>
        <a:bodyPr/>
        <a:lstStyle/>
        <a:p>
          <a:r>
            <a:rPr lang="en-US" sz="1500" b="1" dirty="0"/>
            <a:t>Five new message header fields are defined, which may be included in an RFC 5322 header; these fields provide information about the body of the message</a:t>
          </a:r>
        </a:p>
      </dgm:t>
    </dgm:pt>
    <dgm:pt modelId="{AC5C9ED8-C39C-F448-92A3-622E1ABCAD6C}" type="parTrans" cxnId="{9E3CD309-40D8-4D47-A0D1-111ED6F306D8}">
      <dgm:prSet/>
      <dgm:spPr/>
      <dgm:t>
        <a:bodyPr/>
        <a:lstStyle/>
        <a:p>
          <a:endParaRPr lang="en-US"/>
        </a:p>
      </dgm:t>
    </dgm:pt>
    <dgm:pt modelId="{EB825C7E-1B65-3E40-B9C0-88E33C03FB34}" type="sibTrans" cxnId="{9E3CD309-40D8-4D47-A0D1-111ED6F306D8}">
      <dgm:prSet/>
      <dgm:spPr/>
      <dgm:t>
        <a:bodyPr/>
        <a:lstStyle/>
        <a:p>
          <a:endParaRPr lang="en-US" dirty="0"/>
        </a:p>
      </dgm:t>
    </dgm:pt>
    <dgm:pt modelId="{7E0226B9-39C0-8646-979C-DBDB798DFBFF}">
      <dgm:prSet custT="1"/>
      <dgm:spPr>
        <a:ln>
          <a:solidFill>
            <a:schemeClr val="tx1"/>
          </a:solidFill>
        </a:ln>
      </dgm:spPr>
      <dgm:t>
        <a:bodyPr/>
        <a:lstStyle/>
        <a:p>
          <a:r>
            <a:rPr lang="en-US" sz="1500" b="1" dirty="0"/>
            <a:t>A number of content formats are defined, thus standardizing representations that support multimedia electronic mail</a:t>
          </a:r>
        </a:p>
      </dgm:t>
    </dgm:pt>
    <dgm:pt modelId="{87A755A0-7B13-CC43-AA41-DA1E088917BE}" type="parTrans" cxnId="{5E27F37F-59F7-E443-98DF-80180C4349EE}">
      <dgm:prSet/>
      <dgm:spPr/>
      <dgm:t>
        <a:bodyPr/>
        <a:lstStyle/>
        <a:p>
          <a:endParaRPr lang="en-US"/>
        </a:p>
      </dgm:t>
    </dgm:pt>
    <dgm:pt modelId="{FCFF5AFD-AF63-5340-A7C4-DADB2C08BD9A}" type="sibTrans" cxnId="{5E27F37F-59F7-E443-98DF-80180C4349EE}">
      <dgm:prSet/>
      <dgm:spPr/>
      <dgm:t>
        <a:bodyPr/>
        <a:lstStyle/>
        <a:p>
          <a:endParaRPr lang="en-US" dirty="0"/>
        </a:p>
      </dgm:t>
    </dgm:pt>
    <dgm:pt modelId="{86E5C8D1-BDA8-A849-8D8A-A4ECB07F3882}">
      <dgm:prSet custT="1"/>
      <dgm:spPr>
        <a:ln>
          <a:solidFill>
            <a:schemeClr val="tx1"/>
          </a:solidFill>
        </a:ln>
      </dgm:spPr>
      <dgm:t>
        <a:bodyPr/>
        <a:lstStyle/>
        <a:p>
          <a:r>
            <a:rPr lang="en-US" sz="1500" b="1" dirty="0"/>
            <a:t>Transfer encodings are defined that enable the conversion of any content format into a form that is protected from alteration by the mail system</a:t>
          </a:r>
        </a:p>
      </dgm:t>
    </dgm:pt>
    <dgm:pt modelId="{860B4314-894A-2049-9758-F48460CEF6D7}" type="parTrans" cxnId="{7667AD3D-1E3E-684F-B509-CAF0A67D5D42}">
      <dgm:prSet/>
      <dgm:spPr/>
      <dgm:t>
        <a:bodyPr/>
        <a:lstStyle/>
        <a:p>
          <a:endParaRPr lang="en-US"/>
        </a:p>
      </dgm:t>
    </dgm:pt>
    <dgm:pt modelId="{BDA936CC-3400-7A47-84F0-E331C5D834BE}" type="sibTrans" cxnId="{7667AD3D-1E3E-684F-B509-CAF0A67D5D42}">
      <dgm:prSet/>
      <dgm:spPr/>
      <dgm:t>
        <a:bodyPr/>
        <a:lstStyle/>
        <a:p>
          <a:endParaRPr lang="en-US"/>
        </a:p>
      </dgm:t>
    </dgm:pt>
    <dgm:pt modelId="{4637B40D-7F89-E448-A3FB-E00377160758}" type="pres">
      <dgm:prSet presAssocID="{E02D26EC-46F5-BE46-A80B-4E89EF0C21E2}" presName="Name0" presStyleCnt="0">
        <dgm:presLayoutVars>
          <dgm:dir/>
          <dgm:resizeHandles/>
        </dgm:presLayoutVars>
      </dgm:prSet>
      <dgm:spPr/>
    </dgm:pt>
    <dgm:pt modelId="{FCACD3A7-F740-8D44-8641-2B86964B1B25}" type="pres">
      <dgm:prSet presAssocID="{E5FCE8AB-47CD-1448-8D1B-537996823926}" presName="compNode" presStyleCnt="0"/>
      <dgm:spPr/>
    </dgm:pt>
    <dgm:pt modelId="{021F577A-8243-A740-8887-BB3A61C03F5D}" type="pres">
      <dgm:prSet presAssocID="{E5FCE8AB-47CD-1448-8D1B-537996823926}" presName="dummyConnPt" presStyleCnt="0"/>
      <dgm:spPr/>
    </dgm:pt>
    <dgm:pt modelId="{D88A49EB-D5FA-234A-B3FA-8E36AA1E94C1}" type="pres">
      <dgm:prSet presAssocID="{E5FCE8AB-47CD-1448-8D1B-537996823926}" presName="node" presStyleLbl="node1" presStyleIdx="0" presStyleCnt="3" custScaleY="118751" custLinFactNeighborX="9328" custLinFactNeighborY="-31972">
        <dgm:presLayoutVars>
          <dgm:bulletEnabled val="1"/>
        </dgm:presLayoutVars>
      </dgm:prSet>
      <dgm:spPr/>
    </dgm:pt>
    <dgm:pt modelId="{972EDD0A-D6ED-B443-BF90-E534597684EA}" type="pres">
      <dgm:prSet presAssocID="{EB825C7E-1B65-3E40-B9C0-88E33C03FB34}" presName="sibTrans" presStyleLbl="bgSibTrans2D1" presStyleIdx="0" presStyleCnt="2"/>
      <dgm:spPr/>
    </dgm:pt>
    <dgm:pt modelId="{713B3F0D-3524-444B-8E64-27B916BCAC4B}" type="pres">
      <dgm:prSet presAssocID="{7E0226B9-39C0-8646-979C-DBDB798DFBFF}" presName="compNode" presStyleCnt="0"/>
      <dgm:spPr/>
    </dgm:pt>
    <dgm:pt modelId="{49875447-9567-1340-8147-0CE12E0F204F}" type="pres">
      <dgm:prSet presAssocID="{7E0226B9-39C0-8646-979C-DBDB798DFBFF}" presName="dummyConnPt" presStyleCnt="0"/>
      <dgm:spPr/>
    </dgm:pt>
    <dgm:pt modelId="{0292642D-2021-0C47-AED0-82DF5CC7DE13}" type="pres">
      <dgm:prSet presAssocID="{7E0226B9-39C0-8646-979C-DBDB798DFBFF}" presName="node" presStyleLbl="node1" presStyleIdx="1" presStyleCnt="3" custLinFactX="22804" custLinFactNeighborX="100000" custLinFactNeighborY="-72916">
        <dgm:presLayoutVars>
          <dgm:bulletEnabled val="1"/>
        </dgm:presLayoutVars>
      </dgm:prSet>
      <dgm:spPr/>
    </dgm:pt>
    <dgm:pt modelId="{858B011A-8BBE-EA4A-97B2-6087F43B238D}" type="pres">
      <dgm:prSet presAssocID="{FCFF5AFD-AF63-5340-A7C4-DADB2C08BD9A}" presName="sibTrans" presStyleLbl="bgSibTrans2D1" presStyleIdx="1" presStyleCnt="2"/>
      <dgm:spPr/>
    </dgm:pt>
    <dgm:pt modelId="{660DE7A1-97C8-F04E-9B23-0CD75E010F3E}" type="pres">
      <dgm:prSet presAssocID="{86E5C8D1-BDA8-A849-8D8A-A4ECB07F3882}" presName="compNode" presStyleCnt="0"/>
      <dgm:spPr/>
    </dgm:pt>
    <dgm:pt modelId="{7E0AD850-1BF2-564E-8E64-3E35A38C306A}" type="pres">
      <dgm:prSet presAssocID="{86E5C8D1-BDA8-A849-8D8A-A4ECB07F3882}" presName="dummyConnPt" presStyleCnt="0"/>
      <dgm:spPr/>
    </dgm:pt>
    <dgm:pt modelId="{078E16F4-C4C7-4C41-A536-8EBA4BCB1BFE}" type="pres">
      <dgm:prSet presAssocID="{86E5C8D1-BDA8-A849-8D8A-A4ECB07F3882}" presName="node" presStyleLbl="node1" presStyleIdx="2" presStyleCnt="3" custLinFactX="-11064" custLinFactNeighborX="-100000" custLinFactNeighborY="32155">
        <dgm:presLayoutVars>
          <dgm:bulletEnabled val="1"/>
        </dgm:presLayoutVars>
      </dgm:prSet>
      <dgm:spPr/>
    </dgm:pt>
  </dgm:ptLst>
  <dgm:cxnLst>
    <dgm:cxn modelId="{9E3CD309-40D8-4D47-A0D1-111ED6F306D8}" srcId="{E02D26EC-46F5-BE46-A80B-4E89EF0C21E2}" destId="{E5FCE8AB-47CD-1448-8D1B-537996823926}" srcOrd="0" destOrd="0" parTransId="{AC5C9ED8-C39C-F448-92A3-622E1ABCAD6C}" sibTransId="{EB825C7E-1B65-3E40-B9C0-88E33C03FB34}"/>
    <dgm:cxn modelId="{7667AD3D-1E3E-684F-B509-CAF0A67D5D42}" srcId="{E02D26EC-46F5-BE46-A80B-4E89EF0C21E2}" destId="{86E5C8D1-BDA8-A849-8D8A-A4ECB07F3882}" srcOrd="2" destOrd="0" parTransId="{860B4314-894A-2049-9758-F48460CEF6D7}" sibTransId="{BDA936CC-3400-7A47-84F0-E331C5D834BE}"/>
    <dgm:cxn modelId="{CA8A575B-6A51-DA4F-B59B-2D02C23B450B}" type="presOf" srcId="{E02D26EC-46F5-BE46-A80B-4E89EF0C21E2}" destId="{4637B40D-7F89-E448-A3FB-E00377160758}" srcOrd="0" destOrd="0" presId="urn:microsoft.com/office/officeart/2005/8/layout/bProcess4"/>
    <dgm:cxn modelId="{5E4BD365-CD58-004A-A263-41367D3B334A}" type="presOf" srcId="{E5FCE8AB-47CD-1448-8D1B-537996823926}" destId="{D88A49EB-D5FA-234A-B3FA-8E36AA1E94C1}" srcOrd="0" destOrd="0" presId="urn:microsoft.com/office/officeart/2005/8/layout/bProcess4"/>
    <dgm:cxn modelId="{642B5948-607D-704E-AC7E-032655BB469B}" type="presOf" srcId="{7E0226B9-39C0-8646-979C-DBDB798DFBFF}" destId="{0292642D-2021-0C47-AED0-82DF5CC7DE13}" srcOrd="0" destOrd="0" presId="urn:microsoft.com/office/officeart/2005/8/layout/bProcess4"/>
    <dgm:cxn modelId="{3255CF76-FA1C-614E-81C2-FF4B6C0EBCA9}" type="presOf" srcId="{86E5C8D1-BDA8-A849-8D8A-A4ECB07F3882}" destId="{078E16F4-C4C7-4C41-A536-8EBA4BCB1BFE}" srcOrd="0" destOrd="0" presId="urn:microsoft.com/office/officeart/2005/8/layout/bProcess4"/>
    <dgm:cxn modelId="{5E27F37F-59F7-E443-98DF-80180C4349EE}" srcId="{E02D26EC-46F5-BE46-A80B-4E89EF0C21E2}" destId="{7E0226B9-39C0-8646-979C-DBDB798DFBFF}" srcOrd="1" destOrd="0" parTransId="{87A755A0-7B13-CC43-AA41-DA1E088917BE}" sibTransId="{FCFF5AFD-AF63-5340-A7C4-DADB2C08BD9A}"/>
    <dgm:cxn modelId="{C9FC24AC-B3EF-C843-B4F5-4ACFAE672334}" type="presOf" srcId="{FCFF5AFD-AF63-5340-A7C4-DADB2C08BD9A}" destId="{858B011A-8BBE-EA4A-97B2-6087F43B238D}" srcOrd="0" destOrd="0" presId="urn:microsoft.com/office/officeart/2005/8/layout/bProcess4"/>
    <dgm:cxn modelId="{2490B7D9-2FCE-E340-9B56-FE69E69A37D4}" type="presOf" srcId="{EB825C7E-1B65-3E40-B9C0-88E33C03FB34}" destId="{972EDD0A-D6ED-B443-BF90-E534597684EA}" srcOrd="0" destOrd="0" presId="urn:microsoft.com/office/officeart/2005/8/layout/bProcess4"/>
    <dgm:cxn modelId="{3EC614CE-D785-214F-B8B7-886A016B8184}" type="presParOf" srcId="{4637B40D-7F89-E448-A3FB-E00377160758}" destId="{FCACD3A7-F740-8D44-8641-2B86964B1B25}" srcOrd="0" destOrd="0" presId="urn:microsoft.com/office/officeart/2005/8/layout/bProcess4"/>
    <dgm:cxn modelId="{AA90AC21-5F76-1F45-8593-BED098125881}" type="presParOf" srcId="{FCACD3A7-F740-8D44-8641-2B86964B1B25}" destId="{021F577A-8243-A740-8887-BB3A61C03F5D}" srcOrd="0" destOrd="0" presId="urn:microsoft.com/office/officeart/2005/8/layout/bProcess4"/>
    <dgm:cxn modelId="{BCE5AAA9-5B3C-F64F-98C2-B3A6F78F6730}" type="presParOf" srcId="{FCACD3A7-F740-8D44-8641-2B86964B1B25}" destId="{D88A49EB-D5FA-234A-B3FA-8E36AA1E94C1}" srcOrd="1" destOrd="0" presId="urn:microsoft.com/office/officeart/2005/8/layout/bProcess4"/>
    <dgm:cxn modelId="{536A7E72-9B9B-2B46-92F4-2438D2C6A141}" type="presParOf" srcId="{4637B40D-7F89-E448-A3FB-E00377160758}" destId="{972EDD0A-D6ED-B443-BF90-E534597684EA}" srcOrd="1" destOrd="0" presId="urn:microsoft.com/office/officeart/2005/8/layout/bProcess4"/>
    <dgm:cxn modelId="{0031DB0D-74A8-F24D-BA60-DF433C2C0D3B}" type="presParOf" srcId="{4637B40D-7F89-E448-A3FB-E00377160758}" destId="{713B3F0D-3524-444B-8E64-27B916BCAC4B}" srcOrd="2" destOrd="0" presId="urn:microsoft.com/office/officeart/2005/8/layout/bProcess4"/>
    <dgm:cxn modelId="{3803D575-B3F9-E048-BE32-2EF3DEB7E98F}" type="presParOf" srcId="{713B3F0D-3524-444B-8E64-27B916BCAC4B}" destId="{49875447-9567-1340-8147-0CE12E0F204F}" srcOrd="0" destOrd="0" presId="urn:microsoft.com/office/officeart/2005/8/layout/bProcess4"/>
    <dgm:cxn modelId="{573B93C7-28D4-6945-A2B5-15A21A0EBC4D}" type="presParOf" srcId="{713B3F0D-3524-444B-8E64-27B916BCAC4B}" destId="{0292642D-2021-0C47-AED0-82DF5CC7DE13}" srcOrd="1" destOrd="0" presId="urn:microsoft.com/office/officeart/2005/8/layout/bProcess4"/>
    <dgm:cxn modelId="{DA088ECE-B13A-3142-961A-1BA951A724C3}" type="presParOf" srcId="{4637B40D-7F89-E448-A3FB-E00377160758}" destId="{858B011A-8BBE-EA4A-97B2-6087F43B238D}" srcOrd="3" destOrd="0" presId="urn:microsoft.com/office/officeart/2005/8/layout/bProcess4"/>
    <dgm:cxn modelId="{6C1CE756-62EE-354D-86D9-2450B465726E}" type="presParOf" srcId="{4637B40D-7F89-E448-A3FB-E00377160758}" destId="{660DE7A1-97C8-F04E-9B23-0CD75E010F3E}" srcOrd="4" destOrd="0" presId="urn:microsoft.com/office/officeart/2005/8/layout/bProcess4"/>
    <dgm:cxn modelId="{00FB7D04-6D9E-0E4B-A965-B08B8BB6E23D}" type="presParOf" srcId="{660DE7A1-97C8-F04E-9B23-0CD75E010F3E}" destId="{7E0AD850-1BF2-564E-8E64-3E35A38C306A}" srcOrd="0" destOrd="0" presId="urn:microsoft.com/office/officeart/2005/8/layout/bProcess4"/>
    <dgm:cxn modelId="{D3E01E46-8FE2-FE40-9D09-AD3FEFFD9913}" type="presParOf" srcId="{660DE7A1-97C8-F04E-9B23-0CD75E010F3E}" destId="{078E16F4-C4C7-4C41-A536-8EBA4BCB1BFE}"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0F91678-A966-014A-AFE3-F3D065DF6BCC}"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A51A051B-B444-5C4D-ACCD-2A20DD4E2424}">
      <dgm:prSet custT="1"/>
      <dgm:spPr/>
      <dgm:t>
        <a:bodyPr/>
        <a:lstStyle/>
        <a:p>
          <a:pPr rtl="0"/>
          <a:r>
            <a:rPr lang="en-US" sz="1800" dirty="0"/>
            <a:t>MIME-Version</a:t>
          </a:r>
        </a:p>
      </dgm:t>
    </dgm:pt>
    <dgm:pt modelId="{8776F8E4-929F-EE4F-9587-AEED3A3789FB}" type="parTrans" cxnId="{C0827931-ADBE-7542-8773-310152EBA1A4}">
      <dgm:prSet/>
      <dgm:spPr/>
      <dgm:t>
        <a:bodyPr/>
        <a:lstStyle/>
        <a:p>
          <a:endParaRPr lang="en-US"/>
        </a:p>
      </dgm:t>
    </dgm:pt>
    <dgm:pt modelId="{AFE95660-BFD2-F744-96FE-FACB8D9DE7B5}" type="sibTrans" cxnId="{C0827931-ADBE-7542-8773-310152EBA1A4}">
      <dgm:prSet/>
      <dgm:spPr/>
      <dgm:t>
        <a:bodyPr/>
        <a:lstStyle/>
        <a:p>
          <a:endParaRPr lang="en-US"/>
        </a:p>
      </dgm:t>
    </dgm:pt>
    <dgm:pt modelId="{F31C79FB-85F6-7C43-A794-B3F4DDE05DF4}">
      <dgm:prSet/>
      <dgm:spPr/>
      <dgm:t>
        <a:bodyPr/>
        <a:lstStyle/>
        <a:p>
          <a:pPr rtl="0"/>
          <a:r>
            <a:rPr lang="en-US" dirty="0"/>
            <a:t>Must have the parameter value 1.0</a:t>
          </a:r>
        </a:p>
      </dgm:t>
    </dgm:pt>
    <dgm:pt modelId="{04C8D68A-9CCD-764A-A3BF-7BFD50312E9D}" type="parTrans" cxnId="{13F08BDF-93E0-9E42-830B-D8B6BF0DDCC1}">
      <dgm:prSet/>
      <dgm:spPr/>
      <dgm:t>
        <a:bodyPr/>
        <a:lstStyle/>
        <a:p>
          <a:endParaRPr lang="en-US"/>
        </a:p>
      </dgm:t>
    </dgm:pt>
    <dgm:pt modelId="{D72DE6BB-3CE9-7D4F-9D78-1B2E4F7DD480}" type="sibTrans" cxnId="{13F08BDF-93E0-9E42-830B-D8B6BF0DDCC1}">
      <dgm:prSet/>
      <dgm:spPr/>
      <dgm:t>
        <a:bodyPr/>
        <a:lstStyle/>
        <a:p>
          <a:endParaRPr lang="en-US"/>
        </a:p>
      </dgm:t>
    </dgm:pt>
    <dgm:pt modelId="{A64C4E49-A0FB-9E44-BB1D-A5CD8B1AE6EB}">
      <dgm:prSet/>
      <dgm:spPr/>
      <dgm:t>
        <a:bodyPr/>
        <a:lstStyle/>
        <a:p>
          <a:pPr rtl="0"/>
          <a:r>
            <a:rPr lang="en-US" dirty="0"/>
            <a:t>This field indicates that the message conforms to RFCs 2045 and 2046</a:t>
          </a:r>
        </a:p>
      </dgm:t>
    </dgm:pt>
    <dgm:pt modelId="{57DBDDC1-3B17-8C40-AD8C-CFBA8BF28BF9}" type="parTrans" cxnId="{90173BE2-1E04-1745-A40A-D7E2A549B1A9}">
      <dgm:prSet/>
      <dgm:spPr/>
      <dgm:t>
        <a:bodyPr/>
        <a:lstStyle/>
        <a:p>
          <a:endParaRPr lang="en-US"/>
        </a:p>
      </dgm:t>
    </dgm:pt>
    <dgm:pt modelId="{6413D08D-EA4A-764A-A87F-1337495A5A65}" type="sibTrans" cxnId="{90173BE2-1E04-1745-A40A-D7E2A549B1A9}">
      <dgm:prSet/>
      <dgm:spPr/>
      <dgm:t>
        <a:bodyPr/>
        <a:lstStyle/>
        <a:p>
          <a:endParaRPr lang="en-US"/>
        </a:p>
      </dgm:t>
    </dgm:pt>
    <dgm:pt modelId="{80DC049B-7FD5-3045-83DD-F1080B16A5FD}">
      <dgm:prSet custT="1"/>
      <dgm:spPr/>
      <dgm:t>
        <a:bodyPr/>
        <a:lstStyle/>
        <a:p>
          <a:pPr rtl="0"/>
          <a:r>
            <a:rPr lang="en-US" sz="1800" dirty="0"/>
            <a:t>Content-Type</a:t>
          </a:r>
        </a:p>
      </dgm:t>
    </dgm:pt>
    <dgm:pt modelId="{8DB4D05B-BD93-564D-BC96-D04C53A8B166}" type="parTrans" cxnId="{6DC5843C-F893-554C-B497-EE783C6D42AA}">
      <dgm:prSet/>
      <dgm:spPr/>
      <dgm:t>
        <a:bodyPr/>
        <a:lstStyle/>
        <a:p>
          <a:endParaRPr lang="en-US"/>
        </a:p>
      </dgm:t>
    </dgm:pt>
    <dgm:pt modelId="{90A38F66-0514-6B40-9287-C28DD9752DA8}" type="sibTrans" cxnId="{6DC5843C-F893-554C-B497-EE783C6D42AA}">
      <dgm:prSet/>
      <dgm:spPr/>
      <dgm:t>
        <a:bodyPr/>
        <a:lstStyle/>
        <a:p>
          <a:endParaRPr lang="en-US"/>
        </a:p>
      </dgm:t>
    </dgm:pt>
    <dgm:pt modelId="{9EFBC27B-9187-484D-AD98-003F107DD10F}">
      <dgm:prSet/>
      <dgm:spPr/>
      <dgm:t>
        <a:bodyPr/>
        <a:lstStyle/>
        <a:p>
          <a:pPr rtl="0"/>
          <a:r>
            <a:rPr lang="en-US" dirty="0"/>
            <a:t>Describes the data contained in the body with sufficient detail that the receiving user agent can pick an appropriate agent or mechanism to represent the data to the user or otherwise deal with the data in an appropriate manner</a:t>
          </a:r>
        </a:p>
      </dgm:t>
    </dgm:pt>
    <dgm:pt modelId="{625F119B-BFD1-F543-B281-1D322E011FB3}" type="parTrans" cxnId="{4A2F6DC5-D150-1048-AE28-1FF498F06545}">
      <dgm:prSet/>
      <dgm:spPr/>
      <dgm:t>
        <a:bodyPr/>
        <a:lstStyle/>
        <a:p>
          <a:endParaRPr lang="en-US"/>
        </a:p>
      </dgm:t>
    </dgm:pt>
    <dgm:pt modelId="{105A3B14-4266-A84D-A904-71E74119EB9C}" type="sibTrans" cxnId="{4A2F6DC5-D150-1048-AE28-1FF498F06545}">
      <dgm:prSet/>
      <dgm:spPr/>
      <dgm:t>
        <a:bodyPr/>
        <a:lstStyle/>
        <a:p>
          <a:endParaRPr lang="en-US"/>
        </a:p>
      </dgm:t>
    </dgm:pt>
    <dgm:pt modelId="{2C9CC854-3F87-254F-A2B1-29161529ADF1}">
      <dgm:prSet custT="1"/>
      <dgm:spPr/>
      <dgm:t>
        <a:bodyPr/>
        <a:lstStyle/>
        <a:p>
          <a:pPr rtl="0"/>
          <a:r>
            <a:rPr lang="en-US" sz="1800" dirty="0"/>
            <a:t>Content-Transfer-Encoding</a:t>
          </a:r>
        </a:p>
      </dgm:t>
    </dgm:pt>
    <dgm:pt modelId="{37A459E1-3DFD-484E-A449-6ACB53A26CC2}" type="parTrans" cxnId="{F6EE9D8A-6F99-E049-ABEB-5EA5B04B5184}">
      <dgm:prSet/>
      <dgm:spPr/>
      <dgm:t>
        <a:bodyPr/>
        <a:lstStyle/>
        <a:p>
          <a:endParaRPr lang="en-US"/>
        </a:p>
      </dgm:t>
    </dgm:pt>
    <dgm:pt modelId="{97FE1EB6-3554-394B-B19F-2EB818A7E00F}" type="sibTrans" cxnId="{F6EE9D8A-6F99-E049-ABEB-5EA5B04B5184}">
      <dgm:prSet/>
      <dgm:spPr/>
      <dgm:t>
        <a:bodyPr/>
        <a:lstStyle/>
        <a:p>
          <a:endParaRPr lang="en-US"/>
        </a:p>
      </dgm:t>
    </dgm:pt>
    <dgm:pt modelId="{C0493049-879C-7048-81E3-E88D8A386435}">
      <dgm:prSet/>
      <dgm:spPr/>
      <dgm:t>
        <a:bodyPr/>
        <a:lstStyle/>
        <a:p>
          <a:pPr rtl="0"/>
          <a:r>
            <a:rPr lang="en-US" dirty="0"/>
            <a:t>Indicates the type of transformation that has been used to represent the body of the message in a way that is acceptable for mail transport</a:t>
          </a:r>
        </a:p>
      </dgm:t>
    </dgm:pt>
    <dgm:pt modelId="{8858A644-7071-C74C-A99E-CCE8AB40A547}" type="parTrans" cxnId="{40DC9E8D-B94C-0948-AD4A-5CF5278F6F75}">
      <dgm:prSet/>
      <dgm:spPr/>
      <dgm:t>
        <a:bodyPr/>
        <a:lstStyle/>
        <a:p>
          <a:endParaRPr lang="en-US"/>
        </a:p>
      </dgm:t>
    </dgm:pt>
    <dgm:pt modelId="{4CF35CDC-BA3B-8F45-BB5B-0536A3C176F2}" type="sibTrans" cxnId="{40DC9E8D-B94C-0948-AD4A-5CF5278F6F75}">
      <dgm:prSet/>
      <dgm:spPr/>
      <dgm:t>
        <a:bodyPr/>
        <a:lstStyle/>
        <a:p>
          <a:endParaRPr lang="en-US"/>
        </a:p>
      </dgm:t>
    </dgm:pt>
    <dgm:pt modelId="{87FBB302-2DE2-1C42-85BA-409AF46FD45E}">
      <dgm:prSet custT="1"/>
      <dgm:spPr/>
      <dgm:t>
        <a:bodyPr/>
        <a:lstStyle/>
        <a:p>
          <a:pPr rtl="0"/>
          <a:r>
            <a:rPr lang="en-US" sz="1800" dirty="0"/>
            <a:t>Content-ID</a:t>
          </a:r>
        </a:p>
      </dgm:t>
    </dgm:pt>
    <dgm:pt modelId="{B1DDF52A-03C2-ED42-BCB4-B84B7D2B9F2C}" type="parTrans" cxnId="{C684D08E-BF39-C646-8A0B-05126313DA0B}">
      <dgm:prSet/>
      <dgm:spPr/>
      <dgm:t>
        <a:bodyPr/>
        <a:lstStyle/>
        <a:p>
          <a:endParaRPr lang="en-US"/>
        </a:p>
      </dgm:t>
    </dgm:pt>
    <dgm:pt modelId="{81CC6E2D-C9C7-CC49-94DF-7BCBF745FD8D}" type="sibTrans" cxnId="{C684D08E-BF39-C646-8A0B-05126313DA0B}">
      <dgm:prSet/>
      <dgm:spPr/>
      <dgm:t>
        <a:bodyPr/>
        <a:lstStyle/>
        <a:p>
          <a:endParaRPr lang="en-US"/>
        </a:p>
      </dgm:t>
    </dgm:pt>
    <dgm:pt modelId="{E2C2B88E-C365-1342-A70B-E66784EEBADA}">
      <dgm:prSet/>
      <dgm:spPr/>
      <dgm:t>
        <a:bodyPr/>
        <a:lstStyle/>
        <a:p>
          <a:pPr rtl="0"/>
          <a:r>
            <a:rPr lang="en-US" dirty="0"/>
            <a:t>Used to identify MIME entities uniquely in multiple contexts</a:t>
          </a:r>
        </a:p>
      </dgm:t>
    </dgm:pt>
    <dgm:pt modelId="{0C65C72B-4B61-A94E-BDEC-BFF0D37E59FA}" type="parTrans" cxnId="{669D4825-009B-E74C-A02E-BA0A0CBB9F58}">
      <dgm:prSet/>
      <dgm:spPr/>
      <dgm:t>
        <a:bodyPr/>
        <a:lstStyle/>
        <a:p>
          <a:endParaRPr lang="en-US"/>
        </a:p>
      </dgm:t>
    </dgm:pt>
    <dgm:pt modelId="{6141C23A-9D80-B74C-B097-1398C10B4B73}" type="sibTrans" cxnId="{669D4825-009B-E74C-A02E-BA0A0CBB9F58}">
      <dgm:prSet/>
      <dgm:spPr/>
      <dgm:t>
        <a:bodyPr/>
        <a:lstStyle/>
        <a:p>
          <a:endParaRPr lang="en-US"/>
        </a:p>
      </dgm:t>
    </dgm:pt>
    <dgm:pt modelId="{DD51DDBF-23E0-B343-B9F6-E49D54C489B5}">
      <dgm:prSet custT="1"/>
      <dgm:spPr/>
      <dgm:t>
        <a:bodyPr/>
        <a:lstStyle/>
        <a:p>
          <a:pPr rtl="0"/>
          <a:r>
            <a:rPr lang="en-US" sz="1800" dirty="0"/>
            <a:t>Content-Description</a:t>
          </a:r>
        </a:p>
      </dgm:t>
    </dgm:pt>
    <dgm:pt modelId="{A9DB291B-5DDE-7A4E-8BC2-0322A79053D8}" type="parTrans" cxnId="{3DE04106-F15A-5A4E-ACE9-78D6C34928B6}">
      <dgm:prSet/>
      <dgm:spPr/>
      <dgm:t>
        <a:bodyPr/>
        <a:lstStyle/>
        <a:p>
          <a:endParaRPr lang="en-US"/>
        </a:p>
      </dgm:t>
    </dgm:pt>
    <dgm:pt modelId="{D77F60C8-BFE7-E44C-9DCE-ADD797F2CB9E}" type="sibTrans" cxnId="{3DE04106-F15A-5A4E-ACE9-78D6C34928B6}">
      <dgm:prSet/>
      <dgm:spPr/>
      <dgm:t>
        <a:bodyPr/>
        <a:lstStyle/>
        <a:p>
          <a:endParaRPr lang="en-US"/>
        </a:p>
      </dgm:t>
    </dgm:pt>
    <dgm:pt modelId="{F83775D9-231C-DC44-A2D0-E6F9CB883F69}">
      <dgm:prSet/>
      <dgm:spPr/>
      <dgm:t>
        <a:bodyPr/>
        <a:lstStyle/>
        <a:p>
          <a:pPr rtl="0"/>
          <a:r>
            <a:rPr lang="en-US" dirty="0"/>
            <a:t>A text description of the object with the body;  this is useful when the object is not readable</a:t>
          </a:r>
        </a:p>
      </dgm:t>
    </dgm:pt>
    <dgm:pt modelId="{84E1DDA8-5A62-1C4D-9143-A7763DC0FB31}" type="parTrans" cxnId="{8B2D44C8-F569-2C40-8369-F5381957DF24}">
      <dgm:prSet/>
      <dgm:spPr/>
      <dgm:t>
        <a:bodyPr/>
        <a:lstStyle/>
        <a:p>
          <a:endParaRPr lang="en-US"/>
        </a:p>
      </dgm:t>
    </dgm:pt>
    <dgm:pt modelId="{19B7166B-0324-224D-82E1-FB4C4C32A8F2}" type="sibTrans" cxnId="{8B2D44C8-F569-2C40-8369-F5381957DF24}">
      <dgm:prSet/>
      <dgm:spPr/>
      <dgm:t>
        <a:bodyPr/>
        <a:lstStyle/>
        <a:p>
          <a:endParaRPr lang="en-US"/>
        </a:p>
      </dgm:t>
    </dgm:pt>
    <dgm:pt modelId="{44878D81-C104-7847-9BF0-A7694467A921}" type="pres">
      <dgm:prSet presAssocID="{30F91678-A966-014A-AFE3-F3D065DF6BCC}" presName="linear" presStyleCnt="0">
        <dgm:presLayoutVars>
          <dgm:dir/>
          <dgm:animLvl val="lvl"/>
          <dgm:resizeHandles val="exact"/>
        </dgm:presLayoutVars>
      </dgm:prSet>
      <dgm:spPr/>
    </dgm:pt>
    <dgm:pt modelId="{F4B8651E-3ED3-9E48-B1B8-A623EDC3BE28}" type="pres">
      <dgm:prSet presAssocID="{A51A051B-B444-5C4D-ACCD-2A20DD4E2424}" presName="parentLin" presStyleCnt="0"/>
      <dgm:spPr/>
    </dgm:pt>
    <dgm:pt modelId="{48EC8570-AC82-C646-A9E0-D97EA89C7C19}" type="pres">
      <dgm:prSet presAssocID="{A51A051B-B444-5C4D-ACCD-2A20DD4E2424}" presName="parentLeftMargin" presStyleLbl="node1" presStyleIdx="0" presStyleCnt="5"/>
      <dgm:spPr/>
    </dgm:pt>
    <dgm:pt modelId="{F3CA23DE-DCA7-8A4B-85EC-47D5EDFB354E}" type="pres">
      <dgm:prSet presAssocID="{A51A051B-B444-5C4D-ACCD-2A20DD4E2424}" presName="parentText" presStyleLbl="node1" presStyleIdx="0" presStyleCnt="5" custScaleX="36225">
        <dgm:presLayoutVars>
          <dgm:chMax val="0"/>
          <dgm:bulletEnabled val="1"/>
        </dgm:presLayoutVars>
      </dgm:prSet>
      <dgm:spPr/>
    </dgm:pt>
    <dgm:pt modelId="{BEBA6324-3904-494E-BF0D-E5725ED52E91}" type="pres">
      <dgm:prSet presAssocID="{A51A051B-B444-5C4D-ACCD-2A20DD4E2424}" presName="negativeSpace" presStyleCnt="0"/>
      <dgm:spPr/>
    </dgm:pt>
    <dgm:pt modelId="{E470F2D5-B98B-CE44-9C25-1EFDE028763E}" type="pres">
      <dgm:prSet presAssocID="{A51A051B-B444-5C4D-ACCD-2A20DD4E2424}" presName="childText" presStyleLbl="conFgAcc1" presStyleIdx="0" presStyleCnt="5">
        <dgm:presLayoutVars>
          <dgm:bulletEnabled val="1"/>
        </dgm:presLayoutVars>
      </dgm:prSet>
      <dgm:spPr/>
    </dgm:pt>
    <dgm:pt modelId="{07AFA613-A516-8C45-AA10-C38E404E4015}" type="pres">
      <dgm:prSet presAssocID="{AFE95660-BFD2-F744-96FE-FACB8D9DE7B5}" presName="spaceBetweenRectangles" presStyleCnt="0"/>
      <dgm:spPr/>
    </dgm:pt>
    <dgm:pt modelId="{77BBCC61-96F6-9E40-8EC8-3B69EDB77954}" type="pres">
      <dgm:prSet presAssocID="{80DC049B-7FD5-3045-83DD-F1080B16A5FD}" presName="parentLin" presStyleCnt="0"/>
      <dgm:spPr/>
    </dgm:pt>
    <dgm:pt modelId="{7A72E58F-7E0B-3B4F-92FC-54A2C6DAC1B5}" type="pres">
      <dgm:prSet presAssocID="{80DC049B-7FD5-3045-83DD-F1080B16A5FD}" presName="parentLeftMargin" presStyleLbl="node1" presStyleIdx="0" presStyleCnt="5"/>
      <dgm:spPr/>
    </dgm:pt>
    <dgm:pt modelId="{9D394F1D-EBFB-3948-A773-BA9E32EB8A2D}" type="pres">
      <dgm:prSet presAssocID="{80DC049B-7FD5-3045-83DD-F1080B16A5FD}" presName="parentText" presStyleLbl="node1" presStyleIdx="1" presStyleCnt="5" custScaleX="41326">
        <dgm:presLayoutVars>
          <dgm:chMax val="0"/>
          <dgm:bulletEnabled val="1"/>
        </dgm:presLayoutVars>
      </dgm:prSet>
      <dgm:spPr/>
    </dgm:pt>
    <dgm:pt modelId="{F2E2BA8F-51B0-3E4B-8E2C-566ECF10426F}" type="pres">
      <dgm:prSet presAssocID="{80DC049B-7FD5-3045-83DD-F1080B16A5FD}" presName="negativeSpace" presStyleCnt="0"/>
      <dgm:spPr/>
    </dgm:pt>
    <dgm:pt modelId="{E8BFF411-F451-A341-8D87-49C77FF491D5}" type="pres">
      <dgm:prSet presAssocID="{80DC049B-7FD5-3045-83DD-F1080B16A5FD}" presName="childText" presStyleLbl="conFgAcc1" presStyleIdx="1" presStyleCnt="5">
        <dgm:presLayoutVars>
          <dgm:bulletEnabled val="1"/>
        </dgm:presLayoutVars>
      </dgm:prSet>
      <dgm:spPr/>
    </dgm:pt>
    <dgm:pt modelId="{94545572-E2D1-A840-B151-EEDCC1725653}" type="pres">
      <dgm:prSet presAssocID="{90A38F66-0514-6B40-9287-C28DD9752DA8}" presName="spaceBetweenRectangles" presStyleCnt="0"/>
      <dgm:spPr/>
    </dgm:pt>
    <dgm:pt modelId="{7C5669DA-8D78-D443-B89E-7342304866EA}" type="pres">
      <dgm:prSet presAssocID="{2C9CC854-3F87-254F-A2B1-29161529ADF1}" presName="parentLin" presStyleCnt="0"/>
      <dgm:spPr/>
    </dgm:pt>
    <dgm:pt modelId="{DDFB5F5A-0D30-3348-ADC5-C650D90FEE0B}" type="pres">
      <dgm:prSet presAssocID="{2C9CC854-3F87-254F-A2B1-29161529ADF1}" presName="parentLeftMargin" presStyleLbl="node1" presStyleIdx="1" presStyleCnt="5"/>
      <dgm:spPr/>
    </dgm:pt>
    <dgm:pt modelId="{68DCEE62-EEE0-0F46-AD28-366444FAC71E}" type="pres">
      <dgm:prSet presAssocID="{2C9CC854-3F87-254F-A2B1-29161529ADF1}" presName="parentText" presStyleLbl="node1" presStyleIdx="2" presStyleCnt="5" custScaleX="64286">
        <dgm:presLayoutVars>
          <dgm:chMax val="0"/>
          <dgm:bulletEnabled val="1"/>
        </dgm:presLayoutVars>
      </dgm:prSet>
      <dgm:spPr/>
    </dgm:pt>
    <dgm:pt modelId="{7059B93F-5854-4C42-8C9A-467A138CFD2E}" type="pres">
      <dgm:prSet presAssocID="{2C9CC854-3F87-254F-A2B1-29161529ADF1}" presName="negativeSpace" presStyleCnt="0"/>
      <dgm:spPr/>
    </dgm:pt>
    <dgm:pt modelId="{65D12871-84DA-1740-9B7A-B977929B67B0}" type="pres">
      <dgm:prSet presAssocID="{2C9CC854-3F87-254F-A2B1-29161529ADF1}" presName="childText" presStyleLbl="conFgAcc1" presStyleIdx="2" presStyleCnt="5">
        <dgm:presLayoutVars>
          <dgm:bulletEnabled val="1"/>
        </dgm:presLayoutVars>
      </dgm:prSet>
      <dgm:spPr/>
    </dgm:pt>
    <dgm:pt modelId="{AAE1D0A2-4608-7B49-9996-B99BA586799F}" type="pres">
      <dgm:prSet presAssocID="{97FE1EB6-3554-394B-B19F-2EB818A7E00F}" presName="spaceBetweenRectangles" presStyleCnt="0"/>
      <dgm:spPr/>
    </dgm:pt>
    <dgm:pt modelId="{D0A6A33C-6FDB-514D-9133-1415707A85ED}" type="pres">
      <dgm:prSet presAssocID="{87FBB302-2DE2-1C42-85BA-409AF46FD45E}" presName="parentLin" presStyleCnt="0"/>
      <dgm:spPr/>
    </dgm:pt>
    <dgm:pt modelId="{038E828F-39A9-A443-9762-F6918CB067F8}" type="pres">
      <dgm:prSet presAssocID="{87FBB302-2DE2-1C42-85BA-409AF46FD45E}" presName="parentLeftMargin" presStyleLbl="node1" presStyleIdx="2" presStyleCnt="5"/>
      <dgm:spPr/>
    </dgm:pt>
    <dgm:pt modelId="{55DCFBF2-A92B-2D49-8E14-712808571A32}" type="pres">
      <dgm:prSet presAssocID="{87FBB302-2DE2-1C42-85BA-409AF46FD45E}" presName="parentText" presStyleLbl="node1" presStyleIdx="3" presStyleCnt="5" custScaleX="38775">
        <dgm:presLayoutVars>
          <dgm:chMax val="0"/>
          <dgm:bulletEnabled val="1"/>
        </dgm:presLayoutVars>
      </dgm:prSet>
      <dgm:spPr/>
    </dgm:pt>
    <dgm:pt modelId="{A77513AA-EE86-B049-9B6A-4E4DB9D9E803}" type="pres">
      <dgm:prSet presAssocID="{87FBB302-2DE2-1C42-85BA-409AF46FD45E}" presName="negativeSpace" presStyleCnt="0"/>
      <dgm:spPr/>
    </dgm:pt>
    <dgm:pt modelId="{ECB79F2C-3DB5-E846-95BD-E5064A03373D}" type="pres">
      <dgm:prSet presAssocID="{87FBB302-2DE2-1C42-85BA-409AF46FD45E}" presName="childText" presStyleLbl="conFgAcc1" presStyleIdx="3" presStyleCnt="5">
        <dgm:presLayoutVars>
          <dgm:bulletEnabled val="1"/>
        </dgm:presLayoutVars>
      </dgm:prSet>
      <dgm:spPr/>
    </dgm:pt>
    <dgm:pt modelId="{D6F7455C-C119-D043-B764-574835ECAF8D}" type="pres">
      <dgm:prSet presAssocID="{81CC6E2D-C9C7-CC49-94DF-7BCBF745FD8D}" presName="spaceBetweenRectangles" presStyleCnt="0"/>
      <dgm:spPr/>
    </dgm:pt>
    <dgm:pt modelId="{FA8C67F0-3B9A-5B40-9805-AAF40D878D9B}" type="pres">
      <dgm:prSet presAssocID="{DD51DDBF-23E0-B343-B9F6-E49D54C489B5}" presName="parentLin" presStyleCnt="0"/>
      <dgm:spPr/>
    </dgm:pt>
    <dgm:pt modelId="{9BA1CC4F-1DE9-8A4E-BF58-26CF6DB397FE}" type="pres">
      <dgm:prSet presAssocID="{DD51DDBF-23E0-B343-B9F6-E49D54C489B5}" presName="parentLeftMargin" presStyleLbl="node1" presStyleIdx="3" presStyleCnt="5"/>
      <dgm:spPr/>
    </dgm:pt>
    <dgm:pt modelId="{AFA02130-531F-2541-A40D-4D4C90AABF70}" type="pres">
      <dgm:prSet presAssocID="{DD51DDBF-23E0-B343-B9F6-E49D54C489B5}" presName="parentText" presStyleLbl="node1" presStyleIdx="4" presStyleCnt="5" custScaleX="48980">
        <dgm:presLayoutVars>
          <dgm:chMax val="0"/>
          <dgm:bulletEnabled val="1"/>
        </dgm:presLayoutVars>
      </dgm:prSet>
      <dgm:spPr/>
    </dgm:pt>
    <dgm:pt modelId="{C9C57EDF-A407-A54D-A20A-ADB613F35F8F}" type="pres">
      <dgm:prSet presAssocID="{DD51DDBF-23E0-B343-B9F6-E49D54C489B5}" presName="negativeSpace" presStyleCnt="0"/>
      <dgm:spPr/>
    </dgm:pt>
    <dgm:pt modelId="{7052E4C0-0365-DF4E-996C-A00169E89A13}" type="pres">
      <dgm:prSet presAssocID="{DD51DDBF-23E0-B343-B9F6-E49D54C489B5}" presName="childText" presStyleLbl="conFgAcc1" presStyleIdx="4" presStyleCnt="5">
        <dgm:presLayoutVars>
          <dgm:bulletEnabled val="1"/>
        </dgm:presLayoutVars>
      </dgm:prSet>
      <dgm:spPr/>
    </dgm:pt>
  </dgm:ptLst>
  <dgm:cxnLst>
    <dgm:cxn modelId="{3DE04106-F15A-5A4E-ACE9-78D6C34928B6}" srcId="{30F91678-A966-014A-AFE3-F3D065DF6BCC}" destId="{DD51DDBF-23E0-B343-B9F6-E49D54C489B5}" srcOrd="4" destOrd="0" parTransId="{A9DB291B-5DDE-7A4E-8BC2-0322A79053D8}" sibTransId="{D77F60C8-BFE7-E44C-9DCE-ADD797F2CB9E}"/>
    <dgm:cxn modelId="{C4A48707-8581-1C4D-9EBD-DAACA4B007DB}" type="presOf" srcId="{F83775D9-231C-DC44-A2D0-E6F9CB883F69}" destId="{7052E4C0-0365-DF4E-996C-A00169E89A13}" srcOrd="0" destOrd="0" presId="urn:microsoft.com/office/officeart/2005/8/layout/list1"/>
    <dgm:cxn modelId="{A759D90D-317E-164E-98C4-77A98472F801}" type="presOf" srcId="{30F91678-A966-014A-AFE3-F3D065DF6BCC}" destId="{44878D81-C104-7847-9BF0-A7694467A921}" srcOrd="0" destOrd="0" presId="urn:microsoft.com/office/officeart/2005/8/layout/list1"/>
    <dgm:cxn modelId="{62CCDD21-5E09-0E46-9940-6370791F1756}" type="presOf" srcId="{F31C79FB-85F6-7C43-A794-B3F4DDE05DF4}" destId="{E470F2D5-B98B-CE44-9C25-1EFDE028763E}" srcOrd="0" destOrd="0" presId="urn:microsoft.com/office/officeart/2005/8/layout/list1"/>
    <dgm:cxn modelId="{669D4825-009B-E74C-A02E-BA0A0CBB9F58}" srcId="{87FBB302-2DE2-1C42-85BA-409AF46FD45E}" destId="{E2C2B88E-C365-1342-A70B-E66784EEBADA}" srcOrd="0" destOrd="0" parTransId="{0C65C72B-4B61-A94E-BDEC-BFF0D37E59FA}" sibTransId="{6141C23A-9D80-B74C-B097-1398C10B4B73}"/>
    <dgm:cxn modelId="{940F3D2A-4C4D-894F-A8A1-265D927EDBF9}" type="presOf" srcId="{A51A051B-B444-5C4D-ACCD-2A20DD4E2424}" destId="{F3CA23DE-DCA7-8A4B-85EC-47D5EDFB354E}" srcOrd="1" destOrd="0" presId="urn:microsoft.com/office/officeart/2005/8/layout/list1"/>
    <dgm:cxn modelId="{33776D2D-9848-6B4C-B2B5-1FAF05D93380}" type="presOf" srcId="{DD51DDBF-23E0-B343-B9F6-E49D54C489B5}" destId="{9BA1CC4F-1DE9-8A4E-BF58-26CF6DB397FE}" srcOrd="0" destOrd="0" presId="urn:microsoft.com/office/officeart/2005/8/layout/list1"/>
    <dgm:cxn modelId="{C0827931-ADBE-7542-8773-310152EBA1A4}" srcId="{30F91678-A966-014A-AFE3-F3D065DF6BCC}" destId="{A51A051B-B444-5C4D-ACCD-2A20DD4E2424}" srcOrd="0" destOrd="0" parTransId="{8776F8E4-929F-EE4F-9587-AEED3A3789FB}" sibTransId="{AFE95660-BFD2-F744-96FE-FACB8D9DE7B5}"/>
    <dgm:cxn modelId="{15626D39-85E8-A147-86B7-92354FC85396}" type="presOf" srcId="{E2C2B88E-C365-1342-A70B-E66784EEBADA}" destId="{ECB79F2C-3DB5-E846-95BD-E5064A03373D}" srcOrd="0" destOrd="0" presId="urn:microsoft.com/office/officeart/2005/8/layout/list1"/>
    <dgm:cxn modelId="{6DC5843C-F893-554C-B497-EE783C6D42AA}" srcId="{30F91678-A966-014A-AFE3-F3D065DF6BCC}" destId="{80DC049B-7FD5-3045-83DD-F1080B16A5FD}" srcOrd="1" destOrd="0" parTransId="{8DB4D05B-BD93-564D-BC96-D04C53A8B166}" sibTransId="{90A38F66-0514-6B40-9287-C28DD9752DA8}"/>
    <dgm:cxn modelId="{5E66C46A-AB7C-BD4E-96B3-F6AC9FD9046D}" type="presOf" srcId="{87FBB302-2DE2-1C42-85BA-409AF46FD45E}" destId="{55DCFBF2-A92B-2D49-8E14-712808571A32}" srcOrd="1" destOrd="0" presId="urn:microsoft.com/office/officeart/2005/8/layout/list1"/>
    <dgm:cxn modelId="{14082052-3E40-1345-8038-8B186E992241}" type="presOf" srcId="{A51A051B-B444-5C4D-ACCD-2A20DD4E2424}" destId="{48EC8570-AC82-C646-A9E0-D97EA89C7C19}" srcOrd="0" destOrd="0" presId="urn:microsoft.com/office/officeart/2005/8/layout/list1"/>
    <dgm:cxn modelId="{7F357E53-2443-ED46-A113-E86ABB517A75}" type="presOf" srcId="{A64C4E49-A0FB-9E44-BB1D-A5CD8B1AE6EB}" destId="{E470F2D5-B98B-CE44-9C25-1EFDE028763E}" srcOrd="0" destOrd="1" presId="urn:microsoft.com/office/officeart/2005/8/layout/list1"/>
    <dgm:cxn modelId="{A208E876-1735-2946-8D6F-DDCC85968089}" type="presOf" srcId="{2C9CC854-3F87-254F-A2B1-29161529ADF1}" destId="{68DCEE62-EEE0-0F46-AD28-366444FAC71E}" srcOrd="1" destOrd="0" presId="urn:microsoft.com/office/officeart/2005/8/layout/list1"/>
    <dgm:cxn modelId="{CCB8DB88-B870-6940-87F7-34B806C52D11}" type="presOf" srcId="{9EFBC27B-9187-484D-AD98-003F107DD10F}" destId="{E8BFF411-F451-A341-8D87-49C77FF491D5}" srcOrd="0" destOrd="0" presId="urn:microsoft.com/office/officeart/2005/8/layout/list1"/>
    <dgm:cxn modelId="{67AB5889-852C-3244-98D1-0929EB14A4A1}" type="presOf" srcId="{2C9CC854-3F87-254F-A2B1-29161529ADF1}" destId="{DDFB5F5A-0D30-3348-ADC5-C650D90FEE0B}" srcOrd="0" destOrd="0" presId="urn:microsoft.com/office/officeart/2005/8/layout/list1"/>
    <dgm:cxn modelId="{F6EE9D8A-6F99-E049-ABEB-5EA5B04B5184}" srcId="{30F91678-A966-014A-AFE3-F3D065DF6BCC}" destId="{2C9CC854-3F87-254F-A2B1-29161529ADF1}" srcOrd="2" destOrd="0" parTransId="{37A459E1-3DFD-484E-A449-6ACB53A26CC2}" sibTransId="{97FE1EB6-3554-394B-B19F-2EB818A7E00F}"/>
    <dgm:cxn modelId="{40DC9E8D-B94C-0948-AD4A-5CF5278F6F75}" srcId="{2C9CC854-3F87-254F-A2B1-29161529ADF1}" destId="{C0493049-879C-7048-81E3-E88D8A386435}" srcOrd="0" destOrd="0" parTransId="{8858A644-7071-C74C-A99E-CCE8AB40A547}" sibTransId="{4CF35CDC-BA3B-8F45-BB5B-0536A3C176F2}"/>
    <dgm:cxn modelId="{C684D08E-BF39-C646-8A0B-05126313DA0B}" srcId="{30F91678-A966-014A-AFE3-F3D065DF6BCC}" destId="{87FBB302-2DE2-1C42-85BA-409AF46FD45E}" srcOrd="3" destOrd="0" parTransId="{B1DDF52A-03C2-ED42-BCB4-B84B7D2B9F2C}" sibTransId="{81CC6E2D-C9C7-CC49-94DF-7BCBF745FD8D}"/>
    <dgm:cxn modelId="{1695B39D-2E8D-A146-8D71-704D8B9FE405}" type="presOf" srcId="{80DC049B-7FD5-3045-83DD-F1080B16A5FD}" destId="{7A72E58F-7E0B-3B4F-92FC-54A2C6DAC1B5}" srcOrd="0" destOrd="0" presId="urn:microsoft.com/office/officeart/2005/8/layout/list1"/>
    <dgm:cxn modelId="{3E82B6AF-F560-F34C-8C28-3DDAE239C12D}" type="presOf" srcId="{80DC049B-7FD5-3045-83DD-F1080B16A5FD}" destId="{9D394F1D-EBFB-3948-A773-BA9E32EB8A2D}" srcOrd="1" destOrd="0" presId="urn:microsoft.com/office/officeart/2005/8/layout/list1"/>
    <dgm:cxn modelId="{4A2F6DC5-D150-1048-AE28-1FF498F06545}" srcId="{80DC049B-7FD5-3045-83DD-F1080B16A5FD}" destId="{9EFBC27B-9187-484D-AD98-003F107DD10F}" srcOrd="0" destOrd="0" parTransId="{625F119B-BFD1-F543-B281-1D322E011FB3}" sibTransId="{105A3B14-4266-A84D-A904-71E74119EB9C}"/>
    <dgm:cxn modelId="{E90FDAC7-F9EB-8A48-9620-B3966DA28D8D}" type="presOf" srcId="{DD51DDBF-23E0-B343-B9F6-E49D54C489B5}" destId="{AFA02130-531F-2541-A40D-4D4C90AABF70}" srcOrd="1" destOrd="0" presId="urn:microsoft.com/office/officeart/2005/8/layout/list1"/>
    <dgm:cxn modelId="{8B2D44C8-F569-2C40-8369-F5381957DF24}" srcId="{DD51DDBF-23E0-B343-B9F6-E49D54C489B5}" destId="{F83775D9-231C-DC44-A2D0-E6F9CB883F69}" srcOrd="0" destOrd="0" parTransId="{84E1DDA8-5A62-1C4D-9143-A7763DC0FB31}" sibTransId="{19B7166B-0324-224D-82E1-FB4C4C32A8F2}"/>
    <dgm:cxn modelId="{13F08BDF-93E0-9E42-830B-D8B6BF0DDCC1}" srcId="{A51A051B-B444-5C4D-ACCD-2A20DD4E2424}" destId="{F31C79FB-85F6-7C43-A794-B3F4DDE05DF4}" srcOrd="0" destOrd="0" parTransId="{04C8D68A-9CCD-764A-A3BF-7BFD50312E9D}" sibTransId="{D72DE6BB-3CE9-7D4F-9D78-1B2E4F7DD480}"/>
    <dgm:cxn modelId="{90173BE2-1E04-1745-A40A-D7E2A549B1A9}" srcId="{A51A051B-B444-5C4D-ACCD-2A20DD4E2424}" destId="{A64C4E49-A0FB-9E44-BB1D-A5CD8B1AE6EB}" srcOrd="1" destOrd="0" parTransId="{57DBDDC1-3B17-8C40-AD8C-CFBA8BF28BF9}" sibTransId="{6413D08D-EA4A-764A-A87F-1337495A5A65}"/>
    <dgm:cxn modelId="{B6FFD0F8-0EB9-D248-ABA7-7CDC25C9A2D4}" type="presOf" srcId="{C0493049-879C-7048-81E3-E88D8A386435}" destId="{65D12871-84DA-1740-9B7A-B977929B67B0}" srcOrd="0" destOrd="0" presId="urn:microsoft.com/office/officeart/2005/8/layout/list1"/>
    <dgm:cxn modelId="{F2C92BFD-CA97-E448-A5A9-17018E0B7156}" type="presOf" srcId="{87FBB302-2DE2-1C42-85BA-409AF46FD45E}" destId="{038E828F-39A9-A443-9762-F6918CB067F8}" srcOrd="0" destOrd="0" presId="urn:microsoft.com/office/officeart/2005/8/layout/list1"/>
    <dgm:cxn modelId="{D677621E-D263-7A48-A196-1D3ECE6B9DAE}" type="presParOf" srcId="{44878D81-C104-7847-9BF0-A7694467A921}" destId="{F4B8651E-3ED3-9E48-B1B8-A623EDC3BE28}" srcOrd="0" destOrd="0" presId="urn:microsoft.com/office/officeart/2005/8/layout/list1"/>
    <dgm:cxn modelId="{38EF0B74-ED39-1C46-966E-EE42517EE3C4}" type="presParOf" srcId="{F4B8651E-3ED3-9E48-B1B8-A623EDC3BE28}" destId="{48EC8570-AC82-C646-A9E0-D97EA89C7C19}" srcOrd="0" destOrd="0" presId="urn:microsoft.com/office/officeart/2005/8/layout/list1"/>
    <dgm:cxn modelId="{3EFE2A9A-D140-374E-9CFD-A1068B72AD2E}" type="presParOf" srcId="{F4B8651E-3ED3-9E48-B1B8-A623EDC3BE28}" destId="{F3CA23DE-DCA7-8A4B-85EC-47D5EDFB354E}" srcOrd="1" destOrd="0" presId="urn:microsoft.com/office/officeart/2005/8/layout/list1"/>
    <dgm:cxn modelId="{BF04533B-49BB-4E48-B5E0-79F32D545D24}" type="presParOf" srcId="{44878D81-C104-7847-9BF0-A7694467A921}" destId="{BEBA6324-3904-494E-BF0D-E5725ED52E91}" srcOrd="1" destOrd="0" presId="urn:microsoft.com/office/officeart/2005/8/layout/list1"/>
    <dgm:cxn modelId="{5BA98400-4DB3-9E4F-A8C9-7BEDEEC73237}" type="presParOf" srcId="{44878D81-C104-7847-9BF0-A7694467A921}" destId="{E470F2D5-B98B-CE44-9C25-1EFDE028763E}" srcOrd="2" destOrd="0" presId="urn:microsoft.com/office/officeart/2005/8/layout/list1"/>
    <dgm:cxn modelId="{B0C31420-F710-C14F-89E3-9F25937BEDA2}" type="presParOf" srcId="{44878D81-C104-7847-9BF0-A7694467A921}" destId="{07AFA613-A516-8C45-AA10-C38E404E4015}" srcOrd="3" destOrd="0" presId="urn:microsoft.com/office/officeart/2005/8/layout/list1"/>
    <dgm:cxn modelId="{60403AF6-A287-9848-B921-89CD85DC57FF}" type="presParOf" srcId="{44878D81-C104-7847-9BF0-A7694467A921}" destId="{77BBCC61-96F6-9E40-8EC8-3B69EDB77954}" srcOrd="4" destOrd="0" presId="urn:microsoft.com/office/officeart/2005/8/layout/list1"/>
    <dgm:cxn modelId="{A06E1FDD-A2CA-1043-BC99-6817A91C02BF}" type="presParOf" srcId="{77BBCC61-96F6-9E40-8EC8-3B69EDB77954}" destId="{7A72E58F-7E0B-3B4F-92FC-54A2C6DAC1B5}" srcOrd="0" destOrd="0" presId="urn:microsoft.com/office/officeart/2005/8/layout/list1"/>
    <dgm:cxn modelId="{89E23CA3-80DD-264C-BC24-898278911D88}" type="presParOf" srcId="{77BBCC61-96F6-9E40-8EC8-3B69EDB77954}" destId="{9D394F1D-EBFB-3948-A773-BA9E32EB8A2D}" srcOrd="1" destOrd="0" presId="urn:microsoft.com/office/officeart/2005/8/layout/list1"/>
    <dgm:cxn modelId="{53F02B89-3600-C049-8465-710BC1DDD8E8}" type="presParOf" srcId="{44878D81-C104-7847-9BF0-A7694467A921}" destId="{F2E2BA8F-51B0-3E4B-8E2C-566ECF10426F}" srcOrd="5" destOrd="0" presId="urn:microsoft.com/office/officeart/2005/8/layout/list1"/>
    <dgm:cxn modelId="{8C9F3A8B-40CF-FF42-940A-48E46BD55C2A}" type="presParOf" srcId="{44878D81-C104-7847-9BF0-A7694467A921}" destId="{E8BFF411-F451-A341-8D87-49C77FF491D5}" srcOrd="6" destOrd="0" presId="urn:microsoft.com/office/officeart/2005/8/layout/list1"/>
    <dgm:cxn modelId="{7EAB7A7B-704E-A14D-BFF6-62A5264EBA38}" type="presParOf" srcId="{44878D81-C104-7847-9BF0-A7694467A921}" destId="{94545572-E2D1-A840-B151-EEDCC1725653}" srcOrd="7" destOrd="0" presId="urn:microsoft.com/office/officeart/2005/8/layout/list1"/>
    <dgm:cxn modelId="{3C91D318-8111-9F41-B9D9-8887CDDE0C55}" type="presParOf" srcId="{44878D81-C104-7847-9BF0-A7694467A921}" destId="{7C5669DA-8D78-D443-B89E-7342304866EA}" srcOrd="8" destOrd="0" presId="urn:microsoft.com/office/officeart/2005/8/layout/list1"/>
    <dgm:cxn modelId="{7A7AFBDE-CBDA-D048-A627-007B5D54B9D5}" type="presParOf" srcId="{7C5669DA-8D78-D443-B89E-7342304866EA}" destId="{DDFB5F5A-0D30-3348-ADC5-C650D90FEE0B}" srcOrd="0" destOrd="0" presId="urn:microsoft.com/office/officeart/2005/8/layout/list1"/>
    <dgm:cxn modelId="{275A3441-F8E2-5547-8253-205DFEF32CE6}" type="presParOf" srcId="{7C5669DA-8D78-D443-B89E-7342304866EA}" destId="{68DCEE62-EEE0-0F46-AD28-366444FAC71E}" srcOrd="1" destOrd="0" presId="urn:microsoft.com/office/officeart/2005/8/layout/list1"/>
    <dgm:cxn modelId="{EC836277-AC2B-1B4E-A29F-3AE41878BCFB}" type="presParOf" srcId="{44878D81-C104-7847-9BF0-A7694467A921}" destId="{7059B93F-5854-4C42-8C9A-467A138CFD2E}" srcOrd="9" destOrd="0" presId="urn:microsoft.com/office/officeart/2005/8/layout/list1"/>
    <dgm:cxn modelId="{C9820705-CC05-CA43-836E-213B11C0D058}" type="presParOf" srcId="{44878D81-C104-7847-9BF0-A7694467A921}" destId="{65D12871-84DA-1740-9B7A-B977929B67B0}" srcOrd="10" destOrd="0" presId="urn:microsoft.com/office/officeart/2005/8/layout/list1"/>
    <dgm:cxn modelId="{291D4B7E-2B66-1944-8EF5-253809759274}" type="presParOf" srcId="{44878D81-C104-7847-9BF0-A7694467A921}" destId="{AAE1D0A2-4608-7B49-9996-B99BA586799F}" srcOrd="11" destOrd="0" presId="urn:microsoft.com/office/officeart/2005/8/layout/list1"/>
    <dgm:cxn modelId="{77ADE4E6-C7F4-3448-B901-57E0C68051AD}" type="presParOf" srcId="{44878D81-C104-7847-9BF0-A7694467A921}" destId="{D0A6A33C-6FDB-514D-9133-1415707A85ED}" srcOrd="12" destOrd="0" presId="urn:microsoft.com/office/officeart/2005/8/layout/list1"/>
    <dgm:cxn modelId="{2BB7D9A7-4D8B-A04A-A59B-7888F4E109F5}" type="presParOf" srcId="{D0A6A33C-6FDB-514D-9133-1415707A85ED}" destId="{038E828F-39A9-A443-9762-F6918CB067F8}" srcOrd="0" destOrd="0" presId="urn:microsoft.com/office/officeart/2005/8/layout/list1"/>
    <dgm:cxn modelId="{6E4BB664-D9D1-C848-98F5-8C78363AFC56}" type="presParOf" srcId="{D0A6A33C-6FDB-514D-9133-1415707A85ED}" destId="{55DCFBF2-A92B-2D49-8E14-712808571A32}" srcOrd="1" destOrd="0" presId="urn:microsoft.com/office/officeart/2005/8/layout/list1"/>
    <dgm:cxn modelId="{52978810-7C48-4845-B7CE-189FCCEF78D4}" type="presParOf" srcId="{44878D81-C104-7847-9BF0-A7694467A921}" destId="{A77513AA-EE86-B049-9B6A-4E4DB9D9E803}" srcOrd="13" destOrd="0" presId="urn:microsoft.com/office/officeart/2005/8/layout/list1"/>
    <dgm:cxn modelId="{175D2C86-D667-6846-B535-C466E5D6149F}" type="presParOf" srcId="{44878D81-C104-7847-9BF0-A7694467A921}" destId="{ECB79F2C-3DB5-E846-95BD-E5064A03373D}" srcOrd="14" destOrd="0" presId="urn:microsoft.com/office/officeart/2005/8/layout/list1"/>
    <dgm:cxn modelId="{8527AF4C-0973-184B-AB29-262F512101C5}" type="presParOf" srcId="{44878D81-C104-7847-9BF0-A7694467A921}" destId="{D6F7455C-C119-D043-B764-574835ECAF8D}" srcOrd="15" destOrd="0" presId="urn:microsoft.com/office/officeart/2005/8/layout/list1"/>
    <dgm:cxn modelId="{BA541C36-3B7F-A74A-9DF8-82EE1775CD0B}" type="presParOf" srcId="{44878D81-C104-7847-9BF0-A7694467A921}" destId="{FA8C67F0-3B9A-5B40-9805-AAF40D878D9B}" srcOrd="16" destOrd="0" presId="urn:microsoft.com/office/officeart/2005/8/layout/list1"/>
    <dgm:cxn modelId="{3A0783DD-7647-F340-8315-5450562B7827}" type="presParOf" srcId="{FA8C67F0-3B9A-5B40-9805-AAF40D878D9B}" destId="{9BA1CC4F-1DE9-8A4E-BF58-26CF6DB397FE}" srcOrd="0" destOrd="0" presId="urn:microsoft.com/office/officeart/2005/8/layout/list1"/>
    <dgm:cxn modelId="{37435FE0-F3C6-6E42-86A0-B294A293A659}" type="presParOf" srcId="{FA8C67F0-3B9A-5B40-9805-AAF40D878D9B}" destId="{AFA02130-531F-2541-A40D-4D4C90AABF70}" srcOrd="1" destOrd="0" presId="urn:microsoft.com/office/officeart/2005/8/layout/list1"/>
    <dgm:cxn modelId="{A4784428-35EB-A94D-A2F8-6CD87439B107}" type="presParOf" srcId="{44878D81-C104-7847-9BF0-A7694467A921}" destId="{C9C57EDF-A407-A54D-A20A-ADB613F35F8F}" srcOrd="17" destOrd="0" presId="urn:microsoft.com/office/officeart/2005/8/layout/list1"/>
    <dgm:cxn modelId="{E7EFF6F6-24A5-B544-AB73-D68577AECED1}" type="presParOf" srcId="{44878D81-C104-7847-9BF0-A7694467A921}" destId="{7052E4C0-0365-DF4E-996C-A00169E89A13}"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7FD8E20-BBAB-AB4E-8999-A300E17AF441}"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8867499F-75A7-AE4E-989E-DB1BC3C97276}">
      <dgm:prSet custT="1"/>
      <dgm:spPr>
        <a:solidFill>
          <a:schemeClr val="tx2"/>
        </a:solidFill>
        <a:ln>
          <a:solidFill>
            <a:schemeClr val="tx1"/>
          </a:solidFill>
        </a:ln>
      </dgm:spPr>
      <dgm:t>
        <a:bodyPr/>
        <a:lstStyle/>
        <a:p>
          <a:pPr rtl="0"/>
          <a:r>
            <a:rPr lang="en-US" sz="1800" b="1" i="0" dirty="0">
              <a:solidFill>
                <a:schemeClr val="tx2">
                  <a:lumMod val="10000"/>
                </a:schemeClr>
              </a:solidFill>
            </a:rPr>
            <a:t>S/MIME</a:t>
          </a:r>
        </a:p>
      </dgm:t>
    </dgm:pt>
    <dgm:pt modelId="{724AA4BE-A61F-FD44-95E5-664160770CC3}" type="parTrans" cxnId="{A2CF7598-D2BE-C442-B355-EE23A1848FB0}">
      <dgm:prSet/>
      <dgm:spPr/>
      <dgm:t>
        <a:bodyPr/>
        <a:lstStyle/>
        <a:p>
          <a:endParaRPr lang="en-US"/>
        </a:p>
      </dgm:t>
    </dgm:pt>
    <dgm:pt modelId="{59608713-F55D-8C48-842D-AB6555D22F97}" type="sibTrans" cxnId="{A2CF7598-D2BE-C442-B355-EE23A1848FB0}">
      <dgm:prSet/>
      <dgm:spPr/>
      <dgm:t>
        <a:bodyPr/>
        <a:lstStyle/>
        <a:p>
          <a:endParaRPr lang="en-US"/>
        </a:p>
      </dgm:t>
    </dgm:pt>
    <dgm:pt modelId="{5F117A6A-2F46-A646-83F4-43A7F551D8C1}">
      <dgm:prSet custT="1"/>
      <dgm:spPr>
        <a:ln>
          <a:solidFill>
            <a:schemeClr val="bg2"/>
          </a:solidFill>
        </a:ln>
      </dgm:spPr>
      <dgm:t>
        <a:bodyPr/>
        <a:lstStyle/>
        <a:p>
          <a:pPr rtl="0"/>
          <a:r>
            <a:rPr lang="en-US" sz="1500" b="1" i="0" dirty="0"/>
            <a:t>Consists of encrypted content of any type and encrypted content encryption keys for one or more recipients</a:t>
          </a:r>
        </a:p>
      </dgm:t>
    </dgm:pt>
    <dgm:pt modelId="{49EECC26-1271-5E40-9ED1-537D518FB99B}" type="parTrans" cxnId="{83FC3868-EB54-134B-87AC-2D5D665DD78A}">
      <dgm:prSet/>
      <dgm:spPr/>
      <dgm:t>
        <a:bodyPr/>
        <a:lstStyle/>
        <a:p>
          <a:endParaRPr lang="en-US"/>
        </a:p>
      </dgm:t>
    </dgm:pt>
    <dgm:pt modelId="{165517F0-AD87-D843-9D34-F586697CAE54}" type="sibTrans" cxnId="{83FC3868-EB54-134B-87AC-2D5D665DD78A}">
      <dgm:prSet/>
      <dgm:spPr/>
      <dgm:t>
        <a:bodyPr/>
        <a:lstStyle/>
        <a:p>
          <a:endParaRPr lang="en-US"/>
        </a:p>
      </dgm:t>
    </dgm:pt>
    <dgm:pt modelId="{2D0FB0CB-5D93-EC4E-82BA-8562C7635C5C}">
      <dgm:prSet custT="1"/>
      <dgm:spPr>
        <a:ln>
          <a:solidFill>
            <a:schemeClr val="bg2"/>
          </a:solidFill>
        </a:ln>
      </dgm:spPr>
      <dgm:t>
        <a:bodyPr/>
        <a:lstStyle/>
        <a:p>
          <a:pPr rtl="0"/>
          <a:r>
            <a:rPr lang="en-US" sz="1500" b="1" i="0" dirty="0"/>
            <a:t>Signed data</a:t>
          </a:r>
        </a:p>
      </dgm:t>
    </dgm:pt>
    <dgm:pt modelId="{09C5C9E9-22DA-3F4E-8200-6F8E488DDCCE}" type="parTrans" cxnId="{ACD6DF65-56D2-E54E-9B58-6836BE5DB536}">
      <dgm:prSet/>
      <dgm:spPr/>
      <dgm:t>
        <a:bodyPr/>
        <a:lstStyle/>
        <a:p>
          <a:endParaRPr lang="en-US"/>
        </a:p>
      </dgm:t>
    </dgm:pt>
    <dgm:pt modelId="{CCD3ED45-3583-8B42-89B3-D51965DC6972}" type="sibTrans" cxnId="{ACD6DF65-56D2-E54E-9B58-6836BE5DB536}">
      <dgm:prSet/>
      <dgm:spPr/>
      <dgm:t>
        <a:bodyPr/>
        <a:lstStyle/>
        <a:p>
          <a:endParaRPr lang="en-US"/>
        </a:p>
      </dgm:t>
    </dgm:pt>
    <dgm:pt modelId="{C4D3E7B3-7B20-9645-86D9-784D9B7C5A31}">
      <dgm:prSet custT="1"/>
      <dgm:spPr>
        <a:ln>
          <a:solidFill>
            <a:schemeClr val="bg2"/>
          </a:solidFill>
        </a:ln>
      </dgm:spPr>
      <dgm:t>
        <a:bodyPr/>
        <a:lstStyle/>
        <a:p>
          <a:pPr rtl="0"/>
          <a:r>
            <a:rPr lang="en-US" sz="1500" b="1" i="0" dirty="0"/>
            <a:t>A digital signature is formed by taking the message digest of the content to be signed and then encrypting that with the private key of the signer</a:t>
          </a:r>
        </a:p>
      </dgm:t>
    </dgm:pt>
    <dgm:pt modelId="{5398D308-62BC-4644-BE39-F555DCA7E5EA}" type="parTrans" cxnId="{8364EB7B-29B1-9344-8242-00AEDEE531DC}">
      <dgm:prSet/>
      <dgm:spPr/>
      <dgm:t>
        <a:bodyPr/>
        <a:lstStyle/>
        <a:p>
          <a:endParaRPr lang="en-US"/>
        </a:p>
      </dgm:t>
    </dgm:pt>
    <dgm:pt modelId="{EBA005E3-A8C5-4643-9F68-3EF3D3545616}" type="sibTrans" cxnId="{8364EB7B-29B1-9344-8242-00AEDEE531DC}">
      <dgm:prSet/>
      <dgm:spPr/>
      <dgm:t>
        <a:bodyPr/>
        <a:lstStyle/>
        <a:p>
          <a:endParaRPr lang="en-US"/>
        </a:p>
      </dgm:t>
    </dgm:pt>
    <dgm:pt modelId="{A78B885B-D4CA-B148-AA80-5B38FC4EB324}">
      <dgm:prSet custT="1"/>
      <dgm:spPr>
        <a:ln>
          <a:solidFill>
            <a:schemeClr val="bg2"/>
          </a:solidFill>
        </a:ln>
      </dgm:spPr>
      <dgm:t>
        <a:bodyPr/>
        <a:lstStyle/>
        <a:p>
          <a:pPr rtl="0"/>
          <a:r>
            <a:rPr lang="en-US" sz="1500" b="1" i="0" dirty="0"/>
            <a:t>The content plus signature are then encoded using base64 encoding</a:t>
          </a:r>
        </a:p>
      </dgm:t>
    </dgm:pt>
    <dgm:pt modelId="{11753F4D-17FE-4B42-A347-FF1005B8784C}" type="parTrans" cxnId="{A6F7702A-5B62-CC49-AE73-C2EB31E328EC}">
      <dgm:prSet/>
      <dgm:spPr/>
      <dgm:t>
        <a:bodyPr/>
        <a:lstStyle/>
        <a:p>
          <a:endParaRPr lang="en-US"/>
        </a:p>
      </dgm:t>
    </dgm:pt>
    <dgm:pt modelId="{2B5D299B-F4C6-0045-82FB-FAE5C9B03AFA}" type="sibTrans" cxnId="{A6F7702A-5B62-CC49-AE73-C2EB31E328EC}">
      <dgm:prSet/>
      <dgm:spPr/>
      <dgm:t>
        <a:bodyPr/>
        <a:lstStyle/>
        <a:p>
          <a:endParaRPr lang="en-US"/>
        </a:p>
      </dgm:t>
    </dgm:pt>
    <dgm:pt modelId="{58188176-9DEF-6C4D-B5C7-E6C9A2F7E320}">
      <dgm:prSet custT="1"/>
      <dgm:spPr>
        <a:ln>
          <a:solidFill>
            <a:schemeClr val="bg2"/>
          </a:solidFill>
        </a:ln>
      </dgm:spPr>
      <dgm:t>
        <a:bodyPr/>
        <a:lstStyle/>
        <a:p>
          <a:pPr rtl="0"/>
          <a:r>
            <a:rPr lang="en-US" sz="1500" b="1" i="0" dirty="0"/>
            <a:t>A signed data message can only be viewed by a recipient with S/MIME capability</a:t>
          </a:r>
        </a:p>
      </dgm:t>
    </dgm:pt>
    <dgm:pt modelId="{CAB56076-2393-DF4A-9A02-FABCF85AEE85}" type="parTrans" cxnId="{48126D24-298C-8A41-A988-A322D373CAC1}">
      <dgm:prSet/>
      <dgm:spPr/>
      <dgm:t>
        <a:bodyPr/>
        <a:lstStyle/>
        <a:p>
          <a:endParaRPr lang="en-US"/>
        </a:p>
      </dgm:t>
    </dgm:pt>
    <dgm:pt modelId="{F8E47110-864F-F946-B1F1-08D5A4B11FAB}" type="sibTrans" cxnId="{48126D24-298C-8A41-A988-A322D373CAC1}">
      <dgm:prSet/>
      <dgm:spPr/>
      <dgm:t>
        <a:bodyPr/>
        <a:lstStyle/>
        <a:p>
          <a:endParaRPr lang="en-US"/>
        </a:p>
      </dgm:t>
    </dgm:pt>
    <dgm:pt modelId="{B2034489-3185-C540-B5F0-5370C8055050}">
      <dgm:prSet custT="1"/>
      <dgm:spPr>
        <a:ln>
          <a:solidFill>
            <a:schemeClr val="bg2"/>
          </a:solidFill>
        </a:ln>
      </dgm:spPr>
      <dgm:t>
        <a:bodyPr/>
        <a:lstStyle/>
        <a:p>
          <a:pPr rtl="0"/>
          <a:r>
            <a:rPr lang="en-US" sz="1500" b="1" i="0" dirty="0"/>
            <a:t>Clear-signed data</a:t>
          </a:r>
        </a:p>
      </dgm:t>
    </dgm:pt>
    <dgm:pt modelId="{6D3BD0F0-BF47-9042-8F5A-768380500A2E}" type="parTrans" cxnId="{BC3E91E9-AF10-8C49-BF3D-054B6CFA77A2}">
      <dgm:prSet/>
      <dgm:spPr/>
      <dgm:t>
        <a:bodyPr/>
        <a:lstStyle/>
        <a:p>
          <a:endParaRPr lang="en-US"/>
        </a:p>
      </dgm:t>
    </dgm:pt>
    <dgm:pt modelId="{590F36F0-5021-0846-A2F8-537D4294489C}" type="sibTrans" cxnId="{BC3E91E9-AF10-8C49-BF3D-054B6CFA77A2}">
      <dgm:prSet/>
      <dgm:spPr/>
      <dgm:t>
        <a:bodyPr/>
        <a:lstStyle/>
        <a:p>
          <a:endParaRPr lang="en-US"/>
        </a:p>
      </dgm:t>
    </dgm:pt>
    <dgm:pt modelId="{6DD0CFDB-34C5-1946-AC7E-4D34E8994784}">
      <dgm:prSet custT="1"/>
      <dgm:spPr>
        <a:ln>
          <a:solidFill>
            <a:schemeClr val="bg2"/>
          </a:solidFill>
        </a:ln>
      </dgm:spPr>
      <dgm:t>
        <a:bodyPr/>
        <a:lstStyle/>
        <a:p>
          <a:pPr rtl="0"/>
          <a:r>
            <a:rPr lang="en-US" sz="1500" b="1" i="0" dirty="0"/>
            <a:t>Only the digital signature is encoded using base64</a:t>
          </a:r>
        </a:p>
      </dgm:t>
    </dgm:pt>
    <dgm:pt modelId="{90BF5490-38D4-2942-9DE1-9AFE463120A0}" type="parTrans" cxnId="{4101C39C-331D-D741-BF2E-A6B71C96EC00}">
      <dgm:prSet/>
      <dgm:spPr/>
      <dgm:t>
        <a:bodyPr/>
        <a:lstStyle/>
        <a:p>
          <a:endParaRPr lang="en-US"/>
        </a:p>
      </dgm:t>
    </dgm:pt>
    <dgm:pt modelId="{348A17E0-68C9-8548-BEBD-813D9204BBF3}" type="sibTrans" cxnId="{4101C39C-331D-D741-BF2E-A6B71C96EC00}">
      <dgm:prSet/>
      <dgm:spPr/>
      <dgm:t>
        <a:bodyPr/>
        <a:lstStyle/>
        <a:p>
          <a:endParaRPr lang="en-US"/>
        </a:p>
      </dgm:t>
    </dgm:pt>
    <dgm:pt modelId="{4ACA0DA4-4397-A446-A71B-3A85CAC90AD9}">
      <dgm:prSet custT="1"/>
      <dgm:spPr>
        <a:ln>
          <a:solidFill>
            <a:schemeClr val="bg2"/>
          </a:solidFill>
        </a:ln>
      </dgm:spPr>
      <dgm:t>
        <a:bodyPr/>
        <a:lstStyle/>
        <a:p>
          <a:pPr rtl="0"/>
          <a:r>
            <a:rPr lang="en-US" sz="1500" b="1" i="0" dirty="0"/>
            <a:t>As a result recipients without S/MIME capability can view the message content, although they cannot verify the signature</a:t>
          </a:r>
        </a:p>
      </dgm:t>
    </dgm:pt>
    <dgm:pt modelId="{72FAA1C4-38F0-C846-94AA-DF83280B0CE9}" type="parTrans" cxnId="{68FC614E-62B6-894D-B071-96CBFA4AE376}">
      <dgm:prSet/>
      <dgm:spPr/>
      <dgm:t>
        <a:bodyPr/>
        <a:lstStyle/>
        <a:p>
          <a:endParaRPr lang="en-US"/>
        </a:p>
      </dgm:t>
    </dgm:pt>
    <dgm:pt modelId="{E62A4DE8-70C6-2241-A151-ABB783B6B6F2}" type="sibTrans" cxnId="{68FC614E-62B6-894D-B071-96CBFA4AE376}">
      <dgm:prSet/>
      <dgm:spPr/>
      <dgm:t>
        <a:bodyPr/>
        <a:lstStyle/>
        <a:p>
          <a:endParaRPr lang="en-US"/>
        </a:p>
      </dgm:t>
    </dgm:pt>
    <dgm:pt modelId="{731BCB4C-EE4F-4F49-B21F-96EC72CC8C0F}">
      <dgm:prSet custT="1"/>
      <dgm:spPr>
        <a:ln>
          <a:solidFill>
            <a:schemeClr val="bg2"/>
          </a:solidFill>
        </a:ln>
      </dgm:spPr>
      <dgm:t>
        <a:bodyPr/>
        <a:lstStyle/>
        <a:p>
          <a:pPr rtl="0"/>
          <a:r>
            <a:rPr lang="en-US" sz="1500" b="1" i="0" dirty="0"/>
            <a:t>Signed and enveloped data</a:t>
          </a:r>
        </a:p>
      </dgm:t>
    </dgm:pt>
    <dgm:pt modelId="{04AB088F-48F6-6349-8CA7-70EDC0621D88}" type="parTrans" cxnId="{798D5819-874D-7E45-A5A7-8AB2FBD591A2}">
      <dgm:prSet/>
      <dgm:spPr/>
      <dgm:t>
        <a:bodyPr/>
        <a:lstStyle/>
        <a:p>
          <a:endParaRPr lang="en-US"/>
        </a:p>
      </dgm:t>
    </dgm:pt>
    <dgm:pt modelId="{87C07632-F4FE-4245-A7CC-FDAE813B1F42}" type="sibTrans" cxnId="{798D5819-874D-7E45-A5A7-8AB2FBD591A2}">
      <dgm:prSet/>
      <dgm:spPr/>
      <dgm:t>
        <a:bodyPr/>
        <a:lstStyle/>
        <a:p>
          <a:endParaRPr lang="en-US"/>
        </a:p>
      </dgm:t>
    </dgm:pt>
    <dgm:pt modelId="{3A859234-B01D-404B-BCAC-1A3E8C617380}">
      <dgm:prSet custT="1"/>
      <dgm:spPr>
        <a:ln>
          <a:solidFill>
            <a:schemeClr val="bg2"/>
          </a:solidFill>
        </a:ln>
      </dgm:spPr>
      <dgm:t>
        <a:bodyPr/>
        <a:lstStyle/>
        <a:p>
          <a:pPr rtl="0"/>
          <a:r>
            <a:rPr lang="en-US" sz="1500" b="1" i="0" dirty="0"/>
            <a:t>Signed-only and encrypted-only entities may be nested, so that encrypted data may be signed and signed data or clear-signed data may be encrypted</a:t>
          </a:r>
        </a:p>
      </dgm:t>
    </dgm:pt>
    <dgm:pt modelId="{ED2DEFC2-FF23-8847-BF79-88950D08D02A}" type="parTrans" cxnId="{60C32DF3-03F1-5444-9E4B-BD5F8525F04D}">
      <dgm:prSet/>
      <dgm:spPr/>
      <dgm:t>
        <a:bodyPr/>
        <a:lstStyle/>
        <a:p>
          <a:endParaRPr lang="en-US"/>
        </a:p>
      </dgm:t>
    </dgm:pt>
    <dgm:pt modelId="{34219511-7C86-F34A-8A3F-DC019DE899E4}" type="sibTrans" cxnId="{60C32DF3-03F1-5444-9E4B-BD5F8525F04D}">
      <dgm:prSet/>
      <dgm:spPr/>
      <dgm:t>
        <a:bodyPr/>
        <a:lstStyle/>
        <a:p>
          <a:endParaRPr lang="en-US"/>
        </a:p>
      </dgm:t>
    </dgm:pt>
    <dgm:pt modelId="{D254715A-6D8C-E347-AF34-F13997A308F5}">
      <dgm:prSet custT="1"/>
      <dgm:spPr>
        <a:ln>
          <a:solidFill>
            <a:schemeClr val="bg2"/>
          </a:solidFill>
        </a:ln>
      </dgm:spPr>
      <dgm:t>
        <a:bodyPr/>
        <a:lstStyle/>
        <a:p>
          <a:pPr rtl="0"/>
          <a:r>
            <a:rPr lang="en-US" sz="1500" b="1" i="0" dirty="0"/>
            <a:t>Enveloped data</a:t>
          </a:r>
        </a:p>
      </dgm:t>
    </dgm:pt>
    <dgm:pt modelId="{C1EBA866-19F9-324A-8F47-853B53501D5C}" type="parTrans" cxnId="{FB9AE25F-4CB7-564F-B2BC-7BAAE602F3BE}">
      <dgm:prSet/>
      <dgm:spPr/>
      <dgm:t>
        <a:bodyPr/>
        <a:lstStyle/>
        <a:p>
          <a:endParaRPr lang="en-US"/>
        </a:p>
      </dgm:t>
    </dgm:pt>
    <dgm:pt modelId="{7865A31F-7B84-9D48-8FC4-DAD02691C3DA}" type="sibTrans" cxnId="{FB9AE25F-4CB7-564F-B2BC-7BAAE602F3BE}">
      <dgm:prSet/>
      <dgm:spPr/>
      <dgm:t>
        <a:bodyPr/>
        <a:lstStyle/>
        <a:p>
          <a:endParaRPr lang="en-US"/>
        </a:p>
      </dgm:t>
    </dgm:pt>
    <dgm:pt modelId="{0C1FA5C6-5CBB-3149-8050-54F6452AD5AE}" type="pres">
      <dgm:prSet presAssocID="{67FD8E20-BBAB-AB4E-8999-A300E17AF441}" presName="diagram" presStyleCnt="0">
        <dgm:presLayoutVars>
          <dgm:chMax val="1"/>
          <dgm:dir/>
          <dgm:animLvl val="ctr"/>
          <dgm:resizeHandles val="exact"/>
        </dgm:presLayoutVars>
      </dgm:prSet>
      <dgm:spPr/>
    </dgm:pt>
    <dgm:pt modelId="{FAB5F08C-4737-8142-B46A-6C8744859F6C}" type="pres">
      <dgm:prSet presAssocID="{67FD8E20-BBAB-AB4E-8999-A300E17AF441}" presName="matrix" presStyleCnt="0"/>
      <dgm:spPr/>
    </dgm:pt>
    <dgm:pt modelId="{4AE1B1F3-AC32-C240-AFB6-88C711BEA5C3}" type="pres">
      <dgm:prSet presAssocID="{67FD8E20-BBAB-AB4E-8999-A300E17AF441}" presName="tile1" presStyleLbl="node1" presStyleIdx="0" presStyleCnt="4"/>
      <dgm:spPr/>
    </dgm:pt>
    <dgm:pt modelId="{E20DBC92-C2AD-F043-93DE-C7EBA088C9AF}" type="pres">
      <dgm:prSet presAssocID="{67FD8E20-BBAB-AB4E-8999-A300E17AF441}" presName="tile1text" presStyleLbl="node1" presStyleIdx="0" presStyleCnt="4">
        <dgm:presLayoutVars>
          <dgm:chMax val="0"/>
          <dgm:chPref val="0"/>
          <dgm:bulletEnabled val="1"/>
        </dgm:presLayoutVars>
      </dgm:prSet>
      <dgm:spPr/>
    </dgm:pt>
    <dgm:pt modelId="{2153AE21-EA9E-AF4D-8F47-2E16FCCB6048}" type="pres">
      <dgm:prSet presAssocID="{67FD8E20-BBAB-AB4E-8999-A300E17AF441}" presName="tile2" presStyleLbl="node1" presStyleIdx="1" presStyleCnt="4"/>
      <dgm:spPr/>
    </dgm:pt>
    <dgm:pt modelId="{938B8276-5661-E64D-B905-0BC0AD2CFD4D}" type="pres">
      <dgm:prSet presAssocID="{67FD8E20-BBAB-AB4E-8999-A300E17AF441}" presName="tile2text" presStyleLbl="node1" presStyleIdx="1" presStyleCnt="4">
        <dgm:presLayoutVars>
          <dgm:chMax val="0"/>
          <dgm:chPref val="0"/>
          <dgm:bulletEnabled val="1"/>
        </dgm:presLayoutVars>
      </dgm:prSet>
      <dgm:spPr/>
    </dgm:pt>
    <dgm:pt modelId="{799CB885-93D8-9543-B22B-D79A744F5B64}" type="pres">
      <dgm:prSet presAssocID="{67FD8E20-BBAB-AB4E-8999-A300E17AF441}" presName="tile3" presStyleLbl="node1" presStyleIdx="2" presStyleCnt="4"/>
      <dgm:spPr/>
    </dgm:pt>
    <dgm:pt modelId="{40E597D8-1E87-F143-BB02-2620661E127D}" type="pres">
      <dgm:prSet presAssocID="{67FD8E20-BBAB-AB4E-8999-A300E17AF441}" presName="tile3text" presStyleLbl="node1" presStyleIdx="2" presStyleCnt="4">
        <dgm:presLayoutVars>
          <dgm:chMax val="0"/>
          <dgm:chPref val="0"/>
          <dgm:bulletEnabled val="1"/>
        </dgm:presLayoutVars>
      </dgm:prSet>
      <dgm:spPr/>
    </dgm:pt>
    <dgm:pt modelId="{E7B5E7DB-A3B3-6843-BFC1-49650FBE65D4}" type="pres">
      <dgm:prSet presAssocID="{67FD8E20-BBAB-AB4E-8999-A300E17AF441}" presName="tile4" presStyleLbl="node1" presStyleIdx="3" presStyleCnt="4" custLinFactNeighborX="3478"/>
      <dgm:spPr/>
    </dgm:pt>
    <dgm:pt modelId="{A63E9495-7D2A-D04D-839E-847148DEB424}" type="pres">
      <dgm:prSet presAssocID="{67FD8E20-BBAB-AB4E-8999-A300E17AF441}" presName="tile4text" presStyleLbl="node1" presStyleIdx="3" presStyleCnt="4">
        <dgm:presLayoutVars>
          <dgm:chMax val="0"/>
          <dgm:chPref val="0"/>
          <dgm:bulletEnabled val="1"/>
        </dgm:presLayoutVars>
      </dgm:prSet>
      <dgm:spPr/>
    </dgm:pt>
    <dgm:pt modelId="{ADC1D07E-D5C9-1B45-A557-FB28CAF09163}" type="pres">
      <dgm:prSet presAssocID="{67FD8E20-BBAB-AB4E-8999-A300E17AF441}" presName="centerTile" presStyleLbl="fgShp" presStyleIdx="0" presStyleCnt="1" custScaleX="91305" custScaleY="68180" custLinFactNeighborX="-8920" custLinFactNeighborY="22160">
        <dgm:presLayoutVars>
          <dgm:chMax val="0"/>
          <dgm:chPref val="0"/>
        </dgm:presLayoutVars>
      </dgm:prSet>
      <dgm:spPr/>
    </dgm:pt>
  </dgm:ptLst>
  <dgm:cxnLst>
    <dgm:cxn modelId="{21C5D304-F317-784B-A30B-A1EA68D42F2C}" type="presOf" srcId="{6DD0CFDB-34C5-1946-AC7E-4D34E8994784}" destId="{40E597D8-1E87-F143-BB02-2620661E127D}" srcOrd="1" destOrd="1" presId="urn:microsoft.com/office/officeart/2005/8/layout/matrix1"/>
    <dgm:cxn modelId="{AF320305-193E-8F4E-A1D1-3D0F4087D926}" type="presOf" srcId="{D254715A-6D8C-E347-AF34-F13997A308F5}" destId="{E20DBC92-C2AD-F043-93DE-C7EBA088C9AF}" srcOrd="1" destOrd="0" presId="urn:microsoft.com/office/officeart/2005/8/layout/matrix1"/>
    <dgm:cxn modelId="{2619730D-5A24-9341-A39A-2282FBE4228F}" type="presOf" srcId="{6DD0CFDB-34C5-1946-AC7E-4D34E8994784}" destId="{799CB885-93D8-9543-B22B-D79A744F5B64}" srcOrd="0" destOrd="1" presId="urn:microsoft.com/office/officeart/2005/8/layout/matrix1"/>
    <dgm:cxn modelId="{798D5819-874D-7E45-A5A7-8AB2FBD591A2}" srcId="{8867499F-75A7-AE4E-989E-DB1BC3C97276}" destId="{731BCB4C-EE4F-4F49-B21F-96EC72CC8C0F}" srcOrd="3" destOrd="0" parTransId="{04AB088F-48F6-6349-8CA7-70EDC0621D88}" sibTransId="{87C07632-F4FE-4245-A7CC-FDAE813B1F42}"/>
    <dgm:cxn modelId="{48126D24-298C-8A41-A988-A322D373CAC1}" srcId="{2D0FB0CB-5D93-EC4E-82BA-8562C7635C5C}" destId="{58188176-9DEF-6C4D-B5C7-E6C9A2F7E320}" srcOrd="2" destOrd="0" parTransId="{CAB56076-2393-DF4A-9A02-FABCF85AEE85}" sibTransId="{F8E47110-864F-F946-B1F1-08D5A4B11FAB}"/>
    <dgm:cxn modelId="{2264BA29-0F84-E749-A92D-396FB2DA7E5B}" type="presOf" srcId="{B2034489-3185-C540-B5F0-5370C8055050}" destId="{799CB885-93D8-9543-B22B-D79A744F5B64}" srcOrd="0" destOrd="0" presId="urn:microsoft.com/office/officeart/2005/8/layout/matrix1"/>
    <dgm:cxn modelId="{A6F7702A-5B62-CC49-AE73-C2EB31E328EC}" srcId="{2D0FB0CB-5D93-EC4E-82BA-8562C7635C5C}" destId="{A78B885B-D4CA-B148-AA80-5B38FC4EB324}" srcOrd="1" destOrd="0" parTransId="{11753F4D-17FE-4B42-A347-FF1005B8784C}" sibTransId="{2B5D299B-F4C6-0045-82FB-FAE5C9B03AFA}"/>
    <dgm:cxn modelId="{8A4C232F-A645-6C4C-9ADF-E502D70F0AFE}" type="presOf" srcId="{A78B885B-D4CA-B148-AA80-5B38FC4EB324}" destId="{938B8276-5661-E64D-B905-0BC0AD2CFD4D}" srcOrd="1" destOrd="2" presId="urn:microsoft.com/office/officeart/2005/8/layout/matrix1"/>
    <dgm:cxn modelId="{71946333-E4AC-4546-955A-8682900F3742}" type="presOf" srcId="{2D0FB0CB-5D93-EC4E-82BA-8562C7635C5C}" destId="{2153AE21-EA9E-AF4D-8F47-2E16FCCB6048}" srcOrd="0" destOrd="0" presId="urn:microsoft.com/office/officeart/2005/8/layout/matrix1"/>
    <dgm:cxn modelId="{3C1CA33A-D68D-5247-A4C9-E96AD079C3A0}" type="presOf" srcId="{3A859234-B01D-404B-BCAC-1A3E8C617380}" destId="{E7B5E7DB-A3B3-6843-BFC1-49650FBE65D4}" srcOrd="0" destOrd="1" presId="urn:microsoft.com/office/officeart/2005/8/layout/matrix1"/>
    <dgm:cxn modelId="{9281FE3C-F57A-2748-B067-D16E00CF9AA1}" type="presOf" srcId="{2D0FB0CB-5D93-EC4E-82BA-8562C7635C5C}" destId="{938B8276-5661-E64D-B905-0BC0AD2CFD4D}" srcOrd="1" destOrd="0" presId="urn:microsoft.com/office/officeart/2005/8/layout/matrix1"/>
    <dgm:cxn modelId="{2E10563D-C40A-4C4D-8EAB-9AA6674C1F43}" type="presOf" srcId="{C4D3E7B3-7B20-9645-86D9-784D9B7C5A31}" destId="{2153AE21-EA9E-AF4D-8F47-2E16FCCB6048}" srcOrd="0" destOrd="1" presId="urn:microsoft.com/office/officeart/2005/8/layout/matrix1"/>
    <dgm:cxn modelId="{FB9AE25F-4CB7-564F-B2BC-7BAAE602F3BE}" srcId="{8867499F-75A7-AE4E-989E-DB1BC3C97276}" destId="{D254715A-6D8C-E347-AF34-F13997A308F5}" srcOrd="0" destOrd="0" parTransId="{C1EBA866-19F9-324A-8F47-853B53501D5C}" sibTransId="{7865A31F-7B84-9D48-8FC4-DAD02691C3DA}"/>
    <dgm:cxn modelId="{18B16C44-BEE5-F64C-8F03-FE8E4DB43557}" type="presOf" srcId="{B2034489-3185-C540-B5F0-5370C8055050}" destId="{40E597D8-1E87-F143-BB02-2620661E127D}" srcOrd="1" destOrd="0" presId="urn:microsoft.com/office/officeart/2005/8/layout/matrix1"/>
    <dgm:cxn modelId="{ACD6DF65-56D2-E54E-9B58-6836BE5DB536}" srcId="{8867499F-75A7-AE4E-989E-DB1BC3C97276}" destId="{2D0FB0CB-5D93-EC4E-82BA-8562C7635C5C}" srcOrd="1" destOrd="0" parTransId="{09C5C9E9-22DA-3F4E-8200-6F8E488DDCCE}" sibTransId="{CCD3ED45-3583-8B42-89B3-D51965DC6972}"/>
    <dgm:cxn modelId="{83FC3868-EB54-134B-87AC-2D5D665DD78A}" srcId="{D254715A-6D8C-E347-AF34-F13997A308F5}" destId="{5F117A6A-2F46-A646-83F4-43A7F551D8C1}" srcOrd="0" destOrd="0" parTransId="{49EECC26-1271-5E40-9ED1-537D518FB99B}" sibTransId="{165517F0-AD87-D843-9D34-F586697CAE54}"/>
    <dgm:cxn modelId="{68FC614E-62B6-894D-B071-96CBFA4AE376}" srcId="{B2034489-3185-C540-B5F0-5370C8055050}" destId="{4ACA0DA4-4397-A446-A71B-3A85CAC90AD9}" srcOrd="1" destOrd="0" parTransId="{72FAA1C4-38F0-C846-94AA-DF83280B0CE9}" sibTransId="{E62A4DE8-70C6-2241-A151-ABB783B6B6F2}"/>
    <dgm:cxn modelId="{8364EB7B-29B1-9344-8242-00AEDEE531DC}" srcId="{2D0FB0CB-5D93-EC4E-82BA-8562C7635C5C}" destId="{C4D3E7B3-7B20-9645-86D9-784D9B7C5A31}" srcOrd="0" destOrd="0" parTransId="{5398D308-62BC-4644-BE39-F555DCA7E5EA}" sibTransId="{EBA005E3-A8C5-4643-9F68-3EF3D3545616}"/>
    <dgm:cxn modelId="{85BF2A88-670F-3C4B-8A72-B9B2336E2751}" type="presOf" srcId="{4ACA0DA4-4397-A446-A71B-3A85CAC90AD9}" destId="{40E597D8-1E87-F143-BB02-2620661E127D}" srcOrd="1" destOrd="2" presId="urn:microsoft.com/office/officeart/2005/8/layout/matrix1"/>
    <dgm:cxn modelId="{CD08B188-D69A-E047-B956-169F0220D587}" type="presOf" srcId="{D254715A-6D8C-E347-AF34-F13997A308F5}" destId="{4AE1B1F3-AC32-C240-AFB6-88C711BEA5C3}" srcOrd="0" destOrd="0" presId="urn:microsoft.com/office/officeart/2005/8/layout/matrix1"/>
    <dgm:cxn modelId="{BE7F5B8D-D7FF-B24B-A285-0899F3FD63FF}" type="presOf" srcId="{4ACA0DA4-4397-A446-A71B-3A85CAC90AD9}" destId="{799CB885-93D8-9543-B22B-D79A744F5B64}" srcOrd="0" destOrd="2" presId="urn:microsoft.com/office/officeart/2005/8/layout/matrix1"/>
    <dgm:cxn modelId="{A479FD91-CFCF-4140-8E4D-49EE5B219C5C}" type="presOf" srcId="{5F117A6A-2F46-A646-83F4-43A7F551D8C1}" destId="{4AE1B1F3-AC32-C240-AFB6-88C711BEA5C3}" srcOrd="0" destOrd="1" presId="urn:microsoft.com/office/officeart/2005/8/layout/matrix1"/>
    <dgm:cxn modelId="{398BEC97-24A8-904B-8DA9-D254BE4A6C8E}" type="presOf" srcId="{731BCB4C-EE4F-4F49-B21F-96EC72CC8C0F}" destId="{E7B5E7DB-A3B3-6843-BFC1-49650FBE65D4}" srcOrd="0" destOrd="0" presId="urn:microsoft.com/office/officeart/2005/8/layout/matrix1"/>
    <dgm:cxn modelId="{4C1B2398-83EB-164C-A5B1-EBEB8EFD69BD}" type="presOf" srcId="{67FD8E20-BBAB-AB4E-8999-A300E17AF441}" destId="{0C1FA5C6-5CBB-3149-8050-54F6452AD5AE}" srcOrd="0" destOrd="0" presId="urn:microsoft.com/office/officeart/2005/8/layout/matrix1"/>
    <dgm:cxn modelId="{A2CF7598-D2BE-C442-B355-EE23A1848FB0}" srcId="{67FD8E20-BBAB-AB4E-8999-A300E17AF441}" destId="{8867499F-75A7-AE4E-989E-DB1BC3C97276}" srcOrd="0" destOrd="0" parTransId="{724AA4BE-A61F-FD44-95E5-664160770CC3}" sibTransId="{59608713-F55D-8C48-842D-AB6555D22F97}"/>
    <dgm:cxn modelId="{4101C39C-331D-D741-BF2E-A6B71C96EC00}" srcId="{B2034489-3185-C540-B5F0-5370C8055050}" destId="{6DD0CFDB-34C5-1946-AC7E-4D34E8994784}" srcOrd="0" destOrd="0" parTransId="{90BF5490-38D4-2942-9DE1-9AFE463120A0}" sibTransId="{348A17E0-68C9-8548-BEBD-813D9204BBF3}"/>
    <dgm:cxn modelId="{F57828B8-817B-0F4C-A651-77A5C0FFE7CA}" type="presOf" srcId="{3A859234-B01D-404B-BCAC-1A3E8C617380}" destId="{A63E9495-7D2A-D04D-839E-847148DEB424}" srcOrd="1" destOrd="1" presId="urn:microsoft.com/office/officeart/2005/8/layout/matrix1"/>
    <dgm:cxn modelId="{976898BF-C8C9-D14F-94E7-02A228C53590}" type="presOf" srcId="{731BCB4C-EE4F-4F49-B21F-96EC72CC8C0F}" destId="{A63E9495-7D2A-D04D-839E-847148DEB424}" srcOrd="1" destOrd="0" presId="urn:microsoft.com/office/officeart/2005/8/layout/matrix1"/>
    <dgm:cxn modelId="{DBFF5CC9-9920-BB40-9B5A-DCFE889D8E31}" type="presOf" srcId="{58188176-9DEF-6C4D-B5C7-E6C9A2F7E320}" destId="{2153AE21-EA9E-AF4D-8F47-2E16FCCB6048}" srcOrd="0" destOrd="3" presId="urn:microsoft.com/office/officeart/2005/8/layout/matrix1"/>
    <dgm:cxn modelId="{088378E6-7D75-0B4B-9AA4-061F3612BC99}" type="presOf" srcId="{A78B885B-D4CA-B148-AA80-5B38FC4EB324}" destId="{2153AE21-EA9E-AF4D-8F47-2E16FCCB6048}" srcOrd="0" destOrd="2" presId="urn:microsoft.com/office/officeart/2005/8/layout/matrix1"/>
    <dgm:cxn modelId="{9514E8E6-9C9E-B741-857D-490C371DD470}" type="presOf" srcId="{8867499F-75A7-AE4E-989E-DB1BC3C97276}" destId="{ADC1D07E-D5C9-1B45-A557-FB28CAF09163}" srcOrd="0" destOrd="0" presId="urn:microsoft.com/office/officeart/2005/8/layout/matrix1"/>
    <dgm:cxn modelId="{03AC79E7-8B6E-8D4D-B33A-DEE80DE6E599}" type="presOf" srcId="{5F117A6A-2F46-A646-83F4-43A7F551D8C1}" destId="{E20DBC92-C2AD-F043-93DE-C7EBA088C9AF}" srcOrd="1" destOrd="1" presId="urn:microsoft.com/office/officeart/2005/8/layout/matrix1"/>
    <dgm:cxn modelId="{BC3E91E9-AF10-8C49-BF3D-054B6CFA77A2}" srcId="{8867499F-75A7-AE4E-989E-DB1BC3C97276}" destId="{B2034489-3185-C540-B5F0-5370C8055050}" srcOrd="2" destOrd="0" parTransId="{6D3BD0F0-BF47-9042-8F5A-768380500A2E}" sibTransId="{590F36F0-5021-0846-A2F8-537D4294489C}"/>
    <dgm:cxn modelId="{ED4E5EEE-F41F-9542-997F-EB6C263A434C}" type="presOf" srcId="{C4D3E7B3-7B20-9645-86D9-784D9B7C5A31}" destId="{938B8276-5661-E64D-B905-0BC0AD2CFD4D}" srcOrd="1" destOrd="1" presId="urn:microsoft.com/office/officeart/2005/8/layout/matrix1"/>
    <dgm:cxn modelId="{60C32DF3-03F1-5444-9E4B-BD5F8525F04D}" srcId="{731BCB4C-EE4F-4F49-B21F-96EC72CC8C0F}" destId="{3A859234-B01D-404B-BCAC-1A3E8C617380}" srcOrd="0" destOrd="0" parTransId="{ED2DEFC2-FF23-8847-BF79-88950D08D02A}" sibTransId="{34219511-7C86-F34A-8A3F-DC019DE899E4}"/>
    <dgm:cxn modelId="{BA4820FF-4DE5-5E4C-8152-CEB79B96CA1F}" type="presOf" srcId="{58188176-9DEF-6C4D-B5C7-E6C9A2F7E320}" destId="{938B8276-5661-E64D-B905-0BC0AD2CFD4D}" srcOrd="1" destOrd="3" presId="urn:microsoft.com/office/officeart/2005/8/layout/matrix1"/>
    <dgm:cxn modelId="{BFCA5C13-D0D9-3743-AD93-7712A8295962}" type="presParOf" srcId="{0C1FA5C6-5CBB-3149-8050-54F6452AD5AE}" destId="{FAB5F08C-4737-8142-B46A-6C8744859F6C}" srcOrd="0" destOrd="0" presId="urn:microsoft.com/office/officeart/2005/8/layout/matrix1"/>
    <dgm:cxn modelId="{826E3877-6CF7-1F4F-AF6F-6458C524B075}" type="presParOf" srcId="{FAB5F08C-4737-8142-B46A-6C8744859F6C}" destId="{4AE1B1F3-AC32-C240-AFB6-88C711BEA5C3}" srcOrd="0" destOrd="0" presId="urn:microsoft.com/office/officeart/2005/8/layout/matrix1"/>
    <dgm:cxn modelId="{D34454A1-5D01-C64C-8CD2-D50A60468ADF}" type="presParOf" srcId="{FAB5F08C-4737-8142-B46A-6C8744859F6C}" destId="{E20DBC92-C2AD-F043-93DE-C7EBA088C9AF}" srcOrd="1" destOrd="0" presId="urn:microsoft.com/office/officeart/2005/8/layout/matrix1"/>
    <dgm:cxn modelId="{F0F1C386-1CFA-8C44-AF54-1B1F2F150622}" type="presParOf" srcId="{FAB5F08C-4737-8142-B46A-6C8744859F6C}" destId="{2153AE21-EA9E-AF4D-8F47-2E16FCCB6048}" srcOrd="2" destOrd="0" presId="urn:microsoft.com/office/officeart/2005/8/layout/matrix1"/>
    <dgm:cxn modelId="{F654AC63-78F8-DF47-87F2-927DF74B610D}" type="presParOf" srcId="{FAB5F08C-4737-8142-B46A-6C8744859F6C}" destId="{938B8276-5661-E64D-B905-0BC0AD2CFD4D}" srcOrd="3" destOrd="0" presId="urn:microsoft.com/office/officeart/2005/8/layout/matrix1"/>
    <dgm:cxn modelId="{7228397E-0BD2-AE4B-926E-694749E276FC}" type="presParOf" srcId="{FAB5F08C-4737-8142-B46A-6C8744859F6C}" destId="{799CB885-93D8-9543-B22B-D79A744F5B64}" srcOrd="4" destOrd="0" presId="urn:microsoft.com/office/officeart/2005/8/layout/matrix1"/>
    <dgm:cxn modelId="{A52EE1EF-6554-0D43-8D28-E64FA8A505DF}" type="presParOf" srcId="{FAB5F08C-4737-8142-B46A-6C8744859F6C}" destId="{40E597D8-1E87-F143-BB02-2620661E127D}" srcOrd="5" destOrd="0" presId="urn:microsoft.com/office/officeart/2005/8/layout/matrix1"/>
    <dgm:cxn modelId="{21F5825E-C0B4-114F-B506-42411EF282BC}" type="presParOf" srcId="{FAB5F08C-4737-8142-B46A-6C8744859F6C}" destId="{E7B5E7DB-A3B3-6843-BFC1-49650FBE65D4}" srcOrd="6" destOrd="0" presId="urn:microsoft.com/office/officeart/2005/8/layout/matrix1"/>
    <dgm:cxn modelId="{FD212F50-3C77-6F4A-9861-7AF5D9A557B8}" type="presParOf" srcId="{FAB5F08C-4737-8142-B46A-6C8744859F6C}" destId="{A63E9495-7D2A-D04D-839E-847148DEB424}" srcOrd="7" destOrd="0" presId="urn:microsoft.com/office/officeart/2005/8/layout/matrix1"/>
    <dgm:cxn modelId="{97094A16-888A-D04F-A4CB-8AB55FB681E6}" type="presParOf" srcId="{0C1FA5C6-5CBB-3149-8050-54F6452AD5AE}" destId="{ADC1D07E-D5C9-1B45-A557-FB28CAF09163}"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605BC7D-6CBA-804E-B2B8-BB24A3D713BA}"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81C5031F-CE83-F54C-AEF4-6D26B304772A}">
      <dgm:prSet phldrT="[Text]" custT="1"/>
      <dgm:spPr/>
      <dgm:t>
        <a:bodyPr/>
        <a:lstStyle/>
        <a:p>
          <a:r>
            <a:rPr lang="en-US" sz="1500" b="1" i="0" dirty="0"/>
            <a:t>Generate a pseudorandom session key for a particular symmetric encryption algorithm</a:t>
          </a:r>
        </a:p>
      </dgm:t>
    </dgm:pt>
    <dgm:pt modelId="{AC1B7067-E1EF-A344-8709-7AE0A6694BED}" type="parTrans" cxnId="{2D3631F0-B5F9-1F4D-890C-085E40D0779F}">
      <dgm:prSet/>
      <dgm:spPr/>
      <dgm:t>
        <a:bodyPr/>
        <a:lstStyle/>
        <a:p>
          <a:endParaRPr lang="en-US"/>
        </a:p>
      </dgm:t>
    </dgm:pt>
    <dgm:pt modelId="{82F3577B-06D0-C445-BF65-819EE4EB9409}" type="sibTrans" cxnId="{2D3631F0-B5F9-1F4D-890C-085E40D0779F}">
      <dgm:prSet/>
      <dgm:spPr>
        <a:solidFill>
          <a:schemeClr val="tx2"/>
        </a:solidFill>
        <a:ln>
          <a:solidFill>
            <a:schemeClr val="bg2"/>
          </a:solidFill>
        </a:ln>
      </dgm:spPr>
      <dgm:t>
        <a:bodyPr/>
        <a:lstStyle/>
        <a:p>
          <a:endParaRPr lang="en-US" dirty="0"/>
        </a:p>
      </dgm:t>
    </dgm:pt>
    <dgm:pt modelId="{F1D40321-A12A-BE44-84D3-0A2099D8CDEA}">
      <dgm:prSet custT="1"/>
      <dgm:spPr/>
      <dgm:t>
        <a:bodyPr/>
        <a:lstStyle/>
        <a:p>
          <a:r>
            <a:rPr lang="en-US" sz="1500" b="1" i="0" dirty="0"/>
            <a:t>For each recipient, encrypt the session key with the recipient’s public RSA key</a:t>
          </a:r>
        </a:p>
      </dgm:t>
    </dgm:pt>
    <dgm:pt modelId="{43515704-6D9C-2545-AC36-DE6F9ACAF51E}" type="parTrans" cxnId="{5F969079-E80F-A64B-B823-8F3F39D0A7D4}">
      <dgm:prSet/>
      <dgm:spPr/>
      <dgm:t>
        <a:bodyPr/>
        <a:lstStyle/>
        <a:p>
          <a:endParaRPr lang="en-US"/>
        </a:p>
      </dgm:t>
    </dgm:pt>
    <dgm:pt modelId="{03CE9978-0BE6-E84B-B554-50C8880B4C7A}" type="sibTrans" cxnId="{5F969079-E80F-A64B-B823-8F3F39D0A7D4}">
      <dgm:prSet/>
      <dgm:spPr>
        <a:solidFill>
          <a:schemeClr val="tx2"/>
        </a:solidFill>
        <a:ln>
          <a:solidFill>
            <a:schemeClr val="bg2"/>
          </a:solidFill>
        </a:ln>
      </dgm:spPr>
      <dgm:t>
        <a:bodyPr/>
        <a:lstStyle/>
        <a:p>
          <a:endParaRPr lang="en-US" dirty="0"/>
        </a:p>
      </dgm:t>
    </dgm:pt>
    <dgm:pt modelId="{719B5293-0D30-444E-B3FC-4D7726A71BCB}">
      <dgm:prSet custT="1"/>
      <dgm:spPr/>
      <dgm:t>
        <a:bodyPr/>
        <a:lstStyle/>
        <a:p>
          <a:r>
            <a:rPr lang="en-US" sz="1500" b="1" i="0" dirty="0"/>
            <a:t>For each recipient, prepare a block known as </a:t>
          </a:r>
          <a:r>
            <a:rPr lang="en-US" sz="1500" b="1" i="0" dirty="0">
              <a:latin typeface="Courier New"/>
              <a:cs typeface="Courier New"/>
            </a:rPr>
            <a:t>RecipientInfo </a:t>
          </a:r>
          <a:r>
            <a:rPr lang="en-US" sz="1500" b="1" i="0" dirty="0">
              <a:cs typeface="Courier New"/>
            </a:rPr>
            <a:t>that contains an identifier of the recipient’s public-key certificate, an identifier of the algorithm used to encrypt the session key, and the encrypted session key</a:t>
          </a:r>
        </a:p>
      </dgm:t>
    </dgm:pt>
    <dgm:pt modelId="{52BE5FF8-16F9-844C-BAC8-6B1344D093AA}" type="parTrans" cxnId="{E411F62E-1021-E742-9329-93CD0F7C0E16}">
      <dgm:prSet/>
      <dgm:spPr/>
      <dgm:t>
        <a:bodyPr/>
        <a:lstStyle/>
        <a:p>
          <a:endParaRPr lang="en-US"/>
        </a:p>
      </dgm:t>
    </dgm:pt>
    <dgm:pt modelId="{FA06F20C-F234-E247-BBA3-FC6C714263CE}" type="sibTrans" cxnId="{E411F62E-1021-E742-9329-93CD0F7C0E16}">
      <dgm:prSet/>
      <dgm:spPr>
        <a:solidFill>
          <a:schemeClr val="tx2"/>
        </a:solidFill>
        <a:ln>
          <a:solidFill>
            <a:schemeClr val="bg2"/>
          </a:solidFill>
        </a:ln>
      </dgm:spPr>
      <dgm:t>
        <a:bodyPr/>
        <a:lstStyle/>
        <a:p>
          <a:endParaRPr lang="en-US" dirty="0"/>
        </a:p>
      </dgm:t>
    </dgm:pt>
    <dgm:pt modelId="{40604889-C874-024C-AA49-85FFE5142744}">
      <dgm:prSet custT="1"/>
      <dgm:spPr/>
      <dgm:t>
        <a:bodyPr/>
        <a:lstStyle/>
        <a:p>
          <a:r>
            <a:rPr lang="en-US" sz="1500" b="1" i="0" dirty="0">
              <a:cs typeface="Courier New"/>
            </a:rPr>
            <a:t>Encrypt the message content with the session key</a:t>
          </a:r>
          <a:r>
            <a:rPr lang="en-US" sz="1500" b="1" i="0" dirty="0"/>
            <a:t> </a:t>
          </a:r>
        </a:p>
      </dgm:t>
    </dgm:pt>
    <dgm:pt modelId="{D59DD21D-8F2B-D845-8D24-0906B5BA24D7}" type="parTrans" cxnId="{AD6A61EB-20E8-6241-BACE-B88471E91B5F}">
      <dgm:prSet/>
      <dgm:spPr/>
      <dgm:t>
        <a:bodyPr/>
        <a:lstStyle/>
        <a:p>
          <a:endParaRPr lang="en-US"/>
        </a:p>
      </dgm:t>
    </dgm:pt>
    <dgm:pt modelId="{89849169-617D-BD42-90C9-E99FC93B1C2B}" type="sibTrans" cxnId="{AD6A61EB-20E8-6241-BACE-B88471E91B5F}">
      <dgm:prSet/>
      <dgm:spPr/>
      <dgm:t>
        <a:bodyPr/>
        <a:lstStyle/>
        <a:p>
          <a:endParaRPr lang="en-US"/>
        </a:p>
      </dgm:t>
    </dgm:pt>
    <dgm:pt modelId="{3701EDB1-138E-9E46-9979-880B13224AB2}" type="pres">
      <dgm:prSet presAssocID="{9605BC7D-6CBA-804E-B2B8-BB24A3D713BA}" presName="outerComposite" presStyleCnt="0">
        <dgm:presLayoutVars>
          <dgm:chMax val="5"/>
          <dgm:dir/>
          <dgm:resizeHandles val="exact"/>
        </dgm:presLayoutVars>
      </dgm:prSet>
      <dgm:spPr/>
    </dgm:pt>
    <dgm:pt modelId="{BE5042EE-5962-3C4A-BF1B-50A23DC0F0F5}" type="pres">
      <dgm:prSet presAssocID="{9605BC7D-6CBA-804E-B2B8-BB24A3D713BA}" presName="dummyMaxCanvas" presStyleCnt="0">
        <dgm:presLayoutVars/>
      </dgm:prSet>
      <dgm:spPr/>
    </dgm:pt>
    <dgm:pt modelId="{DC0241FA-7A3B-2540-99A4-A6418DDD1EA1}" type="pres">
      <dgm:prSet presAssocID="{9605BC7D-6CBA-804E-B2B8-BB24A3D713BA}" presName="FourNodes_1" presStyleLbl="node1" presStyleIdx="0" presStyleCnt="4">
        <dgm:presLayoutVars>
          <dgm:bulletEnabled val="1"/>
        </dgm:presLayoutVars>
      </dgm:prSet>
      <dgm:spPr/>
    </dgm:pt>
    <dgm:pt modelId="{22ADCE59-A6D1-984D-BF84-74718F412EC1}" type="pres">
      <dgm:prSet presAssocID="{9605BC7D-6CBA-804E-B2B8-BB24A3D713BA}" presName="FourNodes_2" presStyleLbl="node1" presStyleIdx="1" presStyleCnt="4">
        <dgm:presLayoutVars>
          <dgm:bulletEnabled val="1"/>
        </dgm:presLayoutVars>
      </dgm:prSet>
      <dgm:spPr/>
    </dgm:pt>
    <dgm:pt modelId="{A7C405DB-DC2C-E540-914D-23DD9BB65F79}" type="pres">
      <dgm:prSet presAssocID="{9605BC7D-6CBA-804E-B2B8-BB24A3D713BA}" presName="FourNodes_3" presStyleLbl="node1" presStyleIdx="2" presStyleCnt="4">
        <dgm:presLayoutVars>
          <dgm:bulletEnabled val="1"/>
        </dgm:presLayoutVars>
      </dgm:prSet>
      <dgm:spPr/>
    </dgm:pt>
    <dgm:pt modelId="{D3171E81-8DA9-F04B-85CE-0B54B5DF11AD}" type="pres">
      <dgm:prSet presAssocID="{9605BC7D-6CBA-804E-B2B8-BB24A3D713BA}" presName="FourNodes_4" presStyleLbl="node1" presStyleIdx="3" presStyleCnt="4">
        <dgm:presLayoutVars>
          <dgm:bulletEnabled val="1"/>
        </dgm:presLayoutVars>
      </dgm:prSet>
      <dgm:spPr/>
    </dgm:pt>
    <dgm:pt modelId="{4F1B002C-C953-264E-AD33-8E894E64E173}" type="pres">
      <dgm:prSet presAssocID="{9605BC7D-6CBA-804E-B2B8-BB24A3D713BA}" presName="FourConn_1-2" presStyleLbl="fgAccFollowNode1" presStyleIdx="0" presStyleCnt="3">
        <dgm:presLayoutVars>
          <dgm:bulletEnabled val="1"/>
        </dgm:presLayoutVars>
      </dgm:prSet>
      <dgm:spPr/>
    </dgm:pt>
    <dgm:pt modelId="{B57C5CB7-9E23-374F-9AD0-A772CEA91AF0}" type="pres">
      <dgm:prSet presAssocID="{9605BC7D-6CBA-804E-B2B8-BB24A3D713BA}" presName="FourConn_2-3" presStyleLbl="fgAccFollowNode1" presStyleIdx="1" presStyleCnt="3">
        <dgm:presLayoutVars>
          <dgm:bulletEnabled val="1"/>
        </dgm:presLayoutVars>
      </dgm:prSet>
      <dgm:spPr/>
    </dgm:pt>
    <dgm:pt modelId="{75224DAF-6741-704C-A1FB-BF13866920F8}" type="pres">
      <dgm:prSet presAssocID="{9605BC7D-6CBA-804E-B2B8-BB24A3D713BA}" presName="FourConn_3-4" presStyleLbl="fgAccFollowNode1" presStyleIdx="2" presStyleCnt="3">
        <dgm:presLayoutVars>
          <dgm:bulletEnabled val="1"/>
        </dgm:presLayoutVars>
      </dgm:prSet>
      <dgm:spPr/>
    </dgm:pt>
    <dgm:pt modelId="{C0022A29-8CAE-E64E-AA91-CA9E796F6839}" type="pres">
      <dgm:prSet presAssocID="{9605BC7D-6CBA-804E-B2B8-BB24A3D713BA}" presName="FourNodes_1_text" presStyleLbl="node1" presStyleIdx="3" presStyleCnt="4">
        <dgm:presLayoutVars>
          <dgm:bulletEnabled val="1"/>
        </dgm:presLayoutVars>
      </dgm:prSet>
      <dgm:spPr/>
    </dgm:pt>
    <dgm:pt modelId="{7D8105A9-A913-7642-AD65-F8E1CCE4CCBD}" type="pres">
      <dgm:prSet presAssocID="{9605BC7D-6CBA-804E-B2B8-BB24A3D713BA}" presName="FourNodes_2_text" presStyleLbl="node1" presStyleIdx="3" presStyleCnt="4">
        <dgm:presLayoutVars>
          <dgm:bulletEnabled val="1"/>
        </dgm:presLayoutVars>
      </dgm:prSet>
      <dgm:spPr/>
    </dgm:pt>
    <dgm:pt modelId="{FF863488-B9B0-9B4E-9C8B-5F2FC3A62477}" type="pres">
      <dgm:prSet presAssocID="{9605BC7D-6CBA-804E-B2B8-BB24A3D713BA}" presName="FourNodes_3_text" presStyleLbl="node1" presStyleIdx="3" presStyleCnt="4">
        <dgm:presLayoutVars>
          <dgm:bulletEnabled val="1"/>
        </dgm:presLayoutVars>
      </dgm:prSet>
      <dgm:spPr/>
    </dgm:pt>
    <dgm:pt modelId="{69A96FE0-ABC6-CC43-B84F-518F090F1775}" type="pres">
      <dgm:prSet presAssocID="{9605BC7D-6CBA-804E-B2B8-BB24A3D713BA}" presName="FourNodes_4_text" presStyleLbl="node1" presStyleIdx="3" presStyleCnt="4">
        <dgm:presLayoutVars>
          <dgm:bulletEnabled val="1"/>
        </dgm:presLayoutVars>
      </dgm:prSet>
      <dgm:spPr/>
    </dgm:pt>
  </dgm:ptLst>
  <dgm:cxnLst>
    <dgm:cxn modelId="{80FBF315-6BEF-514D-996F-0B4F83762509}" type="presOf" srcId="{82F3577B-06D0-C445-BF65-819EE4EB9409}" destId="{4F1B002C-C953-264E-AD33-8E894E64E173}" srcOrd="0" destOrd="0" presId="urn:microsoft.com/office/officeart/2005/8/layout/vProcess5"/>
    <dgm:cxn modelId="{E411F62E-1021-E742-9329-93CD0F7C0E16}" srcId="{9605BC7D-6CBA-804E-B2B8-BB24A3D713BA}" destId="{719B5293-0D30-444E-B3FC-4D7726A71BCB}" srcOrd="2" destOrd="0" parTransId="{52BE5FF8-16F9-844C-BAC8-6B1344D093AA}" sibTransId="{FA06F20C-F234-E247-BBA3-FC6C714263CE}"/>
    <dgm:cxn modelId="{F8739938-5497-C646-87C0-6D35DB7566F9}" type="presOf" srcId="{40604889-C874-024C-AA49-85FFE5142744}" destId="{69A96FE0-ABC6-CC43-B84F-518F090F1775}" srcOrd="1" destOrd="0" presId="urn:microsoft.com/office/officeart/2005/8/layout/vProcess5"/>
    <dgm:cxn modelId="{1D497661-D35F-AB48-8E64-9352EACEE75B}" type="presOf" srcId="{81C5031F-CE83-F54C-AEF4-6D26B304772A}" destId="{C0022A29-8CAE-E64E-AA91-CA9E796F6839}" srcOrd="1" destOrd="0" presId="urn:microsoft.com/office/officeart/2005/8/layout/vProcess5"/>
    <dgm:cxn modelId="{C81B016B-2EEE-7F40-9F50-838B1BBA2841}" type="presOf" srcId="{40604889-C874-024C-AA49-85FFE5142744}" destId="{D3171E81-8DA9-F04B-85CE-0B54B5DF11AD}" srcOrd="0" destOrd="0" presId="urn:microsoft.com/office/officeart/2005/8/layout/vProcess5"/>
    <dgm:cxn modelId="{5F969079-E80F-A64B-B823-8F3F39D0A7D4}" srcId="{9605BC7D-6CBA-804E-B2B8-BB24A3D713BA}" destId="{F1D40321-A12A-BE44-84D3-0A2099D8CDEA}" srcOrd="1" destOrd="0" parTransId="{43515704-6D9C-2545-AC36-DE6F9ACAF51E}" sibTransId="{03CE9978-0BE6-E84B-B554-50C8880B4C7A}"/>
    <dgm:cxn modelId="{468E7E5A-5409-0748-9307-5758B0501EDE}" type="presOf" srcId="{719B5293-0D30-444E-B3FC-4D7726A71BCB}" destId="{FF863488-B9B0-9B4E-9C8B-5F2FC3A62477}" srcOrd="1" destOrd="0" presId="urn:microsoft.com/office/officeart/2005/8/layout/vProcess5"/>
    <dgm:cxn modelId="{47686E7B-0981-B044-82FC-0226250C5AE0}" type="presOf" srcId="{9605BC7D-6CBA-804E-B2B8-BB24A3D713BA}" destId="{3701EDB1-138E-9E46-9979-880B13224AB2}" srcOrd="0" destOrd="0" presId="urn:microsoft.com/office/officeart/2005/8/layout/vProcess5"/>
    <dgm:cxn modelId="{D5DEE688-6BC3-1F43-8AED-E6DD68E28B46}" type="presOf" srcId="{81C5031F-CE83-F54C-AEF4-6D26B304772A}" destId="{DC0241FA-7A3B-2540-99A4-A6418DDD1EA1}" srcOrd="0" destOrd="0" presId="urn:microsoft.com/office/officeart/2005/8/layout/vProcess5"/>
    <dgm:cxn modelId="{D53F4E8D-5380-6449-B3A4-5BE27C700A14}" type="presOf" srcId="{F1D40321-A12A-BE44-84D3-0A2099D8CDEA}" destId="{7D8105A9-A913-7642-AD65-F8E1CCE4CCBD}" srcOrd="1" destOrd="0" presId="urn:microsoft.com/office/officeart/2005/8/layout/vProcess5"/>
    <dgm:cxn modelId="{F0C376AC-E172-5944-93D4-2F6816ECB26B}" type="presOf" srcId="{FA06F20C-F234-E247-BBA3-FC6C714263CE}" destId="{75224DAF-6741-704C-A1FB-BF13866920F8}" srcOrd="0" destOrd="0" presId="urn:microsoft.com/office/officeart/2005/8/layout/vProcess5"/>
    <dgm:cxn modelId="{4B5954AF-F481-7241-AF4F-B4480CFA7F2B}" type="presOf" srcId="{F1D40321-A12A-BE44-84D3-0A2099D8CDEA}" destId="{22ADCE59-A6D1-984D-BF84-74718F412EC1}" srcOrd="0" destOrd="0" presId="urn:microsoft.com/office/officeart/2005/8/layout/vProcess5"/>
    <dgm:cxn modelId="{8B8C92BC-CFEE-CA49-A931-4562549920BF}" type="presOf" srcId="{03CE9978-0BE6-E84B-B554-50C8880B4C7A}" destId="{B57C5CB7-9E23-374F-9AD0-A772CEA91AF0}" srcOrd="0" destOrd="0" presId="urn:microsoft.com/office/officeart/2005/8/layout/vProcess5"/>
    <dgm:cxn modelId="{DE219ADF-736A-5D41-9240-A4B228370317}" type="presOf" srcId="{719B5293-0D30-444E-B3FC-4D7726A71BCB}" destId="{A7C405DB-DC2C-E540-914D-23DD9BB65F79}" srcOrd="0" destOrd="0" presId="urn:microsoft.com/office/officeart/2005/8/layout/vProcess5"/>
    <dgm:cxn modelId="{AD6A61EB-20E8-6241-BACE-B88471E91B5F}" srcId="{9605BC7D-6CBA-804E-B2B8-BB24A3D713BA}" destId="{40604889-C874-024C-AA49-85FFE5142744}" srcOrd="3" destOrd="0" parTransId="{D59DD21D-8F2B-D845-8D24-0906B5BA24D7}" sibTransId="{89849169-617D-BD42-90C9-E99FC93B1C2B}"/>
    <dgm:cxn modelId="{2D3631F0-B5F9-1F4D-890C-085E40D0779F}" srcId="{9605BC7D-6CBA-804E-B2B8-BB24A3D713BA}" destId="{81C5031F-CE83-F54C-AEF4-6D26B304772A}" srcOrd="0" destOrd="0" parTransId="{AC1B7067-E1EF-A344-8709-7AE0A6694BED}" sibTransId="{82F3577B-06D0-C445-BF65-819EE4EB9409}"/>
    <dgm:cxn modelId="{29B6BD9E-E225-6949-9FEF-E0DF5FD4882A}" type="presParOf" srcId="{3701EDB1-138E-9E46-9979-880B13224AB2}" destId="{BE5042EE-5962-3C4A-BF1B-50A23DC0F0F5}" srcOrd="0" destOrd="0" presId="urn:microsoft.com/office/officeart/2005/8/layout/vProcess5"/>
    <dgm:cxn modelId="{AF2222C3-597C-D14B-B0DB-869AE512B700}" type="presParOf" srcId="{3701EDB1-138E-9E46-9979-880B13224AB2}" destId="{DC0241FA-7A3B-2540-99A4-A6418DDD1EA1}" srcOrd="1" destOrd="0" presId="urn:microsoft.com/office/officeart/2005/8/layout/vProcess5"/>
    <dgm:cxn modelId="{2D31E880-BBCE-CC4E-B425-791FE5F2750A}" type="presParOf" srcId="{3701EDB1-138E-9E46-9979-880B13224AB2}" destId="{22ADCE59-A6D1-984D-BF84-74718F412EC1}" srcOrd="2" destOrd="0" presId="urn:microsoft.com/office/officeart/2005/8/layout/vProcess5"/>
    <dgm:cxn modelId="{06B27D80-D23B-D64F-9E54-DE593945FFD6}" type="presParOf" srcId="{3701EDB1-138E-9E46-9979-880B13224AB2}" destId="{A7C405DB-DC2C-E540-914D-23DD9BB65F79}" srcOrd="3" destOrd="0" presId="urn:microsoft.com/office/officeart/2005/8/layout/vProcess5"/>
    <dgm:cxn modelId="{972104B5-9973-7C4B-8E3C-4B98932EF925}" type="presParOf" srcId="{3701EDB1-138E-9E46-9979-880B13224AB2}" destId="{D3171E81-8DA9-F04B-85CE-0B54B5DF11AD}" srcOrd="4" destOrd="0" presId="urn:microsoft.com/office/officeart/2005/8/layout/vProcess5"/>
    <dgm:cxn modelId="{4796E909-4054-2D4F-A42F-7089756F0EDF}" type="presParOf" srcId="{3701EDB1-138E-9E46-9979-880B13224AB2}" destId="{4F1B002C-C953-264E-AD33-8E894E64E173}" srcOrd="5" destOrd="0" presId="urn:microsoft.com/office/officeart/2005/8/layout/vProcess5"/>
    <dgm:cxn modelId="{2769559E-48DE-AB43-B25A-87B996187737}" type="presParOf" srcId="{3701EDB1-138E-9E46-9979-880B13224AB2}" destId="{B57C5CB7-9E23-374F-9AD0-A772CEA91AF0}" srcOrd="6" destOrd="0" presId="urn:microsoft.com/office/officeart/2005/8/layout/vProcess5"/>
    <dgm:cxn modelId="{90F6302C-1B7D-B94E-A178-2D0B4D3DF962}" type="presParOf" srcId="{3701EDB1-138E-9E46-9979-880B13224AB2}" destId="{75224DAF-6741-704C-A1FB-BF13866920F8}" srcOrd="7" destOrd="0" presId="urn:microsoft.com/office/officeart/2005/8/layout/vProcess5"/>
    <dgm:cxn modelId="{70699EE7-A753-8B4E-8CF1-70135D0DD80B}" type="presParOf" srcId="{3701EDB1-138E-9E46-9979-880B13224AB2}" destId="{C0022A29-8CAE-E64E-AA91-CA9E796F6839}" srcOrd="8" destOrd="0" presId="urn:microsoft.com/office/officeart/2005/8/layout/vProcess5"/>
    <dgm:cxn modelId="{3A95FC2F-85CA-8E48-9AA8-9054ADBCFACB}" type="presParOf" srcId="{3701EDB1-138E-9E46-9979-880B13224AB2}" destId="{7D8105A9-A913-7642-AD65-F8E1CCE4CCBD}" srcOrd="9" destOrd="0" presId="urn:microsoft.com/office/officeart/2005/8/layout/vProcess5"/>
    <dgm:cxn modelId="{1D6B3B64-BB5C-8F4C-835F-67CC0E9F5F2A}" type="presParOf" srcId="{3701EDB1-138E-9E46-9979-880B13224AB2}" destId="{FF863488-B9B0-9B4E-9C8B-5F2FC3A62477}" srcOrd="10" destOrd="0" presId="urn:microsoft.com/office/officeart/2005/8/layout/vProcess5"/>
    <dgm:cxn modelId="{82FF086D-6668-E247-909D-8FCFCC1A3C27}" type="presParOf" srcId="{3701EDB1-138E-9E46-9979-880B13224AB2}" destId="{69A96FE0-ABC6-CC43-B84F-518F090F1775}"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713171B-723F-E646-B567-7828D9B060F5}" type="doc">
      <dgm:prSet loTypeId="urn:microsoft.com/office/officeart/2005/8/layout/arrow2" loCatId="process" qsTypeId="urn:microsoft.com/office/officeart/2005/8/quickstyle/simple4" qsCatId="simple" csTypeId="urn:microsoft.com/office/officeart/2005/8/colors/accent1_2" csCatId="accent1" phldr="1"/>
      <dgm:spPr/>
      <dgm:t>
        <a:bodyPr/>
        <a:lstStyle/>
        <a:p>
          <a:endParaRPr lang="en-US"/>
        </a:p>
      </dgm:t>
    </dgm:pt>
    <dgm:pt modelId="{74B3D2B1-806F-D744-86BE-6D879BBC16A2}">
      <dgm:prSet phldrT="[Text]"/>
      <dgm:spPr/>
      <dgm:t>
        <a:bodyPr/>
        <a:lstStyle/>
        <a:p>
          <a:r>
            <a:rPr lang="en-US" b="1" dirty="0">
              <a:solidFill>
                <a:schemeClr val="tx2">
                  <a:lumMod val="10000"/>
                </a:schemeClr>
              </a:solidFill>
            </a:rPr>
            <a:t>Select a message digest algorithm (SHA or MD5)</a:t>
          </a:r>
        </a:p>
      </dgm:t>
    </dgm:pt>
    <dgm:pt modelId="{2633BF21-6621-CC40-B647-E3FD64BADB6E}" type="parTrans" cxnId="{1605A4C7-B30B-0841-AB74-5073E90B4BF0}">
      <dgm:prSet/>
      <dgm:spPr/>
      <dgm:t>
        <a:bodyPr/>
        <a:lstStyle/>
        <a:p>
          <a:endParaRPr lang="en-US"/>
        </a:p>
      </dgm:t>
    </dgm:pt>
    <dgm:pt modelId="{5A87E385-1645-684A-9E76-20CDD89908FC}" type="sibTrans" cxnId="{1605A4C7-B30B-0841-AB74-5073E90B4BF0}">
      <dgm:prSet/>
      <dgm:spPr/>
      <dgm:t>
        <a:bodyPr/>
        <a:lstStyle/>
        <a:p>
          <a:endParaRPr lang="en-US"/>
        </a:p>
      </dgm:t>
    </dgm:pt>
    <dgm:pt modelId="{430B4876-7570-574F-AC09-B684ADAE1845}">
      <dgm:prSet/>
      <dgm:spPr/>
      <dgm:t>
        <a:bodyPr/>
        <a:lstStyle/>
        <a:p>
          <a:r>
            <a:rPr lang="en-US" b="1" dirty="0">
              <a:solidFill>
                <a:schemeClr val="tx2">
                  <a:lumMod val="10000"/>
                </a:schemeClr>
              </a:solidFill>
            </a:rPr>
            <a:t>Compute the message digest (hash function) of the content to be signed</a:t>
          </a:r>
        </a:p>
      </dgm:t>
    </dgm:pt>
    <dgm:pt modelId="{9804845B-7166-C245-A033-1707011C1340}" type="parTrans" cxnId="{F820CA5E-8221-A54C-9C83-93788DECE038}">
      <dgm:prSet/>
      <dgm:spPr/>
      <dgm:t>
        <a:bodyPr/>
        <a:lstStyle/>
        <a:p>
          <a:endParaRPr lang="en-US"/>
        </a:p>
      </dgm:t>
    </dgm:pt>
    <dgm:pt modelId="{A8EFB0CD-6CCC-4046-84C2-B9073B010F56}" type="sibTrans" cxnId="{F820CA5E-8221-A54C-9C83-93788DECE038}">
      <dgm:prSet/>
      <dgm:spPr/>
      <dgm:t>
        <a:bodyPr/>
        <a:lstStyle/>
        <a:p>
          <a:endParaRPr lang="en-US"/>
        </a:p>
      </dgm:t>
    </dgm:pt>
    <dgm:pt modelId="{E92CCB42-E23A-3B45-92CD-D94D59D74CEA}">
      <dgm:prSet/>
      <dgm:spPr/>
      <dgm:t>
        <a:bodyPr/>
        <a:lstStyle/>
        <a:p>
          <a:r>
            <a:rPr lang="en-US" b="1" dirty="0">
              <a:solidFill>
                <a:schemeClr val="tx2">
                  <a:lumMod val="10000"/>
                </a:schemeClr>
              </a:solidFill>
            </a:rPr>
            <a:t>Encrypt the message digest with the signer’s private key</a:t>
          </a:r>
        </a:p>
      </dgm:t>
    </dgm:pt>
    <dgm:pt modelId="{EC29B15F-0AFE-DB48-A496-0CFA5701D052}" type="parTrans" cxnId="{82E57096-26B3-A848-969A-9D46C3347148}">
      <dgm:prSet/>
      <dgm:spPr/>
      <dgm:t>
        <a:bodyPr/>
        <a:lstStyle/>
        <a:p>
          <a:endParaRPr lang="en-US"/>
        </a:p>
      </dgm:t>
    </dgm:pt>
    <dgm:pt modelId="{7F94153B-E220-E247-8239-FD3395C37145}" type="sibTrans" cxnId="{82E57096-26B3-A848-969A-9D46C3347148}">
      <dgm:prSet/>
      <dgm:spPr/>
      <dgm:t>
        <a:bodyPr/>
        <a:lstStyle/>
        <a:p>
          <a:endParaRPr lang="en-US"/>
        </a:p>
      </dgm:t>
    </dgm:pt>
    <dgm:pt modelId="{72A6FF65-4637-1646-B700-EA5033041EEA}">
      <dgm:prSet/>
      <dgm:spPr/>
      <dgm:t>
        <a:bodyPr/>
        <a:lstStyle/>
        <a:p>
          <a:r>
            <a:rPr lang="en-US" b="1" dirty="0">
              <a:solidFill>
                <a:schemeClr val="tx2">
                  <a:lumMod val="10000"/>
                </a:schemeClr>
              </a:solidFill>
            </a:rPr>
            <a:t>Prepare a block known as </a:t>
          </a:r>
          <a:r>
            <a:rPr lang="en-US" b="1" dirty="0">
              <a:solidFill>
                <a:schemeClr val="tx2">
                  <a:lumMod val="10000"/>
                </a:schemeClr>
              </a:solidFill>
              <a:latin typeface="Courier New"/>
              <a:cs typeface="Courier New"/>
            </a:rPr>
            <a:t>SignerInfo </a:t>
          </a:r>
          <a:r>
            <a:rPr lang="en-US" b="1" dirty="0">
              <a:solidFill>
                <a:schemeClr val="tx2">
                  <a:lumMod val="10000"/>
                </a:schemeClr>
              </a:solidFill>
              <a:cs typeface="Courier New"/>
            </a:rPr>
            <a:t>that contains the signer’s public-key certificate, an identifier of the message digest algorithm, an identifier of the algorithm used to encrypt the message digest, and the encrypted message digest</a:t>
          </a:r>
          <a:endParaRPr lang="en-US" b="1" dirty="0">
            <a:solidFill>
              <a:schemeClr val="tx2">
                <a:lumMod val="10000"/>
              </a:schemeClr>
            </a:solidFill>
          </a:endParaRPr>
        </a:p>
      </dgm:t>
    </dgm:pt>
    <dgm:pt modelId="{68C6072A-AAA2-BA4D-B1FF-59AB105BBB23}" type="parTrans" cxnId="{0C03DBE1-8B86-1845-B4C7-A92A72CDC6E0}">
      <dgm:prSet/>
      <dgm:spPr/>
      <dgm:t>
        <a:bodyPr/>
        <a:lstStyle/>
        <a:p>
          <a:endParaRPr lang="en-US"/>
        </a:p>
      </dgm:t>
    </dgm:pt>
    <dgm:pt modelId="{29657DB5-1E4D-8D4A-BAD5-AA2F9FAF1861}" type="sibTrans" cxnId="{0C03DBE1-8B86-1845-B4C7-A92A72CDC6E0}">
      <dgm:prSet/>
      <dgm:spPr/>
      <dgm:t>
        <a:bodyPr/>
        <a:lstStyle/>
        <a:p>
          <a:endParaRPr lang="en-US"/>
        </a:p>
      </dgm:t>
    </dgm:pt>
    <dgm:pt modelId="{19DA2E74-1C7C-BB48-8CE8-7E2ACE114457}" type="pres">
      <dgm:prSet presAssocID="{4713171B-723F-E646-B567-7828D9B060F5}" presName="arrowDiagram" presStyleCnt="0">
        <dgm:presLayoutVars>
          <dgm:chMax val="5"/>
          <dgm:dir/>
          <dgm:resizeHandles val="exact"/>
        </dgm:presLayoutVars>
      </dgm:prSet>
      <dgm:spPr/>
    </dgm:pt>
    <dgm:pt modelId="{6583A533-B32F-3445-A521-7E6E85915F15}" type="pres">
      <dgm:prSet presAssocID="{4713171B-723F-E646-B567-7828D9B060F5}" presName="arrow" presStyleLbl="bgShp" presStyleIdx="0" presStyleCnt="1"/>
      <dgm:spPr>
        <a:effectLst>
          <a:glow rad="38100">
            <a:schemeClr val="accent1">
              <a:alpha val="45000"/>
            </a:schemeClr>
          </a:glow>
          <a:softEdge rad="101600"/>
        </a:effectLst>
      </dgm:spPr>
    </dgm:pt>
    <dgm:pt modelId="{53B967A3-8927-744E-9DDC-9DC043AA37B2}" type="pres">
      <dgm:prSet presAssocID="{4713171B-723F-E646-B567-7828D9B060F5}" presName="arrowDiagram4" presStyleCnt="0"/>
      <dgm:spPr/>
    </dgm:pt>
    <dgm:pt modelId="{39B3DB2F-CFDB-3D46-BC03-E9933E33FB8F}" type="pres">
      <dgm:prSet presAssocID="{74B3D2B1-806F-D744-86BE-6D879BBC16A2}" presName="bullet4a" presStyleLbl="node1" presStyleIdx="0" presStyleCnt="4"/>
      <dgm:spPr>
        <a:ln>
          <a:solidFill>
            <a:schemeClr val="tx1"/>
          </a:solidFill>
        </a:ln>
      </dgm:spPr>
    </dgm:pt>
    <dgm:pt modelId="{70F67D8F-56D9-E74F-8BDF-5458066225AA}" type="pres">
      <dgm:prSet presAssocID="{74B3D2B1-806F-D744-86BE-6D879BBC16A2}" presName="textBox4a" presStyleLbl="revTx" presStyleIdx="0" presStyleCnt="4" custLinFactNeighborX="749" custLinFactNeighborY="-430">
        <dgm:presLayoutVars>
          <dgm:bulletEnabled val="1"/>
        </dgm:presLayoutVars>
      </dgm:prSet>
      <dgm:spPr/>
    </dgm:pt>
    <dgm:pt modelId="{87961540-DD8B-5449-83AA-9C3C44DC1EF4}" type="pres">
      <dgm:prSet presAssocID="{430B4876-7570-574F-AC09-B684ADAE1845}" presName="bullet4b" presStyleLbl="node1" presStyleIdx="1" presStyleCnt="4"/>
      <dgm:spPr>
        <a:ln>
          <a:solidFill>
            <a:schemeClr val="tx1"/>
          </a:solidFill>
        </a:ln>
      </dgm:spPr>
    </dgm:pt>
    <dgm:pt modelId="{E7240535-9187-B840-9E04-359208A868C4}" type="pres">
      <dgm:prSet presAssocID="{430B4876-7570-574F-AC09-B684ADAE1845}" presName="textBox4b" presStyleLbl="revTx" presStyleIdx="1" presStyleCnt="4" custScaleY="78652" custLinFactNeighborX="1934" custLinFactNeighborY="-7808">
        <dgm:presLayoutVars>
          <dgm:bulletEnabled val="1"/>
        </dgm:presLayoutVars>
      </dgm:prSet>
      <dgm:spPr/>
    </dgm:pt>
    <dgm:pt modelId="{4CFE7342-B602-1544-9847-E9A231A05FD5}" type="pres">
      <dgm:prSet presAssocID="{E92CCB42-E23A-3B45-92CD-D94D59D74CEA}" presName="bullet4c" presStyleLbl="node1" presStyleIdx="2" presStyleCnt="4"/>
      <dgm:spPr>
        <a:ln>
          <a:solidFill>
            <a:schemeClr val="tx1"/>
          </a:solidFill>
        </a:ln>
      </dgm:spPr>
    </dgm:pt>
    <dgm:pt modelId="{9A149516-666B-5D44-8845-9B7ED7179393}" type="pres">
      <dgm:prSet presAssocID="{E92CCB42-E23A-3B45-92CD-D94D59D74CEA}" presName="textBox4c" presStyleLbl="revTx" presStyleIdx="2" presStyleCnt="4" custScaleY="65270" custLinFactNeighborX="4559" custLinFactNeighborY="-10506">
        <dgm:presLayoutVars>
          <dgm:bulletEnabled val="1"/>
        </dgm:presLayoutVars>
      </dgm:prSet>
      <dgm:spPr/>
    </dgm:pt>
    <dgm:pt modelId="{21544247-92C1-3D44-99B2-72E06AC3A1AF}" type="pres">
      <dgm:prSet presAssocID="{72A6FF65-4637-1646-B700-EA5033041EEA}" presName="bullet4d" presStyleLbl="node1" presStyleIdx="3" presStyleCnt="4"/>
      <dgm:spPr>
        <a:ln>
          <a:solidFill>
            <a:schemeClr val="tx1"/>
          </a:solidFill>
        </a:ln>
      </dgm:spPr>
    </dgm:pt>
    <dgm:pt modelId="{A1C86641-BAF9-664F-9EAC-CE643C68B505}" type="pres">
      <dgm:prSet presAssocID="{72A6FF65-4637-1646-B700-EA5033041EEA}" presName="textBox4d" presStyleLbl="revTx" presStyleIdx="3" presStyleCnt="4" custScaleY="89114" custLinFactNeighborX="5894" custLinFactNeighborY="2031">
        <dgm:presLayoutVars>
          <dgm:bulletEnabled val="1"/>
        </dgm:presLayoutVars>
      </dgm:prSet>
      <dgm:spPr/>
    </dgm:pt>
  </dgm:ptLst>
  <dgm:cxnLst>
    <dgm:cxn modelId="{A6B1A501-C4AF-934F-85D2-FD8D8B0F928C}" type="presOf" srcId="{74B3D2B1-806F-D744-86BE-6D879BBC16A2}" destId="{70F67D8F-56D9-E74F-8BDF-5458066225AA}" srcOrd="0" destOrd="0" presId="urn:microsoft.com/office/officeart/2005/8/layout/arrow2"/>
    <dgm:cxn modelId="{4FDBB72E-93FA-8E47-948C-741710F8B7D4}" type="presOf" srcId="{430B4876-7570-574F-AC09-B684ADAE1845}" destId="{E7240535-9187-B840-9E04-359208A868C4}" srcOrd="0" destOrd="0" presId="urn:microsoft.com/office/officeart/2005/8/layout/arrow2"/>
    <dgm:cxn modelId="{F820CA5E-8221-A54C-9C83-93788DECE038}" srcId="{4713171B-723F-E646-B567-7828D9B060F5}" destId="{430B4876-7570-574F-AC09-B684ADAE1845}" srcOrd="1" destOrd="0" parTransId="{9804845B-7166-C245-A033-1707011C1340}" sibTransId="{A8EFB0CD-6CCC-4046-84C2-B9073B010F56}"/>
    <dgm:cxn modelId="{CFBED759-0B08-1445-9178-232A35E01777}" type="presOf" srcId="{4713171B-723F-E646-B567-7828D9B060F5}" destId="{19DA2E74-1C7C-BB48-8CE8-7E2ACE114457}" srcOrd="0" destOrd="0" presId="urn:microsoft.com/office/officeart/2005/8/layout/arrow2"/>
    <dgm:cxn modelId="{82E57096-26B3-A848-969A-9D46C3347148}" srcId="{4713171B-723F-E646-B567-7828D9B060F5}" destId="{E92CCB42-E23A-3B45-92CD-D94D59D74CEA}" srcOrd="2" destOrd="0" parTransId="{EC29B15F-0AFE-DB48-A496-0CFA5701D052}" sibTransId="{7F94153B-E220-E247-8239-FD3395C37145}"/>
    <dgm:cxn modelId="{1605A4C7-B30B-0841-AB74-5073E90B4BF0}" srcId="{4713171B-723F-E646-B567-7828D9B060F5}" destId="{74B3D2B1-806F-D744-86BE-6D879BBC16A2}" srcOrd="0" destOrd="0" parTransId="{2633BF21-6621-CC40-B647-E3FD64BADB6E}" sibTransId="{5A87E385-1645-684A-9E76-20CDD89908FC}"/>
    <dgm:cxn modelId="{0C03DBE1-8B86-1845-B4C7-A92A72CDC6E0}" srcId="{4713171B-723F-E646-B567-7828D9B060F5}" destId="{72A6FF65-4637-1646-B700-EA5033041EEA}" srcOrd="3" destOrd="0" parTransId="{68C6072A-AAA2-BA4D-B1FF-59AB105BBB23}" sibTransId="{29657DB5-1E4D-8D4A-BAD5-AA2F9FAF1861}"/>
    <dgm:cxn modelId="{EAF2EFF4-7A53-3D4F-BD7D-F47E133B7B71}" type="presOf" srcId="{72A6FF65-4637-1646-B700-EA5033041EEA}" destId="{A1C86641-BAF9-664F-9EAC-CE643C68B505}" srcOrd="0" destOrd="0" presId="urn:microsoft.com/office/officeart/2005/8/layout/arrow2"/>
    <dgm:cxn modelId="{118114F8-E9AF-C541-8A01-6BAD1CE71762}" type="presOf" srcId="{E92CCB42-E23A-3B45-92CD-D94D59D74CEA}" destId="{9A149516-666B-5D44-8845-9B7ED7179393}" srcOrd="0" destOrd="0" presId="urn:microsoft.com/office/officeart/2005/8/layout/arrow2"/>
    <dgm:cxn modelId="{020C9A1C-7AFA-6447-9092-FF44B5B9F31D}" type="presParOf" srcId="{19DA2E74-1C7C-BB48-8CE8-7E2ACE114457}" destId="{6583A533-B32F-3445-A521-7E6E85915F15}" srcOrd="0" destOrd="0" presId="urn:microsoft.com/office/officeart/2005/8/layout/arrow2"/>
    <dgm:cxn modelId="{ABC76D32-C03C-D149-81D9-488F8BF4ECEF}" type="presParOf" srcId="{19DA2E74-1C7C-BB48-8CE8-7E2ACE114457}" destId="{53B967A3-8927-744E-9DDC-9DC043AA37B2}" srcOrd="1" destOrd="0" presId="urn:microsoft.com/office/officeart/2005/8/layout/arrow2"/>
    <dgm:cxn modelId="{C7CCA965-D5F6-3F4C-B2FB-A858FD708F3C}" type="presParOf" srcId="{53B967A3-8927-744E-9DDC-9DC043AA37B2}" destId="{39B3DB2F-CFDB-3D46-BC03-E9933E33FB8F}" srcOrd="0" destOrd="0" presId="urn:microsoft.com/office/officeart/2005/8/layout/arrow2"/>
    <dgm:cxn modelId="{C1C6E791-8B2B-D14C-B8D5-A081312826CC}" type="presParOf" srcId="{53B967A3-8927-744E-9DDC-9DC043AA37B2}" destId="{70F67D8F-56D9-E74F-8BDF-5458066225AA}" srcOrd="1" destOrd="0" presId="urn:microsoft.com/office/officeart/2005/8/layout/arrow2"/>
    <dgm:cxn modelId="{8A67988D-1939-9B40-AEB2-532C9446F505}" type="presParOf" srcId="{53B967A3-8927-744E-9DDC-9DC043AA37B2}" destId="{87961540-DD8B-5449-83AA-9C3C44DC1EF4}" srcOrd="2" destOrd="0" presId="urn:microsoft.com/office/officeart/2005/8/layout/arrow2"/>
    <dgm:cxn modelId="{EC88B17E-FB3C-7248-AF7E-37DF1B5E4D46}" type="presParOf" srcId="{53B967A3-8927-744E-9DDC-9DC043AA37B2}" destId="{E7240535-9187-B840-9E04-359208A868C4}" srcOrd="3" destOrd="0" presId="urn:microsoft.com/office/officeart/2005/8/layout/arrow2"/>
    <dgm:cxn modelId="{2C82FC85-35D9-F244-AABC-81A93D7D265A}" type="presParOf" srcId="{53B967A3-8927-744E-9DDC-9DC043AA37B2}" destId="{4CFE7342-B602-1544-9847-E9A231A05FD5}" srcOrd="4" destOrd="0" presId="urn:microsoft.com/office/officeart/2005/8/layout/arrow2"/>
    <dgm:cxn modelId="{B96099C1-607B-0A4B-9E1A-33D09D9453CB}" type="presParOf" srcId="{53B967A3-8927-744E-9DDC-9DC043AA37B2}" destId="{9A149516-666B-5D44-8845-9B7ED7179393}" srcOrd="5" destOrd="0" presId="urn:microsoft.com/office/officeart/2005/8/layout/arrow2"/>
    <dgm:cxn modelId="{C7A3E67F-3491-6E40-8EA0-6616B1E3FE9F}" type="presParOf" srcId="{53B967A3-8927-744E-9DDC-9DC043AA37B2}" destId="{21544247-92C1-3D44-99B2-72E06AC3A1AF}" srcOrd="6" destOrd="0" presId="urn:microsoft.com/office/officeart/2005/8/layout/arrow2"/>
    <dgm:cxn modelId="{2D574F94-D08A-4841-8DC2-46AA3B9821C4}" type="presParOf" srcId="{53B967A3-8927-744E-9DDC-9DC043AA37B2}" destId="{A1C86641-BAF9-664F-9EAC-CE643C68B505}"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7AB59D6-4C33-A34B-AF38-5DDBD84E8C4C}"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91565F97-7BC1-8843-879A-E4C12C27F34F}">
      <dgm:prSet phldrT="[Text]" custT="1"/>
      <dgm:spPr/>
      <dgm:t>
        <a:bodyPr/>
        <a:lstStyle/>
        <a:p>
          <a:r>
            <a:rPr lang="en-US" sz="1800" b="1" i="0" dirty="0">
              <a:solidFill>
                <a:schemeClr val="tx1"/>
              </a:solidFill>
            </a:rPr>
            <a:t>Key generation</a:t>
          </a:r>
        </a:p>
      </dgm:t>
    </dgm:pt>
    <dgm:pt modelId="{C5BDD6DA-952C-904C-B87A-15DA1BF92690}" type="parTrans" cxnId="{566C2247-C6AA-F348-A77B-07869E75BAED}">
      <dgm:prSet/>
      <dgm:spPr/>
      <dgm:t>
        <a:bodyPr/>
        <a:lstStyle/>
        <a:p>
          <a:endParaRPr lang="en-US"/>
        </a:p>
      </dgm:t>
    </dgm:pt>
    <dgm:pt modelId="{7B5A9F40-BAD1-2041-AC8B-BB0DF3CD2520}" type="sibTrans" cxnId="{566C2247-C6AA-F348-A77B-07869E75BAED}">
      <dgm:prSet/>
      <dgm:spPr/>
      <dgm:t>
        <a:bodyPr/>
        <a:lstStyle/>
        <a:p>
          <a:endParaRPr lang="en-US"/>
        </a:p>
      </dgm:t>
    </dgm:pt>
    <dgm:pt modelId="{CB0CC14D-E390-FA4D-BFF8-D1720BF715EE}">
      <dgm:prSet custT="1"/>
      <dgm:spPr>
        <a:solidFill>
          <a:schemeClr val="tx2"/>
        </a:solidFill>
        <a:ln>
          <a:solidFill>
            <a:schemeClr val="bg2"/>
          </a:solidFill>
        </a:ln>
      </dgm:spPr>
      <dgm:t>
        <a:bodyPr/>
        <a:lstStyle/>
        <a:p>
          <a:r>
            <a:rPr lang="en-US" sz="1500" b="1" i="0" dirty="0">
              <a:solidFill>
                <a:schemeClr val="tx2">
                  <a:lumMod val="10000"/>
                </a:schemeClr>
              </a:solidFill>
            </a:rPr>
            <a:t>The user of some related administrative utility must be capable of generating separate Diffie-Hellman and DSS key pairs and should be capable of generating RSA key pairs</a:t>
          </a:r>
        </a:p>
      </dgm:t>
    </dgm:pt>
    <dgm:pt modelId="{410B3BBD-CDA1-E445-8EA8-2A2CF59AB8B2}" type="parTrans" cxnId="{BCDE15DA-12A0-214B-9C01-1F01E49C8344}">
      <dgm:prSet/>
      <dgm:spPr>
        <a:solidFill>
          <a:schemeClr val="bg2"/>
        </a:solidFill>
        <a:effectLst/>
      </dgm:spPr>
      <dgm:t>
        <a:bodyPr/>
        <a:lstStyle/>
        <a:p>
          <a:endParaRPr lang="en-US" dirty="0"/>
        </a:p>
      </dgm:t>
    </dgm:pt>
    <dgm:pt modelId="{F3DCEF80-E181-D24D-9AEA-0E5CF9271CE0}" type="sibTrans" cxnId="{BCDE15DA-12A0-214B-9C01-1F01E49C8344}">
      <dgm:prSet/>
      <dgm:spPr>
        <a:solidFill>
          <a:schemeClr val="bg2"/>
        </a:solidFill>
        <a:effectLst/>
      </dgm:spPr>
      <dgm:t>
        <a:bodyPr/>
        <a:lstStyle/>
        <a:p>
          <a:endParaRPr lang="en-US" dirty="0"/>
        </a:p>
      </dgm:t>
    </dgm:pt>
    <dgm:pt modelId="{72E6CFFC-E2C0-154A-A55F-9A15B6C35E96}">
      <dgm:prSet custT="1"/>
      <dgm:spPr>
        <a:solidFill>
          <a:schemeClr val="tx2"/>
        </a:solidFill>
        <a:ln>
          <a:solidFill>
            <a:schemeClr val="bg2"/>
          </a:solidFill>
        </a:ln>
      </dgm:spPr>
      <dgm:t>
        <a:bodyPr/>
        <a:lstStyle/>
        <a:p>
          <a:r>
            <a:rPr lang="en-US" sz="1500" b="1" i="0" dirty="0">
              <a:solidFill>
                <a:schemeClr val="tx2">
                  <a:lumMod val="10000"/>
                </a:schemeClr>
              </a:solidFill>
            </a:rPr>
            <a:t>A user agent should generate RSA key pairs with a length in the range of 768 to 1024 bits and must not generate a length of less than 512 bits</a:t>
          </a:r>
        </a:p>
      </dgm:t>
    </dgm:pt>
    <dgm:pt modelId="{F1569E1B-0C19-8245-A519-F8CEF61DB555}" type="parTrans" cxnId="{8AB8D902-D2DD-1144-9EC7-DFC881974825}">
      <dgm:prSet/>
      <dgm:spPr/>
      <dgm:t>
        <a:bodyPr/>
        <a:lstStyle/>
        <a:p>
          <a:endParaRPr lang="en-US"/>
        </a:p>
      </dgm:t>
    </dgm:pt>
    <dgm:pt modelId="{0A52076B-6781-7646-A89B-8188EBFB43A9}" type="sibTrans" cxnId="{8AB8D902-D2DD-1144-9EC7-DFC881974825}">
      <dgm:prSet/>
      <dgm:spPr/>
      <dgm:t>
        <a:bodyPr/>
        <a:lstStyle/>
        <a:p>
          <a:endParaRPr lang="en-US"/>
        </a:p>
      </dgm:t>
    </dgm:pt>
    <dgm:pt modelId="{11A0533F-530A-BD40-B5F2-6152C13B9624}">
      <dgm:prSet custT="1"/>
      <dgm:spPr/>
      <dgm:t>
        <a:bodyPr/>
        <a:lstStyle/>
        <a:p>
          <a:r>
            <a:rPr lang="en-US" sz="1800" b="1" i="0" dirty="0">
              <a:solidFill>
                <a:schemeClr val="tx1"/>
              </a:solidFill>
            </a:rPr>
            <a:t>Registration</a:t>
          </a:r>
        </a:p>
      </dgm:t>
    </dgm:pt>
    <dgm:pt modelId="{14D25439-39EC-FC41-921D-5B7A91B82A88}" type="parTrans" cxnId="{CC6A5E4D-8B0F-F84F-B3E6-E486B6C82D39}">
      <dgm:prSet/>
      <dgm:spPr/>
      <dgm:t>
        <a:bodyPr/>
        <a:lstStyle/>
        <a:p>
          <a:endParaRPr lang="en-US"/>
        </a:p>
      </dgm:t>
    </dgm:pt>
    <dgm:pt modelId="{730C2160-501F-C64D-B501-21B323D46B89}" type="sibTrans" cxnId="{CC6A5E4D-8B0F-F84F-B3E6-E486B6C82D39}">
      <dgm:prSet/>
      <dgm:spPr/>
      <dgm:t>
        <a:bodyPr/>
        <a:lstStyle/>
        <a:p>
          <a:endParaRPr lang="en-US"/>
        </a:p>
      </dgm:t>
    </dgm:pt>
    <dgm:pt modelId="{31241FBC-F2F9-AA40-B931-FF4696917E3F}">
      <dgm:prSet custT="1"/>
      <dgm:spPr>
        <a:solidFill>
          <a:schemeClr val="tx2"/>
        </a:solidFill>
        <a:ln>
          <a:solidFill>
            <a:schemeClr val="bg2"/>
          </a:solidFill>
        </a:ln>
      </dgm:spPr>
      <dgm:t>
        <a:bodyPr/>
        <a:lstStyle/>
        <a:p>
          <a:r>
            <a:rPr lang="en-US" sz="1500" b="1" i="0" dirty="0">
              <a:solidFill>
                <a:schemeClr val="tx2">
                  <a:lumMod val="10000"/>
                </a:schemeClr>
              </a:solidFill>
            </a:rPr>
            <a:t>A user’s public key must be registered with a certification authority in order to receive an X.509 public-key certificate</a:t>
          </a:r>
        </a:p>
      </dgm:t>
    </dgm:pt>
    <dgm:pt modelId="{DC326A12-933B-094E-AF25-49D4B81D12D1}" type="parTrans" cxnId="{25256B26-D172-7A46-9BAB-7B5A523DDA6D}">
      <dgm:prSet/>
      <dgm:spPr>
        <a:solidFill>
          <a:schemeClr val="bg2"/>
        </a:solidFill>
        <a:effectLst/>
      </dgm:spPr>
      <dgm:t>
        <a:bodyPr/>
        <a:lstStyle/>
        <a:p>
          <a:endParaRPr lang="en-US" dirty="0"/>
        </a:p>
      </dgm:t>
    </dgm:pt>
    <dgm:pt modelId="{1249FFDC-2403-DC47-990D-3193E275392F}" type="sibTrans" cxnId="{25256B26-D172-7A46-9BAB-7B5A523DDA6D}">
      <dgm:prSet/>
      <dgm:spPr/>
      <dgm:t>
        <a:bodyPr/>
        <a:lstStyle/>
        <a:p>
          <a:endParaRPr lang="en-US"/>
        </a:p>
      </dgm:t>
    </dgm:pt>
    <dgm:pt modelId="{B0DF2C07-5285-1147-932C-AC3715653725}">
      <dgm:prSet custT="1"/>
      <dgm:spPr/>
      <dgm:t>
        <a:bodyPr/>
        <a:lstStyle/>
        <a:p>
          <a:r>
            <a:rPr lang="en-US" sz="1800" b="1" i="0" dirty="0">
              <a:solidFill>
                <a:schemeClr val="tx1"/>
              </a:solidFill>
            </a:rPr>
            <a:t>Certificate storage and retrieval</a:t>
          </a:r>
        </a:p>
      </dgm:t>
    </dgm:pt>
    <dgm:pt modelId="{07F67CE2-7232-5A47-A783-344B37DF5B94}" type="parTrans" cxnId="{37069C4D-5973-A946-B701-C5719143C78B}">
      <dgm:prSet/>
      <dgm:spPr/>
      <dgm:t>
        <a:bodyPr/>
        <a:lstStyle/>
        <a:p>
          <a:endParaRPr lang="en-US"/>
        </a:p>
      </dgm:t>
    </dgm:pt>
    <dgm:pt modelId="{C4216013-C274-1241-8CBA-FF9B7130F5FB}" type="sibTrans" cxnId="{37069C4D-5973-A946-B701-C5719143C78B}">
      <dgm:prSet/>
      <dgm:spPr/>
      <dgm:t>
        <a:bodyPr/>
        <a:lstStyle/>
        <a:p>
          <a:endParaRPr lang="en-US"/>
        </a:p>
      </dgm:t>
    </dgm:pt>
    <dgm:pt modelId="{B7CC46DB-A53B-4B4C-B01B-0E38D433B59F}">
      <dgm:prSet custT="1"/>
      <dgm:spPr>
        <a:solidFill>
          <a:schemeClr val="tx2"/>
        </a:solidFill>
        <a:ln>
          <a:solidFill>
            <a:schemeClr val="bg2"/>
          </a:solidFill>
        </a:ln>
      </dgm:spPr>
      <dgm:t>
        <a:bodyPr/>
        <a:lstStyle/>
        <a:p>
          <a:r>
            <a:rPr lang="en-US" sz="1500" b="1" i="0" dirty="0">
              <a:solidFill>
                <a:schemeClr val="tx2">
                  <a:lumMod val="10000"/>
                </a:schemeClr>
              </a:solidFill>
            </a:rPr>
            <a:t>A user requires access to a local list of certificates in order to verify incoming signatures and to encrypt outgoing messages</a:t>
          </a:r>
        </a:p>
      </dgm:t>
    </dgm:pt>
    <dgm:pt modelId="{496908AA-6D47-DF4D-9C32-CDAEF2E8F112}" type="parTrans" cxnId="{8C091EA9-FBA1-3E4B-A1CA-BC0D4B09DE7D}">
      <dgm:prSet/>
      <dgm:spPr>
        <a:solidFill>
          <a:schemeClr val="bg2"/>
        </a:solidFill>
        <a:effectLst/>
      </dgm:spPr>
      <dgm:t>
        <a:bodyPr/>
        <a:lstStyle/>
        <a:p>
          <a:endParaRPr lang="en-US" dirty="0"/>
        </a:p>
      </dgm:t>
    </dgm:pt>
    <dgm:pt modelId="{6603F3B3-BCCF-744A-9B4E-2C5938557CFA}" type="sibTrans" cxnId="{8C091EA9-FBA1-3E4B-A1CA-BC0D4B09DE7D}">
      <dgm:prSet/>
      <dgm:spPr/>
      <dgm:t>
        <a:bodyPr/>
        <a:lstStyle/>
        <a:p>
          <a:endParaRPr lang="en-US"/>
        </a:p>
      </dgm:t>
    </dgm:pt>
    <dgm:pt modelId="{ECCBFC9D-EE20-E84A-AD40-28611A9BC2B1}" type="pres">
      <dgm:prSet presAssocID="{87AB59D6-4C33-A34B-AF38-5DDBD84E8C4C}" presName="Name0" presStyleCnt="0">
        <dgm:presLayoutVars>
          <dgm:dir/>
          <dgm:animLvl val="lvl"/>
          <dgm:resizeHandles val="exact"/>
        </dgm:presLayoutVars>
      </dgm:prSet>
      <dgm:spPr/>
    </dgm:pt>
    <dgm:pt modelId="{8BEC1D6C-EACB-DB48-83E0-E3AC2FAA5BB6}" type="pres">
      <dgm:prSet presAssocID="{91565F97-7BC1-8843-879A-E4C12C27F34F}" presName="vertFlow" presStyleCnt="0"/>
      <dgm:spPr/>
    </dgm:pt>
    <dgm:pt modelId="{5640E4EC-D131-0C41-A714-976262004000}" type="pres">
      <dgm:prSet presAssocID="{91565F97-7BC1-8843-879A-E4C12C27F34F}" presName="header" presStyleLbl="node1" presStyleIdx="0" presStyleCnt="3" custLinFactY="32710" custLinFactNeighborX="509" custLinFactNeighborY="100000"/>
      <dgm:spPr/>
    </dgm:pt>
    <dgm:pt modelId="{499DAEB3-C700-2348-8690-589FFD73282E}" type="pres">
      <dgm:prSet presAssocID="{410B3BBD-CDA1-E445-8EA8-2A2CF59AB8B2}" presName="parTrans" presStyleLbl="sibTrans2D1" presStyleIdx="0" presStyleCnt="4" custScaleY="536054"/>
      <dgm:spPr/>
    </dgm:pt>
    <dgm:pt modelId="{00E8D720-FB90-3F40-B94E-FEE132455706}" type="pres">
      <dgm:prSet presAssocID="{CB0CC14D-E390-FA4D-BFF8-D1720BF715EE}" presName="child" presStyleLbl="alignAccFollowNode1" presStyleIdx="0" presStyleCnt="4" custScaleX="117359" custScaleY="240291" custLinFactY="99133" custLinFactNeighborX="-77" custLinFactNeighborY="100000">
        <dgm:presLayoutVars>
          <dgm:chMax val="0"/>
          <dgm:bulletEnabled val="1"/>
        </dgm:presLayoutVars>
      </dgm:prSet>
      <dgm:spPr/>
    </dgm:pt>
    <dgm:pt modelId="{2C4540C6-1CCE-8F44-B5F9-43BA4E58799A}" type="pres">
      <dgm:prSet presAssocID="{F3DCEF80-E181-D24D-9AEA-0E5CF9271CE0}" presName="sibTrans" presStyleLbl="sibTrans2D1" presStyleIdx="1" presStyleCnt="4" custScaleY="536054"/>
      <dgm:spPr/>
    </dgm:pt>
    <dgm:pt modelId="{4E28F1E9-86E9-D94E-93A5-CAF02EBFC40E}" type="pres">
      <dgm:prSet presAssocID="{72E6CFFC-E2C0-154A-A55F-9A15B6C35E96}" presName="child" presStyleLbl="alignAccFollowNode1" presStyleIdx="1" presStyleCnt="4" custScaleX="104947" custScaleY="194570" custLinFactY="113802" custLinFactNeighborX="-106" custLinFactNeighborY="200000">
        <dgm:presLayoutVars>
          <dgm:chMax val="0"/>
          <dgm:bulletEnabled val="1"/>
        </dgm:presLayoutVars>
      </dgm:prSet>
      <dgm:spPr/>
    </dgm:pt>
    <dgm:pt modelId="{97AB9586-1C0A-D24F-9CF0-EE98469F1F1F}" type="pres">
      <dgm:prSet presAssocID="{91565F97-7BC1-8843-879A-E4C12C27F34F}" presName="hSp" presStyleCnt="0"/>
      <dgm:spPr/>
    </dgm:pt>
    <dgm:pt modelId="{5D597686-2E7F-4F41-9840-EF3C17C68D6B}" type="pres">
      <dgm:prSet presAssocID="{11A0533F-530A-BD40-B5F2-6152C13B9624}" presName="vertFlow" presStyleCnt="0"/>
      <dgm:spPr/>
    </dgm:pt>
    <dgm:pt modelId="{1DFF3C36-D263-5343-81BB-8740166AD25A}" type="pres">
      <dgm:prSet presAssocID="{11A0533F-530A-BD40-B5F2-6152C13B9624}" presName="header" presStyleLbl="node1" presStyleIdx="1" presStyleCnt="3" custLinFactY="32710" custLinFactNeighborX="-3364" custLinFactNeighborY="100000"/>
      <dgm:spPr/>
    </dgm:pt>
    <dgm:pt modelId="{FDC2ACAE-9F74-D944-BF52-0E244DB76F2A}" type="pres">
      <dgm:prSet presAssocID="{DC326A12-933B-094E-AF25-49D4B81D12D1}" presName="parTrans" presStyleLbl="sibTrans2D1" presStyleIdx="2" presStyleCnt="4" custScaleY="536054"/>
      <dgm:spPr/>
    </dgm:pt>
    <dgm:pt modelId="{9F46745B-DDFD-9142-A2AB-A68D61AF4AC4}" type="pres">
      <dgm:prSet presAssocID="{31241FBC-F2F9-AA40-B931-FF4696917E3F}" presName="child" presStyleLbl="alignAccFollowNode1" presStyleIdx="2" presStyleCnt="4" custScaleX="109462" custScaleY="151146" custLinFactY="100000" custLinFactNeighborX="-1722" custLinFactNeighborY="157362">
        <dgm:presLayoutVars>
          <dgm:chMax val="0"/>
          <dgm:bulletEnabled val="1"/>
        </dgm:presLayoutVars>
      </dgm:prSet>
      <dgm:spPr/>
    </dgm:pt>
    <dgm:pt modelId="{7FDAD220-DE67-6F4D-9761-70BB45BD2D02}" type="pres">
      <dgm:prSet presAssocID="{11A0533F-530A-BD40-B5F2-6152C13B9624}" presName="hSp" presStyleCnt="0"/>
      <dgm:spPr/>
    </dgm:pt>
    <dgm:pt modelId="{FD4E7D40-69CE-194B-AC64-DFE0E3AC06D0}" type="pres">
      <dgm:prSet presAssocID="{B0DF2C07-5285-1147-932C-AC3715653725}" presName="vertFlow" presStyleCnt="0"/>
      <dgm:spPr/>
    </dgm:pt>
    <dgm:pt modelId="{6FFE8623-4392-894F-AB9D-1E249DE8C8DD}" type="pres">
      <dgm:prSet presAssocID="{B0DF2C07-5285-1147-932C-AC3715653725}" presName="header" presStyleLbl="node1" presStyleIdx="2" presStyleCnt="3" custLinFactY="32710" custLinFactNeighborX="-1744" custLinFactNeighborY="100000"/>
      <dgm:spPr/>
    </dgm:pt>
    <dgm:pt modelId="{9B6C36B4-2E14-DD41-AA37-637EABA5416A}" type="pres">
      <dgm:prSet presAssocID="{496908AA-6D47-DF4D-9C32-CDAEF2E8F112}" presName="parTrans" presStyleLbl="sibTrans2D1" presStyleIdx="3" presStyleCnt="4" custScaleY="536054"/>
      <dgm:spPr/>
    </dgm:pt>
    <dgm:pt modelId="{510A18EB-2775-2A43-8C68-735C2689912B}" type="pres">
      <dgm:prSet presAssocID="{B7CC46DB-A53B-4B4C-B01B-0E38D433B59F}" presName="child" presStyleLbl="alignAccFollowNode1" presStyleIdx="3" presStyleCnt="4" custScaleX="100195" custScaleY="195738" custLinFactY="100000" custLinFactNeighborX="-1646" custLinFactNeighborY="122066">
        <dgm:presLayoutVars>
          <dgm:chMax val="0"/>
          <dgm:bulletEnabled val="1"/>
        </dgm:presLayoutVars>
      </dgm:prSet>
      <dgm:spPr/>
    </dgm:pt>
  </dgm:ptLst>
  <dgm:cxnLst>
    <dgm:cxn modelId="{8AB8D902-D2DD-1144-9EC7-DFC881974825}" srcId="{91565F97-7BC1-8843-879A-E4C12C27F34F}" destId="{72E6CFFC-E2C0-154A-A55F-9A15B6C35E96}" srcOrd="1" destOrd="0" parTransId="{F1569E1B-0C19-8245-A519-F8CEF61DB555}" sibTransId="{0A52076B-6781-7646-A89B-8188EBFB43A9}"/>
    <dgm:cxn modelId="{25256B26-D172-7A46-9BAB-7B5A523DDA6D}" srcId="{11A0533F-530A-BD40-B5F2-6152C13B9624}" destId="{31241FBC-F2F9-AA40-B931-FF4696917E3F}" srcOrd="0" destOrd="0" parTransId="{DC326A12-933B-094E-AF25-49D4B81D12D1}" sibTransId="{1249FFDC-2403-DC47-990D-3193E275392F}"/>
    <dgm:cxn modelId="{CF72FE2C-0F67-BF40-BE7F-55DC7A0850F5}" type="presOf" srcId="{DC326A12-933B-094E-AF25-49D4B81D12D1}" destId="{FDC2ACAE-9F74-D944-BF52-0E244DB76F2A}" srcOrd="0" destOrd="0" presId="urn:microsoft.com/office/officeart/2005/8/layout/lProcess1"/>
    <dgm:cxn modelId="{524A9233-FC48-CB4E-B424-2A49F08236C3}" type="presOf" srcId="{87AB59D6-4C33-A34B-AF38-5DDBD84E8C4C}" destId="{ECCBFC9D-EE20-E84A-AD40-28611A9BC2B1}" srcOrd="0" destOrd="0" presId="urn:microsoft.com/office/officeart/2005/8/layout/lProcess1"/>
    <dgm:cxn modelId="{4CEFE833-8599-CA44-AAE4-E8E71C89DE40}" type="presOf" srcId="{CB0CC14D-E390-FA4D-BFF8-D1720BF715EE}" destId="{00E8D720-FB90-3F40-B94E-FEE132455706}" srcOrd="0" destOrd="0" presId="urn:microsoft.com/office/officeart/2005/8/layout/lProcess1"/>
    <dgm:cxn modelId="{0563AA5B-B474-814F-8053-C1CE83D7D62C}" type="presOf" srcId="{B0DF2C07-5285-1147-932C-AC3715653725}" destId="{6FFE8623-4392-894F-AB9D-1E249DE8C8DD}" srcOrd="0" destOrd="0" presId="urn:microsoft.com/office/officeart/2005/8/layout/lProcess1"/>
    <dgm:cxn modelId="{566C2247-C6AA-F348-A77B-07869E75BAED}" srcId="{87AB59D6-4C33-A34B-AF38-5DDBD84E8C4C}" destId="{91565F97-7BC1-8843-879A-E4C12C27F34F}" srcOrd="0" destOrd="0" parTransId="{C5BDD6DA-952C-904C-B87A-15DA1BF92690}" sibTransId="{7B5A9F40-BAD1-2041-AC8B-BB0DF3CD2520}"/>
    <dgm:cxn modelId="{CC6A5E4D-8B0F-F84F-B3E6-E486B6C82D39}" srcId="{87AB59D6-4C33-A34B-AF38-5DDBD84E8C4C}" destId="{11A0533F-530A-BD40-B5F2-6152C13B9624}" srcOrd="1" destOrd="0" parTransId="{14D25439-39EC-FC41-921D-5B7A91B82A88}" sibTransId="{730C2160-501F-C64D-B501-21B323D46B89}"/>
    <dgm:cxn modelId="{37069C4D-5973-A946-B701-C5719143C78B}" srcId="{87AB59D6-4C33-A34B-AF38-5DDBD84E8C4C}" destId="{B0DF2C07-5285-1147-932C-AC3715653725}" srcOrd="2" destOrd="0" parTransId="{07F67CE2-7232-5A47-A783-344B37DF5B94}" sibTransId="{C4216013-C274-1241-8CBA-FF9B7130F5FB}"/>
    <dgm:cxn modelId="{8ABD1D8F-A78C-764E-BB7F-A5683CE98B76}" type="presOf" srcId="{11A0533F-530A-BD40-B5F2-6152C13B9624}" destId="{1DFF3C36-D263-5343-81BB-8740166AD25A}" srcOrd="0" destOrd="0" presId="urn:microsoft.com/office/officeart/2005/8/layout/lProcess1"/>
    <dgm:cxn modelId="{8C091EA9-FBA1-3E4B-A1CA-BC0D4B09DE7D}" srcId="{B0DF2C07-5285-1147-932C-AC3715653725}" destId="{B7CC46DB-A53B-4B4C-B01B-0E38D433B59F}" srcOrd="0" destOrd="0" parTransId="{496908AA-6D47-DF4D-9C32-CDAEF2E8F112}" sibTransId="{6603F3B3-BCCF-744A-9B4E-2C5938557CFA}"/>
    <dgm:cxn modelId="{738EB5BF-D1B5-8444-AA3A-7B882B12BE1E}" type="presOf" srcId="{410B3BBD-CDA1-E445-8EA8-2A2CF59AB8B2}" destId="{499DAEB3-C700-2348-8690-589FFD73282E}" srcOrd="0" destOrd="0" presId="urn:microsoft.com/office/officeart/2005/8/layout/lProcess1"/>
    <dgm:cxn modelId="{BCDE15DA-12A0-214B-9C01-1F01E49C8344}" srcId="{91565F97-7BC1-8843-879A-E4C12C27F34F}" destId="{CB0CC14D-E390-FA4D-BFF8-D1720BF715EE}" srcOrd="0" destOrd="0" parTransId="{410B3BBD-CDA1-E445-8EA8-2A2CF59AB8B2}" sibTransId="{F3DCEF80-E181-D24D-9AEA-0E5CF9271CE0}"/>
    <dgm:cxn modelId="{88F6BDE4-8880-0847-9E80-43244E172B0F}" type="presOf" srcId="{72E6CFFC-E2C0-154A-A55F-9A15B6C35E96}" destId="{4E28F1E9-86E9-D94E-93A5-CAF02EBFC40E}" srcOrd="0" destOrd="0" presId="urn:microsoft.com/office/officeart/2005/8/layout/lProcess1"/>
    <dgm:cxn modelId="{7E73B8E8-3EC5-EF41-99FC-F8D4AEC860E9}" type="presOf" srcId="{31241FBC-F2F9-AA40-B931-FF4696917E3F}" destId="{9F46745B-DDFD-9142-A2AB-A68D61AF4AC4}" srcOrd="0" destOrd="0" presId="urn:microsoft.com/office/officeart/2005/8/layout/lProcess1"/>
    <dgm:cxn modelId="{24B8FDEE-6C9E-0D47-8515-3D386E2CBC56}" type="presOf" srcId="{496908AA-6D47-DF4D-9C32-CDAEF2E8F112}" destId="{9B6C36B4-2E14-DD41-AA37-637EABA5416A}" srcOrd="0" destOrd="0" presId="urn:microsoft.com/office/officeart/2005/8/layout/lProcess1"/>
    <dgm:cxn modelId="{27B119EF-504D-0C41-8D0C-042FFBD20733}" type="presOf" srcId="{B7CC46DB-A53B-4B4C-B01B-0E38D433B59F}" destId="{510A18EB-2775-2A43-8C68-735C2689912B}" srcOrd="0" destOrd="0" presId="urn:microsoft.com/office/officeart/2005/8/layout/lProcess1"/>
    <dgm:cxn modelId="{511058EF-1E2A-6340-96CA-12240767D202}" type="presOf" srcId="{91565F97-7BC1-8843-879A-E4C12C27F34F}" destId="{5640E4EC-D131-0C41-A714-976262004000}" srcOrd="0" destOrd="0" presId="urn:microsoft.com/office/officeart/2005/8/layout/lProcess1"/>
    <dgm:cxn modelId="{8A0CAEFE-C8C3-EF49-A147-86248D2750D8}" type="presOf" srcId="{F3DCEF80-E181-D24D-9AEA-0E5CF9271CE0}" destId="{2C4540C6-1CCE-8F44-B5F9-43BA4E58799A}" srcOrd="0" destOrd="0" presId="urn:microsoft.com/office/officeart/2005/8/layout/lProcess1"/>
    <dgm:cxn modelId="{E3C9A1B7-9A70-D449-9503-68BE24D25575}" type="presParOf" srcId="{ECCBFC9D-EE20-E84A-AD40-28611A9BC2B1}" destId="{8BEC1D6C-EACB-DB48-83E0-E3AC2FAA5BB6}" srcOrd="0" destOrd="0" presId="urn:microsoft.com/office/officeart/2005/8/layout/lProcess1"/>
    <dgm:cxn modelId="{A7FAED9C-BBCA-8C45-B520-35F61BC0680C}" type="presParOf" srcId="{8BEC1D6C-EACB-DB48-83E0-E3AC2FAA5BB6}" destId="{5640E4EC-D131-0C41-A714-976262004000}" srcOrd="0" destOrd="0" presId="urn:microsoft.com/office/officeart/2005/8/layout/lProcess1"/>
    <dgm:cxn modelId="{EDE4A152-B524-E741-8D69-58DB383BF57C}" type="presParOf" srcId="{8BEC1D6C-EACB-DB48-83E0-E3AC2FAA5BB6}" destId="{499DAEB3-C700-2348-8690-589FFD73282E}" srcOrd="1" destOrd="0" presId="urn:microsoft.com/office/officeart/2005/8/layout/lProcess1"/>
    <dgm:cxn modelId="{A504AE06-C4D9-9447-A870-C2449815C9DC}" type="presParOf" srcId="{8BEC1D6C-EACB-DB48-83E0-E3AC2FAA5BB6}" destId="{00E8D720-FB90-3F40-B94E-FEE132455706}" srcOrd="2" destOrd="0" presId="urn:microsoft.com/office/officeart/2005/8/layout/lProcess1"/>
    <dgm:cxn modelId="{FF38D06E-A729-CD40-8EDC-114CBA25A9E3}" type="presParOf" srcId="{8BEC1D6C-EACB-DB48-83E0-E3AC2FAA5BB6}" destId="{2C4540C6-1CCE-8F44-B5F9-43BA4E58799A}" srcOrd="3" destOrd="0" presId="urn:microsoft.com/office/officeart/2005/8/layout/lProcess1"/>
    <dgm:cxn modelId="{FAADB5CC-4585-A043-9B6D-4BC32EE7B25F}" type="presParOf" srcId="{8BEC1D6C-EACB-DB48-83E0-E3AC2FAA5BB6}" destId="{4E28F1E9-86E9-D94E-93A5-CAF02EBFC40E}" srcOrd="4" destOrd="0" presId="urn:microsoft.com/office/officeart/2005/8/layout/lProcess1"/>
    <dgm:cxn modelId="{7F3C4AC1-DD0C-E04C-A90E-D1389328B287}" type="presParOf" srcId="{ECCBFC9D-EE20-E84A-AD40-28611A9BC2B1}" destId="{97AB9586-1C0A-D24F-9CF0-EE98469F1F1F}" srcOrd="1" destOrd="0" presId="urn:microsoft.com/office/officeart/2005/8/layout/lProcess1"/>
    <dgm:cxn modelId="{A3565C30-334C-C34F-BAF1-A38164283238}" type="presParOf" srcId="{ECCBFC9D-EE20-E84A-AD40-28611A9BC2B1}" destId="{5D597686-2E7F-4F41-9840-EF3C17C68D6B}" srcOrd="2" destOrd="0" presId="urn:microsoft.com/office/officeart/2005/8/layout/lProcess1"/>
    <dgm:cxn modelId="{62F3D7F2-EBD8-E649-934E-4C583D9947FF}" type="presParOf" srcId="{5D597686-2E7F-4F41-9840-EF3C17C68D6B}" destId="{1DFF3C36-D263-5343-81BB-8740166AD25A}" srcOrd="0" destOrd="0" presId="urn:microsoft.com/office/officeart/2005/8/layout/lProcess1"/>
    <dgm:cxn modelId="{0E5B0F50-36AF-1E4E-BB89-FC98FB4FB517}" type="presParOf" srcId="{5D597686-2E7F-4F41-9840-EF3C17C68D6B}" destId="{FDC2ACAE-9F74-D944-BF52-0E244DB76F2A}" srcOrd="1" destOrd="0" presId="urn:microsoft.com/office/officeart/2005/8/layout/lProcess1"/>
    <dgm:cxn modelId="{22B24EFF-07E6-984E-93B1-4E11663B7A95}" type="presParOf" srcId="{5D597686-2E7F-4F41-9840-EF3C17C68D6B}" destId="{9F46745B-DDFD-9142-A2AB-A68D61AF4AC4}" srcOrd="2" destOrd="0" presId="urn:microsoft.com/office/officeart/2005/8/layout/lProcess1"/>
    <dgm:cxn modelId="{4B43E0DC-4223-844B-B6D7-DD51AAA9D5BD}" type="presParOf" srcId="{ECCBFC9D-EE20-E84A-AD40-28611A9BC2B1}" destId="{7FDAD220-DE67-6F4D-9761-70BB45BD2D02}" srcOrd="3" destOrd="0" presId="urn:microsoft.com/office/officeart/2005/8/layout/lProcess1"/>
    <dgm:cxn modelId="{39244D58-A600-7B4D-9937-62A2E581D71F}" type="presParOf" srcId="{ECCBFC9D-EE20-E84A-AD40-28611A9BC2B1}" destId="{FD4E7D40-69CE-194B-AC64-DFE0E3AC06D0}" srcOrd="4" destOrd="0" presId="urn:microsoft.com/office/officeart/2005/8/layout/lProcess1"/>
    <dgm:cxn modelId="{0E934C51-2AFC-0241-AF19-3EBCEBC0E956}" type="presParOf" srcId="{FD4E7D40-69CE-194B-AC64-DFE0E3AC06D0}" destId="{6FFE8623-4392-894F-AB9D-1E249DE8C8DD}" srcOrd="0" destOrd="0" presId="urn:microsoft.com/office/officeart/2005/8/layout/lProcess1"/>
    <dgm:cxn modelId="{4C88FCCB-95ED-F044-81E6-FC4DDBDA8C8E}" type="presParOf" srcId="{FD4E7D40-69CE-194B-AC64-DFE0E3AC06D0}" destId="{9B6C36B4-2E14-DD41-AA37-637EABA5416A}" srcOrd="1" destOrd="0" presId="urn:microsoft.com/office/officeart/2005/8/layout/lProcess1"/>
    <dgm:cxn modelId="{F4557EAE-DCB1-8742-91F3-76612E326C83}" type="presParOf" srcId="{FD4E7D40-69CE-194B-AC64-DFE0E3AC06D0}" destId="{510A18EB-2775-2A43-8C68-735C2689912B}" srcOrd="2"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6311768-E9C6-BF42-B59D-964439A09430}"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FB2DDDCB-C275-5649-AA0D-4095A8CD2387}">
      <dgm:prSet phldrT="[Text]" custT="1"/>
      <dgm:spPr/>
      <dgm:t>
        <a:bodyPr/>
        <a:lstStyle/>
        <a:p>
          <a:r>
            <a:rPr lang="en-US" sz="1800" dirty="0">
              <a:solidFill>
                <a:schemeClr val="tx1"/>
              </a:solidFill>
            </a:rPr>
            <a:t>Signed receipt</a:t>
          </a:r>
        </a:p>
      </dgm:t>
    </dgm:pt>
    <dgm:pt modelId="{534C09B1-D72F-C745-8751-7EEB315302FC}" type="parTrans" cxnId="{71D4FE05-E1B4-CF4F-8C5C-094C620462F5}">
      <dgm:prSet/>
      <dgm:spPr/>
      <dgm:t>
        <a:bodyPr/>
        <a:lstStyle/>
        <a:p>
          <a:endParaRPr lang="en-US"/>
        </a:p>
      </dgm:t>
    </dgm:pt>
    <dgm:pt modelId="{296359CE-084B-B34D-903E-055DA05017CE}" type="sibTrans" cxnId="{71D4FE05-E1B4-CF4F-8C5C-094C620462F5}">
      <dgm:prSet/>
      <dgm:spPr/>
      <dgm:t>
        <a:bodyPr/>
        <a:lstStyle/>
        <a:p>
          <a:endParaRPr lang="en-US"/>
        </a:p>
      </dgm:t>
    </dgm:pt>
    <dgm:pt modelId="{23936B56-7237-F24E-99C4-1E04E5B2976E}">
      <dgm:prSet/>
      <dgm:spPr/>
      <dgm:t>
        <a:bodyPr/>
        <a:lstStyle/>
        <a:p>
          <a:r>
            <a:rPr lang="en-US" dirty="0">
              <a:solidFill>
                <a:schemeClr val="tx2">
                  <a:lumMod val="10000"/>
                </a:schemeClr>
              </a:solidFill>
            </a:rPr>
            <a:t>Returning a signed receipt provides proof of delivery to the originator of a message and allows the originator to demonstrate to a third party that the recipient received the message</a:t>
          </a:r>
        </a:p>
      </dgm:t>
    </dgm:pt>
    <dgm:pt modelId="{39CF417C-CE49-6E42-9D2F-D7CF5F01A679}" type="parTrans" cxnId="{E94CAEAB-EF94-D34A-A98A-1E06CB5451D8}">
      <dgm:prSet/>
      <dgm:spPr/>
      <dgm:t>
        <a:bodyPr/>
        <a:lstStyle/>
        <a:p>
          <a:endParaRPr lang="en-US"/>
        </a:p>
      </dgm:t>
    </dgm:pt>
    <dgm:pt modelId="{D69A960C-327C-8E44-BB3C-1E6BB439C517}" type="sibTrans" cxnId="{E94CAEAB-EF94-D34A-A98A-1E06CB5451D8}">
      <dgm:prSet/>
      <dgm:spPr/>
      <dgm:t>
        <a:bodyPr/>
        <a:lstStyle/>
        <a:p>
          <a:endParaRPr lang="en-US"/>
        </a:p>
      </dgm:t>
    </dgm:pt>
    <dgm:pt modelId="{48CB71F9-4B99-BE43-82D0-C4DA8CDE9828}">
      <dgm:prSet custT="1"/>
      <dgm:spPr/>
      <dgm:t>
        <a:bodyPr/>
        <a:lstStyle/>
        <a:p>
          <a:r>
            <a:rPr lang="en-US" sz="1800" dirty="0">
              <a:solidFill>
                <a:schemeClr val="tx1"/>
              </a:solidFill>
            </a:rPr>
            <a:t>Security labels</a:t>
          </a:r>
        </a:p>
      </dgm:t>
    </dgm:pt>
    <dgm:pt modelId="{594586EB-7967-1646-8D34-4A7D94F73FCC}" type="parTrans" cxnId="{08F8EC7F-6D36-9D4D-B173-31C59B93EB57}">
      <dgm:prSet/>
      <dgm:spPr/>
      <dgm:t>
        <a:bodyPr/>
        <a:lstStyle/>
        <a:p>
          <a:endParaRPr lang="en-US"/>
        </a:p>
      </dgm:t>
    </dgm:pt>
    <dgm:pt modelId="{549E3400-B4B1-D64F-8C87-1B1AD5491688}" type="sibTrans" cxnId="{08F8EC7F-6D36-9D4D-B173-31C59B93EB57}">
      <dgm:prSet/>
      <dgm:spPr/>
      <dgm:t>
        <a:bodyPr/>
        <a:lstStyle/>
        <a:p>
          <a:endParaRPr lang="en-US"/>
        </a:p>
      </dgm:t>
    </dgm:pt>
    <dgm:pt modelId="{7BC12425-659A-234F-8A2F-05DF798E916C}">
      <dgm:prSet/>
      <dgm:spPr/>
      <dgm:t>
        <a:bodyPr/>
        <a:lstStyle/>
        <a:p>
          <a:r>
            <a:rPr lang="en-US" dirty="0">
              <a:solidFill>
                <a:schemeClr val="tx2">
                  <a:lumMod val="10000"/>
                </a:schemeClr>
              </a:solidFill>
            </a:rPr>
            <a:t>A set of security information regarding the sensitivity of the content that is protected by S/MIME encapsulation</a:t>
          </a:r>
        </a:p>
      </dgm:t>
    </dgm:pt>
    <dgm:pt modelId="{4A220C7F-D2F5-BF4A-B3D5-8B4750D96A31}" type="parTrans" cxnId="{5C880042-0D9B-C64D-BAEB-D2EE0ABDA78E}">
      <dgm:prSet/>
      <dgm:spPr/>
      <dgm:t>
        <a:bodyPr/>
        <a:lstStyle/>
        <a:p>
          <a:endParaRPr lang="en-US"/>
        </a:p>
      </dgm:t>
    </dgm:pt>
    <dgm:pt modelId="{5B160CBB-0359-4149-BAE3-CCF9861B4EF7}" type="sibTrans" cxnId="{5C880042-0D9B-C64D-BAEB-D2EE0ABDA78E}">
      <dgm:prSet/>
      <dgm:spPr/>
      <dgm:t>
        <a:bodyPr/>
        <a:lstStyle/>
        <a:p>
          <a:endParaRPr lang="en-US"/>
        </a:p>
      </dgm:t>
    </dgm:pt>
    <dgm:pt modelId="{400952F7-120A-6C4A-87F5-EF1D0147F206}">
      <dgm:prSet custT="1"/>
      <dgm:spPr/>
      <dgm:t>
        <a:bodyPr/>
        <a:lstStyle/>
        <a:p>
          <a:r>
            <a:rPr lang="en-US" sz="1800" dirty="0">
              <a:solidFill>
                <a:schemeClr val="tx1"/>
              </a:solidFill>
            </a:rPr>
            <a:t>Secure mailing lists</a:t>
          </a:r>
        </a:p>
      </dgm:t>
    </dgm:pt>
    <dgm:pt modelId="{B14B8266-560D-8F49-B91E-031105334EF5}" type="parTrans" cxnId="{90FD117F-7210-D041-96D2-B45B0FA77A9D}">
      <dgm:prSet/>
      <dgm:spPr/>
      <dgm:t>
        <a:bodyPr/>
        <a:lstStyle/>
        <a:p>
          <a:endParaRPr lang="en-US"/>
        </a:p>
      </dgm:t>
    </dgm:pt>
    <dgm:pt modelId="{AACF4FB4-1408-F74D-838E-747BD3E11A82}" type="sibTrans" cxnId="{90FD117F-7210-D041-96D2-B45B0FA77A9D}">
      <dgm:prSet/>
      <dgm:spPr/>
      <dgm:t>
        <a:bodyPr/>
        <a:lstStyle/>
        <a:p>
          <a:endParaRPr lang="en-US"/>
        </a:p>
      </dgm:t>
    </dgm:pt>
    <dgm:pt modelId="{189A954F-8704-A04E-95AD-C6A5E2AB2BBE}">
      <dgm:prSet/>
      <dgm:spPr/>
      <dgm:t>
        <a:bodyPr/>
        <a:lstStyle/>
        <a:p>
          <a:r>
            <a:rPr lang="en-US" dirty="0">
              <a:solidFill>
                <a:schemeClr val="tx2">
                  <a:lumMod val="10000"/>
                </a:schemeClr>
              </a:solidFill>
            </a:rPr>
            <a:t>An S/MIME Mail List Agent (MLA) can take a single incoming message, perform the recipient-specific encryption for each recipient, and forward the message</a:t>
          </a:r>
        </a:p>
      </dgm:t>
    </dgm:pt>
    <dgm:pt modelId="{68EF0BB6-48AA-CB46-A0AB-1C199C2AE245}" type="parTrans" cxnId="{2D3790EF-3241-A444-AEAA-D562D91A4F35}">
      <dgm:prSet/>
      <dgm:spPr/>
      <dgm:t>
        <a:bodyPr/>
        <a:lstStyle/>
        <a:p>
          <a:endParaRPr lang="en-US"/>
        </a:p>
      </dgm:t>
    </dgm:pt>
    <dgm:pt modelId="{1171D884-5BD0-AE4C-8C78-3B4CB1CE6917}" type="sibTrans" cxnId="{2D3790EF-3241-A444-AEAA-D562D91A4F35}">
      <dgm:prSet/>
      <dgm:spPr/>
      <dgm:t>
        <a:bodyPr/>
        <a:lstStyle/>
        <a:p>
          <a:endParaRPr lang="en-US"/>
        </a:p>
      </dgm:t>
    </dgm:pt>
    <dgm:pt modelId="{1C07762B-0060-6147-B899-3BA2788AFC8C}" type="pres">
      <dgm:prSet presAssocID="{B6311768-E9C6-BF42-B59D-964439A09430}" presName="linear" presStyleCnt="0">
        <dgm:presLayoutVars>
          <dgm:dir/>
          <dgm:animLvl val="lvl"/>
          <dgm:resizeHandles val="exact"/>
        </dgm:presLayoutVars>
      </dgm:prSet>
      <dgm:spPr/>
    </dgm:pt>
    <dgm:pt modelId="{BD8E39C5-0FED-EC49-814D-B87CFACCFE25}" type="pres">
      <dgm:prSet presAssocID="{FB2DDDCB-C275-5649-AA0D-4095A8CD2387}" presName="parentLin" presStyleCnt="0"/>
      <dgm:spPr/>
    </dgm:pt>
    <dgm:pt modelId="{1A71102B-3617-6C48-AD38-E4852D3FA1F3}" type="pres">
      <dgm:prSet presAssocID="{FB2DDDCB-C275-5649-AA0D-4095A8CD2387}" presName="parentLeftMargin" presStyleLbl="node1" presStyleIdx="0" presStyleCnt="3"/>
      <dgm:spPr/>
    </dgm:pt>
    <dgm:pt modelId="{CF731F4C-77D3-D142-BDD1-9ED34204689E}" type="pres">
      <dgm:prSet presAssocID="{FB2DDDCB-C275-5649-AA0D-4095A8CD2387}" presName="parentText" presStyleLbl="node1" presStyleIdx="0" presStyleCnt="3">
        <dgm:presLayoutVars>
          <dgm:chMax val="0"/>
          <dgm:bulletEnabled val="1"/>
        </dgm:presLayoutVars>
      </dgm:prSet>
      <dgm:spPr/>
    </dgm:pt>
    <dgm:pt modelId="{7AD01479-F50D-EF4C-A3CF-EBFDDCBB85BB}" type="pres">
      <dgm:prSet presAssocID="{FB2DDDCB-C275-5649-AA0D-4095A8CD2387}" presName="negativeSpace" presStyleCnt="0"/>
      <dgm:spPr/>
    </dgm:pt>
    <dgm:pt modelId="{A183C4F8-81C0-D846-BE5D-EDFFC409EC64}" type="pres">
      <dgm:prSet presAssocID="{FB2DDDCB-C275-5649-AA0D-4095A8CD2387}" presName="childText" presStyleLbl="conFgAcc1" presStyleIdx="0" presStyleCnt="3">
        <dgm:presLayoutVars>
          <dgm:bulletEnabled val="1"/>
        </dgm:presLayoutVars>
      </dgm:prSet>
      <dgm:spPr/>
    </dgm:pt>
    <dgm:pt modelId="{2693AE78-CB2A-694E-BC3D-E783C4F702F1}" type="pres">
      <dgm:prSet presAssocID="{296359CE-084B-B34D-903E-055DA05017CE}" presName="spaceBetweenRectangles" presStyleCnt="0"/>
      <dgm:spPr/>
    </dgm:pt>
    <dgm:pt modelId="{94C90893-80E0-5B48-993D-B93490495DC4}" type="pres">
      <dgm:prSet presAssocID="{48CB71F9-4B99-BE43-82D0-C4DA8CDE9828}" presName="parentLin" presStyleCnt="0"/>
      <dgm:spPr/>
    </dgm:pt>
    <dgm:pt modelId="{A7EA29B1-D581-EB46-9828-6104F6F4F159}" type="pres">
      <dgm:prSet presAssocID="{48CB71F9-4B99-BE43-82D0-C4DA8CDE9828}" presName="parentLeftMargin" presStyleLbl="node1" presStyleIdx="0" presStyleCnt="3"/>
      <dgm:spPr/>
    </dgm:pt>
    <dgm:pt modelId="{440D7A47-3DC9-AF4D-8526-9309B96620C8}" type="pres">
      <dgm:prSet presAssocID="{48CB71F9-4B99-BE43-82D0-C4DA8CDE9828}" presName="parentText" presStyleLbl="node1" presStyleIdx="1" presStyleCnt="3">
        <dgm:presLayoutVars>
          <dgm:chMax val="0"/>
          <dgm:bulletEnabled val="1"/>
        </dgm:presLayoutVars>
      </dgm:prSet>
      <dgm:spPr/>
    </dgm:pt>
    <dgm:pt modelId="{D596D396-D57A-014A-AA6B-E1B15AE218F4}" type="pres">
      <dgm:prSet presAssocID="{48CB71F9-4B99-BE43-82D0-C4DA8CDE9828}" presName="negativeSpace" presStyleCnt="0"/>
      <dgm:spPr/>
    </dgm:pt>
    <dgm:pt modelId="{4F517E61-2533-FE4A-BA67-1CC6AD3AC480}" type="pres">
      <dgm:prSet presAssocID="{48CB71F9-4B99-BE43-82D0-C4DA8CDE9828}" presName="childText" presStyleLbl="conFgAcc1" presStyleIdx="1" presStyleCnt="3">
        <dgm:presLayoutVars>
          <dgm:bulletEnabled val="1"/>
        </dgm:presLayoutVars>
      </dgm:prSet>
      <dgm:spPr/>
    </dgm:pt>
    <dgm:pt modelId="{088CE0D8-42AE-BC46-BC07-B18742C8722C}" type="pres">
      <dgm:prSet presAssocID="{549E3400-B4B1-D64F-8C87-1B1AD5491688}" presName="spaceBetweenRectangles" presStyleCnt="0"/>
      <dgm:spPr/>
    </dgm:pt>
    <dgm:pt modelId="{E99E7293-3688-894C-A0D5-ACD37864AE3E}" type="pres">
      <dgm:prSet presAssocID="{400952F7-120A-6C4A-87F5-EF1D0147F206}" presName="parentLin" presStyleCnt="0"/>
      <dgm:spPr/>
    </dgm:pt>
    <dgm:pt modelId="{0F26033A-F4CD-DC49-91B9-0660F054D443}" type="pres">
      <dgm:prSet presAssocID="{400952F7-120A-6C4A-87F5-EF1D0147F206}" presName="parentLeftMargin" presStyleLbl="node1" presStyleIdx="1" presStyleCnt="3"/>
      <dgm:spPr/>
    </dgm:pt>
    <dgm:pt modelId="{D7982033-E83B-AF4C-B8A7-0165CA0EE79C}" type="pres">
      <dgm:prSet presAssocID="{400952F7-120A-6C4A-87F5-EF1D0147F206}" presName="parentText" presStyleLbl="node1" presStyleIdx="2" presStyleCnt="3">
        <dgm:presLayoutVars>
          <dgm:chMax val="0"/>
          <dgm:bulletEnabled val="1"/>
        </dgm:presLayoutVars>
      </dgm:prSet>
      <dgm:spPr/>
    </dgm:pt>
    <dgm:pt modelId="{8F39BA45-73A7-8E4B-8693-7024F2D339EC}" type="pres">
      <dgm:prSet presAssocID="{400952F7-120A-6C4A-87F5-EF1D0147F206}" presName="negativeSpace" presStyleCnt="0"/>
      <dgm:spPr/>
    </dgm:pt>
    <dgm:pt modelId="{B08D884C-5619-A643-806F-8D8899537C02}" type="pres">
      <dgm:prSet presAssocID="{400952F7-120A-6C4A-87F5-EF1D0147F206}" presName="childText" presStyleLbl="conFgAcc1" presStyleIdx="2" presStyleCnt="3">
        <dgm:presLayoutVars>
          <dgm:bulletEnabled val="1"/>
        </dgm:presLayoutVars>
      </dgm:prSet>
      <dgm:spPr/>
    </dgm:pt>
  </dgm:ptLst>
  <dgm:cxnLst>
    <dgm:cxn modelId="{18CE4E01-BD62-DD46-81FC-75EBDEBDF5A9}" type="presOf" srcId="{189A954F-8704-A04E-95AD-C6A5E2AB2BBE}" destId="{B08D884C-5619-A643-806F-8D8899537C02}" srcOrd="0" destOrd="0" presId="urn:microsoft.com/office/officeart/2005/8/layout/list1"/>
    <dgm:cxn modelId="{4AD81305-6437-3C49-ACCC-D42BA2D46F01}" type="presOf" srcId="{23936B56-7237-F24E-99C4-1E04E5B2976E}" destId="{A183C4F8-81C0-D846-BE5D-EDFFC409EC64}" srcOrd="0" destOrd="0" presId="urn:microsoft.com/office/officeart/2005/8/layout/list1"/>
    <dgm:cxn modelId="{71D4FE05-E1B4-CF4F-8C5C-094C620462F5}" srcId="{B6311768-E9C6-BF42-B59D-964439A09430}" destId="{FB2DDDCB-C275-5649-AA0D-4095A8CD2387}" srcOrd="0" destOrd="0" parTransId="{534C09B1-D72F-C745-8751-7EEB315302FC}" sibTransId="{296359CE-084B-B34D-903E-055DA05017CE}"/>
    <dgm:cxn modelId="{B30B210F-74FA-B542-81E4-AE8ABF57BF6B}" type="presOf" srcId="{B6311768-E9C6-BF42-B59D-964439A09430}" destId="{1C07762B-0060-6147-B899-3BA2788AFC8C}" srcOrd="0" destOrd="0" presId="urn:microsoft.com/office/officeart/2005/8/layout/list1"/>
    <dgm:cxn modelId="{78356F33-AD53-434E-B042-C0E7EF73659D}" type="presOf" srcId="{FB2DDDCB-C275-5649-AA0D-4095A8CD2387}" destId="{CF731F4C-77D3-D142-BDD1-9ED34204689E}" srcOrd="1" destOrd="0" presId="urn:microsoft.com/office/officeart/2005/8/layout/list1"/>
    <dgm:cxn modelId="{2F2C1D35-835D-8D46-9631-F2D1BD2300E2}" type="presOf" srcId="{400952F7-120A-6C4A-87F5-EF1D0147F206}" destId="{0F26033A-F4CD-DC49-91B9-0660F054D443}" srcOrd="0" destOrd="0" presId="urn:microsoft.com/office/officeart/2005/8/layout/list1"/>
    <dgm:cxn modelId="{83B20C36-597C-074E-B694-E1B5E093BD6B}" type="presOf" srcId="{48CB71F9-4B99-BE43-82D0-C4DA8CDE9828}" destId="{440D7A47-3DC9-AF4D-8526-9309B96620C8}" srcOrd="1" destOrd="0" presId="urn:microsoft.com/office/officeart/2005/8/layout/list1"/>
    <dgm:cxn modelId="{5C880042-0D9B-C64D-BAEB-D2EE0ABDA78E}" srcId="{48CB71F9-4B99-BE43-82D0-C4DA8CDE9828}" destId="{7BC12425-659A-234F-8A2F-05DF798E916C}" srcOrd="0" destOrd="0" parTransId="{4A220C7F-D2F5-BF4A-B3D5-8B4750D96A31}" sibTransId="{5B160CBB-0359-4149-BAE3-CCF9861B4EF7}"/>
    <dgm:cxn modelId="{90FD117F-7210-D041-96D2-B45B0FA77A9D}" srcId="{B6311768-E9C6-BF42-B59D-964439A09430}" destId="{400952F7-120A-6C4A-87F5-EF1D0147F206}" srcOrd="2" destOrd="0" parTransId="{B14B8266-560D-8F49-B91E-031105334EF5}" sibTransId="{AACF4FB4-1408-F74D-838E-747BD3E11A82}"/>
    <dgm:cxn modelId="{08F8EC7F-6D36-9D4D-B173-31C59B93EB57}" srcId="{B6311768-E9C6-BF42-B59D-964439A09430}" destId="{48CB71F9-4B99-BE43-82D0-C4DA8CDE9828}" srcOrd="1" destOrd="0" parTransId="{594586EB-7967-1646-8D34-4A7D94F73FCC}" sibTransId="{549E3400-B4B1-D64F-8C87-1B1AD5491688}"/>
    <dgm:cxn modelId="{10C5808D-36EE-3D4A-8E00-A4AE681F996C}" type="presOf" srcId="{48CB71F9-4B99-BE43-82D0-C4DA8CDE9828}" destId="{A7EA29B1-D581-EB46-9828-6104F6F4F159}" srcOrd="0" destOrd="0" presId="urn:microsoft.com/office/officeart/2005/8/layout/list1"/>
    <dgm:cxn modelId="{E94CAEAB-EF94-D34A-A98A-1E06CB5451D8}" srcId="{FB2DDDCB-C275-5649-AA0D-4095A8CD2387}" destId="{23936B56-7237-F24E-99C4-1E04E5B2976E}" srcOrd="0" destOrd="0" parTransId="{39CF417C-CE49-6E42-9D2F-D7CF5F01A679}" sibTransId="{D69A960C-327C-8E44-BB3C-1E6BB439C517}"/>
    <dgm:cxn modelId="{0CCA15B6-008C-C043-AED4-B00C8068D7CB}" type="presOf" srcId="{400952F7-120A-6C4A-87F5-EF1D0147F206}" destId="{D7982033-E83B-AF4C-B8A7-0165CA0EE79C}" srcOrd="1" destOrd="0" presId="urn:microsoft.com/office/officeart/2005/8/layout/list1"/>
    <dgm:cxn modelId="{D83FC3C1-9E1A-F941-8AD7-3B6B41C69492}" type="presOf" srcId="{FB2DDDCB-C275-5649-AA0D-4095A8CD2387}" destId="{1A71102B-3617-6C48-AD38-E4852D3FA1F3}" srcOrd="0" destOrd="0" presId="urn:microsoft.com/office/officeart/2005/8/layout/list1"/>
    <dgm:cxn modelId="{54BB91E5-5668-DC45-9C4E-F16B6A43392E}" type="presOf" srcId="{7BC12425-659A-234F-8A2F-05DF798E916C}" destId="{4F517E61-2533-FE4A-BA67-1CC6AD3AC480}" srcOrd="0" destOrd="0" presId="urn:microsoft.com/office/officeart/2005/8/layout/list1"/>
    <dgm:cxn modelId="{2D3790EF-3241-A444-AEAA-D562D91A4F35}" srcId="{400952F7-120A-6C4A-87F5-EF1D0147F206}" destId="{189A954F-8704-A04E-95AD-C6A5E2AB2BBE}" srcOrd="0" destOrd="0" parTransId="{68EF0BB6-48AA-CB46-A0AB-1C199C2AE245}" sibTransId="{1171D884-5BD0-AE4C-8C78-3B4CB1CE6917}"/>
    <dgm:cxn modelId="{18DFB01E-9C63-BD4C-9D08-3877DA570B86}" type="presParOf" srcId="{1C07762B-0060-6147-B899-3BA2788AFC8C}" destId="{BD8E39C5-0FED-EC49-814D-B87CFACCFE25}" srcOrd="0" destOrd="0" presId="urn:microsoft.com/office/officeart/2005/8/layout/list1"/>
    <dgm:cxn modelId="{E317420B-B24E-E54B-B4AC-4A0B26EB7BA9}" type="presParOf" srcId="{BD8E39C5-0FED-EC49-814D-B87CFACCFE25}" destId="{1A71102B-3617-6C48-AD38-E4852D3FA1F3}" srcOrd="0" destOrd="0" presId="urn:microsoft.com/office/officeart/2005/8/layout/list1"/>
    <dgm:cxn modelId="{8A770A46-C47C-3C44-A505-1D6B52CBBBD3}" type="presParOf" srcId="{BD8E39C5-0FED-EC49-814D-B87CFACCFE25}" destId="{CF731F4C-77D3-D142-BDD1-9ED34204689E}" srcOrd="1" destOrd="0" presId="urn:microsoft.com/office/officeart/2005/8/layout/list1"/>
    <dgm:cxn modelId="{3695853D-270C-404D-9EAC-088B93A64D14}" type="presParOf" srcId="{1C07762B-0060-6147-B899-3BA2788AFC8C}" destId="{7AD01479-F50D-EF4C-A3CF-EBFDDCBB85BB}" srcOrd="1" destOrd="0" presId="urn:microsoft.com/office/officeart/2005/8/layout/list1"/>
    <dgm:cxn modelId="{79442B04-C4CB-5D44-AD5F-D3999E196517}" type="presParOf" srcId="{1C07762B-0060-6147-B899-3BA2788AFC8C}" destId="{A183C4F8-81C0-D846-BE5D-EDFFC409EC64}" srcOrd="2" destOrd="0" presId="urn:microsoft.com/office/officeart/2005/8/layout/list1"/>
    <dgm:cxn modelId="{2FDE7501-3872-374A-A61E-61456336ACBF}" type="presParOf" srcId="{1C07762B-0060-6147-B899-3BA2788AFC8C}" destId="{2693AE78-CB2A-694E-BC3D-E783C4F702F1}" srcOrd="3" destOrd="0" presId="urn:microsoft.com/office/officeart/2005/8/layout/list1"/>
    <dgm:cxn modelId="{D2AF094B-976B-804B-9557-5EBFD77D5D46}" type="presParOf" srcId="{1C07762B-0060-6147-B899-3BA2788AFC8C}" destId="{94C90893-80E0-5B48-993D-B93490495DC4}" srcOrd="4" destOrd="0" presId="urn:microsoft.com/office/officeart/2005/8/layout/list1"/>
    <dgm:cxn modelId="{2B73F542-6800-124E-B5C2-6DDA99426BB3}" type="presParOf" srcId="{94C90893-80E0-5B48-993D-B93490495DC4}" destId="{A7EA29B1-D581-EB46-9828-6104F6F4F159}" srcOrd="0" destOrd="0" presId="urn:microsoft.com/office/officeart/2005/8/layout/list1"/>
    <dgm:cxn modelId="{C15A3B4E-54F9-4A4A-941D-BD39F7132FBD}" type="presParOf" srcId="{94C90893-80E0-5B48-993D-B93490495DC4}" destId="{440D7A47-3DC9-AF4D-8526-9309B96620C8}" srcOrd="1" destOrd="0" presId="urn:microsoft.com/office/officeart/2005/8/layout/list1"/>
    <dgm:cxn modelId="{4553A4CD-52C2-A641-86B0-8156918F8206}" type="presParOf" srcId="{1C07762B-0060-6147-B899-3BA2788AFC8C}" destId="{D596D396-D57A-014A-AA6B-E1B15AE218F4}" srcOrd="5" destOrd="0" presId="urn:microsoft.com/office/officeart/2005/8/layout/list1"/>
    <dgm:cxn modelId="{9356D4A2-68E0-C848-BD20-2FD3D1DD2E2C}" type="presParOf" srcId="{1C07762B-0060-6147-B899-3BA2788AFC8C}" destId="{4F517E61-2533-FE4A-BA67-1CC6AD3AC480}" srcOrd="6" destOrd="0" presId="urn:microsoft.com/office/officeart/2005/8/layout/list1"/>
    <dgm:cxn modelId="{209A0071-E466-1F4F-B1A4-EC96297FB805}" type="presParOf" srcId="{1C07762B-0060-6147-B899-3BA2788AFC8C}" destId="{088CE0D8-42AE-BC46-BC07-B18742C8722C}" srcOrd="7" destOrd="0" presId="urn:microsoft.com/office/officeart/2005/8/layout/list1"/>
    <dgm:cxn modelId="{36FD929D-0528-1F45-A7BE-7501245A2C1F}" type="presParOf" srcId="{1C07762B-0060-6147-B899-3BA2788AFC8C}" destId="{E99E7293-3688-894C-A0D5-ACD37864AE3E}" srcOrd="8" destOrd="0" presId="urn:microsoft.com/office/officeart/2005/8/layout/list1"/>
    <dgm:cxn modelId="{09DC4BEA-93C7-6F4B-877D-3D50639595DF}" type="presParOf" srcId="{E99E7293-3688-894C-A0D5-ACD37864AE3E}" destId="{0F26033A-F4CD-DC49-91B9-0660F054D443}" srcOrd="0" destOrd="0" presId="urn:microsoft.com/office/officeart/2005/8/layout/list1"/>
    <dgm:cxn modelId="{7E19AE5F-582C-004A-9F1A-07ACEAA7A450}" type="presParOf" srcId="{E99E7293-3688-894C-A0D5-ACD37864AE3E}" destId="{D7982033-E83B-AF4C-B8A7-0165CA0EE79C}" srcOrd="1" destOrd="0" presId="urn:microsoft.com/office/officeart/2005/8/layout/list1"/>
    <dgm:cxn modelId="{C788A0AB-D843-B74E-BC48-3BBCC081804C}" type="presParOf" srcId="{1C07762B-0060-6147-B899-3BA2788AFC8C}" destId="{8F39BA45-73A7-8E4B-8693-7024F2D339EC}" srcOrd="9" destOrd="0" presId="urn:microsoft.com/office/officeart/2005/8/layout/list1"/>
    <dgm:cxn modelId="{3A4C1DCF-6A5F-5748-8954-A58685AC7259}" type="presParOf" srcId="{1C07762B-0060-6147-B899-3BA2788AFC8C}" destId="{B08D884C-5619-A643-806F-8D8899537C02}"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6C8C9CF-B679-8644-9FB3-0D1FAA70B24A}" type="doc">
      <dgm:prSet loTypeId="urn:microsoft.com/office/officeart/2005/8/layout/pyramid2" loCatId="pyramid" qsTypeId="urn:microsoft.com/office/officeart/2005/8/quickstyle/simple4" qsCatId="simple" csTypeId="urn:microsoft.com/office/officeart/2005/8/colors/accent1_2" csCatId="accent1" phldr="1"/>
      <dgm:spPr/>
    </dgm:pt>
    <dgm:pt modelId="{9CC1D4D6-FA0A-2246-9F7C-12687112C3F6}">
      <dgm:prSet phldrT="[Text]" custT="1"/>
      <dgm:spPr>
        <a:ln>
          <a:solidFill>
            <a:schemeClr val="bg2"/>
          </a:solidFill>
        </a:ln>
        <a:effectLst/>
      </dgm:spPr>
      <dgm:t>
        <a:bodyPr/>
        <a:lstStyle/>
        <a:p>
          <a:r>
            <a:rPr lang="en-US" sz="1200" dirty="0"/>
            <a:t>At the low end are attackers who simply want to send e-mail that a recipient does not want to receive</a:t>
          </a:r>
        </a:p>
      </dgm:t>
    </dgm:pt>
    <dgm:pt modelId="{C6A2A740-76DF-3841-95CD-B01CBC33EEC0}" type="parTrans" cxnId="{64E95A8E-1F8E-754D-A260-FA5152E1DE39}">
      <dgm:prSet/>
      <dgm:spPr/>
      <dgm:t>
        <a:bodyPr/>
        <a:lstStyle/>
        <a:p>
          <a:endParaRPr lang="en-US"/>
        </a:p>
      </dgm:t>
    </dgm:pt>
    <dgm:pt modelId="{8000220D-BA08-FE46-BFC1-1B4819864BD2}" type="sibTrans" cxnId="{64E95A8E-1F8E-754D-A260-FA5152E1DE39}">
      <dgm:prSet/>
      <dgm:spPr/>
      <dgm:t>
        <a:bodyPr/>
        <a:lstStyle/>
        <a:p>
          <a:endParaRPr lang="en-US"/>
        </a:p>
      </dgm:t>
    </dgm:pt>
    <dgm:pt modelId="{BD05AFBD-277B-AD48-8919-A351EE84BF44}">
      <dgm:prSet custT="1"/>
      <dgm:spPr>
        <a:ln>
          <a:solidFill>
            <a:schemeClr val="bg2"/>
          </a:solidFill>
        </a:ln>
        <a:effectLst/>
      </dgm:spPr>
      <dgm:t>
        <a:bodyPr/>
        <a:lstStyle/>
        <a:p>
          <a:r>
            <a:rPr lang="en-US" sz="1200" dirty="0"/>
            <a:t>The next level are professional senders of bulk spam mail and often operate as commercial enterprises and send messages on behalf of third parties</a:t>
          </a:r>
        </a:p>
      </dgm:t>
    </dgm:pt>
    <dgm:pt modelId="{E4982A27-160A-EF41-951C-7E86826E15E1}" type="parTrans" cxnId="{B6014E6B-1744-7B49-9CC3-F4EA17AFA317}">
      <dgm:prSet/>
      <dgm:spPr/>
      <dgm:t>
        <a:bodyPr/>
        <a:lstStyle/>
        <a:p>
          <a:endParaRPr lang="en-US"/>
        </a:p>
      </dgm:t>
    </dgm:pt>
    <dgm:pt modelId="{E720A009-736D-EF4C-A0CA-635EB75F0A02}" type="sibTrans" cxnId="{B6014E6B-1744-7B49-9CC3-F4EA17AFA317}">
      <dgm:prSet/>
      <dgm:spPr/>
      <dgm:t>
        <a:bodyPr/>
        <a:lstStyle/>
        <a:p>
          <a:endParaRPr lang="en-US"/>
        </a:p>
      </dgm:t>
    </dgm:pt>
    <dgm:pt modelId="{9425AC48-3163-E04D-AA90-1EC59A734E08}">
      <dgm:prSet custT="1"/>
      <dgm:spPr>
        <a:ln>
          <a:solidFill>
            <a:schemeClr val="bg2"/>
          </a:solidFill>
        </a:ln>
        <a:effectLst/>
      </dgm:spPr>
      <dgm:t>
        <a:bodyPr/>
        <a:lstStyle/>
        <a:p>
          <a:r>
            <a:rPr lang="en-US" sz="1200" b="0" i="0" dirty="0"/>
            <a:t>The most sophisticated and financially motivated senders of messages are those who stand to receive substantial financial benefit, such as from an e-mail based fraud scheme</a:t>
          </a:r>
        </a:p>
      </dgm:t>
    </dgm:pt>
    <dgm:pt modelId="{33C87EDF-B700-3A41-B3E3-BF6A2EABF370}" type="parTrans" cxnId="{AA78436C-BEC2-5D4E-BB35-88EBD1FC8CEC}">
      <dgm:prSet/>
      <dgm:spPr/>
      <dgm:t>
        <a:bodyPr/>
        <a:lstStyle/>
        <a:p>
          <a:endParaRPr lang="en-US"/>
        </a:p>
      </dgm:t>
    </dgm:pt>
    <dgm:pt modelId="{EE71451B-BAD8-0748-9A7D-20BB5E374FDE}" type="sibTrans" cxnId="{AA78436C-BEC2-5D4E-BB35-88EBD1FC8CEC}">
      <dgm:prSet/>
      <dgm:spPr/>
      <dgm:t>
        <a:bodyPr/>
        <a:lstStyle/>
        <a:p>
          <a:endParaRPr lang="en-US"/>
        </a:p>
      </dgm:t>
    </dgm:pt>
    <dgm:pt modelId="{67E49920-C144-F04D-8103-3BDAE951159D}" type="pres">
      <dgm:prSet presAssocID="{D6C8C9CF-B679-8644-9FB3-0D1FAA70B24A}" presName="compositeShape" presStyleCnt="0">
        <dgm:presLayoutVars>
          <dgm:dir/>
          <dgm:resizeHandles/>
        </dgm:presLayoutVars>
      </dgm:prSet>
      <dgm:spPr/>
    </dgm:pt>
    <dgm:pt modelId="{71AFBD50-8486-754D-A169-DE944DDE6132}" type="pres">
      <dgm:prSet presAssocID="{D6C8C9CF-B679-8644-9FB3-0D1FAA70B24A}" presName="pyramid" presStyleLbl="node1" presStyleIdx="0" presStyleCnt="1"/>
      <dgm:spPr/>
    </dgm:pt>
    <dgm:pt modelId="{C135134D-D8DB-8E4B-AC86-4B535C84FA2A}" type="pres">
      <dgm:prSet presAssocID="{D6C8C9CF-B679-8644-9FB3-0D1FAA70B24A}" presName="theList" presStyleCnt="0"/>
      <dgm:spPr/>
    </dgm:pt>
    <dgm:pt modelId="{125C339E-4F11-1B46-BE35-E3E1A805B6F5}" type="pres">
      <dgm:prSet presAssocID="{9CC1D4D6-FA0A-2246-9F7C-12687112C3F6}" presName="aNode" presStyleLbl="fgAcc1" presStyleIdx="0" presStyleCnt="3" custLinFactY="227487" custLinFactNeighborX="-49279" custLinFactNeighborY="300000">
        <dgm:presLayoutVars>
          <dgm:bulletEnabled val="1"/>
        </dgm:presLayoutVars>
      </dgm:prSet>
      <dgm:spPr/>
    </dgm:pt>
    <dgm:pt modelId="{652F225B-26C0-484E-BBC6-F08100347409}" type="pres">
      <dgm:prSet presAssocID="{9CC1D4D6-FA0A-2246-9F7C-12687112C3F6}" presName="aSpace" presStyleCnt="0"/>
      <dgm:spPr/>
    </dgm:pt>
    <dgm:pt modelId="{55495424-309A-C641-9EE7-3186D954936C}" type="pres">
      <dgm:prSet presAssocID="{BD05AFBD-277B-AD48-8919-A351EE84BF44}" presName="aNode" presStyleLbl="fgAcc1" presStyleIdx="1" presStyleCnt="3" custLinFactY="12504" custLinFactNeighborX="-49279" custLinFactNeighborY="100000">
        <dgm:presLayoutVars>
          <dgm:bulletEnabled val="1"/>
        </dgm:presLayoutVars>
      </dgm:prSet>
      <dgm:spPr/>
    </dgm:pt>
    <dgm:pt modelId="{DE11AE31-EDD1-EA4C-B0B2-A5E348461C20}" type="pres">
      <dgm:prSet presAssocID="{BD05AFBD-277B-AD48-8919-A351EE84BF44}" presName="aSpace" presStyleCnt="0"/>
      <dgm:spPr/>
    </dgm:pt>
    <dgm:pt modelId="{27B93BF8-083B-4A4C-B716-EB033E916BB9}" type="pres">
      <dgm:prSet presAssocID="{9425AC48-3163-E04D-AA90-1EC59A734E08}" presName="aNode" presStyleLbl="fgAcc1" presStyleIdx="2" presStyleCnt="3" custLinFactY="-197477" custLinFactNeighborX="-46514" custLinFactNeighborY="-200000">
        <dgm:presLayoutVars>
          <dgm:bulletEnabled val="1"/>
        </dgm:presLayoutVars>
      </dgm:prSet>
      <dgm:spPr/>
    </dgm:pt>
    <dgm:pt modelId="{E46491A7-DA0E-BA4B-99BF-43A705101C5A}" type="pres">
      <dgm:prSet presAssocID="{9425AC48-3163-E04D-AA90-1EC59A734E08}" presName="aSpace" presStyleCnt="0"/>
      <dgm:spPr/>
    </dgm:pt>
  </dgm:ptLst>
  <dgm:cxnLst>
    <dgm:cxn modelId="{05A7462D-2FBF-5C46-A65B-054D773E8864}" type="presOf" srcId="{D6C8C9CF-B679-8644-9FB3-0D1FAA70B24A}" destId="{67E49920-C144-F04D-8103-3BDAE951159D}" srcOrd="0" destOrd="0" presId="urn:microsoft.com/office/officeart/2005/8/layout/pyramid2"/>
    <dgm:cxn modelId="{1EE04334-B3EB-F04D-942B-EA1199456816}" type="presOf" srcId="{9425AC48-3163-E04D-AA90-1EC59A734E08}" destId="{27B93BF8-083B-4A4C-B716-EB033E916BB9}" srcOrd="0" destOrd="0" presId="urn:microsoft.com/office/officeart/2005/8/layout/pyramid2"/>
    <dgm:cxn modelId="{57B2C042-B3D4-6040-A1A5-F9BCFD482C31}" type="presOf" srcId="{9CC1D4D6-FA0A-2246-9F7C-12687112C3F6}" destId="{125C339E-4F11-1B46-BE35-E3E1A805B6F5}" srcOrd="0" destOrd="0" presId="urn:microsoft.com/office/officeart/2005/8/layout/pyramid2"/>
    <dgm:cxn modelId="{B6014E6B-1744-7B49-9CC3-F4EA17AFA317}" srcId="{D6C8C9CF-B679-8644-9FB3-0D1FAA70B24A}" destId="{BD05AFBD-277B-AD48-8919-A351EE84BF44}" srcOrd="1" destOrd="0" parTransId="{E4982A27-160A-EF41-951C-7E86826E15E1}" sibTransId="{E720A009-736D-EF4C-A0CA-635EB75F0A02}"/>
    <dgm:cxn modelId="{AA78436C-BEC2-5D4E-BB35-88EBD1FC8CEC}" srcId="{D6C8C9CF-B679-8644-9FB3-0D1FAA70B24A}" destId="{9425AC48-3163-E04D-AA90-1EC59A734E08}" srcOrd="2" destOrd="0" parTransId="{33C87EDF-B700-3A41-B3E3-BF6A2EABF370}" sibTransId="{EE71451B-BAD8-0748-9A7D-20BB5E374FDE}"/>
    <dgm:cxn modelId="{6FCD8270-A7D7-B545-9517-5801C9C3FDCD}" type="presOf" srcId="{BD05AFBD-277B-AD48-8919-A351EE84BF44}" destId="{55495424-309A-C641-9EE7-3186D954936C}" srcOrd="0" destOrd="0" presId="urn:microsoft.com/office/officeart/2005/8/layout/pyramid2"/>
    <dgm:cxn modelId="{64E95A8E-1F8E-754D-A260-FA5152E1DE39}" srcId="{D6C8C9CF-B679-8644-9FB3-0D1FAA70B24A}" destId="{9CC1D4D6-FA0A-2246-9F7C-12687112C3F6}" srcOrd="0" destOrd="0" parTransId="{C6A2A740-76DF-3841-95CD-B01CBC33EEC0}" sibTransId="{8000220D-BA08-FE46-BFC1-1B4819864BD2}"/>
    <dgm:cxn modelId="{90BA1E5A-B705-1142-990A-336FBE234215}" type="presParOf" srcId="{67E49920-C144-F04D-8103-3BDAE951159D}" destId="{71AFBD50-8486-754D-A169-DE944DDE6132}" srcOrd="0" destOrd="0" presId="urn:microsoft.com/office/officeart/2005/8/layout/pyramid2"/>
    <dgm:cxn modelId="{C6808BC2-7543-934B-8826-B0D744084770}" type="presParOf" srcId="{67E49920-C144-F04D-8103-3BDAE951159D}" destId="{C135134D-D8DB-8E4B-AC86-4B535C84FA2A}" srcOrd="1" destOrd="0" presId="urn:microsoft.com/office/officeart/2005/8/layout/pyramid2"/>
    <dgm:cxn modelId="{DE5D8D7E-B0D0-8343-8D56-A66827C3B2B4}" type="presParOf" srcId="{C135134D-D8DB-8E4B-AC86-4B535C84FA2A}" destId="{125C339E-4F11-1B46-BE35-E3E1A805B6F5}" srcOrd="0" destOrd="0" presId="urn:microsoft.com/office/officeart/2005/8/layout/pyramid2"/>
    <dgm:cxn modelId="{45AE60CE-AC7C-6842-A68E-2E9A4436354F}" type="presParOf" srcId="{C135134D-D8DB-8E4B-AC86-4B535C84FA2A}" destId="{652F225B-26C0-484E-BBC6-F08100347409}" srcOrd="1" destOrd="0" presId="urn:microsoft.com/office/officeart/2005/8/layout/pyramid2"/>
    <dgm:cxn modelId="{683FF103-B75B-9840-AE51-0AE10F47B04E}" type="presParOf" srcId="{C135134D-D8DB-8E4B-AC86-4B535C84FA2A}" destId="{55495424-309A-C641-9EE7-3186D954936C}" srcOrd="2" destOrd="0" presId="urn:microsoft.com/office/officeart/2005/8/layout/pyramid2"/>
    <dgm:cxn modelId="{F7F08C80-DBDD-5648-B953-989C172EB579}" type="presParOf" srcId="{C135134D-D8DB-8E4B-AC86-4B535C84FA2A}" destId="{DE11AE31-EDD1-EA4C-B0B2-A5E348461C20}" srcOrd="3" destOrd="0" presId="urn:microsoft.com/office/officeart/2005/8/layout/pyramid2"/>
    <dgm:cxn modelId="{83CAF178-E65A-9E4F-9DEF-F34BC642FEAD}" type="presParOf" srcId="{C135134D-D8DB-8E4B-AC86-4B535C84FA2A}" destId="{27B93BF8-083B-4A4C-B716-EB033E916BB9}" srcOrd="4" destOrd="0" presId="urn:microsoft.com/office/officeart/2005/8/layout/pyramid2"/>
    <dgm:cxn modelId="{3B8A41AD-2734-3B46-94D8-627B0356B42B}" type="presParOf" srcId="{C135134D-D8DB-8E4B-AC86-4B535C84FA2A}" destId="{E46491A7-DA0E-BA4B-99BF-43A705101C5A}" srcOrd="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1ECB6D-A646-8F4A-94F4-2A625645C025}">
      <dsp:nvSpPr>
        <dsp:cNvPr id="0" name=""/>
        <dsp:cNvSpPr/>
      </dsp:nvSpPr>
      <dsp:spPr>
        <a:xfrm>
          <a:off x="0" y="38524"/>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It is available free worldwide in versions that run on a variety of platforms</a:t>
          </a:r>
        </a:p>
      </dsp:txBody>
      <dsp:txXfrm>
        <a:off x="32345" y="70869"/>
        <a:ext cx="7518797" cy="597895"/>
      </dsp:txXfrm>
    </dsp:sp>
    <dsp:sp modelId="{9047F29C-ED91-4844-B37C-A7D79FAC48E5}">
      <dsp:nvSpPr>
        <dsp:cNvPr id="0" name=""/>
        <dsp:cNvSpPr/>
      </dsp:nvSpPr>
      <dsp:spPr>
        <a:xfrm>
          <a:off x="0" y="750070"/>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The commercial version satisfies users who want a product that comes with vendor support</a:t>
          </a:r>
        </a:p>
      </dsp:txBody>
      <dsp:txXfrm>
        <a:off x="32345" y="782415"/>
        <a:ext cx="7518797" cy="597895"/>
      </dsp:txXfrm>
    </dsp:sp>
    <dsp:sp modelId="{50626430-EBC0-2D49-9D99-5DEE880C586D}">
      <dsp:nvSpPr>
        <dsp:cNvPr id="0" name=""/>
        <dsp:cNvSpPr/>
      </dsp:nvSpPr>
      <dsp:spPr>
        <a:xfrm>
          <a:off x="0" y="1461615"/>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It is based on algorithms that have survived extensive public review and are considered extremely secure</a:t>
          </a:r>
        </a:p>
      </dsp:txBody>
      <dsp:txXfrm>
        <a:off x="32345" y="1493960"/>
        <a:ext cx="7518797" cy="597895"/>
      </dsp:txXfrm>
    </dsp:sp>
    <dsp:sp modelId="{B223FE5A-4A65-9740-B97C-9E474E7AEA2F}">
      <dsp:nvSpPr>
        <dsp:cNvPr id="0" name=""/>
        <dsp:cNvSpPr/>
      </dsp:nvSpPr>
      <dsp:spPr>
        <a:xfrm>
          <a:off x="0" y="2173161"/>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It has a wide range of applicability</a:t>
          </a:r>
        </a:p>
      </dsp:txBody>
      <dsp:txXfrm>
        <a:off x="32345" y="2205506"/>
        <a:ext cx="7518797" cy="597895"/>
      </dsp:txXfrm>
    </dsp:sp>
    <dsp:sp modelId="{FF4ABC8F-C24D-2B43-B809-E05BFF717D35}">
      <dsp:nvSpPr>
        <dsp:cNvPr id="0" name=""/>
        <dsp:cNvSpPr/>
      </dsp:nvSpPr>
      <dsp:spPr>
        <a:xfrm>
          <a:off x="0" y="2884707"/>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It was not developed by, nor is it controlled by, any governmental or standards organization</a:t>
          </a:r>
        </a:p>
      </dsp:txBody>
      <dsp:txXfrm>
        <a:off x="32345" y="2917052"/>
        <a:ext cx="7518797" cy="597895"/>
      </dsp:txXfrm>
    </dsp:sp>
    <dsp:sp modelId="{A4340635-66BD-B040-908E-9A8FE9FCC751}">
      <dsp:nvSpPr>
        <dsp:cNvPr id="0" name=""/>
        <dsp:cNvSpPr/>
      </dsp:nvSpPr>
      <dsp:spPr>
        <a:xfrm>
          <a:off x="0" y="3596252"/>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Is now on an Internet standards track, however it still has an aura of an antiestablishment endeavor</a:t>
          </a:r>
        </a:p>
      </dsp:txBody>
      <dsp:txXfrm>
        <a:off x="32345" y="3628597"/>
        <a:ext cx="7518797" cy="5978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8256E5-E179-9241-BC04-07BA137D65BE}">
      <dsp:nvSpPr>
        <dsp:cNvPr id="0" name=""/>
        <dsp:cNvSpPr/>
      </dsp:nvSpPr>
      <dsp:spPr>
        <a:xfrm>
          <a:off x="0" y="152569"/>
          <a:ext cx="6553200" cy="518400"/>
        </a:xfrm>
        <a:prstGeom prst="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w="12700" cap="flat" cmpd="sng" algn="ctr">
          <a:solidFill>
            <a:schemeClr val="bg2"/>
          </a:solidFill>
          <a:prstDash val="solid"/>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cs typeface="ＭＳ Ｐゴシック" pitchFamily="-84" charset="-128"/>
            </a:rPr>
            <a:t>In PGP each symmetric key is used </a:t>
          </a:r>
          <a:r>
            <a:rPr lang="en-US" sz="1800" kern="1200" dirty="0">
              <a:solidFill>
                <a:srgbClr val="FFFF00"/>
              </a:solidFill>
              <a:cs typeface="ＭＳ Ｐゴシック" pitchFamily="-84" charset="-128"/>
            </a:rPr>
            <a:t>only once</a:t>
          </a:r>
          <a:endParaRPr lang="en-US" sz="1800" kern="1200" dirty="0">
            <a:solidFill>
              <a:srgbClr val="FFFF00"/>
            </a:solidFill>
          </a:endParaRPr>
        </a:p>
      </dsp:txBody>
      <dsp:txXfrm>
        <a:off x="0" y="152569"/>
        <a:ext cx="6553200" cy="518400"/>
      </dsp:txXfrm>
    </dsp:sp>
    <dsp:sp modelId="{CC5D343A-809E-C44E-B9C9-265EA6228B72}">
      <dsp:nvSpPr>
        <dsp:cNvPr id="0" name=""/>
        <dsp:cNvSpPr/>
      </dsp:nvSpPr>
      <dsp:spPr>
        <a:xfrm>
          <a:off x="0" y="670969"/>
          <a:ext cx="6553200" cy="1284660"/>
        </a:xfrm>
        <a:prstGeom prst="rect">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chemeClr val="tx2">
                  <a:lumMod val="10000"/>
                </a:schemeClr>
              </a:solidFill>
            </a:rPr>
            <a:t>Although referred to as a session key, it is in reality a one-time key</a:t>
          </a:r>
        </a:p>
        <a:p>
          <a:pPr marL="171450" lvl="1" indent="-171450" algn="l" defTabSz="800100">
            <a:lnSpc>
              <a:spcPct val="90000"/>
            </a:lnSpc>
            <a:spcBef>
              <a:spcPct val="0"/>
            </a:spcBef>
            <a:spcAft>
              <a:spcPct val="15000"/>
            </a:spcAft>
            <a:buChar char="•"/>
          </a:pPr>
          <a:r>
            <a:rPr lang="en-US" sz="1800" kern="1200" dirty="0">
              <a:solidFill>
                <a:schemeClr val="tx2">
                  <a:lumMod val="10000"/>
                </a:schemeClr>
              </a:solidFill>
            </a:rPr>
            <a:t>Session key is bound to the message and transmitted with it</a:t>
          </a:r>
        </a:p>
        <a:p>
          <a:pPr marL="171450" lvl="1" indent="-171450" algn="l" defTabSz="800100">
            <a:lnSpc>
              <a:spcPct val="90000"/>
            </a:lnSpc>
            <a:spcBef>
              <a:spcPct val="0"/>
            </a:spcBef>
            <a:spcAft>
              <a:spcPct val="15000"/>
            </a:spcAft>
            <a:buChar char="•"/>
          </a:pPr>
          <a:r>
            <a:rPr lang="en-US" sz="1800" kern="1200" dirty="0">
              <a:solidFill>
                <a:schemeClr val="tx2">
                  <a:lumMod val="10000"/>
                </a:schemeClr>
              </a:solidFill>
            </a:rPr>
            <a:t>To protect the key, it is encrypted with the receiver’s public key</a:t>
          </a:r>
        </a:p>
      </dsp:txBody>
      <dsp:txXfrm>
        <a:off x="0" y="670969"/>
        <a:ext cx="6553200" cy="12846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B262C0-0D67-1743-AEEE-A96F8D4FECAD}">
      <dsp:nvSpPr>
        <dsp:cNvPr id="0" name=""/>
        <dsp:cNvSpPr/>
      </dsp:nvSpPr>
      <dsp:spPr>
        <a:xfrm>
          <a:off x="457199" y="0"/>
          <a:ext cx="5181600" cy="3073400"/>
        </a:xfrm>
        <a:prstGeom prst="rightArrow">
          <a:avLst/>
        </a:prstGeom>
        <a:solidFill>
          <a:schemeClr val="tx1"/>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1">
          <a:scrgbClr r="0" g="0" b="0"/>
        </a:fillRef>
        <a:effectRef idx="2">
          <a:scrgbClr r="0" g="0" b="0"/>
        </a:effectRef>
        <a:fontRef idx="minor"/>
      </dsp:style>
    </dsp:sp>
    <dsp:sp modelId="{B931287F-6B31-744A-B957-E77CC5422750}">
      <dsp:nvSpPr>
        <dsp:cNvPr id="0" name=""/>
        <dsp:cNvSpPr/>
      </dsp:nvSpPr>
      <dsp:spPr>
        <a:xfrm>
          <a:off x="206573" y="922020"/>
          <a:ext cx="1828800" cy="12293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The sender first signs the message with its own private key</a:t>
          </a:r>
        </a:p>
      </dsp:txBody>
      <dsp:txXfrm>
        <a:off x="266585" y="982032"/>
        <a:ext cx="1708776" cy="1109336"/>
      </dsp:txXfrm>
    </dsp:sp>
    <dsp:sp modelId="{1C7E9D8B-E681-224D-B68E-C1D6E0D5DE37}">
      <dsp:nvSpPr>
        <dsp:cNvPr id="0" name=""/>
        <dsp:cNvSpPr/>
      </dsp:nvSpPr>
      <dsp:spPr>
        <a:xfrm>
          <a:off x="2133600" y="922020"/>
          <a:ext cx="1828800" cy="12293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Then encrypts the message with a session key</a:t>
          </a:r>
        </a:p>
      </dsp:txBody>
      <dsp:txXfrm>
        <a:off x="2193612" y="982032"/>
        <a:ext cx="1708776" cy="1109336"/>
      </dsp:txXfrm>
    </dsp:sp>
    <dsp:sp modelId="{D532BAE8-DA51-7D4C-884B-FC2FA30B1506}">
      <dsp:nvSpPr>
        <dsp:cNvPr id="0" name=""/>
        <dsp:cNvSpPr/>
      </dsp:nvSpPr>
      <dsp:spPr>
        <a:xfrm>
          <a:off x="4060626" y="922020"/>
          <a:ext cx="1828800" cy="12293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And finally encrypts the session key with the recipient’s public key</a:t>
          </a:r>
        </a:p>
      </dsp:txBody>
      <dsp:txXfrm>
        <a:off x="4120638" y="982032"/>
        <a:ext cx="1708776" cy="11093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2EDD0A-D6ED-B443-BF90-E534597684EA}">
      <dsp:nvSpPr>
        <dsp:cNvPr id="0" name=""/>
        <dsp:cNvSpPr/>
      </dsp:nvSpPr>
      <dsp:spPr>
        <a:xfrm rot="1492266">
          <a:off x="564535" y="1001258"/>
          <a:ext cx="2933381" cy="211687"/>
        </a:xfrm>
        <a:prstGeom prst="rect">
          <a:avLst/>
        </a:prstGeom>
        <a:blipFill rotWithShape="1">
          <a:blip xmlns:r="http://schemas.openxmlformats.org/officeDocument/2006/relationships" r:embed="rId1">
            <a:duotone>
              <a:schemeClr val="accent1">
                <a:tint val="60000"/>
                <a:hueOff val="0"/>
                <a:satOff val="0"/>
                <a:lumOff val="0"/>
                <a:alphaOff val="0"/>
                <a:shade val="10000"/>
                <a:satMod val="135000"/>
              </a:schemeClr>
              <a:schemeClr val="accent1">
                <a:tint val="60000"/>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D88A49EB-D5FA-234A-B3FA-8E36AA1E94C1}">
      <dsp:nvSpPr>
        <dsp:cNvPr id="0" name=""/>
        <dsp:cNvSpPr/>
      </dsp:nvSpPr>
      <dsp:spPr>
        <a:xfrm>
          <a:off x="222429" y="0"/>
          <a:ext cx="2352079" cy="167587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Five new message header fields are defined, which may be included in an RFC 5322 header; these fields provide information about the body of the message</a:t>
          </a:r>
        </a:p>
      </dsp:txBody>
      <dsp:txXfrm>
        <a:off x="271514" y="49085"/>
        <a:ext cx="2253909" cy="1577700"/>
      </dsp:txXfrm>
    </dsp:sp>
    <dsp:sp modelId="{858B011A-8BBE-EA4A-97B2-6087F43B238D}">
      <dsp:nvSpPr>
        <dsp:cNvPr id="0" name=""/>
        <dsp:cNvSpPr/>
      </dsp:nvSpPr>
      <dsp:spPr>
        <a:xfrm rot="8979029">
          <a:off x="808731" y="2320396"/>
          <a:ext cx="2749256" cy="211687"/>
        </a:xfrm>
        <a:prstGeom prst="rect">
          <a:avLst/>
        </a:prstGeom>
        <a:blipFill rotWithShape="1">
          <a:blip xmlns:r="http://schemas.openxmlformats.org/officeDocument/2006/relationships" r:embed="rId1">
            <a:duotone>
              <a:schemeClr val="accent1">
                <a:tint val="60000"/>
                <a:hueOff val="0"/>
                <a:satOff val="0"/>
                <a:lumOff val="0"/>
                <a:alphaOff val="0"/>
                <a:shade val="10000"/>
                <a:satMod val="135000"/>
              </a:schemeClr>
              <a:schemeClr val="accent1">
                <a:tint val="60000"/>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0292642D-2021-0C47-AED0-82DF5CC7DE13}">
      <dsp:nvSpPr>
        <dsp:cNvPr id="0" name=""/>
        <dsp:cNvSpPr/>
      </dsp:nvSpPr>
      <dsp:spPr>
        <a:xfrm>
          <a:off x="2891475" y="1375192"/>
          <a:ext cx="2352079" cy="1411247"/>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A number of content formats are defined, thus standardizing representations that support multimedia electronic mail</a:t>
          </a:r>
        </a:p>
      </dsp:txBody>
      <dsp:txXfrm>
        <a:off x="2932809" y="1416526"/>
        <a:ext cx="2269411" cy="1328579"/>
      </dsp:txXfrm>
    </dsp:sp>
    <dsp:sp modelId="{078E16F4-C4C7-4C41-A536-8EBA4BCB1BFE}">
      <dsp:nvSpPr>
        <dsp:cNvPr id="0" name=""/>
        <dsp:cNvSpPr/>
      </dsp:nvSpPr>
      <dsp:spPr>
        <a:xfrm>
          <a:off x="518979" y="2779752"/>
          <a:ext cx="2352079" cy="1411247"/>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Transfer encodings are defined that enable the conversion of any content format into a form that is protected from alteration by the mail system</a:t>
          </a:r>
        </a:p>
      </dsp:txBody>
      <dsp:txXfrm>
        <a:off x="560313" y="2821086"/>
        <a:ext cx="2269411" cy="13285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0F2D5-B98B-CE44-9C25-1EFDE028763E}">
      <dsp:nvSpPr>
        <dsp:cNvPr id="0" name=""/>
        <dsp:cNvSpPr/>
      </dsp:nvSpPr>
      <dsp:spPr>
        <a:xfrm>
          <a:off x="0" y="338617"/>
          <a:ext cx="8534400" cy="737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62364" tIns="270764" rIns="662364"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a:t>Must have the parameter value 1.0</a:t>
          </a:r>
        </a:p>
        <a:p>
          <a:pPr marL="114300" lvl="1" indent="-114300" algn="l" defTabSz="577850" rtl="0">
            <a:lnSpc>
              <a:spcPct val="90000"/>
            </a:lnSpc>
            <a:spcBef>
              <a:spcPct val="0"/>
            </a:spcBef>
            <a:spcAft>
              <a:spcPct val="15000"/>
            </a:spcAft>
            <a:buChar char="•"/>
          </a:pPr>
          <a:r>
            <a:rPr lang="en-US" sz="1300" kern="1200" dirty="0"/>
            <a:t>This field indicates that the message conforms to RFCs 2045 and 2046</a:t>
          </a:r>
        </a:p>
      </dsp:txBody>
      <dsp:txXfrm>
        <a:off x="0" y="338617"/>
        <a:ext cx="8534400" cy="737100"/>
      </dsp:txXfrm>
    </dsp:sp>
    <dsp:sp modelId="{F3CA23DE-DCA7-8A4B-85EC-47D5EDFB354E}">
      <dsp:nvSpPr>
        <dsp:cNvPr id="0" name=""/>
        <dsp:cNvSpPr/>
      </dsp:nvSpPr>
      <dsp:spPr>
        <a:xfrm>
          <a:off x="426720" y="146737"/>
          <a:ext cx="2164110" cy="3837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5806" tIns="0" rIns="225806" bIns="0" numCol="1" spcCol="1270" anchor="ctr" anchorCtr="0">
          <a:noAutofit/>
        </a:bodyPr>
        <a:lstStyle/>
        <a:p>
          <a:pPr marL="0" lvl="0" indent="0" algn="l" defTabSz="800100" rtl="0">
            <a:lnSpc>
              <a:spcPct val="90000"/>
            </a:lnSpc>
            <a:spcBef>
              <a:spcPct val="0"/>
            </a:spcBef>
            <a:spcAft>
              <a:spcPct val="35000"/>
            </a:spcAft>
            <a:buNone/>
          </a:pPr>
          <a:r>
            <a:rPr lang="en-US" sz="1800" kern="1200" dirty="0"/>
            <a:t>MIME-Version</a:t>
          </a:r>
        </a:p>
      </dsp:txBody>
      <dsp:txXfrm>
        <a:off x="445454" y="165471"/>
        <a:ext cx="2126642" cy="346292"/>
      </dsp:txXfrm>
    </dsp:sp>
    <dsp:sp modelId="{E8BFF411-F451-A341-8D87-49C77FF491D5}">
      <dsp:nvSpPr>
        <dsp:cNvPr id="0" name=""/>
        <dsp:cNvSpPr/>
      </dsp:nvSpPr>
      <dsp:spPr>
        <a:xfrm>
          <a:off x="0" y="1337797"/>
          <a:ext cx="8534400" cy="8804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62364" tIns="270764" rIns="662364"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a:t>Describes the data contained in the body with sufficient detail that the receiving user agent can pick an appropriate agent or mechanism to represent the data to the user or otherwise deal with the data in an appropriate manner</a:t>
          </a:r>
        </a:p>
      </dsp:txBody>
      <dsp:txXfrm>
        <a:off x="0" y="1337797"/>
        <a:ext cx="8534400" cy="880425"/>
      </dsp:txXfrm>
    </dsp:sp>
    <dsp:sp modelId="{9D394F1D-EBFB-3948-A773-BA9E32EB8A2D}">
      <dsp:nvSpPr>
        <dsp:cNvPr id="0" name=""/>
        <dsp:cNvSpPr/>
      </dsp:nvSpPr>
      <dsp:spPr>
        <a:xfrm>
          <a:off x="426720" y="1145917"/>
          <a:ext cx="2468848" cy="3837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5806" tIns="0" rIns="225806" bIns="0" numCol="1" spcCol="1270" anchor="ctr" anchorCtr="0">
          <a:noAutofit/>
        </a:bodyPr>
        <a:lstStyle/>
        <a:p>
          <a:pPr marL="0" lvl="0" indent="0" algn="l" defTabSz="800100" rtl="0">
            <a:lnSpc>
              <a:spcPct val="90000"/>
            </a:lnSpc>
            <a:spcBef>
              <a:spcPct val="0"/>
            </a:spcBef>
            <a:spcAft>
              <a:spcPct val="35000"/>
            </a:spcAft>
            <a:buNone/>
          </a:pPr>
          <a:r>
            <a:rPr lang="en-US" sz="1800" kern="1200" dirty="0"/>
            <a:t>Content-Type</a:t>
          </a:r>
        </a:p>
      </dsp:txBody>
      <dsp:txXfrm>
        <a:off x="445454" y="1164651"/>
        <a:ext cx="2431380" cy="346292"/>
      </dsp:txXfrm>
    </dsp:sp>
    <dsp:sp modelId="{65D12871-84DA-1740-9B7A-B977929B67B0}">
      <dsp:nvSpPr>
        <dsp:cNvPr id="0" name=""/>
        <dsp:cNvSpPr/>
      </dsp:nvSpPr>
      <dsp:spPr>
        <a:xfrm>
          <a:off x="0" y="2480302"/>
          <a:ext cx="8534400" cy="7166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62364" tIns="270764" rIns="662364"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a:t>Indicates the type of transformation that has been used to represent the body of the message in a way that is acceptable for mail transport</a:t>
          </a:r>
        </a:p>
      </dsp:txBody>
      <dsp:txXfrm>
        <a:off x="0" y="2480302"/>
        <a:ext cx="8534400" cy="716625"/>
      </dsp:txXfrm>
    </dsp:sp>
    <dsp:sp modelId="{68DCEE62-EEE0-0F46-AD28-366444FAC71E}">
      <dsp:nvSpPr>
        <dsp:cNvPr id="0" name=""/>
        <dsp:cNvSpPr/>
      </dsp:nvSpPr>
      <dsp:spPr>
        <a:xfrm>
          <a:off x="426720" y="2288422"/>
          <a:ext cx="3840497" cy="3837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5806" tIns="0" rIns="225806" bIns="0" numCol="1" spcCol="1270" anchor="ctr" anchorCtr="0">
          <a:noAutofit/>
        </a:bodyPr>
        <a:lstStyle/>
        <a:p>
          <a:pPr marL="0" lvl="0" indent="0" algn="l" defTabSz="800100" rtl="0">
            <a:lnSpc>
              <a:spcPct val="90000"/>
            </a:lnSpc>
            <a:spcBef>
              <a:spcPct val="0"/>
            </a:spcBef>
            <a:spcAft>
              <a:spcPct val="35000"/>
            </a:spcAft>
            <a:buNone/>
          </a:pPr>
          <a:r>
            <a:rPr lang="en-US" sz="1800" kern="1200" dirty="0"/>
            <a:t>Content-Transfer-Encoding</a:t>
          </a:r>
        </a:p>
      </dsp:txBody>
      <dsp:txXfrm>
        <a:off x="445454" y="2307156"/>
        <a:ext cx="3803029" cy="346292"/>
      </dsp:txXfrm>
    </dsp:sp>
    <dsp:sp modelId="{ECB79F2C-3DB5-E846-95BD-E5064A03373D}">
      <dsp:nvSpPr>
        <dsp:cNvPr id="0" name=""/>
        <dsp:cNvSpPr/>
      </dsp:nvSpPr>
      <dsp:spPr>
        <a:xfrm>
          <a:off x="0" y="3459007"/>
          <a:ext cx="8534400"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62364" tIns="270764" rIns="662364"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a:t>Used to identify MIME entities uniquely in multiple contexts</a:t>
          </a:r>
        </a:p>
      </dsp:txBody>
      <dsp:txXfrm>
        <a:off x="0" y="3459007"/>
        <a:ext cx="8534400" cy="542587"/>
      </dsp:txXfrm>
    </dsp:sp>
    <dsp:sp modelId="{55DCFBF2-A92B-2D49-8E14-712808571A32}">
      <dsp:nvSpPr>
        <dsp:cNvPr id="0" name=""/>
        <dsp:cNvSpPr/>
      </dsp:nvSpPr>
      <dsp:spPr>
        <a:xfrm>
          <a:off x="426720" y="3267127"/>
          <a:ext cx="2316449" cy="3837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5806" tIns="0" rIns="225806" bIns="0" numCol="1" spcCol="1270" anchor="ctr" anchorCtr="0">
          <a:noAutofit/>
        </a:bodyPr>
        <a:lstStyle/>
        <a:p>
          <a:pPr marL="0" lvl="0" indent="0" algn="l" defTabSz="800100" rtl="0">
            <a:lnSpc>
              <a:spcPct val="90000"/>
            </a:lnSpc>
            <a:spcBef>
              <a:spcPct val="0"/>
            </a:spcBef>
            <a:spcAft>
              <a:spcPct val="35000"/>
            </a:spcAft>
            <a:buNone/>
          </a:pPr>
          <a:r>
            <a:rPr lang="en-US" sz="1800" kern="1200" dirty="0"/>
            <a:t>Content-ID</a:t>
          </a:r>
        </a:p>
      </dsp:txBody>
      <dsp:txXfrm>
        <a:off x="445454" y="3285861"/>
        <a:ext cx="2278981" cy="346292"/>
      </dsp:txXfrm>
    </dsp:sp>
    <dsp:sp modelId="{7052E4C0-0365-DF4E-996C-A00169E89A13}">
      <dsp:nvSpPr>
        <dsp:cNvPr id="0" name=""/>
        <dsp:cNvSpPr/>
      </dsp:nvSpPr>
      <dsp:spPr>
        <a:xfrm>
          <a:off x="0" y="4263675"/>
          <a:ext cx="8534400"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62364" tIns="270764" rIns="662364"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a:t>A text description of the object with the body;  this is useful when the object is not readable</a:t>
          </a:r>
        </a:p>
      </dsp:txBody>
      <dsp:txXfrm>
        <a:off x="0" y="4263675"/>
        <a:ext cx="8534400" cy="542587"/>
      </dsp:txXfrm>
    </dsp:sp>
    <dsp:sp modelId="{AFA02130-531F-2541-A40D-4D4C90AABF70}">
      <dsp:nvSpPr>
        <dsp:cNvPr id="0" name=""/>
        <dsp:cNvSpPr/>
      </dsp:nvSpPr>
      <dsp:spPr>
        <a:xfrm>
          <a:off x="426720" y="4071795"/>
          <a:ext cx="2926104" cy="3837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5806" tIns="0" rIns="225806" bIns="0" numCol="1" spcCol="1270" anchor="ctr" anchorCtr="0">
          <a:noAutofit/>
        </a:bodyPr>
        <a:lstStyle/>
        <a:p>
          <a:pPr marL="0" lvl="0" indent="0" algn="l" defTabSz="800100" rtl="0">
            <a:lnSpc>
              <a:spcPct val="90000"/>
            </a:lnSpc>
            <a:spcBef>
              <a:spcPct val="0"/>
            </a:spcBef>
            <a:spcAft>
              <a:spcPct val="35000"/>
            </a:spcAft>
            <a:buNone/>
          </a:pPr>
          <a:r>
            <a:rPr lang="en-US" sz="1800" kern="1200" dirty="0"/>
            <a:t>Content-Description</a:t>
          </a:r>
        </a:p>
      </dsp:txBody>
      <dsp:txXfrm>
        <a:off x="445454" y="4090529"/>
        <a:ext cx="2888636" cy="3462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E1B1F3-AC32-C240-AFB6-88C711BEA5C3}">
      <dsp:nvSpPr>
        <dsp:cNvPr id="0" name=""/>
        <dsp:cNvSpPr/>
      </dsp:nvSpPr>
      <dsp:spPr>
        <a:xfrm rot="16200000">
          <a:off x="933450" y="-933450"/>
          <a:ext cx="2438400" cy="4305300"/>
        </a:xfrm>
        <a:prstGeom prst="round1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rtl="0">
            <a:lnSpc>
              <a:spcPct val="90000"/>
            </a:lnSpc>
            <a:spcBef>
              <a:spcPct val="0"/>
            </a:spcBef>
            <a:spcAft>
              <a:spcPct val="35000"/>
            </a:spcAft>
            <a:buNone/>
          </a:pPr>
          <a:r>
            <a:rPr lang="en-US" sz="1500" b="1" i="0" kern="1200" dirty="0"/>
            <a:t>Enveloped data</a:t>
          </a:r>
        </a:p>
        <a:p>
          <a:pPr marL="114300" lvl="1" indent="-114300" algn="l" defTabSz="666750" rtl="0">
            <a:lnSpc>
              <a:spcPct val="90000"/>
            </a:lnSpc>
            <a:spcBef>
              <a:spcPct val="0"/>
            </a:spcBef>
            <a:spcAft>
              <a:spcPct val="15000"/>
            </a:spcAft>
            <a:buChar char="•"/>
          </a:pPr>
          <a:r>
            <a:rPr lang="en-US" sz="1500" b="1" i="0" kern="1200" dirty="0"/>
            <a:t>Consists of encrypted content of any type and encrypted content encryption keys for one or more recipients</a:t>
          </a:r>
        </a:p>
      </dsp:txBody>
      <dsp:txXfrm rot="5400000">
        <a:off x="-1" y="1"/>
        <a:ext cx="4305300" cy="1828800"/>
      </dsp:txXfrm>
    </dsp:sp>
    <dsp:sp modelId="{2153AE21-EA9E-AF4D-8F47-2E16FCCB6048}">
      <dsp:nvSpPr>
        <dsp:cNvPr id="0" name=""/>
        <dsp:cNvSpPr/>
      </dsp:nvSpPr>
      <dsp:spPr>
        <a:xfrm>
          <a:off x="4305300" y="0"/>
          <a:ext cx="4305300" cy="2438400"/>
        </a:xfrm>
        <a:prstGeom prst="round1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rtl="0">
            <a:lnSpc>
              <a:spcPct val="90000"/>
            </a:lnSpc>
            <a:spcBef>
              <a:spcPct val="0"/>
            </a:spcBef>
            <a:spcAft>
              <a:spcPct val="35000"/>
            </a:spcAft>
            <a:buNone/>
          </a:pPr>
          <a:r>
            <a:rPr lang="en-US" sz="1500" b="1" i="0" kern="1200" dirty="0"/>
            <a:t>Signed data</a:t>
          </a:r>
        </a:p>
        <a:p>
          <a:pPr marL="114300" lvl="1" indent="-114300" algn="l" defTabSz="666750" rtl="0">
            <a:lnSpc>
              <a:spcPct val="90000"/>
            </a:lnSpc>
            <a:spcBef>
              <a:spcPct val="0"/>
            </a:spcBef>
            <a:spcAft>
              <a:spcPct val="15000"/>
            </a:spcAft>
            <a:buChar char="•"/>
          </a:pPr>
          <a:r>
            <a:rPr lang="en-US" sz="1500" b="1" i="0" kern="1200" dirty="0"/>
            <a:t>A digital signature is formed by taking the message digest of the content to be signed and then encrypting that with the private key of the signer</a:t>
          </a:r>
        </a:p>
        <a:p>
          <a:pPr marL="114300" lvl="1" indent="-114300" algn="l" defTabSz="666750" rtl="0">
            <a:lnSpc>
              <a:spcPct val="90000"/>
            </a:lnSpc>
            <a:spcBef>
              <a:spcPct val="0"/>
            </a:spcBef>
            <a:spcAft>
              <a:spcPct val="15000"/>
            </a:spcAft>
            <a:buChar char="•"/>
          </a:pPr>
          <a:r>
            <a:rPr lang="en-US" sz="1500" b="1" i="0" kern="1200" dirty="0"/>
            <a:t>The content plus signature are then encoded using base64 encoding</a:t>
          </a:r>
        </a:p>
        <a:p>
          <a:pPr marL="114300" lvl="1" indent="-114300" algn="l" defTabSz="666750" rtl="0">
            <a:lnSpc>
              <a:spcPct val="90000"/>
            </a:lnSpc>
            <a:spcBef>
              <a:spcPct val="0"/>
            </a:spcBef>
            <a:spcAft>
              <a:spcPct val="15000"/>
            </a:spcAft>
            <a:buChar char="•"/>
          </a:pPr>
          <a:r>
            <a:rPr lang="en-US" sz="1500" b="1" i="0" kern="1200" dirty="0"/>
            <a:t>A signed data message can only be viewed by a recipient with S/MIME capability</a:t>
          </a:r>
        </a:p>
      </dsp:txBody>
      <dsp:txXfrm>
        <a:off x="4305300" y="0"/>
        <a:ext cx="4305300" cy="1828800"/>
      </dsp:txXfrm>
    </dsp:sp>
    <dsp:sp modelId="{799CB885-93D8-9543-B22B-D79A744F5B64}">
      <dsp:nvSpPr>
        <dsp:cNvPr id="0" name=""/>
        <dsp:cNvSpPr/>
      </dsp:nvSpPr>
      <dsp:spPr>
        <a:xfrm rot="10800000">
          <a:off x="0" y="2438400"/>
          <a:ext cx="4305300" cy="2438400"/>
        </a:xfrm>
        <a:prstGeom prst="round1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rtl="0">
            <a:lnSpc>
              <a:spcPct val="90000"/>
            </a:lnSpc>
            <a:spcBef>
              <a:spcPct val="0"/>
            </a:spcBef>
            <a:spcAft>
              <a:spcPct val="35000"/>
            </a:spcAft>
            <a:buNone/>
          </a:pPr>
          <a:r>
            <a:rPr lang="en-US" sz="1500" b="1" i="0" kern="1200" dirty="0"/>
            <a:t>Clear-signed data</a:t>
          </a:r>
        </a:p>
        <a:p>
          <a:pPr marL="114300" lvl="1" indent="-114300" algn="l" defTabSz="666750" rtl="0">
            <a:lnSpc>
              <a:spcPct val="90000"/>
            </a:lnSpc>
            <a:spcBef>
              <a:spcPct val="0"/>
            </a:spcBef>
            <a:spcAft>
              <a:spcPct val="15000"/>
            </a:spcAft>
            <a:buChar char="•"/>
          </a:pPr>
          <a:r>
            <a:rPr lang="en-US" sz="1500" b="1" i="0" kern="1200" dirty="0"/>
            <a:t>Only the digital signature is encoded using base64</a:t>
          </a:r>
        </a:p>
        <a:p>
          <a:pPr marL="114300" lvl="1" indent="-114300" algn="l" defTabSz="666750" rtl="0">
            <a:lnSpc>
              <a:spcPct val="90000"/>
            </a:lnSpc>
            <a:spcBef>
              <a:spcPct val="0"/>
            </a:spcBef>
            <a:spcAft>
              <a:spcPct val="15000"/>
            </a:spcAft>
            <a:buChar char="•"/>
          </a:pPr>
          <a:r>
            <a:rPr lang="en-US" sz="1500" b="1" i="0" kern="1200" dirty="0"/>
            <a:t>As a result recipients without S/MIME capability can view the message content, although they cannot verify the signature</a:t>
          </a:r>
        </a:p>
      </dsp:txBody>
      <dsp:txXfrm rot="10800000">
        <a:off x="0" y="3047999"/>
        <a:ext cx="4305300" cy="1828800"/>
      </dsp:txXfrm>
    </dsp:sp>
    <dsp:sp modelId="{E7B5E7DB-A3B3-6843-BFC1-49650FBE65D4}">
      <dsp:nvSpPr>
        <dsp:cNvPr id="0" name=""/>
        <dsp:cNvSpPr/>
      </dsp:nvSpPr>
      <dsp:spPr>
        <a:xfrm rot="5400000">
          <a:off x="5238750" y="1504950"/>
          <a:ext cx="2438400" cy="4305300"/>
        </a:xfrm>
        <a:prstGeom prst="round1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rtl="0">
            <a:lnSpc>
              <a:spcPct val="90000"/>
            </a:lnSpc>
            <a:spcBef>
              <a:spcPct val="0"/>
            </a:spcBef>
            <a:spcAft>
              <a:spcPct val="35000"/>
            </a:spcAft>
            <a:buNone/>
          </a:pPr>
          <a:r>
            <a:rPr lang="en-US" sz="1500" b="1" i="0" kern="1200" dirty="0"/>
            <a:t>Signed and enveloped data</a:t>
          </a:r>
        </a:p>
        <a:p>
          <a:pPr marL="114300" lvl="1" indent="-114300" algn="l" defTabSz="666750" rtl="0">
            <a:lnSpc>
              <a:spcPct val="90000"/>
            </a:lnSpc>
            <a:spcBef>
              <a:spcPct val="0"/>
            </a:spcBef>
            <a:spcAft>
              <a:spcPct val="15000"/>
            </a:spcAft>
            <a:buChar char="•"/>
          </a:pPr>
          <a:r>
            <a:rPr lang="en-US" sz="1500" b="1" i="0" kern="1200" dirty="0"/>
            <a:t>Signed-only and encrypted-only entities may be nested, so that encrypted data may be signed and signed data or clear-signed data may be encrypted</a:t>
          </a:r>
        </a:p>
      </dsp:txBody>
      <dsp:txXfrm rot="-5400000">
        <a:off x="4305300" y="3048000"/>
        <a:ext cx="4305300" cy="1828800"/>
      </dsp:txXfrm>
    </dsp:sp>
    <dsp:sp modelId="{ADC1D07E-D5C9-1B45-A557-FB28CAF09163}">
      <dsp:nvSpPr>
        <dsp:cNvPr id="0" name=""/>
        <dsp:cNvSpPr/>
      </dsp:nvSpPr>
      <dsp:spPr>
        <a:xfrm>
          <a:off x="2895594" y="2292949"/>
          <a:ext cx="2358572" cy="831250"/>
        </a:xfrm>
        <a:prstGeom prst="roundRect">
          <a:avLst/>
        </a:prstGeom>
        <a:solidFill>
          <a:schemeClr val="tx2"/>
        </a:solid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i="0" kern="1200" dirty="0">
              <a:solidFill>
                <a:schemeClr val="tx2">
                  <a:lumMod val="10000"/>
                </a:schemeClr>
              </a:solidFill>
            </a:rPr>
            <a:t>S/MIME</a:t>
          </a:r>
        </a:p>
      </dsp:txBody>
      <dsp:txXfrm>
        <a:off x="2936172" y="2333527"/>
        <a:ext cx="2277416" cy="7500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241FA-7A3B-2540-99A4-A6418DDD1EA1}">
      <dsp:nvSpPr>
        <dsp:cNvPr id="0" name=""/>
        <dsp:cNvSpPr/>
      </dsp:nvSpPr>
      <dsp:spPr>
        <a:xfrm>
          <a:off x="0" y="0"/>
          <a:ext cx="6644640" cy="100584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dirty="0"/>
            <a:t>Generate a pseudorandom session key for a particular symmetric encryption algorithm</a:t>
          </a:r>
        </a:p>
      </dsp:txBody>
      <dsp:txXfrm>
        <a:off x="29460" y="29460"/>
        <a:ext cx="5474266" cy="946920"/>
      </dsp:txXfrm>
    </dsp:sp>
    <dsp:sp modelId="{22ADCE59-A6D1-984D-BF84-74718F412EC1}">
      <dsp:nvSpPr>
        <dsp:cNvPr id="0" name=""/>
        <dsp:cNvSpPr/>
      </dsp:nvSpPr>
      <dsp:spPr>
        <a:xfrm>
          <a:off x="556488" y="1188720"/>
          <a:ext cx="6644640" cy="100584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dirty="0"/>
            <a:t>For each recipient, encrypt the session key with the recipient’s public RSA key</a:t>
          </a:r>
        </a:p>
      </dsp:txBody>
      <dsp:txXfrm>
        <a:off x="585948" y="1218180"/>
        <a:ext cx="5375435" cy="946920"/>
      </dsp:txXfrm>
    </dsp:sp>
    <dsp:sp modelId="{A7C405DB-DC2C-E540-914D-23DD9BB65F79}">
      <dsp:nvSpPr>
        <dsp:cNvPr id="0" name=""/>
        <dsp:cNvSpPr/>
      </dsp:nvSpPr>
      <dsp:spPr>
        <a:xfrm>
          <a:off x="1104671" y="2377440"/>
          <a:ext cx="6644640" cy="100584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dirty="0"/>
            <a:t>For each recipient, prepare a block known as </a:t>
          </a:r>
          <a:r>
            <a:rPr lang="en-US" sz="1500" b="1" i="0" kern="1200" dirty="0">
              <a:latin typeface="Courier New"/>
              <a:cs typeface="Courier New"/>
            </a:rPr>
            <a:t>RecipientInfo </a:t>
          </a:r>
          <a:r>
            <a:rPr lang="en-US" sz="1500" b="1" i="0" kern="1200" dirty="0">
              <a:cs typeface="Courier New"/>
            </a:rPr>
            <a:t>that contains an identifier of the recipient’s public-key certificate, an identifier of the algorithm used to encrypt the session key, and the encrypted session key</a:t>
          </a:r>
        </a:p>
      </dsp:txBody>
      <dsp:txXfrm>
        <a:off x="1134131" y="2406900"/>
        <a:ext cx="5383741" cy="946920"/>
      </dsp:txXfrm>
    </dsp:sp>
    <dsp:sp modelId="{D3171E81-8DA9-F04B-85CE-0B54B5DF11AD}">
      <dsp:nvSpPr>
        <dsp:cNvPr id="0" name=""/>
        <dsp:cNvSpPr/>
      </dsp:nvSpPr>
      <dsp:spPr>
        <a:xfrm>
          <a:off x="1661159" y="3566160"/>
          <a:ext cx="6644640" cy="100584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dirty="0">
              <a:cs typeface="Courier New"/>
            </a:rPr>
            <a:t>Encrypt the message content with the session key</a:t>
          </a:r>
          <a:r>
            <a:rPr lang="en-US" sz="1500" b="1" i="0" kern="1200" dirty="0"/>
            <a:t> </a:t>
          </a:r>
        </a:p>
      </dsp:txBody>
      <dsp:txXfrm>
        <a:off x="1690619" y="3595620"/>
        <a:ext cx="5375435" cy="946920"/>
      </dsp:txXfrm>
    </dsp:sp>
    <dsp:sp modelId="{4F1B002C-C953-264E-AD33-8E894E64E173}">
      <dsp:nvSpPr>
        <dsp:cNvPr id="0" name=""/>
        <dsp:cNvSpPr/>
      </dsp:nvSpPr>
      <dsp:spPr>
        <a:xfrm>
          <a:off x="5990844" y="770382"/>
          <a:ext cx="653796" cy="653796"/>
        </a:xfrm>
        <a:prstGeom prst="downArrow">
          <a:avLst>
            <a:gd name="adj1" fmla="val 55000"/>
            <a:gd name="adj2" fmla="val 45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dirty="0"/>
        </a:p>
      </dsp:txBody>
      <dsp:txXfrm>
        <a:off x="6137948" y="770382"/>
        <a:ext cx="359588" cy="491981"/>
      </dsp:txXfrm>
    </dsp:sp>
    <dsp:sp modelId="{B57C5CB7-9E23-374F-9AD0-A772CEA91AF0}">
      <dsp:nvSpPr>
        <dsp:cNvPr id="0" name=""/>
        <dsp:cNvSpPr/>
      </dsp:nvSpPr>
      <dsp:spPr>
        <a:xfrm>
          <a:off x="6547332" y="1959102"/>
          <a:ext cx="653796" cy="653796"/>
        </a:xfrm>
        <a:prstGeom prst="downArrow">
          <a:avLst>
            <a:gd name="adj1" fmla="val 55000"/>
            <a:gd name="adj2" fmla="val 45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dirty="0"/>
        </a:p>
      </dsp:txBody>
      <dsp:txXfrm>
        <a:off x="6694436" y="1959102"/>
        <a:ext cx="359588" cy="491981"/>
      </dsp:txXfrm>
    </dsp:sp>
    <dsp:sp modelId="{75224DAF-6741-704C-A1FB-BF13866920F8}">
      <dsp:nvSpPr>
        <dsp:cNvPr id="0" name=""/>
        <dsp:cNvSpPr/>
      </dsp:nvSpPr>
      <dsp:spPr>
        <a:xfrm>
          <a:off x="7095515" y="3147822"/>
          <a:ext cx="653796" cy="653796"/>
        </a:xfrm>
        <a:prstGeom prst="downArrow">
          <a:avLst>
            <a:gd name="adj1" fmla="val 55000"/>
            <a:gd name="adj2" fmla="val 45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dirty="0"/>
        </a:p>
      </dsp:txBody>
      <dsp:txXfrm>
        <a:off x="7242619" y="3147822"/>
        <a:ext cx="359588" cy="4919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83A533-B32F-3445-A521-7E6E85915F15}">
      <dsp:nvSpPr>
        <dsp:cNvPr id="0" name=""/>
        <dsp:cNvSpPr/>
      </dsp:nvSpPr>
      <dsp:spPr>
        <a:xfrm>
          <a:off x="292100" y="0"/>
          <a:ext cx="8331200" cy="5207000"/>
        </a:xfrm>
        <a:prstGeom prst="swooshArrow">
          <a:avLst>
            <a:gd name="adj1" fmla="val 25000"/>
            <a:gd name="adj2" fmla="val 25000"/>
          </a:avLst>
        </a:prstGeom>
        <a:solidFill>
          <a:schemeClr val="accent1">
            <a:tint val="40000"/>
            <a:hueOff val="0"/>
            <a:satOff val="0"/>
            <a:lumOff val="0"/>
            <a:alphaOff val="0"/>
          </a:schemeClr>
        </a:solidFill>
        <a:ln>
          <a:noFill/>
        </a:ln>
        <a:effectLst>
          <a:glow rad="38100">
            <a:schemeClr val="accent1">
              <a:alpha val="45000"/>
            </a:schemeClr>
          </a:glow>
          <a:softEdge rad="101600"/>
        </a:effectLst>
        <a:scene3d>
          <a:camera prst="orthographicFront">
            <a:rot lat="0" lon="0" rev="0"/>
          </a:camera>
          <a:lightRig rig="balanced" dir="tl">
            <a:rot lat="0" lon="0" rev="3000000"/>
          </a:lightRig>
        </a:scene3d>
        <a:sp3d prstMaterial="softEdge">
          <a:bevelT w="0" h="0"/>
        </a:sp3d>
      </dsp:spPr>
      <dsp:style>
        <a:lnRef idx="0">
          <a:scrgbClr r="0" g="0" b="0"/>
        </a:lnRef>
        <a:fillRef idx="1">
          <a:scrgbClr r="0" g="0" b="0"/>
        </a:fillRef>
        <a:effectRef idx="2">
          <a:scrgbClr r="0" g="0" b="0"/>
        </a:effectRef>
        <a:fontRef idx="minor"/>
      </dsp:style>
    </dsp:sp>
    <dsp:sp modelId="{39B3DB2F-CFDB-3D46-BC03-E9933E33FB8F}">
      <dsp:nvSpPr>
        <dsp:cNvPr id="0" name=""/>
        <dsp:cNvSpPr/>
      </dsp:nvSpPr>
      <dsp:spPr>
        <a:xfrm>
          <a:off x="1112723" y="3871925"/>
          <a:ext cx="191617" cy="191617"/>
        </a:xfrm>
        <a:prstGeom prst="ellipse">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70F67D8F-56D9-E74F-8BDF-5458066225AA}">
      <dsp:nvSpPr>
        <dsp:cNvPr id="0" name=""/>
        <dsp:cNvSpPr/>
      </dsp:nvSpPr>
      <dsp:spPr>
        <a:xfrm>
          <a:off x="1219202" y="3962405"/>
          <a:ext cx="1424635" cy="12392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534" tIns="0" rIns="0" bIns="0" numCol="1" spcCol="1270" anchor="t" anchorCtr="0">
          <a:noAutofit/>
        </a:bodyPr>
        <a:lstStyle/>
        <a:p>
          <a:pPr marL="0" lvl="0" indent="0" algn="l" defTabSz="666750">
            <a:lnSpc>
              <a:spcPct val="90000"/>
            </a:lnSpc>
            <a:spcBef>
              <a:spcPct val="0"/>
            </a:spcBef>
            <a:spcAft>
              <a:spcPct val="35000"/>
            </a:spcAft>
            <a:buNone/>
          </a:pPr>
          <a:r>
            <a:rPr lang="en-US" sz="1500" b="1" kern="1200" dirty="0">
              <a:solidFill>
                <a:schemeClr val="tx2">
                  <a:lumMod val="10000"/>
                </a:schemeClr>
              </a:solidFill>
            </a:rPr>
            <a:t>Select a message digest algorithm (SHA or MD5)</a:t>
          </a:r>
        </a:p>
      </dsp:txBody>
      <dsp:txXfrm>
        <a:off x="1219202" y="3962405"/>
        <a:ext cx="1424635" cy="1239266"/>
      </dsp:txXfrm>
    </dsp:sp>
    <dsp:sp modelId="{87961540-DD8B-5449-83AA-9C3C44DC1EF4}">
      <dsp:nvSpPr>
        <dsp:cNvPr id="0" name=""/>
        <dsp:cNvSpPr/>
      </dsp:nvSpPr>
      <dsp:spPr>
        <a:xfrm>
          <a:off x="2466543" y="2660776"/>
          <a:ext cx="333248" cy="333248"/>
        </a:xfrm>
        <a:prstGeom prst="ellipse">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E7240535-9187-B840-9E04-359208A868C4}">
      <dsp:nvSpPr>
        <dsp:cNvPr id="0" name=""/>
        <dsp:cNvSpPr/>
      </dsp:nvSpPr>
      <dsp:spPr>
        <a:xfrm>
          <a:off x="2667003" y="2895600"/>
          <a:ext cx="1749552" cy="1871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581" tIns="0" rIns="0" bIns="0" numCol="1" spcCol="1270" anchor="t" anchorCtr="0">
          <a:noAutofit/>
        </a:bodyPr>
        <a:lstStyle/>
        <a:p>
          <a:pPr marL="0" lvl="0" indent="0" algn="l" defTabSz="666750">
            <a:lnSpc>
              <a:spcPct val="90000"/>
            </a:lnSpc>
            <a:spcBef>
              <a:spcPct val="0"/>
            </a:spcBef>
            <a:spcAft>
              <a:spcPct val="35000"/>
            </a:spcAft>
            <a:buNone/>
          </a:pPr>
          <a:r>
            <a:rPr lang="en-US" sz="1500" b="1" kern="1200" dirty="0">
              <a:solidFill>
                <a:schemeClr val="tx2">
                  <a:lumMod val="10000"/>
                </a:schemeClr>
              </a:solidFill>
            </a:rPr>
            <a:t>Compute the message digest (hash function) of the content to be signed</a:t>
          </a:r>
        </a:p>
      </dsp:txBody>
      <dsp:txXfrm>
        <a:off x="2667003" y="2895600"/>
        <a:ext cx="1749552" cy="1871602"/>
      </dsp:txXfrm>
    </dsp:sp>
    <dsp:sp modelId="{4CFE7342-B602-1544-9847-E9A231A05FD5}">
      <dsp:nvSpPr>
        <dsp:cNvPr id="0" name=""/>
        <dsp:cNvSpPr/>
      </dsp:nvSpPr>
      <dsp:spPr>
        <a:xfrm>
          <a:off x="4195267" y="1768297"/>
          <a:ext cx="441553" cy="441553"/>
        </a:xfrm>
        <a:prstGeom prst="ellipse">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9A149516-666B-5D44-8845-9B7ED7179393}">
      <dsp:nvSpPr>
        <dsp:cNvPr id="0" name=""/>
        <dsp:cNvSpPr/>
      </dsp:nvSpPr>
      <dsp:spPr>
        <a:xfrm>
          <a:off x="4495806" y="2209791"/>
          <a:ext cx="1749552" cy="2100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0" tIns="0" rIns="0" bIns="0" numCol="1" spcCol="1270" anchor="t" anchorCtr="0">
          <a:noAutofit/>
        </a:bodyPr>
        <a:lstStyle/>
        <a:p>
          <a:pPr marL="0" lvl="0" indent="0" algn="l" defTabSz="666750">
            <a:lnSpc>
              <a:spcPct val="90000"/>
            </a:lnSpc>
            <a:spcBef>
              <a:spcPct val="0"/>
            </a:spcBef>
            <a:spcAft>
              <a:spcPct val="35000"/>
            </a:spcAft>
            <a:buNone/>
          </a:pPr>
          <a:r>
            <a:rPr lang="en-US" sz="1500" b="1" kern="1200" dirty="0">
              <a:solidFill>
                <a:schemeClr val="tx2">
                  <a:lumMod val="10000"/>
                </a:schemeClr>
              </a:solidFill>
            </a:rPr>
            <a:t>Encrypt the message digest with the signer’s private key</a:t>
          </a:r>
        </a:p>
      </dsp:txBody>
      <dsp:txXfrm>
        <a:off x="4495806" y="2209791"/>
        <a:ext cx="1749552" cy="2100340"/>
      </dsp:txXfrm>
    </dsp:sp>
    <dsp:sp modelId="{21544247-92C1-3D44-99B2-72E06AC3A1AF}">
      <dsp:nvSpPr>
        <dsp:cNvPr id="0" name=""/>
        <dsp:cNvSpPr/>
      </dsp:nvSpPr>
      <dsp:spPr>
        <a:xfrm>
          <a:off x="6078118" y="1177823"/>
          <a:ext cx="591515" cy="591515"/>
        </a:xfrm>
        <a:prstGeom prst="ellipse">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A1C86641-BAF9-664F-9EAC-CE643C68B505}">
      <dsp:nvSpPr>
        <dsp:cNvPr id="0" name=""/>
        <dsp:cNvSpPr/>
      </dsp:nvSpPr>
      <dsp:spPr>
        <a:xfrm>
          <a:off x="6476994" y="1752616"/>
          <a:ext cx="1749552" cy="3326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3432" tIns="0" rIns="0" bIns="0" numCol="1" spcCol="1270" anchor="t" anchorCtr="0">
          <a:noAutofit/>
        </a:bodyPr>
        <a:lstStyle/>
        <a:p>
          <a:pPr marL="0" lvl="0" indent="0" algn="l" defTabSz="666750">
            <a:lnSpc>
              <a:spcPct val="90000"/>
            </a:lnSpc>
            <a:spcBef>
              <a:spcPct val="0"/>
            </a:spcBef>
            <a:spcAft>
              <a:spcPct val="35000"/>
            </a:spcAft>
            <a:buNone/>
          </a:pPr>
          <a:r>
            <a:rPr lang="en-US" sz="1500" b="1" kern="1200" dirty="0">
              <a:solidFill>
                <a:schemeClr val="tx2">
                  <a:lumMod val="10000"/>
                </a:schemeClr>
              </a:solidFill>
            </a:rPr>
            <a:t>Prepare a block known as </a:t>
          </a:r>
          <a:r>
            <a:rPr lang="en-US" sz="1500" b="1" kern="1200" dirty="0">
              <a:solidFill>
                <a:schemeClr val="tx2">
                  <a:lumMod val="10000"/>
                </a:schemeClr>
              </a:solidFill>
              <a:latin typeface="Courier New"/>
              <a:cs typeface="Courier New"/>
            </a:rPr>
            <a:t>SignerInfo </a:t>
          </a:r>
          <a:r>
            <a:rPr lang="en-US" sz="1500" b="1" kern="1200" dirty="0">
              <a:solidFill>
                <a:schemeClr val="tx2">
                  <a:lumMod val="10000"/>
                </a:schemeClr>
              </a:solidFill>
              <a:cs typeface="Courier New"/>
            </a:rPr>
            <a:t>that contains the signer’s public-key certificate, an identifier of the message digest algorithm, an identifier of the algorithm used to encrypt the message digest, and the encrypted message digest</a:t>
          </a:r>
          <a:endParaRPr lang="en-US" sz="1500" b="1" kern="1200" dirty="0">
            <a:solidFill>
              <a:schemeClr val="tx2">
                <a:lumMod val="10000"/>
              </a:schemeClr>
            </a:solidFill>
          </a:endParaRPr>
        </a:p>
      </dsp:txBody>
      <dsp:txXfrm>
        <a:off x="6476994" y="1752616"/>
        <a:ext cx="1749552" cy="332699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0E4EC-D131-0C41-A714-976262004000}">
      <dsp:nvSpPr>
        <dsp:cNvPr id="0" name=""/>
        <dsp:cNvSpPr/>
      </dsp:nvSpPr>
      <dsp:spPr>
        <a:xfrm>
          <a:off x="228599" y="1119788"/>
          <a:ext cx="2467272" cy="616818"/>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tx1"/>
              </a:solidFill>
            </a:rPr>
            <a:t>Key generation</a:t>
          </a:r>
        </a:p>
      </dsp:txBody>
      <dsp:txXfrm>
        <a:off x="246665" y="1137854"/>
        <a:ext cx="2431140" cy="580686"/>
      </dsp:txXfrm>
    </dsp:sp>
    <dsp:sp modelId="{499DAEB3-C700-2348-8690-589FFD73282E}">
      <dsp:nvSpPr>
        <dsp:cNvPr id="0" name=""/>
        <dsp:cNvSpPr/>
      </dsp:nvSpPr>
      <dsp:spPr>
        <a:xfrm rot="5429659">
          <a:off x="1300471" y="1760087"/>
          <a:ext cx="312809" cy="578633"/>
        </a:xfrm>
        <a:prstGeom prst="rightArrow">
          <a:avLst>
            <a:gd name="adj1" fmla="val 66700"/>
            <a:gd name="adj2" fmla="val 50000"/>
          </a:avLst>
        </a:prstGeom>
        <a:solidFill>
          <a:schemeClr val="bg2"/>
        </a:solidFill>
        <a:ln>
          <a:no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00E8D720-FB90-3F40-B94E-FEE132455706}">
      <dsp:nvSpPr>
        <dsp:cNvPr id="0" name=""/>
        <dsp:cNvSpPr/>
      </dsp:nvSpPr>
      <dsp:spPr>
        <a:xfrm>
          <a:off x="0" y="2362201"/>
          <a:ext cx="2895566" cy="1482158"/>
        </a:xfrm>
        <a:prstGeom prst="roundRect">
          <a:avLst>
            <a:gd name="adj" fmla="val 10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dirty="0">
              <a:solidFill>
                <a:schemeClr val="tx2">
                  <a:lumMod val="10000"/>
                </a:schemeClr>
              </a:solidFill>
            </a:rPr>
            <a:t>The user of some related administrative utility must be capable of generating separate Diffie-Hellman and DSS key pairs and should be capable of generating RSA key pairs</a:t>
          </a:r>
        </a:p>
      </dsp:txBody>
      <dsp:txXfrm>
        <a:off x="43411" y="2405612"/>
        <a:ext cx="2808744" cy="1395336"/>
      </dsp:txXfrm>
    </dsp:sp>
    <dsp:sp modelId="{2C4540C6-1CCE-8F44-B5F9-43BA4E58799A}">
      <dsp:nvSpPr>
        <dsp:cNvPr id="0" name=""/>
        <dsp:cNvSpPr/>
      </dsp:nvSpPr>
      <dsp:spPr>
        <a:xfrm rot="5401470">
          <a:off x="1328043" y="3728363"/>
          <a:ext cx="238697" cy="578633"/>
        </a:xfrm>
        <a:prstGeom prst="rightArrow">
          <a:avLst>
            <a:gd name="adj1" fmla="val 66700"/>
            <a:gd name="adj2" fmla="val 50000"/>
          </a:avLst>
        </a:prstGeom>
        <a:solidFill>
          <a:schemeClr val="bg2"/>
        </a:solidFill>
        <a:ln>
          <a:no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4E28F1E9-86E9-D94E-93A5-CAF02EBFC40E}">
      <dsp:nvSpPr>
        <dsp:cNvPr id="0" name=""/>
        <dsp:cNvSpPr/>
      </dsp:nvSpPr>
      <dsp:spPr>
        <a:xfrm>
          <a:off x="152397" y="4191001"/>
          <a:ext cx="2589328" cy="1200143"/>
        </a:xfrm>
        <a:prstGeom prst="roundRect">
          <a:avLst>
            <a:gd name="adj" fmla="val 10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dirty="0">
              <a:solidFill>
                <a:schemeClr val="tx2">
                  <a:lumMod val="10000"/>
                </a:schemeClr>
              </a:solidFill>
            </a:rPr>
            <a:t>A user agent should generate RSA key pairs with a length in the range of 768 to 1024 bits and must not generate a length of less than 512 bits</a:t>
          </a:r>
        </a:p>
      </dsp:txBody>
      <dsp:txXfrm>
        <a:off x="187548" y="4226152"/>
        <a:ext cx="2519026" cy="1129841"/>
      </dsp:txXfrm>
    </dsp:sp>
    <dsp:sp modelId="{1DFF3C36-D263-5343-81BB-8740166AD25A}">
      <dsp:nvSpPr>
        <dsp:cNvPr id="0" name=""/>
        <dsp:cNvSpPr/>
      </dsp:nvSpPr>
      <dsp:spPr>
        <a:xfrm>
          <a:off x="3276605" y="1119788"/>
          <a:ext cx="2467272" cy="616818"/>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tx1"/>
              </a:solidFill>
            </a:rPr>
            <a:t>Registration</a:t>
          </a:r>
        </a:p>
      </dsp:txBody>
      <dsp:txXfrm>
        <a:off x="3294671" y="1137854"/>
        <a:ext cx="2431140" cy="580686"/>
      </dsp:txXfrm>
    </dsp:sp>
    <dsp:sp modelId="{FDC2ACAE-9F74-D944-BF52-0E244DB76F2A}">
      <dsp:nvSpPr>
        <dsp:cNvPr id="0" name=""/>
        <dsp:cNvSpPr/>
      </dsp:nvSpPr>
      <dsp:spPr>
        <a:xfrm rot="5302538">
          <a:off x="4364685" y="1774311"/>
          <a:ext cx="327153" cy="578633"/>
        </a:xfrm>
        <a:prstGeom prst="rightArrow">
          <a:avLst>
            <a:gd name="adj1" fmla="val 66700"/>
            <a:gd name="adj2" fmla="val 50000"/>
          </a:avLst>
        </a:prstGeom>
        <a:solidFill>
          <a:schemeClr val="bg2"/>
        </a:solidFill>
        <a:ln>
          <a:no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9F46745B-DDFD-9142-A2AB-A68D61AF4AC4}">
      <dsp:nvSpPr>
        <dsp:cNvPr id="0" name=""/>
        <dsp:cNvSpPr/>
      </dsp:nvSpPr>
      <dsp:spPr>
        <a:xfrm>
          <a:off x="3200391" y="2390651"/>
          <a:ext cx="2700725" cy="932295"/>
        </a:xfrm>
        <a:prstGeom prst="roundRect">
          <a:avLst>
            <a:gd name="adj" fmla="val 10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dirty="0">
              <a:solidFill>
                <a:schemeClr val="tx2">
                  <a:lumMod val="10000"/>
                </a:schemeClr>
              </a:solidFill>
            </a:rPr>
            <a:t>A user’s public key must be registered with a certification authority in order to receive an X.509 public-key certificate</a:t>
          </a:r>
        </a:p>
      </dsp:txBody>
      <dsp:txXfrm>
        <a:off x="3227697" y="2417957"/>
        <a:ext cx="2646113" cy="877683"/>
      </dsp:txXfrm>
    </dsp:sp>
    <dsp:sp modelId="{6FFE8623-4392-894F-AB9D-1E249DE8C8DD}">
      <dsp:nvSpPr>
        <dsp:cNvPr id="0" name=""/>
        <dsp:cNvSpPr/>
      </dsp:nvSpPr>
      <dsp:spPr>
        <a:xfrm>
          <a:off x="6248398" y="1119788"/>
          <a:ext cx="2467272" cy="616818"/>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tx1"/>
              </a:solidFill>
            </a:rPr>
            <a:t>Certificate storage and retrieval</a:t>
          </a:r>
        </a:p>
      </dsp:txBody>
      <dsp:txXfrm>
        <a:off x="6266464" y="1137854"/>
        <a:ext cx="2431140" cy="580686"/>
      </dsp:txXfrm>
    </dsp:sp>
    <dsp:sp modelId="{9B6C36B4-2E14-DD41-AA37-637EABA5416A}">
      <dsp:nvSpPr>
        <dsp:cNvPr id="0" name=""/>
        <dsp:cNvSpPr/>
      </dsp:nvSpPr>
      <dsp:spPr>
        <a:xfrm rot="5394644">
          <a:off x="7323056" y="1767204"/>
          <a:ext cx="319915" cy="578633"/>
        </a:xfrm>
        <a:prstGeom prst="rightArrow">
          <a:avLst>
            <a:gd name="adj1" fmla="val 66700"/>
            <a:gd name="adj2" fmla="val 50000"/>
          </a:avLst>
        </a:prstGeom>
        <a:solidFill>
          <a:schemeClr val="bg2"/>
        </a:solidFill>
        <a:ln>
          <a:no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510A18EB-2775-2A43-8C68-735C2689912B}">
      <dsp:nvSpPr>
        <dsp:cNvPr id="0" name=""/>
        <dsp:cNvSpPr/>
      </dsp:nvSpPr>
      <dsp:spPr>
        <a:xfrm>
          <a:off x="6248411" y="2376436"/>
          <a:ext cx="2472083" cy="1207347"/>
        </a:xfrm>
        <a:prstGeom prst="roundRect">
          <a:avLst>
            <a:gd name="adj" fmla="val 10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dirty="0">
              <a:solidFill>
                <a:schemeClr val="tx2">
                  <a:lumMod val="10000"/>
                </a:schemeClr>
              </a:solidFill>
            </a:rPr>
            <a:t>A user requires access to a local list of certificates in order to verify incoming signatures and to encrypt outgoing messages</a:t>
          </a:r>
        </a:p>
      </dsp:txBody>
      <dsp:txXfrm>
        <a:off x="6283773" y="2411798"/>
        <a:ext cx="2401359" cy="113662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3C4F8-81C0-D846-BE5D-EDFFC409EC64}">
      <dsp:nvSpPr>
        <dsp:cNvPr id="0" name=""/>
        <dsp:cNvSpPr/>
      </dsp:nvSpPr>
      <dsp:spPr>
        <a:xfrm>
          <a:off x="0" y="309387"/>
          <a:ext cx="7162800" cy="10158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55913" tIns="312420" rIns="555913"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tx2">
                  <a:lumMod val="10000"/>
                </a:schemeClr>
              </a:solidFill>
            </a:rPr>
            <a:t>Returning a signed receipt provides proof of delivery to the originator of a message and allows the originator to demonstrate to a third party that the recipient received the message</a:t>
          </a:r>
        </a:p>
      </dsp:txBody>
      <dsp:txXfrm>
        <a:off x="0" y="309387"/>
        <a:ext cx="7162800" cy="1015875"/>
      </dsp:txXfrm>
    </dsp:sp>
    <dsp:sp modelId="{CF731F4C-77D3-D142-BDD1-9ED34204689E}">
      <dsp:nvSpPr>
        <dsp:cNvPr id="0" name=""/>
        <dsp:cNvSpPr/>
      </dsp:nvSpPr>
      <dsp:spPr>
        <a:xfrm>
          <a:off x="358140" y="87987"/>
          <a:ext cx="5013960" cy="44280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89516" tIns="0" rIns="189516" bIns="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1"/>
              </a:solidFill>
            </a:rPr>
            <a:t>Signed receipt</a:t>
          </a:r>
        </a:p>
      </dsp:txBody>
      <dsp:txXfrm>
        <a:off x="379756" y="109603"/>
        <a:ext cx="4970728" cy="399568"/>
      </dsp:txXfrm>
    </dsp:sp>
    <dsp:sp modelId="{4F517E61-2533-FE4A-BA67-1CC6AD3AC480}">
      <dsp:nvSpPr>
        <dsp:cNvPr id="0" name=""/>
        <dsp:cNvSpPr/>
      </dsp:nvSpPr>
      <dsp:spPr>
        <a:xfrm>
          <a:off x="0" y="1627662"/>
          <a:ext cx="7162800" cy="8268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55913" tIns="312420" rIns="555913"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tx2">
                  <a:lumMod val="10000"/>
                </a:schemeClr>
              </a:solidFill>
            </a:rPr>
            <a:t>A set of security information regarding the sensitivity of the content that is protected by S/MIME encapsulation</a:t>
          </a:r>
        </a:p>
      </dsp:txBody>
      <dsp:txXfrm>
        <a:off x="0" y="1627662"/>
        <a:ext cx="7162800" cy="826875"/>
      </dsp:txXfrm>
    </dsp:sp>
    <dsp:sp modelId="{440D7A47-3DC9-AF4D-8526-9309B96620C8}">
      <dsp:nvSpPr>
        <dsp:cNvPr id="0" name=""/>
        <dsp:cNvSpPr/>
      </dsp:nvSpPr>
      <dsp:spPr>
        <a:xfrm>
          <a:off x="358140" y="1406262"/>
          <a:ext cx="5013960" cy="44280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89516" tIns="0" rIns="189516" bIns="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1"/>
              </a:solidFill>
            </a:rPr>
            <a:t>Security labels</a:t>
          </a:r>
        </a:p>
      </dsp:txBody>
      <dsp:txXfrm>
        <a:off x="379756" y="1427878"/>
        <a:ext cx="4970728" cy="399568"/>
      </dsp:txXfrm>
    </dsp:sp>
    <dsp:sp modelId="{B08D884C-5619-A643-806F-8D8899537C02}">
      <dsp:nvSpPr>
        <dsp:cNvPr id="0" name=""/>
        <dsp:cNvSpPr/>
      </dsp:nvSpPr>
      <dsp:spPr>
        <a:xfrm>
          <a:off x="0" y="2756937"/>
          <a:ext cx="7162800" cy="10158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55913" tIns="312420" rIns="555913"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tx2">
                  <a:lumMod val="10000"/>
                </a:schemeClr>
              </a:solidFill>
            </a:rPr>
            <a:t>An S/MIME Mail List Agent (MLA) can take a single incoming message, perform the recipient-specific encryption for each recipient, and forward the message</a:t>
          </a:r>
        </a:p>
      </dsp:txBody>
      <dsp:txXfrm>
        <a:off x="0" y="2756937"/>
        <a:ext cx="7162800" cy="1015875"/>
      </dsp:txXfrm>
    </dsp:sp>
    <dsp:sp modelId="{D7982033-E83B-AF4C-B8A7-0165CA0EE79C}">
      <dsp:nvSpPr>
        <dsp:cNvPr id="0" name=""/>
        <dsp:cNvSpPr/>
      </dsp:nvSpPr>
      <dsp:spPr>
        <a:xfrm>
          <a:off x="358140" y="2535537"/>
          <a:ext cx="5013960" cy="44280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89516" tIns="0" rIns="189516" bIns="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1"/>
              </a:solidFill>
            </a:rPr>
            <a:t>Secure mailing lists</a:t>
          </a:r>
        </a:p>
      </dsp:txBody>
      <dsp:txXfrm>
        <a:off x="379756" y="2557153"/>
        <a:ext cx="4970728" cy="39956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FBD50-8486-754D-A169-DE944DDE6132}">
      <dsp:nvSpPr>
        <dsp:cNvPr id="0" name=""/>
        <dsp:cNvSpPr/>
      </dsp:nvSpPr>
      <dsp:spPr>
        <a:xfrm>
          <a:off x="0" y="0"/>
          <a:ext cx="4837043" cy="4978400"/>
        </a:xfrm>
        <a:prstGeom prst="triangle">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125C339E-4F11-1B46-BE35-E3E1A805B6F5}">
      <dsp:nvSpPr>
        <dsp:cNvPr id="0" name=""/>
        <dsp:cNvSpPr/>
      </dsp:nvSpPr>
      <dsp:spPr>
        <a:xfrm>
          <a:off x="869151" y="3623334"/>
          <a:ext cx="3144078" cy="1178480"/>
        </a:xfrm>
        <a:prstGeom prst="roundRect">
          <a:avLst/>
        </a:prstGeom>
        <a:solidFill>
          <a:schemeClr val="lt1">
            <a:alpha val="90000"/>
            <a:hueOff val="0"/>
            <a:satOff val="0"/>
            <a:lumOff val="0"/>
            <a:alphaOff val="0"/>
          </a:schemeClr>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At the low end are attackers who simply want to send e-mail that a recipient does not want to receive</a:t>
          </a:r>
        </a:p>
      </dsp:txBody>
      <dsp:txXfrm>
        <a:off x="926680" y="3680863"/>
        <a:ext cx="3029020" cy="1063422"/>
      </dsp:txXfrm>
    </dsp:sp>
    <dsp:sp modelId="{55495424-309A-C641-9EE7-3186D954936C}">
      <dsp:nvSpPr>
        <dsp:cNvPr id="0" name=""/>
        <dsp:cNvSpPr/>
      </dsp:nvSpPr>
      <dsp:spPr>
        <a:xfrm>
          <a:off x="869151" y="2120971"/>
          <a:ext cx="3144078" cy="1178480"/>
        </a:xfrm>
        <a:prstGeom prst="roundRect">
          <a:avLst/>
        </a:prstGeom>
        <a:solidFill>
          <a:schemeClr val="lt1">
            <a:alpha val="90000"/>
            <a:hueOff val="0"/>
            <a:satOff val="0"/>
            <a:lumOff val="0"/>
            <a:alphaOff val="0"/>
          </a:schemeClr>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The next level are professional senders of bulk spam mail and often operate as commercial enterprises and send messages on behalf of third parties</a:t>
          </a:r>
        </a:p>
      </dsp:txBody>
      <dsp:txXfrm>
        <a:off x="926680" y="2178500"/>
        <a:ext cx="3029020" cy="1063422"/>
      </dsp:txXfrm>
    </dsp:sp>
    <dsp:sp modelId="{27B93BF8-083B-4A4C-B716-EB033E916BB9}">
      <dsp:nvSpPr>
        <dsp:cNvPr id="0" name=""/>
        <dsp:cNvSpPr/>
      </dsp:nvSpPr>
      <dsp:spPr>
        <a:xfrm>
          <a:off x="956085" y="530247"/>
          <a:ext cx="3144078" cy="1178480"/>
        </a:xfrm>
        <a:prstGeom prst="roundRect">
          <a:avLst/>
        </a:prstGeom>
        <a:solidFill>
          <a:schemeClr val="lt1">
            <a:alpha val="90000"/>
            <a:hueOff val="0"/>
            <a:satOff val="0"/>
            <a:lumOff val="0"/>
            <a:alphaOff val="0"/>
          </a:schemeClr>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dirty="0"/>
            <a:t>The most sophisticated and financially motivated senders of messages are those who stand to receive substantial financial benefit, such as from an e-mail based fraud scheme</a:t>
          </a:r>
        </a:p>
      </dsp:txBody>
      <dsp:txXfrm>
        <a:off x="1013614" y="587776"/>
        <a:ext cx="3029020" cy="106342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9.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AU"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AU" dirty="0"/>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AU"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CB7A55E6-BE3F-7A48-8783-9A487B642D69}" type="slidenum">
              <a:rPr lang="en-AU"/>
              <a:pPr>
                <a:defRPr/>
              </a:pPr>
              <a:t>‹#›</a:t>
            </a:fld>
            <a:endParaRPr lang="en-AU" dirty="0"/>
          </a:p>
        </p:txBody>
      </p:sp>
    </p:spTree>
    <p:extLst>
      <p:ext uri="{BB962C8B-B14F-4D97-AF65-F5344CB8AC3E}">
        <p14:creationId xmlns:p14="http://schemas.microsoft.com/office/powerpoint/2010/main" val="42488695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2pPr>
    <a:lvl3pPr marL="9144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3pPr>
    <a:lvl4pPr marL="13716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4pPr>
    <a:lvl5pPr marL="18288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31"/>
          <p:cNvSpPr>
            <a:spLocks noGrp="1" noChangeArrowheads="1"/>
          </p:cNvSpPr>
          <p:nvPr>
            <p:ph type="sldNum" sz="quarter" idx="5"/>
          </p:nvPr>
        </p:nvSpPr>
        <p:spPr>
          <a:noFill/>
        </p:spPr>
        <p:txBody>
          <a:bodyPr/>
          <a:lstStyle/>
          <a:p>
            <a:fld id="{83797CDE-EF53-504B-BFCD-94AE144A17CE}" type="slidenum">
              <a:rPr lang="en-AU">
                <a:latin typeface="Arial" pitchFamily="-1" charset="0"/>
              </a:rPr>
              <a:pPr/>
              <a:t>1</a:t>
            </a:fld>
            <a:endParaRPr lang="en-AU" dirty="0">
              <a:latin typeface="Arial" pitchFamily="-1"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a:latin typeface="Arial" pitchFamily="-1" charset="0"/>
                <a:ea typeface="ＭＳ Ｐゴシック" pitchFamily="-1" charset="-128"/>
                <a:cs typeface="ＭＳ Ｐゴシック" pitchFamily="-1" charset="-128"/>
              </a:rPr>
              <a:t>Lecture slides</a:t>
            </a:r>
            <a:r>
              <a:rPr lang="en-US" baseline="0" dirty="0">
                <a:latin typeface="Arial" pitchFamily="-1" charset="0"/>
                <a:ea typeface="ＭＳ Ｐゴシック" pitchFamily="-1" charset="-128"/>
                <a:cs typeface="ＭＳ Ｐゴシック" pitchFamily="-1" charset="-128"/>
              </a:rPr>
              <a:t> prepared</a:t>
            </a:r>
            <a:r>
              <a:rPr lang="en-US" dirty="0">
                <a:latin typeface="Arial" pitchFamily="-1" charset="0"/>
                <a:ea typeface="ＭＳ Ｐゴシック" pitchFamily="-1" charset="-128"/>
                <a:cs typeface="ＭＳ Ｐゴシック" pitchFamily="-1" charset="-128"/>
              </a:rPr>
              <a:t> for “Network Security Essentials”, 5/e, by William Stallings, </a:t>
            </a:r>
            <a:r>
              <a:rPr lang="en-US" dirty="0">
                <a:latin typeface="Arial" pitchFamily="-1" charset="0"/>
                <a:ea typeface="Arial" pitchFamily="-1" charset="0"/>
                <a:cs typeface="Arial" pitchFamily="-1" charset="0"/>
              </a:rPr>
              <a:t>Chapter 8 – “</a:t>
            </a:r>
            <a:r>
              <a:rPr lang="en-AU" dirty="0">
                <a:latin typeface="Arial" pitchFamily="-1" charset="0"/>
                <a:ea typeface="Arial" pitchFamily="-1" charset="0"/>
                <a:cs typeface="Arial" pitchFamily="-1" charset="0"/>
              </a:rPr>
              <a:t>Electronic Mail Security</a:t>
            </a:r>
            <a:r>
              <a:rPr lang="en-US" dirty="0">
                <a:latin typeface="Arial" pitchFamily="-1" charset="0"/>
                <a:ea typeface="Arial" pitchFamily="-1" charset="0"/>
                <a:cs typeface="Arial" pitchFamily="-1" charset="0"/>
              </a:rPr>
              <a:t>”.</a:t>
            </a:r>
            <a:endParaRPr lang="en-AU" dirty="0">
              <a:latin typeface="Arial" pitchFamily="-1" charset="0"/>
              <a:ea typeface="ＭＳ Ｐゴシック" pitchFamily="-1" charset="-128"/>
              <a:cs typeface="ＭＳ Ｐゴシック" pitchFamily="-1" charset="-128"/>
            </a:endParaRPr>
          </a:p>
          <a:p>
            <a:pPr eaLnBrk="1" hangingPunct="1"/>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p:cNvSpPr>
          <p:nvPr>
            <p:ph type="sldImg"/>
          </p:nvPr>
        </p:nvSpPr>
        <p:spPr>
          <a:ln/>
        </p:spPr>
      </p:sp>
      <p:sp>
        <p:nvSpPr>
          <p:cNvPr id="20483" name="Notes Placeholder 2"/>
          <p:cNvSpPr>
            <a:spLocks noGrp="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In virtually all distributed environments, electronic mail is the most heavily used</a:t>
            </a:r>
          </a:p>
          <a:p>
            <a:r>
              <a:rPr lang="en-US" sz="1200" kern="1200" baseline="0" dirty="0">
                <a:solidFill>
                  <a:schemeClr val="tx1"/>
                </a:solidFill>
                <a:latin typeface="Arial" pitchFamily="-107" charset="0"/>
                <a:ea typeface="ＭＳ Ｐゴシック" pitchFamily="-107" charset="-128"/>
                <a:cs typeface="ＭＳ Ｐゴシック" pitchFamily="-107" charset="-128"/>
              </a:rPr>
              <a:t>network-based application. Users expect to be able to, and do, send e-mail to others</a:t>
            </a:r>
          </a:p>
          <a:p>
            <a:r>
              <a:rPr lang="en-US" sz="1200" kern="1200" baseline="0" dirty="0">
                <a:solidFill>
                  <a:schemeClr val="tx1"/>
                </a:solidFill>
                <a:latin typeface="Arial" pitchFamily="-107" charset="0"/>
                <a:ea typeface="ＭＳ Ｐゴシック" pitchFamily="-107" charset="-128"/>
                <a:cs typeface="ＭＳ Ｐゴシック" pitchFamily="-107" charset="-128"/>
              </a:rPr>
              <a:t>who are connected directly or indirectly to the Internet, regardless of host operating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system or communications suite. With the explosively growing reliance on e-mail,</a:t>
            </a:r>
          </a:p>
          <a:p>
            <a:r>
              <a:rPr lang="en-US" sz="1200" kern="1200" baseline="0" dirty="0">
                <a:solidFill>
                  <a:schemeClr val="tx1"/>
                </a:solidFill>
                <a:latin typeface="Arial" pitchFamily="-107" charset="0"/>
                <a:ea typeface="ＭＳ Ｐゴシック" pitchFamily="-107" charset="-128"/>
                <a:cs typeface="ＭＳ Ｐゴシック" pitchFamily="-107" charset="-128"/>
              </a:rPr>
              <a:t>there grows a demand for authentication and confidentiality services. Two schemes</a:t>
            </a:r>
          </a:p>
          <a:p>
            <a:r>
              <a:rPr lang="en-US" sz="1200" kern="1200" baseline="0" dirty="0">
                <a:solidFill>
                  <a:schemeClr val="tx1"/>
                </a:solidFill>
                <a:latin typeface="Arial" pitchFamily="-107" charset="0"/>
                <a:ea typeface="ＭＳ Ｐゴシック" pitchFamily="-107" charset="-128"/>
                <a:cs typeface="ＭＳ Ｐゴシック" pitchFamily="-107" charset="-128"/>
              </a:rPr>
              <a:t>stand out as approaches that enjoy widespread use: Pretty Good Privacy (PGP)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S/MIME. Both are examined in this chapter. The chapter closes with a discussion of</a:t>
            </a:r>
          </a:p>
          <a:p>
            <a:r>
              <a:rPr lang="en-US" sz="1200" kern="1200" baseline="0" dirty="0">
                <a:solidFill>
                  <a:schemeClr val="tx1"/>
                </a:solidFill>
                <a:latin typeface="Arial" pitchFamily="-107" charset="0"/>
                <a:ea typeface="ＭＳ Ｐゴシック" pitchFamily="-107" charset="-128"/>
                <a:cs typeface="ＭＳ Ｐゴシック" pitchFamily="-107" charset="-128"/>
              </a:rPr>
              <a:t>DomainKeys Identified Mail.</a:t>
            </a:r>
            <a:endParaRPr lang="en-US" dirty="0">
              <a:latin typeface="Arial" pitchFamily="-84" charset="0"/>
              <a:ea typeface="ＭＳ Ｐゴシック" pitchFamily="-84" charset="-128"/>
              <a:cs typeface="ＭＳ Ｐゴシック" pitchFamily="-84" charset="-128"/>
            </a:endParaRPr>
          </a:p>
          <a:p>
            <a:endParaRPr lang="en-US" dirty="0">
              <a:latin typeface="Arial" pitchFamily="-84" charset="0"/>
              <a:ea typeface="ＭＳ Ｐゴシック" pitchFamily="-84" charset="-128"/>
              <a:cs typeface="ＭＳ Ｐゴシック" pitchFamily="-84" charset="-128"/>
            </a:endParaRPr>
          </a:p>
        </p:txBody>
      </p:sp>
      <p:sp>
        <p:nvSpPr>
          <p:cNvPr id="20484" name="Slide Number Placeholder 3"/>
          <p:cNvSpPr>
            <a:spLocks noGrp="1"/>
          </p:cNvSpPr>
          <p:nvPr>
            <p:ph type="sldNum" sz="quarter" idx="5"/>
          </p:nvPr>
        </p:nvSpPr>
        <p:spPr>
          <a:noFill/>
        </p:spPr>
        <p:txBody>
          <a:bodyPr/>
          <a:lstStyle/>
          <a:p>
            <a:fld id="{9CFA8CB0-B256-FB46-8B41-13A19D2B6A57}" type="slidenum">
              <a:rPr lang="en-AU" smtClean="0">
                <a:latin typeface="Arial" pitchFamily="-1" charset="0"/>
              </a:rPr>
              <a:pPr/>
              <a:t>2</a:t>
            </a:fld>
            <a:endParaRPr lang="en-AU" dirty="0">
              <a:latin typeface="Arial" pitchFamily="-1"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B12B7B23-768D-964E-B9C0-59A30E30783D}" type="slidenum">
              <a:rPr lang="en-AU">
                <a:latin typeface="Arial" pitchFamily="-1" charset="0"/>
              </a:rPr>
              <a:pPr/>
              <a:t>3</a:t>
            </a:fld>
            <a:endParaRPr lang="en-AU" dirty="0">
              <a:latin typeface="Arial" pitchFamily="-1" charset="0"/>
            </a:endParaRPr>
          </a:p>
        </p:txBody>
      </p:sp>
      <p:sp>
        <p:nvSpPr>
          <p:cNvPr id="17411" name="Rectangle 1026"/>
          <p:cNvSpPr>
            <a:spLocks noGrp="1" noRot="1" noChangeAspect="1" noChangeArrowheads="1" noTextEdit="1"/>
          </p:cNvSpPr>
          <p:nvPr>
            <p:ph type="sldImg"/>
          </p:nvPr>
        </p:nvSpPr>
        <p:spPr>
          <a:ln/>
        </p:spPr>
      </p:sp>
      <p:sp>
        <p:nvSpPr>
          <p:cNvPr id="17412" name="Rectangle 1027"/>
          <p:cNvSpPr>
            <a:spLocks noGrp="1" noChangeArrowheads="1"/>
          </p:cNvSpPr>
          <p:nvPr>
            <p:ph type="body" idx="1"/>
          </p:nvPr>
        </p:nvSpPr>
        <p:spPr>
          <a:noFill/>
          <a:ln/>
        </p:spPr>
        <p:txBody>
          <a:bodyPr/>
          <a:lstStyle/>
          <a:p>
            <a:pPr eaLnBrk="1" hangingPunct="1"/>
            <a:r>
              <a:rPr lang="en-US" dirty="0">
                <a:latin typeface="Arial" pitchFamily="-1" charset="0"/>
                <a:ea typeface="ＭＳ Ｐゴシック" pitchFamily="-1" charset="-128"/>
                <a:cs typeface="ＭＳ Ｐゴシック" pitchFamily="-1" charset="-128"/>
              </a:rPr>
              <a:t>Opening quote.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E834EB5A-30D5-F340-A008-C7ED2BD5B9A2}" type="slidenum">
              <a:rPr lang="en-AU">
                <a:latin typeface="Arial" pitchFamily="-1" charset="0"/>
              </a:rPr>
              <a:pPr/>
              <a:t>4</a:t>
            </a:fld>
            <a:endParaRPr lang="en-AU" dirty="0">
              <a:latin typeface="Arial" pitchFamily="-1"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PGP is a remarkable phenomenon. Largely the effort of a single person, Phil</a:t>
            </a:r>
          </a:p>
          <a:p>
            <a:r>
              <a:rPr lang="en-US" sz="1200" kern="1200" baseline="0" dirty="0">
                <a:solidFill>
                  <a:schemeClr val="tx1"/>
                </a:solidFill>
                <a:latin typeface="Arial" pitchFamily="-107" charset="0"/>
                <a:ea typeface="ＭＳ Ｐゴシック" pitchFamily="-107" charset="-128"/>
                <a:cs typeface="ＭＳ Ｐゴシック" pitchFamily="-107" charset="-128"/>
              </a:rPr>
              <a:t>Zimmermann, PGP provides a confidentiality and authentication service that can</a:t>
            </a:r>
          </a:p>
          <a:p>
            <a:r>
              <a:rPr lang="en-US" sz="1200" kern="1200" baseline="0" dirty="0">
                <a:solidFill>
                  <a:schemeClr val="tx1"/>
                </a:solidFill>
                <a:latin typeface="Arial" pitchFamily="-107" charset="0"/>
                <a:ea typeface="ＭＳ Ｐゴシック" pitchFamily="-107" charset="-128"/>
                <a:cs typeface="ＭＳ Ｐゴシック" pitchFamily="-107" charset="-128"/>
              </a:rPr>
              <a:t>be used for electronic mail and file storage applications. In essence, Zimmermann</a:t>
            </a:r>
          </a:p>
          <a:p>
            <a:r>
              <a:rPr lang="en-US" sz="1200" kern="1200" baseline="0" dirty="0">
                <a:solidFill>
                  <a:schemeClr val="tx1"/>
                </a:solidFill>
                <a:latin typeface="Arial" pitchFamily="-107" charset="0"/>
                <a:ea typeface="ＭＳ Ｐゴシック" pitchFamily="-107" charset="-128"/>
                <a:cs typeface="ＭＳ Ｐゴシック" pitchFamily="-107" charset="-128"/>
              </a:rPr>
              <a:t>has done the following: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Selected the best available cryptographic algorithms as building blocks.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Integrated these algorithms into a general-purpose application that is independent</a:t>
            </a:r>
          </a:p>
          <a:p>
            <a:r>
              <a:rPr lang="en-US" sz="1200" kern="1200" baseline="0" dirty="0">
                <a:solidFill>
                  <a:schemeClr val="tx1"/>
                </a:solidFill>
                <a:latin typeface="Arial" pitchFamily="-107" charset="0"/>
                <a:ea typeface="ＭＳ Ｐゴシック" pitchFamily="-107" charset="-128"/>
                <a:cs typeface="ＭＳ Ｐゴシック" pitchFamily="-107" charset="-128"/>
              </a:rPr>
              <a:t>of operating system and processor and that is based on a small set of</a:t>
            </a:r>
          </a:p>
          <a:p>
            <a:r>
              <a:rPr lang="en-US" sz="1200" kern="1200" baseline="0" dirty="0">
                <a:solidFill>
                  <a:schemeClr val="tx1"/>
                </a:solidFill>
                <a:latin typeface="Arial" pitchFamily="-107" charset="0"/>
                <a:ea typeface="ＭＳ Ｐゴシック" pitchFamily="-107" charset="-128"/>
                <a:cs typeface="ＭＳ Ｐゴシック" pitchFamily="-107" charset="-128"/>
              </a:rPr>
              <a:t>easy-to-use commands.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Made the package and its documentation, including the source code, freely</a:t>
            </a:r>
          </a:p>
          <a:p>
            <a:r>
              <a:rPr lang="en-US" sz="1200" kern="1200" baseline="0" dirty="0">
                <a:solidFill>
                  <a:schemeClr val="tx1"/>
                </a:solidFill>
                <a:latin typeface="Arial" pitchFamily="-107" charset="0"/>
                <a:ea typeface="ＭＳ Ｐゴシック" pitchFamily="-107" charset="-128"/>
                <a:cs typeface="ＭＳ Ｐゴシック" pitchFamily="-107" charset="-128"/>
              </a:rPr>
              <a:t>available via the Internet, bulletin boards, and commercial networks such as</a:t>
            </a:r>
          </a:p>
          <a:p>
            <a:r>
              <a:rPr lang="en-US" sz="1200" kern="1200" baseline="0" dirty="0">
                <a:solidFill>
                  <a:schemeClr val="tx1"/>
                </a:solidFill>
                <a:latin typeface="Arial" pitchFamily="-107" charset="0"/>
                <a:ea typeface="ＭＳ Ｐゴシック" pitchFamily="-107" charset="-128"/>
                <a:cs typeface="ＭＳ Ｐゴシック" pitchFamily="-107" charset="-128"/>
              </a:rPr>
              <a:t>AOL (America On Line).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Entered into an agreement with a company (Viacrypt, now Network</a:t>
            </a:r>
          </a:p>
          <a:p>
            <a:r>
              <a:rPr lang="en-US" sz="1200" kern="1200" baseline="0" dirty="0">
                <a:solidFill>
                  <a:schemeClr val="tx1"/>
                </a:solidFill>
                <a:latin typeface="Arial" pitchFamily="-107" charset="0"/>
                <a:ea typeface="ＭＳ Ｐゴシック" pitchFamily="-107" charset="-128"/>
                <a:cs typeface="ＭＳ Ｐゴシック" pitchFamily="-107" charset="-128"/>
              </a:rPr>
              <a:t>Associates) to provide a fully compatible, low-cost commercial version of PGP.</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PGP has grown explosively and is now widely used. A number of reasons can</a:t>
            </a:r>
          </a:p>
          <a:p>
            <a:r>
              <a:rPr lang="en-US" sz="1200" kern="1200" baseline="0" dirty="0">
                <a:solidFill>
                  <a:schemeClr val="tx1"/>
                </a:solidFill>
                <a:latin typeface="Arial" pitchFamily="-107" charset="0"/>
                <a:ea typeface="ＭＳ Ｐゴシック" pitchFamily="-107" charset="-128"/>
                <a:cs typeface="ＭＳ Ｐゴシック" pitchFamily="-107" charset="-128"/>
              </a:rPr>
              <a:t>be cited for this growth.</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It is available free worldwide in versions that run on a variety of platforms, including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Windows, UNIX, Macintosh, and many more. In addition, the commercial</a:t>
            </a:r>
          </a:p>
          <a:p>
            <a:r>
              <a:rPr lang="en-US" sz="1200" kern="1200" baseline="0" dirty="0">
                <a:solidFill>
                  <a:schemeClr val="tx1"/>
                </a:solidFill>
                <a:latin typeface="Arial" pitchFamily="-107" charset="0"/>
                <a:ea typeface="ＭＳ Ｐゴシック" pitchFamily="-107" charset="-128"/>
                <a:cs typeface="ＭＳ Ｐゴシック" pitchFamily="-107" charset="-128"/>
              </a:rPr>
              <a:t>version satisfies users who want a product that comes with vendor support.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It is based on algorithms that have survived extensive public review and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considered extremely secure. Specifically, the package includes RSA, DSS,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Diffie-Hellman for public-key encryption; CAST-128, IDEA, and 3DES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symmetric encryption; and SHA-1 for hash coding.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It has a wide range of applicability, from corporations that wish to select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enforce a standardized scheme for encrypting files and messages to individuals</a:t>
            </a:r>
          </a:p>
          <a:p>
            <a:r>
              <a:rPr lang="en-US" sz="1200" kern="1200" baseline="0" dirty="0">
                <a:solidFill>
                  <a:schemeClr val="tx1"/>
                </a:solidFill>
                <a:latin typeface="Arial" pitchFamily="-107" charset="0"/>
                <a:ea typeface="ＭＳ Ｐゴシック" pitchFamily="-107" charset="-128"/>
                <a:cs typeface="ＭＳ Ｐゴシック" pitchFamily="-107" charset="-128"/>
              </a:rPr>
              <a:t>who wish to communicate securely with others worldwide over the Internet</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other networks.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It was not developed by, nor is it controlled by, any governmental or standards</a:t>
            </a:r>
          </a:p>
          <a:p>
            <a:r>
              <a:rPr lang="en-US" sz="1200" kern="1200" baseline="0" dirty="0">
                <a:solidFill>
                  <a:schemeClr val="tx1"/>
                </a:solidFill>
                <a:latin typeface="Arial" pitchFamily="-107" charset="0"/>
                <a:ea typeface="ＭＳ Ｐゴシック" pitchFamily="-107" charset="-128"/>
                <a:cs typeface="ＭＳ Ｐゴシック" pitchFamily="-107" charset="-128"/>
              </a:rPr>
              <a:t>organization. For those with an instinctive distrust of “the establishment,” this</a:t>
            </a:r>
          </a:p>
          <a:p>
            <a:r>
              <a:rPr lang="en-US" sz="1200" kern="1200" baseline="0" dirty="0">
                <a:solidFill>
                  <a:schemeClr val="tx1"/>
                </a:solidFill>
                <a:latin typeface="Arial" pitchFamily="-107" charset="0"/>
                <a:ea typeface="ＭＳ Ｐゴシック" pitchFamily="-107" charset="-128"/>
                <a:cs typeface="ＭＳ Ｐゴシック" pitchFamily="-107" charset="-128"/>
              </a:rPr>
              <a:t>makes PGP attractive.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5.  PGP is now on an Internet standards track (RFC 3156; MIME Security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OpenPGP ). Nevertheless, PGP still has an aura of an antiestablishment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endeavor.</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5</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The actual operation of PGP, as opposed to the management of keys, consists of</a:t>
            </a:r>
          </a:p>
          <a:p>
            <a:r>
              <a:rPr lang="en-US" sz="1200" kern="1200" baseline="0" dirty="0">
                <a:solidFill>
                  <a:schemeClr val="tx1"/>
                </a:solidFill>
                <a:latin typeface="Arial" pitchFamily="-107" charset="0"/>
                <a:ea typeface="ＭＳ Ｐゴシック" pitchFamily="-107" charset="-128"/>
                <a:cs typeface="ＭＳ Ｐゴシック" pitchFamily="-107" charset="-128"/>
              </a:rPr>
              <a:t>four services: authentication, confidentiality, compression, and e-mail compatibility</a:t>
            </a:r>
          </a:p>
          <a:p>
            <a:r>
              <a:rPr lang="en-US" sz="1200" kern="1200" baseline="0" dirty="0">
                <a:solidFill>
                  <a:schemeClr val="tx1"/>
                </a:solidFill>
                <a:latin typeface="Arial" pitchFamily="-107" charset="0"/>
                <a:ea typeface="ＭＳ Ｐゴシック" pitchFamily="-107" charset="-128"/>
                <a:cs typeface="ＭＳ Ｐゴシック" pitchFamily="-107" charset="-128"/>
              </a:rPr>
              <a:t>(Table 8.1). </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6</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The combination of SHA-1 and RSA provides an effective digital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scheme. Because of the strength of RSA, the recipient is assured that only the possessor</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the matching private key can generate the signature. Because of the strength</a:t>
            </a:r>
          </a:p>
          <a:p>
            <a:r>
              <a:rPr lang="en-US" sz="1200" kern="1200" baseline="0" dirty="0">
                <a:solidFill>
                  <a:schemeClr val="tx1"/>
                </a:solidFill>
                <a:latin typeface="Arial" pitchFamily="-107" charset="0"/>
                <a:ea typeface="ＭＳ Ｐゴシック" pitchFamily="-107" charset="-128"/>
                <a:cs typeface="ＭＳ Ｐゴシック" pitchFamily="-107" charset="-128"/>
              </a:rPr>
              <a:t>of SHA-1, the recipient is assured that no one else could generate a new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matches the hash code and, hence, the signature of the original message.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As an alternative, signatures can be generated using DSS/SHA-1.</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Although signatures normally are found attached to the message or file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they sign, this is not always the case: Detached signatures are supported. A detached</a:t>
            </a:r>
          </a:p>
          <a:p>
            <a:r>
              <a:rPr lang="en-US" sz="1200" kern="1200" baseline="0" dirty="0">
                <a:solidFill>
                  <a:schemeClr val="tx1"/>
                </a:solidFill>
                <a:latin typeface="Arial" pitchFamily="-107" charset="0"/>
                <a:ea typeface="ＭＳ Ｐゴシック" pitchFamily="-107" charset="-128"/>
                <a:cs typeface="ＭＳ Ｐゴシック" pitchFamily="-107" charset="-128"/>
              </a:rPr>
              <a:t>signature may be stored and transmitted separately from the message it signs. This</a:t>
            </a:r>
          </a:p>
          <a:p>
            <a:r>
              <a:rPr lang="en-US" sz="1200" kern="1200" baseline="0" dirty="0">
                <a:solidFill>
                  <a:schemeClr val="tx1"/>
                </a:solidFill>
                <a:latin typeface="Arial" pitchFamily="-107" charset="0"/>
                <a:ea typeface="ＭＳ Ｐゴシック" pitchFamily="-107" charset="-128"/>
                <a:cs typeface="ＭＳ Ｐゴシック" pitchFamily="-107" charset="-128"/>
              </a:rPr>
              <a:t>is useful in several contexts. A user may wish to maintain a separate signature log of</a:t>
            </a:r>
          </a:p>
          <a:p>
            <a:r>
              <a:rPr lang="en-US" sz="1200" kern="1200" baseline="0" dirty="0">
                <a:solidFill>
                  <a:schemeClr val="tx1"/>
                </a:solidFill>
                <a:latin typeface="Arial" pitchFamily="-107" charset="0"/>
                <a:ea typeface="ＭＳ Ｐゴシック" pitchFamily="-107" charset="-128"/>
                <a:cs typeface="ＭＳ Ｐゴシック" pitchFamily="-107" charset="-128"/>
              </a:rPr>
              <a:t>all messages sent or received. A detached signature of an executable program can</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detect subsequent virus infection. Finally, detached signatures can be used when</a:t>
            </a:r>
          </a:p>
          <a:p>
            <a:r>
              <a:rPr lang="en-US" sz="1200" kern="1200" baseline="0" dirty="0">
                <a:solidFill>
                  <a:schemeClr val="tx1"/>
                </a:solidFill>
                <a:latin typeface="Arial" pitchFamily="-107" charset="0"/>
                <a:ea typeface="ＭＳ Ｐゴシック" pitchFamily="-107" charset="-128"/>
                <a:cs typeface="ＭＳ Ｐゴシック" pitchFamily="-107" charset="-128"/>
              </a:rPr>
              <a:t>more than one party must sign a document, such as a legal contract. Each person’s</a:t>
            </a:r>
          </a:p>
          <a:p>
            <a:r>
              <a:rPr lang="en-US" sz="1200" kern="1200" baseline="0" dirty="0">
                <a:solidFill>
                  <a:schemeClr val="tx1"/>
                </a:solidFill>
                <a:latin typeface="Arial" pitchFamily="-107" charset="0"/>
                <a:ea typeface="ＭＳ Ｐゴシック" pitchFamily="-107" charset="-128"/>
                <a:cs typeface="ＭＳ Ｐゴシック" pitchFamily="-107" charset="-128"/>
              </a:rPr>
              <a:t>signature is independent and therefore is applied only to the document. Otherwise,</a:t>
            </a:r>
          </a:p>
          <a:p>
            <a:r>
              <a:rPr lang="en-US" sz="1200" kern="1200" baseline="0" dirty="0">
                <a:solidFill>
                  <a:schemeClr val="tx1"/>
                </a:solidFill>
                <a:latin typeface="Arial" pitchFamily="-107" charset="0"/>
                <a:ea typeface="ＭＳ Ｐゴシック" pitchFamily="-107" charset="-128"/>
                <a:cs typeface="ＭＳ Ｐゴシック" pitchFamily="-107" charset="-128"/>
              </a:rPr>
              <a:t>signatures would have to be nested, with the second signer signing both the document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the first signature, and so 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7</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Another basic service provided by PGP is confidentiality, which</a:t>
            </a:r>
          </a:p>
          <a:p>
            <a:r>
              <a:rPr lang="en-US" sz="1200" kern="1200" baseline="0" dirty="0">
                <a:solidFill>
                  <a:schemeClr val="tx1"/>
                </a:solidFill>
                <a:latin typeface="Arial" pitchFamily="-107" charset="0"/>
                <a:ea typeface="ＭＳ Ｐゴシック" pitchFamily="-107" charset="-128"/>
                <a:cs typeface="ＭＳ Ｐゴシック" pitchFamily="-107" charset="-128"/>
              </a:rPr>
              <a:t>is provided by encrypting messages to be transmitted or to be stored locally as</a:t>
            </a:r>
          </a:p>
          <a:p>
            <a:r>
              <a:rPr lang="en-US" sz="1200" kern="1200" baseline="0" dirty="0">
                <a:solidFill>
                  <a:schemeClr val="tx1"/>
                </a:solidFill>
                <a:latin typeface="Arial" pitchFamily="-107" charset="0"/>
                <a:ea typeface="ＭＳ Ｐゴシック" pitchFamily="-107" charset="-128"/>
                <a:cs typeface="ＭＳ Ｐゴシック" pitchFamily="-107" charset="-128"/>
              </a:rPr>
              <a:t>files. In both cases, the symmetric encryption algorithm CAST-128 may be used.</a:t>
            </a:r>
          </a:p>
          <a:p>
            <a:r>
              <a:rPr lang="en-US" sz="1200" kern="1200" baseline="0" dirty="0">
                <a:solidFill>
                  <a:schemeClr val="tx1"/>
                </a:solidFill>
                <a:latin typeface="Arial" pitchFamily="-107" charset="0"/>
                <a:ea typeface="ＭＳ Ｐゴシック" pitchFamily="-107" charset="-128"/>
                <a:cs typeface="ＭＳ Ｐゴシック" pitchFamily="-107" charset="-128"/>
              </a:rPr>
              <a:t>Alternatively, IDEA or 3DES may be used. The 64-bit cipher feedback (CFB)</a:t>
            </a:r>
          </a:p>
          <a:p>
            <a:r>
              <a:rPr lang="en-US" sz="1200" kern="1200" baseline="0" dirty="0">
                <a:solidFill>
                  <a:schemeClr val="tx1"/>
                </a:solidFill>
                <a:latin typeface="Arial" pitchFamily="-107" charset="0"/>
                <a:ea typeface="ＭＳ Ｐゴシック" pitchFamily="-107" charset="-128"/>
                <a:cs typeface="ＭＳ Ｐゴシック" pitchFamily="-107" charset="-128"/>
              </a:rPr>
              <a:t>mode is used.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As always, one must address the problem of key distribution. In PGP, each</a:t>
            </a:r>
          </a:p>
          <a:p>
            <a:r>
              <a:rPr lang="en-US" sz="1200" kern="1200" baseline="0" dirty="0">
                <a:solidFill>
                  <a:schemeClr val="tx1"/>
                </a:solidFill>
                <a:latin typeface="Arial" pitchFamily="-107" charset="0"/>
                <a:ea typeface="ＭＳ Ｐゴシック" pitchFamily="-107" charset="-128"/>
                <a:cs typeface="ＭＳ Ｐゴシック" pitchFamily="-107" charset="-128"/>
              </a:rPr>
              <a:t>symmetric key is used only once. That is, a new key is generated as a random 128-bit</a:t>
            </a:r>
          </a:p>
          <a:p>
            <a:r>
              <a:rPr lang="en-US" sz="1200" kern="1200" baseline="0" dirty="0">
                <a:solidFill>
                  <a:schemeClr val="tx1"/>
                </a:solidFill>
                <a:latin typeface="Arial" pitchFamily="-107" charset="0"/>
                <a:ea typeface="ＭＳ Ｐゴシック" pitchFamily="-107" charset="-128"/>
                <a:cs typeface="ＭＳ Ｐゴシック" pitchFamily="-107" charset="-128"/>
              </a:rPr>
              <a:t>number for each message. Thus, although this is referred to in the documentation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as a session key, it is in reality a one-time key. Because it is to be used only once,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session key is bound to the message and transmitted with it. To protect the key,</a:t>
            </a:r>
          </a:p>
          <a:p>
            <a:r>
              <a:rPr lang="en-US" sz="1200" kern="1200" baseline="0" dirty="0">
                <a:solidFill>
                  <a:schemeClr val="tx1"/>
                </a:solidFill>
                <a:latin typeface="Arial" pitchFamily="-107" charset="0"/>
                <a:ea typeface="ＭＳ Ｐゴシック" pitchFamily="-107" charset="-128"/>
                <a:cs typeface="ＭＳ Ｐゴシック" pitchFamily="-107" charset="-128"/>
              </a:rPr>
              <a:t>it is encrypted with the receiver’s public key. Figure 8.1b illustrates the sequence.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As an alternative to the use of RSA for key encryption, PGP provides an option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referred to as Diffie-Hellman . As was explained in Chapter 3, Diffie-Hellman</a:t>
            </a:r>
          </a:p>
          <a:p>
            <a:r>
              <a:rPr lang="en-US" sz="1200" kern="1200" baseline="0" dirty="0">
                <a:solidFill>
                  <a:schemeClr val="tx1"/>
                </a:solidFill>
                <a:latin typeface="Arial" pitchFamily="-107" charset="0"/>
                <a:ea typeface="ＭＳ Ｐゴシック" pitchFamily="-107" charset="-128"/>
                <a:cs typeface="ＭＳ Ｐゴシック" pitchFamily="-107" charset="-128"/>
              </a:rPr>
              <a:t>is a key exchange algorithm. In fact, PGP uses a variant of Diffie-Hellman that does</a:t>
            </a:r>
          </a:p>
          <a:p>
            <a:r>
              <a:rPr lang="en-US" sz="1200" kern="1200" baseline="0" dirty="0">
                <a:solidFill>
                  <a:schemeClr val="tx1"/>
                </a:solidFill>
                <a:latin typeface="Arial" pitchFamily="-107" charset="0"/>
                <a:ea typeface="ＭＳ Ｐゴシック" pitchFamily="-107" charset="-128"/>
                <a:cs typeface="ＭＳ Ｐゴシック" pitchFamily="-107" charset="-128"/>
              </a:rPr>
              <a:t>provide encryption/decryption, known as ElGamal.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Several observations may be made. First, to reduce encryption time, the combination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of symmetric and public-key encryption is used in preference to simply</a:t>
            </a:r>
          </a:p>
          <a:p>
            <a:r>
              <a:rPr lang="en-US" sz="1200" kern="1200" baseline="0" dirty="0">
                <a:solidFill>
                  <a:schemeClr val="tx1"/>
                </a:solidFill>
                <a:latin typeface="Arial" pitchFamily="-107" charset="0"/>
                <a:ea typeface="ＭＳ Ｐゴシック" pitchFamily="-107" charset="-128"/>
                <a:cs typeface="ＭＳ Ｐゴシック" pitchFamily="-107" charset="-128"/>
              </a:rPr>
              <a:t>using RSA or ElGamal to encrypt the message directly: CAST-128 and the other</a:t>
            </a:r>
          </a:p>
          <a:p>
            <a:r>
              <a:rPr lang="en-US" sz="1200" kern="1200" baseline="0" dirty="0">
                <a:solidFill>
                  <a:schemeClr val="tx1"/>
                </a:solidFill>
                <a:latin typeface="Arial" pitchFamily="-107" charset="0"/>
                <a:ea typeface="ＭＳ Ｐゴシック" pitchFamily="-107" charset="-128"/>
                <a:cs typeface="ＭＳ Ｐゴシック" pitchFamily="-107" charset="-128"/>
              </a:rPr>
              <a:t> symmetric algorithms are substantially faster than RSA or ElGamal. Second,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use of the public-key algorithm solves the session-key distribution problem, because</a:t>
            </a:r>
          </a:p>
          <a:p>
            <a:r>
              <a:rPr lang="en-US" sz="1200" kern="1200" baseline="0" dirty="0">
                <a:solidFill>
                  <a:schemeClr val="tx1"/>
                </a:solidFill>
                <a:latin typeface="Arial" pitchFamily="-107" charset="0"/>
                <a:ea typeface="ＭＳ Ｐゴシック" pitchFamily="-107" charset="-128"/>
                <a:cs typeface="ＭＳ Ｐゴシック" pitchFamily="-107" charset="-128"/>
              </a:rPr>
              <a:t>only the recipient is able to recover the session key that is bound to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Note that we do not need a session-key exchange protocol of the type discussed in</a:t>
            </a:r>
          </a:p>
          <a:p>
            <a:r>
              <a:rPr lang="en-US" sz="1200" kern="1200" baseline="0" dirty="0">
                <a:solidFill>
                  <a:schemeClr val="tx1"/>
                </a:solidFill>
                <a:latin typeface="Arial" pitchFamily="-107" charset="0"/>
                <a:ea typeface="ＭＳ Ｐゴシック" pitchFamily="-107" charset="-128"/>
                <a:cs typeface="ＭＳ Ｐゴシック" pitchFamily="-107" charset="-128"/>
              </a:rPr>
              <a:t>Chapter 14, because we are not beginning an ongoing session. Rather, each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a one-time independent event with its own key. Furthermore, given the store-andforward</a:t>
            </a:r>
          </a:p>
          <a:p>
            <a:r>
              <a:rPr lang="en-US" sz="1200" kern="1200" baseline="0" dirty="0">
                <a:solidFill>
                  <a:schemeClr val="tx1"/>
                </a:solidFill>
                <a:latin typeface="Arial" pitchFamily="-107" charset="0"/>
                <a:ea typeface="ＭＳ Ｐゴシック" pitchFamily="-107" charset="-128"/>
                <a:cs typeface="ＭＳ Ｐゴシック" pitchFamily="-107" charset="-128"/>
              </a:rPr>
              <a:t>nature of electronic mail, the use of handshaking to assure that both sides</a:t>
            </a:r>
          </a:p>
          <a:p>
            <a:r>
              <a:rPr lang="en-US" sz="1200" kern="1200" baseline="0" dirty="0">
                <a:solidFill>
                  <a:schemeClr val="tx1"/>
                </a:solidFill>
                <a:latin typeface="Arial" pitchFamily="-107" charset="0"/>
                <a:ea typeface="ＭＳ Ｐゴシック" pitchFamily="-107" charset="-128"/>
                <a:cs typeface="ＭＳ Ｐゴシック" pitchFamily="-107" charset="-128"/>
              </a:rPr>
              <a:t>have the same session key is not practical. Finally, the use of one-time symmetric</a:t>
            </a:r>
          </a:p>
          <a:p>
            <a:r>
              <a:rPr lang="en-US" sz="1200" kern="1200" baseline="0" dirty="0">
                <a:solidFill>
                  <a:schemeClr val="tx1"/>
                </a:solidFill>
                <a:latin typeface="Arial" pitchFamily="-107" charset="0"/>
                <a:ea typeface="ＭＳ Ｐゴシック" pitchFamily="-107" charset="-128"/>
                <a:cs typeface="ＭＳ Ｐゴシック" pitchFamily="-107" charset="-128"/>
              </a:rPr>
              <a:t>keys strengthens what is already a strong symmetric encryption approach. Only a</a:t>
            </a:r>
          </a:p>
          <a:p>
            <a:r>
              <a:rPr lang="en-US" sz="1200" kern="1200" baseline="0" dirty="0">
                <a:solidFill>
                  <a:schemeClr val="tx1"/>
                </a:solidFill>
                <a:latin typeface="Arial" pitchFamily="-107" charset="0"/>
                <a:ea typeface="ＭＳ Ｐゴシック" pitchFamily="-107" charset="-128"/>
                <a:cs typeface="ＭＳ Ｐゴシック" pitchFamily="-107" charset="-128"/>
              </a:rPr>
              <a:t>small amount of plaintext is encrypted with each key, and there is no relationship</a:t>
            </a:r>
          </a:p>
          <a:p>
            <a:r>
              <a:rPr lang="en-US" sz="1200" kern="1200" baseline="0" dirty="0">
                <a:solidFill>
                  <a:schemeClr val="tx1"/>
                </a:solidFill>
                <a:latin typeface="Arial" pitchFamily="-107" charset="0"/>
                <a:ea typeface="ＭＳ Ｐゴシック" pitchFamily="-107" charset="-128"/>
                <a:cs typeface="ＭＳ Ｐゴシック" pitchFamily="-107" charset="-128"/>
              </a:rPr>
              <a:t>among the keys. Thus, to the extent that the public-key algorithm is secure,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entire scheme is secure. To this end, PGP provides the user with a range of key size</a:t>
            </a:r>
          </a:p>
          <a:p>
            <a:r>
              <a:rPr lang="en-US" sz="1200" kern="1200" baseline="0" dirty="0">
                <a:solidFill>
                  <a:schemeClr val="tx1"/>
                </a:solidFill>
                <a:latin typeface="Arial" pitchFamily="-107" charset="0"/>
                <a:ea typeface="ＭＳ Ｐゴシック" pitchFamily="-107" charset="-128"/>
                <a:cs typeface="ＭＳ Ｐゴシック" pitchFamily="-107" charset="-128"/>
              </a:rPr>
              <a:t>options from 768 to 3072 bits (the DSS key for signatures is limited to 1024 bits).</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As Figure 8.1c illustrates, both services</a:t>
            </a:r>
          </a:p>
          <a:p>
            <a:r>
              <a:rPr lang="en-US" sz="1200" kern="1200" baseline="0" dirty="0">
                <a:solidFill>
                  <a:schemeClr val="tx1"/>
                </a:solidFill>
                <a:latin typeface="Arial" pitchFamily="-107" charset="0"/>
                <a:ea typeface="ＭＳ Ｐゴシック" pitchFamily="-107" charset="-128"/>
                <a:cs typeface="ＭＳ Ｐゴシック" pitchFamily="-107" charset="-128"/>
              </a:rPr>
              <a:t>may be used for the same message. First, a signature is generated for the plaintext</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and prepended to the message. Then the plaintext message plus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encrypted using CAST-128 (or IDEA or 3DES), and the session key is encrypted</a:t>
            </a:r>
          </a:p>
          <a:p>
            <a:r>
              <a:rPr lang="en-US" sz="1200" kern="1200" baseline="0" dirty="0">
                <a:solidFill>
                  <a:schemeClr val="tx1"/>
                </a:solidFill>
                <a:latin typeface="Arial" pitchFamily="-107" charset="0"/>
                <a:ea typeface="ＭＳ Ｐゴシック" pitchFamily="-107" charset="-128"/>
                <a:cs typeface="ＭＳ Ｐゴシック" pitchFamily="-107" charset="-128"/>
              </a:rPr>
              <a:t>using RSA (or ElGamal). This sequence is preferable to the opposite: encrypting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 and then generating a signature for the encrypted message. It is generally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more convenient to store a signature with a plaintext version of a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Furthermore, for purposes of third-party verification, if the signature is performed</a:t>
            </a:r>
          </a:p>
          <a:p>
            <a:r>
              <a:rPr lang="en-US" sz="1200" kern="1200" baseline="0" dirty="0">
                <a:solidFill>
                  <a:schemeClr val="tx1"/>
                </a:solidFill>
                <a:latin typeface="Arial" pitchFamily="-107" charset="0"/>
                <a:ea typeface="ＭＳ Ｐゴシック" pitchFamily="-107" charset="-128"/>
                <a:cs typeface="ＭＳ Ｐゴシック" pitchFamily="-107" charset="-128"/>
              </a:rPr>
              <a:t>first, a third party need not be concerned with the symmetric key when verifying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signature.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In summary, when both services are used, the sender first signs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its own private key, then encrypts the message with a session key, and finally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encrypts the session key with the recipient’s public key.</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9</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8AE7F461-4F47-3749-BD6C-D9F1E48878F8}" type="slidenum">
              <a:rPr lang="en-AU">
                <a:latin typeface="Arial" pitchFamily="-1" charset="0"/>
              </a:rPr>
              <a:pPr/>
              <a:t>10</a:t>
            </a:fld>
            <a:endParaRPr lang="en-AU" dirty="0">
              <a:latin typeface="Arial" pitchFamily="-1"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As a default, PGP compresses the message after applying the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but before encryption. This has the benefit of saving space both for e-mail</a:t>
            </a:r>
          </a:p>
          <a:p>
            <a:r>
              <a:rPr lang="en-US" sz="1200" kern="1200" baseline="0" dirty="0">
                <a:solidFill>
                  <a:schemeClr val="tx1"/>
                </a:solidFill>
                <a:latin typeface="Arial" pitchFamily="-107" charset="0"/>
                <a:ea typeface="ＭＳ Ｐゴシック" pitchFamily="-107" charset="-128"/>
                <a:cs typeface="ＭＳ Ｐゴシック" pitchFamily="-107" charset="-128"/>
              </a:rPr>
              <a:t>transmission and for file storage.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placement of the compression algorithm is critical.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The signature is generated before compression for two reasons: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 It is preferable to sign an uncompressed message so that one can store only</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uncompressed message together with the signature for future verification.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If one signed a compressed document, then it would be necessary either</a:t>
            </a:r>
          </a:p>
          <a:p>
            <a:r>
              <a:rPr lang="en-US" sz="1200" kern="1200" baseline="0" dirty="0">
                <a:solidFill>
                  <a:schemeClr val="tx1"/>
                </a:solidFill>
                <a:latin typeface="Arial" pitchFamily="-107" charset="0"/>
                <a:ea typeface="ＭＳ Ｐゴシック" pitchFamily="-107" charset="-128"/>
                <a:cs typeface="ＭＳ Ｐゴシック" pitchFamily="-107" charset="-128"/>
              </a:rPr>
              <a:t>to store a compressed version of the message for later verification or to</a:t>
            </a:r>
          </a:p>
          <a:p>
            <a:r>
              <a:rPr lang="en-US" sz="1200" kern="1200" baseline="0" dirty="0">
                <a:solidFill>
                  <a:schemeClr val="tx1"/>
                </a:solidFill>
                <a:latin typeface="Arial" pitchFamily="-107" charset="0"/>
                <a:ea typeface="ＭＳ Ｐゴシック" pitchFamily="-107" charset="-128"/>
                <a:cs typeface="ＭＳ Ｐゴシック" pitchFamily="-107" charset="-128"/>
              </a:rPr>
              <a:t>recompress the message when verification is required.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b. Even if one were willing to generate dynamically a recompressed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verification, PGP’s compression algorithm presents a difficulty.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algorithm is not deterministic; various implementations of the algorithm</a:t>
            </a:r>
          </a:p>
          <a:p>
            <a:r>
              <a:rPr lang="en-US" sz="1200" kern="1200" baseline="0" dirty="0">
                <a:solidFill>
                  <a:schemeClr val="tx1"/>
                </a:solidFill>
                <a:latin typeface="Arial" pitchFamily="-107" charset="0"/>
                <a:ea typeface="ＭＳ Ｐゴシック" pitchFamily="-107" charset="-128"/>
                <a:cs typeface="ＭＳ Ｐゴシック" pitchFamily="-107" charset="-128"/>
              </a:rPr>
              <a:t>achieve different tradeoffs in running speed versus compression ratio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as a result, produce different compressed forms. However, these different</a:t>
            </a:r>
          </a:p>
          <a:p>
            <a:r>
              <a:rPr lang="en-US" sz="1200" kern="1200" baseline="0" dirty="0">
                <a:solidFill>
                  <a:schemeClr val="tx1"/>
                </a:solidFill>
                <a:latin typeface="Arial" pitchFamily="-107" charset="0"/>
                <a:ea typeface="ＭＳ Ｐゴシック" pitchFamily="-107" charset="-128"/>
                <a:cs typeface="ＭＳ Ｐゴシック" pitchFamily="-107" charset="-128"/>
              </a:rPr>
              <a:t>compression algorithms are interoperable because any version of the algorithm</a:t>
            </a:r>
          </a:p>
          <a:p>
            <a:r>
              <a:rPr lang="en-US" sz="1200" kern="1200" baseline="0" dirty="0">
                <a:solidFill>
                  <a:schemeClr val="tx1"/>
                </a:solidFill>
                <a:latin typeface="Arial" pitchFamily="-107" charset="0"/>
                <a:ea typeface="ＭＳ Ｐゴシック" pitchFamily="-107" charset="-128"/>
                <a:cs typeface="ＭＳ Ｐゴシック" pitchFamily="-107" charset="-128"/>
              </a:rPr>
              <a:t>can correctly decompress the output of any other version. Applying</a:t>
            </a:r>
          </a:p>
          <a:p>
            <a:r>
              <a:rPr lang="en-US" sz="1200" kern="1200" baseline="0" dirty="0">
                <a:solidFill>
                  <a:schemeClr val="tx1"/>
                </a:solidFill>
                <a:latin typeface="Arial" pitchFamily="-107" charset="0"/>
                <a:ea typeface="ＭＳ Ｐゴシック" pitchFamily="-107" charset="-128"/>
                <a:cs typeface="ＭＳ Ｐゴシック" pitchFamily="-107" charset="-128"/>
              </a:rPr>
              <a:t> the hash function and signature after compression would constrain all PGP</a:t>
            </a:r>
          </a:p>
          <a:p>
            <a:r>
              <a:rPr lang="en-US" sz="1200" kern="1200" baseline="0" dirty="0">
                <a:solidFill>
                  <a:schemeClr val="tx1"/>
                </a:solidFill>
                <a:latin typeface="Arial" pitchFamily="-107" charset="0"/>
                <a:ea typeface="ＭＳ Ｐゴシック" pitchFamily="-107" charset="-128"/>
                <a:cs typeface="ＭＳ Ｐゴシック" pitchFamily="-107" charset="-128"/>
              </a:rPr>
              <a:t>implementations to the same version of the compression algorithm.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Message encryption is applied after compression to strengthen cryptographic</a:t>
            </a:r>
          </a:p>
          <a:p>
            <a:r>
              <a:rPr lang="en-US" sz="1200" kern="1200" baseline="0" dirty="0">
                <a:solidFill>
                  <a:schemeClr val="tx1"/>
                </a:solidFill>
                <a:latin typeface="Arial" pitchFamily="-107" charset="0"/>
                <a:ea typeface="ＭＳ Ｐゴシック" pitchFamily="-107" charset="-128"/>
                <a:cs typeface="ＭＳ Ｐゴシック" pitchFamily="-107" charset="-128"/>
              </a:rPr>
              <a:t>security. Because the compressed message has less redundancy than the original</a:t>
            </a:r>
          </a:p>
          <a:p>
            <a:r>
              <a:rPr lang="en-US" sz="1200" kern="1200" baseline="0" dirty="0">
                <a:solidFill>
                  <a:schemeClr val="tx1"/>
                </a:solidFill>
                <a:latin typeface="Arial" pitchFamily="-107" charset="0"/>
                <a:ea typeface="ＭＳ Ｐゴシック" pitchFamily="-107" charset="-128"/>
                <a:cs typeface="ＭＳ Ｐゴシック" pitchFamily="-107" charset="-128"/>
              </a:rPr>
              <a:t>plaintext, cryptanalysis is more difficult.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compression algorithm used is ZIP, which is described in Appendix G.</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02D07DB9-2580-3D4D-A6BD-25F665D7C745}" type="slidenum">
              <a:rPr lang="en-AU">
                <a:latin typeface="Arial" pitchFamily="-1" charset="0"/>
              </a:rPr>
              <a:pPr/>
              <a:t>11</a:t>
            </a:fld>
            <a:endParaRPr lang="en-AU" dirty="0">
              <a:latin typeface="Arial" pitchFamily="-1"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When PGP is used, at least part of the block to be transmitted</a:t>
            </a:r>
          </a:p>
          <a:p>
            <a:r>
              <a:rPr lang="en-US" sz="1200" kern="1200" baseline="0" dirty="0">
                <a:solidFill>
                  <a:schemeClr val="tx1"/>
                </a:solidFill>
                <a:latin typeface="Arial" pitchFamily="-107" charset="0"/>
                <a:ea typeface="ＭＳ Ｐゴシック" pitchFamily="-107" charset="-128"/>
                <a:cs typeface="ＭＳ Ｐゴシック" pitchFamily="-107" charset="-128"/>
              </a:rPr>
              <a:t>is encrypted. If only the signature service is used, then the message digest is</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encrypted (with the sender’s private key). If the confidentiality service is used,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plus signature (if present) are encrypted (with a one-time symmetric key).</a:t>
            </a:r>
          </a:p>
          <a:p>
            <a:r>
              <a:rPr lang="en-US" sz="1200" kern="1200" baseline="0" dirty="0">
                <a:solidFill>
                  <a:schemeClr val="tx1"/>
                </a:solidFill>
                <a:latin typeface="Arial" pitchFamily="-107" charset="0"/>
                <a:ea typeface="ＭＳ Ｐゴシック" pitchFamily="-107" charset="-128"/>
                <a:cs typeface="ＭＳ Ｐゴシック" pitchFamily="-107" charset="-128"/>
              </a:rPr>
              <a:t>Thus, part or all of the resulting block consists of a stream of arbitrary 8-bit octets.</a:t>
            </a:r>
          </a:p>
          <a:p>
            <a:r>
              <a:rPr lang="en-US" sz="1200" kern="1200" baseline="0" dirty="0">
                <a:solidFill>
                  <a:schemeClr val="tx1"/>
                </a:solidFill>
                <a:latin typeface="Arial" pitchFamily="-107" charset="0"/>
                <a:ea typeface="ＭＳ Ｐゴシック" pitchFamily="-107" charset="-128"/>
                <a:cs typeface="ＭＳ Ｐゴシック" pitchFamily="-107" charset="-128"/>
              </a:rPr>
              <a:t>However, many electronic mail systems only permit the use of blocks consisting of</a:t>
            </a:r>
          </a:p>
          <a:p>
            <a:r>
              <a:rPr lang="en-US" sz="1200" kern="1200" baseline="0" dirty="0">
                <a:solidFill>
                  <a:schemeClr val="tx1"/>
                </a:solidFill>
                <a:latin typeface="Arial" pitchFamily="-107" charset="0"/>
                <a:ea typeface="ＭＳ Ｐゴシック" pitchFamily="-107" charset="-128"/>
                <a:cs typeface="ＭＳ Ｐゴシック" pitchFamily="-107" charset="-128"/>
              </a:rPr>
              <a:t>ASCII text. To accommodate this restriction, PGP provides the service of converting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raw 8-bit binary stream to a stream of printable ASCII characters.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scheme used for this purpose is radix-64 conversion. Each group of three</a:t>
            </a:r>
          </a:p>
          <a:p>
            <a:r>
              <a:rPr lang="en-US" sz="1200" kern="1200" baseline="0" dirty="0">
                <a:solidFill>
                  <a:schemeClr val="tx1"/>
                </a:solidFill>
                <a:latin typeface="Arial" pitchFamily="-107" charset="0"/>
                <a:ea typeface="ＭＳ Ｐゴシック" pitchFamily="-107" charset="-128"/>
                <a:cs typeface="ＭＳ Ｐゴシック" pitchFamily="-107" charset="-128"/>
              </a:rPr>
              <a:t>octets of binary data is mapped into four ASCII characters. This format also appends</a:t>
            </a:r>
          </a:p>
          <a:p>
            <a:r>
              <a:rPr lang="en-US" sz="1200" kern="1200" baseline="0" dirty="0">
                <a:solidFill>
                  <a:schemeClr val="tx1"/>
                </a:solidFill>
                <a:latin typeface="Arial" pitchFamily="-107" charset="0"/>
                <a:ea typeface="ＭＳ Ｐゴシック" pitchFamily="-107" charset="-128"/>
                <a:cs typeface="ＭＳ Ｐゴシック" pitchFamily="-107" charset="-128"/>
              </a:rPr>
              <a:t>a CRC to detect transmission errors. See Appendix 19A for a description.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use of radix 64 expands a message by 33%. Fortunately, the session key</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signature portions of the message are relatively compact, and the plaintext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has been compressed. In fact, the compression should be more than enough to</a:t>
            </a:r>
          </a:p>
          <a:p>
            <a:r>
              <a:rPr lang="en-US" sz="1200" kern="1200" baseline="0" dirty="0">
                <a:solidFill>
                  <a:schemeClr val="tx1"/>
                </a:solidFill>
                <a:latin typeface="Arial" pitchFamily="-107" charset="0"/>
                <a:ea typeface="ＭＳ Ｐゴシック" pitchFamily="-107" charset="-128"/>
                <a:cs typeface="ＭＳ Ｐゴシック" pitchFamily="-107" charset="-128"/>
              </a:rPr>
              <a:t>compensate for the radix-64 expansion. For example, [HELD96] reports an average</a:t>
            </a:r>
          </a:p>
          <a:p>
            <a:r>
              <a:rPr lang="en-US" sz="1200" kern="1200" baseline="0" dirty="0">
                <a:solidFill>
                  <a:schemeClr val="tx1"/>
                </a:solidFill>
                <a:latin typeface="Arial" pitchFamily="-107" charset="0"/>
                <a:ea typeface="ＭＳ Ｐゴシック" pitchFamily="-107" charset="-128"/>
                <a:cs typeface="ＭＳ Ｐゴシック" pitchFamily="-107" charset="-128"/>
              </a:rPr>
              <a:t>compression ratio of about 2.0 using ZIP. If we ignore the relatively small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key components, the typical overall effect of compression and expansion of a</a:t>
            </a:r>
          </a:p>
          <a:p>
            <a:r>
              <a:rPr lang="en-US" sz="1200" kern="1200" baseline="0" dirty="0">
                <a:solidFill>
                  <a:schemeClr val="tx1"/>
                </a:solidFill>
                <a:latin typeface="Arial" pitchFamily="-107" charset="0"/>
                <a:ea typeface="ＭＳ Ｐゴシック" pitchFamily="-107" charset="-128"/>
                <a:cs typeface="ＭＳ Ｐゴシック" pitchFamily="-107" charset="-128"/>
              </a:rPr>
              <a:t>file of length X  would be 1.33 *  0.5 * X =  0.665 * X . Thus, there is still an overall</a:t>
            </a:r>
          </a:p>
          <a:p>
            <a:r>
              <a:rPr lang="en-US" sz="1200" kern="1200" baseline="0" dirty="0">
                <a:solidFill>
                  <a:schemeClr val="tx1"/>
                </a:solidFill>
                <a:latin typeface="Arial" pitchFamily="-107" charset="0"/>
                <a:ea typeface="ＭＳ Ｐゴシック" pitchFamily="-107" charset="-128"/>
                <a:cs typeface="ＭＳ Ｐゴシック" pitchFamily="-107" charset="-128"/>
              </a:rPr>
              <a:t>compression of about one-third.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One noteworthy aspect of the radix-64 algorithm is that it blindly converts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input stream to radix-64 format regardless of content, even if the input happens to</a:t>
            </a:r>
          </a:p>
          <a:p>
            <a:r>
              <a:rPr lang="en-US" sz="1200" kern="1200" baseline="0" dirty="0">
                <a:solidFill>
                  <a:schemeClr val="tx1"/>
                </a:solidFill>
                <a:latin typeface="Arial" pitchFamily="-107" charset="0"/>
                <a:ea typeface="ＭＳ Ｐゴシック" pitchFamily="-107" charset="-128"/>
                <a:cs typeface="ＭＳ Ｐゴシック" pitchFamily="-107" charset="-128"/>
              </a:rPr>
              <a:t>be ASCII text. Thus, if a message is signed but not encrypted and the conversion</a:t>
            </a:r>
          </a:p>
          <a:p>
            <a:r>
              <a:rPr lang="en-US" sz="1200" kern="1200" baseline="0" dirty="0">
                <a:solidFill>
                  <a:schemeClr val="tx1"/>
                </a:solidFill>
                <a:latin typeface="Arial" pitchFamily="-107" charset="0"/>
                <a:ea typeface="ＭＳ Ｐゴシック" pitchFamily="-107" charset="-128"/>
                <a:cs typeface="ＭＳ Ｐゴシック" pitchFamily="-107" charset="-128"/>
              </a:rPr>
              <a:t>is applied to the entire block, the output will be unreadable to the casual observer,</a:t>
            </a:r>
          </a:p>
          <a:p>
            <a:r>
              <a:rPr lang="en-US" sz="1200" kern="1200" baseline="0" dirty="0">
                <a:solidFill>
                  <a:schemeClr val="tx1"/>
                </a:solidFill>
                <a:latin typeface="Arial" pitchFamily="-107" charset="0"/>
                <a:ea typeface="ＭＳ Ｐゴシック" pitchFamily="-107" charset="-128"/>
                <a:cs typeface="ＭＳ Ｐゴシック" pitchFamily="-107" charset="-128"/>
              </a:rPr>
              <a:t>which provides a certain level of confidentiality. As an option, PGP can be configured</a:t>
            </a:r>
          </a:p>
          <a:p>
            <a:r>
              <a:rPr lang="en-US" sz="1200" kern="1200" baseline="0" dirty="0">
                <a:solidFill>
                  <a:schemeClr val="tx1"/>
                </a:solidFill>
                <a:latin typeface="Arial" pitchFamily="-107" charset="0"/>
                <a:ea typeface="ＭＳ Ｐゴシック" pitchFamily="-107" charset="-128"/>
                <a:cs typeface="ＭＳ Ｐゴシック" pitchFamily="-107" charset="-128"/>
              </a:rPr>
              <a:t>to convert to radix-64 format only the signature portion of signed plaintext</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messages. This enables the human recipient to read the message without using PGP.</a:t>
            </a:r>
          </a:p>
          <a:p>
            <a:r>
              <a:rPr lang="en-US" sz="1200" kern="1200" baseline="0" dirty="0">
                <a:solidFill>
                  <a:schemeClr val="tx1"/>
                </a:solidFill>
                <a:latin typeface="Arial" pitchFamily="-107" charset="0"/>
                <a:ea typeface="ＭＳ Ｐゴシック" pitchFamily="-107" charset="-128"/>
                <a:cs typeface="ＭＳ Ｐゴシック" pitchFamily="-107" charset="-128"/>
              </a:rPr>
              <a:t>PGP would still have to be used to verify the signature.</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Figure 8.1a illustrates the digital signature service provided by</a:t>
            </a:r>
          </a:p>
          <a:p>
            <a:r>
              <a:rPr lang="en-US" sz="1200" kern="1200" baseline="0" dirty="0">
                <a:solidFill>
                  <a:schemeClr val="tx1"/>
                </a:solidFill>
                <a:latin typeface="Arial" pitchFamily="-107" charset="0"/>
                <a:ea typeface="ＭＳ Ｐゴシック" pitchFamily="-107" charset="-128"/>
                <a:cs typeface="ＭＳ Ｐゴシック" pitchFamily="-107" charset="-128"/>
              </a:rPr>
              <a:t>PGP. This is the digital signature scheme discussed in Chapter 4 and illustrated in</a:t>
            </a:r>
          </a:p>
          <a:p>
            <a:r>
              <a:rPr lang="en-US" sz="1200" kern="1200" baseline="0" dirty="0">
                <a:solidFill>
                  <a:schemeClr val="tx1"/>
                </a:solidFill>
                <a:latin typeface="Arial" pitchFamily="-107" charset="0"/>
                <a:ea typeface="ＭＳ Ｐゴシック" pitchFamily="-107" charset="-128"/>
                <a:cs typeface="ＭＳ Ｐゴシック" pitchFamily="-107" charset="-128"/>
              </a:rPr>
              <a:t>Figure 4.5. </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To protect the key, it is encrypted with the receiver’s public key. Figure 8.1b illustrates the sequence.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As Figure 8.1c illustrates, both services</a:t>
            </a:r>
          </a:p>
          <a:p>
            <a:r>
              <a:rPr lang="en-US" sz="1200" kern="1200" baseline="0" dirty="0">
                <a:solidFill>
                  <a:schemeClr val="tx1"/>
                </a:solidFill>
                <a:latin typeface="Arial" pitchFamily="-107" charset="0"/>
                <a:ea typeface="ＭＳ Ｐゴシック" pitchFamily="-107" charset="-128"/>
                <a:cs typeface="ＭＳ Ｐゴシック" pitchFamily="-107" charset="-128"/>
              </a:rPr>
              <a:t>may be used for the same message. First, a signature is generated for the plaintext</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and prepended to the message. Then the plaintext message plus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encrypted using CAST-128 (or IDEA or 3DES), and the session key is encrypted</a:t>
            </a:r>
          </a:p>
          <a:p>
            <a:r>
              <a:rPr lang="en-US" sz="1200" kern="1200" baseline="0" dirty="0">
                <a:solidFill>
                  <a:schemeClr val="tx1"/>
                </a:solidFill>
                <a:latin typeface="Arial" pitchFamily="-107" charset="0"/>
                <a:ea typeface="ＭＳ Ｐゴシック" pitchFamily="-107" charset="-128"/>
                <a:cs typeface="ＭＳ Ｐゴシック" pitchFamily="-107" charset="-128"/>
              </a:rPr>
              <a:t>using RSA (or ElGamal). This sequence is preferable to the opposite: encrypting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 and then generating a signature for the encrypted message. It is generally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more convenient to store a signature with a plaintext version of a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Furthermore, for purposes of third-party verification, if the signature is performed</a:t>
            </a:r>
          </a:p>
          <a:p>
            <a:r>
              <a:rPr lang="en-US" sz="1200" kern="1200" baseline="0" dirty="0">
                <a:solidFill>
                  <a:schemeClr val="tx1"/>
                </a:solidFill>
                <a:latin typeface="Arial" pitchFamily="-107" charset="0"/>
                <a:ea typeface="ＭＳ Ｐゴシック" pitchFamily="-107" charset="-128"/>
                <a:cs typeface="ＭＳ Ｐゴシック" pitchFamily="-107" charset="-128"/>
              </a:rPr>
              <a:t>first, a third party need not be concerned with the symmetric key when verifying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signature.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In summary, when both services are used, the sender first signs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its own private key, then encrypts the message with a session key, and finally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encrypts the session key with the recipient’s public key.</a:t>
            </a:r>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7A0541F5-3051-6A48-A9AC-B452F143D531}" type="slidenum">
              <a:rPr lang="en-AU">
                <a:latin typeface="Arial" pitchFamily="-1" charset="0"/>
              </a:rPr>
              <a:pPr/>
              <a:t>13</a:t>
            </a:fld>
            <a:endParaRPr lang="en-AU" dirty="0">
              <a:latin typeface="Arial" pitchFamily="-1"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Figure 8.2 shows the relationship among the four services so far discussed.</a:t>
            </a:r>
          </a:p>
          <a:p>
            <a:r>
              <a:rPr lang="en-US" sz="1200" kern="1200" baseline="0" dirty="0">
                <a:solidFill>
                  <a:schemeClr val="tx1"/>
                </a:solidFill>
                <a:latin typeface="Arial" pitchFamily="-107" charset="0"/>
                <a:ea typeface="ＭＳ Ｐゴシック" pitchFamily="-107" charset="-128"/>
                <a:cs typeface="ＭＳ Ｐゴシック" pitchFamily="-107" charset="-128"/>
              </a:rPr>
              <a:t>On transmission (if it is required), a signature is generated using a hash code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uncompressed plaintext. Then the plaintext (plus signature if present) is compressed.</a:t>
            </a:r>
          </a:p>
          <a:p>
            <a:r>
              <a:rPr lang="en-US" sz="1200" kern="1200" baseline="0" dirty="0">
                <a:solidFill>
                  <a:schemeClr val="tx1"/>
                </a:solidFill>
                <a:latin typeface="Arial" pitchFamily="-107" charset="0"/>
                <a:ea typeface="ＭＳ Ｐゴシック" pitchFamily="-107" charset="-128"/>
                <a:cs typeface="ＭＳ Ｐゴシック" pitchFamily="-107" charset="-128"/>
              </a:rPr>
              <a:t>Next, if confidentiality is required, the block (compressed plaintext or</a:t>
            </a:r>
          </a:p>
          <a:p>
            <a:r>
              <a:rPr lang="en-US" sz="1200" kern="1200" baseline="0" dirty="0">
                <a:solidFill>
                  <a:schemeClr val="tx1"/>
                </a:solidFill>
                <a:latin typeface="Arial" pitchFamily="-107" charset="0"/>
                <a:ea typeface="ＭＳ Ｐゴシック" pitchFamily="-107" charset="-128"/>
                <a:cs typeface="ＭＳ Ｐゴシック" pitchFamily="-107" charset="-128"/>
              </a:rPr>
              <a:t>compressed signature plus plaintext) is encrypted and prepended with the publickey-</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encrypted symmetric encryption key. Finally, the entire block is converted to</a:t>
            </a:r>
          </a:p>
          <a:p>
            <a:r>
              <a:rPr lang="en-US" sz="1200" kern="1200" baseline="0" dirty="0">
                <a:solidFill>
                  <a:schemeClr val="tx1"/>
                </a:solidFill>
                <a:latin typeface="Arial" pitchFamily="-107" charset="0"/>
                <a:ea typeface="ＭＳ Ｐゴシック" pitchFamily="-107" charset="-128"/>
                <a:cs typeface="ＭＳ Ｐゴシック" pitchFamily="-107" charset="-128"/>
              </a:rPr>
              <a:t>radix-64 format.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On reception, the incoming block is first converted back from radix-64 format</a:t>
            </a:r>
          </a:p>
          <a:p>
            <a:r>
              <a:rPr lang="en-US" sz="1200" kern="1200" baseline="0" dirty="0">
                <a:solidFill>
                  <a:schemeClr val="tx1"/>
                </a:solidFill>
                <a:latin typeface="Arial" pitchFamily="-107" charset="0"/>
                <a:ea typeface="ＭＳ Ｐゴシック" pitchFamily="-107" charset="-128"/>
                <a:cs typeface="ＭＳ Ｐゴシック" pitchFamily="-107" charset="-128"/>
              </a:rPr>
              <a:t>to binary. Then, if the message is encrypted, the recipient recovers the session key</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decrypts the message. The resulting block is then decompressed. If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signed, the recipient recovers the transmitted hash code and compares it to its</a:t>
            </a:r>
          </a:p>
          <a:p>
            <a:r>
              <a:rPr lang="en-US" sz="1200" kern="1200" baseline="0" dirty="0">
                <a:solidFill>
                  <a:schemeClr val="tx1"/>
                </a:solidFill>
                <a:latin typeface="Arial" pitchFamily="-107" charset="0"/>
                <a:ea typeface="ＭＳ Ｐゴシック" pitchFamily="-107" charset="-128"/>
                <a:cs typeface="ＭＳ Ｐゴシック" pitchFamily="-107" charset="-128"/>
              </a:rPr>
              <a:t>own calculation of the hash code.</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Secure/Multipurpose Internet Mail Extension (S/MIME) is a security enhancement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 MIME Internet e-mail format standard based on technology from RSA Data</a:t>
            </a:r>
          </a:p>
          <a:p>
            <a:r>
              <a:rPr lang="en-US" sz="1200" kern="1200" baseline="0" dirty="0">
                <a:solidFill>
                  <a:schemeClr val="tx1"/>
                </a:solidFill>
                <a:latin typeface="Arial" pitchFamily="-107" charset="0"/>
                <a:ea typeface="ＭＳ Ｐゴシック" pitchFamily="-107" charset="-128"/>
                <a:cs typeface="ＭＳ Ｐゴシック" pitchFamily="-107" charset="-128"/>
              </a:rPr>
              <a:t>Security. Although both PGP and S/MIME are on an IETF standards track, it appears</a:t>
            </a:r>
          </a:p>
          <a:p>
            <a:r>
              <a:rPr lang="en-US" sz="1200" kern="1200" baseline="0" dirty="0">
                <a:solidFill>
                  <a:schemeClr val="tx1"/>
                </a:solidFill>
                <a:latin typeface="Arial" pitchFamily="-107" charset="0"/>
                <a:ea typeface="ＭＳ Ｐゴシック" pitchFamily="-107" charset="-128"/>
                <a:cs typeface="ＭＳ Ｐゴシック" pitchFamily="-107" charset="-128"/>
              </a:rPr>
              <a:t>likely that S/MIME will emerge as the industry standard for commercial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organizational use, while PGP will remain the choice for personal e-mail security</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many users. S/MIME is defined in a number of documents—most importantly</a:t>
            </a:r>
          </a:p>
          <a:p>
            <a:r>
              <a:rPr lang="en-US" sz="1200" kern="1200" baseline="0" dirty="0">
                <a:solidFill>
                  <a:schemeClr val="tx1"/>
                </a:solidFill>
                <a:latin typeface="Arial" pitchFamily="-107" charset="0"/>
                <a:ea typeface="ＭＳ Ｐゴシック" pitchFamily="-107" charset="-128"/>
                <a:cs typeface="ＭＳ Ｐゴシック" pitchFamily="-107" charset="-128"/>
              </a:rPr>
              <a:t>RFCs 3370, 3850, 3851, and 3852.</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To understand S/MIME, we need first to have a general understanding of the underlying</a:t>
            </a:r>
          </a:p>
          <a:p>
            <a:r>
              <a:rPr lang="en-US" sz="1200" kern="1200" baseline="0" dirty="0">
                <a:solidFill>
                  <a:schemeClr val="tx1"/>
                </a:solidFill>
                <a:latin typeface="Arial" pitchFamily="-107" charset="0"/>
                <a:ea typeface="ＭＳ Ｐゴシック" pitchFamily="-107" charset="-128"/>
                <a:cs typeface="ＭＳ Ｐゴシック" pitchFamily="-107" charset="-128"/>
              </a:rPr>
              <a:t>e-mail format that it uses, namely MIME. But to understand the significance</a:t>
            </a:r>
          </a:p>
          <a:p>
            <a:r>
              <a:rPr lang="en-US" sz="1200" kern="1200" baseline="0" dirty="0">
                <a:solidFill>
                  <a:schemeClr val="tx1"/>
                </a:solidFill>
                <a:latin typeface="Arial" pitchFamily="-107" charset="0"/>
                <a:ea typeface="ＭＳ Ｐゴシック" pitchFamily="-107" charset="-128"/>
                <a:cs typeface="ＭＳ Ｐゴシック" pitchFamily="-107" charset="-128"/>
              </a:rPr>
              <a:t>of MIME, we need to go back to the traditional e-mail format standard, RFC 822,</a:t>
            </a:r>
          </a:p>
          <a:p>
            <a:r>
              <a:rPr lang="en-US" sz="1200" kern="1200" baseline="0" dirty="0">
                <a:solidFill>
                  <a:schemeClr val="tx1"/>
                </a:solidFill>
                <a:latin typeface="Arial" pitchFamily="-107" charset="0"/>
                <a:ea typeface="ＭＳ Ｐゴシック" pitchFamily="-107" charset="-128"/>
                <a:cs typeface="ＭＳ Ｐゴシック" pitchFamily="-107" charset="-128"/>
              </a:rPr>
              <a:t>which is still in common use. The most recent version of this format specification is</a:t>
            </a:r>
          </a:p>
          <a:p>
            <a:r>
              <a:rPr lang="en-US" sz="1200" kern="1200" baseline="0" dirty="0">
                <a:solidFill>
                  <a:schemeClr val="tx1"/>
                </a:solidFill>
                <a:latin typeface="Arial" pitchFamily="-107" charset="0"/>
                <a:ea typeface="ＭＳ Ｐゴシック" pitchFamily="-107" charset="-128"/>
                <a:cs typeface="ＭＳ Ｐゴシック" pitchFamily="-107" charset="-128"/>
              </a:rPr>
              <a:t>RFC 5322 (Internet Message Format ). Accordingly, this section first provides an introduction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these two earlier standards and then moves on to a discussion of S/MIME.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RFC 5322 defines a format for text messages that are sent using electronic mail. It</a:t>
            </a:r>
          </a:p>
          <a:p>
            <a:r>
              <a:rPr lang="en-US" sz="1200" kern="1200" baseline="0" dirty="0">
                <a:solidFill>
                  <a:schemeClr val="tx1"/>
                </a:solidFill>
                <a:latin typeface="Arial" pitchFamily="-107" charset="0"/>
                <a:ea typeface="ＭＳ Ｐゴシック" pitchFamily="-107" charset="-128"/>
                <a:cs typeface="ＭＳ Ｐゴシック" pitchFamily="-107" charset="-128"/>
              </a:rPr>
              <a:t>has been the standard for Internet-based text mail messages and remains in common</a:t>
            </a:r>
          </a:p>
          <a:p>
            <a:r>
              <a:rPr lang="en-US" sz="1200" kern="1200" baseline="0" dirty="0">
                <a:solidFill>
                  <a:schemeClr val="tx1"/>
                </a:solidFill>
                <a:latin typeface="Arial" pitchFamily="-107" charset="0"/>
                <a:ea typeface="ＭＳ Ｐゴシック" pitchFamily="-107" charset="-128"/>
                <a:cs typeface="ＭＳ Ｐゴシック" pitchFamily="-107" charset="-128"/>
              </a:rPr>
              <a:t>use. In the RFC 5322 context, messages are viewed as having an envelope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contents. The envelope contains whatever information is needed to accomplish</a:t>
            </a:r>
          </a:p>
          <a:p>
            <a:r>
              <a:rPr lang="en-US" sz="1200" kern="1200" baseline="0" dirty="0">
                <a:solidFill>
                  <a:schemeClr val="tx1"/>
                </a:solidFill>
                <a:latin typeface="Arial" pitchFamily="-107" charset="0"/>
                <a:ea typeface="ＭＳ Ｐゴシック" pitchFamily="-107" charset="-128"/>
                <a:cs typeface="ＭＳ Ｐゴシック" pitchFamily="-107" charset="-128"/>
              </a:rPr>
              <a:t>transmission and delivery. The contents compose the object to be delivered to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recipient. The RFC 5322 standard applies only to the contents. However, the content</a:t>
            </a:r>
          </a:p>
          <a:p>
            <a:r>
              <a:rPr lang="en-US" sz="1200" kern="1200" baseline="0" dirty="0">
                <a:solidFill>
                  <a:schemeClr val="tx1"/>
                </a:solidFill>
                <a:latin typeface="Arial" pitchFamily="-107" charset="0"/>
                <a:ea typeface="ＭＳ Ｐゴシック" pitchFamily="-107" charset="-128"/>
                <a:cs typeface="ＭＳ Ｐゴシック" pitchFamily="-107" charset="-128"/>
              </a:rPr>
              <a:t>standard includes a set of header fields that may be used by the mail system to</a:t>
            </a:r>
          </a:p>
          <a:p>
            <a:r>
              <a:rPr lang="en-US" sz="1200" kern="1200" baseline="0" dirty="0">
                <a:solidFill>
                  <a:schemeClr val="tx1"/>
                </a:solidFill>
                <a:latin typeface="Arial" pitchFamily="-107" charset="0"/>
                <a:ea typeface="ＭＳ Ｐゴシック" pitchFamily="-107" charset="-128"/>
                <a:cs typeface="ＭＳ Ｐゴシック" pitchFamily="-107" charset="-128"/>
              </a:rPr>
              <a:t>create the envelope, and the standard is intended to facilitate the acquisition of such</a:t>
            </a:r>
          </a:p>
          <a:p>
            <a:r>
              <a:rPr lang="en-US" sz="1200" kern="1200" baseline="0" dirty="0">
                <a:solidFill>
                  <a:schemeClr val="tx1"/>
                </a:solidFill>
                <a:latin typeface="Arial" pitchFamily="-107" charset="0"/>
                <a:ea typeface="ＭＳ Ｐゴシック" pitchFamily="-107" charset="-128"/>
                <a:cs typeface="ＭＳ Ｐゴシック" pitchFamily="-107" charset="-128"/>
              </a:rPr>
              <a:t>information by programs.</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overall structure of a message that conforms to RFC 5322 is very simple.</a:t>
            </a:r>
          </a:p>
          <a:p>
            <a:r>
              <a:rPr lang="en-US" sz="1200" kern="1200" baseline="0" dirty="0">
                <a:solidFill>
                  <a:schemeClr val="tx1"/>
                </a:solidFill>
                <a:latin typeface="Arial" pitchFamily="-107" charset="0"/>
                <a:ea typeface="ＭＳ Ｐゴシック" pitchFamily="-107" charset="-128"/>
                <a:cs typeface="ＭＳ Ｐゴシック" pitchFamily="-107" charset="-128"/>
              </a:rPr>
              <a:t>A message consists of some number of header lines (the header ) followed by unrestricted</a:t>
            </a:r>
          </a:p>
          <a:p>
            <a:r>
              <a:rPr lang="en-US" sz="1200" kern="1200" baseline="0" dirty="0">
                <a:solidFill>
                  <a:schemeClr val="tx1"/>
                </a:solidFill>
                <a:latin typeface="Arial" pitchFamily="-107" charset="0"/>
                <a:ea typeface="ＭＳ Ｐゴシック" pitchFamily="-107" charset="-128"/>
                <a:cs typeface="ＭＳ Ｐゴシック" pitchFamily="-107" charset="-128"/>
              </a:rPr>
              <a:t>text (the body ). The header is separated from the body by a blank line. Put</a:t>
            </a:r>
          </a:p>
          <a:p>
            <a:r>
              <a:rPr lang="en-US" sz="1200" kern="1200" baseline="0" dirty="0">
                <a:solidFill>
                  <a:schemeClr val="tx1"/>
                </a:solidFill>
                <a:latin typeface="Arial" pitchFamily="-107" charset="0"/>
                <a:ea typeface="ＭＳ Ｐゴシック" pitchFamily="-107" charset="-128"/>
                <a:cs typeface="ＭＳ Ｐゴシック" pitchFamily="-107" charset="-128"/>
              </a:rPr>
              <a:t>differently, a message is ASCII text, and all lines up to the first blank line are assumed</a:t>
            </a:r>
          </a:p>
          <a:p>
            <a:r>
              <a:rPr lang="en-US" sz="1200" kern="1200" baseline="0" dirty="0">
                <a:solidFill>
                  <a:schemeClr val="tx1"/>
                </a:solidFill>
                <a:latin typeface="Arial" pitchFamily="-107" charset="0"/>
                <a:ea typeface="ＭＳ Ｐゴシック" pitchFamily="-107" charset="-128"/>
                <a:cs typeface="ＭＳ Ｐゴシック" pitchFamily="-107" charset="-128"/>
              </a:rPr>
              <a:t>to be header lines used by the user agent part of the mail system.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 header line usually consists of a keyword, followed by a colon, followed by</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keyword’s arguments; the format allows a long line to be broken up into several</a:t>
            </a:r>
          </a:p>
          <a:p>
            <a:r>
              <a:rPr lang="en-US" sz="1200" kern="1200" baseline="0" dirty="0">
                <a:solidFill>
                  <a:schemeClr val="tx1"/>
                </a:solidFill>
                <a:latin typeface="Arial" pitchFamily="-107" charset="0"/>
                <a:ea typeface="ＭＳ Ｐゴシック" pitchFamily="-107" charset="-128"/>
                <a:cs typeface="ＭＳ Ｐゴシック" pitchFamily="-107" charset="-128"/>
              </a:rPr>
              <a:t>lines. The most frequently used keywords are From , To , Subject , and Date .</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Another field that is commonly found in RFC 5322 headers is Message-ID .</a:t>
            </a:r>
          </a:p>
          <a:p>
            <a:r>
              <a:rPr lang="en-US" sz="1200" kern="1200" baseline="0" dirty="0">
                <a:solidFill>
                  <a:schemeClr val="tx1"/>
                </a:solidFill>
                <a:latin typeface="Arial" pitchFamily="-107" charset="0"/>
                <a:ea typeface="ＭＳ Ｐゴシック" pitchFamily="-107" charset="-128"/>
                <a:cs typeface="ＭＳ Ｐゴシック" pitchFamily="-107" charset="-128"/>
              </a:rPr>
              <a:t>This field contains a unique identifier associated with this message.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Multipurpose Internet Mail Extension (MIME) is an extension to the RFC 5322</a:t>
            </a:r>
          </a:p>
          <a:p>
            <a:r>
              <a:rPr lang="en-US" sz="1200" kern="1200" baseline="0" dirty="0">
                <a:solidFill>
                  <a:schemeClr val="tx1"/>
                </a:solidFill>
                <a:latin typeface="Arial" pitchFamily="-107" charset="0"/>
                <a:ea typeface="ＭＳ Ｐゴシック" pitchFamily="-107" charset="-128"/>
                <a:cs typeface="ＭＳ Ｐゴシック" pitchFamily="-107" charset="-128"/>
              </a:rPr>
              <a:t>framework that is intended to address some of the problems and limitations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use of Simple Mail Transfer Protocol (SMTP), defined in RFC 821, or some other</a:t>
            </a:r>
          </a:p>
          <a:p>
            <a:r>
              <a:rPr lang="en-US" sz="1200" kern="1200" baseline="0" dirty="0">
                <a:solidFill>
                  <a:schemeClr val="tx1"/>
                </a:solidFill>
                <a:latin typeface="Arial" pitchFamily="-107" charset="0"/>
                <a:ea typeface="ＭＳ Ｐゴシック" pitchFamily="-107" charset="-128"/>
                <a:cs typeface="ＭＳ Ｐゴシック" pitchFamily="-107" charset="-128"/>
              </a:rPr>
              <a:t>mail transfer protocol and RFC 5322 for electronic mail.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MIME is intended to resolve these problems in a manner that is compatible</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existing RFC 5322 implementations. The specification is provided in RFCs</a:t>
            </a:r>
          </a:p>
          <a:p>
            <a:r>
              <a:rPr lang="en-US" sz="1200" kern="1200" baseline="0" dirty="0">
                <a:solidFill>
                  <a:schemeClr val="tx1"/>
                </a:solidFill>
                <a:latin typeface="Arial" pitchFamily="-107" charset="0"/>
                <a:ea typeface="ＭＳ Ｐゴシック" pitchFamily="-107" charset="-128"/>
                <a:cs typeface="ＭＳ Ｐゴシック" pitchFamily="-107" charset="-128"/>
              </a:rPr>
              <a:t>2045 through 2049.</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MIME specification includes the following elements.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Five new message header fields are defined, which may be included in an</a:t>
            </a:r>
          </a:p>
          <a:p>
            <a:r>
              <a:rPr lang="en-US" sz="1200" kern="1200" baseline="0" dirty="0">
                <a:solidFill>
                  <a:schemeClr val="tx1"/>
                </a:solidFill>
                <a:latin typeface="Arial" pitchFamily="-107" charset="0"/>
                <a:ea typeface="ＭＳ Ｐゴシック" pitchFamily="-107" charset="-128"/>
                <a:cs typeface="ＭＳ Ｐゴシック" pitchFamily="-107" charset="-128"/>
              </a:rPr>
              <a:t>RFC 5322 header. These fields provide information about the body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A number of content formats are defined, thus standardizing representations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support multimedia electronic mail.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Transfer encodings are defined that enable the conversion of any content format</a:t>
            </a:r>
          </a:p>
          <a:p>
            <a:r>
              <a:rPr lang="en-US" sz="1200" kern="1200" baseline="0" dirty="0">
                <a:solidFill>
                  <a:schemeClr val="tx1"/>
                </a:solidFill>
                <a:latin typeface="Arial" pitchFamily="-107" charset="0"/>
                <a:ea typeface="ＭＳ Ｐゴシック" pitchFamily="-107" charset="-128"/>
                <a:cs typeface="ＭＳ Ｐゴシック" pitchFamily="-107" charset="-128"/>
              </a:rPr>
              <a:t>into a form that is protected from alteration by the mail system.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In this subsection, we introduce the five message header fields. The next two</a:t>
            </a:r>
          </a:p>
          <a:p>
            <a:r>
              <a:rPr lang="en-US" sz="1200" kern="1200" baseline="0" dirty="0">
                <a:solidFill>
                  <a:schemeClr val="tx1"/>
                </a:solidFill>
                <a:latin typeface="Arial" pitchFamily="-107" charset="0"/>
                <a:ea typeface="ＭＳ Ｐゴシック" pitchFamily="-107" charset="-128"/>
                <a:cs typeface="ＭＳ Ｐゴシック" pitchFamily="-107" charset="-128"/>
              </a:rPr>
              <a:t>subsections deal with content formats and transfer encodings.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five header fields defined in MIME are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MIME-Version:  Must have the parameter value 1.0. This field indicates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 conforms to RFCs 2045 and 2046.</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Content-Type:  Describes the data contained in the body with sufficient detail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receiving user agent can pick an appropriate agent or mechanism to represent</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data to the user or otherwise deal with the data in an appropriate manner.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Content-Transfer-Encoding:  Indicates the type of transformation that has</a:t>
            </a:r>
          </a:p>
          <a:p>
            <a:r>
              <a:rPr lang="en-US" sz="1200" kern="1200" baseline="0" dirty="0">
                <a:solidFill>
                  <a:schemeClr val="tx1"/>
                </a:solidFill>
                <a:latin typeface="Arial" pitchFamily="-107" charset="0"/>
                <a:ea typeface="ＭＳ Ｐゴシック" pitchFamily="-107" charset="-128"/>
                <a:cs typeface="ＭＳ Ｐゴシック" pitchFamily="-107" charset="-128"/>
              </a:rPr>
              <a:t>been used to represent the body of the message in a way that is acceptable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mail transport.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Content-ID:  Used to identify MIME entities uniquely in multiple contexts.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Content-Description:  A text description of the object with the body; this is</a:t>
            </a:r>
          </a:p>
          <a:p>
            <a:r>
              <a:rPr lang="en-US" sz="1200" kern="1200" baseline="0" dirty="0">
                <a:solidFill>
                  <a:schemeClr val="tx1"/>
                </a:solidFill>
                <a:latin typeface="Arial" pitchFamily="-107" charset="0"/>
                <a:ea typeface="ＭＳ Ｐゴシック" pitchFamily="-107" charset="-128"/>
                <a:cs typeface="ＭＳ Ｐゴシック" pitchFamily="-107" charset="-128"/>
              </a:rPr>
              <a:t>useful when the object is not readable (e.g., audio data).</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Any or all of these fields may appear in a normal RFC 5322 header. A compliant</a:t>
            </a:r>
          </a:p>
          <a:p>
            <a:r>
              <a:rPr lang="en-US" sz="1200" kern="1200" baseline="0" dirty="0">
                <a:solidFill>
                  <a:schemeClr val="tx1"/>
                </a:solidFill>
                <a:latin typeface="Arial" pitchFamily="-107" charset="0"/>
                <a:ea typeface="ＭＳ Ｐゴシック" pitchFamily="-107" charset="-128"/>
                <a:cs typeface="ＭＳ Ｐゴシック" pitchFamily="-107" charset="-128"/>
              </a:rPr>
              <a:t>implementation must support the MIME-Version, Content-Type,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Content-Transfer-Encoding fields; the Content-ID and Content-Description fields</a:t>
            </a:r>
          </a:p>
          <a:p>
            <a:r>
              <a:rPr lang="en-US" sz="1200" kern="1200" baseline="0" dirty="0">
                <a:solidFill>
                  <a:schemeClr val="tx1"/>
                </a:solidFill>
                <a:latin typeface="Arial" pitchFamily="-107" charset="0"/>
                <a:ea typeface="ＭＳ Ｐゴシック" pitchFamily="-107" charset="-128"/>
                <a:cs typeface="ＭＳ Ｐゴシック" pitchFamily="-107" charset="-128"/>
              </a:rPr>
              <a:t>are optional and may be ignored by the recipient implementation.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17</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The bulk of the MIME specification is concerned with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definition of a variety of content types. This reflects the need to provide standardized</a:t>
            </a:r>
          </a:p>
          <a:p>
            <a:r>
              <a:rPr lang="en-US" sz="1200" kern="1200" baseline="0" dirty="0">
                <a:solidFill>
                  <a:schemeClr val="tx1"/>
                </a:solidFill>
                <a:latin typeface="Arial" pitchFamily="-107" charset="0"/>
                <a:ea typeface="ＭＳ Ｐゴシック" pitchFamily="-107" charset="-128"/>
                <a:cs typeface="ＭＳ Ｐゴシック" pitchFamily="-107" charset="-128"/>
              </a:rPr>
              <a:t>ways of dealing with a wide variety of information representations in a multimedia</a:t>
            </a:r>
          </a:p>
          <a:p>
            <a:r>
              <a:rPr lang="en-US" sz="1200" kern="1200" baseline="0" dirty="0">
                <a:solidFill>
                  <a:schemeClr val="tx1"/>
                </a:solidFill>
                <a:latin typeface="Arial" pitchFamily="-107" charset="0"/>
                <a:ea typeface="ＭＳ Ｐゴシック" pitchFamily="-107" charset="-128"/>
                <a:cs typeface="ＭＳ Ｐゴシック" pitchFamily="-107" charset="-128"/>
              </a:rPr>
              <a:t>environment.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Table 8.2 lists the content types specified in RFC 2046. There are seven different</a:t>
            </a:r>
          </a:p>
          <a:p>
            <a:r>
              <a:rPr lang="en-US" sz="1200" kern="1200" baseline="0" dirty="0">
                <a:solidFill>
                  <a:schemeClr val="tx1"/>
                </a:solidFill>
                <a:latin typeface="Arial" pitchFamily="-107" charset="0"/>
                <a:ea typeface="ＭＳ Ｐゴシック" pitchFamily="-107" charset="-128"/>
                <a:cs typeface="ＭＳ Ｐゴシック" pitchFamily="-107" charset="-128"/>
              </a:rPr>
              <a:t>major types of content and a total of 15 subtypes. In general, a content type</a:t>
            </a:r>
          </a:p>
          <a:p>
            <a:r>
              <a:rPr lang="en-US" sz="1200" kern="1200" baseline="0" dirty="0">
                <a:solidFill>
                  <a:schemeClr val="tx1"/>
                </a:solidFill>
                <a:latin typeface="Arial" pitchFamily="-107" charset="0"/>
                <a:ea typeface="ＭＳ Ｐゴシック" pitchFamily="-107" charset="-128"/>
                <a:cs typeface="ＭＳ Ｐゴシック" pitchFamily="-107" charset="-128"/>
              </a:rPr>
              <a:t>declares the general type of data, and the subtype specifies a particular format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type of data.</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For the text type  of body, no special software is required to get the full meaning</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the text aside from support of the indicated character set. The primary subtype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plain text , which is simply a string of ASCII characters or ISO 8859 characters.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enriched  subtype allows greater formatting flexibility.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multipart type  indicates that the body contains multiple, independent</a:t>
            </a:r>
          </a:p>
          <a:p>
            <a:r>
              <a:rPr lang="en-US" sz="1200" kern="1200" baseline="0" dirty="0">
                <a:solidFill>
                  <a:schemeClr val="tx1"/>
                </a:solidFill>
                <a:latin typeface="Arial" pitchFamily="-107" charset="0"/>
                <a:ea typeface="ＭＳ Ｐゴシック" pitchFamily="-107" charset="-128"/>
                <a:cs typeface="ＭＳ Ｐゴシック" pitchFamily="-107" charset="-128"/>
              </a:rPr>
              <a:t>parts. The Content-Type header field includes a parameter (called a boundary)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defines the delimiter between body parts. This boundary should not appear in any</a:t>
            </a:r>
          </a:p>
          <a:p>
            <a:r>
              <a:rPr lang="en-US" sz="1200" kern="1200" baseline="0" dirty="0">
                <a:solidFill>
                  <a:schemeClr val="tx1"/>
                </a:solidFill>
                <a:latin typeface="Arial" pitchFamily="-107" charset="0"/>
                <a:ea typeface="ＭＳ Ｐゴシック" pitchFamily="-107" charset="-128"/>
                <a:cs typeface="ＭＳ Ｐゴシック" pitchFamily="-107" charset="-128"/>
              </a:rPr>
              <a:t>parts of the message. Each boundary starts on a new line and consists of two hyphens</a:t>
            </a:r>
          </a:p>
          <a:p>
            <a:r>
              <a:rPr lang="en-US" sz="1200" kern="1200" baseline="0" dirty="0">
                <a:solidFill>
                  <a:schemeClr val="tx1"/>
                </a:solidFill>
                <a:latin typeface="Arial" pitchFamily="-107" charset="0"/>
                <a:ea typeface="ＭＳ Ｐゴシック" pitchFamily="-107" charset="-128"/>
                <a:cs typeface="ＭＳ Ｐゴシック" pitchFamily="-107" charset="-128"/>
              </a:rPr>
              <a:t>followed by the boundary value. The final boundary, which indicates the end</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the last part, also has a suffix of two hyphens. Within each part, there may be an</a:t>
            </a:r>
          </a:p>
          <a:p>
            <a:r>
              <a:rPr lang="en-US" sz="1200" kern="1200" baseline="0" dirty="0">
                <a:solidFill>
                  <a:schemeClr val="tx1"/>
                </a:solidFill>
                <a:latin typeface="Arial" pitchFamily="-107" charset="0"/>
                <a:ea typeface="ＭＳ Ｐゴシック" pitchFamily="-107" charset="-128"/>
                <a:cs typeface="ＭＳ Ｐゴシック" pitchFamily="-107" charset="-128"/>
              </a:rPr>
              <a:t>optional ordinary MIME header.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There are four subtypes of the multipart type, all of which have the same overall</a:t>
            </a:r>
          </a:p>
          <a:p>
            <a:r>
              <a:rPr lang="en-US" sz="1200" kern="1200" baseline="0" dirty="0">
                <a:solidFill>
                  <a:schemeClr val="tx1"/>
                </a:solidFill>
                <a:latin typeface="Arial" pitchFamily="-107" charset="0"/>
                <a:ea typeface="ＭＳ Ｐゴシック" pitchFamily="-107" charset="-128"/>
                <a:cs typeface="ＭＳ Ｐゴシック" pitchFamily="-107" charset="-128"/>
              </a:rPr>
              <a:t>syntax. The multipart/mixed subtype  is used when there are multiple independent</a:t>
            </a:r>
          </a:p>
          <a:p>
            <a:r>
              <a:rPr lang="en-US" sz="1200" kern="1200" baseline="0" dirty="0">
                <a:solidFill>
                  <a:schemeClr val="tx1"/>
                </a:solidFill>
                <a:latin typeface="Arial" pitchFamily="-107" charset="0"/>
                <a:ea typeface="ＭＳ Ｐゴシック" pitchFamily="-107" charset="-128"/>
                <a:cs typeface="ＭＳ Ｐゴシック" pitchFamily="-107" charset="-128"/>
              </a:rPr>
              <a:t>body parts that need to be bundled in a particular order. For the multipart/</a:t>
            </a:r>
          </a:p>
          <a:p>
            <a:r>
              <a:rPr lang="en-US" sz="1200" kern="1200" baseline="0" dirty="0">
                <a:solidFill>
                  <a:schemeClr val="tx1"/>
                </a:solidFill>
                <a:latin typeface="Arial" pitchFamily="-107" charset="0"/>
                <a:ea typeface="ＭＳ Ｐゴシック" pitchFamily="-107" charset="-128"/>
                <a:cs typeface="ＭＳ Ｐゴシック" pitchFamily="-107" charset="-128"/>
              </a:rPr>
              <a:t>parallel subtype,  the order of the parts is not significant. If the recipient’s system is</a:t>
            </a:r>
          </a:p>
          <a:p>
            <a:r>
              <a:rPr lang="en-US" sz="1200" kern="1200" baseline="0" dirty="0">
                <a:solidFill>
                  <a:schemeClr val="tx1"/>
                </a:solidFill>
                <a:latin typeface="Arial" pitchFamily="-107" charset="0"/>
                <a:ea typeface="ＭＳ Ｐゴシック" pitchFamily="-107" charset="-128"/>
                <a:cs typeface="ＭＳ Ｐゴシック" pitchFamily="-107" charset="-128"/>
              </a:rPr>
              <a:t>appropriate, the multiple parts can be presented in parallel. For example, a picture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or text part could be accompanied by a voice commentary that is played while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picture or text is displayed.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For the multipart/alternative subtype,  the various parts are different representations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the same information.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multipart/digest subtype  is used when each of the body parts is interpreted</a:t>
            </a:r>
          </a:p>
          <a:p>
            <a:r>
              <a:rPr lang="en-US" sz="1200" kern="1200" baseline="0" dirty="0">
                <a:solidFill>
                  <a:schemeClr val="tx1"/>
                </a:solidFill>
                <a:latin typeface="Arial" pitchFamily="-107" charset="0"/>
                <a:ea typeface="ＭＳ Ｐゴシック" pitchFamily="-107" charset="-128"/>
                <a:cs typeface="ＭＳ Ｐゴシック" pitchFamily="-107" charset="-128"/>
              </a:rPr>
              <a:t>as an RFC 5322 message with headers. This subtype enables the construction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of a message whose parts are individual messages. For example, the moderator of a</a:t>
            </a:r>
          </a:p>
          <a:p>
            <a:r>
              <a:rPr lang="en-US" sz="1200" kern="1200" baseline="0" dirty="0">
                <a:solidFill>
                  <a:schemeClr val="tx1"/>
                </a:solidFill>
                <a:latin typeface="Arial" pitchFamily="-107" charset="0"/>
                <a:ea typeface="ＭＳ Ｐゴシック" pitchFamily="-107" charset="-128"/>
                <a:cs typeface="ＭＳ Ｐゴシック" pitchFamily="-107" charset="-128"/>
              </a:rPr>
              <a:t>group might collect e-mail messages from participants, bundle these messages,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send them out in one encapsulating MIME message.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 type  provides a number of important capabilities in MIME.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message/rfc822 subtype  indicates that the body is an entire message, including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header and body. Despite the name of this subtype, the encapsulated message may</a:t>
            </a:r>
          </a:p>
          <a:p>
            <a:r>
              <a:rPr lang="en-US" sz="1200" kern="1200" baseline="0" dirty="0">
                <a:solidFill>
                  <a:schemeClr val="tx1"/>
                </a:solidFill>
                <a:latin typeface="Arial" pitchFamily="-107" charset="0"/>
                <a:ea typeface="ＭＳ Ｐゴシック" pitchFamily="-107" charset="-128"/>
                <a:cs typeface="ＭＳ Ｐゴシック" pitchFamily="-107" charset="-128"/>
              </a:rPr>
              <a:t>be not only a simple RFC 5322 message but also any MIME message.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message/partial subtype  enables fragmentation of a large message into a</a:t>
            </a:r>
          </a:p>
          <a:p>
            <a:r>
              <a:rPr lang="en-US" sz="1200" kern="1200" baseline="0" dirty="0">
                <a:solidFill>
                  <a:schemeClr val="tx1"/>
                </a:solidFill>
                <a:latin typeface="Arial" pitchFamily="-107" charset="0"/>
                <a:ea typeface="ＭＳ Ｐゴシック" pitchFamily="-107" charset="-128"/>
                <a:cs typeface="ＭＳ Ｐゴシック" pitchFamily="-107" charset="-128"/>
              </a:rPr>
              <a:t>number of parts, which must be reassembled at the destination. For this subtype,</a:t>
            </a:r>
          </a:p>
          <a:p>
            <a:r>
              <a:rPr lang="en-US" sz="1200" kern="1200" baseline="0" dirty="0">
                <a:solidFill>
                  <a:schemeClr val="tx1"/>
                </a:solidFill>
                <a:latin typeface="Arial" pitchFamily="-107" charset="0"/>
                <a:ea typeface="ＭＳ Ｐゴシック" pitchFamily="-107" charset="-128"/>
                <a:cs typeface="ＭＳ Ｐゴシック" pitchFamily="-107" charset="-128"/>
              </a:rPr>
              <a:t>three parameters are specified in the Content-Type: Message/Partial field: an id</a:t>
            </a:r>
          </a:p>
          <a:p>
            <a:r>
              <a:rPr lang="en-US" sz="1200" kern="1200" baseline="0" dirty="0">
                <a:solidFill>
                  <a:schemeClr val="tx1"/>
                </a:solidFill>
                <a:latin typeface="Arial" pitchFamily="-107" charset="0"/>
                <a:ea typeface="ＭＳ Ｐゴシック" pitchFamily="-107" charset="-128"/>
                <a:cs typeface="ＭＳ Ｐゴシック" pitchFamily="-107" charset="-128"/>
              </a:rPr>
              <a:t> common to all fragments of the same message, a sequence number  unique to each</a:t>
            </a:r>
          </a:p>
          <a:p>
            <a:r>
              <a:rPr lang="en-US" sz="1200" kern="1200" baseline="0" dirty="0">
                <a:solidFill>
                  <a:schemeClr val="tx1"/>
                </a:solidFill>
                <a:latin typeface="Arial" pitchFamily="-107" charset="0"/>
                <a:ea typeface="ＭＳ Ｐゴシック" pitchFamily="-107" charset="-128"/>
                <a:cs typeface="ＭＳ Ｐゴシック" pitchFamily="-107" charset="-128"/>
              </a:rPr>
              <a:t>fragment, and the total  number of fragments.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message/external-body subtype  indicates that the actual data to be conveyed</a:t>
            </a:r>
          </a:p>
          <a:p>
            <a:r>
              <a:rPr lang="en-US" sz="1200" kern="1200" baseline="0" dirty="0">
                <a:solidFill>
                  <a:schemeClr val="tx1"/>
                </a:solidFill>
                <a:latin typeface="Arial" pitchFamily="-107" charset="0"/>
                <a:ea typeface="ＭＳ Ｐゴシック" pitchFamily="-107" charset="-128"/>
                <a:cs typeface="ＭＳ Ｐゴシック" pitchFamily="-107" charset="-128"/>
              </a:rPr>
              <a:t>in this message are not contained in the body. Instead, the body contains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information needed to access the data. As with the other message types,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external-body subtype has an outer header and an encapsulated message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its own header. The only necessary field in the outer header is the Content-Type</a:t>
            </a:r>
          </a:p>
          <a:p>
            <a:r>
              <a:rPr lang="en-US" sz="1200" kern="1200" baseline="0" dirty="0">
                <a:solidFill>
                  <a:schemeClr val="tx1"/>
                </a:solidFill>
                <a:latin typeface="Arial" pitchFamily="-107" charset="0"/>
                <a:ea typeface="ＭＳ Ｐゴシック" pitchFamily="-107" charset="-128"/>
                <a:cs typeface="ＭＳ Ｐゴシック" pitchFamily="-107" charset="-128"/>
              </a:rPr>
              <a:t>field, which identifies this as a message/external-body subtype. The inner header is</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 header for the encapsulated message. The Content-Type field in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 outer header must include an access-type parameter, which indicates the method of</a:t>
            </a:r>
          </a:p>
          <a:p>
            <a:r>
              <a:rPr lang="en-US" sz="1200" kern="1200" baseline="0" dirty="0">
                <a:solidFill>
                  <a:schemeClr val="tx1"/>
                </a:solidFill>
                <a:latin typeface="Arial" pitchFamily="-107" charset="0"/>
                <a:ea typeface="ＭＳ Ｐゴシック" pitchFamily="-107" charset="-128"/>
                <a:cs typeface="ＭＳ Ｐゴシック" pitchFamily="-107" charset="-128"/>
              </a:rPr>
              <a:t>access, such as FTP (file transfer protocol).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application type  refers to other kinds of data, typically either uninterpreted</a:t>
            </a:r>
          </a:p>
          <a:p>
            <a:r>
              <a:rPr lang="en-US" sz="1200" kern="1200" baseline="0" dirty="0">
                <a:solidFill>
                  <a:schemeClr val="tx1"/>
                </a:solidFill>
                <a:latin typeface="Arial" pitchFamily="-107" charset="0"/>
                <a:ea typeface="ＭＳ Ｐゴシック" pitchFamily="-107" charset="-128"/>
                <a:cs typeface="ＭＳ Ｐゴシック" pitchFamily="-107" charset="-128"/>
              </a:rPr>
              <a:t>binary data or information to be processed by a mail-based application.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18</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The other major component of the MIME specification,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in addition to content type specification, is a definition of transfer encodings</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message bodies. The objective is to provide reliable delivery across the largest</a:t>
            </a:r>
          </a:p>
          <a:p>
            <a:r>
              <a:rPr lang="en-US" sz="1200" kern="1200" baseline="0" dirty="0">
                <a:solidFill>
                  <a:schemeClr val="tx1"/>
                </a:solidFill>
                <a:latin typeface="Arial" pitchFamily="-107" charset="0"/>
                <a:ea typeface="ＭＳ Ｐゴシック" pitchFamily="-107" charset="-128"/>
                <a:cs typeface="ＭＳ Ｐゴシック" pitchFamily="-107" charset="-128"/>
              </a:rPr>
              <a:t>range of environments.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MIME standard defines two methods of encoding data. The Content-</a:t>
            </a:r>
          </a:p>
          <a:p>
            <a:r>
              <a:rPr lang="en-US" sz="1200" kern="1200" baseline="0" dirty="0">
                <a:solidFill>
                  <a:schemeClr val="tx1"/>
                </a:solidFill>
                <a:latin typeface="Arial" pitchFamily="-107" charset="0"/>
                <a:ea typeface="ＭＳ Ｐゴシック" pitchFamily="-107" charset="-128"/>
                <a:cs typeface="ＭＳ Ｐゴシック" pitchFamily="-107" charset="-128"/>
              </a:rPr>
              <a:t>Transfer-Encoding field can actually take on six values, as listed in Table 8.3.</a:t>
            </a:r>
          </a:p>
          <a:p>
            <a:r>
              <a:rPr lang="en-US" sz="1200" kern="1200" baseline="0" dirty="0">
                <a:solidFill>
                  <a:schemeClr val="tx1"/>
                </a:solidFill>
                <a:latin typeface="Arial" pitchFamily="-107" charset="0"/>
                <a:ea typeface="ＭＳ Ｐゴシック" pitchFamily="-107" charset="-128"/>
                <a:cs typeface="ＭＳ Ｐゴシック" pitchFamily="-107" charset="-128"/>
              </a:rPr>
              <a:t>However, three of these values (7bit, 8bit, and binary) indicate that no encoding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has been done but provide some information about the nature of the data.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SMTP transfer, it is safe to use the 7bit form. The 8bit and binary forms may be usable</a:t>
            </a:r>
          </a:p>
          <a:p>
            <a:r>
              <a:rPr lang="en-US" sz="1200" kern="1200" baseline="0" dirty="0">
                <a:solidFill>
                  <a:schemeClr val="tx1"/>
                </a:solidFill>
                <a:latin typeface="Arial" pitchFamily="-107" charset="0"/>
                <a:ea typeface="ＭＳ Ｐゴシック" pitchFamily="-107" charset="-128"/>
                <a:cs typeface="ＭＳ Ｐゴシック" pitchFamily="-107" charset="-128"/>
              </a:rPr>
              <a:t>in other mail transport contexts. Another Content-Transfer-Encoding value is</a:t>
            </a:r>
          </a:p>
          <a:p>
            <a:r>
              <a:rPr lang="en-US" sz="1200" kern="1200" baseline="0" dirty="0">
                <a:solidFill>
                  <a:schemeClr val="tx1"/>
                </a:solidFill>
                <a:latin typeface="Arial" pitchFamily="-107" charset="0"/>
                <a:ea typeface="ＭＳ Ｐゴシック" pitchFamily="-107" charset="-128"/>
                <a:cs typeface="ＭＳ Ｐゴシック" pitchFamily="-107" charset="-128"/>
              </a:rPr>
              <a:t>x-token, which indicates that some other encoding scheme is used for which a name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to be supplied. This could be a vendor-specific or application-specific scheme.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two actual encoding schemes defined are quoted-printable and base64. Two</a:t>
            </a:r>
          </a:p>
          <a:p>
            <a:r>
              <a:rPr lang="en-US" sz="1200" kern="1200" baseline="0" dirty="0">
                <a:solidFill>
                  <a:schemeClr val="tx1"/>
                </a:solidFill>
                <a:latin typeface="Arial" pitchFamily="-107" charset="0"/>
                <a:ea typeface="ＭＳ Ｐゴシック" pitchFamily="-107" charset="-128"/>
                <a:cs typeface="ＭＳ Ｐゴシック" pitchFamily="-107" charset="-128"/>
              </a:rPr>
              <a:t>schemes are defined to provide a choice between a transfer technique that is essentially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human readable and one that is safe for all types of data in a way that is</a:t>
            </a:r>
          </a:p>
          <a:p>
            <a:r>
              <a:rPr lang="en-US" sz="1200" kern="1200" baseline="0" dirty="0">
                <a:solidFill>
                  <a:schemeClr val="tx1"/>
                </a:solidFill>
                <a:latin typeface="Arial" pitchFamily="-107" charset="0"/>
                <a:ea typeface="ＭＳ Ｐゴシック" pitchFamily="-107" charset="-128"/>
                <a:cs typeface="ＭＳ Ｐゴシック" pitchFamily="-107" charset="-128"/>
              </a:rPr>
              <a:t>reasonably compact.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quoted-printable  transfer encoding is useful when the data consists largely</a:t>
            </a:r>
          </a:p>
          <a:p>
            <a:r>
              <a:rPr lang="en-US" sz="1200" kern="1200" baseline="0" dirty="0">
                <a:solidFill>
                  <a:schemeClr val="tx1"/>
                </a:solidFill>
                <a:latin typeface="Arial" pitchFamily="-107" charset="0"/>
                <a:ea typeface="ＭＳ Ｐゴシック" pitchFamily="-107" charset="-128"/>
                <a:cs typeface="ＭＳ Ｐゴシック" pitchFamily="-107" charset="-128"/>
              </a:rPr>
              <a:t>of octets that correspond to printable ASCII characters. In essence, it represents</a:t>
            </a:r>
          </a:p>
          <a:p>
            <a:r>
              <a:rPr lang="en-US" sz="1200" kern="1200" baseline="0" dirty="0">
                <a:solidFill>
                  <a:schemeClr val="tx1"/>
                </a:solidFill>
                <a:latin typeface="Arial" pitchFamily="-107" charset="0"/>
                <a:ea typeface="ＭＳ Ｐゴシック" pitchFamily="-107" charset="-128"/>
                <a:cs typeface="ＭＳ Ｐゴシック" pitchFamily="-107" charset="-128"/>
              </a:rPr>
              <a:t>nonsafe characters by the hexadecimal representation of their code and introduces</a:t>
            </a:r>
          </a:p>
          <a:p>
            <a:r>
              <a:rPr lang="en-US" sz="1200" kern="1200" baseline="0" dirty="0">
                <a:solidFill>
                  <a:schemeClr val="tx1"/>
                </a:solidFill>
                <a:latin typeface="Arial" pitchFamily="-107" charset="0"/>
                <a:ea typeface="ＭＳ Ｐゴシック" pitchFamily="-107" charset="-128"/>
                <a:cs typeface="ＭＳ Ｐゴシック" pitchFamily="-107" charset="-128"/>
              </a:rPr>
              <a:t>reversible (soft) line breaks to limit message lines to 76 characters.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base64 transfer encoding,  also known as radix-64 encoding, is a common</a:t>
            </a:r>
          </a:p>
          <a:p>
            <a:r>
              <a:rPr lang="en-US" sz="1200" kern="1200" baseline="0" dirty="0">
                <a:solidFill>
                  <a:schemeClr val="tx1"/>
                </a:solidFill>
                <a:latin typeface="Arial" pitchFamily="-107" charset="0"/>
                <a:ea typeface="ＭＳ Ｐゴシック" pitchFamily="-107" charset="-128"/>
                <a:cs typeface="ＭＳ Ｐゴシック" pitchFamily="-107" charset="-128"/>
              </a:rPr>
              <a:t>one for encoding arbitrary binary data in such a way as to be invulnerable to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processing by mail-transport programs. It is also used in PGP and is described in</a:t>
            </a:r>
          </a:p>
          <a:p>
            <a:r>
              <a:rPr lang="en-US" sz="1200" kern="1200" baseline="0" dirty="0">
                <a:solidFill>
                  <a:schemeClr val="tx1"/>
                </a:solidFill>
                <a:latin typeface="Arial" pitchFamily="-107" charset="0"/>
                <a:ea typeface="ＭＳ Ｐゴシック" pitchFamily="-107" charset="-128"/>
                <a:cs typeface="ＭＳ Ｐゴシック" pitchFamily="-107" charset="-128"/>
              </a:rPr>
              <a:t>Appendix 19A.</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19</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Figure 8.3, taken from RFC 2045, is the outline of a complex</a:t>
            </a:r>
          </a:p>
          <a:p>
            <a:r>
              <a:rPr lang="en-US" sz="1200" kern="1200" baseline="0" dirty="0">
                <a:solidFill>
                  <a:schemeClr val="tx1"/>
                </a:solidFill>
                <a:latin typeface="Arial" pitchFamily="-107" charset="0"/>
                <a:ea typeface="ＭＳ Ｐゴシック" pitchFamily="-107" charset="-128"/>
                <a:cs typeface="ＭＳ Ｐゴシック" pitchFamily="-107" charset="-128"/>
              </a:rPr>
              <a:t>multipart message. The message has five parts to be displayed serially: two</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introductory plain text parts, an embedded multipart message, a richtext part,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 a closing encapsulated text message in a non-ASCII character set. The embedded</a:t>
            </a:r>
          </a:p>
          <a:p>
            <a:r>
              <a:rPr lang="en-US" sz="1200" kern="1200" baseline="0" dirty="0">
                <a:solidFill>
                  <a:schemeClr val="tx1"/>
                </a:solidFill>
                <a:latin typeface="Arial" pitchFamily="-107" charset="0"/>
                <a:ea typeface="ＭＳ Ｐゴシック" pitchFamily="-107" charset="-128"/>
                <a:cs typeface="ＭＳ Ｐゴシック" pitchFamily="-107" charset="-128"/>
              </a:rPr>
              <a:t>multipart message has two parts to be displayed in parallel: a picture and an audio</a:t>
            </a:r>
          </a:p>
          <a:p>
            <a:r>
              <a:rPr lang="en-US" sz="1200" kern="1200" baseline="0" dirty="0">
                <a:solidFill>
                  <a:schemeClr val="tx1"/>
                </a:solidFill>
                <a:latin typeface="Arial" pitchFamily="-107" charset="0"/>
                <a:ea typeface="ＭＳ Ｐゴシック" pitchFamily="-107" charset="-128"/>
                <a:cs typeface="ＭＳ Ｐゴシック" pitchFamily="-107" charset="-128"/>
              </a:rPr>
              <a:t>fragment.</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20</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An important concept in MIME and S/MIME is that of canonical</a:t>
            </a:r>
          </a:p>
          <a:p>
            <a:r>
              <a:rPr lang="en-US" sz="1200" kern="1200" baseline="0" dirty="0">
                <a:solidFill>
                  <a:schemeClr val="tx1"/>
                </a:solidFill>
                <a:latin typeface="Arial" pitchFamily="-107" charset="0"/>
                <a:ea typeface="ＭＳ Ｐゴシック" pitchFamily="-107" charset="-128"/>
                <a:cs typeface="ＭＳ Ｐゴシック" pitchFamily="-107" charset="-128"/>
              </a:rPr>
              <a:t>form. Canonical form is a format, appropriate to the content type, that is standardized</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use between systems. This is in contrast to native form, which is a format</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may be peculiar to a particular system. Table 8.4, from RFC 2049, should help</a:t>
            </a:r>
          </a:p>
          <a:p>
            <a:r>
              <a:rPr lang="en-US" sz="1200" kern="1200" baseline="0" dirty="0">
                <a:solidFill>
                  <a:schemeClr val="tx1"/>
                </a:solidFill>
                <a:latin typeface="Arial" pitchFamily="-107" charset="0"/>
                <a:ea typeface="ＭＳ Ｐゴシック" pitchFamily="-107" charset="-128"/>
                <a:cs typeface="ＭＳ Ｐゴシック" pitchFamily="-107" charset="-128"/>
              </a:rPr>
              <a:t>clarify this matter.</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21</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F205B891-9645-054C-8BD7-1C8A0A38C388}" type="slidenum">
              <a:rPr lang="en-AU">
                <a:latin typeface="Arial" pitchFamily="-1" charset="0"/>
              </a:rPr>
              <a:pPr/>
              <a:t>22</a:t>
            </a:fld>
            <a:endParaRPr lang="en-AU" dirty="0">
              <a:latin typeface="Arial" pitchFamily="-1"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In terms of general functionality, S/MIME is very similar to PGP. Both offer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ability to sign and/or encrypt messages. In this subsection, we briefly summarize</a:t>
            </a:r>
          </a:p>
          <a:p>
            <a:r>
              <a:rPr lang="en-US" sz="1200" kern="1200" baseline="0" dirty="0">
                <a:solidFill>
                  <a:schemeClr val="tx1"/>
                </a:solidFill>
                <a:latin typeface="Arial" pitchFamily="-107" charset="0"/>
                <a:ea typeface="ＭＳ Ｐゴシック" pitchFamily="-107" charset="-128"/>
                <a:cs typeface="ＭＳ Ｐゴシック" pitchFamily="-107" charset="-128"/>
              </a:rPr>
              <a:t>S/MIME capability. We then look in more detail at this capability by examining</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formats and message preparation.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S/MIME provides the following functions.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Enveloped data:  This consists of encrypted content of any type and encrypted content</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encryption keys for one or more recipients.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Signed data:  A digital signature is formed by taking the message digest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content to be signed and then encrypting that with the private key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signer. The content plus signature are then encoded using base64 encoding.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A signed data message can only be viewed by a recipient with S/MIME</a:t>
            </a:r>
          </a:p>
          <a:p>
            <a:r>
              <a:rPr lang="en-US" sz="1200" kern="1200" baseline="0" dirty="0">
                <a:solidFill>
                  <a:schemeClr val="tx1"/>
                </a:solidFill>
                <a:latin typeface="Arial" pitchFamily="-107" charset="0"/>
                <a:ea typeface="ＭＳ Ｐゴシック" pitchFamily="-107" charset="-128"/>
                <a:cs typeface="ＭＳ Ｐゴシック" pitchFamily="-107" charset="-128"/>
              </a:rPr>
              <a:t>capability.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Clear-signed data:  As with signed data, a digital signature of the content is</a:t>
            </a:r>
          </a:p>
          <a:p>
            <a:r>
              <a:rPr lang="en-US" sz="1200" kern="1200" baseline="0" dirty="0">
                <a:solidFill>
                  <a:schemeClr val="tx1"/>
                </a:solidFill>
                <a:latin typeface="Arial" pitchFamily="-107" charset="0"/>
                <a:ea typeface="ＭＳ Ｐゴシック" pitchFamily="-107" charset="-128"/>
                <a:cs typeface="ＭＳ Ｐゴシック" pitchFamily="-107" charset="-128"/>
              </a:rPr>
              <a:t>formed. However, in this case, only the digital signature is encoded using</a:t>
            </a:r>
          </a:p>
          <a:p>
            <a:r>
              <a:rPr lang="en-US" sz="1200" kern="1200" baseline="0" dirty="0">
                <a:solidFill>
                  <a:schemeClr val="tx1"/>
                </a:solidFill>
                <a:latin typeface="Arial" pitchFamily="-107" charset="0"/>
                <a:ea typeface="ＭＳ Ｐゴシック" pitchFamily="-107" charset="-128"/>
                <a:cs typeface="ＭＳ Ｐゴシック" pitchFamily="-107" charset="-128"/>
              </a:rPr>
              <a:t> base64. As a result, recipients without S/MIME capability can view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content, although they cannot verify the signature.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Signed and enveloped data:  Signed-only and encrypted-only entities may be</a:t>
            </a:r>
          </a:p>
          <a:p>
            <a:r>
              <a:rPr lang="en-US" sz="1200" kern="1200" baseline="0" dirty="0">
                <a:solidFill>
                  <a:schemeClr val="tx1"/>
                </a:solidFill>
                <a:latin typeface="Arial" pitchFamily="-107" charset="0"/>
                <a:ea typeface="ＭＳ Ｐゴシック" pitchFamily="-107" charset="-128"/>
                <a:cs typeface="ＭＳ Ｐゴシック" pitchFamily="-107" charset="-128"/>
              </a:rPr>
              <a:t>nested, so that encrypted data may be signed and signed data or clear-signed</a:t>
            </a:r>
          </a:p>
          <a:p>
            <a:r>
              <a:rPr lang="en-US" sz="1200" kern="1200" baseline="0" dirty="0">
                <a:solidFill>
                  <a:schemeClr val="tx1"/>
                </a:solidFill>
                <a:latin typeface="Arial" pitchFamily="-107" charset="0"/>
                <a:ea typeface="ＭＳ Ｐゴシック" pitchFamily="-107" charset="-128"/>
                <a:cs typeface="ＭＳ Ｐゴシック" pitchFamily="-107" charset="-128"/>
              </a:rPr>
              <a:t>data may be encrypted.</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Table 8.5 summarizes the cryptographic algorithms</a:t>
            </a:r>
          </a:p>
          <a:p>
            <a:r>
              <a:rPr lang="en-US" sz="1200" kern="1200" baseline="0" dirty="0">
                <a:solidFill>
                  <a:schemeClr val="tx1"/>
                </a:solidFill>
                <a:latin typeface="Arial" pitchFamily="-107" charset="0"/>
                <a:ea typeface="ＭＳ Ｐゴシック" pitchFamily="-107" charset="-128"/>
                <a:cs typeface="ＭＳ Ｐゴシック" pitchFamily="-107" charset="-128"/>
              </a:rPr>
              <a:t>used in S/MIME. S/MIME uses the following terminology taken from RFC 2119</a:t>
            </a:r>
          </a:p>
          <a:p>
            <a:r>
              <a:rPr lang="en-US" sz="1200" kern="1200" baseline="0" dirty="0">
                <a:solidFill>
                  <a:schemeClr val="tx1"/>
                </a:solidFill>
                <a:latin typeface="Arial" pitchFamily="-107" charset="0"/>
                <a:ea typeface="ＭＳ Ｐゴシック" pitchFamily="-107" charset="-128"/>
                <a:cs typeface="ＭＳ Ｐゴシック" pitchFamily="-107" charset="-128"/>
              </a:rPr>
              <a:t>(Key Words for use in RFCs to Indicate Requirement Levels ) to specify the requirement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level: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MUST:  The definition is an absolute requirement of the specification. An implementation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must include this feature or function to be in conformance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specification.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SHOULD:  There may exist valid reasons in particular circumstances to ignore</a:t>
            </a:r>
          </a:p>
          <a:p>
            <a:r>
              <a:rPr lang="en-US" sz="1200" kern="1200" baseline="0" dirty="0">
                <a:solidFill>
                  <a:schemeClr val="tx1"/>
                </a:solidFill>
                <a:latin typeface="Arial" pitchFamily="-107" charset="0"/>
                <a:ea typeface="ＭＳ Ｐゴシック" pitchFamily="-107" charset="-128"/>
                <a:cs typeface="ＭＳ Ｐゴシック" pitchFamily="-107" charset="-128"/>
              </a:rPr>
              <a:t>this feature or function, but it is recommended that an implementation include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feature or function.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S/MIME incorporates three public-key algorithms. The Digital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Standard (DSS) described in Chapter 3 is the preferred algorithm for digital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S/MIME lists Diffie-Hellman as the preferred algorithm for encrypting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session keys; in fact, S/MIME uses a variant of Diffie-Hellman that does provide</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encryption/decryption, known as ElGamal (Chapter 10). As an alternative, RSA,</a:t>
            </a:r>
          </a:p>
          <a:p>
            <a:r>
              <a:rPr lang="en-US" sz="1200" kern="1200" baseline="0" dirty="0">
                <a:solidFill>
                  <a:schemeClr val="tx1"/>
                </a:solidFill>
                <a:latin typeface="Arial" pitchFamily="-107" charset="0"/>
                <a:ea typeface="ＭＳ Ｐゴシック" pitchFamily="-107" charset="-128"/>
                <a:cs typeface="ＭＳ Ｐゴシック" pitchFamily="-107" charset="-128"/>
              </a:rPr>
              <a:t>described in Chapter 3, can be used for both signatures and session key encryption.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These are the same algorithms used in PGP and provide a high level of security.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hash function used to create the digital signature, the specification requires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160-bit SHA-1 but recommends receiver support for the 128-bit MD5 for backward</a:t>
            </a:r>
          </a:p>
          <a:p>
            <a:r>
              <a:rPr lang="en-US" sz="1200" kern="1200" baseline="0" dirty="0">
                <a:solidFill>
                  <a:schemeClr val="tx1"/>
                </a:solidFill>
                <a:latin typeface="Arial" pitchFamily="-107" charset="0"/>
                <a:ea typeface="ＭＳ Ｐゴシック" pitchFamily="-107" charset="-128"/>
                <a:cs typeface="ＭＳ Ｐゴシック" pitchFamily="-107" charset="-128"/>
              </a:rPr>
              <a:t> compatibility with older versions of S/MIME. As we discussed in Chapter 3, there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justifiable concern about the security of MD5, so SHA-1 is clearly the preferred</a:t>
            </a:r>
          </a:p>
          <a:p>
            <a:r>
              <a:rPr lang="en-US" sz="1200" kern="1200" baseline="0" dirty="0">
                <a:solidFill>
                  <a:schemeClr val="tx1"/>
                </a:solidFill>
                <a:latin typeface="Arial" pitchFamily="-107" charset="0"/>
                <a:ea typeface="ＭＳ Ｐゴシック" pitchFamily="-107" charset="-128"/>
                <a:cs typeface="ＭＳ Ｐゴシック" pitchFamily="-107" charset="-128"/>
              </a:rPr>
              <a:t>alternative.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For message encryption, three-key triple DES (tripleDES) is recommended,</a:t>
            </a:r>
          </a:p>
          <a:p>
            <a:r>
              <a:rPr lang="en-US" sz="1200" kern="1200" baseline="0" dirty="0">
                <a:solidFill>
                  <a:schemeClr val="tx1"/>
                </a:solidFill>
                <a:latin typeface="Arial" pitchFamily="-107" charset="0"/>
                <a:ea typeface="ＭＳ Ｐゴシック" pitchFamily="-107" charset="-128"/>
                <a:cs typeface="ＭＳ Ｐゴシック" pitchFamily="-107" charset="-128"/>
              </a:rPr>
              <a:t>but compliant implementations must support 40-bit RC2. The latter is a weak encryption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algorithm but allows compliance with U.S. export controls.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 S/MIME specification includes a discussion of the procedure for deciding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which content encryption algorithm to use. In essence, a sending agent has two</a:t>
            </a:r>
          </a:p>
          <a:p>
            <a:r>
              <a:rPr lang="en-US" sz="1200" kern="1200" baseline="0" dirty="0">
                <a:solidFill>
                  <a:schemeClr val="tx1"/>
                </a:solidFill>
                <a:latin typeface="Arial" pitchFamily="-107" charset="0"/>
                <a:ea typeface="ＭＳ Ｐゴシック" pitchFamily="-107" charset="-128"/>
                <a:cs typeface="ＭＳ Ｐゴシック" pitchFamily="-107" charset="-128"/>
              </a:rPr>
              <a:t>decisions to make. First, the sending agent must determine if the receiving agent is</a:t>
            </a:r>
          </a:p>
          <a:p>
            <a:r>
              <a:rPr lang="en-US" sz="1200" kern="1200" baseline="0" dirty="0">
                <a:solidFill>
                  <a:schemeClr val="tx1"/>
                </a:solidFill>
                <a:latin typeface="Arial" pitchFamily="-107" charset="0"/>
                <a:ea typeface="ＭＳ Ｐゴシック" pitchFamily="-107" charset="-128"/>
                <a:cs typeface="ＭＳ Ｐゴシック" pitchFamily="-107" charset="-128"/>
              </a:rPr>
              <a:t>capable of decrypting using a given encryption algorithm. Second, if the receiving</a:t>
            </a:r>
          </a:p>
          <a:p>
            <a:r>
              <a:rPr lang="en-US" sz="1200" kern="1200" baseline="0" dirty="0">
                <a:solidFill>
                  <a:schemeClr val="tx1"/>
                </a:solidFill>
                <a:latin typeface="Arial" pitchFamily="-107" charset="0"/>
                <a:ea typeface="ＭＳ Ｐゴシック" pitchFamily="-107" charset="-128"/>
                <a:cs typeface="ＭＳ Ｐゴシック" pitchFamily="-107" charset="-128"/>
              </a:rPr>
              <a:t>agent is only capable of accepting weakly encrypted content, the sending agent must</a:t>
            </a:r>
          </a:p>
          <a:p>
            <a:r>
              <a:rPr lang="en-US" sz="1200" kern="1200" baseline="0" dirty="0">
                <a:solidFill>
                  <a:schemeClr val="tx1"/>
                </a:solidFill>
                <a:latin typeface="Arial" pitchFamily="-107" charset="0"/>
                <a:ea typeface="ＭＳ Ｐゴシック" pitchFamily="-107" charset="-128"/>
                <a:cs typeface="ＭＳ Ｐゴシック" pitchFamily="-107" charset="-128"/>
              </a:rPr>
              <a:t>decide if it is acceptable to send using weak encryption. To support this decision</a:t>
            </a:r>
          </a:p>
          <a:p>
            <a:r>
              <a:rPr lang="en-US" sz="1200" kern="1200" baseline="0" dirty="0">
                <a:solidFill>
                  <a:schemeClr val="tx1"/>
                </a:solidFill>
                <a:latin typeface="Arial" pitchFamily="-107" charset="0"/>
                <a:ea typeface="ＭＳ Ｐゴシック" pitchFamily="-107" charset="-128"/>
                <a:cs typeface="ＭＳ Ｐゴシック" pitchFamily="-107" charset="-128"/>
              </a:rPr>
              <a:t>process, a sending agent may announce its decrypting capabilities in order of preference</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any message that it sends out. A receiving agent may store that information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future use.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23</a:t>
            </a:fld>
            <a:endParaRPr lang="en-AU"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97DFC902-2938-A04D-82E8-55510DBD7081}" type="slidenum">
              <a:rPr lang="en-AU">
                <a:latin typeface="Arial" pitchFamily="-1" charset="0"/>
              </a:rPr>
              <a:pPr/>
              <a:t>24</a:t>
            </a:fld>
            <a:endParaRPr lang="en-AU" dirty="0">
              <a:latin typeface="Arial" pitchFamily="-1"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S/MIME makes use of a number of new MIME content types, which are shown in</a:t>
            </a:r>
          </a:p>
          <a:p>
            <a:r>
              <a:rPr lang="en-US" sz="1200" kern="1200" baseline="0" dirty="0">
                <a:solidFill>
                  <a:schemeClr val="tx1"/>
                </a:solidFill>
                <a:latin typeface="Arial" pitchFamily="-107" charset="0"/>
                <a:ea typeface="ＭＳ Ｐゴシック" pitchFamily="-107" charset="-128"/>
                <a:cs typeface="ＭＳ Ｐゴシック" pitchFamily="-107" charset="-128"/>
              </a:rPr>
              <a:t>Table 8.6. All of the new application types use the designation PKCS. This refers</a:t>
            </a:r>
          </a:p>
          <a:p>
            <a:r>
              <a:rPr lang="en-US" sz="1200" kern="1200" baseline="0" dirty="0">
                <a:solidFill>
                  <a:schemeClr val="tx1"/>
                </a:solidFill>
                <a:latin typeface="Arial" pitchFamily="-107" charset="0"/>
                <a:ea typeface="ＭＳ Ｐゴシック" pitchFamily="-107" charset="-128"/>
                <a:cs typeface="ＭＳ Ｐゴシック" pitchFamily="-107" charset="-128"/>
              </a:rPr>
              <a:t>to a set of public-key cryptography specifications issued by RSA Laboratories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made available for the S/MIME effort.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S/MIME secures a MIME entity with a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encryption, or both. A MIME entity may be an entire message (except for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RFC 5322 headers), or if the MIME content type is multipart, then a MIME entity</a:t>
            </a:r>
          </a:p>
          <a:p>
            <a:r>
              <a:rPr lang="en-US" sz="1200" kern="1200" baseline="0" dirty="0">
                <a:solidFill>
                  <a:schemeClr val="tx1"/>
                </a:solidFill>
                <a:latin typeface="Arial" pitchFamily="-107" charset="0"/>
                <a:ea typeface="ＭＳ Ｐゴシック" pitchFamily="-107" charset="-128"/>
                <a:cs typeface="ＭＳ Ｐゴシック" pitchFamily="-107" charset="-128"/>
              </a:rPr>
              <a:t>is one or more of the subparts of the message. The MIME entity is prepared according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 normal rules for MIME message preparation. Then the MIME entity</a:t>
            </a:r>
          </a:p>
          <a:p>
            <a:r>
              <a:rPr lang="en-US" sz="1200" kern="1200" baseline="0" dirty="0">
                <a:solidFill>
                  <a:schemeClr val="tx1"/>
                </a:solidFill>
                <a:latin typeface="Arial" pitchFamily="-107" charset="0"/>
                <a:ea typeface="ＭＳ Ｐゴシック" pitchFamily="-107" charset="-128"/>
                <a:cs typeface="ＭＳ Ｐゴシック" pitchFamily="-107" charset="-128"/>
              </a:rPr>
              <a:t>plus some security-related data, such as algorithm identifiers and certificates,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processed by S/MIME to produce what is known as a PKCS object. A PKCS object</a:t>
            </a:r>
          </a:p>
          <a:p>
            <a:r>
              <a:rPr lang="en-US" sz="1200" kern="1200" baseline="0" dirty="0">
                <a:solidFill>
                  <a:schemeClr val="tx1"/>
                </a:solidFill>
                <a:latin typeface="Arial" pitchFamily="-107" charset="0"/>
                <a:ea typeface="ＭＳ Ｐゴシック" pitchFamily="-107" charset="-128"/>
                <a:cs typeface="ＭＳ Ｐゴシック" pitchFamily="-107" charset="-128"/>
              </a:rPr>
              <a:t>is then treated as message content and wrapped in MIME (provided with appropriate</a:t>
            </a:r>
          </a:p>
          <a:p>
            <a:r>
              <a:rPr lang="en-US" sz="1200" kern="1200" baseline="0" dirty="0">
                <a:solidFill>
                  <a:schemeClr val="tx1"/>
                </a:solidFill>
                <a:latin typeface="Arial" pitchFamily="-107" charset="0"/>
                <a:ea typeface="ＭＳ Ｐゴシック" pitchFamily="-107" charset="-128"/>
                <a:cs typeface="ＭＳ Ｐゴシック" pitchFamily="-107" charset="-128"/>
              </a:rPr>
              <a:t>MIME headers). This process should become clear as we look at specific objects</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provide examples.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In all cases, the message to be sent is converted to canonical form. In particular,</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a given type and subtype, the appropriate canonical form is used for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content. For a multipart message, the appropriate canonical form is used</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each subpart.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 use of transfer encoding requires special attention. For most cases,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result of applying the security algorithm will be to produce an object that is partially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or totally represented in arbitrary binary data. This will then be wrapped in an</a:t>
            </a:r>
          </a:p>
          <a:p>
            <a:r>
              <a:rPr lang="en-US" sz="1200" kern="1200" baseline="0" dirty="0">
                <a:solidFill>
                  <a:schemeClr val="tx1"/>
                </a:solidFill>
                <a:latin typeface="Arial" pitchFamily="-107" charset="0"/>
                <a:ea typeface="ＭＳ Ｐゴシック" pitchFamily="-107" charset="-128"/>
                <a:cs typeface="ＭＳ Ｐゴシック" pitchFamily="-107" charset="-128"/>
              </a:rPr>
              <a:t>outer MIME message, and transfer encoding can be applied at that point, typically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base64. However, in the case of a multipart signed message (described in more detail</a:t>
            </a:r>
          </a:p>
          <a:p>
            <a:r>
              <a:rPr lang="en-US" sz="1200" kern="1200" baseline="0" dirty="0">
                <a:solidFill>
                  <a:schemeClr val="tx1"/>
                </a:solidFill>
                <a:latin typeface="Arial" pitchFamily="-107" charset="0"/>
                <a:ea typeface="ＭＳ Ｐゴシック" pitchFamily="-107" charset="-128"/>
                <a:cs typeface="ＭＳ Ｐゴシック" pitchFamily="-107" charset="-128"/>
              </a:rPr>
              <a:t>later), the message content in one of the subparts is unchanged by the security</a:t>
            </a:r>
          </a:p>
          <a:p>
            <a:r>
              <a:rPr lang="en-US" sz="1200" kern="1200" baseline="0" dirty="0">
                <a:solidFill>
                  <a:schemeClr val="tx1"/>
                </a:solidFill>
                <a:latin typeface="Arial" pitchFamily="-107" charset="0"/>
                <a:ea typeface="ＭＳ Ｐゴシック" pitchFamily="-107" charset="-128"/>
                <a:cs typeface="ＭＳ Ｐゴシック" pitchFamily="-107" charset="-128"/>
              </a:rPr>
              <a:t>process. Unless that content is 7bit, it should be transfer encoded using base64 or</a:t>
            </a:r>
          </a:p>
          <a:p>
            <a:r>
              <a:rPr lang="en-US" sz="1200" kern="1200" baseline="0" dirty="0">
                <a:solidFill>
                  <a:schemeClr val="tx1"/>
                </a:solidFill>
                <a:latin typeface="Arial" pitchFamily="-107" charset="0"/>
                <a:ea typeface="ＭＳ Ｐゴシック" pitchFamily="-107" charset="-128"/>
                <a:cs typeface="ＭＳ Ｐゴシック" pitchFamily="-107" charset="-128"/>
              </a:rPr>
              <a:t>quoted-printable so that there is no danger of altering the content to which the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was applied.</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25</a:t>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An application/pkcs7-mime subtype is used for one of four</a:t>
            </a:r>
          </a:p>
          <a:p>
            <a:r>
              <a:rPr lang="en-US" sz="1200" kern="1200" baseline="0" dirty="0">
                <a:solidFill>
                  <a:schemeClr val="tx1"/>
                </a:solidFill>
                <a:latin typeface="Arial" pitchFamily="-107" charset="0"/>
                <a:ea typeface="ＭＳ Ｐゴシック" pitchFamily="-107" charset="-128"/>
                <a:cs typeface="ＭＳ Ｐゴシック" pitchFamily="-107" charset="-128"/>
              </a:rPr>
              <a:t>categories of S/MIME processing, each with a unique smime-type parameter. In all</a:t>
            </a:r>
          </a:p>
          <a:p>
            <a:r>
              <a:rPr lang="en-US" sz="1200" kern="1200" baseline="0" dirty="0">
                <a:solidFill>
                  <a:schemeClr val="tx1"/>
                </a:solidFill>
                <a:latin typeface="Arial" pitchFamily="-107" charset="0"/>
                <a:ea typeface="ＭＳ Ｐゴシック" pitchFamily="-107" charset="-128"/>
                <a:cs typeface="ＭＳ Ｐゴシック" pitchFamily="-107" charset="-128"/>
              </a:rPr>
              <a:t>cases, the resulting entity (referred to as an object) is represented in a form known</a:t>
            </a:r>
          </a:p>
          <a:p>
            <a:r>
              <a:rPr lang="en-US" sz="1200" kern="1200" baseline="0" dirty="0">
                <a:solidFill>
                  <a:schemeClr val="tx1"/>
                </a:solidFill>
                <a:latin typeface="Arial" pitchFamily="-107" charset="0"/>
                <a:ea typeface="ＭＳ Ｐゴシック" pitchFamily="-107" charset="-128"/>
                <a:cs typeface="ＭＳ Ｐゴシック" pitchFamily="-107" charset="-128"/>
              </a:rPr>
              <a:t>as Basic Encoding Rules (BER), which is defined in ITU-T Recommendation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X.209. The BER format consists of arbitrary octet strings and is therefore binary</a:t>
            </a:r>
          </a:p>
          <a:p>
            <a:r>
              <a:rPr lang="en-US" sz="1200" kern="1200" baseline="0" dirty="0">
                <a:solidFill>
                  <a:schemeClr val="tx1"/>
                </a:solidFill>
                <a:latin typeface="Arial" pitchFamily="-107" charset="0"/>
                <a:ea typeface="ＭＳ Ｐゴシック" pitchFamily="-107" charset="-128"/>
                <a:cs typeface="ＭＳ Ｐゴシック" pitchFamily="-107" charset="-128"/>
              </a:rPr>
              <a:t>data. Such an object should be transfer encoded with base64 in the outer MIME</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We first look at envelopedData.</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steps for preparing an envelopedData MIME entity are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Generate a pseudorandom session key for a particular symmetric encryption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algorithm (RC2/40 or triple DES).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For each recipient, encrypt the session key with the recipient’s public RSA key.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For each recipient, prepare a block known as RecipientInfo  that contains</a:t>
            </a:r>
          </a:p>
          <a:p>
            <a:r>
              <a:rPr lang="en-US" sz="1200" kern="1200" baseline="0" dirty="0">
                <a:solidFill>
                  <a:schemeClr val="tx1"/>
                </a:solidFill>
                <a:latin typeface="Arial" pitchFamily="-107" charset="0"/>
                <a:ea typeface="ＭＳ Ｐゴシック" pitchFamily="-107" charset="-128"/>
                <a:cs typeface="ＭＳ Ｐゴシック" pitchFamily="-107" charset="-128"/>
              </a:rPr>
              <a:t>an identifier of the recipient’s public-key certificate, an identifier of the algorithm</a:t>
            </a:r>
          </a:p>
          <a:p>
            <a:r>
              <a:rPr lang="en-US" sz="1200" kern="1200" baseline="0" dirty="0">
                <a:solidFill>
                  <a:schemeClr val="tx1"/>
                </a:solidFill>
                <a:latin typeface="Arial" pitchFamily="-107" charset="0"/>
                <a:ea typeface="ＭＳ Ｐゴシック" pitchFamily="-107" charset="-128"/>
                <a:cs typeface="ＭＳ Ｐゴシック" pitchFamily="-107" charset="-128"/>
              </a:rPr>
              <a:t>used to encrypt the session key, and the encrypted session key.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Encrypt the message content with the session key.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RecipientInfo  blocks followed by the encrypted content constitute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envelopedData . This information is then encoded into base64.</a:t>
            </a:r>
          </a:p>
          <a:p>
            <a:endParaRPr lang="en-US" dirty="0"/>
          </a:p>
          <a:p>
            <a:r>
              <a:rPr lang="en-US" sz="1200" kern="1200" baseline="0" dirty="0">
                <a:solidFill>
                  <a:schemeClr val="tx1"/>
                </a:solidFill>
                <a:latin typeface="Arial" pitchFamily="-107" charset="0"/>
                <a:ea typeface="ＭＳ Ｐゴシック" pitchFamily="-107" charset="-128"/>
                <a:cs typeface="ＭＳ Ｐゴシック" pitchFamily="-107" charset="-128"/>
              </a:rPr>
              <a:t>To recover the encrypted message, the recipient first strips off the base64 encoding.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Then the recipient’s private key is used to recover the session key. Finally,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 content is decrypted with the session key.</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26</a:t>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The signedData  smime-type can be used with one or more signers.</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clarity, we confine our description to the case of a single digital signature.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steps for preparing a signedData MIME entity are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Select a message digest algorithm (SHA or MD5).</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Compute the message digest (hash function) of the content to be signed.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Encrypt the message digest with the signer’s private key.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Prepare a block known as SignerInfo  that contains the signer’s public-key</a:t>
            </a:r>
          </a:p>
          <a:p>
            <a:r>
              <a:rPr lang="en-US" sz="1200" kern="1200" baseline="0" dirty="0">
                <a:solidFill>
                  <a:schemeClr val="tx1"/>
                </a:solidFill>
                <a:latin typeface="Arial" pitchFamily="-107" charset="0"/>
                <a:ea typeface="ＭＳ Ｐゴシック" pitchFamily="-107" charset="-128"/>
                <a:cs typeface="ＭＳ Ｐゴシック" pitchFamily="-107" charset="-128"/>
              </a:rPr>
              <a:t>certificate, an identifier of the message digest algorithm, an identifier of the algorithm</a:t>
            </a:r>
          </a:p>
          <a:p>
            <a:r>
              <a:rPr lang="en-US" sz="1200" kern="1200" baseline="0" dirty="0">
                <a:solidFill>
                  <a:schemeClr val="tx1"/>
                </a:solidFill>
                <a:latin typeface="Arial" pitchFamily="-107" charset="0"/>
                <a:ea typeface="ＭＳ Ｐゴシック" pitchFamily="-107" charset="-128"/>
                <a:cs typeface="ＭＳ Ｐゴシック" pitchFamily="-107" charset="-128"/>
              </a:rPr>
              <a:t>used to encrypt the message digest, and the encrypted message digest.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signedData  entity consists of a series of blocks, including a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digest algorithm identifier, the message being signed, and SignerInfo .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signedData  entity may also include a set of public-key certificates sufficient to</a:t>
            </a:r>
          </a:p>
          <a:p>
            <a:r>
              <a:rPr lang="en-US" sz="1200" kern="1200" baseline="0" dirty="0">
                <a:solidFill>
                  <a:schemeClr val="tx1"/>
                </a:solidFill>
                <a:latin typeface="Arial" pitchFamily="-107" charset="0"/>
                <a:ea typeface="ＭＳ Ｐゴシック" pitchFamily="-107" charset="-128"/>
                <a:cs typeface="ＭＳ Ｐゴシック" pitchFamily="-107" charset="-128"/>
              </a:rPr>
              <a:t>constitute a chain from a recognized root or top-level certification authority to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signer. This information is then encoded into base64.</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To recover the signed message and verify the signature, the recipient first</a:t>
            </a:r>
          </a:p>
          <a:p>
            <a:r>
              <a:rPr lang="en-US" sz="1200" kern="1200" baseline="0" dirty="0">
                <a:solidFill>
                  <a:schemeClr val="tx1"/>
                </a:solidFill>
                <a:latin typeface="Arial" pitchFamily="-107" charset="0"/>
                <a:ea typeface="ＭＳ Ｐゴシック" pitchFamily="-107" charset="-128"/>
                <a:cs typeface="ＭＳ Ｐゴシック" pitchFamily="-107" charset="-128"/>
              </a:rPr>
              <a:t>strips off the base64 encoding. Then the signer’s public key is used to decrypt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digest. The recipient independently computes the message digest and compares</a:t>
            </a:r>
          </a:p>
          <a:p>
            <a:r>
              <a:rPr lang="en-US" sz="1200" kern="1200" baseline="0" dirty="0">
                <a:solidFill>
                  <a:schemeClr val="tx1"/>
                </a:solidFill>
                <a:latin typeface="Arial" pitchFamily="-107" charset="0"/>
                <a:ea typeface="ＭＳ Ｐゴシック" pitchFamily="-107" charset="-128"/>
                <a:cs typeface="ＭＳ Ｐゴシック" pitchFamily="-107" charset="-128"/>
              </a:rPr>
              <a:t>it to the decrypted message digest to verify the signature.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27</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Clear signing is achieved using the multipart content type with a signed</a:t>
            </a:r>
          </a:p>
          <a:p>
            <a:r>
              <a:rPr lang="en-US" sz="1200" kern="1200" baseline="0" dirty="0">
                <a:solidFill>
                  <a:schemeClr val="tx1"/>
                </a:solidFill>
                <a:latin typeface="Arial" pitchFamily="-107" charset="0"/>
                <a:ea typeface="ＭＳ Ｐゴシック" pitchFamily="-107" charset="-128"/>
                <a:cs typeface="ＭＳ Ｐゴシック" pitchFamily="-107" charset="-128"/>
              </a:rPr>
              <a:t>subtype. As was mentioned, this signing process does not involve transforming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to be signed, so that the message is sent “in the clear.” Thus, recipients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MIME capability but not S/MIME capability are able to read the incoming message.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 multipart/signed message has two parts. The first part can be any MIME</a:t>
            </a:r>
          </a:p>
          <a:p>
            <a:r>
              <a:rPr lang="en-US" sz="1200" kern="1200" baseline="0" dirty="0">
                <a:solidFill>
                  <a:schemeClr val="tx1"/>
                </a:solidFill>
                <a:latin typeface="Arial" pitchFamily="-107" charset="0"/>
                <a:ea typeface="ＭＳ Ｐゴシック" pitchFamily="-107" charset="-128"/>
                <a:cs typeface="ＭＳ Ｐゴシック" pitchFamily="-107" charset="-128"/>
              </a:rPr>
              <a:t>type but must be prepared so that it will not be altered during transfer from source</a:t>
            </a:r>
          </a:p>
          <a:p>
            <a:r>
              <a:rPr lang="en-US" sz="1200" kern="1200" baseline="0" dirty="0">
                <a:solidFill>
                  <a:schemeClr val="tx1"/>
                </a:solidFill>
                <a:latin typeface="Arial" pitchFamily="-107" charset="0"/>
                <a:ea typeface="ＭＳ Ｐゴシック" pitchFamily="-107" charset="-128"/>
                <a:cs typeface="ＭＳ Ｐゴシック" pitchFamily="-107" charset="-128"/>
              </a:rPr>
              <a:t>to destination. This means that if the first part is not 7bit, then it needs to be encoded</a:t>
            </a:r>
          </a:p>
          <a:p>
            <a:r>
              <a:rPr lang="en-US" sz="1200" kern="1200" baseline="0" dirty="0">
                <a:solidFill>
                  <a:schemeClr val="tx1"/>
                </a:solidFill>
                <a:latin typeface="Arial" pitchFamily="-107" charset="0"/>
                <a:ea typeface="ＭＳ Ｐゴシック" pitchFamily="-107" charset="-128"/>
                <a:cs typeface="ＭＳ Ｐゴシック" pitchFamily="-107" charset="-128"/>
              </a:rPr>
              <a:t>using base64 or quoted-printable. Then this part is processed in the same</a:t>
            </a:r>
          </a:p>
          <a:p>
            <a:r>
              <a:rPr lang="en-US" sz="1200" kern="1200" baseline="0" dirty="0">
                <a:solidFill>
                  <a:schemeClr val="tx1"/>
                </a:solidFill>
                <a:latin typeface="Arial" pitchFamily="-107" charset="0"/>
                <a:ea typeface="ＭＳ Ｐゴシック" pitchFamily="-107" charset="-128"/>
                <a:cs typeface="ＭＳ Ｐゴシック" pitchFamily="-107" charset="-128"/>
              </a:rPr>
              <a:t>manner as signedData , but in this case an object with signedData  format is</a:t>
            </a:r>
          </a:p>
          <a:p>
            <a:r>
              <a:rPr lang="en-US" sz="1200" kern="1200" baseline="0" dirty="0">
                <a:solidFill>
                  <a:schemeClr val="tx1"/>
                </a:solidFill>
                <a:latin typeface="Arial" pitchFamily="-107" charset="0"/>
                <a:ea typeface="ＭＳ Ｐゴシック" pitchFamily="-107" charset="-128"/>
                <a:cs typeface="ＭＳ Ｐゴシック" pitchFamily="-107" charset="-128"/>
              </a:rPr>
              <a:t>created that has an empty message content field. This object is a detached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It is then transfer encoded using base64 to become the second part of the multipart/</a:t>
            </a:r>
          </a:p>
          <a:p>
            <a:r>
              <a:rPr lang="en-US" sz="1200" kern="1200" baseline="0" dirty="0">
                <a:solidFill>
                  <a:schemeClr val="tx1"/>
                </a:solidFill>
                <a:latin typeface="Arial" pitchFamily="-107" charset="0"/>
                <a:ea typeface="ＭＳ Ｐゴシック" pitchFamily="-107" charset="-128"/>
                <a:cs typeface="ＭＳ Ｐゴシック" pitchFamily="-107" charset="-128"/>
              </a:rPr>
              <a:t>signed message. This second part has a MIME content type of application and a</a:t>
            </a:r>
          </a:p>
          <a:p>
            <a:r>
              <a:rPr lang="en-US" sz="1200" kern="1200" baseline="0" dirty="0">
                <a:solidFill>
                  <a:schemeClr val="tx1"/>
                </a:solidFill>
                <a:latin typeface="Arial" pitchFamily="-107" charset="0"/>
                <a:ea typeface="ＭＳ Ｐゴシック" pitchFamily="-107" charset="-128"/>
                <a:cs typeface="ＭＳ Ｐゴシック" pitchFamily="-107" charset="-128"/>
              </a:rPr>
              <a:t>subtype of pkcs7-signature.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28</a:t>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7FF17E54-8133-D54E-A886-A89279324C10}" type="slidenum">
              <a:rPr lang="en-AU">
                <a:latin typeface="Arial" pitchFamily="-1" charset="0"/>
              </a:rPr>
              <a:pPr/>
              <a:t>29</a:t>
            </a:fld>
            <a:endParaRPr lang="en-AU" dirty="0">
              <a:latin typeface="Arial" pitchFamily="-1"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S/MIME uses public-key certificates that conform to version 3 of X.509 (see</a:t>
            </a:r>
          </a:p>
          <a:p>
            <a:r>
              <a:rPr lang="en-US" sz="1200" kern="1200" baseline="0" dirty="0">
                <a:solidFill>
                  <a:schemeClr val="tx1"/>
                </a:solidFill>
                <a:latin typeface="Arial" pitchFamily="-107" charset="0"/>
                <a:ea typeface="ＭＳ Ｐゴシック" pitchFamily="-107" charset="-128"/>
                <a:cs typeface="ＭＳ Ｐゴシック" pitchFamily="-107" charset="-128"/>
              </a:rPr>
              <a:t>Chapter 4). The key-management scheme used by S/MIME is in some ways a hybrid</a:t>
            </a:r>
          </a:p>
          <a:p>
            <a:r>
              <a:rPr lang="en-US" sz="1200" kern="1200" baseline="0" dirty="0">
                <a:solidFill>
                  <a:schemeClr val="tx1"/>
                </a:solidFill>
                <a:latin typeface="Arial" pitchFamily="-107" charset="0"/>
                <a:ea typeface="ＭＳ Ｐゴシック" pitchFamily="-107" charset="-128"/>
                <a:cs typeface="ＭＳ Ｐゴシック" pitchFamily="-107" charset="-128"/>
              </a:rPr>
              <a:t>between a strict X.509 certification hierarchy and PGP’s web of trust. As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PGP model, S/MIME managers and/or users must configure each client with a</a:t>
            </a:r>
          </a:p>
          <a:p>
            <a:r>
              <a:rPr lang="en-US" sz="1200" kern="1200" baseline="0" dirty="0">
                <a:solidFill>
                  <a:schemeClr val="tx1"/>
                </a:solidFill>
                <a:latin typeface="Arial" pitchFamily="-107" charset="0"/>
                <a:ea typeface="ＭＳ Ｐゴシック" pitchFamily="-107" charset="-128"/>
                <a:cs typeface="ＭＳ Ｐゴシック" pitchFamily="-107" charset="-128"/>
              </a:rPr>
              <a:t>list of trusted keys and with certificate revocation lists. That is, the responsibility is</a:t>
            </a:r>
          </a:p>
          <a:p>
            <a:r>
              <a:rPr lang="en-US" sz="1200" kern="1200" baseline="0" dirty="0">
                <a:solidFill>
                  <a:schemeClr val="tx1"/>
                </a:solidFill>
                <a:latin typeface="Arial" pitchFamily="-107" charset="0"/>
                <a:ea typeface="ＭＳ Ｐゴシック" pitchFamily="-107" charset="-128"/>
                <a:cs typeface="ＭＳ Ｐゴシック" pitchFamily="-107" charset="-128"/>
              </a:rPr>
              <a:t>local for maintaining the certificates needed to verify incoming signatures and to</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 outgoing messages. On the other hand, the certificates are signed by certification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authorities.</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An S/MIME user has several key-management functions to</a:t>
            </a:r>
          </a:p>
          <a:p>
            <a:r>
              <a:rPr lang="en-US" sz="1200" kern="1200" baseline="0" dirty="0">
                <a:solidFill>
                  <a:schemeClr val="tx1"/>
                </a:solidFill>
                <a:latin typeface="Arial" pitchFamily="-107" charset="0"/>
                <a:ea typeface="ＭＳ Ｐゴシック" pitchFamily="-107" charset="-128"/>
                <a:cs typeface="ＭＳ Ｐゴシック" pitchFamily="-107" charset="-128"/>
              </a:rPr>
              <a:t>perform.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Key generation:  The user of some related administrative utility (e.g., one associated</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LAN management) MUST be capable of generating separate</a:t>
            </a:r>
          </a:p>
          <a:p>
            <a:r>
              <a:rPr lang="en-US" sz="1200" kern="1200" baseline="0" dirty="0">
                <a:solidFill>
                  <a:schemeClr val="tx1"/>
                </a:solidFill>
                <a:latin typeface="Arial" pitchFamily="-107" charset="0"/>
                <a:ea typeface="ＭＳ Ｐゴシック" pitchFamily="-107" charset="-128"/>
                <a:cs typeface="ＭＳ Ｐゴシック" pitchFamily="-107" charset="-128"/>
              </a:rPr>
              <a:t>Diffie-Hellman and DSS key pairs and SHOULD be capable of generating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RSA key pairs. Each key pair MUST be generated from a good source of</a:t>
            </a:r>
          </a:p>
          <a:p>
            <a:r>
              <a:rPr lang="en-US" sz="1200" kern="1200" baseline="0" dirty="0">
                <a:solidFill>
                  <a:schemeClr val="tx1"/>
                </a:solidFill>
                <a:latin typeface="Arial" pitchFamily="-107" charset="0"/>
                <a:ea typeface="ＭＳ Ｐゴシック" pitchFamily="-107" charset="-128"/>
                <a:cs typeface="ＭＳ Ｐゴシック" pitchFamily="-107" charset="-128"/>
              </a:rPr>
              <a:t>nondeterministic random input and be protected in a secure fashion. A user</a:t>
            </a:r>
          </a:p>
          <a:p>
            <a:r>
              <a:rPr lang="en-US" sz="1200" kern="1200" baseline="0" dirty="0">
                <a:solidFill>
                  <a:schemeClr val="tx1"/>
                </a:solidFill>
                <a:latin typeface="Arial" pitchFamily="-107" charset="0"/>
                <a:ea typeface="ＭＳ Ｐゴシック" pitchFamily="-107" charset="-128"/>
                <a:cs typeface="ＭＳ Ｐゴシック" pitchFamily="-107" charset="-128"/>
              </a:rPr>
              <a:t>agent SHOULD generate RSA key pairs with a length in the range of 768 to</a:t>
            </a:r>
          </a:p>
          <a:p>
            <a:r>
              <a:rPr lang="en-US" sz="1200" kern="1200" baseline="0" dirty="0">
                <a:solidFill>
                  <a:schemeClr val="tx1"/>
                </a:solidFill>
                <a:latin typeface="Arial" pitchFamily="-107" charset="0"/>
                <a:ea typeface="ＭＳ Ｐゴシック" pitchFamily="-107" charset="-128"/>
                <a:cs typeface="ＭＳ Ｐゴシック" pitchFamily="-107" charset="-128"/>
              </a:rPr>
              <a:t>1024 bits and MUST NOT generate a length of less than 512 bits.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Registration:  A user’s public key must be registered with a certification authority</a:t>
            </a:r>
          </a:p>
          <a:p>
            <a:r>
              <a:rPr lang="en-US" sz="1200" kern="1200" baseline="0" dirty="0">
                <a:solidFill>
                  <a:schemeClr val="tx1"/>
                </a:solidFill>
                <a:latin typeface="Arial" pitchFamily="-107" charset="0"/>
                <a:ea typeface="ＭＳ Ｐゴシック" pitchFamily="-107" charset="-128"/>
                <a:cs typeface="ＭＳ Ｐゴシック" pitchFamily="-107" charset="-128"/>
              </a:rPr>
              <a:t>in order to receive an X.509 public-key certificate.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Certificate storage and retrieval:  A user requires access to a local list of certificates</a:t>
            </a:r>
          </a:p>
          <a:p>
            <a:r>
              <a:rPr lang="en-US" sz="1200" kern="1200" baseline="0" dirty="0">
                <a:solidFill>
                  <a:schemeClr val="tx1"/>
                </a:solidFill>
                <a:latin typeface="Arial" pitchFamily="-107" charset="0"/>
                <a:ea typeface="ＭＳ Ｐゴシック" pitchFamily="-107" charset="-128"/>
                <a:cs typeface="ＭＳ Ｐゴシック" pitchFamily="-107" charset="-128"/>
              </a:rPr>
              <a:t>in order to verify incoming signatures and to encrypt outgoing messages.</a:t>
            </a:r>
          </a:p>
          <a:p>
            <a:r>
              <a:rPr lang="en-US" sz="1200" kern="1200" baseline="0" dirty="0">
                <a:solidFill>
                  <a:schemeClr val="tx1"/>
                </a:solidFill>
                <a:latin typeface="Arial" pitchFamily="-107" charset="0"/>
                <a:ea typeface="ＭＳ Ｐゴシック" pitchFamily="-107" charset="-128"/>
                <a:cs typeface="ＭＳ Ｐゴシック" pitchFamily="-107" charset="-128"/>
              </a:rPr>
              <a:t>Such a list could be maintained by the user or by some local administrative</a:t>
            </a:r>
          </a:p>
          <a:p>
            <a:r>
              <a:rPr lang="en-US" sz="1200" kern="1200" baseline="0" dirty="0">
                <a:solidFill>
                  <a:schemeClr val="tx1"/>
                </a:solidFill>
                <a:latin typeface="Arial" pitchFamily="-107" charset="0"/>
                <a:ea typeface="ＭＳ Ｐゴシック" pitchFamily="-107" charset="-128"/>
                <a:cs typeface="ＭＳ Ｐゴシック" pitchFamily="-107" charset="-128"/>
              </a:rPr>
              <a:t>entity on behalf of a number of users.</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30</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BEC9FC1A-00B1-D847-B375-82DD81D5A8BB}" type="slidenum">
              <a:rPr lang="en-AU">
                <a:latin typeface="Arial" pitchFamily="-1" charset="0"/>
              </a:rPr>
              <a:pPr/>
              <a:t>31</a:t>
            </a:fld>
            <a:endParaRPr lang="en-AU" dirty="0">
              <a:latin typeface="Arial" pitchFamily="-1" charset="0"/>
            </a:endParaRPr>
          </a:p>
        </p:txBody>
      </p:sp>
      <p:sp>
        <p:nvSpPr>
          <p:cNvPr id="66563" name="Rectangle 1026"/>
          <p:cNvSpPr>
            <a:spLocks noGrp="1" noRot="1" noChangeAspect="1" noChangeArrowheads="1" noTextEdit="1"/>
          </p:cNvSpPr>
          <p:nvPr>
            <p:ph type="sldImg"/>
          </p:nvPr>
        </p:nvSpPr>
        <p:spPr>
          <a:ln/>
        </p:spPr>
      </p:sp>
      <p:sp>
        <p:nvSpPr>
          <p:cNvPr id="66564"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There are several companies that provide certification authority</a:t>
            </a:r>
          </a:p>
          <a:p>
            <a:r>
              <a:rPr lang="en-US" sz="1200" kern="1200" baseline="0" dirty="0">
                <a:solidFill>
                  <a:schemeClr val="tx1"/>
                </a:solidFill>
                <a:latin typeface="Arial" pitchFamily="-107" charset="0"/>
                <a:ea typeface="ＭＳ Ｐゴシック" pitchFamily="-107" charset="-128"/>
                <a:cs typeface="ＭＳ Ｐゴシック" pitchFamily="-107" charset="-128"/>
              </a:rPr>
              <a:t>(CA) services. For example, Nortel has designed an enterprise CA solution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can provide S/MIME support within an organization. There are a number</a:t>
            </a:r>
          </a:p>
          <a:p>
            <a:r>
              <a:rPr lang="en-US" sz="1200" kern="1200" baseline="0" dirty="0">
                <a:solidFill>
                  <a:schemeClr val="tx1"/>
                </a:solidFill>
                <a:latin typeface="Arial" pitchFamily="-107" charset="0"/>
                <a:ea typeface="ＭＳ Ｐゴシック" pitchFamily="-107" charset="-128"/>
                <a:cs typeface="ＭＳ Ｐゴシック" pitchFamily="-107" charset="-128"/>
              </a:rPr>
              <a:t>of Internet-based CAs, including VeriSign, GTE, and the U.S. Postal Service.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these, the most widely used is the VeriSign CA service, a brief description of which</a:t>
            </a:r>
          </a:p>
          <a:p>
            <a:r>
              <a:rPr lang="en-US" sz="1200" kern="1200" baseline="0" dirty="0">
                <a:solidFill>
                  <a:schemeClr val="tx1"/>
                </a:solidFill>
                <a:latin typeface="Arial" pitchFamily="-107" charset="0"/>
                <a:ea typeface="ＭＳ Ｐゴシック" pitchFamily="-107" charset="-128"/>
                <a:cs typeface="ＭＳ Ｐゴシック" pitchFamily="-107" charset="-128"/>
              </a:rPr>
              <a:t>we now provide.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VeriSign provides a CA service that is intended to be compatible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S/MIME and a variety of other applications. VeriSign issues X.509 certificates</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the product name VeriSign Digital ID. As of early 1998, over 35,000 commercial</a:t>
            </a:r>
          </a:p>
          <a:p>
            <a:r>
              <a:rPr lang="en-US" sz="1200" kern="1200" baseline="0" dirty="0">
                <a:solidFill>
                  <a:schemeClr val="tx1"/>
                </a:solidFill>
                <a:latin typeface="Arial" pitchFamily="-107" charset="0"/>
                <a:ea typeface="ＭＳ Ｐゴシック" pitchFamily="-107" charset="-128"/>
                <a:cs typeface="ＭＳ Ｐゴシック" pitchFamily="-107" charset="-128"/>
              </a:rPr>
              <a:t>Web sites were using VeriSign Server Digital IDs, and over a million</a:t>
            </a:r>
          </a:p>
          <a:p>
            <a:r>
              <a:rPr lang="en-US" sz="1200" kern="1200" baseline="0" dirty="0">
                <a:solidFill>
                  <a:schemeClr val="tx1"/>
                </a:solidFill>
                <a:latin typeface="Arial" pitchFamily="-107" charset="0"/>
                <a:ea typeface="ＭＳ Ｐゴシック" pitchFamily="-107" charset="-128"/>
                <a:cs typeface="ＭＳ Ｐゴシック" pitchFamily="-107" charset="-128"/>
              </a:rPr>
              <a:t>consumer Digital IDs had been issued to users of Netscape and Microsoft</a:t>
            </a:r>
          </a:p>
          <a:p>
            <a:r>
              <a:rPr lang="en-US" sz="1200" kern="1200" baseline="0" dirty="0">
                <a:solidFill>
                  <a:schemeClr val="tx1"/>
                </a:solidFill>
                <a:latin typeface="Arial" pitchFamily="-107" charset="0"/>
                <a:ea typeface="ＭＳ Ｐゴシック" pitchFamily="-107" charset="-128"/>
                <a:cs typeface="ＭＳ Ｐゴシック" pitchFamily="-107" charset="-128"/>
              </a:rPr>
              <a:t>browsers.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information contained in a Digital ID depends on the type of Digital ID</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its use. At a minimum, each Digital ID contains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Owner’s public key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Owner’s name or alias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Expiration date of the Digital ID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Serial number of the Digital ID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Name of the certification authority that issued the Digital ID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Digital signature of the certification authority that issued the Digital ID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Digital IDs can also contain other user-supplied information, including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Address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E-mail address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Basic registration information (country, zip code, age, and gender)</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VeriSign provides three levels, or classes, of security for public-key certificates,</a:t>
            </a:r>
          </a:p>
          <a:p>
            <a:r>
              <a:rPr lang="en-US" sz="1200" kern="1200" baseline="0" dirty="0">
                <a:solidFill>
                  <a:schemeClr val="tx1"/>
                </a:solidFill>
                <a:latin typeface="Arial" pitchFamily="-107" charset="0"/>
                <a:ea typeface="ＭＳ Ｐゴシック" pitchFamily="-107" charset="-128"/>
                <a:cs typeface="ＭＳ Ｐゴシック" pitchFamily="-107" charset="-128"/>
              </a:rPr>
              <a:t>as summarized in Table 8.7. A user requests a certificate online at VeriSign’s</a:t>
            </a:r>
          </a:p>
          <a:p>
            <a:r>
              <a:rPr lang="en-US" sz="1200" kern="1200" baseline="0" dirty="0">
                <a:solidFill>
                  <a:schemeClr val="tx1"/>
                </a:solidFill>
                <a:latin typeface="Arial" pitchFamily="-107" charset="0"/>
                <a:ea typeface="ＭＳ Ｐゴシック" pitchFamily="-107" charset="-128"/>
                <a:cs typeface="ＭＳ Ｐゴシック" pitchFamily="-107" charset="-128"/>
              </a:rPr>
              <a:t>Web site or other participating Web sites. Class 1 and Class 2 requests are processed</a:t>
            </a:r>
          </a:p>
          <a:p>
            <a:r>
              <a:rPr lang="en-US" sz="1200" kern="1200" baseline="0" dirty="0">
                <a:solidFill>
                  <a:schemeClr val="tx1"/>
                </a:solidFill>
                <a:latin typeface="Arial" pitchFamily="-107" charset="0"/>
                <a:ea typeface="ＭＳ Ｐゴシック" pitchFamily="-107" charset="-128"/>
                <a:cs typeface="ＭＳ Ｐゴシック" pitchFamily="-107" charset="-128"/>
              </a:rPr>
              <a:t>on line, and in most cases take only a few seconds to approve. Briefly, the following</a:t>
            </a:r>
          </a:p>
          <a:p>
            <a:r>
              <a:rPr lang="en-US" sz="1200" kern="1200" baseline="0" dirty="0">
                <a:solidFill>
                  <a:schemeClr val="tx1"/>
                </a:solidFill>
                <a:latin typeface="Arial" pitchFamily="-107" charset="0"/>
                <a:ea typeface="ＭＳ Ｐゴシック" pitchFamily="-107" charset="-128"/>
                <a:cs typeface="ＭＳ Ｐゴシック" pitchFamily="-107" charset="-128"/>
              </a:rPr>
              <a:t>procedures are used.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For Class 1 Digital IDs, VeriSign confirms the user’s e-mail address by sending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a PIN and Digital ID pick-up information to the e-mail address provided</a:t>
            </a:r>
          </a:p>
          <a:p>
            <a:r>
              <a:rPr lang="en-US" sz="1200" kern="1200" baseline="0" dirty="0">
                <a:solidFill>
                  <a:schemeClr val="tx1"/>
                </a:solidFill>
                <a:latin typeface="Arial" pitchFamily="-107" charset="0"/>
                <a:ea typeface="ＭＳ Ｐゴシック" pitchFamily="-107" charset="-128"/>
                <a:cs typeface="ＭＳ Ｐゴシック" pitchFamily="-107" charset="-128"/>
              </a:rPr>
              <a:t>in the application.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For Class 2 Digital IDs, VeriSign verifies the information in the application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through an automated comparison with a consumer database in addition to</a:t>
            </a:r>
          </a:p>
          <a:p>
            <a:r>
              <a:rPr lang="en-US" sz="1200" kern="1200" baseline="0" dirty="0">
                <a:solidFill>
                  <a:schemeClr val="tx1"/>
                </a:solidFill>
                <a:latin typeface="Arial" pitchFamily="-107" charset="0"/>
                <a:ea typeface="ＭＳ Ｐゴシック" pitchFamily="-107" charset="-128"/>
                <a:cs typeface="ＭＳ Ｐゴシック" pitchFamily="-107" charset="-128"/>
              </a:rPr>
              <a:t>performing all of the checking associated with a Class 1 Digital ID. Finally,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confirmation is sent to the specified postal address alerting the user that a</a:t>
            </a:r>
          </a:p>
          <a:p>
            <a:r>
              <a:rPr lang="en-US" sz="1200" kern="1200" baseline="0" dirty="0">
                <a:solidFill>
                  <a:schemeClr val="tx1"/>
                </a:solidFill>
                <a:latin typeface="Arial" pitchFamily="-107" charset="0"/>
                <a:ea typeface="ＭＳ Ｐゴシック" pitchFamily="-107" charset="-128"/>
                <a:cs typeface="ＭＳ Ｐゴシック" pitchFamily="-107" charset="-128"/>
              </a:rPr>
              <a:t>Digital ID has been issued in his or her name.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For Class 3 Digital IDs, VeriSign requires a higher level of identity assurance.</a:t>
            </a:r>
          </a:p>
          <a:p>
            <a:r>
              <a:rPr lang="en-US" sz="1200" kern="1200" baseline="0" dirty="0">
                <a:solidFill>
                  <a:schemeClr val="tx1"/>
                </a:solidFill>
                <a:latin typeface="Arial" pitchFamily="-107" charset="0"/>
                <a:ea typeface="ＭＳ Ｐゴシック" pitchFamily="-107" charset="-128"/>
                <a:cs typeface="ＭＳ Ｐゴシック" pitchFamily="-107" charset="-128"/>
              </a:rPr>
              <a:t>An individual must prove his or her identity by providing notarized credentials</a:t>
            </a:r>
          </a:p>
          <a:p>
            <a:r>
              <a:rPr lang="en-US" sz="1200" kern="1200" baseline="0" dirty="0">
                <a:solidFill>
                  <a:schemeClr val="tx1"/>
                </a:solidFill>
                <a:latin typeface="Arial" pitchFamily="-107" charset="0"/>
                <a:ea typeface="ＭＳ Ｐゴシック" pitchFamily="-107" charset="-128"/>
                <a:cs typeface="ＭＳ Ｐゴシック" pitchFamily="-107" charset="-128"/>
              </a:rPr>
              <a:t>or applying in person.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32</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p:cNvSpPr>
          <p:nvPr>
            <p:ph type="sldImg"/>
          </p:nvPr>
        </p:nvSpPr>
        <p:spPr>
          <a:ln/>
        </p:spPr>
      </p:sp>
      <p:sp>
        <p:nvSpPr>
          <p:cNvPr id="68611" name="Notes Placeholder 2"/>
          <p:cNvSpPr>
            <a:spLocks noGrp="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As of this writing, three enhanced security services have been proposed in an</a:t>
            </a:r>
          </a:p>
          <a:p>
            <a:r>
              <a:rPr lang="en-US" sz="1200" kern="1200" baseline="0" dirty="0">
                <a:solidFill>
                  <a:schemeClr val="tx1"/>
                </a:solidFill>
                <a:latin typeface="Arial" pitchFamily="-107" charset="0"/>
                <a:ea typeface="ＭＳ Ｐゴシック" pitchFamily="-107" charset="-128"/>
                <a:cs typeface="ＭＳ Ｐゴシック" pitchFamily="-107" charset="-128"/>
              </a:rPr>
              <a:t>Internet draft. The details of these may change, and additional services may be</a:t>
            </a:r>
          </a:p>
          <a:p>
            <a:r>
              <a:rPr lang="en-US" sz="1200" kern="1200" baseline="0" dirty="0">
                <a:solidFill>
                  <a:schemeClr val="tx1"/>
                </a:solidFill>
                <a:latin typeface="Arial" pitchFamily="-107" charset="0"/>
                <a:ea typeface="ＭＳ Ｐゴシック" pitchFamily="-107" charset="-128"/>
                <a:cs typeface="ＭＳ Ｐゴシック" pitchFamily="-107" charset="-128"/>
              </a:rPr>
              <a:t>added. The three services are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Signed receipts:  A signed receipt may be requested in a SignedData  object.</a:t>
            </a:r>
          </a:p>
          <a:p>
            <a:r>
              <a:rPr lang="en-US" sz="1200" kern="1200" baseline="0" dirty="0">
                <a:solidFill>
                  <a:schemeClr val="tx1"/>
                </a:solidFill>
                <a:latin typeface="Arial" pitchFamily="-107" charset="0"/>
                <a:ea typeface="ＭＳ Ｐゴシック" pitchFamily="-107" charset="-128"/>
                <a:cs typeface="ＭＳ Ｐゴシック" pitchFamily="-107" charset="-128"/>
              </a:rPr>
              <a:t>Returning a signed receipt provides proof of delivery to the originator of a</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and allows the originator to demonstrate to a third party that the recipient</a:t>
            </a:r>
          </a:p>
          <a:p>
            <a:r>
              <a:rPr lang="en-US" sz="1200" kern="1200" baseline="0" dirty="0">
                <a:solidFill>
                  <a:schemeClr val="tx1"/>
                </a:solidFill>
                <a:latin typeface="Arial" pitchFamily="-107" charset="0"/>
                <a:ea typeface="ＭＳ Ｐゴシック" pitchFamily="-107" charset="-128"/>
                <a:cs typeface="ＭＳ Ｐゴシック" pitchFamily="-107" charset="-128"/>
              </a:rPr>
              <a:t>received the message. In essence, the recipient signs the entire original</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plus the original (sender’s) signature and appends the new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to form a new S/MIME message.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Security labels:  A security label may be included in the authenticated attributes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a SignedData  object. A security label is a set of security information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regarding the sensitivity of the content that is protected by S/MIME encapsulation.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labels may be used for access control, by indicating which users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permitted access to an object. Other uses include priority (secret, confidential,</a:t>
            </a:r>
          </a:p>
          <a:p>
            <a:r>
              <a:rPr lang="en-US" sz="1200" kern="1200" baseline="0" dirty="0">
                <a:solidFill>
                  <a:schemeClr val="tx1"/>
                </a:solidFill>
                <a:latin typeface="Arial" pitchFamily="-107" charset="0"/>
                <a:ea typeface="ＭＳ Ｐゴシック" pitchFamily="-107" charset="-128"/>
                <a:cs typeface="ＭＳ Ｐゴシック" pitchFamily="-107" charset="-128"/>
              </a:rPr>
              <a:t>restricted, and so on) or role based, describing which kind of people can see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information (e.g., patient’s health-care team, medical billing agents, etc.).</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Secure mailing lists: When a user sends a message to multiple recipients, a certain</a:t>
            </a:r>
          </a:p>
          <a:p>
            <a:r>
              <a:rPr lang="en-US" sz="1200" kern="1200" baseline="0" dirty="0">
                <a:solidFill>
                  <a:schemeClr val="tx1"/>
                </a:solidFill>
                <a:latin typeface="Arial" pitchFamily="-107" charset="0"/>
                <a:ea typeface="ＭＳ Ｐゴシック" pitchFamily="-107" charset="-128"/>
                <a:cs typeface="ＭＳ Ｐゴシック" pitchFamily="-107" charset="-128"/>
              </a:rPr>
              <a:t>amount of per-recipient processing is required, including the use of each</a:t>
            </a:r>
          </a:p>
          <a:p>
            <a:r>
              <a:rPr lang="en-US" sz="1200" kern="1200" baseline="0" dirty="0">
                <a:solidFill>
                  <a:schemeClr val="tx1"/>
                </a:solidFill>
                <a:latin typeface="Arial" pitchFamily="-107" charset="0"/>
                <a:ea typeface="ＭＳ Ｐゴシック" pitchFamily="-107" charset="-128"/>
                <a:cs typeface="ＭＳ Ｐゴシック" pitchFamily="-107" charset="-128"/>
              </a:rPr>
              <a:t>recipient’s public key. The user can be relieved of this work by employing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services of an S/MIME Mail List Agent (MLA). An MLA can take a single</a:t>
            </a:r>
          </a:p>
          <a:p>
            <a:r>
              <a:rPr lang="en-US" sz="1200" kern="1200" baseline="0" dirty="0">
                <a:solidFill>
                  <a:schemeClr val="tx1"/>
                </a:solidFill>
                <a:latin typeface="Arial" pitchFamily="-107" charset="0"/>
                <a:ea typeface="ＭＳ Ｐゴシック" pitchFamily="-107" charset="-128"/>
                <a:cs typeface="ＭＳ Ｐゴシック" pitchFamily="-107" charset="-128"/>
              </a:rPr>
              <a:t>incoming message, perform the recipient-specific encryption for each recipient,</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forward the message. The originator of a message need only send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to the MLA with encryption performed using the MLA’s public key.</a:t>
            </a:r>
            <a:endParaRPr lang="en-US" dirty="0">
              <a:latin typeface="Arial" pitchFamily="-1" charset="0"/>
              <a:ea typeface="ＭＳ Ｐゴシック" pitchFamily="-1" charset="-128"/>
              <a:cs typeface="ＭＳ Ｐゴシック" pitchFamily="-1" charset="-128"/>
            </a:endParaRPr>
          </a:p>
        </p:txBody>
      </p:sp>
      <p:sp>
        <p:nvSpPr>
          <p:cNvPr id="68612" name="Slide Number Placeholder 3"/>
          <p:cNvSpPr>
            <a:spLocks noGrp="1"/>
          </p:cNvSpPr>
          <p:nvPr>
            <p:ph type="sldNum" sz="quarter" idx="5"/>
          </p:nvPr>
        </p:nvSpPr>
        <p:spPr>
          <a:noFill/>
        </p:spPr>
        <p:txBody>
          <a:bodyPr/>
          <a:lstStyle/>
          <a:p>
            <a:fld id="{73C9CB29-376C-2242-9C92-664315DC148D}" type="slidenum">
              <a:rPr lang="en-AU" smtClean="0">
                <a:latin typeface="Arial" pitchFamily="-1" charset="0"/>
              </a:rPr>
              <a:pPr/>
              <a:t>33</a:t>
            </a:fld>
            <a:endParaRPr lang="en-AU" dirty="0">
              <a:latin typeface="Arial" pitchFamily="-1"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p:cNvSpPr>
          <p:nvPr>
            <p:ph type="sldImg"/>
          </p:nvPr>
        </p:nvSpPr>
        <p:spPr>
          <a:ln/>
        </p:spPr>
      </p:sp>
      <p:sp>
        <p:nvSpPr>
          <p:cNvPr id="70659" name="Notes Placeholder 2"/>
          <p:cNvSpPr>
            <a:spLocks noGrp="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DomainKeys Identified Mail (DKIM) is a specification for cryptographically signing</a:t>
            </a:r>
          </a:p>
          <a:p>
            <a:r>
              <a:rPr lang="en-US" sz="1200" kern="1200" baseline="0" dirty="0">
                <a:solidFill>
                  <a:schemeClr val="tx1"/>
                </a:solidFill>
                <a:latin typeface="Arial" pitchFamily="-107" charset="0"/>
                <a:ea typeface="ＭＳ Ｐゴシック" pitchFamily="-107" charset="-128"/>
                <a:cs typeface="ＭＳ Ｐゴシック" pitchFamily="-107" charset="-128"/>
              </a:rPr>
              <a:t>e-mail messages, permitting a signing domain to claim responsibility for a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in the mail stream. Message recipients (or agents acting in their behalf) can verify</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signature by querying the signer’s domain directly to retrieve the appropriate</a:t>
            </a:r>
          </a:p>
          <a:p>
            <a:r>
              <a:rPr lang="en-US" sz="1200" kern="1200" baseline="0" dirty="0">
                <a:solidFill>
                  <a:schemeClr val="tx1"/>
                </a:solidFill>
                <a:latin typeface="Arial" pitchFamily="-107" charset="0"/>
                <a:ea typeface="ＭＳ Ｐゴシック" pitchFamily="-107" charset="-128"/>
                <a:cs typeface="ＭＳ Ｐゴシック" pitchFamily="-107" charset="-128"/>
              </a:rPr>
              <a:t>public key and thereby can confirm that the message was attested to by a party in</a:t>
            </a:r>
          </a:p>
          <a:p>
            <a:r>
              <a:rPr lang="en-US" sz="1200" kern="1200" baseline="0" dirty="0">
                <a:solidFill>
                  <a:schemeClr val="tx1"/>
                </a:solidFill>
                <a:latin typeface="Arial" pitchFamily="-107" charset="0"/>
                <a:ea typeface="ＭＳ Ｐゴシック" pitchFamily="-107" charset="-128"/>
                <a:cs typeface="ＭＳ Ｐゴシック" pitchFamily="-107" charset="-128"/>
              </a:rPr>
              <a:t>possession of the private key for the signing domain. DKIM is a proposed Internet</a:t>
            </a:r>
          </a:p>
          <a:p>
            <a:r>
              <a:rPr lang="en-US" sz="1200" kern="1200" baseline="0" dirty="0">
                <a:solidFill>
                  <a:schemeClr val="tx1"/>
                </a:solidFill>
                <a:latin typeface="Arial" pitchFamily="-107" charset="0"/>
                <a:ea typeface="ＭＳ Ｐゴシック" pitchFamily="-107" charset="-128"/>
                <a:cs typeface="ＭＳ Ｐゴシック" pitchFamily="-107" charset="-128"/>
              </a:rPr>
              <a:t>Standard (RFC 4871: DomainKeys Identified Mail (DKIM) Signatures ). DKIM has</a:t>
            </a:r>
          </a:p>
          <a:p>
            <a:r>
              <a:rPr lang="en-US" sz="1200" kern="1200" baseline="0" dirty="0">
                <a:solidFill>
                  <a:schemeClr val="tx1"/>
                </a:solidFill>
                <a:latin typeface="Arial" pitchFamily="-107" charset="0"/>
                <a:ea typeface="ＭＳ Ｐゴシック" pitchFamily="-107" charset="-128"/>
                <a:cs typeface="ＭＳ Ｐゴシック" pitchFamily="-107" charset="-128"/>
              </a:rPr>
              <a:t>been widely adopted by a range of e-mail providers, including corporations, government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agencies, gmail, yahoo, and many Internet Service Providers (ISPs).</a:t>
            </a:r>
            <a:endParaRPr lang="en-US" dirty="0">
              <a:latin typeface="Arial" pitchFamily="-1" charset="0"/>
              <a:ea typeface="ＭＳ Ｐゴシック" pitchFamily="-1" charset="-128"/>
              <a:cs typeface="ＭＳ Ｐゴシック" pitchFamily="-1" charset="-128"/>
            </a:endParaRPr>
          </a:p>
        </p:txBody>
      </p:sp>
      <p:sp>
        <p:nvSpPr>
          <p:cNvPr id="70660" name="Slide Number Placeholder 3"/>
          <p:cNvSpPr>
            <a:spLocks noGrp="1"/>
          </p:cNvSpPr>
          <p:nvPr>
            <p:ph type="sldNum" sz="quarter" idx="5"/>
          </p:nvPr>
        </p:nvSpPr>
        <p:spPr>
          <a:noFill/>
        </p:spPr>
        <p:txBody>
          <a:bodyPr/>
          <a:lstStyle/>
          <a:p>
            <a:fld id="{EFDD9883-232B-4C43-90AA-D078E12B6389}" type="slidenum">
              <a:rPr lang="en-AU" smtClean="0">
                <a:latin typeface="Arial" pitchFamily="-1" charset="0"/>
              </a:rPr>
              <a:pPr/>
              <a:t>34</a:t>
            </a:fld>
            <a:endParaRPr lang="en-AU" dirty="0">
              <a:latin typeface="Arial" pitchFamily="-1"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p:cNvSpPr>
          <p:nvPr>
            <p:ph type="sldImg"/>
          </p:nvPr>
        </p:nvSpPr>
        <p:spPr>
          <a:ln/>
        </p:spPr>
      </p:sp>
      <p:sp>
        <p:nvSpPr>
          <p:cNvPr id="72707" name="Notes Placeholder 2"/>
          <p:cNvSpPr>
            <a:spLocks noGrp="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To understand the operation of DKIM, it is useful to have a basic grasp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Internet mail architecture, which is currently defined in RFC 5598. This subsection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provides an overview of the basic concepts.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At its most fundamental level, the Internet mail architecture consists of a</a:t>
            </a:r>
          </a:p>
          <a:p>
            <a:r>
              <a:rPr lang="en-US" sz="1200" kern="1200" baseline="0" dirty="0">
                <a:solidFill>
                  <a:schemeClr val="tx1"/>
                </a:solidFill>
                <a:latin typeface="Arial" pitchFamily="-107" charset="0"/>
                <a:ea typeface="ＭＳ Ｐゴシック" pitchFamily="-107" charset="-128"/>
                <a:cs typeface="ＭＳ Ｐゴシック" pitchFamily="-107" charset="-128"/>
              </a:rPr>
              <a:t>user world in the form of Message User Agents (MUA), and the transfer world, in</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form of the Message Handling Service (MHS), which is composed of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Transfer Agents (MTA). The MHS accepts a message from one user and delivers</a:t>
            </a:r>
          </a:p>
          <a:p>
            <a:r>
              <a:rPr lang="en-US" sz="1200" kern="1200" baseline="0" dirty="0">
                <a:solidFill>
                  <a:schemeClr val="tx1"/>
                </a:solidFill>
                <a:latin typeface="Arial" pitchFamily="-107" charset="0"/>
                <a:ea typeface="ＭＳ Ｐゴシック" pitchFamily="-107" charset="-128"/>
                <a:cs typeface="ＭＳ Ｐゴシック" pitchFamily="-107" charset="-128"/>
              </a:rPr>
              <a:t>it to one or more other users, creating a virtual MUA-to-MUA exchange environment.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This architecture involves three types of interoperability. One is directly between</a:t>
            </a:r>
          </a:p>
          <a:p>
            <a:r>
              <a:rPr lang="en-US" sz="1200" kern="1200" baseline="0" dirty="0">
                <a:solidFill>
                  <a:schemeClr val="tx1"/>
                </a:solidFill>
                <a:latin typeface="Arial" pitchFamily="-107" charset="0"/>
                <a:ea typeface="ＭＳ Ｐゴシック" pitchFamily="-107" charset="-128"/>
                <a:cs typeface="ＭＳ Ｐゴシック" pitchFamily="-107" charset="-128"/>
              </a:rPr>
              <a:t>users: messages must be formatted by the MUA on behalf of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author so that the message can be displayed to the message recipient by the destination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MUA. There are also interoperability requirements between the MUA and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MHS—first when a message is posted from an MUA to the MHS and later when</a:t>
            </a:r>
          </a:p>
          <a:p>
            <a:r>
              <a:rPr lang="en-US" sz="1200" kern="1200" baseline="0" dirty="0">
                <a:solidFill>
                  <a:schemeClr val="tx1"/>
                </a:solidFill>
                <a:latin typeface="Arial" pitchFamily="-107" charset="0"/>
                <a:ea typeface="ＭＳ Ｐゴシック" pitchFamily="-107" charset="-128"/>
                <a:cs typeface="ＭＳ Ｐゴシック" pitchFamily="-107" charset="-128"/>
              </a:rPr>
              <a:t>it is delivered from the MHS to the destination MUA. Interoperability is required</a:t>
            </a:r>
          </a:p>
          <a:p>
            <a:r>
              <a:rPr lang="en-US" sz="1200" kern="1200" baseline="0" dirty="0">
                <a:solidFill>
                  <a:schemeClr val="tx1"/>
                </a:solidFill>
                <a:latin typeface="Arial" pitchFamily="-107" charset="0"/>
                <a:ea typeface="ＭＳ Ｐゴシック" pitchFamily="-107" charset="-128"/>
                <a:cs typeface="ＭＳ Ｐゴシック" pitchFamily="-107" charset="-128"/>
              </a:rPr>
              <a:t>among the MTA components along the transfer path through the MHS.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Figure 8.4 illustrates the key components of the Internet mail architecture,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which include the following.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Message User Agent (MUA):  Operates on behalf of user actors and user applications.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It is their representative within the e-mail service. Typically, this</a:t>
            </a:r>
          </a:p>
          <a:p>
            <a:r>
              <a:rPr lang="en-US" sz="1200" kern="1200" baseline="0" dirty="0">
                <a:solidFill>
                  <a:schemeClr val="tx1"/>
                </a:solidFill>
                <a:latin typeface="Arial" pitchFamily="-107" charset="0"/>
                <a:ea typeface="ＭＳ Ｐゴシック" pitchFamily="-107" charset="-128"/>
                <a:cs typeface="ＭＳ Ｐゴシック" pitchFamily="-107" charset="-128"/>
              </a:rPr>
              <a:t>function is housed in the user’s computer and is referred to as a client e-mail</a:t>
            </a:r>
          </a:p>
          <a:p>
            <a:r>
              <a:rPr lang="en-US" sz="1200" kern="1200" baseline="0" dirty="0">
                <a:solidFill>
                  <a:schemeClr val="tx1"/>
                </a:solidFill>
                <a:latin typeface="Arial" pitchFamily="-107" charset="0"/>
                <a:ea typeface="ＭＳ Ｐゴシック" pitchFamily="-107" charset="-128"/>
                <a:cs typeface="ＭＳ Ｐゴシック" pitchFamily="-107" charset="-128"/>
              </a:rPr>
              <a:t> program or a local network e-mail server. The author MUA formats a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performs initial submission into the MHS via a MSA. The recipient</a:t>
            </a:r>
          </a:p>
          <a:p>
            <a:r>
              <a:rPr lang="en-US" sz="1200" kern="1200" baseline="0" dirty="0">
                <a:solidFill>
                  <a:schemeClr val="tx1"/>
                </a:solidFill>
                <a:latin typeface="Arial" pitchFamily="-107" charset="0"/>
                <a:ea typeface="ＭＳ Ｐゴシック" pitchFamily="-107" charset="-128"/>
                <a:cs typeface="ＭＳ Ｐゴシック" pitchFamily="-107" charset="-128"/>
              </a:rPr>
              <a:t>MUA processes received mail for storage and/or display to the recipient user.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Mail Submission Agent (MSA):  Accepts the message submitted by an MUA</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enforces the policies of the hosting domain and the requirements of</a:t>
            </a:r>
          </a:p>
          <a:p>
            <a:r>
              <a:rPr lang="en-US" sz="1200" kern="1200" baseline="0" dirty="0">
                <a:solidFill>
                  <a:schemeClr val="tx1"/>
                </a:solidFill>
                <a:latin typeface="Arial" pitchFamily="-107" charset="0"/>
                <a:ea typeface="ＭＳ Ｐゴシック" pitchFamily="-107" charset="-128"/>
                <a:cs typeface="ＭＳ Ｐゴシック" pitchFamily="-107" charset="-128"/>
              </a:rPr>
              <a:t>Internet standards. This function may be located together with the MUA or</a:t>
            </a:r>
          </a:p>
          <a:p>
            <a:r>
              <a:rPr lang="en-US" sz="1200" kern="1200" baseline="0" dirty="0">
                <a:solidFill>
                  <a:schemeClr val="tx1"/>
                </a:solidFill>
                <a:latin typeface="Arial" pitchFamily="-107" charset="0"/>
                <a:ea typeface="ＭＳ Ｐゴシック" pitchFamily="-107" charset="-128"/>
                <a:cs typeface="ＭＳ Ｐゴシック" pitchFamily="-107" charset="-128"/>
              </a:rPr>
              <a:t>as a separate functional model. In the latter case, the Simple Mail Transfer</a:t>
            </a:r>
          </a:p>
          <a:p>
            <a:r>
              <a:rPr lang="en-US" sz="1200" kern="1200" baseline="0" dirty="0">
                <a:solidFill>
                  <a:schemeClr val="tx1"/>
                </a:solidFill>
                <a:latin typeface="Arial" pitchFamily="-107" charset="0"/>
                <a:ea typeface="ＭＳ Ｐゴシック" pitchFamily="-107" charset="-128"/>
                <a:cs typeface="ＭＳ Ｐゴシック" pitchFamily="-107" charset="-128"/>
              </a:rPr>
              <a:t>Protocol (SMTP) is used between the MUA and the MSA.</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Message Transfer Agent (MTA):  Relays mail for one application-level hop.</a:t>
            </a:r>
          </a:p>
          <a:p>
            <a:r>
              <a:rPr lang="en-US" sz="1200" kern="1200" baseline="0" dirty="0">
                <a:solidFill>
                  <a:schemeClr val="tx1"/>
                </a:solidFill>
                <a:latin typeface="Arial" pitchFamily="-107" charset="0"/>
                <a:ea typeface="ＭＳ Ｐゴシック" pitchFamily="-107" charset="-128"/>
                <a:cs typeface="ＭＳ Ｐゴシック" pitchFamily="-107" charset="-128"/>
              </a:rPr>
              <a:t>It is like a packet switch or IP router in that its job is to make routing assessments</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to move the message closer to the recipients. Relaying is performed</a:t>
            </a:r>
          </a:p>
          <a:p>
            <a:r>
              <a:rPr lang="en-US" sz="1200" kern="1200" baseline="0" dirty="0">
                <a:solidFill>
                  <a:schemeClr val="tx1"/>
                </a:solidFill>
                <a:latin typeface="Arial" pitchFamily="-107" charset="0"/>
                <a:ea typeface="ＭＳ Ｐゴシック" pitchFamily="-107" charset="-128"/>
                <a:cs typeface="ＭＳ Ｐゴシック" pitchFamily="-107" charset="-128"/>
              </a:rPr>
              <a:t>by a sequence of MTAs until the message reaches a destination MDA. An</a:t>
            </a:r>
          </a:p>
          <a:p>
            <a:r>
              <a:rPr lang="en-US" sz="1200" kern="1200" baseline="0" dirty="0">
                <a:solidFill>
                  <a:schemeClr val="tx1"/>
                </a:solidFill>
                <a:latin typeface="Arial" pitchFamily="-107" charset="0"/>
                <a:ea typeface="ＭＳ Ｐゴシック" pitchFamily="-107" charset="-128"/>
                <a:cs typeface="ＭＳ Ｐゴシック" pitchFamily="-107" charset="-128"/>
              </a:rPr>
              <a:t>MTA also adds trace information to the message header. SMTP is used between</a:t>
            </a:r>
          </a:p>
          <a:p>
            <a:r>
              <a:rPr lang="en-US" sz="1200" kern="1200" baseline="0" dirty="0">
                <a:solidFill>
                  <a:schemeClr val="tx1"/>
                </a:solidFill>
                <a:latin typeface="Arial" pitchFamily="-107" charset="0"/>
                <a:ea typeface="ＭＳ Ｐゴシック" pitchFamily="-107" charset="-128"/>
                <a:cs typeface="ＭＳ Ｐゴシック" pitchFamily="-107" charset="-128"/>
              </a:rPr>
              <a:t>MTAs and between an MTA and an MSA or MDA.</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Mail Delivery Agent (MDA):  Responsible for transferring the message from</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MHS to the MS.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Message Store (MS):  An MUA can employ a long-term MS. An MS can be</a:t>
            </a:r>
          </a:p>
          <a:p>
            <a:r>
              <a:rPr lang="en-US" sz="1200" kern="1200" baseline="0" dirty="0">
                <a:solidFill>
                  <a:schemeClr val="tx1"/>
                </a:solidFill>
                <a:latin typeface="Arial" pitchFamily="-107" charset="0"/>
                <a:ea typeface="ＭＳ Ｐゴシック" pitchFamily="-107" charset="-128"/>
                <a:cs typeface="ＭＳ Ｐゴシック" pitchFamily="-107" charset="-128"/>
              </a:rPr>
              <a:t>located on a remote server or on the same machine as the MUA. Typically,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an MUA retrieves messages from a remote server using POP (Post Office</a:t>
            </a:r>
          </a:p>
          <a:p>
            <a:r>
              <a:rPr lang="en-US" sz="1200" kern="1200" baseline="0" dirty="0">
                <a:solidFill>
                  <a:schemeClr val="tx1"/>
                </a:solidFill>
                <a:latin typeface="Arial" pitchFamily="-107" charset="0"/>
                <a:ea typeface="ＭＳ Ｐゴシック" pitchFamily="-107" charset="-128"/>
                <a:cs typeface="ＭＳ Ｐゴシック" pitchFamily="-107" charset="-128"/>
              </a:rPr>
              <a:t>Protocol) or IMAP (Internet Message Access Protocol).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Two other concepts need to be defined. An administrative management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domain (ADMD)  is an Internet e-mail provider. Examples include a department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operates a local mail relay (MTA), an IT department that operates an enterprise</a:t>
            </a:r>
          </a:p>
          <a:p>
            <a:r>
              <a:rPr lang="en-US" sz="1200" kern="1200" baseline="0" dirty="0">
                <a:solidFill>
                  <a:schemeClr val="tx1"/>
                </a:solidFill>
                <a:latin typeface="Arial" pitchFamily="-107" charset="0"/>
                <a:ea typeface="ＭＳ Ｐゴシック" pitchFamily="-107" charset="-128"/>
                <a:cs typeface="ＭＳ Ｐゴシック" pitchFamily="-107" charset="-128"/>
              </a:rPr>
              <a:t>mail relay, and an ISP that operates a public shared e-mail service. Each</a:t>
            </a:r>
          </a:p>
          <a:p>
            <a:r>
              <a:rPr lang="en-US" sz="1200" kern="1200" baseline="0" dirty="0">
                <a:solidFill>
                  <a:schemeClr val="tx1"/>
                </a:solidFill>
                <a:latin typeface="Arial" pitchFamily="-107" charset="0"/>
                <a:ea typeface="ＭＳ Ｐゴシック" pitchFamily="-107" charset="-128"/>
                <a:cs typeface="ＭＳ Ｐゴシック" pitchFamily="-107" charset="-128"/>
              </a:rPr>
              <a:t>ADMD can have different operating policies and trust-based decision making. One</a:t>
            </a:r>
          </a:p>
          <a:p>
            <a:r>
              <a:rPr lang="en-US" sz="1200" kern="1200" baseline="0" dirty="0">
                <a:solidFill>
                  <a:schemeClr val="tx1"/>
                </a:solidFill>
                <a:latin typeface="Arial" pitchFamily="-107" charset="0"/>
                <a:ea typeface="ＭＳ Ｐゴシック" pitchFamily="-107" charset="-128"/>
                <a:cs typeface="ＭＳ Ｐゴシック" pitchFamily="-107" charset="-128"/>
              </a:rPr>
              <a:t>obvious example is the distinction between mail that is exchanged within an organization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mail that is exchanged between independent organizations. The rules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handling the two types of traffic tend to be quite different.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Domain Name System (DNS)  is a directory lookup service that provides</a:t>
            </a:r>
          </a:p>
          <a:p>
            <a:r>
              <a:rPr lang="en-US" sz="1200" kern="1200" baseline="0" dirty="0">
                <a:solidFill>
                  <a:schemeClr val="tx1"/>
                </a:solidFill>
                <a:latin typeface="Arial" pitchFamily="-107" charset="0"/>
                <a:ea typeface="ＭＳ Ｐゴシック" pitchFamily="-107" charset="-128"/>
                <a:cs typeface="ＭＳ Ｐゴシック" pitchFamily="-107" charset="-128"/>
              </a:rPr>
              <a:t>a mapping between the name of a host on the Internet and its numerical address.</a:t>
            </a:r>
            <a:endParaRPr lang="en-US" dirty="0">
              <a:latin typeface="Arial" pitchFamily="-1" charset="0"/>
              <a:ea typeface="ＭＳ Ｐゴシック" pitchFamily="-1" charset="-128"/>
              <a:cs typeface="ＭＳ Ｐゴシック" pitchFamily="-1" charset="-128"/>
            </a:endParaRPr>
          </a:p>
        </p:txBody>
      </p:sp>
      <p:sp>
        <p:nvSpPr>
          <p:cNvPr id="72708" name="Slide Number Placeholder 3"/>
          <p:cNvSpPr>
            <a:spLocks noGrp="1"/>
          </p:cNvSpPr>
          <p:nvPr>
            <p:ph type="sldNum" sz="quarter" idx="5"/>
          </p:nvPr>
        </p:nvSpPr>
        <p:spPr>
          <a:noFill/>
        </p:spPr>
        <p:txBody>
          <a:bodyPr/>
          <a:lstStyle/>
          <a:p>
            <a:fld id="{A0FCA52B-9EB4-F647-B799-5E16235241F6}" type="slidenum">
              <a:rPr lang="en-AU" smtClean="0">
                <a:latin typeface="Arial" pitchFamily="-1" charset="0"/>
              </a:rPr>
              <a:pPr/>
              <a:t>35</a:t>
            </a:fld>
            <a:endParaRPr lang="en-AU" dirty="0">
              <a:latin typeface="Arial" pitchFamily="-1"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p:cNvSpPr>
          <p:nvPr>
            <p:ph type="sldImg"/>
          </p:nvPr>
        </p:nvSpPr>
        <p:spPr>
          <a:ln/>
        </p:spPr>
      </p:sp>
      <p:sp>
        <p:nvSpPr>
          <p:cNvPr id="74755" name="Notes Placeholder 2"/>
          <p:cNvSpPr>
            <a:spLocks noGrp="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RFC 4686 characterizes the range of attackers on a spectrum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three levels of threat.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At the low end are attackers who simply want to send e-mail that a recipient</a:t>
            </a:r>
          </a:p>
          <a:p>
            <a:r>
              <a:rPr lang="en-US" sz="1200" kern="1200" baseline="0" dirty="0">
                <a:solidFill>
                  <a:schemeClr val="tx1"/>
                </a:solidFill>
                <a:latin typeface="Arial" pitchFamily="-107" charset="0"/>
                <a:ea typeface="ＭＳ Ｐゴシック" pitchFamily="-107" charset="-128"/>
                <a:cs typeface="ＭＳ Ｐゴシック" pitchFamily="-107" charset="-128"/>
              </a:rPr>
              <a:t>does not want to receive. The attacker can use one of a number of commercially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available tools that allow the sender to falsify the origin address of</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messages. This makes it difficult for the receiver to filter spam on the basis of</a:t>
            </a:r>
          </a:p>
          <a:p>
            <a:r>
              <a:rPr lang="en-US" sz="1200" kern="1200" baseline="0" dirty="0">
                <a:solidFill>
                  <a:schemeClr val="tx1"/>
                </a:solidFill>
                <a:latin typeface="Arial" pitchFamily="-107" charset="0"/>
                <a:ea typeface="ＭＳ Ｐゴシック" pitchFamily="-107" charset="-128"/>
                <a:cs typeface="ＭＳ Ｐゴシック" pitchFamily="-107" charset="-128"/>
              </a:rPr>
              <a:t>originating address or domain.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At the next level are professional senders of bulk spam mail. These attackers</a:t>
            </a:r>
          </a:p>
          <a:p>
            <a:r>
              <a:rPr lang="en-US" sz="1200" kern="1200" baseline="0" dirty="0">
                <a:solidFill>
                  <a:schemeClr val="tx1"/>
                </a:solidFill>
                <a:latin typeface="Arial" pitchFamily="-107" charset="0"/>
                <a:ea typeface="ＭＳ Ｐゴシック" pitchFamily="-107" charset="-128"/>
                <a:cs typeface="ＭＳ Ｐゴシック" pitchFamily="-107" charset="-128"/>
              </a:rPr>
              <a:t>often operate as commercial enterprises and send messages on behalf of third</a:t>
            </a:r>
          </a:p>
          <a:p>
            <a:r>
              <a:rPr lang="en-US" sz="1200" kern="1200" baseline="0" dirty="0">
                <a:solidFill>
                  <a:schemeClr val="tx1"/>
                </a:solidFill>
                <a:latin typeface="Arial" pitchFamily="-107" charset="0"/>
                <a:ea typeface="ＭＳ Ｐゴシック" pitchFamily="-107" charset="-128"/>
                <a:cs typeface="ＭＳ Ｐゴシック" pitchFamily="-107" charset="-128"/>
              </a:rPr>
              <a:t>parties. They employ more comprehensive tools for attack, including Mail</a:t>
            </a:r>
          </a:p>
          <a:p>
            <a:r>
              <a:rPr lang="en-US" sz="1200" kern="1200" baseline="0" dirty="0">
                <a:solidFill>
                  <a:schemeClr val="tx1"/>
                </a:solidFill>
                <a:latin typeface="Arial" pitchFamily="-107" charset="0"/>
                <a:ea typeface="ＭＳ Ｐゴシック" pitchFamily="-107" charset="-128"/>
                <a:cs typeface="ＭＳ Ｐゴシック" pitchFamily="-107" charset="-128"/>
              </a:rPr>
              <a:t>Transfer Agents (MTAs) and registered domains and networks of compromised</a:t>
            </a:r>
          </a:p>
          <a:p>
            <a:r>
              <a:rPr lang="en-US" sz="1200" kern="1200" baseline="0" dirty="0">
                <a:solidFill>
                  <a:schemeClr val="tx1"/>
                </a:solidFill>
                <a:latin typeface="Arial" pitchFamily="-107" charset="0"/>
                <a:ea typeface="ＭＳ Ｐゴシック" pitchFamily="-107" charset="-128"/>
                <a:cs typeface="ＭＳ Ｐゴシック" pitchFamily="-107" charset="-128"/>
              </a:rPr>
              <a:t>computers (zombies) to send messages and (in some cases) to harvest</a:t>
            </a:r>
          </a:p>
          <a:p>
            <a:r>
              <a:rPr lang="en-US" sz="1200" kern="1200" baseline="0" dirty="0">
                <a:solidFill>
                  <a:schemeClr val="tx1"/>
                </a:solidFill>
                <a:latin typeface="Arial" pitchFamily="-107" charset="0"/>
                <a:ea typeface="ＭＳ Ｐゴシック" pitchFamily="-107" charset="-128"/>
                <a:cs typeface="ＭＳ Ｐゴシック" pitchFamily="-107" charset="-128"/>
              </a:rPr>
              <a:t>addresses to which to send.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The most sophisticated and financially motivated senders of messages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those who stand to receive substantial financial benefit, such as from an</a:t>
            </a:r>
          </a:p>
          <a:p>
            <a:r>
              <a:rPr lang="en-US" sz="1200" kern="1200" baseline="0" dirty="0">
                <a:solidFill>
                  <a:schemeClr val="tx1"/>
                </a:solidFill>
                <a:latin typeface="Arial" pitchFamily="-107" charset="0"/>
                <a:ea typeface="ＭＳ Ｐゴシック" pitchFamily="-107" charset="-128"/>
                <a:cs typeface="ＭＳ Ｐゴシック" pitchFamily="-107" charset="-128"/>
              </a:rPr>
              <a:t>E-mail-based fraud scheme. These attackers can be expected to employ all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above mechanisms and additionally may attack the Internet infrastructure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itself, including DNS cache-poisoning attacks and IP routing attacks.</a:t>
            </a:r>
            <a:endParaRPr lang="en-US" dirty="0">
              <a:latin typeface="Arial" pitchFamily="-1" charset="0"/>
              <a:ea typeface="ＭＳ Ｐゴシック" pitchFamily="-1" charset="-128"/>
              <a:cs typeface="ＭＳ Ｐゴシック" pitchFamily="-1" charset="-128"/>
            </a:endParaRPr>
          </a:p>
        </p:txBody>
      </p:sp>
      <p:sp>
        <p:nvSpPr>
          <p:cNvPr id="74756" name="Slide Number Placeholder 3"/>
          <p:cNvSpPr>
            <a:spLocks noGrp="1"/>
          </p:cNvSpPr>
          <p:nvPr>
            <p:ph type="sldNum" sz="quarter" idx="5"/>
          </p:nvPr>
        </p:nvSpPr>
        <p:spPr>
          <a:noFill/>
        </p:spPr>
        <p:txBody>
          <a:bodyPr/>
          <a:lstStyle/>
          <a:p>
            <a:fld id="{A5E25E52-D2C5-CD47-9CA4-47426E1B153D}" type="slidenum">
              <a:rPr lang="en-AU" smtClean="0">
                <a:latin typeface="Arial" pitchFamily="-1" charset="0"/>
              </a:rPr>
              <a:pPr/>
              <a:t>36</a:t>
            </a:fld>
            <a:endParaRPr lang="en-AU" dirty="0">
              <a:latin typeface="Arial" pitchFamily="-1"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p:cNvSpPr>
          <p:nvPr>
            <p:ph type="sldImg"/>
          </p:nvPr>
        </p:nvSpPr>
        <p:spPr>
          <a:ln/>
        </p:spPr>
      </p:sp>
      <p:sp>
        <p:nvSpPr>
          <p:cNvPr id="76803" name="Notes Placeholder 2"/>
          <p:cNvSpPr>
            <a:spLocks noGrp="1"/>
          </p:cNvSpPr>
          <p:nvPr>
            <p:ph type="body" idx="1"/>
          </p:nvPr>
        </p:nvSpPr>
        <p:spPr>
          <a:xfrm>
            <a:off x="685800" y="4343400"/>
            <a:ext cx="5486400" cy="4341813"/>
          </a:xfrm>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DKIM is designed to provide an e-mail authentication technique that is transparent</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 end user. In essence, a user’s e-mail message is signed by a private key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administrative domain from which the e-mail originates. The signature covers all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content of the message and some of the RFC 5322 message headers. At the receiving</a:t>
            </a:r>
          </a:p>
          <a:p>
            <a:r>
              <a:rPr lang="en-US" sz="1200" kern="1200" baseline="0" dirty="0">
                <a:solidFill>
                  <a:schemeClr val="tx1"/>
                </a:solidFill>
                <a:latin typeface="Arial" pitchFamily="-107" charset="0"/>
                <a:ea typeface="ＭＳ Ｐゴシック" pitchFamily="-107" charset="-128"/>
                <a:cs typeface="ＭＳ Ｐゴシック" pitchFamily="-107" charset="-128"/>
              </a:rPr>
              <a:t>end, the MDA can access the corresponding public key via a DNS and verify</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signature, thus authenticating that the message comes from the claimed administrative</a:t>
            </a:r>
          </a:p>
          <a:p>
            <a:r>
              <a:rPr lang="en-US" sz="1200" kern="1200" baseline="0" dirty="0">
                <a:solidFill>
                  <a:schemeClr val="tx1"/>
                </a:solidFill>
                <a:latin typeface="Arial" pitchFamily="-107" charset="0"/>
                <a:ea typeface="ＭＳ Ｐゴシック" pitchFamily="-107" charset="-128"/>
                <a:cs typeface="ＭＳ Ｐゴシック" pitchFamily="-107" charset="-128"/>
              </a:rPr>
              <a:t>domain. Thus, mail that originates from somewhere else but claims to come</a:t>
            </a:r>
          </a:p>
          <a:p>
            <a:r>
              <a:rPr lang="en-US" sz="1200" kern="1200" baseline="0" dirty="0">
                <a:solidFill>
                  <a:schemeClr val="tx1"/>
                </a:solidFill>
                <a:latin typeface="Arial" pitchFamily="-107" charset="0"/>
                <a:ea typeface="ＭＳ Ｐゴシック" pitchFamily="-107" charset="-128"/>
                <a:cs typeface="ＭＳ Ｐゴシック" pitchFamily="-107" charset="-128"/>
              </a:rPr>
              <a:t>from a given domain will not pass the authentication test and can be rejected. This</a:t>
            </a:r>
          </a:p>
          <a:p>
            <a:r>
              <a:rPr lang="en-US" sz="1200" kern="1200" baseline="0" dirty="0">
                <a:solidFill>
                  <a:schemeClr val="tx1"/>
                </a:solidFill>
                <a:latin typeface="Arial" pitchFamily="-107" charset="0"/>
                <a:ea typeface="ＭＳ Ｐゴシック" pitchFamily="-107" charset="-128"/>
                <a:cs typeface="ＭＳ Ｐゴシック" pitchFamily="-107" charset="-128"/>
              </a:rPr>
              <a:t>approach differs from that of S/MIME and PGP, which use the originator’s private</a:t>
            </a:r>
          </a:p>
          <a:p>
            <a:r>
              <a:rPr lang="en-US" sz="1200" kern="1200" baseline="0" dirty="0">
                <a:solidFill>
                  <a:schemeClr val="tx1"/>
                </a:solidFill>
                <a:latin typeface="Arial" pitchFamily="-107" charset="0"/>
                <a:ea typeface="ＭＳ Ｐゴシック" pitchFamily="-107" charset="-128"/>
                <a:cs typeface="ＭＳ Ｐゴシック" pitchFamily="-107" charset="-128"/>
              </a:rPr>
              <a:t>key to sign the content of the message. The motivation for DKIM is based on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following reasoning.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S/MIME depends on both the sending and receiving users employing S/MIME.</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almost all users, the bulk of incoming mail does not use S/MIME, and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bulk of the mail the user wants to send is to recipients not using S/MIME.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S/MIME signs only the message content. Thus, RFC 5322 header information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concerning origin can be compromised.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DKIM is not implemented in client programs (MUAs) and is therefore transparent</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 user; the user need take no action.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DKIM applies to all mail from cooperating domains.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5. DKIM allows good senders to prove that they did send a particular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to prevent forgers from masquerading as good senders.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Figure 8.5 is a simple example of the operation of DKIM. We begin with a</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generated by a user and transmitted into the MHS to an MSA that is within</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user’s administrative domain. An e-mail message is generated by an e-mail client</a:t>
            </a:r>
          </a:p>
          <a:p>
            <a:r>
              <a:rPr lang="en-US" sz="1200" kern="1200" baseline="0" dirty="0">
                <a:solidFill>
                  <a:schemeClr val="tx1"/>
                </a:solidFill>
                <a:latin typeface="Arial" pitchFamily="-107" charset="0"/>
                <a:ea typeface="ＭＳ Ｐゴシック" pitchFamily="-107" charset="-128"/>
                <a:cs typeface="ＭＳ Ｐゴシック" pitchFamily="-107" charset="-128"/>
              </a:rPr>
              <a:t>program. The content of the message, plus selected RFC 5322 headers, is signed</a:t>
            </a:r>
          </a:p>
          <a:p>
            <a:r>
              <a:rPr lang="en-US" sz="1200" kern="1200" baseline="0" dirty="0">
                <a:solidFill>
                  <a:schemeClr val="tx1"/>
                </a:solidFill>
                <a:latin typeface="Arial" pitchFamily="-107" charset="0"/>
                <a:ea typeface="ＭＳ Ｐゴシック" pitchFamily="-107" charset="-128"/>
                <a:cs typeface="ＭＳ Ｐゴシック" pitchFamily="-107" charset="-128"/>
              </a:rPr>
              <a:t>by the e-mail provider using the provider’s private key. The signer is associated</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a domain, which could be a corporate local network, an ISP, or a public e-mail</a:t>
            </a:r>
          </a:p>
          <a:p>
            <a:r>
              <a:rPr lang="en-US" sz="1200" kern="1200" baseline="0" dirty="0">
                <a:solidFill>
                  <a:schemeClr val="tx1"/>
                </a:solidFill>
                <a:latin typeface="Arial" pitchFamily="-107" charset="0"/>
                <a:ea typeface="ＭＳ Ｐゴシック" pitchFamily="-107" charset="-128"/>
                <a:cs typeface="ＭＳ Ｐゴシック" pitchFamily="-107" charset="-128"/>
              </a:rPr>
              <a:t>facility such as gmail. The signed message then passes through the Internet via a</a:t>
            </a:r>
          </a:p>
          <a:p>
            <a:r>
              <a:rPr lang="en-US" sz="1200" kern="1200" baseline="0" dirty="0">
                <a:solidFill>
                  <a:schemeClr val="tx1"/>
                </a:solidFill>
                <a:latin typeface="Arial" pitchFamily="-107" charset="0"/>
                <a:ea typeface="ＭＳ Ｐゴシック" pitchFamily="-107" charset="-128"/>
                <a:cs typeface="ＭＳ Ｐゴシック" pitchFamily="-107" charset="-128"/>
              </a:rPr>
              <a:t>sequence of MTAs. At the destination, the MDA retrieves the public key for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incoming signature and verifies the signature before passing the message on to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destination e-mail client. The default signing algorithm is RSA with SHA-256. RSA</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SHA-1 also may be used.</a:t>
            </a:r>
            <a:endParaRPr lang="en-US" dirty="0">
              <a:latin typeface="Arial" pitchFamily="-1" charset="0"/>
              <a:ea typeface="ＭＳ Ｐゴシック" pitchFamily="-1" charset="-128"/>
              <a:cs typeface="ＭＳ Ｐゴシック" pitchFamily="-1" charset="-128"/>
            </a:endParaRPr>
          </a:p>
        </p:txBody>
      </p:sp>
      <p:sp>
        <p:nvSpPr>
          <p:cNvPr id="76804" name="Slide Number Placeholder 3"/>
          <p:cNvSpPr>
            <a:spLocks noGrp="1"/>
          </p:cNvSpPr>
          <p:nvPr>
            <p:ph type="sldNum" sz="quarter" idx="5"/>
          </p:nvPr>
        </p:nvSpPr>
        <p:spPr>
          <a:noFill/>
        </p:spPr>
        <p:txBody>
          <a:bodyPr/>
          <a:lstStyle/>
          <a:p>
            <a:fld id="{849E86ED-1E11-024B-BF54-7A3F5A3A6676}" type="slidenum">
              <a:rPr lang="en-AU" smtClean="0">
                <a:latin typeface="Arial" pitchFamily="-1" charset="0"/>
              </a:rPr>
              <a:pPr/>
              <a:t>37</a:t>
            </a:fld>
            <a:endParaRPr lang="en-AU" dirty="0">
              <a:latin typeface="Arial" pitchFamily="-1"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p:cNvSpPr>
          <p:nvPr>
            <p:ph type="sldImg"/>
          </p:nvPr>
        </p:nvSpPr>
        <p:spPr>
          <a:ln/>
        </p:spPr>
      </p:sp>
      <p:sp>
        <p:nvSpPr>
          <p:cNvPr id="78851" name="Notes Placeholder 2"/>
          <p:cNvSpPr>
            <a:spLocks noGrp="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Figure 8.6 provides a more detailed look at the elements of DKIM operation. Basic</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processing is divided between a signing Administrative Management Domain</a:t>
            </a:r>
          </a:p>
          <a:p>
            <a:r>
              <a:rPr lang="en-US" sz="1200" kern="1200" baseline="0" dirty="0">
                <a:solidFill>
                  <a:schemeClr val="tx1"/>
                </a:solidFill>
                <a:latin typeface="Arial" pitchFamily="-107" charset="0"/>
                <a:ea typeface="ＭＳ Ｐゴシック" pitchFamily="-107" charset="-128"/>
                <a:cs typeface="ＭＳ Ｐゴシック" pitchFamily="-107" charset="-128"/>
              </a:rPr>
              <a:t>(ADMD) and a verifying ADMD. At its simplest, this is between the originating ADMD</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the delivering ADMD, but it can involve other ADMDs in the handling path.</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Signing is performed by an authorized module within the signing ADMD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uses private information from a Key Store. Within the originating ADMD, this</a:t>
            </a:r>
          </a:p>
          <a:p>
            <a:r>
              <a:rPr lang="en-US" sz="1200" kern="1200" baseline="0" dirty="0">
                <a:solidFill>
                  <a:schemeClr val="tx1"/>
                </a:solidFill>
                <a:latin typeface="Arial" pitchFamily="-107" charset="0"/>
                <a:ea typeface="ＭＳ Ｐゴシック" pitchFamily="-107" charset="-128"/>
                <a:cs typeface="ＭＳ Ｐゴシック" pitchFamily="-107" charset="-128"/>
              </a:rPr>
              <a:t>might be performed by the MUA, MSA, or an MTA. Verifying is performed by</a:t>
            </a:r>
          </a:p>
          <a:p>
            <a:r>
              <a:rPr lang="en-US" sz="1200" kern="1200" baseline="0" dirty="0">
                <a:solidFill>
                  <a:schemeClr val="tx1"/>
                </a:solidFill>
                <a:latin typeface="Arial" pitchFamily="-107" charset="0"/>
                <a:ea typeface="ＭＳ Ｐゴシック" pitchFamily="-107" charset="-128"/>
                <a:cs typeface="ＭＳ Ｐゴシック" pitchFamily="-107" charset="-128"/>
              </a:rPr>
              <a:t>an authorized module within the verifying ADMD. Within a delivering ADMD,</a:t>
            </a:r>
          </a:p>
          <a:p>
            <a:r>
              <a:rPr lang="en-US" sz="1200" kern="1200" baseline="0" dirty="0">
                <a:solidFill>
                  <a:schemeClr val="tx1"/>
                </a:solidFill>
                <a:latin typeface="Arial" pitchFamily="-107" charset="0"/>
                <a:ea typeface="ＭＳ Ｐゴシック" pitchFamily="-107" charset="-128"/>
                <a:cs typeface="ＭＳ Ｐゴシック" pitchFamily="-107" charset="-128"/>
              </a:rPr>
              <a:t>verifying might be performed by an MTA, MDA, or MUA. The module verifies</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signature or determines whether a particular signature was required. Verifying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signature uses public information from the Key Store. If the signature passes,</a:t>
            </a:r>
          </a:p>
          <a:p>
            <a:r>
              <a:rPr lang="en-US" sz="1200" kern="1200" baseline="0" dirty="0">
                <a:solidFill>
                  <a:schemeClr val="tx1"/>
                </a:solidFill>
                <a:latin typeface="Arial" pitchFamily="-107" charset="0"/>
                <a:ea typeface="ＭＳ Ｐゴシック" pitchFamily="-107" charset="-128"/>
                <a:cs typeface="ＭＳ Ｐゴシック" pitchFamily="-107" charset="-128"/>
              </a:rPr>
              <a:t> reputation information is used to assess the signer and that information is passed</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 message filtering system. If the signature fails or there is no signature using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author’s domain, information about signing practices related to the author can</a:t>
            </a:r>
          </a:p>
          <a:p>
            <a:r>
              <a:rPr lang="en-US" sz="1200" kern="1200" baseline="0" dirty="0">
                <a:solidFill>
                  <a:schemeClr val="tx1"/>
                </a:solidFill>
                <a:latin typeface="Arial" pitchFamily="-107" charset="0"/>
                <a:ea typeface="ＭＳ Ｐゴシック" pitchFamily="-107" charset="-128"/>
                <a:cs typeface="ＭＳ Ｐゴシック" pitchFamily="-107" charset="-128"/>
              </a:rPr>
              <a:t>be retrieved remotely and/or locally, and that information is passed to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filtering system. For example, if the sender (e.g., gmail) uses DKIM but no DKIM</a:t>
            </a:r>
          </a:p>
          <a:p>
            <a:r>
              <a:rPr lang="en-US" sz="1200" kern="1200" baseline="0" dirty="0">
                <a:solidFill>
                  <a:schemeClr val="tx1"/>
                </a:solidFill>
                <a:latin typeface="Arial" pitchFamily="-107" charset="0"/>
                <a:ea typeface="ＭＳ Ｐゴシック" pitchFamily="-107" charset="-128"/>
                <a:cs typeface="ＭＳ Ｐゴシック" pitchFamily="-107" charset="-128"/>
              </a:rPr>
              <a:t>signature is present, then the message may be considered fraudulent.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signature is inserted into the RFC 5322 message as an additional header</a:t>
            </a:r>
          </a:p>
          <a:p>
            <a:r>
              <a:rPr lang="en-US" sz="1200" kern="1200" baseline="0" dirty="0">
                <a:solidFill>
                  <a:schemeClr val="tx1"/>
                </a:solidFill>
                <a:latin typeface="Arial" pitchFamily="-107" charset="0"/>
                <a:ea typeface="ＭＳ Ｐゴシック" pitchFamily="-107" charset="-128"/>
                <a:cs typeface="ＭＳ Ｐゴシック" pitchFamily="-107" charset="-128"/>
              </a:rPr>
              <a:t>entry, starting with the keyword Dkim-Signature . You can view examples from</a:t>
            </a:r>
          </a:p>
          <a:p>
            <a:r>
              <a:rPr lang="en-US" sz="1200" kern="1200" baseline="0" dirty="0">
                <a:solidFill>
                  <a:schemeClr val="tx1"/>
                </a:solidFill>
                <a:latin typeface="Arial" pitchFamily="-107" charset="0"/>
                <a:ea typeface="ＭＳ Ｐゴシック" pitchFamily="-107" charset="-128"/>
                <a:cs typeface="ＭＳ Ｐゴシック" pitchFamily="-107" charset="-128"/>
              </a:rPr>
              <a:t>your own incoming mail by using the View Long Headers (or similar wording)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option for an incoming message.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Before a message is signed, a process known as canonicalization is performed</a:t>
            </a:r>
          </a:p>
          <a:p>
            <a:r>
              <a:rPr lang="en-US" sz="1200" kern="1200" baseline="0" dirty="0">
                <a:solidFill>
                  <a:schemeClr val="tx1"/>
                </a:solidFill>
                <a:latin typeface="Arial" pitchFamily="-107" charset="0"/>
                <a:ea typeface="ＭＳ Ｐゴシック" pitchFamily="-107" charset="-128"/>
                <a:cs typeface="ＭＳ Ｐゴシック" pitchFamily="-107" charset="-128"/>
              </a:rPr>
              <a:t>on both the header and body of the RFC 5322 message. Canonicalization is necessary</a:t>
            </a:r>
          </a:p>
          <a:p>
            <a:r>
              <a:rPr lang="en-US" sz="1200" kern="1200" baseline="0" dirty="0">
                <a:solidFill>
                  <a:schemeClr val="tx1"/>
                </a:solidFill>
                <a:latin typeface="Arial" pitchFamily="-107" charset="0"/>
                <a:ea typeface="ＭＳ Ｐゴシック" pitchFamily="-107" charset="-128"/>
                <a:cs typeface="ＭＳ Ｐゴシック" pitchFamily="-107" charset="-128"/>
              </a:rPr>
              <a:t>to deal with the possibility of minor changes in the message made en route,</a:t>
            </a:r>
          </a:p>
          <a:p>
            <a:r>
              <a:rPr lang="en-US" sz="1200" kern="1200" baseline="0" dirty="0">
                <a:solidFill>
                  <a:schemeClr val="tx1"/>
                </a:solidFill>
                <a:latin typeface="Arial" pitchFamily="-107" charset="0"/>
                <a:ea typeface="ＭＳ Ｐゴシック" pitchFamily="-107" charset="-128"/>
                <a:cs typeface="ＭＳ Ｐゴシック" pitchFamily="-107" charset="-128"/>
              </a:rPr>
              <a:t>including character encoding, treatment of trailing white space in message lines,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“folding” and “unfolding” of header lines. The intent of canonicalization is to</a:t>
            </a:r>
          </a:p>
          <a:p>
            <a:r>
              <a:rPr lang="en-US" sz="1200" kern="1200" baseline="0" dirty="0">
                <a:solidFill>
                  <a:schemeClr val="tx1"/>
                </a:solidFill>
                <a:latin typeface="Arial" pitchFamily="-107" charset="0"/>
                <a:ea typeface="ＭＳ Ｐゴシック" pitchFamily="-107" charset="-128"/>
                <a:cs typeface="ＭＳ Ｐゴシック" pitchFamily="-107" charset="-128"/>
              </a:rPr>
              <a:t>make a minimal transformation of the message (for the purpose of signing;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itself is not changed, so the canonicalization must be performed again by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verifier) that will give it its best chance of producing the same canonical value at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receiving end. DKIM defines two header canonicalization algorithms (“simple”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“relaxed”) and two for the body (with the same names). The simple algorithm tolerates</a:t>
            </a:r>
          </a:p>
          <a:p>
            <a:r>
              <a:rPr lang="en-US" sz="1200" kern="1200" baseline="0" dirty="0">
                <a:solidFill>
                  <a:schemeClr val="tx1"/>
                </a:solidFill>
                <a:latin typeface="Arial" pitchFamily="-107" charset="0"/>
                <a:ea typeface="ＭＳ Ｐゴシック" pitchFamily="-107" charset="-128"/>
                <a:cs typeface="ＭＳ Ｐゴシック" pitchFamily="-107" charset="-128"/>
              </a:rPr>
              <a:t>almost no modification, while the relaxed tolerates common modifications.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signature includes a number of fields. Each field begins with a tag consisting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of a tag code followed by an equals sign and ends with a semicolon.</a:t>
            </a:r>
            <a:endParaRPr lang="en-US" dirty="0">
              <a:latin typeface="Arial" pitchFamily="-1" charset="0"/>
              <a:ea typeface="ＭＳ Ｐゴシック" pitchFamily="-1" charset="-128"/>
              <a:cs typeface="ＭＳ Ｐゴシック" pitchFamily="-1" charset="-128"/>
            </a:endParaRPr>
          </a:p>
        </p:txBody>
      </p:sp>
      <p:sp>
        <p:nvSpPr>
          <p:cNvPr id="78852" name="Slide Number Placeholder 3"/>
          <p:cNvSpPr>
            <a:spLocks noGrp="1"/>
          </p:cNvSpPr>
          <p:nvPr>
            <p:ph type="sldNum" sz="quarter" idx="5"/>
          </p:nvPr>
        </p:nvSpPr>
        <p:spPr>
          <a:noFill/>
        </p:spPr>
        <p:txBody>
          <a:bodyPr/>
          <a:lstStyle/>
          <a:p>
            <a:fld id="{D9897F92-9C8F-5042-8DB6-3F1DE6035B76}" type="slidenum">
              <a:rPr lang="en-AU" smtClean="0">
                <a:latin typeface="Arial" pitchFamily="-1" charset="0"/>
              </a:rPr>
              <a:pPr/>
              <a:t>38</a:t>
            </a:fld>
            <a:endParaRPr lang="en-AU" dirty="0">
              <a:latin typeface="Arial" pitchFamily="-1"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39</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 8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3175" y="4267200"/>
            <a:ext cx="9140825" cy="2590800"/>
            <a:chOff x="2" y="2688"/>
            <a:chExt cx="5758" cy="1632"/>
          </a:xfrm>
        </p:grpSpPr>
        <p:sp>
          <p:nvSpPr>
            <p:cNvPr id="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1028"/>
            <p:cNvGrpSpPr>
              <a:grpSpLocks/>
            </p:cNvGrpSpPr>
            <p:nvPr/>
          </p:nvGrpSpPr>
          <p:grpSpPr bwMode="auto">
            <a:xfrm>
              <a:off x="1776" y="3024"/>
              <a:ext cx="3929" cy="1290"/>
              <a:chOff x="1776" y="3024"/>
              <a:chExt cx="3929" cy="1290"/>
            </a:xfrm>
          </p:grpSpPr>
          <p:grpSp>
            <p:nvGrpSpPr>
              <p:cNvPr id="7" name="Group 1029"/>
              <p:cNvGrpSpPr>
                <a:grpSpLocks/>
              </p:cNvGrpSpPr>
              <p:nvPr/>
            </p:nvGrpSpPr>
            <p:grpSpPr bwMode="auto">
              <a:xfrm>
                <a:off x="2268" y="3934"/>
                <a:ext cx="638" cy="377"/>
                <a:chOff x="2268" y="3934"/>
                <a:chExt cx="638" cy="377"/>
              </a:xfrm>
            </p:grpSpPr>
            <p:sp>
              <p:nvSpPr>
                <p:cNvPr id="60"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1078"/>
              <p:cNvGrpSpPr>
                <a:grpSpLocks/>
              </p:cNvGrpSpPr>
              <p:nvPr/>
            </p:nvGrpSpPr>
            <p:grpSpPr bwMode="auto">
              <a:xfrm>
                <a:off x="4546" y="3608"/>
                <a:ext cx="518" cy="319"/>
                <a:chOff x="4546" y="3608"/>
                <a:chExt cx="518" cy="319"/>
              </a:xfrm>
            </p:grpSpPr>
            <p:sp>
              <p:nvSpPr>
                <p:cNvPr id="54"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1085"/>
              <p:cNvGrpSpPr>
                <a:grpSpLocks/>
              </p:cNvGrpSpPr>
              <p:nvPr/>
            </p:nvGrpSpPr>
            <p:grpSpPr bwMode="auto">
              <a:xfrm>
                <a:off x="5381" y="3085"/>
                <a:ext cx="227" cy="132"/>
                <a:chOff x="5381" y="3085"/>
                <a:chExt cx="227" cy="132"/>
              </a:xfrm>
            </p:grpSpPr>
            <p:sp>
              <p:nvSpPr>
                <p:cNvPr id="50"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69698"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69699"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pitchFamily="-107" charset="2"/>
              <a:buNone/>
              <a:defRPr/>
            </a:lvl1pPr>
          </a:lstStyle>
          <a:p>
            <a:r>
              <a:rPr lang="en-US"/>
              <a:t>Click to edit Master subtitle style</a:t>
            </a:r>
          </a:p>
        </p:txBody>
      </p:sp>
      <p:sp>
        <p:nvSpPr>
          <p:cNvPr id="68" name="Rectangle 1092"/>
          <p:cNvSpPr>
            <a:spLocks noGrp="1" noChangeArrowheads="1"/>
          </p:cNvSpPr>
          <p:nvPr>
            <p:ph type="dt" sz="quarter" idx="10"/>
          </p:nvPr>
        </p:nvSpPr>
        <p:spPr/>
        <p:txBody>
          <a:bodyPr/>
          <a:lstStyle>
            <a:lvl1pPr>
              <a:defRPr/>
            </a:lvl1pPr>
          </a:lstStyle>
          <a:p>
            <a:pPr>
              <a:defRPr/>
            </a:pPr>
            <a:endParaRPr lang="en-US" dirty="0"/>
          </a:p>
        </p:txBody>
      </p:sp>
      <p:sp>
        <p:nvSpPr>
          <p:cNvPr id="69" name="Rectangle 1093"/>
          <p:cNvSpPr>
            <a:spLocks noGrp="1" noChangeArrowheads="1"/>
          </p:cNvSpPr>
          <p:nvPr>
            <p:ph type="ftr" sz="quarter" idx="11"/>
          </p:nvPr>
        </p:nvSpPr>
        <p:spPr/>
        <p:txBody>
          <a:bodyPr/>
          <a:lstStyle>
            <a:lvl1pPr>
              <a:defRPr/>
            </a:lvl1pPr>
          </a:lstStyle>
          <a:p>
            <a:pPr>
              <a:defRPr/>
            </a:pPr>
            <a:endParaRPr lang="en-US" dirty="0"/>
          </a:p>
        </p:txBody>
      </p:sp>
      <p:sp>
        <p:nvSpPr>
          <p:cNvPr id="70" name="Rectangle 1094"/>
          <p:cNvSpPr>
            <a:spLocks noGrp="1" noChangeArrowheads="1"/>
          </p:cNvSpPr>
          <p:nvPr>
            <p:ph type="sldNum" sz="quarter" idx="12"/>
          </p:nvPr>
        </p:nvSpPr>
        <p:spPr/>
        <p:txBody>
          <a:bodyPr/>
          <a:lstStyle>
            <a:lvl1pPr>
              <a:defRPr/>
            </a:lvl1pPr>
          </a:lstStyle>
          <a:p>
            <a:pPr>
              <a:defRPr/>
            </a:pPr>
            <a:fld id="{2F3F2AB2-B8DE-BE47-A013-645DD366DA5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43425F2E-304D-7D47-8BFB-18F22DFB059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B1DEA97C-F765-254E-B8F0-D14BC8CC3411}"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0C2342BA-D990-8442-B68C-9929AF8682C4}"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6D5C0AA9-1731-DB48-8BC9-0A079BBDC74B}"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8188C0FA-934D-F44B-9062-2F8EA31D77D2}"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C74D2808-C20F-B845-A3F1-3BE5A6762A71}"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428AAE1-20AC-F044-AB6C-5ECE1B3CBC7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BB4B591-ED0D-1E4B-9651-87E1B8B4B9DC}"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0A784ACF-4DF9-724B-8937-0CD171B77DEC}"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5248521D-1F4E-784B-85AE-CEB7B598060C}"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fld id="{BAA2C889-37FC-C046-918F-581C92FAC5CF}" type="datetime1">
              <a:rPr lang="en-US"/>
              <a:pPr>
                <a:defRPr/>
              </a:pPr>
              <a:t>8/9/2023</a:t>
            </a:fld>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ED48F9B-91BA-5241-927F-DFD69C82FCF7}"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fld id="{4499E5C9-CB98-D348-A8A0-BFEA260A0170}" type="datetime1">
              <a:rPr lang="en-US"/>
              <a:pPr>
                <a:defRPr/>
              </a:pPr>
              <a:t>8/9/2023</a:t>
            </a:fld>
            <a:endParaRPr lang="en-US" dirty="0"/>
          </a:p>
        </p:txBody>
      </p:sp>
      <p:sp>
        <p:nvSpPr>
          <p:cNvPr id="12" name="Footer Placeholder 4"/>
          <p:cNvSpPr>
            <a:spLocks noGrp="1"/>
          </p:cNvSpPr>
          <p:nvPr>
            <p:ph type="ftr" sz="quarter" idx="11"/>
          </p:nvPr>
        </p:nvSpPr>
        <p:spPr/>
        <p:txBody>
          <a:bodyPr/>
          <a:lstStyle>
            <a:lvl1pPr>
              <a:defRPr/>
            </a:lvl1pPr>
          </a:lstStyle>
          <a:p>
            <a:pPr>
              <a:defRPr/>
            </a:pP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EC3F0E40-9566-FF47-84D5-E4C9DFD1FA8E}"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4FF0B399-20FE-C646-851D-65041BC80C79}"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dirty="0"/>
          </a:p>
        </p:txBody>
      </p:sp>
      <p:sp>
        <p:nvSpPr>
          <p:cNvPr id="13" name="Footer Placeholder 7"/>
          <p:cNvSpPr>
            <a:spLocks noGrp="1"/>
          </p:cNvSpPr>
          <p:nvPr>
            <p:ph type="ftr" sz="quarter" idx="11"/>
          </p:nvPr>
        </p:nvSpPr>
        <p:spPr/>
        <p:txBody>
          <a:bodyPr/>
          <a:lstStyle>
            <a:lvl1pPr>
              <a:defRPr/>
            </a:lvl1pPr>
          </a:lstStyle>
          <a:p>
            <a:pPr>
              <a:defRPr/>
            </a:pP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3E06906F-F82C-C24B-ADFB-A876A59C3E1B}"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dirty="0"/>
          </a:p>
        </p:txBody>
      </p:sp>
      <p:sp>
        <p:nvSpPr>
          <p:cNvPr id="7" name="Footer Placeholder 3"/>
          <p:cNvSpPr>
            <a:spLocks noGrp="1"/>
          </p:cNvSpPr>
          <p:nvPr>
            <p:ph type="ftr" sz="quarter" idx="11"/>
          </p:nvPr>
        </p:nvSpPr>
        <p:spPr/>
        <p:txBody>
          <a:bodyPr/>
          <a:lstStyle>
            <a:lvl1pPr>
              <a:defRPr/>
            </a:lvl1pPr>
          </a:lstStyle>
          <a:p>
            <a:pPr>
              <a:defRPr/>
            </a:pP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2738C610-EA48-3F45-BACD-67F8C6BE9BE5}"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7A0671E9-418D-2440-8FFC-982A85567CAA}"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endParaRPr lang="en-US" dirty="0"/>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8CA6F8B6-D79F-7D42-8296-26A8574CEF86}"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D5C89D08-05CB-8041-A6F5-8B39A23581E0}"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5D128D79-964E-A448-8064-06DBA4282F16}"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6193134-7B2A-5144-91AA-8D21FF7C19B5}"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A747C69-A4E4-6642-9B2D-EA3DE70B39AF}" type="slidenum">
              <a:rPr lang="en-US"/>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t="50000"/>
          <a:stretch>
            <a:fillRect/>
          </a:stretch>
        </p:blipFill>
        <p:spPr>
          <a:xfrm>
            <a:off x="0" y="3429000"/>
            <a:ext cx="9144000" cy="3429000"/>
          </a:xfrm>
          <a:prstGeom prst="rect">
            <a:avLst/>
          </a:prstGeom>
        </p:spPr>
      </p:pic>
      <p:sp>
        <p:nvSpPr>
          <p:cNvPr id="2" name="Title 1"/>
          <p:cNvSpPr>
            <a:spLocks noGrp="1"/>
          </p:cNvSpPr>
          <p:nvPr>
            <p:ph type="ctrTitle"/>
          </p:nvPr>
        </p:nvSpPr>
        <p:spPr>
          <a:xfrm>
            <a:off x="779463" y="1918447"/>
            <a:ext cx="7583488" cy="1470025"/>
          </a:xfrm>
        </p:spPr>
        <p:txBody>
          <a:bodyPr anchor="b" anchorCtr="0"/>
          <a:lstStyle/>
          <a:p>
            <a:r>
              <a:rPr lang="en-US"/>
              <a:t>Click to edit Master title style</a:t>
            </a:r>
            <a:endParaRPr/>
          </a:p>
        </p:txBody>
      </p:sp>
      <p:sp>
        <p:nvSpPr>
          <p:cNvPr id="3" name="Subtitle 2"/>
          <p:cNvSpPr>
            <a:spLocks noGrp="1"/>
          </p:cNvSpPr>
          <p:nvPr>
            <p:ph type="subTitle" idx="1"/>
          </p:nvPr>
        </p:nvSpPr>
        <p:spPr>
          <a:xfrm>
            <a:off x="779463" y="3478306"/>
            <a:ext cx="7583487" cy="1752600"/>
          </a:xfrm>
        </p:spPr>
        <p:txBody>
          <a:bodyPr>
            <a:normAutofit/>
          </a:bodyPr>
          <a:lstStyle>
            <a:lvl1pPr marL="0" indent="0" algn="ctr">
              <a:spcBef>
                <a:spcPts val="6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CA6087C2-FE8E-4E41-B302-52943D53AC95}" type="datetime1">
              <a:rPr lang="en-US" smtClean="0"/>
              <a:pPr>
                <a:defRPr/>
              </a:pPr>
              <a:t>8/9/2023</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EBF5CD18-686B-47A9-AFD5-66CE5FA52A66}" type="slidenum">
              <a:rPr lang="en-US" smtClean="0"/>
              <a:pPr/>
              <a:t>‹#›</a:t>
            </a:fld>
            <a:endParaRPr lang="en-US" dirty="0"/>
          </a:p>
        </p:txBody>
      </p:sp>
      <p:pic>
        <p:nvPicPr>
          <p:cNvPr id="7" name="Picture 6" descr="overlay-ruleShadow.png"/>
          <p:cNvPicPr>
            <a:picLocks noChangeAspect="1"/>
          </p:cNvPicPr>
          <p:nvPr/>
        </p:nvPicPr>
        <p:blipFill>
          <a:blip r:embed="rId3"/>
          <a:stretch>
            <a:fillRect/>
          </a:stretch>
        </p:blipFill>
        <p:spPr>
          <a:xfrm>
            <a:off x="0" y="3303984"/>
            <a:ext cx="9144000" cy="125016"/>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7" name="Picture 6"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6426BE87-E5FB-E549-B6FD-BE8C668A25A3}" type="slidenum">
              <a:rPr lang="en-US" smtClean="0"/>
              <a:pPr>
                <a:defRPr/>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t="50000"/>
          <a:stretch>
            <a:fillRect/>
          </a:stretch>
        </p:blipFill>
        <p:spPr>
          <a:xfrm>
            <a:off x="0" y="3429000"/>
            <a:ext cx="9144000" cy="3429000"/>
          </a:xfrm>
          <a:prstGeom prst="rect">
            <a:avLst/>
          </a:prstGeom>
        </p:spPr>
      </p:pic>
      <p:sp>
        <p:nvSpPr>
          <p:cNvPr id="2" name="Title 1"/>
          <p:cNvSpPr>
            <a:spLocks noGrp="1"/>
          </p:cNvSpPr>
          <p:nvPr>
            <p:ph type="ctrTitle"/>
          </p:nvPr>
        </p:nvSpPr>
        <p:spPr>
          <a:xfrm>
            <a:off x="779463" y="789081"/>
            <a:ext cx="7583488" cy="1470025"/>
          </a:xfrm>
        </p:spPr>
        <p:txBody>
          <a:bodyPr anchor="ctr" anchorCtr="0"/>
          <a:lstStyle/>
          <a:p>
            <a:r>
              <a:rPr lang="en-US"/>
              <a:t>Click to edit Master title style</a:t>
            </a:r>
            <a:endParaRPr/>
          </a:p>
        </p:txBody>
      </p:sp>
      <p:sp>
        <p:nvSpPr>
          <p:cNvPr id="3" name="Subtitle 2"/>
          <p:cNvSpPr>
            <a:spLocks noGrp="1"/>
          </p:cNvSpPr>
          <p:nvPr>
            <p:ph type="subTitle" idx="1"/>
          </p:nvPr>
        </p:nvSpPr>
        <p:spPr>
          <a:xfrm>
            <a:off x="779463" y="4724400"/>
            <a:ext cx="7583487" cy="1385047"/>
          </a:xfrm>
        </p:spPr>
        <p:txBody>
          <a:bodyPr anchor="ctr" anchorCtr="0">
            <a:normAutofit/>
          </a:bodyPr>
          <a:lstStyle>
            <a:lvl1pPr marL="0" indent="0" algn="ctr">
              <a:spcBef>
                <a:spcPts val="3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61F84E61-BFA6-4150-9FE3-AA0C8F288190}" type="slidenum">
              <a:rPr lang="en-US" smtClean="0"/>
              <a:pPr/>
              <a:t>‹#›</a:t>
            </a:fld>
            <a:endParaRPr lang="en-US" dirty="0"/>
          </a:p>
        </p:txBody>
      </p:sp>
      <p:pic>
        <p:nvPicPr>
          <p:cNvPr id="7" name="Picture 6" descr="overlay-ruleShadow.png"/>
          <p:cNvPicPr>
            <a:picLocks noChangeAspect="1"/>
          </p:cNvPicPr>
          <p:nvPr/>
        </p:nvPicPr>
        <p:blipFill>
          <a:blip r:embed="rId3"/>
          <a:stretch>
            <a:fillRect/>
          </a:stretch>
        </p:blipFill>
        <p:spPr>
          <a:xfrm>
            <a:off x="0" y="3303984"/>
            <a:ext cx="9144000" cy="125016"/>
          </a:xfrm>
          <a:prstGeom prst="rect">
            <a:avLst/>
          </a:prstGeom>
        </p:spPr>
      </p:pic>
      <p:sp>
        <p:nvSpPr>
          <p:cNvPr id="10" name="Picture Placeholder 9"/>
          <p:cNvSpPr>
            <a:spLocks noGrp="1"/>
          </p:cNvSpPr>
          <p:nvPr>
            <p:ph type="pic" sz="quarter" idx="13"/>
          </p:nvPr>
        </p:nvSpPr>
        <p:spPr>
          <a:xfrm>
            <a:off x="3677371" y="2564085"/>
            <a:ext cx="1789259" cy="1729830"/>
          </a:xfrm>
          <a:prstGeom prst="ellipse">
            <a:avLst/>
          </a:prstGeom>
          <a:noFill/>
          <a:ln w="127000">
            <a:solidFill>
              <a:schemeClr val="tx2"/>
            </a:solidFill>
          </a:ln>
          <a:effectLst>
            <a:innerShdw blurRad="101600" dist="76200" dir="13500000">
              <a:prstClr val="black">
                <a:alpha val="57000"/>
              </a:prstClr>
            </a:innerShdw>
          </a:effectLst>
        </p:spPr>
        <p:txBody>
          <a:bodyPr>
            <a:normAutofit/>
          </a:bodyPr>
          <a:lstStyle>
            <a:lvl1pPr marL="0" indent="0" algn="ctr">
              <a:buNone/>
              <a:defRPr sz="1600">
                <a:solidFill>
                  <a:schemeClr val="tx1"/>
                </a:solidFill>
              </a:defRPr>
            </a:lvl1pPr>
          </a:lstStyle>
          <a:p>
            <a:r>
              <a:rPr lang="en-US" dirty="0"/>
              <a:t>Click icon to add picture</a:t>
            </a:r>
            <a:endParaRPr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4446984"/>
            <a:ext cx="9144000" cy="125016"/>
          </a:xfrm>
          <a:prstGeom prst="rect">
            <a:avLst/>
          </a:prstGeom>
        </p:spPr>
      </p:pic>
      <p:pic>
        <p:nvPicPr>
          <p:cNvPr id="7" name="Picture 6" descr="Overlay-FullBackground.jpg"/>
          <p:cNvPicPr>
            <a:picLocks noChangeAspect="1"/>
          </p:cNvPicPr>
          <p:nvPr/>
        </p:nvPicPr>
        <p:blipFill>
          <a:blip r:embed="rId3"/>
          <a:srcRect t="66667"/>
          <a:stretch>
            <a:fillRect/>
          </a:stretch>
        </p:blipFill>
        <p:spPr>
          <a:xfrm>
            <a:off x="0" y="4572000"/>
            <a:ext cx="9144000" cy="2286000"/>
          </a:xfrm>
          <a:prstGeom prst="rect">
            <a:avLst/>
          </a:prstGeom>
        </p:spPr>
      </p:pic>
      <p:sp>
        <p:nvSpPr>
          <p:cNvPr id="2" name="Title 1"/>
          <p:cNvSpPr>
            <a:spLocks noGrp="1"/>
          </p:cNvSpPr>
          <p:nvPr>
            <p:ph type="title"/>
          </p:nvPr>
        </p:nvSpPr>
        <p:spPr>
          <a:xfrm>
            <a:off x="779463" y="2971800"/>
            <a:ext cx="7583487" cy="1362075"/>
          </a:xfrm>
        </p:spPr>
        <p:txBody>
          <a:bodyPr vert="horz" lIns="91440" tIns="45720" rIns="91440" bIns="45720" rtlCol="0" anchor="b" anchorCtr="0">
            <a:noAutofit/>
          </a:bodyPr>
          <a:lstStyle>
            <a:lvl1pPr algn="ctr" defTabSz="914400" rtl="0" eaLnBrk="1" latinLnBrk="0" hangingPunct="1">
              <a:spcBef>
                <a:spcPct val="0"/>
              </a:spcBef>
              <a:buNone/>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779463" y="4724400"/>
            <a:ext cx="7583487" cy="1398494"/>
          </a:xfrm>
        </p:spPr>
        <p:txBody>
          <a:bodyPr vert="horz" lIns="91440" tIns="45720" rIns="91440" bIns="45720" rtlCol="0">
            <a:normAutofit/>
          </a:bodyPr>
          <a:lstStyle>
            <a:lvl1pPr marL="0" indent="0" algn="ctr" defTabSz="914400" rtl="0" eaLnBrk="1" latinLnBrk="0" hangingPunct="1">
              <a:spcBef>
                <a:spcPts val="600"/>
              </a:spcBef>
              <a:buFont typeface="Calisto MT" pitchFamily="18" charset="0"/>
              <a:buNone/>
              <a:defRPr sz="18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01FD19A-18DF-734E-88FC-7E6030A357C1}" type="datetime1">
              <a:rPr lang="en-US" smtClean="0"/>
              <a:pPr>
                <a:defRPr/>
              </a:pPr>
              <a:t>8/9/2023</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AB25685A-713B-8549-9275-7DEE06C1AF59}" type="slidenum">
              <a:rPr lang="en-US" smtClean="0"/>
              <a:pPr>
                <a:defRPr/>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11" name="Picture 10"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a:xfrm>
            <a:off x="779463" y="62753"/>
            <a:ext cx="7583488" cy="1283167"/>
          </a:xfrm>
        </p:spPr>
        <p:txBody>
          <a:bodyPr/>
          <a:lstStyle/>
          <a:p>
            <a:r>
              <a:rPr lang="en-US"/>
              <a:t>Click to edit Master title style</a:t>
            </a:r>
            <a:endParaRPr/>
          </a:p>
        </p:txBody>
      </p:sp>
      <p:sp>
        <p:nvSpPr>
          <p:cNvPr id="3" name="Content Placeholder 2"/>
          <p:cNvSpPr>
            <a:spLocks noGrp="1"/>
          </p:cNvSpPr>
          <p:nvPr>
            <p:ph sz="half" idx="1"/>
          </p:nvPr>
        </p:nvSpPr>
        <p:spPr>
          <a:xfrm>
            <a:off x="779463" y="1828800"/>
            <a:ext cx="3566160" cy="4297363"/>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96791" y="1828800"/>
            <a:ext cx="3566160" cy="4297363"/>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3A7342E1-65BB-6E4A-A0CC-A610AAC07D07}" type="slidenum">
              <a:rPr lang="en-US" smtClean="0"/>
              <a:pPr>
                <a:defRPr/>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13" name="Picture 12"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a:xfrm>
            <a:off x="779463" y="62753"/>
            <a:ext cx="7583488" cy="1283167"/>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79463"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9463" y="2393576"/>
            <a:ext cx="3566160" cy="3732585"/>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96791"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96791" y="2393576"/>
            <a:ext cx="3566160" cy="3732585"/>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CBB56AA-FE0D-774B-9115-3002173F52F9}" type="slidenum">
              <a:rPr lang="en-US" smtClean="0"/>
              <a:pPr>
                <a:defRPr/>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1307592"/>
            <a:ext cx="9144000" cy="125016"/>
          </a:xfrm>
          <a:prstGeom prst="rect">
            <a:avLst/>
          </a:prstGeom>
        </p:spPr>
      </p:pic>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4B5F1141-6830-8D46-9787-8E222FA999BD}" type="slidenum">
              <a:rPr lang="en-US" smtClean="0"/>
              <a:pPr>
                <a:defRPr/>
              </a:pPr>
              <a:t>‹#›</a:t>
            </a:fld>
            <a:endParaRPr lang="en-US" dirty="0"/>
          </a:p>
        </p:txBody>
      </p:sp>
      <p:pic>
        <p:nvPicPr>
          <p:cNvPr id="10" name="Picture 9" descr="Overlay-FullBackground.jpg"/>
          <p:cNvPicPr>
            <a:picLocks noChangeAspect="1"/>
          </p:cNvPicPr>
          <p:nvPr/>
        </p:nvPicPr>
        <p:blipFill>
          <a:blip r:embed="rId3"/>
          <a:srcRect t="21046"/>
          <a:stretch>
            <a:fillRect/>
          </a:stretch>
        </p:blipFill>
        <p:spPr>
          <a:xfrm>
            <a:off x="0" y="1447800"/>
            <a:ext cx="9144000" cy="5414682"/>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Overlay-FullBackground.jpg"/>
          <p:cNvPicPr>
            <a:picLocks noChangeAspect="1"/>
          </p:cNvPicPr>
          <p:nvPr/>
        </p:nvPicPr>
        <p:blipFill>
          <a:blip r:embed="rId2"/>
          <a:stretch>
            <a:fillRect/>
          </a:stretch>
        </p:blipFill>
        <p:spPr>
          <a:xfrm>
            <a:off x="0" y="4482"/>
            <a:ext cx="9144000" cy="6858000"/>
          </a:xfrm>
          <a:prstGeom prst="rect">
            <a:avLst/>
          </a:prstGeom>
          <a:noFill/>
          <a:ln>
            <a:noFill/>
          </a:ln>
        </p:spPr>
      </p:pic>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44B1FC6E-DD23-0745-9A88-FF90FE027BF3}" type="slidenum">
              <a:rPr lang="en-US" smtClean="0"/>
              <a:pPr>
                <a:defRPr/>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l="50000"/>
          <a:stretch>
            <a:fillRect/>
          </a:stretch>
        </p:blipFill>
        <p:spPr>
          <a:xfrm>
            <a:off x="4572000" y="4482"/>
            <a:ext cx="4572000" cy="6858000"/>
          </a:xfrm>
          <a:prstGeom prst="rect">
            <a:avLst/>
          </a:prstGeom>
          <a:noFill/>
          <a:ln>
            <a:noFill/>
          </a:ln>
        </p:spPr>
      </p:pic>
      <p:sp>
        <p:nvSpPr>
          <p:cNvPr id="2" name="Title 1"/>
          <p:cNvSpPr>
            <a:spLocks noGrp="1"/>
          </p:cNvSpPr>
          <p:nvPr>
            <p:ph type="title"/>
          </p:nvPr>
        </p:nvSpPr>
        <p:spPr>
          <a:xfrm>
            <a:off x="301752" y="273049"/>
            <a:ext cx="3962400" cy="1690221"/>
          </a:xfrm>
        </p:spPr>
        <p:txBody>
          <a:bodyPr vert="horz" lIns="91440" tIns="45720" rIns="91440" bIns="45720" rtlCol="0" anchor="b" anchorCtr="0">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US"/>
              <a:t>Click to edit Master title style</a:t>
            </a:r>
            <a:endParaRPr/>
          </a:p>
        </p:txBody>
      </p:sp>
      <p:sp>
        <p:nvSpPr>
          <p:cNvPr id="3" name="Content Placeholder 2"/>
          <p:cNvSpPr>
            <a:spLocks noGrp="1"/>
          </p:cNvSpPr>
          <p:nvPr>
            <p:ph idx="1"/>
          </p:nvPr>
        </p:nvSpPr>
        <p:spPr>
          <a:xfrm>
            <a:off x="4866401" y="273050"/>
            <a:ext cx="3959352" cy="5853113"/>
          </a:xfrm>
        </p:spPr>
        <p:txBody>
          <a:bodyPr>
            <a:normAutofit/>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01752" y="1975104"/>
            <a:ext cx="3962400" cy="3200401"/>
          </a:xfrm>
          <a:effectLst>
            <a:outerShdw blurRad="50800" dist="38100" dir="2700000" algn="tl" rotWithShape="0">
              <a:prstClr val="black">
                <a:alpha val="40000"/>
              </a:prstClr>
            </a:outerShdw>
          </a:effectLst>
        </p:spPr>
        <p:txBody>
          <a:bodyPr vert="horz" lIns="91440" tIns="45720" rIns="91440" bIns="45720" rtlCol="0" anchor="t" anchorCtr="0">
            <a:normAutofit/>
          </a:bodyPr>
          <a:lstStyle>
            <a:lvl1pPr marL="0" indent="0" algn="ctr" defTabSz="914400" rtl="0" eaLnBrk="1" latinLnBrk="0" hangingPunct="1">
              <a:lnSpc>
                <a:spcPct val="110000"/>
              </a:lnSpc>
              <a:spcBef>
                <a:spcPts val="2000"/>
              </a:spcBef>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2667000" y="6356350"/>
            <a:ext cx="1622612"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6" name="Footer Placeholder 5"/>
          <p:cNvSpPr>
            <a:spLocks noGrp="1"/>
          </p:cNvSpPr>
          <p:nvPr>
            <p:ph type="ftr" sz="quarter" idx="11"/>
          </p:nvPr>
        </p:nvSpPr>
        <p:spPr>
          <a:xfrm>
            <a:off x="242047" y="6356350"/>
            <a:ext cx="1891553" cy="365125"/>
          </a:xfrm>
          <a:effectLst>
            <a:outerShdw blurRad="50800" dist="38100" dir="2700000" algn="tl" rotWithShape="0">
              <a:prstClr val="black">
                <a:alpha val="40000"/>
              </a:prstClr>
            </a:outerShdw>
          </a:effectLst>
        </p:spPr>
        <p:txBody>
          <a:bodyPr vert="horz" lIns="91440" tIns="45720" rIns="91440" bIns="45720" rtlCol="0" anchor="ct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7" name="Slide Number Placeholder 6"/>
          <p:cNvSpPr>
            <a:spLocks noGrp="1"/>
          </p:cNvSpPr>
          <p:nvPr>
            <p:ph type="sldNum" sz="quarter" idx="12"/>
          </p:nvPr>
        </p:nvSpPr>
        <p:spPr>
          <a:xfrm>
            <a:off x="1892808" y="5748338"/>
            <a:ext cx="762000" cy="576262"/>
          </a:xfrm>
        </p:spPr>
        <p:txBody>
          <a:bodyPr vert="horz" lIns="91440" tIns="45720" rIns="91440" bIns="45720" rtlCol="0" anchor="ct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13EBF9D1-F2F6-354E-8D82-1F22732BF26C}" type="slidenum">
              <a:rPr lang="en-US" smtClean="0"/>
              <a:pPr>
                <a:defRPr/>
              </a:pPr>
              <a:t>‹#›</a:t>
            </a:fld>
            <a:endParaRPr lang="en-US" dirty="0"/>
          </a:p>
        </p:txBody>
      </p:sp>
      <p:pic>
        <p:nvPicPr>
          <p:cNvPr id="10" name="Picture 9" descr="overlay-ruleShadow.png"/>
          <p:cNvPicPr>
            <a:picLocks noChangeAspect="1"/>
          </p:cNvPicPr>
          <p:nvPr/>
        </p:nvPicPr>
        <p:blipFill>
          <a:blip r:embed="rId3"/>
          <a:srcRect r="25031"/>
          <a:stretch>
            <a:fillRect/>
          </a:stretch>
        </p:blipFill>
        <p:spPr>
          <a:xfrm rot="16200000">
            <a:off x="1086391" y="3365075"/>
            <a:ext cx="6855164" cy="125016"/>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l="50000"/>
          <a:stretch>
            <a:fillRect/>
          </a:stretch>
        </p:blipFill>
        <p:spPr>
          <a:xfrm>
            <a:off x="4572000" y="4482"/>
            <a:ext cx="4572000" cy="6858000"/>
          </a:xfrm>
          <a:prstGeom prst="rect">
            <a:avLst/>
          </a:prstGeom>
          <a:noFill/>
          <a:ln>
            <a:noFill/>
          </a:ln>
        </p:spPr>
      </p:pic>
      <p:pic>
        <p:nvPicPr>
          <p:cNvPr id="9" name="Picture 8" descr="overlay-ruleShadow.png"/>
          <p:cNvPicPr>
            <a:picLocks noChangeAspect="1"/>
          </p:cNvPicPr>
          <p:nvPr/>
        </p:nvPicPr>
        <p:blipFill>
          <a:blip r:embed="rId3"/>
          <a:srcRect r="25031"/>
          <a:stretch>
            <a:fillRect/>
          </a:stretch>
        </p:blipFill>
        <p:spPr>
          <a:xfrm rot="16200000">
            <a:off x="1086391" y="3365075"/>
            <a:ext cx="6855164" cy="125016"/>
          </a:xfrm>
          <a:prstGeom prst="rect">
            <a:avLst/>
          </a:prstGeom>
        </p:spPr>
      </p:pic>
      <p:sp>
        <p:nvSpPr>
          <p:cNvPr id="2" name="Title 1"/>
          <p:cNvSpPr>
            <a:spLocks noGrp="1"/>
          </p:cNvSpPr>
          <p:nvPr>
            <p:ph type="title"/>
          </p:nvPr>
        </p:nvSpPr>
        <p:spPr>
          <a:xfrm>
            <a:off x="301752" y="274320"/>
            <a:ext cx="3959352" cy="1691640"/>
          </a:xfrm>
        </p:spPr>
        <p:txBody>
          <a:bodyPr vert="horz" lIns="91440" tIns="45720" rIns="91440" bIns="45720" rtlCol="0" anchor="b" anchorCtr="0">
            <a:noAutofit/>
          </a:bodyPr>
          <a:lstStyle>
            <a:lvl1pPr marL="0" algn="ctr" defTabSz="914400" rtl="0" eaLnBrk="1" latinLnBrk="0" hangingPunct="1">
              <a:spcBef>
                <a:spcPct val="0"/>
              </a:spcBef>
              <a:buNone/>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64608" y="264907"/>
            <a:ext cx="3959352" cy="6328186"/>
          </a:xfrm>
          <a:solidFill>
            <a:schemeClr val="tx1">
              <a:lumMod val="50000"/>
            </a:schemeClr>
          </a:solidFill>
          <a:effectLst>
            <a:outerShdw blurRad="50800" dir="2700000" algn="tl" rotWithShape="0">
              <a:schemeClr val="tx1">
                <a:alpha val="40000"/>
              </a:scheme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301752" y="1970801"/>
            <a:ext cx="3959352" cy="3200400"/>
          </a:xfrm>
          <a:effectLst>
            <a:outerShdw blurRad="50800" dist="38100" dir="2700000" algn="tl" rotWithShape="0">
              <a:prstClr val="black">
                <a:alpha val="40000"/>
              </a:prstClr>
            </a:outerShdw>
          </a:effectLst>
        </p:spPr>
        <p:txBody>
          <a:bodyPr vert="horz" lIns="91440" tIns="45720" rIns="91440" bIns="45720" rtlCol="0" anchor="t" anchorCtr="0">
            <a:normAutofit/>
          </a:bodyPr>
          <a:lstStyle>
            <a:lvl1pPr marL="0" indent="0" algn="ctr">
              <a:lnSpc>
                <a:spcPct val="110000"/>
              </a:lnSpc>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Font typeface="Calisto MT" pitchFamily="18" charset="0"/>
              <a:buNone/>
            </a:pPr>
            <a:r>
              <a:rPr lang="en-US"/>
              <a:t>Click to edit Master text styles</a:t>
            </a:r>
          </a:p>
        </p:txBody>
      </p:sp>
      <p:sp>
        <p:nvSpPr>
          <p:cNvPr id="5" name="Date Placeholder 4"/>
          <p:cNvSpPr>
            <a:spLocks noGrp="1"/>
          </p:cNvSpPr>
          <p:nvPr>
            <p:ph type="dt" sz="half" idx="10"/>
          </p:nvPr>
        </p:nvSpPr>
        <p:spPr>
          <a:xfrm>
            <a:off x="2670048" y="6356350"/>
            <a:ext cx="1627632"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6" name="Footer Placeholder 5"/>
          <p:cNvSpPr>
            <a:spLocks noGrp="1"/>
          </p:cNvSpPr>
          <p:nvPr>
            <p:ph type="ftr" sz="quarter" idx="11"/>
          </p:nvPr>
        </p:nvSpPr>
        <p:spPr>
          <a:xfrm>
            <a:off x="242047" y="6356350"/>
            <a:ext cx="1892808" cy="365125"/>
          </a:xfrm>
          <a:effectLst>
            <a:outerShdw blurRad="50800" dist="38100" dir="2700000" algn="tl" rotWithShape="0">
              <a:prstClr val="black">
                <a:alpha val="40000"/>
              </a:prstClr>
            </a:outerShdw>
          </a:effectLst>
        </p:spPr>
        <p:txBody>
          <a:bodyPr vert="horz" lIns="91440" tIns="45720" rIns="91440" bIns="45720" rtlCol="0" anchor="ct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7" name="Slide Number Placeholder 6"/>
          <p:cNvSpPr>
            <a:spLocks noGrp="1"/>
          </p:cNvSpPr>
          <p:nvPr>
            <p:ph type="sldNum" sz="quarter" idx="12"/>
          </p:nvPr>
        </p:nvSpPr>
        <p:spPr>
          <a:xfrm>
            <a:off x="1892808" y="5738129"/>
            <a:ext cx="758952" cy="576072"/>
          </a:xfrm>
        </p:spPr>
        <p:txBody>
          <a:bodyPr vert="horz" lIns="91440" tIns="45720" rIns="91440" bIns="45720" rtlCol="0" anchor="ct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20113960-210B-8C44-ADE8-24754ADD31F9}" type="slidenum">
              <a:rPr lang="en-US" smtClean="0"/>
              <a:pPr>
                <a:defRPr/>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tretch>
            <a:fillRect/>
          </a:stretch>
        </p:blipFill>
        <p:spPr>
          <a:xfrm>
            <a:off x="0" y="4482"/>
            <a:ext cx="9144000" cy="6858000"/>
          </a:xfrm>
          <a:prstGeom prst="rect">
            <a:avLst/>
          </a:prstGeom>
          <a:noFill/>
          <a:ln>
            <a:noFill/>
          </a:ln>
        </p:spPr>
      </p:pic>
      <p:sp>
        <p:nvSpPr>
          <p:cNvPr id="2" name="Title 1"/>
          <p:cNvSpPr>
            <a:spLocks noGrp="1"/>
          </p:cNvSpPr>
          <p:nvPr>
            <p:ph type="title"/>
          </p:nvPr>
        </p:nvSpPr>
        <p:spPr>
          <a:xfrm>
            <a:off x="762000" y="4038600"/>
            <a:ext cx="7620000" cy="990600"/>
          </a:xfrm>
        </p:spPr>
        <p:txBody>
          <a:bodyPr vert="horz" lIns="91440" tIns="45720" rIns="91440" bIns="45720" rtlCol="0" anchor="b" anchorCtr="0">
            <a:normAutofit/>
          </a:bodyPr>
          <a:lstStyle>
            <a:lvl1pPr algn="ctr">
              <a:defRPr sz="3600" kern="1200">
                <a:solidFill>
                  <a:schemeClr val="bg2"/>
                </a:solidFill>
                <a:effectLst>
                  <a:outerShdw blurRad="63500" dir="2700000" algn="tl" rotWithShape="0">
                    <a:schemeClr val="tx1">
                      <a:alpha val="40000"/>
                    </a:schemeClr>
                  </a:outerShdw>
                </a:effectLst>
                <a:latin typeface="+mj-lt"/>
                <a:ea typeface="+mn-ea"/>
                <a:cs typeface="+mn-cs"/>
              </a:defRPr>
            </a:lvl1pPr>
          </a:lstStyle>
          <a:p>
            <a:pPr marL="0" lvl="0" indent="0" algn="l" defTabSz="914400" rtl="0" eaLnBrk="1" latinLnBrk="0" hangingPunct="1">
              <a:spcBef>
                <a:spcPts val="2000"/>
              </a:spcBef>
              <a:buFont typeface="Calisto MT" pitchFamily="18" charset="0"/>
              <a:buNone/>
            </a:pPr>
            <a:r>
              <a:rPr lang="en-US"/>
              <a:t>Click to edit Master title style</a:t>
            </a:r>
            <a:endParaRPr/>
          </a:p>
        </p:txBody>
      </p:sp>
      <p:sp>
        <p:nvSpPr>
          <p:cNvPr id="3" name="Picture Placeholder 2"/>
          <p:cNvSpPr>
            <a:spLocks noGrp="1"/>
          </p:cNvSpPr>
          <p:nvPr>
            <p:ph type="pic" idx="1"/>
          </p:nvPr>
        </p:nvSpPr>
        <p:spPr>
          <a:xfrm>
            <a:off x="342900" y="265176"/>
            <a:ext cx="8458200" cy="3697224"/>
          </a:xfrm>
          <a:solidFill>
            <a:schemeClr val="tx1">
              <a:lumMod val="50000"/>
            </a:schemeClr>
          </a:solidFill>
          <a:effectLst>
            <a:outerShdw blurRad="50800" dir="2700000" algn="tl" rotWithShape="0">
              <a:schemeClr val="tx1">
                <a:alpha val="40000"/>
              </a:schemeClr>
            </a:outerShdw>
          </a:effectLst>
        </p:spPr>
        <p:txBody>
          <a:bodyPr vert="horz" lIns="91440" tIns="45720" rIns="91440" bIns="45720" rtlCol="0">
            <a:normAutofit/>
          </a:bodyPr>
          <a:lstStyle>
            <a:lvl1pPr marL="0" indent="0" algn="ctr" defTabSz="914400" rtl="0" eaLnBrk="1" latinLnBrk="0" hangingPunct="1">
              <a:spcBef>
                <a:spcPts val="2000"/>
              </a:spcBef>
              <a:buFont typeface="Calisto MT" pitchFamily="18" charset="0"/>
              <a:buNone/>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762000" y="5042647"/>
            <a:ext cx="7620000" cy="1129553"/>
          </a:xfrm>
        </p:spPr>
        <p:txBody>
          <a:bodyPr>
            <a:normAutofit/>
          </a:bodyPr>
          <a:lstStyle>
            <a:lvl1pPr marL="0" indent="0" algn="ctr">
              <a:lnSpc>
                <a:spcPct val="110000"/>
              </a:lnSpc>
              <a:spcBef>
                <a:spcPct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39035AE5-5969-D34B-B84F-BCD4664DAD9A}" type="slidenum">
              <a:rPr lang="en-US" smtClean="0"/>
              <a:pPr>
                <a:defRPr/>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3" name="Date Placeholder 2"/>
          <p:cNvSpPr>
            <a:spLocks noGrp="1"/>
          </p:cNvSpPr>
          <p:nvPr>
            <p:ph type="dt" sz="half" idx="10"/>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dirty="0"/>
          </a:p>
        </p:txBody>
      </p:sp>
      <p:sp>
        <p:nvSpPr>
          <p:cNvPr id="4" name="Footer Placeholder 3"/>
          <p:cNvSpPr>
            <a:spLocks noGrp="1"/>
          </p:cNvSpPr>
          <p:nvPr>
            <p:ph type="ftr" sz="quarter" idx="11"/>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dirty="0"/>
          </a:p>
        </p:txBody>
      </p:sp>
      <p:sp>
        <p:nvSpPr>
          <p:cNvPr id="5" name="Slide Number Placeholder 4"/>
          <p:cNvSpPr>
            <a:spLocks noGrp="1"/>
          </p:cNvSpPr>
          <p:nvPr>
            <p:ph type="sldNum" sz="quarter" idx="12"/>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fld id="{39035AE5-5969-D34B-B84F-BCD4664DAD9A}" type="slidenum">
              <a:rPr lang="en-US" smtClean="0"/>
              <a:pPr>
                <a:defRPr/>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8" name="Picture 7"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E885A41B-8327-0E42-B599-5675DCE9B20E}" type="slidenum">
              <a:rPr lang="en-US" smtClean="0"/>
              <a:pPr>
                <a:defRPr/>
              </a:pPr>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Overlay-FullBackground.jpg"/>
          <p:cNvPicPr>
            <a:picLocks noChangeAspect="1"/>
          </p:cNvPicPr>
          <p:nvPr/>
        </p:nvPicPr>
        <p:blipFill>
          <a:blip r:embed="rId2"/>
          <a:srcRect r="14719"/>
          <a:stretch>
            <a:fillRect/>
          </a:stretch>
        </p:blipFill>
        <p:spPr>
          <a:xfrm>
            <a:off x="0" y="4482"/>
            <a:ext cx="7798112" cy="6858000"/>
          </a:xfrm>
          <a:prstGeom prst="rect">
            <a:avLst/>
          </a:prstGeom>
          <a:noFill/>
          <a:ln>
            <a:noFill/>
          </a:ln>
        </p:spPr>
      </p:pic>
      <p:sp>
        <p:nvSpPr>
          <p:cNvPr id="2" name="Vertical Title 1"/>
          <p:cNvSpPr>
            <a:spLocks noGrp="1"/>
          </p:cNvSpPr>
          <p:nvPr>
            <p:ph type="title" orient="vert"/>
          </p:nvPr>
        </p:nvSpPr>
        <p:spPr>
          <a:xfrm>
            <a:off x="7848600" y="457200"/>
            <a:ext cx="1219200" cy="5668963"/>
          </a:xfrm>
        </p:spPr>
        <p:txBody>
          <a:bodyPr vert="eaVert">
            <a:normAutofit/>
          </a:bodyPr>
          <a:lstStyle/>
          <a:p>
            <a:r>
              <a:rPr lang="en-US"/>
              <a:t>Click to edit Master title style</a:t>
            </a:r>
            <a:endParaRPr/>
          </a:p>
        </p:txBody>
      </p:sp>
      <p:sp>
        <p:nvSpPr>
          <p:cNvPr id="3" name="Vertical Text Placeholder 2"/>
          <p:cNvSpPr>
            <a:spLocks noGrp="1"/>
          </p:cNvSpPr>
          <p:nvPr>
            <p:ph type="body" orient="vert" idx="1"/>
          </p:nvPr>
        </p:nvSpPr>
        <p:spPr>
          <a:xfrm>
            <a:off x="779462" y="457200"/>
            <a:ext cx="6383337" cy="5668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7924800" y="6356350"/>
            <a:ext cx="1066800"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CFED9FD7-61BB-7A44-8CC2-6AE4A679CA7C}" type="slidenum">
              <a:rPr lang="en-US" smtClean="0"/>
              <a:pPr>
                <a:defRPr/>
              </a:pPr>
              <a:t>‹#›</a:t>
            </a:fld>
            <a:endParaRPr lang="en-US" dirty="0"/>
          </a:p>
        </p:txBody>
      </p:sp>
      <p:pic>
        <p:nvPicPr>
          <p:cNvPr id="10" name="Picture 9" descr="overlay-ruleShadow.png"/>
          <p:cNvPicPr>
            <a:picLocks noChangeAspect="1"/>
          </p:cNvPicPr>
          <p:nvPr/>
        </p:nvPicPr>
        <p:blipFill>
          <a:blip r:embed="rId3"/>
          <a:srcRect r="25031"/>
          <a:stretch>
            <a:fillRect/>
          </a:stretch>
        </p:blipFill>
        <p:spPr>
          <a:xfrm rot="5400000" flipH="1">
            <a:off x="4421262" y="3365075"/>
            <a:ext cx="6855164" cy="12501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68611"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68614"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5"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6"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7"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8"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9"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0"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1"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68622"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3"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4"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5"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6"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7"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28"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29"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0"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1"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2"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3"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4"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5"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6"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7"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8"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9"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0"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1"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2"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3"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4"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5"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6"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7"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8"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9"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0"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1"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2"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3"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4"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5"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6"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7"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8"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9"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60"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61"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68663"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4"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5"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6"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7"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8"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6867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68674"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68675"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68676"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endParaRPr lang="en-US" dirty="0"/>
          </a:p>
        </p:txBody>
      </p:sp>
      <p:sp>
        <p:nvSpPr>
          <p:cNvPr id="68677"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BAE742E5-0B39-C148-A46B-D9A9B26A77B5}" type="slidenum">
              <a:rPr lang="en-US"/>
              <a:pPr>
                <a:defRPr/>
              </a:pPr>
              <a:t>‹#›</a:t>
            </a:fld>
            <a:endParaRPr lang="en-US" dirty="0"/>
          </a:p>
        </p:txBody>
      </p:sp>
      <p:sp>
        <p:nvSpPr>
          <p:cNvPr id="68678"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1"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1" charset="2"/>
        <a:buChar char="l"/>
        <a:defRPr sz="2800">
          <a:solidFill>
            <a:schemeClr val="tx1"/>
          </a:solidFill>
          <a:effectLst>
            <a:outerShdw blurRad="38100" dist="38100" dir="2700000" algn="tl">
              <a:srgbClr val="000000"/>
            </a:outerShdw>
          </a:effectLst>
          <a:latin typeface="+mn-lt"/>
          <a:ea typeface="ＭＳ Ｐゴシック" pitchFamily="-107"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pitchFamily="-107" charset="-128"/>
        </a:defRPr>
      </a:lvl3pPr>
      <a:lvl4pPr marL="1600200" indent="-228600" algn="l" rtl="0" eaLnBrk="0" fontAlgn="base" hangingPunct="0">
        <a:spcBef>
          <a:spcPct val="20000"/>
        </a:spcBef>
        <a:spcAft>
          <a:spcPct val="0"/>
        </a:spcAft>
        <a:buClr>
          <a:schemeClr val="folHlink"/>
        </a:buClr>
        <a:buSzPct val="50000"/>
        <a:buFont typeface="Wingdings" pitchFamily="-1" charset="2"/>
        <a:buChar char="l"/>
        <a:defRPr sz="2000">
          <a:solidFill>
            <a:schemeClr val="tx1"/>
          </a:solidFill>
          <a:effectLst>
            <a:outerShdw blurRad="38100" dist="38100" dir="2700000" algn="tl">
              <a:srgbClr val="000000"/>
            </a:outerShdw>
          </a:effectLst>
          <a:latin typeface="+mn-lt"/>
          <a:ea typeface="ＭＳ Ｐゴシック" pitchFamily="-107"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latin typeface="Arial" pitchFamily="-1" charset="0"/>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latin typeface="Arial" pitchFamily="-1" charset="0"/>
              </a:defRPr>
            </a:lvl1pPr>
          </a:lstStyle>
          <a:p>
            <a:pPr>
              <a:defRPr/>
            </a:pPr>
            <a:fld id="{FD05123F-ECCC-3744-8046-0E4114F7D95B}"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latin typeface="Arial" pitchFamily="-1" charset="0"/>
              </a:defRPr>
            </a:lvl1pP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Lst>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9463" y="62753"/>
            <a:ext cx="7583488" cy="1283167"/>
          </a:xfrm>
          <a:prstGeom prst="rect">
            <a:avLst/>
          </a:prstGeom>
        </p:spPr>
        <p:txBody>
          <a:bodyPr vert="horz" lIns="91440" tIns="45720" rIns="91440" bIns="45720" rtlCol="0" anchor="ctr">
            <a:noAutofit/>
          </a:bodyPr>
          <a:lstStyle/>
          <a:p>
            <a:r>
              <a:rPr lang="en-US"/>
              <a:t>Click to edit Master title style</a:t>
            </a:r>
            <a:endParaRPr/>
          </a:p>
        </p:txBody>
      </p:sp>
      <p:sp>
        <p:nvSpPr>
          <p:cNvPr id="3" name="Text Placeholder 2"/>
          <p:cNvSpPr>
            <a:spLocks noGrp="1"/>
          </p:cNvSpPr>
          <p:nvPr>
            <p:ph type="body" idx="1"/>
          </p:nvPr>
        </p:nvSpPr>
        <p:spPr>
          <a:xfrm>
            <a:off x="779463" y="1828800"/>
            <a:ext cx="7583488" cy="42973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32494" y="6356350"/>
            <a:ext cx="2133600" cy="365125"/>
          </a:xfrm>
          <a:prstGeom prst="rect">
            <a:avLst/>
          </a:prstGeom>
        </p:spPr>
        <p:txBody>
          <a:bodyPr vert="horz" lIns="91440" tIns="45720" rIns="91440" bIns="45720" rtlCol="0" anchor="ctr"/>
          <a:lstStyle>
            <a:lvl1pPr algn="r">
              <a:defRPr sz="1200">
                <a:solidFill>
                  <a:schemeClr val="bg2"/>
                </a:solidFill>
                <a:effectLst>
                  <a:outerShdw blurRad="63500" dir="2700000" algn="tl" rotWithShape="0">
                    <a:schemeClr val="tx1">
                      <a:alpha val="40000"/>
                    </a:schemeClr>
                  </a:outerShdw>
                </a:effectLst>
              </a:defRPr>
            </a:lvl1pPr>
          </a:lstStyle>
          <a:p>
            <a:pPr>
              <a:defRPr/>
            </a:pPr>
            <a:endParaRPr lang="en-US" dirty="0"/>
          </a:p>
        </p:txBody>
      </p:sp>
      <p:sp>
        <p:nvSpPr>
          <p:cNvPr id="5" name="Footer Placeholder 4"/>
          <p:cNvSpPr>
            <a:spLocks noGrp="1"/>
          </p:cNvSpPr>
          <p:nvPr>
            <p:ph type="ftr" sz="quarter" idx="3"/>
          </p:nvPr>
        </p:nvSpPr>
        <p:spPr>
          <a:xfrm>
            <a:off x="242047" y="6356350"/>
            <a:ext cx="2895600" cy="365125"/>
          </a:xfrm>
          <a:prstGeom prst="rect">
            <a:avLst/>
          </a:prstGeom>
        </p:spPr>
        <p:txBody>
          <a:bodyPr vert="horz" lIns="91440" tIns="45720" rIns="91440" bIns="45720" rtlCol="0" anchor="ctr"/>
          <a:lstStyle>
            <a:lvl1pPr algn="l">
              <a:defRPr sz="1200">
                <a:solidFill>
                  <a:schemeClr val="bg2"/>
                </a:solidFill>
                <a:effectLst>
                  <a:outerShdw blurRad="63500" dir="2700000" algn="tl" rotWithShape="0">
                    <a:schemeClr val="tx1">
                      <a:alpha val="40000"/>
                    </a:schemeClr>
                  </a:outerShdw>
                </a:effectLst>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a:solidFill>
                  <a:schemeClr val="bg2"/>
                </a:solidFill>
                <a:effectLst>
                  <a:outerShdw blurRad="63500" dir="2700000" algn="tl" rotWithShape="0">
                    <a:schemeClr val="tx1">
                      <a:alpha val="40000"/>
                    </a:schemeClr>
                  </a:outerShdw>
                </a:effectLst>
              </a:defRPr>
            </a:lvl1pPr>
          </a:lstStyle>
          <a:p>
            <a:pPr>
              <a:defRPr/>
            </a:pPr>
            <a:fld id="{39035AE5-5969-D34B-B84F-BCD4664DAD9A}" type="slidenum">
              <a:rPr lang="en-US" smtClean="0"/>
              <a:pPr>
                <a:defRPr/>
              </a:pPr>
              <a:t>‹#›</a:t>
            </a:fld>
            <a:endParaRPr lang="en-US" dirty="0"/>
          </a:p>
        </p:txBody>
      </p:sp>
    </p:spTree>
  </p:cSld>
  <p:clrMap bg1="dk1" tx1="lt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txStyles>
    <p:titleStyle>
      <a:lvl1pPr algn="ctr" defTabSz="914400" rtl="0" eaLnBrk="1" latinLnBrk="0" hangingPunct="1">
        <a:spcBef>
          <a:spcPct val="0"/>
        </a:spcBef>
        <a:buNone/>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p:titleStyle>
    <p:bodyStyle>
      <a:lvl1pPr marL="282575" indent="-282575" algn="l" defTabSz="914400" rtl="0" eaLnBrk="1" latinLnBrk="0" hangingPunct="1">
        <a:spcBef>
          <a:spcPts val="2000"/>
        </a:spcBef>
        <a:buFont typeface="Calisto MT" pitchFamily="18" charset="0"/>
        <a:buChar char="•"/>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577850" indent="-295275" algn="l" defTabSz="914400" rtl="0" eaLnBrk="1" latinLnBrk="0" hangingPunct="1">
        <a:spcBef>
          <a:spcPts val="600"/>
        </a:spcBef>
        <a:buClr>
          <a:schemeClr val="bg2">
            <a:lumMod val="60000"/>
            <a:lumOff val="40000"/>
          </a:schemeClr>
        </a:buClr>
        <a:buFont typeface="Calisto MT" pitchFamily="18" charset="0"/>
        <a:buChar char="•"/>
        <a:defRPr sz="2200" kern="1200">
          <a:solidFill>
            <a:schemeClr val="bg2"/>
          </a:solidFill>
          <a:effectLst>
            <a:outerShdw blurRad="63500" dir="2700000" algn="tl" rotWithShape="0">
              <a:schemeClr val="tx1">
                <a:alpha val="40000"/>
              </a:schemeClr>
            </a:outerShdw>
          </a:effectLst>
          <a:latin typeface="+mn-lt"/>
          <a:ea typeface="+mn-ea"/>
          <a:cs typeface="+mn-cs"/>
        </a:defRPr>
      </a:lvl2pPr>
      <a:lvl3pPr marL="860425" indent="-282575" algn="l" defTabSz="914400" rtl="0" eaLnBrk="1" latinLnBrk="0" hangingPunct="1">
        <a:spcBef>
          <a:spcPts val="600"/>
        </a:spcBef>
        <a:buFont typeface="Calisto MT" pitchFamily="18" charset="0"/>
        <a:buChar char="•"/>
        <a:defRPr sz="2000" kern="1200">
          <a:solidFill>
            <a:schemeClr val="bg2"/>
          </a:solidFill>
          <a:effectLst>
            <a:outerShdw blurRad="63500" dir="2700000" algn="tl" rotWithShape="0">
              <a:schemeClr val="tx1">
                <a:alpha val="40000"/>
              </a:schemeClr>
            </a:outerShdw>
          </a:effectLst>
          <a:latin typeface="+mn-lt"/>
          <a:ea typeface="+mn-ea"/>
          <a:cs typeface="+mn-cs"/>
        </a:defRPr>
      </a:lvl3pPr>
      <a:lvl4pPr marL="1143000" indent="-282575" algn="l" defTabSz="914400" rtl="0" eaLnBrk="1" latinLnBrk="0" hangingPunct="1">
        <a:spcBef>
          <a:spcPts val="600"/>
        </a:spcBef>
        <a:buClr>
          <a:schemeClr val="bg2">
            <a:lumMod val="60000"/>
            <a:lumOff val="40000"/>
          </a:schemeClr>
        </a:buClr>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4pPr>
      <a:lvl5pPr marL="1425575" indent="-282575" algn="l" defTabSz="914400" rtl="0" eaLnBrk="1" latinLnBrk="0" hangingPunct="1">
        <a:spcBef>
          <a:spcPts val="600"/>
        </a:spcBef>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df"/><Relationship Id="rId2" Type="http://schemas.openxmlformats.org/officeDocument/2006/relationships/notesSlide" Target="../notesSlides/notesSlide6.xml"/><Relationship Id="rId1" Type="http://schemas.openxmlformats.org/officeDocument/2006/relationships/slideLayout" Target="../slideLayouts/slideLayout3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df"/><Relationship Id="rId2" Type="http://schemas.openxmlformats.org/officeDocument/2006/relationships/notesSlide" Target="../notesSlides/notesSlide12.xml"/><Relationship Id="rId1" Type="http://schemas.openxmlformats.org/officeDocument/2006/relationships/slideLayout" Target="../slideLayouts/slideLayout36.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df"/><Relationship Id="rId2" Type="http://schemas.openxmlformats.org/officeDocument/2006/relationships/notesSlide" Target="../notesSlides/notesSlide13.xml"/><Relationship Id="rId1" Type="http://schemas.openxmlformats.org/officeDocument/2006/relationships/slideLayout" Target="../slideLayouts/slideLayout36.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2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df"/><Relationship Id="rId2" Type="http://schemas.openxmlformats.org/officeDocument/2006/relationships/notesSlide" Target="../notesSlides/notesSlide18.xml"/><Relationship Id="rId1" Type="http://schemas.openxmlformats.org/officeDocument/2006/relationships/slideLayout" Target="../slideLayouts/slideLayout36.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7.pdf"/><Relationship Id="rId2" Type="http://schemas.openxmlformats.org/officeDocument/2006/relationships/notesSlide" Target="../notesSlides/notesSlide19.xml"/><Relationship Id="rId1" Type="http://schemas.openxmlformats.org/officeDocument/2006/relationships/slideLayout" Target="../slideLayouts/slideLayout36.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9.pdf"/><Relationship Id="rId2" Type="http://schemas.openxmlformats.org/officeDocument/2006/relationships/notesSlide" Target="../notesSlides/notesSlide20.xml"/><Relationship Id="rId1" Type="http://schemas.openxmlformats.org/officeDocument/2006/relationships/slideLayout" Target="../slideLayouts/slideLayout36.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31.pdf"/><Relationship Id="rId2" Type="http://schemas.openxmlformats.org/officeDocument/2006/relationships/notesSlide" Target="../notesSlides/notesSlide21.xml"/><Relationship Id="rId1" Type="http://schemas.openxmlformats.org/officeDocument/2006/relationships/slideLayout" Target="../slideLayouts/slideLayout36.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2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3.pdf"/><Relationship Id="rId2" Type="http://schemas.openxmlformats.org/officeDocument/2006/relationships/notesSlide" Target="../notesSlides/notesSlide23.xml"/><Relationship Id="rId1" Type="http://schemas.openxmlformats.org/officeDocument/2006/relationships/slideLayout" Target="../slideLayouts/slideLayout36.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35.pdf"/><Relationship Id="rId2" Type="http://schemas.openxmlformats.org/officeDocument/2006/relationships/notesSlide" Target="../notesSlides/notesSlide24.xml"/><Relationship Id="rId1" Type="http://schemas.openxmlformats.org/officeDocument/2006/relationships/slideLayout" Target="../slideLayouts/slideLayout36.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6.xml"/><Relationship Id="rId1" Type="http://schemas.openxmlformats.org/officeDocument/2006/relationships/slideLayout" Target="../slideLayouts/slideLayout2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7.xml"/><Relationship Id="rId1" Type="http://schemas.openxmlformats.org/officeDocument/2006/relationships/slideLayout" Target="../slideLayouts/slideLayout2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0.xml"/><Relationship Id="rId1" Type="http://schemas.openxmlformats.org/officeDocument/2006/relationships/slideLayout" Target="../slideLayouts/slideLayout2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37.pdf"/><Relationship Id="rId2" Type="http://schemas.openxmlformats.org/officeDocument/2006/relationships/notesSlide" Target="../notesSlides/notesSlide32.xml"/><Relationship Id="rId1" Type="http://schemas.openxmlformats.org/officeDocument/2006/relationships/slideLayout" Target="../slideLayouts/slideLayout36.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3.xml"/><Relationship Id="rId1" Type="http://schemas.openxmlformats.org/officeDocument/2006/relationships/slideLayout" Target="../slideLayouts/slideLayout2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3" Type="http://schemas.openxmlformats.org/officeDocument/2006/relationships/image" Target="../media/image39.pdf"/><Relationship Id="rId2" Type="http://schemas.openxmlformats.org/officeDocument/2006/relationships/notesSlide" Target="../notesSlides/notesSlide35.xml"/><Relationship Id="rId1" Type="http://schemas.openxmlformats.org/officeDocument/2006/relationships/slideLayout" Target="../slideLayouts/slideLayout36.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36.xml"/><Relationship Id="rId1" Type="http://schemas.openxmlformats.org/officeDocument/2006/relationships/slideLayout" Target="../slideLayouts/slideLayout29.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41.pdf"/><Relationship Id="rId2" Type="http://schemas.openxmlformats.org/officeDocument/2006/relationships/notesSlide" Target="../notesSlides/notesSlide37.xml"/><Relationship Id="rId1" Type="http://schemas.openxmlformats.org/officeDocument/2006/relationships/slideLayout" Target="../slideLayouts/slideLayout36.xml"/><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openxmlformats.org/officeDocument/2006/relationships/image" Target="../media/image43.pdf"/><Relationship Id="rId2" Type="http://schemas.openxmlformats.org/officeDocument/2006/relationships/notesSlide" Target="../notesSlides/notesSlide38.xml"/><Relationship Id="rId1" Type="http://schemas.openxmlformats.org/officeDocument/2006/relationships/slideLayout" Target="../slideLayouts/slideLayout36.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304800" y="762000"/>
            <a:ext cx="3959352" cy="1691640"/>
          </a:xfrm>
        </p:spPr>
        <p:txBody>
          <a:bodyPr/>
          <a:lstStyle/>
          <a:p>
            <a:r>
              <a:rPr lang="en-US" dirty="0"/>
              <a:t>Network Security Essentials</a:t>
            </a:r>
            <a:endParaRPr lang="en-AU" dirty="0"/>
          </a:p>
        </p:txBody>
      </p:sp>
      <p:pic>
        <p:nvPicPr>
          <p:cNvPr id="25" name="Picture Placeholder 24" descr="NetSec5e.jpg"/>
          <p:cNvPicPr>
            <a:picLocks noGrp="1" noChangeAspect="1"/>
          </p:cNvPicPr>
          <p:nvPr>
            <p:ph type="pic" idx="1"/>
          </p:nvPr>
        </p:nvPicPr>
        <p:blipFill>
          <a:blip r:embed="rId3"/>
          <a:srcRect t="-1333" b="-2444"/>
          <a:stretch>
            <a:fillRect/>
          </a:stretch>
        </p:blipFill>
        <p:spPr>
          <a:xfrm>
            <a:off x="4864608" y="778931"/>
            <a:ext cx="3959352" cy="5357516"/>
          </a:xfrm>
        </p:spPr>
      </p:pic>
      <p:sp>
        <p:nvSpPr>
          <p:cNvPr id="2051" name="Rectangle 3"/>
          <p:cNvSpPr>
            <a:spLocks noGrp="1" noChangeArrowheads="1"/>
          </p:cNvSpPr>
          <p:nvPr>
            <p:ph type="body" sz="half" idx="2"/>
          </p:nvPr>
        </p:nvSpPr>
        <p:spPr>
          <a:xfrm>
            <a:off x="304800" y="2362200"/>
            <a:ext cx="3959352" cy="3200400"/>
          </a:xfrm>
        </p:spPr>
        <p:txBody>
          <a:bodyPr>
            <a:normAutofit/>
          </a:bodyPr>
          <a:lstStyle/>
          <a:p>
            <a:endParaRPr lang="en-US" dirty="0"/>
          </a:p>
          <a:p>
            <a:endParaRPr lang="en-US" dirty="0"/>
          </a:p>
          <a:p>
            <a:endParaRPr lang="en-US" dirty="0"/>
          </a:p>
          <a:p>
            <a:r>
              <a:rPr lang="en-US" dirty="0"/>
              <a:t>Fifth Edition</a:t>
            </a:r>
          </a:p>
          <a:p>
            <a:r>
              <a:rPr lang="en-US" dirty="0"/>
              <a:t>by William Stallings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p:txBody>
          <a:bodyPr/>
          <a:lstStyle/>
          <a:p>
            <a:pPr eaLnBrk="1" hangingPunct="1">
              <a:defRPr/>
            </a:pPr>
            <a:r>
              <a:rPr lang="en-US" dirty="0"/>
              <a:t>Chapter 8</a:t>
            </a:r>
          </a:p>
        </p:txBody>
      </p:sp>
      <p:sp>
        <p:nvSpPr>
          <p:cNvPr id="19459" name="Subtitle 13"/>
          <p:cNvSpPr>
            <a:spLocks noGrp="1"/>
          </p:cNvSpPr>
          <p:nvPr>
            <p:ph type="subTitle" idx="1"/>
          </p:nvPr>
        </p:nvSpPr>
        <p:spPr/>
        <p:txBody>
          <a:bodyPr>
            <a:normAutofit/>
          </a:bodyPr>
          <a:lstStyle/>
          <a:p>
            <a:r>
              <a:rPr lang="en-US" sz="3600" dirty="0">
                <a:solidFill>
                  <a:schemeClr val="tx2">
                    <a:lumMod val="10000"/>
                  </a:schemeClr>
                </a:solidFill>
                <a:ea typeface="ＭＳ Ｐゴシック" pitchFamily="-84" charset="-128"/>
                <a:cs typeface="ＭＳ Ｐゴシック" pitchFamily="-84" charset="-128"/>
              </a:rPr>
              <a:t>Electronic Mail Security</a:t>
            </a:r>
            <a:endParaRPr lang="en-AU" sz="3600" dirty="0">
              <a:solidFill>
                <a:schemeClr val="tx2">
                  <a:lumMod val="10000"/>
                </a:schemeClr>
              </a:solidFill>
              <a:ea typeface="ＭＳ Ｐゴシック" pitchFamily="-84" charset="-128"/>
              <a:cs typeface="ＭＳ Ｐゴシック" pitchFamily="-8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304800" y="1828800"/>
            <a:ext cx="8382000" cy="4724400"/>
          </a:xfrm>
        </p:spPr>
        <p:txBody>
          <a:bodyPr>
            <a:normAutofit/>
          </a:bodyPr>
          <a:lstStyle/>
          <a:p>
            <a:pPr eaLnBrk="1" hangingPunct="1">
              <a:lnSpc>
                <a:spcPct val="95000"/>
              </a:lnSpc>
              <a:spcBef>
                <a:spcPts val="600"/>
              </a:spcBef>
              <a:buFont typeface="Wingdings" pitchFamily="-107" charset="2"/>
              <a:buNone/>
              <a:defRPr/>
            </a:pPr>
            <a:r>
              <a:rPr lang="en-AU" i="1" dirty="0">
                <a:solidFill>
                  <a:schemeClr val="tx2">
                    <a:lumMod val="10000"/>
                  </a:schemeClr>
                </a:solidFill>
                <a:ea typeface="ＭＳ Ｐゴシック" pitchFamily="-107" charset="-128"/>
                <a:cs typeface="ＭＳ Ｐゴシック" pitchFamily="-107" charset="-128"/>
              </a:rPr>
              <a:t>	“Despite the refusal of VADM Poindexter and LtCol North to appear, the Board's access to other sources of information filled much of this gap. The FBI provided documents taken from the files of the National Security Advisor and relevant NSC staff members, including messages from the PROF system between VADM Poindexter and LtCol North. The PROF messages were conversations by computer, written at the time events occurred and presumed by the writers to be protected from disclosure. In this sense, they provide a first-hand, contemporaneous account of events.”</a:t>
            </a:r>
          </a:p>
          <a:p>
            <a:pPr algn="r" eaLnBrk="1" hangingPunct="1">
              <a:lnSpc>
                <a:spcPct val="80000"/>
              </a:lnSpc>
              <a:buFont typeface="Wingdings" pitchFamily="-107" charset="2"/>
              <a:buNone/>
              <a:defRPr/>
            </a:pPr>
            <a:endParaRPr lang="en-AU" sz="2400" b="1" i="1" dirty="0">
              <a:solidFill>
                <a:schemeClr val="tx2">
                  <a:lumMod val="10000"/>
                </a:schemeClr>
              </a:solidFill>
              <a:ea typeface="+mn-ea"/>
              <a:cs typeface="+mn-cs"/>
            </a:endParaRPr>
          </a:p>
          <a:p>
            <a:pPr algn="r" eaLnBrk="1" hangingPunct="1">
              <a:lnSpc>
                <a:spcPct val="80000"/>
              </a:lnSpc>
              <a:buFont typeface="Wingdings" pitchFamily="-107" charset="2"/>
              <a:buNone/>
              <a:defRPr/>
            </a:pPr>
            <a:r>
              <a:rPr lang="en-AU" sz="2800" b="1" dirty="0">
                <a:solidFill>
                  <a:schemeClr val="tx2">
                    <a:lumMod val="10000"/>
                  </a:schemeClr>
                </a:solidFill>
                <a:ea typeface="+mn-ea"/>
                <a:cs typeface="+mn-cs"/>
              </a:rPr>
              <a:t>	—The Tower Commission Report to President Reagan on the Iran-Contra Affair, 1987</a:t>
            </a:r>
          </a:p>
          <a:p>
            <a:pPr eaLnBrk="1" hangingPunct="1">
              <a:lnSpc>
                <a:spcPct val="80000"/>
              </a:lnSpc>
              <a:buFont typeface="Wingdings" pitchFamily="-107" charset="2"/>
              <a:buNone/>
              <a:defRPr/>
            </a:pPr>
            <a:endParaRPr lang="en-AU" sz="2400" dirty="0">
              <a:ea typeface="+mn-ea"/>
              <a:cs typeface="+mn-cs"/>
            </a:endParaRPr>
          </a:p>
          <a:p>
            <a:pPr eaLnBrk="1" hangingPunct="1">
              <a:lnSpc>
                <a:spcPct val="80000"/>
              </a:lnSpc>
              <a:buFont typeface="Wingdings" pitchFamily="-107" charset="2"/>
              <a:buChar char="Ø"/>
              <a:defRPr/>
            </a:pPr>
            <a:endParaRPr lang="en-AU" sz="2400" dirty="0">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AU" dirty="0"/>
              <a:t>Pretty Good Privacy (PGP)</a:t>
            </a:r>
          </a:p>
        </p:txBody>
      </p:sp>
      <p:sp>
        <p:nvSpPr>
          <p:cNvPr id="7" name="Content Placeholder 6"/>
          <p:cNvSpPr>
            <a:spLocks noGrp="1"/>
          </p:cNvSpPr>
          <p:nvPr>
            <p:ph idx="1"/>
          </p:nvPr>
        </p:nvSpPr>
        <p:spPr>
          <a:xfrm>
            <a:off x="779463" y="1828800"/>
            <a:ext cx="7583488" cy="4800600"/>
          </a:xfrm>
        </p:spPr>
        <p:txBody>
          <a:bodyPr>
            <a:normAutofit fontScale="92500"/>
          </a:bodyPr>
          <a:lstStyle/>
          <a:p>
            <a:r>
              <a:rPr lang="en-US" sz="2378" dirty="0">
                <a:solidFill>
                  <a:schemeClr val="tx2">
                    <a:lumMod val="10000"/>
                  </a:schemeClr>
                </a:solidFill>
              </a:rPr>
              <a:t>Provides a </a:t>
            </a:r>
            <a:r>
              <a:rPr lang="en-US" sz="2378" dirty="0">
                <a:solidFill>
                  <a:srgbClr val="FFFF00"/>
                </a:solidFill>
              </a:rPr>
              <a:t>confidentiality</a:t>
            </a:r>
            <a:r>
              <a:rPr lang="en-US" sz="2378" dirty="0">
                <a:solidFill>
                  <a:schemeClr val="tx2">
                    <a:lumMod val="10000"/>
                  </a:schemeClr>
                </a:solidFill>
              </a:rPr>
              <a:t> and </a:t>
            </a:r>
            <a:r>
              <a:rPr lang="en-US" sz="2378" dirty="0">
                <a:solidFill>
                  <a:srgbClr val="FFFF00"/>
                </a:solidFill>
              </a:rPr>
              <a:t>authentication</a:t>
            </a:r>
            <a:r>
              <a:rPr lang="en-US" sz="2378" dirty="0">
                <a:solidFill>
                  <a:schemeClr val="tx2">
                    <a:lumMod val="10000"/>
                  </a:schemeClr>
                </a:solidFill>
              </a:rPr>
              <a:t> service that can be used for electronic mail and file storage applications</a:t>
            </a:r>
          </a:p>
          <a:p>
            <a:r>
              <a:rPr lang="en-US" dirty="0">
                <a:solidFill>
                  <a:schemeClr val="tx2">
                    <a:lumMod val="10000"/>
                  </a:schemeClr>
                </a:solidFill>
              </a:rPr>
              <a:t>Developed by Phil Zimmermann</a:t>
            </a:r>
          </a:p>
          <a:p>
            <a:pPr lvl="1">
              <a:buClr>
                <a:schemeClr val="bg1"/>
              </a:buClr>
            </a:pPr>
            <a:r>
              <a:rPr lang="en-US" dirty="0">
                <a:solidFill>
                  <a:schemeClr val="tx2">
                    <a:lumMod val="10000"/>
                  </a:schemeClr>
                </a:solidFill>
              </a:rPr>
              <a:t>Selected the best available cryptographic algorithms as building blocks</a:t>
            </a:r>
          </a:p>
          <a:p>
            <a:pPr lvl="1">
              <a:buClr>
                <a:schemeClr val="bg1"/>
              </a:buClr>
            </a:pPr>
            <a:r>
              <a:rPr lang="en-US" dirty="0">
                <a:solidFill>
                  <a:schemeClr val="tx2">
                    <a:lumMod val="10000"/>
                  </a:schemeClr>
                </a:solidFill>
              </a:rPr>
              <a:t>Integrated these algorithms into a general-purpose application that is independent of operating system and processor and that is based on a small set of easy-to-use commands</a:t>
            </a:r>
          </a:p>
          <a:p>
            <a:pPr lvl="1">
              <a:buClr>
                <a:schemeClr val="bg1"/>
              </a:buClr>
            </a:pPr>
            <a:r>
              <a:rPr lang="en-US" dirty="0">
                <a:solidFill>
                  <a:schemeClr val="tx2">
                    <a:lumMod val="10000"/>
                  </a:schemeClr>
                </a:solidFill>
              </a:rPr>
              <a:t>Made the package and its documentation, including the source code, freely available via the Internet, bulletin boards, and commercial networks</a:t>
            </a:r>
          </a:p>
          <a:p>
            <a:pPr lvl="1">
              <a:buClr>
                <a:schemeClr val="bg1"/>
              </a:buClr>
            </a:pPr>
            <a:r>
              <a:rPr lang="en-US" dirty="0">
                <a:solidFill>
                  <a:schemeClr val="tx2">
                    <a:lumMod val="10000"/>
                  </a:schemeClr>
                </a:solidFill>
              </a:rPr>
              <a:t>Entered into an agreement with a company to provide a fully compatible, low-cost commercial version of PGP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PGP Growth</a:t>
            </a:r>
          </a:p>
        </p:txBody>
      </p:sp>
      <p:graphicFrame>
        <p:nvGraphicFramePr>
          <p:cNvPr id="4" name="Content Placeholder 3"/>
          <p:cNvGraphicFramePr>
            <a:graphicFrameLocks noGrp="1"/>
          </p:cNvGraphicFramePr>
          <p:nvPr>
            <p:ph idx="1"/>
          </p:nvPr>
        </p:nvGraphicFramePr>
        <p:xfrm>
          <a:off x="779463" y="1828800"/>
          <a:ext cx="7583487" cy="4297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r="1506" b="4768"/>
              <a:stretch>
                <a:fillRect/>
              </a:stretch>
            </p:blipFill>
          </mc:Choice>
          <mc:Fallback>
            <p:blipFill>
              <a:blip r:embed="rId4"/>
              <a:srcRect r="1506" b="4768"/>
              <a:stretch>
                <a:fillRect/>
              </a:stretch>
            </p:blipFill>
          </mc:Fallback>
        </mc:AlternateContent>
        <p:spPr>
          <a:xfrm>
            <a:off x="381000" y="1466930"/>
            <a:ext cx="8404358" cy="5134008"/>
          </a:xfrm>
          <a:prstGeom prst="rect">
            <a:avLst/>
          </a:prstGeom>
          <a:solidFill>
            <a:schemeClr val="tx1"/>
          </a:solidFill>
        </p:spPr>
      </p:pic>
      <p:sp>
        <p:nvSpPr>
          <p:cNvPr id="9" name="TextBox 8"/>
          <p:cNvSpPr txBox="1"/>
          <p:nvPr/>
        </p:nvSpPr>
        <p:spPr>
          <a:xfrm>
            <a:off x="0" y="0"/>
            <a:ext cx="9144000" cy="1477328"/>
          </a:xfrm>
          <a:prstGeom prst="rect">
            <a:avLst/>
          </a:prstGeom>
          <a:noFill/>
        </p:spPr>
        <p:txBody>
          <a:bodyPr wrap="square" rtlCol="0">
            <a:spAutoFit/>
          </a:bodyPr>
          <a:lstStyle/>
          <a:p>
            <a:pPr algn="ctr"/>
            <a:r>
              <a:rPr lang="en-US" sz="3600" dirty="0">
                <a:latin typeface="+mn-lt"/>
              </a:rPr>
              <a:t>Table 8.1</a:t>
            </a:r>
            <a:endParaRPr lang="en-US" sz="1600" dirty="0">
              <a:latin typeface="+mn-lt"/>
            </a:endParaRPr>
          </a:p>
          <a:p>
            <a:pPr algn="ctr">
              <a:lnSpc>
                <a:spcPct val="0"/>
              </a:lnSpc>
            </a:pPr>
            <a:endParaRPr lang="en-US" sz="3600" dirty="0">
              <a:latin typeface="+mn-lt"/>
            </a:endParaRPr>
          </a:p>
          <a:p>
            <a:pPr algn="ctr">
              <a:lnSpc>
                <a:spcPct val="0"/>
              </a:lnSpc>
            </a:pPr>
            <a:r>
              <a:rPr lang="en-US" sz="3600" dirty="0">
                <a:latin typeface="+mn-lt"/>
              </a:rPr>
              <a:t>  </a:t>
            </a:r>
          </a:p>
          <a:p>
            <a:pPr algn="ctr"/>
            <a:r>
              <a:rPr lang="en-US" sz="3600" dirty="0">
                <a:latin typeface="+mn-lt"/>
              </a:rPr>
              <a:t>Summary of PGP Services</a:t>
            </a:r>
          </a:p>
          <a:p>
            <a:endParaRPr lang="en-US" dirty="0">
              <a:latin typeface="+mn-lt"/>
            </a:endParaRPr>
          </a:p>
        </p:txBody>
      </p:sp>
    </p:spTree>
  </p:cSld>
  <p:clrMapOvr>
    <a:masterClrMapping/>
  </p:clrMapOvr>
  <p:transition>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PGP Authentication </a:t>
            </a:r>
          </a:p>
        </p:txBody>
      </p:sp>
      <p:sp>
        <p:nvSpPr>
          <p:cNvPr id="5" name="Content Placeholder 4"/>
          <p:cNvSpPr>
            <a:spLocks noGrp="1"/>
          </p:cNvSpPr>
          <p:nvPr>
            <p:ph idx="1"/>
          </p:nvPr>
        </p:nvSpPr>
        <p:spPr>
          <a:xfrm>
            <a:off x="779463" y="1828800"/>
            <a:ext cx="7583488" cy="4800600"/>
          </a:xfrm>
        </p:spPr>
        <p:txBody>
          <a:bodyPr>
            <a:normAutofit lnSpcReduction="10000"/>
          </a:bodyPr>
          <a:lstStyle/>
          <a:p>
            <a:r>
              <a:rPr lang="en-US" dirty="0">
                <a:solidFill>
                  <a:schemeClr val="tx2">
                    <a:lumMod val="10000"/>
                  </a:schemeClr>
                </a:solidFill>
              </a:rPr>
              <a:t>Combination of SHA-1 and RSA provides an effective digital signature scheme</a:t>
            </a:r>
          </a:p>
          <a:p>
            <a:pPr lvl="1">
              <a:buClr>
                <a:schemeClr val="bg1"/>
              </a:buClr>
            </a:pPr>
            <a:r>
              <a:rPr lang="en-US" dirty="0">
                <a:solidFill>
                  <a:schemeClr val="tx2">
                    <a:lumMod val="10000"/>
                  </a:schemeClr>
                </a:solidFill>
              </a:rPr>
              <a:t>Because of the strength of RSA the recipient is assured that only the possessor of the matching private key can generate the signature</a:t>
            </a:r>
          </a:p>
          <a:p>
            <a:pPr lvl="1">
              <a:buClr>
                <a:schemeClr val="bg1"/>
              </a:buClr>
            </a:pPr>
            <a:r>
              <a:rPr lang="en-US" dirty="0">
                <a:solidFill>
                  <a:schemeClr val="tx2">
                    <a:lumMod val="10000"/>
                  </a:schemeClr>
                </a:solidFill>
              </a:rPr>
              <a:t>Because of the strength of SHA-1 the recipient is assured that no one else could generate a new message that matches the hash code</a:t>
            </a:r>
          </a:p>
          <a:p>
            <a:pPr lvl="1">
              <a:buClr>
                <a:schemeClr val="bg1"/>
              </a:buClr>
            </a:pPr>
            <a:r>
              <a:rPr lang="en-US" dirty="0">
                <a:solidFill>
                  <a:schemeClr val="tx2">
                    <a:lumMod val="10000"/>
                  </a:schemeClr>
                </a:solidFill>
              </a:rPr>
              <a:t>As an alternative, signatures can be generated using  DSS/SHA-1</a:t>
            </a:r>
          </a:p>
          <a:p>
            <a:pPr lvl="1">
              <a:buClr>
                <a:schemeClr val="bg1"/>
              </a:buClr>
            </a:pPr>
            <a:r>
              <a:rPr lang="en-US" dirty="0">
                <a:solidFill>
                  <a:srgbClr val="FFFF00"/>
                </a:solidFill>
              </a:rPr>
              <a:t>Detached</a:t>
            </a:r>
            <a:r>
              <a:rPr lang="en-US" dirty="0">
                <a:solidFill>
                  <a:schemeClr val="tx2">
                    <a:lumMod val="10000"/>
                  </a:schemeClr>
                </a:solidFill>
              </a:rPr>
              <a:t> signatures are supported</a:t>
            </a:r>
          </a:p>
          <a:p>
            <a:pPr lvl="1">
              <a:buClr>
                <a:schemeClr val="bg1"/>
              </a:buClr>
            </a:pPr>
            <a:r>
              <a:rPr lang="en-US" dirty="0">
                <a:solidFill>
                  <a:schemeClr val="tx2">
                    <a:lumMod val="10000"/>
                  </a:schemeClr>
                </a:solidFill>
              </a:rPr>
              <a:t>Each person’s signature is independent                              and therefore applied only to the document</a:t>
            </a:r>
          </a:p>
          <a:p>
            <a:pPr lvl="1"/>
            <a:endParaRPr lang="en-US" dirty="0"/>
          </a:p>
        </p:txBody>
      </p:sp>
      <p:pic>
        <p:nvPicPr>
          <p:cNvPr id="6" name="Picture 5"/>
          <p:cNvPicPr>
            <a:picLocks noChangeAspect="1"/>
          </p:cNvPicPr>
          <p:nvPr/>
        </p:nvPicPr>
        <p:blipFill>
          <a:blip r:embed="rId3"/>
          <a:stretch>
            <a:fillRect/>
          </a:stretch>
        </p:blipFill>
        <p:spPr>
          <a:xfrm>
            <a:off x="6400800" y="4813300"/>
            <a:ext cx="2603500" cy="2044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PGP Confidentiality</a:t>
            </a:r>
          </a:p>
        </p:txBody>
      </p:sp>
      <p:sp>
        <p:nvSpPr>
          <p:cNvPr id="3" name="Content Placeholder 2"/>
          <p:cNvSpPr>
            <a:spLocks noGrp="1"/>
          </p:cNvSpPr>
          <p:nvPr>
            <p:ph idx="1"/>
          </p:nvPr>
        </p:nvSpPr>
        <p:spPr>
          <a:xfrm>
            <a:off x="457200" y="1676400"/>
            <a:ext cx="8229600" cy="4876800"/>
          </a:xfrm>
        </p:spPr>
        <p:txBody>
          <a:bodyPr>
            <a:normAutofit fontScale="92500"/>
          </a:bodyPr>
          <a:lstStyle/>
          <a:p>
            <a:r>
              <a:rPr lang="en-US" sz="2000" dirty="0">
                <a:solidFill>
                  <a:schemeClr val="tx2">
                    <a:lumMod val="10000"/>
                  </a:schemeClr>
                </a:solidFill>
              </a:rPr>
              <a:t>Provided by encrypting messages to be transmitted or to be stored locally as files</a:t>
            </a:r>
          </a:p>
          <a:p>
            <a:pPr lvl="1">
              <a:buClr>
                <a:schemeClr val="bg1"/>
              </a:buClr>
            </a:pPr>
            <a:r>
              <a:rPr lang="en-US" sz="1800" dirty="0">
                <a:solidFill>
                  <a:schemeClr val="tx2">
                    <a:lumMod val="10000"/>
                  </a:schemeClr>
                </a:solidFill>
              </a:rPr>
              <a:t>In both cases the symmetric encryption algorithm CAST-128 may be used</a:t>
            </a:r>
          </a:p>
          <a:p>
            <a:pPr lvl="1">
              <a:buClr>
                <a:schemeClr val="bg1"/>
              </a:buClr>
            </a:pPr>
            <a:r>
              <a:rPr lang="en-US" sz="1800" dirty="0">
                <a:solidFill>
                  <a:schemeClr val="tx2">
                    <a:lumMod val="10000"/>
                  </a:schemeClr>
                </a:solidFill>
              </a:rPr>
              <a:t>Alternatively IDEA or 3DES may be used</a:t>
            </a:r>
          </a:p>
          <a:p>
            <a:pPr lvl="1">
              <a:buClr>
                <a:schemeClr val="bg1"/>
              </a:buClr>
            </a:pPr>
            <a:r>
              <a:rPr lang="en-US" sz="1800" dirty="0">
                <a:solidFill>
                  <a:schemeClr val="tx2">
                    <a:lumMod val="10000"/>
                  </a:schemeClr>
                </a:solidFill>
              </a:rPr>
              <a:t>The 64-bit cipher feedback (CFB) mode is used</a:t>
            </a:r>
          </a:p>
          <a:p>
            <a:pPr marL="282575" lvl="1" indent="-282575">
              <a:spcBef>
                <a:spcPts val="2000"/>
              </a:spcBef>
              <a:buClrTx/>
            </a:pPr>
            <a:endParaRPr lang="en-US" sz="2400" dirty="0">
              <a:solidFill>
                <a:schemeClr val="tx2">
                  <a:lumMod val="10000"/>
                </a:schemeClr>
              </a:solidFill>
            </a:endParaRPr>
          </a:p>
          <a:p>
            <a:pPr marL="282575" lvl="1" indent="-282575">
              <a:spcBef>
                <a:spcPts val="2000"/>
              </a:spcBef>
              <a:buClrTx/>
            </a:pPr>
            <a:endParaRPr lang="en-US" sz="2400" dirty="0">
              <a:solidFill>
                <a:schemeClr val="tx2">
                  <a:lumMod val="10000"/>
                </a:schemeClr>
              </a:solidFill>
            </a:endParaRPr>
          </a:p>
          <a:p>
            <a:pPr marL="282575" lvl="1" indent="-282575">
              <a:spcBef>
                <a:spcPts val="2000"/>
              </a:spcBef>
              <a:buClrTx/>
            </a:pPr>
            <a:endParaRPr lang="en-US" sz="2400" dirty="0">
              <a:solidFill>
                <a:schemeClr val="tx2">
                  <a:lumMod val="10000"/>
                </a:schemeClr>
              </a:solidFill>
            </a:endParaRPr>
          </a:p>
          <a:p>
            <a:pPr marL="282575" lvl="1" indent="-282575">
              <a:spcBef>
                <a:spcPts val="2000"/>
              </a:spcBef>
              <a:buClrTx/>
              <a:buNone/>
            </a:pPr>
            <a:endParaRPr lang="en-US" sz="2400" dirty="0">
              <a:solidFill>
                <a:schemeClr val="tx2">
                  <a:lumMod val="10000"/>
                </a:schemeClr>
              </a:solidFill>
            </a:endParaRPr>
          </a:p>
          <a:p>
            <a:pPr marL="282575" lvl="1" indent="-282575">
              <a:spcBef>
                <a:spcPts val="2000"/>
              </a:spcBef>
              <a:buClrTx/>
            </a:pPr>
            <a:r>
              <a:rPr lang="en-US" sz="2054" dirty="0">
                <a:solidFill>
                  <a:schemeClr val="tx2">
                    <a:lumMod val="10000"/>
                  </a:schemeClr>
                </a:solidFill>
              </a:rPr>
              <a:t>As an alternative to the use of RSA for key encryption, PGP uses ElGamal, a variant of Diffie-Hellman that provides encryption/decryption</a:t>
            </a:r>
          </a:p>
        </p:txBody>
      </p:sp>
      <p:graphicFrame>
        <p:nvGraphicFramePr>
          <p:cNvPr id="4" name="Diagram 3"/>
          <p:cNvGraphicFramePr/>
          <p:nvPr>
            <p:extLst>
              <p:ext uri="{D42A27DB-BD31-4B8C-83A1-F6EECF244321}">
                <p14:modId xmlns:p14="http://schemas.microsoft.com/office/powerpoint/2010/main" val="2633748070"/>
              </p:ext>
            </p:extLst>
          </p:nvPr>
        </p:nvGraphicFramePr>
        <p:xfrm>
          <a:off x="1143000" y="3581400"/>
          <a:ext cx="6553200" cy="210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PGP Confidentiality and Authentication</a:t>
            </a:r>
          </a:p>
        </p:txBody>
      </p:sp>
      <p:sp>
        <p:nvSpPr>
          <p:cNvPr id="3" name="Content Placeholder 2"/>
          <p:cNvSpPr>
            <a:spLocks noGrp="1"/>
          </p:cNvSpPr>
          <p:nvPr>
            <p:ph idx="1"/>
          </p:nvPr>
        </p:nvSpPr>
        <p:spPr>
          <a:xfrm>
            <a:off x="457200" y="1600200"/>
            <a:ext cx="8001000" cy="4525963"/>
          </a:xfrm>
        </p:spPr>
        <p:txBody>
          <a:bodyPr/>
          <a:lstStyle/>
          <a:p>
            <a:r>
              <a:rPr lang="en-US" dirty="0">
                <a:solidFill>
                  <a:schemeClr val="tx2">
                    <a:lumMod val="10000"/>
                  </a:schemeClr>
                </a:solidFill>
              </a:rPr>
              <a:t>Both services may be used for the same message</a:t>
            </a:r>
          </a:p>
          <a:p>
            <a:pPr lvl="1"/>
            <a:r>
              <a:rPr lang="en-US" dirty="0">
                <a:solidFill>
                  <a:schemeClr val="tx2">
                    <a:lumMod val="10000"/>
                  </a:schemeClr>
                </a:solidFill>
              </a:rPr>
              <a:t>First a signature is generated for the plaintext message and prepended to the message</a:t>
            </a:r>
          </a:p>
          <a:p>
            <a:pPr lvl="1"/>
            <a:r>
              <a:rPr lang="en-US" dirty="0">
                <a:solidFill>
                  <a:schemeClr val="tx2">
                    <a:lumMod val="10000"/>
                  </a:schemeClr>
                </a:solidFill>
              </a:rPr>
              <a:t>Then the plaintext message plus signature is encrypted using CAST-128 (or IDEA or 3DES) and the session key is encrypted using RSA (or ElGamal)</a:t>
            </a:r>
          </a:p>
          <a:p>
            <a:r>
              <a:rPr lang="en-US" dirty="0">
                <a:solidFill>
                  <a:schemeClr val="tx2">
                    <a:lumMod val="10000"/>
                  </a:schemeClr>
                </a:solidFill>
              </a:rPr>
              <a:t>When both services are used:</a:t>
            </a:r>
          </a:p>
        </p:txBody>
      </p:sp>
      <p:graphicFrame>
        <p:nvGraphicFramePr>
          <p:cNvPr id="4" name="Diagram 3"/>
          <p:cNvGraphicFramePr/>
          <p:nvPr/>
        </p:nvGraphicFramePr>
        <p:xfrm>
          <a:off x="2514600" y="3784600"/>
          <a:ext cx="6096000" cy="307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dirty="0"/>
              <a:t>PGP Compression</a:t>
            </a:r>
            <a:endParaRPr lang="en-AU" dirty="0"/>
          </a:p>
        </p:txBody>
      </p:sp>
      <p:sp>
        <p:nvSpPr>
          <p:cNvPr id="54275" name="Rectangle 3"/>
          <p:cNvSpPr>
            <a:spLocks noGrp="1" noChangeArrowheads="1"/>
          </p:cNvSpPr>
          <p:nvPr>
            <p:ph idx="1"/>
          </p:nvPr>
        </p:nvSpPr>
        <p:spPr>
          <a:xfrm>
            <a:off x="779463" y="1828800"/>
            <a:ext cx="7583488" cy="4800600"/>
          </a:xfrm>
        </p:spPr>
        <p:txBody>
          <a:bodyPr/>
          <a:lstStyle/>
          <a:p>
            <a:r>
              <a:rPr lang="en-US" dirty="0">
                <a:solidFill>
                  <a:schemeClr val="tx2">
                    <a:lumMod val="10000"/>
                  </a:schemeClr>
                </a:solidFill>
              </a:rPr>
              <a:t>As a default, PGP compresses the message </a:t>
            </a:r>
            <a:r>
              <a:rPr lang="en-US" dirty="0">
                <a:solidFill>
                  <a:srgbClr val="FFFF00"/>
                </a:solidFill>
              </a:rPr>
              <a:t>after applying the signature</a:t>
            </a:r>
            <a:r>
              <a:rPr lang="en-US" dirty="0">
                <a:solidFill>
                  <a:schemeClr val="tx2">
                    <a:lumMod val="10000"/>
                  </a:schemeClr>
                </a:solidFill>
              </a:rPr>
              <a:t> but </a:t>
            </a:r>
            <a:r>
              <a:rPr lang="en-US" dirty="0">
                <a:solidFill>
                  <a:srgbClr val="FFFF00"/>
                </a:solidFill>
              </a:rPr>
              <a:t>before encryption</a:t>
            </a:r>
          </a:p>
          <a:p>
            <a:pPr lvl="1">
              <a:buClr>
                <a:schemeClr val="bg1"/>
              </a:buClr>
            </a:pPr>
            <a:r>
              <a:rPr lang="en-US" dirty="0">
                <a:solidFill>
                  <a:schemeClr val="tx2">
                    <a:lumMod val="10000"/>
                  </a:schemeClr>
                </a:solidFill>
              </a:rPr>
              <a:t>This has the benefit of saving space both for e-mail transmission and for file storage</a:t>
            </a:r>
          </a:p>
          <a:p>
            <a:pPr lvl="1">
              <a:buClr>
                <a:schemeClr val="bg1"/>
              </a:buClr>
            </a:pPr>
            <a:r>
              <a:rPr lang="en-US" dirty="0">
                <a:solidFill>
                  <a:schemeClr val="tx2">
                    <a:lumMod val="10000"/>
                  </a:schemeClr>
                </a:solidFill>
              </a:rPr>
              <a:t>The placement of the compression algorithm is critical</a:t>
            </a:r>
          </a:p>
          <a:p>
            <a:pPr lvl="2"/>
            <a:r>
              <a:rPr lang="en-US" dirty="0">
                <a:solidFill>
                  <a:schemeClr val="tx2">
                    <a:lumMod val="10000"/>
                  </a:schemeClr>
                </a:solidFill>
              </a:rPr>
              <a:t>Applying the hash function and signature after compression would constrain all PGP implementations to the same version of the compression algorithm</a:t>
            </a:r>
          </a:p>
          <a:p>
            <a:pPr lvl="2"/>
            <a:r>
              <a:rPr lang="en-US" dirty="0">
                <a:solidFill>
                  <a:schemeClr val="tx2">
                    <a:lumMod val="10000"/>
                  </a:schemeClr>
                </a:solidFill>
              </a:rPr>
              <a:t>Message encryption is applied after compression to strengthen cryptographic security</a:t>
            </a:r>
          </a:p>
          <a:p>
            <a:pPr lvl="1">
              <a:buClr>
                <a:schemeClr val="bg1"/>
              </a:buClr>
            </a:pPr>
            <a:r>
              <a:rPr lang="en-US" dirty="0">
                <a:solidFill>
                  <a:schemeClr val="tx2">
                    <a:lumMod val="10000"/>
                  </a:schemeClr>
                </a:solidFill>
              </a:rPr>
              <a:t>The compression algorithm used is ZIP</a:t>
            </a:r>
            <a:endParaRPr lang="en-AU" dirty="0">
              <a:solidFill>
                <a:schemeClr val="tx2">
                  <a:lumMod val="10000"/>
                </a:schemeClr>
              </a:solidFill>
            </a:endParaRPr>
          </a:p>
        </p:txBody>
      </p:sp>
      <p:pic>
        <p:nvPicPr>
          <p:cNvPr id="5" name="Picture 4"/>
          <p:cNvPicPr>
            <a:picLocks noChangeAspect="1"/>
          </p:cNvPicPr>
          <p:nvPr/>
        </p:nvPicPr>
        <p:blipFill>
          <a:blip r:embed="rId3"/>
          <a:stretch>
            <a:fillRect/>
          </a:stretch>
        </p:blipFill>
        <p:spPr>
          <a:xfrm>
            <a:off x="7239000" y="5257800"/>
            <a:ext cx="1479550" cy="14694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0" y="62753"/>
            <a:ext cx="9144000" cy="1283167"/>
          </a:xfrm>
        </p:spPr>
        <p:txBody>
          <a:bodyPr/>
          <a:lstStyle/>
          <a:p>
            <a:r>
              <a:rPr lang="en-US" dirty="0"/>
              <a:t>PGP E-mail Compatibility</a:t>
            </a:r>
            <a:endParaRPr lang="en-AU" dirty="0"/>
          </a:p>
        </p:txBody>
      </p:sp>
      <p:sp>
        <p:nvSpPr>
          <p:cNvPr id="55299" name="Rectangle 3"/>
          <p:cNvSpPr>
            <a:spLocks noGrp="1" noChangeArrowheads="1"/>
          </p:cNvSpPr>
          <p:nvPr>
            <p:ph idx="1"/>
          </p:nvPr>
        </p:nvSpPr>
        <p:spPr>
          <a:xfrm>
            <a:off x="779463" y="1828800"/>
            <a:ext cx="7583488" cy="5029200"/>
          </a:xfrm>
        </p:spPr>
        <p:txBody>
          <a:bodyPr/>
          <a:lstStyle/>
          <a:p>
            <a:r>
              <a:rPr lang="en-US" dirty="0">
                <a:solidFill>
                  <a:schemeClr val="tx2">
                    <a:lumMod val="10000"/>
                  </a:schemeClr>
                </a:solidFill>
              </a:rPr>
              <a:t>Many electronic mail systems only permit the use of blocks consisting of ASCII text</a:t>
            </a:r>
          </a:p>
          <a:p>
            <a:pPr lvl="1">
              <a:buClr>
                <a:schemeClr val="bg1"/>
              </a:buClr>
            </a:pPr>
            <a:r>
              <a:rPr lang="en-US" dirty="0">
                <a:solidFill>
                  <a:schemeClr val="tx2">
                    <a:lumMod val="10000"/>
                  </a:schemeClr>
                </a:solidFill>
              </a:rPr>
              <a:t>To accommodate this restriction, PGP provides the service of converting the raw 8-bit binary stream to a stream of printable ASCII characters</a:t>
            </a:r>
          </a:p>
          <a:p>
            <a:pPr lvl="1">
              <a:buClr>
                <a:schemeClr val="bg1"/>
              </a:buClr>
            </a:pPr>
            <a:r>
              <a:rPr lang="en-US" dirty="0">
                <a:solidFill>
                  <a:schemeClr val="tx2">
                    <a:lumMod val="10000"/>
                  </a:schemeClr>
                </a:solidFill>
              </a:rPr>
              <a:t>The scheme used for this purpose is radix-64 conversion</a:t>
            </a:r>
          </a:p>
          <a:p>
            <a:pPr lvl="2"/>
            <a:r>
              <a:rPr lang="en-US" dirty="0">
                <a:solidFill>
                  <a:schemeClr val="tx2">
                    <a:lumMod val="10000"/>
                  </a:schemeClr>
                </a:solidFill>
              </a:rPr>
              <a:t>Each group of three octets of binary data is mapped into four ASCII characters</a:t>
            </a:r>
          </a:p>
          <a:p>
            <a:pPr lvl="2"/>
            <a:r>
              <a:rPr lang="en-US" dirty="0">
                <a:solidFill>
                  <a:schemeClr val="tx2">
                    <a:lumMod val="10000"/>
                  </a:schemeClr>
                </a:solidFill>
              </a:rPr>
              <a:t>This format also appends a CRC to detect           transmission errors</a:t>
            </a:r>
          </a:p>
          <a:p>
            <a:pPr lvl="2"/>
            <a:endParaRPr lang="en-AU" dirty="0"/>
          </a:p>
        </p:txBody>
      </p:sp>
      <p:pic>
        <p:nvPicPr>
          <p:cNvPr id="4" name="Picture 3"/>
          <p:cNvPicPr>
            <a:picLocks noChangeAspect="1"/>
          </p:cNvPicPr>
          <p:nvPr/>
        </p:nvPicPr>
        <p:blipFill>
          <a:blip r:embed="rId3"/>
          <a:stretch>
            <a:fillRect/>
          </a:stretch>
        </p:blipFill>
        <p:spPr>
          <a:xfrm>
            <a:off x="6781800" y="4617137"/>
            <a:ext cx="2057400" cy="22408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3636" t="3529" r="2727" b="4706"/>
              <a:stretch>
                <a:fillRect/>
              </a:stretch>
            </p:blipFill>
          </mc:Choice>
          <mc:Fallback>
            <p:blipFill>
              <a:blip r:embed="rId4"/>
              <a:srcRect l="3636" t="3529" r="2727" b="4706"/>
              <a:stretch>
                <a:fillRect/>
              </a:stretch>
            </p:blipFill>
          </mc:Fallback>
        </mc:AlternateContent>
        <p:spPr>
          <a:xfrm>
            <a:off x="457319" y="242073"/>
            <a:ext cx="8310146" cy="6293148"/>
          </a:xfrm>
          <a:prstGeom prst="rect">
            <a:avLst/>
          </a:prstGeom>
          <a:solidFill>
            <a:schemeClr val="tx1"/>
          </a:solidFill>
        </p:spPr>
      </p:pic>
    </p:spTree>
  </p:cSld>
  <p:clrMapOvr>
    <a:masterClrMapping/>
  </p:clrMapOvr>
  <p:transition spd="med">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2727" t="4706" r="3636" b="5882"/>
              <a:stretch>
                <a:fillRect/>
              </a:stretch>
            </p:blipFill>
          </mc:Choice>
          <mc:Fallback>
            <p:blipFill>
              <a:blip r:embed="rId4"/>
              <a:srcRect l="2727" t="4706" r="3636" b="5882"/>
              <a:stretch>
                <a:fillRect/>
              </a:stretch>
            </p:blipFill>
          </mc:Fallback>
        </mc:AlternateContent>
        <p:spPr>
          <a:xfrm>
            <a:off x="376671" y="322782"/>
            <a:ext cx="8310034" cy="6131764"/>
          </a:xfrm>
          <a:prstGeom prst="rect">
            <a:avLst/>
          </a:prstGeom>
          <a:solidFill>
            <a:schemeClr val="tx1"/>
          </a:solidFill>
        </p:spPr>
      </p:pic>
    </p:spTree>
  </p:cSld>
  <p:clrMapOvr>
    <a:masterClrMapping/>
  </p:clrMapOvr>
  <p:transition spd="med">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2753"/>
            <a:ext cx="9144000" cy="1283167"/>
          </a:xfrm>
        </p:spPr>
        <p:txBody>
          <a:bodyPr/>
          <a:lstStyle/>
          <a:p>
            <a:r>
              <a:rPr lang="en-US" sz="4000" dirty="0"/>
              <a:t>Secure/Multipurpose Internet Mail Extension (S/MIME)</a:t>
            </a:r>
          </a:p>
        </p:txBody>
      </p:sp>
      <p:sp>
        <p:nvSpPr>
          <p:cNvPr id="3" name="Content Placeholder 2"/>
          <p:cNvSpPr>
            <a:spLocks noGrp="1"/>
          </p:cNvSpPr>
          <p:nvPr>
            <p:ph idx="1"/>
          </p:nvPr>
        </p:nvSpPr>
        <p:spPr/>
        <p:txBody>
          <a:bodyPr/>
          <a:lstStyle/>
          <a:p>
            <a:r>
              <a:rPr lang="en-US" dirty="0">
                <a:solidFill>
                  <a:schemeClr val="tx2">
                    <a:lumMod val="10000"/>
                  </a:schemeClr>
                </a:solidFill>
              </a:rPr>
              <a:t>A security enhancement to the MIME Internet e-mail format standard based on technology from RSA Data Security</a:t>
            </a:r>
          </a:p>
          <a:p>
            <a:r>
              <a:rPr lang="en-US" dirty="0">
                <a:solidFill>
                  <a:schemeClr val="tx2">
                    <a:lumMod val="10000"/>
                  </a:schemeClr>
                </a:solidFill>
              </a:rPr>
              <a:t>Defined in:</a:t>
            </a:r>
          </a:p>
          <a:p>
            <a:pPr lvl="1">
              <a:buClr>
                <a:schemeClr val="bg1"/>
              </a:buClr>
            </a:pPr>
            <a:r>
              <a:rPr lang="en-US" dirty="0">
                <a:solidFill>
                  <a:schemeClr val="tx2">
                    <a:lumMod val="10000"/>
                  </a:schemeClr>
                </a:solidFill>
              </a:rPr>
              <a:t>RFCs 3370, 3850, 3851, 3852</a:t>
            </a:r>
          </a:p>
        </p:txBody>
      </p:sp>
      <p:pic>
        <p:nvPicPr>
          <p:cNvPr id="5" name="Picture 4"/>
          <p:cNvPicPr>
            <a:picLocks noChangeAspect="1"/>
          </p:cNvPicPr>
          <p:nvPr/>
        </p:nvPicPr>
        <p:blipFill>
          <a:blip r:embed="rId3"/>
          <a:stretch>
            <a:fillRect/>
          </a:stretch>
        </p:blipFill>
        <p:spPr>
          <a:xfrm>
            <a:off x="6172200" y="3895436"/>
            <a:ext cx="2649583" cy="2810164"/>
          </a:xfrm>
          <a:prstGeom prst="rect">
            <a:avLst/>
          </a:prstGeom>
          <a:scene3d>
            <a:camera prst="orthographicFront">
              <a:rot lat="0" lon="11399999" rev="0"/>
            </a:camera>
            <a:lightRig rig="threePt" dir="t"/>
          </a:scene3d>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RFC 5322</a:t>
            </a:r>
          </a:p>
        </p:txBody>
      </p:sp>
      <p:sp>
        <p:nvSpPr>
          <p:cNvPr id="3" name="Content Placeholder 2"/>
          <p:cNvSpPr>
            <a:spLocks noGrp="1"/>
          </p:cNvSpPr>
          <p:nvPr>
            <p:ph idx="1"/>
          </p:nvPr>
        </p:nvSpPr>
        <p:spPr>
          <a:xfrm>
            <a:off x="779463" y="1828800"/>
            <a:ext cx="7583488" cy="4648200"/>
          </a:xfrm>
        </p:spPr>
        <p:txBody>
          <a:bodyPr>
            <a:normAutofit lnSpcReduction="10000"/>
          </a:bodyPr>
          <a:lstStyle/>
          <a:p>
            <a:r>
              <a:rPr lang="en-US" dirty="0">
                <a:solidFill>
                  <a:schemeClr val="tx2">
                    <a:lumMod val="10000"/>
                  </a:schemeClr>
                </a:solidFill>
              </a:rPr>
              <a:t>Defines a format for text messages that are sent using electronic mail</a:t>
            </a:r>
          </a:p>
          <a:p>
            <a:r>
              <a:rPr lang="en-US" dirty="0">
                <a:solidFill>
                  <a:schemeClr val="tx2">
                    <a:lumMod val="10000"/>
                  </a:schemeClr>
                </a:solidFill>
              </a:rPr>
              <a:t>Messages are viewed as having an envelope and contents</a:t>
            </a:r>
          </a:p>
          <a:p>
            <a:pPr lvl="1">
              <a:buClr>
                <a:schemeClr val="bg1"/>
              </a:buClr>
            </a:pPr>
            <a:r>
              <a:rPr lang="en-US" dirty="0">
                <a:solidFill>
                  <a:schemeClr val="tx2">
                    <a:lumMod val="10000"/>
                  </a:schemeClr>
                </a:solidFill>
              </a:rPr>
              <a:t>The envelope contains whatever information is needed to accomplish transmission and delivery</a:t>
            </a:r>
          </a:p>
          <a:p>
            <a:pPr lvl="1">
              <a:buClr>
                <a:schemeClr val="bg1"/>
              </a:buClr>
            </a:pPr>
            <a:r>
              <a:rPr lang="en-US" dirty="0">
                <a:solidFill>
                  <a:schemeClr val="tx2">
                    <a:lumMod val="10000"/>
                  </a:schemeClr>
                </a:solidFill>
              </a:rPr>
              <a:t>The contents compose the object to be delivered to the recipient</a:t>
            </a:r>
          </a:p>
          <a:p>
            <a:pPr lvl="1">
              <a:buClr>
                <a:schemeClr val="bg1"/>
              </a:buClr>
            </a:pPr>
            <a:r>
              <a:rPr lang="en-US" dirty="0">
                <a:solidFill>
                  <a:schemeClr val="tx2">
                    <a:lumMod val="10000"/>
                  </a:schemeClr>
                </a:solidFill>
              </a:rPr>
              <a:t>RFC 5322 standard applies only to the contents</a:t>
            </a:r>
          </a:p>
          <a:p>
            <a:r>
              <a:rPr lang="en-US" dirty="0">
                <a:solidFill>
                  <a:schemeClr val="tx2">
                    <a:lumMod val="10000"/>
                  </a:schemeClr>
                </a:solidFill>
              </a:rPr>
              <a:t>The content standard includes a set of header fields that may be used by the mail system to create the envelope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2753"/>
            <a:ext cx="9144000" cy="1283167"/>
          </a:xfrm>
        </p:spPr>
        <p:txBody>
          <a:bodyPr/>
          <a:lstStyle/>
          <a:p>
            <a:r>
              <a:rPr lang="en-US" dirty="0"/>
              <a:t>Multipurpose Internet Mail Extensions (MIME)</a:t>
            </a:r>
          </a:p>
        </p:txBody>
      </p:sp>
      <p:sp>
        <p:nvSpPr>
          <p:cNvPr id="3" name="Content Placeholder 2"/>
          <p:cNvSpPr>
            <a:spLocks noGrp="1"/>
          </p:cNvSpPr>
          <p:nvPr>
            <p:ph sz="half" idx="1"/>
          </p:nvPr>
        </p:nvSpPr>
        <p:spPr>
          <a:xfrm>
            <a:off x="228600" y="1752600"/>
            <a:ext cx="3566160" cy="4800600"/>
          </a:xfrm>
        </p:spPr>
        <p:txBody>
          <a:bodyPr>
            <a:normAutofit fontScale="47500" lnSpcReduction="20000"/>
          </a:bodyPr>
          <a:lstStyle/>
          <a:p>
            <a:r>
              <a:rPr lang="en-US" sz="4632" dirty="0">
                <a:solidFill>
                  <a:schemeClr val="tx2">
                    <a:lumMod val="10000"/>
                  </a:schemeClr>
                </a:solidFill>
              </a:rPr>
              <a:t>An extension to the RFC 5322 framework that is intended to address some of the problems and limitations of the use of Simple Mail Transfer Protocol (SMTP)</a:t>
            </a:r>
          </a:p>
          <a:p>
            <a:pPr lvl="1">
              <a:buClr>
                <a:schemeClr val="bg1"/>
              </a:buClr>
            </a:pPr>
            <a:r>
              <a:rPr lang="en-US" sz="4632" dirty="0">
                <a:solidFill>
                  <a:schemeClr val="tx2">
                    <a:lumMod val="10000"/>
                  </a:schemeClr>
                </a:solidFill>
              </a:rPr>
              <a:t>Is intended to resolve these problems in a manner that is compatible with existing RFC 5322 implementations</a:t>
            </a:r>
          </a:p>
          <a:p>
            <a:pPr lvl="1">
              <a:buClr>
                <a:schemeClr val="bg1"/>
              </a:buClr>
            </a:pPr>
            <a:r>
              <a:rPr lang="en-US" sz="4632" dirty="0">
                <a:solidFill>
                  <a:schemeClr val="tx2">
                    <a:lumMod val="10000"/>
                  </a:schemeClr>
                </a:solidFill>
              </a:rPr>
              <a:t>The specification is provided in RFCs 2045 through 2049</a:t>
            </a:r>
          </a:p>
          <a:p>
            <a:endParaRPr lang="en-US" dirty="0"/>
          </a:p>
        </p:txBody>
      </p:sp>
      <p:sp>
        <p:nvSpPr>
          <p:cNvPr id="4" name="Content Placeholder 3"/>
          <p:cNvSpPr>
            <a:spLocks noGrp="1"/>
          </p:cNvSpPr>
          <p:nvPr>
            <p:ph sz="half" idx="2"/>
          </p:nvPr>
        </p:nvSpPr>
        <p:spPr>
          <a:xfrm>
            <a:off x="4191000" y="1676400"/>
            <a:ext cx="4800599" cy="4449763"/>
          </a:xfrm>
        </p:spPr>
        <p:txBody>
          <a:bodyPr>
            <a:normAutofit fontScale="47500" lnSpcReduction="20000"/>
          </a:bodyPr>
          <a:lstStyle/>
          <a:p>
            <a:pPr>
              <a:buNone/>
            </a:pPr>
            <a:r>
              <a:rPr lang="en-US" sz="3520" b="1" dirty="0">
                <a:solidFill>
                  <a:schemeClr val="tx2">
                    <a:lumMod val="10000"/>
                  </a:schemeClr>
                </a:solidFill>
              </a:rPr>
              <a:t>    MIME specification includes the following elements:</a:t>
            </a:r>
          </a:p>
          <a:p>
            <a:endParaRPr lang="en-US" dirty="0"/>
          </a:p>
        </p:txBody>
      </p:sp>
      <p:graphicFrame>
        <p:nvGraphicFramePr>
          <p:cNvPr id="5" name="Diagram 4"/>
          <p:cNvGraphicFramePr/>
          <p:nvPr/>
        </p:nvGraphicFramePr>
        <p:xfrm>
          <a:off x="3810000" y="2286000"/>
          <a:ext cx="5486400" cy="419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Five Header Fields Defined in MIME </a:t>
            </a:r>
          </a:p>
        </p:txBody>
      </p:sp>
      <p:graphicFrame>
        <p:nvGraphicFramePr>
          <p:cNvPr id="4" name="Content Placeholder 3"/>
          <p:cNvGraphicFramePr>
            <a:graphicFrameLocks noGrp="1"/>
          </p:cNvGraphicFramePr>
          <p:nvPr>
            <p:ph idx="1"/>
          </p:nvPr>
        </p:nvGraphicFramePr>
        <p:xfrm>
          <a:off x="228601" y="1676400"/>
          <a:ext cx="85344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506" b="1593"/>
              <a:stretch>
                <a:fillRect/>
              </a:stretch>
            </p:blipFill>
          </mc:Choice>
          <mc:Fallback>
            <p:blipFill>
              <a:blip r:embed="rId4"/>
              <a:srcRect l="-1506" b="1593"/>
              <a:stretch>
                <a:fillRect/>
              </a:stretch>
            </p:blipFill>
          </mc:Fallback>
        </mc:AlternateContent>
        <p:spPr>
          <a:xfrm>
            <a:off x="0" y="0"/>
            <a:ext cx="7350515" cy="6858000"/>
          </a:xfrm>
          <a:prstGeom prst="rect">
            <a:avLst/>
          </a:prstGeom>
          <a:solidFill>
            <a:schemeClr val="tx1"/>
          </a:solidFill>
        </p:spPr>
      </p:pic>
      <p:sp>
        <p:nvSpPr>
          <p:cNvPr id="5" name="Rectangle 4"/>
          <p:cNvSpPr/>
          <p:nvPr/>
        </p:nvSpPr>
        <p:spPr>
          <a:xfrm>
            <a:off x="7162800" y="1219200"/>
            <a:ext cx="1981200" cy="2677656"/>
          </a:xfrm>
          <a:prstGeom prst="rect">
            <a:avLst/>
          </a:prstGeom>
        </p:spPr>
        <p:txBody>
          <a:bodyPr wrap="square">
            <a:spAutoFit/>
          </a:bodyPr>
          <a:lstStyle/>
          <a:p>
            <a:pPr algn="ctr"/>
            <a:r>
              <a:rPr lang="en-US" sz="2800" dirty="0">
                <a:latin typeface="+mn-lt"/>
              </a:rPr>
              <a:t>Table 8.2  </a:t>
            </a:r>
          </a:p>
          <a:p>
            <a:pPr algn="ctr"/>
            <a:endParaRPr lang="en-US" sz="2800" dirty="0">
              <a:latin typeface="+mn-lt"/>
            </a:endParaRPr>
          </a:p>
          <a:p>
            <a:pPr algn="ctr"/>
            <a:endParaRPr lang="en-US" sz="2800" dirty="0">
              <a:latin typeface="+mn-lt"/>
            </a:endParaRPr>
          </a:p>
          <a:p>
            <a:pPr algn="ctr"/>
            <a:r>
              <a:rPr lang="en-US" sz="2800" dirty="0">
                <a:latin typeface="+mn-lt"/>
              </a:rPr>
              <a:t>MIME Content Types </a:t>
            </a:r>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28600" y="2057400"/>
            <a:ext cx="8763000" cy="4656489"/>
          </a:xfrm>
          <a:prstGeom prst="rect">
            <a:avLst/>
          </a:prstGeom>
        </p:spPr>
      </p:pic>
      <p:sp>
        <p:nvSpPr>
          <p:cNvPr id="3" name="Rectangle 2"/>
          <p:cNvSpPr/>
          <p:nvPr/>
        </p:nvSpPr>
        <p:spPr>
          <a:xfrm>
            <a:off x="0" y="152400"/>
            <a:ext cx="9144000" cy="1569660"/>
          </a:xfrm>
          <a:prstGeom prst="rect">
            <a:avLst/>
          </a:prstGeom>
        </p:spPr>
        <p:txBody>
          <a:bodyPr wrap="square">
            <a:spAutoFit/>
          </a:bodyPr>
          <a:lstStyle/>
          <a:p>
            <a:pPr algn="ctr"/>
            <a:r>
              <a:rPr lang="en-US" sz="4800" dirty="0">
                <a:latin typeface="+mn-lt"/>
              </a:rPr>
              <a:t>Table 8.3  </a:t>
            </a:r>
          </a:p>
          <a:p>
            <a:pPr algn="ctr"/>
            <a:r>
              <a:rPr lang="en-US" sz="4800" dirty="0">
                <a:latin typeface="+mn-lt"/>
              </a:rPr>
              <a:t>MIME Transfer Encodings </a:t>
            </a:r>
          </a:p>
        </p:txBody>
      </p:sp>
    </p:spTree>
  </p:cSld>
  <p:clrMapOvr>
    <a:masterClrMapping/>
  </p:clrMapOvr>
  <p:transition spd="med">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5882" t="5455" r="7059" b="23636"/>
              <a:stretch>
                <a:fillRect/>
              </a:stretch>
            </p:blipFill>
          </mc:Choice>
          <mc:Fallback>
            <p:blipFill>
              <a:blip r:embed="rId4"/>
              <a:srcRect l="5882" t="5455" r="7059" b="23636"/>
              <a:stretch>
                <a:fillRect/>
              </a:stretch>
            </p:blipFill>
          </mc:Fallback>
        </mc:AlternateContent>
        <p:spPr>
          <a:xfrm>
            <a:off x="1264090" y="161432"/>
            <a:ext cx="6302059" cy="6293048"/>
          </a:xfrm>
          <a:prstGeom prst="rect">
            <a:avLst/>
          </a:prstGeom>
          <a:solidFill>
            <a:schemeClr val="tx1"/>
          </a:solidFill>
        </p:spPr>
      </p:pic>
      <p:sp>
        <p:nvSpPr>
          <p:cNvPr id="3" name="Rectangle 2"/>
          <p:cNvSpPr/>
          <p:nvPr/>
        </p:nvSpPr>
        <p:spPr>
          <a:xfrm>
            <a:off x="838200" y="6553200"/>
            <a:ext cx="6858000" cy="304800"/>
          </a:xfrm>
          <a:prstGeom prst="rect">
            <a:avLst/>
          </a:prstGeom>
        </p:spPr>
        <p:txBody>
          <a:bodyPr wrap="square">
            <a:spAutoFit/>
          </a:bodyPr>
          <a:lstStyle/>
          <a:p>
            <a:pPr algn="ctr"/>
            <a:r>
              <a:rPr lang="en-US" sz="1400" dirty="0"/>
              <a:t>Figure 8.3 Example MIME Message Structure</a:t>
            </a:r>
          </a:p>
        </p:txBody>
      </p:sp>
    </p:spTree>
  </p:cSld>
  <p:clrMapOvr>
    <a:masterClrMapping/>
  </p:clrMapOvr>
  <p:transition spd="med">
    <p:pull dir="l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52400" y="1854306"/>
            <a:ext cx="8991600" cy="5156093"/>
          </a:xfrm>
          <a:prstGeom prst="rect">
            <a:avLst/>
          </a:prstGeom>
        </p:spPr>
      </p:pic>
      <p:sp>
        <p:nvSpPr>
          <p:cNvPr id="3" name="Rectangle 2"/>
          <p:cNvSpPr/>
          <p:nvPr/>
        </p:nvSpPr>
        <p:spPr>
          <a:xfrm>
            <a:off x="0" y="152400"/>
            <a:ext cx="9144000" cy="1569660"/>
          </a:xfrm>
          <a:prstGeom prst="rect">
            <a:avLst/>
          </a:prstGeom>
        </p:spPr>
        <p:txBody>
          <a:bodyPr wrap="square">
            <a:spAutoFit/>
          </a:bodyPr>
          <a:lstStyle/>
          <a:p>
            <a:pPr algn="ctr"/>
            <a:r>
              <a:rPr lang="en-US" sz="4800" dirty="0">
                <a:latin typeface="+mn-lt"/>
              </a:rPr>
              <a:t>Table 8.4   </a:t>
            </a:r>
          </a:p>
          <a:p>
            <a:pPr algn="ctr"/>
            <a:r>
              <a:rPr lang="en-US" sz="4800" dirty="0">
                <a:latin typeface="+mn-lt"/>
              </a:rPr>
              <a:t>Native and Canonical Form </a:t>
            </a:r>
          </a:p>
        </p:txBody>
      </p:sp>
    </p:spTree>
  </p:cSld>
  <p:clrMapOvr>
    <a:masterClrMapping/>
  </p:clrMapOvr>
  <p:transition>
    <p:dissolv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dirty="0"/>
              <a:t>S/MIME Functionality</a:t>
            </a:r>
            <a:endParaRPr lang="en-AU" dirty="0"/>
          </a:p>
        </p:txBody>
      </p:sp>
      <p:graphicFrame>
        <p:nvGraphicFramePr>
          <p:cNvPr id="8" name="Content Placeholder 7"/>
          <p:cNvGraphicFramePr>
            <a:graphicFrameLocks noGrp="1"/>
          </p:cNvGraphicFramePr>
          <p:nvPr>
            <p:ph idx="1"/>
          </p:nvPr>
        </p:nvGraphicFramePr>
        <p:xfrm>
          <a:off x="228601" y="1752600"/>
          <a:ext cx="86106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543800" y="609600"/>
            <a:ext cx="1600200" cy="3816430"/>
          </a:xfrm>
          <a:prstGeom prst="rect">
            <a:avLst/>
          </a:prstGeom>
        </p:spPr>
        <p:txBody>
          <a:bodyPr wrap="square">
            <a:spAutoFit/>
          </a:bodyPr>
          <a:lstStyle/>
          <a:p>
            <a:pPr algn="ctr"/>
            <a:r>
              <a:rPr lang="en-US" sz="4000" dirty="0">
                <a:latin typeface="+mn-lt"/>
              </a:rPr>
              <a:t>Table 8.5  </a:t>
            </a:r>
          </a:p>
          <a:p>
            <a:pPr algn="ctr"/>
            <a:endParaRPr lang="en-US" dirty="0">
              <a:latin typeface="+mn-lt"/>
            </a:endParaRPr>
          </a:p>
          <a:p>
            <a:pPr algn="ctr"/>
            <a:endParaRPr lang="en-US" dirty="0">
              <a:latin typeface="+mn-lt"/>
            </a:endParaRPr>
          </a:p>
          <a:p>
            <a:pPr algn="ctr"/>
            <a:r>
              <a:rPr lang="en-US" sz="1700" b="1" dirty="0">
                <a:latin typeface="+mn-lt"/>
              </a:rPr>
              <a:t>Cryptographic</a:t>
            </a:r>
          </a:p>
          <a:p>
            <a:pPr algn="ctr"/>
            <a:endParaRPr lang="en-US" sz="1700" b="1" dirty="0">
              <a:latin typeface="+mn-lt"/>
            </a:endParaRPr>
          </a:p>
          <a:p>
            <a:pPr algn="ctr"/>
            <a:r>
              <a:rPr lang="en-US" sz="1700" b="1" dirty="0">
                <a:latin typeface="+mn-lt"/>
              </a:rPr>
              <a:t>Algorithms </a:t>
            </a:r>
          </a:p>
          <a:p>
            <a:pPr algn="ctr"/>
            <a:endParaRPr lang="en-US" sz="1700" b="1" dirty="0">
              <a:latin typeface="+mn-lt"/>
            </a:endParaRPr>
          </a:p>
          <a:p>
            <a:pPr algn="ctr"/>
            <a:r>
              <a:rPr lang="en-US" sz="1700" b="1" dirty="0">
                <a:latin typeface="+mn-lt"/>
              </a:rPr>
              <a:t>Used in </a:t>
            </a:r>
          </a:p>
          <a:p>
            <a:pPr algn="ctr"/>
            <a:endParaRPr lang="en-US" sz="1700" b="1" dirty="0">
              <a:latin typeface="+mn-lt"/>
            </a:endParaRPr>
          </a:p>
          <a:p>
            <a:pPr algn="ctr"/>
            <a:r>
              <a:rPr lang="en-US" sz="1700" b="1" dirty="0">
                <a:latin typeface="+mn-lt"/>
              </a:rPr>
              <a:t>S/MIME </a:t>
            </a:r>
          </a:p>
        </p:txBody>
      </p:sp>
      <p:pic>
        <p:nvPicPr>
          <p:cNvPr id="6" name="Picture 5"/>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b="1651"/>
              <a:stretch>
                <a:fillRect/>
              </a:stretch>
            </p:blipFill>
          </mc:Choice>
          <mc:Fallback>
            <p:blipFill>
              <a:blip r:embed="rId4"/>
              <a:srcRect b="1651"/>
              <a:stretch>
                <a:fillRect/>
              </a:stretch>
            </p:blipFill>
          </mc:Fallback>
        </mc:AlternateContent>
        <p:spPr>
          <a:xfrm>
            <a:off x="0" y="1"/>
            <a:ext cx="7502904" cy="6858000"/>
          </a:xfrm>
          <a:prstGeom prst="rect">
            <a:avLst/>
          </a:prstGeom>
          <a:solidFill>
            <a:schemeClr val="tx1"/>
          </a:solidFill>
        </p:spPr>
      </p:pic>
    </p:spTree>
  </p:cSld>
  <p:clrMapOvr>
    <a:masterClrMapping/>
  </p:clrMapOvr>
  <p:transition spd="med">
    <p:pull dir="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506"/>
              <a:stretch>
                <a:fillRect/>
              </a:stretch>
            </p:blipFill>
          </mc:Choice>
          <mc:Fallback>
            <p:blipFill>
              <a:blip r:embed="rId4"/>
              <a:srcRect l="-1506"/>
              <a:stretch>
                <a:fillRect/>
              </a:stretch>
            </p:blipFill>
          </mc:Fallback>
        </mc:AlternateContent>
        <p:spPr>
          <a:xfrm>
            <a:off x="176003" y="2133600"/>
            <a:ext cx="8681126" cy="4562435"/>
          </a:xfrm>
          <a:prstGeom prst="rect">
            <a:avLst/>
          </a:prstGeom>
          <a:solidFill>
            <a:schemeClr val="tx1"/>
          </a:solidFill>
        </p:spPr>
      </p:pic>
      <p:sp>
        <p:nvSpPr>
          <p:cNvPr id="5" name="TextBox 4"/>
          <p:cNvSpPr txBox="1"/>
          <p:nvPr/>
        </p:nvSpPr>
        <p:spPr>
          <a:xfrm>
            <a:off x="3886200" y="228600"/>
            <a:ext cx="184666" cy="369332"/>
          </a:xfrm>
          <a:prstGeom prst="rect">
            <a:avLst/>
          </a:prstGeom>
          <a:noFill/>
        </p:spPr>
        <p:txBody>
          <a:bodyPr wrap="none" rtlCol="0">
            <a:spAutoFit/>
          </a:bodyPr>
          <a:lstStyle/>
          <a:p>
            <a:endParaRPr lang="en-US" dirty="0"/>
          </a:p>
        </p:txBody>
      </p:sp>
      <p:sp>
        <p:nvSpPr>
          <p:cNvPr id="6" name="Rectangle 5"/>
          <p:cNvSpPr/>
          <p:nvPr/>
        </p:nvSpPr>
        <p:spPr>
          <a:xfrm>
            <a:off x="0" y="152400"/>
            <a:ext cx="9144000" cy="1569660"/>
          </a:xfrm>
          <a:prstGeom prst="rect">
            <a:avLst/>
          </a:prstGeom>
        </p:spPr>
        <p:txBody>
          <a:bodyPr wrap="square">
            <a:spAutoFit/>
          </a:bodyPr>
          <a:lstStyle/>
          <a:p>
            <a:pPr algn="ctr"/>
            <a:r>
              <a:rPr lang="en-US" sz="4800" dirty="0">
                <a:latin typeface="+mn-lt"/>
              </a:rPr>
              <a:t>Table 8.6  </a:t>
            </a:r>
          </a:p>
          <a:p>
            <a:pPr algn="ctr"/>
            <a:r>
              <a:rPr lang="en-US" sz="4800" dirty="0">
                <a:latin typeface="+mn-lt"/>
              </a:rPr>
              <a:t>S/MIME Content Types </a:t>
            </a:r>
          </a:p>
        </p:txBody>
      </p:sp>
    </p:spTree>
  </p:cSld>
  <p:clrMapOvr>
    <a:masterClrMapping/>
  </p:clrMapOvr>
  <p:transition>
    <p:dissolv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2753"/>
            <a:ext cx="9144000" cy="1283167"/>
          </a:xfrm>
        </p:spPr>
        <p:txBody>
          <a:bodyPr/>
          <a:lstStyle/>
          <a:p>
            <a:r>
              <a:rPr lang="en-US" dirty="0"/>
              <a:t>Securing a MIME Entity</a:t>
            </a:r>
          </a:p>
        </p:txBody>
      </p:sp>
      <p:sp>
        <p:nvSpPr>
          <p:cNvPr id="3" name="Content Placeholder 2"/>
          <p:cNvSpPr>
            <a:spLocks noGrp="1"/>
          </p:cNvSpPr>
          <p:nvPr>
            <p:ph idx="1"/>
          </p:nvPr>
        </p:nvSpPr>
        <p:spPr>
          <a:xfrm>
            <a:off x="779462" y="1828800"/>
            <a:ext cx="7754937" cy="4648200"/>
          </a:xfrm>
        </p:spPr>
        <p:txBody>
          <a:bodyPr>
            <a:normAutofit/>
          </a:bodyPr>
          <a:lstStyle/>
          <a:p>
            <a:r>
              <a:rPr lang="en-US" dirty="0">
                <a:solidFill>
                  <a:schemeClr val="tx2">
                    <a:lumMod val="10000"/>
                  </a:schemeClr>
                </a:solidFill>
              </a:rPr>
              <a:t>S/MIME secures a MIME entity with a signature, encryption, or both</a:t>
            </a:r>
          </a:p>
          <a:p>
            <a:r>
              <a:rPr lang="en-US" dirty="0">
                <a:solidFill>
                  <a:schemeClr val="tx2">
                    <a:lumMod val="10000"/>
                  </a:schemeClr>
                </a:solidFill>
              </a:rPr>
              <a:t>The MIME entity is prepared according to the normal rules for MIME message preparation</a:t>
            </a:r>
          </a:p>
          <a:p>
            <a:pPr lvl="1">
              <a:buClr>
                <a:schemeClr val="bg1"/>
              </a:buClr>
            </a:pPr>
            <a:r>
              <a:rPr lang="en-US" dirty="0">
                <a:solidFill>
                  <a:schemeClr val="tx2">
                    <a:lumMod val="10000"/>
                  </a:schemeClr>
                </a:solidFill>
              </a:rPr>
              <a:t>The MIME entity plus some security-related data, such as algorithm identifiers and certificates, are processed by      S/MIME to produce what is known as a PKCS object</a:t>
            </a:r>
          </a:p>
          <a:p>
            <a:pPr lvl="1">
              <a:buClr>
                <a:schemeClr val="bg1"/>
              </a:buClr>
            </a:pPr>
            <a:r>
              <a:rPr lang="en-US" dirty="0">
                <a:solidFill>
                  <a:schemeClr val="tx2">
                    <a:lumMod val="10000"/>
                  </a:schemeClr>
                </a:solidFill>
              </a:rPr>
              <a:t>A PKCS object is then treated as message content and wrapped in MIME</a:t>
            </a:r>
          </a:p>
          <a:p>
            <a:r>
              <a:rPr lang="en-US" dirty="0">
                <a:solidFill>
                  <a:schemeClr val="tx2">
                    <a:lumMod val="10000"/>
                  </a:schemeClr>
                </a:solidFill>
              </a:rPr>
              <a:t>In all cases the message to be sent is converted to canonical form</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2753"/>
            <a:ext cx="9144000" cy="1283167"/>
          </a:xfrm>
        </p:spPr>
        <p:txBody>
          <a:bodyPr/>
          <a:lstStyle/>
          <a:p>
            <a:r>
              <a:rPr lang="en-US" dirty="0"/>
              <a:t>Enveloped Data </a:t>
            </a:r>
          </a:p>
        </p:txBody>
      </p:sp>
      <p:sp>
        <p:nvSpPr>
          <p:cNvPr id="3" name="Content Placeholder 2"/>
          <p:cNvSpPr>
            <a:spLocks noGrp="1"/>
          </p:cNvSpPr>
          <p:nvPr>
            <p:ph idx="1"/>
          </p:nvPr>
        </p:nvSpPr>
        <p:spPr>
          <a:xfrm>
            <a:off x="228600" y="1524000"/>
            <a:ext cx="8610600" cy="4297363"/>
          </a:xfrm>
        </p:spPr>
        <p:txBody>
          <a:bodyPr/>
          <a:lstStyle/>
          <a:p>
            <a:r>
              <a:rPr lang="en-US" dirty="0">
                <a:solidFill>
                  <a:schemeClr val="tx2">
                    <a:lumMod val="10000"/>
                  </a:schemeClr>
                </a:solidFill>
              </a:rPr>
              <a:t>The steps for preparing an EnvelopedData MIME are:</a:t>
            </a:r>
          </a:p>
        </p:txBody>
      </p:sp>
      <p:graphicFrame>
        <p:nvGraphicFramePr>
          <p:cNvPr id="5" name="Diagram 4"/>
          <p:cNvGraphicFramePr/>
          <p:nvPr/>
        </p:nvGraphicFramePr>
        <p:xfrm>
          <a:off x="609600" y="2133600"/>
          <a:ext cx="83058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Signed Data</a:t>
            </a:r>
          </a:p>
        </p:txBody>
      </p:sp>
      <p:sp>
        <p:nvSpPr>
          <p:cNvPr id="5" name="Content Placeholder 4"/>
          <p:cNvSpPr>
            <a:spLocks noGrp="1"/>
          </p:cNvSpPr>
          <p:nvPr>
            <p:ph idx="1"/>
          </p:nvPr>
        </p:nvSpPr>
        <p:spPr>
          <a:xfrm>
            <a:off x="152400" y="1524000"/>
            <a:ext cx="7583488" cy="4297363"/>
          </a:xfrm>
        </p:spPr>
        <p:txBody>
          <a:bodyPr>
            <a:normAutofit/>
          </a:bodyPr>
          <a:lstStyle/>
          <a:p>
            <a:r>
              <a:rPr lang="en-US" dirty="0">
                <a:solidFill>
                  <a:schemeClr val="tx2">
                    <a:lumMod val="10000"/>
                  </a:schemeClr>
                </a:solidFill>
              </a:rPr>
              <a:t>The steps for preparing a SignedData MIME are:</a:t>
            </a:r>
          </a:p>
        </p:txBody>
      </p:sp>
      <p:graphicFrame>
        <p:nvGraphicFramePr>
          <p:cNvPr id="6" name="Diagram 5"/>
          <p:cNvGraphicFramePr/>
          <p:nvPr/>
        </p:nvGraphicFramePr>
        <p:xfrm>
          <a:off x="228600" y="1447800"/>
          <a:ext cx="8915400" cy="520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Clear Signing</a:t>
            </a:r>
          </a:p>
        </p:txBody>
      </p:sp>
      <p:sp>
        <p:nvSpPr>
          <p:cNvPr id="3" name="Content Placeholder 2"/>
          <p:cNvSpPr>
            <a:spLocks noGrp="1"/>
          </p:cNvSpPr>
          <p:nvPr>
            <p:ph idx="1"/>
          </p:nvPr>
        </p:nvSpPr>
        <p:spPr/>
        <p:txBody>
          <a:bodyPr/>
          <a:lstStyle/>
          <a:p>
            <a:r>
              <a:rPr lang="en-US" dirty="0">
                <a:solidFill>
                  <a:schemeClr val="tx2">
                    <a:lumMod val="10000"/>
                  </a:schemeClr>
                </a:solidFill>
              </a:rPr>
              <a:t>Achieved using the multipart content type with a signed subtype</a:t>
            </a:r>
          </a:p>
          <a:p>
            <a:r>
              <a:rPr lang="en-US" dirty="0">
                <a:solidFill>
                  <a:schemeClr val="tx2">
                    <a:lumMod val="10000"/>
                  </a:schemeClr>
                </a:solidFill>
              </a:rPr>
              <a:t>This signing process does not involve transforming the message to be signed</a:t>
            </a:r>
          </a:p>
          <a:p>
            <a:r>
              <a:rPr lang="en-US" dirty="0">
                <a:solidFill>
                  <a:schemeClr val="tx2">
                    <a:lumMod val="10000"/>
                  </a:schemeClr>
                </a:solidFill>
              </a:rPr>
              <a:t>Recipients with MIME capability but not S/MIME capability are able to read the incoming message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AU" dirty="0"/>
              <a:t>S/MIME Certificate Processing</a:t>
            </a:r>
          </a:p>
        </p:txBody>
      </p:sp>
      <p:sp>
        <p:nvSpPr>
          <p:cNvPr id="65539" name="Rectangle 3"/>
          <p:cNvSpPr>
            <a:spLocks noGrp="1" noChangeArrowheads="1"/>
          </p:cNvSpPr>
          <p:nvPr>
            <p:ph idx="1"/>
          </p:nvPr>
        </p:nvSpPr>
        <p:spPr>
          <a:xfrm>
            <a:off x="779462" y="1828800"/>
            <a:ext cx="7678737" cy="4724400"/>
          </a:xfrm>
        </p:spPr>
        <p:txBody>
          <a:bodyPr>
            <a:normAutofit fontScale="92500"/>
          </a:bodyPr>
          <a:lstStyle/>
          <a:p>
            <a:r>
              <a:rPr lang="en-AU" dirty="0">
                <a:solidFill>
                  <a:schemeClr val="tx2">
                    <a:lumMod val="10000"/>
                  </a:schemeClr>
                </a:solidFill>
              </a:rPr>
              <a:t>S/MIME uses public-key certificates that conform to version 3 of X.509</a:t>
            </a:r>
          </a:p>
          <a:p>
            <a:r>
              <a:rPr lang="en-AU" dirty="0">
                <a:solidFill>
                  <a:schemeClr val="tx2">
                    <a:lumMod val="10000"/>
                  </a:schemeClr>
                </a:solidFill>
              </a:rPr>
              <a:t>The key-management scheme used by S/MIME is in some ways a hybrid between a strict X.509 certification hierarchy and PGP’s web of trust</a:t>
            </a:r>
          </a:p>
          <a:p>
            <a:r>
              <a:rPr lang="en-AU" dirty="0">
                <a:solidFill>
                  <a:schemeClr val="tx2">
                    <a:lumMod val="10000"/>
                  </a:schemeClr>
                </a:solidFill>
              </a:rPr>
              <a:t>S/MIME managers and/or users must configure each client with a list of trusted keys and with certificate revocation lists</a:t>
            </a:r>
          </a:p>
          <a:p>
            <a:pPr lvl="1">
              <a:buClr>
                <a:schemeClr val="bg1"/>
              </a:buClr>
            </a:pPr>
            <a:r>
              <a:rPr lang="en-AU" dirty="0">
                <a:solidFill>
                  <a:schemeClr val="tx2">
                    <a:lumMod val="10000"/>
                  </a:schemeClr>
                </a:solidFill>
              </a:rPr>
              <a:t>The responsibility is local for maintaining the certificates needed to verify incoming signatures and to encrypt outgoing messages</a:t>
            </a:r>
          </a:p>
          <a:p>
            <a:r>
              <a:rPr lang="en-AU" dirty="0">
                <a:solidFill>
                  <a:schemeClr val="tx2">
                    <a:lumMod val="10000"/>
                  </a:schemeClr>
                </a:solidFill>
              </a:rPr>
              <a:t>The certificates are signed by certification authorities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Agent Role</a:t>
            </a:r>
          </a:p>
        </p:txBody>
      </p:sp>
      <p:sp>
        <p:nvSpPr>
          <p:cNvPr id="3" name="Content Placeholder 2"/>
          <p:cNvSpPr>
            <a:spLocks noGrp="1"/>
          </p:cNvSpPr>
          <p:nvPr>
            <p:ph idx="1"/>
          </p:nvPr>
        </p:nvSpPr>
        <p:spPr>
          <a:xfrm>
            <a:off x="152400" y="1600200"/>
            <a:ext cx="8610600" cy="4297363"/>
          </a:xfrm>
        </p:spPr>
        <p:txBody>
          <a:bodyPr/>
          <a:lstStyle/>
          <a:p>
            <a:r>
              <a:rPr lang="en-US" dirty="0">
                <a:solidFill>
                  <a:schemeClr val="tx2">
                    <a:lumMod val="10000"/>
                  </a:schemeClr>
                </a:solidFill>
              </a:rPr>
              <a:t>An S/MIME user has several key-management functions to perform:</a:t>
            </a:r>
          </a:p>
        </p:txBody>
      </p:sp>
      <p:graphicFrame>
        <p:nvGraphicFramePr>
          <p:cNvPr id="4" name="Diagram 3"/>
          <p:cNvGraphicFramePr/>
          <p:nvPr/>
        </p:nvGraphicFramePr>
        <p:xfrm>
          <a:off x="152400" y="1371600"/>
          <a:ext cx="87630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dirty="0"/>
              <a:t>VeriSign Certificates</a:t>
            </a:r>
            <a:endParaRPr lang="en-AU" dirty="0"/>
          </a:p>
        </p:txBody>
      </p:sp>
      <p:sp>
        <p:nvSpPr>
          <p:cNvPr id="6" name="Content Placeholder 5"/>
          <p:cNvSpPr>
            <a:spLocks noGrp="1"/>
          </p:cNvSpPr>
          <p:nvPr>
            <p:ph idx="1"/>
          </p:nvPr>
        </p:nvSpPr>
        <p:spPr>
          <a:xfrm>
            <a:off x="533400" y="1828800"/>
            <a:ext cx="8153399" cy="4800600"/>
          </a:xfrm>
        </p:spPr>
        <p:txBody>
          <a:bodyPr>
            <a:normAutofit fontScale="92500" lnSpcReduction="10000"/>
          </a:bodyPr>
          <a:lstStyle/>
          <a:p>
            <a:r>
              <a:rPr lang="en-US" dirty="0">
                <a:solidFill>
                  <a:schemeClr val="tx2">
                    <a:lumMod val="10000"/>
                  </a:schemeClr>
                </a:solidFill>
              </a:rPr>
              <a:t>VeriSign provides a certification authority (CA) service that is intended to be compatible with S/MIME and a variety of other applications</a:t>
            </a:r>
          </a:p>
          <a:p>
            <a:r>
              <a:rPr lang="en-US" dirty="0">
                <a:solidFill>
                  <a:schemeClr val="tx2">
                    <a:lumMod val="10000"/>
                  </a:schemeClr>
                </a:solidFill>
              </a:rPr>
              <a:t>Issues X.509 certificates with the product name VeriSign Digital ID</a:t>
            </a:r>
          </a:p>
          <a:p>
            <a:r>
              <a:rPr lang="en-US" dirty="0">
                <a:solidFill>
                  <a:schemeClr val="tx2">
                    <a:lumMod val="10000"/>
                  </a:schemeClr>
                </a:solidFill>
              </a:rPr>
              <a:t>At a minimum, each Digital ID contains:</a:t>
            </a:r>
          </a:p>
          <a:p>
            <a:pPr lvl="1">
              <a:buClr>
                <a:schemeClr val="bg1"/>
              </a:buClr>
            </a:pPr>
            <a:r>
              <a:rPr lang="en-US" dirty="0">
                <a:solidFill>
                  <a:schemeClr val="tx2">
                    <a:lumMod val="10000"/>
                  </a:schemeClr>
                </a:solidFill>
              </a:rPr>
              <a:t>Owner’s public key</a:t>
            </a:r>
          </a:p>
          <a:p>
            <a:pPr lvl="1">
              <a:buClr>
                <a:schemeClr val="bg1"/>
              </a:buClr>
            </a:pPr>
            <a:r>
              <a:rPr lang="en-US" dirty="0">
                <a:solidFill>
                  <a:schemeClr val="tx2">
                    <a:lumMod val="10000"/>
                  </a:schemeClr>
                </a:solidFill>
              </a:rPr>
              <a:t>Owner’s name or alias</a:t>
            </a:r>
          </a:p>
          <a:p>
            <a:pPr lvl="1">
              <a:buClr>
                <a:schemeClr val="bg1"/>
              </a:buClr>
            </a:pPr>
            <a:r>
              <a:rPr lang="en-US" dirty="0">
                <a:solidFill>
                  <a:schemeClr val="tx2">
                    <a:lumMod val="10000"/>
                  </a:schemeClr>
                </a:solidFill>
              </a:rPr>
              <a:t>Expiration date of the Digital ID</a:t>
            </a:r>
          </a:p>
          <a:p>
            <a:pPr lvl="1">
              <a:buClr>
                <a:schemeClr val="bg1"/>
              </a:buClr>
            </a:pPr>
            <a:r>
              <a:rPr lang="en-US" dirty="0">
                <a:solidFill>
                  <a:schemeClr val="tx2">
                    <a:lumMod val="10000"/>
                  </a:schemeClr>
                </a:solidFill>
              </a:rPr>
              <a:t>Serial number of the Digital ID</a:t>
            </a:r>
          </a:p>
          <a:p>
            <a:pPr lvl="1">
              <a:buClr>
                <a:schemeClr val="bg1"/>
              </a:buClr>
            </a:pPr>
            <a:r>
              <a:rPr lang="en-US" dirty="0">
                <a:solidFill>
                  <a:schemeClr val="tx2">
                    <a:lumMod val="10000"/>
                  </a:schemeClr>
                </a:solidFill>
              </a:rPr>
              <a:t>Name of the certification authority that issued the Digital ID</a:t>
            </a:r>
          </a:p>
          <a:p>
            <a:pPr lvl="1">
              <a:buClr>
                <a:schemeClr val="bg1"/>
              </a:buClr>
            </a:pPr>
            <a:r>
              <a:rPr lang="en-US" dirty="0">
                <a:solidFill>
                  <a:schemeClr val="tx2">
                    <a:lumMod val="10000"/>
                  </a:schemeClr>
                </a:solidFill>
              </a:rPr>
              <a:t>Digital signature of the certification authority that issued the Digital ID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b="3627"/>
              <a:stretch>
                <a:fillRect/>
              </a:stretch>
            </p:blipFill>
          </mc:Choice>
          <mc:Fallback>
            <p:blipFill>
              <a:blip r:embed="rId4"/>
              <a:srcRect b="3627"/>
              <a:stretch>
                <a:fillRect/>
              </a:stretch>
            </p:blipFill>
          </mc:Fallback>
        </mc:AlternateContent>
        <p:spPr>
          <a:xfrm>
            <a:off x="1524000" y="1066800"/>
            <a:ext cx="6096000" cy="4859040"/>
          </a:xfrm>
          <a:prstGeom prst="rect">
            <a:avLst/>
          </a:prstGeom>
          <a:solidFill>
            <a:schemeClr val="tx1"/>
          </a:solidFill>
        </p:spPr>
      </p:pic>
      <p:sp>
        <p:nvSpPr>
          <p:cNvPr id="5" name="Rectangle 4"/>
          <p:cNvSpPr/>
          <p:nvPr/>
        </p:nvSpPr>
        <p:spPr>
          <a:xfrm>
            <a:off x="1524000" y="5919281"/>
            <a:ext cx="5181600" cy="938719"/>
          </a:xfrm>
          <a:prstGeom prst="rect">
            <a:avLst/>
          </a:prstGeom>
        </p:spPr>
        <p:txBody>
          <a:bodyPr wrap="square">
            <a:spAutoFit/>
          </a:bodyPr>
          <a:lstStyle/>
          <a:p>
            <a:r>
              <a:rPr lang="en-US" sz="1100" dirty="0">
                <a:latin typeface="+mn-lt"/>
              </a:rPr>
              <a:t>IA	Issuing Authority</a:t>
            </a:r>
          </a:p>
          <a:p>
            <a:r>
              <a:rPr lang="en-US" sz="1100" dirty="0">
                <a:latin typeface="+mn-lt"/>
              </a:rPr>
              <a:t>CA	Certification Authority</a:t>
            </a:r>
          </a:p>
          <a:p>
            <a:r>
              <a:rPr lang="en-US" sz="1100" dirty="0">
                <a:latin typeface="+mn-lt"/>
              </a:rPr>
              <a:t>PCA	VeriSign public primary certification authority</a:t>
            </a:r>
          </a:p>
          <a:p>
            <a:r>
              <a:rPr lang="en-US" sz="1100" dirty="0">
                <a:latin typeface="+mn-lt"/>
              </a:rPr>
              <a:t>PIN	Personal Identification Number</a:t>
            </a:r>
          </a:p>
          <a:p>
            <a:r>
              <a:rPr lang="en-US" sz="1100" dirty="0">
                <a:latin typeface="+mn-lt"/>
              </a:rPr>
              <a:t>LRAA	Local Registration Authority Administrator</a:t>
            </a:r>
          </a:p>
        </p:txBody>
      </p:sp>
      <p:sp>
        <p:nvSpPr>
          <p:cNvPr id="6" name="Rectangle 5"/>
          <p:cNvSpPr/>
          <p:nvPr/>
        </p:nvSpPr>
        <p:spPr>
          <a:xfrm>
            <a:off x="0" y="0"/>
            <a:ext cx="9144000" cy="954107"/>
          </a:xfrm>
          <a:prstGeom prst="rect">
            <a:avLst/>
          </a:prstGeom>
        </p:spPr>
        <p:txBody>
          <a:bodyPr wrap="square">
            <a:spAutoFit/>
          </a:bodyPr>
          <a:lstStyle/>
          <a:p>
            <a:pPr algn="ctr"/>
            <a:r>
              <a:rPr lang="en-US" sz="2800" dirty="0">
                <a:latin typeface="+mn-lt"/>
              </a:rPr>
              <a:t>Table 8.7  </a:t>
            </a:r>
          </a:p>
          <a:p>
            <a:pPr algn="ctr"/>
            <a:r>
              <a:rPr lang="en-US" sz="2800" dirty="0">
                <a:latin typeface="+mn-lt"/>
              </a:rPr>
              <a:t>VeriSign Public-Key Certificate Classes </a:t>
            </a:r>
          </a:p>
        </p:txBody>
      </p:sp>
    </p:spTree>
  </p:cSld>
  <p:clrMapOvr>
    <a:masterClrMapping/>
  </p:clrMapOvr>
  <p:transition>
    <p:dissolv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Enhanced Security Services</a:t>
            </a:r>
          </a:p>
        </p:txBody>
      </p:sp>
      <p:sp>
        <p:nvSpPr>
          <p:cNvPr id="8" name="Content Placeholder 7"/>
          <p:cNvSpPr>
            <a:spLocks noGrp="1"/>
          </p:cNvSpPr>
          <p:nvPr>
            <p:ph idx="1"/>
          </p:nvPr>
        </p:nvSpPr>
        <p:spPr>
          <a:xfrm>
            <a:off x="685800" y="1828800"/>
            <a:ext cx="7924799" cy="4724400"/>
          </a:xfrm>
        </p:spPr>
        <p:txBody>
          <a:bodyPr>
            <a:normAutofit/>
          </a:bodyPr>
          <a:lstStyle/>
          <a:p>
            <a:r>
              <a:rPr lang="en-US" dirty="0">
                <a:solidFill>
                  <a:schemeClr val="tx2">
                    <a:lumMod val="10000"/>
                  </a:schemeClr>
                </a:solidFill>
              </a:rPr>
              <a:t>Three enhanced security services have been proposed in an Internet draft:</a:t>
            </a:r>
          </a:p>
        </p:txBody>
      </p:sp>
      <p:graphicFrame>
        <p:nvGraphicFramePr>
          <p:cNvPr id="4" name="Diagram 3"/>
          <p:cNvGraphicFramePr/>
          <p:nvPr/>
        </p:nvGraphicFramePr>
        <p:xfrm>
          <a:off x="1143000" y="2743200"/>
          <a:ext cx="7162800" cy="386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DomainKeys Identified Mail (DKIM)</a:t>
            </a:r>
          </a:p>
        </p:txBody>
      </p:sp>
      <p:sp>
        <p:nvSpPr>
          <p:cNvPr id="6" name="Content Placeholder 5"/>
          <p:cNvSpPr>
            <a:spLocks noGrp="1"/>
          </p:cNvSpPr>
          <p:nvPr>
            <p:ph idx="1"/>
          </p:nvPr>
        </p:nvSpPr>
        <p:spPr>
          <a:xfrm>
            <a:off x="685800" y="1828800"/>
            <a:ext cx="7924799" cy="4572000"/>
          </a:xfrm>
        </p:spPr>
        <p:txBody>
          <a:bodyPr>
            <a:normAutofit lnSpcReduction="10000"/>
          </a:bodyPr>
          <a:lstStyle/>
          <a:p>
            <a:r>
              <a:rPr lang="en-US" dirty="0">
                <a:solidFill>
                  <a:schemeClr val="tx2">
                    <a:lumMod val="10000"/>
                  </a:schemeClr>
                </a:solidFill>
              </a:rPr>
              <a:t>A specification for cryptographically signing e-mail messages, permitting a signing domain to claim responsibility for a message in the mail stream</a:t>
            </a:r>
          </a:p>
          <a:p>
            <a:r>
              <a:rPr lang="en-US" dirty="0">
                <a:solidFill>
                  <a:schemeClr val="tx2">
                    <a:lumMod val="10000"/>
                  </a:schemeClr>
                </a:solidFill>
              </a:rPr>
              <a:t>Message recipients can verify the signature by querying the signer’s domain directly to retrieve the appropriate public key and can thereby confirm that the message was attested to by a party in possession of the private key for the signing domain</a:t>
            </a:r>
          </a:p>
          <a:p>
            <a:r>
              <a:rPr lang="en-US" dirty="0">
                <a:solidFill>
                  <a:schemeClr val="tx2">
                    <a:lumMod val="10000"/>
                  </a:schemeClr>
                </a:solidFill>
              </a:rPr>
              <a:t>Proposed Internet Standard RFC 4871</a:t>
            </a:r>
          </a:p>
          <a:p>
            <a:r>
              <a:rPr lang="en-US" dirty="0">
                <a:solidFill>
                  <a:schemeClr val="tx2">
                    <a:lumMod val="10000"/>
                  </a:schemeClr>
                </a:solidFill>
              </a:rPr>
              <a:t>Has been widely adopted by a range of e-mail providers and Internet Service Providers (ISPs)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2353" t="17273" r="1176" b="17273"/>
              <a:stretch>
                <a:fillRect/>
              </a:stretch>
            </p:blipFill>
          </mc:Choice>
          <mc:Fallback>
            <p:blipFill>
              <a:blip r:embed="rId4"/>
              <a:srcRect l="2353" t="17273" r="1176" b="17273"/>
              <a:stretch>
                <a:fillRect/>
              </a:stretch>
            </p:blipFill>
          </mc:Fallback>
        </mc:AlternateContent>
        <p:spPr>
          <a:xfrm>
            <a:off x="933564" y="181230"/>
            <a:ext cx="7433946" cy="6527378"/>
          </a:xfrm>
          <a:prstGeom prst="rect">
            <a:avLst/>
          </a:prstGeom>
          <a:solidFill>
            <a:schemeClr val="tx1"/>
          </a:solidFill>
        </p:spPr>
      </p:pic>
    </p:spTree>
  </p:cSld>
  <p:clrMapOvr>
    <a:masterClrMapping/>
  </p:clrMapOvr>
  <p:transition>
    <p:dissolv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E-mail Threats</a:t>
            </a:r>
          </a:p>
        </p:txBody>
      </p:sp>
      <p:sp>
        <p:nvSpPr>
          <p:cNvPr id="3" name="Content Placeholder 2"/>
          <p:cNvSpPr>
            <a:spLocks noGrp="1"/>
          </p:cNvSpPr>
          <p:nvPr>
            <p:ph sz="half" idx="1"/>
          </p:nvPr>
        </p:nvSpPr>
        <p:spPr>
          <a:xfrm>
            <a:off x="609600" y="1752600"/>
            <a:ext cx="3566160" cy="4953000"/>
          </a:xfrm>
        </p:spPr>
        <p:txBody>
          <a:bodyPr>
            <a:normAutofit/>
          </a:bodyPr>
          <a:lstStyle/>
          <a:p>
            <a:r>
              <a:rPr lang="en-US" dirty="0">
                <a:solidFill>
                  <a:schemeClr val="tx2">
                    <a:lumMod val="10000"/>
                  </a:schemeClr>
                </a:solidFill>
              </a:rPr>
              <a:t>RFC 4684 </a:t>
            </a:r>
            <a:r>
              <a:rPr lang="en-US" i="1" dirty="0">
                <a:solidFill>
                  <a:schemeClr val="tx2">
                    <a:lumMod val="10000"/>
                  </a:schemeClr>
                </a:solidFill>
              </a:rPr>
              <a:t>(Analysis of Threats Motivating DomainKeys Identified Mail)</a:t>
            </a:r>
          </a:p>
          <a:p>
            <a:pPr lvl="1">
              <a:buClr>
                <a:schemeClr val="bg1"/>
              </a:buClr>
            </a:pPr>
            <a:r>
              <a:rPr lang="en-US" dirty="0">
                <a:solidFill>
                  <a:schemeClr val="tx2">
                    <a:lumMod val="10000"/>
                  </a:schemeClr>
                </a:solidFill>
              </a:rPr>
              <a:t>Describes the threats being addressed by DKIM in terms of the characteristics, capabilities, and location of potential attackers</a:t>
            </a:r>
          </a:p>
          <a:p>
            <a:r>
              <a:rPr lang="en-US" dirty="0">
                <a:solidFill>
                  <a:schemeClr val="tx2">
                    <a:lumMod val="10000"/>
                  </a:schemeClr>
                </a:solidFill>
              </a:rPr>
              <a:t>Characterized on three levels of threat:</a:t>
            </a:r>
          </a:p>
          <a:p>
            <a:endParaRPr lang="en-US" dirty="0"/>
          </a:p>
          <a:p>
            <a:pPr lvl="1">
              <a:buNone/>
            </a:pPr>
            <a:endParaRPr lang="en-US" dirty="0"/>
          </a:p>
        </p:txBody>
      </p:sp>
      <p:graphicFrame>
        <p:nvGraphicFramePr>
          <p:cNvPr id="4" name="Diagram 3"/>
          <p:cNvGraphicFramePr/>
          <p:nvPr/>
        </p:nvGraphicFramePr>
        <p:xfrm>
          <a:off x="3810000" y="1676400"/>
          <a:ext cx="5562600" cy="4978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727" b="17273"/>
              <a:stretch>
                <a:fillRect/>
              </a:stretch>
            </p:blipFill>
          </mc:Choice>
          <mc:Fallback>
            <p:blipFill>
              <a:blip r:embed="rId4"/>
              <a:srcRect t="2727" b="17273"/>
              <a:stretch>
                <a:fillRect/>
              </a:stretch>
            </p:blipFill>
          </mc:Fallback>
        </mc:AlternateContent>
        <p:spPr>
          <a:xfrm>
            <a:off x="1295400" y="0"/>
            <a:ext cx="6624249" cy="6858000"/>
          </a:xfrm>
          <a:prstGeom prst="rect">
            <a:avLst/>
          </a:prstGeom>
          <a:solidFill>
            <a:schemeClr val="tx1"/>
          </a:solidFill>
        </p:spPr>
      </p:pic>
    </p:spTree>
  </p:cSld>
  <p:clrMapOvr>
    <a:masterClrMapping/>
  </p:clrMapOvr>
  <p:transition spd="med">
    <p:wedg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905000" y="0"/>
            <a:ext cx="5299364" cy="6858000"/>
          </a:xfrm>
          <a:prstGeom prst="rect">
            <a:avLst/>
          </a:prstGeom>
          <a:solidFill>
            <a:schemeClr val="tx1"/>
          </a:solidFill>
        </p:spPr>
      </p:pic>
    </p:spTree>
  </p:cSld>
  <p:clrMapOvr>
    <a:masterClrMapping/>
  </p:clrMapOvr>
  <p:transition>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a:t>Summary</a:t>
            </a:r>
            <a:endParaRPr lang="en-AU" dirty="0"/>
          </a:p>
        </p:txBody>
      </p:sp>
      <p:sp>
        <p:nvSpPr>
          <p:cNvPr id="100355" name="Rectangle 3"/>
          <p:cNvSpPr>
            <a:spLocks noGrp="1" noChangeArrowheads="1"/>
          </p:cNvSpPr>
          <p:nvPr>
            <p:ph sz="half" idx="1"/>
          </p:nvPr>
        </p:nvSpPr>
        <p:spPr>
          <a:xfrm>
            <a:off x="779463" y="1828800"/>
            <a:ext cx="3566160" cy="4800600"/>
          </a:xfrm>
        </p:spPr>
        <p:txBody>
          <a:bodyPr/>
          <a:lstStyle/>
          <a:p>
            <a:pPr>
              <a:lnSpc>
                <a:spcPct val="80000"/>
              </a:lnSpc>
            </a:pPr>
            <a:r>
              <a:rPr lang="en-US" sz="2200" dirty="0">
                <a:solidFill>
                  <a:schemeClr val="tx2">
                    <a:lumMod val="10000"/>
                  </a:schemeClr>
                </a:solidFill>
              </a:rPr>
              <a:t>Pretty good privacy</a:t>
            </a:r>
          </a:p>
          <a:p>
            <a:pPr lvl="1">
              <a:lnSpc>
                <a:spcPct val="80000"/>
              </a:lnSpc>
              <a:buClr>
                <a:schemeClr val="bg1"/>
              </a:buClr>
            </a:pPr>
            <a:r>
              <a:rPr lang="en-US" sz="2000" dirty="0">
                <a:solidFill>
                  <a:schemeClr val="tx2">
                    <a:lumMod val="10000"/>
                  </a:schemeClr>
                </a:solidFill>
              </a:rPr>
              <a:t>Notation</a:t>
            </a:r>
          </a:p>
          <a:p>
            <a:pPr lvl="1">
              <a:lnSpc>
                <a:spcPct val="80000"/>
              </a:lnSpc>
              <a:buClr>
                <a:schemeClr val="bg1"/>
              </a:buClr>
            </a:pPr>
            <a:r>
              <a:rPr lang="en-US" sz="2000" dirty="0">
                <a:solidFill>
                  <a:schemeClr val="tx2">
                    <a:lumMod val="10000"/>
                  </a:schemeClr>
                </a:solidFill>
              </a:rPr>
              <a:t>Operational description</a:t>
            </a:r>
          </a:p>
          <a:p>
            <a:pPr>
              <a:lnSpc>
                <a:spcPct val="80000"/>
              </a:lnSpc>
            </a:pPr>
            <a:r>
              <a:rPr lang="en-US" sz="2200" dirty="0">
                <a:solidFill>
                  <a:schemeClr val="tx2">
                    <a:lumMod val="10000"/>
                  </a:schemeClr>
                </a:solidFill>
              </a:rPr>
              <a:t>DomainKeys Identified Mail</a:t>
            </a:r>
          </a:p>
          <a:p>
            <a:pPr lvl="1">
              <a:lnSpc>
                <a:spcPct val="80000"/>
              </a:lnSpc>
              <a:buClr>
                <a:schemeClr val="bg1"/>
              </a:buClr>
            </a:pPr>
            <a:r>
              <a:rPr lang="en-US" sz="2000" dirty="0">
                <a:solidFill>
                  <a:schemeClr val="tx2">
                    <a:lumMod val="10000"/>
                  </a:schemeClr>
                </a:solidFill>
              </a:rPr>
              <a:t>Internet mail architecture</a:t>
            </a:r>
          </a:p>
          <a:p>
            <a:pPr lvl="1">
              <a:lnSpc>
                <a:spcPct val="80000"/>
              </a:lnSpc>
              <a:buClr>
                <a:schemeClr val="bg1"/>
              </a:buClr>
            </a:pPr>
            <a:r>
              <a:rPr lang="en-US" sz="2000" dirty="0">
                <a:solidFill>
                  <a:schemeClr val="tx2">
                    <a:lumMod val="10000"/>
                  </a:schemeClr>
                </a:solidFill>
              </a:rPr>
              <a:t>E-mail threats</a:t>
            </a:r>
          </a:p>
          <a:p>
            <a:pPr lvl="1">
              <a:lnSpc>
                <a:spcPct val="80000"/>
              </a:lnSpc>
              <a:buClr>
                <a:schemeClr val="bg1"/>
              </a:buClr>
            </a:pPr>
            <a:r>
              <a:rPr lang="en-US" sz="2000" dirty="0">
                <a:solidFill>
                  <a:schemeClr val="tx2">
                    <a:lumMod val="10000"/>
                  </a:schemeClr>
                </a:solidFill>
              </a:rPr>
              <a:t>DKIM strategy</a:t>
            </a:r>
          </a:p>
          <a:p>
            <a:pPr lvl="1">
              <a:lnSpc>
                <a:spcPct val="80000"/>
              </a:lnSpc>
              <a:buClr>
                <a:schemeClr val="bg1"/>
              </a:buClr>
            </a:pPr>
            <a:r>
              <a:rPr lang="en-US" sz="2000" dirty="0">
                <a:solidFill>
                  <a:schemeClr val="tx2">
                    <a:lumMod val="10000"/>
                  </a:schemeClr>
                </a:solidFill>
              </a:rPr>
              <a:t>DKIM functional flow</a:t>
            </a:r>
            <a:endParaRPr lang="en-AU" sz="2000" dirty="0">
              <a:solidFill>
                <a:schemeClr val="tx2">
                  <a:lumMod val="10000"/>
                </a:schemeClr>
              </a:solidFill>
            </a:endParaRPr>
          </a:p>
        </p:txBody>
      </p:sp>
      <p:sp>
        <p:nvSpPr>
          <p:cNvPr id="76804" name="Content Placeholder 11"/>
          <p:cNvSpPr>
            <a:spLocks noGrp="1"/>
          </p:cNvSpPr>
          <p:nvPr>
            <p:ph sz="half" idx="2"/>
          </p:nvPr>
        </p:nvSpPr>
        <p:spPr>
          <a:xfrm>
            <a:off x="4796791" y="1828800"/>
            <a:ext cx="3566160" cy="4724400"/>
          </a:xfrm>
        </p:spPr>
        <p:txBody>
          <a:bodyPr/>
          <a:lstStyle/>
          <a:p>
            <a:pPr>
              <a:lnSpc>
                <a:spcPct val="80000"/>
              </a:lnSpc>
            </a:pPr>
            <a:r>
              <a:rPr lang="en-US" sz="2200" dirty="0">
                <a:solidFill>
                  <a:schemeClr val="tx2">
                    <a:lumMod val="10000"/>
                  </a:schemeClr>
                </a:solidFill>
              </a:rPr>
              <a:t>S/MIME</a:t>
            </a:r>
          </a:p>
          <a:p>
            <a:pPr lvl="1">
              <a:lnSpc>
                <a:spcPct val="80000"/>
              </a:lnSpc>
              <a:buClr>
                <a:schemeClr val="bg1"/>
              </a:buClr>
            </a:pPr>
            <a:r>
              <a:rPr lang="en-US" sz="2000" dirty="0">
                <a:solidFill>
                  <a:schemeClr val="tx2">
                    <a:lumMod val="10000"/>
                  </a:schemeClr>
                </a:solidFill>
              </a:rPr>
              <a:t>RFC 5322</a:t>
            </a:r>
          </a:p>
          <a:p>
            <a:pPr lvl="1">
              <a:lnSpc>
                <a:spcPct val="80000"/>
              </a:lnSpc>
              <a:buClr>
                <a:schemeClr val="bg1"/>
              </a:buClr>
            </a:pPr>
            <a:r>
              <a:rPr lang="en-US" sz="2000" dirty="0">
                <a:solidFill>
                  <a:schemeClr val="tx2">
                    <a:lumMod val="10000"/>
                  </a:schemeClr>
                </a:solidFill>
              </a:rPr>
              <a:t>Multipurpose Internet mail extensions</a:t>
            </a:r>
          </a:p>
          <a:p>
            <a:pPr lvl="1">
              <a:lnSpc>
                <a:spcPct val="80000"/>
              </a:lnSpc>
              <a:buClr>
                <a:schemeClr val="bg1"/>
              </a:buClr>
            </a:pPr>
            <a:r>
              <a:rPr lang="en-US" sz="2000" dirty="0">
                <a:solidFill>
                  <a:schemeClr val="tx2">
                    <a:lumMod val="10000"/>
                  </a:schemeClr>
                </a:solidFill>
              </a:rPr>
              <a:t>S/MIME functionality</a:t>
            </a:r>
          </a:p>
          <a:p>
            <a:pPr lvl="1">
              <a:lnSpc>
                <a:spcPct val="80000"/>
              </a:lnSpc>
              <a:buClr>
                <a:schemeClr val="bg1"/>
              </a:buClr>
            </a:pPr>
            <a:r>
              <a:rPr lang="en-US" sz="2000" dirty="0">
                <a:solidFill>
                  <a:schemeClr val="tx2">
                    <a:lumMod val="10000"/>
                  </a:schemeClr>
                </a:solidFill>
              </a:rPr>
              <a:t>S/MIME messages</a:t>
            </a:r>
          </a:p>
          <a:p>
            <a:pPr lvl="1">
              <a:lnSpc>
                <a:spcPct val="80000"/>
              </a:lnSpc>
              <a:buClr>
                <a:schemeClr val="bg1"/>
              </a:buClr>
            </a:pPr>
            <a:r>
              <a:rPr lang="en-US" sz="2000" dirty="0">
                <a:solidFill>
                  <a:schemeClr val="tx2">
                    <a:lumMod val="10000"/>
                  </a:schemeClr>
                </a:solidFill>
              </a:rPr>
              <a:t>S/MIME certification processing</a:t>
            </a:r>
          </a:p>
          <a:p>
            <a:pPr lvl="1">
              <a:lnSpc>
                <a:spcPct val="80000"/>
              </a:lnSpc>
              <a:buClr>
                <a:schemeClr val="bg1"/>
              </a:buClr>
            </a:pPr>
            <a:r>
              <a:rPr lang="en-US" sz="2000" dirty="0">
                <a:solidFill>
                  <a:schemeClr val="tx2">
                    <a:lumMod val="10000"/>
                  </a:schemeClr>
                </a:solidFill>
              </a:rPr>
              <a:t>Enhanced security services</a:t>
            </a:r>
          </a:p>
        </p:txBody>
      </p:sp>
    </p:spTree>
  </p:cSld>
  <p:clrMapOvr>
    <a:masterClrMapping/>
  </p:clrMapOvr>
</p:sld>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_rels/them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image" Target="../media/image10.jpeg"/></Relationships>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Precedent">
  <a:themeElements>
    <a:clrScheme name="Precedent">
      <a:dk1>
        <a:srgbClr val="921F07"/>
      </a:dk1>
      <a:lt1>
        <a:sysClr val="window" lastClr="FFFFFF"/>
      </a:lt1>
      <a:dk2>
        <a:srgbClr val="333333"/>
      </a:dk2>
      <a:lt2>
        <a:srgbClr val="E5E5D3"/>
      </a:lt2>
      <a:accent1>
        <a:srgbClr val="993232"/>
      </a:accent1>
      <a:accent2>
        <a:srgbClr val="9B6C34"/>
      </a:accent2>
      <a:accent3>
        <a:srgbClr val="736C5D"/>
      </a:accent3>
      <a:accent4>
        <a:srgbClr val="C9972B"/>
      </a:accent4>
      <a:accent5>
        <a:srgbClr val="C95F2B"/>
      </a:accent5>
      <a:accent6>
        <a:srgbClr val="8F7A05"/>
      </a:accent6>
      <a:hlink>
        <a:srgbClr val="933926"/>
      </a:hlink>
      <a:folHlink>
        <a:srgbClr val="916019"/>
      </a:folHlink>
    </a:clrScheme>
    <a:fontScheme name="Precedent">
      <a:majorFont>
        <a:latin typeface="Perpetua Titling MT"/>
        <a:ea typeface=""/>
        <a:cs typeface=""/>
        <a:font script="Jpan" typeface="ＭＳ Ｐ明朝"/>
      </a:majorFont>
      <a:minorFont>
        <a:latin typeface="Calisto MT"/>
        <a:ea typeface=""/>
        <a:cs typeface=""/>
        <a:font script="Jpan" typeface="ＭＳ Ｐ明朝"/>
      </a:minorFont>
    </a:fontScheme>
    <a:fmtScheme name="Precedent">
      <a:fillStyleLst>
        <a:solidFill>
          <a:schemeClr val="phClr"/>
        </a:solidFill>
        <a:gradFill rotWithShape="1">
          <a:gsLst>
            <a:gs pos="0">
              <a:schemeClr val="phClr">
                <a:tint val="100000"/>
                <a:shade val="90000"/>
                <a:satMod val="135000"/>
              </a:schemeClr>
            </a:gs>
            <a:gs pos="100000">
              <a:schemeClr val="phClr">
                <a:tint val="100000"/>
                <a:shade val="30000"/>
                <a:satMod val="135000"/>
              </a:schemeClr>
            </a:gs>
          </a:gsLst>
          <a:path path="circle">
            <a:fillToRect l="70000" t="10000" b="70000"/>
          </a:path>
        </a:gradFill>
        <a:blipFill rotWithShape="1">
          <a:blip xmlns:r="http://schemas.openxmlformats.org/officeDocument/2006/relationships" r:embed="rId1">
            <a:duotone>
              <a:schemeClr val="phClr">
                <a:shade val="10000"/>
                <a:satMod val="135000"/>
              </a:schemeClr>
              <a:schemeClr val="phClr">
                <a:satMod val="150000"/>
                <a:lumMod val="110000"/>
              </a:schemeClr>
            </a:duotone>
          </a:blip>
          <a:stretch/>
        </a:blipFill>
      </a:fillStyleLst>
      <a:lnStyleLst>
        <a:ln w="12700" cap="flat" cmpd="sng" algn="ctr">
          <a:solidFill>
            <a:schemeClr val="phClr">
              <a:shade val="95000"/>
              <a:satMod val="105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a:effectStyle>
        <a:effectStyle>
          <a:effectLst>
            <a:innerShdw blurRad="127000" dist="38100" dir="13200000">
              <a:srgbClr val="000000">
                <a:alpha val="75000"/>
              </a:srgbClr>
            </a:innerShdw>
            <a:outerShdw blurRad="38100" dist="12700" dir="1800000" sx="101000" sy="101000" rotWithShape="0">
              <a:srgbClr val="000000">
                <a:alpha val="40000"/>
              </a:srgbClr>
            </a:outerShdw>
            <a:reflection blurRad="127000" stA="25000" endPos="30000" dist="12700" dir="5400000" sy="-100000" rotWithShape="0"/>
          </a:effectLst>
          <a:scene3d>
            <a:camera prst="orthographicFront">
              <a:rot lat="0" lon="0" rev="0"/>
            </a:camera>
            <a:lightRig rig="twoPt" dir="t">
              <a:rot lat="0" lon="0" rev="1200000"/>
            </a:lightRig>
          </a:scene3d>
          <a:sp3d>
            <a:bevelT w="0" h="0"/>
          </a:sp3d>
        </a:effectStyle>
      </a:effectStyleLst>
      <a:bgFillStyleLst>
        <a:solidFill>
          <a:schemeClr val="phClr"/>
        </a:solidFill>
        <a:gradFill rotWithShape="1">
          <a:gsLst>
            <a:gs pos="0">
              <a:schemeClr val="phClr">
                <a:tint val="100000"/>
                <a:shade val="90000"/>
                <a:satMod val="135000"/>
              </a:schemeClr>
            </a:gs>
            <a:gs pos="100000">
              <a:schemeClr val="phClr">
                <a:shade val="30000"/>
                <a:satMod val="150000"/>
              </a:schemeClr>
            </a:gs>
          </a:gsLst>
          <a:path path="circle">
            <a:fillToRect t="10000" r="70000" b="70000"/>
          </a:path>
        </a:gradFill>
        <a:blipFill rotWithShape="1">
          <a:blip xmlns:r="http://schemas.openxmlformats.org/officeDocument/2006/relationships" r:embed="rId2">
            <a:duotone>
              <a:schemeClr val="phClr">
                <a:shade val="10000"/>
                <a:satMod val="130000"/>
                <a:lumMod val="80000"/>
              </a:schemeClr>
              <a:schemeClr val="phClr">
                <a:satMod val="150000"/>
                <a:lumMod val="11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5235</TotalTime>
  <Words>11549</Words>
  <Application>Microsoft Office PowerPoint</Application>
  <PresentationFormat>On-screen Show (4:3)</PresentationFormat>
  <Paragraphs>1089</Paragraphs>
  <Slides>39</Slides>
  <Notes>39</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39</vt:i4>
      </vt:variant>
    </vt:vector>
  </HeadingPairs>
  <TitlesOfParts>
    <vt:vector size="50" baseType="lpstr">
      <vt:lpstr>ＭＳ Ｐゴシック</vt:lpstr>
      <vt:lpstr>Arial</vt:lpstr>
      <vt:lpstr>Calisto MT</vt:lpstr>
      <vt:lpstr>Candara</vt:lpstr>
      <vt:lpstr>Courier New</vt:lpstr>
      <vt:lpstr>Mistral</vt:lpstr>
      <vt:lpstr>Perpetua Titling MT</vt:lpstr>
      <vt:lpstr>Wingdings</vt:lpstr>
      <vt:lpstr>ch01</vt:lpstr>
      <vt:lpstr>Infusion</vt:lpstr>
      <vt:lpstr>Precedent</vt:lpstr>
      <vt:lpstr>Network Security Essentials</vt:lpstr>
      <vt:lpstr>Chapter 8</vt:lpstr>
      <vt:lpstr>PowerPoint Presentation</vt:lpstr>
      <vt:lpstr>Pretty Good Privacy (PGP)</vt:lpstr>
      <vt:lpstr>PGP Growth</vt:lpstr>
      <vt:lpstr>PowerPoint Presentation</vt:lpstr>
      <vt:lpstr>PGP Authentication </vt:lpstr>
      <vt:lpstr>PGP Confidentiality</vt:lpstr>
      <vt:lpstr>PGP Confidentiality and Authentication</vt:lpstr>
      <vt:lpstr>PGP Compression</vt:lpstr>
      <vt:lpstr>PGP E-mail Compatibility</vt:lpstr>
      <vt:lpstr>PowerPoint Presentation</vt:lpstr>
      <vt:lpstr>PowerPoint Presentation</vt:lpstr>
      <vt:lpstr>Secure/Multipurpose Internet Mail Extension (S/MIME)</vt:lpstr>
      <vt:lpstr>RFC 5322</vt:lpstr>
      <vt:lpstr>Multipurpose Internet Mail Extensions (MIME)</vt:lpstr>
      <vt:lpstr>The Five Header Fields Defined in MIME </vt:lpstr>
      <vt:lpstr>PowerPoint Presentation</vt:lpstr>
      <vt:lpstr>PowerPoint Presentation</vt:lpstr>
      <vt:lpstr>PowerPoint Presentation</vt:lpstr>
      <vt:lpstr>PowerPoint Presentation</vt:lpstr>
      <vt:lpstr>S/MIME Functionality</vt:lpstr>
      <vt:lpstr>PowerPoint Presentation</vt:lpstr>
      <vt:lpstr>PowerPoint Presentation</vt:lpstr>
      <vt:lpstr>Securing a MIME Entity</vt:lpstr>
      <vt:lpstr>Enveloped Data </vt:lpstr>
      <vt:lpstr>Signed Data</vt:lpstr>
      <vt:lpstr>Clear Signing</vt:lpstr>
      <vt:lpstr>S/MIME Certificate Processing</vt:lpstr>
      <vt:lpstr>User Agent Role</vt:lpstr>
      <vt:lpstr>VeriSign Certificates</vt:lpstr>
      <vt:lpstr>PowerPoint Presentation</vt:lpstr>
      <vt:lpstr>Enhanced Security Services</vt:lpstr>
      <vt:lpstr>DomainKeys Identified Mail (DKIM)</vt:lpstr>
      <vt:lpstr>PowerPoint Presentation</vt:lpstr>
      <vt:lpstr>E-mail Threats</vt:lpstr>
      <vt:lpstr>PowerPoint Presentation</vt:lpstr>
      <vt:lpstr>PowerPoint Presentation</vt:lpstr>
      <vt:lpstr>Summary</vt:lpstr>
    </vt:vector>
  </TitlesOfParts>
  <Manager/>
  <Company>School of Eng &amp; IT,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18</dc:subject>
  <dc:creator>Dr Lawrie Brown</dc:creator>
  <cp:keywords/>
  <dc:description/>
  <cp:lastModifiedBy>ahmad t</cp:lastModifiedBy>
  <cp:revision>61</cp:revision>
  <dcterms:created xsi:type="dcterms:W3CDTF">2013-04-24T23:14:30Z</dcterms:created>
  <dcterms:modified xsi:type="dcterms:W3CDTF">2023-08-08T20:34:14Z</dcterms:modified>
  <cp:category/>
</cp:coreProperties>
</file>