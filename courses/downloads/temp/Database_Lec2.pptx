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62" r:id="rId1"/>
  </p:sldMasterIdLst>
  <p:notesMasterIdLst>
    <p:notesMasterId r:id="rId58"/>
  </p:notesMasterIdLst>
  <p:handoutMasterIdLst>
    <p:handoutMasterId r:id="rId59"/>
  </p:handoutMasterIdLst>
  <p:sldIdLst>
    <p:sldId id="386" r:id="rId2"/>
    <p:sldId id="335" r:id="rId3"/>
    <p:sldId id="336" r:id="rId4"/>
    <p:sldId id="337" r:id="rId5"/>
    <p:sldId id="367" r:id="rId6"/>
    <p:sldId id="338" r:id="rId7"/>
    <p:sldId id="364" r:id="rId8"/>
    <p:sldId id="340" r:id="rId9"/>
    <p:sldId id="341" r:id="rId10"/>
    <p:sldId id="312" r:id="rId11"/>
    <p:sldId id="313" r:id="rId12"/>
    <p:sldId id="342" r:id="rId13"/>
    <p:sldId id="343" r:id="rId14"/>
    <p:sldId id="344" r:id="rId15"/>
    <p:sldId id="345" r:id="rId16"/>
    <p:sldId id="368" r:id="rId17"/>
    <p:sldId id="288" r:id="rId18"/>
    <p:sldId id="347" r:id="rId19"/>
    <p:sldId id="348" r:id="rId20"/>
    <p:sldId id="349" r:id="rId21"/>
    <p:sldId id="350" r:id="rId22"/>
    <p:sldId id="351" r:id="rId23"/>
    <p:sldId id="298" r:id="rId24"/>
    <p:sldId id="306" r:id="rId25"/>
    <p:sldId id="352" r:id="rId26"/>
    <p:sldId id="353" r:id="rId27"/>
    <p:sldId id="354" r:id="rId28"/>
    <p:sldId id="355" r:id="rId29"/>
    <p:sldId id="387" r:id="rId30"/>
    <p:sldId id="356" r:id="rId31"/>
    <p:sldId id="292" r:id="rId32"/>
    <p:sldId id="357" r:id="rId33"/>
    <p:sldId id="305" r:id="rId34"/>
    <p:sldId id="358" r:id="rId35"/>
    <p:sldId id="359" r:id="rId36"/>
    <p:sldId id="360" r:id="rId37"/>
    <p:sldId id="361" r:id="rId38"/>
    <p:sldId id="362" r:id="rId39"/>
    <p:sldId id="318" r:id="rId40"/>
    <p:sldId id="320" r:id="rId41"/>
    <p:sldId id="319" r:id="rId42"/>
    <p:sldId id="321" r:id="rId43"/>
    <p:sldId id="322" r:id="rId44"/>
    <p:sldId id="323" r:id="rId45"/>
    <p:sldId id="324" r:id="rId46"/>
    <p:sldId id="271" r:id="rId47"/>
    <p:sldId id="325" r:id="rId48"/>
    <p:sldId id="326" r:id="rId49"/>
    <p:sldId id="327" r:id="rId50"/>
    <p:sldId id="311" r:id="rId51"/>
    <p:sldId id="282" r:id="rId52"/>
    <p:sldId id="388" r:id="rId53"/>
    <p:sldId id="284" r:id="rId54"/>
    <p:sldId id="285" r:id="rId55"/>
    <p:sldId id="286" r:id="rId56"/>
    <p:sldId id="363" r:id="rId57"/>
  </p:sldIdLst>
  <p:sldSz cx="9144000" cy="6858000" type="screen4x3"/>
  <p:notesSz cx="6997700" cy="9283700"/>
  <p:custShowLst>
    <p:custShow name="Custom Show 1" id="0">
      <p:sldLst>
        <p:sld r:id="rId3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S Sudarshan" initials="SS" lastIdx="1" clrIdx="1">
    <p:extLst>
      <p:ext uri="{19B8F6BF-5375-455C-9EA6-DF929625EA0E}">
        <p15:presenceInfo xmlns:p15="http://schemas.microsoft.com/office/powerpoint/2012/main" userId="b463bc06a992a7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83969" autoAdjust="0"/>
  </p:normalViewPr>
  <p:slideViewPr>
    <p:cSldViewPr snapToGrid="0">
      <p:cViewPr varScale="1">
        <p:scale>
          <a:sx n="93" d="100"/>
          <a:sy n="93" d="100"/>
        </p:scale>
        <p:origin x="2064" y="66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31">
            <a:extLst>
              <a:ext uri="{FF2B5EF4-FFF2-40B4-BE49-F238E27FC236}">
                <a16:creationId xmlns:a16="http://schemas.microsoft.com/office/drawing/2014/main" id="{B26C42E4-F176-46AC-8104-4779642F5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10B590F-A425-41F1-B17D-914592B3C7C4}" type="slidenum">
              <a:rPr lang="en-AU" altLang="en-US" sz="1200" smtClean="0">
                <a:latin typeface="Arial" panose="020B0604020202020204" pitchFamily="34" charset="0"/>
              </a:rPr>
              <a:pPr/>
              <a:t>1</a:t>
            </a:fld>
            <a:endParaRPr lang="en-AU" altLang="en-US" sz="1200">
              <a:latin typeface="Arial" panose="020B060402020202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20A6E00-3243-4C01-996A-9766B4E362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2F24982-4C63-4608-8036-959A8EEC33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solidFill>
                <a:srgbClr val="374151"/>
              </a:solidFill>
              <a:latin typeface="Söhne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2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24B64C8-56F4-412C-A096-460A1996127B}" type="slidenum">
              <a:rPr lang="en-US" altLang="en-US" sz="1200"/>
              <a:pPr/>
              <a:t>4</a:t>
            </a:fld>
            <a:endParaRPr lang="en-US" altLang="en-US" sz="1200" dirty="0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5814F0E-33C5-4FFC-97A8-A1EDBAA0258F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72706" name="Rectangle 2"/>
          <p:cNvSpPr>
            <a:spLocks noChangeArrowheads="1"/>
          </p:cNvSpPr>
          <p:nvPr/>
        </p:nvSpPr>
        <p:spPr bwMode="auto">
          <a:xfrm>
            <a:off x="3965991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7" name="Rectangle 3"/>
          <p:cNvSpPr>
            <a:spLocks noChangeArrowheads="1"/>
          </p:cNvSpPr>
          <p:nvPr/>
        </p:nvSpPr>
        <p:spPr bwMode="auto">
          <a:xfrm>
            <a:off x="3965991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903" tIns="45146" rIns="91903" bIns="45146" anchor="b"/>
          <a:lstStyle>
            <a:lvl1pPr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en-US" altLang="en-US" sz="1300" dirty="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72708" name="Rectangle 4"/>
          <p:cNvSpPr>
            <a:spLocks noChangeArrowheads="1"/>
          </p:cNvSpPr>
          <p:nvPr/>
        </p:nvSpPr>
        <p:spPr bwMode="auto">
          <a:xfrm>
            <a:off x="0" y="8821402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09" name="Rectangle 5"/>
          <p:cNvSpPr>
            <a:spLocks noChangeArrowheads="1"/>
          </p:cNvSpPr>
          <p:nvPr/>
        </p:nvSpPr>
        <p:spPr bwMode="auto">
          <a:xfrm>
            <a:off x="0" y="1"/>
            <a:ext cx="3031710" cy="462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286" tIns="45643" rIns="91286" bIns="45643" anchor="ctr"/>
          <a:lstStyle>
            <a:lvl1pPr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 dirty="0"/>
          </a:p>
        </p:txBody>
      </p:sp>
      <p:sp>
        <p:nvSpPr>
          <p:cNvPr id="72710" name="Rectangle 6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 w="12700" cap="flat"/>
        </p:spPr>
      </p:sp>
      <p:sp>
        <p:nvSpPr>
          <p:cNvPr id="72711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903" tIns="45146" rIns="91903" bIns="45146" anchor="ctr"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81492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6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48DD873-39B1-4B0F-9E11-CA0A5E740CE2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A82168F-E865-405F-BB81-ED9E0172F23B}" type="slidenum">
              <a:rPr lang="en-US" altLang="en-US" sz="1200"/>
              <a:pPr/>
              <a:t>9</a:t>
            </a:fld>
            <a:endParaRPr lang="en-US" altLang="en-US" sz="1200" dirty="0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 </a:t>
            </a:r>
            <a:r>
              <a:rPr lang="en-US" b="1" dirty="0"/>
              <a:t>primary key</a:t>
            </a:r>
            <a:r>
              <a:rPr lang="en-US" dirty="0"/>
              <a:t> is a candidate key chosen to uniquely identify tuples in a </a:t>
            </a:r>
            <a:r>
              <a:rPr lang="en-US" dirty="0" err="1"/>
              <a:t>relation.</a:t>
            </a:r>
            <a:r>
              <a:rPr lang="en-US" b="1" dirty="0" err="1"/>
              <a:t>Which</a:t>
            </a:r>
            <a:r>
              <a:rPr lang="en-US" b="1" dirty="0"/>
              <a:t> candidate key is selected as the primary </a:t>
            </a:r>
            <a:r>
              <a:rPr lang="en-US" b="1" dirty="0" err="1"/>
              <a:t>key?</a:t>
            </a:r>
            <a:r>
              <a:rPr lang="en-US" dirty="0" err="1"/>
              <a:t>This</a:t>
            </a:r>
            <a:r>
              <a:rPr lang="en-US" dirty="0"/>
              <a:t> decision is based on considerations such as simplicity, ease of use, and frequency of access.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  <a:p>
            <a:r>
              <a:rPr lang="en-US" dirty="0"/>
              <a:t>A </a:t>
            </a:r>
            <a:r>
              <a:rPr lang="en-US" b="1" dirty="0"/>
              <a:t>foreign key</a:t>
            </a:r>
            <a:r>
              <a:rPr lang="en-US" dirty="0"/>
              <a:t> enforces a relationship between two relations.</a:t>
            </a:r>
          </a:p>
          <a:p>
            <a:r>
              <a:rPr lang="en-US" dirty="0"/>
              <a:t>A </a:t>
            </a:r>
            <a:r>
              <a:rPr lang="en-US" b="1" dirty="0"/>
              <a:t>foreign key</a:t>
            </a:r>
            <a:r>
              <a:rPr lang="en-US" dirty="0"/>
              <a:t> in one relation must correspond to a </a:t>
            </a:r>
            <a:r>
              <a:rPr lang="en-US" b="1" dirty="0"/>
              <a:t>primary key</a:t>
            </a:r>
            <a:r>
              <a:rPr lang="en-US" dirty="0"/>
              <a:t> in another relation .The relation with the foreign key is called the </a:t>
            </a:r>
            <a:r>
              <a:rPr lang="en-US" b="1" dirty="0"/>
              <a:t>referencing relation</a:t>
            </a:r>
            <a:r>
              <a:rPr lang="en-US" dirty="0"/>
              <a:t>, and the one with the primary key is called the </a:t>
            </a:r>
            <a:r>
              <a:rPr lang="en-US" b="1" dirty="0"/>
              <a:t>referenced relation</a:t>
            </a:r>
            <a:r>
              <a:rPr lang="en-US" dirty="0"/>
              <a:t>.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4C2BF61A-35DD-4975-B143-6026079348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FF489B-0958-447D-874A-5B8F1B9B00AC}" type="slidenum">
              <a:rPr lang="en-US" altLang="en-US" sz="1200" smtClean="0"/>
              <a:pPr/>
              <a:t>10</a:t>
            </a:fld>
            <a:endParaRPr lang="en-US" altLang="en-US" sz="1200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071A0158-EE86-4EA3-9618-6F9B5CF266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22E22E65-38B6-423E-B540-DE24CB65F7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8E8BE3C8-032C-4E35-B121-5DAE0E774F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78C0389-623A-4F48-B25E-EE55148FFCE1}" type="slidenum">
              <a:rPr lang="en-US" altLang="en-US" sz="1200" smtClean="0"/>
              <a:pPr/>
              <a:t>11</a:t>
            </a:fld>
            <a:endParaRPr lang="en-US" altLang="en-US" sz="12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67F95A90-C0F0-4735-A1B0-F7EF6FD67A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92139830-35BC-4866-8F1E-84A0B0B567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1761" indent="-285293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1171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97640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4108" indent="-228234" defTabSz="928787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0577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67045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3514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79982" indent="-228234" defTabSz="928787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F209238-363D-4A4D-99AF-38838EDEB568}" type="slidenum">
              <a:rPr lang="en-US" altLang="en-US" sz="1200"/>
              <a:pPr/>
              <a:t>13</a:t>
            </a:fld>
            <a:endParaRPr lang="en-US" altLang="en-US" sz="1200" dirty="0"/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14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Sigma - </a:t>
            </a:r>
            <a:r>
              <a:rPr lang="el-GR" dirty="0"/>
              <a:t>Σ σ/ς</a:t>
            </a:r>
            <a:endParaRPr lang="en-US" dirty="0"/>
          </a:p>
          <a:p>
            <a:r>
              <a:rPr lang="en-US" dirty="0"/>
              <a:t>Pi - </a:t>
            </a:r>
            <a:r>
              <a:rPr lang="el-GR" dirty="0"/>
              <a:t>Π π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33648DA-533A-4CF4-BE6A-7CC0C8DD9180}" type="slidenum">
              <a:rPr lang="en-US" altLang="en-US" sz="1300">
                <a:latin typeface="Times New Roman" panose="02020603050405020304" pitchFamily="18" charset="0"/>
              </a:rPr>
              <a:pPr/>
              <a:t>16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2127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889CE2B5-5AF1-47CE-875C-17D13B5F63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F46D7B9-F006-4FB8-AB4C-59C36AC901B6}" type="slidenum">
              <a:rPr lang="en-US" altLang="en-US" sz="1200" smtClean="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4A8AB2DD-43E9-41A4-A133-8ED7A5C766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EC447CF9-7A81-4202-8836-64095075E8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4AE86D-105E-4E6D-B77F-4AC8A2CFF942}" type="slidenum">
              <a:rPr lang="en-US" altLang="en-US" sz="1300">
                <a:latin typeface="Times New Roman" panose="02020603050405020304" pitchFamily="18" charset="0"/>
              </a:rPr>
              <a:pPr/>
              <a:t>19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21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4B7984-B6AD-4D3E-800B-506D1974D9BE}" type="slidenum">
              <a:rPr lang="en-US" altLang="en-US" sz="1300">
                <a:latin typeface="Times New Roman" panose="02020603050405020304" pitchFamily="18" charset="0"/>
              </a:rPr>
              <a:pPr/>
              <a:t>22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90030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4C975E35-EBED-45C7-B49F-CC296FC2EB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A23F938-2806-4FCC-BB5E-BAC94D7B4EF4}" type="slidenum">
              <a:rPr lang="en-US" altLang="en-US" sz="1200" smtClean="0">
                <a:latin typeface="Times New Roman" panose="02020603050405020304" pitchFamily="18" charset="0"/>
              </a:rPr>
              <a:pPr/>
              <a:t>23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72D0571E-B05E-45EC-9153-4CA180C803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B21DB67B-E9AA-49A4-85C3-12D0ED6210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B208076A-02DC-4F40-B506-6147888FA9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B6DC43E-7D52-4DEF-88BD-25C6DBF70420}" type="slidenum">
              <a:rPr lang="en-US" altLang="en-US" sz="1200" smtClean="0">
                <a:latin typeface="Times New Roman" panose="02020603050405020304" pitchFamily="18" charset="0"/>
              </a:rPr>
              <a:pPr/>
              <a:t>24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9C216FD-246F-402E-B599-715765BB3C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5E2CEE5C-A306-497F-8285-C29B1C5726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27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29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81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E6BB600-5F46-4F6C-928D-3BCCB73D5636}" type="slidenum">
              <a:rPr lang="en-US" altLang="en-US" sz="1300">
                <a:latin typeface="Times New Roman" panose="02020603050405020304" pitchFamily="18" charset="0"/>
              </a:rPr>
              <a:pPr/>
              <a:t>30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4C94886D-66F3-4AD1-BEC4-5BC4C1FBC9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A1C98CC-2121-4741-856A-87A0D4D57383}" type="slidenum">
              <a:rPr lang="en-US" altLang="en-US" sz="1200" smtClean="0">
                <a:latin typeface="Times New Roman" panose="02020603050405020304" pitchFamily="18" charset="0"/>
              </a:rPr>
              <a:pPr/>
              <a:t>31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726932DF-30DA-4E7F-ABB6-320D02685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2178F99-C444-43D5-9B35-F32D6B1BB8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351035C-5808-407C-8457-78863416B201}" type="slidenum">
              <a:rPr lang="en-US" altLang="en-US" sz="1300">
                <a:latin typeface="Times New Roman" panose="02020603050405020304" pitchFamily="18" charset="0"/>
              </a:rPr>
              <a:pPr/>
              <a:t>32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6B43A4B-88C9-4A28-B29A-1078BD2DF4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E83DE8E-A63A-491C-B4BB-0F8C22DD1D62}" type="slidenum">
              <a:rPr lang="en-US" altLang="en-US" sz="1200" smtClean="0">
                <a:latin typeface="Times New Roman" panose="02020603050405020304" pitchFamily="18" charset="0"/>
              </a:rPr>
              <a:pPr/>
              <a:t>33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AAEC023B-DF22-4DA2-9B0C-FC130D9131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3330359E-C834-4D33-877B-854FEF7E0C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 rtl="1"/>
            <a:r>
              <a:rPr lang="fa-IR" altLang="en-US" dirty="0">
                <a:latin typeface="Times New Roman" panose="02020603050405020304" pitchFamily="18" charset="0"/>
                <a:ea typeface="ＭＳ Ｐゴシック" panose="020B0600070205080204" pitchFamily="34" charset="-128"/>
                <a:cs typeface="B Nazanin" panose="00000400000000000000" pitchFamily="2" charset="-78"/>
              </a:rPr>
              <a:t>روابط ورودی برای عملگرهای اجتماع اشتراک و تفاضل باید همتا باشند یعنی تعداد صفتهای دو رابطه مساوی و صفتها به ترتیب دارای دامنه یکسان باشند. </a:t>
            </a:r>
          </a:p>
          <a:p>
            <a:pPr algn="r" rtl="1"/>
            <a:endParaRPr lang="en-IN" altLang="en-US" dirty="0">
              <a:latin typeface="Times New Roman" panose="02020603050405020304" pitchFamily="18" charset="0"/>
              <a:ea typeface="ＭＳ Ｐゴシック" panose="020B0600070205080204" pitchFamily="34" charset="-128"/>
              <a:cs typeface="B Nazanin" panose="00000400000000000000" pitchFamily="2" charset="-7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434B2C1-B6FF-4E08-B576-E580E4C742E5}" type="slidenum">
              <a:rPr lang="en-US" altLang="en-US" sz="1300">
                <a:latin typeface="Times New Roman" panose="02020603050405020304" pitchFamily="18" charset="0"/>
              </a:rPr>
              <a:pPr/>
              <a:t>34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35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Sigma - </a:t>
            </a:r>
            <a:r>
              <a:rPr lang="el-GR" dirty="0"/>
              <a:t>Σ σ/ς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36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Rho - </a:t>
            </a:r>
            <a:r>
              <a:rPr lang="el-GR" dirty="0"/>
              <a:t>Ρ ρ</a:t>
            </a:r>
            <a:endParaRPr lang="en-US" alt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37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873" indent="-285721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2883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036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189" indent="-228577" defTabSz="930179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343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496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8649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5802" indent="-228577" defTabSz="930179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CB64798-7BD6-4B88-81ED-0C1AFAB11F92}" type="slidenum">
              <a:rPr lang="en-US" altLang="en-US" sz="1300">
                <a:latin typeface="Times New Roman" panose="02020603050405020304" pitchFamily="18" charset="0"/>
              </a:rPr>
              <a:pPr/>
              <a:t>38</a:t>
            </a:fld>
            <a:endParaRPr lang="en-US" altLang="en-US" sz="1300" dirty="0">
              <a:latin typeface="Times New Roman" panose="02020603050405020304" pitchFamily="18" charset="0"/>
            </a:endParaRPr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0196416-E391-481D-BFA8-3DFA64E8B9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B754706-A462-40D8-9AE7-1FE34BC139C5}" type="slidenum">
              <a:rPr lang="en-US" altLang="en-US" sz="1200" smtClean="0"/>
              <a:pPr/>
              <a:t>39</a:t>
            </a:fld>
            <a:endParaRPr lang="en-US" altLang="en-US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6826903-2856-42F4-A8A5-B7ADBF88B4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37E8A924-249A-4B82-8078-FB1EAFA2A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9ECA1742-93E5-4EB9-8F99-310DD99A4A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601BDDA-7CBD-4422-B119-552C008ACE93}" type="slidenum">
              <a:rPr lang="en-US" altLang="en-US" sz="1200" smtClean="0"/>
              <a:pPr/>
              <a:t>40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D1689679-0678-4184-A454-D84AF107AF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3D386551-B8A9-4014-9D40-30F174D6DF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922490E6-2ACA-4DDE-8651-193470EDDB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910E9A8-A684-424D-AB45-B24D2192F354}" type="slidenum">
              <a:rPr lang="en-US" altLang="en-US" sz="1200" smtClean="0"/>
              <a:pPr/>
              <a:t>41</a:t>
            </a:fld>
            <a:endParaRPr lang="en-US" altLang="en-US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7DA0EDFA-AE47-43C7-B55D-AC4248E80B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43082F98-6B11-4707-9387-A2761E51A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2B44B031-4213-4811-8F9A-D986964AAC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5BE3D77-CAD5-45EC-8CFA-74886D12114C}" type="slidenum">
              <a:rPr lang="en-US" altLang="en-US" sz="1200" smtClean="0"/>
              <a:pPr/>
              <a:t>42</a:t>
            </a:fld>
            <a:endParaRPr lang="en-US" altLang="en-US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843577AA-6D4B-4995-B734-235D9635F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4715EC39-5644-4278-9FFA-A57DBEE42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3647A693-EA4F-42DC-9C5B-3EEC0442FB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C313E09-1AEC-4865-8A45-CAB731DEC8ED}" type="slidenum">
              <a:rPr lang="en-US" altLang="en-US" sz="1200" smtClean="0"/>
              <a:pPr/>
              <a:t>43</a:t>
            </a:fld>
            <a:endParaRPr lang="en-US" altLang="en-US" sz="120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740066E8-0FA0-4F2D-8FF3-81ED823470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187087BD-DDEB-4E16-8EA2-C6AE209B2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AACDCFFE-C255-4988-829F-4B539BEE72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E324E99-B9E0-4BAF-9FF3-10F5FF6F3E4C}" type="slidenum">
              <a:rPr lang="en-US" altLang="en-US" sz="1200" smtClean="0"/>
              <a:pPr/>
              <a:t>44</a:t>
            </a:fld>
            <a:endParaRPr lang="en-US" altLang="en-US" sz="120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79F80040-142C-44F8-BF9E-D85BA07CAA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64800F08-F18C-45C1-83A1-016E44DE1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9A729C35-C5E9-45D6-95DA-F1AE2FC01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B6DF9A-F6E7-4BEB-8818-95A2D7702951}" type="slidenum">
              <a:rPr lang="en-US" altLang="en-US" sz="1200" smtClean="0"/>
              <a:pPr/>
              <a:t>45</a:t>
            </a:fld>
            <a:endParaRPr lang="en-US" altLang="en-US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9CBC3A6E-E69F-4D16-A4A4-BEF3A17C4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F93199B-62F6-40A7-AB5D-CE52E0A3EE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273F668-529F-4C05-8549-2D8ECD8158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3267A9E-E17C-4E53-ADC9-B1BD2FC2B8E4}" type="slidenum">
              <a:rPr lang="en-US" altLang="en-US" sz="1200" smtClean="0"/>
              <a:pPr/>
              <a:t>47</a:t>
            </a:fld>
            <a:endParaRPr lang="en-US" altLang="en-US" sz="120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BB9FCC4D-0369-496A-AF2A-ABD1C40E3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18267C29-77FC-48F5-9ABC-D744544A3E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0A098ADF-A3B8-4789-94DB-FB16AC586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351906-41A4-42D4-B888-967EE50BF679}" type="slidenum">
              <a:rPr lang="en-US" altLang="en-US" sz="1200" smtClean="0"/>
              <a:pPr/>
              <a:t>48</a:t>
            </a:fld>
            <a:endParaRPr lang="en-US" altLang="en-US" sz="120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9C5BA50-4209-45CE-9116-3DBD894F5E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BF8B8D82-0B71-4CFB-953B-887BA7C4F1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6A6AF792-3FCF-47DA-A567-FDE40729EF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9F3BE91-B721-4651-822A-C23C03049231}" type="slidenum">
              <a:rPr lang="en-US" altLang="en-US" sz="1200" smtClean="0"/>
              <a:pPr/>
              <a:t>49</a:t>
            </a:fld>
            <a:endParaRPr lang="en-US" altLang="en-US" sz="120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ADDD5675-0AB9-4103-B5DE-FEEE498876D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B7EA63DE-E560-4C46-8273-65B0116610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4DC10031-B689-4462-9CB3-6318B40F5E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D8D401-1EF7-4958-A61C-2BCDC7723E1A}" type="slidenum">
              <a:rPr lang="en-US" altLang="en-US" sz="1200" smtClean="0"/>
              <a:pPr/>
              <a:t>50</a:t>
            </a:fld>
            <a:endParaRPr lang="en-US" altLang="en-US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0422019A-66FE-4317-A797-350BE925AC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75CD0AEF-C950-48EA-BE0E-BC43827BD3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09587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b="1" dirty="0"/>
              <a:t>✅ A ÷ B1</a:t>
            </a:r>
          </a:p>
          <a:p>
            <a:pPr algn="r" rtl="1"/>
            <a:r>
              <a:rPr lang="fa-IR" dirty="0"/>
              <a:t>به معنای یافتن تمام </a:t>
            </a:r>
            <a:r>
              <a:rPr lang="fa-IR" b="1" dirty="0"/>
              <a:t>تأمین‌کننده‌هایی (</a:t>
            </a:r>
            <a:r>
              <a:rPr lang="en-US" b="1" dirty="0" err="1"/>
              <a:t>sno</a:t>
            </a:r>
            <a:r>
              <a:rPr lang="en-US" b="1" dirty="0"/>
              <a:t>)</a:t>
            </a:r>
            <a:r>
              <a:rPr lang="en-US" dirty="0"/>
              <a:t> </a:t>
            </a:r>
            <a:r>
              <a:rPr lang="fa-IR" dirty="0"/>
              <a:t>است که قطعات موجود در </a:t>
            </a:r>
            <a:r>
              <a:rPr lang="en-US" dirty="0"/>
              <a:t>B1 (</a:t>
            </a:r>
            <a:r>
              <a:rPr lang="fa-IR" dirty="0"/>
              <a:t>یعنی فقط </a:t>
            </a:r>
            <a:r>
              <a:rPr lang="en-US" dirty="0"/>
              <a:t>p2) </a:t>
            </a:r>
            <a:r>
              <a:rPr lang="fa-IR" dirty="0"/>
              <a:t>را تأمین می‌کنند.</a:t>
            </a:r>
            <a:endParaRPr lang="en-US" dirty="0"/>
          </a:p>
          <a:p>
            <a:pPr algn="r" rtl="1"/>
            <a:endParaRPr lang="en-US" dirty="0"/>
          </a:p>
          <a:p>
            <a:pPr algn="r" rtl="1"/>
            <a:r>
              <a:rPr lang="en-US" b="1" dirty="0"/>
              <a:t>✅ A ÷ B3</a:t>
            </a:r>
          </a:p>
          <a:p>
            <a:pPr algn="r" rtl="1"/>
            <a:r>
              <a:rPr lang="fa-IR" dirty="0"/>
              <a:t>در اینجا باید تأمین‌کننده‌هایی را بیابیم که هر سه قطعه‌ی </a:t>
            </a:r>
            <a:r>
              <a:rPr lang="en-US" dirty="0"/>
              <a:t>p1، p2 </a:t>
            </a:r>
            <a:r>
              <a:rPr lang="fa-IR" dirty="0"/>
              <a:t>و </a:t>
            </a:r>
            <a:r>
              <a:rPr lang="en-US" dirty="0"/>
              <a:t>p4 </a:t>
            </a:r>
            <a:r>
              <a:rPr lang="fa-IR" dirty="0"/>
              <a:t>را تأمین کنند.</a:t>
            </a:r>
          </a:p>
          <a:p>
            <a:pPr algn="r" rtl="1"/>
            <a:endParaRPr lang="fa-I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E66C03C-4B0E-4149-8287-A3B340EB818D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063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7">
            <a:extLst>
              <a:ext uri="{FF2B5EF4-FFF2-40B4-BE49-F238E27FC236}">
                <a16:creationId xmlns:a16="http://schemas.microsoft.com/office/drawing/2014/main" id="{3B824858-D1FC-4D05-A041-6B7ADBE511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pic>
        <p:nvPicPr>
          <p:cNvPr id="4" name="Picture 11" descr="Cover-6Ed">
            <a:extLst>
              <a:ext uri="{FF2B5EF4-FFF2-40B4-BE49-F238E27FC236}">
                <a16:creationId xmlns:a16="http://schemas.microsoft.com/office/drawing/2014/main" id="{18F428B9-7195-4F57-AF63-E4A9D8CD83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0"/>
            <a:ext cx="1330325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FCF00C-44D2-4DAB-8FFD-D10102022EE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ADD8DEBD-898F-47E3-B439-B7F4B77DCB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7102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cs typeface="B Nazani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710" y="1093788"/>
            <a:ext cx="8555839" cy="5288905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2000">
                <a:cs typeface="B Nazanin" panose="00000400000000000000" pitchFamily="2" charset="-78"/>
              </a:defRPr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2000">
                <a:cs typeface="B Nazanin" panose="00000400000000000000" pitchFamily="2" charset="-78"/>
              </a:defRPr>
            </a:lvl2pPr>
            <a:lvl3pPr marL="1085850" indent="-228600">
              <a:buFont typeface="Wingdings" panose="05000000000000000000" pitchFamily="2" charset="2"/>
              <a:buChar char="§"/>
              <a:defRPr sz="2000">
                <a:cs typeface="B Nazanin" panose="00000400000000000000" pitchFamily="2" charset="-78"/>
              </a:defRPr>
            </a:lvl3pPr>
            <a:lvl4pPr marL="1428750" indent="-228600">
              <a:buFont typeface="Arial" panose="020B0604020202020204" pitchFamily="34" charset="0"/>
              <a:buChar char="•"/>
              <a:defRPr sz="2000">
                <a:cs typeface="B Nazanin" panose="00000400000000000000" pitchFamily="2" charset="-78"/>
              </a:defRPr>
            </a:lvl4pPr>
            <a:lvl5pPr marL="1771650" indent="-228600">
              <a:buFont typeface="Wingdings" panose="05000000000000000000" pitchFamily="2" charset="2"/>
              <a:buChar char="§"/>
              <a:defRPr sz="2000">
                <a:cs typeface="B Nazanin" panose="00000400000000000000" pitchFamily="2" charset="-7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78335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A70D55-6B89-4FBD-8EDA-9DB357D4803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F8932-DE11-41D2-8F5F-F6C91B11388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9422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B0740F3-B76E-4043-91C9-D76CE8D0AE8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D88414-175B-4785-BEBD-C347E968E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470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3664E68-6662-4010-A6E8-FF6294756F0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C06BFB-2E11-4999-AD66-67677BC72E6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03238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E48AB69-0D09-431E-A361-3BC3A0C7519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A32BBC-A29E-4B84-809F-169E3D623CDF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8971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2A2769D-4840-425C-82B3-82E2BD096DF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C1EFD-4131-4EE6-8842-FE51BBBF3C1C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5429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0FCC82-A10A-4249-BE3C-30A3818712C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79BB6A-39A7-436B-BBF4-5F7C857EBE1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44647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05B0599-BFB7-43E9-9A10-6C35573F587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BA554-7D95-4375-943A-676624D8DFE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9162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9E58FA-2701-4089-BED0-ED4504B31C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84B68-EE10-40DB-86C4-ECB61F986744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0123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D4DF82-9343-4D6D-A76D-75BD6EC7AA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3A4818-A1CF-4D3D-BEF0-CEF2FAF585C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1527366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F8AF6A-7417-414C-9EB6-4C13160AA17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116BEB-6062-461A-AF49-3C8F094D6C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73436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2585086-EE90-497D-93B1-CA9810D2C7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7500" y="1093788"/>
            <a:ext cx="8599488" cy="5307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09F098C3-0453-4B17-944A-7582B1D8667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0730C3E9-3565-488E-AB92-2BC48C8CC962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9D2F09C8-E397-469C-84E6-283AA902D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91525" y="6643688"/>
            <a:ext cx="752475" cy="24765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Database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C99B81AF-1E34-452D-A29A-22FA9696AA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79925" y="6613525"/>
            <a:ext cx="44767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1.</a:t>
            </a:r>
            <a:fld id="{AC6F3C8E-B910-47D3-9FC6-86B6F864454C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ADBFB4FE-43F4-4FA0-B051-0D44F560CC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880E5318-7384-4990-8CA8-5173B7F3BF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13430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Dr. A. Taghinezhad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6CDA35BA-8F04-4DFE-86B0-545ADDF4393D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033" name="Picture 8" descr="Cover-6Ed">
            <a:extLst>
              <a:ext uri="{FF2B5EF4-FFF2-40B4-BE49-F238E27FC236}">
                <a16:creationId xmlns:a16="http://schemas.microsoft.com/office/drawing/2014/main" id="{09FE16CA-1C16-4120-A527-DE70F697BD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74295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434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ＭＳ Ｐゴシック" panose="020B0600070205080204" pitchFamily="34" charset="-128"/>
          <a:cs typeface="B Nazanin" panose="00000400000000000000" pitchFamily="2" charset="-7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B Nazanin" panose="00000400000000000000" pitchFamily="2" charset="-7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B Nazanin" panose="00000400000000000000" pitchFamily="2" charset="-7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B Nazanin" panose="00000400000000000000" pitchFamily="2" charset="-7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B Nazanin" panose="00000400000000000000" pitchFamily="2" charset="-7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charset="2"/>
        <a:buChar char="n"/>
        <a:defRPr kumimoji="1" sz="2000">
          <a:solidFill>
            <a:schemeClr val="tx1"/>
          </a:solidFill>
          <a:latin typeface="+mn-lt"/>
          <a:ea typeface="ＭＳ Ｐゴシック" panose="020B0600070205080204" pitchFamily="34" charset="-128"/>
          <a:cs typeface="B Nazanin" panose="00000400000000000000" pitchFamily="2" charset="-7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charset="2"/>
        <a:buChar char="l"/>
        <a:defRPr kumimoji="1" sz="2000">
          <a:solidFill>
            <a:schemeClr val="tx1"/>
          </a:solidFill>
          <a:latin typeface="+mn-lt"/>
          <a:ea typeface="ＭＳ Ｐゴシック" panose="020B0600070205080204" pitchFamily="34" charset="-128"/>
          <a:cs typeface="B Nazanin" panose="00000400000000000000" pitchFamily="2" charset="-7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2000">
          <a:solidFill>
            <a:schemeClr val="tx1"/>
          </a:solidFill>
          <a:latin typeface="+mn-lt"/>
          <a:ea typeface="ＭＳ Ｐゴシック" panose="020B0600070205080204" pitchFamily="34" charset="-128"/>
          <a:cs typeface="B Nazanin" panose="00000400000000000000" pitchFamily="2" charset="-7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2000">
          <a:solidFill>
            <a:schemeClr val="tx1"/>
          </a:solidFill>
          <a:latin typeface="+mn-lt"/>
          <a:ea typeface="ＭＳ Ｐゴシック" panose="020B0600070205080204" pitchFamily="34" charset="-128"/>
          <a:cs typeface="B Nazanin" panose="00000400000000000000" pitchFamily="2" charset="-7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2000">
          <a:solidFill>
            <a:schemeClr val="tx1"/>
          </a:solidFill>
          <a:latin typeface="+mn-lt"/>
          <a:ea typeface="ＭＳ Ｐゴシック" panose="020B0600070205080204" pitchFamily="34" charset="-128"/>
          <a:cs typeface="B Nazanin" panose="00000400000000000000" pitchFamily="2" charset="-7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0taghinezhad@g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28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sv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9FA7267-592D-48E8-A65B-FA6DE5F328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9863" y="817563"/>
            <a:ext cx="3959225" cy="1692275"/>
          </a:xfrm>
        </p:spPr>
        <p:txBody>
          <a:bodyPr/>
          <a:lstStyle/>
          <a:p>
            <a:pPr>
              <a:defRPr/>
            </a:pPr>
            <a:r>
              <a:rPr lang="fa-IR" sz="3200" dirty="0">
                <a:cs typeface="B Nazanin" panose="00000400000000000000" pitchFamily="2" charset="-78"/>
              </a:rPr>
              <a:t>اصول طراحی پایگاه داده</a:t>
            </a:r>
            <a:br>
              <a:rPr lang="en-US" sz="3200" dirty="0">
                <a:cs typeface="B Nazanin" panose="00000400000000000000" pitchFamily="2" charset="-78"/>
              </a:rPr>
            </a:br>
            <a:endParaRPr lang="en-AU" sz="3200" dirty="0">
              <a:cs typeface="B Nazanin" panose="00000400000000000000" pitchFamily="2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D51C1D5-14E8-49FC-BE3B-A1533D38312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68300" y="2392363"/>
            <a:ext cx="3959225" cy="3200400"/>
          </a:xfrm>
        </p:spPr>
        <p:txBody>
          <a:bodyPr/>
          <a:lstStyle/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  <p:sp>
        <p:nvSpPr>
          <p:cNvPr id="5124" name="TextBox 5">
            <a:extLst>
              <a:ext uri="{FF2B5EF4-FFF2-40B4-BE49-F238E27FC236}">
                <a16:creationId xmlns:a16="http://schemas.microsoft.com/office/drawing/2014/main" id="{4FEE82E7-C616-41E2-B3BD-EE56DD0A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13" y="4826000"/>
            <a:ext cx="457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Consolas" panose="020B0609020204030204" pitchFamily="49" charset="0"/>
                <a:cs typeface="Tahoma" panose="020B0604030504040204" pitchFamily="34" charset="0"/>
              </a:rPr>
              <a:t>Mail: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Tx/>
              <a:buSzTx/>
              <a:buFontTx/>
              <a:buNone/>
            </a:pPr>
            <a:r>
              <a:rPr kumimoji="0" lang="en-US" altLang="en-US" sz="2000">
                <a:latin typeface="Consolas" panose="020B0609020204030204" pitchFamily="49" charset="0"/>
                <a:cs typeface="Tahoma" panose="020B0604030504040204" pitchFamily="34" charset="0"/>
              </a:rPr>
              <a:t> </a:t>
            </a:r>
            <a:r>
              <a:rPr kumimoji="0" lang="en-US" altLang="en-US" sz="2000">
                <a:latin typeface="Consolas" panose="020B0609020204030204" pitchFamily="49" charset="0"/>
                <a:cs typeface="Tahoma" panose="020B0604030504040204" pitchFamily="34" charset="0"/>
                <a:hlinkClick r:id="rId3"/>
              </a:rPr>
              <a:t>a0taghinezhad@gmail.com</a:t>
            </a:r>
            <a:endParaRPr kumimoji="0" lang="en-US" altLang="en-US" sz="2000">
              <a:latin typeface="Consolas" panose="020B0609020204030204" pitchFamily="49" charset="0"/>
              <a:cs typeface="Tahoma" panose="020B0604030504040204" pitchFamily="34" charset="0"/>
            </a:endParaRPr>
          </a:p>
        </p:txBody>
      </p:sp>
      <p:sp>
        <p:nvSpPr>
          <p:cNvPr id="5125" name="TextBox 7">
            <a:extLst>
              <a:ext uri="{FF2B5EF4-FFF2-40B4-BE49-F238E27FC236}">
                <a16:creationId xmlns:a16="http://schemas.microsoft.com/office/drawing/2014/main" id="{2FF850A1-8C25-4658-AC31-8379F57E63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4475" y="2873375"/>
            <a:ext cx="4572000" cy="42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0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charset="0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>
                <a:latin typeface="Comic Sans MS" panose="030F0702030302020204" pitchFamily="66" charset="0"/>
              </a:rPr>
              <a:t>By Dr. Taghinezhad</a:t>
            </a:r>
          </a:p>
        </p:txBody>
      </p:sp>
      <p:pic>
        <p:nvPicPr>
          <p:cNvPr id="5126" name="Picture 2">
            <a:extLst>
              <a:ext uri="{FF2B5EF4-FFF2-40B4-BE49-F238E27FC236}">
                <a16:creationId xmlns:a16="http://schemas.microsoft.com/office/drawing/2014/main" id="{0200785A-BE07-49DD-BF0A-C98081D5EB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088" y="229024"/>
            <a:ext cx="4943475" cy="6281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fa-I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فصل ۲: مقدمه‌ای بر مدل رابطه‌ای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r>
              <a:rPr lang="en-US" altLang="en-US" sz="2800" dirty="0"/>
              <a:t>Outline</a:t>
            </a:r>
          </a:p>
        </p:txBody>
      </p:sp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104900"/>
            <a:ext cx="7496760" cy="3298934"/>
          </a:xfrm>
        </p:spPr>
        <p:txBody>
          <a:bodyPr lIns="90488" tIns="44450" rIns="90488" bIns="44450"/>
          <a:lstStyle/>
          <a:p>
            <a:pPr algn="r" rt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a-IR" sz="1800" b="1" dirty="0">
                <a:cs typeface="B Nazanin" panose="00000400000000000000" pitchFamily="50" charset="-78"/>
              </a:rPr>
              <a:t>ساختار پایگاه‌های داده رابطه‌ای</a:t>
            </a:r>
            <a:endParaRPr lang="fa-IR" sz="1800" dirty="0">
              <a:cs typeface="B Nazanin" panose="00000400000000000000" pitchFamily="50" charset="-78"/>
            </a:endParaRPr>
          </a:p>
          <a:p>
            <a:pPr algn="r" rt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a-IR" sz="1800" b="1" dirty="0">
                <a:cs typeface="B Nazanin" panose="00000400000000000000" pitchFamily="50" charset="-78"/>
              </a:rPr>
              <a:t>طرح </a:t>
            </a:r>
            <a:r>
              <a:rPr lang="en-US" sz="1800" b="1" dirty="0">
                <a:cs typeface="B Nazanin" panose="00000400000000000000" pitchFamily="50" charset="-78"/>
              </a:rPr>
              <a:t> (Schema) </a:t>
            </a:r>
            <a:r>
              <a:rPr lang="fa-IR" sz="1800" b="1" dirty="0">
                <a:cs typeface="B Nazanin" panose="00000400000000000000" pitchFamily="50" charset="-78"/>
              </a:rPr>
              <a:t>پایگاه داده</a:t>
            </a:r>
            <a:endParaRPr lang="fa-IR" sz="1800" dirty="0">
              <a:cs typeface="B Nazanin" panose="00000400000000000000" pitchFamily="50" charset="-78"/>
            </a:endParaRPr>
          </a:p>
          <a:p>
            <a:pPr algn="r" rt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a-IR" sz="1800" b="1" dirty="0">
                <a:cs typeface="B Nazanin" panose="00000400000000000000" pitchFamily="50" charset="-78"/>
              </a:rPr>
              <a:t>کلیدها </a:t>
            </a:r>
            <a:r>
              <a:rPr lang="en-US" sz="1800" b="1" dirty="0">
                <a:cs typeface="B Nazanin" panose="00000400000000000000" pitchFamily="50" charset="-78"/>
              </a:rPr>
              <a:t>(Keys)</a:t>
            </a:r>
            <a:endParaRPr lang="en-US" sz="1800" dirty="0">
              <a:cs typeface="B Nazanin" panose="00000400000000000000" pitchFamily="50" charset="-78"/>
            </a:endParaRPr>
          </a:p>
          <a:p>
            <a:pPr algn="r" rt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a-IR" sz="1800" b="1" dirty="0">
                <a:cs typeface="B Nazanin" panose="00000400000000000000" pitchFamily="50" charset="-78"/>
              </a:rPr>
              <a:t>نمودارهای طرح </a:t>
            </a:r>
            <a:r>
              <a:rPr lang="en-US" sz="1800" b="1" dirty="0">
                <a:cs typeface="B Nazanin" panose="00000400000000000000" pitchFamily="50" charset="-78"/>
              </a:rPr>
              <a:t>(Schema Diagrams)</a:t>
            </a:r>
            <a:endParaRPr lang="en-US" sz="1800" dirty="0">
              <a:cs typeface="B Nazanin" panose="00000400000000000000" pitchFamily="50" charset="-78"/>
            </a:endParaRPr>
          </a:p>
          <a:p>
            <a:pPr algn="r" rt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a-IR" sz="1800" b="1" dirty="0">
                <a:cs typeface="B Nazanin" panose="00000400000000000000" pitchFamily="50" charset="-78"/>
              </a:rPr>
              <a:t>زبان‌های پرس‌وجوی رابطه‌ای </a:t>
            </a:r>
            <a:r>
              <a:rPr lang="en-US" sz="1800" b="1" dirty="0">
                <a:cs typeface="B Nazanin" panose="00000400000000000000" pitchFamily="50" charset="-78"/>
              </a:rPr>
              <a:t>(Relational Query Languages)</a:t>
            </a:r>
            <a:endParaRPr lang="en-US" sz="1800" dirty="0">
              <a:cs typeface="B Nazanin" panose="00000400000000000000" pitchFamily="50" charset="-78"/>
            </a:endParaRPr>
          </a:p>
          <a:p>
            <a:pPr algn="r" rtl="1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fa-IR" sz="1800" b="1" dirty="0">
                <a:cs typeface="B Nazanin" panose="00000400000000000000" pitchFamily="50" charset="-78"/>
              </a:rPr>
              <a:t>جبر رابطه‌ای </a:t>
            </a:r>
            <a:r>
              <a:rPr lang="en-US" sz="1800" b="1" dirty="0">
                <a:cs typeface="B Nazanin" panose="00000400000000000000" pitchFamily="50" charset="-78"/>
              </a:rPr>
              <a:t>(The Relational Algebra)</a:t>
            </a:r>
            <a:endParaRPr lang="en-US" sz="1800" dirty="0">
              <a:cs typeface="B Nazanin" panose="00000400000000000000" pitchFamily="50" charset="-78"/>
            </a:endParaRPr>
          </a:p>
          <a:p>
            <a:pPr algn="r" rtl="1"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altLang="en-US" dirty="0">
              <a:cs typeface="B Nazanin" panose="00000400000000000000" pitchFamily="50" charset="-78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مثال از رابطه‌ی مربوط به اساتید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7233677" y="1333500"/>
            <a:ext cx="10679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fa-IR" altLang="en-US" sz="1800" dirty="0">
                <a:cs typeface="B Nazanin" panose="00000400000000000000" pitchFamily="50" charset="-78"/>
              </a:rPr>
              <a:t>ویژگی‌ها</a:t>
            </a:r>
            <a:endParaRPr lang="en-US" altLang="en-US" sz="1800" dirty="0">
              <a:cs typeface="B Nazanin" panose="00000400000000000000" pitchFamily="50" charset="-78"/>
            </a:endParaRPr>
          </a:p>
          <a:p>
            <a:pPr algn="ctr"/>
            <a:r>
              <a:rPr lang="en-US" altLang="en-US" sz="1800" dirty="0">
                <a:cs typeface="B Nazanin" panose="00000400000000000000" pitchFamily="50" charset="-78"/>
              </a:rPr>
              <a:t>(</a:t>
            </a:r>
            <a:r>
              <a:rPr lang="fa-IR" altLang="en-US" sz="1800" dirty="0">
                <a:cs typeface="B Nazanin" panose="00000400000000000000" pitchFamily="50" charset="-78"/>
              </a:rPr>
              <a:t>یا ستون‌ها</a:t>
            </a:r>
            <a:r>
              <a:rPr lang="en-US" altLang="en-US" sz="1800" dirty="0">
                <a:cs typeface="B Nazanin" panose="00000400000000000000" pitchFamily="50" charset="-78"/>
              </a:rPr>
              <a:t>)</a:t>
            </a:r>
            <a:endParaRPr lang="en-US" altLang="en-US" dirty="0">
              <a:cs typeface="B Nazanin" panose="00000400000000000000" pitchFamily="50" charset="-78"/>
            </a:endParaRPr>
          </a:p>
        </p:txBody>
      </p:sp>
      <p:sp>
        <p:nvSpPr>
          <p:cNvPr id="5124" name="Line 5"/>
          <p:cNvSpPr>
            <a:spLocks noChangeShapeType="1"/>
          </p:cNvSpPr>
          <p:nvPr/>
        </p:nvSpPr>
        <p:spPr bwMode="auto">
          <a:xfrm flipH="1">
            <a:off x="3238499" y="1565275"/>
            <a:ext cx="3927475" cy="3508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5" name="Line 6"/>
          <p:cNvSpPr>
            <a:spLocks noChangeShapeType="1"/>
          </p:cNvSpPr>
          <p:nvPr/>
        </p:nvSpPr>
        <p:spPr bwMode="auto">
          <a:xfrm flipH="1">
            <a:off x="4608513" y="1546225"/>
            <a:ext cx="2557461" cy="369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6" name="Line 7"/>
          <p:cNvSpPr>
            <a:spLocks noChangeShapeType="1"/>
          </p:cNvSpPr>
          <p:nvPr/>
        </p:nvSpPr>
        <p:spPr bwMode="auto">
          <a:xfrm flipH="1">
            <a:off x="5819775" y="1565275"/>
            <a:ext cx="1320800" cy="3603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7" name="Text Box 8"/>
          <p:cNvSpPr txBox="1">
            <a:spLocks noChangeArrowheads="1"/>
          </p:cNvSpPr>
          <p:nvPr/>
        </p:nvSpPr>
        <p:spPr bwMode="auto">
          <a:xfrm>
            <a:off x="7110413" y="2487613"/>
            <a:ext cx="1037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 rtl="1"/>
            <a:r>
              <a:rPr lang="fa-IR" altLang="en-US" sz="1800" dirty="0"/>
              <a:t>تاپل‌ها</a:t>
            </a:r>
            <a:br>
              <a:rPr lang="fa-IR" altLang="en-US" sz="1800" dirty="0"/>
            </a:br>
            <a:r>
              <a:rPr lang="fa-IR" altLang="en-US" sz="1800" dirty="0"/>
              <a:t>(یا سطر‌ها)</a:t>
            </a:r>
            <a:endParaRPr lang="en-US" altLang="en-US" dirty="0"/>
          </a:p>
        </p:txBody>
      </p:sp>
      <p:sp>
        <p:nvSpPr>
          <p:cNvPr id="5128" name="Line 9"/>
          <p:cNvSpPr>
            <a:spLocks noChangeShapeType="1"/>
          </p:cNvSpPr>
          <p:nvPr/>
        </p:nvSpPr>
        <p:spPr bwMode="auto">
          <a:xfrm flipH="1" flipV="1">
            <a:off x="6742113" y="2487613"/>
            <a:ext cx="369887" cy="2206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29" name="Line 10"/>
          <p:cNvSpPr>
            <a:spLocks noChangeShapeType="1"/>
          </p:cNvSpPr>
          <p:nvPr/>
        </p:nvSpPr>
        <p:spPr bwMode="auto">
          <a:xfrm flipH="1">
            <a:off x="6729413" y="2706688"/>
            <a:ext cx="369887" cy="111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0" name="Line 11"/>
          <p:cNvSpPr>
            <a:spLocks noChangeShapeType="1"/>
          </p:cNvSpPr>
          <p:nvPr/>
        </p:nvSpPr>
        <p:spPr bwMode="auto">
          <a:xfrm flipH="1">
            <a:off x="6718300" y="2717800"/>
            <a:ext cx="392113" cy="3127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sp>
        <p:nvSpPr>
          <p:cNvPr id="5131" name="Line 12"/>
          <p:cNvSpPr>
            <a:spLocks noChangeShapeType="1"/>
          </p:cNvSpPr>
          <p:nvPr/>
        </p:nvSpPr>
        <p:spPr bwMode="auto">
          <a:xfrm flipH="1">
            <a:off x="6729413" y="2727325"/>
            <a:ext cx="381000" cy="555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N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151978-E921-4884-8DCD-8A5563064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3197"/>
          <a:stretch/>
        </p:blipFill>
        <p:spPr>
          <a:xfrm>
            <a:off x="1680369" y="1756896"/>
            <a:ext cx="5154612" cy="442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0488" tIns="44450" rIns="90488" bIns="44450" anchor="ctr"/>
          <a:lstStyle/>
          <a:p>
            <a:pPr rtl="1"/>
            <a:r>
              <a:rPr lang="fa-IR" dirty="0"/>
              <a:t>طرح و نمونه‌ی یک رابطه</a:t>
            </a:r>
            <a:endParaRPr lang="en-US" altLang="en-US" dirty="0"/>
          </a:p>
        </p:txBody>
      </p:sp>
      <p:sp>
        <p:nvSpPr>
          <p:cNvPr id="5122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04900"/>
            <a:ext cx="6790690" cy="3515868"/>
          </a:xfrm>
        </p:spPr>
        <p:txBody>
          <a:bodyPr lIns="90488" tIns="44450" rIns="90488" bIns="44450"/>
          <a:lstStyle/>
          <a:p>
            <a:pPr algn="r" rtl="1">
              <a:lnSpc>
                <a:spcPct val="150000"/>
              </a:lnSpc>
              <a:buClr>
                <a:schemeClr val="bg1">
                  <a:lumMod val="25000"/>
                </a:schemeClr>
              </a:buClr>
              <a:buFont typeface="Wingdings" panose="05000000000000000000" pitchFamily="2" charset="2"/>
              <a:buChar char="q"/>
            </a:pPr>
            <a:r>
              <a:rPr lang="en-US" altLang="en-US" dirty="0"/>
              <a:t>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, …, A</a:t>
            </a:r>
            <a:r>
              <a:rPr lang="en-US" altLang="en-US" baseline="-25000" dirty="0"/>
              <a:t>n</a:t>
            </a:r>
            <a:r>
              <a:rPr lang="en-US" altLang="en-US" dirty="0"/>
              <a:t> </a:t>
            </a:r>
            <a:r>
              <a:rPr lang="fa-IR" altLang="en-US" dirty="0"/>
              <a:t>  ویژگی‌ها هستند.</a:t>
            </a:r>
          </a:p>
          <a:p>
            <a:pPr algn="r" rtl="1">
              <a:lnSpc>
                <a:spcPct val="150000"/>
              </a:lnSpc>
              <a:buClr>
                <a:schemeClr val="bg1">
                  <a:lumMod val="25000"/>
                </a:schemeClr>
              </a:buClr>
              <a:buFont typeface="Wingdings" panose="05000000000000000000" pitchFamily="2" charset="2"/>
              <a:buChar char="q"/>
            </a:pPr>
            <a:r>
              <a:rPr lang="en-US" altLang="en-US" dirty="0"/>
              <a:t>R = (A</a:t>
            </a:r>
            <a:r>
              <a:rPr lang="en-US" altLang="en-US" baseline="-25000" dirty="0"/>
              <a:t>1</a:t>
            </a:r>
            <a:r>
              <a:rPr lang="en-US" altLang="en-US" dirty="0"/>
              <a:t>, A</a:t>
            </a:r>
            <a:r>
              <a:rPr lang="en-US" altLang="en-US" baseline="-25000" dirty="0"/>
              <a:t>2</a:t>
            </a:r>
            <a:r>
              <a:rPr lang="en-US" altLang="en-US" dirty="0"/>
              <a:t>, …, A</a:t>
            </a:r>
            <a:r>
              <a:rPr lang="en-US" altLang="en-US" baseline="-25000" dirty="0"/>
              <a:t>n</a:t>
            </a:r>
            <a:r>
              <a:rPr lang="en-US" altLang="en-US" dirty="0"/>
              <a:t> )</a:t>
            </a:r>
            <a:r>
              <a:rPr lang="fa-IR" altLang="en-US" dirty="0"/>
              <a:t> طرح و الگوی رابطه را نمایش می‌دهد.</a:t>
            </a:r>
            <a:endParaRPr lang="en-US" altLang="en-US" dirty="0"/>
          </a:p>
          <a:p>
            <a:pPr algn="r" rtl="1">
              <a:lnSpc>
                <a:spcPct val="150000"/>
              </a:lnSpc>
              <a:buClr>
                <a:schemeClr val="bg1">
                  <a:lumMod val="25000"/>
                </a:schemeClr>
              </a:buClr>
              <a:buFont typeface="Wingdings" panose="05000000000000000000" pitchFamily="2" charset="2"/>
              <a:buChar char="q"/>
            </a:pPr>
            <a:r>
              <a:rPr lang="fa-IR" altLang="en-US" dirty="0"/>
              <a:t>مثال:</a:t>
            </a:r>
          </a:p>
          <a:p>
            <a:pPr lvl="1" algn="r" rtl="1"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en-US" altLang="en-US" dirty="0"/>
              <a:t>	     instructor  = (ID,  name, dept_name, salary)</a:t>
            </a:r>
          </a:p>
          <a:p>
            <a:pPr lvl="1" algn="r" rtl="1"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fa-IR" altLang="en-US" dirty="0"/>
              <a:t>یک نمونه رابطه که بر اساس </a:t>
            </a:r>
            <a:r>
              <a:rPr lang="en-US" altLang="en-US" dirty="0"/>
              <a:t>R</a:t>
            </a:r>
            <a:r>
              <a:rPr lang="fa-IR" altLang="en-US" dirty="0"/>
              <a:t> تعریف شده است و با </a:t>
            </a:r>
            <a:r>
              <a:rPr lang="en-US" altLang="en-US" dirty="0"/>
              <a:t>r(R)</a:t>
            </a:r>
            <a:r>
              <a:rPr lang="fa-IR" altLang="en-US" dirty="0"/>
              <a:t> نمایش داده می‌شود.</a:t>
            </a:r>
            <a:endParaRPr lang="en-US" altLang="en-US" dirty="0"/>
          </a:p>
          <a:p>
            <a:pPr lvl="1" algn="r" rtl="1"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fa-IR" dirty="0"/>
              <a:t>مقادیر فعلی یک رابطه با استفاده از جدول مشخص می‌شوند.</a:t>
            </a:r>
          </a:p>
          <a:p>
            <a:pPr lvl="1" algn="r" rtl="1">
              <a:lnSpc>
                <a:spcPct val="150000"/>
              </a:lnSpc>
              <a:buClr>
                <a:srgbClr val="FF0000"/>
              </a:buClr>
              <a:buFont typeface="Courier New" panose="02070309020205020404" pitchFamily="49" charset="0"/>
              <a:buChar char="o"/>
            </a:pPr>
            <a:r>
              <a:rPr lang="fa-IR" dirty="0"/>
              <a:t>هر عنصر</a:t>
            </a:r>
            <a:r>
              <a:rPr lang="en-US" sz="2400" dirty="0">
                <a:solidFill>
                  <a:srgbClr val="000099"/>
                </a:solidFill>
              </a:rPr>
              <a:t>t</a:t>
            </a:r>
            <a:r>
              <a:rPr lang="en-US" sz="2400" dirty="0"/>
              <a:t> </a:t>
            </a:r>
            <a:r>
              <a:rPr lang="fa-IR" dirty="0"/>
              <a:t> از رابطه‌ی </a:t>
            </a:r>
            <a:r>
              <a:rPr lang="en-US" dirty="0"/>
              <a:t> </a:t>
            </a:r>
            <a:r>
              <a:rPr lang="en-US" sz="2400" dirty="0">
                <a:solidFill>
                  <a:srgbClr val="000099"/>
                </a:solidFill>
              </a:rPr>
              <a:t>r</a:t>
            </a:r>
            <a:r>
              <a:rPr lang="en-US" dirty="0"/>
              <a:t> </a:t>
            </a:r>
            <a:r>
              <a:rPr lang="fa-IR" dirty="0"/>
              <a:t>را </a:t>
            </a:r>
            <a:r>
              <a:rPr lang="fa-IR" b="1" dirty="0"/>
              <a:t>یک تاپل(</a:t>
            </a:r>
            <a:r>
              <a:rPr lang="en-US" b="1" dirty="0"/>
              <a:t>Tuple</a:t>
            </a:r>
            <a:r>
              <a:rPr lang="fa-IR" b="1" dirty="0"/>
              <a:t>) </a:t>
            </a:r>
            <a:r>
              <a:rPr lang="fa-IR" dirty="0"/>
              <a:t>می‌نامند و آن را با یک </a:t>
            </a:r>
            <a:r>
              <a:rPr lang="fa-IR" b="1" dirty="0"/>
              <a:t>ردیف در جدول</a:t>
            </a:r>
            <a:r>
              <a:rPr lang="fa-IR" dirty="0"/>
              <a:t> نمایش می‌دهند.</a:t>
            </a:r>
            <a:endParaRPr lang="en-US" altLang="en-US" sz="1700" dirty="0"/>
          </a:p>
        </p:txBody>
      </p:sp>
    </p:spTree>
    <p:extLst>
      <p:ext uri="{BB962C8B-B14F-4D97-AF65-F5344CB8AC3E}">
        <p14:creationId xmlns:p14="http://schemas.microsoft.com/office/powerpoint/2010/main" val="273649219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ویژگی‌ها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219200"/>
            <a:ext cx="7656558" cy="4230624"/>
          </a:xfrm>
        </p:spPr>
        <p:txBody>
          <a:bodyPr/>
          <a:lstStyle/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400" dirty="0"/>
              <a:t>مجموعه‌ی مقادیر مجاز برای هر ویژگی را </a:t>
            </a:r>
            <a:r>
              <a:rPr lang="fa-IR" sz="2400" b="1" dirty="0">
                <a:solidFill>
                  <a:srgbClr val="000099"/>
                </a:solidFill>
              </a:rPr>
              <a:t>دامنه‌ی آن ویژگی</a:t>
            </a:r>
            <a:r>
              <a:rPr lang="en-US" sz="2400" b="1" dirty="0">
                <a:solidFill>
                  <a:srgbClr val="000099"/>
                </a:solidFill>
              </a:rPr>
              <a:t> (Domain)</a:t>
            </a:r>
            <a:r>
              <a:rPr lang="en-US" sz="2400" dirty="0">
                <a:solidFill>
                  <a:srgbClr val="000099"/>
                </a:solidFill>
              </a:rPr>
              <a:t> </a:t>
            </a:r>
            <a:r>
              <a:rPr lang="fa-IR" sz="2400" dirty="0"/>
              <a:t>می‌نامند.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400" dirty="0"/>
              <a:t>مقادیر ویژگی‌ها (به‌طور معمول) باید </a:t>
            </a:r>
            <a:r>
              <a:rPr lang="fa-IR" sz="2400" b="1" dirty="0"/>
              <a:t>اتمی </a:t>
            </a:r>
            <a:r>
              <a:rPr lang="en-US" sz="2400" b="1" dirty="0"/>
              <a:t> (Atomic</a:t>
            </a:r>
            <a:r>
              <a:rPr lang="en-US" sz="2400" dirty="0"/>
              <a:t>)</a:t>
            </a:r>
            <a:r>
              <a:rPr lang="fa-IR" sz="2400" dirty="0"/>
              <a:t>باشند؛ یعنی </a:t>
            </a:r>
            <a:r>
              <a:rPr lang="fa-IR" sz="2400" b="1" dirty="0"/>
              <a:t>غیرقابل‌تقسیم</a:t>
            </a:r>
            <a:r>
              <a:rPr lang="fa-IR" sz="2400" dirty="0"/>
              <a:t>.</a:t>
            </a:r>
            <a:endParaRPr lang="en-US" sz="2400" dirty="0"/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400" dirty="0"/>
              <a:t>مقدار ویژه‌ای به نام </a:t>
            </a:r>
            <a:r>
              <a:rPr lang="en-US" sz="2400" b="1" dirty="0"/>
              <a:t>null</a:t>
            </a:r>
            <a:r>
              <a:rPr lang="fa-IR" sz="2400" b="1" dirty="0"/>
              <a:t> </a:t>
            </a:r>
            <a:r>
              <a:rPr lang="fa-IR" sz="2400" dirty="0"/>
              <a:t>عضو تمامی دامنه‌ها است و بیانگر آن است که مقدار ویژگی </a:t>
            </a:r>
            <a:r>
              <a:rPr lang="fa-IR" sz="2400" b="1" dirty="0"/>
              <a:t>«نامشخص» یا «نامعلوم»</a:t>
            </a:r>
            <a:r>
              <a:rPr lang="fa-IR" sz="2400" dirty="0"/>
              <a:t> است.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2400" dirty="0"/>
              <a:t>وجود مقدار</a:t>
            </a:r>
            <a:r>
              <a:rPr lang="en-US" sz="2400" b="1" dirty="0"/>
              <a:t>null</a:t>
            </a:r>
            <a:r>
              <a:rPr lang="fa-IR" sz="2400" b="1" dirty="0"/>
              <a:t> </a:t>
            </a:r>
            <a:r>
              <a:rPr lang="en-US" sz="2400" dirty="0"/>
              <a:t> </a:t>
            </a:r>
            <a:r>
              <a:rPr lang="fa-IR" sz="2400" dirty="0"/>
              <a:t>باعث </a:t>
            </a:r>
            <a:r>
              <a:rPr lang="fa-IR" sz="2400" b="1" dirty="0"/>
              <a:t>پیچیدگی‌هایی در تعریف بسیاری از عملیات</a:t>
            </a:r>
            <a:r>
              <a:rPr lang="fa-IR" sz="2400" dirty="0"/>
              <a:t> پایگاه داده می‌شود.</a:t>
            </a:r>
            <a:endParaRPr lang="en-US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روابط بدون ترتیب هستند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614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219200"/>
            <a:ext cx="7621047" cy="1352338"/>
          </a:xfrm>
        </p:spPr>
        <p:txBody>
          <a:bodyPr/>
          <a:lstStyle/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800" b="1" dirty="0"/>
              <a:t>ترتیب تاپل‌ها در یک رابطه بی‌اهمیت است</a:t>
            </a:r>
            <a:r>
              <a:rPr lang="fa-IR" sz="1800" dirty="0"/>
              <a:t>؛ یعنی تاپل‌ها می‌توانند به </a:t>
            </a:r>
            <a:r>
              <a:rPr lang="fa-IR" sz="1800" b="1" dirty="0"/>
              <a:t>هر ترتیب دلخواهی</a:t>
            </a:r>
            <a:r>
              <a:rPr lang="fa-IR" sz="1800" dirty="0"/>
              <a:t> در حافظه یا جدول ذخیره شوند</a:t>
            </a:r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fa-IR" sz="1800" b="1" dirty="0"/>
              <a:t> مثال:</a:t>
            </a:r>
            <a:r>
              <a:rPr lang="fa-IR" sz="1800" dirty="0"/>
              <a:t> رابطه‌ی </a:t>
            </a:r>
            <a:r>
              <a:rPr lang="en-US" sz="1800" i="1" dirty="0"/>
              <a:t>instructor</a:t>
            </a:r>
            <a:r>
              <a:rPr lang="fa-IR" sz="1800" i="1" dirty="0"/>
              <a:t> </a:t>
            </a:r>
            <a:r>
              <a:rPr lang="en-US" sz="1800" dirty="0"/>
              <a:t> </a:t>
            </a:r>
            <a:r>
              <a:rPr lang="fa-IR" sz="1800" dirty="0"/>
              <a:t>را می‌توان بدون هیچ ترتیب خاصی برای تاپل‌ها (ردیف‌ها) در نظر گرفت.</a:t>
            </a:r>
            <a:endParaRPr lang="en-US" altLang="en-US" dirty="0"/>
          </a:p>
          <a:p>
            <a:pPr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alt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22967B4-430E-442F-B611-B9DC46ED7A2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1884540" y="2571538"/>
            <a:ext cx="5244902" cy="4141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(Database Schema)</a:t>
            </a:r>
            <a:r>
              <a:rPr lang="fa-IR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طرح پایگا</a:t>
            </a:r>
            <a:r>
              <a:rPr lang="fa-IR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ه داده 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285564" y="1100517"/>
            <a:ext cx="8559985" cy="2057211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q"/>
            </a:pPr>
            <a:r>
              <a:rPr lang="fa-IR" b="1" dirty="0"/>
              <a:t>طرح پایگاه داده </a:t>
            </a:r>
            <a:r>
              <a:rPr lang="fa-IR" dirty="0"/>
              <a:t>بیانگر </a:t>
            </a:r>
            <a:r>
              <a:rPr lang="fa-IR" b="1" dirty="0"/>
              <a:t>ساختار منطقی پایگاه داده</a:t>
            </a:r>
            <a:r>
              <a:rPr lang="fa-IR" dirty="0"/>
              <a:t> است.</a:t>
            </a:r>
            <a:br>
              <a:rPr lang="fa-IR" dirty="0"/>
            </a:br>
            <a:endParaRPr lang="en-US" dirty="0"/>
          </a:p>
          <a:p>
            <a:pPr algn="r" rtl="1">
              <a:buFont typeface="Wingdings" panose="05000000000000000000" pitchFamily="2" charset="2"/>
              <a:buChar char="q"/>
            </a:pPr>
            <a:r>
              <a:rPr lang="fa-IR" sz="1800" b="1" dirty="0"/>
              <a:t>نمونه‌ی پایگاه داده</a:t>
            </a:r>
            <a:r>
              <a:rPr lang="en-US" sz="1800" b="1" dirty="0"/>
              <a:t> (Database Instance)</a:t>
            </a:r>
            <a:r>
              <a:rPr lang="en-US" sz="1800" dirty="0"/>
              <a:t> </a:t>
            </a:r>
            <a:r>
              <a:rPr lang="fa-IR" sz="1800" dirty="0"/>
              <a:t>تصویری لحظه‌ای </a:t>
            </a:r>
            <a:r>
              <a:rPr lang="en-US" sz="1800" dirty="0"/>
              <a:t> (</a:t>
            </a:r>
            <a:r>
              <a:rPr lang="en-US" sz="1800" i="1" dirty="0"/>
              <a:t>snapshot</a:t>
            </a:r>
            <a:r>
              <a:rPr lang="en-US" sz="1800" dirty="0"/>
              <a:t>) </a:t>
            </a:r>
            <a:r>
              <a:rPr lang="fa-IR" sz="1800" dirty="0"/>
              <a:t>از داده‌های موجود در پایگاه داده در یک </a:t>
            </a:r>
            <a:r>
              <a:rPr lang="fa-IR" sz="1800" b="1" dirty="0"/>
              <a:t>زمان مشخص</a:t>
            </a:r>
            <a:r>
              <a:rPr lang="fa-IR" sz="1800" dirty="0"/>
              <a:t> است.</a:t>
            </a:r>
            <a:br>
              <a:rPr lang="fa-IR" sz="1800" dirty="0"/>
            </a:br>
            <a:endParaRPr lang="en-US" sz="1800" dirty="0"/>
          </a:p>
          <a:p>
            <a:pPr algn="r" rtl="1">
              <a:buFont typeface="Wingdings" panose="05000000000000000000" pitchFamily="2" charset="2"/>
              <a:buChar char="q"/>
            </a:pPr>
            <a:r>
              <a:rPr lang="fa-IR" altLang="en-US" sz="1800" dirty="0">
                <a:sym typeface="Symbol" panose="05050102010706020507" pitchFamily="18" charset="2"/>
              </a:rPr>
              <a:t>مثال:</a:t>
            </a:r>
            <a:endParaRPr lang="en-US" altLang="en-US" sz="1800" dirty="0">
              <a:sym typeface="Symbol" panose="05050102010706020507" pitchFamily="18" charset="2"/>
            </a:endParaRP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altLang="en-US" sz="1800" dirty="0">
                <a:sym typeface="Symbol" panose="05050102010706020507" pitchFamily="18" charset="2"/>
              </a:rPr>
              <a:t>طرح : </a:t>
            </a:r>
            <a:r>
              <a:rPr lang="en-US" altLang="en-US" sz="1800" dirty="0">
                <a:sym typeface="Symbol" panose="05050102010706020507" pitchFamily="18" charset="2"/>
              </a:rPr>
              <a:t>   </a:t>
            </a:r>
            <a:r>
              <a:rPr lang="en-US" altLang="en-US" sz="1800" i="1" dirty="0">
                <a:sym typeface="Symbol" panose="05050102010706020507" pitchFamily="18" charset="2"/>
              </a:rPr>
              <a:t>instructor</a:t>
            </a:r>
            <a:r>
              <a:rPr lang="en-US" altLang="en-US" sz="1800" dirty="0">
                <a:sym typeface="Symbol" panose="05050102010706020507" pitchFamily="18" charset="2"/>
              </a:rPr>
              <a:t> (</a:t>
            </a:r>
            <a:r>
              <a:rPr lang="en-US" altLang="en-US" sz="1800" i="1" dirty="0">
                <a:sym typeface="Symbol" panose="05050102010706020507" pitchFamily="18" charset="2"/>
              </a:rPr>
              <a:t>ID, name, dept_name, salary</a:t>
            </a:r>
            <a:r>
              <a:rPr lang="en-US" altLang="en-US" sz="1800" dirty="0">
                <a:sym typeface="Symbol" panose="05050102010706020507" pitchFamily="18" charset="2"/>
              </a:rPr>
              <a:t>)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altLang="en-US" sz="1800" dirty="0">
                <a:sym typeface="Symbol" panose="05050102010706020507" pitchFamily="18" charset="2"/>
              </a:rPr>
              <a:t>نمونه: </a:t>
            </a:r>
            <a:endParaRPr lang="en-US" altLang="en-US" sz="1800" dirty="0">
              <a:sym typeface="Symbol" panose="05050102010706020507" pitchFamily="18" charset="2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D43850F-C798-4B0C-AB3F-7891AC78428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197"/>
          <a:stretch/>
        </p:blipFill>
        <p:spPr>
          <a:xfrm>
            <a:off x="509933" y="3476449"/>
            <a:ext cx="3922919" cy="30977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z="28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کلیدها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129473" y="574675"/>
            <a:ext cx="8787950" cy="4896167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altLang="en-US" sz="1600" dirty="0"/>
              <a:t>فرض کنید </a:t>
            </a:r>
            <a:r>
              <a:rPr lang="en-US" altLang="en-US" sz="1600" dirty="0"/>
              <a:t> K </a:t>
            </a:r>
            <a:r>
              <a:rPr lang="en-US" altLang="en-US" sz="1600" dirty="0">
                <a:sym typeface="Symbol" panose="05050102010706020507" pitchFamily="18" charset="2"/>
              </a:rPr>
              <a:t> R</a:t>
            </a:r>
          </a:p>
          <a:p>
            <a:pPr algn="r" rtl="1">
              <a:lnSpc>
                <a:spcPct val="150000"/>
              </a:lnSpc>
            </a:pPr>
            <a:r>
              <a:rPr lang="fa-IR" sz="1600" dirty="0"/>
              <a:t>اگر مقادیر ویژگی‌های مجموعه‌ی</a:t>
            </a:r>
            <a:r>
              <a:rPr lang="en-US" sz="1600" dirty="0"/>
              <a:t>K </a:t>
            </a:r>
            <a:r>
              <a:rPr lang="fa-IR" sz="1600" dirty="0"/>
              <a:t> </a:t>
            </a:r>
            <a:r>
              <a:rPr lang="en-US" sz="1600" dirty="0"/>
              <a:t> </a:t>
            </a:r>
            <a:r>
              <a:rPr lang="fa-IR" sz="1600" dirty="0"/>
              <a:t>برای </a:t>
            </a:r>
            <a:r>
              <a:rPr lang="fa-IR" sz="1600" b="1" dirty="0"/>
              <a:t>تشخیص یکتای هر تاپل</a:t>
            </a:r>
            <a:r>
              <a:rPr lang="fa-IR" sz="1600" dirty="0"/>
              <a:t> در هر رابطه‌ی ممکن </a:t>
            </a:r>
            <a:r>
              <a:rPr lang="en-US" sz="1600" dirty="0"/>
              <a:t> r(R)</a:t>
            </a:r>
            <a:r>
              <a:rPr lang="fa-IR" sz="1600" dirty="0"/>
              <a:t>کافی باشند، آنگاه </a:t>
            </a:r>
            <a:r>
              <a:rPr lang="en-US" sz="1600" dirty="0"/>
              <a:t> K</a:t>
            </a:r>
            <a:r>
              <a:rPr lang="fa-IR" sz="1600" dirty="0"/>
              <a:t>را </a:t>
            </a:r>
            <a:r>
              <a:rPr lang="fa-IR" sz="1600" b="1" dirty="0">
                <a:solidFill>
                  <a:srgbClr val="000099"/>
                </a:solidFill>
              </a:rPr>
              <a:t>ابرکلید</a:t>
            </a:r>
            <a:r>
              <a:rPr lang="fa-IR" sz="1600" b="1" dirty="0"/>
              <a:t> </a:t>
            </a:r>
            <a:r>
              <a:rPr lang="en-US" sz="1600" b="1" dirty="0"/>
              <a:t>    </a:t>
            </a:r>
            <a:r>
              <a:rPr lang="fa-IR" sz="1600" b="1" dirty="0"/>
              <a:t>     </a:t>
            </a:r>
            <a:r>
              <a:rPr lang="en-US" sz="1600" b="1" dirty="0">
                <a:solidFill>
                  <a:srgbClr val="000099"/>
                </a:solidFill>
              </a:rPr>
              <a:t>(</a:t>
            </a:r>
            <a:r>
              <a:rPr lang="en-US" sz="1600" b="1" dirty="0" err="1">
                <a:solidFill>
                  <a:srgbClr val="000099"/>
                </a:solidFill>
              </a:rPr>
              <a:t>Superkey</a:t>
            </a:r>
            <a:r>
              <a:rPr lang="en-US" sz="1600" b="1" dirty="0">
                <a:solidFill>
                  <a:srgbClr val="000099"/>
                </a:solidFill>
              </a:rPr>
              <a:t>)</a:t>
            </a:r>
            <a:r>
              <a:rPr lang="en-US" sz="1600" dirty="0">
                <a:solidFill>
                  <a:srgbClr val="000099"/>
                </a:solidFill>
              </a:rPr>
              <a:t> </a:t>
            </a:r>
            <a:r>
              <a:rPr lang="fa-IR" sz="1600" dirty="0"/>
              <a:t>می‌نامیم.</a:t>
            </a:r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sz="1600" dirty="0">
                <a:sym typeface="Symbol" panose="05050102010706020507" pitchFamily="18" charset="2"/>
              </a:rPr>
              <a:t>مثال: مجموعه‌های {</a:t>
            </a:r>
            <a:r>
              <a:rPr lang="en-US" altLang="en-US" sz="1600" dirty="0">
                <a:sym typeface="Symbol" panose="05050102010706020507" pitchFamily="18" charset="2"/>
              </a:rPr>
              <a:t>ID</a:t>
            </a:r>
            <a:r>
              <a:rPr lang="fa-IR" altLang="en-US" sz="1600" dirty="0">
                <a:sym typeface="Symbol" panose="05050102010706020507" pitchFamily="18" charset="2"/>
              </a:rPr>
              <a:t>} و {</a:t>
            </a:r>
            <a:r>
              <a:rPr lang="en-US" altLang="en-US" sz="1600" dirty="0" err="1">
                <a:sym typeface="Symbol" panose="05050102010706020507" pitchFamily="18" charset="2"/>
              </a:rPr>
              <a:t>ID,name</a:t>
            </a:r>
            <a:r>
              <a:rPr lang="fa-IR" altLang="en-US" sz="1600" dirty="0">
                <a:sym typeface="Symbol" panose="05050102010706020507" pitchFamily="18" charset="2"/>
              </a:rPr>
              <a:t>} </a:t>
            </a:r>
            <a:r>
              <a:rPr lang="en-US" altLang="en-US" sz="1600" dirty="0">
                <a:sym typeface="Symbol" panose="05050102010706020507" pitchFamily="18" charset="2"/>
              </a:rPr>
              <a:t>  </a:t>
            </a:r>
            <a:r>
              <a:rPr lang="fa-IR" altLang="en-US" sz="1600" dirty="0">
                <a:sym typeface="Symbol" panose="05050102010706020507" pitchFamily="18" charset="2"/>
              </a:rPr>
              <a:t>هر دو ابرکلید‌های رابطه </a:t>
            </a:r>
            <a:r>
              <a:rPr lang="en-US" altLang="en-US" sz="1600" dirty="0">
                <a:sym typeface="Symbol" panose="05050102010706020507" pitchFamily="18" charset="2"/>
              </a:rPr>
              <a:t>instructor</a:t>
            </a:r>
            <a:r>
              <a:rPr lang="fa-IR" altLang="en-US" sz="1600" dirty="0">
                <a:sym typeface="Symbol" panose="05050102010706020507" pitchFamily="18" charset="2"/>
              </a:rPr>
              <a:t> هستند.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algn="r" rtl="1">
              <a:lnSpc>
                <a:spcPct val="150000"/>
              </a:lnSpc>
            </a:pPr>
            <a:r>
              <a:rPr lang="fa-IR" sz="1600" dirty="0"/>
              <a:t>اگر ابرکلید </a:t>
            </a:r>
            <a:r>
              <a:rPr lang="en-US" sz="1600" dirty="0"/>
              <a:t> K </a:t>
            </a:r>
            <a:r>
              <a:rPr lang="fa-IR" sz="1600" b="1" dirty="0"/>
              <a:t>کمینه</a:t>
            </a:r>
            <a:r>
              <a:rPr lang="en-US" sz="1600" b="1" dirty="0"/>
              <a:t> (Minimal)</a:t>
            </a:r>
            <a:r>
              <a:rPr lang="en-US" sz="1600" dirty="0"/>
              <a:t> </a:t>
            </a:r>
            <a:r>
              <a:rPr lang="fa-IR" sz="1600" dirty="0"/>
              <a:t>باشد – یعنی هیچ زیرمجموعه‌ای از آن نیز ابرکلید نباشد – آنگاه </a:t>
            </a:r>
            <a:r>
              <a:rPr lang="en-US" sz="1600" dirty="0"/>
              <a:t>K</a:t>
            </a:r>
            <a:r>
              <a:rPr lang="fa-IR" sz="1600" dirty="0"/>
              <a:t> </a:t>
            </a:r>
            <a:r>
              <a:rPr lang="en-US" sz="1600" dirty="0"/>
              <a:t> </a:t>
            </a:r>
            <a:r>
              <a:rPr lang="fa-IR" sz="1600" dirty="0"/>
              <a:t>را </a:t>
            </a:r>
            <a:r>
              <a:rPr lang="fa-IR" sz="1600" b="1" dirty="0"/>
              <a:t>کلید کاندید </a:t>
            </a:r>
            <a:r>
              <a:rPr lang="en-US" sz="1600" b="1" dirty="0"/>
              <a:t> </a:t>
            </a:r>
            <a:r>
              <a:rPr lang="fa-IR" sz="1600" b="1" dirty="0"/>
              <a:t> </a:t>
            </a:r>
            <a:r>
              <a:rPr lang="en-US" sz="1600" b="1" dirty="0"/>
              <a:t>(Candidate Key)</a:t>
            </a:r>
            <a:r>
              <a:rPr lang="en-US" sz="1600" dirty="0"/>
              <a:t> </a:t>
            </a:r>
            <a:r>
              <a:rPr lang="fa-IR" sz="1600" dirty="0"/>
              <a:t>می‌نامند.</a:t>
            </a:r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sz="1600" dirty="0">
                <a:sym typeface="Symbol" panose="05050102010706020507" pitchFamily="18" charset="2"/>
              </a:rPr>
              <a:t>مثال: {</a:t>
            </a:r>
            <a:r>
              <a:rPr lang="en-US" altLang="en-US" sz="1600" dirty="0">
                <a:sym typeface="Symbol" panose="05050102010706020507" pitchFamily="18" charset="2"/>
              </a:rPr>
              <a:t>ID</a:t>
            </a:r>
            <a:r>
              <a:rPr lang="fa-IR" altLang="en-US" sz="1600" dirty="0">
                <a:sym typeface="Symbol" panose="05050102010706020507" pitchFamily="18" charset="2"/>
              </a:rPr>
              <a:t>} ی</a:t>
            </a:r>
            <a:r>
              <a:rPr lang="fa-IR" sz="1600" dirty="0"/>
              <a:t>ک </a:t>
            </a:r>
            <a:r>
              <a:rPr lang="fa-IR" sz="1600" b="1" dirty="0"/>
              <a:t>کلید کاندید</a:t>
            </a:r>
            <a:r>
              <a:rPr lang="fa-IR" sz="1600" dirty="0"/>
              <a:t> برای رابطه‌ی </a:t>
            </a:r>
            <a:r>
              <a:rPr lang="en-US" sz="1600" i="1" dirty="0"/>
              <a:t>instructor</a:t>
            </a:r>
            <a:r>
              <a:rPr lang="fa-IR" sz="1600" i="1" dirty="0"/>
              <a:t> </a:t>
            </a:r>
            <a:r>
              <a:rPr lang="en-US" sz="1600" dirty="0"/>
              <a:t> </a:t>
            </a:r>
            <a:r>
              <a:rPr lang="fa-IR" sz="1600" dirty="0"/>
              <a:t>است.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algn="r" rtl="1">
              <a:lnSpc>
                <a:spcPct val="150000"/>
              </a:lnSpc>
            </a:pPr>
            <a:r>
              <a:rPr lang="fa-IR" sz="1600" dirty="0"/>
              <a:t>یکی از کلیدهای کاندید به‌عنوان </a:t>
            </a:r>
            <a:r>
              <a:rPr lang="fa-IR" sz="1600" b="1" dirty="0"/>
              <a:t>کلید اصلی </a:t>
            </a:r>
            <a:r>
              <a:rPr lang="en-US" sz="1600" b="1" dirty="0"/>
              <a:t> (Primary Key)</a:t>
            </a:r>
            <a:r>
              <a:rPr lang="en-US" sz="1600" dirty="0"/>
              <a:t> </a:t>
            </a:r>
            <a:r>
              <a:rPr lang="fa-IR" sz="1600" dirty="0"/>
              <a:t>انتخاب می‌شود.</a:t>
            </a:r>
          </a:p>
          <a:p>
            <a:pPr algn="r" rtl="1">
              <a:lnSpc>
                <a:spcPct val="150000"/>
              </a:lnSpc>
            </a:pPr>
            <a:r>
              <a:rPr lang="fa-IR" altLang="en-US" dirty="0">
                <a:sym typeface="Symbol" panose="05050102010706020507" pitchFamily="18" charset="2"/>
              </a:rPr>
              <a:t>کدام یک؟</a:t>
            </a:r>
            <a:endParaRPr lang="en-US" altLang="en-US" sz="1600" dirty="0">
              <a:sym typeface="Symbol" panose="05050102010706020507" pitchFamily="18" charset="2"/>
            </a:endParaRPr>
          </a:p>
          <a:p>
            <a:pPr algn="r" rtl="1">
              <a:lnSpc>
                <a:spcPct val="150000"/>
              </a:lnSpc>
            </a:pPr>
            <a:r>
              <a:rPr lang="fa-IR" altLang="en-US" sz="1600" b="1" dirty="0"/>
              <a:t>محدودیت </a:t>
            </a:r>
            <a:r>
              <a:rPr lang="fa-IR" altLang="en-US" sz="1600" b="1" dirty="0">
                <a:solidFill>
                  <a:srgbClr val="002060"/>
                </a:solidFill>
              </a:rPr>
              <a:t>کلید خارجی </a:t>
            </a:r>
            <a:r>
              <a:rPr lang="en-US" altLang="en-US" sz="1600" b="1" dirty="0">
                <a:solidFill>
                  <a:srgbClr val="002060"/>
                </a:solidFill>
              </a:rPr>
              <a:t>(</a:t>
            </a:r>
            <a:r>
              <a:rPr lang="en-US" sz="1600" b="1" dirty="0">
                <a:solidFill>
                  <a:srgbClr val="002060"/>
                </a:solidFill>
              </a:rPr>
              <a:t>Foreign Key</a:t>
            </a:r>
            <a:r>
              <a:rPr lang="en-US" altLang="en-US" sz="1600" b="1" dirty="0">
                <a:solidFill>
                  <a:srgbClr val="002060"/>
                </a:solidFill>
              </a:rPr>
              <a:t>)</a:t>
            </a:r>
            <a:r>
              <a:rPr lang="fa-IR" altLang="en-US" sz="1600" b="1" dirty="0">
                <a:solidFill>
                  <a:srgbClr val="002060"/>
                </a:solidFill>
              </a:rPr>
              <a:t>: </a:t>
            </a:r>
            <a:r>
              <a:rPr lang="fa-IR" sz="1600" dirty="0"/>
              <a:t>مقدار موجود در یک رابطه باید در رابطه‌ی دیگری نیز ظاهر شود.</a:t>
            </a:r>
            <a:endParaRPr lang="en-US" altLang="en-US" sz="1600" b="1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sz="1600" dirty="0"/>
              <a:t>رابطه‌ی </a:t>
            </a:r>
            <a:r>
              <a:rPr lang="fa-IR" sz="1600" dirty="0">
                <a:solidFill>
                  <a:srgbClr val="002060"/>
                </a:solidFill>
              </a:rPr>
              <a:t>ارجاع‌دهنده</a:t>
            </a:r>
            <a:r>
              <a:rPr lang="fa-IR" sz="1600" dirty="0"/>
              <a:t> </a:t>
            </a:r>
            <a:r>
              <a:rPr lang="en-US" sz="1600" dirty="0"/>
              <a:t>(Referencing relation)</a:t>
            </a:r>
            <a:endParaRPr lang="fa-IR" sz="1600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sz="1600" dirty="0"/>
              <a:t>رابطه‌ی </a:t>
            </a:r>
            <a:r>
              <a:rPr lang="fa-IR" sz="1600" dirty="0">
                <a:solidFill>
                  <a:srgbClr val="002060"/>
                </a:solidFill>
              </a:rPr>
              <a:t>ارجاع‌شونده</a:t>
            </a:r>
            <a:r>
              <a:rPr lang="fa-IR" sz="1600" dirty="0"/>
              <a:t> </a:t>
            </a:r>
            <a:r>
              <a:rPr lang="en-US" sz="1600" dirty="0"/>
              <a:t>(Referenced relation)</a:t>
            </a:r>
            <a:endParaRPr lang="fa-IR" sz="1600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sz="1600" dirty="0">
                <a:sym typeface="Symbol" panose="05050102010706020507" pitchFamily="18" charset="2"/>
              </a:rPr>
              <a:t>ویژگی </a:t>
            </a:r>
            <a:r>
              <a:rPr lang="en-US" altLang="en-US" sz="1600" dirty="0" err="1">
                <a:sym typeface="Symbol" panose="05050102010706020507" pitchFamily="18" charset="2"/>
              </a:rPr>
              <a:t>dept_name</a:t>
            </a:r>
            <a:r>
              <a:rPr lang="fa-IR" altLang="en-US" sz="1600" dirty="0"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 </a:t>
            </a:r>
            <a:r>
              <a:rPr lang="fa-IR" altLang="en-US" sz="1600" dirty="0">
                <a:sym typeface="Symbol" panose="05050102010706020507" pitchFamily="18" charset="2"/>
              </a:rPr>
              <a:t>در رابطه‌ی </a:t>
            </a:r>
            <a:r>
              <a:rPr lang="en-US" altLang="en-US" sz="1600" dirty="0">
                <a:sym typeface="Symbol" panose="05050102010706020507" pitchFamily="18" charset="2"/>
              </a:rPr>
              <a:t>instructor</a:t>
            </a:r>
            <a:r>
              <a:rPr lang="fa-IR" altLang="en-US" sz="1600" dirty="0"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 </a:t>
            </a:r>
            <a:r>
              <a:rPr lang="fa-IR" altLang="en-US" sz="1600" dirty="0">
                <a:sym typeface="Symbol" panose="05050102010706020507" pitchFamily="18" charset="2"/>
              </a:rPr>
              <a:t>یک کلید خارجی است که از </a:t>
            </a:r>
            <a:r>
              <a:rPr lang="en-US" altLang="en-US" sz="1600" dirty="0">
                <a:sym typeface="Symbol" panose="05050102010706020507" pitchFamily="18" charset="2"/>
              </a:rPr>
              <a:t>instructor</a:t>
            </a:r>
            <a:r>
              <a:rPr lang="fa-IR" altLang="en-US" sz="1600" dirty="0"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 </a:t>
            </a:r>
            <a:r>
              <a:rPr lang="fa-IR" altLang="en-US" sz="1600" dirty="0">
                <a:sym typeface="Symbol" panose="05050102010706020507" pitchFamily="18" charset="2"/>
              </a:rPr>
              <a:t>به </a:t>
            </a:r>
            <a:r>
              <a:rPr lang="en-US" altLang="en-US" sz="1600" dirty="0">
                <a:sym typeface="Symbol" panose="05050102010706020507" pitchFamily="18" charset="2"/>
              </a:rPr>
              <a:t>department</a:t>
            </a:r>
            <a:r>
              <a:rPr lang="fa-IR" altLang="en-US" sz="1600" dirty="0">
                <a:sym typeface="Symbol" panose="05050102010706020507" pitchFamily="18" charset="2"/>
              </a:rPr>
              <a:t> </a:t>
            </a:r>
            <a:r>
              <a:rPr lang="en-US" altLang="en-US" sz="1600" dirty="0">
                <a:sym typeface="Symbol" panose="05050102010706020507" pitchFamily="18" charset="2"/>
              </a:rPr>
              <a:t> </a:t>
            </a:r>
            <a:r>
              <a:rPr lang="fa-IR" altLang="en-US" sz="1600" dirty="0">
                <a:sym typeface="Symbol" panose="05050102010706020507" pitchFamily="18" charset="2"/>
              </a:rPr>
              <a:t>ارجاع می‌دهد.</a:t>
            </a:r>
            <a:endParaRPr lang="en-US" altLang="en-US" sz="16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E3FE4F2F-3BF1-4C5C-BECE-714C98A310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effectLst>
                  <a:outerShdw blurRad="38100" dist="38100" dir="2700000" algn="tl" rotWithShape="0">
                    <a:srgbClr val="C0C0C0"/>
                  </a:outerShdw>
                </a:effectLst>
              </a:rPr>
              <a:t>کلیدها</a:t>
            </a:r>
            <a:endParaRPr lang="en-US" dirty="0">
              <a:ea typeface="+mj-ea"/>
            </a:endParaRPr>
          </a:p>
        </p:txBody>
      </p:sp>
      <p:sp>
        <p:nvSpPr>
          <p:cNvPr id="19459" name="Content Placeholder 1">
            <a:extLst>
              <a:ext uri="{FF2B5EF4-FFF2-40B4-BE49-F238E27FC236}">
                <a16:creationId xmlns:a16="http://schemas.microsoft.com/office/drawing/2014/main" id="{287FC705-091E-497E-A4B0-654D49724E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>
              <a:buFont typeface="Wingdings" panose="05000000000000000000" pitchFamily="2" charset="2"/>
              <a:buChar char="q"/>
            </a:pPr>
            <a:r>
              <a:rPr lang="fa-IR" altLang="fa-IR" dirty="0"/>
              <a:t>ابرکلیدها </a:t>
            </a:r>
            <a:r>
              <a:rPr lang="en-US" altLang="fa-IR" dirty="0"/>
              <a:t>(</a:t>
            </a:r>
            <a:r>
              <a:rPr lang="en-US" altLang="fa-IR" dirty="0" err="1"/>
              <a:t>Superkeys</a:t>
            </a:r>
            <a:r>
              <a:rPr lang="en-US" altLang="fa-IR" dirty="0"/>
              <a:t>) </a:t>
            </a:r>
            <a:r>
              <a:rPr lang="fa-IR" altLang="fa-IR" dirty="0"/>
              <a:t> کدامند؟</a:t>
            </a:r>
          </a:p>
          <a:p>
            <a:pPr algn="r" rtl="1">
              <a:buFont typeface="Wingdings" panose="05000000000000000000" pitchFamily="2" charset="2"/>
              <a:buChar char="q"/>
            </a:pPr>
            <a:r>
              <a:rPr lang="fa-IR" dirty="0"/>
              <a:t>کلیدهای کاندید </a:t>
            </a:r>
            <a:r>
              <a:rPr lang="en-US" dirty="0"/>
              <a:t>(Candidate Keys) </a:t>
            </a:r>
            <a:r>
              <a:rPr lang="fa-IR" dirty="0"/>
              <a:t> کدامند؟</a:t>
            </a:r>
            <a:endParaRPr lang="fa-IR" altLang="fa-IR" dirty="0"/>
          </a:p>
        </p:txBody>
      </p:sp>
      <p:pic>
        <p:nvPicPr>
          <p:cNvPr id="19460" name="Picture 4" descr="2">
            <a:extLst>
              <a:ext uri="{FF2B5EF4-FFF2-40B4-BE49-F238E27FC236}">
                <a16:creationId xmlns:a16="http://schemas.microsoft.com/office/drawing/2014/main" id="{213128BD-BD5D-4048-AED1-D9BCCA7D5E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013" y="2028825"/>
            <a:ext cx="4953000" cy="3735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B92310B8-2550-4783-A187-30C5E8D55E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ea typeface="+mj-ea"/>
              </a:rPr>
              <a:t>مثال</a:t>
            </a:r>
            <a:endParaRPr lang="en-US" dirty="0">
              <a:ea typeface="+mj-ea"/>
            </a:endParaRPr>
          </a:p>
        </p:txBody>
      </p:sp>
      <p:sp>
        <p:nvSpPr>
          <p:cNvPr id="21507" name="Content Placeholder 1">
            <a:extLst>
              <a:ext uri="{FF2B5EF4-FFF2-40B4-BE49-F238E27FC236}">
                <a16:creationId xmlns:a16="http://schemas.microsoft.com/office/drawing/2014/main" id="{EE1EE151-DFBB-46AF-8140-F765A7ED2F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endParaRPr lang="fa-IR" alt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8E63159D-DC09-4442-9416-96B51DDF5BCE}"/>
              </a:ext>
            </a:extLst>
          </p:cNvPr>
          <p:cNvGraphicFramePr>
            <a:graphicFrameLocks noGrp="1"/>
          </p:cNvGraphicFramePr>
          <p:nvPr/>
        </p:nvGraphicFramePr>
        <p:xfrm>
          <a:off x="814388" y="1093788"/>
          <a:ext cx="3057525" cy="2349499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19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79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04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675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City</a:t>
                      </a:r>
                      <a:endParaRPr lang="fa-IR" sz="1400" dirty="0"/>
                    </a:p>
                  </a:txBody>
                  <a:tcPr marL="91449" marR="91449" marT="45732" marB="4573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 err="1"/>
                        <a:t>Sname</a:t>
                      </a:r>
                      <a:endParaRPr lang="fa-IR" sz="1400" dirty="0"/>
                    </a:p>
                  </a:txBody>
                  <a:tcPr marL="91449" marR="91449" marT="45732" marB="4573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S#</a:t>
                      </a:r>
                      <a:endParaRPr lang="fa-IR" sz="1400" dirty="0"/>
                    </a:p>
                  </a:txBody>
                  <a:tcPr marL="91449" marR="91449" marT="45732" marB="4573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460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Tehran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 err="1"/>
                        <a:t>Fanavaran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s1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460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Ardabil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Iran Segment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s2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460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Isfahan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 err="1"/>
                        <a:t>Pooladin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s3</a:t>
                      </a:r>
                      <a:endParaRPr lang="fa-IR" sz="1400" dirty="0"/>
                    </a:p>
                  </a:txBody>
                  <a:tcPr marL="91449" marR="91449" marT="45732" marB="457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5706729B-D9B2-4DAA-BD90-3904FC1C8748}"/>
              </a:ext>
            </a:extLst>
          </p:cNvPr>
          <p:cNvGraphicFramePr>
            <a:graphicFrameLocks noGrp="1"/>
          </p:cNvGraphicFramePr>
          <p:nvPr/>
        </p:nvGraphicFramePr>
        <p:xfrm>
          <a:off x="5079999" y="1222375"/>
          <a:ext cx="3395664" cy="161766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48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8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9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7836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City</a:t>
                      </a:r>
                      <a:endParaRPr lang="fa-IR" sz="1400" dirty="0"/>
                    </a:p>
                  </a:txBody>
                  <a:tcPr marL="91459" marR="91459" marT="45717" marB="45717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Type</a:t>
                      </a:r>
                      <a:endParaRPr lang="fa-IR" sz="1400" dirty="0"/>
                    </a:p>
                  </a:txBody>
                  <a:tcPr marL="91459" marR="91459" marT="45717" marB="45717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Color</a:t>
                      </a:r>
                      <a:endParaRPr lang="fa-IR" sz="1400" dirty="0"/>
                    </a:p>
                  </a:txBody>
                  <a:tcPr marL="91459" marR="91459" marT="45717" marB="45717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P#</a:t>
                      </a:r>
                      <a:endParaRPr lang="fa-IR" sz="1400" dirty="0"/>
                    </a:p>
                  </a:txBody>
                  <a:tcPr marL="91459" marR="91459" marT="45717" marB="45717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3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Tehran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kern="1200" dirty="0"/>
                        <a:t>Iron</a:t>
                      </a:r>
                      <a:endParaRPr lang="fa-I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Red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P1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7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Ardabil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kern="1200" dirty="0"/>
                        <a:t>Copper</a:t>
                      </a:r>
                      <a:endParaRPr lang="fa-I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Green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P2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793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Isfahan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kern="1200" dirty="0"/>
                        <a:t>Brass</a:t>
                      </a:r>
                      <a:endParaRPr lang="fa-I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Blue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P3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93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Tehran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r>
                        <a:rPr lang="en-US" sz="1400" kern="1200" dirty="0"/>
                        <a:t>Iron</a:t>
                      </a:r>
                      <a:endParaRPr lang="fa-IR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Red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P4</a:t>
                      </a:r>
                      <a:endParaRPr lang="fa-IR" sz="1400" dirty="0"/>
                    </a:p>
                  </a:txBody>
                  <a:tcPr marL="91459" marR="91459" marT="45717" marB="45717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7B9027FF-D7FD-407D-A945-33C29E20F84D}"/>
              </a:ext>
            </a:extLst>
          </p:cNvPr>
          <p:cNvGraphicFramePr>
            <a:graphicFrameLocks noGrp="1"/>
          </p:cNvGraphicFramePr>
          <p:nvPr/>
        </p:nvGraphicFramePr>
        <p:xfrm>
          <a:off x="2519363" y="4367213"/>
          <a:ext cx="4105275" cy="2139952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368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8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324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Qty</a:t>
                      </a:r>
                      <a:endParaRPr lang="fa-IR" sz="1400" dirty="0"/>
                    </a:p>
                  </a:txBody>
                  <a:tcPr marL="91405" marR="91405" marT="45741" marB="45741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P#</a:t>
                      </a:r>
                      <a:endParaRPr lang="fa-IR" sz="1400" dirty="0"/>
                    </a:p>
                  </a:txBody>
                  <a:tcPr marL="91405" marR="91405" marT="45741" marB="45741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S#</a:t>
                      </a:r>
                      <a:endParaRPr lang="fa-IR" sz="1400" dirty="0"/>
                    </a:p>
                  </a:txBody>
                  <a:tcPr marL="91405" marR="91405" marT="45741" marB="45741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300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P1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s1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200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P2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s2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400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P3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s3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300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P1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s2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400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P2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s2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938"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200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P2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400" dirty="0"/>
                        <a:t>s3</a:t>
                      </a:r>
                      <a:endParaRPr lang="fa-IR" sz="1400" dirty="0"/>
                    </a:p>
                  </a:txBody>
                  <a:tcPr marL="91405" marR="91405" marT="45741" marB="45741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596" name="TextBox 5">
            <a:extLst>
              <a:ext uri="{FF2B5EF4-FFF2-40B4-BE49-F238E27FC236}">
                <a16:creationId xmlns:a16="http://schemas.microsoft.com/office/drawing/2014/main" id="{601CC0EA-18F3-46ED-9752-614BE2B6B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8" y="741363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21597" name="TextBox 11">
            <a:extLst>
              <a:ext uri="{FF2B5EF4-FFF2-40B4-BE49-F238E27FC236}">
                <a16:creationId xmlns:a16="http://schemas.microsoft.com/office/drawing/2014/main" id="{86C0C6DE-A71B-435D-8A20-9FA082F98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80000" y="827088"/>
            <a:ext cx="3222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21598" name="TextBox 13">
            <a:extLst>
              <a:ext uri="{FF2B5EF4-FFF2-40B4-BE49-F238E27FC236}">
                <a16:creationId xmlns:a16="http://schemas.microsoft.com/office/drawing/2014/main" id="{56957646-CBAB-418F-9422-E8B5354BB5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363" y="4029075"/>
            <a:ext cx="4556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dirty="0"/>
              <a:t>نمودار طرح </a:t>
            </a:r>
            <a:r>
              <a:rPr lang="en-US" dirty="0"/>
              <a:t> (Schema Diagram) </a:t>
            </a:r>
            <a:r>
              <a:rPr lang="fa-IR" dirty="0"/>
              <a:t>برای پایگاه داده دانشگاه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D2B26-2B37-4196-91A3-8EF006429F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15" y="826341"/>
            <a:ext cx="4877481" cy="236253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6B8FF63-5393-4696-8B56-06CDA84E94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0733" y="2498946"/>
            <a:ext cx="7079810" cy="42415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352471"/>
            <a:ext cx="8077200" cy="824086"/>
          </a:xfrm>
        </p:spPr>
        <p:txBody>
          <a:bodyPr/>
          <a:lstStyle/>
          <a:p>
            <a:pPr rtl="1"/>
            <a:r>
              <a:rPr lang="fa-IR" dirty="0"/>
              <a:t>زبان‌های پرس‌وجوی رابطه‌ای</a:t>
            </a:r>
            <a:br>
              <a:rPr lang="en-US" dirty="0"/>
            </a:br>
            <a:r>
              <a:rPr lang="fa-IR" dirty="0"/>
              <a:t> </a:t>
            </a:r>
            <a:r>
              <a:rPr lang="en-US" dirty="0"/>
              <a:t>(Relational Query Languages)</a:t>
            </a:r>
            <a:endParaRPr lang="en-US" altLang="en-US" sz="28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241787" y="1385279"/>
            <a:ext cx="8188814" cy="5450186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sz="1800" dirty="0"/>
              <a:t>زبان‌های پرس‌وجو </a:t>
            </a:r>
            <a:r>
              <a:rPr lang="fa-IR" sz="1800" b="1" dirty="0"/>
              <a:t>رویه‌ای </a:t>
            </a:r>
            <a:r>
              <a:rPr lang="en-US" sz="1800" b="1" dirty="0"/>
              <a:t> (Procedural)</a:t>
            </a:r>
            <a:r>
              <a:rPr lang="en-US" sz="1800" dirty="0"/>
              <a:t> </a:t>
            </a:r>
            <a:r>
              <a:rPr lang="fa-IR" sz="1800" dirty="0"/>
              <a:t>در مقابل </a:t>
            </a:r>
            <a:r>
              <a:rPr lang="fa-IR" sz="1800" b="1" dirty="0"/>
              <a:t>غیررویه‌ای یا اعلامی </a:t>
            </a:r>
            <a:r>
              <a:rPr lang="en-US" sz="1800" b="1" dirty="0"/>
              <a:t>(Non-procedural / Declarative)</a:t>
            </a:r>
            <a:r>
              <a:rPr lang="en-US" sz="1800" dirty="0"/>
              <a:t> </a:t>
            </a:r>
            <a:r>
              <a:rPr lang="fa-IR" sz="1800" dirty="0"/>
              <a:t>هستند.</a:t>
            </a:r>
            <a:endParaRPr lang="en-US" sz="1800" dirty="0"/>
          </a:p>
          <a:p>
            <a:pPr algn="r" rtl="1">
              <a:lnSpc>
                <a:spcPct val="150000"/>
              </a:lnSpc>
            </a:pPr>
            <a:r>
              <a:rPr lang="fa-IR" altLang="en-US" sz="1800" dirty="0"/>
              <a:t>زبان‌های خالص:</a:t>
            </a:r>
            <a:endParaRPr lang="en-US" altLang="en-US" sz="1800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sz="1800" dirty="0"/>
              <a:t>جبر رابطه‌ای </a:t>
            </a:r>
            <a:r>
              <a:rPr lang="en-US" altLang="en-US" sz="1800" dirty="0"/>
              <a:t>(Relational algebra)</a:t>
            </a:r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sz="1800" dirty="0"/>
              <a:t>حساب رابطه‌ای تاپلی </a:t>
            </a:r>
            <a:r>
              <a:rPr lang="en-US" altLang="en-US" sz="1800" dirty="0"/>
              <a:t>(Tuple relational calculus)</a:t>
            </a:r>
            <a:r>
              <a:rPr lang="fa-IR" altLang="en-US" sz="1800" dirty="0"/>
              <a:t> </a:t>
            </a:r>
            <a:endParaRPr lang="en-US" altLang="en-US" sz="1800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sz="1800" dirty="0"/>
              <a:t>حساب رابطه‌ای دامنه‌ای </a:t>
            </a:r>
            <a:r>
              <a:rPr lang="en-US" altLang="en-US" sz="1800" dirty="0"/>
              <a:t>(Domain relational calculus)</a:t>
            </a:r>
          </a:p>
          <a:p>
            <a:pPr algn="r" rtl="1">
              <a:lnSpc>
                <a:spcPct val="150000"/>
              </a:lnSpc>
            </a:pPr>
            <a:r>
              <a:rPr lang="fa-IR" altLang="en-US" sz="1800" dirty="0"/>
              <a:t>سه زبان خالص فوق از نظر توان محاسباتی معادل یکدیگرند.</a:t>
            </a:r>
          </a:p>
          <a:p>
            <a:pPr algn="r" rtl="1">
              <a:lnSpc>
                <a:spcPct val="150000"/>
              </a:lnSpc>
            </a:pPr>
            <a:r>
              <a:rPr lang="fa-IR" altLang="en-US" sz="1800" dirty="0"/>
              <a:t>در این فصل تمرکز ما بر جبر رابطه‌ای خواهد بود.</a:t>
            </a:r>
          </a:p>
          <a:p>
            <a:pPr algn="r" rtl="1">
              <a:lnSpc>
                <a:spcPct val="150000"/>
              </a:lnSpc>
            </a:pPr>
            <a:r>
              <a:rPr lang="fa-IR" altLang="en-US" sz="1800" dirty="0"/>
              <a:t>جبر رابطه‌ای معادل ماشین تورینگ نیست.</a:t>
            </a:r>
          </a:p>
          <a:p>
            <a:pPr algn="r" rtl="1">
              <a:lnSpc>
                <a:spcPct val="150000"/>
              </a:lnSpc>
            </a:pPr>
            <a:r>
              <a:rPr lang="fa-IR" altLang="en-US" sz="1800" dirty="0"/>
              <a:t>جبر رابطه‌ای شامل ۶ عمل اصلی می‌باشد.</a:t>
            </a:r>
            <a:endParaRPr lang="en-US" altLang="en-US" sz="2400" dirty="0"/>
          </a:p>
          <a:p>
            <a:pPr algn="r" rtl="1">
              <a:lnSpc>
                <a:spcPct val="150000"/>
              </a:lnSpc>
            </a:pPr>
            <a:endParaRPr lang="en-US" alt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fa-IR" altLang="en-US" dirty="0"/>
              <a:t>جبر رابطه‌ای (</a:t>
            </a:r>
            <a:r>
              <a:rPr lang="en-US" altLang="en-US" sz="2800" dirty="0"/>
              <a:t>Relational Algebra</a:t>
            </a:r>
            <a:r>
              <a:rPr lang="fa-IR" altLang="en-US" sz="2800" dirty="0"/>
              <a:t>)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181069" y="1077913"/>
            <a:ext cx="8745647" cy="4876800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altLang="en-US" dirty="0"/>
              <a:t>یک زبان رویه‌ای </a:t>
            </a:r>
            <a:r>
              <a:rPr lang="en-US" altLang="en-US" dirty="0"/>
              <a:t> (Procedural Language) </a:t>
            </a:r>
            <a:r>
              <a:rPr lang="fa-IR" altLang="en-US" dirty="0"/>
              <a:t>که شامل مجموعه‌ای از عملیات است، به‌طوری که یک یا دو رابطه را به‌عنوان ورودی می‌گیرد و یک رابطه‌ی جدید به‌عنوان خروجی تولید می‌کند.</a:t>
            </a:r>
            <a:endParaRPr lang="en-US" altLang="en-US" dirty="0"/>
          </a:p>
          <a:p>
            <a:pPr algn="r" rtl="1">
              <a:lnSpc>
                <a:spcPct val="150000"/>
              </a:lnSpc>
            </a:pPr>
            <a:r>
              <a:rPr lang="fa-IR" altLang="en-US" dirty="0"/>
              <a:t>شش عملگر اصلی جبر رابطه‌ای:</a:t>
            </a:r>
            <a:endParaRPr lang="en-US" altLang="en-US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dirty="0"/>
              <a:t>انتخاب</a:t>
            </a:r>
            <a:r>
              <a:rPr lang="en-US" altLang="en-US" dirty="0"/>
              <a:t>(select) </a:t>
            </a:r>
            <a:r>
              <a:rPr lang="fa-IR" altLang="en-US" dirty="0"/>
              <a:t> </a:t>
            </a:r>
            <a:r>
              <a:rPr lang="en-US" altLang="en-US" dirty="0"/>
              <a:t>:</a:t>
            </a:r>
            <a:r>
              <a:rPr lang="fa-IR" altLang="en-US" dirty="0"/>
              <a:t> </a:t>
            </a:r>
            <a:r>
              <a:rPr lang="en-US" altLang="en-US" dirty="0"/>
              <a:t> </a:t>
            </a:r>
            <a:r>
              <a:rPr kumimoji="0" lang="en-US" altLang="en-US" dirty="0">
                <a:sym typeface="Symbol" panose="05050102010706020507" pitchFamily="18" charset="2"/>
              </a:rPr>
              <a:t></a:t>
            </a:r>
            <a:endParaRPr lang="en-US" altLang="en-US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dirty="0">
                <a:sym typeface="Symbol" panose="05050102010706020507" pitchFamily="18" charset="2"/>
              </a:rPr>
              <a:t>نمایش</a:t>
            </a:r>
            <a:r>
              <a:rPr lang="en-US" altLang="en-US" dirty="0">
                <a:sym typeface="Symbol" panose="05050102010706020507" pitchFamily="18" charset="2"/>
              </a:rPr>
              <a:t>: (</a:t>
            </a:r>
            <a:r>
              <a:rPr lang="en-US" altLang="en-US" dirty="0"/>
              <a:t>project) </a:t>
            </a:r>
            <a:r>
              <a:rPr lang="fa-IR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</a:t>
            </a:r>
            <a:endParaRPr lang="en-US" altLang="en-US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dirty="0">
                <a:sym typeface="Symbol" panose="05050102010706020507" pitchFamily="18" charset="2"/>
              </a:rPr>
              <a:t>اجتماع</a:t>
            </a:r>
            <a:r>
              <a:rPr lang="en-US" altLang="en-US" dirty="0">
                <a:sym typeface="Symbol" panose="05050102010706020507" pitchFamily="18" charset="2"/>
              </a:rPr>
              <a:t>(union) </a:t>
            </a:r>
            <a:r>
              <a:rPr lang="fa-IR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  <a:r>
              <a:rPr lang="fa-IR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</a:t>
            </a:r>
            <a:endParaRPr lang="en-US" altLang="en-US" dirty="0"/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dirty="0"/>
              <a:t>تفاضل مجموعه‌ای</a:t>
            </a:r>
            <a:r>
              <a:rPr lang="en-US" altLang="en-US" i="1" dirty="0"/>
              <a:t>–</a:t>
            </a:r>
            <a:r>
              <a:rPr lang="en-US" altLang="en-US" dirty="0"/>
              <a:t>  : (set Difference)</a:t>
            </a:r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dirty="0"/>
              <a:t>ضرب دکارتی</a:t>
            </a:r>
            <a:r>
              <a:rPr lang="en-US" dirty="0"/>
              <a:t> : (Cartesian product)</a:t>
            </a:r>
            <a:r>
              <a:rPr lang="fa-IR" dirty="0"/>
              <a:t> </a:t>
            </a:r>
            <a:r>
              <a:rPr lang="en-US" altLang="en-US" dirty="0"/>
              <a:t>x</a:t>
            </a:r>
          </a:p>
          <a:p>
            <a:pPr lvl="1" algn="r" rt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fa-IR" altLang="en-US" i="1" dirty="0">
                <a:sym typeface="Symbol" panose="05050102010706020507" pitchFamily="18" charset="2"/>
              </a:rPr>
              <a:t>تغییر نام</a:t>
            </a:r>
            <a:r>
              <a:rPr lang="en-US" altLang="en-US" i="1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  <a:r>
              <a:rPr lang="en-US" altLang="en-US" i="1" dirty="0">
                <a:sym typeface="Symbol" panose="05050102010706020507" pitchFamily="18" charset="2"/>
              </a:rPr>
              <a:t> (rename)</a:t>
            </a:r>
            <a:r>
              <a:rPr lang="fa-IR" altLang="en-US" i="1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</a:t>
            </a:r>
          </a:p>
          <a:p>
            <a:pPr lvl="1" algn="r" rtl="1">
              <a:lnSpc>
                <a:spcPct val="150000"/>
              </a:lnSpc>
            </a:pPr>
            <a:endParaRPr lang="en-US" altLang="en-US" sz="2800" i="1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 </a:t>
            </a:r>
            <a:r>
              <a:rPr lang="fa-IR" altLang="en-US" dirty="0"/>
              <a:t>عملگر انتخاب</a:t>
            </a:r>
            <a:endParaRPr lang="en-US" altLang="en-US" sz="2800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173574"/>
            <a:ext cx="7612170" cy="3350300"/>
          </a:xfrm>
        </p:spPr>
        <p:txBody>
          <a:bodyPr/>
          <a:lstStyle/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/>
              <a:t>عملگر انتخاب تاپل‌هایی را انتخاب می‌کند که یک شرط </a:t>
            </a:r>
            <a:r>
              <a:rPr lang="en-US" altLang="en-US" dirty="0"/>
              <a:t> (Predicate) </a:t>
            </a:r>
            <a:r>
              <a:rPr lang="fa-IR" altLang="en-US" dirty="0"/>
              <a:t>مشخص را ارضا می‌کنند.</a:t>
            </a:r>
            <a:endParaRPr lang="en-US" altLang="en-US" dirty="0"/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/>
              <a:t>نشانه‌گذاری : </a:t>
            </a:r>
            <a:r>
              <a:rPr lang="en-US" altLang="en-US" dirty="0"/>
              <a:t>  </a:t>
            </a:r>
            <a:r>
              <a:rPr lang="en-US" altLang="en-US" sz="2800" dirty="0">
                <a:sym typeface="Symbol" panose="05050102010706020507" pitchFamily="18" charset="2"/>
              </a:rPr>
              <a:t> </a:t>
            </a:r>
            <a:r>
              <a:rPr lang="en-US" altLang="en-US" sz="2800" baseline="-25000" dirty="0">
                <a:sym typeface="Symbol" panose="05050102010706020507" pitchFamily="18" charset="2"/>
              </a:rPr>
              <a:t>p </a:t>
            </a:r>
            <a:r>
              <a:rPr lang="en-US" altLang="en-US" dirty="0">
                <a:sym typeface="Symbol" panose="05050102010706020507" pitchFamily="18" charset="2"/>
              </a:rPr>
              <a:t>(r)</a:t>
            </a:r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در اینجا، 𝑝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fa-IR" altLang="en-US" dirty="0">
                <a:sym typeface="Symbol" panose="05050102010706020507" pitchFamily="18" charset="2"/>
              </a:rPr>
              <a:t>را </a:t>
            </a:r>
            <a:r>
              <a:rPr lang="fa-IR" altLang="en-US" b="1" dirty="0">
                <a:solidFill>
                  <a:srgbClr val="002060"/>
                </a:solidFill>
                <a:sym typeface="Symbol" panose="05050102010706020507" pitchFamily="18" charset="2"/>
              </a:rPr>
              <a:t>شرط انتخاب</a:t>
            </a:r>
            <a:r>
              <a:rPr lang="en-US" altLang="en-US" b="1" dirty="0">
                <a:solidFill>
                  <a:srgbClr val="002060"/>
                </a:solidFill>
                <a:sym typeface="Symbol" panose="05050102010706020507" pitchFamily="18" charset="2"/>
              </a:rPr>
              <a:t> (Selection Predicate) </a:t>
            </a:r>
            <a:r>
              <a:rPr lang="fa-IR" altLang="en-US" dirty="0">
                <a:sym typeface="Symbol" panose="05050102010706020507" pitchFamily="18" charset="2"/>
              </a:rPr>
              <a:t>می‌نامند.</a:t>
            </a:r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dirty="0"/>
              <a:t>مثال: انتخاب تاپل‌هایی از رابطه‌ی </a:t>
            </a:r>
            <a:r>
              <a:rPr lang="en-US" i="1" dirty="0"/>
              <a:t>instructor</a:t>
            </a:r>
            <a:r>
              <a:rPr lang="fa-IR" i="1" dirty="0"/>
              <a:t> </a:t>
            </a:r>
            <a:r>
              <a:rPr lang="en-US" dirty="0"/>
              <a:t> </a:t>
            </a:r>
            <a:r>
              <a:rPr lang="fa-IR" dirty="0"/>
              <a:t>که </a:t>
            </a:r>
            <a:r>
              <a:rPr lang="fa-IR" b="1" dirty="0"/>
              <a:t>استاد در دپارتمان «فیزیک»</a:t>
            </a:r>
            <a:r>
              <a:rPr lang="fa-IR" dirty="0"/>
              <a:t> قرار دارد.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D0EA259D-031F-4208-A7F2-A15AE51650D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31858"/>
          <a:stretch/>
        </p:blipFill>
        <p:spPr>
          <a:xfrm>
            <a:off x="1518415" y="4970373"/>
            <a:ext cx="6564056" cy="16278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4C9ECD-7EF3-465E-B78E-B90C5E6F0ACA}"/>
              </a:ext>
            </a:extLst>
          </p:cNvPr>
          <p:cNvSpPr txBox="1"/>
          <p:nvPr/>
        </p:nvSpPr>
        <p:spPr>
          <a:xfrm>
            <a:off x="991354" y="3491396"/>
            <a:ext cx="6903268" cy="1311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Query</a:t>
            </a:r>
          </a:p>
          <a:p>
            <a:pPr marL="457200" lvl="1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000" dirty="0">
                <a:sym typeface="Symbol" panose="05050102010706020507" pitchFamily="18" charset="2"/>
              </a:rPr>
              <a:t> </a:t>
            </a:r>
            <a:br>
              <a:rPr lang="en-US" altLang="en-US" sz="2000" dirty="0">
                <a:sym typeface="Symbol" panose="05050102010706020507" pitchFamily="18" charset="2"/>
              </a:rPr>
            </a:br>
            <a:r>
              <a:rPr lang="en-US" altLang="en-US" sz="2000" dirty="0">
                <a:sym typeface="Symbol" panose="05050102010706020507" pitchFamily="18" charset="2"/>
              </a:rPr>
              <a:t>  	</a:t>
            </a:r>
            <a:r>
              <a:rPr lang="en-US" altLang="en-US" sz="2800" i="1" dirty="0">
                <a:sym typeface="Symbol" panose="05050102010706020507" pitchFamily="18" charset="2"/>
              </a:rPr>
              <a:t>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=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Physics”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ym typeface="Symbol" panose="05050102010706020507" pitchFamily="18" charset="2"/>
              </a:rPr>
              <a:t>)</a:t>
            </a:r>
          </a:p>
          <a:p>
            <a:pPr lv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050" dirty="0">
                <a:sym typeface="Symbol" panose="05050102010706020507" pitchFamily="18" charset="2"/>
              </a:rPr>
              <a:t> </a:t>
            </a:r>
          </a:p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000" dirty="0">
                <a:sym typeface="Symbol" panose="05050102010706020507" pitchFamily="18" charset="2"/>
              </a:rPr>
              <a:t>Result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z="2800" dirty="0"/>
              <a:t>عملگر انتخاب (ادامه)</a:t>
            </a:r>
            <a:endParaRPr lang="en-US" altLang="en-US" sz="2800" dirty="0"/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226338" y="1138873"/>
            <a:ext cx="8198572" cy="4810823"/>
          </a:xfrm>
        </p:spPr>
        <p:txBody>
          <a:bodyPr/>
          <a:lstStyle/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در شرط انتخاب </a:t>
            </a:r>
            <a:r>
              <a:rPr lang="en-US" altLang="en-US" dirty="0">
                <a:sym typeface="Symbol" panose="05050102010706020507" pitchFamily="18" charset="2"/>
              </a:rPr>
              <a:t> (Selection Predicate) </a:t>
            </a:r>
            <a:r>
              <a:rPr lang="fa-IR" altLang="en-US" dirty="0">
                <a:sym typeface="Symbol" panose="05050102010706020507" pitchFamily="18" charset="2"/>
              </a:rPr>
              <a:t>می‌توان از عملگرهای مقایسه‌ای زیر استفاده کرد:</a:t>
            </a:r>
            <a:endParaRPr lang="en-US" altLang="en-US" dirty="0">
              <a:sym typeface="Symbol" panose="05050102010706020507" pitchFamily="18" charset="2"/>
            </a:endParaRPr>
          </a:p>
          <a:p>
            <a:pPr algn="r" rt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</a:t>
            </a:r>
            <a:r>
              <a:rPr lang="fa-IR" altLang="en-US" dirty="0">
                <a:sym typeface="Symbol" panose="05050102010706020507" pitchFamily="18" charset="2"/>
              </a:rPr>
              <a:t>	</a:t>
            </a:r>
            <a:r>
              <a:rPr lang="en-US" altLang="en-US" sz="2400" dirty="0">
                <a:sym typeface="Symbol" panose="05050102010706020507" pitchFamily="18" charset="2"/>
              </a:rPr>
              <a:t>     =, , &gt;, . &lt;. </a:t>
            </a:r>
            <a:r>
              <a:rPr lang="fa-IR" altLang="en-US" dirty="0">
                <a:sym typeface="Symbol" panose="05050102010706020507" pitchFamily="18" charset="2"/>
              </a:rPr>
              <a:t>	</a:t>
            </a:r>
            <a:r>
              <a:rPr lang="en-US" altLang="en-US" dirty="0">
                <a:sym typeface="Symbol" panose="05050102010706020507" pitchFamily="18" charset="2"/>
              </a:rPr>
              <a:t>. </a:t>
            </a:r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همچنین می‌توان چند شرط را با استفاده از اتصال‌دهنده‌ها </a:t>
            </a:r>
            <a:r>
              <a:rPr lang="en-US" altLang="en-US" dirty="0">
                <a:sym typeface="Symbol" panose="05050102010706020507" pitchFamily="18" charset="2"/>
              </a:rPr>
              <a:t> (Connectives) </a:t>
            </a:r>
            <a:r>
              <a:rPr lang="fa-IR" altLang="en-US" dirty="0">
                <a:sym typeface="Symbol" panose="05050102010706020507" pitchFamily="18" charset="2"/>
              </a:rPr>
              <a:t>به یک شرط بزرگ‌تر ترکیب کرد:</a:t>
            </a:r>
            <a:endParaRPr lang="en-US" altLang="en-US" dirty="0">
              <a:sym typeface="Symbol" panose="05050102010706020507" pitchFamily="18" charset="2"/>
            </a:endParaRPr>
          </a:p>
          <a:p>
            <a:pPr algn="r" rt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	 (</a:t>
            </a:r>
            <a:r>
              <a:rPr lang="en-US" altLang="en-US" b="1" dirty="0">
                <a:sym typeface="Symbol" panose="05050102010706020507" pitchFamily="18" charset="2"/>
              </a:rPr>
              <a:t>and</a:t>
            </a:r>
            <a:r>
              <a:rPr lang="en-US" altLang="en-US" dirty="0">
                <a:sym typeface="Symbol" panose="05050102010706020507" pitchFamily="18" charset="2"/>
              </a:rPr>
              <a:t>),  (</a:t>
            </a:r>
            <a:r>
              <a:rPr lang="en-US" altLang="en-US" b="1" dirty="0">
                <a:sym typeface="Symbol" panose="05050102010706020507" pitchFamily="18" charset="2"/>
              </a:rPr>
              <a:t>or</a:t>
            </a:r>
            <a:r>
              <a:rPr lang="en-US" altLang="en-US" dirty="0">
                <a:sym typeface="Symbol" panose="05050102010706020507" pitchFamily="18" charset="2"/>
              </a:rPr>
              <a:t>),  (</a:t>
            </a:r>
            <a:r>
              <a:rPr lang="en-US" altLang="en-US" b="1" dirty="0">
                <a:sym typeface="Symbol" panose="05050102010706020507" pitchFamily="18" charset="2"/>
              </a:rPr>
              <a:t>not</a:t>
            </a:r>
            <a:r>
              <a:rPr lang="en-US" altLang="en-US" dirty="0">
                <a:sym typeface="Symbol" panose="05050102010706020507" pitchFamily="18" charset="2"/>
              </a:rPr>
              <a:t>)	</a:t>
            </a:r>
          </a:p>
          <a:p>
            <a:pPr algn="r" rt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lvl="1" algn="r" rtl="1">
              <a:lnSpc>
                <a:spcPct val="90000"/>
              </a:lnSpc>
              <a:buFont typeface="Courier New" panose="02070309020205020404" pitchFamily="49" charset="0"/>
              <a:buChar char="o"/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مثال: </a:t>
            </a:r>
            <a:r>
              <a:rPr lang="fa-IR" dirty="0"/>
              <a:t>یافتن استادان دپارتمان «فیزیک» با حقوق بالاتر از ۹۰,۰۰۰ دلار</a:t>
            </a:r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dirty="0">
              <a:sym typeface="Symbol" panose="05050102010706020507" pitchFamily="18" charset="2"/>
            </a:endParaRPr>
          </a:p>
          <a:p>
            <a:pPr marL="0" indent="0" algn="r" rt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000" dirty="0">
                <a:sym typeface="Symbol" panose="05050102010706020507" pitchFamily="18" charset="2"/>
              </a:rPr>
              <a:t> </a:t>
            </a: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</a:t>
            </a:r>
            <a:r>
              <a:rPr lang="en-US" altLang="ja-JP" sz="1000" i="1" dirty="0">
                <a:sym typeface="Symbol" panose="05050102010706020507" pitchFamily="18" charset="2"/>
              </a:rPr>
              <a:t> </a:t>
            </a:r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شرط انتخاب می‌تواند شامل مقایسه بین دو ویژگی نیز باشد.</a:t>
            </a:r>
          </a:p>
          <a:p>
            <a:pPr lvl="1" algn="r" rtl="1">
              <a:lnSpc>
                <a:spcPct val="90000"/>
              </a:lnSpc>
              <a:buFont typeface="Courier New" panose="02070309020205020404" pitchFamily="49" charset="0"/>
              <a:buChar char="o"/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مثال: یافتن تمام دپارتمان‌هایی که نام آن‌ها با نام ساختمانشان یکسان است.</a:t>
            </a:r>
            <a:endParaRPr lang="en-US" altLang="en-US" dirty="0">
              <a:sym typeface="Symbol" panose="05050102010706020507" pitchFamily="18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793E9-8EC2-4F5C-BFD0-7A5476BC0F3D}"/>
              </a:ext>
            </a:extLst>
          </p:cNvPr>
          <p:cNvSpPr txBox="1"/>
          <p:nvPr/>
        </p:nvSpPr>
        <p:spPr>
          <a:xfrm>
            <a:off x="583313" y="3816719"/>
            <a:ext cx="7484622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800" i="1" dirty="0">
                <a:sym typeface="Symbol" panose="05050102010706020507" pitchFamily="18" charset="2"/>
              </a:rPr>
              <a:t>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=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” </a:t>
            </a:r>
            <a:r>
              <a:rPr lang="en-US" altLang="en-US" sz="2800" dirty="0">
                <a:sym typeface="Symbol" panose="05050102010706020507" pitchFamily="18" charset="2"/>
              </a:rPr>
              <a:t>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salary &gt;</a:t>
            </a:r>
            <a:r>
              <a:rPr lang="en-US" altLang="ja-JP" sz="2800" i="1" dirty="0">
                <a:sym typeface="Symbol" panose="05050102010706020507" pitchFamily="18" charset="2"/>
              </a:rPr>
              <a:t> 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90,000</a:t>
            </a:r>
            <a:r>
              <a:rPr lang="en-US" altLang="ja-JP" sz="2800" i="1" dirty="0"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1800" i="1" dirty="0"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ym typeface="Symbol" panose="05050102010706020507" pitchFamily="18" charset="2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997FC-C4C0-4E67-AF9D-3365B3035CCE}"/>
              </a:ext>
            </a:extLst>
          </p:cNvPr>
          <p:cNvSpPr txBox="1"/>
          <p:nvPr/>
        </p:nvSpPr>
        <p:spPr>
          <a:xfrm>
            <a:off x="0" y="5445844"/>
            <a:ext cx="603413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2800" i="1" dirty="0">
                <a:sym typeface="Symbol" panose="05050102010706020507" pitchFamily="18" charset="2"/>
              </a:rPr>
              <a:t> 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=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building</a:t>
            </a:r>
            <a:r>
              <a:rPr lang="en-US" altLang="ja-JP" sz="2800" i="1" dirty="0">
                <a:sym typeface="Symbol" panose="05050102010706020507" pitchFamily="18" charset="2"/>
              </a:rPr>
              <a:t> 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department</a:t>
            </a:r>
            <a:r>
              <a:rPr lang="en-US" altLang="ja-JP" sz="2400" dirty="0">
                <a:sym typeface="Symbol" panose="05050102010706020507" pitchFamily="18" charset="2"/>
              </a:rPr>
              <a:t>)</a:t>
            </a:r>
            <a:endParaRPr lang="en-US" altLang="en-US" sz="28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5083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6" name="Rectangle 2">
            <a:extLst>
              <a:ext uri="{FF2B5EF4-FFF2-40B4-BE49-F238E27FC236}">
                <a16:creationId xmlns:a16="http://schemas.microsoft.com/office/drawing/2014/main" id="{035E4423-36EC-40DA-A6F4-93EB726138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rtl="1">
              <a:defRPr/>
            </a:pPr>
            <a:r>
              <a:rPr lang="fa-IR" dirty="0"/>
              <a:t>عملگر انتخاب – انتخاب سطرها (تاپل‌ها)</a:t>
            </a:r>
            <a:endParaRPr lang="en-US" dirty="0">
              <a:ea typeface="MS PGothic" panose="020B0600070205080204" pitchFamily="34" charset="-128"/>
            </a:endParaRP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CFB8DE7E-16BB-4B47-8DBF-8486382992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8652" y="1530476"/>
            <a:ext cx="5453534" cy="1113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fa-IR" sz="2400" dirty="0"/>
              <a:t>رابطه‌ی</a:t>
            </a:r>
            <a:r>
              <a:rPr lang="en-US" sz="2400" dirty="0"/>
              <a:t> r</a:t>
            </a:r>
            <a:r>
              <a:rPr lang="fa-IR" sz="2400" dirty="0"/>
              <a:t>:</a:t>
            </a:r>
            <a:r>
              <a:rPr lang="en-US" sz="2400" dirty="0"/>
              <a:t> </a:t>
            </a:r>
            <a:r>
              <a:rPr lang="fa-IR" sz="2400" dirty="0"/>
              <a:t>چگونه تاپل‌هایی را انتخاب کنیم که در آن‌ها</a:t>
            </a:r>
            <a:br>
              <a:rPr lang="fa-IR" sz="2400" dirty="0"/>
            </a:br>
            <a:r>
              <a:rPr lang="en-US" sz="2400" dirty="0"/>
              <a:t> A=B </a:t>
            </a:r>
            <a:r>
              <a:rPr lang="fa-IR" sz="2400" dirty="0"/>
              <a:t>و </a:t>
            </a:r>
            <a:r>
              <a:rPr lang="en-US" sz="2400" dirty="0"/>
              <a:t> D&gt;5 </a:t>
            </a:r>
            <a:r>
              <a:rPr lang="fa-IR" sz="2400" dirty="0"/>
              <a:t>باشد؟</a:t>
            </a:r>
            <a:endParaRPr lang="en-US" altLang="en-US" sz="2400" dirty="0"/>
          </a:p>
        </p:txBody>
      </p:sp>
      <p:pic>
        <p:nvPicPr>
          <p:cNvPr id="26628" name="Picture 5">
            <a:extLst>
              <a:ext uri="{FF2B5EF4-FFF2-40B4-BE49-F238E27FC236}">
                <a16:creationId xmlns:a16="http://schemas.microsoft.com/office/drawing/2014/main" id="{806E8175-9C96-4D98-8333-FFD7AC9474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167"/>
          <a:stretch/>
        </p:blipFill>
        <p:spPr bwMode="auto">
          <a:xfrm>
            <a:off x="971550" y="1828330"/>
            <a:ext cx="1887538" cy="20481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 Box 6">
            <a:extLst>
              <a:ext uri="{FF2B5EF4-FFF2-40B4-BE49-F238E27FC236}">
                <a16:creationId xmlns:a16="http://schemas.microsoft.com/office/drawing/2014/main" id="{BFA547E8-DC3A-4E99-95C4-7835B0892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65369" y="3787446"/>
            <a:ext cx="21868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marL="230188" indent="-230188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ctr" rtl="1">
              <a:spcBef>
                <a:spcPct val="50000"/>
              </a:spcBef>
              <a:buClr>
                <a:schemeClr val="tx2"/>
              </a:buClr>
              <a:buSzTx/>
              <a:buFont typeface="Wingdings" panose="05000000000000000000" pitchFamily="2" charset="2"/>
              <a:buChar char="q"/>
            </a:pPr>
            <a:r>
              <a:rPr kumimoji="0" lang="en-US" altLang="en-US" sz="2400" dirty="0">
                <a:sym typeface="Symbol" panose="05050102010706020507" pitchFamily="18" charset="2"/>
              </a:rPr>
              <a:t></a:t>
            </a:r>
            <a:r>
              <a:rPr kumimoji="0" lang="en-US" altLang="en-US" sz="2400" baseline="-25000" dirty="0">
                <a:sym typeface="Symbol" panose="05050102010706020507" pitchFamily="18" charset="2"/>
              </a:rPr>
              <a:t>A=B ^ D &gt; 5</a:t>
            </a:r>
            <a:r>
              <a:rPr kumimoji="0" lang="en-US" altLang="en-US" baseline="-25000" dirty="0">
                <a:sym typeface="Symbol" panose="05050102010706020507" pitchFamily="18" charset="2"/>
              </a:rPr>
              <a:t> </a:t>
            </a:r>
            <a:r>
              <a:rPr kumimoji="0" lang="en-US" altLang="en-US" sz="2400" dirty="0">
                <a:sym typeface="Symbol" panose="05050102010706020507" pitchFamily="18" charset="2"/>
              </a:rPr>
              <a:t>(r) </a:t>
            </a:r>
            <a:endParaRPr kumimoji="0" lang="en-US" altLang="en-US" sz="2400" dirty="0"/>
          </a:p>
        </p:txBody>
      </p:sp>
      <p:sp>
        <p:nvSpPr>
          <p:cNvPr id="26630" name="Text Box 3">
            <a:extLst>
              <a:ext uri="{FF2B5EF4-FFF2-40B4-BE49-F238E27FC236}">
                <a16:creationId xmlns:a16="http://schemas.microsoft.com/office/drawing/2014/main" id="{1A095AC9-1425-4299-A737-58ECC002E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8086" y="5173183"/>
            <a:ext cx="613410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buClr>
                <a:schemeClr val="tx2"/>
              </a:buClr>
              <a:buSzPct val="90000"/>
              <a:buFont typeface="Wingdings" panose="05000000000000000000" pitchFamily="2" charset="2"/>
              <a:buChar char="q"/>
            </a:pPr>
            <a:r>
              <a:rPr lang="en-US" altLang="en-US" sz="2400" dirty="0"/>
              <a:t>Select r where  A=B and D&gt;5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88972D50-A84A-4BCF-923B-CE9B717EE9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313"/>
          <a:stretch/>
        </p:blipFill>
        <p:spPr bwMode="auto">
          <a:xfrm>
            <a:off x="1000539" y="4249111"/>
            <a:ext cx="1887538" cy="1267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9" grpId="0"/>
      <p:bldP spid="2663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(Project Operation)</a:t>
            </a:r>
            <a:r>
              <a:rPr lang="fa-IR" altLang="en-US" sz="2800" dirty="0"/>
              <a:t>عملگر نمایش </a:t>
            </a:r>
            <a:endParaRPr lang="en-US" altLang="en-US" sz="2800" dirty="0"/>
          </a:p>
        </p:txBody>
      </p:sp>
      <p:sp>
        <p:nvSpPr>
          <p:cNvPr id="1026" name="Rectangle 3"/>
          <p:cNvSpPr>
            <a:spLocks noGrp="1" noChangeArrowheads="1"/>
          </p:cNvSpPr>
          <p:nvPr>
            <p:ph idx="1"/>
          </p:nvPr>
        </p:nvSpPr>
        <p:spPr>
          <a:xfrm>
            <a:off x="374342" y="1077912"/>
            <a:ext cx="8077200" cy="5250459"/>
          </a:xfrm>
        </p:spPr>
        <p:txBody>
          <a:bodyPr/>
          <a:lstStyle/>
          <a:p>
            <a:pPr algn="r" rtl="1">
              <a:lnSpc>
                <a:spcPct val="120000"/>
              </a:lnSpc>
              <a:tabLst>
                <a:tab pos="3257550" algn="ctr"/>
              </a:tabLst>
            </a:pPr>
            <a:r>
              <a:rPr lang="fa-IR" altLang="en-US" dirty="0"/>
              <a:t>عملگر پروژه یک عملگر تک‌جمله‌ای </a:t>
            </a:r>
            <a:r>
              <a:rPr lang="en-US" altLang="en-US" dirty="0"/>
              <a:t> (Unary Operation) </a:t>
            </a:r>
            <a:r>
              <a:rPr lang="fa-IR" altLang="en-US" dirty="0"/>
              <a:t>است که رابطه‌ی ورودی خود را بازمی‌گرداند، اما برخی از ویژگی‌ها (ستون‌ها) را حذف می‌کند.</a:t>
            </a:r>
            <a:endParaRPr lang="en-US" altLang="en-US" dirty="0"/>
          </a:p>
          <a:p>
            <a:pPr algn="r" rtl="1">
              <a:lnSpc>
                <a:spcPct val="120000"/>
              </a:lnSpc>
              <a:tabLst>
                <a:tab pos="3257550" algn="ctr"/>
              </a:tabLst>
            </a:pPr>
            <a:r>
              <a:rPr lang="fa-IR" altLang="en-US" dirty="0"/>
              <a:t>نشانه‌گذاری:</a:t>
            </a:r>
            <a:endParaRPr lang="en-US" altLang="en-US" dirty="0"/>
          </a:p>
          <a:p>
            <a:pPr algn="r" rtl="1"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sz="2800" dirty="0">
                <a:sym typeface="Symbol" panose="05050102010706020507" pitchFamily="18" charset="2"/>
              </a:rPr>
              <a:t>                   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A</a:t>
            </a:r>
            <a:r>
              <a:rPr lang="en-US" altLang="en-US" sz="2800" i="1" baseline="-50000" dirty="0">
                <a:sym typeface="Symbol" panose="05050102010706020507" pitchFamily="18" charset="2"/>
              </a:rPr>
              <a:t>1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,A</a:t>
            </a:r>
            <a:r>
              <a:rPr lang="en-US" altLang="en-US" sz="2800" i="1" baseline="-50000" dirty="0">
                <a:sym typeface="Symbol" panose="05050102010706020507" pitchFamily="18" charset="2"/>
              </a:rPr>
              <a:t>2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,A</a:t>
            </a:r>
            <a:r>
              <a:rPr lang="en-US" altLang="en-US" sz="2800" i="1" baseline="-50000" dirty="0">
                <a:sym typeface="Symbol" panose="05050102010706020507" pitchFamily="18" charset="2"/>
              </a:rPr>
              <a:t>3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 ….</a:t>
            </a:r>
            <a:r>
              <a:rPr lang="en-US" altLang="en-US" sz="2800" i="1" baseline="-25000" dirty="0" err="1">
                <a:sym typeface="Symbol" panose="05050102010706020507" pitchFamily="18" charset="2"/>
              </a:rPr>
              <a:t>A</a:t>
            </a:r>
            <a:r>
              <a:rPr lang="en-US" altLang="en-US" sz="2800" i="1" baseline="-50000" dirty="0" err="1">
                <a:sym typeface="Symbol" panose="05050102010706020507" pitchFamily="18" charset="2"/>
              </a:rPr>
              <a:t>k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2800" baseline="-25000" dirty="0"/>
              <a:t> </a:t>
            </a:r>
            <a:r>
              <a:rPr lang="en-US" altLang="en-US" dirty="0"/>
              <a:t>(</a:t>
            </a:r>
            <a:r>
              <a:rPr lang="en-US" altLang="en-US" i="1" dirty="0"/>
              <a:t>r</a:t>
            </a:r>
            <a:r>
              <a:rPr lang="en-US" altLang="ja-JP" dirty="0">
                <a:sym typeface="Symbol" panose="05050102010706020507" pitchFamily="18" charset="2"/>
              </a:rPr>
              <a:t>)</a:t>
            </a:r>
            <a:endParaRPr lang="fa-IR" altLang="ja-JP" dirty="0">
              <a:sym typeface="Symbol" panose="05050102010706020507" pitchFamily="18" charset="2"/>
            </a:endParaRPr>
          </a:p>
          <a:p>
            <a:pPr algn="r" rtl="1"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en-US" altLang="en-US" dirty="0">
                <a:solidFill>
                  <a:schemeClr val="bg1">
                    <a:lumMod val="50000"/>
                  </a:schemeClr>
                </a:solidFill>
              </a:rPr>
              <a:t>	</a:t>
            </a:r>
            <a:endParaRPr lang="fa-IR" altLang="en-US" dirty="0">
              <a:solidFill>
                <a:schemeClr val="bg1">
                  <a:lumMod val="50000"/>
                </a:schemeClr>
              </a:solidFill>
            </a:endParaRPr>
          </a:p>
          <a:p>
            <a:pPr algn="r" rtl="1">
              <a:lnSpc>
                <a:spcPct val="120000"/>
              </a:lnSpc>
              <a:buNone/>
              <a:tabLst>
                <a:tab pos="3257550" algn="ctr"/>
              </a:tabLst>
            </a:pPr>
            <a:r>
              <a:rPr lang="fa-IR" altLang="en-US" dirty="0"/>
              <a:t>که در آن </a:t>
            </a:r>
            <a:r>
              <a:rPr lang="en-US" altLang="en-US" dirty="0"/>
              <a:t> </a:t>
            </a:r>
            <a:r>
              <a:rPr lang="en-US" altLang="en-US" i="1" dirty="0"/>
              <a:t>A</a:t>
            </a:r>
            <a:r>
              <a:rPr lang="en-US" altLang="en-US" i="1" baseline="-25000" dirty="0"/>
              <a:t>1</a:t>
            </a:r>
            <a:r>
              <a:rPr lang="en-US" altLang="en-US" i="1" dirty="0"/>
              <a:t>, A</a:t>
            </a:r>
            <a:r>
              <a:rPr lang="en-US" altLang="en-US" i="1" baseline="-25000" dirty="0"/>
              <a:t>2</a:t>
            </a:r>
            <a:r>
              <a:rPr lang="en-US" altLang="en-US" dirty="0"/>
              <a:t>,  …, </a:t>
            </a:r>
            <a:r>
              <a:rPr lang="en-US" altLang="en-US" i="1" dirty="0" err="1"/>
              <a:t>A</a:t>
            </a:r>
            <a:r>
              <a:rPr lang="en-US" altLang="en-US" i="1" baseline="-25000" dirty="0" err="1"/>
              <a:t>k</a:t>
            </a:r>
            <a:r>
              <a:rPr lang="en-US" altLang="en-US" dirty="0"/>
              <a:t>  </a:t>
            </a:r>
            <a:r>
              <a:rPr lang="fa-IR" altLang="en-US" dirty="0"/>
              <a:t>نام ویژگی‌ها هستند و </a:t>
            </a:r>
            <a:r>
              <a:rPr lang="en-US" altLang="en-US" dirty="0"/>
              <a:t>r</a:t>
            </a:r>
            <a:r>
              <a:rPr lang="fa-IR" altLang="en-US" dirty="0"/>
              <a:t> نام رابطه است.</a:t>
            </a:r>
          </a:p>
          <a:p>
            <a:pPr algn="r" rtl="1">
              <a:lnSpc>
                <a:spcPct val="120000"/>
              </a:lnSpc>
              <a:buFont typeface="Monotype Sorts" charset="2"/>
              <a:buNone/>
              <a:tabLst>
                <a:tab pos="3257550" algn="ctr"/>
              </a:tabLst>
            </a:pPr>
            <a:endParaRPr lang="fa-IR" altLang="en-US" dirty="0"/>
          </a:p>
          <a:p>
            <a:pPr algn="r" rtl="1">
              <a:lnSpc>
                <a:spcPct val="120000"/>
              </a:lnSpc>
              <a:tabLst>
                <a:tab pos="3257550" algn="ctr"/>
              </a:tabLst>
            </a:pPr>
            <a:r>
              <a:rPr lang="fa-IR" altLang="en-US" dirty="0"/>
              <a:t>نتیجه، رابطه‌ای شامل 𝑘</a:t>
            </a:r>
            <a:r>
              <a:rPr lang="en-US" altLang="en-US" dirty="0"/>
              <a:t> </a:t>
            </a:r>
            <a:r>
              <a:rPr lang="fa-IR" altLang="en-US" dirty="0"/>
              <a:t>ستون است که از حذف ستون‌هایی که در فهرست نیامده‌اند به‌دست می‌آید.</a:t>
            </a:r>
          </a:p>
          <a:p>
            <a:pPr algn="r" rtl="1">
              <a:lnSpc>
                <a:spcPct val="120000"/>
              </a:lnSpc>
              <a:tabLst>
                <a:tab pos="3257550" algn="ctr"/>
              </a:tabLst>
            </a:pPr>
            <a:r>
              <a:rPr lang="fa-IR" altLang="en-US" dirty="0"/>
              <a:t>ردیف‌های تکراری از نتیجه حذف می‌شوند، زیرا در مدل رابطه‌ای، رابطه یک مجموعه</a:t>
            </a:r>
            <a:r>
              <a:rPr lang="en-US" altLang="en-US" dirty="0"/>
              <a:t> (Set) </a:t>
            </a:r>
            <a:r>
              <a:rPr lang="fa-IR" altLang="en-US" dirty="0"/>
              <a:t>است و مجموعه شامل عناصر تکراری نیست.</a:t>
            </a:r>
            <a:endParaRPr lang="en-US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مثال عملگر نمایش</a:t>
            </a:r>
            <a:endParaRPr lang="en-US" altLang="en-US" sz="2800" dirty="0"/>
          </a:p>
        </p:txBody>
      </p:sp>
      <p:sp>
        <p:nvSpPr>
          <p:cNvPr id="1026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77913"/>
            <a:ext cx="7912353" cy="1567751"/>
          </a:xfrm>
        </p:spPr>
        <p:txBody>
          <a:bodyPr/>
          <a:lstStyle/>
          <a:p>
            <a:pPr algn="r" rtl="1">
              <a:tabLst>
                <a:tab pos="3257550" algn="ctr"/>
              </a:tabLst>
            </a:pPr>
            <a:r>
              <a:rPr lang="fa-IR" altLang="en-US" dirty="0"/>
              <a:t>مثال: حذف ویژگی </a:t>
            </a:r>
            <a:r>
              <a:rPr lang="en-US" altLang="en-US" i="1" dirty="0" err="1"/>
              <a:t>dept_name</a:t>
            </a:r>
            <a:r>
              <a:rPr lang="fa-IR" altLang="en-US" i="1" dirty="0"/>
              <a:t> </a:t>
            </a:r>
            <a:r>
              <a:rPr lang="fa-IR" altLang="en-US" dirty="0"/>
              <a:t>از رابطه </a:t>
            </a:r>
            <a:r>
              <a:rPr lang="en-US" altLang="en-US" i="1" dirty="0"/>
              <a:t>instructor</a:t>
            </a:r>
          </a:p>
          <a:p>
            <a:pPr algn="r" rtl="1">
              <a:tabLst>
                <a:tab pos="3257550" algn="ctr"/>
              </a:tabLst>
            </a:pPr>
            <a:r>
              <a:rPr lang="fa-IR" altLang="en-US" dirty="0"/>
              <a:t>پرس‌وجو:</a:t>
            </a:r>
            <a:br>
              <a:rPr lang="en-US" altLang="en-US" dirty="0"/>
            </a:br>
            <a:r>
              <a:rPr lang="en-US" altLang="en-US" sz="1000" dirty="0"/>
              <a:t> </a:t>
            </a:r>
            <a:br>
              <a:rPr lang="en-US" altLang="en-US" dirty="0"/>
            </a:br>
            <a:r>
              <a:rPr lang="en-US" altLang="en-US" dirty="0"/>
              <a:t>         	 </a:t>
            </a:r>
            <a:r>
              <a:rPr lang="en-US" altLang="en-US" sz="3200" dirty="0">
                <a:sym typeface="Symbol" panose="05050102010706020507" pitchFamily="18" charset="2"/>
              </a:rPr>
              <a:t></a:t>
            </a:r>
            <a:r>
              <a:rPr lang="en-US" altLang="en-US" sz="3200" i="1" baseline="-25000" dirty="0"/>
              <a:t>ID, name, salary</a:t>
            </a:r>
            <a:r>
              <a:rPr lang="en-US" altLang="en-US" sz="3200" dirty="0"/>
              <a:t> </a:t>
            </a:r>
            <a:r>
              <a:rPr lang="en-US" altLang="en-US" sz="2400" dirty="0"/>
              <a:t>(</a:t>
            </a:r>
            <a:r>
              <a:rPr lang="en-US" altLang="en-US" sz="2400" i="1" dirty="0"/>
              <a:t>instructor</a:t>
            </a:r>
            <a:r>
              <a:rPr lang="en-US" altLang="en-US" sz="2400" dirty="0"/>
              <a:t>) </a:t>
            </a:r>
          </a:p>
          <a:p>
            <a:pPr algn="r" rtl="1">
              <a:tabLst>
                <a:tab pos="3257550" algn="ctr"/>
              </a:tabLst>
            </a:pPr>
            <a:r>
              <a:rPr lang="fa-IR" altLang="en-US" dirty="0"/>
              <a:t>نتیجه:</a:t>
            </a:r>
            <a:br>
              <a:rPr lang="en-US" altLang="en-US" dirty="0"/>
            </a:br>
            <a:endParaRPr lang="en-US" alt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A827ED-B175-4A55-B05F-235A354E77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9823"/>
          <a:stretch/>
        </p:blipFill>
        <p:spPr>
          <a:xfrm>
            <a:off x="276874" y="2692225"/>
            <a:ext cx="4684326" cy="41657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1" y="554797"/>
            <a:ext cx="8077200" cy="609600"/>
          </a:xfrm>
        </p:spPr>
        <p:txBody>
          <a:bodyPr/>
          <a:lstStyle/>
          <a:p>
            <a:pPr rtl="1"/>
            <a:r>
              <a:rPr lang="fa-IR" dirty="0"/>
              <a:t>ترکیب عملیات رابطه‌ای</a:t>
            </a:r>
            <a:br>
              <a:rPr lang="fa-IR" dirty="0"/>
            </a:br>
            <a:r>
              <a:rPr lang="en-US" dirty="0"/>
              <a:t>(</a:t>
            </a:r>
            <a:r>
              <a:rPr lang="en-US" altLang="en-US" sz="2800" dirty="0"/>
              <a:t>Composition of Relational Operations)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609783"/>
            <a:ext cx="7985356" cy="4857924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dirty="0"/>
              <a:t>نتیجه‌ی هر </a:t>
            </a:r>
            <a:r>
              <a:rPr lang="fa-IR" b="1" dirty="0"/>
              <a:t>عملگر جبر رابطه‌ای</a:t>
            </a:r>
            <a:r>
              <a:rPr lang="fa-IR" dirty="0"/>
              <a:t> خود یک </a:t>
            </a:r>
            <a:r>
              <a:rPr lang="fa-IR" b="1" dirty="0"/>
              <a:t>رابطه</a:t>
            </a:r>
            <a:r>
              <a:rPr lang="fa-IR" dirty="0"/>
              <a:t> است؛ بنابراین، می‌توان چندین عملگر جبر رابطه‌ای را به‌صورت </a:t>
            </a:r>
            <a:r>
              <a:rPr lang="fa-IR" b="1" dirty="0"/>
              <a:t>ترکیبی</a:t>
            </a:r>
            <a:r>
              <a:rPr lang="fa-IR" dirty="0"/>
              <a:t> در کنار هم استفاده کرد تا یک </a:t>
            </a:r>
            <a:r>
              <a:rPr lang="fa-IR" b="1" dirty="0"/>
              <a:t>عبارت جبر رابطه‌ای </a:t>
            </a:r>
            <a:r>
              <a:rPr lang="en-US" b="1" dirty="0"/>
              <a:t>  (Relational-Algebra Expression)</a:t>
            </a:r>
            <a:r>
              <a:rPr lang="en-US" dirty="0"/>
              <a:t> </a:t>
            </a:r>
            <a:r>
              <a:rPr lang="fa-IR" dirty="0"/>
              <a:t>تشکیل شود.</a:t>
            </a:r>
          </a:p>
          <a:p>
            <a:pPr algn="r" rtl="1"/>
            <a:endParaRPr lang="fa-IR" dirty="0"/>
          </a:p>
          <a:p>
            <a:pPr algn="r" rtl="1"/>
            <a:r>
              <a:rPr lang="fa-IR" dirty="0"/>
              <a:t>مثال: یافتن نام تمام استادان در دپارتمان فیزیک.</a:t>
            </a:r>
            <a:endParaRPr lang="en-US" altLang="en-US" dirty="0"/>
          </a:p>
          <a:p>
            <a:pPr algn="r" rtl="1">
              <a:buNone/>
            </a:pPr>
            <a:r>
              <a:rPr lang="en-US" altLang="ja-JP" sz="1000" dirty="0">
                <a:sym typeface="Symbol" panose="05050102010706020507" pitchFamily="18" charset="2"/>
              </a:rPr>
              <a:t> </a:t>
            </a:r>
          </a:p>
          <a:p>
            <a:pPr algn="r" rtl="1">
              <a:buNone/>
            </a:pPr>
            <a:r>
              <a:rPr lang="en-US" altLang="en-US" dirty="0">
                <a:sym typeface="Symbol" panose="05050102010706020507" pitchFamily="18" charset="2"/>
              </a:rPr>
              <a:t>           </a:t>
            </a:r>
          </a:p>
          <a:p>
            <a:pPr algn="r" rtl="1">
              <a:buNone/>
            </a:pPr>
            <a:r>
              <a:rPr lang="en-US" altLang="en-US" dirty="0">
                <a:sym typeface="Symbol" panose="05050102010706020507" pitchFamily="18" charset="2"/>
              </a:rPr>
              <a:t>  </a:t>
            </a:r>
            <a:r>
              <a:rPr lang="en-US" altLang="ja-JP" sz="1000" dirty="0">
                <a:sym typeface="Symbol" panose="05050102010706020507" pitchFamily="18" charset="2"/>
              </a:rPr>
              <a:t> </a:t>
            </a:r>
          </a:p>
          <a:p>
            <a:pPr algn="r" rtl="1">
              <a:lnSpc>
                <a:spcPct val="15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به‌جای آن‌که نام یک رابطه را مستقیماً به‌عنوان ورودی عملگر نمایش بدهیم، می‌توانیم عبارتی را به‌کار ببریم که خودش یک رابطه را تولید می‌کند.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sz="2800" dirty="0">
              <a:sym typeface="Symbol" panose="05050102010706020507" pitchFamily="18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53BEA1-CD9A-4A55-A8AC-01ABC01353ED}"/>
              </a:ext>
            </a:extLst>
          </p:cNvPr>
          <p:cNvSpPr txBox="1"/>
          <p:nvPr/>
        </p:nvSpPr>
        <p:spPr>
          <a:xfrm>
            <a:off x="768351" y="4181588"/>
            <a:ext cx="57172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en-US" sz="2400" dirty="0">
                <a:sym typeface="Symbol" panose="05050102010706020507" pitchFamily="18" charset="2"/>
              </a:rPr>
              <a:t>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name</a:t>
            </a:r>
            <a:r>
              <a:rPr lang="en-US" altLang="en-US" sz="2400" dirty="0"/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2400" i="1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400" i="1" dirty="0"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ym typeface="Symbol" panose="05050102010706020507" pitchFamily="18" charset="2"/>
              </a:rPr>
              <a:t>))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>
          <a:xfrm>
            <a:off x="748471" y="485222"/>
            <a:ext cx="8077200" cy="609600"/>
          </a:xfrm>
        </p:spPr>
        <p:txBody>
          <a:bodyPr/>
          <a:lstStyle/>
          <a:p>
            <a:br>
              <a:rPr lang="en-US" altLang="en-US" sz="2800" dirty="0"/>
            </a:br>
            <a:r>
              <a:rPr lang="fa-IR" dirty="0"/>
              <a:t>عملگر ضرب دکارتی</a:t>
            </a:r>
            <a:br>
              <a:rPr lang="en-US" dirty="0"/>
            </a:br>
            <a:r>
              <a:rPr lang="en-US" altLang="en-US" sz="2800" dirty="0"/>
              <a:t>(Cartesian-Product Operation)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615636" y="1622312"/>
            <a:ext cx="7862539" cy="4876800"/>
          </a:xfrm>
        </p:spPr>
        <p:txBody>
          <a:bodyPr/>
          <a:lstStyle/>
          <a:p>
            <a:pPr algn="r" rtl="1">
              <a:tabLst>
                <a:tab pos="3149600" algn="ctr"/>
              </a:tabLst>
            </a:pPr>
            <a:r>
              <a:rPr lang="fa-IR" altLang="en-US" dirty="0"/>
              <a:t>عملگر ضرب دکارتی (که با نماد </a:t>
            </a:r>
            <a:r>
              <a:rPr lang="en-US" altLang="en-US" dirty="0"/>
              <a:t>X</a:t>
            </a:r>
            <a:r>
              <a:rPr lang="fa-IR" altLang="en-US" dirty="0"/>
              <a:t> نمایش داده می‌شود) به ما اجازه می‌دهد تا اطلاعات دو رابطه را با یکدیگر ترکیب کنیم.</a:t>
            </a:r>
            <a:endParaRPr lang="en-US" altLang="en-US" dirty="0"/>
          </a:p>
          <a:p>
            <a:pPr lvl="1" algn="r" rtl="1">
              <a:buFont typeface="Courier New" panose="02070309020205020404" pitchFamily="49" charset="0"/>
              <a:buChar char="o"/>
              <a:tabLst>
                <a:tab pos="3149600" algn="ctr"/>
              </a:tabLst>
            </a:pPr>
            <a:r>
              <a:rPr lang="fa-IR" altLang="en-US" dirty="0"/>
              <a:t>مثال: </a:t>
            </a:r>
            <a:r>
              <a:rPr lang="fa-IR" dirty="0"/>
              <a:t>ضرب دکارتی  دو رابطه‌ی </a:t>
            </a:r>
            <a:r>
              <a:rPr lang="en-US" i="1" dirty="0"/>
              <a:t>instructor</a:t>
            </a:r>
            <a:r>
              <a:rPr lang="fa-IR" i="1" dirty="0"/>
              <a:t> </a:t>
            </a:r>
            <a:r>
              <a:rPr lang="en-US" dirty="0"/>
              <a:t> </a:t>
            </a:r>
            <a:r>
              <a:rPr lang="fa-IR" dirty="0"/>
              <a:t>و </a:t>
            </a:r>
            <a:r>
              <a:rPr lang="en-US" i="1" dirty="0"/>
              <a:t>teaches</a:t>
            </a:r>
            <a:r>
              <a:rPr lang="fa-IR" i="1" dirty="0"/>
              <a:t> </a:t>
            </a:r>
            <a:r>
              <a:rPr lang="en-US" dirty="0"/>
              <a:t> </a:t>
            </a:r>
            <a:r>
              <a:rPr lang="fa-IR" dirty="0"/>
              <a:t>به‌صورت زیر نوشته می‌شود:</a:t>
            </a:r>
          </a:p>
          <a:p>
            <a:pPr marL="457200" lvl="1" indent="0" algn="r" rtl="1">
              <a:buNone/>
              <a:tabLst>
                <a:tab pos="3149600" algn="ctr"/>
              </a:tabLst>
            </a:pPr>
            <a:br>
              <a:rPr lang="en-US" altLang="en-US" dirty="0"/>
            </a:br>
            <a:r>
              <a:rPr lang="fa-IR" altLang="en-US" dirty="0"/>
              <a:t>            </a:t>
            </a:r>
            <a:r>
              <a:rPr lang="en-US" altLang="en-US" i="1" dirty="0"/>
              <a:t>instructor</a:t>
            </a:r>
            <a:r>
              <a:rPr lang="en-US" altLang="en-US" dirty="0"/>
              <a:t>  X  </a:t>
            </a:r>
            <a:r>
              <a:rPr lang="en-US" altLang="en-US" i="1" dirty="0"/>
              <a:t>teaches</a:t>
            </a:r>
            <a:r>
              <a:rPr lang="fa-IR" altLang="en-US" i="1" dirty="0"/>
              <a:t>  </a:t>
            </a:r>
            <a:endParaRPr lang="en-US" altLang="en-US" i="1" dirty="0"/>
          </a:p>
          <a:p>
            <a:pPr algn="r" rtl="1">
              <a:tabLst>
                <a:tab pos="3149600" algn="ctr"/>
              </a:tabLst>
            </a:pPr>
            <a:endParaRPr lang="en-US" dirty="0"/>
          </a:p>
          <a:p>
            <a:pPr algn="r" rtl="1">
              <a:tabLst>
                <a:tab pos="3149600" algn="ctr"/>
              </a:tabLst>
            </a:pPr>
            <a:r>
              <a:rPr lang="fa-IR" dirty="0"/>
              <a:t>در نتیجه، برای </a:t>
            </a:r>
            <a:r>
              <a:rPr lang="fa-IR" b="1" dirty="0"/>
              <a:t>هر جفت ممکن از تاپل‌ها</a:t>
            </a:r>
            <a:r>
              <a:rPr lang="fa-IR" dirty="0"/>
              <a:t> (یکی از رابطه‌ی </a:t>
            </a:r>
            <a:r>
              <a:rPr lang="en-US" i="1" dirty="0"/>
              <a:t>instructor</a:t>
            </a:r>
            <a:r>
              <a:rPr lang="fa-IR" i="1" dirty="0"/>
              <a:t> </a:t>
            </a:r>
            <a:r>
              <a:rPr lang="en-US" dirty="0"/>
              <a:t> </a:t>
            </a:r>
            <a:r>
              <a:rPr lang="fa-IR" dirty="0"/>
              <a:t>و دیگری از رابطه‌ی </a:t>
            </a:r>
            <a:r>
              <a:rPr lang="en-US" dirty="0"/>
              <a:t> (</a:t>
            </a:r>
            <a:r>
              <a:rPr lang="en-US" i="1" dirty="0"/>
              <a:t>teaches</a:t>
            </a:r>
            <a:r>
              <a:rPr lang="en-US" dirty="0"/>
              <a:t>، </a:t>
            </a:r>
            <a:r>
              <a:rPr lang="fa-IR" dirty="0"/>
              <a:t>یک </a:t>
            </a:r>
            <a:r>
              <a:rPr lang="fa-IR" b="1" dirty="0"/>
              <a:t>تاپل جدید</a:t>
            </a:r>
            <a:r>
              <a:rPr lang="fa-IR" dirty="0"/>
              <a:t> ساخته می‌شود.</a:t>
            </a:r>
            <a:br>
              <a:rPr lang="fa-IR" dirty="0"/>
            </a:br>
            <a:r>
              <a:rPr lang="fa-IR" dirty="0"/>
              <a:t>(به اسلاید بعدی مراجعه کنید.) </a:t>
            </a:r>
            <a:br>
              <a:rPr lang="fa-IR" dirty="0"/>
            </a:br>
            <a:endParaRPr lang="fa-IR" dirty="0"/>
          </a:p>
          <a:p>
            <a:pPr algn="r" rtl="1">
              <a:tabLst>
                <a:tab pos="3149600" algn="ctr"/>
              </a:tabLst>
            </a:pPr>
            <a:r>
              <a:rPr lang="fa-IR" altLang="en-US" dirty="0"/>
              <a:t>از آن‌جا که ویژگی </a:t>
            </a:r>
            <a:r>
              <a:rPr lang="en-US" altLang="en-US" dirty="0"/>
              <a:t>ID </a:t>
            </a:r>
            <a:r>
              <a:rPr lang="fa-IR" altLang="en-US" dirty="0"/>
              <a:t>در هر دو رابطه وجود دارد، برای جلوگیری از ابهام، نام رابطه‌ای که ویژگی از آن آمده را به آن اضافه می‌کنیم:</a:t>
            </a:r>
            <a:endParaRPr lang="en-US" altLang="en-US" dirty="0"/>
          </a:p>
          <a:p>
            <a:pPr lvl="1" algn="r" rtl="1">
              <a:buFont typeface="Courier New" panose="02070309020205020404" pitchFamily="49" charset="0"/>
              <a:buChar char="o"/>
              <a:tabLst>
                <a:tab pos="3149600" algn="ctr"/>
              </a:tabLst>
            </a:pPr>
            <a:r>
              <a:rPr lang="en-US" altLang="en-US" i="1" dirty="0"/>
              <a:t>instructor.ID</a:t>
            </a:r>
          </a:p>
          <a:p>
            <a:pPr lvl="1" algn="r" rtl="1">
              <a:buFont typeface="Courier New" panose="02070309020205020404" pitchFamily="49" charset="0"/>
              <a:buChar char="o"/>
              <a:tabLst>
                <a:tab pos="3149600" algn="ctr"/>
              </a:tabLst>
            </a:pPr>
            <a:r>
              <a:rPr lang="en-US" altLang="en-US" i="1" dirty="0"/>
              <a:t>teaches.ID</a:t>
            </a:r>
          </a:p>
          <a:p>
            <a:pPr lvl="1" algn="r" rtl="1">
              <a:tabLst>
                <a:tab pos="3149600" algn="ctr"/>
              </a:tabLst>
            </a:pPr>
            <a:endParaRPr lang="en-US" altLang="en-US" sz="2800" dirty="0"/>
          </a:p>
          <a:p>
            <a:pPr algn="r" rtl="1">
              <a:buNone/>
              <a:tabLst>
                <a:tab pos="3149600" algn="ctr"/>
              </a:tabLst>
            </a:pPr>
            <a:endParaRPr lang="en-US" altLang="en-US" sz="280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The</a:t>
            </a:r>
            <a:r>
              <a:rPr lang="en-US" altLang="en-US" sz="2800" i="1" dirty="0"/>
              <a:t>  instructor</a:t>
            </a:r>
            <a:r>
              <a:rPr lang="en-US" altLang="en-US" sz="2800" dirty="0"/>
              <a:t>  </a:t>
            </a:r>
            <a:r>
              <a:rPr lang="en-US" altLang="en-US" sz="2400" dirty="0"/>
              <a:t>X</a:t>
            </a:r>
            <a:r>
              <a:rPr lang="en-US" altLang="en-US" sz="2800" dirty="0"/>
              <a:t>  </a:t>
            </a:r>
            <a:r>
              <a:rPr lang="en-US" altLang="en-US" sz="2800" i="1" dirty="0"/>
              <a:t>teaches  table</a:t>
            </a:r>
            <a:endParaRPr lang="en-US" altLang="en-US" sz="28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25A146-DF78-4629-A7BE-AFD7754271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2" b="6551"/>
          <a:stretch/>
        </p:blipFill>
        <p:spPr>
          <a:xfrm>
            <a:off x="1785409" y="651361"/>
            <a:ext cx="5573182" cy="6089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13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>
            <a:extLst>
              <a:ext uri="{FF2B5EF4-FFF2-40B4-BE49-F238E27FC236}">
                <a16:creationId xmlns:a16="http://schemas.microsoft.com/office/drawing/2014/main" id="{3EDA2181-68AF-4F01-A506-06651EE3ED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500" y="193675"/>
            <a:ext cx="8229600" cy="503238"/>
          </a:xfrm>
        </p:spPr>
        <p:txBody>
          <a:bodyPr/>
          <a:lstStyle/>
          <a:p>
            <a:pPr>
              <a:defRPr/>
            </a:pPr>
            <a:r>
              <a:rPr lang="fa-IR" dirty="0"/>
              <a:t>اتصال دو رابطه – ضرب دکارتی</a:t>
            </a:r>
            <a:endParaRPr lang="en-US" dirty="0">
              <a:ea typeface="MS PGothic" panose="020B0600070205080204" pitchFamily="34" charset="-128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CEBC38DD-61BA-4814-8822-904D44A4D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10779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buClr>
                <a:schemeClr val="tx2"/>
              </a:buClr>
              <a:buSzTx/>
            </a:pPr>
            <a:r>
              <a:rPr lang="fa-IR" altLang="en-US" dirty="0"/>
              <a:t>روابط </a:t>
            </a:r>
            <a:r>
              <a:rPr lang="en-US" altLang="en-US" dirty="0"/>
              <a:t>r</a:t>
            </a:r>
            <a:r>
              <a:rPr lang="fa-IR" altLang="en-US" dirty="0"/>
              <a:t> و </a:t>
            </a:r>
            <a:r>
              <a:rPr lang="en-US" altLang="en-US" dirty="0"/>
              <a:t>s</a:t>
            </a:r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CD4ACDAA-22B0-430F-8C29-C9D4FA12D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31353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buClr>
                <a:schemeClr val="tx2"/>
              </a:buClr>
              <a:buSzTx/>
            </a:pPr>
            <a:r>
              <a:rPr lang="en-US" altLang="en-US" i="1" dirty="0"/>
              <a:t>r</a:t>
            </a:r>
            <a:r>
              <a:rPr lang="en-US" altLang="en-US" dirty="0"/>
              <a:t> x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fa-IR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  <a:endParaRPr lang="en-US" altLang="en-US" dirty="0"/>
          </a:p>
        </p:txBody>
      </p:sp>
      <p:pic>
        <p:nvPicPr>
          <p:cNvPr id="37893" name="Picture 5">
            <a:extLst>
              <a:ext uri="{FF2B5EF4-FFF2-40B4-BE49-F238E27FC236}">
                <a16:creationId xmlns:a16="http://schemas.microsoft.com/office/drawing/2014/main" id="{3C5FC633-E885-4ECF-94E0-66A8CB2878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433"/>
          <a:stretch/>
        </p:blipFill>
        <p:spPr bwMode="auto">
          <a:xfrm>
            <a:off x="2913063" y="1096963"/>
            <a:ext cx="2432050" cy="18454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78B9F1-5E68-4772-92BA-3CFA151CAD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84"/>
          <a:stretch/>
        </p:blipFill>
        <p:spPr bwMode="auto">
          <a:xfrm>
            <a:off x="2913063" y="3135313"/>
            <a:ext cx="2432050" cy="270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298" name="Rectangle 2">
            <a:extLst>
              <a:ext uri="{FF2B5EF4-FFF2-40B4-BE49-F238E27FC236}">
                <a16:creationId xmlns:a16="http://schemas.microsoft.com/office/drawing/2014/main" id="{7FCE8CB4-160C-4D9E-AF71-003E5C3D8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5500" y="193675"/>
            <a:ext cx="8229600" cy="503238"/>
          </a:xfrm>
        </p:spPr>
        <p:txBody>
          <a:bodyPr/>
          <a:lstStyle/>
          <a:p>
            <a:pPr>
              <a:defRPr/>
            </a:pPr>
            <a:r>
              <a:rPr lang="fa-IR" dirty="0"/>
              <a:t>ضرب دکارتی – مسئله‌ی نام‌گذاری</a:t>
            </a:r>
            <a:endParaRPr lang="en-US" dirty="0">
              <a:ea typeface="MS PGothic" panose="020B0600070205080204" pitchFamily="34" charset="-128"/>
            </a:endParaRP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6E70063D-8F09-4511-80B6-8F4671BE2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10779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buClr>
                <a:schemeClr val="tx2"/>
              </a:buClr>
              <a:buSzTx/>
            </a:pPr>
            <a:r>
              <a:rPr lang="fa-IR" altLang="en-US" dirty="0"/>
              <a:t>روابط </a:t>
            </a:r>
            <a:r>
              <a:rPr lang="en-US" altLang="en-US" dirty="0"/>
              <a:t>r</a:t>
            </a:r>
            <a:r>
              <a:rPr lang="fa-IR" altLang="en-US" dirty="0"/>
              <a:t> و </a:t>
            </a:r>
            <a:r>
              <a:rPr lang="en-US" altLang="en-US" dirty="0"/>
              <a:t>s</a:t>
            </a:r>
          </a:p>
        </p:txBody>
      </p:sp>
      <p:sp>
        <p:nvSpPr>
          <p:cNvPr id="39940" name="Rectangle 4">
            <a:extLst>
              <a:ext uri="{FF2B5EF4-FFF2-40B4-BE49-F238E27FC236}">
                <a16:creationId xmlns:a16="http://schemas.microsoft.com/office/drawing/2014/main" id="{0D26B11D-0DB6-4AAB-AA03-20F2D86B3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3135313"/>
            <a:ext cx="7029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tabLst>
                <a:tab pos="3149600" algn="ctr"/>
              </a:tabLst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buClr>
                <a:schemeClr val="tx2"/>
              </a:buClr>
              <a:buSzTx/>
            </a:pPr>
            <a:r>
              <a:rPr lang="en-US" altLang="en-US" i="1" dirty="0"/>
              <a:t>r</a:t>
            </a:r>
            <a:r>
              <a:rPr lang="en-US" altLang="en-US" dirty="0"/>
              <a:t> x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r>
              <a:rPr lang="fa-IR" altLang="en-US" dirty="0"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:</a:t>
            </a:r>
            <a:endParaRPr lang="en-US" altLang="en-US" dirty="0"/>
          </a:p>
        </p:txBody>
      </p:sp>
      <p:pic>
        <p:nvPicPr>
          <p:cNvPr id="39941" name="Picture 5">
            <a:extLst>
              <a:ext uri="{FF2B5EF4-FFF2-40B4-BE49-F238E27FC236}">
                <a16:creationId xmlns:a16="http://schemas.microsoft.com/office/drawing/2014/main" id="{9A03548F-AE1B-4E69-B3CC-E5CB213E6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3063" y="1076325"/>
            <a:ext cx="2432050" cy="46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2" name="Rectangle 1">
            <a:extLst>
              <a:ext uri="{FF2B5EF4-FFF2-40B4-BE49-F238E27FC236}">
                <a16:creationId xmlns:a16="http://schemas.microsoft.com/office/drawing/2014/main" id="{790BF930-C41A-416D-9A36-52EA68215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1162050"/>
            <a:ext cx="249237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600"/>
          </a:p>
        </p:txBody>
      </p:sp>
      <p:sp>
        <p:nvSpPr>
          <p:cNvPr id="39943" name="Rectangle 6">
            <a:extLst>
              <a:ext uri="{FF2B5EF4-FFF2-40B4-BE49-F238E27FC236}">
                <a16:creationId xmlns:a16="http://schemas.microsoft.com/office/drawing/2014/main" id="{D5287450-D9BC-4402-9854-82594B41C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8550" y="3135313"/>
            <a:ext cx="24765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600"/>
          </a:p>
        </p:txBody>
      </p:sp>
      <p:sp>
        <p:nvSpPr>
          <p:cNvPr id="39944" name="TextBox 2">
            <a:extLst>
              <a:ext uri="{FF2B5EF4-FFF2-40B4-BE49-F238E27FC236}">
                <a16:creationId xmlns:a16="http://schemas.microsoft.com/office/drawing/2014/main" id="{0F33694B-B46D-42FA-A3BE-04ED7E926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0" y="3060700"/>
            <a:ext cx="1330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s.B</a:t>
            </a:r>
          </a:p>
        </p:txBody>
      </p:sp>
      <p:sp>
        <p:nvSpPr>
          <p:cNvPr id="39945" name="TextBox 8">
            <a:extLst>
              <a:ext uri="{FF2B5EF4-FFF2-40B4-BE49-F238E27FC236}">
                <a16:creationId xmlns:a16="http://schemas.microsoft.com/office/drawing/2014/main" id="{9101E2D4-B0AD-446D-AB52-EC017612B5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8475" y="1036638"/>
            <a:ext cx="132873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200" i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9946" name="Rectangle 6">
            <a:extLst>
              <a:ext uri="{FF2B5EF4-FFF2-40B4-BE49-F238E27FC236}">
                <a16:creationId xmlns:a16="http://schemas.microsoft.com/office/drawing/2014/main" id="{A2FAD88D-EAB6-488B-93BE-E875B74A6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3588" y="3141663"/>
            <a:ext cx="247650" cy="2317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600"/>
          </a:p>
        </p:txBody>
      </p:sp>
      <p:sp>
        <p:nvSpPr>
          <p:cNvPr id="39947" name="TextBox 2">
            <a:extLst>
              <a:ext uri="{FF2B5EF4-FFF2-40B4-BE49-F238E27FC236}">
                <a16:creationId xmlns:a16="http://schemas.microsoft.com/office/drawing/2014/main" id="{7E1BB991-E48D-4CEF-8106-36061B318F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1350" y="3059113"/>
            <a:ext cx="13303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r.B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(Join Operation)</a:t>
            </a:r>
            <a:r>
              <a:rPr lang="fa-IR" altLang="en-US" sz="2800" dirty="0"/>
              <a:t>عملگر پیوند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323088" y="1126681"/>
            <a:ext cx="8522461" cy="5292226"/>
          </a:xfrm>
        </p:spPr>
        <p:txBody>
          <a:bodyPr/>
          <a:lstStyle/>
          <a:p>
            <a:pPr algn="r" rtl="1">
              <a:tabLst>
                <a:tab pos="3149600" algn="ctr"/>
              </a:tabLst>
            </a:pPr>
            <a:r>
              <a:rPr lang="fa-IR" altLang="en-US" dirty="0"/>
              <a:t>در عملگر ضرب کارتزینی</a:t>
            </a:r>
            <a:br>
              <a:rPr lang="en-US" altLang="en-US" dirty="0"/>
            </a:br>
            <a:r>
              <a:rPr lang="en-US" altLang="en-US" i="1" dirty="0"/>
              <a:t>                    </a:t>
            </a:r>
            <a:r>
              <a:rPr lang="en-US" altLang="en-US" b="1" i="1" dirty="0"/>
              <a:t>instructor</a:t>
            </a:r>
            <a:r>
              <a:rPr lang="en-US" altLang="en-US" dirty="0"/>
              <a:t>  X  </a:t>
            </a:r>
            <a:r>
              <a:rPr lang="en-US" altLang="en-US" b="1" i="1" dirty="0"/>
              <a:t>teaches</a:t>
            </a:r>
            <a:br>
              <a:rPr lang="en-US" altLang="en-US" b="1" i="1" dirty="0"/>
            </a:br>
            <a:endParaRPr lang="en-US" altLang="en-US" b="1" dirty="0"/>
          </a:p>
          <a:p>
            <a:pPr marL="0" indent="0" algn="r" rtl="1">
              <a:buNone/>
              <a:tabLst>
                <a:tab pos="3149600" algn="ctr"/>
              </a:tabLst>
            </a:pPr>
            <a:r>
              <a:rPr lang="fa-IR" dirty="0"/>
              <a:t>هر تاپل از رابطه‌ی </a:t>
            </a:r>
            <a:r>
              <a:rPr lang="en-US" dirty="0"/>
              <a:t> </a:t>
            </a:r>
            <a:r>
              <a:rPr lang="en-US" i="1" dirty="0"/>
              <a:t>instructor</a:t>
            </a:r>
            <a:r>
              <a:rPr lang="en-US" dirty="0"/>
              <a:t> </a:t>
            </a:r>
            <a:r>
              <a:rPr lang="fa-IR" dirty="0"/>
              <a:t>با هر تاپل از رابطه‌ی </a:t>
            </a:r>
            <a:r>
              <a:rPr lang="en-US" dirty="0"/>
              <a:t> </a:t>
            </a:r>
            <a:r>
              <a:rPr lang="en-US" i="1" dirty="0"/>
              <a:t>teaches</a:t>
            </a:r>
            <a:r>
              <a:rPr lang="en-US" dirty="0"/>
              <a:t> </a:t>
            </a:r>
            <a:r>
              <a:rPr lang="fa-IR" b="1" dirty="0"/>
              <a:t>ترکیب</a:t>
            </a:r>
            <a:r>
              <a:rPr lang="fa-IR" dirty="0"/>
              <a:t> می‌شود.</a:t>
            </a:r>
            <a:endParaRPr lang="fa-IR" altLang="en-US" dirty="0"/>
          </a:p>
          <a:p>
            <a:pPr lvl="1" algn="r" rtl="1">
              <a:buFont typeface="Courier New" panose="02070309020205020404" pitchFamily="49" charset="0"/>
              <a:buChar char="o"/>
              <a:tabLst>
                <a:tab pos="3149600" algn="ctr"/>
              </a:tabLst>
            </a:pPr>
            <a:r>
              <a:rPr lang="fa-IR" altLang="en-US" dirty="0"/>
              <a:t>اما بیشتر ردیف‌های حاصل، شامل اطلاعاتی درباره‌ی اساتیدی هستند که هیچ درسی را تدریس نکرده‌اند.</a:t>
            </a:r>
          </a:p>
          <a:p>
            <a:pPr algn="r" rtl="1">
              <a:tabLst>
                <a:tab pos="3149600" algn="ctr"/>
              </a:tabLst>
            </a:pPr>
            <a:r>
              <a:rPr lang="fa-IR" altLang="en-US" dirty="0"/>
              <a:t>برای به‌دست آوردن فقط آن تاپل‌هایی از </a:t>
            </a:r>
            <a:r>
              <a:rPr lang="en-US" altLang="en-US" dirty="0"/>
              <a:t>instructor × teaches </a:t>
            </a:r>
            <a:r>
              <a:rPr lang="fa-IR" altLang="en-US" dirty="0"/>
              <a:t> که مربوط به اساتید و درس‌هایی است که واقعاً آن‌ها تدریس کرده‌اند، می‌نویسیم:</a:t>
            </a:r>
            <a:r>
              <a:rPr lang="en-US" altLang="ja-JP" sz="1000" dirty="0">
                <a:sym typeface="Symbol" panose="05050102010706020507" pitchFamily="18" charset="2"/>
              </a:rPr>
              <a:t> </a:t>
            </a:r>
          </a:p>
          <a:p>
            <a:pPr algn="r" rtl="1">
              <a:buNone/>
            </a:pPr>
            <a:endParaRPr lang="en-US" altLang="ja-JP" sz="1000" dirty="0">
              <a:sym typeface="Symbol" panose="05050102010706020507" pitchFamily="18" charset="2"/>
            </a:endParaRPr>
          </a:p>
          <a:p>
            <a:pPr marL="457200" lvl="1" indent="0" algn="r" rtl="1">
              <a:buNone/>
            </a:pPr>
            <a:endParaRPr lang="fa-IR" altLang="ja-JP" dirty="0">
              <a:sym typeface="Symbol" panose="05050102010706020507" pitchFamily="18" charset="2"/>
            </a:endParaRP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altLang="ja-JP" dirty="0">
                <a:sym typeface="Symbol" panose="05050102010706020507" pitchFamily="18" charset="2"/>
              </a:rPr>
              <a:t>در نتیجه، تنها تاپل‌هایی باقی می‌مانند که به اساتید و درس‌هایی که توسط آن‌ها تدریس شده است مربوط می‌شوند.</a:t>
            </a:r>
          </a:p>
          <a:p>
            <a:pPr marL="342900" lvl="1" indent="-342900" algn="r" rtl="1"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a-IR" dirty="0"/>
              <a:t>نتیجه‌ی این عبارت در اسلاید بعدی نمایش داده می‌شود.</a:t>
            </a:r>
            <a:endParaRPr lang="en-US" altLang="ja-JP" dirty="0">
              <a:sym typeface="Symbol" panose="05050102010706020507" pitchFamily="18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C3C7E-D635-48E9-9710-C321FE97DBEE}"/>
              </a:ext>
            </a:extLst>
          </p:cNvPr>
          <p:cNvSpPr txBox="1"/>
          <p:nvPr/>
        </p:nvSpPr>
        <p:spPr>
          <a:xfrm>
            <a:off x="298451" y="3879948"/>
            <a:ext cx="689421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000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</a:t>
            </a:r>
            <a:r>
              <a:rPr lang="en-US" altLang="en-US" sz="2800" i="1" dirty="0">
                <a:sym typeface="Symbol" panose="05050102010706020507" pitchFamily="18" charset="2"/>
              </a:rPr>
              <a:t>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800" i="1" dirty="0">
                <a:sym typeface="Symbol" panose="05050102010706020507" pitchFamily="18" charset="2"/>
              </a:rPr>
              <a:t>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instructor  </a:t>
            </a:r>
            <a:r>
              <a:rPr lang="en-US" altLang="ja-JP" sz="2000" dirty="0">
                <a:sym typeface="Symbol" panose="05050102010706020507" pitchFamily="18" charset="2"/>
              </a:rPr>
              <a:t>x</a:t>
            </a:r>
            <a:r>
              <a:rPr lang="en-US" altLang="ja-JP" sz="2000" i="1" dirty="0">
                <a:sym typeface="Symbol" panose="05050102010706020507" pitchFamily="18" charset="2"/>
              </a:rPr>
              <a:t> teaches 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sz="2800" dirty="0"/>
              <a:t>عملگر پیوند (ادامه)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768351" y="1077913"/>
            <a:ext cx="7436866" cy="848423"/>
          </a:xfrm>
        </p:spPr>
        <p:txBody>
          <a:bodyPr/>
          <a:lstStyle/>
          <a:p>
            <a:pPr algn="r" rtl="1"/>
            <a:r>
              <a:rPr lang="fa-IR" altLang="en-US" sz="1700" dirty="0"/>
              <a:t>جدول متناظر با:</a:t>
            </a:r>
            <a:br>
              <a:rPr lang="fa-IR" altLang="en-US" sz="1700" dirty="0"/>
            </a:br>
            <a:r>
              <a:rPr lang="en-US" altLang="en-US" sz="1800" i="1" dirty="0">
                <a:solidFill>
                  <a:schemeClr val="bg1">
                    <a:lumMod val="50000"/>
                  </a:schemeClr>
                </a:solidFill>
                <a:sym typeface="Symbol" panose="05050102010706020507" pitchFamily="18" charset="2"/>
              </a:rPr>
              <a:t>            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instructor.id =  teaches.id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1800" dirty="0">
                <a:sym typeface="Symbol" panose="05050102010706020507" pitchFamily="18" charset="2"/>
              </a:rPr>
              <a:t>(</a:t>
            </a:r>
            <a:r>
              <a:rPr lang="en-US" altLang="ja-JP" sz="1800" i="1" dirty="0">
                <a:sym typeface="Symbol" panose="05050102010706020507" pitchFamily="18" charset="2"/>
              </a:rPr>
              <a:t>instructor  </a:t>
            </a:r>
            <a:r>
              <a:rPr lang="en-US" altLang="ja-JP" sz="1800" dirty="0">
                <a:sym typeface="Symbol" panose="05050102010706020507" pitchFamily="18" charset="2"/>
              </a:rPr>
              <a:t>x</a:t>
            </a:r>
            <a:r>
              <a:rPr lang="en-US" altLang="ja-JP" sz="1800" i="1" dirty="0">
                <a:sym typeface="Symbol" panose="05050102010706020507" pitchFamily="18" charset="2"/>
              </a:rPr>
              <a:t> teaches</a:t>
            </a:r>
            <a:r>
              <a:rPr lang="en-US" altLang="ja-JP" sz="1800" dirty="0">
                <a:sym typeface="Symbol" panose="05050102010706020507" pitchFamily="18" charset="2"/>
              </a:rPr>
              <a:t>))</a:t>
            </a:r>
            <a:r>
              <a:rPr lang="en-US" altLang="en-US" sz="1800" dirty="0"/>
              <a:t> </a:t>
            </a:r>
          </a:p>
          <a:p>
            <a:pPr algn="r" rtl="1">
              <a:buNone/>
            </a:pPr>
            <a:endParaRPr lang="en-US" alt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4514E8B-ADB7-4B47-B765-99E7784E86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1" b="12878"/>
          <a:stretch/>
        </p:blipFill>
        <p:spPr>
          <a:xfrm>
            <a:off x="368414" y="1926336"/>
            <a:ext cx="8585463" cy="478640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عملگر پیوند (ادامه)</a:t>
            </a:r>
            <a:endParaRPr lang="en-US" alt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70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35282" y="989787"/>
                <a:ext cx="8510268" cy="4823015"/>
              </a:xfrm>
            </p:spPr>
            <p:txBody>
              <a:bodyPr/>
              <a:lstStyle/>
              <a:p>
                <a:pPr algn="r" rtl="1">
                  <a:lnSpc>
                    <a:spcPct val="150000"/>
                  </a:lnSpc>
                  <a:tabLst>
                    <a:tab pos="3149600" algn="ctr"/>
                  </a:tabLst>
                </a:pPr>
                <a:r>
                  <a:rPr lang="fa-IR" sz="1800" dirty="0"/>
                  <a:t>عملگر </a:t>
                </a:r>
                <a:r>
                  <a:rPr lang="fa-IR" sz="1800" b="1" dirty="0"/>
                  <a:t>پیوند </a:t>
                </a:r>
                <a:r>
                  <a:rPr lang="en-US" sz="1800" b="1" dirty="0"/>
                  <a:t> (Join)</a:t>
                </a:r>
                <a:r>
                  <a:rPr lang="en-US" sz="1800" dirty="0"/>
                  <a:t> </a:t>
                </a:r>
                <a:r>
                  <a:rPr lang="fa-IR" sz="1800" dirty="0"/>
                  <a:t>این امکان را فراهم می‌کند که </a:t>
                </a:r>
                <a:r>
                  <a:rPr lang="fa-IR" sz="1800" b="1" dirty="0"/>
                  <a:t>عملگر انتخاب </a:t>
                </a:r>
                <a:r>
                  <a:rPr lang="en-US" sz="1800" b="1" dirty="0"/>
                  <a:t> (Select)</a:t>
                </a:r>
                <a:r>
                  <a:rPr lang="en-US" sz="1800" dirty="0"/>
                  <a:t> </a:t>
                </a:r>
                <a:r>
                  <a:rPr lang="fa-IR" sz="1800" dirty="0"/>
                  <a:t>و </a:t>
                </a:r>
                <a:r>
                  <a:rPr lang="fa-IR" sz="1800" b="1" dirty="0"/>
                  <a:t>عملگر ضرب دکارتی </a:t>
                </a:r>
                <a:r>
                  <a:rPr lang="en-US" sz="1800" b="1" dirty="0"/>
                  <a:t>(Cartesian Product</a:t>
                </a:r>
                <a:r>
                  <a:rPr lang="en-US" sz="1800" dirty="0"/>
                  <a:t> )</a:t>
                </a:r>
                <a:r>
                  <a:rPr lang="fa-IR" sz="1800" dirty="0"/>
                  <a:t>را در قالب </a:t>
                </a:r>
                <a:r>
                  <a:rPr lang="fa-IR" sz="1800" b="1" dirty="0"/>
                  <a:t>یک عملگر واحد</a:t>
                </a:r>
                <a:r>
                  <a:rPr lang="fa-IR" sz="1800" dirty="0"/>
                  <a:t> ترکیب کنیم.</a:t>
                </a:r>
              </a:p>
              <a:p>
                <a:pPr algn="r" rtl="1">
                  <a:lnSpc>
                    <a:spcPct val="150000"/>
                  </a:lnSpc>
                  <a:tabLst>
                    <a:tab pos="3149600" algn="ctr"/>
                  </a:tabLst>
                </a:pPr>
                <a:r>
                  <a:rPr lang="fa-IR" altLang="en-US" sz="1800" dirty="0"/>
                  <a:t>فرض کنید دو رابطه </a:t>
                </a:r>
                <a:r>
                  <a:rPr lang="en-US" altLang="en-US" sz="1800" dirty="0"/>
                  <a:t>r(R)</a:t>
                </a:r>
                <a:r>
                  <a:rPr lang="fa-IR" altLang="en-US" sz="1800" dirty="0"/>
                  <a:t> و </a:t>
                </a:r>
                <a:r>
                  <a:rPr lang="en-US" altLang="en-US" sz="1800" dirty="0"/>
                  <a:t>s(S)</a:t>
                </a:r>
                <a:r>
                  <a:rPr lang="fa-IR" altLang="en-US" sz="1800" dirty="0"/>
                  <a:t> را داریم:	</a:t>
                </a:r>
                <a:endParaRPr lang="en-US" altLang="en-US" sz="1800" dirty="0"/>
              </a:p>
              <a:p>
                <a:pPr algn="r" rtl="1">
                  <a:lnSpc>
                    <a:spcPct val="150000"/>
                  </a:lnSpc>
                </a:pPr>
                <a:r>
                  <a:rPr lang="fa-IR" sz="1800" dirty="0"/>
                  <a:t>اگر </a:t>
                </a:r>
                <a:r>
                  <a:rPr lang="el-GR" sz="1800" dirty="0"/>
                  <a:t>θ </a:t>
                </a:r>
                <a:r>
                  <a:rPr lang="fa-IR" sz="1800" dirty="0"/>
                  <a:t> (تتا) یک </a:t>
                </a:r>
                <a:r>
                  <a:rPr lang="fa-IR" sz="1800" b="1" dirty="0"/>
                  <a:t>شرط </a:t>
                </a:r>
                <a:r>
                  <a:rPr lang="fa-IR" sz="1800" dirty="0"/>
                  <a:t>بر روی ویژگی‌های </a:t>
                </a:r>
                <a:r>
                  <a:rPr lang="en-US" sz="1800" dirty="0"/>
                  <a:t>R∪S</a:t>
                </a:r>
                <a:r>
                  <a:rPr lang="fa-IR" sz="1800" dirty="0"/>
                  <a:t> باشد، آنگاه عملگر پیوند به‌صورت زیر تعریف می‌شود:</a:t>
                </a:r>
                <a:br>
                  <a:rPr lang="fa-IR" sz="1800" dirty="0"/>
                </a:br>
                <a:r>
                  <a:rPr lang="en-US" altLang="en-US" sz="18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1800" dirty="0"/>
                  <a:t>       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ja-JP" sz="2400" dirty="0">
                  <a:sym typeface="Symbol" panose="05050102010706020507" pitchFamily="18" charset="2"/>
                </a:endParaRPr>
              </a:p>
              <a:p>
                <a:pPr algn="r" rtl="1">
                  <a:lnSpc>
                    <a:spcPct val="150000"/>
                  </a:lnSpc>
                  <a:buNone/>
                </a:pPr>
                <a:r>
                  <a:rPr lang="en-US" altLang="ja-JP" sz="900" dirty="0">
                    <a:sym typeface="Symbol" panose="05050102010706020507" pitchFamily="18" charset="2"/>
                  </a:rPr>
                  <a:t> </a:t>
                </a:r>
              </a:p>
              <a:p>
                <a:pPr algn="r" rtl="1">
                  <a:lnSpc>
                    <a:spcPct val="150000"/>
                  </a:lnSpc>
                </a:pPr>
                <a:r>
                  <a:rPr lang="fa-IR" altLang="ja-JP" sz="1800" dirty="0">
                    <a:sym typeface="Symbol" panose="05050102010706020507" pitchFamily="18" charset="2"/>
                  </a:rPr>
                  <a:t>بنابراین:	</a:t>
                </a:r>
                <a:endParaRPr lang="en-US" altLang="ja-JP" sz="1800" dirty="0">
                  <a:sym typeface="Symbol" panose="05050102010706020507" pitchFamily="18" charset="2"/>
                </a:endParaRPr>
              </a:p>
              <a:p>
                <a:pPr marL="0" indent="0" algn="r" rtl="1">
                  <a:lnSpc>
                    <a:spcPct val="150000"/>
                  </a:lnSpc>
                  <a:buNone/>
                </a:pPr>
                <a:r>
                  <a:rPr lang="en-US" altLang="en-US" sz="1800" i="1" dirty="0">
                    <a:sym typeface="Symbol" panose="05050102010706020507" pitchFamily="18" charset="2"/>
                  </a:rPr>
                  <a:t>                 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sz="2800" dirty="0">
                    <a:sym typeface="Symbol" panose="05050102010706020507" pitchFamily="18" charset="2"/>
                  </a:rPr>
                  <a:t> </a:t>
                </a:r>
                <a:r>
                  <a:rPr lang="en-US" altLang="en-US" sz="2800" i="1" baseline="-25000" dirty="0">
                    <a:sym typeface="Symbol" panose="05050102010706020507" pitchFamily="18" charset="2"/>
                  </a:rPr>
                  <a:t>instructor.id =  teaches.id</a:t>
                </a:r>
                <a:r>
                  <a:rPr lang="en-US" altLang="ja-JP" sz="2800" i="1" baseline="-25000" dirty="0">
                    <a:sym typeface="Symbol" panose="05050102010706020507" pitchFamily="18" charset="2"/>
                  </a:rPr>
                  <a:t>  </a:t>
                </a:r>
                <a:r>
                  <a:rPr lang="en-US" altLang="ja-JP" dirty="0">
                    <a:sym typeface="Symbol" panose="05050102010706020507" pitchFamily="18" charset="2"/>
                  </a:rPr>
                  <a:t>(</a:t>
                </a:r>
                <a:r>
                  <a:rPr lang="en-US" altLang="ja-JP" i="1" dirty="0">
                    <a:sym typeface="Symbol" panose="05050102010706020507" pitchFamily="18" charset="2"/>
                  </a:rPr>
                  <a:t>instructor  </a:t>
                </a:r>
                <a:r>
                  <a:rPr lang="en-US" altLang="ja-JP" dirty="0">
                    <a:sym typeface="Symbol" panose="05050102010706020507" pitchFamily="18" charset="2"/>
                  </a:rPr>
                  <a:t>x</a:t>
                </a:r>
                <a:r>
                  <a:rPr lang="en-US" altLang="ja-JP" i="1" dirty="0">
                    <a:sym typeface="Symbol" panose="05050102010706020507" pitchFamily="18" charset="2"/>
                  </a:rPr>
                  <a:t> teaches </a:t>
                </a:r>
                <a:r>
                  <a:rPr lang="en-US" altLang="ja-JP" dirty="0">
                    <a:sym typeface="Symbol" panose="05050102010706020507" pitchFamily="18" charset="2"/>
                  </a:rPr>
                  <a:t>))</a:t>
                </a:r>
                <a:endParaRPr lang="en-US" altLang="ja-JP" sz="1800" dirty="0">
                  <a:sym typeface="Symbol" panose="05050102010706020507" pitchFamily="18" charset="2"/>
                </a:endParaRPr>
              </a:p>
              <a:p>
                <a:pPr marL="0" indent="0" algn="r" rtl="1">
                  <a:lnSpc>
                    <a:spcPct val="150000"/>
                  </a:lnSpc>
                  <a:buNone/>
                </a:pPr>
                <a:r>
                  <a:rPr lang="en-US" altLang="ja-JP" sz="900" dirty="0">
                    <a:sym typeface="Symbol" panose="05050102010706020507" pitchFamily="18" charset="2"/>
                  </a:rPr>
                  <a:t> </a:t>
                </a:r>
              </a:p>
              <a:p>
                <a:pPr algn="r" rtl="1">
                  <a:lnSpc>
                    <a:spcPct val="150000"/>
                  </a:lnSpc>
                </a:pPr>
                <a:r>
                  <a:rPr lang="fa-IR" altLang="ja-JP" sz="1800" dirty="0">
                    <a:sym typeface="Symbol" panose="05050102010706020507" pitchFamily="18" charset="2"/>
                  </a:rPr>
                  <a:t>را میتوان به صورت زیر نوشت:</a:t>
                </a:r>
                <a:endParaRPr lang="en-US" altLang="ja-JP" sz="1800" dirty="0">
                  <a:sym typeface="Symbol" panose="05050102010706020507" pitchFamily="18" charset="2"/>
                </a:endParaRPr>
              </a:p>
              <a:p>
                <a:pPr algn="r" rtl="1">
                  <a:lnSpc>
                    <a:spcPct val="150000"/>
                  </a:lnSpc>
                  <a:buNone/>
                </a:pPr>
                <a:r>
                  <a:rPr lang="en-US" altLang="en-US" sz="1800" i="1" dirty="0">
                    <a:sym typeface="Symbol" panose="05050102010706020507" pitchFamily="18" charset="2"/>
                  </a:rPr>
                  <a:t>                 </a:t>
                </a:r>
                <a:r>
                  <a:rPr lang="en-US" altLang="en-US" i="1" dirty="0">
                    <a:sym typeface="Symbol" panose="05050102010706020507" pitchFamily="18" charset="2"/>
                  </a:rPr>
                  <a:t>instructor</a:t>
                </a:r>
                <a:r>
                  <a:rPr lang="en-US" altLang="en-US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i="1" baseline="-25000" dirty="0"/>
                  <a:t>Instructor.id = teaches.id</a:t>
                </a:r>
                <a:r>
                  <a:rPr lang="en-US" sz="2800" baseline="-25000" dirty="0"/>
                  <a:t> </a:t>
                </a:r>
                <a:r>
                  <a:rPr lang="en-US" i="1" dirty="0"/>
                  <a:t>teaches</a:t>
                </a:r>
                <a:r>
                  <a:rPr lang="en-US" dirty="0"/>
                  <a:t>.</a:t>
                </a:r>
              </a:p>
              <a:p>
                <a:pPr algn="r" rtl="1">
                  <a:lnSpc>
                    <a:spcPct val="150000"/>
                  </a:lnSpc>
                  <a:buNone/>
                </a:pPr>
                <a:endParaRPr lang="en-US" altLang="ja-JP" sz="2400" dirty="0"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7170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282" y="989787"/>
                <a:ext cx="8510268" cy="4823015"/>
              </a:xfrm>
              <a:blipFill>
                <a:blip r:embed="rId3"/>
                <a:stretch>
                  <a:fillRect r="-788" b="-170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(Union Operation)</a:t>
            </a:r>
            <a:r>
              <a:rPr lang="fa-IR" altLang="en-US" sz="2800" dirty="0"/>
              <a:t>عملگر اجتماع</a:t>
            </a:r>
            <a:endParaRPr lang="en-US" altLang="en-US" sz="2800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234950" y="1114489"/>
            <a:ext cx="8216592" cy="4688903"/>
          </a:xfrm>
        </p:spPr>
        <p:txBody>
          <a:bodyPr/>
          <a:lstStyle/>
          <a:p>
            <a:pPr algn="r" rtl="1">
              <a:lnSpc>
                <a:spcPct val="150000"/>
              </a:lnSpc>
              <a:tabLst>
                <a:tab pos="2965450" algn="ctr"/>
              </a:tabLst>
            </a:pPr>
            <a:r>
              <a:rPr lang="fa-IR" altLang="en-US" dirty="0"/>
              <a:t>عملگر اجتماع این امکان را فراهم می‌کند که دو رابطه را با یکدیگر </a:t>
            </a:r>
            <a:r>
              <a:rPr lang="fa-IR" altLang="en-US" b="1" dirty="0"/>
              <a:t>ترکیب</a:t>
            </a:r>
            <a:r>
              <a:rPr lang="fa-IR" altLang="en-US" dirty="0"/>
              <a:t> کنیم.</a:t>
            </a:r>
            <a:endParaRPr lang="en-US" altLang="en-US" dirty="0"/>
          </a:p>
          <a:p>
            <a:pPr algn="r" rtl="1">
              <a:lnSpc>
                <a:spcPct val="150000"/>
              </a:lnSpc>
              <a:tabLst>
                <a:tab pos="2965450" algn="ctr"/>
              </a:tabLst>
            </a:pPr>
            <a:r>
              <a:rPr lang="fa-IR" altLang="en-US" dirty="0"/>
              <a:t>نشانه‌گذاری: </a:t>
            </a:r>
            <a:r>
              <a:rPr lang="en-US" altLang="en-US" dirty="0"/>
              <a:t>  </a:t>
            </a:r>
            <a:r>
              <a:rPr lang="en-US" altLang="en-US" i="1" dirty="0"/>
              <a:t>r 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sym typeface="Symbol" panose="05050102010706020507" pitchFamily="18" charset="2"/>
              </a:rPr>
              <a:t>s</a:t>
            </a:r>
            <a:endParaRPr lang="en-US" altLang="en-US" dirty="0">
              <a:sym typeface="Symbol" panose="05050102010706020507" pitchFamily="18" charset="2"/>
            </a:endParaRPr>
          </a:p>
          <a:p>
            <a:pPr algn="r" rtl="1">
              <a:lnSpc>
                <a:spcPct val="150000"/>
              </a:lnSpc>
              <a:tabLst>
                <a:tab pos="2965450" algn="ctr"/>
              </a:tabLst>
            </a:pPr>
            <a:r>
              <a:rPr lang="fa-IR" dirty="0"/>
              <a:t>برای آنکه عبارت </a:t>
            </a:r>
            <a:r>
              <a:rPr lang="en-US" i="1" dirty="0" err="1"/>
              <a:t>r∪s</a:t>
            </a:r>
            <a:r>
              <a:rPr lang="fa-IR" dirty="0"/>
              <a:t> </a:t>
            </a:r>
            <a:r>
              <a:rPr lang="en-US" dirty="0"/>
              <a:t> </a:t>
            </a:r>
            <a:r>
              <a:rPr lang="fa-IR" dirty="0"/>
              <a:t>معتبر باشد، شرایط زیر باید برقرار باشند:</a:t>
            </a:r>
          </a:p>
          <a:p>
            <a:pPr marL="914400" lvl="1" indent="-457200" algn="r" rtl="1">
              <a:lnSpc>
                <a:spcPct val="150000"/>
              </a:lnSpc>
              <a:buClr>
                <a:srgbClr val="002060"/>
              </a:buClr>
              <a:buFont typeface="+mj-lt"/>
              <a:buAutoNum type="arabicPeriod"/>
              <a:tabLst>
                <a:tab pos="2965450" algn="ctr"/>
              </a:tabLst>
            </a:pPr>
            <a:r>
              <a:rPr lang="en-US" i="1" dirty="0"/>
              <a:t>r</a:t>
            </a:r>
            <a:r>
              <a:rPr lang="en-US" dirty="0"/>
              <a:t>	 </a:t>
            </a:r>
            <a:r>
              <a:rPr lang="fa-IR" dirty="0"/>
              <a:t>و </a:t>
            </a:r>
            <a:r>
              <a:rPr lang="en-US" i="1" dirty="0"/>
              <a:t>s</a:t>
            </a:r>
            <a:r>
              <a:rPr lang="fa-IR" dirty="0"/>
              <a:t> </a:t>
            </a:r>
            <a:r>
              <a:rPr lang="en-US" dirty="0"/>
              <a:t> </a:t>
            </a:r>
            <a:r>
              <a:rPr lang="fa-IR" dirty="0"/>
              <a:t>باید </a:t>
            </a:r>
            <a:r>
              <a:rPr lang="fa-IR" b="1" dirty="0"/>
              <a:t>هم‌ارزی </a:t>
            </a:r>
            <a:r>
              <a:rPr lang="en-US" b="1" dirty="0"/>
              <a:t> (Arity)</a:t>
            </a:r>
            <a:r>
              <a:rPr lang="en-US" dirty="0"/>
              <a:t> </a:t>
            </a:r>
            <a:r>
              <a:rPr lang="fa-IR" dirty="0"/>
              <a:t>داشته باشند؛ یعنی </a:t>
            </a:r>
            <a:r>
              <a:rPr lang="fa-IR" b="1" dirty="0"/>
              <a:t>تعداد ویژگی‌ها یکسان</a:t>
            </a:r>
            <a:r>
              <a:rPr lang="fa-IR" dirty="0"/>
              <a:t> باشد.</a:t>
            </a:r>
            <a:endParaRPr lang="en-US" dirty="0"/>
          </a:p>
          <a:p>
            <a:pPr marL="914400" lvl="1" indent="-457200" algn="r" rtl="1">
              <a:lnSpc>
                <a:spcPct val="150000"/>
              </a:lnSpc>
              <a:buClr>
                <a:srgbClr val="002060"/>
              </a:buClr>
              <a:buFont typeface="+mj-lt"/>
              <a:buAutoNum type="arabicPeriod"/>
              <a:tabLst>
                <a:tab pos="2965450" algn="ctr"/>
              </a:tabLst>
            </a:pPr>
            <a:r>
              <a:rPr lang="fa-IR" dirty="0"/>
              <a:t>دامنه‌های ویژگی‌ها باید </a:t>
            </a:r>
            <a:r>
              <a:rPr lang="fa-IR" b="1" dirty="0"/>
              <a:t>سازگار</a:t>
            </a:r>
            <a:r>
              <a:rPr lang="fa-IR" dirty="0"/>
              <a:t> باشند.</a:t>
            </a:r>
            <a:endParaRPr lang="en-US" dirty="0"/>
          </a:p>
          <a:p>
            <a:pPr marL="1257300" lvl="2" indent="-457200" algn="r" rtl="1">
              <a:lnSpc>
                <a:spcPct val="150000"/>
              </a:lnSpc>
              <a:buClr>
                <a:srgbClr val="FF9933"/>
              </a:buClr>
              <a:buFont typeface="Courier New" panose="02070309020205020404" pitchFamily="49" charset="0"/>
              <a:buChar char="o"/>
              <a:tabLst>
                <a:tab pos="2965450" algn="ctr"/>
              </a:tabLst>
            </a:pPr>
            <a:r>
              <a:rPr lang="fa-IR" dirty="0"/>
              <a:t>مثال: ستون دوم رابطه‌ی </a:t>
            </a:r>
            <a:r>
              <a:rPr lang="en-US" dirty="0"/>
              <a:t> r </a:t>
            </a:r>
            <a:r>
              <a:rPr lang="fa-IR" dirty="0"/>
              <a:t>باید با نوع مقادیر ستون دوم رابطه‌ی </a:t>
            </a:r>
            <a:r>
              <a:rPr lang="en-US" dirty="0"/>
              <a:t> s </a:t>
            </a:r>
            <a:r>
              <a:rPr lang="fa-IR" dirty="0"/>
              <a:t>همخوانی داشته باشد.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عملگر اجتماع ( ادامه)</a:t>
            </a:r>
            <a:endParaRPr lang="en-US" altLang="en-US" sz="2800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234950" y="1114489"/>
            <a:ext cx="8216592" cy="4688903"/>
          </a:xfrm>
        </p:spPr>
        <p:txBody>
          <a:bodyPr/>
          <a:lstStyle/>
          <a:p>
            <a:pPr algn="r" rtl="1">
              <a:lnSpc>
                <a:spcPct val="140000"/>
              </a:lnSpc>
              <a:tabLst>
                <a:tab pos="2965450" algn="ctr"/>
              </a:tabLst>
            </a:pPr>
            <a:r>
              <a:rPr lang="fa-IR" altLang="en-US" sz="2400" dirty="0"/>
              <a:t>مثال: یافتن تمام درس‌هایی که در ترم پاییز ۲۰۱۷ یا در ترم بهار ۲۰۱۸ یا در هر دو ترم تدریس شده‌اند.</a:t>
            </a:r>
            <a:endParaRPr lang="en-US" alt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66B60D-D371-4F2A-84EE-DD481691656C}"/>
              </a:ext>
            </a:extLst>
          </p:cNvPr>
          <p:cNvSpPr txBox="1"/>
          <p:nvPr/>
        </p:nvSpPr>
        <p:spPr>
          <a:xfrm>
            <a:off x="415799" y="5421365"/>
            <a:ext cx="8782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</a:t>
            </a:r>
            <a:r>
              <a:rPr lang="en-US" altLang="en-US" sz="2400" i="1" baseline="-25000" dirty="0" err="1"/>
              <a:t>course_id</a:t>
            </a:r>
            <a:r>
              <a:rPr lang="en-US" altLang="en-US" sz="2400" dirty="0"/>
              <a:t> 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    </a:t>
            </a:r>
            <a:r>
              <a:rPr lang="en-US" altLang="ja-JP" sz="2400" dirty="0">
                <a:sym typeface="Symbol" panose="05050102010706020507" pitchFamily="18" charset="2"/>
              </a:rPr>
              <a:t></a:t>
            </a:r>
            <a:r>
              <a:rPr lang="en-US" altLang="ja-JP" sz="2400" i="1" baseline="-25000" dirty="0" err="1"/>
              <a:t>course_id</a:t>
            </a:r>
            <a:r>
              <a:rPr lang="en-US" altLang="ja-JP" sz="2400" dirty="0"/>
              <a:t> (</a:t>
            </a:r>
            <a:r>
              <a:rPr lang="en-US" altLang="ja-JP" sz="2400" i="1" dirty="0">
                <a:sym typeface="Symbol" panose="05050102010706020507" pitchFamily="18" charset="2"/>
              </a:rPr>
              <a:t></a:t>
            </a:r>
            <a:r>
              <a:rPr lang="en-US" altLang="ja-JP" sz="2400" dirty="0">
                <a:sym typeface="Symbol" panose="05050102010706020507" pitchFamily="18" charset="2"/>
              </a:rPr>
              <a:t> 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000" dirty="0">
                <a:sym typeface="Symbol" panose="05050102010706020507" pitchFamily="18" charset="2"/>
              </a:rPr>
              <a:t>(</a:t>
            </a:r>
            <a:r>
              <a:rPr lang="en-US" altLang="ja-JP" sz="2000" i="1" dirty="0">
                <a:sym typeface="Symbol" panose="05050102010706020507" pitchFamily="18" charset="2"/>
              </a:rPr>
              <a:t>section</a:t>
            </a:r>
            <a:r>
              <a:rPr lang="en-US" altLang="ja-JP" sz="2000" dirty="0">
                <a:sym typeface="Symbol" panose="05050102010706020507" pitchFamily="18" charset="2"/>
              </a:rPr>
              <a:t>))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388962-08D1-401C-97B3-8C68E73ED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58" y="2297632"/>
            <a:ext cx="6007661" cy="290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110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عملگر اجتماع ( ادامه)</a:t>
            </a:r>
            <a:endParaRPr lang="en-US" altLang="en-US" sz="2800" dirty="0"/>
          </a:p>
        </p:txBody>
      </p:sp>
      <p:sp>
        <p:nvSpPr>
          <p:cNvPr id="9218" name="Rectangle 3"/>
          <p:cNvSpPr>
            <a:spLocks noGrp="1" noChangeArrowheads="1"/>
          </p:cNvSpPr>
          <p:nvPr>
            <p:ph idx="1"/>
          </p:nvPr>
        </p:nvSpPr>
        <p:spPr>
          <a:xfrm>
            <a:off x="768350" y="1041338"/>
            <a:ext cx="7680706" cy="1372678"/>
          </a:xfrm>
        </p:spPr>
        <p:txBody>
          <a:bodyPr/>
          <a:lstStyle/>
          <a:p>
            <a:pPr algn="r" rtl="1">
              <a:lnSpc>
                <a:spcPct val="140000"/>
              </a:lnSpc>
              <a:tabLst>
                <a:tab pos="2965450" algn="ctr"/>
              </a:tabLst>
            </a:pPr>
            <a:r>
              <a:rPr lang="fa-IR" altLang="en-US" sz="1700" dirty="0"/>
              <a:t>نتیجه:</a:t>
            </a:r>
            <a:br>
              <a:rPr lang="en-US" altLang="en-US" sz="1700" dirty="0"/>
            </a:br>
            <a:r>
              <a:rPr lang="en-US" altLang="en-US" dirty="0"/>
              <a:t>   </a:t>
            </a:r>
            <a:r>
              <a:rPr lang="en-US" altLang="en-US" sz="2800" dirty="0">
                <a:sym typeface="Symbol" panose="05050102010706020507" pitchFamily="18" charset="2"/>
              </a:rPr>
              <a:t></a:t>
            </a:r>
            <a:r>
              <a:rPr lang="en-US" altLang="en-US" sz="2800" i="1" baseline="-25000" dirty="0" err="1"/>
              <a:t>course_id</a:t>
            </a:r>
            <a:r>
              <a:rPr lang="en-US" altLang="en-US" sz="2800" dirty="0"/>
              <a:t> (</a:t>
            </a:r>
            <a:r>
              <a:rPr lang="en-US" altLang="en-US" sz="2800" i="1" dirty="0">
                <a:sym typeface="Symbol" panose="05050102010706020507" pitchFamily="18" charset="2"/>
              </a:rPr>
              <a:t></a:t>
            </a:r>
            <a:r>
              <a:rPr lang="en-US" altLang="en-US" sz="2800" dirty="0">
                <a:sym typeface="Symbol" panose="05050102010706020507" pitchFamily="18" charset="2"/>
              </a:rPr>
              <a:t> 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8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section</a:t>
            </a:r>
            <a:r>
              <a:rPr lang="en-US" altLang="ja-JP" dirty="0">
                <a:sym typeface="Symbol" panose="05050102010706020507" pitchFamily="18" charset="2"/>
              </a:rPr>
              <a:t>))    </a:t>
            </a:r>
            <a:br>
              <a:rPr lang="en-US" altLang="ja-JP" dirty="0">
                <a:sym typeface="Symbol" panose="05050102010706020507" pitchFamily="18" charset="2"/>
              </a:rPr>
            </a:br>
            <a:r>
              <a:rPr lang="en-US" altLang="ja-JP" sz="2800" dirty="0">
                <a:sym typeface="Symbol" panose="05050102010706020507" pitchFamily="18" charset="2"/>
              </a:rPr>
              <a:t>   </a:t>
            </a:r>
            <a:r>
              <a:rPr lang="en-US" altLang="ja-JP" sz="2800" i="1" baseline="-25000" dirty="0" err="1"/>
              <a:t>course_id</a:t>
            </a:r>
            <a:r>
              <a:rPr lang="en-US" altLang="ja-JP" sz="2800" dirty="0"/>
              <a:t> (</a:t>
            </a:r>
            <a:r>
              <a:rPr lang="en-US" altLang="ja-JP" sz="2800" i="1" dirty="0">
                <a:sym typeface="Symbol" panose="05050102010706020507" pitchFamily="18" charset="2"/>
              </a:rPr>
              <a:t></a:t>
            </a:r>
            <a:r>
              <a:rPr lang="en-US" altLang="ja-JP" sz="2800" dirty="0">
                <a:sym typeface="Symbol" panose="05050102010706020507" pitchFamily="18" charset="2"/>
              </a:rPr>
              <a:t> 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8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section</a:t>
            </a:r>
            <a:r>
              <a:rPr lang="en-US" altLang="ja-JP" dirty="0">
                <a:sym typeface="Symbol" panose="05050102010706020507" pitchFamily="18" charset="2"/>
              </a:rPr>
              <a:t>))</a:t>
            </a:r>
          </a:p>
          <a:p>
            <a:pPr>
              <a:lnSpc>
                <a:spcPct val="140000"/>
              </a:lnSpc>
              <a:tabLst>
                <a:tab pos="2965450" algn="ctr"/>
              </a:tabLst>
            </a:pPr>
            <a:endParaRPr lang="en-US" altLang="en-US" dirty="0"/>
          </a:p>
          <a:p>
            <a:pPr>
              <a:lnSpc>
                <a:spcPct val="140000"/>
              </a:lnSpc>
              <a:buFont typeface="Monotype Sorts" charset="2"/>
              <a:buNone/>
              <a:tabLst>
                <a:tab pos="2965450" algn="ctr"/>
              </a:tabLst>
            </a:pPr>
            <a:endParaRPr lang="en-US" altLang="en-US" i="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046BBCE-73BA-4F9A-A63C-4CE16E87A8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7449" r="37780" b="13863"/>
          <a:stretch/>
        </p:blipFill>
        <p:spPr>
          <a:xfrm>
            <a:off x="3497147" y="2922602"/>
            <a:ext cx="2149705" cy="3397921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770" name="Rectangle 2">
            <a:extLst>
              <a:ext uri="{FF2B5EF4-FFF2-40B4-BE49-F238E27FC236}">
                <a16:creationId xmlns:a16="http://schemas.microsoft.com/office/drawing/2014/main" id="{25A6AB63-AED0-4D0E-9F69-06973E3E4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ea typeface="MS PGothic" panose="020B0600070205080204" pitchFamily="34" charset="-128"/>
              </a:rPr>
              <a:t>اجتماع دو رابطه</a:t>
            </a:r>
            <a:endParaRPr lang="en-US" dirty="0">
              <a:ea typeface="MS PGothic" panose="020B0600070205080204" pitchFamily="34" charset="-128"/>
            </a:endParaRP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B180C27E-09A1-4CC6-B37C-51018DDD8D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8513" y="1077913"/>
            <a:ext cx="7699375" cy="334962"/>
          </a:xfrm>
        </p:spPr>
        <p:txBody>
          <a:bodyPr/>
          <a:lstStyle/>
          <a:p>
            <a:pPr algn="r" rtl="1">
              <a:lnSpc>
                <a:spcPct val="90000"/>
              </a:lnSpc>
            </a:pPr>
            <a:r>
              <a:rPr lang="fa-IR" altLang="en-US" dirty="0"/>
              <a:t>روابط </a:t>
            </a:r>
            <a:r>
              <a:rPr lang="en-US" altLang="en-US" dirty="0"/>
              <a:t>r</a:t>
            </a:r>
            <a:r>
              <a:rPr lang="fa-IR" altLang="en-US" dirty="0"/>
              <a:t> و </a:t>
            </a:r>
            <a:r>
              <a:rPr lang="en-US" altLang="en-US" dirty="0"/>
              <a:t>s</a:t>
            </a:r>
            <a:r>
              <a:rPr lang="fa-IR" altLang="en-US" dirty="0"/>
              <a:t> را در نظر بگیرید:</a:t>
            </a:r>
          </a:p>
          <a:p>
            <a:pPr algn="r" rtl="1">
              <a:lnSpc>
                <a:spcPct val="90000"/>
              </a:lnSpc>
            </a:pPr>
            <a:endParaRPr lang="fa-IR" altLang="en-US" i="1" dirty="0"/>
          </a:p>
          <a:p>
            <a:pPr algn="r" rtl="1">
              <a:lnSpc>
                <a:spcPct val="90000"/>
              </a:lnSpc>
            </a:pPr>
            <a:r>
              <a:rPr kumimoji="0" lang="fa-IR" altLang="en-US" dirty="0"/>
              <a:t>اجتماع دو رابطه رابطه ای است که تاپلهایش در یک یا هر دو رابطه وجود دارند. یعنی رکوردهایی 2 جدول با هم ترکیب شده و رکوردهای تکراری یکبار نوشته می شوند.</a:t>
            </a:r>
            <a:endParaRPr kumimoji="0" lang="en-US" altLang="en-US" dirty="0"/>
          </a:p>
          <a:p>
            <a:pPr algn="r" rtl="1">
              <a:lnSpc>
                <a:spcPct val="90000"/>
              </a:lnSpc>
            </a:pPr>
            <a:endParaRPr lang="en-US" altLang="en-US" i="1" dirty="0"/>
          </a:p>
        </p:txBody>
      </p:sp>
      <p:sp>
        <p:nvSpPr>
          <p:cNvPr id="30724" name="Rectangle 4">
            <a:extLst>
              <a:ext uri="{FF2B5EF4-FFF2-40B4-BE49-F238E27FC236}">
                <a16:creationId xmlns:a16="http://schemas.microsoft.com/office/drawing/2014/main" id="{9952A8A0-1CBB-4C0D-BADD-59281AAB9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13" y="3238500"/>
            <a:ext cx="7029450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lnSpc>
                <a:spcPct val="90000"/>
              </a:lnSpc>
              <a:buClr>
                <a:schemeClr val="tx2"/>
              </a:buClr>
              <a:buSzPct val="90000"/>
            </a:pPr>
            <a:r>
              <a:rPr lang="en-US" altLang="en-US" dirty="0"/>
              <a:t>r </a:t>
            </a:r>
            <a:r>
              <a:rPr lang="en-US" altLang="en-US" dirty="0">
                <a:sym typeface="Symbol" panose="05050102010706020507" pitchFamily="18" charset="2"/>
              </a:rPr>
              <a:t> s</a:t>
            </a:r>
            <a:r>
              <a:rPr lang="fa-IR" altLang="en-US" dirty="0">
                <a:sym typeface="Symbol" panose="05050102010706020507" pitchFamily="18" charset="2"/>
              </a:rPr>
              <a:t> :</a:t>
            </a:r>
            <a:endParaRPr lang="en-US" altLang="en-US" dirty="0"/>
          </a:p>
          <a:p>
            <a:pPr algn="r" rtl="1">
              <a:lnSpc>
                <a:spcPct val="90000"/>
              </a:lnSpc>
              <a:buClr>
                <a:schemeClr val="tx2"/>
              </a:buClr>
              <a:buSzPct val="90000"/>
            </a:pPr>
            <a:r>
              <a:rPr lang="en-US" altLang="en-US" dirty="0"/>
              <a:t>r union s</a:t>
            </a:r>
          </a:p>
        </p:txBody>
      </p:sp>
      <p:pic>
        <p:nvPicPr>
          <p:cNvPr id="30725" name="Picture 5">
            <a:extLst>
              <a:ext uri="{FF2B5EF4-FFF2-40B4-BE49-F238E27FC236}">
                <a16:creationId xmlns:a16="http://schemas.microsoft.com/office/drawing/2014/main" id="{85D87D3F-C2EC-41FF-BB47-D470564E2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513" y="2646363"/>
            <a:ext cx="2357437" cy="421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(Set-Intersection Operation</a:t>
            </a:r>
            <a:r>
              <a:rPr lang="en-US" altLang="en-US" dirty="0"/>
              <a:t>)</a:t>
            </a:r>
            <a:r>
              <a:rPr lang="fa-IR" dirty="0"/>
              <a:t>عملگر اشتراک مجموعه‌ای</a:t>
            </a:r>
            <a:endParaRPr lang="en-US" altLang="en-US" sz="2800" dirty="0"/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199176" y="1077913"/>
            <a:ext cx="8646374" cy="4589462"/>
          </a:xfrm>
        </p:spPr>
        <p:txBody>
          <a:bodyPr/>
          <a:lstStyle/>
          <a:p>
            <a:pPr algn="r" rtl="1"/>
            <a:r>
              <a:rPr lang="fa-IR" altLang="en-US" dirty="0"/>
              <a:t>عملگر اشتراک مجموعه‌ای این امکان را فراهم می‌کند که تاپل‌هایی را بیابیم که در </a:t>
            </a:r>
            <a:r>
              <a:rPr lang="fa-IR" altLang="en-US" b="1" dirty="0"/>
              <a:t>هر دو رابطه‌ی ورودی </a:t>
            </a:r>
            <a:r>
              <a:rPr lang="fa-IR" altLang="en-US" dirty="0"/>
              <a:t>وجود دارند.</a:t>
            </a:r>
            <a:endParaRPr lang="en-US" altLang="en-US" dirty="0"/>
          </a:p>
          <a:p>
            <a:pPr algn="r" rtl="1"/>
            <a:r>
              <a:rPr lang="fa-IR" altLang="en-US" dirty="0"/>
              <a:t>نشانه‌گذاری: </a:t>
            </a:r>
            <a:r>
              <a:rPr lang="en-US" altLang="en-US" i="1" dirty="0"/>
              <a:t>r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 </a:t>
            </a:r>
            <a:r>
              <a:rPr lang="en-US" altLang="en-US" i="1" dirty="0"/>
              <a:t>s</a:t>
            </a:r>
            <a:endParaRPr lang="en-US" altLang="en-US" dirty="0"/>
          </a:p>
          <a:p>
            <a:pPr algn="r" rtl="1"/>
            <a:r>
              <a:rPr lang="fa-IR" altLang="en-US" dirty="0"/>
              <a:t>فرض‌ها:</a:t>
            </a:r>
            <a:r>
              <a:rPr lang="en-US" altLang="en-US" dirty="0"/>
              <a:t> 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en-US" altLang="en-US" i="1" dirty="0"/>
              <a:t>r</a:t>
            </a:r>
            <a:r>
              <a:rPr lang="en-US" altLang="en-US" dirty="0"/>
              <a:t>, </a:t>
            </a:r>
            <a:r>
              <a:rPr lang="en-US" altLang="en-US" i="1" dirty="0"/>
              <a:t>s</a:t>
            </a:r>
            <a:r>
              <a:rPr lang="en-US" altLang="en-US" dirty="0"/>
              <a:t> </a:t>
            </a:r>
            <a:r>
              <a:rPr lang="fa-IR" altLang="en-US" dirty="0"/>
              <a:t> هم ارز باشند.</a:t>
            </a:r>
            <a:endParaRPr lang="en-US" altLang="en-US" dirty="0"/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altLang="en-US" dirty="0"/>
              <a:t>ویژگی‌های </a:t>
            </a:r>
            <a:r>
              <a:rPr lang="en-US" altLang="en-US" dirty="0"/>
              <a:t> r </a:t>
            </a:r>
            <a:r>
              <a:rPr lang="fa-IR" altLang="en-US" dirty="0"/>
              <a:t>و </a:t>
            </a:r>
            <a:r>
              <a:rPr lang="en-US" altLang="en-US" dirty="0"/>
              <a:t> s </a:t>
            </a:r>
            <a:r>
              <a:rPr lang="fa-IR" altLang="en-US" dirty="0"/>
              <a:t>با یکدیگر سازگار باشند.</a:t>
            </a:r>
          </a:p>
          <a:p>
            <a:pPr algn="r" rtl="1"/>
            <a:r>
              <a:rPr lang="fa-IR" altLang="en-US" dirty="0">
                <a:sym typeface="Symbol" panose="05050102010706020507" pitchFamily="18" charset="2"/>
              </a:rPr>
              <a:t>مثال: یافتن مجموعه‌ی تمام درس‌هایی که هم در ترم پاییز ۲۰۱۷ و هم در ترم بهار ۲۰۱۸ تدریس شده‌اند:</a:t>
            </a:r>
            <a:endParaRPr lang="en-US" altLang="en-US" dirty="0">
              <a:sym typeface="Symbol" panose="05050102010706020507" pitchFamily="18" charset="2"/>
            </a:endParaRPr>
          </a:p>
          <a:p>
            <a:pPr marL="457200" lvl="1" indent="0" algn="r" rtl="1">
              <a:buNone/>
            </a:pPr>
            <a:r>
              <a:rPr lang="fa-IR" altLang="en-US" dirty="0">
                <a:sym typeface="Symbol" panose="05050102010706020507" pitchFamily="18" charset="2"/>
              </a:rPr>
              <a:t>نتیجه:</a:t>
            </a:r>
            <a:endParaRPr lang="en-US" altLang="en-US" dirty="0"/>
          </a:p>
          <a:p>
            <a:pPr algn="r" rtl="1">
              <a:buNone/>
            </a:pPr>
            <a:endParaRPr lang="en-US" altLang="en-US" sz="2800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D242B5-7E15-4908-A992-5D9C0D3A8FA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8817" r="40862" b="33302"/>
          <a:stretch/>
        </p:blipFill>
        <p:spPr>
          <a:xfrm>
            <a:off x="1926950" y="5630110"/>
            <a:ext cx="2046483" cy="12278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6A036B-F0DC-205F-CA2C-4475CB1BBAAC}"/>
              </a:ext>
            </a:extLst>
          </p:cNvPr>
          <p:cNvSpPr txBox="1"/>
          <p:nvPr/>
        </p:nvSpPr>
        <p:spPr>
          <a:xfrm>
            <a:off x="199176" y="4436269"/>
            <a:ext cx="8845550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 rtl="1">
              <a:buNone/>
            </a:pPr>
            <a:r>
              <a:rPr lang="en-US" altLang="en-US" sz="3200" dirty="0">
                <a:sym typeface="Symbol" panose="05050102010706020507" pitchFamily="18" charset="2"/>
              </a:rPr>
              <a:t></a:t>
            </a:r>
            <a:r>
              <a:rPr lang="en-US" altLang="en-US" sz="3200" i="1" baseline="-25000" dirty="0" err="1"/>
              <a:t>course_id</a:t>
            </a:r>
            <a:r>
              <a:rPr lang="en-US" altLang="en-US" sz="3200" dirty="0"/>
              <a:t> (</a:t>
            </a:r>
            <a:r>
              <a:rPr lang="en-US" altLang="en-US" sz="3200" i="1" dirty="0">
                <a:sym typeface="Symbol" panose="05050102010706020507" pitchFamily="18" charset="2"/>
              </a:rPr>
              <a:t></a:t>
            </a:r>
            <a:r>
              <a:rPr lang="en-US" altLang="en-US" sz="3200" dirty="0">
                <a:sym typeface="Symbol" panose="05050102010706020507" pitchFamily="18" charset="2"/>
              </a:rPr>
              <a:t> </a:t>
            </a:r>
            <a:r>
              <a:rPr lang="en-US" altLang="en-US" sz="32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32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32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32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32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32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32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section</a:t>
            </a:r>
            <a:r>
              <a:rPr lang="en-US" altLang="ja-JP" sz="2400" dirty="0">
                <a:sym typeface="Symbol" panose="05050102010706020507" pitchFamily="18" charset="2"/>
              </a:rPr>
              <a:t>)) </a:t>
            </a:r>
            <a:r>
              <a:rPr lang="en-US" altLang="en-US" sz="2400" dirty="0">
                <a:sym typeface="Symbol" panose="05050102010706020507" pitchFamily="18" charset="2"/>
              </a:rPr>
              <a:t> </a:t>
            </a:r>
            <a:br>
              <a:rPr lang="en-US" altLang="ja-JP" sz="2400" dirty="0">
                <a:sym typeface="Symbol" panose="05050102010706020507" pitchFamily="18" charset="2"/>
              </a:rPr>
            </a:br>
            <a:r>
              <a:rPr lang="en-US" altLang="ja-JP" sz="2400" dirty="0">
                <a:sym typeface="Symbol" panose="05050102010706020507" pitchFamily="18" charset="2"/>
              </a:rPr>
              <a:t>     </a:t>
            </a:r>
            <a:r>
              <a:rPr lang="en-US" altLang="ja-JP" sz="3200" dirty="0">
                <a:sym typeface="Symbol" panose="05050102010706020507" pitchFamily="18" charset="2"/>
              </a:rPr>
              <a:t></a:t>
            </a:r>
            <a:r>
              <a:rPr lang="en-US" altLang="ja-JP" sz="3200" i="1" baseline="-25000" dirty="0" err="1"/>
              <a:t>course_id</a:t>
            </a:r>
            <a:r>
              <a:rPr lang="en-US" altLang="ja-JP" sz="3200" dirty="0"/>
              <a:t> (</a:t>
            </a:r>
            <a:r>
              <a:rPr lang="en-US" altLang="ja-JP" sz="3200" i="1" dirty="0">
                <a:sym typeface="Symbol" panose="05050102010706020507" pitchFamily="18" charset="2"/>
              </a:rPr>
              <a:t></a:t>
            </a:r>
            <a:r>
              <a:rPr lang="en-US" altLang="ja-JP" sz="3200" dirty="0">
                <a:sym typeface="Symbol" panose="05050102010706020507" pitchFamily="18" charset="2"/>
              </a:rPr>
              <a:t> </a:t>
            </a:r>
            <a:r>
              <a:rPr lang="en-US" altLang="ja-JP" sz="32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32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32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32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32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32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32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section</a:t>
            </a:r>
            <a:r>
              <a:rPr lang="en-US" altLang="ja-JP" sz="2400" dirty="0">
                <a:sym typeface="Symbol" panose="05050102010706020507" pitchFamily="18" charset="2"/>
              </a:rPr>
              <a:t>))</a:t>
            </a:r>
          </a:p>
          <a:p>
            <a:pPr algn="r" rtl="1">
              <a:buNone/>
            </a:pPr>
            <a:r>
              <a:rPr lang="en-US" altLang="en-US" sz="1000" dirty="0">
                <a:sym typeface="Symbol" panose="05050102010706020507" pitchFamily="18" charset="2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4BD8CC-6DAF-572F-D39A-5215FCCC4E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176" y="1721743"/>
            <a:ext cx="3146117" cy="15239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>
            <a:extLst>
              <a:ext uri="{FF2B5EF4-FFF2-40B4-BE49-F238E27FC236}">
                <a16:creationId xmlns:a16="http://schemas.microsoft.com/office/drawing/2014/main" id="{5B76DF75-E154-4F59-A0C9-FB9CD82818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8513" y="368300"/>
            <a:ext cx="8077200" cy="609600"/>
          </a:xfrm>
        </p:spPr>
        <p:txBody>
          <a:bodyPr/>
          <a:lstStyle/>
          <a:p>
            <a:pPr>
              <a:defRPr/>
            </a:pPr>
            <a:br>
              <a:rPr lang="fa-IR" dirty="0">
                <a:ea typeface="MS PGothic" panose="020B0600070205080204" pitchFamily="34" charset="-128"/>
              </a:rPr>
            </a:br>
            <a:br>
              <a:rPr lang="fa-IR" dirty="0">
                <a:ea typeface="MS PGothic" panose="020B0600070205080204" pitchFamily="34" charset="-128"/>
              </a:rPr>
            </a:br>
            <a:r>
              <a:rPr lang="fa-IR" dirty="0"/>
              <a:t>اشتراک مجموعه‌ای دو رابطه</a:t>
            </a:r>
            <a:br>
              <a:rPr lang="fa-IR" dirty="0"/>
            </a:br>
            <a:r>
              <a:rPr lang="en-US" dirty="0"/>
              <a:t>(</a:t>
            </a:r>
            <a:r>
              <a:rPr lang="en-US" dirty="0">
                <a:ea typeface="MS PGothic" panose="020B0600070205080204" pitchFamily="34" charset="-128"/>
              </a:rPr>
              <a:t>Set intersection of two relations)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36B76827-9566-492D-ACAC-789175AE41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98513" y="1200150"/>
            <a:ext cx="7848600" cy="3810000"/>
          </a:xfrm>
        </p:spPr>
        <p:txBody>
          <a:bodyPr/>
          <a:lstStyle/>
          <a:p>
            <a:pPr algn="r" rtl="1"/>
            <a:r>
              <a:rPr lang="fa-IR" altLang="en-US" dirty="0"/>
              <a:t>روابط </a:t>
            </a:r>
            <a:r>
              <a:rPr lang="en-US" altLang="en-US" dirty="0"/>
              <a:t>r</a:t>
            </a:r>
            <a:r>
              <a:rPr lang="fa-IR" altLang="en-US" dirty="0"/>
              <a:t> و </a:t>
            </a:r>
            <a:r>
              <a:rPr lang="en-US" altLang="en-US" dirty="0"/>
              <a:t>s</a:t>
            </a:r>
          </a:p>
          <a:p>
            <a:pPr algn="r" rtl="1"/>
            <a:endParaRPr lang="en-US" altLang="en-US" dirty="0"/>
          </a:p>
          <a:p>
            <a:pPr algn="r" rtl="1"/>
            <a:endParaRPr lang="en-US" altLang="en-US" dirty="0"/>
          </a:p>
          <a:p>
            <a:pPr algn="r" rtl="1"/>
            <a:endParaRPr lang="en-US" altLang="en-US" dirty="0"/>
          </a:p>
          <a:p>
            <a:pPr algn="r" rtl="1"/>
            <a:endParaRPr lang="en-US" altLang="en-US" dirty="0"/>
          </a:p>
          <a:p>
            <a:pPr algn="r" rtl="1">
              <a:buFont typeface="Monotype Sorts" charset="2"/>
              <a:buNone/>
            </a:pPr>
            <a:endParaRPr lang="en-US" altLang="en-US" dirty="0"/>
          </a:p>
          <a:p>
            <a:pPr algn="r" rtl="1">
              <a:buFont typeface="Monotype Sorts" charset="2"/>
              <a:buNone/>
            </a:pPr>
            <a:endParaRPr lang="en-US" altLang="en-US" dirty="0"/>
          </a:p>
          <a:p>
            <a:pPr algn="r" rtl="1"/>
            <a:r>
              <a:rPr lang="en-US" altLang="en-US" sz="2800" i="1" dirty="0"/>
              <a:t>r</a:t>
            </a:r>
            <a:r>
              <a:rPr lang="en-US" altLang="en-US" sz="2800" dirty="0"/>
              <a:t> </a:t>
            </a:r>
            <a:r>
              <a:rPr lang="en-US" altLang="en-US" sz="2800" dirty="0">
                <a:sym typeface="Symbol" panose="05050102010706020507" pitchFamily="18" charset="2"/>
              </a:rPr>
              <a:t> </a:t>
            </a:r>
            <a:r>
              <a:rPr lang="en-US" altLang="en-US" sz="2800" i="1" dirty="0">
                <a:sym typeface="Symbol" panose="05050102010706020507" pitchFamily="18" charset="2"/>
              </a:rPr>
              <a:t>s</a:t>
            </a:r>
          </a:p>
          <a:p>
            <a:pPr algn="r" rtl="1"/>
            <a:r>
              <a:rPr lang="en-US" altLang="en-US" sz="2800" i="1" dirty="0">
                <a:sym typeface="Symbol" panose="05050102010706020507" pitchFamily="18" charset="2"/>
              </a:rPr>
              <a:t>r intersect s</a:t>
            </a:r>
            <a:endParaRPr lang="en-US" altLang="en-US" sz="2800" i="1" dirty="0"/>
          </a:p>
        </p:txBody>
      </p:sp>
      <p:pic>
        <p:nvPicPr>
          <p:cNvPr id="34820" name="Picture 4">
            <a:extLst>
              <a:ext uri="{FF2B5EF4-FFF2-40B4-BE49-F238E27FC236}">
                <a16:creationId xmlns:a16="http://schemas.microsoft.com/office/drawing/2014/main" id="{6F32F132-506C-400E-97ED-70BB633DA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963" y="1628775"/>
            <a:ext cx="2657475" cy="349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4">
            <a:extLst>
              <a:ext uri="{FF2B5EF4-FFF2-40B4-BE49-F238E27FC236}">
                <a16:creationId xmlns:a16="http://schemas.microsoft.com/office/drawing/2014/main" id="{7ED59C9A-197A-46B0-9402-CD910F91B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1843" y="5553075"/>
            <a:ext cx="305885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 dirty="0"/>
              <a:t> </a:t>
            </a:r>
            <a:r>
              <a:rPr kumimoji="0" lang="fa-IR" altLang="en-US" sz="2400" dirty="0"/>
              <a:t>نکته: </a:t>
            </a:r>
            <a:r>
              <a:rPr kumimoji="0" lang="en-US" altLang="en-US" sz="2400" i="1" dirty="0"/>
              <a:t>r</a:t>
            </a:r>
            <a:r>
              <a:rPr kumimoji="0" lang="en-US" altLang="en-US" sz="2400" dirty="0"/>
              <a:t> </a:t>
            </a:r>
            <a:r>
              <a:rPr kumimoji="0" lang="en-US" altLang="en-US" sz="2400" dirty="0">
                <a:sym typeface="Symbol" panose="05050102010706020507" pitchFamily="18" charset="2"/>
              </a:rPr>
              <a:t></a:t>
            </a:r>
            <a:r>
              <a:rPr kumimoji="0" lang="en-US" altLang="en-US" sz="2400" dirty="0"/>
              <a:t> </a:t>
            </a:r>
            <a:r>
              <a:rPr kumimoji="0" lang="en-US" altLang="en-US" sz="2400" i="1" dirty="0"/>
              <a:t>s</a:t>
            </a:r>
            <a:r>
              <a:rPr kumimoji="0" lang="en-US" altLang="en-US" sz="2400" dirty="0"/>
              <a:t> = </a:t>
            </a:r>
            <a:r>
              <a:rPr kumimoji="0" lang="en-US" altLang="en-US" sz="2400" i="1" dirty="0"/>
              <a:t>r</a:t>
            </a:r>
            <a:r>
              <a:rPr kumimoji="0" lang="en-US" altLang="en-US" sz="2400" dirty="0"/>
              <a:t> – (</a:t>
            </a:r>
            <a:r>
              <a:rPr kumimoji="0" lang="en-US" altLang="en-US" sz="2400" i="1" dirty="0"/>
              <a:t>r</a:t>
            </a:r>
            <a:r>
              <a:rPr kumimoji="0" lang="en-US" altLang="en-US" sz="2400" dirty="0"/>
              <a:t> – </a:t>
            </a:r>
            <a:r>
              <a:rPr kumimoji="0" lang="en-US" altLang="en-US" sz="2400" i="1" dirty="0"/>
              <a:t>s</a:t>
            </a:r>
            <a:r>
              <a:rPr kumimoji="0" lang="en-US" altLang="en-US" sz="2400"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1125"/>
            <a:ext cx="8077200" cy="609600"/>
          </a:xfrm>
        </p:spPr>
        <p:txBody>
          <a:bodyPr/>
          <a:lstStyle/>
          <a:p>
            <a:r>
              <a:rPr lang="en-US" altLang="en-US" sz="2800" dirty="0"/>
              <a:t>(Set Difference Operation</a:t>
            </a:r>
            <a:r>
              <a:rPr lang="fa-IR" dirty="0"/>
              <a:t> </a:t>
            </a:r>
            <a:r>
              <a:rPr lang="en-US" dirty="0"/>
              <a:t>)</a:t>
            </a:r>
            <a:r>
              <a:rPr lang="fa-IR" dirty="0"/>
              <a:t>عملگر تفاضل مجموعه‌ای</a:t>
            </a:r>
            <a:endParaRPr lang="en-US" altLang="en-US" sz="2800" dirty="0"/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445363" y="1077913"/>
            <a:ext cx="8077200" cy="3928653"/>
          </a:xfrm>
        </p:spPr>
        <p:txBody>
          <a:bodyPr/>
          <a:lstStyle/>
          <a:p>
            <a:pPr algn="r" rtl="1">
              <a:spcBef>
                <a:spcPct val="60000"/>
              </a:spcBef>
            </a:pPr>
            <a:r>
              <a:rPr lang="fa-IR" sz="1800" dirty="0"/>
              <a:t>عملگر </a:t>
            </a:r>
            <a:r>
              <a:rPr lang="fa-IR" sz="1800" b="1" dirty="0"/>
              <a:t>تفاضل مجموعه‌ای</a:t>
            </a:r>
            <a:r>
              <a:rPr lang="fa-IR" sz="1800" dirty="0"/>
              <a:t> این امکان را فراهم می‌کند که </a:t>
            </a:r>
            <a:r>
              <a:rPr lang="fa-IR" sz="1800" b="1" dirty="0"/>
              <a:t>تاپل‌هایی را بیابیم که در یک رابطه وجود دارند ولی در رابطه‌ی دیگر نیستند</a:t>
            </a:r>
            <a:r>
              <a:rPr lang="fa-IR" sz="1800" dirty="0"/>
              <a:t>. </a:t>
            </a:r>
            <a:endParaRPr lang="en-US" sz="1800" dirty="0"/>
          </a:p>
          <a:p>
            <a:pPr algn="r" rtl="1">
              <a:spcBef>
                <a:spcPct val="60000"/>
              </a:spcBef>
            </a:pPr>
            <a:r>
              <a:rPr lang="fa-IR" altLang="en-US" sz="1800" dirty="0"/>
              <a:t>نشانه‌گذاری: </a:t>
            </a:r>
            <a:r>
              <a:rPr lang="en-US" altLang="en-US" sz="1800" i="1" dirty="0"/>
              <a:t>r – s</a:t>
            </a:r>
          </a:p>
          <a:p>
            <a:pPr algn="r" rtl="1"/>
            <a:r>
              <a:rPr lang="en-US" altLang="en-US" sz="1800" dirty="0"/>
              <a:t>S</a:t>
            </a:r>
            <a:r>
              <a:rPr lang="fa-IR" sz="1800" dirty="0"/>
              <a:t> تفاضل مجموعه‌ای باید بین </a:t>
            </a:r>
            <a:r>
              <a:rPr lang="fa-IR" sz="1800" b="1" dirty="0">
                <a:solidFill>
                  <a:srgbClr val="000099"/>
                </a:solidFill>
              </a:rPr>
              <a:t>روابط سازگار</a:t>
            </a:r>
            <a:r>
              <a:rPr lang="fa-IR" sz="1800" dirty="0">
                <a:solidFill>
                  <a:srgbClr val="000099"/>
                </a:solidFill>
              </a:rPr>
              <a:t> </a:t>
            </a:r>
            <a:r>
              <a:rPr lang="fa-IR" sz="1800" dirty="0"/>
              <a:t>گرفته شود. </a:t>
            </a:r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en-US" altLang="en-US" sz="1800" i="1" dirty="0"/>
              <a:t>r</a:t>
            </a:r>
            <a:r>
              <a:rPr lang="en-US" altLang="en-US" sz="1800" dirty="0"/>
              <a:t>, </a:t>
            </a:r>
            <a:r>
              <a:rPr lang="en-US" altLang="en-US" sz="1800" i="1" dirty="0"/>
              <a:t>s</a:t>
            </a:r>
            <a:r>
              <a:rPr lang="en-US" altLang="en-US" sz="1800" dirty="0"/>
              <a:t> </a:t>
            </a:r>
            <a:r>
              <a:rPr lang="fa-IR" altLang="en-US" sz="1800" dirty="0"/>
              <a:t> </a:t>
            </a:r>
            <a:r>
              <a:rPr lang="fa-IR" altLang="en-US" sz="1800" dirty="0">
                <a:solidFill>
                  <a:srgbClr val="000099"/>
                </a:solidFill>
              </a:rPr>
              <a:t>هم ارز </a:t>
            </a:r>
            <a:r>
              <a:rPr lang="fa-IR" altLang="en-US" sz="1800" dirty="0"/>
              <a:t>باشند.</a:t>
            </a:r>
            <a:endParaRPr lang="en-US" altLang="en-US" sz="1800" dirty="0"/>
          </a:p>
          <a:p>
            <a:pPr lvl="1" algn="r" rtl="1">
              <a:buFont typeface="Courier New" panose="02070309020205020404" pitchFamily="49" charset="0"/>
              <a:buChar char="o"/>
            </a:pPr>
            <a:r>
              <a:rPr lang="fa-IR" altLang="en-US" sz="1800" dirty="0"/>
              <a:t>دامنه‌های ویژگی‌های 𝑟</a:t>
            </a:r>
            <a:r>
              <a:rPr lang="en-US" altLang="en-US" sz="1800" dirty="0"/>
              <a:t> </a:t>
            </a:r>
            <a:r>
              <a:rPr lang="fa-IR" altLang="en-US" sz="1800" dirty="0"/>
              <a:t>و 𝑠</a:t>
            </a:r>
            <a:r>
              <a:rPr lang="en-US" altLang="en-US" sz="1800" dirty="0"/>
              <a:t> </a:t>
            </a:r>
            <a:r>
              <a:rPr lang="fa-IR" altLang="en-US" sz="1800" dirty="0"/>
              <a:t>باید سازگار باشند. </a:t>
            </a:r>
            <a:endParaRPr lang="en-US" sz="1800" dirty="0"/>
          </a:p>
          <a:p>
            <a:pPr algn="r" rtl="1"/>
            <a:r>
              <a:rPr lang="fa-IR" altLang="en-US" sz="1800" dirty="0"/>
              <a:t>مثال: یافتن تمام درس‌هایی که در ترم پاییز ۲۰۱۷ تدریس شده‌اند اما در ترم بهار ۲۰۱۸ تدریس نشده‌اند.</a:t>
            </a:r>
            <a:endParaRPr lang="en-US" altLang="en-US" sz="1800" dirty="0"/>
          </a:p>
          <a:p>
            <a:pPr marL="0" indent="0" algn="l">
              <a:buNone/>
            </a:pPr>
            <a:br>
              <a:rPr lang="en-US" altLang="en-US" sz="1800" dirty="0"/>
            </a:br>
            <a:endParaRPr lang="en-US" altLang="en-US" sz="1800" dirty="0">
              <a:sym typeface="Symbol" panose="05050102010706020507" pitchFamily="18" charset="2"/>
            </a:endParaRPr>
          </a:p>
          <a:p>
            <a:pPr algn="r" rtl="1">
              <a:buFont typeface="Monotype Sorts" charset="2"/>
              <a:buNone/>
            </a:pPr>
            <a:endParaRPr lang="en-US" altLang="en-US" sz="1800" dirty="0">
              <a:sym typeface="Symbol" panose="05050102010706020507" pitchFamily="18" charset="2"/>
            </a:endParaRPr>
          </a:p>
          <a:p>
            <a:pPr algn="r" rtl="1">
              <a:buFont typeface="Monotype Sorts" charset="2"/>
              <a:buNone/>
            </a:pPr>
            <a:endParaRPr lang="en-US" altLang="en-US" sz="1800" dirty="0">
              <a:sym typeface="Symbol" panose="05050102010706020507" pitchFamily="18" charset="2"/>
            </a:endParaRPr>
          </a:p>
          <a:p>
            <a:pPr algn="r" rtl="1">
              <a:buFont typeface="Monotype Sorts" charset="2"/>
              <a:buNone/>
            </a:pPr>
            <a:endParaRPr lang="en-US" altLang="en-US" sz="1800" dirty="0">
              <a:sym typeface="Symbol" panose="05050102010706020507" pitchFamily="18" charset="2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B4CEA55-B6FE-4CA5-8F34-E2CFAC349C5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709" r="41294" b="41353"/>
          <a:stretch/>
        </p:blipFill>
        <p:spPr>
          <a:xfrm>
            <a:off x="6902218" y="4754954"/>
            <a:ext cx="1488176" cy="12175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A4613A-5C34-6DF3-751B-19B5482529B4}"/>
              </a:ext>
            </a:extLst>
          </p:cNvPr>
          <p:cNvSpPr txBox="1"/>
          <p:nvPr/>
        </p:nvSpPr>
        <p:spPr>
          <a:xfrm>
            <a:off x="216763" y="4427730"/>
            <a:ext cx="77366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/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</a:t>
            </a:r>
            <a:r>
              <a:rPr lang="en-US" altLang="en-US" sz="2400" i="1" baseline="-25000" dirty="0" err="1"/>
              <a:t>course_id</a:t>
            </a:r>
            <a:r>
              <a:rPr lang="en-US" altLang="en-US" sz="2400" dirty="0"/>
              <a:t> 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Fall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year=2017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section</a:t>
            </a:r>
            <a:r>
              <a:rPr lang="en-US" altLang="ja-JP" sz="2400" dirty="0">
                <a:sym typeface="Symbol" panose="05050102010706020507" pitchFamily="18" charset="2"/>
              </a:rPr>
              <a:t>))  −  </a:t>
            </a:r>
            <a:br>
              <a:rPr lang="en-US" altLang="ja-JP" sz="2400" dirty="0">
                <a:sym typeface="Symbol" panose="05050102010706020507" pitchFamily="18" charset="2"/>
              </a:rPr>
            </a:br>
            <a:r>
              <a:rPr lang="en-US" altLang="ja-JP" sz="2400" dirty="0">
                <a:sym typeface="Symbol" panose="05050102010706020507" pitchFamily="18" charset="2"/>
              </a:rPr>
              <a:t>   </a:t>
            </a:r>
            <a:r>
              <a:rPr lang="en-US" altLang="ja-JP" sz="2400" i="1" baseline="-25000" dirty="0" err="1"/>
              <a:t>course_id</a:t>
            </a:r>
            <a:r>
              <a:rPr lang="en-US" altLang="ja-JP" sz="2400" dirty="0"/>
              <a:t> (</a:t>
            </a:r>
            <a:r>
              <a:rPr lang="en-US" altLang="ja-JP" sz="2400" i="1" dirty="0">
                <a:sym typeface="Symbol" panose="05050102010706020507" pitchFamily="18" charset="2"/>
              </a:rPr>
              <a:t></a:t>
            </a:r>
            <a:r>
              <a:rPr lang="en-US" altLang="ja-JP" sz="2400" dirty="0">
                <a:sym typeface="Symbol" panose="05050102010706020507" pitchFamily="18" charset="2"/>
              </a:rPr>
              <a:t> 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semester=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Spring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 </a:t>
            </a:r>
            <a:r>
              <a:rPr lang="el-GR" altLang="ja-JP" sz="2400" i="1" baseline="-25000" dirty="0">
                <a:sym typeface="Symbol" panose="05050102010706020507" pitchFamily="18" charset="2"/>
              </a:rPr>
              <a:t>Λ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 year=2018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section</a:t>
            </a:r>
            <a:r>
              <a:rPr lang="en-US" altLang="ja-JP" sz="2400" dirty="0">
                <a:sym typeface="Symbol" panose="05050102010706020507" pitchFamily="18" charset="2"/>
              </a:rPr>
              <a:t>))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(The Assignment  Operation) </a:t>
            </a:r>
            <a:r>
              <a:rPr lang="fa-IR" dirty="0"/>
              <a:t>عملگر انتساب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253497" y="1071563"/>
            <a:ext cx="8171175" cy="4835207"/>
          </a:xfrm>
        </p:spPr>
        <p:txBody>
          <a:bodyPr/>
          <a:lstStyle/>
          <a:p>
            <a:pPr algn="r" rtl="1"/>
            <a:r>
              <a:rPr lang="fa-IR" altLang="en-US" dirty="0"/>
              <a:t>گاهی اوقات راحت‌تر است که یک عبارت جبر رابطه‌ای را با اختصاص دادن بخشی از آن به متغیرهای موقت رابطه‌ای بنویسیم.</a:t>
            </a:r>
            <a:endParaRPr lang="en-US" altLang="en-US" dirty="0"/>
          </a:p>
          <a:p>
            <a:pPr algn="r" rtl="1"/>
            <a:r>
              <a:rPr lang="fa-IR" altLang="en-US" dirty="0"/>
              <a:t>عملگر انتساب با نماد ← نشان داده می‌شود و مانند انتساب در زبان‌های برنامه‌نویسی عمل می‌کند.</a:t>
            </a:r>
            <a:endParaRPr lang="en-US" altLang="en-US" dirty="0"/>
          </a:p>
          <a:p>
            <a:pPr algn="r" rtl="1"/>
            <a:r>
              <a:rPr lang="fa-IR" altLang="en-US" dirty="0"/>
              <a:t>مثال: یافتن تمام استادان در دپارتمان‌های «فیزیک» و «موسیقی»:</a:t>
            </a:r>
            <a:endParaRPr lang="en-US" altLang="en-US" dirty="0"/>
          </a:p>
          <a:p>
            <a:pPr marL="0" indent="0" algn="r" rtl="1">
              <a:buNone/>
            </a:pPr>
            <a:br>
              <a:rPr lang="en-US" altLang="en-US" dirty="0">
                <a:sym typeface="Symbol" panose="05050102010706020507" pitchFamily="18" charset="2"/>
              </a:rPr>
            </a:br>
            <a:r>
              <a:rPr lang="en-US" altLang="en-US" dirty="0">
                <a:sym typeface="Symbol" panose="05050102010706020507" pitchFamily="18" charset="2"/>
              </a:rPr>
              <a:t>          </a:t>
            </a:r>
            <a:r>
              <a:rPr lang="en-US" altLang="en-US" i="1" dirty="0">
                <a:sym typeface="Symbol" panose="05050102010706020507" pitchFamily="18" charset="2"/>
              </a:rPr>
              <a:t>Physics</a:t>
            </a:r>
            <a:r>
              <a:rPr lang="en-US" altLang="en-US" dirty="0">
                <a:sym typeface="Symbol" panose="05050102010706020507" pitchFamily="18" charset="2"/>
              </a:rPr>
              <a:t> </a:t>
            </a:r>
            <a:r>
              <a:rPr lang="en-US" altLang="en-US" b="1" dirty="0">
                <a:sym typeface="Wingdings" pitchFamily="2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8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8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800" i="1" baseline="-25000" dirty="0">
                <a:sym typeface="Symbol" panose="05050102010706020507" pitchFamily="18" charset="2"/>
              </a:rPr>
              <a:t>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</a:t>
            </a:r>
            <a:r>
              <a:rPr lang="en-US" altLang="ja-JP" dirty="0">
                <a:sym typeface="Symbol" panose="05050102010706020507" pitchFamily="18" charset="2"/>
              </a:rPr>
              <a:t>)</a:t>
            </a:r>
          </a:p>
          <a:p>
            <a:pPr marL="457200" lvl="1" indent="0" algn="r" rt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i="1" dirty="0">
                <a:sym typeface="Symbol" panose="05050102010706020507" pitchFamily="18" charset="2"/>
              </a:rPr>
              <a:t>Music</a:t>
            </a:r>
            <a:r>
              <a:rPr lang="en-US" altLang="en-US" dirty="0">
                <a:sym typeface="Symbol" panose="05050102010706020507" pitchFamily="18" charset="2"/>
              </a:rPr>
              <a:t> </a:t>
            </a:r>
            <a:r>
              <a:rPr lang="en-US" altLang="en-US" b="1" dirty="0">
                <a:sym typeface="Wingdings" pitchFamily="2" charset="2"/>
              </a:rPr>
              <a:t> 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dept_name=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Music” </a:t>
            </a:r>
            <a:r>
              <a:rPr lang="en-US" altLang="ja-JP" dirty="0">
                <a:sym typeface="Symbol" panose="05050102010706020507" pitchFamily="18" charset="2"/>
              </a:rPr>
              <a:t>(</a:t>
            </a:r>
            <a:r>
              <a:rPr lang="en-US" altLang="ja-JP" i="1" dirty="0">
                <a:sym typeface="Symbol" panose="05050102010706020507" pitchFamily="18" charset="2"/>
              </a:rPr>
              <a:t>instructor</a:t>
            </a:r>
            <a:r>
              <a:rPr lang="en-US" altLang="ja-JP" dirty="0">
                <a:sym typeface="Symbol" panose="05050102010706020507" pitchFamily="18" charset="2"/>
              </a:rPr>
              <a:t>)     </a:t>
            </a:r>
          </a:p>
          <a:p>
            <a:pPr marL="457200" lvl="1" indent="0" algn="r" rt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</a:t>
            </a:r>
            <a:r>
              <a:rPr lang="en-US" altLang="en-US" i="1" dirty="0">
                <a:sym typeface="Symbol" panose="05050102010706020507" pitchFamily="18" charset="2"/>
              </a:rPr>
              <a:t>Physics</a:t>
            </a:r>
            <a:r>
              <a:rPr lang="en-US" altLang="en-US" dirty="0">
                <a:sym typeface="Symbol" panose="05050102010706020507" pitchFamily="18" charset="2"/>
              </a:rPr>
              <a:t> 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sym typeface="Symbol" panose="05050102010706020507" pitchFamily="18" charset="2"/>
              </a:rPr>
              <a:t>Music                                         		</a:t>
            </a:r>
          </a:p>
          <a:p>
            <a:pPr lvl="1" algn="r" rtl="1">
              <a:lnSpc>
                <a:spcPct val="90000"/>
              </a:lnSpc>
              <a:buNone/>
              <a:tabLst>
                <a:tab pos="1658938" algn="l"/>
                <a:tab pos="3149600" algn="ctr"/>
                <a:tab pos="3425825" algn="l"/>
              </a:tabLst>
            </a:pPr>
            <a:r>
              <a:rPr lang="en-US" altLang="en-US" sz="1000" dirty="0">
                <a:sym typeface="Symbol" panose="05050102010706020507" pitchFamily="18" charset="2"/>
              </a:rPr>
              <a:t> </a:t>
            </a:r>
          </a:p>
          <a:p>
            <a:pPr algn="r" rtl="1">
              <a:tabLst>
                <a:tab pos="1658938" algn="l"/>
                <a:tab pos="3149600" algn="ctr"/>
                <a:tab pos="3425825" algn="l"/>
              </a:tabLst>
            </a:pPr>
            <a:r>
              <a:rPr lang="fa-IR" altLang="en-US" dirty="0">
                <a:sym typeface="Symbol" panose="05050102010706020507" pitchFamily="18" charset="2"/>
              </a:rPr>
              <a:t>با استفاده از عملگر انتساب، یک پرس‌وجو می‌تواند به‌صورت یک برنامه‌ی ترتیبی نوشته شود که شامل سری از انتساب‌ها و در نهایت عبارتی است که مقدار آن به‌عنوان نتیجه‌ی پرس‌وجو نمایش داده می‌شود.</a:t>
            </a:r>
            <a:endParaRPr lang="en-US" alt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(The Rename Operation</a:t>
            </a:r>
            <a:r>
              <a:rPr lang="en-US" altLang="en-US" dirty="0"/>
              <a:t>)</a:t>
            </a:r>
            <a:r>
              <a:rPr lang="en-US" altLang="en-US" sz="2800" dirty="0"/>
              <a:t> </a:t>
            </a:r>
            <a:r>
              <a:rPr lang="fa-IR" dirty="0"/>
              <a:t>عملگر تغییر نام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226338" y="1077913"/>
            <a:ext cx="8619212" cy="5389562"/>
          </a:xfrm>
        </p:spPr>
        <p:txBody>
          <a:bodyPr/>
          <a:lstStyle/>
          <a:p>
            <a:pPr algn="r" rtl="1"/>
            <a:r>
              <a:rPr lang="fa-IR" altLang="en-US" sz="2400" dirty="0"/>
              <a:t>نتایج عبارات جبر رابطه‌ای نامی ندارند که بتوان به آن‌ها ارجاع داد.عملگر تغییر نام با نماد 𝜌</a:t>
            </a:r>
            <a:r>
              <a:rPr lang="el-GR" altLang="en-US" sz="2400" dirty="0"/>
              <a:t> </a:t>
            </a:r>
            <a:r>
              <a:rPr lang="fa-IR" altLang="en-US" sz="2400" dirty="0"/>
              <a:t>برای همین منظور ارائه شده است.</a:t>
            </a:r>
            <a:endParaRPr lang="en-US" altLang="en-US" sz="2400" dirty="0"/>
          </a:p>
          <a:p>
            <a:pPr algn="r" rtl="1"/>
            <a:r>
              <a:rPr lang="fa-IR" altLang="en-US" sz="2400" dirty="0"/>
              <a:t>نمادگذاری:</a:t>
            </a:r>
            <a:endParaRPr lang="en-US" altLang="en-US" sz="2400" dirty="0"/>
          </a:p>
          <a:p>
            <a:pPr rtl="1">
              <a:buNone/>
            </a:pPr>
            <a:r>
              <a:rPr lang="en-US" altLang="en-US" sz="2400" dirty="0"/>
              <a:t>                  </a:t>
            </a:r>
            <a:r>
              <a:rPr lang="en-US" altLang="en-US" sz="3200" i="1" dirty="0">
                <a:sym typeface="Symbol" panose="05050102010706020507" pitchFamily="18" charset="2"/>
              </a:rPr>
              <a:t></a:t>
            </a:r>
            <a:r>
              <a:rPr lang="en-US" altLang="en-US" sz="3200" i="1" baseline="-25000" dirty="0">
                <a:sym typeface="Symbol" panose="05050102010706020507" pitchFamily="18" charset="2"/>
              </a:rPr>
              <a:t>x</a:t>
            </a:r>
            <a:r>
              <a:rPr lang="en-US" altLang="en-US" sz="3200" i="1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endParaRPr lang="fa-IR" altLang="en-US" sz="2400" dirty="0">
              <a:sym typeface="Symbol" panose="05050102010706020507" pitchFamily="18" charset="2"/>
            </a:endParaRPr>
          </a:p>
          <a:p>
            <a:pPr algn="r" rtl="1">
              <a:buNone/>
            </a:pPr>
            <a:endParaRPr lang="en-US" altLang="en-US" sz="2400" dirty="0">
              <a:sym typeface="Symbol" panose="05050102010706020507" pitchFamily="18" charset="2"/>
            </a:endParaRPr>
          </a:p>
          <a:p>
            <a:pPr algn="r" rtl="1">
              <a:buNone/>
            </a:pPr>
            <a:r>
              <a:rPr lang="fa-IR" altLang="en-US" sz="2400" dirty="0">
                <a:sym typeface="Symbol" panose="05050102010706020507" pitchFamily="18" charset="2"/>
              </a:rPr>
              <a:t>عبارت فوق نتیجه‌ی عبارت </a:t>
            </a:r>
            <a:r>
              <a:rPr lang="en-US" altLang="en-US" sz="2400" dirty="0">
                <a:sym typeface="Symbol" panose="05050102010706020507" pitchFamily="18" charset="2"/>
              </a:rPr>
              <a:t>E</a:t>
            </a:r>
            <a:r>
              <a:rPr lang="fa-IR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fa-IR" altLang="en-US" sz="2400" dirty="0">
                <a:sym typeface="Symbol" panose="05050102010706020507" pitchFamily="18" charset="2"/>
              </a:rPr>
              <a:t>را تحت نام </a:t>
            </a:r>
            <a:r>
              <a:rPr lang="en-US" altLang="en-US" sz="2400" dirty="0">
                <a:sym typeface="Symbol" panose="05050102010706020507" pitchFamily="18" charset="2"/>
              </a:rPr>
              <a:t>x</a:t>
            </a:r>
            <a:r>
              <a:rPr lang="fa-IR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fa-IR" altLang="en-US" sz="2400" dirty="0">
                <a:sym typeface="Symbol" panose="05050102010706020507" pitchFamily="18" charset="2"/>
              </a:rPr>
              <a:t>بازمی‌گرداند.</a:t>
            </a:r>
          </a:p>
          <a:p>
            <a:pPr algn="r" rtl="1"/>
            <a:r>
              <a:rPr lang="fa-IR" altLang="en-US" sz="2400" dirty="0"/>
              <a:t>شکل دیگر عملگر تغییر نام:</a:t>
            </a:r>
            <a:endParaRPr lang="en-US" altLang="en-US" sz="2400" dirty="0"/>
          </a:p>
          <a:p>
            <a:pPr rtl="1">
              <a:buNone/>
            </a:pPr>
            <a:r>
              <a:rPr lang="en-US" altLang="en-US" sz="2400" dirty="0"/>
              <a:t>                 </a:t>
            </a:r>
            <a:r>
              <a:rPr lang="en-US" altLang="en-US" sz="3200" i="1" dirty="0">
                <a:sym typeface="Symbol" panose="05050102010706020507" pitchFamily="18" charset="2"/>
              </a:rPr>
              <a:t></a:t>
            </a:r>
            <a:r>
              <a:rPr lang="en-US" altLang="en-US" sz="3200" i="1" baseline="-25000" dirty="0">
                <a:sym typeface="Symbol" panose="05050102010706020507" pitchFamily="18" charset="2"/>
              </a:rPr>
              <a:t>x(A1,A2, .. An) </a:t>
            </a:r>
            <a:r>
              <a:rPr lang="en-US" altLang="en-US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E</a:t>
            </a:r>
            <a:r>
              <a:rPr lang="en-US" altLang="en-US" sz="2400" dirty="0">
                <a:sym typeface="Symbol" panose="05050102010706020507" pitchFamily="18" charset="2"/>
              </a:rPr>
              <a:t>)</a:t>
            </a:r>
            <a:endParaRPr lang="fa-IR" altLang="en-US" sz="2400" dirty="0">
              <a:sym typeface="Symbol" panose="05050102010706020507" pitchFamily="18" charset="2"/>
            </a:endParaRPr>
          </a:p>
          <a:p>
            <a:pPr algn="r" rtl="1">
              <a:buNone/>
            </a:pPr>
            <a:r>
              <a:rPr lang="fa-IR" altLang="en-US" sz="2400" dirty="0"/>
              <a:t>که در آن علاوه بر نام رابطه، نام ویژگی‌ها (ستون‌ها) نیز تغییر داده می‌شوند.</a:t>
            </a:r>
            <a:endParaRPr lang="en-US" altLang="en-US" sz="2400" dirty="0"/>
          </a:p>
          <a:p>
            <a:pPr algn="r" rtl="1"/>
            <a:endParaRPr lang="en-US" altLang="en-US" sz="3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(Equivalent Queries)</a:t>
            </a:r>
            <a:r>
              <a:rPr lang="fa-IR" altLang="en-US" sz="2800" dirty="0"/>
              <a:t> </a:t>
            </a:r>
            <a:r>
              <a:rPr lang="en-US" altLang="en-US" sz="2800" dirty="0"/>
              <a:t> </a:t>
            </a:r>
            <a:r>
              <a:rPr lang="fa-IR" dirty="0"/>
              <a:t>پرس‌وجوهای معادل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271603" y="1096740"/>
            <a:ext cx="8682273" cy="4664519"/>
          </a:xfrm>
        </p:spPr>
        <p:txBody>
          <a:bodyPr/>
          <a:lstStyle/>
          <a:p>
            <a:pPr algn="r" rtl="1"/>
            <a:r>
              <a:rPr lang="fa-IR" altLang="en-US" dirty="0"/>
              <a:t>برای نوشتن یک پرس‌وجو در جبر رابطه‌ای بیش از یک روش وجود دارد.</a:t>
            </a:r>
            <a:endParaRPr lang="en-US" altLang="en-US" dirty="0"/>
          </a:p>
          <a:p>
            <a:pPr algn="r" rtl="1"/>
            <a:r>
              <a:rPr lang="fa-IR" altLang="en-US" dirty="0"/>
              <a:t>مثال: یافتن </a:t>
            </a:r>
            <a:r>
              <a:rPr lang="fa-IR" altLang="en-US" b="1" dirty="0"/>
              <a:t>اطلاعات</a:t>
            </a:r>
            <a:r>
              <a:rPr lang="fa-IR" altLang="en-US" dirty="0"/>
              <a:t> مربوط به درس‌هایی که توسط استادان دپارتمان فیزیک با </a:t>
            </a:r>
            <a:r>
              <a:rPr lang="fa-IR" altLang="en-US" b="1" dirty="0"/>
              <a:t>حقوق</a:t>
            </a:r>
            <a:r>
              <a:rPr lang="fa-IR" altLang="en-US" dirty="0"/>
              <a:t> بیش از ۹۰,۰۰۰ دلار تدریس شده‌اند.</a:t>
            </a:r>
            <a:endParaRPr lang="en-US" altLang="en-US" sz="2800" dirty="0">
              <a:sym typeface="Symbol" panose="05050102010706020507" pitchFamily="18" charset="2"/>
            </a:endParaRPr>
          </a:p>
          <a:p>
            <a:pPr algn="r" rtl="1">
              <a:lnSpc>
                <a:spcPct val="90000"/>
              </a:lnSpc>
              <a:tabLst>
                <a:tab pos="1658938" algn="l"/>
                <a:tab pos="3149600" algn="ctr"/>
                <a:tab pos="3425825" algn="l"/>
              </a:tabLst>
            </a:pPr>
            <a:endParaRPr lang="en-US" altLang="en-US" sz="2800" dirty="0">
              <a:sym typeface="Symbol" panose="05050102010706020507" pitchFamily="18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A19100-3A7F-4808-876A-CE0A7E034671}"/>
              </a:ext>
            </a:extLst>
          </p:cNvPr>
          <p:cNvSpPr txBox="1"/>
          <p:nvPr/>
        </p:nvSpPr>
        <p:spPr>
          <a:xfrm>
            <a:off x="525101" y="2345720"/>
            <a:ext cx="8510257" cy="3185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altLang="en-US" sz="2400" dirty="0">
                <a:cs typeface="B Nazanin" panose="00000400000000000000" pitchFamily="50" charset="-78"/>
              </a:rPr>
              <a:t>پرس‌وجوی 1</a:t>
            </a:r>
            <a:endParaRPr lang="en-US" altLang="en-US" sz="2400" dirty="0">
              <a:cs typeface="B Nazanin" panose="00000400000000000000" pitchFamily="50" charset="-78"/>
            </a:endParaRPr>
          </a:p>
          <a:p>
            <a:pPr algn="l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           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 </a:t>
            </a:r>
            <a:r>
              <a:rPr lang="en-US" altLang="en-US" sz="2400" dirty="0">
                <a:sym typeface="Symbol" panose="05050102010706020507" pitchFamily="18" charset="2"/>
              </a:rPr>
              <a:t>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 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salary &gt; </a:t>
            </a:r>
            <a:r>
              <a:rPr lang="en-US" altLang="ja-JP" sz="2400" baseline="-25000" dirty="0">
                <a:sym typeface="Symbol" panose="05050102010706020507" pitchFamily="18" charset="2"/>
              </a:rPr>
              <a:t>90,000</a:t>
            </a:r>
            <a:r>
              <a:rPr lang="en-US" altLang="ja-JP" sz="2400" dirty="0">
                <a:sym typeface="Symbol" panose="05050102010706020507" pitchFamily="18" charset="2"/>
              </a:rPr>
              <a:t> (</a:t>
            </a:r>
            <a:r>
              <a:rPr lang="en-US" altLang="ja-JP" sz="2400" i="1" dirty="0"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ym typeface="Symbol" panose="05050102010706020507" pitchFamily="18" charset="2"/>
              </a:rPr>
              <a:t>)</a:t>
            </a:r>
          </a:p>
          <a:p>
            <a:pPr algn="l">
              <a:buNone/>
            </a:pPr>
            <a:r>
              <a:rPr lang="en-US" altLang="ja-JP" sz="1050" dirty="0">
                <a:sym typeface="Symbol" panose="05050102010706020507" pitchFamily="18" charset="2"/>
              </a:rPr>
              <a:t> </a:t>
            </a:r>
          </a:p>
          <a:p>
            <a:pPr algn="r" rtl="1"/>
            <a:r>
              <a:rPr lang="fa-IR" altLang="en-US" sz="2400" dirty="0">
                <a:cs typeface="B Nazanin" panose="00000400000000000000" pitchFamily="50" charset="-78"/>
                <a:sym typeface="Symbol" panose="05050102010706020507" pitchFamily="18" charset="2"/>
              </a:rPr>
              <a:t>پرس‌وجوی 2</a:t>
            </a:r>
            <a:endParaRPr lang="en-US" altLang="en-US" sz="2400" dirty="0">
              <a:cs typeface="B Nazanin" panose="00000400000000000000" pitchFamily="50" charset="-78"/>
            </a:endParaRPr>
          </a:p>
          <a:p>
            <a:pPr algn="l">
              <a:buNone/>
            </a:pPr>
            <a:r>
              <a:rPr lang="en-US" altLang="en-US" sz="2400" i="1" dirty="0">
                <a:sym typeface="Symbol" panose="05050102010706020507" pitchFamily="18" charset="2"/>
              </a:rPr>
              <a:t>          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 err="1">
                <a:sym typeface="Symbol" panose="05050102010706020507" pitchFamily="18" charset="2"/>
              </a:rPr>
              <a:t>dept_name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=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“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Physics</a:t>
            </a:r>
            <a:r>
              <a:rPr lang="ja-JP" altLang="en-US" sz="2400" i="1" baseline="-25000" dirty="0">
                <a:sym typeface="Symbol" panose="05050102010706020507" pitchFamily="18" charset="2"/>
              </a:rPr>
              <a:t>”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en-US" sz="2400" i="1" dirty="0">
                <a:sym typeface="Symbol" panose="05050102010706020507" pitchFamily="18" charset="2"/>
              </a:rPr>
              <a:t></a:t>
            </a:r>
            <a:r>
              <a:rPr lang="en-US" altLang="en-US" sz="2400" dirty="0">
                <a:sym typeface="Symbol" panose="05050102010706020507" pitchFamily="18" charset="2"/>
              </a:rPr>
              <a:t> </a:t>
            </a:r>
            <a:r>
              <a:rPr lang="en-US" altLang="en-US" sz="2400" i="1" baseline="-25000" dirty="0">
                <a:sym typeface="Symbol" panose="05050102010706020507" pitchFamily="18" charset="2"/>
              </a:rPr>
              <a:t>s</a:t>
            </a:r>
            <a:r>
              <a:rPr lang="en-US" altLang="ja-JP" sz="2400" i="1" baseline="-25000" dirty="0">
                <a:sym typeface="Symbol" panose="05050102010706020507" pitchFamily="18" charset="2"/>
              </a:rPr>
              <a:t>alary &gt; 90.000</a:t>
            </a:r>
            <a:r>
              <a:rPr lang="en-US" altLang="ja-JP" sz="2400" i="1" dirty="0">
                <a:sym typeface="Symbol" panose="05050102010706020507" pitchFamily="18" charset="2"/>
              </a:rPr>
              <a:t> </a:t>
            </a:r>
            <a:r>
              <a:rPr lang="en-US" altLang="ja-JP" sz="2400" dirty="0">
                <a:sym typeface="Symbol" panose="05050102010706020507" pitchFamily="18" charset="2"/>
              </a:rPr>
              <a:t>(</a:t>
            </a:r>
            <a:r>
              <a:rPr lang="en-US" altLang="ja-JP" sz="2400" i="1" dirty="0">
                <a:sym typeface="Symbol" panose="05050102010706020507" pitchFamily="18" charset="2"/>
              </a:rPr>
              <a:t>instructor</a:t>
            </a:r>
            <a:r>
              <a:rPr lang="en-US" altLang="ja-JP" sz="2400" dirty="0">
                <a:sym typeface="Symbol" panose="05050102010706020507" pitchFamily="18" charset="2"/>
              </a:rPr>
              <a:t>))</a:t>
            </a:r>
            <a:endParaRPr lang="fa-IR" altLang="ja-JP" sz="2400" dirty="0">
              <a:sym typeface="Symbol" panose="05050102010706020507" pitchFamily="18" charset="2"/>
            </a:endParaRPr>
          </a:p>
          <a:p>
            <a:pPr algn="l">
              <a:buNone/>
            </a:pPr>
            <a:endParaRPr lang="en-US" altLang="ja-JP" sz="2400" dirty="0">
              <a:sym typeface="Symbol" panose="05050102010706020507" pitchFamily="18" charset="2"/>
            </a:endParaRPr>
          </a:p>
          <a:p>
            <a:pPr algn="l">
              <a:buNone/>
            </a:pPr>
            <a:r>
              <a:rPr lang="en-US" altLang="ja-JP" sz="1050" dirty="0">
                <a:sym typeface="Symbol" panose="05050102010706020507" pitchFamily="18" charset="2"/>
              </a:rPr>
              <a:t> </a:t>
            </a:r>
          </a:p>
          <a:p>
            <a:pPr algn="r" rtl="1">
              <a:lnSpc>
                <a:spcPct val="150000"/>
              </a:lnSpc>
              <a:tabLst>
                <a:tab pos="1658938" algn="l"/>
                <a:tab pos="3149600" algn="ctr"/>
                <a:tab pos="3425825" algn="l"/>
              </a:tabLst>
            </a:pPr>
            <a:r>
              <a:rPr lang="fa-IR" sz="2000" dirty="0">
                <a:cs typeface="B Nazanin" panose="00000400000000000000" pitchFamily="50" charset="-78"/>
              </a:rPr>
              <a:t>دو پرس‌وجوی مختلف ممکن است </a:t>
            </a:r>
            <a:r>
              <a:rPr lang="fa-IR" sz="2000" b="1" dirty="0">
                <a:cs typeface="B Nazanin" panose="00000400000000000000" pitchFamily="50" charset="-78"/>
              </a:rPr>
              <a:t>یکسان نباشند</a:t>
            </a:r>
            <a:r>
              <a:rPr lang="fa-IR" sz="2000" dirty="0">
                <a:cs typeface="B Nazanin" panose="00000400000000000000" pitchFamily="50" charset="-78"/>
              </a:rPr>
              <a:t>، اما </a:t>
            </a:r>
            <a:r>
              <a:rPr lang="fa-IR" sz="2000" b="1" dirty="0">
                <a:cs typeface="B Nazanin" panose="00000400000000000000" pitchFamily="50" charset="-78"/>
              </a:rPr>
              <a:t>معادل</a:t>
            </a:r>
            <a:r>
              <a:rPr lang="en-US" sz="2000" b="1" dirty="0">
                <a:cs typeface="B Nazanin" panose="00000400000000000000" pitchFamily="50" charset="-78"/>
              </a:rPr>
              <a:t> (Equivalent)</a:t>
            </a:r>
            <a:r>
              <a:rPr lang="en-US" sz="2000" dirty="0">
                <a:cs typeface="B Nazanin" panose="00000400000000000000" pitchFamily="50" charset="-78"/>
              </a:rPr>
              <a:t> </a:t>
            </a:r>
            <a:r>
              <a:rPr lang="fa-IR" sz="2000" dirty="0">
                <a:cs typeface="B Nazanin" panose="00000400000000000000" pitchFamily="50" charset="-78"/>
              </a:rPr>
              <a:t>هستند؛</a:t>
            </a:r>
            <a:br>
              <a:rPr lang="fa-IR" sz="2000" dirty="0">
                <a:cs typeface="B Nazanin" panose="00000400000000000000" pitchFamily="50" charset="-78"/>
              </a:rPr>
            </a:br>
            <a:r>
              <a:rPr lang="fa-IR" sz="2000" dirty="0">
                <a:cs typeface="B Nazanin" panose="00000400000000000000" pitchFamily="50" charset="-78"/>
              </a:rPr>
              <a:t>یعنی روی </a:t>
            </a:r>
            <a:r>
              <a:rPr lang="fa-IR" sz="2000" b="1" dirty="0">
                <a:cs typeface="B Nazanin" panose="00000400000000000000" pitchFamily="50" charset="-78"/>
              </a:rPr>
              <a:t>هر پایگاه داده‌ای</a:t>
            </a:r>
            <a:r>
              <a:rPr lang="fa-IR" sz="2000" dirty="0">
                <a:cs typeface="B Nazanin" panose="00000400000000000000" pitchFamily="50" charset="-78"/>
              </a:rPr>
              <a:t> نتیجه‌ی </a:t>
            </a:r>
            <a:r>
              <a:rPr lang="fa-IR" sz="2000" b="1" dirty="0">
                <a:cs typeface="B Nazanin" panose="00000400000000000000" pitchFamily="50" charset="-78"/>
              </a:rPr>
              <a:t>یکسانی</a:t>
            </a:r>
            <a:r>
              <a:rPr lang="fa-IR" sz="2000" dirty="0">
                <a:cs typeface="B Nazanin" panose="00000400000000000000" pitchFamily="50" charset="-78"/>
              </a:rPr>
              <a:t> تولید می‌کنند.</a:t>
            </a:r>
            <a:endParaRPr lang="en-US" altLang="en-US" sz="2000" dirty="0">
              <a:cs typeface="B Nazanin" panose="00000400000000000000" pitchFamily="50" charset="-78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(Equivalent Queries)</a:t>
            </a:r>
            <a:r>
              <a:rPr lang="fa-IR" altLang="en-US" dirty="0"/>
              <a:t> </a:t>
            </a:r>
            <a:r>
              <a:rPr lang="en-US" altLang="en-US" dirty="0"/>
              <a:t> </a:t>
            </a:r>
            <a:r>
              <a:rPr lang="fa-IR" dirty="0"/>
              <a:t>پرس‌وجوهای معادل</a:t>
            </a:r>
            <a:endParaRPr lang="en-US" altLang="en-US" sz="2800" dirty="0"/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>
          <a:xfrm>
            <a:off x="144855" y="1138874"/>
            <a:ext cx="8772808" cy="4220778"/>
          </a:xfrm>
        </p:spPr>
        <p:txBody>
          <a:bodyPr/>
          <a:lstStyle/>
          <a:p>
            <a:pPr algn="r" rtl="1"/>
            <a:r>
              <a:rPr lang="fa-IR" altLang="en-US" sz="2800" dirty="0"/>
              <a:t>مثال: یافتن اطلاعات مربوط به درس‌هایی که توسط استادان دپارتمان فیزیک تدریس شده‌اند.</a:t>
            </a:r>
            <a:endParaRPr lang="en-US" altLang="en-US" sz="3600" dirty="0">
              <a:sym typeface="Symbol" panose="05050102010706020507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E8EE3E-6B5D-4CFD-BE18-53E0366E0C01}"/>
                  </a:ext>
                </a:extLst>
              </p:cNvPr>
              <p:cNvSpPr txBox="1"/>
              <p:nvPr/>
            </p:nvSpPr>
            <p:spPr>
              <a:xfrm>
                <a:off x="-79022" y="2356494"/>
                <a:ext cx="9223022" cy="28315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 rtl="1"/>
                <a:r>
                  <a:rPr lang="fa-IR" altLang="en-US" sz="2000" dirty="0">
                    <a:cs typeface="B Nazanin" panose="00000400000000000000" pitchFamily="50" charset="-78"/>
                  </a:rPr>
                  <a:t>پرس‌وجوی 1</a:t>
                </a:r>
              </a:p>
              <a:p>
                <a:pPr algn="r" rtl="1"/>
                <a:endParaRPr lang="en-US" altLang="en-US" sz="2000" dirty="0">
                  <a:cs typeface="B Nazanin" panose="00000400000000000000" pitchFamily="50" charset="-78"/>
                </a:endParaRPr>
              </a:p>
              <a:p>
                <a:pPr marL="0" indent="0" algn="ctr">
                  <a:buNone/>
                </a:pPr>
                <a:r>
                  <a:rPr lang="en-US" altLang="en-US" sz="20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sz="2800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sz="2800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sz="2800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sz="2800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sz="2800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24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nstructor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i="1" baseline="-25000" dirty="0"/>
                  <a:t>instructor.ID = teaches.ID</a:t>
                </a:r>
                <a:r>
                  <a:rPr lang="en-US" sz="2800" baseline="-25000" dirty="0"/>
                  <a:t> </a:t>
                </a:r>
                <a:r>
                  <a:rPr lang="en-US" sz="2400" i="1" dirty="0"/>
                  <a:t>teaches)</a:t>
                </a:r>
                <a:endParaRPr lang="fa-IR" sz="2400" i="1" dirty="0"/>
              </a:p>
              <a:p>
                <a:pPr marL="0" indent="0" algn="ctr">
                  <a:buNone/>
                </a:pPr>
                <a:endParaRPr lang="en-US" altLang="en-US" sz="2400" dirty="0"/>
              </a:p>
              <a:p>
                <a:pPr>
                  <a:buNone/>
                </a:pPr>
                <a:r>
                  <a:rPr lang="en-US" altLang="ja-JP" sz="900" dirty="0">
                    <a:sym typeface="Symbol" panose="05050102010706020507" pitchFamily="18" charset="2"/>
                  </a:rPr>
                  <a:t> </a:t>
                </a:r>
              </a:p>
              <a:p>
                <a:pPr algn="r" rtl="1"/>
                <a:r>
                  <a:rPr lang="fa-IR" altLang="en-US" sz="2000" dirty="0">
                    <a:cs typeface="B Nazanin" panose="00000400000000000000" pitchFamily="50" charset="-78"/>
                    <a:sym typeface="Symbol" panose="05050102010706020507" pitchFamily="18" charset="2"/>
                  </a:rPr>
                  <a:t>پرس‌وجوی 2</a:t>
                </a:r>
              </a:p>
              <a:p>
                <a:pPr algn="r" rtl="1"/>
                <a:endParaRPr lang="en-US" altLang="en-US" sz="2000" dirty="0">
                  <a:cs typeface="B Nazanin" panose="00000400000000000000" pitchFamily="50" charset="-78"/>
                </a:endParaRPr>
              </a:p>
              <a:p>
                <a:pPr algn="ctr">
                  <a:buNone/>
                </a:pPr>
                <a:r>
                  <a:rPr lang="en-US" altLang="en-US" sz="2000" i="1" dirty="0">
                    <a:sym typeface="Symbol" panose="05050102010706020507" pitchFamily="18" charset="2"/>
                  </a:rPr>
                  <a:t>       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(</a:t>
                </a:r>
                <a:r>
                  <a:rPr lang="en-US" altLang="en-US" sz="2800" i="1" dirty="0">
                    <a:sym typeface="Symbol" panose="05050102010706020507" pitchFamily="18" charset="2"/>
                  </a:rPr>
                  <a:t></a:t>
                </a:r>
                <a:r>
                  <a:rPr lang="en-US" altLang="en-US" sz="2800" i="1" baseline="-25000" dirty="0" err="1">
                    <a:sym typeface="Symbol" panose="05050102010706020507" pitchFamily="18" charset="2"/>
                  </a:rPr>
                  <a:t>dept_name</a:t>
                </a:r>
                <a:r>
                  <a:rPr lang="en-US" altLang="en-US" sz="2800" i="1" baseline="-25000" dirty="0">
                    <a:sym typeface="Symbol" panose="05050102010706020507" pitchFamily="18" charset="2"/>
                  </a:rPr>
                  <a:t>=</a:t>
                </a:r>
                <a:r>
                  <a:rPr lang="ja-JP" altLang="en-US" sz="2800" i="1" baseline="-25000" dirty="0">
                    <a:sym typeface="Symbol" panose="05050102010706020507" pitchFamily="18" charset="2"/>
                  </a:rPr>
                  <a:t>“</a:t>
                </a:r>
                <a:r>
                  <a:rPr lang="en-US" altLang="ja-JP" sz="2800" i="1" baseline="-25000" dirty="0">
                    <a:sym typeface="Symbol" panose="05050102010706020507" pitchFamily="18" charset="2"/>
                  </a:rPr>
                  <a:t>Physics</a:t>
                </a:r>
                <a:r>
                  <a:rPr lang="ja-JP" altLang="en-US" sz="2800" i="1" baseline="-25000" dirty="0">
                    <a:sym typeface="Symbol" panose="05050102010706020507" pitchFamily="18" charset="2"/>
                  </a:rPr>
                  <a:t>” </a:t>
                </a:r>
                <a:r>
                  <a:rPr lang="en-US" altLang="ja-JP" sz="2400" i="1" dirty="0">
                    <a:sym typeface="Symbol" panose="05050102010706020507" pitchFamily="18" charset="2"/>
                  </a:rPr>
                  <a:t>(i</a:t>
                </a:r>
                <a:r>
                  <a:rPr lang="en-US" altLang="en-US" sz="2400" i="1" dirty="0">
                    <a:sym typeface="Symbol" panose="05050102010706020507" pitchFamily="18" charset="2"/>
                  </a:rPr>
                  <a:t>nstructor))</a:t>
                </a:r>
                <a:r>
                  <a:rPr lang="en-US" altLang="en-US" sz="2400" dirty="0"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⋈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2800" i="1" baseline="-25000" dirty="0"/>
                  <a:t>instructor.ID = teaches.ID</a:t>
                </a:r>
                <a:r>
                  <a:rPr lang="en-US" sz="2800" baseline="-25000" dirty="0"/>
                  <a:t> </a:t>
                </a:r>
                <a:r>
                  <a:rPr lang="en-US" sz="2400" i="1" dirty="0"/>
                  <a:t>teaches</a:t>
                </a:r>
                <a:endParaRPr lang="en-US" sz="2000" i="1" dirty="0"/>
              </a:p>
              <a:p>
                <a:pPr>
                  <a:buNone/>
                </a:pPr>
                <a:r>
                  <a:rPr lang="en-US" altLang="ja-JP" sz="900" dirty="0">
                    <a:sym typeface="Symbol" panose="05050102010706020507" pitchFamily="18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2E8EE3E-6B5D-4CFD-BE18-53E0366E0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9022" y="2356494"/>
                <a:ext cx="9223022" cy="2831544"/>
              </a:xfrm>
              <a:prstGeom prst="rect">
                <a:avLst/>
              </a:prstGeom>
              <a:blipFill>
                <a:blip r:embed="rId3"/>
                <a:stretch>
                  <a:fillRect t="-1293" r="-925" b="-4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F4C368FF-351A-437F-A14E-A7F5EAC96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ea typeface="+mj-ea"/>
              </a:rPr>
              <a:t>مثال</a:t>
            </a:r>
            <a:endParaRPr lang="en-US" dirty="0">
              <a:ea typeface="+mj-ea"/>
            </a:endParaRPr>
          </a:p>
        </p:txBody>
      </p:sp>
      <p:sp>
        <p:nvSpPr>
          <p:cNvPr id="51203" name="Content Placeholder 1">
            <a:extLst>
              <a:ext uri="{FF2B5EF4-FFF2-40B4-BE49-F238E27FC236}">
                <a16:creationId xmlns:a16="http://schemas.microsoft.com/office/drawing/2014/main" id="{F51EDED4-E132-49B9-B4D6-3AB1AF171B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 dirty="0"/>
              <a:t>اسامی تهیه کنندگان قطعه </a:t>
            </a:r>
            <a:r>
              <a:rPr lang="en-US" altLang="en-US" dirty="0"/>
              <a:t>P2</a:t>
            </a:r>
            <a:endParaRPr lang="fa-IR" altLang="en-US" dirty="0"/>
          </a:p>
          <a:p>
            <a:pPr algn="r" rtl="1"/>
            <a:endParaRPr lang="fa-IR" altLang="en-US" dirty="0"/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65AFD296-6670-4E5B-BD1E-136F384046D3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937125"/>
          <a:ext cx="1350963" cy="1920877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238" name="TextBox 5">
            <a:extLst>
              <a:ext uri="{FF2B5EF4-FFF2-40B4-BE49-F238E27FC236}">
                <a16:creationId xmlns:a16="http://schemas.microsoft.com/office/drawing/2014/main" id="{E9A09F4F-C1F6-40EE-9B2F-318D01A803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" y="4716463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51239" name="TextBox 11">
            <a:extLst>
              <a:ext uri="{FF2B5EF4-FFF2-40B4-BE49-F238E27FC236}">
                <a16:creationId xmlns:a16="http://schemas.microsoft.com/office/drawing/2014/main" id="{A5E38F07-D1E8-4622-A1AE-23851FC96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4716463"/>
            <a:ext cx="1139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51240" name="TextBox 13">
            <a:extLst>
              <a:ext uri="{FF2B5EF4-FFF2-40B4-BE49-F238E27FC236}">
                <a16:creationId xmlns:a16="http://schemas.microsoft.com/office/drawing/2014/main" id="{9BAA5B98-FA0D-459F-8F32-4326F76F0A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598988"/>
            <a:ext cx="455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sp>
        <p:nvSpPr>
          <p:cNvPr id="51241" name="Rectangle 4">
            <a:extLst>
              <a:ext uri="{FF2B5EF4-FFF2-40B4-BE49-F238E27FC236}">
                <a16:creationId xmlns:a16="http://schemas.microsoft.com/office/drawing/2014/main" id="{86A5F10B-D2D2-4031-AEC7-B6C219657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1168400"/>
            <a:ext cx="223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/>
              <a:t>Name of P2 producers</a:t>
            </a:r>
            <a:endParaRPr kumimoji="0" lang="fa-IR" altLang="en-US" sz="1600"/>
          </a:p>
        </p:txBody>
      </p:sp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59A95676-0E6D-49FA-9F85-51340537774B}"/>
              </a:ext>
            </a:extLst>
          </p:cNvPr>
          <p:cNvGraphicFramePr>
            <a:graphicFrameLocks noGrp="1"/>
          </p:cNvGraphicFramePr>
          <p:nvPr/>
        </p:nvGraphicFramePr>
        <p:xfrm>
          <a:off x="668338" y="5008563"/>
          <a:ext cx="2365375" cy="148907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6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2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5F78FF28-FB0F-4136-8A42-FC98DE9683E5}"/>
              </a:ext>
            </a:extLst>
          </p:cNvPr>
          <p:cNvGraphicFramePr>
            <a:graphicFrameLocks noGrp="1"/>
          </p:cNvGraphicFramePr>
          <p:nvPr/>
        </p:nvGraphicFramePr>
        <p:xfrm>
          <a:off x="3687764" y="5054600"/>
          <a:ext cx="3238499" cy="140815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80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9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Shiraz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4FAB8C80-6A94-4489-AB43-60D19E066B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/>
              <a:t>مثال</a:t>
            </a:r>
            <a:endParaRPr lang="en-US" dirty="0">
              <a:ea typeface="+mj-ea"/>
            </a:endParaRPr>
          </a:p>
        </p:txBody>
      </p:sp>
      <p:sp>
        <p:nvSpPr>
          <p:cNvPr id="53251" name="Content Placeholder 1">
            <a:extLst>
              <a:ext uri="{FF2B5EF4-FFF2-40B4-BE49-F238E27FC236}">
                <a16:creationId xmlns:a16="http://schemas.microsoft.com/office/drawing/2014/main" id="{F5C1FF8F-B15A-4E70-A522-94130F8BFA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93687" y="1065212"/>
            <a:ext cx="8556625" cy="5289550"/>
          </a:xfrm>
        </p:spPr>
        <p:txBody>
          <a:bodyPr/>
          <a:lstStyle/>
          <a:p>
            <a:pPr algn="r" rtl="1"/>
            <a:r>
              <a:rPr lang="fa-IR" altLang="en-US" dirty="0"/>
              <a:t>اسامی تهیه کنندگان قطعه </a:t>
            </a:r>
            <a:r>
              <a:rPr lang="en-US" altLang="en-US" dirty="0"/>
              <a:t> P2</a:t>
            </a:r>
            <a:r>
              <a:rPr lang="fa-IR" altLang="en-US" dirty="0"/>
              <a:t> را تهیه میکنند</a:t>
            </a:r>
          </a:p>
          <a:p>
            <a:pPr algn="r" rtl="1"/>
            <a:endParaRPr lang="fa-IR" altLang="en-US" dirty="0"/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AE964C58-B5C1-4673-82A1-AD98E3F2C03D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937125"/>
          <a:ext cx="1350963" cy="1920877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286" name="TextBox 5">
            <a:extLst>
              <a:ext uri="{FF2B5EF4-FFF2-40B4-BE49-F238E27FC236}">
                <a16:creationId xmlns:a16="http://schemas.microsoft.com/office/drawing/2014/main" id="{3BF38A9A-2C63-4CD7-B1A4-488C6710E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825" y="4729163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53287" name="TextBox 11">
            <a:extLst>
              <a:ext uri="{FF2B5EF4-FFF2-40B4-BE49-F238E27FC236}">
                <a16:creationId xmlns:a16="http://schemas.microsoft.com/office/drawing/2014/main" id="{B3E9B574-6836-4738-9E9D-3F0DED88F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4716463"/>
            <a:ext cx="1139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53288" name="TextBox 13">
            <a:extLst>
              <a:ext uri="{FF2B5EF4-FFF2-40B4-BE49-F238E27FC236}">
                <a16:creationId xmlns:a16="http://schemas.microsoft.com/office/drawing/2014/main" id="{834C3EDE-8513-4BB5-9E03-8ECECC1BD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598988"/>
            <a:ext cx="455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7C5C3C-FB6C-4F47-AB5D-5338A823C5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1747838"/>
            <a:ext cx="51974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400">
                <a:latin typeface="Times New Roman" panose="02020603050405020304" pitchFamily="18" charset="0"/>
                <a:sym typeface="Symbol" panose="05050102010706020507" pitchFamily="18" charset="2"/>
              </a:rPr>
              <a:t></a:t>
            </a:r>
            <a:r>
              <a:rPr kumimoji="0" lang="en-US" altLang="en-US" sz="2400" baseline="-25000">
                <a:latin typeface="Times New Roman" panose="02020603050405020304" pitchFamily="18" charset="0"/>
                <a:sym typeface="Symbol" panose="05050102010706020507" pitchFamily="18" charset="2"/>
              </a:rPr>
              <a:t>Sname</a:t>
            </a:r>
            <a:r>
              <a:rPr kumimoji="0" lang="en-US" altLang="en-US" sz="2400">
                <a:latin typeface="Times New Roman" panose="02020603050405020304" pitchFamily="18" charset="0"/>
              </a:rPr>
              <a:t> (</a:t>
            </a:r>
            <a:r>
              <a:rPr kumimoji="0" lang="en-US" altLang="en-US" sz="2400">
                <a:sym typeface="Symbol" panose="05050102010706020507" pitchFamily="18" charset="2"/>
              </a:rPr>
              <a:t></a:t>
            </a:r>
            <a:r>
              <a:rPr kumimoji="0" lang="en-US" altLang="en-US" sz="2400" baseline="-25000">
                <a:sym typeface="Symbol" panose="05050102010706020507" pitchFamily="18" charset="2"/>
              </a:rPr>
              <a:t>P#=P2 </a:t>
            </a:r>
            <a:r>
              <a:rPr kumimoji="0" lang="en-US" altLang="en-US" sz="2400">
                <a:sym typeface="Symbol" panose="05050102010706020507" pitchFamily="18" charset="2"/>
              </a:rPr>
              <a:t>(S</a:t>
            </a:r>
            <a:r>
              <a:rPr kumimoji="0" lang="en-US" altLang="en-US" sz="2400">
                <a:latin typeface="Yu Gothic Medium" panose="020B0500000000000000" pitchFamily="34" charset="-128"/>
                <a:ea typeface="Yu Gothic Medium" panose="020B0500000000000000" pitchFamily="34" charset="-128"/>
                <a:sym typeface="Symbol" panose="05050102010706020507" pitchFamily="18" charset="2"/>
              </a:rPr>
              <a:t>∞SP</a:t>
            </a:r>
            <a:r>
              <a:rPr kumimoji="0" lang="en-US" altLang="en-US" sz="2400">
                <a:ea typeface="Yu Gothic Medium" panose="020B0500000000000000" pitchFamily="34" charset="-128"/>
                <a:sym typeface="Symbol" panose="05050102010706020507" pitchFamily="18" charset="2"/>
              </a:rPr>
              <a:t>)</a:t>
            </a:r>
            <a:r>
              <a:rPr kumimoji="0" lang="en-US" altLang="en-US" sz="2400">
                <a:latin typeface="Times New Roman" panose="02020603050405020304" pitchFamily="18" charset="0"/>
                <a:ea typeface="Yu Gothic Medium" panose="020B0500000000000000" pitchFamily="34" charset="-128"/>
              </a:rPr>
              <a:t>)</a:t>
            </a:r>
          </a:p>
        </p:txBody>
      </p:sp>
      <p:sp>
        <p:nvSpPr>
          <p:cNvPr id="53290" name="Rectangle 4">
            <a:extLst>
              <a:ext uri="{FF2B5EF4-FFF2-40B4-BE49-F238E27FC236}">
                <a16:creationId xmlns:a16="http://schemas.microsoft.com/office/drawing/2014/main" id="{B12D611A-EB27-4B98-B7D7-C17AE63DC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338" y="1168400"/>
            <a:ext cx="2238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600"/>
              <a:t>Name of P2 producers</a:t>
            </a:r>
            <a:endParaRPr kumimoji="0" lang="fa-IR" altLang="en-US" sz="16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DED182-616A-4E0F-984C-58C62DDF986B}"/>
              </a:ext>
            </a:extLst>
          </p:cNvPr>
          <p:cNvSpPr/>
          <p:nvPr/>
        </p:nvSpPr>
        <p:spPr>
          <a:xfrm>
            <a:off x="631825" y="2371725"/>
            <a:ext cx="6332538" cy="12001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join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SP </a:t>
            </a: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giving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Temp1</a:t>
            </a:r>
          </a:p>
          <a:p>
            <a:pPr>
              <a:defRPr/>
            </a:pP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Select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Temp1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where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P# = ‘P2’ </a:t>
            </a: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Giving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Temp2</a:t>
            </a:r>
          </a:p>
          <a:p>
            <a:pPr>
              <a:defRPr/>
            </a:pPr>
            <a:r>
              <a:rPr lang="en-US" altLang="en-US" sz="2400" b="1" dirty="0">
                <a:solidFill>
                  <a:srgbClr val="7030A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Project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Temp2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 [</a:t>
            </a:r>
            <a:r>
              <a:rPr lang="en-US" altLang="en-US" sz="24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Sname</a:t>
            </a:r>
            <a:r>
              <a:rPr lang="en-US" altLang="en-US" sz="2400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AB67CD54-B31B-42E1-842C-07956DE4EDD7}"/>
              </a:ext>
            </a:extLst>
          </p:cNvPr>
          <p:cNvGraphicFramePr>
            <a:graphicFrameLocks noGrp="1"/>
          </p:cNvGraphicFramePr>
          <p:nvPr/>
        </p:nvGraphicFramePr>
        <p:xfrm>
          <a:off x="668338" y="5008563"/>
          <a:ext cx="2365375" cy="148907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6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2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147B3E21-6B21-4FDF-9149-F6D90B008993}"/>
              </a:ext>
            </a:extLst>
          </p:cNvPr>
          <p:cNvGraphicFramePr>
            <a:graphicFrameLocks noGrp="1"/>
          </p:cNvGraphicFramePr>
          <p:nvPr/>
        </p:nvGraphicFramePr>
        <p:xfrm>
          <a:off x="3687764" y="5054600"/>
          <a:ext cx="3238499" cy="140815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80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9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Shiraz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0D31410D-F731-4F47-8ACD-6E80D60919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/>
              <a:t>مثال</a:t>
            </a:r>
            <a:endParaRPr lang="en-US" dirty="0">
              <a:ea typeface="+mj-ea"/>
            </a:endParaRPr>
          </a:p>
        </p:txBody>
      </p:sp>
      <p:sp>
        <p:nvSpPr>
          <p:cNvPr id="55299" name="Content Placeholder 1">
            <a:extLst>
              <a:ext uri="{FF2B5EF4-FFF2-40B4-BE49-F238E27FC236}">
                <a16:creationId xmlns:a16="http://schemas.microsoft.com/office/drawing/2014/main" id="{A63E227F-2602-4C3A-8BB6-18B0BD6337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 sz="2800" dirty="0"/>
              <a:t>اسامی تهیه کنندگان را که حداقل یک قطعه قرمز رنگ تهیه می کنند</a:t>
            </a:r>
          </a:p>
          <a:p>
            <a:pPr algn="r" rtl="1"/>
            <a:endParaRPr lang="fa-IR" altLang="en-US" sz="2800" dirty="0"/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0EA3DE9A-3A64-4D1E-9E4E-06CDC6E8FF8F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937125"/>
          <a:ext cx="1350963" cy="1920877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5334" name="TextBox 5">
            <a:extLst>
              <a:ext uri="{FF2B5EF4-FFF2-40B4-BE49-F238E27FC236}">
                <a16:creationId xmlns:a16="http://schemas.microsoft.com/office/drawing/2014/main" id="{3D520EB5-26C7-4B50-B3E3-21633DBF2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721225"/>
            <a:ext cx="3206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55335" name="TextBox 11">
            <a:extLst>
              <a:ext uri="{FF2B5EF4-FFF2-40B4-BE49-F238E27FC236}">
                <a16:creationId xmlns:a16="http://schemas.microsoft.com/office/drawing/2014/main" id="{B6E4EAAE-1F7F-4B2B-B53C-D45234AA52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4716463"/>
            <a:ext cx="1139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55336" name="TextBox 13">
            <a:extLst>
              <a:ext uri="{FF2B5EF4-FFF2-40B4-BE49-F238E27FC236}">
                <a16:creationId xmlns:a16="http://schemas.microsoft.com/office/drawing/2014/main" id="{23E91667-57DF-4232-9211-DD5C9B7F2A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598988"/>
            <a:ext cx="455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2A1248EE-25A8-483B-B650-673ED6649B5F}"/>
              </a:ext>
            </a:extLst>
          </p:cNvPr>
          <p:cNvGraphicFramePr>
            <a:graphicFrameLocks noGrp="1"/>
          </p:cNvGraphicFramePr>
          <p:nvPr/>
        </p:nvGraphicFramePr>
        <p:xfrm>
          <a:off x="668338" y="5008563"/>
          <a:ext cx="2365375" cy="148907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6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2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4" name="Table 3">
            <a:extLst>
              <a:ext uri="{FF2B5EF4-FFF2-40B4-BE49-F238E27FC236}">
                <a16:creationId xmlns:a16="http://schemas.microsoft.com/office/drawing/2014/main" id="{1F44E9EA-F3AF-4DC3-845D-5AEC7D85C550}"/>
              </a:ext>
            </a:extLst>
          </p:cNvPr>
          <p:cNvGraphicFramePr>
            <a:graphicFrameLocks noGrp="1"/>
          </p:cNvGraphicFramePr>
          <p:nvPr/>
        </p:nvGraphicFramePr>
        <p:xfrm>
          <a:off x="3687764" y="5054600"/>
          <a:ext cx="3238499" cy="140815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80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9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Shiraz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537934C7-0B70-4C24-A769-63FA5209F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/>
              <a:t>مثال</a:t>
            </a:r>
            <a:endParaRPr lang="en-US" dirty="0">
              <a:ea typeface="+mj-ea"/>
            </a:endParaRPr>
          </a:p>
        </p:txBody>
      </p:sp>
      <p:sp>
        <p:nvSpPr>
          <p:cNvPr id="57347" name="Content Placeholder 1">
            <a:extLst>
              <a:ext uri="{FF2B5EF4-FFF2-40B4-BE49-F238E27FC236}">
                <a16:creationId xmlns:a16="http://schemas.microsoft.com/office/drawing/2014/main" id="{68CFAC8C-6B1C-4154-BCCF-E62BDC4D01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 sz="2800" dirty="0"/>
              <a:t>اسامی تهیه کنندگان را که حداقل یک قطعه قرمز رنگ تهیه می کنند</a:t>
            </a:r>
          </a:p>
          <a:p>
            <a:pPr algn="r" rtl="1"/>
            <a:endParaRPr lang="fa-IR" altLang="en-US" sz="2800" dirty="0"/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433B1D93-4443-4CB1-99B4-CFDEFFE76C6B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937125"/>
          <a:ext cx="1350963" cy="1920877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7382" name="TextBox 5">
            <a:extLst>
              <a:ext uri="{FF2B5EF4-FFF2-40B4-BE49-F238E27FC236}">
                <a16:creationId xmlns:a16="http://schemas.microsoft.com/office/drawing/2014/main" id="{A4AEE79B-AD6E-42AD-A800-946BD5C26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711700"/>
            <a:ext cx="3206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57383" name="TextBox 11">
            <a:extLst>
              <a:ext uri="{FF2B5EF4-FFF2-40B4-BE49-F238E27FC236}">
                <a16:creationId xmlns:a16="http://schemas.microsoft.com/office/drawing/2014/main" id="{2EDBE4AB-E28D-47E0-B757-32AA84709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4716463"/>
            <a:ext cx="1139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57384" name="TextBox 13">
            <a:extLst>
              <a:ext uri="{FF2B5EF4-FFF2-40B4-BE49-F238E27FC236}">
                <a16:creationId xmlns:a16="http://schemas.microsoft.com/office/drawing/2014/main" id="{B780BB97-75D4-4F32-AAB1-47B312D311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598988"/>
            <a:ext cx="455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sp>
        <p:nvSpPr>
          <p:cNvPr id="57385" name="Rectangle 10">
            <a:extLst>
              <a:ext uri="{FF2B5EF4-FFF2-40B4-BE49-F238E27FC236}">
                <a16:creationId xmlns:a16="http://schemas.microsoft.com/office/drawing/2014/main" id="{512F3D4D-F199-4F85-977B-C007A98D6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388" y="2122488"/>
            <a:ext cx="2576512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Temp1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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</a:t>
            </a:r>
            <a:r>
              <a:rPr kumimoji="0" lang="en-US" altLang="en-US" sz="18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Color=‘Red’ 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(P)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Temp2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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</a:t>
            </a:r>
            <a:r>
              <a:rPr kumimoji="0" lang="en-US" altLang="en-US" sz="18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p#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(Temp1)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Temp3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(temp2 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∞ SP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 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Temp4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</a:t>
            </a:r>
            <a:r>
              <a:rPr kumimoji="0" lang="en-US" altLang="en-US" sz="18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s#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(Temp3)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Temp5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</a:t>
            </a:r>
            <a:r>
              <a:rPr kumimoji="0" lang="en-US" altLang="en-US" sz="18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s#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Temp4∞S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Temp6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</a:t>
            </a:r>
            <a:r>
              <a:rPr kumimoji="0" lang="en-US" altLang="en-US" sz="1800" baseline="-250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sname</a:t>
            </a:r>
            <a:r>
              <a:rPr kumimoji="0" lang="en-US" altLang="en-US" sz="18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kumimoji="0" lang="en-US" alt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(Temp5)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7386" name="Rectangle 11">
            <a:extLst>
              <a:ext uri="{FF2B5EF4-FFF2-40B4-BE49-F238E27FC236}">
                <a16:creationId xmlns:a16="http://schemas.microsoft.com/office/drawing/2014/main" id="{A308F65E-794F-4D5D-8CF7-5F2AC49A4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1488" y="2182813"/>
            <a:ext cx="4108450" cy="1754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Select P where color=‘Red’ Giving Temp1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Project Temp1 [P#] Giving Temp2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Temp2 Join SP Giving Temp3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Project Temp3 [S#] Giving Temp4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Temp4 Join S Giving Temp5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80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Project Temp5 [Sname] Giving Temp6</a:t>
            </a:r>
            <a:endParaRPr kumimoji="0" lang="en-US" altLang="en-US" sz="180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3">
            <a:extLst>
              <a:ext uri="{FF2B5EF4-FFF2-40B4-BE49-F238E27FC236}">
                <a16:creationId xmlns:a16="http://schemas.microsoft.com/office/drawing/2014/main" id="{F61356DE-D8C0-4113-BAF2-78DAE2E9DD16}"/>
              </a:ext>
            </a:extLst>
          </p:cNvPr>
          <p:cNvGraphicFramePr>
            <a:graphicFrameLocks noGrp="1"/>
          </p:cNvGraphicFramePr>
          <p:nvPr/>
        </p:nvGraphicFramePr>
        <p:xfrm>
          <a:off x="668338" y="5008563"/>
          <a:ext cx="2365375" cy="148907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6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2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" name="Table 3">
            <a:extLst>
              <a:ext uri="{FF2B5EF4-FFF2-40B4-BE49-F238E27FC236}">
                <a16:creationId xmlns:a16="http://schemas.microsoft.com/office/drawing/2014/main" id="{144E7BE3-876A-4719-9E85-2676F487F273}"/>
              </a:ext>
            </a:extLst>
          </p:cNvPr>
          <p:cNvGraphicFramePr>
            <a:graphicFrameLocks noGrp="1"/>
          </p:cNvGraphicFramePr>
          <p:nvPr/>
        </p:nvGraphicFramePr>
        <p:xfrm>
          <a:off x="3687764" y="5054600"/>
          <a:ext cx="3238499" cy="140815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80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9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Shiraz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EF7ECFAE-0A4F-43E5-88BE-61246912FE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/>
              <a:t>مثال</a:t>
            </a:r>
            <a:endParaRPr lang="en-US" dirty="0">
              <a:ea typeface="+mj-ea"/>
            </a:endParaRPr>
          </a:p>
        </p:txBody>
      </p:sp>
      <p:sp>
        <p:nvSpPr>
          <p:cNvPr id="59395" name="Content Placeholder 1">
            <a:extLst>
              <a:ext uri="{FF2B5EF4-FFF2-40B4-BE49-F238E27FC236}">
                <a16:creationId xmlns:a16="http://schemas.microsoft.com/office/drawing/2014/main" id="{6886226F-7D1A-4881-AF34-32B34BF573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 sz="2800" dirty="0"/>
              <a:t>اسامی تهیه کنندگانی را بیابید که قطعه </a:t>
            </a:r>
            <a:r>
              <a:rPr lang="en-US" altLang="en-US" sz="2800" dirty="0"/>
              <a:t>P2</a:t>
            </a:r>
            <a:r>
              <a:rPr lang="fa-IR" altLang="en-US" sz="2800" dirty="0"/>
              <a:t> را تهیه نمی کنند</a:t>
            </a:r>
          </a:p>
          <a:p>
            <a:pPr algn="r" rtl="1"/>
            <a:endParaRPr lang="fa-IR" altLang="en-US" sz="2800" dirty="0"/>
          </a:p>
        </p:txBody>
      </p:sp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A4B52B7D-14F9-498E-AA3E-938068E2416D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937125"/>
          <a:ext cx="1350963" cy="1920877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9430" name="TextBox 5">
            <a:extLst>
              <a:ext uri="{FF2B5EF4-FFF2-40B4-BE49-F238E27FC236}">
                <a16:creationId xmlns:a16="http://schemas.microsoft.com/office/drawing/2014/main" id="{5BA46DD0-1FFE-4068-BADE-CE6DB09B7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716463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59431" name="TextBox 11">
            <a:extLst>
              <a:ext uri="{FF2B5EF4-FFF2-40B4-BE49-F238E27FC236}">
                <a16:creationId xmlns:a16="http://schemas.microsoft.com/office/drawing/2014/main" id="{262A1F1E-A797-48AC-A7A9-1A64D7FE6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4716463"/>
            <a:ext cx="1139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59432" name="TextBox 13">
            <a:extLst>
              <a:ext uri="{FF2B5EF4-FFF2-40B4-BE49-F238E27FC236}">
                <a16:creationId xmlns:a16="http://schemas.microsoft.com/office/drawing/2014/main" id="{AD2EDAA4-B415-4F30-B4EB-C20AD497C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598988"/>
            <a:ext cx="455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graphicFrame>
        <p:nvGraphicFramePr>
          <p:cNvPr id="12" name="Table 3">
            <a:extLst>
              <a:ext uri="{FF2B5EF4-FFF2-40B4-BE49-F238E27FC236}">
                <a16:creationId xmlns:a16="http://schemas.microsoft.com/office/drawing/2014/main" id="{C5356972-0092-4ACE-8020-81A3C285C75C}"/>
              </a:ext>
            </a:extLst>
          </p:cNvPr>
          <p:cNvGraphicFramePr>
            <a:graphicFrameLocks noGrp="1"/>
          </p:cNvGraphicFramePr>
          <p:nvPr/>
        </p:nvGraphicFramePr>
        <p:xfrm>
          <a:off x="668338" y="5008563"/>
          <a:ext cx="2365375" cy="148907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6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2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73AC7005-917C-4A09-9CDA-776B89E52E47}"/>
              </a:ext>
            </a:extLst>
          </p:cNvPr>
          <p:cNvGraphicFramePr>
            <a:graphicFrameLocks noGrp="1"/>
          </p:cNvGraphicFramePr>
          <p:nvPr/>
        </p:nvGraphicFramePr>
        <p:xfrm>
          <a:off x="3687764" y="5054600"/>
          <a:ext cx="3238499" cy="140815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80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9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Shiraz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F91D2613-0897-44AE-BBF3-63A871CA1E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/>
              <a:t>مثال</a:t>
            </a:r>
            <a:endParaRPr lang="en-US" dirty="0">
              <a:ea typeface="+mj-ea"/>
            </a:endParaRPr>
          </a:p>
        </p:txBody>
      </p:sp>
      <p:sp>
        <p:nvSpPr>
          <p:cNvPr id="61443" name="Content Placeholder 1">
            <a:extLst>
              <a:ext uri="{FF2B5EF4-FFF2-40B4-BE49-F238E27FC236}">
                <a16:creationId xmlns:a16="http://schemas.microsoft.com/office/drawing/2014/main" id="{85661E77-3322-4C27-BA78-5E7EF62A7B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 sz="2800" dirty="0"/>
              <a:t>اسامی تهیه کنندگانی را بیابید که قطعه </a:t>
            </a:r>
            <a:r>
              <a:rPr lang="en-US" altLang="en-US" sz="2800" dirty="0"/>
              <a:t>P2</a:t>
            </a:r>
            <a:r>
              <a:rPr lang="fa-IR" altLang="en-US" sz="2800" dirty="0"/>
              <a:t> را تهیه نمی کنند</a:t>
            </a:r>
          </a:p>
          <a:p>
            <a:pPr algn="r" rtl="1"/>
            <a:endParaRPr lang="fa-IR" altLang="en-US" sz="28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A5A805C-D69A-4C3D-9BA0-C1C7642A94AA}"/>
              </a:ext>
            </a:extLst>
          </p:cNvPr>
          <p:cNvGraphicFramePr>
            <a:graphicFrameLocks noGrp="1"/>
          </p:cNvGraphicFramePr>
          <p:nvPr/>
        </p:nvGraphicFramePr>
        <p:xfrm>
          <a:off x="668338" y="5008563"/>
          <a:ext cx="2365375" cy="148907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6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2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C5ADA7B4-B55F-46F5-B972-8B828B087F46}"/>
              </a:ext>
            </a:extLst>
          </p:cNvPr>
          <p:cNvGraphicFramePr>
            <a:graphicFrameLocks noGrp="1"/>
          </p:cNvGraphicFramePr>
          <p:nvPr/>
        </p:nvGraphicFramePr>
        <p:xfrm>
          <a:off x="3687764" y="5054600"/>
          <a:ext cx="3238499" cy="140815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80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9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Shiraz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A16DEE18-4BDF-43AE-ACB6-8000EC5AFD1F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937125"/>
          <a:ext cx="1350963" cy="1920877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532" name="TextBox 5">
            <a:extLst>
              <a:ext uri="{FF2B5EF4-FFF2-40B4-BE49-F238E27FC236}">
                <a16:creationId xmlns:a16="http://schemas.microsoft.com/office/drawing/2014/main" id="{86BA37EA-FDF0-45B6-B226-E428A3ED84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670425"/>
            <a:ext cx="3206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61533" name="TextBox 11">
            <a:extLst>
              <a:ext uri="{FF2B5EF4-FFF2-40B4-BE49-F238E27FC236}">
                <a16:creationId xmlns:a16="http://schemas.microsoft.com/office/drawing/2014/main" id="{41F3A708-B091-4D0A-BF93-EDC41358B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4716463"/>
            <a:ext cx="1139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61534" name="TextBox 13">
            <a:extLst>
              <a:ext uri="{FF2B5EF4-FFF2-40B4-BE49-F238E27FC236}">
                <a16:creationId xmlns:a16="http://schemas.microsoft.com/office/drawing/2014/main" id="{229F16E0-7901-442C-95E3-DDFF349BC0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598988"/>
            <a:ext cx="455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sp>
        <p:nvSpPr>
          <p:cNvPr id="61535" name="Rectangle 10">
            <a:extLst>
              <a:ext uri="{FF2B5EF4-FFF2-40B4-BE49-F238E27FC236}">
                <a16:creationId xmlns:a16="http://schemas.microsoft.com/office/drawing/2014/main" id="{BB526040-9E6F-44B8-B652-4828B9DB1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49" y="1790700"/>
            <a:ext cx="67992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</a:t>
            </a:r>
            <a:r>
              <a:rPr kumimoji="0" lang="en-US" altLang="en-US" baseline="-25000" dirty="0" err="1">
                <a:latin typeface="Times New Roman" panose="02020603050405020304" pitchFamily="18" charset="0"/>
                <a:sym typeface="Symbol" panose="05050102010706020507" pitchFamily="18" charset="2"/>
              </a:rPr>
              <a:t>Sname</a:t>
            </a:r>
            <a:r>
              <a:rPr kumimoji="0" lang="en-US" altLang="en-US" sz="3600" dirty="0">
                <a:latin typeface="Times New Roman" panose="02020603050405020304" pitchFamily="18" charset="0"/>
              </a:rPr>
              <a:t> [</a:t>
            </a:r>
            <a:r>
              <a:rPr kumimoji="0" lang="en-US" altLang="en-US" sz="2800" dirty="0">
                <a:latin typeface="Times New Roman" panose="02020603050405020304" pitchFamily="18" charset="0"/>
              </a:rPr>
              <a:t>[</a:t>
            </a:r>
            <a:r>
              <a:rPr kumimoji="0"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</a:t>
            </a:r>
            <a:r>
              <a:rPr kumimoji="0" lang="en-US" alt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s#</a:t>
            </a:r>
            <a:r>
              <a:rPr kumimoji="0" lang="en-US" altLang="en-US" dirty="0">
                <a:latin typeface="Times New Roman" panose="02020603050405020304" pitchFamily="18" charset="0"/>
              </a:rPr>
              <a:t> (S)- </a:t>
            </a:r>
            <a:r>
              <a:rPr kumimoji="0" lang="en-US" altLang="en-US" sz="3600" dirty="0">
                <a:latin typeface="Times New Roman" panose="02020603050405020304" pitchFamily="18" charset="0"/>
              </a:rPr>
              <a:t>(</a:t>
            </a:r>
            <a:r>
              <a:rPr kumimoji="0" lang="en-US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</a:t>
            </a:r>
            <a:r>
              <a:rPr kumimoji="0" lang="en-US" altLang="en-US" baseline="-25000" dirty="0">
                <a:latin typeface="Times New Roman" panose="02020603050405020304" pitchFamily="18" charset="0"/>
                <a:sym typeface="Symbol" panose="05050102010706020507" pitchFamily="18" charset="2"/>
              </a:rPr>
              <a:t>s# </a:t>
            </a:r>
            <a:r>
              <a:rPr kumimoji="0" lang="en-US" altLang="en-US" dirty="0">
                <a:sym typeface="Symbol" panose="05050102010706020507" pitchFamily="18" charset="2"/>
              </a:rPr>
              <a:t>(</a:t>
            </a:r>
            <a:r>
              <a:rPr kumimoji="0" lang="en-US" altLang="en-US" baseline="-25000" dirty="0">
                <a:sym typeface="Symbol" panose="05050102010706020507" pitchFamily="18" charset="2"/>
              </a:rPr>
              <a:t>P#=‘P2’ </a:t>
            </a:r>
            <a:r>
              <a:rPr kumimoji="0" lang="en-US" altLang="en-US" dirty="0">
                <a:sym typeface="Symbol" panose="05050102010706020507" pitchFamily="18" charset="2"/>
              </a:rPr>
              <a:t>(SP)) </a:t>
            </a:r>
            <a:r>
              <a:rPr kumimoji="0" lang="en-US" altLang="en-US" sz="3600" dirty="0">
                <a:sym typeface="Symbol" panose="05050102010706020507" pitchFamily="18" charset="2"/>
              </a:rPr>
              <a:t>)</a:t>
            </a:r>
            <a:r>
              <a:rPr kumimoji="0" lang="en-US" altLang="en-US" sz="2800" dirty="0">
                <a:latin typeface="Times New Roman" panose="02020603050405020304" pitchFamily="18" charset="0"/>
                <a:sym typeface="Symbol" panose="05050102010706020507" pitchFamily="18" charset="2"/>
              </a:rPr>
              <a:t>]</a:t>
            </a:r>
            <a:r>
              <a:rPr kumimoji="0" lang="en-US" altLang="en-US" dirty="0">
                <a:latin typeface="Yu Gothic Medium" panose="020B0500000000000000" pitchFamily="34" charset="-128"/>
                <a:ea typeface="Yu Gothic Medium" panose="020B0500000000000000" pitchFamily="34" charset="-128"/>
                <a:sym typeface="Symbol" panose="05050102010706020507" pitchFamily="18" charset="2"/>
              </a:rPr>
              <a:t> ∞S</a:t>
            </a:r>
            <a:r>
              <a:rPr kumimoji="0" lang="en-US" altLang="en-US" sz="3600" dirty="0">
                <a:latin typeface="Times New Roman" panose="02020603050405020304" pitchFamily="18" charset="0"/>
                <a:ea typeface="Yu Gothic Medium" panose="020B0500000000000000" pitchFamily="34" charset="-128"/>
                <a:sym typeface="Symbol" panose="05050102010706020507" pitchFamily="18" charset="2"/>
              </a:rPr>
              <a:t>]</a:t>
            </a:r>
            <a:endParaRPr kumimoji="0" lang="en-US" altLang="en-US" sz="3600" dirty="0">
              <a:latin typeface="Times New Roman" panose="02020603050405020304" pitchFamily="18" charset="0"/>
              <a:ea typeface="Yu Gothic Medium" panose="020B0500000000000000" pitchFamily="34" charset="-128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D9444163-EF22-4E23-8F0B-40FCC1290B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>
                <a:ea typeface="MS PGothic" panose="020B0600070205080204" pitchFamily="34" charset="-128"/>
              </a:rPr>
              <a:t>پیوند شرطی</a:t>
            </a:r>
            <a:endParaRPr lang="en-US" dirty="0">
              <a:ea typeface="+mj-ea"/>
            </a:endParaRPr>
          </a:p>
        </p:txBody>
      </p:sp>
      <p:sp>
        <p:nvSpPr>
          <p:cNvPr id="63491" name="Content Placeholder 1">
            <a:extLst>
              <a:ext uri="{FF2B5EF4-FFF2-40B4-BE49-F238E27FC236}">
                <a16:creationId xmlns:a16="http://schemas.microsoft.com/office/drawing/2014/main" id="{2F3AD864-31F5-431C-A4B6-EE0ED5141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 dirty="0"/>
              <a:t>عملگر پیوند شرطی (</a:t>
            </a:r>
            <a:r>
              <a:rPr lang="en-US" altLang="en-US" dirty="0">
                <a:latin typeface="Yu Gothic" panose="020B0400000000000000" pitchFamily="34" charset="-128"/>
                <a:ea typeface="Yu Gothic" panose="020B0400000000000000" pitchFamily="34" charset="-128"/>
              </a:rPr>
              <a:t>ɵ-join</a:t>
            </a:r>
            <a:r>
              <a:rPr lang="fa-IR" altLang="en-US" dirty="0">
                <a:ea typeface="Yu Gothic" panose="020B0400000000000000" pitchFamily="34" charset="-128"/>
              </a:rPr>
              <a:t>)</a:t>
            </a:r>
          </a:p>
          <a:p>
            <a:pPr algn="r" rtl="1"/>
            <a:r>
              <a:rPr lang="fa-IR" altLang="en-US" dirty="0">
                <a:ea typeface="Yu Gothic" panose="020B0400000000000000" pitchFamily="34" charset="-128"/>
              </a:rPr>
              <a:t>این عملگر، زیر مجموعه ای از ضرب دکارتی است که شرط </a:t>
            </a:r>
            <a:r>
              <a:rPr lang="en-US" altLang="en-US" dirty="0">
                <a:latin typeface="Yu Gothic" panose="020B0400000000000000" pitchFamily="34" charset="-128"/>
              </a:rPr>
              <a:t>ɵ</a:t>
            </a:r>
            <a:r>
              <a:rPr lang="fa-IR" altLang="en-US" dirty="0">
                <a:latin typeface="Yu Gothic" panose="020B0400000000000000" pitchFamily="34" charset="-128"/>
              </a:rPr>
              <a:t> روی سطرهای آن اعمال شده باشد. ستونهای خروجی معادل ستونهای ضرب دکارتی است. </a:t>
            </a:r>
          </a:p>
          <a:p>
            <a:pPr algn="r" rtl="1"/>
            <a:r>
              <a:rPr lang="en-US" altLang="en-US" b="1" dirty="0" err="1">
                <a:latin typeface="Times New Roman" panose="02020603050405020304" pitchFamily="18" charset="0"/>
              </a:rPr>
              <a:t>X</a:t>
            </a:r>
            <a:r>
              <a:rPr lang="en-US" altLang="en-US" sz="1600" b="1" dirty="0" err="1">
                <a:latin typeface="Yu Gothic" panose="020B0400000000000000" pitchFamily="34" charset="-128"/>
              </a:rPr>
              <a:t>ɵ</a:t>
            </a:r>
            <a:endParaRPr lang="fa-IR" altLang="en-US" sz="1600" b="1" dirty="0">
              <a:latin typeface="Yu Gothic" panose="020B0400000000000000" pitchFamily="34" charset="-128"/>
            </a:endParaRPr>
          </a:p>
          <a:p>
            <a:pPr algn="r" rtl="1"/>
            <a:r>
              <a:rPr lang="fa-IR" altLang="en-US" dirty="0">
                <a:latin typeface="Yu Gothic" panose="020B0400000000000000" pitchFamily="34" charset="-128"/>
              </a:rPr>
              <a:t>مثال خروجی دستور زیر</a:t>
            </a:r>
          </a:p>
          <a:p>
            <a:pPr algn="r" rtl="1"/>
            <a:endParaRPr lang="fa-IR" altLang="en-US" dirty="0"/>
          </a:p>
          <a:p>
            <a:pPr algn="r" rtl="1"/>
            <a:endParaRPr lang="fa-IR" altLang="en-US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D4CDD09-1319-4D89-AB56-984E455FE7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753342"/>
              </p:ext>
            </p:extLst>
          </p:nvPr>
        </p:nvGraphicFramePr>
        <p:xfrm>
          <a:off x="279396" y="3602038"/>
          <a:ext cx="6103296" cy="2481320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910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4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48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8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48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7938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9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299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5" marR="91445" marT="45705" marB="4570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5" marR="91445" marT="45705" marB="4570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5" marR="91445" marT="45705" marB="4570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5" marR="91445" marT="45705" marB="45705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5" marR="91435" marT="45719" marB="4571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5" marR="91435" marT="45719" marB="4571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5" marR="91435" marT="45719" marB="4571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59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5" marR="91435" marT="45719" marB="45719">
                    <a:solidFill>
                      <a:schemeClr val="bg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59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5" marR="91435" marT="45719" marB="45719">
                    <a:solidFill>
                      <a:schemeClr val="bg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59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5" marR="91435" marT="45719" marB="45719">
                    <a:solidFill>
                      <a:schemeClr val="bg2">
                        <a:lumMod val="40000"/>
                        <a:lumOff val="60000"/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59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327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5" marR="91445" marT="45705" marB="45705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5" marR="91435"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3550" name="Rectangle 3">
            <a:extLst>
              <a:ext uri="{FF2B5EF4-FFF2-40B4-BE49-F238E27FC236}">
                <a16:creationId xmlns:a16="http://schemas.microsoft.com/office/drawing/2014/main" id="{927EF6FC-1C31-44D5-B9E1-54ACF7E84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763" y="2714625"/>
            <a:ext cx="23352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 algn="r" rtl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2800" dirty="0">
                <a:latin typeface="Times New Roman" panose="02020603050405020304" pitchFamily="18" charset="0"/>
              </a:rPr>
              <a:t>S</a:t>
            </a:r>
            <a:r>
              <a:rPr kumimoji="0" lang="en-US" altLang="en-US" sz="1600" dirty="0">
                <a:latin typeface="Yu Gothic" panose="020B0400000000000000" pitchFamily="34" charset="-128"/>
                <a:ea typeface="Yu Gothic" panose="020B0400000000000000" pitchFamily="34" charset="-128"/>
              </a:rPr>
              <a:t>  </a:t>
            </a:r>
            <a:r>
              <a:rPr kumimoji="0" lang="en-US" altLang="en-US" sz="2800" b="1" dirty="0" err="1">
                <a:latin typeface="Times New Roman" panose="02020603050405020304" pitchFamily="18" charset="0"/>
                <a:ea typeface="Yu Gothic" panose="020B0400000000000000" pitchFamily="34" charset="-128"/>
              </a:rPr>
              <a:t>X</a:t>
            </a:r>
            <a:r>
              <a:rPr kumimoji="0" lang="en-US" altLang="en-US" sz="16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s.city</a:t>
            </a:r>
            <a:r>
              <a:rPr kumimoji="0" lang="en-US" altLang="en-US" sz="1600" dirty="0">
                <a:latin typeface="Yu Gothic" panose="020B0400000000000000" pitchFamily="34" charset="-128"/>
                <a:ea typeface="Yu Gothic" panose="020B0400000000000000" pitchFamily="34" charset="-128"/>
              </a:rPr>
              <a:t>&gt;=</a:t>
            </a:r>
            <a:r>
              <a:rPr kumimoji="0" lang="en-US" altLang="en-US" sz="1600" dirty="0" err="1">
                <a:latin typeface="Yu Gothic" panose="020B0400000000000000" pitchFamily="34" charset="-128"/>
                <a:ea typeface="Yu Gothic" panose="020B0400000000000000" pitchFamily="34" charset="-128"/>
              </a:rPr>
              <a:t>P.city</a:t>
            </a:r>
            <a:r>
              <a:rPr kumimoji="0" lang="en-US" altLang="en-US" sz="1600" dirty="0">
                <a:latin typeface="Yu Gothic" panose="020B0400000000000000" pitchFamily="34" charset="-128"/>
                <a:ea typeface="Yu Gothic" panose="020B0400000000000000" pitchFamily="34" charset="-128"/>
              </a:rPr>
              <a:t> </a:t>
            </a:r>
            <a:r>
              <a:rPr kumimoji="0" lang="en-US" altLang="en-US" sz="2800" dirty="0">
                <a:latin typeface="Times New Roman" panose="02020603050405020304" pitchFamily="18" charset="0"/>
                <a:ea typeface="Yu Gothic" panose="020B0400000000000000" pitchFamily="34" charset="-128"/>
              </a:rPr>
              <a:t>P</a:t>
            </a:r>
            <a:endParaRPr kumimoji="0" lang="fa-IR" altLang="en-US" sz="2800" dirty="0">
              <a:latin typeface="Times New Roman" panose="02020603050405020304" pitchFamily="18" charset="0"/>
              <a:ea typeface="Yu Gothic" panose="020B0400000000000000" pitchFamily="34" charset="-128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E2F5752-4610-45F4-9EB8-A5D08014F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(Natural Join)</a:t>
            </a:r>
            <a:r>
              <a:rPr lang="fa-IR" altLang="en-US" dirty="0"/>
              <a:t>پیوند طبیعی</a:t>
            </a:r>
            <a:r>
              <a:rPr lang="en-US" altLang="en-US" dirty="0"/>
              <a:t> 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4019B23-EEBF-4429-BF70-CD1E814DA7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R=                                                            S=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R |</a:t>
            </a:r>
            <a:r>
              <a:rPr lang="en-US" altLang="en-US" dirty="0">
                <a:sym typeface="Symbol" panose="05050102010706020507" pitchFamily="18" charset="2"/>
              </a:rPr>
              <a:t>|</a:t>
            </a:r>
            <a:r>
              <a:rPr lang="en-US" altLang="en-US" dirty="0"/>
              <a:t> S=</a:t>
            </a:r>
          </a:p>
          <a:p>
            <a:endParaRPr lang="en-US" altLang="en-US" dirty="0"/>
          </a:p>
        </p:txBody>
      </p:sp>
      <p:graphicFrame>
        <p:nvGraphicFramePr>
          <p:cNvPr id="17412" name="Group 4">
            <a:extLst>
              <a:ext uri="{FF2B5EF4-FFF2-40B4-BE49-F238E27FC236}">
                <a16:creationId xmlns:a16="http://schemas.microsoft.com/office/drawing/2014/main" id="{1C292D16-38FF-4BDA-B599-32478E684C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544394"/>
              </p:ext>
            </p:extLst>
          </p:nvPr>
        </p:nvGraphicFramePr>
        <p:xfrm>
          <a:off x="1333500" y="1036320"/>
          <a:ext cx="2514600" cy="182880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1061386843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4253054389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A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B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3568613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2347749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X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807280"/>
                  </a:ext>
                </a:extLst>
              </a:tr>
              <a:tr h="3651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Y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533569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299139"/>
                  </a:ext>
                </a:extLst>
              </a:tr>
            </a:tbl>
          </a:graphicData>
        </a:graphic>
      </p:graphicFrame>
      <p:graphicFrame>
        <p:nvGraphicFramePr>
          <p:cNvPr id="17432" name="Group 24">
            <a:extLst>
              <a:ext uri="{FF2B5EF4-FFF2-40B4-BE49-F238E27FC236}">
                <a16:creationId xmlns:a16="http://schemas.microsoft.com/office/drawing/2014/main" id="{2E9DE4E7-BADB-45E9-9F6F-2C2E488E07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845514"/>
              </p:ext>
            </p:extLst>
          </p:nvPr>
        </p:nvGraphicFramePr>
        <p:xfrm>
          <a:off x="5654643" y="1036320"/>
          <a:ext cx="2514600" cy="1463040"/>
        </p:xfrm>
        <a:graphic>
          <a:graphicData uri="http://schemas.openxmlformats.org/drawingml/2006/table">
            <a:tbl>
              <a:tblPr/>
              <a:tblGrid>
                <a:gridCol w="1257300">
                  <a:extLst>
                    <a:ext uri="{9D8B030D-6E8A-4147-A177-3AD203B41FA5}">
                      <a16:colId xmlns:a16="http://schemas.microsoft.com/office/drawing/2014/main" val="3549807232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921196154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B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C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990469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U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270296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W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841034"/>
                  </a:ext>
                </a:extLst>
              </a:tr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V</a:t>
                      </a: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5328656"/>
                  </a:ext>
                </a:extLst>
              </a:tr>
            </a:tbl>
          </a:graphicData>
        </a:graphic>
      </p:graphicFrame>
      <p:graphicFrame>
        <p:nvGraphicFramePr>
          <p:cNvPr id="17449" name="Group 41">
            <a:extLst>
              <a:ext uri="{FF2B5EF4-FFF2-40B4-BE49-F238E27FC236}">
                <a16:creationId xmlns:a16="http://schemas.microsoft.com/office/drawing/2014/main" id="{977563BA-A05D-4974-A6EA-5A7789349E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9313886"/>
              </p:ext>
            </p:extLst>
          </p:nvPr>
        </p:nvGraphicFramePr>
        <p:xfrm>
          <a:off x="1775988" y="3738240"/>
          <a:ext cx="4495800" cy="2377440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3333710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3970209495"/>
                    </a:ext>
                  </a:extLst>
                </a:gridCol>
                <a:gridCol w="1498600">
                  <a:extLst>
                    <a:ext uri="{9D8B030D-6E8A-4147-A177-3AD203B41FA5}">
                      <a16:colId xmlns:a16="http://schemas.microsoft.com/office/drawing/2014/main" val="3450468260"/>
                    </a:ext>
                  </a:extLst>
                </a:gridCol>
              </a:tblGrid>
              <a:tr h="3794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A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B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C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1640"/>
                  </a:ext>
                </a:extLst>
              </a:tr>
              <a:tr h="290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14692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X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888572"/>
                  </a:ext>
                </a:extLst>
              </a:tr>
              <a:tr h="29051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U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823369"/>
                  </a:ext>
                </a:extLst>
              </a:tr>
              <a:tr h="3952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Y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4737042"/>
                  </a:ext>
                </a:extLst>
              </a:tr>
              <a:tr h="2889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Z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V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 panose="02020603050405020304" pitchFamily="18" charset="0"/>
                        </a:rPr>
                        <a:t>W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088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5F2BB3AF-1A74-4623-9F1D-61251D45B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(Semi-join) </a:t>
            </a:r>
            <a:r>
              <a:rPr lang="fa-IR" dirty="0"/>
              <a:t>نیم‌اتصال</a:t>
            </a:r>
            <a:endParaRPr lang="en-US" dirty="0">
              <a:ea typeface="+mj-ea"/>
            </a:endParaRPr>
          </a:p>
        </p:txBody>
      </p:sp>
      <p:sp>
        <p:nvSpPr>
          <p:cNvPr id="65539" name="Content Placeholder 1">
            <a:extLst>
              <a:ext uri="{FF2B5EF4-FFF2-40B4-BE49-F238E27FC236}">
                <a16:creationId xmlns:a16="http://schemas.microsoft.com/office/drawing/2014/main" id="{31382885-1907-4A48-B49E-06F12A887E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 dirty="0"/>
              <a:t>مشابه پیوند طبیعی است با این تفاوت که فقط ستونهای جدول اول را می دهد. 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336021C9-F897-41E9-BB19-08B578582BCA}"/>
              </a:ext>
            </a:extLst>
          </p:cNvPr>
          <p:cNvGraphicFramePr>
            <a:graphicFrameLocks noGrp="1"/>
          </p:cNvGraphicFramePr>
          <p:nvPr/>
        </p:nvGraphicFramePr>
        <p:xfrm>
          <a:off x="668338" y="5008563"/>
          <a:ext cx="2365375" cy="1489075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1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6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33" marR="91433" marT="45752" marB="45752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Fanavaran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42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Iran Segment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594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Pooladin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33" marR="91433" marT="45752" marB="4575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23AE3168-4699-4DCD-9AD9-FD1DD32DBAB7}"/>
              </a:ext>
            </a:extLst>
          </p:cNvPr>
          <p:cNvGraphicFramePr>
            <a:graphicFrameLocks noGrp="1"/>
          </p:cNvGraphicFramePr>
          <p:nvPr/>
        </p:nvGraphicFramePr>
        <p:xfrm>
          <a:off x="3687764" y="5054600"/>
          <a:ext cx="3238499" cy="140815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10710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9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80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City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Type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Color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P#</a:t>
                      </a:r>
                      <a:endParaRPr lang="fa-IR" sz="1200" dirty="0"/>
                    </a:p>
                  </a:txBody>
                  <a:tcPr marL="91446" marR="91446" marT="45704" marB="45704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P1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91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Tabriz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Copper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Green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P2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Shiraz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Brass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Blue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P3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273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Tehran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r>
                        <a:rPr lang="en-US" sz="1200" kern="1200" dirty="0"/>
                        <a:t>Iron</a:t>
                      </a:r>
                      <a:endParaRPr lang="fa-I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Red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P4</a:t>
                      </a:r>
                      <a:endParaRPr lang="fa-IR" sz="1200" dirty="0"/>
                    </a:p>
                  </a:txBody>
                  <a:tcPr marL="91446" marR="91446" marT="45704" marB="45704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EA34C426-C394-4E12-91B6-4E18A0D88831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937125"/>
          <a:ext cx="1350963" cy="1920877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49" marB="4574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300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P1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400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11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200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P2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s3</a:t>
                      </a:r>
                      <a:endParaRPr lang="fa-IR" sz="1200" b="1" dirty="0"/>
                    </a:p>
                  </a:txBody>
                  <a:tcPr marL="91358" marR="91358" marT="45749" marB="45749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5628" name="TextBox 5">
            <a:extLst>
              <a:ext uri="{FF2B5EF4-FFF2-40B4-BE49-F238E27FC236}">
                <a16:creationId xmlns:a16="http://schemas.microsoft.com/office/drawing/2014/main" id="{715EC00E-AE6B-4590-A2DA-D317D4166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013" y="4670425"/>
            <a:ext cx="3206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65629" name="TextBox 11">
            <a:extLst>
              <a:ext uri="{FF2B5EF4-FFF2-40B4-BE49-F238E27FC236}">
                <a16:creationId xmlns:a16="http://schemas.microsoft.com/office/drawing/2014/main" id="{152A7A9D-5597-40D5-833D-F938B51DD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1575" y="4716463"/>
            <a:ext cx="11398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P</a:t>
            </a:r>
            <a:endParaRPr kumimoji="0" lang="fa-IR" altLang="fa-IR" sz="1600"/>
          </a:p>
        </p:txBody>
      </p:sp>
      <p:sp>
        <p:nvSpPr>
          <p:cNvPr id="65630" name="TextBox 13">
            <a:extLst>
              <a:ext uri="{FF2B5EF4-FFF2-40B4-BE49-F238E27FC236}">
                <a16:creationId xmlns:a16="http://schemas.microsoft.com/office/drawing/2014/main" id="{DA933CEE-1845-4911-8536-5FAD4EB1E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598988"/>
            <a:ext cx="4556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F9B972-A34A-459B-BECD-284B3ABF0CE4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780467" y="1790463"/>
            <a:ext cx="5019442" cy="369332"/>
          </a:xfrm>
          <a:prstGeom prst="rect">
            <a:avLst/>
          </a:prstGeom>
          <a:blipFill>
            <a:blip r:embed="rId3"/>
            <a:stretch>
              <a:fillRect l="-972" t="-11667" b="-26667"/>
            </a:stretch>
          </a:blipFill>
        </p:spPr>
        <p:txBody>
          <a:bodyPr/>
          <a:lstStyle/>
          <a:p>
            <a:pPr>
              <a:defRPr/>
            </a:pPr>
            <a:r>
              <a:rPr lang="fa-IR" sz="2000" dirty="0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CBA16089-CC01-418D-B7DB-8A90064E24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(Outer Join) </a:t>
            </a:r>
            <a:r>
              <a:rPr lang="fa-IR" dirty="0"/>
              <a:t>اتصال خارجی یا فراپیوند</a:t>
            </a:r>
            <a:endParaRPr lang="en-US" dirty="0">
              <a:ea typeface="+mj-ea"/>
            </a:endParaRPr>
          </a:p>
        </p:txBody>
      </p:sp>
      <p:sp>
        <p:nvSpPr>
          <p:cNvPr id="67587" name="Content Placeholder 1">
            <a:extLst>
              <a:ext uri="{FF2B5EF4-FFF2-40B4-BE49-F238E27FC236}">
                <a16:creationId xmlns:a16="http://schemas.microsoft.com/office/drawing/2014/main" id="{ED678042-B1CC-4021-8E3B-A49648F918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/>
              <a:t>1- فراپیوند چپ</a:t>
            </a:r>
            <a:r>
              <a:rPr lang="en-US" altLang="en-US"/>
              <a:t>  : Left Outer Join</a:t>
            </a:r>
            <a:r>
              <a:rPr lang="fa-IR" altLang="en-US"/>
              <a:t> </a:t>
            </a:r>
            <a:r>
              <a:rPr lang="en-US" altLang="en-US"/>
              <a:t>L-O-JOIN</a:t>
            </a:r>
            <a:endParaRPr lang="fa-IR" altLang="en-US"/>
          </a:p>
          <a:p>
            <a:pPr algn="r" rtl="1"/>
            <a:r>
              <a:rPr lang="fa-IR" altLang="en-US"/>
              <a:t>2- فراپیوند راست</a:t>
            </a:r>
            <a:r>
              <a:rPr lang="en-US" altLang="en-US"/>
              <a:t> :Right Outer Join</a:t>
            </a:r>
            <a:endParaRPr lang="fa-IR" altLang="en-US"/>
          </a:p>
          <a:p>
            <a:pPr algn="r" rtl="1"/>
            <a:r>
              <a:rPr lang="fa-IR" altLang="en-US"/>
              <a:t>3- فراپیوند کامل </a:t>
            </a:r>
            <a:r>
              <a:rPr lang="en-US" altLang="en-US"/>
              <a:t>Full Outer Join</a:t>
            </a:r>
            <a:endParaRPr lang="fa-IR" altLang="en-US"/>
          </a:p>
          <a:p>
            <a:pPr algn="r" rtl="1"/>
            <a:r>
              <a:rPr lang="fa-IR" altLang="en-US"/>
              <a:t>فراپیوند چپ گونه ای از عملگر پیوند طبیعی است با این تفاوت که علاوه بر تاپلهای پیوند شدنی از دو رابطه، تاپلهای نشدنی از رابطه چپ هم ، پیوند شده با مقادیر </a:t>
            </a:r>
            <a:r>
              <a:rPr lang="en-US" altLang="en-US"/>
              <a:t>NULL</a:t>
            </a:r>
            <a:r>
              <a:rPr lang="fa-IR" altLang="en-US"/>
              <a:t>، در جواب وارد می شود در فراپیوند راست، تاپلهای پیوند نشدنی از رابطه سمت راستی ، پیوند شده با مقادیر </a:t>
            </a:r>
            <a:r>
              <a:rPr lang="en-US" altLang="en-US"/>
              <a:t>NULL</a:t>
            </a:r>
            <a:r>
              <a:rPr lang="fa-IR" altLang="en-US"/>
              <a:t>  وارد می شوند. </a:t>
            </a:r>
          </a:p>
          <a:p>
            <a:pPr algn="r" rtl="1"/>
            <a:r>
              <a:rPr lang="fa-IR" altLang="en-US"/>
              <a:t>مثال:</a:t>
            </a:r>
          </a:p>
          <a:p>
            <a:pPr algn="r" rtl="1"/>
            <a:r>
              <a:rPr lang="en-US" altLang="en-US"/>
              <a:t>S L-O-JOIN SP</a:t>
            </a:r>
            <a:endParaRPr lang="fa-IR" alt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76654E9-6A3F-40F5-BCEF-36315F356E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742555"/>
              </p:ext>
            </p:extLst>
          </p:nvPr>
        </p:nvGraphicFramePr>
        <p:xfrm>
          <a:off x="2842578" y="4608513"/>
          <a:ext cx="2366962" cy="181292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2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82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Status</a:t>
                      </a:r>
                      <a:endParaRPr lang="fa-IR" sz="1200" dirty="0"/>
                    </a:p>
                  </a:txBody>
                  <a:tcPr marL="91495" marR="91495" marT="45738" marB="45738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95" marR="91495" marT="45738" marB="45738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95" marR="91495" marT="45738" marB="45738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81">
                <a:tc>
                  <a:txBody>
                    <a:bodyPr/>
                    <a:lstStyle/>
                    <a:p>
                      <a:pPr algn="ctr" rtl="0"/>
                      <a:r>
                        <a:rPr lang="en-US" sz="1200" dirty="0"/>
                        <a:t>10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Sn1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01">
                <a:tc>
                  <a:txBody>
                    <a:bodyPr/>
                    <a:lstStyle/>
                    <a:p>
                      <a:pPr algn="ctr" rtl="0"/>
                      <a:r>
                        <a:rPr lang="en-US" sz="1200" dirty="0"/>
                        <a:t>15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Sn2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81"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10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Sn3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81"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20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Sn4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S4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7890AA9F-868F-40EB-88C4-7EF9A92D2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058608"/>
              </p:ext>
            </p:extLst>
          </p:nvPr>
        </p:nvGraphicFramePr>
        <p:xfrm>
          <a:off x="5676581" y="4829131"/>
          <a:ext cx="1350963" cy="1371690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29" marB="4572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29" marB="4572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29" marB="4572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200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P1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S1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400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P3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S2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100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P4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S2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300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P1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S3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640" name="TextBox 5">
            <a:extLst>
              <a:ext uri="{FF2B5EF4-FFF2-40B4-BE49-F238E27FC236}">
                <a16:creationId xmlns:a16="http://schemas.microsoft.com/office/drawing/2014/main" id="{FDA2D0BF-3358-4971-BC6F-8EBB5B528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2578" y="4270376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67641" name="TextBox 13">
            <a:extLst>
              <a:ext uri="{FF2B5EF4-FFF2-40B4-BE49-F238E27FC236}">
                <a16:creationId xmlns:a16="http://schemas.microsoft.com/office/drawing/2014/main" id="{F26551B5-F0CF-4483-AAE2-7EB89D2BD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2929" y="4486117"/>
            <a:ext cx="4556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 dirty="0"/>
              <a:t>SP</a:t>
            </a:r>
            <a:endParaRPr kumimoji="0" lang="fa-IR" altLang="fa-IR" sz="16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Rectangle 2">
            <a:extLst>
              <a:ext uri="{FF2B5EF4-FFF2-40B4-BE49-F238E27FC236}">
                <a16:creationId xmlns:a16="http://schemas.microsoft.com/office/drawing/2014/main" id="{D3AF9B8C-AF8D-4315-8048-D4E5EC382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+mj-ea"/>
              </a:rPr>
              <a:t>Outer Join</a:t>
            </a:r>
          </a:p>
        </p:txBody>
      </p:sp>
      <p:sp>
        <p:nvSpPr>
          <p:cNvPr id="69635" name="Content Placeholder 1">
            <a:extLst>
              <a:ext uri="{FF2B5EF4-FFF2-40B4-BE49-F238E27FC236}">
                <a16:creationId xmlns:a16="http://schemas.microsoft.com/office/drawing/2014/main" id="{281DEDAC-DCD0-411E-B41B-FB3EF408D8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88925" y="1093788"/>
            <a:ext cx="8556625" cy="5289550"/>
          </a:xfrm>
        </p:spPr>
        <p:txBody>
          <a:bodyPr/>
          <a:lstStyle/>
          <a:p>
            <a:pPr algn="r" rtl="1"/>
            <a:r>
              <a:rPr lang="fa-IR" altLang="en-US"/>
              <a:t>مثال:</a:t>
            </a:r>
          </a:p>
          <a:p>
            <a:pPr algn="r" rtl="1"/>
            <a:r>
              <a:rPr lang="en-US" altLang="en-US"/>
              <a:t>S L-O-JOIN SP</a:t>
            </a:r>
            <a:endParaRPr lang="fa-IR" altLang="en-US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D56C46B0-270E-45E0-8585-9A665A01120B}"/>
              </a:ext>
            </a:extLst>
          </p:cNvPr>
          <p:cNvGraphicFramePr>
            <a:graphicFrameLocks noGrp="1"/>
          </p:cNvGraphicFramePr>
          <p:nvPr/>
        </p:nvGraphicFramePr>
        <p:xfrm>
          <a:off x="4478338" y="4608513"/>
          <a:ext cx="2366962" cy="1812926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852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6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82"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Status</a:t>
                      </a:r>
                      <a:endParaRPr lang="fa-IR" sz="1200" dirty="0"/>
                    </a:p>
                  </a:txBody>
                  <a:tcPr marL="91495" marR="91495" marT="45738" marB="45738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95" marR="91495" marT="45738" marB="45738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95" marR="91495" marT="45738" marB="45738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81">
                <a:tc>
                  <a:txBody>
                    <a:bodyPr/>
                    <a:lstStyle/>
                    <a:p>
                      <a:pPr algn="ctr" rtl="0"/>
                      <a:r>
                        <a:rPr lang="en-US" sz="1200" dirty="0"/>
                        <a:t>10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Sn1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01">
                <a:tc>
                  <a:txBody>
                    <a:bodyPr/>
                    <a:lstStyle/>
                    <a:p>
                      <a:pPr algn="ctr" rtl="0"/>
                      <a:r>
                        <a:rPr lang="en-US" sz="1200" dirty="0"/>
                        <a:t>15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Sn2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481"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10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Sn3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81"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20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Sn4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S4</a:t>
                      </a:r>
                      <a:endParaRPr lang="fa-IR" sz="1200" dirty="0"/>
                    </a:p>
                  </a:txBody>
                  <a:tcPr marL="91495" marR="91495" marT="45738" marB="4573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7D11940E-B865-40E2-8E24-0BF6FF2608E0}"/>
              </a:ext>
            </a:extLst>
          </p:cNvPr>
          <p:cNvGraphicFramePr>
            <a:graphicFrameLocks noGrp="1"/>
          </p:cNvGraphicFramePr>
          <p:nvPr/>
        </p:nvGraphicFramePr>
        <p:xfrm>
          <a:off x="7124700" y="4608513"/>
          <a:ext cx="1350963" cy="1371690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450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3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358" marR="91358" marT="45729" marB="4572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358" marR="91358" marT="45729" marB="4572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S#</a:t>
                      </a:r>
                      <a:endParaRPr lang="fa-IR" sz="1200" b="1" dirty="0"/>
                    </a:p>
                  </a:txBody>
                  <a:tcPr marL="91358" marR="91358" marT="45729" marB="45729"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200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P1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S1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400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P3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S2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100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P4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S2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300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P1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S3</a:t>
                      </a:r>
                      <a:endParaRPr lang="fa-IR" sz="1200" b="0" dirty="0"/>
                    </a:p>
                  </a:txBody>
                  <a:tcPr marL="91358" marR="91358" marT="45729" marB="4572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688" name="TextBox 5">
            <a:extLst>
              <a:ext uri="{FF2B5EF4-FFF2-40B4-BE49-F238E27FC236}">
                <a16:creationId xmlns:a16="http://schemas.microsoft.com/office/drawing/2014/main" id="{F173B9B0-E9DD-443E-B015-5C16BB2E7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4688" y="4256088"/>
            <a:ext cx="3206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</a:t>
            </a:r>
            <a:endParaRPr kumimoji="0" lang="fa-IR" altLang="fa-IR" sz="1600"/>
          </a:p>
        </p:txBody>
      </p:sp>
      <p:sp>
        <p:nvSpPr>
          <p:cNvPr id="69689" name="TextBox 13">
            <a:extLst>
              <a:ext uri="{FF2B5EF4-FFF2-40B4-BE49-F238E27FC236}">
                <a16:creationId xmlns:a16="http://schemas.microsoft.com/office/drawing/2014/main" id="{F9A09BE5-EF4C-45F0-A967-92C46E643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700" y="4232275"/>
            <a:ext cx="4556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fa-IR" sz="1600"/>
              <a:t>SP</a:t>
            </a:r>
            <a:endParaRPr kumimoji="0" lang="fa-IR" altLang="fa-IR" sz="1600"/>
          </a:p>
        </p:txBody>
      </p:sp>
      <p:graphicFrame>
        <p:nvGraphicFramePr>
          <p:cNvPr id="13" name="Table 3">
            <a:extLst>
              <a:ext uri="{FF2B5EF4-FFF2-40B4-BE49-F238E27FC236}">
                <a16:creationId xmlns:a16="http://schemas.microsoft.com/office/drawing/2014/main" id="{9E7BF78D-37C8-4DB3-B92A-64701CAB2C89}"/>
              </a:ext>
            </a:extLst>
          </p:cNvPr>
          <p:cNvGraphicFramePr>
            <a:graphicFrameLocks noGrp="1"/>
          </p:cNvGraphicFramePr>
          <p:nvPr/>
        </p:nvGraphicFramePr>
        <p:xfrm>
          <a:off x="152399" y="4148138"/>
          <a:ext cx="3527426" cy="2216150"/>
        </p:xfrm>
        <a:graphic>
          <a:graphicData uri="http://schemas.openxmlformats.org/drawingml/2006/table">
            <a:tbl>
              <a:tblPr rtl="1" firstRow="1" bandRow="1">
                <a:tableStyleId>{E8B1032C-EA38-4F05-BA0D-38AFFFC7BED3}</a:tableStyleId>
              </a:tblPr>
              <a:tblGrid>
                <a:gridCol w="738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4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07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1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413"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Qty</a:t>
                      </a:r>
                      <a:endParaRPr lang="fa-IR" sz="1200" b="1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1" dirty="0"/>
                        <a:t>P#</a:t>
                      </a:r>
                      <a:endParaRPr lang="fa-IR" sz="1200" b="1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Status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 err="1"/>
                        <a:t>Sname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S#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200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P1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dirty="0"/>
                        <a:t>10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Sn1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s1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1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400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P3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dirty="0"/>
                        <a:t>15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Sn2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120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100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P4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sz="1200" dirty="0"/>
                        <a:t>15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Sn2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s2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300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b="0" dirty="0"/>
                        <a:t>P1</a:t>
                      </a:r>
                      <a:endParaRPr lang="fa-IR" sz="1200" b="0" dirty="0"/>
                    </a:p>
                  </a:txBody>
                  <a:tcPr marL="91400" marR="91400" marT="45749" marB="45749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10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Sn3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S3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499"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NULL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NULL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200" dirty="0"/>
                        <a:t>20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Sn4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/>
                        <a:t>S4</a:t>
                      </a:r>
                      <a:endParaRPr lang="fa-IR" sz="1200" dirty="0"/>
                    </a:p>
                  </a:txBody>
                  <a:tcPr marL="91444" marR="91444" marT="45740" marB="4574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696298B0-71FB-46D1-87B1-94625AC663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fa-IR" dirty="0"/>
              <a:t>خلاصه‌ای از عملگرهای جبر رابطه‌ای</a:t>
            </a:r>
            <a:endParaRPr 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0B302211-5AFA-4B13-89FA-9764DF1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803275"/>
            <a:ext cx="7246937" cy="325438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FC9692F7-17E1-4461-97F7-683769DF37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1179513"/>
            <a:ext cx="7253287" cy="4895850"/>
          </a:xfrm>
          <a:prstGeom prst="rect">
            <a:avLst/>
          </a:prstGeom>
          <a:solidFill>
            <a:schemeClr val="accent1"/>
          </a:solidFill>
          <a:ln w="1905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/>
          </a:p>
        </p:txBody>
      </p:sp>
      <p:cxnSp>
        <p:nvCxnSpPr>
          <p:cNvPr id="71685" name="Straight Connector 5">
            <a:extLst>
              <a:ext uri="{FF2B5EF4-FFF2-40B4-BE49-F238E27FC236}">
                <a16:creationId xmlns:a16="http://schemas.microsoft.com/office/drawing/2014/main" id="{545C431B-25BC-4C8A-BC03-BE2D212691F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62263" y="1169988"/>
            <a:ext cx="0" cy="4905375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86" name="Straight Connector 2">
            <a:extLst>
              <a:ext uri="{FF2B5EF4-FFF2-40B4-BE49-F238E27FC236}">
                <a16:creationId xmlns:a16="http://schemas.microsoft.com/office/drawing/2014/main" id="{187C2B5D-3B50-4F14-BBB9-901B53111F32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862263" y="803275"/>
            <a:ext cx="0" cy="325438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687" name="TextBox 6">
            <a:extLst>
              <a:ext uri="{FF2B5EF4-FFF2-40B4-BE49-F238E27FC236}">
                <a16:creationId xmlns:a16="http://schemas.microsoft.com/office/drawing/2014/main" id="{45B91A08-B3C5-4D2D-83F6-5649A5E19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846138"/>
            <a:ext cx="61864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  Symbol (Name)                  Example of Use</a:t>
            </a:r>
          </a:p>
        </p:txBody>
      </p:sp>
      <p:sp>
        <p:nvSpPr>
          <p:cNvPr id="71688" name="TextBox 9">
            <a:extLst>
              <a:ext uri="{FF2B5EF4-FFF2-40B4-BE49-F238E27FC236}">
                <a16:creationId xmlns:a16="http://schemas.microsoft.com/office/drawing/2014/main" id="{C1BF0522-E3FF-46FA-AF2B-A0A467E5D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938" y="1306513"/>
            <a:ext cx="64865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Palatino Linotype" panose="02040502050505030304" pitchFamily="18" charset="0"/>
              </a:rPr>
              <a:t>  (Selection)	                        </a:t>
            </a:r>
            <a:r>
              <a:rPr kumimoji="0"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kumimoji="0"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salary &gt; = 85000 </a:t>
            </a: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i="1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instructor</a:t>
            </a: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)</a:t>
            </a:r>
            <a:endParaRPr kumimoji="0" lang="fa-IR" altLang="en-US" sz="1200" baseline="300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fa-IR" altLang="en-US" sz="1200" baseline="300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689" name="TextBox 8">
            <a:extLst>
              <a:ext uri="{FF2B5EF4-FFF2-40B4-BE49-F238E27FC236}">
                <a16:creationId xmlns:a16="http://schemas.microsoft.com/office/drawing/2014/main" id="{6DA37346-FDBD-4860-ABD9-66A987832B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8713" y="1111250"/>
            <a:ext cx="8874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l-GR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endParaRPr kumimoji="0" lang="en-US" altLang="en-US" sz="1200">
              <a:cs typeface="Times New Roman" panose="02020603050405020304" pitchFamily="18" charset="0"/>
            </a:endParaRPr>
          </a:p>
        </p:txBody>
      </p:sp>
      <p:cxnSp>
        <p:nvCxnSpPr>
          <p:cNvPr id="71690" name="Straight Connector 11">
            <a:extLst>
              <a:ext uri="{FF2B5EF4-FFF2-40B4-BE49-F238E27FC236}">
                <a16:creationId xmlns:a16="http://schemas.microsoft.com/office/drawing/2014/main" id="{5188700B-F0CF-4293-9B74-4DF01A6044A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62263" y="1574800"/>
            <a:ext cx="54784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691" name="TextBox 12">
            <a:extLst>
              <a:ext uri="{FF2B5EF4-FFF2-40B4-BE49-F238E27FC236}">
                <a16:creationId xmlns:a16="http://schemas.microsoft.com/office/drawing/2014/main" id="{98D32228-9541-4B7A-991D-5FB77214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1581150"/>
            <a:ext cx="54784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Return rows of the input relation that satisfy the predicate.</a:t>
            </a:r>
          </a:p>
        </p:txBody>
      </p:sp>
      <p:cxnSp>
        <p:nvCxnSpPr>
          <p:cNvPr id="71692" name="Straight Connector 16">
            <a:extLst>
              <a:ext uri="{FF2B5EF4-FFF2-40B4-BE49-F238E27FC236}">
                <a16:creationId xmlns:a16="http://schemas.microsoft.com/office/drawing/2014/main" id="{12082ADC-408C-43C5-9C88-8A3218CB56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93788" y="1900238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93" name="Straight Connector 18">
            <a:extLst>
              <a:ext uri="{FF2B5EF4-FFF2-40B4-BE49-F238E27FC236}">
                <a16:creationId xmlns:a16="http://schemas.microsoft.com/office/drawing/2014/main" id="{A3548F8A-78BB-4062-AAA6-A5F60922CC9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70200" y="2335213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94" name="Straight Connector 19">
            <a:extLst>
              <a:ext uri="{FF2B5EF4-FFF2-40B4-BE49-F238E27FC236}">
                <a16:creationId xmlns:a16="http://schemas.microsoft.com/office/drawing/2014/main" id="{65D4C18E-A445-4712-B14B-9C61E593604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01725" y="2795588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695" name="TextBox 20">
            <a:extLst>
              <a:ext uri="{FF2B5EF4-FFF2-40B4-BE49-F238E27FC236}">
                <a16:creationId xmlns:a16="http://schemas.microsoft.com/office/drawing/2014/main" id="{DCE64067-29F0-412B-B079-D33D14D93C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1852613"/>
            <a:ext cx="889000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l-G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kumimoji="0" lang="en-US" altLang="en-US" sz="1200" dirty="0">
              <a:cs typeface="Times New Roman" panose="02020603050405020304" pitchFamily="18" charset="0"/>
            </a:endParaRPr>
          </a:p>
        </p:txBody>
      </p:sp>
      <p:sp>
        <p:nvSpPr>
          <p:cNvPr id="71696" name="TextBox 21">
            <a:extLst>
              <a:ext uri="{FF2B5EF4-FFF2-40B4-BE49-F238E27FC236}">
                <a16:creationId xmlns:a16="http://schemas.microsoft.com/office/drawing/2014/main" id="{8D9D1F03-F98C-4B18-A081-82467AC8B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1875" y="2047875"/>
            <a:ext cx="64849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Palatino Linotype" panose="02040502050505030304" pitchFamily="18" charset="0"/>
              </a:rPr>
              <a:t>  (Projection)	                         </a:t>
            </a:r>
            <a:r>
              <a:rPr kumimoji="0"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0"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i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ID, salary </a:t>
            </a: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i="1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instructor</a:t>
            </a: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aseline="300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kumimoji="0" lang="en-US" altLang="en-US" sz="1200" baseline="30000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71697" name="TextBox 22">
            <a:extLst>
              <a:ext uri="{FF2B5EF4-FFF2-40B4-BE49-F238E27FC236}">
                <a16:creationId xmlns:a16="http://schemas.microsoft.com/office/drawing/2014/main" id="{BAF5385E-52EF-4E76-8213-9E94635EB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0200" y="2322513"/>
            <a:ext cx="54768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Output specified attributes from all rows of the input relation.  Remove duplicate tuples from the output.</a:t>
            </a:r>
          </a:p>
        </p:txBody>
      </p:sp>
      <p:cxnSp>
        <p:nvCxnSpPr>
          <p:cNvPr id="71698" name="Straight Connector 25">
            <a:extLst>
              <a:ext uri="{FF2B5EF4-FFF2-40B4-BE49-F238E27FC236}">
                <a16:creationId xmlns:a16="http://schemas.microsoft.com/office/drawing/2014/main" id="{9EF17376-EB8D-41E9-A920-AAB3987FEB4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68613" y="3205163"/>
            <a:ext cx="5478462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699" name="Straight Connector 26">
            <a:extLst>
              <a:ext uri="{FF2B5EF4-FFF2-40B4-BE49-F238E27FC236}">
                <a16:creationId xmlns:a16="http://schemas.microsoft.com/office/drawing/2014/main" id="{2779CBEE-E52E-42E8-B3CE-A93CACC810E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00138" y="3673475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00" name="TextBox 31">
            <a:extLst>
              <a:ext uri="{FF2B5EF4-FFF2-40B4-BE49-F238E27FC236}">
                <a16:creationId xmlns:a16="http://schemas.microsoft.com/office/drawing/2014/main" id="{F41618E5-DCF0-4B7B-AFC3-7655E6858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2735263"/>
            <a:ext cx="92233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</a:rPr>
              <a:t>x</a:t>
            </a:r>
            <a:endParaRPr kumimoji="0" lang="en-US" altLang="en-US" sz="1200"/>
          </a:p>
        </p:txBody>
      </p:sp>
      <p:sp>
        <p:nvSpPr>
          <p:cNvPr id="71701" name="TextBox 32">
            <a:extLst>
              <a:ext uri="{FF2B5EF4-FFF2-40B4-BE49-F238E27FC236}">
                <a16:creationId xmlns:a16="http://schemas.microsoft.com/office/drawing/2014/main" id="{959890CF-CA9C-46CE-BDA1-14A6B1D8C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638" y="2908300"/>
            <a:ext cx="6486525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Palatino Linotype" panose="02040502050505030304" pitchFamily="18" charset="0"/>
              </a:rPr>
              <a:t> (Cartesian Product)	 </a:t>
            </a:r>
            <a:r>
              <a:rPr kumimoji="0" lang="en-US" altLang="en-US" sz="1200" i="1" dirty="0">
                <a:latin typeface="Palatino Linotype" panose="02040502050505030304" pitchFamily="18" charset="0"/>
              </a:rPr>
              <a:t>instructor</a:t>
            </a:r>
            <a:r>
              <a:rPr kumimoji="0" lang="en-US" altLang="en-US" sz="1200" dirty="0">
                <a:latin typeface="Palatino Linotype" panose="02040502050505030304" pitchFamily="18" charset="0"/>
              </a:rPr>
              <a:t> </a:t>
            </a:r>
            <a:r>
              <a:rPr kumimoji="0" lang="en-US" altLang="en-US" sz="1200" dirty="0">
                <a:latin typeface="Lucida Sans Unicode" panose="020B0602030504020204" pitchFamily="34" charset="0"/>
              </a:rPr>
              <a:t>x</a:t>
            </a:r>
            <a:r>
              <a:rPr kumimoji="0" lang="en-US" altLang="en-US" sz="1200" i="1" dirty="0">
                <a:latin typeface="Palatino Linotype" panose="02040502050505030304" pitchFamily="18" charset="0"/>
              </a:rPr>
              <a:t>  department</a:t>
            </a:r>
          </a:p>
        </p:txBody>
      </p:sp>
      <p:sp>
        <p:nvSpPr>
          <p:cNvPr id="71702" name="TextBox 34">
            <a:extLst>
              <a:ext uri="{FF2B5EF4-FFF2-40B4-BE49-F238E27FC236}">
                <a16:creationId xmlns:a16="http://schemas.microsoft.com/office/drawing/2014/main" id="{52B5DE88-C914-4267-A0A4-561A330A1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4963" y="3209925"/>
            <a:ext cx="5575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Palatino Linotype" panose="02040502050505030304" pitchFamily="18" charset="0"/>
              </a:rPr>
              <a:t>Output pairs of rows from the two input relations that have the same value on all attributes that have the same name.</a:t>
            </a:r>
          </a:p>
        </p:txBody>
      </p:sp>
      <p:cxnSp>
        <p:nvCxnSpPr>
          <p:cNvPr id="71703" name="Straight Connector 35">
            <a:extLst>
              <a:ext uri="{FF2B5EF4-FFF2-40B4-BE49-F238E27FC236}">
                <a16:creationId xmlns:a16="http://schemas.microsoft.com/office/drawing/2014/main" id="{774E02E7-D4E0-449C-8B70-6CBAC1778AF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093788" y="4400550"/>
            <a:ext cx="7259637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04" name="Straight Connector 36">
            <a:extLst>
              <a:ext uri="{FF2B5EF4-FFF2-40B4-BE49-F238E27FC236}">
                <a16:creationId xmlns:a16="http://schemas.microsoft.com/office/drawing/2014/main" id="{DE078793-8532-4139-BB60-1C6D3E1B100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106488" y="5108575"/>
            <a:ext cx="7245350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05" name="TextBox 37">
            <a:extLst>
              <a:ext uri="{FF2B5EF4-FFF2-40B4-BE49-F238E27FC236}">
                <a16:creationId xmlns:a16="http://schemas.microsoft.com/office/drawing/2014/main" id="{59ADBC25-27D1-4698-BAB1-1BC0FDBA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688" y="3622675"/>
            <a:ext cx="9223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</a:rPr>
              <a:t>∪</a:t>
            </a:r>
            <a:endParaRPr kumimoji="0" lang="en-US" altLang="en-US" sz="1200"/>
          </a:p>
        </p:txBody>
      </p:sp>
      <p:sp>
        <p:nvSpPr>
          <p:cNvPr id="71706" name="TextBox 38">
            <a:extLst>
              <a:ext uri="{FF2B5EF4-FFF2-40B4-BE49-F238E27FC236}">
                <a16:creationId xmlns:a16="http://schemas.microsoft.com/office/drawing/2014/main" id="{2AC52F71-89F5-4B68-8A5A-B745E2F6C0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5050" y="3795713"/>
            <a:ext cx="6486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 dirty="0">
                <a:latin typeface="Palatino Linotype" panose="02040502050505030304" pitchFamily="18" charset="0"/>
              </a:rPr>
              <a:t> (Union)		 </a:t>
            </a:r>
            <a:r>
              <a:rPr kumimoji="0"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0"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i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name </a:t>
            </a: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i="1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instructor)  </a:t>
            </a: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∪  </a:t>
            </a:r>
            <a:r>
              <a:rPr kumimoji="0" lang="el-GR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0" lang="en-US" altLang="en-US" sz="1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i="1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name </a:t>
            </a:r>
            <a:r>
              <a:rPr kumimoji="0" lang="en-US" altLang="en-US" sz="1200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i="1" baseline="30000" dirty="0">
                <a:latin typeface="Palatino Linotype" panose="02040502050505030304" pitchFamily="18" charset="0"/>
                <a:cs typeface="Times New Roman" panose="02020603050405020304" pitchFamily="18" charset="0"/>
              </a:rPr>
              <a:t>student)</a:t>
            </a:r>
            <a:endParaRPr kumimoji="0" lang="en-US" altLang="en-US" sz="1200" i="1" dirty="0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07" name="TextBox 39">
            <a:extLst>
              <a:ext uri="{FF2B5EF4-FFF2-40B4-BE49-F238E27FC236}">
                <a16:creationId xmlns:a16="http://schemas.microsoft.com/office/drawing/2014/main" id="{AE521D80-7286-49EE-9004-7D4C63EADF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7025" y="4089400"/>
            <a:ext cx="5575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Output the union of tuples from the </a:t>
            </a:r>
            <a:r>
              <a:rPr kumimoji="0" lang="en-US" altLang="en-US" sz="1200" i="1">
                <a:latin typeface="Palatino Linotype" panose="02040502050505030304" pitchFamily="18" charset="0"/>
              </a:rPr>
              <a:t>two </a:t>
            </a:r>
            <a:r>
              <a:rPr kumimoji="0" lang="en-US" altLang="en-US" sz="1200">
                <a:latin typeface="Palatino Linotype" panose="02040502050505030304" pitchFamily="18" charset="0"/>
              </a:rPr>
              <a:t>input relations.</a:t>
            </a:r>
          </a:p>
        </p:txBody>
      </p:sp>
      <p:cxnSp>
        <p:nvCxnSpPr>
          <p:cNvPr id="71708" name="Straight Connector 42">
            <a:extLst>
              <a:ext uri="{FF2B5EF4-FFF2-40B4-BE49-F238E27FC236}">
                <a16:creationId xmlns:a16="http://schemas.microsoft.com/office/drawing/2014/main" id="{491E0C75-7D73-452B-9161-4A63F5DF7B1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74963" y="4056063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1709" name="TextBox 24">
            <a:extLst>
              <a:ext uri="{FF2B5EF4-FFF2-40B4-BE49-F238E27FC236}">
                <a16:creationId xmlns:a16="http://schemas.microsoft.com/office/drawing/2014/main" id="{9632C90C-5D05-4FC8-B0E5-4A110F99B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8225" y="5259388"/>
            <a:ext cx="64865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 (Natural Join)	 </a:t>
            </a:r>
            <a:r>
              <a:rPr kumimoji="0" lang="en-US" altLang="en-US" sz="1200" i="1">
                <a:latin typeface="Palatino Linotype" panose="02040502050505030304" pitchFamily="18" charset="0"/>
              </a:rPr>
              <a:t>instructor</a:t>
            </a:r>
            <a:r>
              <a:rPr kumimoji="0" lang="en-US" altLang="en-US" sz="1200">
                <a:latin typeface="Palatino Linotype" panose="02040502050505030304" pitchFamily="18" charset="0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</a:rPr>
              <a:t>⋈</a:t>
            </a:r>
            <a:r>
              <a:rPr kumimoji="0" lang="en-US" altLang="en-US" sz="1200" i="1">
                <a:latin typeface="Palatino Linotype" panose="02040502050505030304" pitchFamily="18" charset="0"/>
              </a:rPr>
              <a:t>  department</a:t>
            </a:r>
          </a:p>
        </p:txBody>
      </p:sp>
      <p:sp>
        <p:nvSpPr>
          <p:cNvPr id="71710" name="TextBox 27">
            <a:extLst>
              <a:ext uri="{FF2B5EF4-FFF2-40B4-BE49-F238E27FC236}">
                <a16:creationId xmlns:a16="http://schemas.microsoft.com/office/drawing/2014/main" id="{63AFD877-14BF-4838-BC0E-196B614E1A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8613" y="5559425"/>
            <a:ext cx="5575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Output pairs of rows from the two input relations that have the same value on all attributes that have the same name.</a:t>
            </a:r>
          </a:p>
        </p:txBody>
      </p:sp>
      <p:sp>
        <p:nvSpPr>
          <p:cNvPr id="71711" name="TextBox 30">
            <a:extLst>
              <a:ext uri="{FF2B5EF4-FFF2-40B4-BE49-F238E27FC236}">
                <a16:creationId xmlns:a16="http://schemas.microsoft.com/office/drawing/2014/main" id="{AFEE67F4-453C-4CD0-9C5E-122B1FCDF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38" y="5078413"/>
            <a:ext cx="9239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</a:rPr>
              <a:t>⋈</a:t>
            </a:r>
            <a:endParaRPr kumimoji="0" lang="en-US" altLang="en-US" sz="1200"/>
          </a:p>
        </p:txBody>
      </p:sp>
      <p:sp>
        <p:nvSpPr>
          <p:cNvPr id="71712" name="TextBox 37">
            <a:extLst>
              <a:ext uri="{FF2B5EF4-FFF2-40B4-BE49-F238E27FC236}">
                <a16:creationId xmlns:a16="http://schemas.microsoft.com/office/drawing/2014/main" id="{71E02BFF-AE75-41F2-A8C6-D4A357617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6163" y="4348163"/>
            <a:ext cx="9223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 </a:t>
            </a:r>
            <a:r>
              <a:rPr kumimoji="0" lang="en-US" altLang="en-US" sz="1200">
                <a:latin typeface="Lucida Sans Unicode" panose="020B0602030504020204" pitchFamily="34" charset="0"/>
              </a:rPr>
              <a:t>-</a:t>
            </a:r>
            <a:endParaRPr kumimoji="0" lang="en-US" altLang="en-US" sz="1200"/>
          </a:p>
        </p:txBody>
      </p:sp>
      <p:sp>
        <p:nvSpPr>
          <p:cNvPr id="71713" name="TextBox 38">
            <a:extLst>
              <a:ext uri="{FF2B5EF4-FFF2-40B4-BE49-F238E27FC236}">
                <a16:creationId xmlns:a16="http://schemas.microsoft.com/office/drawing/2014/main" id="{7EDA6349-65C8-46AA-8439-176B2E3ED4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525" y="4521200"/>
            <a:ext cx="648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 (Set Difference)	 </a:t>
            </a:r>
            <a:r>
              <a:rPr kumimoji="0" lang="el-GR" altLang="en-US" sz="1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0" lang="en-US" alt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i="1">
                <a:latin typeface="Palatino Linotype" panose="02040502050505030304" pitchFamily="18" charset="0"/>
                <a:cs typeface="Times New Roman" panose="02020603050405020304" pitchFamily="18" charset="0"/>
              </a:rPr>
              <a:t>name </a:t>
            </a:r>
            <a:r>
              <a:rPr kumimoji="0" lang="en-US" altLang="en-US" sz="1200" baseline="30000">
                <a:latin typeface="Palatino Linotype" panose="0204050205050503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i="1" baseline="30000">
                <a:latin typeface="Palatino Linotype" panose="02040502050505030304" pitchFamily="18" charset="0"/>
                <a:cs typeface="Times New Roman" panose="02020603050405020304" pitchFamily="18" charset="0"/>
              </a:rPr>
              <a:t>instructor) </a:t>
            </a:r>
            <a:r>
              <a:rPr kumimoji="0" lang="en-US" altLang="en-US" sz="1200">
                <a:latin typeface="Lucida Sans Unicode" panose="020B0602030504020204" pitchFamily="34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baseline="30000">
                <a:latin typeface="Palatino Linotype" panose="02040502050505030304" pitchFamily="18" charset="0"/>
                <a:cs typeface="Times New Roman" panose="02020603050405020304" pitchFamily="18" charset="0"/>
              </a:rPr>
              <a:t>--  </a:t>
            </a:r>
            <a:r>
              <a:rPr kumimoji="0" lang="el-GR" altLang="en-US" sz="1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0" lang="en-US" altLang="en-US" sz="12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200" i="1">
                <a:latin typeface="Palatino Linotype" panose="02040502050505030304" pitchFamily="18" charset="0"/>
                <a:cs typeface="Times New Roman" panose="02020603050405020304" pitchFamily="18" charset="0"/>
              </a:rPr>
              <a:t>name </a:t>
            </a:r>
            <a:r>
              <a:rPr kumimoji="0" lang="en-US" altLang="en-US" sz="1200" baseline="30000">
                <a:latin typeface="Palatino Linotype" panose="0204050205050503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en-US" sz="1200" i="1" baseline="30000">
                <a:latin typeface="Palatino Linotype" panose="02040502050505030304" pitchFamily="18" charset="0"/>
                <a:cs typeface="Times New Roman" panose="02020603050405020304" pitchFamily="18" charset="0"/>
              </a:rPr>
              <a:t>student)</a:t>
            </a:r>
            <a:endParaRPr kumimoji="0" lang="en-US" altLang="en-US" sz="1200" i="1">
              <a:latin typeface="Palatino Linotype" panose="020405020505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14" name="TextBox 39">
            <a:extLst>
              <a:ext uri="{FF2B5EF4-FFF2-40B4-BE49-F238E27FC236}">
                <a16:creationId xmlns:a16="http://schemas.microsoft.com/office/drawing/2014/main" id="{5EB7F8B2-AF12-4849-A940-49C34D8EB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75" y="4805363"/>
            <a:ext cx="5575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35000"/>
              </a:spcBef>
              <a:buClr>
                <a:srgbClr val="002060"/>
              </a:buClr>
              <a:buSzPct val="100000"/>
              <a:buFont typeface="Monotype Sorts" charset="2"/>
              <a:buChar char="n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95000"/>
              <a:buFont typeface="Monotype Sorts" charset="2"/>
              <a:buChar char="l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85000"/>
              <a:buFont typeface="Webdings" panose="05030102010509060703" pitchFamily="18" charset="2"/>
              <a:buChar char="4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Helvetica" panose="020B0604020202020204" pitchFamily="34" charset="0"/>
                <a:ea typeface="ＭＳ Ｐゴシック" panose="020B0600070205080204" pitchFamily="34" charset="-128"/>
                <a:cs typeface="B Nazanin" panose="00000400000000000000" pitchFamily="2" charset="-7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sz="1200">
                <a:latin typeface="Palatino Linotype" panose="02040502050505030304" pitchFamily="18" charset="0"/>
              </a:rPr>
              <a:t>Output the set difference of tuples from the two input relations. </a:t>
            </a:r>
          </a:p>
        </p:txBody>
      </p:sp>
      <p:cxnSp>
        <p:nvCxnSpPr>
          <p:cNvPr id="71715" name="Straight Connector 42">
            <a:extLst>
              <a:ext uri="{FF2B5EF4-FFF2-40B4-BE49-F238E27FC236}">
                <a16:creationId xmlns:a16="http://schemas.microsoft.com/office/drawing/2014/main" id="{C200A20E-5D83-4934-9081-D75E3309EBB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73375" y="4764088"/>
            <a:ext cx="5476875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1716" name="Straight Connector 35">
            <a:extLst>
              <a:ext uri="{FF2B5EF4-FFF2-40B4-BE49-F238E27FC236}">
                <a16:creationId xmlns:a16="http://schemas.microsoft.com/office/drawing/2014/main" id="{FF232EFA-66F9-40BE-98E0-29D8A584480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854325" y="5527675"/>
            <a:ext cx="5497513" cy="0"/>
          </a:xfrm>
          <a:prstGeom prst="line">
            <a:avLst/>
          </a:prstGeom>
          <a:noFill/>
          <a:ln w="190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65BBD43-9DB4-4972-9CF5-E39C49E0F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(Divide operator) </a:t>
            </a:r>
            <a:r>
              <a:rPr lang="fa-IR" dirty="0"/>
              <a:t>عملگر تقسیم</a:t>
            </a:r>
            <a:endParaRPr lang="en-US" altLang="en-US" dirty="0"/>
          </a:p>
        </p:txBody>
      </p:sp>
      <p:pic>
        <p:nvPicPr>
          <p:cNvPr id="28676" name="Picture 4">
            <a:extLst>
              <a:ext uri="{FF2B5EF4-FFF2-40B4-BE49-F238E27FC236}">
                <a16:creationId xmlns:a16="http://schemas.microsoft.com/office/drawing/2014/main" id="{1EE7CA37-089C-4637-8917-5C0050159796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91" r="59098" b="51370"/>
          <a:stretch/>
        </p:blipFill>
        <p:spPr>
          <a:xfrm>
            <a:off x="1376362" y="2571184"/>
            <a:ext cx="2806339" cy="1041149"/>
          </a:xfrm>
          <a:noFill/>
          <a:ln/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5E2236-F3DF-413C-BFB7-62C54F8D6EA8}"/>
              </a:ext>
            </a:extLst>
          </p:cNvPr>
          <p:cNvSpPr txBox="1"/>
          <p:nvPr/>
        </p:nvSpPr>
        <p:spPr>
          <a:xfrm>
            <a:off x="432146" y="1298356"/>
            <a:ext cx="827970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fa-IR" sz="2800" dirty="0">
                <a:cs typeface="B Nazanin" panose="00000400000000000000" pitchFamily="50" charset="-78"/>
              </a:rPr>
              <a:t>فرض کنید یک جدول اضافی در پایگاه داده‌ی بانک داریم.</a:t>
            </a:r>
            <a:endParaRPr lang="en-US" sz="2800" dirty="0">
              <a:cs typeface="B Nazanin" panose="00000400000000000000" pitchFamily="50" charset="-78"/>
            </a:endParaRPr>
          </a:p>
          <a:p>
            <a:endParaRPr lang="en-US" sz="2800" dirty="0">
              <a:cs typeface="B Nazanin" panose="00000400000000000000" pitchFamily="50" charset="-78"/>
            </a:endParaRPr>
          </a:p>
          <a:p>
            <a:endParaRPr lang="en-US" sz="2800" dirty="0">
              <a:cs typeface="B Nazanin" panose="00000400000000000000" pitchFamily="50" charset="-78"/>
            </a:endParaRPr>
          </a:p>
          <a:p>
            <a:endParaRPr lang="en-US" sz="2800" dirty="0">
              <a:cs typeface="B Nazanin" panose="00000400000000000000" pitchFamily="50" charset="-78"/>
            </a:endParaRPr>
          </a:p>
          <a:p>
            <a:endParaRPr lang="en-US" sz="2800" dirty="0">
              <a:cs typeface="B Nazanin" panose="00000400000000000000" pitchFamily="50" charset="-78"/>
            </a:endParaRPr>
          </a:p>
          <a:p>
            <a:endParaRPr lang="en-US" sz="2800" dirty="0">
              <a:cs typeface="B Nazanin" panose="00000400000000000000" pitchFamily="50" charset="-78"/>
            </a:endParaRPr>
          </a:p>
          <a:p>
            <a:pPr algn="r" rtl="1"/>
            <a:r>
              <a:rPr lang="fa-IR" sz="2800" dirty="0">
                <a:cs typeface="B Nazanin" panose="00000400000000000000" pitchFamily="50" charset="-78"/>
              </a:rPr>
              <a:t>حال فرض کنید می‌خواهیم بدانیم کدام مشتریان دارای تمام انواع حساب‌ها هستند.</a:t>
            </a:r>
            <a:endParaRPr lang="en-US" sz="2800" dirty="0">
              <a:cs typeface="B Nazanin" panose="00000400000000000000" pitchFamily="50" charset="-78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655EE-B8DD-4A66-9D2E-867AABF8A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409DABC-51C0-CABF-0D01-80DE3A0A2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عملیات تقسیم</a:t>
            </a:r>
            <a:endParaRPr lang="en-US" altLang="en-US" dirty="0"/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18FBD0E4-78DA-33E7-4615-C1464CEDB9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4935326"/>
              </p:ext>
            </p:extLst>
          </p:nvPr>
        </p:nvGraphicFramePr>
        <p:xfrm>
          <a:off x="628651" y="2214026"/>
          <a:ext cx="5257801" cy="2191824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634491">
                  <a:extLst>
                    <a:ext uri="{9D8B030D-6E8A-4147-A177-3AD203B41FA5}">
                      <a16:colId xmlns:a16="http://schemas.microsoft.com/office/drawing/2014/main" val="1766190549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3720006991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35490271"/>
                    </a:ext>
                  </a:extLst>
                </a:gridCol>
                <a:gridCol w="1207770">
                  <a:extLst>
                    <a:ext uri="{9D8B030D-6E8A-4147-A177-3AD203B41FA5}">
                      <a16:colId xmlns:a16="http://schemas.microsoft.com/office/drawing/2014/main" val="2560825170"/>
                    </a:ext>
                  </a:extLst>
                </a:gridCol>
              </a:tblGrid>
              <a:tr h="36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Number</a:t>
                      </a:r>
                      <a:endParaRPr lang="en-US" sz="1800" dirty="0"/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Owner</a:t>
                      </a:r>
                      <a:endParaRPr lang="en-US" sz="1800"/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Balance</a:t>
                      </a:r>
                      <a:endParaRPr lang="en-US" sz="1800"/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Type</a:t>
                      </a:r>
                      <a:endParaRPr lang="en-US" sz="1800" dirty="0"/>
                    </a:p>
                  </a:txBody>
                  <a:tcPr marL="90984" marR="90984" marT="45492" marB="45492" anchor="ctr"/>
                </a:tc>
                <a:extLst>
                  <a:ext uri="{0D108BD9-81ED-4DB2-BD59-A6C34878D82A}">
                    <a16:rowId xmlns:a16="http://schemas.microsoft.com/office/drawing/2014/main" val="4100820734"/>
                  </a:ext>
                </a:extLst>
              </a:tr>
              <a:tr h="36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101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J. Smith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1000.00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checking</a:t>
                      </a:r>
                    </a:p>
                  </a:txBody>
                  <a:tcPr marL="90984" marR="90984" marT="45492" marB="45492" anchor="ctr"/>
                </a:tc>
                <a:extLst>
                  <a:ext uri="{0D108BD9-81ED-4DB2-BD59-A6C34878D82A}">
                    <a16:rowId xmlns:a16="http://schemas.microsoft.com/office/drawing/2014/main" val="952642748"/>
                  </a:ext>
                </a:extLst>
              </a:tr>
              <a:tr h="36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102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W. Wei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2000.00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checking</a:t>
                      </a:r>
                    </a:p>
                  </a:txBody>
                  <a:tcPr marL="90984" marR="90984" marT="45492" marB="45492" anchor="ctr"/>
                </a:tc>
                <a:extLst>
                  <a:ext uri="{0D108BD9-81ED-4DB2-BD59-A6C34878D82A}">
                    <a16:rowId xmlns:a16="http://schemas.microsoft.com/office/drawing/2014/main" val="367992109"/>
                  </a:ext>
                </a:extLst>
              </a:tr>
              <a:tr h="36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103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J. Smith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500.00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savings</a:t>
                      </a:r>
                    </a:p>
                  </a:txBody>
                  <a:tcPr marL="90984" marR="90984" marT="45492" marB="45492" anchor="ctr"/>
                </a:tc>
                <a:extLst>
                  <a:ext uri="{0D108BD9-81ED-4DB2-BD59-A6C34878D82A}">
                    <a16:rowId xmlns:a16="http://schemas.microsoft.com/office/drawing/2014/main" val="1161415328"/>
                  </a:ext>
                </a:extLst>
              </a:tr>
              <a:tr h="36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104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M. Jones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1000.00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checking</a:t>
                      </a:r>
                    </a:p>
                  </a:txBody>
                  <a:tcPr marL="90984" marR="90984" marT="45492" marB="45492" anchor="ctr"/>
                </a:tc>
                <a:extLst>
                  <a:ext uri="{0D108BD9-81ED-4DB2-BD59-A6C34878D82A}">
                    <a16:rowId xmlns:a16="http://schemas.microsoft.com/office/drawing/2014/main" val="1246798015"/>
                  </a:ext>
                </a:extLst>
              </a:tr>
              <a:tr h="363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105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H. Mart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10,000.00</a:t>
                      </a:r>
                    </a:p>
                  </a:txBody>
                  <a:tcPr marL="90984" marR="90984" marT="45492" marB="4549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checking</a:t>
                      </a:r>
                    </a:p>
                  </a:txBody>
                  <a:tcPr marL="90984" marR="90984" marT="45492" marB="45492" anchor="ctr"/>
                </a:tc>
                <a:extLst>
                  <a:ext uri="{0D108BD9-81ED-4DB2-BD59-A6C34878D82A}">
                    <a16:rowId xmlns:a16="http://schemas.microsoft.com/office/drawing/2014/main" val="403752674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BC0629-BBD3-EE92-F5F0-B7D806B5FFCA}"/>
                  </a:ext>
                </a:extLst>
              </p:cNvPr>
              <p:cNvSpPr txBox="1"/>
              <p:nvPr/>
            </p:nvSpPr>
            <p:spPr>
              <a:xfrm>
                <a:off x="460300" y="1159632"/>
                <a:ext cx="7121599" cy="75418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000" b="1" dirty="0"/>
                  <a:t>÷ or / divide</a:t>
                </a:r>
                <a:endParaRPr lang="en-US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fa-I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a-I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a-IR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fa-IR" sz="2000" i="1">
                                  <a:latin typeface="Cambria Math" panose="02040503050406030204" pitchFamily="18" charset="0"/>
                                </a:rPr>
                                <m:t>𝑂𝑤𝑛𝑒𝑟</m:t>
                              </m:r>
                              <m:r>
                                <a:rPr lang="fa-IR" sz="2000" i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a-IR" sz="2000" i="1">
                                  <a:latin typeface="Cambria Math" panose="02040503050406030204" pitchFamily="18" charset="0"/>
                                </a:rPr>
                                <m:t>𝑇𝑦𝑝𝑒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fa-IR" sz="20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sz="2000" b="0" i="1">
                              <a:latin typeface="Cambria Math" panose="02040503050406030204" pitchFamily="18" charset="0"/>
                            </a:rPr>
                            <m:t>Account</m:t>
                          </m:r>
                        </m:e>
                      </m:d>
                      <m:r>
                        <a:rPr lang="fa-IR" sz="2000" b="0" i="0">
                          <a:latin typeface="Cambria Math" panose="02040503050406030204" pitchFamily="18" charset="0"/>
                        </a:rPr>
                        <m:t>÷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Account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sz="2000" b="0" i="1">
                          <a:latin typeface="Cambria Math" panose="02040503050406030204" pitchFamily="18" charset="0"/>
                        </a:rPr>
                        <m:t>types</m:t>
                      </m:r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BBC0629-BBD3-EE92-F5F0-B7D806B5FF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00" y="1159632"/>
                <a:ext cx="7121599" cy="754181"/>
              </a:xfrm>
              <a:prstGeom prst="rect">
                <a:avLst/>
              </a:prstGeom>
              <a:blipFill>
                <a:blip r:embed="rId2"/>
                <a:stretch>
                  <a:fillRect l="-942" t="-5645" b="-4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5BB9FC2-E9A0-3DD1-1D65-5207C20116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586259"/>
              </p:ext>
            </p:extLst>
          </p:nvPr>
        </p:nvGraphicFramePr>
        <p:xfrm>
          <a:off x="6605215" y="2505026"/>
          <a:ext cx="1910134" cy="1097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910134">
                  <a:extLst>
                    <a:ext uri="{9D8B030D-6E8A-4147-A177-3AD203B41FA5}">
                      <a16:colId xmlns:a16="http://schemas.microsoft.com/office/drawing/2014/main" val="14429112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Type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4418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checking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1507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savings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1229736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A4F5E797-32C1-9AB9-F48E-4A16FCF53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4303" y="224914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Account-types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27C8F9-18B4-670A-3E15-DB20358A2263}"/>
              </a:ext>
            </a:extLst>
          </p:cNvPr>
          <p:cNvSpPr txBox="1"/>
          <p:nvPr/>
        </p:nvSpPr>
        <p:spPr>
          <a:xfrm>
            <a:off x="0" y="1913813"/>
            <a:ext cx="47291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Account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2285A7-CF76-EB25-4C6E-26C00A0FFD7A}"/>
              </a:ext>
            </a:extLst>
          </p:cNvPr>
          <p:cNvSpPr txBox="1"/>
          <p:nvPr/>
        </p:nvSpPr>
        <p:spPr>
          <a:xfrm>
            <a:off x="222250" y="4405850"/>
            <a:ext cx="869949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fa-IR" sz="2400" dirty="0">
                <a:cs typeface="B Nazanin" panose="00000400000000000000" pitchFamily="2" charset="-78"/>
              </a:rPr>
              <a:t>این عملگر به ما </a:t>
            </a:r>
            <a:r>
              <a:rPr lang="fa-IR" sz="2400" b="1" dirty="0">
                <a:cs typeface="B Nazanin" panose="00000400000000000000" pitchFamily="2" charset="-78"/>
              </a:rPr>
              <a:t>کسانی را برمی‌گرداند که تمام نوع‌های موجود در جدول </a:t>
            </a:r>
            <a:r>
              <a:rPr lang="en-US" sz="2400" b="1" dirty="0">
                <a:cs typeface="B Nazanin" panose="00000400000000000000" pitchFamily="2" charset="-78"/>
              </a:rPr>
              <a:t>Account-types </a:t>
            </a:r>
            <a:r>
              <a:rPr lang="fa-IR" sz="2400" b="1" dirty="0">
                <a:cs typeface="B Nazanin" panose="00000400000000000000" pitchFamily="2" charset="-78"/>
              </a:rPr>
              <a:t>را دارند.</a:t>
            </a:r>
            <a:endParaRPr lang="fa-IR" sz="2400" dirty="0">
              <a:cs typeface="B Nazanin" panose="00000400000000000000" pitchFamily="2" charset="-7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DB651C-363A-0427-281E-8032266B3F19}"/>
              </a:ext>
            </a:extLst>
          </p:cNvPr>
          <p:cNvSpPr txBox="1"/>
          <p:nvPr/>
        </p:nvSpPr>
        <p:spPr>
          <a:xfrm>
            <a:off x="895350" y="5274235"/>
            <a:ext cx="78232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fa-IR" sz="2000" dirty="0">
                <a:cs typeface="B Nazanin" panose="00000400000000000000" pitchFamily="2" charset="-78"/>
              </a:rPr>
              <a:t>در این مثال:</a:t>
            </a: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2000" dirty="0">
                <a:cs typeface="B Nazanin" panose="00000400000000000000" pitchFamily="2" charset="-78"/>
              </a:rPr>
              <a:t>جدول </a:t>
            </a:r>
            <a:r>
              <a:rPr lang="en-US" sz="2000" dirty="0">
                <a:cs typeface="B Nazanin" panose="00000400000000000000" pitchFamily="2" charset="-78"/>
              </a:rPr>
              <a:t>Account-types </a:t>
            </a:r>
            <a:r>
              <a:rPr lang="fa-IR" sz="2000" dirty="0">
                <a:cs typeface="B Nazanin" panose="00000400000000000000" pitchFamily="2" charset="-78"/>
              </a:rPr>
              <a:t>شامل دو نوع حساب است: </a:t>
            </a:r>
            <a:r>
              <a:rPr lang="en-US" sz="2000" b="1" dirty="0">
                <a:cs typeface="B Nazanin" panose="00000400000000000000" pitchFamily="2" charset="-78"/>
              </a:rPr>
              <a:t>checking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و </a:t>
            </a:r>
            <a:r>
              <a:rPr lang="en-US" sz="2000" b="1" dirty="0">
                <a:cs typeface="B Nazanin" panose="00000400000000000000" pitchFamily="2" charset="-78"/>
              </a:rPr>
              <a:t>savings</a:t>
            </a:r>
            <a:endParaRPr lang="en-US" sz="2000" dirty="0">
              <a:cs typeface="B Nazanin" panose="00000400000000000000" pitchFamily="2" charset="-78"/>
            </a:endParaRPr>
          </a:p>
          <a:p>
            <a:pPr algn="r" rtl="1">
              <a:buFont typeface="Arial" panose="020B0604020202020204" pitchFamily="34" charset="0"/>
              <a:buChar char="•"/>
            </a:pPr>
            <a:r>
              <a:rPr lang="fa-IR" sz="2000" dirty="0">
                <a:cs typeface="B Nazanin" panose="00000400000000000000" pitchFamily="2" charset="-78"/>
              </a:rPr>
              <a:t>بنابراین، ما می‌خواهیم صاحبان حسابی را بیابیم که </a:t>
            </a:r>
            <a:r>
              <a:rPr lang="fa-IR" sz="2000" b="1" dirty="0">
                <a:cs typeface="B Nazanin" panose="00000400000000000000" pitchFamily="2" charset="-78"/>
              </a:rPr>
              <a:t>هم حساب </a:t>
            </a:r>
            <a:r>
              <a:rPr lang="en-US" sz="2000" b="1" dirty="0">
                <a:cs typeface="B Nazanin" panose="00000400000000000000" pitchFamily="2" charset="-78"/>
              </a:rPr>
              <a:t>checking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و </a:t>
            </a:r>
            <a:r>
              <a:rPr lang="fa-IR" sz="2000" b="1" dirty="0">
                <a:cs typeface="B Nazanin" panose="00000400000000000000" pitchFamily="2" charset="-78"/>
              </a:rPr>
              <a:t>هم حساب </a:t>
            </a:r>
            <a:r>
              <a:rPr lang="en-US" sz="2000" b="1" dirty="0">
                <a:cs typeface="B Nazanin" panose="00000400000000000000" pitchFamily="2" charset="-78"/>
              </a:rPr>
              <a:t>savings</a:t>
            </a:r>
            <a:r>
              <a:rPr lang="en-US" sz="2000" dirty="0">
                <a:cs typeface="B Nazanin" panose="00000400000000000000" pitchFamily="2" charset="-78"/>
              </a:rPr>
              <a:t> </a:t>
            </a:r>
            <a:r>
              <a:rPr lang="fa-IR" sz="2000" dirty="0">
                <a:cs typeface="B Nazanin" panose="00000400000000000000" pitchFamily="2" charset="-78"/>
              </a:rPr>
              <a:t>داشته باشند.</a:t>
            </a:r>
          </a:p>
        </p:txBody>
      </p:sp>
    </p:spTree>
    <p:extLst>
      <p:ext uri="{BB962C8B-B14F-4D97-AF65-F5344CB8AC3E}">
        <p14:creationId xmlns:p14="http://schemas.microsoft.com/office/powerpoint/2010/main" val="6747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ABF987A-E768-4AE2-81C9-437DC0246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تعریف تقسیم</a:t>
            </a:r>
            <a:endParaRPr lang="en-US" alt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B5270E18-5D66-40AD-848A-9E4D524AD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711" y="1130957"/>
            <a:ext cx="8555839" cy="5288905"/>
          </a:xfrm>
        </p:spPr>
        <p:txBody>
          <a:bodyPr/>
          <a:lstStyle/>
          <a:p>
            <a:pPr algn="r" rtl="1">
              <a:lnSpc>
                <a:spcPct val="150000"/>
              </a:lnSpc>
            </a:pPr>
            <a:r>
              <a:rPr lang="fa-IR" sz="2400" dirty="0"/>
              <a:t>برای </a:t>
            </a:r>
            <a:r>
              <a:rPr lang="en-US" sz="2400" dirty="0"/>
              <a:t> R÷S</a:t>
            </a:r>
            <a:r>
              <a:rPr lang="fa-IR" sz="2400" dirty="0"/>
              <a:t> که در آن </a:t>
            </a:r>
            <a:r>
              <a:rPr lang="en-US" sz="2400" dirty="0"/>
              <a:t>R (r1, r2, </a:t>
            </a:r>
            <a:r>
              <a:rPr lang="en-US" sz="2400" dirty="0">
                <a:solidFill>
                  <a:srgbClr val="FF0000"/>
                </a:solidFill>
              </a:rPr>
              <a:t>r3, r4</a:t>
            </a:r>
            <a:r>
              <a:rPr lang="en-US" sz="2400" dirty="0"/>
              <a:t>) </a:t>
            </a:r>
            <a:r>
              <a:rPr lang="fa-IR" sz="2400" dirty="0"/>
              <a:t>و</a:t>
            </a:r>
            <a:r>
              <a:rPr lang="en-US" sz="2400" dirty="0"/>
              <a:t> S(</a:t>
            </a:r>
            <a:r>
              <a:rPr lang="en-US" sz="2400" dirty="0">
                <a:solidFill>
                  <a:srgbClr val="FF0000"/>
                </a:solidFill>
              </a:rPr>
              <a:t>s1, s2</a:t>
            </a:r>
            <a:r>
              <a:rPr lang="en-US" sz="2400" dirty="0"/>
              <a:t>)</a:t>
            </a:r>
            <a:r>
              <a:rPr lang="fa-IR" sz="2400" dirty="0"/>
              <a:t> داریم:</a:t>
            </a:r>
          </a:p>
          <a:p>
            <a:pPr algn="r" rtl="1">
              <a:lnSpc>
                <a:spcPct val="150000"/>
              </a:lnSpc>
            </a:pPr>
            <a:endParaRPr lang="fa-IR" sz="2400" dirty="0"/>
          </a:p>
          <a:p>
            <a:pPr algn="r" rtl="1">
              <a:lnSpc>
                <a:spcPct val="150000"/>
              </a:lnSpc>
            </a:pPr>
            <a:r>
              <a:rPr lang="fa-IR" sz="2400" dirty="0"/>
              <a:t>از آنجایی که </a:t>
            </a:r>
            <a:r>
              <a:rPr lang="en-US" sz="2400" dirty="0"/>
              <a:t>S</a:t>
            </a:r>
            <a:r>
              <a:rPr lang="fa-IR" sz="2400" dirty="0"/>
              <a:t> دارای دو ویژگی است، باید در </a:t>
            </a:r>
            <a:r>
              <a:rPr lang="en-US" sz="2400" dirty="0"/>
              <a:t>R</a:t>
            </a:r>
            <a:r>
              <a:rPr lang="fa-IR" sz="2400" dirty="0"/>
              <a:t> (مثلا </a:t>
            </a:r>
            <a:r>
              <a:rPr lang="en-US" sz="2400" dirty="0">
                <a:solidFill>
                  <a:srgbClr val="FF0000"/>
                </a:solidFill>
              </a:rPr>
              <a:t>r3</a:t>
            </a:r>
            <a:r>
              <a:rPr lang="fa-IR" sz="2400" dirty="0"/>
              <a:t> و </a:t>
            </a:r>
            <a:r>
              <a:rPr lang="en-US" sz="2400" dirty="0">
                <a:solidFill>
                  <a:srgbClr val="FF0000"/>
                </a:solidFill>
              </a:rPr>
              <a:t>r4</a:t>
            </a:r>
            <a:r>
              <a:rPr lang="fa-IR" sz="2400" dirty="0"/>
              <a:t>) وجود داشته باشند که دامنه آن‌ها با </a:t>
            </a:r>
            <a:r>
              <a:rPr lang="en-US" sz="2400" dirty="0">
                <a:solidFill>
                  <a:srgbClr val="FF0000"/>
                </a:solidFill>
              </a:rPr>
              <a:t>s1</a:t>
            </a:r>
            <a:r>
              <a:rPr lang="fa-IR" sz="2400" dirty="0"/>
              <a:t> و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s2</a:t>
            </a:r>
            <a:r>
              <a:rPr lang="fa-IR" sz="2400" dirty="0"/>
              <a:t> سازگار باشد. میتوان گفت که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r3</a:t>
            </a:r>
            <a:r>
              <a:rPr lang="en-US" sz="2400" dirty="0"/>
              <a:t>,</a:t>
            </a:r>
            <a:r>
              <a:rPr lang="en-US" sz="2400" dirty="0">
                <a:solidFill>
                  <a:srgbClr val="FF0000"/>
                </a:solidFill>
              </a:rPr>
              <a:t>r4</a:t>
            </a:r>
            <a:r>
              <a:rPr lang="en-US" sz="2400" dirty="0"/>
              <a:t>)</a:t>
            </a:r>
            <a:r>
              <a:rPr lang="fa-IR" sz="2400" dirty="0"/>
              <a:t> و </a:t>
            </a:r>
            <a:r>
              <a:rPr lang="en-US" sz="2400" dirty="0"/>
              <a:t>(</a:t>
            </a:r>
            <a:r>
              <a:rPr lang="en-US" sz="2400" dirty="0">
                <a:solidFill>
                  <a:srgbClr val="FF0000"/>
                </a:solidFill>
              </a:rPr>
              <a:t>s1</a:t>
            </a:r>
            <a:r>
              <a:rPr lang="en-US" sz="2400" dirty="0"/>
              <a:t>,</a:t>
            </a:r>
            <a:r>
              <a:rPr lang="en-US" sz="2400" dirty="0">
                <a:solidFill>
                  <a:srgbClr val="FF0000"/>
                </a:solidFill>
              </a:rPr>
              <a:t>s2</a:t>
            </a:r>
            <a:r>
              <a:rPr lang="en-US" sz="2400" dirty="0"/>
              <a:t>)</a:t>
            </a:r>
            <a:r>
              <a:rPr lang="fa-IR" sz="2400" dirty="0"/>
              <a:t> سازگار برای اتحاد (</a:t>
            </a:r>
            <a:r>
              <a:rPr lang="en-US" sz="2400" dirty="0"/>
              <a:t>union-compatible</a:t>
            </a:r>
            <a:r>
              <a:rPr lang="fa-IR" sz="2400" dirty="0"/>
              <a:t>) هستند.</a:t>
            </a:r>
            <a:endParaRPr lang="en-US" sz="2400" b="1" dirty="0"/>
          </a:p>
          <a:p>
            <a:pPr algn="r" rtl="1"/>
            <a:r>
              <a:rPr lang="fa-IR" sz="2400" dirty="0"/>
              <a:t>نتیجه‌ی پرس‌وجو شامل ویژگی‌های باقی‌مانده</a:t>
            </a:r>
            <a:r>
              <a:rPr lang="en-US" sz="2400" dirty="0"/>
              <a:t>(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r1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r2</a:t>
            </a:r>
            <a:r>
              <a:rPr lang="en-US" sz="2400" dirty="0"/>
              <a:t>) </a:t>
            </a:r>
            <a:r>
              <a:rPr lang="fa-IR" sz="2400" dirty="0"/>
              <a:t> است.</a:t>
            </a:r>
          </a:p>
          <a:p>
            <a:pPr algn="r" rtl="1"/>
            <a:endParaRPr lang="fa-IR" sz="2400" dirty="0"/>
          </a:p>
          <a:p>
            <a:pPr algn="r" rtl="1"/>
            <a:r>
              <a:rPr lang="fa-IR" sz="2400" dirty="0"/>
              <a:t>یک تاپل </a:t>
            </a:r>
            <a:r>
              <a:rPr lang="en-US" sz="2400" dirty="0"/>
              <a:t>(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r1</a:t>
            </a:r>
            <a:r>
              <a:rPr lang="en-US" sz="2400" dirty="0"/>
              <a:t>,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r2</a:t>
            </a:r>
            <a:r>
              <a:rPr lang="en-US" sz="2400" dirty="0"/>
              <a:t>)</a:t>
            </a:r>
            <a:r>
              <a:rPr lang="fa-IR" sz="2400" dirty="0"/>
              <a:t> در پاسخ قرار می‌گیرد اگر مقدار</a:t>
            </a:r>
            <a:r>
              <a:rPr lang="en-US" sz="2400" dirty="0"/>
              <a:t> (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r1</a:t>
            </a:r>
            <a:r>
              <a:rPr lang="en-US" sz="2400" dirty="0"/>
              <a:t>,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r2</a:t>
            </a:r>
            <a:r>
              <a:rPr lang="en-US" sz="2400" dirty="0"/>
              <a:t>)</a:t>
            </a:r>
            <a:r>
              <a:rPr lang="fa-IR" sz="2400" dirty="0"/>
              <a:t>با هر تاپلی از </a:t>
            </a:r>
            <a:r>
              <a:rPr lang="en-US" sz="2400" dirty="0"/>
              <a:t>S</a:t>
            </a:r>
            <a:r>
              <a:rPr lang="fa-IR" sz="2400" dirty="0"/>
              <a:t> در </a:t>
            </a:r>
            <a:r>
              <a:rPr lang="en-US" sz="2400" dirty="0"/>
              <a:t>R</a:t>
            </a:r>
            <a:r>
              <a:rPr lang="fa-IR" sz="2400" dirty="0"/>
              <a:t> ظاهر شود.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F7E786C-6EFE-4EE9-A371-171BEA9382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کی تقسیم کنیم؟</a:t>
            </a:r>
            <a:endParaRPr lang="en-US" alt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EA11F4-0079-4D7C-AD01-2DCF0C7C2980}"/>
              </a:ext>
            </a:extLst>
          </p:cNvPr>
          <p:cNvSpPr txBox="1">
            <a:spLocks/>
          </p:cNvSpPr>
          <p:nvPr/>
        </p:nvSpPr>
        <p:spPr bwMode="auto">
          <a:xfrm>
            <a:off x="180755" y="1130958"/>
            <a:ext cx="8555839" cy="528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B Nazanin" panose="00000400000000000000" pitchFamily="2" charset="-7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folHlink"/>
              </a:buClr>
              <a:buSzPct val="110000"/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B Nazanin" panose="00000400000000000000" pitchFamily="2" charset="-7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8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B Nazanin" panose="00000400000000000000" pitchFamily="2" charset="-7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20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B Nazanin" panose="00000400000000000000" pitchFamily="2" charset="-7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kumimoji="1" sz="2000">
                <a:solidFill>
                  <a:schemeClr val="tx1"/>
                </a:solidFill>
                <a:latin typeface="+mn-lt"/>
                <a:ea typeface="ＭＳ Ｐゴシック" panose="020B0600070205080204" pitchFamily="34" charset="-128"/>
                <a:cs typeface="B Nazanin" panose="00000400000000000000" pitchFamily="2" charset="-78"/>
              </a:defRPr>
            </a:lvl5pPr>
            <a:lvl6pPr marL="2228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endParaRPr lang="en-US" kern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812D97-1E46-4372-9F0C-15E1EB1D1A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0377" y="1000447"/>
                <a:ext cx="8963245" cy="5288905"/>
              </a:xfrm>
            </p:spPr>
            <p:txBody>
              <a:bodyPr/>
              <a:lstStyle/>
              <a:p>
                <a:pPr marL="285750" indent="-285750" algn="r" rtl="1">
                  <a:buFont typeface="Arial" panose="020B0604020202020204" pitchFamily="34" charset="0"/>
                  <a:buChar char="•"/>
                </a:pPr>
                <a:r>
                  <a:rPr lang="fa-IR" sz="2400" dirty="0"/>
                  <a:t>عملگر تقسیم به‌عنوان یک عملگر بنیادی پشتیبانی نمی‌شود، اما برای بیان پرس‌وجوهایی مانند:</a:t>
                </a:r>
                <a:endParaRPr lang="en-US" sz="2400" kern="0" dirty="0"/>
              </a:p>
              <a:p>
                <a:pPr lvl="1" algn="r" rtl="1"/>
                <a:r>
                  <a:rPr lang="fa-IR" sz="2400" dirty="0"/>
                  <a:t>«یافتن مشتریانی که </a:t>
                </a:r>
                <a:r>
                  <a:rPr lang="fa-IR" sz="2400" u="sng" dirty="0"/>
                  <a:t>تمام</a:t>
                </a:r>
                <a:r>
                  <a:rPr lang="fa-IR" sz="2400" dirty="0"/>
                  <a:t> انواع حساب‌ها را دارند»</a:t>
                </a:r>
              </a:p>
              <a:p>
                <a:pPr marL="457200" lvl="1" indent="0" algn="r" rtl="1">
                  <a:buNone/>
                </a:pPr>
                <a:r>
                  <a:rPr lang="fa-IR" sz="2400" dirty="0"/>
                  <a:t>مفید است.</a:t>
                </a:r>
              </a:p>
              <a:p>
                <a:pPr algn="r" rtl="1"/>
                <a:r>
                  <a:rPr lang="fa-IR" sz="2400" dirty="0"/>
                  <a:t>فرض کنید </a:t>
                </a:r>
                <a:r>
                  <a:rPr lang="en-US" sz="2400" dirty="0"/>
                  <a:t> A </a:t>
                </a:r>
                <a:r>
                  <a:rPr lang="fa-IR" sz="2400" dirty="0"/>
                  <a:t>دارای دو ویژگی 𝑥</a:t>
                </a:r>
                <a:r>
                  <a:rPr lang="en-US" sz="2400" dirty="0"/>
                  <a:t> </a:t>
                </a:r>
                <a:r>
                  <a:rPr lang="fa-IR" sz="2400" dirty="0"/>
                  <a:t>و 𝑦</a:t>
                </a:r>
                <a:r>
                  <a:rPr lang="en-US" sz="2400" dirty="0"/>
                  <a:t> </a:t>
                </a:r>
                <a:r>
                  <a:rPr lang="fa-IR" sz="2400" dirty="0"/>
                  <a:t>باشد و </a:t>
                </a:r>
                <a:r>
                  <a:rPr lang="en-US" sz="2400" dirty="0"/>
                  <a:t> B </a:t>
                </a:r>
                <a:r>
                  <a:rPr lang="fa-IR" sz="2400" dirty="0"/>
                  <a:t>فقط دارای ویژگی 𝑦</a:t>
                </a:r>
                <a:r>
                  <a:rPr lang="en-US" sz="2400" dirty="0"/>
                  <a:t> </a:t>
                </a:r>
                <a:r>
                  <a:rPr lang="fa-IR" sz="2400" dirty="0"/>
                  <a:t>باشد.</a:t>
                </a:r>
              </a:p>
              <a:p>
                <a:pPr lvl="1" algn="r" rtl="1"/>
                <a:r>
                  <a:rPr lang="en-US" sz="2400" kern="0" dirty="0"/>
                  <a:t>A/B= {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kern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kern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 kern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d>
                      <m:dPr>
                        <m:ctrlPr>
                          <a:rPr lang="en-US" sz="24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∀</m:t>
                    </m:r>
                    <m:d>
                      <m:dPr>
                        <m:ctrlPr>
                          <a:rPr lang="en-US" sz="24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kern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sz="2400" i="1" kern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400" kern="0" dirty="0"/>
                  <a:t>}</a:t>
                </a:r>
              </a:p>
              <a:p>
                <a:pPr marL="685800" lvl="1" algn="r" rtl="1"/>
                <a:r>
                  <a:rPr lang="fa-IR" sz="2400" dirty="0"/>
                  <a:t>یعنی </a:t>
                </a:r>
                <a:r>
                  <a:rPr lang="en-US" sz="2400" dirty="0"/>
                  <a:t> A÷B </a:t>
                </a:r>
                <a:r>
                  <a:rPr lang="fa-IR" sz="2400" dirty="0"/>
                  <a:t>شامل تمام تاپل‌های </a:t>
                </a:r>
                <a:r>
                  <a:rPr lang="en-US" sz="2400" dirty="0"/>
                  <a:t>x </a:t>
                </a:r>
                <a:r>
                  <a:rPr lang="fa-IR" sz="2400" dirty="0"/>
                  <a:t>(مشتریان) است که برای هر تاپل</a:t>
                </a:r>
                <a:r>
                  <a:rPr lang="en-US" sz="2400" dirty="0"/>
                  <a:t>y </a:t>
                </a:r>
                <a:r>
                  <a:rPr lang="fa-IR" sz="2400" dirty="0"/>
                  <a:t>(نوع حساب) در </a:t>
                </a:r>
                <a:r>
                  <a:rPr lang="en-US" sz="2400" dirty="0"/>
                  <a:t>B، </a:t>
                </a:r>
                <a:r>
                  <a:rPr lang="fa-IR" sz="2400" dirty="0"/>
                  <a:t>یک تاپل 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x,y</a:t>
                </a:r>
                <a:r>
                  <a:rPr lang="en-US" sz="2400" dirty="0"/>
                  <a:t>) </a:t>
                </a:r>
                <a:r>
                  <a:rPr lang="fa-IR" sz="2400" dirty="0"/>
                  <a:t>در </a:t>
                </a:r>
                <a:r>
                  <a:rPr lang="en-US" sz="2400" dirty="0"/>
                  <a:t> A </a:t>
                </a:r>
                <a:r>
                  <a:rPr lang="fa-IR" sz="2400" dirty="0"/>
                  <a:t>وجود داشته باشد.</a:t>
                </a:r>
                <a:endParaRPr lang="en-US" sz="2400" dirty="0"/>
              </a:p>
              <a:p>
                <a:pPr marL="685800" lvl="1" algn="r" rtl="1"/>
                <a:r>
                  <a:rPr lang="fa-IR" sz="2400" dirty="0"/>
                  <a:t>به عبارت دیگر، اگر مجموعه‌ی مقادیر </a:t>
                </a:r>
                <a:r>
                  <a:rPr lang="en-US" sz="2400" dirty="0"/>
                  <a:t>)y </a:t>
                </a:r>
                <a:r>
                  <a:rPr lang="fa-IR" sz="2400" dirty="0"/>
                  <a:t>نوع حساب‌ها) مرتبط با یک مقدار </a:t>
                </a:r>
                <a:r>
                  <a:rPr lang="en-US" sz="2400" dirty="0"/>
                  <a:t>)x </a:t>
                </a:r>
                <a:r>
                  <a:rPr lang="fa-IR" sz="2400" dirty="0"/>
                  <a:t>مشتری) در </a:t>
                </a:r>
                <a:r>
                  <a:rPr lang="en-US" sz="2400" dirty="0"/>
                  <a:t>A </a:t>
                </a:r>
                <a:r>
                  <a:rPr lang="fa-IR" sz="2400" dirty="0"/>
                  <a:t>شامل تمام مقادیر </a:t>
                </a:r>
                <a:r>
                  <a:rPr lang="en-US" sz="2400" dirty="0"/>
                  <a:t>y </a:t>
                </a:r>
                <a:r>
                  <a:rPr lang="fa-IR" sz="2400" dirty="0"/>
                  <a:t>در </a:t>
                </a:r>
                <a:r>
                  <a:rPr lang="en-US" sz="2400" dirty="0"/>
                  <a:t>B </a:t>
                </a:r>
                <a:r>
                  <a:rPr lang="fa-IR" sz="2400" dirty="0"/>
                  <a:t>باشد، آنگاه مقدار </a:t>
                </a:r>
                <a:r>
                  <a:rPr lang="en-US" sz="2400" dirty="0"/>
                  <a:t>x </a:t>
                </a:r>
                <a:r>
                  <a:rPr lang="fa-IR" sz="2400" dirty="0"/>
                  <a:t>در </a:t>
                </a:r>
                <a:r>
                  <a:rPr lang="en-US" sz="2400" dirty="0"/>
                  <a:t>A÷B </a:t>
                </a:r>
                <a:r>
                  <a:rPr lang="fa-IR" sz="2400" dirty="0"/>
                  <a:t>قرار می‌گیرد.</a:t>
                </a:r>
                <a:endParaRPr lang="en-US" sz="2400" dirty="0"/>
              </a:p>
              <a:p>
                <a:pPr marL="285750" algn="r" rtl="1"/>
                <a:r>
                  <a:rPr lang="fa-IR" sz="2400" dirty="0"/>
                  <a:t>به طور کلی، </a:t>
                </a:r>
                <a:r>
                  <a:rPr lang="en-US" sz="2400" dirty="0"/>
                  <a:t> x </a:t>
                </a:r>
                <a:r>
                  <a:rPr lang="fa-IR" sz="2400" dirty="0"/>
                  <a:t>و</a:t>
                </a:r>
                <a:r>
                  <a:rPr lang="en-US" sz="2400" dirty="0"/>
                  <a:t> y </a:t>
                </a:r>
                <a:r>
                  <a:rPr lang="fa-IR" sz="2400" dirty="0"/>
                  <a:t>می‌توانند هر لیستی از ویژگی‌ها باشند؛</a:t>
                </a:r>
                <a:r>
                  <a:rPr lang="en-US" sz="2400" dirty="0"/>
                  <a:t> y </a:t>
                </a:r>
                <a:r>
                  <a:rPr lang="fa-IR" sz="2400" dirty="0"/>
                  <a:t>لیست ویژگی‌های موجود در </a:t>
                </a:r>
                <a:r>
                  <a:rPr lang="en-US" sz="2400" dirty="0"/>
                  <a:t> B </a:t>
                </a:r>
                <a:r>
                  <a:rPr lang="fa-IR" sz="2400" dirty="0"/>
                  <a:t>است،</a:t>
                </a:r>
                <a:r>
                  <a:rPr lang="en-US" sz="2400" dirty="0"/>
                  <a:t>    </a:t>
                </a:r>
                <a:r>
                  <a:rPr lang="en-US" sz="2400" dirty="0" err="1"/>
                  <a:t>x∪y</a:t>
                </a:r>
                <a:r>
                  <a:rPr lang="fa-IR" sz="2400" dirty="0"/>
                  <a:t>لیست ویژگی‌های </a:t>
                </a:r>
                <a:r>
                  <a:rPr lang="en-US" sz="2400" dirty="0"/>
                  <a:t> A </a:t>
                </a:r>
                <a:r>
                  <a:rPr lang="fa-IR" sz="2400" dirty="0"/>
                  <a:t>است.</a:t>
                </a:r>
                <a:endParaRPr lang="en-US" sz="2400" kern="0" dirty="0"/>
              </a:p>
              <a:p>
                <a:pPr algn="r" rtl="1"/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A812D97-1E46-4372-9F0C-15E1EB1D1A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0377" y="1000447"/>
                <a:ext cx="8963245" cy="5288905"/>
              </a:xfrm>
              <a:blipFill>
                <a:blip r:embed="rId2"/>
                <a:stretch>
                  <a:fillRect l="-1633" t="-2189" r="-1156" b="-4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12953E87-5D87-4C1B-85FF-3965A50C6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a-IR" altLang="en-US" dirty="0"/>
              <a:t>مثال تقسیم</a:t>
            </a:r>
            <a:endParaRPr lang="en-US" alt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8B703E4-36A3-C7CC-DD59-96CBDD25A7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3261271"/>
              </p:ext>
            </p:extLst>
          </p:nvPr>
        </p:nvGraphicFramePr>
        <p:xfrm>
          <a:off x="130353" y="1106589"/>
          <a:ext cx="1806632" cy="3657600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903316">
                  <a:extLst>
                    <a:ext uri="{9D8B030D-6E8A-4147-A177-3AD203B41FA5}">
                      <a16:colId xmlns:a16="http://schemas.microsoft.com/office/drawing/2014/main" val="3179860654"/>
                    </a:ext>
                  </a:extLst>
                </a:gridCol>
                <a:gridCol w="903316">
                  <a:extLst>
                    <a:ext uri="{9D8B030D-6E8A-4147-A177-3AD203B41FA5}">
                      <a16:colId xmlns:a16="http://schemas.microsoft.com/office/drawing/2014/main" val="2892985146"/>
                    </a:ext>
                  </a:extLst>
                </a:gridCol>
              </a:tblGrid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sno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pno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9007066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785849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996088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248469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3582658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6686710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8451950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65331730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399930"/>
                  </a:ext>
                </a:extLst>
              </a:tr>
              <a:tr h="2780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2783024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2073F86-D101-934B-71C8-A12785C459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981874"/>
              </p:ext>
            </p:extLst>
          </p:nvPr>
        </p:nvGraphicFramePr>
        <p:xfrm>
          <a:off x="3377253" y="1106589"/>
          <a:ext cx="627380" cy="1284462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231574869"/>
                    </a:ext>
                  </a:extLst>
                </a:gridCol>
              </a:tblGrid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pno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60628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10663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3348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08905B7-64F2-0F87-8CCD-A985779CC426}"/>
              </a:ext>
            </a:extLst>
          </p:cNvPr>
          <p:cNvSpPr txBox="1"/>
          <p:nvPr/>
        </p:nvSpPr>
        <p:spPr>
          <a:xfrm>
            <a:off x="762148" y="760962"/>
            <a:ext cx="1174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Table:A2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C078209-C403-1165-A3BB-5438751213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9069708"/>
              </p:ext>
            </p:extLst>
          </p:nvPr>
        </p:nvGraphicFramePr>
        <p:xfrm>
          <a:off x="2242292" y="1065629"/>
          <a:ext cx="627380" cy="856308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231574869"/>
                    </a:ext>
                  </a:extLst>
                </a:gridCol>
              </a:tblGrid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pno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60628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1066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4E1D434C-D71B-E65C-2527-26064C785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987223"/>
              </p:ext>
            </p:extLst>
          </p:nvPr>
        </p:nvGraphicFramePr>
        <p:xfrm>
          <a:off x="4596295" y="1095225"/>
          <a:ext cx="627380" cy="1712616"/>
        </p:xfrm>
        <a:graphic>
          <a:graphicData uri="http://schemas.openxmlformats.org/drawingml/2006/table">
            <a:tbl>
              <a:tblPr firstRow="1">
                <a:tableStyleId>{775DCB02-9BB8-47FD-8907-85C794F793BA}</a:tableStyleId>
              </a:tblPr>
              <a:tblGrid>
                <a:gridCol w="627380">
                  <a:extLst>
                    <a:ext uri="{9D8B030D-6E8A-4147-A177-3AD203B41FA5}">
                      <a16:colId xmlns:a16="http://schemas.microsoft.com/office/drawing/2014/main" val="2231574869"/>
                    </a:ext>
                  </a:extLst>
                </a:gridCol>
              </a:tblGrid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pno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2360628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8210663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833483"/>
                  </a:ext>
                </a:extLst>
              </a:tr>
              <a:tr h="42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36799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BD406C4-D180-5610-0EBF-8C3C394E94FA}"/>
              </a:ext>
            </a:extLst>
          </p:cNvPr>
          <p:cNvSpPr txBox="1"/>
          <p:nvPr/>
        </p:nvSpPr>
        <p:spPr>
          <a:xfrm>
            <a:off x="2069700" y="711923"/>
            <a:ext cx="1174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Table:B1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A3E2DC-B10B-3ED0-847D-83EC39E300FF}"/>
              </a:ext>
            </a:extLst>
          </p:cNvPr>
          <p:cNvSpPr txBox="1"/>
          <p:nvPr/>
        </p:nvSpPr>
        <p:spPr>
          <a:xfrm>
            <a:off x="3238335" y="727075"/>
            <a:ext cx="1174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Table:B2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FDE643-C6E8-7E51-34C5-32D81B85F6E5}"/>
              </a:ext>
            </a:extLst>
          </p:cNvPr>
          <p:cNvSpPr txBox="1"/>
          <p:nvPr/>
        </p:nvSpPr>
        <p:spPr>
          <a:xfrm>
            <a:off x="4480805" y="727075"/>
            <a:ext cx="11748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Table:B3</a:t>
            </a:r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8DAB67A9-9B35-F772-0022-51FB28ED5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1256" y="422275"/>
            <a:ext cx="337437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ستون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sno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شماره‌ی تأمین‌کننده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(supplier number)</a:t>
            </a:r>
          </a:p>
          <a:p>
            <a:pPr marL="457200" marR="0" lvl="0" indent="-457200" algn="r" defTabSz="914400" rtl="1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ستون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pno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شماره‌ی قطعه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 (part number) </a:t>
            </a:r>
            <a:r>
              <a:rPr kumimoji="0" lang="ar-SA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را نشان می‌دهد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B Nazanin" panose="00000400000000000000" pitchFamily="2" charset="-78"/>
              </a:rPr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8DA0A3-B191-F12C-8865-C380CE5DC0FB}"/>
              </a:ext>
            </a:extLst>
          </p:cNvPr>
          <p:cNvSpPr txBox="1"/>
          <p:nvPr/>
        </p:nvSpPr>
        <p:spPr>
          <a:xfrm>
            <a:off x="2495300" y="3989324"/>
            <a:ext cx="1509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÷ B1: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4115E4-F62C-C207-772C-A31A3135AE61}"/>
              </a:ext>
            </a:extLst>
          </p:cNvPr>
          <p:cNvSpPr txBox="1"/>
          <p:nvPr/>
        </p:nvSpPr>
        <p:spPr>
          <a:xfrm>
            <a:off x="4806950" y="3995789"/>
            <a:ext cx="1509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÷ B1: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1C19B7-3DCF-3865-34EC-89494A018183}"/>
              </a:ext>
            </a:extLst>
          </p:cNvPr>
          <p:cNvSpPr txBox="1"/>
          <p:nvPr/>
        </p:nvSpPr>
        <p:spPr>
          <a:xfrm>
            <a:off x="6965623" y="3989323"/>
            <a:ext cx="15093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 ÷ B3: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8FF242B2-5DBA-D8A3-4E94-CFED55661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250231"/>
              </p:ext>
            </p:extLst>
          </p:nvPr>
        </p:nvGraphicFramePr>
        <p:xfrm>
          <a:off x="7062842" y="4525701"/>
          <a:ext cx="1016000" cy="73152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86788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981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327709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667011EC-7324-2BC7-97D8-4872B27C2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774593"/>
              </p:ext>
            </p:extLst>
          </p:nvPr>
        </p:nvGraphicFramePr>
        <p:xfrm>
          <a:off x="4868892" y="4625364"/>
          <a:ext cx="1016000" cy="109728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86788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981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32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091209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C7376736-F179-759C-985F-F92F2568D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3452648"/>
              </p:ext>
            </p:extLst>
          </p:nvPr>
        </p:nvGraphicFramePr>
        <p:xfrm>
          <a:off x="2554043" y="4480832"/>
          <a:ext cx="1016000" cy="1828800"/>
        </p:xfrm>
        <a:graphic>
          <a:graphicData uri="http://schemas.openxmlformats.org/drawingml/2006/table">
            <a:tbl>
              <a:tblPr firstRow="1">
                <a:tableStyleId>{46F890A9-2807-4EBB-B81D-B2AA78EC7F39}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3486788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1981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7327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9091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7133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78394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2</a:t>
            </a:r>
          </a:p>
        </p:txBody>
      </p:sp>
    </p:spTree>
    <p:extLst>
      <p:ext uri="{BB962C8B-B14F-4D97-AF65-F5344CB8AC3E}">
        <p14:creationId xmlns:p14="http://schemas.microsoft.com/office/powerpoint/2010/main" val="1291519110"/>
      </p:ext>
    </p:extLst>
  </p:cSld>
  <p:clrMapOvr>
    <a:masterClrMapping/>
  </p:clrMapOvr>
</p:sld>
</file>

<file path=ppt/theme/theme1.xml><?xml version="1.0" encoding="utf-8"?>
<a:theme xmlns:a="http://schemas.openxmlformats.org/drawingml/2006/main" name="3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94488</TotalTime>
  <Words>4637</Words>
  <Application>Microsoft Office PowerPoint</Application>
  <PresentationFormat>On-screen Show (4:3)</PresentationFormat>
  <Paragraphs>1131</Paragraphs>
  <Slides>56</Slides>
  <Notes>50</Notes>
  <HiddenSlides>0</HiddenSlides>
  <MMClips>0</MMClips>
  <ScaleCrop>false</ScaleCrop>
  <HeadingPairs>
    <vt:vector size="8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  <vt:variant>
        <vt:lpstr>Custom Shows</vt:lpstr>
      </vt:variant>
      <vt:variant>
        <vt:i4>1</vt:i4>
      </vt:variant>
    </vt:vector>
  </HeadingPairs>
  <TitlesOfParts>
    <vt:vector size="77" baseType="lpstr">
      <vt:lpstr>MS PGothic</vt:lpstr>
      <vt:lpstr>Yu Gothic</vt:lpstr>
      <vt:lpstr>Yu Gothic Medium</vt:lpstr>
      <vt:lpstr>Arial</vt:lpstr>
      <vt:lpstr>B Nazanin</vt:lpstr>
      <vt:lpstr>Cambria Math</vt:lpstr>
      <vt:lpstr>Comic Sans MS</vt:lpstr>
      <vt:lpstr>Consolas</vt:lpstr>
      <vt:lpstr>Courier New</vt:lpstr>
      <vt:lpstr>Helvetica</vt:lpstr>
      <vt:lpstr>Lucida Sans Unicode</vt:lpstr>
      <vt:lpstr>Monotype Sorts</vt:lpstr>
      <vt:lpstr>Palatino Linotype</vt:lpstr>
      <vt:lpstr>Söhne</vt:lpstr>
      <vt:lpstr>Symbol</vt:lpstr>
      <vt:lpstr>Times</vt:lpstr>
      <vt:lpstr>Times New Roman</vt:lpstr>
      <vt:lpstr>Webdings</vt:lpstr>
      <vt:lpstr>Wingdings</vt:lpstr>
      <vt:lpstr>3_db-5-grey</vt:lpstr>
      <vt:lpstr>اصول طراحی پایگاه داده </vt:lpstr>
      <vt:lpstr>فصل ۲: مقدمه‌ای بر مدل رابطه‌ای</vt:lpstr>
      <vt:lpstr>Outline</vt:lpstr>
      <vt:lpstr>مثال از رابطه‌ی مربوط به اساتید</vt:lpstr>
      <vt:lpstr>طرح و نمونه‌ی یک رابطه</vt:lpstr>
      <vt:lpstr>ویژگی‌ها</vt:lpstr>
      <vt:lpstr>روابط بدون ترتیب هستند</vt:lpstr>
      <vt:lpstr>(Database Schema)طرح پایگاه داده </vt:lpstr>
      <vt:lpstr>کلیدها</vt:lpstr>
      <vt:lpstr>کلیدها</vt:lpstr>
      <vt:lpstr>مثال</vt:lpstr>
      <vt:lpstr>نمودار طرح  (Schema Diagram) برای پایگاه داده دانشگاه</vt:lpstr>
      <vt:lpstr>زبان‌های پرس‌وجوی رابطه‌ای  (Relational Query Languages)</vt:lpstr>
      <vt:lpstr>جبر رابطه‌ای (Relational Algebra)</vt:lpstr>
      <vt:lpstr> عملگر انتخاب</vt:lpstr>
      <vt:lpstr>عملگر انتخاب (ادامه)</vt:lpstr>
      <vt:lpstr>عملگر انتخاب – انتخاب سطرها (تاپل‌ها)</vt:lpstr>
      <vt:lpstr>(Project Operation)عملگر نمایش </vt:lpstr>
      <vt:lpstr>مثال عملگر نمایش</vt:lpstr>
      <vt:lpstr>ترکیب عملیات رابطه‌ای (Composition of Relational Operations)</vt:lpstr>
      <vt:lpstr> عملگر ضرب دکارتی (Cartesian-Product Operation)</vt:lpstr>
      <vt:lpstr>The  instructor  X  teaches  table</vt:lpstr>
      <vt:lpstr>اتصال دو رابطه – ضرب دکارتی</vt:lpstr>
      <vt:lpstr>ضرب دکارتی – مسئله‌ی نام‌گذاری</vt:lpstr>
      <vt:lpstr>(Join Operation)عملگر پیوند</vt:lpstr>
      <vt:lpstr>عملگر پیوند (ادامه)</vt:lpstr>
      <vt:lpstr>عملگر پیوند (ادامه)</vt:lpstr>
      <vt:lpstr>(Union Operation)عملگر اجتماع</vt:lpstr>
      <vt:lpstr>عملگر اجتماع ( ادامه)</vt:lpstr>
      <vt:lpstr>عملگر اجتماع ( ادامه)</vt:lpstr>
      <vt:lpstr>اجتماع دو رابطه</vt:lpstr>
      <vt:lpstr>(Set-Intersection Operation)عملگر اشتراک مجموعه‌ای</vt:lpstr>
      <vt:lpstr>  اشتراک مجموعه‌ای دو رابطه (Set intersection of two relations)</vt:lpstr>
      <vt:lpstr>(Set Difference Operation )عملگر تفاضل مجموعه‌ای</vt:lpstr>
      <vt:lpstr>(The Assignment  Operation) عملگر انتساب</vt:lpstr>
      <vt:lpstr>(The Rename Operation) عملگر تغییر نام</vt:lpstr>
      <vt:lpstr>(Equivalent Queries)  پرس‌وجوهای معادل</vt:lpstr>
      <vt:lpstr>(Equivalent Queries)  پرس‌وجوهای معادل</vt:lpstr>
      <vt:lpstr>مثال</vt:lpstr>
      <vt:lpstr>مثال</vt:lpstr>
      <vt:lpstr>مثال</vt:lpstr>
      <vt:lpstr>مثال</vt:lpstr>
      <vt:lpstr>مثال</vt:lpstr>
      <vt:lpstr>مثال</vt:lpstr>
      <vt:lpstr>پیوند شرطی</vt:lpstr>
      <vt:lpstr>(Natural Join)پیوند طبیعی </vt:lpstr>
      <vt:lpstr>(Semi-join) نیم‌اتصال</vt:lpstr>
      <vt:lpstr>(Outer Join) اتصال خارجی یا فراپیوند</vt:lpstr>
      <vt:lpstr>Outer Join</vt:lpstr>
      <vt:lpstr>خلاصه‌ای از عملگرهای جبر رابطه‌ای</vt:lpstr>
      <vt:lpstr>(Divide operator) عملگر تقسیم</vt:lpstr>
      <vt:lpstr>عملیات تقسیم</vt:lpstr>
      <vt:lpstr>تعریف تقسیم</vt:lpstr>
      <vt:lpstr>کی تقسیم کنیم؟</vt:lpstr>
      <vt:lpstr>مثال تقسیم</vt:lpstr>
      <vt:lpstr>End of Chapter 2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A Taghinezhad</cp:lastModifiedBy>
  <cp:revision>535</cp:revision>
  <cp:lastPrinted>1999-06-28T19:27:31Z</cp:lastPrinted>
  <dcterms:created xsi:type="dcterms:W3CDTF">2009-12-21T15:40:22Z</dcterms:created>
  <dcterms:modified xsi:type="dcterms:W3CDTF">2026-10-12T14:34:42Z</dcterms:modified>
</cp:coreProperties>
</file>