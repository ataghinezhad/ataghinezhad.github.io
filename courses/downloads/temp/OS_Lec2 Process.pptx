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79"/>
  </p:notesMasterIdLst>
  <p:handoutMasterIdLst>
    <p:handoutMasterId r:id="rId80"/>
  </p:handoutMasterIdLst>
  <p:sldIdLst>
    <p:sldId id="319" r:id="rId2"/>
    <p:sldId id="330" r:id="rId3"/>
    <p:sldId id="529" r:id="rId4"/>
    <p:sldId id="526" r:id="rId5"/>
    <p:sldId id="527" r:id="rId6"/>
    <p:sldId id="414" r:id="rId7"/>
    <p:sldId id="499" r:id="rId8"/>
    <p:sldId id="415" r:id="rId9"/>
    <p:sldId id="416" r:id="rId10"/>
    <p:sldId id="528" r:id="rId11"/>
    <p:sldId id="419" r:id="rId12"/>
    <p:sldId id="535" r:id="rId13"/>
    <p:sldId id="469" r:id="rId14"/>
    <p:sldId id="421" r:id="rId15"/>
    <p:sldId id="422" r:id="rId16"/>
    <p:sldId id="423" r:id="rId17"/>
    <p:sldId id="500" r:id="rId18"/>
    <p:sldId id="501" r:id="rId19"/>
    <p:sldId id="428" r:id="rId20"/>
    <p:sldId id="429" r:id="rId21"/>
    <p:sldId id="431" r:id="rId22"/>
    <p:sldId id="432" r:id="rId23"/>
    <p:sldId id="430" r:id="rId24"/>
    <p:sldId id="478" r:id="rId25"/>
    <p:sldId id="434" r:id="rId26"/>
    <p:sldId id="471" r:id="rId27"/>
    <p:sldId id="531" r:id="rId28"/>
    <p:sldId id="536" r:id="rId29"/>
    <p:sldId id="435" r:id="rId30"/>
    <p:sldId id="436" r:id="rId31"/>
    <p:sldId id="437" r:id="rId32"/>
    <p:sldId id="516" r:id="rId33"/>
    <p:sldId id="503" r:id="rId34"/>
    <p:sldId id="490" r:id="rId35"/>
    <p:sldId id="491" r:id="rId36"/>
    <p:sldId id="492" r:id="rId37"/>
    <p:sldId id="521" r:id="rId38"/>
    <p:sldId id="522" r:id="rId39"/>
    <p:sldId id="523" r:id="rId40"/>
    <p:sldId id="524" r:id="rId41"/>
    <p:sldId id="479" r:id="rId42"/>
    <p:sldId id="473" r:id="rId43"/>
    <p:sldId id="476" r:id="rId44"/>
    <p:sldId id="445" r:id="rId45"/>
    <p:sldId id="446" r:id="rId46"/>
    <p:sldId id="447" r:id="rId47"/>
    <p:sldId id="448" r:id="rId48"/>
    <p:sldId id="518" r:id="rId49"/>
    <p:sldId id="520" r:id="rId50"/>
    <p:sldId id="451" r:id="rId51"/>
    <p:sldId id="532" r:id="rId52"/>
    <p:sldId id="457" r:id="rId53"/>
    <p:sldId id="510" r:id="rId54"/>
    <p:sldId id="458" r:id="rId55"/>
    <p:sldId id="459" r:id="rId56"/>
    <p:sldId id="460" r:id="rId57"/>
    <p:sldId id="537" r:id="rId58"/>
    <p:sldId id="538" r:id="rId59"/>
    <p:sldId id="461" r:id="rId60"/>
    <p:sldId id="514" r:id="rId61"/>
    <p:sldId id="462" r:id="rId62"/>
    <p:sldId id="534" r:id="rId63"/>
    <p:sldId id="477" r:id="rId64"/>
    <p:sldId id="539" r:id="rId65"/>
    <p:sldId id="463" r:id="rId66"/>
    <p:sldId id="467" r:id="rId67"/>
    <p:sldId id="496" r:id="rId68"/>
    <p:sldId id="530" r:id="rId69"/>
    <p:sldId id="497" r:id="rId70"/>
    <p:sldId id="498" r:id="rId71"/>
    <p:sldId id="455" r:id="rId72"/>
    <p:sldId id="507" r:id="rId73"/>
    <p:sldId id="508" r:id="rId74"/>
    <p:sldId id="509" r:id="rId75"/>
    <p:sldId id="511" r:id="rId76"/>
    <p:sldId id="512" r:id="rId77"/>
    <p:sldId id="513" r:id="rId78"/>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FF0000"/>
    <a:srgbClr val="CCECFF"/>
    <a:srgbClr val="66CCFF"/>
    <a:srgbClr val="CCFFFF"/>
    <a:srgbClr val="F8F8F8"/>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10" autoAdjust="0"/>
    <p:restoredTop sz="80675" autoAdjust="0"/>
  </p:normalViewPr>
  <p:slideViewPr>
    <p:cSldViewPr snapToGrid="0">
      <p:cViewPr varScale="1">
        <p:scale>
          <a:sx n="100" d="100"/>
          <a:sy n="100" d="100"/>
        </p:scale>
        <p:origin x="1944" y="72"/>
      </p:cViewPr>
      <p:guideLst>
        <p:guide orient="horz" pos="816"/>
        <p:guide pos="4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94" d="100"/>
        <a:sy n="94" d="100"/>
      </p:scale>
      <p:origin x="0" y="-905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A12DC8-9922-4E6E-BC02-F6A637672188}"/>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54" tIns="44128" rIns="88254" bIns="44128" numCol="1" anchor="ctr" anchorCtr="0" compatLnSpc="1">
            <a:prstTxWarp prst="textNoShape">
              <a:avLst/>
            </a:prstTxWarp>
          </a:bodyPr>
          <a:lstStyle>
            <a:lvl1pPr defTabSz="882650">
              <a:defRPr sz="1100">
                <a:latin typeface="Helvetica" panose="020B0604020202020204" pitchFamily="34" charset="0"/>
              </a:defRPr>
            </a:lvl1pPr>
          </a:lstStyle>
          <a:p>
            <a:pPr>
              <a:defRPr/>
            </a:pPr>
            <a:endParaRPr lang="en-US" altLang="en-US"/>
          </a:p>
        </p:txBody>
      </p:sp>
      <p:sp>
        <p:nvSpPr>
          <p:cNvPr id="46083" name="Rectangle 3">
            <a:extLst>
              <a:ext uri="{FF2B5EF4-FFF2-40B4-BE49-F238E27FC236}">
                <a16:creationId xmlns:a16="http://schemas.microsoft.com/office/drawing/2014/main" id="{6E72947A-FE2E-4445-85D8-C03306D26DD8}"/>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54" tIns="44128" rIns="88254" bIns="44128" numCol="1" anchor="ctr" anchorCtr="0" compatLnSpc="1">
            <a:prstTxWarp prst="textNoShape">
              <a:avLst/>
            </a:prstTxWarp>
          </a:bodyPr>
          <a:lstStyle>
            <a:lvl1pPr algn="r" defTabSz="882650">
              <a:defRPr sz="1100">
                <a:latin typeface="Helvetica" panose="020B0604020202020204" pitchFamily="34" charset="0"/>
              </a:defRPr>
            </a:lvl1pPr>
          </a:lstStyle>
          <a:p>
            <a:pPr>
              <a:defRPr/>
            </a:pPr>
            <a:endParaRPr lang="en-US" altLang="en-US"/>
          </a:p>
        </p:txBody>
      </p:sp>
      <p:sp>
        <p:nvSpPr>
          <p:cNvPr id="46084" name="Rectangle 4">
            <a:extLst>
              <a:ext uri="{FF2B5EF4-FFF2-40B4-BE49-F238E27FC236}">
                <a16:creationId xmlns:a16="http://schemas.microsoft.com/office/drawing/2014/main" id="{C64A7CC0-6DD4-4720-82BF-E4908F4AFFA7}"/>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54" tIns="44128" rIns="88254" bIns="44128" numCol="1" anchor="b" anchorCtr="0" compatLnSpc="1">
            <a:prstTxWarp prst="textNoShape">
              <a:avLst/>
            </a:prstTxWarp>
          </a:bodyPr>
          <a:lstStyle>
            <a:lvl1pPr defTabSz="882650">
              <a:defRPr sz="1100">
                <a:latin typeface="Helvetica" panose="020B0604020202020204" pitchFamily="34" charset="0"/>
              </a:defRPr>
            </a:lvl1pPr>
          </a:lstStyle>
          <a:p>
            <a:pPr>
              <a:defRPr/>
            </a:pPr>
            <a:endParaRPr lang="en-US" altLang="en-US"/>
          </a:p>
        </p:txBody>
      </p:sp>
      <p:sp>
        <p:nvSpPr>
          <p:cNvPr id="46085" name="Rectangle 5">
            <a:extLst>
              <a:ext uri="{FF2B5EF4-FFF2-40B4-BE49-F238E27FC236}">
                <a16:creationId xmlns:a16="http://schemas.microsoft.com/office/drawing/2014/main" id="{6BE9BEEC-119C-420C-8C74-AFCA5FA1C4C9}"/>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54" tIns="44128" rIns="88254" bIns="44128" numCol="1" anchor="b" anchorCtr="0" compatLnSpc="1">
            <a:prstTxWarp prst="textNoShape">
              <a:avLst/>
            </a:prstTxWarp>
          </a:bodyPr>
          <a:lstStyle>
            <a:lvl1pPr algn="r" defTabSz="882650">
              <a:defRPr sz="1100">
                <a:latin typeface="Helvetica" charset="0"/>
                <a:ea typeface="MS PGothic" charset="-128"/>
              </a:defRPr>
            </a:lvl1pPr>
          </a:lstStyle>
          <a:p>
            <a:pPr>
              <a:defRPr/>
            </a:pPr>
            <a:fld id="{896B91AD-C34E-4B05-8D9C-1014E5F01E33}"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2:16:50.978"/>
    </inkml:context>
    <inkml:brush xml:id="br0">
      <inkml:brushProperty name="width" value="0.035" units="cm"/>
      <inkml:brushProperty name="height" value="0.035" units="cm"/>
    </inkml:brush>
  </inkml:definitions>
  <inkml:trace contextRef="#ctx0" brushRef="#br0">0 0 24575,'41'4'0,"0"1"0,0 2 0,-1 1 0,0 3 0,40 16 0,-35-13 0,30 11 0,-3-1 0,92 18 0,-147-38 0,-1 1 0,0 1 0,0 1 0,0 0 0,-1 0 0,16 12 0,-20-11 0,1-1 0,1 0 0,0-1 0,-1 0 0,2-1 0,-1-1 0,1 0 0,-1-1 0,19 3 0,-6-6-1365,-3 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2:16:51.830"/>
    </inkml:context>
    <inkml:brush xml:id="br0">
      <inkml:brushProperty name="width" value="0.035" units="cm"/>
      <inkml:brushProperty name="height" value="0.035" units="cm"/>
    </inkml:brush>
  </inkml:definitions>
  <inkml:trace contextRef="#ctx0" brushRef="#br0">1 0 24575,'12'2'0,"0"0"0,0 1 0,0 1 0,0 0 0,0 0 0,14 9 0,-12-7 0,17 10 0,-1 1 0,35 26 0,30 17 0,-36-23-12,-46-28-181,1 0-1,0 0 1,0-1 0,1-1 0,-1-1-1,26 8 1,-14-10-6633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2:16:55.702"/>
    </inkml:context>
    <inkml:brush xml:id="br0">
      <inkml:brushProperty name="width" value="0.035" units="cm"/>
      <inkml:brushProperty name="height" value="0.035" units="cm"/>
    </inkml:brush>
  </inkml:definitions>
  <inkml:trace contextRef="#ctx0" brushRef="#br0">0 1 24575,'7'0'0,"0"1"0,-1-1 0,1 2 0,-1-1 0,1 1 0,-1 0 0,0 0 0,0 1 0,10 5 0,51 39 0,-41-27 0,446 362 0,-439-352 0,-2 2 0,-1 1 0,-1 1 0,-2 1 0,-2 2 0,-1 1 0,-2 0 0,26 64 0,26 70 0,-39-98 0,-3 1 0,-4 1 0,-4 2 0,16 80 0,-27-49 0,-4 0 0,-11 205 0,0-287 0,-2 0 0,-1 0 0,-1-1 0,-1 1 0,-1-2 0,-2 1 0,0-1 0,-2 0 0,0-1 0,-2-1 0,-1 0 0,-1-1 0,0 0 0,-2-2 0,0 0 0,-38 32 0,4-12 0,0-1 0,-3-4 0,-1-1 0,-1-3 0,-118 44 0,79-48 0,76-24 0,1 2 0,0 0 0,0 2 0,0 0 0,-23 12 0,24-9-227,-1-2-1,0 0 1,0 0-1,-1-2 1,-36 6-1,27-6-6598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2:17:01.296"/>
    </inkml:context>
    <inkml:brush xml:id="br0">
      <inkml:brushProperty name="width" value="0.035" units="cm"/>
      <inkml:brushProperty name="height" value="0.035" units="cm"/>
    </inkml:brush>
  </inkml:definitions>
  <inkml:trace contextRef="#ctx0" brushRef="#br0">17 0 24575,'0'5'0,"0"5"0,0 7 0,0-5 0,-4-8 0,-2-11 0,0-3-8191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2:17:06.857"/>
    </inkml:context>
    <inkml:brush xml:id="br0">
      <inkml:brushProperty name="width" value="0.035" units="cm"/>
      <inkml:brushProperty name="height" value="0.035" units="cm"/>
    </inkml:brush>
  </inkml:definitions>
  <inkml:trace contextRef="#ctx0" brushRef="#br0">636 0 24575,'-4'0'0,"-7"5"0,-6 6 0,-5 1 0,1 4 0,1 3 0,-7 3 0,-8 8 0,-7 7 0,-7 8 0,-3 5 0,-8-2 0,3 2 0,0-4 0,6-10 0,7-10 0,6-11 0,10-7-8191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2:17:10.221"/>
    </inkml:context>
    <inkml:brush xml:id="br0">
      <inkml:brushProperty name="width" value="0.035" units="cm"/>
      <inkml:brushProperty name="height" value="0.035" units="cm"/>
    </inkml:brush>
  </inkml:definitions>
  <inkml:trace contextRef="#ctx0" brushRef="#br0">1 3 24575,'14'0'0,"8"-2"0,-1 2 0,1 1 0,-1 0 0,1 2 0,-1 0 0,0 1 0,0 2 0,36 13 0,-33-9 0,2-2 0,-1-1 0,1 0 0,0-2 0,0-1 0,51 1 0,-24-2 0,14 12-1365,-49-10-5461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715B35B-6971-4CC0-B4FB-95B01BCF426E}"/>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lvl1pPr defTabSz="930275">
              <a:defRPr sz="1200">
                <a:latin typeface="Times New Roman" panose="02020603050405020304" pitchFamily="18" charset="0"/>
              </a:defRPr>
            </a:lvl1pPr>
          </a:lstStyle>
          <a:p>
            <a:pPr>
              <a:defRPr/>
            </a:pPr>
            <a:endParaRPr lang="en-US" altLang="en-US"/>
          </a:p>
        </p:txBody>
      </p:sp>
      <p:sp>
        <p:nvSpPr>
          <p:cNvPr id="6147" name="Rectangle 3">
            <a:extLst>
              <a:ext uri="{FF2B5EF4-FFF2-40B4-BE49-F238E27FC236}">
                <a16:creationId xmlns:a16="http://schemas.microsoft.com/office/drawing/2014/main" id="{2A02FF1F-3F52-47A2-B35E-EBB0E228297E}"/>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lvl1pPr algn="r" defTabSz="930275">
              <a:defRPr sz="1200">
                <a:latin typeface="Times New Roman" panose="02020603050405020304" pitchFamily="18" charset="0"/>
              </a:defRPr>
            </a:lvl1pPr>
          </a:lstStyle>
          <a:p>
            <a:pPr>
              <a:defRPr/>
            </a:pPr>
            <a:endParaRPr lang="en-US" altLang="en-US"/>
          </a:p>
        </p:txBody>
      </p:sp>
      <p:sp>
        <p:nvSpPr>
          <p:cNvPr id="3076" name="Rectangle 4">
            <a:extLst>
              <a:ext uri="{FF2B5EF4-FFF2-40B4-BE49-F238E27FC236}">
                <a16:creationId xmlns:a16="http://schemas.microsoft.com/office/drawing/2014/main" id="{12612CE7-EF94-4293-9356-A0763F4E73EB}"/>
              </a:ext>
            </a:extLst>
          </p:cNvPr>
          <p:cNvSpPr>
            <a:spLocks noGrp="1" noRot="1" noChangeAspect="1" noChangeArrowheads="1" noTextEdit="1"/>
          </p:cNvSpPr>
          <p:nvPr>
            <p:ph type="sldImg" idx="2"/>
          </p:nvPr>
        </p:nvSpPr>
        <p:spPr bwMode="auto">
          <a:xfrm>
            <a:off x="1182688" y="698500"/>
            <a:ext cx="46466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43BD7482-5C58-44F9-A08E-BFE34494D0D8}"/>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AC6369B-F957-4079-90E1-CA217ED505C7}"/>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52" tIns="46576" rIns="93152" bIns="46576" numCol="1" anchor="b" anchorCtr="0" compatLnSpc="1">
            <a:prstTxWarp prst="textNoShape">
              <a:avLst/>
            </a:prstTxWarp>
          </a:bodyPr>
          <a:lstStyle>
            <a:lvl1pPr defTabSz="930275">
              <a:defRPr sz="1200">
                <a:latin typeface="Times New Roman" panose="02020603050405020304" pitchFamily="18" charset="0"/>
              </a:defRPr>
            </a:lvl1pPr>
          </a:lstStyle>
          <a:p>
            <a:pPr>
              <a:defRPr/>
            </a:pPr>
            <a:endParaRPr lang="en-US" altLang="en-US"/>
          </a:p>
        </p:txBody>
      </p:sp>
      <p:sp>
        <p:nvSpPr>
          <p:cNvPr id="6151" name="Rectangle 7">
            <a:extLst>
              <a:ext uri="{FF2B5EF4-FFF2-40B4-BE49-F238E27FC236}">
                <a16:creationId xmlns:a16="http://schemas.microsoft.com/office/drawing/2014/main" id="{D62366FD-3440-43D4-A730-7A55A662E478}"/>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52" tIns="46576" rIns="93152" bIns="46576" numCol="1" anchor="b" anchorCtr="0" compatLnSpc="1">
            <a:prstTxWarp prst="textNoShape">
              <a:avLst/>
            </a:prstTxWarp>
          </a:bodyPr>
          <a:lstStyle>
            <a:lvl1pPr algn="r" defTabSz="930275">
              <a:defRPr sz="1200">
                <a:latin typeface="Times New Roman" charset="0"/>
                <a:ea typeface="MS PGothic" charset="-128"/>
              </a:defRPr>
            </a:lvl1pPr>
          </a:lstStyle>
          <a:p>
            <a:pPr>
              <a:defRPr/>
            </a:pPr>
            <a:fld id="{73B872E8-FDB0-4502-A51A-B7A4A00AC4E7}"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CDEF1EC1-A032-4256-A5B8-82331B81B1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a:solidFill>
                  <a:schemeClr val="tx1"/>
                </a:solidFill>
                <a:latin typeface="Verdana" panose="020B0604030504040204" pitchFamily="34" charset="0"/>
                <a:ea typeface="MS PGothic" panose="020B0600070205080204" pitchFamily="34" charset="-128"/>
              </a:defRPr>
            </a:lvl1pPr>
            <a:lvl2pPr marL="742950" indent="-285750" defTabSz="928688">
              <a:defRPr>
                <a:solidFill>
                  <a:schemeClr val="tx1"/>
                </a:solidFill>
                <a:latin typeface="Verdana" panose="020B0604030504040204" pitchFamily="34" charset="0"/>
                <a:ea typeface="MS PGothic" panose="020B0600070205080204" pitchFamily="34" charset="-128"/>
              </a:defRPr>
            </a:lvl2pPr>
            <a:lvl3pPr marL="1143000" indent="-228600" defTabSz="928688">
              <a:defRPr>
                <a:solidFill>
                  <a:schemeClr val="tx1"/>
                </a:solidFill>
                <a:latin typeface="Verdana" panose="020B0604030504040204" pitchFamily="34" charset="0"/>
                <a:ea typeface="MS PGothic" panose="020B0600070205080204" pitchFamily="34" charset="-128"/>
              </a:defRPr>
            </a:lvl3pPr>
            <a:lvl4pPr marL="1600200" indent="-228600" defTabSz="928688">
              <a:defRPr>
                <a:solidFill>
                  <a:schemeClr val="tx1"/>
                </a:solidFill>
                <a:latin typeface="Verdana" panose="020B0604030504040204" pitchFamily="34" charset="0"/>
                <a:ea typeface="MS PGothic" panose="020B0600070205080204" pitchFamily="34" charset="-128"/>
              </a:defRPr>
            </a:lvl4pPr>
            <a:lvl5pPr marL="2057400" indent="-228600" defTabSz="928688">
              <a:defRPr>
                <a:solidFill>
                  <a:schemeClr val="tx1"/>
                </a:solidFill>
                <a:latin typeface="Verdana" panose="020B0604030504040204" pitchFamily="34" charset="0"/>
                <a:ea typeface="MS PGothic" panose="020B0600070205080204" pitchFamily="34" charset="-128"/>
              </a:defRPr>
            </a:lvl5pPr>
            <a:lvl6pPr marL="25146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3B6FBBD-AF90-4377-83FA-2F3819AD38A1}"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1DCEB876-7853-4EC8-86DE-2233D519AA5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1317CDD3-494C-45D9-A8EF-4B0E12327A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0DF96DF-3F74-4EB3-AA2E-7D9494973AAF}"/>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E2557FD8-EB60-4E74-935E-C71DFE670F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91149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730F164-3563-441D-A2BB-9ECF873C6BAE}"/>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58081F0E-1362-4F6F-BE70-E88D6BFB0B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buFont typeface="Arial" panose="020B0604020202020204" pitchFamily="34" charset="0"/>
              <a:buChar char="•"/>
            </a:pPr>
            <a:r>
              <a:rPr lang="fa-IR" b="1" i="0" dirty="0">
                <a:solidFill>
                  <a:srgbClr val="323232"/>
                </a:solidFill>
                <a:effectLst/>
                <a:latin typeface="__vazir_46c312"/>
              </a:rPr>
              <a:t>حافظه </a:t>
            </a:r>
            <a:r>
              <a:rPr lang="en-US" b="1" i="0" dirty="0">
                <a:solidFill>
                  <a:srgbClr val="323232"/>
                </a:solidFill>
                <a:effectLst/>
                <a:latin typeface="__vazir_46c312"/>
              </a:rPr>
              <a:t>stack</a:t>
            </a:r>
            <a:endParaRPr lang="en-US" b="0" i="0" dirty="0">
              <a:solidFill>
                <a:srgbClr val="323232"/>
              </a:solidFill>
              <a:effectLst/>
              <a:latin typeface="__vazir_46c312"/>
            </a:endParaRPr>
          </a:p>
          <a:p>
            <a:pPr algn="r" rtl="1"/>
            <a:r>
              <a:rPr lang="fa-IR" b="0" i="0" dirty="0">
                <a:solidFill>
                  <a:srgbClr val="323232"/>
                </a:solidFill>
                <a:effectLst/>
                <a:latin typeface="__vazir_46c312"/>
              </a:rPr>
              <a:t>در بخش </a:t>
            </a:r>
            <a:r>
              <a:rPr lang="en-US" b="0" i="0" dirty="0">
                <a:solidFill>
                  <a:srgbClr val="323232"/>
                </a:solidFill>
                <a:effectLst/>
                <a:latin typeface="__vazir_46c312"/>
              </a:rPr>
              <a:t>user-space </a:t>
            </a:r>
            <a:r>
              <a:rPr lang="fa-IR" b="0" i="0" dirty="0">
                <a:solidFill>
                  <a:srgbClr val="323232"/>
                </a:solidFill>
                <a:effectLst/>
                <a:latin typeface="__vazir_46c312"/>
              </a:rPr>
              <a:t>حافظه قرار دارد و به صورت خودکار توسط </a:t>
            </a:r>
            <a:r>
              <a:rPr lang="en-US" b="0" i="0" dirty="0">
                <a:solidFill>
                  <a:srgbClr val="323232"/>
                </a:solidFill>
                <a:effectLst/>
                <a:latin typeface="__vazir_46c312"/>
              </a:rPr>
              <a:t>CPU </a:t>
            </a:r>
            <a:r>
              <a:rPr lang="fa-IR" b="0" i="0" dirty="0">
                <a:solidFill>
                  <a:srgbClr val="323232"/>
                </a:solidFill>
                <a:effectLst/>
                <a:latin typeface="__vazir_46c312"/>
              </a:rPr>
              <a:t>مدیریت می شود. متغیرهای غیر استاتیک، پارامتر های ارسالی به توابع و آدرس های مربوط به </a:t>
            </a:r>
            <a:r>
              <a:rPr lang="en-US" b="0" i="0" dirty="0">
                <a:solidFill>
                  <a:srgbClr val="323232"/>
                </a:solidFill>
                <a:effectLst/>
                <a:latin typeface="__vazir_46c312"/>
              </a:rPr>
              <a:t>return </a:t>
            </a:r>
            <a:r>
              <a:rPr lang="fa-IR" b="0" i="0" dirty="0">
                <a:solidFill>
                  <a:srgbClr val="323232"/>
                </a:solidFill>
                <a:effectLst/>
                <a:latin typeface="__vazir_46c312"/>
              </a:rPr>
              <a:t>توابع در این حافظه ذخیره می شوند. اندازه حافظه </a:t>
            </a:r>
            <a:r>
              <a:rPr lang="en-US" b="0" i="0" dirty="0">
                <a:solidFill>
                  <a:srgbClr val="323232"/>
                </a:solidFill>
                <a:effectLst/>
                <a:latin typeface="__vazir_46c312"/>
              </a:rPr>
              <a:t>stack </a:t>
            </a:r>
            <a:r>
              <a:rPr lang="fa-IR" b="0" i="0" dirty="0">
                <a:solidFill>
                  <a:srgbClr val="323232"/>
                </a:solidFill>
                <a:effectLst/>
                <a:latin typeface="__vazir_46c312"/>
              </a:rPr>
              <a:t>ثابت است به همین دلیل به آن </a:t>
            </a:r>
            <a:r>
              <a:rPr lang="en-US" b="0" i="0" dirty="0">
                <a:solidFill>
                  <a:srgbClr val="323232"/>
                </a:solidFill>
                <a:effectLst/>
                <a:latin typeface="__vazir_46c312"/>
              </a:rPr>
              <a:t>static memory </a:t>
            </a:r>
            <a:r>
              <a:rPr lang="fa-IR" b="0" i="0" dirty="0">
                <a:solidFill>
                  <a:srgbClr val="323232"/>
                </a:solidFill>
                <a:effectLst/>
                <a:latin typeface="__vazir_46c312"/>
              </a:rPr>
              <a:t>گفته می شود.</a:t>
            </a:r>
          </a:p>
          <a:p>
            <a:pPr algn="r" rtl="1"/>
            <a:r>
              <a:rPr lang="fa-IR" b="0" i="0" dirty="0">
                <a:solidFill>
                  <a:srgbClr val="323232"/>
                </a:solidFill>
                <a:effectLst/>
                <a:latin typeface="__vazir_46c312"/>
              </a:rPr>
              <a:t>در این حافظه اطلاعات پشت سر هم و به ترتیب قرار می گیرند به این صورت که آخرین داده ذخیره شده در بالای </a:t>
            </a:r>
            <a:r>
              <a:rPr lang="en-US" b="0" i="0" dirty="0">
                <a:solidFill>
                  <a:srgbClr val="323232"/>
                </a:solidFill>
                <a:effectLst/>
                <a:latin typeface="__vazir_46c312"/>
              </a:rPr>
              <a:t>stack </a:t>
            </a:r>
            <a:r>
              <a:rPr lang="fa-IR" b="0" i="0" dirty="0">
                <a:solidFill>
                  <a:srgbClr val="323232"/>
                </a:solidFill>
                <a:effectLst/>
                <a:latin typeface="__vazir_46c312"/>
              </a:rPr>
              <a:t>قرار می گیرد و به اصطلاح </a:t>
            </a:r>
            <a:r>
              <a:rPr lang="en-US" b="0" i="0" dirty="0">
                <a:solidFill>
                  <a:srgbClr val="323232"/>
                </a:solidFill>
                <a:effectLst/>
                <a:latin typeface="__vazir_46c312"/>
              </a:rPr>
              <a:t>push </a:t>
            </a:r>
            <a:r>
              <a:rPr lang="fa-IR" b="0" i="0" dirty="0">
                <a:solidFill>
                  <a:srgbClr val="323232"/>
                </a:solidFill>
                <a:effectLst/>
                <a:latin typeface="__vazir_46c312"/>
              </a:rPr>
              <a:t>می شود، حال اگر قصد برداشتن اطلاعات یا به اصطلاح </a:t>
            </a:r>
            <a:r>
              <a:rPr lang="en-US" b="0" i="0" dirty="0">
                <a:solidFill>
                  <a:srgbClr val="323232"/>
                </a:solidFill>
                <a:effectLst/>
                <a:latin typeface="__vazir_46c312"/>
              </a:rPr>
              <a:t>pop </a:t>
            </a:r>
            <a:r>
              <a:rPr lang="fa-IR" b="0" i="0" dirty="0">
                <a:solidFill>
                  <a:srgbClr val="323232"/>
                </a:solidFill>
                <a:effectLst/>
                <a:latin typeface="__vazir_46c312"/>
              </a:rPr>
              <a:t>کردن اطلاعات را داشته باشیم آخرین اطلاعات وارد شده در </a:t>
            </a:r>
            <a:r>
              <a:rPr lang="en-US" b="0" i="0" dirty="0">
                <a:solidFill>
                  <a:srgbClr val="323232"/>
                </a:solidFill>
                <a:effectLst/>
                <a:latin typeface="__vazir_46c312"/>
              </a:rPr>
              <a:t>stack </a:t>
            </a:r>
            <a:r>
              <a:rPr lang="fa-IR" b="0" i="0" dirty="0">
                <a:solidFill>
                  <a:srgbClr val="323232"/>
                </a:solidFill>
                <a:effectLst/>
                <a:latin typeface="__vazir_46c312"/>
              </a:rPr>
              <a:t>را در اختیار داریم. به این الگوریتم </a:t>
            </a:r>
            <a:r>
              <a:rPr lang="en-US" b="0" i="0" dirty="0">
                <a:solidFill>
                  <a:srgbClr val="323232"/>
                </a:solidFill>
                <a:effectLst/>
                <a:latin typeface="__vazir_46c312"/>
              </a:rPr>
              <a:t>LIFO(Last In First Out) </a:t>
            </a:r>
            <a:r>
              <a:rPr lang="fa-IR" b="0" i="0" dirty="0">
                <a:solidFill>
                  <a:srgbClr val="323232"/>
                </a:solidFill>
                <a:effectLst/>
                <a:latin typeface="__vazir_46c312"/>
              </a:rPr>
              <a:t>می گویند.</a:t>
            </a:r>
            <a:endParaRPr lang="en-US" b="0" i="0" dirty="0">
              <a:solidFill>
                <a:srgbClr val="323232"/>
              </a:solidFill>
              <a:effectLst/>
              <a:latin typeface="__vazir_46c312"/>
            </a:endParaRPr>
          </a:p>
          <a:p>
            <a:pPr algn="r" rtl="1"/>
            <a:r>
              <a:rPr lang="fa-IR" b="0" i="0" dirty="0">
                <a:solidFill>
                  <a:srgbClr val="323232"/>
                </a:solidFill>
                <a:effectLst/>
                <a:latin typeface="__vazir_46c312"/>
              </a:rPr>
              <a:t>ز آنجا که در حافظه </a:t>
            </a:r>
            <a:r>
              <a:rPr lang="en-US" b="0" i="0" dirty="0">
                <a:solidFill>
                  <a:srgbClr val="323232"/>
                </a:solidFill>
                <a:effectLst/>
                <a:latin typeface="__vazir_46c312"/>
              </a:rPr>
              <a:t>stack </a:t>
            </a:r>
            <a:r>
              <a:rPr lang="fa-IR" b="0" i="0" dirty="0">
                <a:solidFill>
                  <a:srgbClr val="323232"/>
                </a:solidFill>
                <a:effectLst/>
                <a:latin typeface="__vazir_46c312"/>
              </a:rPr>
              <a:t>نیازی به پیدا کردن فضای خالی در حافظه نیست و محل قرارگیری اطلاعات مشخص است (بالای حافظه) بنابراین این حافظه سریع تر از حافظه </a:t>
            </a:r>
            <a:r>
              <a:rPr lang="en-US" b="0" i="0" dirty="0">
                <a:solidFill>
                  <a:srgbClr val="323232"/>
                </a:solidFill>
                <a:effectLst/>
                <a:latin typeface="__vazir_46c312"/>
              </a:rPr>
              <a:t>heap </a:t>
            </a:r>
            <a:r>
              <a:rPr lang="fa-IR" b="0" i="0" dirty="0">
                <a:solidFill>
                  <a:srgbClr val="323232"/>
                </a:solidFill>
                <a:effectLst/>
                <a:latin typeface="__vazir_46c312"/>
              </a:rPr>
              <a:t>است.</a:t>
            </a:r>
            <a:endParaRPr lang="en-US" b="0" i="0" dirty="0">
              <a:solidFill>
                <a:srgbClr val="323232"/>
              </a:solidFill>
              <a:effectLst/>
              <a:latin typeface="__vazir_46c312"/>
            </a:endParaRPr>
          </a:p>
          <a:p>
            <a:pPr algn="r" rtl="1"/>
            <a:r>
              <a:rPr lang="fa-IR" b="0" i="0" dirty="0">
                <a:solidFill>
                  <a:srgbClr val="323232"/>
                </a:solidFill>
                <a:effectLst/>
                <a:latin typeface="__vazir_46c312"/>
              </a:rPr>
              <a:t>پارامتر ها و اطلاعات مربوط به توابع برای اجرا و کنترل آن ها در این حافظه ذخیره می شوند. تابعی که در بالای </a:t>
            </a:r>
            <a:r>
              <a:rPr lang="en-US" b="0" i="0" dirty="0">
                <a:solidFill>
                  <a:srgbClr val="323232"/>
                </a:solidFill>
                <a:effectLst/>
                <a:latin typeface="__vazir_46c312"/>
              </a:rPr>
              <a:t>stack </a:t>
            </a:r>
            <a:r>
              <a:rPr lang="fa-IR" b="0" i="0" dirty="0">
                <a:solidFill>
                  <a:srgbClr val="323232"/>
                </a:solidFill>
                <a:effectLst/>
                <a:latin typeface="__vazir_46c312"/>
              </a:rPr>
              <a:t>قرار دارد تابعی است که در حال اجراست و بعد از اتمام کار تابع یا بروز خطا در اجرای تابع، حافظه اختصاص داده شده به تابع از </a:t>
            </a:r>
            <a:r>
              <a:rPr lang="en-US" b="0" i="0" dirty="0">
                <a:solidFill>
                  <a:srgbClr val="323232"/>
                </a:solidFill>
                <a:effectLst/>
                <a:latin typeface="__vazir_46c312"/>
              </a:rPr>
              <a:t>stack </a:t>
            </a:r>
            <a:r>
              <a:rPr lang="fa-IR" b="0" i="0" dirty="0">
                <a:solidFill>
                  <a:srgbClr val="323232"/>
                </a:solidFill>
                <a:effectLst/>
                <a:latin typeface="__vazir_46c312"/>
              </a:rPr>
              <a:t>حذف می شود و حافظه اشغال شده آزاد می شود. زمانی که یک </a:t>
            </a:r>
            <a:r>
              <a:rPr lang="en-US" b="0" i="0" dirty="0">
                <a:solidFill>
                  <a:srgbClr val="323232"/>
                </a:solidFill>
                <a:effectLst/>
                <a:latin typeface="__vazir_46c312"/>
              </a:rPr>
              <a:t>thread </a:t>
            </a:r>
            <a:r>
              <a:rPr lang="fa-IR" b="0" i="0" dirty="0">
                <a:solidFill>
                  <a:srgbClr val="323232"/>
                </a:solidFill>
                <a:effectLst/>
                <a:latin typeface="__vazir_46c312"/>
              </a:rPr>
              <a:t>تعریف می شود در </a:t>
            </a:r>
            <a:r>
              <a:rPr lang="en-US" b="0" i="0" dirty="0">
                <a:solidFill>
                  <a:srgbClr val="323232"/>
                </a:solidFill>
                <a:effectLst/>
                <a:latin typeface="__vazir_46c312"/>
              </a:rPr>
              <a:t>stack </a:t>
            </a:r>
            <a:r>
              <a:rPr lang="fa-IR" b="0" i="0" dirty="0">
                <a:solidFill>
                  <a:srgbClr val="323232"/>
                </a:solidFill>
                <a:effectLst/>
                <a:latin typeface="__vazir_46c312"/>
              </a:rPr>
              <a:t>قرار می گیرد.</a:t>
            </a:r>
          </a:p>
          <a:p>
            <a:pPr algn="r" rtl="1"/>
            <a:r>
              <a:rPr lang="fa-IR" b="0" i="0" dirty="0">
                <a:solidFill>
                  <a:srgbClr val="323232"/>
                </a:solidFill>
                <a:effectLst/>
                <a:latin typeface="__vazir_46c312"/>
              </a:rPr>
              <a:t>خطایی که ممکن است در اثر استفاده نادرست از حافظه </a:t>
            </a:r>
            <a:r>
              <a:rPr lang="en-US" b="0" i="0" dirty="0">
                <a:solidFill>
                  <a:srgbClr val="323232"/>
                </a:solidFill>
                <a:effectLst/>
                <a:latin typeface="__vazir_46c312"/>
              </a:rPr>
              <a:t>stack </a:t>
            </a:r>
            <a:r>
              <a:rPr lang="fa-IR" b="0" i="0" dirty="0">
                <a:solidFill>
                  <a:srgbClr val="323232"/>
                </a:solidFill>
                <a:effectLst/>
                <a:latin typeface="__vazir_46c312"/>
              </a:rPr>
              <a:t>رخ دهد </a:t>
            </a:r>
            <a:r>
              <a:rPr lang="en-US" b="0" i="0" dirty="0">
                <a:solidFill>
                  <a:srgbClr val="323232"/>
                </a:solidFill>
                <a:effectLst/>
                <a:latin typeface="__vazir_46c312"/>
              </a:rPr>
              <a:t>stack overflow </a:t>
            </a:r>
            <a:r>
              <a:rPr lang="fa-IR" b="0" i="0" dirty="0">
                <a:solidFill>
                  <a:srgbClr val="323232"/>
                </a:solidFill>
                <a:effectLst/>
                <a:latin typeface="__vazir_46c312"/>
              </a:rPr>
              <a:t>است. از جمله دلایل </a:t>
            </a:r>
            <a:r>
              <a:rPr lang="en-US" b="0" i="0" dirty="0">
                <a:solidFill>
                  <a:srgbClr val="323232"/>
                </a:solidFill>
                <a:effectLst/>
                <a:latin typeface="__vazir_46c312"/>
              </a:rPr>
              <a:t>stack overflow </a:t>
            </a:r>
            <a:r>
              <a:rPr lang="fa-IR" b="0" i="0" dirty="0">
                <a:solidFill>
                  <a:srgbClr val="323232"/>
                </a:solidFill>
                <a:effectLst/>
                <a:latin typeface="__vazir_46c312"/>
              </a:rPr>
              <a:t>یا سر ریز می توان به استفاده از متغیرهای محلی حجیم که منجر به کاهش فضای آزاد در </a:t>
            </a:r>
            <a:r>
              <a:rPr lang="en-US" b="0" i="0" dirty="0">
                <a:solidFill>
                  <a:srgbClr val="323232"/>
                </a:solidFill>
                <a:effectLst/>
                <a:latin typeface="__vazir_46c312"/>
              </a:rPr>
              <a:t>stack </a:t>
            </a:r>
            <a:r>
              <a:rPr lang="fa-IR" b="0" i="0" dirty="0">
                <a:solidFill>
                  <a:srgbClr val="323232"/>
                </a:solidFill>
                <a:effectLst/>
                <a:latin typeface="__vazir_46c312"/>
              </a:rPr>
              <a:t>و تخریب یا </a:t>
            </a:r>
            <a:r>
              <a:rPr lang="en-US" b="0" i="0" dirty="0">
                <a:solidFill>
                  <a:srgbClr val="323232"/>
                </a:solidFill>
                <a:effectLst/>
                <a:latin typeface="__vazir_46c312"/>
              </a:rPr>
              <a:t>corrupt </a:t>
            </a:r>
            <a:r>
              <a:rPr lang="fa-IR" b="0" i="0" dirty="0">
                <a:solidFill>
                  <a:srgbClr val="323232"/>
                </a:solidFill>
                <a:effectLst/>
                <a:latin typeface="__vazir_46c312"/>
              </a:rPr>
              <a:t>شدن بخشی از </a:t>
            </a:r>
            <a:r>
              <a:rPr lang="en-US" b="0" i="0" dirty="0">
                <a:solidFill>
                  <a:srgbClr val="323232"/>
                </a:solidFill>
                <a:effectLst/>
                <a:latin typeface="__vazir_46c312"/>
              </a:rPr>
              <a:t>memory </a:t>
            </a:r>
            <a:r>
              <a:rPr lang="fa-IR" b="0" i="0" dirty="0">
                <a:solidFill>
                  <a:srgbClr val="323232"/>
                </a:solidFill>
                <a:effectLst/>
                <a:latin typeface="__vazir_46c312"/>
              </a:rPr>
              <a:t>اشاره کرد.</a:t>
            </a:r>
          </a:p>
          <a:p>
            <a:pPr marL="0" marR="0" lvl="0" indent="0" algn="r" defTabSz="914400" rtl="1" eaLnBrk="0" fontAlgn="base" latinLnBrk="0" hangingPunct="0">
              <a:lnSpc>
                <a:spcPct val="100000"/>
              </a:lnSpc>
              <a:spcBef>
                <a:spcPct val="30000"/>
              </a:spcBef>
              <a:spcAft>
                <a:spcPct val="0"/>
              </a:spcAft>
              <a:buClrTx/>
              <a:buSzTx/>
              <a:buFontTx/>
              <a:buNone/>
              <a:tabLst/>
              <a:defRPr/>
            </a:pPr>
            <a:r>
              <a:rPr lang="fa-IR" b="1" i="0" dirty="0">
                <a:solidFill>
                  <a:srgbClr val="323232"/>
                </a:solidFill>
                <a:effectLst/>
                <a:latin typeface="__vazir_46c312"/>
              </a:rPr>
              <a:t>حافظه </a:t>
            </a:r>
            <a:r>
              <a:rPr lang="en-US" b="1" i="0" dirty="0">
                <a:solidFill>
                  <a:srgbClr val="323232"/>
                </a:solidFill>
                <a:effectLst/>
                <a:latin typeface="__vazir_46c312"/>
              </a:rPr>
              <a:t>Heap</a:t>
            </a:r>
            <a:endParaRPr lang="en-US" altLang="en-US" dirty="0">
              <a:latin typeface="Times New Roman" panose="02020603050405020304" pitchFamily="18" charset="0"/>
            </a:endParaRPr>
          </a:p>
          <a:p>
            <a:pPr algn="r" rtl="1"/>
            <a:r>
              <a:rPr lang="fa-IR" b="0" i="0" dirty="0">
                <a:solidFill>
                  <a:srgbClr val="323232"/>
                </a:solidFill>
                <a:effectLst/>
                <a:latin typeface="__vazir_46c312"/>
              </a:rPr>
              <a:t>حافظه </a:t>
            </a:r>
            <a:r>
              <a:rPr lang="en-US" b="0" i="0" dirty="0">
                <a:solidFill>
                  <a:srgbClr val="323232"/>
                </a:solidFill>
                <a:effectLst/>
                <a:latin typeface="__vazir_46c312"/>
              </a:rPr>
              <a:t>Heap </a:t>
            </a:r>
            <a:r>
              <a:rPr lang="fa-IR" b="0" i="0" dirty="0">
                <a:solidFill>
                  <a:srgbClr val="323232"/>
                </a:solidFill>
                <a:effectLst/>
                <a:latin typeface="__vazir_46c312"/>
              </a:rPr>
              <a:t>در قست </a:t>
            </a:r>
            <a:r>
              <a:rPr lang="en-US" b="0" i="0" dirty="0">
                <a:solidFill>
                  <a:srgbClr val="323232"/>
                </a:solidFill>
                <a:effectLst/>
                <a:latin typeface="__vazir_46c312"/>
              </a:rPr>
              <a:t>user-space </a:t>
            </a:r>
            <a:r>
              <a:rPr lang="fa-IR" b="0" i="0" dirty="0">
                <a:solidFill>
                  <a:srgbClr val="323232"/>
                </a:solidFill>
                <a:effectLst/>
                <a:latin typeface="__vazir_46c312"/>
              </a:rPr>
              <a:t>حافظه مجازی قرار دارد و به صورت دستی توسط برنامه نویس مدیریت می شود. </a:t>
            </a:r>
            <a:r>
              <a:rPr lang="en-US" b="0" i="0" dirty="0">
                <a:solidFill>
                  <a:srgbClr val="323232"/>
                </a:solidFill>
                <a:effectLst/>
                <a:latin typeface="__vazir_46c312"/>
              </a:rPr>
              <a:t>Heap </a:t>
            </a:r>
            <a:r>
              <a:rPr lang="fa-IR" b="0" i="0" dirty="0">
                <a:solidFill>
                  <a:srgbClr val="323232"/>
                </a:solidFill>
                <a:effectLst/>
                <a:latin typeface="__vazir_46c312"/>
              </a:rPr>
              <a:t>مربوط به زمان اجرا (</a:t>
            </a:r>
            <a:r>
              <a:rPr lang="en-US" b="0" i="0" dirty="0">
                <a:solidFill>
                  <a:srgbClr val="323232"/>
                </a:solidFill>
                <a:effectLst/>
                <a:latin typeface="__vazir_46c312"/>
              </a:rPr>
              <a:t>runtime) </a:t>
            </a:r>
            <a:r>
              <a:rPr lang="fa-IR" b="0" i="0" dirty="0">
                <a:solidFill>
                  <a:srgbClr val="323232"/>
                </a:solidFill>
                <a:effectLst/>
                <a:latin typeface="__vazir_46c312"/>
              </a:rPr>
              <a:t>است و فضای اشغال شده در </a:t>
            </a:r>
            <a:r>
              <a:rPr lang="en-US" b="0" i="0" dirty="0">
                <a:solidFill>
                  <a:srgbClr val="323232"/>
                </a:solidFill>
                <a:effectLst/>
                <a:latin typeface="__vazir_46c312"/>
              </a:rPr>
              <a:t>heap </a:t>
            </a:r>
            <a:r>
              <a:rPr lang="fa-IR" b="0" i="0" dirty="0">
                <a:solidFill>
                  <a:srgbClr val="323232"/>
                </a:solidFill>
                <a:effectLst/>
                <a:latin typeface="__vazir_46c312"/>
              </a:rPr>
              <a:t>با اتمام کار تابع آزاد نمی شوند و تا زمانی که </a:t>
            </a:r>
            <a:r>
              <a:rPr lang="en-US" b="0" i="0" dirty="0">
                <a:solidFill>
                  <a:srgbClr val="323232"/>
                </a:solidFill>
                <a:effectLst/>
                <a:latin typeface="__vazir_46c312"/>
              </a:rPr>
              <a:t>Garbage Collector </a:t>
            </a:r>
            <a:r>
              <a:rPr lang="fa-IR" b="0" i="0" dirty="0">
                <a:solidFill>
                  <a:srgbClr val="323232"/>
                </a:solidFill>
                <a:effectLst/>
                <a:latin typeface="__vazir_46c312"/>
              </a:rPr>
              <a:t>این فضا را آزاد کند یا توسط برنامه نویس داده ها از حافظه </a:t>
            </a:r>
            <a:r>
              <a:rPr lang="en-US" b="0" i="0" dirty="0">
                <a:solidFill>
                  <a:srgbClr val="323232"/>
                </a:solidFill>
                <a:effectLst/>
                <a:latin typeface="__vazir_46c312"/>
              </a:rPr>
              <a:t>heap </a:t>
            </a:r>
            <a:r>
              <a:rPr lang="fa-IR" b="0" i="0" dirty="0">
                <a:solidFill>
                  <a:srgbClr val="323232"/>
                </a:solidFill>
                <a:effectLst/>
                <a:latin typeface="__vazir_46c312"/>
              </a:rPr>
              <a:t>پاک نشوند در این فضا باقی می ماند. اندازه حافظه </a:t>
            </a:r>
            <a:r>
              <a:rPr lang="en-US" b="0" i="0" dirty="0">
                <a:solidFill>
                  <a:srgbClr val="323232"/>
                </a:solidFill>
                <a:effectLst/>
                <a:latin typeface="__vazir_46c312"/>
              </a:rPr>
              <a:t>heap </a:t>
            </a:r>
            <a:r>
              <a:rPr lang="fa-IR" b="0" i="0" dirty="0">
                <a:solidFill>
                  <a:srgbClr val="323232"/>
                </a:solidFill>
                <a:effectLst/>
                <a:latin typeface="__vazir_46c312"/>
              </a:rPr>
              <a:t>متغیر است به همین دلیل به آن </a:t>
            </a:r>
            <a:r>
              <a:rPr lang="en-US" b="0" i="0" dirty="0">
                <a:solidFill>
                  <a:srgbClr val="323232"/>
                </a:solidFill>
                <a:effectLst/>
                <a:latin typeface="__vazir_46c312"/>
              </a:rPr>
              <a:t>dynamic memory </a:t>
            </a:r>
            <a:r>
              <a:rPr lang="fa-IR" b="0" i="0" dirty="0">
                <a:solidFill>
                  <a:srgbClr val="323232"/>
                </a:solidFill>
                <a:effectLst/>
                <a:latin typeface="__vazir_46c312"/>
              </a:rPr>
              <a:t>گفته می شود.</a:t>
            </a:r>
            <a:endParaRPr lang="en-US" b="0" i="0" dirty="0">
              <a:solidFill>
                <a:srgbClr val="323232"/>
              </a:solidFill>
              <a:effectLst/>
              <a:latin typeface="__vazir_46c312"/>
            </a:endParaRPr>
          </a:p>
          <a:p>
            <a:pPr algn="r" rtl="1"/>
            <a:r>
              <a:rPr lang="fa-IR" b="0" i="0" dirty="0">
                <a:solidFill>
                  <a:srgbClr val="323232"/>
                </a:solidFill>
                <a:effectLst/>
                <a:latin typeface="__vazir_46c312"/>
              </a:rPr>
              <a:t>در این نوع از حافظه برای ذخیره مقادیر ابتدا محاسبه ای توسط سیستم عامل صورت می گیرد تا اولین فضای حافظه ای که اندازه آن متناسب با اندازه ای که مورد نیاز ماست را پیدا کند، در صورت وجود این میزان از حافظه درخواستی آن را به صورت رزرو شده درمی آورد تا بقیه برنامه ها به این فضا دسترسی نداشته باشند، سپس آدرس ابتدای این فضای محاسبه شده به صورت یک اشاره گر (</a:t>
            </a:r>
            <a:r>
              <a:rPr lang="en-US" b="0" i="0" dirty="0">
                <a:solidFill>
                  <a:srgbClr val="323232"/>
                </a:solidFill>
                <a:effectLst/>
                <a:latin typeface="__vazir_46c312"/>
              </a:rPr>
              <a:t>pointer) </a:t>
            </a:r>
            <a:r>
              <a:rPr lang="fa-IR" b="0" i="0" dirty="0">
                <a:solidFill>
                  <a:srgbClr val="323232"/>
                </a:solidFill>
                <a:effectLst/>
                <a:latin typeface="__vazir_46c312"/>
              </a:rPr>
              <a:t>در اختیارمان قرار می دهد (یا به اصلاح </a:t>
            </a:r>
            <a:r>
              <a:rPr lang="en-US" b="0" i="0" dirty="0">
                <a:solidFill>
                  <a:srgbClr val="323232"/>
                </a:solidFill>
                <a:effectLst/>
                <a:latin typeface="__vazir_46c312"/>
              </a:rPr>
              <a:t>allocating).</a:t>
            </a:r>
          </a:p>
          <a:p>
            <a:pPr algn="r" rtl="1"/>
            <a:r>
              <a:rPr lang="fa-IR" b="0" i="0" dirty="0">
                <a:solidFill>
                  <a:srgbClr val="323232"/>
                </a:solidFill>
                <a:effectLst/>
                <a:latin typeface="__vazir_46c312"/>
              </a:rPr>
              <a:t>متغیر ها به صورت پیش فرض در این حافظه قرار نمی گیرند و اگر قصد ذخیره متغیر ها در این حافظه را داشته باشیم باید به صورت دستی این اقدام انجام شود. متغیر هایی که در </a:t>
            </a:r>
            <a:r>
              <a:rPr lang="en-US" b="0" i="0" dirty="0">
                <a:solidFill>
                  <a:srgbClr val="323232"/>
                </a:solidFill>
                <a:effectLst/>
                <a:latin typeface="__vazir_46c312"/>
              </a:rPr>
              <a:t>heap </a:t>
            </a:r>
            <a:r>
              <a:rPr lang="fa-IR" b="0" i="0" dirty="0">
                <a:solidFill>
                  <a:srgbClr val="323232"/>
                </a:solidFill>
                <a:effectLst/>
                <a:latin typeface="__vazir_46c312"/>
              </a:rPr>
              <a:t>ذخیره می شوند به طور خودکار حذف نمی شوند و باید توسط برنامه نویس و به صورت دستی حذف شوند. به طور کلی مدیریت حافظه </a:t>
            </a:r>
            <a:r>
              <a:rPr lang="en-US" b="0" i="0" dirty="0">
                <a:solidFill>
                  <a:srgbClr val="323232"/>
                </a:solidFill>
                <a:effectLst/>
                <a:latin typeface="__vazir_46c312"/>
              </a:rPr>
              <a:t>heap </a:t>
            </a:r>
            <a:r>
              <a:rPr lang="fa-IR" b="0" i="0" dirty="0">
                <a:solidFill>
                  <a:srgbClr val="323232"/>
                </a:solidFill>
                <a:effectLst/>
                <a:latin typeface="__vazir_46c312"/>
              </a:rPr>
              <a:t>به صورت دستی توسط برنامه نویس انجام می شود. آرایه های داینامیک در </a:t>
            </a:r>
            <a:r>
              <a:rPr lang="en-US" b="0" i="0" dirty="0">
                <a:solidFill>
                  <a:srgbClr val="323232"/>
                </a:solidFill>
                <a:effectLst/>
                <a:latin typeface="__vazir_46c312"/>
              </a:rPr>
              <a:t>heap </a:t>
            </a:r>
            <a:r>
              <a:rPr lang="fa-IR" b="0" i="0" dirty="0">
                <a:solidFill>
                  <a:srgbClr val="323232"/>
                </a:solidFill>
                <a:effectLst/>
                <a:latin typeface="__vazir_46c312"/>
              </a:rPr>
              <a:t>ذخیره می شوند.</a:t>
            </a:r>
          </a:p>
          <a:p>
            <a:pPr algn="r" rtl="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041760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FB97593-0041-4772-A59B-E780BE22DF40}"/>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677EF500-B7A4-4BC7-84F3-DC9FCA5B57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 stack and heap sections can shrink and grow dynamically during program execution. </a:t>
            </a:r>
          </a:p>
          <a:p>
            <a:r>
              <a:rPr lang="en-US" b="1" dirty="0"/>
              <a:t>Each time a function is called, an activation record </a:t>
            </a:r>
            <a:r>
              <a:rPr lang="en-US" dirty="0"/>
              <a:t>containing </a:t>
            </a:r>
            <a:r>
              <a:rPr lang="en-US" b="1" dirty="0"/>
              <a:t>function parameters</a:t>
            </a:r>
            <a:r>
              <a:rPr lang="en-US" dirty="0"/>
              <a:t>, local </a:t>
            </a:r>
            <a:r>
              <a:rPr lang="en-US" b="1" dirty="0"/>
              <a:t>variables</a:t>
            </a:r>
            <a:r>
              <a:rPr lang="en-US" dirty="0"/>
              <a:t>, and the </a:t>
            </a:r>
            <a:r>
              <a:rPr lang="en-US" b="1" dirty="0"/>
              <a:t>return address </a:t>
            </a:r>
            <a:r>
              <a:rPr lang="en-US" dirty="0"/>
              <a:t>is pushed onto the </a:t>
            </a:r>
            <a:r>
              <a:rPr lang="en-US" b="1" dirty="0"/>
              <a:t>stack</a:t>
            </a:r>
            <a:r>
              <a:rPr lang="en-US" dirty="0"/>
              <a:t>; when </a:t>
            </a:r>
            <a:r>
              <a:rPr lang="en-US" b="1" dirty="0"/>
              <a:t>control is returned from the function</a:t>
            </a:r>
            <a:r>
              <a:rPr lang="en-US" dirty="0"/>
              <a:t>, the activation record is </a:t>
            </a:r>
            <a:r>
              <a:rPr lang="en-US" b="1" dirty="0"/>
              <a:t>popped from the stack</a:t>
            </a:r>
            <a:r>
              <a:rPr lang="en-US" dirty="0"/>
              <a:t>.</a:t>
            </a:r>
          </a:p>
        </p:txBody>
      </p:sp>
    </p:spTree>
    <p:extLst>
      <p:ext uri="{BB962C8B-B14F-4D97-AF65-F5344CB8AC3E}">
        <p14:creationId xmlns:p14="http://schemas.microsoft.com/office/powerpoint/2010/main" val="3601761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55D7E6C-E4BC-4E16-83B1-ED424A35489A}"/>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96D47F81-B4E3-449F-BAFA-037C273646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 stack and heap sections grow toward one another, the operating system must ensure they do not overlap one another.</a:t>
            </a:r>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b="0" i="0" dirty="0">
                <a:solidFill>
                  <a:srgbClr val="1F1F1F"/>
                </a:solidFill>
                <a:effectLst/>
                <a:latin typeface="Helvetica Neue"/>
              </a:rPr>
              <a:t>In C, the library function malloc is used to </a:t>
            </a:r>
            <a:r>
              <a:rPr lang="en-US" b="0" i="0" dirty="0">
                <a:solidFill>
                  <a:srgbClr val="040C28"/>
                </a:solidFill>
                <a:effectLst/>
                <a:latin typeface="Helvetica Neue"/>
              </a:rPr>
              <a:t>allocate a block of memory on the heap</a:t>
            </a:r>
            <a:r>
              <a:rPr lang="en-US" b="0" i="0" dirty="0">
                <a:solidFill>
                  <a:srgbClr val="1F1F1F"/>
                </a:solidFill>
                <a:effectLst/>
                <a:latin typeface="Helvetica Neue"/>
              </a:rPr>
              <a:t>. The program accesses this block of memory via a pointer that malloc returns. When the memory is no longer needed, the pointer is passed to free which deallocates the memory so that it can be used for other purposes. </a:t>
            </a:r>
          </a:p>
          <a:p>
            <a:pPr algn="l">
              <a:buFont typeface="+mj-lt"/>
              <a:buAutoNum type="arabicPeriod"/>
            </a:pPr>
            <a:r>
              <a:rPr lang="en-US" b="1" i="0" dirty="0">
                <a:solidFill>
                  <a:srgbClr val="111111"/>
                </a:solidFill>
                <a:effectLst/>
                <a:latin typeface="-apple-system"/>
              </a:rPr>
              <a:t>int y = 15;</a:t>
            </a:r>
            <a:endParaRPr lang="en-US" b="0" i="0" dirty="0">
              <a:solidFill>
                <a:srgbClr val="111111"/>
              </a:solidFill>
              <a:effectLst/>
              <a:latin typeface="-apple-system"/>
            </a:endParaRPr>
          </a:p>
          <a:p>
            <a:pPr marL="742950" marR="0" lvl="1" indent="-285750" algn="l" defTabSz="914400" rtl="0" eaLnBrk="0" fontAlgn="base" latinLnBrk="0" hangingPunct="0">
              <a:lnSpc>
                <a:spcPct val="100000"/>
              </a:lnSpc>
              <a:spcBef>
                <a:spcPct val="30000"/>
              </a:spcBef>
              <a:spcAft>
                <a:spcPct val="0"/>
              </a:spcAft>
              <a:buClrTx/>
              <a:buSzTx/>
              <a:buFont typeface="+mj-lt"/>
              <a:buAutoNum type="arabicPeriod"/>
              <a:tabLst/>
              <a:defRPr/>
            </a:pPr>
            <a:r>
              <a:rPr lang="en-US" b="0" i="0" dirty="0">
                <a:solidFill>
                  <a:srgbClr val="111111"/>
                </a:solidFill>
                <a:effectLst/>
                <a:latin typeface="-apple-system"/>
              </a:rPr>
              <a:t>The variable y is declared and initialized with the value 15.; The variable x is declared but not initialized; It will be stored in the </a:t>
            </a:r>
            <a:r>
              <a:rPr lang="en-US" b="1" i="0" dirty="0">
                <a:solidFill>
                  <a:srgbClr val="111111"/>
                </a:solidFill>
                <a:effectLst/>
                <a:latin typeface="-apple-system"/>
              </a:rPr>
              <a:t>stack memory</a:t>
            </a:r>
            <a:r>
              <a:rPr lang="en-US" b="0" i="0" dirty="0">
                <a:solidFill>
                  <a:srgbClr val="111111"/>
                </a:solidFill>
                <a:effectLst/>
                <a:latin typeface="-apple-system"/>
              </a:rPr>
              <a:t>.</a:t>
            </a:r>
            <a:endParaRPr lang="en-US" b="0" i="0" dirty="0">
              <a:solidFill>
                <a:srgbClr val="1F1F1F"/>
              </a:solidFill>
              <a:effectLst/>
              <a:latin typeface="Helvetica Neue"/>
            </a:endParaRPr>
          </a:p>
          <a:p>
            <a:pPr algn="l">
              <a:buFont typeface="+mj-lt"/>
              <a:buAutoNum type="arabicPeriod"/>
            </a:pPr>
            <a:r>
              <a:rPr lang="en-US" b="1" i="0" dirty="0">
                <a:solidFill>
                  <a:srgbClr val="111111"/>
                </a:solidFill>
                <a:effectLst/>
                <a:latin typeface="-apple-system"/>
              </a:rPr>
              <a:t>for(</a:t>
            </a:r>
            <a:r>
              <a:rPr lang="en-US" b="1" i="0" dirty="0" err="1">
                <a:solidFill>
                  <a:srgbClr val="111111"/>
                </a:solidFill>
                <a:effectLst/>
                <a:latin typeface="-apple-system"/>
              </a:rPr>
              <a:t>i</a:t>
            </a:r>
            <a:r>
              <a:rPr lang="en-US" b="1" i="0" dirty="0">
                <a:solidFill>
                  <a:srgbClr val="111111"/>
                </a:solidFill>
                <a:effectLst/>
                <a:latin typeface="-apple-system"/>
              </a:rPr>
              <a:t> = 0; </a:t>
            </a:r>
            <a:r>
              <a:rPr lang="en-US" b="1" i="0" dirty="0" err="1">
                <a:solidFill>
                  <a:srgbClr val="111111"/>
                </a:solidFill>
                <a:effectLst/>
                <a:latin typeface="-apple-system"/>
              </a:rPr>
              <a:t>i</a:t>
            </a:r>
            <a:r>
              <a:rPr lang="en-US" b="1" i="0" dirty="0">
                <a:solidFill>
                  <a:srgbClr val="111111"/>
                </a:solidFill>
                <a:effectLst/>
                <a:latin typeface="-apple-system"/>
              </a:rPr>
              <a:t> &lt; 5; </a:t>
            </a:r>
            <a:r>
              <a:rPr lang="en-US" b="1" i="0" dirty="0" err="1">
                <a:solidFill>
                  <a:srgbClr val="111111"/>
                </a:solidFill>
                <a:effectLst/>
                <a:latin typeface="-apple-system"/>
              </a:rPr>
              <a:t>i</a:t>
            </a:r>
            <a:r>
              <a:rPr lang="en-US" b="1" i="0" dirty="0">
                <a:solidFill>
                  <a:srgbClr val="111111"/>
                </a:solidFill>
                <a:effectLst/>
                <a:latin typeface="-apple-system"/>
              </a:rPr>
              <a:t>++)</a:t>
            </a:r>
            <a:endParaRPr lang="en-US" b="0" i="0" dirty="0">
              <a:solidFill>
                <a:srgbClr val="111111"/>
              </a:solidFill>
              <a:effectLst/>
              <a:latin typeface="-apple-system"/>
            </a:endParaRPr>
          </a:p>
          <a:p>
            <a:pPr marL="457200" lvl="1" indent="0" algn="l">
              <a:buFont typeface="+mj-lt"/>
              <a:buNone/>
            </a:pPr>
            <a:r>
              <a:rPr lang="en-US" b="0" i="0" dirty="0">
                <a:solidFill>
                  <a:srgbClr val="111111"/>
                </a:solidFill>
                <a:effectLst/>
                <a:latin typeface="-apple-system"/>
              </a:rPr>
              <a:t>The array elements (values[0] to values[4]) are stored in the </a:t>
            </a:r>
            <a:r>
              <a:rPr lang="en-US" b="1" i="0" dirty="0">
                <a:solidFill>
                  <a:srgbClr val="111111"/>
                </a:solidFill>
                <a:effectLst/>
                <a:latin typeface="-apple-system"/>
              </a:rPr>
              <a:t>heap memory</a:t>
            </a:r>
            <a:r>
              <a:rPr lang="en-US" b="0" i="0" dirty="0">
                <a:solidFill>
                  <a:srgbClr val="111111"/>
                </a:solidFill>
                <a:effectLst/>
                <a:latin typeface="-apple-system"/>
              </a:rPr>
              <a:t>.</a:t>
            </a:r>
          </a:p>
          <a:p>
            <a:pPr algn="l">
              <a:buFont typeface="+mj-lt"/>
              <a:buAutoNum type="arabicPeriod"/>
            </a:pPr>
            <a:r>
              <a:rPr lang="en-US" b="1" i="0" dirty="0">
                <a:solidFill>
                  <a:srgbClr val="111111"/>
                </a:solidFill>
                <a:effectLst/>
                <a:latin typeface="-apple-system"/>
              </a:rPr>
              <a:t>return 0;</a:t>
            </a:r>
            <a:endParaRPr lang="en-US" b="0" i="0" dirty="0">
              <a:solidFill>
                <a:srgbClr val="111111"/>
              </a:solidFill>
              <a:effectLst/>
              <a:latin typeface="-apple-system"/>
            </a:endParaRPr>
          </a:p>
          <a:p>
            <a:pPr algn="l">
              <a:buFont typeface="+mj-lt"/>
              <a:buAutoNum type="arabicPeriod"/>
            </a:pPr>
            <a:r>
              <a:rPr lang="en-US" b="0" i="0" dirty="0">
                <a:solidFill>
                  <a:srgbClr val="111111"/>
                </a:solidFill>
                <a:effectLst/>
                <a:latin typeface="-apple-system"/>
              </a:rPr>
              <a:t>The main function returns 0.</a:t>
            </a:r>
            <a:r>
              <a:rPr lang="en-US" b="1" i="0" dirty="0">
                <a:solidFill>
                  <a:srgbClr val="111111"/>
                </a:solidFill>
                <a:effectLst/>
                <a:latin typeface="-apple-system"/>
              </a:rPr>
              <a:t> for(</a:t>
            </a:r>
            <a:r>
              <a:rPr lang="en-US" b="1" i="0" dirty="0" err="1">
                <a:solidFill>
                  <a:srgbClr val="111111"/>
                </a:solidFill>
                <a:effectLst/>
                <a:latin typeface="-apple-system"/>
              </a:rPr>
              <a:t>i</a:t>
            </a:r>
            <a:r>
              <a:rPr lang="en-US" b="1" i="0" dirty="0">
                <a:solidFill>
                  <a:srgbClr val="111111"/>
                </a:solidFill>
                <a:effectLst/>
                <a:latin typeface="-apple-system"/>
              </a:rPr>
              <a:t> = 0; </a:t>
            </a:r>
            <a:r>
              <a:rPr lang="en-US" b="1" i="0" dirty="0" err="1">
                <a:solidFill>
                  <a:srgbClr val="111111"/>
                </a:solidFill>
                <a:effectLst/>
                <a:latin typeface="-apple-system"/>
              </a:rPr>
              <a:t>i</a:t>
            </a:r>
            <a:r>
              <a:rPr lang="en-US" b="1" i="0" dirty="0">
                <a:solidFill>
                  <a:srgbClr val="111111"/>
                </a:solidFill>
                <a:effectLst/>
                <a:latin typeface="-apple-system"/>
              </a:rPr>
              <a:t> &lt; 5; </a:t>
            </a:r>
            <a:r>
              <a:rPr lang="en-US" b="1" i="0" dirty="0" err="1">
                <a:solidFill>
                  <a:srgbClr val="111111"/>
                </a:solidFill>
                <a:effectLst/>
                <a:latin typeface="-apple-system"/>
              </a:rPr>
              <a:t>i</a:t>
            </a:r>
            <a:r>
              <a:rPr lang="en-US" b="1" i="0" dirty="0">
                <a:solidFill>
                  <a:srgbClr val="111111"/>
                </a:solidFill>
                <a:effectLst/>
                <a:latin typeface="-apple-system"/>
              </a:rPr>
              <a:t>++)</a:t>
            </a:r>
            <a:endParaRPr lang="en-US" b="0" i="0" dirty="0">
              <a:solidFill>
                <a:srgbClr val="111111"/>
              </a:solidFill>
              <a:effectLst/>
              <a:latin typeface="-apple-system"/>
            </a:endParaRPr>
          </a:p>
          <a:p>
            <a:pPr marL="742950" lvl="1" indent="-285750" algn="l">
              <a:buFont typeface="+mj-lt"/>
              <a:buAutoNum type="arabicPeriod"/>
            </a:pPr>
            <a:r>
              <a:rPr lang="en-US" b="0" i="0" dirty="0">
                <a:solidFill>
                  <a:srgbClr val="111111"/>
                </a:solidFill>
                <a:effectLst/>
                <a:latin typeface="-apple-system"/>
              </a:rPr>
              <a:t>The loop iterates over the array (allocated memory) and assigns values to it.</a:t>
            </a:r>
          </a:p>
          <a:p>
            <a:pPr marL="742950" lvl="1" indent="-285750" algn="l">
              <a:buFont typeface="+mj-lt"/>
              <a:buAutoNum type="arabicPeriod"/>
            </a:pPr>
            <a:r>
              <a:rPr lang="en-US" b="0" i="0" dirty="0">
                <a:solidFill>
                  <a:srgbClr val="111111"/>
                </a:solidFill>
                <a:effectLst/>
                <a:latin typeface="-apple-system"/>
              </a:rPr>
              <a:t>The array elements (values[0] to values[4]) are stored in the </a:t>
            </a:r>
            <a:r>
              <a:rPr lang="en-US" b="1" i="0" dirty="0">
                <a:solidFill>
                  <a:srgbClr val="111111"/>
                </a:solidFill>
                <a:effectLst/>
                <a:latin typeface="-apple-system"/>
              </a:rPr>
              <a:t>heap memory</a:t>
            </a:r>
            <a:r>
              <a:rPr lang="en-US" b="0" i="0" dirty="0">
                <a:solidFill>
                  <a:srgbClr val="111111"/>
                </a:solidFill>
                <a:effectLst/>
                <a:latin typeface="-apple-system"/>
              </a:rPr>
              <a:t>.</a:t>
            </a:r>
          </a:p>
          <a:p>
            <a:pPr algn="l">
              <a:buFont typeface="+mj-lt"/>
              <a:buAutoNum type="arabicPeriod"/>
            </a:pPr>
            <a:r>
              <a:rPr lang="en-US" b="1" i="0" dirty="0">
                <a:solidFill>
                  <a:srgbClr val="111111"/>
                </a:solidFill>
                <a:effectLst/>
                <a:latin typeface="-apple-system"/>
              </a:rPr>
              <a:t>return 0;</a:t>
            </a:r>
            <a:endParaRPr lang="en-US" b="0" i="0" dirty="0">
              <a:solidFill>
                <a:srgbClr val="111111"/>
              </a:solidFill>
              <a:effectLst/>
              <a:latin typeface="-apple-system"/>
            </a:endParaRPr>
          </a:p>
          <a:p>
            <a:pPr marL="742950" lvl="1" indent="-285750" algn="l">
              <a:buFont typeface="+mj-lt"/>
              <a:buAutoNum type="arabicPeriod"/>
            </a:pPr>
            <a:r>
              <a:rPr lang="en-US" b="0" i="0" dirty="0">
                <a:solidFill>
                  <a:srgbClr val="111111"/>
                </a:solidFill>
                <a:effectLst/>
                <a:latin typeface="-apple-system"/>
              </a:rPr>
              <a:t>The return value is stored in a </a:t>
            </a:r>
            <a:r>
              <a:rPr lang="en-US" b="1" i="0" dirty="0">
                <a:solidFill>
                  <a:srgbClr val="111111"/>
                </a:solidFill>
                <a:effectLst/>
                <a:latin typeface="-apple-system"/>
              </a:rPr>
              <a:t>register</a:t>
            </a:r>
            <a:r>
              <a:rPr lang="en-US" b="0" i="0" dirty="0">
                <a:solidFill>
                  <a:srgbClr val="111111"/>
                </a:solidFill>
                <a:effectLst/>
                <a:latin typeface="-apple-system"/>
              </a:rPr>
              <a:t> (not in memory).</a:t>
            </a:r>
          </a:p>
          <a:p>
            <a:endParaRPr lang="en-US" b="0" i="0" dirty="0">
              <a:solidFill>
                <a:srgbClr val="1F1F1F"/>
              </a:solidFill>
              <a:effectLst/>
              <a:latin typeface="Helvetica Neue"/>
            </a:endParaRPr>
          </a:p>
          <a:p>
            <a:endParaRPr lang="en-US" b="0" i="0" dirty="0">
              <a:solidFill>
                <a:srgbClr val="1F1F1F"/>
              </a:solidFill>
              <a:effectLst/>
              <a:latin typeface="Helvetica Neue"/>
            </a:endParaRPr>
          </a:p>
          <a:p>
            <a:pPr algn="l"/>
            <a:r>
              <a:rPr lang="en-US" b="1" i="0" dirty="0">
                <a:solidFill>
                  <a:srgbClr val="111111"/>
                </a:solidFill>
                <a:effectLst/>
                <a:latin typeface="-apple-system"/>
              </a:rPr>
              <a:t>Stack Memory:</a:t>
            </a:r>
            <a:endParaRPr lang="en-US" b="0" i="0" dirty="0">
              <a:solidFill>
                <a:srgbClr val="111111"/>
              </a:solidFill>
              <a:effectLst/>
              <a:latin typeface="-apple-system"/>
            </a:endParaRPr>
          </a:p>
          <a:p>
            <a:pPr algn="l">
              <a:buFont typeface="Arial" panose="020B0604020202020204" pitchFamily="34" charset="0"/>
              <a:buChar char="•"/>
            </a:pPr>
            <a:r>
              <a:rPr lang="en-US" b="1" i="0" dirty="0">
                <a:solidFill>
                  <a:srgbClr val="111111"/>
                </a:solidFill>
                <a:effectLst/>
                <a:latin typeface="-apple-system"/>
              </a:rPr>
              <a:t>Purpose:</a:t>
            </a:r>
            <a:endParaRPr lang="en-US" b="0" i="0" dirty="0">
              <a:solidFill>
                <a:srgbClr val="111111"/>
              </a:solidFill>
              <a:effectLst/>
              <a:latin typeface="-apple-system"/>
            </a:endParaRPr>
          </a:p>
          <a:p>
            <a:pPr marL="742950" lvl="1" indent="-285750" algn="l">
              <a:buFont typeface="Arial" panose="020B0604020202020204" pitchFamily="34" charset="0"/>
              <a:buChar char="•"/>
            </a:pPr>
            <a:r>
              <a:rPr lang="en-US" b="0" i="0" dirty="0">
                <a:solidFill>
                  <a:srgbClr val="111111"/>
                </a:solidFill>
                <a:effectLst/>
                <a:latin typeface="-apple-system"/>
              </a:rPr>
              <a:t>Used for </a:t>
            </a:r>
            <a:r>
              <a:rPr lang="en-US" b="1" i="0" dirty="0">
                <a:solidFill>
                  <a:srgbClr val="111111"/>
                </a:solidFill>
                <a:effectLst/>
                <a:latin typeface="-apple-system"/>
              </a:rPr>
              <a:t>local variables</a:t>
            </a:r>
            <a:r>
              <a:rPr lang="en-US" b="0" i="0" dirty="0">
                <a:solidFill>
                  <a:srgbClr val="111111"/>
                </a:solidFill>
                <a:effectLst/>
                <a:latin typeface="-apple-system"/>
              </a:rPr>
              <a:t> and function call management.</a:t>
            </a:r>
          </a:p>
          <a:p>
            <a:pPr marL="742950" lvl="1" indent="-285750" algn="l">
              <a:buFont typeface="Arial" panose="020B0604020202020204" pitchFamily="34" charset="0"/>
              <a:buChar char="•"/>
            </a:pPr>
            <a:r>
              <a:rPr lang="en-US" b="0" i="0" dirty="0">
                <a:solidFill>
                  <a:srgbClr val="111111"/>
                </a:solidFill>
                <a:effectLst/>
                <a:latin typeface="-apple-system"/>
              </a:rPr>
              <a:t>Each function call creates a new </a:t>
            </a:r>
            <a:r>
              <a:rPr lang="en-US" b="1" i="0" dirty="0">
                <a:solidFill>
                  <a:srgbClr val="111111"/>
                </a:solidFill>
                <a:effectLst/>
                <a:latin typeface="-apple-system"/>
              </a:rPr>
              <a:t>stack frame</a:t>
            </a:r>
            <a:r>
              <a:rPr lang="en-US" b="0" i="0" dirty="0">
                <a:solidFill>
                  <a:srgbClr val="111111"/>
                </a:solidFill>
                <a:effectLst/>
                <a:latin typeface="-apple-system"/>
              </a:rPr>
              <a:t>.</a:t>
            </a:r>
          </a:p>
          <a:p>
            <a:pPr algn="l">
              <a:buFont typeface="Arial" panose="020B0604020202020204" pitchFamily="34" charset="0"/>
              <a:buChar char="•"/>
            </a:pPr>
            <a:r>
              <a:rPr lang="en-US" b="1" i="0" dirty="0">
                <a:solidFill>
                  <a:srgbClr val="111111"/>
                </a:solidFill>
                <a:effectLst/>
                <a:latin typeface="-apple-system"/>
              </a:rPr>
              <a:t>Allocation:</a:t>
            </a:r>
            <a:endParaRPr lang="en-US" b="0" i="0" dirty="0">
              <a:solidFill>
                <a:srgbClr val="111111"/>
              </a:solidFill>
              <a:effectLst/>
              <a:latin typeface="-apple-system"/>
            </a:endParaRPr>
          </a:p>
          <a:p>
            <a:pPr marL="742950" lvl="1" indent="-285750" algn="l">
              <a:buFont typeface="Arial" panose="020B0604020202020204" pitchFamily="34" charset="0"/>
              <a:buChar char="•"/>
            </a:pPr>
            <a:r>
              <a:rPr lang="en-US" b="0" i="0" dirty="0">
                <a:solidFill>
                  <a:srgbClr val="111111"/>
                </a:solidFill>
                <a:effectLst/>
                <a:latin typeface="-apple-system"/>
              </a:rPr>
              <a:t>Memory is </a:t>
            </a:r>
            <a:r>
              <a:rPr lang="en-US" b="1" i="0" dirty="0">
                <a:solidFill>
                  <a:srgbClr val="111111"/>
                </a:solidFill>
                <a:effectLst/>
                <a:latin typeface="-apple-system"/>
              </a:rPr>
              <a:t>allocated automatically</a:t>
            </a:r>
            <a:r>
              <a:rPr lang="en-US" b="0" i="0" dirty="0">
                <a:solidFill>
                  <a:srgbClr val="111111"/>
                </a:solidFill>
                <a:effectLst/>
                <a:latin typeface="-apple-system"/>
              </a:rPr>
              <a:t>.</a:t>
            </a:r>
          </a:p>
          <a:p>
            <a:pPr marL="742950" lvl="1" indent="-285750" algn="l">
              <a:buFont typeface="Arial" panose="020B0604020202020204" pitchFamily="34" charset="0"/>
              <a:buChar char="•"/>
            </a:pPr>
            <a:r>
              <a:rPr lang="en-US" b="0" i="0" dirty="0">
                <a:solidFill>
                  <a:srgbClr val="111111"/>
                </a:solidFill>
                <a:effectLst/>
                <a:latin typeface="-apple-system"/>
              </a:rPr>
              <a:t>Variables are created when a function is called and destroyed when it returns.</a:t>
            </a:r>
          </a:p>
          <a:p>
            <a:pPr algn="l">
              <a:buFont typeface="Arial" panose="020B0604020202020204" pitchFamily="34" charset="0"/>
              <a:buChar char="•"/>
            </a:pPr>
            <a:r>
              <a:rPr lang="en-US" b="1" i="0" dirty="0">
                <a:solidFill>
                  <a:srgbClr val="111111"/>
                </a:solidFill>
                <a:effectLst/>
                <a:latin typeface="-apple-system"/>
              </a:rPr>
              <a:t>Size:</a:t>
            </a:r>
            <a:endParaRPr lang="en-US" b="0" i="0" dirty="0">
              <a:solidFill>
                <a:srgbClr val="111111"/>
              </a:solidFill>
              <a:effectLst/>
              <a:latin typeface="-apple-system"/>
            </a:endParaRPr>
          </a:p>
          <a:p>
            <a:pPr marL="742950" lvl="1" indent="-285750" algn="l">
              <a:buFont typeface="Arial" panose="020B0604020202020204" pitchFamily="34" charset="0"/>
              <a:buChar char="•"/>
            </a:pPr>
            <a:r>
              <a:rPr lang="en-US" b="0" i="0" dirty="0">
                <a:solidFill>
                  <a:srgbClr val="111111"/>
                </a:solidFill>
                <a:effectLst/>
                <a:latin typeface="-apple-system"/>
              </a:rPr>
              <a:t>Typically </a:t>
            </a:r>
            <a:r>
              <a:rPr lang="en-US" b="1" i="0" dirty="0">
                <a:solidFill>
                  <a:srgbClr val="111111"/>
                </a:solidFill>
                <a:effectLst/>
                <a:latin typeface="-apple-system"/>
              </a:rPr>
              <a:t>limited</a:t>
            </a:r>
            <a:r>
              <a:rPr lang="en-US" b="0" i="0" dirty="0">
                <a:solidFill>
                  <a:srgbClr val="111111"/>
                </a:solidFill>
                <a:effectLst/>
                <a:latin typeface="-apple-system"/>
              </a:rPr>
              <a:t> in size.</a:t>
            </a:r>
          </a:p>
          <a:p>
            <a:endParaRPr lang="en-US" b="0" i="0" dirty="0">
              <a:solidFill>
                <a:srgbClr val="1F1F1F"/>
              </a:solidFill>
              <a:effectLst/>
              <a:latin typeface="Helvetica Neue"/>
            </a:endParaRPr>
          </a:p>
          <a:p>
            <a:pPr algn="l"/>
            <a:r>
              <a:rPr lang="en-US" b="1" i="0" dirty="0">
                <a:solidFill>
                  <a:srgbClr val="111111"/>
                </a:solidFill>
                <a:effectLst/>
                <a:latin typeface="-apple-system"/>
              </a:rPr>
              <a:t>Heap Memory:</a:t>
            </a:r>
            <a:endParaRPr lang="en-US" b="0" i="0" dirty="0">
              <a:solidFill>
                <a:srgbClr val="111111"/>
              </a:solidFill>
              <a:effectLst/>
              <a:latin typeface="-apple-system"/>
            </a:endParaRPr>
          </a:p>
          <a:p>
            <a:pPr algn="l">
              <a:buFont typeface="Arial" panose="020B0604020202020204" pitchFamily="34" charset="0"/>
              <a:buChar char="•"/>
            </a:pPr>
            <a:r>
              <a:rPr lang="en-US" b="1" i="0" dirty="0">
                <a:solidFill>
                  <a:srgbClr val="111111"/>
                </a:solidFill>
                <a:effectLst/>
                <a:latin typeface="-apple-system"/>
              </a:rPr>
              <a:t>Purpose:</a:t>
            </a:r>
            <a:endParaRPr lang="en-US" b="0" i="0" dirty="0">
              <a:solidFill>
                <a:srgbClr val="111111"/>
              </a:solidFill>
              <a:effectLst/>
              <a:latin typeface="-apple-system"/>
            </a:endParaRPr>
          </a:p>
          <a:p>
            <a:pPr marL="742950" lvl="1" indent="-285750" algn="l">
              <a:buFont typeface="Arial" panose="020B0604020202020204" pitchFamily="34" charset="0"/>
              <a:buChar char="•"/>
            </a:pPr>
            <a:r>
              <a:rPr lang="en-US" b="0" i="0" dirty="0">
                <a:solidFill>
                  <a:srgbClr val="111111"/>
                </a:solidFill>
                <a:effectLst/>
                <a:latin typeface="-apple-system"/>
              </a:rPr>
              <a:t>Used for </a:t>
            </a:r>
            <a:r>
              <a:rPr lang="en-US" b="1" i="0" dirty="0">
                <a:solidFill>
                  <a:srgbClr val="111111"/>
                </a:solidFill>
                <a:effectLst/>
                <a:latin typeface="-apple-system"/>
              </a:rPr>
              <a:t>dynamic memory allocation</a:t>
            </a:r>
            <a:r>
              <a:rPr lang="en-US" b="0" i="0" dirty="0">
                <a:solidFill>
                  <a:srgbClr val="111111"/>
                </a:solidFill>
                <a:effectLst/>
                <a:latin typeface="-apple-system"/>
              </a:rPr>
              <a:t> (e.g., with malloc, new, etc.).</a:t>
            </a:r>
          </a:p>
          <a:p>
            <a:pPr marL="742950" lvl="1" indent="-285750" algn="l">
              <a:buFont typeface="Arial" panose="020B0604020202020204" pitchFamily="34" charset="0"/>
              <a:buChar char="•"/>
            </a:pPr>
            <a:r>
              <a:rPr lang="en-US" b="0" i="0" dirty="0">
                <a:solidFill>
                  <a:srgbClr val="111111"/>
                </a:solidFill>
                <a:effectLst/>
                <a:latin typeface="-apple-system"/>
              </a:rPr>
              <a:t>Memory persists beyond function calls.</a:t>
            </a:r>
          </a:p>
          <a:p>
            <a:pPr algn="l">
              <a:buFont typeface="Arial" panose="020B0604020202020204" pitchFamily="34" charset="0"/>
              <a:buChar char="•"/>
            </a:pPr>
            <a:r>
              <a:rPr lang="en-US" b="1" i="0" dirty="0">
                <a:solidFill>
                  <a:srgbClr val="111111"/>
                </a:solidFill>
                <a:effectLst/>
                <a:latin typeface="-apple-system"/>
              </a:rPr>
              <a:t>Allocation:</a:t>
            </a:r>
            <a:endParaRPr lang="en-US" b="0" i="0" dirty="0">
              <a:solidFill>
                <a:srgbClr val="111111"/>
              </a:solidFill>
              <a:effectLst/>
              <a:latin typeface="-apple-system"/>
            </a:endParaRPr>
          </a:p>
          <a:p>
            <a:pPr marL="742950" lvl="1" indent="-285750" algn="l">
              <a:buFont typeface="Arial" panose="020B0604020202020204" pitchFamily="34" charset="0"/>
              <a:buChar char="•"/>
            </a:pPr>
            <a:r>
              <a:rPr lang="en-US" b="1" i="0" dirty="0">
                <a:solidFill>
                  <a:srgbClr val="111111"/>
                </a:solidFill>
                <a:effectLst/>
                <a:latin typeface="-apple-system"/>
              </a:rPr>
              <a:t>Manual allocation</a:t>
            </a:r>
            <a:r>
              <a:rPr lang="en-US" b="0" i="0" dirty="0">
                <a:solidFill>
                  <a:srgbClr val="111111"/>
                </a:solidFill>
                <a:effectLst/>
                <a:latin typeface="-apple-system"/>
              </a:rPr>
              <a:t> and deallocation.</a:t>
            </a:r>
          </a:p>
          <a:p>
            <a:pPr marL="742950" lvl="1" indent="-285750" algn="l">
              <a:buFont typeface="Arial" panose="020B0604020202020204" pitchFamily="34" charset="0"/>
              <a:buChar char="•"/>
            </a:pPr>
            <a:r>
              <a:rPr lang="en-US" b="0" i="0" dirty="0">
                <a:solidFill>
                  <a:srgbClr val="111111"/>
                </a:solidFill>
                <a:effectLst/>
                <a:latin typeface="-apple-system"/>
              </a:rPr>
              <a:t>Programmer must explicitly allocate and free memory.</a:t>
            </a:r>
          </a:p>
          <a:p>
            <a:pPr algn="l">
              <a:buFont typeface="Arial" panose="020B0604020202020204" pitchFamily="34" charset="0"/>
              <a:buChar char="•"/>
            </a:pPr>
            <a:r>
              <a:rPr lang="en-US" b="1" i="0" dirty="0">
                <a:solidFill>
                  <a:srgbClr val="111111"/>
                </a:solidFill>
                <a:effectLst/>
                <a:latin typeface="-apple-system"/>
              </a:rPr>
              <a:t>Size:</a:t>
            </a:r>
            <a:endParaRPr lang="en-US" b="0" i="0" dirty="0">
              <a:solidFill>
                <a:srgbClr val="111111"/>
              </a:solidFill>
              <a:effectLst/>
              <a:latin typeface="-apple-system"/>
            </a:endParaRPr>
          </a:p>
          <a:p>
            <a:pPr marL="742950" lvl="1" indent="-285750" algn="l">
              <a:buFont typeface="Arial" panose="020B0604020202020204" pitchFamily="34" charset="0"/>
              <a:buChar char="•"/>
            </a:pPr>
            <a:r>
              <a:rPr lang="en-US" b="1" i="0" dirty="0">
                <a:solidFill>
                  <a:srgbClr val="111111"/>
                </a:solidFill>
                <a:effectLst/>
                <a:latin typeface="-apple-system"/>
              </a:rPr>
              <a:t>Larger</a:t>
            </a:r>
            <a:r>
              <a:rPr lang="en-US" b="0" i="0" dirty="0">
                <a:solidFill>
                  <a:srgbClr val="111111"/>
                </a:solidFill>
                <a:effectLst/>
                <a:latin typeface="-apple-system"/>
              </a:rPr>
              <a:t> than stack memory.</a:t>
            </a:r>
          </a:p>
          <a:p>
            <a:pPr marL="742950" lvl="1" indent="-285750" algn="l">
              <a:buFont typeface="Arial" panose="020B0604020202020204" pitchFamily="34" charset="0"/>
              <a:buChar char="•"/>
            </a:pPr>
            <a:r>
              <a:rPr lang="en-US" b="0" i="0" dirty="0">
                <a:solidFill>
                  <a:srgbClr val="111111"/>
                </a:solidFill>
                <a:effectLst/>
                <a:latin typeface="-apple-system"/>
              </a:rPr>
              <a:t>Grows dynamically during program execution.</a:t>
            </a:r>
          </a:p>
          <a:p>
            <a:pPr algn="l">
              <a:buFont typeface="Arial" panose="020B0604020202020204" pitchFamily="34" charset="0"/>
              <a:buChar char="•"/>
            </a:pPr>
            <a:r>
              <a:rPr lang="en-US" b="1" i="0" dirty="0">
                <a:solidFill>
                  <a:srgbClr val="111111"/>
                </a:solidFill>
                <a:effectLst/>
                <a:latin typeface="-apple-system"/>
              </a:rPr>
              <a:t>Access Speed:</a:t>
            </a:r>
            <a:endParaRPr lang="en-US" b="0" i="0" dirty="0">
              <a:solidFill>
                <a:srgbClr val="111111"/>
              </a:solidFill>
              <a:effectLst/>
              <a:latin typeface="-apple-system"/>
            </a:endParaRPr>
          </a:p>
          <a:p>
            <a:pPr marL="742950" lvl="1" indent="-285750" algn="l">
              <a:buFont typeface="Arial" panose="020B0604020202020204" pitchFamily="34" charset="0"/>
              <a:buChar char="•"/>
            </a:pPr>
            <a:r>
              <a:rPr lang="en-US" b="1" i="0" dirty="0">
                <a:solidFill>
                  <a:srgbClr val="111111"/>
                </a:solidFill>
                <a:effectLst/>
                <a:latin typeface="-apple-system"/>
              </a:rPr>
              <a:t>Slower</a:t>
            </a:r>
            <a:r>
              <a:rPr lang="en-US" b="0" i="0" dirty="0">
                <a:solidFill>
                  <a:srgbClr val="111111"/>
                </a:solidFill>
                <a:effectLst/>
                <a:latin typeface="-apple-system"/>
              </a:rPr>
              <a:t> access compared to stack memory.</a:t>
            </a:r>
          </a:p>
          <a:p>
            <a:endParaRPr lang="en-US" b="0" i="0" dirty="0">
              <a:solidFill>
                <a:srgbClr val="1F1F1F"/>
              </a:solidFill>
              <a:effectLst/>
              <a:latin typeface="Helvetica Neue"/>
            </a:endParaRPr>
          </a:p>
          <a:p>
            <a:endParaRPr lang="en-US" b="0" i="0" dirty="0">
              <a:solidFill>
                <a:srgbClr val="1F1F1F"/>
              </a:solidFill>
              <a:effectLst/>
              <a:latin typeface="Helvetica Neue"/>
            </a:endParaRPr>
          </a:p>
          <a:p>
            <a:endParaRPr lang="en-US" dirty="0"/>
          </a:p>
        </p:txBody>
      </p:sp>
      <p:sp>
        <p:nvSpPr>
          <p:cNvPr id="4" name="Slide Number Placeholder 3"/>
          <p:cNvSpPr>
            <a:spLocks noGrp="1"/>
          </p:cNvSpPr>
          <p:nvPr>
            <p:ph type="sldNum" sz="quarter" idx="5"/>
          </p:nvPr>
        </p:nvSpPr>
        <p:spPr/>
        <p:txBody>
          <a:bodyPr/>
          <a:lstStyle/>
          <a:p>
            <a:pPr>
              <a:defRPr/>
            </a:pPr>
            <a:fld id="{73B872E8-FDB0-4502-A51A-B7A4A00AC4E7}" type="slidenum">
              <a:rPr lang="en-US" altLang="x-none" smtClean="0"/>
              <a:pPr>
                <a:defRPr/>
              </a:pPr>
              <a:t>7</a:t>
            </a:fld>
            <a:endParaRPr lang="en-US" altLang="x-none"/>
          </a:p>
        </p:txBody>
      </p:sp>
    </p:spTree>
    <p:extLst>
      <p:ext uri="{BB962C8B-B14F-4D97-AF65-F5344CB8AC3E}">
        <p14:creationId xmlns:p14="http://schemas.microsoft.com/office/powerpoint/2010/main" val="3648621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9F52C5D-9955-47A2-9EA6-38FEB66EF379}"/>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E6218432-9C5A-4AD0-9E05-B77965972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dirty="0"/>
              <a:t>These names are arbitrary, and they vary across operating systems. The states that they represent are found on all systems;</a:t>
            </a:r>
          </a:p>
          <a:p>
            <a:pPr marL="171450" indent="-171450">
              <a:buFont typeface="Arial" panose="020B0604020202020204" pitchFamily="34" charset="0"/>
              <a:buChar char="•"/>
            </a:pPr>
            <a:r>
              <a:rPr lang="en-US" dirty="0"/>
              <a:t>only one process can be running on any processor core at any instant</a:t>
            </a:r>
            <a:endParaRPr lang="en-US" altLang="en-US" dirty="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042EA566-EA1E-431B-9110-DD679A87E3A9}"/>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1C1B7D9C-8A76-4C14-A850-8C9DC9F5D5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400" dirty="0"/>
              <a:t>As a process executes, it changes </a:t>
            </a:r>
            <a:r>
              <a:rPr lang="en-US" altLang="en-US" sz="2400" b="1" dirty="0">
                <a:solidFill>
                  <a:srgbClr val="006699"/>
                </a:solidFill>
                <a:latin typeface="+mj-lt"/>
              </a:rPr>
              <a:t>state</a:t>
            </a:r>
          </a:p>
          <a:p>
            <a:pPr lvl="1"/>
            <a:r>
              <a:rPr lang="en-US" altLang="en-US" sz="2400" b="1" dirty="0"/>
              <a:t>New</a:t>
            </a:r>
            <a:r>
              <a:rPr lang="en-US" altLang="en-US" sz="2400" dirty="0"/>
              <a:t>:  The process is being created</a:t>
            </a:r>
          </a:p>
          <a:p>
            <a:pPr lvl="1"/>
            <a:r>
              <a:rPr lang="en-US" altLang="en-US" sz="2400" b="1" dirty="0"/>
              <a:t>Running</a:t>
            </a:r>
            <a:r>
              <a:rPr lang="en-US" altLang="en-US" sz="2400" dirty="0"/>
              <a:t>:  Instructions are being executed</a:t>
            </a:r>
          </a:p>
          <a:p>
            <a:pPr lvl="1"/>
            <a:r>
              <a:rPr lang="en-US" altLang="en-US" sz="2400" b="1" dirty="0"/>
              <a:t>Waiting</a:t>
            </a:r>
            <a:r>
              <a:rPr lang="en-US" altLang="en-US" sz="2400" dirty="0"/>
              <a:t>:  The process is waiting for some event to occur</a:t>
            </a:r>
          </a:p>
          <a:p>
            <a:pPr lvl="1"/>
            <a:r>
              <a:rPr lang="en-US" altLang="en-US" sz="2400" b="1" dirty="0"/>
              <a:t>Ready</a:t>
            </a:r>
            <a:r>
              <a:rPr lang="en-US" altLang="en-US" sz="2400" dirty="0"/>
              <a:t>:  The process is waiting to be assigned to a processor</a:t>
            </a:r>
          </a:p>
          <a:p>
            <a:pPr lvl="1"/>
            <a:r>
              <a:rPr lang="en-US" altLang="en-US" sz="2400" b="1" dirty="0"/>
              <a:t>Terminated</a:t>
            </a:r>
            <a:r>
              <a:rPr lang="en-US" altLang="en-US" sz="2400" dirty="0"/>
              <a:t>:  The process has finished execution</a:t>
            </a:r>
          </a:p>
          <a:p>
            <a:endParaRPr lang="en-US" altLang="en-US" dirty="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F878B3E-8479-4A7F-B924-0DB8314B2376}"/>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2282D934-92EA-49D5-A68F-69E0FE5307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Each process is represented in the operating system by a process control block (PCB)—also called a task control block.</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043454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59AB2CB0-7084-4003-8F6F-84F247F5EB38}"/>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6808F682-D9AD-4570-A2CA-1F45861E4D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dirty="0"/>
              <a:t>When a process is running a w</a:t>
            </a:r>
            <a:r>
              <a:rPr lang="en-US" b="1" dirty="0"/>
              <a:t>ord-processor</a:t>
            </a:r>
            <a:r>
              <a:rPr lang="en-US" dirty="0"/>
              <a:t> program, a single thread of instructions is being executed. </a:t>
            </a:r>
            <a:r>
              <a:rPr lang="en-US" b="1" dirty="0"/>
              <a:t>user</a:t>
            </a:r>
            <a:r>
              <a:rPr lang="en-US" dirty="0"/>
              <a:t> </a:t>
            </a:r>
            <a:r>
              <a:rPr lang="en-US" b="1" dirty="0"/>
              <a:t>cannot</a:t>
            </a:r>
            <a:r>
              <a:rPr lang="en-US" dirty="0"/>
              <a:t> </a:t>
            </a:r>
            <a:r>
              <a:rPr lang="en-US" b="1" dirty="0"/>
              <a:t>simultaneously</a:t>
            </a:r>
            <a:r>
              <a:rPr lang="en-US" dirty="0"/>
              <a:t> </a:t>
            </a:r>
            <a:r>
              <a:rPr lang="en-US" b="1" dirty="0"/>
              <a:t>type</a:t>
            </a:r>
            <a:r>
              <a:rPr lang="en-US" dirty="0"/>
              <a:t> in </a:t>
            </a:r>
            <a:r>
              <a:rPr lang="en-US" b="1" dirty="0"/>
              <a:t>characters</a:t>
            </a:r>
            <a:r>
              <a:rPr lang="en-US" dirty="0"/>
              <a:t> and </a:t>
            </a:r>
            <a:r>
              <a:rPr lang="en-US" b="1" dirty="0"/>
              <a:t>run</a:t>
            </a:r>
            <a:r>
              <a:rPr lang="en-US" dirty="0"/>
              <a:t> the </a:t>
            </a:r>
            <a:r>
              <a:rPr lang="en-US" b="1" dirty="0"/>
              <a:t>spell</a:t>
            </a:r>
            <a:r>
              <a:rPr lang="en-US" dirty="0"/>
              <a:t> </a:t>
            </a:r>
            <a:r>
              <a:rPr lang="en-US" b="1" dirty="0"/>
              <a:t>checker</a:t>
            </a:r>
            <a:r>
              <a:rPr lang="en-US" dirty="0"/>
              <a:t>.</a:t>
            </a:r>
          </a:p>
          <a:p>
            <a:pPr marL="171450" indent="-171450">
              <a:buFont typeface="Arial" panose="020B0604020202020204" pitchFamily="34" charset="0"/>
              <a:buChar char="•"/>
            </a:pPr>
            <a:r>
              <a:rPr lang="en-US" dirty="0"/>
              <a:t>Most modern operating systems have extended the process concept to allow a process to have multiple threads of execution and thus to perform more than one task at a time.</a:t>
            </a:r>
            <a:endParaRPr lang="en-US" altLang="en-US"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r" rtl="1"/>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فرایند در مقابل رشته</a:t>
            </a:r>
            <a:r>
              <a:rPr lang="en-US" sz="1800" dirty="0">
                <a:solidFill>
                  <a:srgbClr val="1F1F1F"/>
                </a:solidFill>
                <a:effectLst/>
                <a:latin typeface="Arial" panose="020B0604020202020204" pitchFamily="34" charset="0"/>
                <a:ea typeface="Times New Roman" panose="02020603050405020304" pitchFamily="18" charset="0"/>
              </a:rPr>
              <a:t> (Threads)</a:t>
            </a:r>
            <a:endParaRPr lang="en-US" sz="1800" dirty="0">
              <a:effectLst/>
              <a:latin typeface="Times New Roman" panose="02020603050405020304" pitchFamily="18" charset="0"/>
              <a:ea typeface="Times New Roman" panose="02020603050405020304" pitchFamily="18" charset="0"/>
            </a:endParaRPr>
          </a:p>
          <a:p>
            <a:pPr marL="0" marR="0" algn="r" rtl="1"/>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تفاوت اصلی بین یک فرایند و یک رشته این است که فرایندهای مختلف نمی توانند فضای حافظه یکسانی (کد، متغیرها و غیره) را به اشتراک بگذارند، در حالی که رشته های مختلف در یک فرایند فضای حافظه یکسانی را به اشتراک می گذارند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algn="r" rtl="1"/>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رشته ها سبک وزن هستند در حالی که فرایندها سنگین وزن هستند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algn="r" rtl="1"/>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تعویض رشته نیازی به تعامل با سیستم عامل ندارد، در حالی که تعویض فرایند نیازمند تعامل با سیستم عامل است</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algn="r" rtl="1"/>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هنگامی که یک رشته تغییراتی در هر متغیری ایجاد می کند، سایر رشته ها در همان فرآیند می توانند آن را ببینند. این مورد در مورد فرایندهای مختلف صدق نمی کند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algn="r" rtl="1">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p>
        </p:txBody>
      </p:sp>
      <p:sp>
        <p:nvSpPr>
          <p:cNvPr id="4" name="Slide Number Placeholder 3"/>
          <p:cNvSpPr>
            <a:spLocks noGrp="1"/>
          </p:cNvSpPr>
          <p:nvPr>
            <p:ph type="sldNum" sz="quarter" idx="5"/>
          </p:nvPr>
        </p:nvSpPr>
        <p:spPr/>
        <p:txBody>
          <a:bodyPr/>
          <a:lstStyle/>
          <a:p>
            <a:pPr>
              <a:defRPr/>
            </a:pPr>
            <a:fld id="{73B872E8-FDB0-4502-A51A-B7A4A00AC4E7}" type="slidenum">
              <a:rPr lang="en-US" altLang="x-none" smtClean="0"/>
              <a:pPr>
                <a:defRPr/>
              </a:pPr>
              <a:t>12</a:t>
            </a:fld>
            <a:endParaRPr lang="en-US" altLang="x-none"/>
          </a:p>
        </p:txBody>
      </p:sp>
    </p:spTree>
    <p:extLst>
      <p:ext uri="{BB962C8B-B14F-4D97-AF65-F5344CB8AC3E}">
        <p14:creationId xmlns:p14="http://schemas.microsoft.com/office/powerpoint/2010/main" val="14282248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D975521-C031-44A8-80BF-39B38B75F005}"/>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A3DECD5-2795-49AC-8BF6-9DFEFF419D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BB1EDE5-9E4C-42E1-B87C-545C7237B73A}"/>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E24A6F99-D8AD-44C9-8834-3BFC2627FE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dirty="0"/>
              <a:t>They are put into a ready queue, where they are ready and waiting to execute on a CPU’s core This queue is generally stored as a linked list; a ready-queue header contains pointers to the first PCB in the list, and each PCB includes a pointer field that points to the next PCB in the ready queue.</a:t>
            </a:r>
          </a:p>
          <a:p>
            <a:pPr marL="171450" indent="-171450">
              <a:buFont typeface="Arial" panose="020B0604020202020204" pitchFamily="34" charset="0"/>
              <a:buChar char="•"/>
            </a:pPr>
            <a:r>
              <a:rPr lang="en-US" dirty="0"/>
              <a:t>Processes that are waiting for a certain event to occur — such as completion of I/O due to be it long time taking — are placed in a wait queue</a:t>
            </a:r>
            <a:endParaRPr lang="en-US" altLang="en-US"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A783162-EACC-46A4-B314-BFAA15B50D88}"/>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FDCB06C7-C4C1-4DF4-AE1C-75C2D1E2FA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dirty="0"/>
              <a:t>Two types of queues are present: the </a:t>
            </a:r>
            <a:r>
              <a:rPr lang="en-US" b="1" dirty="0"/>
              <a:t>ready queue </a:t>
            </a:r>
            <a:r>
              <a:rPr lang="en-US" dirty="0"/>
              <a:t>and </a:t>
            </a:r>
            <a:r>
              <a:rPr lang="en-US" b="1" dirty="0"/>
              <a:t>a set of wait queues</a:t>
            </a:r>
            <a:r>
              <a:rPr lang="en-US" dirty="0"/>
              <a:t>. The circles represent the resources that serve the queues, and the arrows indicate the flow of processes in the system. </a:t>
            </a:r>
          </a:p>
          <a:p>
            <a:pPr marL="171450" indent="-171450">
              <a:buFont typeface="Arial" panose="020B0604020202020204" pitchFamily="34" charset="0"/>
              <a:buChar char="•"/>
            </a:pPr>
            <a:r>
              <a:rPr lang="en-US" dirty="0"/>
              <a:t>The process could issue an I/O request and then be placed in an I/O wait queue. </a:t>
            </a:r>
          </a:p>
          <a:p>
            <a:pPr marL="457200" lvl="1" indent="0">
              <a:buFont typeface="Arial" panose="020B0604020202020204" pitchFamily="34" charset="0"/>
              <a:buNone/>
            </a:pPr>
            <a:r>
              <a:rPr lang="en-US" dirty="0"/>
              <a:t>• The process could create a new child process and then be placed </a:t>
            </a:r>
            <a:r>
              <a:rPr lang="en-US" b="1" dirty="0"/>
              <a:t>in a wait queue while it awaits the child’s </a:t>
            </a:r>
            <a:r>
              <a:rPr lang="en-US" dirty="0"/>
              <a:t>termination. </a:t>
            </a:r>
          </a:p>
          <a:p>
            <a:pPr marL="457200" lvl="1" indent="0">
              <a:buFont typeface="Arial" panose="020B0604020202020204" pitchFamily="34" charset="0"/>
              <a:buNone/>
            </a:pPr>
            <a:r>
              <a:rPr lang="en-US" dirty="0"/>
              <a:t>• The process could be removed forcibly from the core, as a result of an interrupt or having its time slice expire, and be put back in the ready queue.</a:t>
            </a:r>
            <a:endParaRPr lang="en-US" altLang="en-US" dirty="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19DD103-275F-46A0-BEB3-576DC18D62D7}"/>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E9ADCDDC-7641-41D4-AAB2-2DC5DA9547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dirty="0"/>
              <a:t>an I/O-bound process may execute for only a few milliseconds before waiting for an I/O request. Although a CPU-bound process will require a CPU core for longer durations, the scheduler is unlikely to grant the core to a process for an extended period.</a:t>
            </a:r>
          </a:p>
          <a:p>
            <a:pPr marL="171450" indent="-171450">
              <a:buFont typeface="Arial" panose="020B0604020202020204" pitchFamily="34" charset="0"/>
              <a:buChar char="•"/>
            </a:pPr>
            <a:r>
              <a:rPr lang="en-US" dirty="0"/>
              <a:t>Therefore, the CPU scheduler executes at least once every 100 milliseconds, although typically much more frequently</a:t>
            </a:r>
            <a:endParaRPr lang="en-US" altLang="en-US" dirty="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FCFEC24-8D51-4AAB-8657-81C98775092E}"/>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4FAB513B-E127-4650-9171-574B0AF722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EC96916-1BAE-4A4E-BF94-2604763DB99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7FEBB5C8-282F-4906-80B9-C81D701613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7605DEB-C81B-41F2-ABA8-D21CD717FA7A}"/>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520811E7-D32E-4B74-9C5E-4F2EBBA715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CADFF460-F732-4F8E-9BEC-BDC62B69C0FD}"/>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E427A0BF-8535-41FD-9918-F0C0C2585C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dirty="0"/>
              <a:t>After a fork() system call, one of the two processes typically uses the </a:t>
            </a:r>
            <a:r>
              <a:rPr lang="en-US" b="1" dirty="0"/>
              <a:t>exec() system call to replace the process’s memory space with a new program</a:t>
            </a:r>
            <a:r>
              <a:rPr lang="en-US" dirty="0"/>
              <a:t>. The exec() system call loads a binary file into memory (destroying the memory image of the program containing the exec() system call).</a:t>
            </a:r>
          </a:p>
          <a:p>
            <a:pPr marL="171450" indent="-171450">
              <a:buFont typeface="Arial" panose="020B0604020202020204" pitchFamily="34" charset="0"/>
              <a:buChar char="•"/>
            </a:pPr>
            <a:r>
              <a:rPr lang="en-US" dirty="0"/>
              <a:t>exec() does not return control unless an error occurs</a:t>
            </a:r>
            <a:endParaRPr lang="fa-IR" dirty="0"/>
          </a:p>
          <a:p>
            <a:pPr marL="171450" indent="-171450">
              <a:buFont typeface="Arial" panose="020B0604020202020204" pitchFamily="34" charset="0"/>
              <a:buChar char="•"/>
            </a:pPr>
            <a:endParaRPr lang="en-US" altLang="en-US" dirty="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6C03FFC-61A1-4E2B-BB58-CEF8239A9776}"/>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E1C4ACA0-7908-4D31-AF21-00AD91730D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r>
              <a:rPr lang="fa-IR" sz="1200" b="1" kern="1200" dirty="0">
                <a:solidFill>
                  <a:schemeClr val="tx1"/>
                </a:solidFill>
                <a:effectLst/>
                <a:latin typeface="Times New Roman" charset="0"/>
                <a:ea typeface="MS PGothic" pitchFamily="34" charset="-128"/>
                <a:cs typeface="MS PGothic" panose="020B0600070205080204" pitchFamily="34" charset="-128"/>
              </a:rPr>
              <a:t>ایجاد</a:t>
            </a:r>
            <a:r>
              <a:rPr lang="ar-SA" sz="1200" b="1" kern="1200" dirty="0">
                <a:solidFill>
                  <a:schemeClr val="tx1"/>
                </a:solidFill>
                <a:effectLst/>
                <a:latin typeface="Times New Roman" charset="0"/>
                <a:ea typeface="MS PGothic" pitchFamily="34" charset="-128"/>
                <a:cs typeface="MS PGothic" panose="020B0600070205080204" pitchFamily="34" charset="-128"/>
              </a:rPr>
              <a:t> پردازه با </a:t>
            </a:r>
            <a:r>
              <a:rPr lang="en-US" sz="1200" b="1" kern="1200" dirty="0">
                <a:solidFill>
                  <a:schemeClr val="tx1"/>
                </a:solidFill>
                <a:effectLst/>
                <a:latin typeface="Times New Roman" charset="0"/>
                <a:ea typeface="MS PGothic" pitchFamily="34" charset="-128"/>
                <a:cs typeface="MS PGothic" panose="020B0600070205080204" pitchFamily="34" charset="-128"/>
              </a:rPr>
              <a:t>fork()</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err="1">
                <a:solidFill>
                  <a:schemeClr val="tx1"/>
                </a:solidFill>
                <a:effectLst/>
                <a:latin typeface="Times New Roman" charset="0"/>
                <a:ea typeface="MS PGothic" pitchFamily="34" charset="-128"/>
                <a:cs typeface="MS PGothic" panose="020B0600070205080204" pitchFamily="34" charset="-128"/>
              </a:rPr>
              <a:t>pid_t</a:t>
            </a:r>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en-US" sz="1200" b="1" kern="1200" dirty="0" err="1">
                <a:solidFill>
                  <a:schemeClr val="tx1"/>
                </a:solidFill>
                <a:effectLst/>
                <a:latin typeface="Times New Roman" charset="0"/>
                <a:ea typeface="MS PGothic" pitchFamily="34" charset="-128"/>
                <a:cs typeface="MS PGothic" panose="020B0600070205080204" pitchFamily="34" charset="-128"/>
              </a:rPr>
              <a:t>pid</a:t>
            </a:r>
            <a:r>
              <a:rPr lang="en-US" sz="1200" b="1" kern="1200" dirty="0">
                <a:solidFill>
                  <a:schemeClr val="tx1"/>
                </a:solidFill>
                <a:effectLst/>
                <a:latin typeface="Times New Roman" charset="0"/>
                <a:ea typeface="MS PGothic" pitchFamily="34" charset="-128"/>
                <a:cs typeface="MS PGothic" panose="020B0600070205080204" pitchFamily="34" charset="-128"/>
              </a:rPr>
              <a:t>;</a:t>
            </a:r>
            <a:br>
              <a:rPr lang="en-US" sz="1200" b="1" kern="1200" dirty="0">
                <a:solidFill>
                  <a:schemeClr val="tx1"/>
                </a:solidFill>
                <a:effectLst/>
                <a:latin typeface="Times New Roman" charset="0"/>
                <a:ea typeface="MS PGothic" pitchFamily="34" charset="-128"/>
                <a:cs typeface="MS PGothic" panose="020B0600070205080204" pitchFamily="34" charset="-128"/>
              </a:rPr>
            </a:br>
            <a:r>
              <a:rPr lang="en-US" sz="1200" b="1" kern="1200" dirty="0" err="1">
                <a:solidFill>
                  <a:schemeClr val="tx1"/>
                </a:solidFill>
                <a:effectLst/>
                <a:latin typeface="Times New Roman" charset="0"/>
                <a:ea typeface="MS PGothic" pitchFamily="34" charset="-128"/>
                <a:cs typeface="MS PGothic" panose="020B0600070205080204" pitchFamily="34" charset="-128"/>
              </a:rPr>
              <a:t>pid</a:t>
            </a:r>
            <a:r>
              <a:rPr lang="en-US" sz="1200" b="1" kern="1200" dirty="0">
                <a:solidFill>
                  <a:schemeClr val="tx1"/>
                </a:solidFill>
                <a:effectLst/>
                <a:latin typeface="Times New Roman" charset="0"/>
                <a:ea typeface="MS PGothic" pitchFamily="34" charset="-128"/>
                <a:cs typeface="MS PGothic" panose="020B0600070205080204" pitchFamily="34" charset="-128"/>
              </a:rPr>
              <a:t> = fork();</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مفهوم کلیدی</a:t>
            </a: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تابع </a:t>
            </a:r>
            <a:r>
              <a:rPr lang="en-US" sz="1200" b="1" kern="1200" dirty="0">
                <a:solidFill>
                  <a:schemeClr val="tx1"/>
                </a:solidFill>
                <a:effectLst/>
                <a:latin typeface="Times New Roman" charset="0"/>
                <a:ea typeface="MS PGothic" pitchFamily="34" charset="-128"/>
                <a:cs typeface="MS PGothic" panose="020B0600070205080204" pitchFamily="34" charset="-128"/>
              </a:rPr>
              <a:t>fork() </a:t>
            </a:r>
            <a:r>
              <a:rPr lang="ar-SA" sz="1200" b="1" kern="1200" dirty="0">
                <a:solidFill>
                  <a:schemeClr val="tx1"/>
                </a:solidFill>
                <a:effectLst/>
                <a:latin typeface="Times New Roman" charset="0"/>
                <a:ea typeface="MS PGothic" pitchFamily="34" charset="-128"/>
                <a:cs typeface="MS PGothic" panose="020B0600070205080204" pitchFamily="34" charset="-128"/>
              </a:rPr>
              <a:t>یک پردازه جدید</a:t>
            </a:r>
            <a:r>
              <a:rPr lang="en-US" sz="1200" b="1" kern="1200" dirty="0">
                <a:solidFill>
                  <a:schemeClr val="tx1"/>
                </a:solidFill>
                <a:effectLst/>
                <a:latin typeface="Times New Roman" charset="0"/>
                <a:ea typeface="MS PGothic" pitchFamily="34" charset="-128"/>
                <a:cs typeface="MS PGothic" panose="020B0600070205080204" pitchFamily="34" charset="-128"/>
              </a:rPr>
              <a:t> (child) </a:t>
            </a:r>
            <a:r>
              <a:rPr lang="ar-SA" sz="1200" b="1" kern="1200" dirty="0">
                <a:solidFill>
                  <a:schemeClr val="tx1"/>
                </a:solidFill>
                <a:effectLst/>
                <a:latin typeface="Times New Roman" charset="0"/>
                <a:ea typeface="MS PGothic" pitchFamily="34" charset="-128"/>
                <a:cs typeface="MS PGothic" panose="020B0600070205080204" pitchFamily="34" charset="-128"/>
              </a:rPr>
              <a:t>ایجاد می‌کند</a:t>
            </a: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نکته بسیار مهم</a:t>
            </a:r>
            <a:r>
              <a:rPr lang="en-US" sz="1200" b="1" kern="1200" dirty="0">
                <a:solidFill>
                  <a:schemeClr val="tx1"/>
                </a:solidFill>
                <a:effectLst/>
                <a:latin typeface="Times New Roman" charset="0"/>
                <a:ea typeface="MS PGothic" pitchFamily="34" charset="-128"/>
                <a:cs typeface="MS PGothic" panose="020B0600070205080204" pitchFamily="34" charset="-128"/>
              </a:rPr>
              <a:t>:</a:t>
            </a:r>
            <a:br>
              <a:rPr lang="en-US" sz="1200" b="1" kern="1200" dirty="0">
                <a:solidFill>
                  <a:schemeClr val="tx1"/>
                </a:solidFill>
                <a:effectLst/>
                <a:latin typeface="Times New Roman" charset="0"/>
                <a:ea typeface="MS PGothic" pitchFamily="34" charset="-128"/>
                <a:cs typeface="MS PGothic" panose="020B0600070205080204" pitchFamily="34" charset="-128"/>
              </a:rPr>
            </a:br>
            <a:r>
              <a:rPr lang="ar-SA" sz="1200" b="1" kern="1200" dirty="0">
                <a:solidFill>
                  <a:schemeClr val="tx1"/>
                </a:solidFill>
                <a:effectLst/>
                <a:latin typeface="Times New Roman" charset="0"/>
                <a:ea typeface="MS PGothic" pitchFamily="34" charset="-128"/>
                <a:cs typeface="MS PGothic" panose="020B0600070205080204" pitchFamily="34" charset="-128"/>
              </a:rPr>
              <a:t>بعد از </a:t>
            </a:r>
            <a:r>
              <a:rPr lang="en-US" sz="1200" b="1" kern="1200" dirty="0">
                <a:solidFill>
                  <a:schemeClr val="tx1"/>
                </a:solidFill>
                <a:effectLst/>
                <a:latin typeface="Times New Roman" charset="0"/>
                <a:ea typeface="MS PGothic" pitchFamily="34" charset="-128"/>
                <a:cs typeface="MS PGothic" panose="020B0600070205080204" pitchFamily="34" charset="-128"/>
              </a:rPr>
              <a:t>fork():</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ar-SA" sz="1200" b="1" kern="1200" dirty="0">
                <a:solidFill>
                  <a:schemeClr val="tx1"/>
                </a:solidFill>
                <a:effectLst/>
                <a:latin typeface="Times New Roman" charset="0"/>
                <a:ea typeface="MS PGothic" pitchFamily="34" charset="-128"/>
                <a:cs typeface="MS PGothic" panose="020B0600070205080204" pitchFamily="34" charset="-128"/>
              </a:rPr>
              <a:t>دو پردازه داریم</a:t>
            </a:r>
            <a:r>
              <a:rPr lang="en-US" sz="1200" b="1" kern="1200" dirty="0">
                <a:solidFill>
                  <a:schemeClr val="tx1"/>
                </a:solidFill>
                <a:effectLst/>
                <a:latin typeface="Times New Roman" charset="0"/>
                <a:ea typeface="MS PGothic" pitchFamily="34" charset="-128"/>
                <a:cs typeface="MS PGothic" panose="020B0600070205080204" pitchFamily="34" charset="-128"/>
              </a:rPr>
              <a:t>: </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1" algn="r" rtl="1"/>
            <a:r>
              <a:rPr lang="en-US" sz="1200" b="1" kern="1200" dirty="0">
                <a:solidFill>
                  <a:schemeClr val="tx1"/>
                </a:solidFill>
                <a:effectLst/>
                <a:latin typeface="Times New Roman" charset="0"/>
                <a:ea typeface="MS PGothic" pitchFamily="34" charset="-128"/>
                <a:cs typeface="+mn-cs"/>
              </a:rPr>
              <a:t>Parent (</a:t>
            </a:r>
            <a:r>
              <a:rPr lang="ar-SA" sz="1200" b="1" kern="1200" dirty="0">
                <a:solidFill>
                  <a:schemeClr val="tx1"/>
                </a:solidFill>
                <a:effectLst/>
                <a:latin typeface="Times New Roman" charset="0"/>
                <a:ea typeface="MS PGothic" pitchFamily="34" charset="-128"/>
                <a:cs typeface="+mn-cs"/>
              </a:rPr>
              <a:t>والد</a:t>
            </a:r>
            <a:r>
              <a:rPr lang="en-US" sz="1200" b="1" kern="1200" dirty="0">
                <a:solidFill>
                  <a:schemeClr val="tx1"/>
                </a:solidFill>
                <a:effectLst/>
                <a:latin typeface="Times New Roman" charset="0"/>
                <a:ea typeface="MS PGothic" pitchFamily="34" charset="-128"/>
                <a:cs typeface="+mn-cs"/>
              </a:rPr>
              <a:t>) </a:t>
            </a:r>
            <a:endParaRPr lang="en-US" sz="1200" kern="1200" dirty="0">
              <a:solidFill>
                <a:schemeClr val="tx1"/>
              </a:solidFill>
              <a:effectLst/>
              <a:latin typeface="Times New Roman" charset="0"/>
              <a:ea typeface="MS PGothic" pitchFamily="34" charset="-128"/>
              <a:cs typeface="+mn-cs"/>
            </a:endParaRPr>
          </a:p>
          <a:p>
            <a:pPr lvl="1" algn="r" rtl="1"/>
            <a:r>
              <a:rPr lang="en-US" sz="1200" b="1" kern="1200" dirty="0">
                <a:solidFill>
                  <a:schemeClr val="tx1"/>
                </a:solidFill>
                <a:effectLst/>
                <a:latin typeface="Times New Roman" charset="0"/>
                <a:ea typeface="MS PGothic" pitchFamily="34" charset="-128"/>
                <a:cs typeface="+mn-cs"/>
              </a:rPr>
              <a:t>Child (</a:t>
            </a:r>
            <a:r>
              <a:rPr lang="ar-SA" sz="1200" b="1" kern="1200" dirty="0">
                <a:solidFill>
                  <a:schemeClr val="tx1"/>
                </a:solidFill>
                <a:effectLst/>
                <a:latin typeface="Times New Roman" charset="0"/>
                <a:ea typeface="MS PGothic" pitchFamily="34" charset="-128"/>
                <a:cs typeface="+mn-cs"/>
              </a:rPr>
              <a:t>فرزند</a:t>
            </a:r>
            <a:r>
              <a:rPr lang="en-US" sz="1200" b="1" kern="1200" dirty="0">
                <a:solidFill>
                  <a:schemeClr val="tx1"/>
                </a:solidFill>
                <a:effectLst/>
                <a:latin typeface="Times New Roman" charset="0"/>
                <a:ea typeface="MS PGothic" pitchFamily="34" charset="-128"/>
                <a:cs typeface="+mn-cs"/>
              </a:rPr>
              <a:t>) </a:t>
            </a:r>
            <a:endParaRPr lang="en-US" sz="1200" kern="1200" dirty="0">
              <a:solidFill>
                <a:schemeClr val="tx1"/>
              </a:solidFill>
              <a:effectLst/>
              <a:latin typeface="Times New Roman" charset="0"/>
              <a:ea typeface="MS PGothic" pitchFamily="34" charset="-128"/>
              <a:cs typeface="+mn-cs"/>
            </a:endParaRPr>
          </a:p>
          <a:p>
            <a:pPr algn="r" rtl="1"/>
            <a:br>
              <a:rPr lang="en-US" sz="1200" b="1" kern="1200" dirty="0">
                <a:solidFill>
                  <a:schemeClr val="tx1"/>
                </a:solidFill>
                <a:effectLst/>
                <a:latin typeface="Times New Roman" charset="0"/>
                <a:ea typeface="MS PGothic" pitchFamily="34" charset="-128"/>
                <a:cs typeface="MS PGothic" panose="020B0600070205080204" pitchFamily="34" charset="-128"/>
              </a:rPr>
            </a:b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مقدار بازگشتی </a:t>
            </a:r>
            <a:r>
              <a:rPr lang="en-US" sz="1200" b="1" kern="1200" dirty="0">
                <a:solidFill>
                  <a:schemeClr val="tx1"/>
                </a:solidFill>
                <a:effectLst/>
                <a:latin typeface="Times New Roman" charset="0"/>
                <a:ea typeface="MS PGothic" pitchFamily="34" charset="-128"/>
                <a:cs typeface="MS PGothic" panose="020B0600070205080204" pitchFamily="34" charset="-128"/>
              </a:rPr>
              <a:t>fork()</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مقدار </a:t>
            </a:r>
            <a:r>
              <a:rPr lang="en-US" sz="1200" b="1" kern="1200" dirty="0" err="1">
                <a:solidFill>
                  <a:schemeClr val="tx1"/>
                </a:solidFill>
                <a:effectLst/>
                <a:latin typeface="Times New Roman" charset="0"/>
                <a:ea typeface="MS PGothic" pitchFamily="34" charset="-128"/>
                <a:cs typeface="MS PGothic" panose="020B0600070205080204" pitchFamily="34" charset="-128"/>
              </a:rPr>
              <a:t>pid</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معنی</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&lt; 0</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خطا</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0</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داخل پردازه فرزند</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&gt; 0</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داخل پردازه والد</a:t>
            </a:r>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مقدار</a:t>
            </a:r>
            <a:r>
              <a:rPr lang="en-US" sz="1200" b="1" kern="1200" dirty="0">
                <a:solidFill>
                  <a:schemeClr val="tx1"/>
                </a:solidFill>
                <a:effectLst/>
                <a:latin typeface="Times New Roman" charset="0"/>
                <a:ea typeface="MS PGothic" pitchFamily="34" charset="-128"/>
                <a:cs typeface="MS PGothic" panose="020B0600070205080204" pitchFamily="34" charset="-128"/>
              </a:rPr>
              <a:t> = PID </a:t>
            </a:r>
            <a:r>
              <a:rPr lang="ar-SA" sz="1200" b="1" kern="1200" dirty="0">
                <a:solidFill>
                  <a:schemeClr val="tx1"/>
                </a:solidFill>
                <a:effectLst/>
                <a:latin typeface="Times New Roman" charset="0"/>
                <a:ea typeface="MS PGothic" pitchFamily="34" charset="-128"/>
                <a:cs typeface="MS PGothic" panose="020B0600070205080204" pitchFamily="34" charset="-128"/>
              </a:rPr>
              <a:t>فرزند</a:t>
            </a: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br>
              <a:rPr lang="en-US" sz="1200" b="1" kern="1200" dirty="0">
                <a:solidFill>
                  <a:schemeClr val="tx1"/>
                </a:solidFill>
                <a:effectLst/>
                <a:latin typeface="Times New Roman" charset="0"/>
                <a:ea typeface="MS PGothic" pitchFamily="34" charset="-128"/>
                <a:cs typeface="MS PGothic" panose="020B0600070205080204" pitchFamily="34" charset="-128"/>
              </a:rPr>
            </a:b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3️⃣ </a:t>
            </a:r>
            <a:r>
              <a:rPr lang="ar-SA" sz="1200" b="1" kern="1200" dirty="0">
                <a:solidFill>
                  <a:schemeClr val="tx1"/>
                </a:solidFill>
                <a:effectLst/>
                <a:latin typeface="Times New Roman" charset="0"/>
                <a:ea typeface="MS PGothic" pitchFamily="34" charset="-128"/>
                <a:cs typeface="MS PGothic" panose="020B0600070205080204" pitchFamily="34" charset="-128"/>
              </a:rPr>
              <a:t>حالت خطا</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if (</a:t>
            </a:r>
            <a:r>
              <a:rPr lang="en-US" sz="1200" b="1" kern="1200" dirty="0" err="1">
                <a:solidFill>
                  <a:schemeClr val="tx1"/>
                </a:solidFill>
                <a:effectLst/>
                <a:latin typeface="Times New Roman" charset="0"/>
                <a:ea typeface="MS PGothic" pitchFamily="34" charset="-128"/>
                <a:cs typeface="MS PGothic" panose="020B0600070205080204" pitchFamily="34" charset="-128"/>
              </a:rPr>
              <a:t>pid</a:t>
            </a:r>
            <a:r>
              <a:rPr lang="en-US" sz="1200" b="1" kern="1200" dirty="0">
                <a:solidFill>
                  <a:schemeClr val="tx1"/>
                </a:solidFill>
                <a:effectLst/>
                <a:latin typeface="Times New Roman" charset="0"/>
                <a:ea typeface="MS PGothic" pitchFamily="34" charset="-128"/>
                <a:cs typeface="MS PGothic" panose="020B0600070205080204" pitchFamily="34" charset="-128"/>
              </a:rPr>
              <a:t> &lt; 0) {</a:t>
            </a:r>
            <a:br>
              <a:rPr lang="en-US" sz="1200" b="1" kern="1200" dirty="0">
                <a:solidFill>
                  <a:schemeClr val="tx1"/>
                </a:solidFill>
                <a:effectLst/>
                <a:latin typeface="Times New Roman" charset="0"/>
                <a:ea typeface="MS PGothic" pitchFamily="34" charset="-128"/>
                <a:cs typeface="MS PGothic" panose="020B0600070205080204" pitchFamily="34" charset="-128"/>
              </a:rPr>
            </a:br>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en-US" sz="1200" b="1" kern="1200" dirty="0" err="1">
                <a:solidFill>
                  <a:schemeClr val="tx1"/>
                </a:solidFill>
                <a:effectLst/>
                <a:latin typeface="Times New Roman" charset="0"/>
                <a:ea typeface="MS PGothic" pitchFamily="34" charset="-128"/>
                <a:cs typeface="MS PGothic" panose="020B0600070205080204" pitchFamily="34" charset="-128"/>
              </a:rPr>
              <a:t>fprintf</a:t>
            </a:r>
            <a:r>
              <a:rPr lang="en-US" sz="1200" b="1" kern="1200" dirty="0">
                <a:solidFill>
                  <a:schemeClr val="tx1"/>
                </a:solidFill>
                <a:effectLst/>
                <a:latin typeface="Times New Roman" charset="0"/>
                <a:ea typeface="MS PGothic" pitchFamily="34" charset="-128"/>
                <a:cs typeface="MS PGothic" panose="020B0600070205080204" pitchFamily="34" charset="-128"/>
              </a:rPr>
              <a:t>(stderr, "Fork Failed");</a:t>
            </a:r>
            <a:br>
              <a:rPr lang="en-US" sz="1200" b="1" kern="1200" dirty="0">
                <a:solidFill>
                  <a:schemeClr val="tx1"/>
                </a:solidFill>
                <a:effectLst/>
                <a:latin typeface="Times New Roman" charset="0"/>
                <a:ea typeface="MS PGothic" pitchFamily="34" charset="-128"/>
                <a:cs typeface="MS PGothic" panose="020B0600070205080204" pitchFamily="34" charset="-128"/>
              </a:rPr>
            </a:br>
            <a:r>
              <a:rPr lang="en-US" sz="1200" b="1" kern="1200" dirty="0">
                <a:solidFill>
                  <a:schemeClr val="tx1"/>
                </a:solidFill>
                <a:effectLst/>
                <a:latin typeface="Times New Roman" charset="0"/>
                <a:ea typeface="MS PGothic" pitchFamily="34" charset="-128"/>
                <a:cs typeface="MS PGothic" panose="020B0600070205080204" pitchFamily="34" charset="-128"/>
              </a:rPr>
              <a:t>    return 1;</a:t>
            </a:r>
            <a:br>
              <a:rPr lang="en-US" sz="1200" b="1" kern="1200" dirty="0">
                <a:solidFill>
                  <a:schemeClr val="tx1"/>
                </a:solidFill>
                <a:effectLst/>
                <a:latin typeface="Times New Roman" charset="0"/>
                <a:ea typeface="MS PGothic" pitchFamily="34" charset="-128"/>
                <a:cs typeface="MS PGothic" panose="020B0600070205080204" pitchFamily="34" charset="-128"/>
              </a:rPr>
            </a:b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اگر </a:t>
            </a:r>
            <a:r>
              <a:rPr lang="en-US" sz="1200" b="1" kern="1200" dirty="0">
                <a:solidFill>
                  <a:schemeClr val="tx1"/>
                </a:solidFill>
                <a:effectLst/>
                <a:latin typeface="Times New Roman" charset="0"/>
                <a:ea typeface="MS PGothic" pitchFamily="34" charset="-128"/>
                <a:cs typeface="MS PGothic" panose="020B0600070205080204" pitchFamily="34" charset="-128"/>
              </a:rPr>
              <a:t>fork() </a:t>
            </a:r>
            <a:r>
              <a:rPr lang="ar-SA" sz="1200" b="1" kern="1200" dirty="0">
                <a:solidFill>
                  <a:schemeClr val="tx1"/>
                </a:solidFill>
                <a:effectLst/>
                <a:latin typeface="Times New Roman" charset="0"/>
                <a:ea typeface="MS PGothic" pitchFamily="34" charset="-128"/>
                <a:cs typeface="MS PGothic" panose="020B0600070205080204" pitchFamily="34" charset="-128"/>
              </a:rPr>
              <a:t>موفق نباشد</a:t>
            </a: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ar-SA" sz="1200" b="1" kern="1200" dirty="0">
                <a:solidFill>
                  <a:schemeClr val="tx1"/>
                </a:solidFill>
                <a:effectLst/>
                <a:latin typeface="Times New Roman" charset="0"/>
                <a:ea typeface="MS PGothic" pitchFamily="34" charset="-128"/>
                <a:cs typeface="MS PGothic" panose="020B0600070205080204" pitchFamily="34" charset="-128"/>
              </a:rPr>
              <a:t>پیام خطا چاپ می‌شود </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ar-SA" sz="1200" b="1" kern="1200" dirty="0">
                <a:solidFill>
                  <a:schemeClr val="tx1"/>
                </a:solidFill>
                <a:effectLst/>
                <a:latin typeface="Times New Roman" charset="0"/>
                <a:ea typeface="MS PGothic" pitchFamily="34" charset="-128"/>
                <a:cs typeface="MS PGothic" panose="020B0600070205080204" pitchFamily="34" charset="-128"/>
              </a:rPr>
              <a:t>برنامه متوقف می‌شود </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br>
              <a:rPr lang="en-US" sz="1200" b="1" kern="1200" dirty="0">
                <a:solidFill>
                  <a:schemeClr val="tx1"/>
                </a:solidFill>
                <a:effectLst/>
                <a:latin typeface="Times New Roman" charset="0"/>
                <a:ea typeface="MS PGothic" pitchFamily="34" charset="-128"/>
                <a:cs typeface="MS PGothic" panose="020B0600070205080204" pitchFamily="34" charset="-128"/>
              </a:rPr>
            </a:b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4️⃣ </a:t>
            </a:r>
            <a:r>
              <a:rPr lang="ar-SA" sz="1200" b="1" kern="1200" dirty="0">
                <a:solidFill>
                  <a:schemeClr val="tx1"/>
                </a:solidFill>
                <a:effectLst/>
                <a:latin typeface="Times New Roman" charset="0"/>
                <a:ea typeface="MS PGothic" pitchFamily="34" charset="-128"/>
                <a:cs typeface="MS PGothic" panose="020B0600070205080204" pitchFamily="34" charset="-128"/>
              </a:rPr>
              <a:t>پردازه فرزند</a:t>
            </a:r>
            <a:r>
              <a:rPr lang="en-US" sz="1200" b="1" kern="1200" dirty="0">
                <a:solidFill>
                  <a:schemeClr val="tx1"/>
                </a:solidFill>
                <a:effectLst/>
                <a:latin typeface="Times New Roman" charset="0"/>
                <a:ea typeface="MS PGothic" pitchFamily="34" charset="-128"/>
                <a:cs typeface="MS PGothic" panose="020B0600070205080204" pitchFamily="34" charset="-128"/>
              </a:rPr>
              <a:t> (Child Process)</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else if (</a:t>
            </a:r>
            <a:r>
              <a:rPr lang="en-US" sz="1200" b="1" kern="1200" dirty="0" err="1">
                <a:solidFill>
                  <a:schemeClr val="tx1"/>
                </a:solidFill>
                <a:effectLst/>
                <a:latin typeface="Times New Roman" charset="0"/>
                <a:ea typeface="MS PGothic" pitchFamily="34" charset="-128"/>
                <a:cs typeface="MS PGothic" panose="020B0600070205080204" pitchFamily="34" charset="-128"/>
              </a:rPr>
              <a:t>pid</a:t>
            </a:r>
            <a:r>
              <a:rPr lang="en-US" sz="1200" b="1" kern="1200" dirty="0">
                <a:solidFill>
                  <a:schemeClr val="tx1"/>
                </a:solidFill>
                <a:effectLst/>
                <a:latin typeface="Times New Roman" charset="0"/>
                <a:ea typeface="MS PGothic" pitchFamily="34" charset="-128"/>
                <a:cs typeface="MS PGothic" panose="020B0600070205080204" pitchFamily="34" charset="-128"/>
              </a:rPr>
              <a:t> == 0) {</a:t>
            </a:r>
            <a:br>
              <a:rPr lang="en-US" sz="1200" b="1" kern="1200" dirty="0">
                <a:solidFill>
                  <a:schemeClr val="tx1"/>
                </a:solidFill>
                <a:effectLst/>
                <a:latin typeface="Times New Roman" charset="0"/>
                <a:ea typeface="MS PGothic" pitchFamily="34" charset="-128"/>
                <a:cs typeface="MS PGothic" panose="020B0600070205080204" pitchFamily="34" charset="-128"/>
              </a:rPr>
            </a:br>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en-US" sz="1200" b="1" kern="1200" dirty="0" err="1">
                <a:solidFill>
                  <a:schemeClr val="tx1"/>
                </a:solidFill>
                <a:effectLst/>
                <a:latin typeface="Times New Roman" charset="0"/>
                <a:ea typeface="MS PGothic" pitchFamily="34" charset="-128"/>
                <a:cs typeface="MS PGothic" panose="020B0600070205080204" pitchFamily="34" charset="-128"/>
              </a:rPr>
              <a:t>execlp</a:t>
            </a:r>
            <a:r>
              <a:rPr lang="en-US" sz="1200" b="1" kern="1200" dirty="0">
                <a:solidFill>
                  <a:schemeClr val="tx1"/>
                </a:solidFill>
                <a:effectLst/>
                <a:latin typeface="Times New Roman" charset="0"/>
                <a:ea typeface="MS PGothic" pitchFamily="34" charset="-128"/>
                <a:cs typeface="MS PGothic" panose="020B0600070205080204" pitchFamily="34" charset="-128"/>
              </a:rPr>
              <a:t>("/bin/ls", "ls", NULL);</a:t>
            </a:r>
            <a:br>
              <a:rPr lang="en-US" sz="1200" b="1" kern="1200" dirty="0">
                <a:solidFill>
                  <a:schemeClr val="tx1"/>
                </a:solidFill>
                <a:effectLst/>
                <a:latin typeface="Times New Roman" charset="0"/>
                <a:ea typeface="MS PGothic" pitchFamily="34" charset="-128"/>
                <a:cs typeface="MS PGothic" panose="020B0600070205080204" pitchFamily="34" charset="-128"/>
              </a:rPr>
            </a:b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چه اتفاقی می‌افتد؟</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پردازه فرزند</a:t>
            </a: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ar-SA" sz="1200" b="1" kern="1200" dirty="0">
                <a:solidFill>
                  <a:schemeClr val="tx1"/>
                </a:solidFill>
                <a:effectLst/>
                <a:latin typeface="Times New Roman" charset="0"/>
                <a:ea typeface="MS PGothic" pitchFamily="34" charset="-128"/>
                <a:cs typeface="MS PGothic" panose="020B0600070205080204" pitchFamily="34" charset="-128"/>
              </a:rPr>
              <a:t>خودش را با یک برنامه جدید جایگزین می‌کند </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دستور</a:t>
            </a: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ls</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یعنی</a:t>
            </a: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ar-SA" sz="1200" b="1" kern="1200" dirty="0">
                <a:solidFill>
                  <a:schemeClr val="tx1"/>
                </a:solidFill>
                <a:effectLst/>
                <a:latin typeface="Times New Roman" charset="0"/>
                <a:ea typeface="MS PGothic" pitchFamily="34" charset="-128"/>
                <a:cs typeface="MS PGothic" panose="020B0600070205080204" pitchFamily="34" charset="-128"/>
              </a:rPr>
              <a:t>لیست فایل‌های دایرکتوری چاپ می‌شود </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br>
              <a:rPr lang="en-US" sz="1200" b="1" kern="1200" dirty="0">
                <a:solidFill>
                  <a:schemeClr val="tx1"/>
                </a:solidFill>
                <a:effectLst/>
                <a:latin typeface="Times New Roman" charset="0"/>
                <a:ea typeface="MS PGothic" pitchFamily="34" charset="-128"/>
                <a:cs typeface="MS PGothic" panose="020B0600070205080204" pitchFamily="34" charset="-128"/>
              </a:rPr>
            </a:b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نکته مهم</a:t>
            </a: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err="1">
                <a:solidFill>
                  <a:schemeClr val="tx1"/>
                </a:solidFill>
                <a:effectLst/>
                <a:latin typeface="Times New Roman" charset="0"/>
                <a:ea typeface="MS PGothic" pitchFamily="34" charset="-128"/>
                <a:cs typeface="MS PGothic" panose="020B0600070205080204" pitchFamily="34" charset="-128"/>
              </a:rPr>
              <a:t>execlp</a:t>
            </a: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ar-SA" sz="1200" b="1" kern="1200" dirty="0">
                <a:solidFill>
                  <a:schemeClr val="tx1"/>
                </a:solidFill>
                <a:effectLst/>
                <a:latin typeface="Times New Roman" charset="0"/>
                <a:ea typeface="MS PGothic" pitchFamily="34" charset="-128"/>
                <a:cs typeface="MS PGothic" panose="020B0600070205080204" pitchFamily="34" charset="-128"/>
              </a:rPr>
              <a:t>کد فعلی را کامل جایگزین می‌کند </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ar-SA" sz="1200" b="1" kern="1200" dirty="0">
                <a:solidFill>
                  <a:schemeClr val="tx1"/>
                </a:solidFill>
                <a:effectLst/>
                <a:latin typeface="Times New Roman" charset="0"/>
                <a:ea typeface="MS PGothic" pitchFamily="34" charset="-128"/>
                <a:cs typeface="MS PGothic" panose="020B0600070205080204" pitchFamily="34" charset="-128"/>
              </a:rPr>
              <a:t>اگر موفق شود → دیگر به کد بعدی برنمی‌گردد </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ar-SA" sz="1200" b="1" kern="1200" dirty="0">
                <a:solidFill>
                  <a:schemeClr val="tx1"/>
                </a:solidFill>
                <a:effectLst/>
                <a:latin typeface="Times New Roman" charset="0"/>
                <a:ea typeface="MS PGothic" pitchFamily="34" charset="-128"/>
                <a:cs typeface="MS PGothic" panose="020B0600070205080204" pitchFamily="34" charset="-128"/>
              </a:rPr>
              <a:t>معنی واقعی</a:t>
            </a:r>
            <a:r>
              <a:rPr lang="en-US" sz="1200" b="1" kern="1200" dirty="0">
                <a:solidFill>
                  <a:schemeClr val="tx1"/>
                </a:solidFill>
                <a:effectLst/>
                <a:latin typeface="Times New Roman" charset="0"/>
                <a:ea typeface="MS PGothic" pitchFamily="34" charset="-128"/>
                <a:cs typeface="MS PGothic" panose="020B0600070205080204" pitchFamily="34" charset="-128"/>
              </a:rPr>
              <a:t> Program Replacement</a:t>
            </a:r>
            <a:endParaRPr lang="en-US" sz="8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ar-SA" sz="1200" kern="1200" dirty="0">
                <a:solidFill>
                  <a:schemeClr val="tx1"/>
                </a:solidFill>
                <a:effectLst/>
                <a:latin typeface="Times New Roman" charset="0"/>
                <a:ea typeface="MS PGothic" pitchFamily="34" charset="-128"/>
                <a:cs typeface="MS PGothic" panose="020B0600070205080204" pitchFamily="34" charset="-128"/>
              </a:rPr>
              <a:t>وقتی پردازه‌ی فرزند به این خط می‌رسد</a:t>
            </a:r>
            <a:r>
              <a:rPr lang="en-US" sz="1200" kern="1200" dirty="0">
                <a:solidFill>
                  <a:schemeClr val="tx1"/>
                </a:solidFill>
                <a:effectLst/>
                <a:latin typeface="Times New Roman" charset="0"/>
                <a:ea typeface="MS PGothic" pitchFamily="34" charset="-128"/>
                <a:cs typeface="MS PGothic" panose="020B0600070205080204" pitchFamily="34" charset="-128"/>
              </a:rPr>
              <a:t>:</a:t>
            </a:r>
          </a:p>
          <a:p>
            <a:pPr lvl="0" algn="r" rtl="1"/>
            <a:r>
              <a:rPr lang="en-US" sz="1200" kern="1200" dirty="0">
                <a:solidFill>
                  <a:schemeClr val="tx1"/>
                </a:solidFill>
                <a:effectLst/>
                <a:latin typeface="Times New Roman" charset="0"/>
                <a:ea typeface="MS PGothic" pitchFamily="34" charset="-128"/>
                <a:cs typeface="MS PGothic" panose="020B0600070205080204" pitchFamily="34" charset="-128"/>
              </a:rPr>
              <a:t>👉 </a:t>
            </a:r>
            <a:r>
              <a:rPr lang="ar-SA" sz="1200" kern="1200" dirty="0">
                <a:solidFill>
                  <a:schemeClr val="tx1"/>
                </a:solidFill>
                <a:effectLst/>
                <a:latin typeface="Times New Roman" charset="0"/>
                <a:ea typeface="MS PGothic" pitchFamily="34" charset="-128"/>
                <a:cs typeface="MS PGothic" panose="020B0600070205080204" pitchFamily="34" charset="-128"/>
              </a:rPr>
              <a:t>کل برنامه‌ی فعلی (کدی که شما نوشته‌اید) </a:t>
            </a:r>
            <a:r>
              <a:rPr lang="ar-SA" sz="1200" b="1" kern="1200" dirty="0">
                <a:solidFill>
                  <a:schemeClr val="tx1"/>
                </a:solidFill>
                <a:effectLst/>
                <a:latin typeface="Times New Roman" charset="0"/>
                <a:ea typeface="MS PGothic" pitchFamily="34" charset="-128"/>
                <a:cs typeface="MS PGothic" panose="020B0600070205080204" pitchFamily="34" charset="-128"/>
              </a:rPr>
              <a:t>حذف می‌شود</a:t>
            </a:r>
            <a:br>
              <a:rPr lang="en-US" sz="1200" kern="1200" dirty="0">
                <a:solidFill>
                  <a:schemeClr val="tx1"/>
                </a:solidFill>
                <a:effectLst/>
                <a:latin typeface="Times New Roman" charset="0"/>
                <a:ea typeface="MS PGothic" pitchFamily="34" charset="-128"/>
                <a:cs typeface="MS PGothic" panose="020B0600070205080204" pitchFamily="34" charset="-128"/>
              </a:rPr>
            </a:br>
            <a:r>
              <a:rPr lang="en-US" sz="1200" kern="1200" dirty="0">
                <a:solidFill>
                  <a:schemeClr val="tx1"/>
                </a:solidFill>
                <a:effectLst/>
                <a:latin typeface="Times New Roman" charset="0"/>
                <a:ea typeface="MS PGothic" pitchFamily="34" charset="-128"/>
                <a:cs typeface="MS PGothic" panose="020B0600070205080204" pitchFamily="34" charset="-128"/>
              </a:rPr>
              <a:t>👉 </a:t>
            </a:r>
            <a:r>
              <a:rPr lang="ar-SA" sz="1200" kern="1200" dirty="0">
                <a:solidFill>
                  <a:schemeClr val="tx1"/>
                </a:solidFill>
                <a:effectLst/>
                <a:latin typeface="Times New Roman" charset="0"/>
                <a:ea typeface="MS PGothic" pitchFamily="34" charset="-128"/>
                <a:cs typeface="MS PGothic" panose="020B0600070205080204" pitchFamily="34" charset="-128"/>
              </a:rPr>
              <a:t>و برنامه‌ی جدید</a:t>
            </a:r>
            <a:r>
              <a:rPr lang="en-US" sz="1200" kern="1200" dirty="0">
                <a:solidFill>
                  <a:schemeClr val="tx1"/>
                </a:solidFill>
                <a:effectLst/>
                <a:latin typeface="Times New Roman" charset="0"/>
                <a:ea typeface="MS PGothic" pitchFamily="34" charset="-128"/>
                <a:cs typeface="MS PGothic" panose="020B0600070205080204" pitchFamily="34" charset="-128"/>
              </a:rPr>
              <a:t> (</a:t>
            </a:r>
            <a:r>
              <a:rPr lang="en-US" sz="1000" kern="1200" dirty="0">
                <a:solidFill>
                  <a:schemeClr val="tx1"/>
                </a:solidFill>
                <a:effectLst/>
                <a:latin typeface="Times New Roman" charset="0"/>
                <a:ea typeface="MS PGothic" pitchFamily="34" charset="-128"/>
                <a:cs typeface="MS PGothic" panose="020B0600070205080204" pitchFamily="34" charset="-128"/>
              </a:rPr>
              <a:t>ls</a:t>
            </a:r>
            <a:r>
              <a:rPr lang="en-US" sz="1200"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جایگزین آن می‌شود</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en-US" sz="1200" b="1" kern="1200" dirty="0">
                <a:solidFill>
                  <a:schemeClr val="tx1"/>
                </a:solidFill>
                <a:effectLst/>
                <a:latin typeface="Times New Roman" charset="0"/>
                <a:ea typeface="MS PGothic" pitchFamily="34" charset="-128"/>
                <a:cs typeface="MS PGothic" panose="020B0600070205080204" pitchFamily="34" charset="-128"/>
              </a:rPr>
              <a:t> </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br>
              <a:rPr lang="en-US" sz="1200" b="1" kern="1200" dirty="0">
                <a:solidFill>
                  <a:schemeClr val="tx1"/>
                </a:solidFill>
                <a:effectLst/>
                <a:latin typeface="Times New Roman" charset="0"/>
                <a:ea typeface="MS PGothic" pitchFamily="34" charset="-128"/>
                <a:cs typeface="MS PGothic" panose="020B0600070205080204" pitchFamily="34" charset="-128"/>
              </a:rPr>
            </a:b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5️⃣ </a:t>
            </a:r>
            <a:r>
              <a:rPr lang="ar-SA" sz="1200" b="1" kern="1200" dirty="0">
                <a:solidFill>
                  <a:schemeClr val="tx1"/>
                </a:solidFill>
                <a:effectLst/>
                <a:latin typeface="Times New Roman" charset="0"/>
                <a:ea typeface="MS PGothic" pitchFamily="34" charset="-128"/>
                <a:cs typeface="MS PGothic" panose="020B0600070205080204" pitchFamily="34" charset="-128"/>
              </a:rPr>
              <a:t>پردازه والد</a:t>
            </a:r>
            <a:r>
              <a:rPr lang="en-US" sz="1200" b="1" kern="1200" dirty="0">
                <a:solidFill>
                  <a:schemeClr val="tx1"/>
                </a:solidFill>
                <a:effectLst/>
                <a:latin typeface="Times New Roman" charset="0"/>
                <a:ea typeface="MS PGothic" pitchFamily="34" charset="-128"/>
                <a:cs typeface="MS PGothic" panose="020B0600070205080204" pitchFamily="34" charset="-128"/>
              </a:rPr>
              <a:t> (Parent Process)</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else {</a:t>
            </a:r>
            <a:br>
              <a:rPr lang="en-US" sz="1200" b="1" kern="1200" dirty="0">
                <a:solidFill>
                  <a:schemeClr val="tx1"/>
                </a:solidFill>
                <a:effectLst/>
                <a:latin typeface="Times New Roman" charset="0"/>
                <a:ea typeface="MS PGothic" pitchFamily="34" charset="-128"/>
                <a:cs typeface="MS PGothic" panose="020B0600070205080204" pitchFamily="34" charset="-128"/>
              </a:rPr>
            </a:br>
            <a:r>
              <a:rPr lang="en-US" sz="1200" b="1" kern="1200" dirty="0">
                <a:solidFill>
                  <a:schemeClr val="tx1"/>
                </a:solidFill>
                <a:effectLst/>
                <a:latin typeface="Times New Roman" charset="0"/>
                <a:ea typeface="MS PGothic" pitchFamily="34" charset="-128"/>
                <a:cs typeface="MS PGothic" panose="020B0600070205080204" pitchFamily="34" charset="-128"/>
              </a:rPr>
              <a:t>    wait(NULL);</a:t>
            </a:r>
            <a:br>
              <a:rPr lang="en-US" sz="1200" b="1" kern="1200" dirty="0">
                <a:solidFill>
                  <a:schemeClr val="tx1"/>
                </a:solidFill>
                <a:effectLst/>
                <a:latin typeface="Times New Roman" charset="0"/>
                <a:ea typeface="MS PGothic" pitchFamily="34" charset="-128"/>
                <a:cs typeface="MS PGothic" panose="020B0600070205080204" pitchFamily="34" charset="-128"/>
              </a:rPr>
            </a:br>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en-US" sz="1200" b="1" kern="1200" dirty="0" err="1">
                <a:solidFill>
                  <a:schemeClr val="tx1"/>
                </a:solidFill>
                <a:effectLst/>
                <a:latin typeface="Times New Roman" charset="0"/>
                <a:ea typeface="MS PGothic" pitchFamily="34" charset="-128"/>
                <a:cs typeface="MS PGothic" panose="020B0600070205080204" pitchFamily="34" charset="-128"/>
              </a:rPr>
              <a:t>printf</a:t>
            </a:r>
            <a:r>
              <a:rPr lang="en-US" sz="1200" b="1" kern="1200" dirty="0">
                <a:solidFill>
                  <a:schemeClr val="tx1"/>
                </a:solidFill>
                <a:effectLst/>
                <a:latin typeface="Times New Roman" charset="0"/>
                <a:ea typeface="MS PGothic" pitchFamily="34" charset="-128"/>
                <a:cs typeface="MS PGothic" panose="020B0600070205080204" pitchFamily="34" charset="-128"/>
              </a:rPr>
              <a:t>("Child Complete");</a:t>
            </a:r>
            <a:br>
              <a:rPr lang="en-US" sz="1200" b="1" kern="1200" dirty="0">
                <a:solidFill>
                  <a:schemeClr val="tx1"/>
                </a:solidFill>
                <a:effectLst/>
                <a:latin typeface="Times New Roman" charset="0"/>
                <a:ea typeface="MS PGothic" pitchFamily="34" charset="-128"/>
                <a:cs typeface="MS PGothic" panose="020B0600070205080204" pitchFamily="34" charset="-128"/>
              </a:rPr>
            </a:b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رفتار</a:t>
            </a: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wait(NULL)</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ar-SA" sz="1200" b="1" kern="1200" dirty="0">
                <a:solidFill>
                  <a:schemeClr val="tx1"/>
                </a:solidFill>
                <a:effectLst/>
                <a:latin typeface="Times New Roman" charset="0"/>
                <a:ea typeface="MS PGothic" pitchFamily="34" charset="-128"/>
                <a:cs typeface="MS PGothic" panose="020B0600070205080204" pitchFamily="34" charset="-128"/>
              </a:rPr>
              <a:t>والد منتظر می‌ماند تا فرزند تمام شود </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بعد از اتمام فرزند</a:t>
            </a: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err="1">
                <a:solidFill>
                  <a:schemeClr val="tx1"/>
                </a:solidFill>
                <a:effectLst/>
                <a:latin typeface="Times New Roman" charset="0"/>
                <a:ea typeface="MS PGothic" pitchFamily="34" charset="-128"/>
                <a:cs typeface="MS PGothic" panose="020B0600070205080204" pitchFamily="34" charset="-128"/>
              </a:rPr>
              <a:t>printf</a:t>
            </a:r>
            <a:r>
              <a:rPr lang="en-US" sz="1200" b="1" kern="1200" dirty="0">
                <a:solidFill>
                  <a:schemeClr val="tx1"/>
                </a:solidFill>
                <a:effectLst/>
                <a:latin typeface="Times New Roman" charset="0"/>
                <a:ea typeface="MS PGothic" pitchFamily="34" charset="-128"/>
                <a:cs typeface="MS PGothic" panose="020B0600070205080204" pitchFamily="34" charset="-128"/>
              </a:rPr>
              <a:t>("Child Complete");</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br>
              <a:rPr lang="en-US" sz="1200" b="1" kern="1200" dirty="0">
                <a:solidFill>
                  <a:schemeClr val="tx1"/>
                </a:solidFill>
                <a:effectLst/>
                <a:latin typeface="Times New Roman" charset="0"/>
                <a:ea typeface="MS PGothic" pitchFamily="34" charset="-128"/>
                <a:cs typeface="MS PGothic" panose="020B0600070205080204" pitchFamily="34" charset="-128"/>
              </a:rPr>
            </a:b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ترتیب اجرای واقعی برنامه</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گام‌به‌گام</a:t>
            </a: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ar-SA" sz="1200" b="1" kern="1200" dirty="0">
                <a:solidFill>
                  <a:schemeClr val="tx1"/>
                </a:solidFill>
                <a:effectLst/>
                <a:latin typeface="Times New Roman" charset="0"/>
                <a:ea typeface="MS PGothic" pitchFamily="34" charset="-128"/>
                <a:cs typeface="MS PGothic" panose="020B0600070205080204" pitchFamily="34" charset="-128"/>
              </a:rPr>
              <a:t>برنامه شروع می‌شود </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en-US" sz="1200" b="1" kern="1200" dirty="0">
                <a:solidFill>
                  <a:schemeClr val="tx1"/>
                </a:solidFill>
                <a:effectLst/>
                <a:latin typeface="Times New Roman" charset="0"/>
                <a:ea typeface="MS PGothic" pitchFamily="34" charset="-128"/>
                <a:cs typeface="MS PGothic" panose="020B0600070205080204" pitchFamily="34" charset="-128"/>
              </a:rPr>
              <a:t>fork() </a:t>
            </a:r>
            <a:r>
              <a:rPr lang="ar-SA" sz="1200" b="1" kern="1200" dirty="0">
                <a:solidFill>
                  <a:schemeClr val="tx1"/>
                </a:solidFill>
                <a:effectLst/>
                <a:latin typeface="Times New Roman" charset="0"/>
                <a:ea typeface="MS PGothic" pitchFamily="34" charset="-128"/>
                <a:cs typeface="MS PGothic" panose="020B0600070205080204" pitchFamily="34" charset="-128"/>
              </a:rPr>
              <a:t>اجرا می‌شود → ایجاد</a:t>
            </a:r>
            <a:r>
              <a:rPr lang="en-US" sz="1200" b="1" kern="1200" dirty="0">
                <a:solidFill>
                  <a:schemeClr val="tx1"/>
                </a:solidFill>
                <a:effectLst/>
                <a:latin typeface="Times New Roman" charset="0"/>
                <a:ea typeface="MS PGothic" pitchFamily="34" charset="-128"/>
                <a:cs typeface="MS PGothic" panose="020B0600070205080204" pitchFamily="34" charset="-128"/>
              </a:rPr>
              <a:t> child </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ar-SA" sz="1200" b="1" kern="1200" dirty="0">
                <a:solidFill>
                  <a:schemeClr val="tx1"/>
                </a:solidFill>
                <a:effectLst/>
                <a:latin typeface="Times New Roman" charset="0"/>
                <a:ea typeface="MS PGothic" pitchFamily="34" charset="-128"/>
                <a:cs typeface="MS PGothic" panose="020B0600070205080204" pitchFamily="34" charset="-128"/>
              </a:rPr>
              <a:t>دو مسیر جدا</a:t>
            </a:r>
            <a:r>
              <a:rPr lang="en-US" sz="1200" b="1" kern="1200" dirty="0">
                <a:solidFill>
                  <a:schemeClr val="tx1"/>
                </a:solidFill>
                <a:effectLst/>
                <a:latin typeface="Times New Roman" charset="0"/>
                <a:ea typeface="MS PGothic" pitchFamily="34" charset="-128"/>
                <a:cs typeface="MS PGothic" panose="020B0600070205080204" pitchFamily="34" charset="-128"/>
              </a:rPr>
              <a:t>: </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br>
              <a:rPr lang="en-US" sz="1200" b="1" kern="1200" dirty="0">
                <a:solidFill>
                  <a:schemeClr val="tx1"/>
                </a:solidFill>
                <a:effectLst/>
                <a:latin typeface="Times New Roman" charset="0"/>
                <a:ea typeface="MS PGothic" pitchFamily="34" charset="-128"/>
                <a:cs typeface="MS PGothic" panose="020B0600070205080204" pitchFamily="34" charset="-128"/>
              </a:rPr>
            </a:b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مسیر</a:t>
            </a:r>
            <a:r>
              <a:rPr lang="en-US" sz="1200" b="1" kern="1200" dirty="0">
                <a:solidFill>
                  <a:schemeClr val="tx1"/>
                </a:solidFill>
                <a:effectLst/>
                <a:latin typeface="Times New Roman" charset="0"/>
                <a:ea typeface="MS PGothic" pitchFamily="34" charset="-128"/>
                <a:cs typeface="MS PGothic" panose="020B0600070205080204" pitchFamily="34" charset="-128"/>
              </a:rPr>
              <a:t> Child:</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exec → </a:t>
            </a:r>
            <a:r>
              <a:rPr lang="ar-SA" sz="1200" b="1" kern="1200" dirty="0">
                <a:solidFill>
                  <a:schemeClr val="tx1"/>
                </a:solidFill>
                <a:effectLst/>
                <a:latin typeface="Times New Roman" charset="0"/>
                <a:ea typeface="MS PGothic" pitchFamily="34" charset="-128"/>
                <a:cs typeface="MS PGothic" panose="020B0600070205080204" pitchFamily="34" charset="-128"/>
              </a:rPr>
              <a:t>اجرای</a:t>
            </a:r>
            <a:r>
              <a:rPr lang="en-US" sz="1200" b="1" kern="1200" dirty="0">
                <a:solidFill>
                  <a:schemeClr val="tx1"/>
                </a:solidFill>
                <a:effectLst/>
                <a:latin typeface="Times New Roman" charset="0"/>
                <a:ea typeface="MS PGothic" pitchFamily="34" charset="-128"/>
                <a:cs typeface="MS PGothic" panose="020B0600070205080204" pitchFamily="34" charset="-128"/>
              </a:rPr>
              <a:t> ls → </a:t>
            </a:r>
            <a:r>
              <a:rPr lang="ar-SA" sz="1200" b="1" kern="1200" dirty="0">
                <a:solidFill>
                  <a:schemeClr val="tx1"/>
                </a:solidFill>
                <a:effectLst/>
                <a:latin typeface="Times New Roman" charset="0"/>
                <a:ea typeface="MS PGothic" pitchFamily="34" charset="-128"/>
                <a:cs typeface="MS PGothic" panose="020B0600070205080204" pitchFamily="34" charset="-128"/>
              </a:rPr>
              <a:t>پایان</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br>
              <a:rPr lang="en-US" sz="1200" b="1" kern="1200" dirty="0">
                <a:solidFill>
                  <a:schemeClr val="tx1"/>
                </a:solidFill>
                <a:effectLst/>
                <a:latin typeface="Times New Roman" charset="0"/>
                <a:ea typeface="MS PGothic" pitchFamily="34" charset="-128"/>
                <a:cs typeface="MS PGothic" panose="020B0600070205080204" pitchFamily="34" charset="-128"/>
              </a:rPr>
            </a:b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مسیر</a:t>
            </a:r>
            <a:r>
              <a:rPr lang="en-US" sz="1200" b="1" kern="1200" dirty="0">
                <a:solidFill>
                  <a:schemeClr val="tx1"/>
                </a:solidFill>
                <a:effectLst/>
                <a:latin typeface="Times New Roman" charset="0"/>
                <a:ea typeface="MS PGothic" pitchFamily="34" charset="-128"/>
                <a:cs typeface="MS PGothic" panose="020B0600070205080204" pitchFamily="34" charset="-128"/>
              </a:rPr>
              <a:t> Parent: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wait → </a:t>
            </a:r>
            <a:r>
              <a:rPr lang="ar-SA" sz="1200" b="1" kern="1200" dirty="0">
                <a:solidFill>
                  <a:schemeClr val="tx1"/>
                </a:solidFill>
                <a:effectLst/>
                <a:latin typeface="Times New Roman" charset="0"/>
                <a:ea typeface="MS PGothic" pitchFamily="34" charset="-128"/>
                <a:cs typeface="MS PGothic" panose="020B0600070205080204" pitchFamily="34" charset="-128"/>
              </a:rPr>
              <a:t>صبر تا پایان</a:t>
            </a:r>
            <a:r>
              <a:rPr lang="en-US" sz="1200" b="1" kern="1200" dirty="0">
                <a:solidFill>
                  <a:schemeClr val="tx1"/>
                </a:solidFill>
                <a:effectLst/>
                <a:latin typeface="Times New Roman" charset="0"/>
                <a:ea typeface="MS PGothic" pitchFamily="34" charset="-128"/>
                <a:cs typeface="MS PGothic" panose="020B0600070205080204" pitchFamily="34" charset="-128"/>
              </a:rPr>
              <a:t> child → </a:t>
            </a:r>
            <a:r>
              <a:rPr lang="ar-SA" sz="1200" b="1" kern="1200" dirty="0">
                <a:solidFill>
                  <a:schemeClr val="tx1"/>
                </a:solidFill>
                <a:effectLst/>
                <a:latin typeface="Times New Roman" charset="0"/>
                <a:ea typeface="MS PGothic" pitchFamily="34" charset="-128"/>
                <a:cs typeface="MS PGothic" panose="020B0600070205080204" pitchFamily="34" charset="-128"/>
              </a:rPr>
              <a:t>چاپ</a:t>
            </a:r>
            <a:r>
              <a:rPr lang="en-US" sz="1200" b="1" kern="1200" dirty="0">
                <a:solidFill>
                  <a:schemeClr val="tx1"/>
                </a:solidFill>
                <a:effectLst/>
                <a:latin typeface="Times New Roman" charset="0"/>
                <a:ea typeface="MS PGothic" pitchFamily="34" charset="-128"/>
                <a:cs typeface="MS PGothic" panose="020B0600070205080204" pitchFamily="34" charset="-128"/>
              </a:rPr>
              <a:t> "Child Complete"</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br>
              <a:rPr lang="en-US" sz="1200" b="1" kern="1200" dirty="0">
                <a:solidFill>
                  <a:schemeClr val="tx1"/>
                </a:solidFill>
                <a:effectLst/>
                <a:latin typeface="Times New Roman" charset="0"/>
                <a:ea typeface="MS PGothic" pitchFamily="34" charset="-128"/>
                <a:cs typeface="MS PGothic" panose="020B0600070205080204" pitchFamily="34" charset="-128"/>
              </a:rPr>
            </a:b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خروجی نمونه</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file1.txt</a:t>
            </a:r>
            <a:br>
              <a:rPr lang="en-US" sz="1200" b="1" kern="1200" dirty="0">
                <a:solidFill>
                  <a:schemeClr val="tx1"/>
                </a:solidFill>
                <a:effectLst/>
                <a:latin typeface="Times New Roman" charset="0"/>
                <a:ea typeface="MS PGothic" pitchFamily="34" charset="-128"/>
                <a:cs typeface="MS PGothic" panose="020B0600070205080204" pitchFamily="34" charset="-128"/>
              </a:rPr>
            </a:br>
            <a:r>
              <a:rPr lang="en-US" sz="1200" b="1" kern="1200" dirty="0">
                <a:solidFill>
                  <a:schemeClr val="tx1"/>
                </a:solidFill>
                <a:effectLst/>
                <a:latin typeface="Times New Roman" charset="0"/>
                <a:ea typeface="MS PGothic" pitchFamily="34" charset="-128"/>
                <a:cs typeface="MS PGothic" panose="020B0600070205080204" pitchFamily="34" charset="-128"/>
              </a:rPr>
              <a:t>file2.c</a:t>
            </a:r>
            <a:br>
              <a:rPr lang="en-US" sz="1200" b="1" kern="1200" dirty="0">
                <a:solidFill>
                  <a:schemeClr val="tx1"/>
                </a:solidFill>
                <a:effectLst/>
                <a:latin typeface="Times New Roman" charset="0"/>
                <a:ea typeface="MS PGothic" pitchFamily="34" charset="-128"/>
                <a:cs typeface="MS PGothic" panose="020B0600070205080204" pitchFamily="34" charset="-128"/>
              </a:rPr>
            </a:br>
            <a:r>
              <a:rPr lang="en-US" sz="1200" b="1" kern="1200" dirty="0" err="1">
                <a:solidFill>
                  <a:schemeClr val="tx1"/>
                </a:solidFill>
                <a:effectLst/>
                <a:latin typeface="Times New Roman" charset="0"/>
                <a:ea typeface="MS PGothic" pitchFamily="34" charset="-128"/>
                <a:cs typeface="MS PGothic" panose="020B0600070205080204" pitchFamily="34" charset="-128"/>
              </a:rPr>
              <a:t>main.c</a:t>
            </a:r>
            <a:br>
              <a:rPr lang="en-US" sz="1200" b="1" kern="1200" dirty="0">
                <a:solidFill>
                  <a:schemeClr val="tx1"/>
                </a:solidFill>
                <a:effectLst/>
                <a:latin typeface="Times New Roman" charset="0"/>
                <a:ea typeface="MS PGothic" pitchFamily="34" charset="-128"/>
                <a:cs typeface="MS PGothic" panose="020B0600070205080204" pitchFamily="34" charset="-128"/>
              </a:rPr>
            </a:br>
            <a:r>
              <a:rPr lang="en-US" sz="1200" b="1" kern="1200" dirty="0">
                <a:solidFill>
                  <a:schemeClr val="tx1"/>
                </a:solidFill>
                <a:effectLst/>
                <a:latin typeface="Times New Roman" charset="0"/>
                <a:ea typeface="MS PGothic" pitchFamily="34" charset="-128"/>
                <a:cs typeface="MS PGothic" panose="020B0600070205080204" pitchFamily="34" charset="-128"/>
              </a:rPr>
              <a:t>Child Complete</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توضیح</a:t>
            </a: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ar-SA" sz="1200" b="1" kern="1200" dirty="0">
                <a:solidFill>
                  <a:schemeClr val="tx1"/>
                </a:solidFill>
                <a:effectLst/>
                <a:latin typeface="Times New Roman" charset="0"/>
                <a:ea typeface="MS PGothic" pitchFamily="34" charset="-128"/>
                <a:cs typeface="MS PGothic" panose="020B0600070205080204" pitchFamily="34" charset="-128"/>
              </a:rPr>
              <a:t>ابتدا خروجی </a:t>
            </a:r>
            <a:r>
              <a:rPr lang="en-US" sz="1200" b="1" kern="1200" dirty="0">
                <a:solidFill>
                  <a:schemeClr val="tx1"/>
                </a:solidFill>
                <a:effectLst/>
                <a:latin typeface="Times New Roman" charset="0"/>
                <a:ea typeface="MS PGothic" pitchFamily="34" charset="-128"/>
                <a:cs typeface="MS PGothic" panose="020B0600070205080204" pitchFamily="34" charset="-128"/>
              </a:rPr>
              <a:t>ls </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lvl="0" algn="r" rtl="1"/>
            <a:r>
              <a:rPr lang="ar-SA" sz="1200" b="1" kern="1200" dirty="0">
                <a:solidFill>
                  <a:schemeClr val="tx1"/>
                </a:solidFill>
                <a:effectLst/>
                <a:latin typeface="Times New Roman" charset="0"/>
                <a:ea typeface="MS PGothic" pitchFamily="34" charset="-128"/>
                <a:cs typeface="MS PGothic" panose="020B0600070205080204" pitchFamily="34" charset="-128"/>
              </a:rPr>
              <a:t>سپس پیام والد </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br>
              <a:rPr lang="en-US" sz="1200" b="1" kern="1200" dirty="0">
                <a:solidFill>
                  <a:schemeClr val="tx1"/>
                </a:solidFill>
                <a:effectLst/>
                <a:latin typeface="Times New Roman" charset="0"/>
                <a:ea typeface="MS PGothic" pitchFamily="34" charset="-128"/>
                <a:cs typeface="MS PGothic" panose="020B0600070205080204" pitchFamily="34" charset="-128"/>
              </a:rPr>
            </a:b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a:t>
            </a:r>
            <a:r>
              <a:rPr lang="ar-SA" sz="1200" b="1" kern="1200" dirty="0">
                <a:solidFill>
                  <a:schemeClr val="tx1"/>
                </a:solidFill>
                <a:effectLst/>
                <a:latin typeface="Times New Roman" charset="0"/>
                <a:ea typeface="MS PGothic" pitchFamily="34" charset="-128"/>
                <a:cs typeface="MS PGothic" panose="020B0600070205080204" pitchFamily="34" charset="-128"/>
              </a:rPr>
              <a:t>تحلیل مفهومی عمیق</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این کد سه مفهوم مهم سیستم‌عامل را نشان می‌دهد</a:t>
            </a:r>
            <a:r>
              <a:rPr lang="en-US" sz="1200" b="1" kern="1200" dirty="0">
                <a:solidFill>
                  <a:schemeClr val="tx1"/>
                </a:solidFill>
                <a:effectLst/>
                <a:latin typeface="Times New Roman" charset="0"/>
                <a:ea typeface="MS PGothic" pitchFamily="34" charset="-128"/>
                <a:cs typeface="MS PGothic" panose="020B0600070205080204" pitchFamily="34" charset="-128"/>
              </a:rPr>
              <a: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br>
              <a:rPr lang="en-US" sz="1200" b="1" kern="1200" dirty="0">
                <a:solidFill>
                  <a:schemeClr val="tx1"/>
                </a:solidFill>
                <a:effectLst/>
                <a:latin typeface="Times New Roman" charset="0"/>
                <a:ea typeface="MS PGothic" pitchFamily="34" charset="-128"/>
                <a:cs typeface="MS PGothic" panose="020B0600070205080204" pitchFamily="34" charset="-128"/>
              </a:rPr>
            </a:b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1. </a:t>
            </a:r>
            <a:r>
              <a:rPr lang="ar-SA" sz="1200" b="1" kern="1200" dirty="0">
                <a:solidFill>
                  <a:schemeClr val="tx1"/>
                </a:solidFill>
                <a:effectLst/>
                <a:latin typeface="Times New Roman" charset="0"/>
                <a:ea typeface="MS PGothic" pitchFamily="34" charset="-128"/>
                <a:cs typeface="MS PGothic" panose="020B0600070205080204" pitchFamily="34" charset="-128"/>
              </a:rPr>
              <a:t>ایجاد پردازه</a:t>
            </a:r>
            <a:r>
              <a:rPr lang="en-US" sz="1200" b="1" kern="1200" dirty="0">
                <a:solidFill>
                  <a:schemeClr val="tx1"/>
                </a:solidFill>
                <a:effectLst/>
                <a:latin typeface="Times New Roman" charset="0"/>
                <a:ea typeface="MS PGothic" pitchFamily="34" charset="-128"/>
                <a:cs typeface="MS PGothic" panose="020B0600070205080204" pitchFamily="34" charset="-128"/>
              </a:rPr>
              <a:t> (Process Creation)</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با </a:t>
            </a:r>
            <a:r>
              <a:rPr lang="en-US" sz="1200" b="1" kern="1200" dirty="0">
                <a:solidFill>
                  <a:schemeClr val="tx1"/>
                </a:solidFill>
                <a:effectLst/>
                <a:latin typeface="Times New Roman" charset="0"/>
                <a:ea typeface="MS PGothic" pitchFamily="34" charset="-128"/>
                <a:cs typeface="MS PGothic" panose="020B0600070205080204" pitchFamily="34" charset="-128"/>
              </a:rPr>
              <a:t>fork()</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br>
              <a:rPr lang="en-US" sz="1200" b="1" kern="1200" dirty="0">
                <a:solidFill>
                  <a:schemeClr val="tx1"/>
                </a:solidFill>
                <a:effectLst/>
                <a:latin typeface="Times New Roman" charset="0"/>
                <a:ea typeface="MS PGothic" pitchFamily="34" charset="-128"/>
                <a:cs typeface="MS PGothic" panose="020B0600070205080204" pitchFamily="34" charset="-128"/>
              </a:rPr>
            </a:b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2. </a:t>
            </a:r>
            <a:r>
              <a:rPr lang="ar-SA" sz="1200" b="1" kern="1200" dirty="0">
                <a:solidFill>
                  <a:schemeClr val="tx1"/>
                </a:solidFill>
                <a:effectLst/>
                <a:latin typeface="Times New Roman" charset="0"/>
                <a:ea typeface="MS PGothic" pitchFamily="34" charset="-128"/>
                <a:cs typeface="MS PGothic" panose="020B0600070205080204" pitchFamily="34" charset="-128"/>
              </a:rPr>
              <a:t>جایگزینی برنامه</a:t>
            </a:r>
            <a:r>
              <a:rPr lang="en-US" sz="1200" b="1" kern="1200" dirty="0">
                <a:solidFill>
                  <a:schemeClr val="tx1"/>
                </a:solidFill>
                <a:effectLst/>
                <a:latin typeface="Times New Roman" charset="0"/>
                <a:ea typeface="MS PGothic" pitchFamily="34" charset="-128"/>
                <a:cs typeface="MS PGothic" panose="020B0600070205080204" pitchFamily="34" charset="-128"/>
              </a:rPr>
              <a:t> (Program Replacement)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با </a:t>
            </a:r>
            <a:r>
              <a:rPr lang="en-US" sz="1200" b="1" kern="1200" dirty="0">
                <a:solidFill>
                  <a:schemeClr val="tx1"/>
                </a:solidFill>
                <a:effectLst/>
                <a:latin typeface="Times New Roman" charset="0"/>
                <a:ea typeface="MS PGothic" pitchFamily="34" charset="-128"/>
                <a:cs typeface="MS PGothic" panose="020B0600070205080204" pitchFamily="34" charset="-128"/>
              </a:rPr>
              <a:t>exec()</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br>
              <a:rPr lang="en-US" sz="1200" b="1" kern="1200" dirty="0">
                <a:solidFill>
                  <a:schemeClr val="tx1"/>
                </a:solidFill>
                <a:effectLst/>
                <a:latin typeface="Times New Roman" charset="0"/>
                <a:ea typeface="MS PGothic" pitchFamily="34" charset="-128"/>
                <a:cs typeface="MS PGothic" panose="020B0600070205080204" pitchFamily="34" charset="-128"/>
              </a:rPr>
            </a:b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b="1" kern="1200" dirty="0">
                <a:solidFill>
                  <a:schemeClr val="tx1"/>
                </a:solidFill>
                <a:effectLst/>
                <a:latin typeface="Times New Roman" charset="0"/>
                <a:ea typeface="MS PGothic" pitchFamily="34" charset="-128"/>
                <a:cs typeface="MS PGothic" panose="020B0600070205080204" pitchFamily="34" charset="-128"/>
              </a:rPr>
              <a:t>✔ 3. </a:t>
            </a:r>
            <a:r>
              <a:rPr lang="ar-SA" sz="1200" b="1" kern="1200" dirty="0">
                <a:solidFill>
                  <a:schemeClr val="tx1"/>
                </a:solidFill>
                <a:effectLst/>
                <a:latin typeface="Times New Roman" charset="0"/>
                <a:ea typeface="MS PGothic" pitchFamily="34" charset="-128"/>
                <a:cs typeface="MS PGothic" panose="020B0600070205080204" pitchFamily="34" charset="-128"/>
              </a:rPr>
              <a:t>همگام‌سازی</a:t>
            </a:r>
            <a:r>
              <a:rPr lang="en-US" sz="1200" b="1" kern="1200" dirty="0">
                <a:solidFill>
                  <a:schemeClr val="tx1"/>
                </a:solidFill>
                <a:effectLst/>
                <a:latin typeface="Times New Roman" charset="0"/>
                <a:ea typeface="MS PGothic" pitchFamily="34" charset="-128"/>
                <a:cs typeface="MS PGothic" panose="020B0600070205080204" pitchFamily="34" charset="-128"/>
              </a:rPr>
              <a:t> (Synchronization)</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ar-SA" sz="1200" b="1" kern="1200" dirty="0">
                <a:solidFill>
                  <a:schemeClr val="tx1"/>
                </a:solidFill>
                <a:effectLst/>
                <a:latin typeface="Times New Roman" charset="0"/>
                <a:ea typeface="MS PGothic" pitchFamily="34" charset="-128"/>
                <a:cs typeface="MS PGothic" panose="020B0600070205080204" pitchFamily="34" charset="-128"/>
              </a:rPr>
              <a:t>با </a:t>
            </a:r>
            <a:r>
              <a:rPr lang="en-US" sz="1200" b="1" kern="1200" dirty="0">
                <a:solidFill>
                  <a:schemeClr val="tx1"/>
                </a:solidFill>
                <a:effectLst/>
                <a:latin typeface="Times New Roman" charset="0"/>
                <a:ea typeface="MS PGothic" pitchFamily="34" charset="-128"/>
                <a:cs typeface="MS PGothic" panose="020B0600070205080204" pitchFamily="34" charset="-128"/>
              </a:rPr>
              <a:t>wait()</a:t>
            </a:r>
            <a:endParaRPr lang="en-US" sz="1200" kern="1200" dirty="0">
              <a:solidFill>
                <a:schemeClr val="tx1"/>
              </a:solidFill>
              <a:effectLst/>
              <a:latin typeface="Times New Roman" charset="0"/>
              <a:ea typeface="MS PGothic" pitchFamily="34" charset="-128"/>
              <a:cs typeface="MS PGothic" panose="020B0600070205080204" pitchFamily="34" charset="-128"/>
            </a:endParaRPr>
          </a:p>
          <a:p>
            <a:pPr algn="r" rtl="1"/>
            <a:r>
              <a:rPr lang="en-US" sz="1200" kern="1200" dirty="0">
                <a:solidFill>
                  <a:schemeClr val="tx1"/>
                </a:solidFill>
                <a:effectLst/>
                <a:latin typeface="Times New Roman" charset="0"/>
                <a:ea typeface="MS PGothic" pitchFamily="34" charset="-128"/>
                <a:cs typeface="MS PGothic" panose="020B0600070205080204" pitchFamily="34" charset="-128"/>
              </a:rPr>
              <a:t> </a:t>
            </a:r>
          </a:p>
          <a:p>
            <a:pPr algn="r" rtl="1"/>
            <a:endParaRPr lang="en-US" altLang="en-US" dirty="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297FF49F-1D45-469B-875E-F2DC1DDA4D36}"/>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949FD0D0-FC60-49A7-A825-489FF222CA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just" rtl="1">
              <a:lnSpc>
                <a:spcPct val="107000"/>
              </a:lnSpc>
              <a:spcBef>
                <a:spcPts val="0"/>
              </a:spcBef>
              <a:spcAft>
                <a:spcPts val="800"/>
              </a:spcAft>
            </a:pPr>
            <a:r>
              <a:rPr lang="ar-SA" sz="1800" dirty="0">
                <a:solidFill>
                  <a:srgbClr val="1F1F1F"/>
                </a:solidFill>
                <a:effectLst/>
                <a:latin typeface="Calibri" panose="020F0502020204030204" pitchFamily="34" charset="0"/>
                <a:ea typeface="Calibri" panose="020F0502020204030204" pitchFamily="34" charset="0"/>
                <a:cs typeface="Arial" panose="020B0604020202020204" pitchFamily="34" charset="0"/>
              </a:rPr>
              <a:t>فرآیند</a:t>
            </a:r>
            <a:r>
              <a:rPr lang="en-US" sz="1800" dirty="0">
                <a:solidFill>
                  <a:srgbClr val="1F1F1F"/>
                </a:solidFill>
                <a:effectLst/>
                <a:latin typeface="Arial" panose="020B0604020202020204" pitchFamily="34" charset="0"/>
                <a:ea typeface="Calibri" panose="020F0502020204030204" pitchFamily="34" charset="0"/>
                <a:cs typeface="Arial" panose="020B0604020202020204" pitchFamily="34" charset="0"/>
              </a:rPr>
              <a:t> </a:t>
            </a:r>
            <a:r>
              <a:rPr lang="en-US" sz="1800" dirty="0" err="1">
                <a:solidFill>
                  <a:srgbClr val="1F1F1F"/>
                </a:solidFill>
                <a:effectLst/>
                <a:latin typeface="Arial" panose="020B0604020202020204" pitchFamily="34" charset="0"/>
                <a:ea typeface="Calibri" panose="020F0502020204030204" pitchFamily="34" charset="0"/>
                <a:cs typeface="Arial" panose="020B0604020202020204" pitchFamily="34" charset="0"/>
              </a:rPr>
              <a:t>systemd</a:t>
            </a:r>
            <a:r>
              <a:rPr lang="en-US" sz="1800" dirty="0">
                <a:solidFill>
                  <a:srgbClr val="1F1F1F"/>
                </a:solidFill>
                <a:effectLst/>
                <a:latin typeface="Arial" panose="020B0604020202020204" pitchFamily="34" charset="0"/>
                <a:ea typeface="Calibri" panose="020F0502020204030204" pitchFamily="34" charset="0"/>
                <a:cs typeface="Arial" panose="020B0604020202020204" pitchFamily="34" charset="0"/>
              </a:rPr>
              <a:t> </a:t>
            </a:r>
            <a:r>
              <a:rPr lang="ar-SA" sz="1800" dirty="0">
                <a:solidFill>
                  <a:srgbClr val="1F1F1F"/>
                </a:solidFill>
                <a:effectLst/>
                <a:latin typeface="Calibri" panose="020F0502020204030204" pitchFamily="34" charset="0"/>
                <a:ea typeface="Calibri" panose="020F0502020204030204" pitchFamily="34" charset="0"/>
                <a:cs typeface="Arial" panose="020B0604020202020204" pitchFamily="34" charset="0"/>
              </a:rPr>
              <a:t>که همیشه دارای</a:t>
            </a:r>
            <a:r>
              <a:rPr lang="en-US" sz="1800" dirty="0">
                <a:solidFill>
                  <a:srgbClr val="1F1F1F"/>
                </a:solidFill>
                <a:effectLst/>
                <a:latin typeface="Arial" panose="020B0604020202020204" pitchFamily="34" charset="0"/>
                <a:ea typeface="Calibri" panose="020F0502020204030204" pitchFamily="34" charset="0"/>
                <a:cs typeface="Arial" panose="020B0604020202020204" pitchFamily="34" charset="0"/>
              </a:rPr>
              <a:t> </a:t>
            </a:r>
            <a:r>
              <a:rPr lang="en-US" sz="1800" dirty="0" err="1">
                <a:solidFill>
                  <a:srgbClr val="1F1F1F"/>
                </a:solidFill>
                <a:effectLst/>
                <a:latin typeface="Arial" panose="020B0604020202020204" pitchFamily="34" charset="0"/>
                <a:ea typeface="Calibri" panose="020F0502020204030204" pitchFamily="34" charset="0"/>
                <a:cs typeface="Arial" panose="020B0604020202020204" pitchFamily="34" charset="0"/>
              </a:rPr>
              <a:t>pid</a:t>
            </a:r>
            <a:r>
              <a:rPr lang="en-US" sz="1800" dirty="0">
                <a:solidFill>
                  <a:srgbClr val="1F1F1F"/>
                </a:solidFill>
                <a:effectLst/>
                <a:latin typeface="Arial" panose="020B0604020202020204" pitchFamily="34" charset="0"/>
                <a:ea typeface="Calibri" panose="020F0502020204030204" pitchFamily="34" charset="0"/>
                <a:cs typeface="Arial" panose="020B0604020202020204" pitchFamily="34" charset="0"/>
              </a:rPr>
              <a:t> 1 </a:t>
            </a:r>
            <a:r>
              <a:rPr lang="ar-SA" sz="1800" dirty="0">
                <a:solidFill>
                  <a:srgbClr val="1F1F1F"/>
                </a:solidFill>
                <a:effectLst/>
                <a:latin typeface="Calibri" panose="020F0502020204030204" pitchFamily="34" charset="0"/>
                <a:ea typeface="Calibri" panose="020F0502020204030204" pitchFamily="34" charset="0"/>
                <a:cs typeface="Arial" panose="020B0604020202020204" pitchFamily="34" charset="0"/>
              </a:rPr>
              <a:t>است به عنوان فرآیند والد اصلی برای تمام فرآیندهای کاربر عمل می کند و اولین فرآیند کاربر است که هنگام بوت شدن سیستم ایجاد می شود. پس از بوت شدن سیستم، فرآیند</a:t>
            </a:r>
            <a:r>
              <a:rPr lang="en-US" sz="1800" dirty="0">
                <a:solidFill>
                  <a:srgbClr val="1F1F1F"/>
                </a:solidFill>
                <a:effectLst/>
                <a:latin typeface="Arial" panose="020B0604020202020204" pitchFamily="34" charset="0"/>
                <a:ea typeface="Calibri" panose="020F0502020204030204" pitchFamily="34" charset="0"/>
                <a:cs typeface="Arial" panose="020B0604020202020204" pitchFamily="34" charset="0"/>
              </a:rPr>
              <a:t> </a:t>
            </a:r>
            <a:r>
              <a:rPr lang="en-US" sz="1800" dirty="0" err="1">
                <a:solidFill>
                  <a:srgbClr val="1F1F1F"/>
                </a:solidFill>
                <a:effectLst/>
                <a:latin typeface="Arial" panose="020B0604020202020204" pitchFamily="34" charset="0"/>
                <a:ea typeface="Calibri" panose="020F0502020204030204" pitchFamily="34" charset="0"/>
                <a:cs typeface="Arial" panose="020B0604020202020204" pitchFamily="34" charset="0"/>
              </a:rPr>
              <a:t>systemd</a:t>
            </a:r>
            <a:r>
              <a:rPr lang="en-US" sz="1800" dirty="0">
                <a:solidFill>
                  <a:srgbClr val="1F1F1F"/>
                </a:solidFill>
                <a:effectLst/>
                <a:latin typeface="Arial" panose="020B0604020202020204" pitchFamily="34" charset="0"/>
                <a:ea typeface="Calibri" panose="020F0502020204030204" pitchFamily="34" charset="0"/>
                <a:cs typeface="Arial" panose="020B0604020202020204" pitchFamily="34" charset="0"/>
              </a:rPr>
              <a:t> </a:t>
            </a:r>
            <a:r>
              <a:rPr lang="ar-SA" sz="1800" dirty="0">
                <a:solidFill>
                  <a:srgbClr val="1F1F1F"/>
                </a:solidFill>
                <a:effectLst/>
                <a:latin typeface="Calibri" panose="020F0502020204030204" pitchFamily="34" charset="0"/>
                <a:ea typeface="Calibri" panose="020F0502020204030204" pitchFamily="34" charset="0"/>
                <a:cs typeface="Arial" panose="020B0604020202020204" pitchFamily="34" charset="0"/>
              </a:rPr>
              <a:t>فرآیندهایی را ایجاد می کند که خدمات اضافی مانند وب سرور یا چاپگر، سرور</a:t>
            </a:r>
            <a:r>
              <a:rPr lang="en-US" sz="1800" dirty="0">
                <a:solidFill>
                  <a:srgbClr val="1F1F1F"/>
                </a:solidFill>
                <a:effectLst/>
                <a:latin typeface="Arial" panose="020B0604020202020204" pitchFamily="34" charset="0"/>
                <a:ea typeface="Calibri" panose="020F0502020204030204" pitchFamily="34" charset="0"/>
                <a:cs typeface="Arial" panose="020B0604020202020204" pitchFamily="34" charset="0"/>
              </a:rPr>
              <a:t> </a:t>
            </a:r>
            <a:r>
              <a:rPr lang="en-US" sz="1800" dirty="0" err="1">
                <a:solidFill>
                  <a:srgbClr val="1F1F1F"/>
                </a:solidFill>
                <a:effectLst/>
                <a:latin typeface="Arial" panose="020B0604020202020204" pitchFamily="34" charset="0"/>
                <a:ea typeface="Calibri" panose="020F0502020204030204" pitchFamily="34" charset="0"/>
                <a:cs typeface="Arial" panose="020B0604020202020204" pitchFamily="34" charset="0"/>
              </a:rPr>
              <a:t>ssh</a:t>
            </a:r>
            <a:r>
              <a:rPr lang="en-US" sz="1800" dirty="0">
                <a:solidFill>
                  <a:srgbClr val="1F1F1F"/>
                </a:solidFill>
                <a:effectLst/>
                <a:latin typeface="Arial" panose="020B0604020202020204" pitchFamily="34" charset="0"/>
                <a:ea typeface="Calibri" panose="020F0502020204030204" pitchFamily="34" charset="0"/>
                <a:cs typeface="Arial" panose="020B0604020202020204" pitchFamily="34" charset="0"/>
              </a:rPr>
              <a:t> </a:t>
            </a:r>
            <a:r>
              <a:rPr lang="ar-SA" sz="1800" dirty="0">
                <a:solidFill>
                  <a:srgbClr val="1F1F1F"/>
                </a:solidFill>
                <a:effectLst/>
                <a:latin typeface="Calibri" panose="020F0502020204030204" pitchFamily="34" charset="0"/>
                <a:ea typeface="Calibri" panose="020F0502020204030204" pitchFamily="34" charset="0"/>
                <a:cs typeface="Arial" panose="020B0604020202020204" pitchFamily="34" charset="0"/>
              </a:rPr>
              <a:t>و موارد مشابه را ارائه می دهند</a:t>
            </a:r>
            <a:r>
              <a:rPr lang="en-US" sz="1800" dirty="0">
                <a:solidFill>
                  <a:srgbClr val="1F1F1F"/>
                </a:solidFill>
                <a:effectLst/>
                <a:latin typeface="Arial" panose="020B0604020202020204" pitchFamily="34" charset="0"/>
                <a:ea typeface="Calibri" panose="020F0502020204030204" pitchFamily="34"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9206060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74A77185-263F-40EF-B517-050039163EBF}"/>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93895C72-BFF8-4918-95C2-8FFB7A879F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No need to explain. </a:t>
            </a:r>
          </a:p>
          <a:p>
            <a:r>
              <a:rPr lang="en-US" dirty="0"/>
              <a:t>The C program shown in Figure 3.10 illustrates the </a:t>
            </a:r>
            <a:r>
              <a:rPr lang="en-US" dirty="0" err="1"/>
              <a:t>CreateProcess</a:t>
            </a:r>
            <a:r>
              <a:rPr lang="en-US" dirty="0"/>
              <a:t>() function, which creates a child process that loads the application mspaint.exe. </a:t>
            </a:r>
          </a:p>
          <a:p>
            <a:r>
              <a:rPr lang="en-US" dirty="0"/>
              <a:t>We invoke the </a:t>
            </a:r>
            <a:r>
              <a:rPr lang="en-US" b="1" dirty="0" err="1"/>
              <a:t>ZeroMemory</a:t>
            </a:r>
            <a:r>
              <a:rPr lang="en-US" b="1" dirty="0"/>
              <a:t>() function to allocate memory for each of these structures before proceeding with </a:t>
            </a:r>
            <a:r>
              <a:rPr lang="en-US" b="1" dirty="0" err="1"/>
              <a:t>CreateProcess</a:t>
            </a:r>
            <a:r>
              <a:rPr lang="en-US" dirty="0"/>
              <a:t>().</a:t>
            </a:r>
          </a:p>
          <a:p>
            <a:r>
              <a:rPr lang="en-US" dirty="0"/>
              <a:t>The first two parameters passed to </a:t>
            </a:r>
            <a:r>
              <a:rPr lang="en-US" dirty="0" err="1"/>
              <a:t>CreateProcess</a:t>
            </a:r>
            <a:r>
              <a:rPr lang="en-US" dirty="0"/>
              <a:t>() are the application name and command-line parameters.</a:t>
            </a:r>
            <a:endParaRPr lang="en-US" altLang="en-US" dirty="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99F2A1A-F415-4861-9317-8DF50F438DE9}"/>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68EDBADE-A031-473C-85B2-8404A68200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03A7F482-09C8-4234-BA8B-E06C784513B0}"/>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F97F5174-3BAF-4B1B-846E-3DB7430B29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r" rtl="1">
              <a:buFont typeface="Arial" panose="020B0604020202020204" pitchFamily="34" charset="0"/>
              <a:buChar char="•"/>
            </a:pPr>
            <a:endParaRPr lang="en-US" altLang="en-US" dirty="0">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03A7F482-09C8-4234-BA8B-E06C784513B0}"/>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F97F5174-3BAF-4B1B-846E-3DB7430B29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r" rtl="1">
              <a:buFont typeface="Arial" panose="020B0604020202020204" pitchFamily="34" charset="0"/>
              <a:buChar char="•"/>
            </a:pPr>
            <a:r>
              <a:rPr lang="fa-IR" dirty="0">
                <a:solidFill>
                  <a:srgbClr val="1F1F1F"/>
                </a:solidFill>
                <a:effectLst/>
                <a:latin typeface="Google Sans"/>
              </a:rPr>
              <a:t>زمانی که یک فرایند خاتمه می‌یابد، منابع آن توسط سیستم‌عامل آزاد می‌شوند. با این حال، ورودی مربوط به آن فرایند باید تا زمانی که فرایند والد تابع </a:t>
            </a:r>
            <a:r>
              <a:rPr lang="en-US" dirty="0">
                <a:solidFill>
                  <a:srgbClr val="1F1F1F"/>
                </a:solidFill>
                <a:effectLst/>
                <a:latin typeface="Google Sans"/>
              </a:rPr>
              <a:t>wait() </a:t>
            </a:r>
            <a:r>
              <a:rPr lang="fa-IR" dirty="0">
                <a:solidFill>
                  <a:srgbClr val="1F1F1F"/>
                </a:solidFill>
                <a:effectLst/>
                <a:latin typeface="Google Sans"/>
              </a:rPr>
              <a:t>را فراخوانی نکند، در جدول فرایندها باقی بماند. دلیل این امر آن است که جدول فرایندها حاوی وضعیت خروج آن فرایند می‌باشد.</a:t>
            </a:r>
          </a:p>
          <a:p>
            <a:pPr marL="171450" indent="-171450" algn="r" rtl="1">
              <a:buFont typeface="Arial" panose="020B0604020202020204" pitchFamily="34" charset="0"/>
              <a:buChar char="•"/>
            </a:pPr>
            <a:endParaRPr lang="fa-IR" dirty="0">
              <a:solidFill>
                <a:srgbClr val="1F1F1F"/>
              </a:solidFill>
              <a:effectLst/>
              <a:latin typeface="Google Sans"/>
            </a:endParaRPr>
          </a:p>
          <a:p>
            <a:pPr marL="171450" indent="-171450" algn="r" rtl="1">
              <a:buFont typeface="Arial" panose="020B0604020202020204" pitchFamily="34" charset="0"/>
              <a:buChar char="•"/>
            </a:pPr>
            <a:r>
              <a:rPr lang="fa-IR" dirty="0">
                <a:solidFill>
                  <a:srgbClr val="1F1F1F"/>
                </a:solidFill>
                <a:effectLst/>
                <a:latin typeface="Google Sans"/>
              </a:rPr>
              <a:t>فرایندی که خاتمه یافته است، اما فرایند والد هنوز تابع </a:t>
            </a:r>
            <a:r>
              <a:rPr lang="en-US" dirty="0">
                <a:solidFill>
                  <a:srgbClr val="1F1F1F"/>
                </a:solidFill>
                <a:effectLst/>
                <a:latin typeface="Google Sans"/>
              </a:rPr>
              <a:t>wait() </a:t>
            </a:r>
            <a:r>
              <a:rPr lang="fa-IR" dirty="0">
                <a:solidFill>
                  <a:srgbClr val="1F1F1F"/>
                </a:solidFill>
                <a:effectLst/>
                <a:latin typeface="Google Sans"/>
              </a:rPr>
              <a:t>را برای آن فراخوانی نکرده است، به عنوان یک «فرایند زامبی</a:t>
            </a:r>
            <a:r>
              <a:rPr lang="en-US" dirty="0">
                <a:solidFill>
                  <a:srgbClr val="1F1F1F"/>
                </a:solidFill>
                <a:effectLst/>
                <a:latin typeface="Google Sans"/>
              </a:rPr>
              <a:t>» </a:t>
            </a:r>
            <a:r>
              <a:rPr lang="fa-IR" dirty="0">
                <a:solidFill>
                  <a:srgbClr val="1F1F1F"/>
                </a:solidFill>
                <a:effectLst/>
                <a:latin typeface="Google Sans"/>
              </a:rPr>
              <a:t>شناخته می‌شود.</a:t>
            </a:r>
            <a:endParaRPr lang="en-US" dirty="0">
              <a:solidFill>
                <a:srgbClr val="1F1F1F"/>
              </a:solidFill>
              <a:effectLst/>
              <a:latin typeface="Google Sans"/>
            </a:endParaRPr>
          </a:p>
          <a:p>
            <a:pPr marL="171450" indent="-171450" algn="r" rtl="1">
              <a:buFont typeface="Arial" panose="020B0604020202020204" pitchFamily="34" charset="0"/>
              <a:buChar char="•"/>
            </a:pPr>
            <a:r>
              <a:rPr lang="fa-IR" b="0" i="0" dirty="0">
                <a:solidFill>
                  <a:srgbClr val="1F1F1F"/>
                </a:solidFill>
                <a:effectLst/>
                <a:latin typeface="Google Sans"/>
              </a:rPr>
              <a:t>تمام فرایندها هنگام خاتمه به این حالت</a:t>
            </a:r>
            <a:r>
              <a:rPr lang="en-US" b="0" i="0" dirty="0">
                <a:solidFill>
                  <a:srgbClr val="1F1F1F"/>
                </a:solidFill>
                <a:effectLst/>
                <a:latin typeface="Google Sans"/>
              </a:rPr>
              <a:t> </a:t>
            </a:r>
            <a:r>
              <a:rPr lang="fa-IR" b="0" i="0" dirty="0">
                <a:solidFill>
                  <a:srgbClr val="1F1F1F"/>
                </a:solidFill>
                <a:effectLst/>
                <a:latin typeface="Google Sans"/>
              </a:rPr>
              <a:t>زامبی وارد می شوند، اما به طور کلی آنها فقط برای مدت کوتاهی به عنوان زامبی</a:t>
            </a:r>
            <a:r>
              <a:rPr lang="en-US" b="0" i="0" dirty="0">
                <a:solidFill>
                  <a:srgbClr val="1F1F1F"/>
                </a:solidFill>
                <a:effectLst/>
                <a:latin typeface="Google Sans"/>
              </a:rPr>
              <a:t> </a:t>
            </a:r>
            <a:r>
              <a:rPr lang="fa-IR" b="0" i="0" dirty="0">
                <a:solidFill>
                  <a:srgbClr val="1F1F1F"/>
                </a:solidFill>
                <a:effectLst/>
                <a:latin typeface="Google Sans"/>
              </a:rPr>
              <a:t>باقی می مانند. هنگامی که فرایند والد تابع </a:t>
            </a:r>
            <a:r>
              <a:rPr lang="en-US" b="0" i="0" dirty="0">
                <a:solidFill>
                  <a:srgbClr val="1F1F1F"/>
                </a:solidFill>
                <a:effectLst/>
                <a:latin typeface="Google Sans"/>
              </a:rPr>
              <a:t>wait() </a:t>
            </a:r>
            <a:r>
              <a:rPr lang="fa-IR" b="0" i="0" dirty="0">
                <a:solidFill>
                  <a:srgbClr val="1F1F1F"/>
                </a:solidFill>
                <a:effectLst/>
                <a:latin typeface="Google Sans"/>
              </a:rPr>
              <a:t>را فراخوانی می کند، شناسه فرایند زامبی</a:t>
            </a:r>
            <a:r>
              <a:rPr lang="en-US" b="0" i="0" dirty="0">
                <a:solidFill>
                  <a:srgbClr val="1F1F1F"/>
                </a:solidFill>
                <a:effectLst/>
                <a:latin typeface="Google Sans"/>
              </a:rPr>
              <a:t> </a:t>
            </a:r>
            <a:r>
              <a:rPr lang="fa-IR" b="0" i="0" dirty="0">
                <a:solidFill>
                  <a:srgbClr val="1F1F1F"/>
                </a:solidFill>
                <a:effectLst/>
                <a:latin typeface="Google Sans"/>
              </a:rPr>
              <a:t>و ورودی آن در جدول فرایندها آزاد می شوند.</a:t>
            </a:r>
          </a:p>
          <a:p>
            <a:pPr marL="171450" indent="-171450" algn="r" rtl="1">
              <a:buFont typeface="Arial" panose="020B0604020202020204" pitchFamily="34" charset="0"/>
              <a:buChar char="•"/>
            </a:pPr>
            <a:endParaRPr lang="en-US" dirty="0">
              <a:solidFill>
                <a:srgbClr val="1F1F1F"/>
              </a:solidFill>
              <a:effectLst/>
              <a:latin typeface="Google Sans"/>
            </a:endParaRPr>
          </a:p>
          <a:p>
            <a:pPr marL="171450" indent="-171450" algn="r" rtl="1">
              <a:buFont typeface="Arial" panose="020B0604020202020204" pitchFamily="34" charset="0"/>
              <a:buChar char="•"/>
            </a:pPr>
            <a:r>
              <a:rPr lang="fa-IR" dirty="0">
                <a:solidFill>
                  <a:srgbClr val="1F1F1F"/>
                </a:solidFill>
                <a:effectLst/>
                <a:latin typeface="Google Sans"/>
              </a:rPr>
              <a:t>حالا فرض کنید که یک فرایند والد، تابع </a:t>
            </a:r>
            <a:r>
              <a:rPr lang="en-US" dirty="0">
                <a:solidFill>
                  <a:srgbClr val="1F1F1F"/>
                </a:solidFill>
                <a:effectLst/>
                <a:latin typeface="Google Sans"/>
              </a:rPr>
              <a:t>wait() </a:t>
            </a:r>
            <a:r>
              <a:rPr lang="fa-IR" dirty="0">
                <a:solidFill>
                  <a:srgbClr val="1F1F1F"/>
                </a:solidFill>
                <a:effectLst/>
                <a:latin typeface="Google Sans"/>
              </a:rPr>
              <a:t>را فراخوانی نکند و به جای آن خاتمه یابد، در نتیجه فرایندهای فرزند آن یتیم می شوند.</a:t>
            </a:r>
          </a:p>
          <a:p>
            <a:pPr marL="628650" lvl="1" indent="-171450" algn="r" rtl="1">
              <a:buFont typeface="Arial" panose="020B0604020202020204" pitchFamily="34" charset="0"/>
              <a:buChar char="•"/>
            </a:pPr>
            <a:r>
              <a:rPr lang="fa-IR" b="1" dirty="0">
                <a:solidFill>
                  <a:srgbClr val="1F1F1F"/>
                </a:solidFill>
                <a:effectLst/>
                <a:latin typeface="Google Sans"/>
              </a:rPr>
              <a:t>سیستم‌های سنتی یونیکس با اختصاص دادن فرایند </a:t>
            </a:r>
            <a:r>
              <a:rPr lang="en-US" b="1" dirty="0" err="1">
                <a:solidFill>
                  <a:srgbClr val="1F1F1F"/>
                </a:solidFill>
                <a:effectLst/>
                <a:latin typeface="Google Sans"/>
              </a:rPr>
              <a:t>init</a:t>
            </a:r>
            <a:r>
              <a:rPr lang="en-US" b="1" dirty="0">
                <a:solidFill>
                  <a:srgbClr val="1F1F1F"/>
                </a:solidFill>
                <a:effectLst/>
                <a:latin typeface="Google Sans"/>
              </a:rPr>
              <a:t> </a:t>
            </a:r>
            <a:r>
              <a:rPr lang="fa-IR" b="1" dirty="0">
                <a:solidFill>
                  <a:srgbClr val="1F1F1F"/>
                </a:solidFill>
                <a:effectLst/>
                <a:latin typeface="Google Sans"/>
              </a:rPr>
              <a:t>به عنوان والد جدید به فرایندهای یتیم، این سناریو را مدیریت می‌کنند.</a:t>
            </a:r>
          </a:p>
          <a:p>
            <a:pPr marL="171450" indent="-171450" algn="r" rtl="1">
              <a:buFont typeface="Arial" panose="020B0604020202020204" pitchFamily="34" charset="0"/>
              <a:buChar char="•"/>
            </a:pPr>
            <a:endParaRPr lang="en-US" dirty="0">
              <a:solidFill>
                <a:srgbClr val="1F1F1F"/>
              </a:solidFill>
              <a:effectLst/>
              <a:latin typeface="Google Sans"/>
            </a:endParaRPr>
          </a:p>
          <a:p>
            <a:pPr marL="171450" indent="-171450" algn="r" rtl="1">
              <a:buFont typeface="Arial" panose="020B0604020202020204" pitchFamily="34" charset="0"/>
              <a:buChar char="•"/>
            </a:pPr>
            <a:endParaRPr lang="fa-IR" dirty="0">
              <a:solidFill>
                <a:srgbClr val="1F1F1F"/>
              </a:solidFill>
              <a:effectLst/>
              <a:latin typeface="Google Sans"/>
            </a:endParaRPr>
          </a:p>
          <a:p>
            <a:pPr marL="171450" indent="-171450" algn="r" rtl="1">
              <a:buFont typeface="Arial" panose="020B0604020202020204" pitchFamily="34" charset="0"/>
              <a:buChar char="•"/>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3464272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03A7F482-09C8-4234-BA8B-E06C784513B0}"/>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F97F5174-3BAF-4B1B-846E-3DB7430B29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r" rtl="1">
              <a:buFont typeface="Arial" panose="020B0604020202020204" pitchFamily="34" charset="0"/>
              <a:buChar char="•"/>
            </a:pPr>
            <a:r>
              <a:rPr lang="fa-IR" dirty="0">
                <a:solidFill>
                  <a:srgbClr val="1F1F1F"/>
                </a:solidFill>
                <a:effectLst/>
                <a:latin typeface="Google Sans"/>
              </a:rPr>
              <a:t>زمانی که یک فرایند خاتمه می‌یابد، منابع آن توسط سیستم‌عامل آزاد می‌شوند. با این حال، ورودی مربوط به آن فرایند باید تا زمانی که فرایند والد تابع </a:t>
            </a:r>
            <a:r>
              <a:rPr lang="en-US" dirty="0">
                <a:solidFill>
                  <a:srgbClr val="1F1F1F"/>
                </a:solidFill>
                <a:effectLst/>
                <a:latin typeface="Google Sans"/>
              </a:rPr>
              <a:t>wait() </a:t>
            </a:r>
            <a:r>
              <a:rPr lang="fa-IR" dirty="0">
                <a:solidFill>
                  <a:srgbClr val="1F1F1F"/>
                </a:solidFill>
                <a:effectLst/>
                <a:latin typeface="Google Sans"/>
              </a:rPr>
              <a:t>را فراخوانی نکند، در جدول فرایندها باقی بماند. دلیل این امر آن است که جدول فرایندها حاوی وضعیت خروج آن فرایند می‌باشد.فرایندی که خاتمه یافته است، اما فرایند والد هنوز تابع </a:t>
            </a:r>
            <a:r>
              <a:rPr lang="en-US" dirty="0">
                <a:solidFill>
                  <a:srgbClr val="1F1F1F"/>
                </a:solidFill>
                <a:effectLst/>
                <a:latin typeface="Google Sans"/>
              </a:rPr>
              <a:t>wait() </a:t>
            </a:r>
            <a:r>
              <a:rPr lang="fa-IR" dirty="0">
                <a:solidFill>
                  <a:srgbClr val="1F1F1F"/>
                </a:solidFill>
                <a:effectLst/>
                <a:latin typeface="Google Sans"/>
              </a:rPr>
              <a:t>را برای آن فراخوانی نکرده است، به عنوان یک «فرایند زامبی</a:t>
            </a:r>
            <a:r>
              <a:rPr lang="en-US" dirty="0">
                <a:solidFill>
                  <a:srgbClr val="1F1F1F"/>
                </a:solidFill>
                <a:effectLst/>
                <a:latin typeface="Google Sans"/>
              </a:rPr>
              <a:t>» </a:t>
            </a:r>
            <a:r>
              <a:rPr lang="fa-IR" dirty="0">
                <a:solidFill>
                  <a:srgbClr val="1F1F1F"/>
                </a:solidFill>
                <a:effectLst/>
                <a:latin typeface="Google Sans"/>
              </a:rPr>
              <a:t>شناخته می‌شود.</a:t>
            </a:r>
            <a:endParaRPr lang="en-US" dirty="0">
              <a:solidFill>
                <a:srgbClr val="1F1F1F"/>
              </a:solidFill>
              <a:effectLst/>
              <a:latin typeface="Google Sans"/>
            </a:endParaRPr>
          </a:p>
          <a:p>
            <a:pPr marL="171450" indent="-171450" algn="r" rtl="1">
              <a:buFont typeface="Arial" panose="020B0604020202020204" pitchFamily="34" charset="0"/>
              <a:buChar char="•"/>
            </a:pPr>
            <a:r>
              <a:rPr lang="fa-IR" b="0" i="0" dirty="0">
                <a:solidFill>
                  <a:srgbClr val="1F1F1F"/>
                </a:solidFill>
                <a:effectLst/>
                <a:latin typeface="Google Sans"/>
              </a:rPr>
              <a:t>تمام فرایندها هنگام خاتمه به این حالت</a:t>
            </a:r>
            <a:r>
              <a:rPr lang="en-US" b="0" i="0" dirty="0">
                <a:solidFill>
                  <a:srgbClr val="1F1F1F"/>
                </a:solidFill>
                <a:effectLst/>
                <a:latin typeface="Google Sans"/>
              </a:rPr>
              <a:t> </a:t>
            </a:r>
            <a:r>
              <a:rPr lang="fa-IR" b="0" i="0" dirty="0">
                <a:solidFill>
                  <a:srgbClr val="1F1F1F"/>
                </a:solidFill>
                <a:effectLst/>
                <a:latin typeface="Google Sans"/>
              </a:rPr>
              <a:t>زامبی وارد می شوند، اما به طور کلی آنها فقط برای مدت کوتاهی به عنوان زامبی</a:t>
            </a:r>
            <a:r>
              <a:rPr lang="en-US" b="0" i="0" dirty="0">
                <a:solidFill>
                  <a:srgbClr val="1F1F1F"/>
                </a:solidFill>
                <a:effectLst/>
                <a:latin typeface="Google Sans"/>
              </a:rPr>
              <a:t> </a:t>
            </a:r>
            <a:r>
              <a:rPr lang="fa-IR" b="0" i="0" dirty="0">
                <a:solidFill>
                  <a:srgbClr val="1F1F1F"/>
                </a:solidFill>
                <a:effectLst/>
                <a:latin typeface="Google Sans"/>
              </a:rPr>
              <a:t>باقی می مانند. هنگامی که فرایند والد تابع </a:t>
            </a:r>
            <a:r>
              <a:rPr lang="en-US" b="0" i="0" dirty="0">
                <a:solidFill>
                  <a:srgbClr val="1F1F1F"/>
                </a:solidFill>
                <a:effectLst/>
                <a:latin typeface="Google Sans"/>
              </a:rPr>
              <a:t>wait() </a:t>
            </a:r>
            <a:r>
              <a:rPr lang="fa-IR" b="0" i="0" dirty="0">
                <a:solidFill>
                  <a:srgbClr val="1F1F1F"/>
                </a:solidFill>
                <a:effectLst/>
                <a:latin typeface="Google Sans"/>
              </a:rPr>
              <a:t>را فراخوانی می کند، شناسه فرایند زامبی</a:t>
            </a:r>
            <a:r>
              <a:rPr lang="en-US" b="0" i="0" dirty="0">
                <a:solidFill>
                  <a:srgbClr val="1F1F1F"/>
                </a:solidFill>
                <a:effectLst/>
                <a:latin typeface="Google Sans"/>
              </a:rPr>
              <a:t> </a:t>
            </a:r>
            <a:r>
              <a:rPr lang="fa-IR" b="0" i="0" dirty="0">
                <a:solidFill>
                  <a:srgbClr val="1F1F1F"/>
                </a:solidFill>
                <a:effectLst/>
                <a:latin typeface="Google Sans"/>
              </a:rPr>
              <a:t>و ورودی آن در جدول فرایندها آزاد می شوند.</a:t>
            </a:r>
          </a:p>
          <a:p>
            <a:pPr marL="171450" indent="-171450" algn="r" rtl="1">
              <a:buFont typeface="Arial" panose="020B0604020202020204" pitchFamily="34" charset="0"/>
              <a:buChar char="•"/>
            </a:pPr>
            <a:endParaRPr lang="en-US" dirty="0">
              <a:solidFill>
                <a:srgbClr val="1F1F1F"/>
              </a:solidFill>
              <a:effectLst/>
              <a:latin typeface="Google Sans"/>
            </a:endParaRPr>
          </a:p>
          <a:p>
            <a:pPr marL="171450" indent="-171450" algn="r" rtl="1">
              <a:buFont typeface="Arial" panose="020B0604020202020204" pitchFamily="34" charset="0"/>
              <a:buChar char="•"/>
            </a:pPr>
            <a:r>
              <a:rPr lang="fa-IR" dirty="0">
                <a:solidFill>
                  <a:srgbClr val="1F1F1F"/>
                </a:solidFill>
                <a:effectLst/>
                <a:latin typeface="Google Sans"/>
              </a:rPr>
              <a:t>حالا فرض کنید که یک فرایند والد، تابع </a:t>
            </a:r>
            <a:r>
              <a:rPr lang="en-US" dirty="0">
                <a:solidFill>
                  <a:srgbClr val="1F1F1F"/>
                </a:solidFill>
                <a:effectLst/>
                <a:latin typeface="Google Sans"/>
              </a:rPr>
              <a:t>wait() </a:t>
            </a:r>
            <a:r>
              <a:rPr lang="fa-IR" dirty="0">
                <a:solidFill>
                  <a:srgbClr val="1F1F1F"/>
                </a:solidFill>
                <a:effectLst/>
                <a:latin typeface="Google Sans"/>
              </a:rPr>
              <a:t>را فراخوانی نکند و به جای آن خاتمه یابد، در نتیجه فرایندهای فرزند آن یتیم می شوند.</a:t>
            </a:r>
          </a:p>
          <a:p>
            <a:pPr marL="628650" lvl="1" indent="-171450" algn="r" rtl="1">
              <a:buFont typeface="Arial" panose="020B0604020202020204" pitchFamily="34" charset="0"/>
              <a:buChar char="•"/>
            </a:pPr>
            <a:r>
              <a:rPr lang="fa-IR" b="1" dirty="0">
                <a:solidFill>
                  <a:srgbClr val="1F1F1F"/>
                </a:solidFill>
                <a:effectLst/>
                <a:latin typeface="Google Sans"/>
              </a:rPr>
              <a:t>سیستم‌های سنتی یونیکس با اختصاص دادن فرایند </a:t>
            </a:r>
            <a:r>
              <a:rPr lang="en-US" b="1" dirty="0" err="1">
                <a:solidFill>
                  <a:srgbClr val="1F1F1F"/>
                </a:solidFill>
                <a:effectLst/>
                <a:latin typeface="Google Sans"/>
              </a:rPr>
              <a:t>init</a:t>
            </a:r>
            <a:r>
              <a:rPr lang="en-US" b="1" dirty="0">
                <a:solidFill>
                  <a:srgbClr val="1F1F1F"/>
                </a:solidFill>
                <a:effectLst/>
                <a:latin typeface="Google Sans"/>
              </a:rPr>
              <a:t> </a:t>
            </a:r>
            <a:r>
              <a:rPr lang="fa-IR" b="1" dirty="0">
                <a:solidFill>
                  <a:srgbClr val="1F1F1F"/>
                </a:solidFill>
                <a:effectLst/>
                <a:latin typeface="Google Sans"/>
              </a:rPr>
              <a:t>به عنوان والد جدید به فرایندهای یتیم، این سناریو را مدیریت می‌کنند.</a:t>
            </a:r>
          </a:p>
          <a:p>
            <a:pPr marL="171450" indent="-171450" algn="r" rtl="1">
              <a:buFont typeface="Arial" panose="020B0604020202020204" pitchFamily="34" charset="0"/>
              <a:buChar char="•"/>
            </a:pPr>
            <a:endParaRPr lang="en-US" dirty="0">
              <a:solidFill>
                <a:srgbClr val="1F1F1F"/>
              </a:solidFill>
              <a:effectLst/>
              <a:latin typeface="Google Sans"/>
            </a:endParaRPr>
          </a:p>
          <a:p>
            <a:pPr marL="171450" indent="-171450" algn="r" rtl="1">
              <a:buFont typeface="Arial" panose="020B0604020202020204" pitchFamily="34" charset="0"/>
              <a:buChar char="•"/>
            </a:pPr>
            <a:endParaRPr lang="fa-IR" dirty="0">
              <a:solidFill>
                <a:srgbClr val="1F1F1F"/>
              </a:solidFill>
              <a:effectLst/>
              <a:latin typeface="Google Sans"/>
            </a:endParaRPr>
          </a:p>
          <a:p>
            <a:pPr marL="171450" indent="-171450" algn="r" rtl="1">
              <a:buFont typeface="Arial" panose="020B0604020202020204" pitchFamily="34" charset="0"/>
              <a:buChar char="•"/>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2301354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46F678B6-0AFA-4070-84E8-E0DDD2DCB29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607DE2B4-6350-4A16-8897-F8F2804C1A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r" rtl="1">
              <a:buFont typeface="Arial" panose="020B0604020202020204" pitchFamily="34" charset="0"/>
              <a:buChar char="•"/>
            </a:pPr>
            <a:br>
              <a:rPr lang="fa-IR" b="0" i="0" dirty="0">
                <a:solidFill>
                  <a:srgbClr val="1F1F1F"/>
                </a:solidFill>
                <a:effectLst/>
                <a:latin typeface="Times New Roman" panose="02020603050405020304" pitchFamily="18" charset="0"/>
              </a:rPr>
            </a:br>
            <a:endParaRPr lang="fa-IR" b="0" i="0" dirty="0">
              <a:solidFill>
                <a:srgbClr val="1F1F1F"/>
              </a:solidFill>
              <a:effectLst/>
              <a:latin typeface="Times New Roman" panose="02020603050405020304" pitchFamily="18" charset="0"/>
            </a:endParaRPr>
          </a:p>
          <a:p>
            <a:pPr marL="171450" indent="-171450" algn="r" rtl="1">
              <a:buFont typeface="Arial" panose="020B0604020202020204" pitchFamily="34" charset="0"/>
              <a:buChar char="•"/>
            </a:pPr>
            <a:r>
              <a:rPr lang="fa-IR" b="0" i="0" dirty="0">
                <a:solidFill>
                  <a:srgbClr val="1F1F1F"/>
                </a:solidFill>
                <a:effectLst/>
                <a:latin typeface="Google Sans"/>
              </a:rPr>
              <a:t>برتری رویکرد چندفرآیندی این است که وب‌سایت‌ها به‌صورت مجزا از یکدیگر اجرا می‌شوند. </a:t>
            </a:r>
            <a:endParaRPr lang="en-US" b="0" i="0" dirty="0">
              <a:solidFill>
                <a:srgbClr val="1F1F1F"/>
              </a:solidFill>
              <a:effectLst/>
              <a:latin typeface="Google Sans"/>
            </a:endParaRPr>
          </a:p>
          <a:p>
            <a:pPr marL="171450" indent="-171450" algn="r" rtl="1">
              <a:buFont typeface="Arial" panose="020B0604020202020204" pitchFamily="34" charset="0"/>
              <a:buChar char="•"/>
            </a:pPr>
            <a:r>
              <a:rPr lang="fa-IR" b="0" i="0" dirty="0">
                <a:solidFill>
                  <a:srgbClr val="1F1F1F"/>
                </a:solidFill>
                <a:effectLst/>
                <a:latin typeface="Google Sans"/>
              </a:rPr>
              <a:t>درصورتی‌که یک وب‌سایت دچار خرابی شود، تنها فرآیند رندرینگ آن تحت تأثیر قرار می‌گیرد و سایر فرآیندها بدون مشکل به کار خود ادامه می‌دهند. </a:t>
            </a:r>
            <a:endParaRPr lang="en-US" b="0" i="0" dirty="0">
              <a:solidFill>
                <a:srgbClr val="1F1F1F"/>
              </a:solidFill>
              <a:effectLst/>
              <a:latin typeface="Google Sans"/>
            </a:endParaRPr>
          </a:p>
          <a:p>
            <a:pPr marL="171450" indent="-171450" algn="r" rtl="1">
              <a:buFont typeface="Arial" panose="020B0604020202020204" pitchFamily="34" charset="0"/>
              <a:buChar char="•"/>
            </a:pPr>
            <a:r>
              <a:rPr lang="fa-IR" b="0" i="0" dirty="0">
                <a:solidFill>
                  <a:srgbClr val="1F1F1F"/>
                </a:solidFill>
                <a:effectLst/>
                <a:latin typeface="Google Sans"/>
              </a:rPr>
              <a:t>علاوه بر این، فرآیندهای رندرینگ در یک </a:t>
            </a:r>
            <a:r>
              <a:rPr lang="fa-IR" b="1" i="0" dirty="0">
                <a:solidFill>
                  <a:srgbClr val="1F1F1F"/>
                </a:solidFill>
                <a:effectLst/>
                <a:latin typeface="Google Sans"/>
              </a:rPr>
              <a:t>سندباکس</a:t>
            </a:r>
            <a:r>
              <a:rPr lang="fa-IR" b="0" i="0" dirty="0">
                <a:solidFill>
                  <a:srgbClr val="1F1F1F"/>
                </a:solidFill>
                <a:effectLst/>
                <a:latin typeface="Google Sans"/>
              </a:rPr>
              <a:t> اجرا می‌شوند، به این معنی که دسترسی به دیسک و ورودی/خروجی شبکه محدود شده است، که تأثیر هرگونه سوء‌استفاده امنیتی را به حداقل می‌رساند.</a:t>
            </a:r>
          </a:p>
          <a:p>
            <a:pPr marL="171450" indent="-171450" algn="r" rtl="1">
              <a:buFont typeface="Arial" panose="020B0604020202020204" pitchFamily="34" charset="0"/>
              <a:buChar char="•"/>
            </a:pPr>
            <a:endParaRPr lang="en-US" altLang="en-US" dirty="0">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B8301404-D876-4FA9-9859-EB43354FAFAE}"/>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EB83674B-F150-4C3E-831A-26B553169A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lgn="r" rtl="1">
              <a:buFont typeface="Wingdings" panose="05000000000000000000" pitchFamily="2" charset="2"/>
              <a:buChar char="Ø"/>
            </a:pPr>
            <a:r>
              <a:rPr lang="en" sz="1800" dirty="0">
                <a:latin typeface="Calibri" panose="020F0502020204030204" pitchFamily="34" charset="0"/>
              </a:rPr>
              <a:t> </a:t>
            </a:r>
            <a:r>
              <a:rPr lang="fa-IR" sz="1800" dirty="0">
                <a:latin typeface="Calibri" panose="020F0502020204030204" pitchFamily="34" charset="0"/>
                <a:cs typeface="Calibri" panose="020F0502020204030204" pitchFamily="34" charset="0"/>
              </a:rPr>
              <a:t>اشتراک گذاری اطلاعات</a:t>
            </a:r>
            <a:r>
              <a:rPr lang="en-US" sz="1800" dirty="0">
                <a:latin typeface="Calibri" panose="020F0502020204030204" pitchFamily="34" charset="0"/>
                <a:cs typeface="Calibri" panose="020F0502020204030204" pitchFamily="34" charset="0"/>
              </a:rPr>
              <a:t> : </a:t>
            </a:r>
            <a:r>
              <a:rPr lang="fa-IR" sz="1800" dirty="0">
                <a:latin typeface="Calibri" panose="020F0502020204030204" pitchFamily="34" charset="0"/>
                <a:cs typeface="Calibri" panose="020F0502020204030204" pitchFamily="34" charset="0"/>
              </a:rPr>
              <a:t>از آنجایی که ممکن است چندین برنامه به یک قطعه اطلاعات خاص علاقه مند باشند (برای مثال، کپی و پیست کردن)، باید محیطی را برای دسترسی همزمان به چنین اطلاعاتی فراهم کنیم</a:t>
            </a:r>
            <a:r>
              <a:rPr lang="en-US" sz="1800" dirty="0">
                <a:latin typeface="Calibri" panose="020F0502020204030204" pitchFamily="34" charset="0"/>
                <a:cs typeface="Calibri" panose="020F0502020204030204" pitchFamily="34" charset="0"/>
              </a:rPr>
              <a:t>.</a:t>
            </a:r>
          </a:p>
          <a:p>
            <a:pPr marL="285750" indent="-285750" algn="r" rtl="1">
              <a:buFont typeface="Wingdings" panose="05000000000000000000" pitchFamily="2" charset="2"/>
              <a:buChar char="Ø"/>
            </a:pPr>
            <a:endParaRPr lang="en-US" sz="1800" dirty="0">
              <a:latin typeface="Calibri" panose="020F0502020204030204" pitchFamily="34" charset="0"/>
              <a:cs typeface="Calibri" panose="020F0502020204030204" pitchFamily="34" charset="0"/>
            </a:endParaRPr>
          </a:p>
          <a:p>
            <a:pPr marL="285750" indent="-285750" algn="r" rtl="1">
              <a:buFont typeface="Wingdings" panose="05000000000000000000" pitchFamily="2" charset="2"/>
              <a:buChar char="Ø"/>
            </a:pPr>
            <a:r>
              <a:rPr lang="fa-IR" sz="1800" dirty="0">
                <a:latin typeface="Calibri" panose="020F0502020204030204" pitchFamily="34" charset="0"/>
                <a:cs typeface="Calibri" panose="020F0502020204030204" pitchFamily="34" charset="0"/>
              </a:rPr>
              <a:t> سرعت بخشیدن به محاسبات</a:t>
            </a:r>
            <a:r>
              <a:rPr lang="en-US" sz="1800" dirty="0">
                <a:latin typeface="Calibri" panose="020F0502020204030204" pitchFamily="34" charset="0"/>
                <a:cs typeface="Calibri" panose="020F0502020204030204" pitchFamily="34" charset="0"/>
              </a:rPr>
              <a:t> :</a:t>
            </a:r>
            <a:r>
              <a:rPr lang="fa-IR" sz="1800" dirty="0">
                <a:latin typeface="Calibri" panose="020F0502020204030204" pitchFamily="34" charset="0"/>
                <a:cs typeface="Calibri" panose="020F0502020204030204" pitchFamily="34" charset="0"/>
              </a:rPr>
              <a:t>اگر می خواهیم یک کار خاص سریعتر اجرا شود، باید آن را به زیرمجموعه هایی تقسیم کنیم که هر کدام به طور موازی با سایرین اجرا می شوند. توجه داشته باشید که چنین تسریعی تنها در صورتی قابل دستیابی است که رایانه دارای چندین هسته پردازشی باشد</a:t>
            </a:r>
            <a:r>
              <a:rPr lang="en-US" sz="1800" dirty="0">
                <a:latin typeface="Calibri" panose="020F0502020204030204" pitchFamily="34" charset="0"/>
                <a:cs typeface="Calibri" panose="020F0502020204030204" pitchFamily="34" charset="0"/>
              </a:rPr>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34F8BBD9-185E-425D-9763-2A1219F950A1}"/>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C11B4F24-2CE2-4D89-BDF4-88019FD32B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r" rtl="1">
              <a:buFont typeface="Arial" panose="020B0604020202020204" pitchFamily="34" charset="0"/>
              <a:buChar char="•"/>
            </a:pPr>
            <a:r>
              <a:rPr lang="fa-IR" b="1" i="0" dirty="0">
                <a:solidFill>
                  <a:srgbClr val="1F1F1F"/>
                </a:solidFill>
                <a:effectLst/>
                <a:latin typeface="Google Sans"/>
              </a:rPr>
              <a:t>سوال کدام یک از این روش‌ها کارامدتر است؟</a:t>
            </a:r>
          </a:p>
          <a:p>
            <a:pPr marL="171450" indent="-171450" algn="r" rtl="1">
              <a:buFont typeface="Arial" panose="020B0604020202020204" pitchFamily="34" charset="0"/>
              <a:buChar char="•"/>
            </a:pPr>
            <a:r>
              <a:rPr lang="fa-IR" b="1" i="0" dirty="0">
                <a:solidFill>
                  <a:srgbClr val="1F1F1F"/>
                </a:solidFill>
                <a:effectLst/>
                <a:latin typeface="Google Sans"/>
              </a:rPr>
              <a:t>مکانیزم «ارسال پیام» برای تبادل حجم کم‌تری از داده‌ها کارآمد است زیرا در این روش، اجتناب از تداخلات احتمالی بین فرآیندها ضرورت ندارد.</a:t>
            </a:r>
            <a:endParaRPr lang="en-US" b="0" i="0" dirty="0">
              <a:solidFill>
                <a:srgbClr val="1F1F1F"/>
              </a:solidFill>
              <a:effectLst/>
              <a:latin typeface="Google Sans"/>
            </a:endParaRPr>
          </a:p>
          <a:p>
            <a:pPr marL="171450" indent="-171450" algn="r" rtl="1">
              <a:buFont typeface="Arial" panose="020B0604020202020204" pitchFamily="34" charset="0"/>
              <a:buChar char="•"/>
            </a:pPr>
            <a:endParaRPr lang="en-US" b="0" i="0" dirty="0">
              <a:solidFill>
                <a:srgbClr val="1F1F1F"/>
              </a:solidFill>
              <a:effectLst/>
              <a:latin typeface="Google Sans"/>
            </a:endParaRPr>
          </a:p>
          <a:p>
            <a:pPr marL="171450" indent="-171450" algn="r" rtl="1">
              <a:buFont typeface="Arial" panose="020B0604020202020204" pitchFamily="34" charset="0"/>
              <a:buChar char="•"/>
            </a:pPr>
            <a:r>
              <a:rPr lang="fa-IR" b="1" i="0" dirty="0">
                <a:solidFill>
                  <a:srgbClr val="1F1F1F"/>
                </a:solidFill>
                <a:effectLst/>
                <a:latin typeface="Google Sans"/>
              </a:rPr>
              <a:t>پیاده‌سازی مکانیزم «گذر پیام</a:t>
            </a:r>
            <a:r>
              <a:rPr lang="fa-IR" b="0" i="0" dirty="0">
                <a:solidFill>
                  <a:srgbClr val="1F1F1F"/>
                </a:solidFill>
                <a:effectLst/>
                <a:latin typeface="Google Sans"/>
              </a:rPr>
              <a:t>» در یک سیستم توزیع‌شده نسبت </a:t>
            </a:r>
            <a:r>
              <a:rPr lang="fa-IR" b="1" i="0" dirty="0">
                <a:solidFill>
                  <a:srgbClr val="1F1F1F"/>
                </a:solidFill>
                <a:effectLst/>
                <a:latin typeface="Google Sans"/>
              </a:rPr>
              <a:t>به استفاده از «حافظه اشتراکی» ساده‌تر </a:t>
            </a:r>
            <a:r>
              <a:rPr lang="fa-IR" b="0" i="0" dirty="0">
                <a:solidFill>
                  <a:srgbClr val="1F1F1F"/>
                </a:solidFill>
                <a:effectLst/>
                <a:latin typeface="Google Sans"/>
              </a:rPr>
              <a:t>است. </a:t>
            </a:r>
          </a:p>
          <a:p>
            <a:pPr marL="171450" indent="-171450" algn="r" rtl="1">
              <a:buFont typeface="Arial" panose="020B0604020202020204" pitchFamily="34" charset="0"/>
              <a:buChar char="•"/>
            </a:pPr>
            <a:endParaRPr lang="fa-IR" b="0" i="0" dirty="0">
              <a:solidFill>
                <a:srgbClr val="1F1F1F"/>
              </a:solidFill>
              <a:effectLst/>
              <a:latin typeface="Google Sans"/>
            </a:endParaRPr>
          </a:p>
          <a:p>
            <a:pPr marL="171450" indent="-171450" algn="r" rtl="1">
              <a:buFont typeface="Arial" panose="020B0604020202020204" pitchFamily="34" charset="0"/>
              <a:buChar char="•"/>
            </a:pPr>
            <a:r>
              <a:rPr lang="fa-IR" b="0" i="0" dirty="0">
                <a:solidFill>
                  <a:srgbClr val="1F1F1F"/>
                </a:solidFill>
                <a:effectLst/>
                <a:latin typeface="Google Sans"/>
              </a:rPr>
              <a:t>«</a:t>
            </a:r>
            <a:r>
              <a:rPr lang="fa-IR" b="1" i="0" dirty="0">
                <a:solidFill>
                  <a:srgbClr val="1F1F1F"/>
                </a:solidFill>
                <a:effectLst/>
                <a:latin typeface="Google Sans"/>
              </a:rPr>
              <a:t>حافظه اشتراکی</a:t>
            </a:r>
            <a:r>
              <a:rPr lang="fa-IR" b="0" i="0" dirty="0">
                <a:solidFill>
                  <a:srgbClr val="1F1F1F"/>
                </a:solidFill>
                <a:effectLst/>
                <a:latin typeface="Google Sans"/>
              </a:rPr>
              <a:t>» از لحاظ سرعت </a:t>
            </a:r>
            <a:r>
              <a:rPr lang="fa-IR" b="1" i="0" dirty="0">
                <a:solidFill>
                  <a:srgbClr val="1F1F1F"/>
                </a:solidFill>
                <a:effectLst/>
                <a:latin typeface="Google Sans"/>
              </a:rPr>
              <a:t>بالقوه می‌تواند از «گذر پیام» کارآمدتر </a:t>
            </a:r>
            <a:r>
              <a:rPr lang="fa-IR" b="0" i="0" dirty="0">
                <a:solidFill>
                  <a:srgbClr val="1F1F1F"/>
                </a:solidFill>
                <a:effectLst/>
                <a:latin typeface="Google Sans"/>
              </a:rPr>
              <a:t>باشد، چرا که سیستم‌های «</a:t>
            </a:r>
            <a:r>
              <a:rPr lang="fa-IR" b="1" i="0" dirty="0">
                <a:solidFill>
                  <a:srgbClr val="1F1F1F"/>
                </a:solidFill>
                <a:effectLst/>
                <a:latin typeface="Google Sans"/>
              </a:rPr>
              <a:t>گذر پیام</a:t>
            </a:r>
            <a:r>
              <a:rPr lang="fa-IR" b="0" i="0" dirty="0">
                <a:solidFill>
                  <a:srgbClr val="1F1F1F"/>
                </a:solidFill>
                <a:effectLst/>
                <a:latin typeface="Google Sans"/>
              </a:rPr>
              <a:t>» معمولا با استفاده از «</a:t>
            </a:r>
            <a:r>
              <a:rPr lang="fa-IR" b="1" i="0" dirty="0">
                <a:solidFill>
                  <a:srgbClr val="1F1F1F"/>
                </a:solidFill>
                <a:effectLst/>
                <a:latin typeface="Google Sans"/>
              </a:rPr>
              <a:t>فراخوان‌های سیستمی</a:t>
            </a:r>
            <a:r>
              <a:rPr lang="fa-IR" b="0" i="0" dirty="0">
                <a:solidFill>
                  <a:srgbClr val="1F1F1F"/>
                </a:solidFill>
                <a:effectLst/>
                <a:latin typeface="Google Sans"/>
              </a:rPr>
              <a:t>» پیاده‌سازی می‌شوند که </a:t>
            </a:r>
            <a:r>
              <a:rPr lang="fa-IR" b="1" i="0" dirty="0">
                <a:solidFill>
                  <a:srgbClr val="1F1F1F"/>
                </a:solidFill>
                <a:effectLst/>
                <a:latin typeface="Google Sans"/>
              </a:rPr>
              <a:t>مستلزم دخالت هسته سیستم‌عامل </a:t>
            </a:r>
            <a:r>
              <a:rPr lang="fa-IR" b="0" i="0" dirty="0">
                <a:solidFill>
                  <a:srgbClr val="1F1F1F"/>
                </a:solidFill>
                <a:effectLst/>
                <a:latin typeface="Google Sans"/>
              </a:rPr>
              <a:t>است و این امر </a:t>
            </a:r>
            <a:r>
              <a:rPr lang="fa-IR" b="1" i="0" dirty="0">
                <a:solidFill>
                  <a:srgbClr val="1F1F1F"/>
                </a:solidFill>
                <a:effectLst/>
                <a:latin typeface="Google Sans"/>
              </a:rPr>
              <a:t>موجب افزایش سربار زمانی می‌شود</a:t>
            </a:r>
            <a:r>
              <a:rPr lang="fa-IR" b="0" i="0" dirty="0">
                <a:solidFill>
                  <a:srgbClr val="1F1F1F"/>
                </a:solidFill>
                <a:effectLst/>
                <a:latin typeface="Google Sans"/>
              </a:rPr>
              <a:t>. </a:t>
            </a:r>
          </a:p>
          <a:p>
            <a:pPr marL="171450" indent="-171450" algn="r" rtl="1">
              <a:buFont typeface="Arial" panose="020B0604020202020204" pitchFamily="34" charset="0"/>
              <a:buChar char="•"/>
            </a:pPr>
            <a:endParaRPr lang="fa-IR" b="0" i="0" dirty="0">
              <a:solidFill>
                <a:srgbClr val="1F1F1F"/>
              </a:solidFill>
              <a:effectLst/>
              <a:latin typeface="Google Sans"/>
            </a:endParaRPr>
          </a:p>
          <a:p>
            <a:pPr marL="171450" indent="-171450" algn="r" rtl="1">
              <a:buFont typeface="Arial" panose="020B0604020202020204" pitchFamily="34" charset="0"/>
              <a:buChar char="•"/>
            </a:pPr>
            <a:r>
              <a:rPr lang="fa-IR" b="0" i="0" dirty="0">
                <a:solidFill>
                  <a:srgbClr val="1F1F1F"/>
                </a:solidFill>
                <a:effectLst/>
                <a:latin typeface="Google Sans"/>
              </a:rPr>
              <a:t>در مقابل، در سیستم‌های «حافظه </a:t>
            </a:r>
            <a:r>
              <a:rPr lang="fa-IR" b="1" i="0" dirty="0">
                <a:solidFill>
                  <a:srgbClr val="1F1F1F"/>
                </a:solidFill>
                <a:effectLst/>
                <a:latin typeface="Google Sans"/>
              </a:rPr>
              <a:t>اشتراکی»، «فراخوان‌های سیستمی» تنها برای برقراری نواحی مشترک حافظه </a:t>
            </a:r>
            <a:r>
              <a:rPr lang="fa-IR" b="0" i="0" dirty="0">
                <a:solidFill>
                  <a:srgbClr val="1F1F1F"/>
                </a:solidFill>
                <a:effectLst/>
                <a:latin typeface="Google Sans"/>
              </a:rPr>
              <a:t>مورد نیاز هستند. پس از ایجاد این نواحی، تمامی دسترسی‌ها مانند دسترسی‌های معمول حافظه مدیریت می‌شوند و نیازی به دخالت مجدد هسته نیست.</a:t>
            </a:r>
            <a:endParaRPr lang="en-US" altLang="en-US" dirty="0">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254272E-8B5C-40B4-A4EA-B3AC2155864E}"/>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9D1E1BBA-BF49-429D-819D-3CEAF021F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a web server produces (that is, provides) web content such as HTML files and images, which are consumed (that is, read) by the client web browser requesting the resource.</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786431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8239251B-FC33-4D40-B148-0129E1B72AE4}"/>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17AC1CC3-87E4-46BB-A172-67B5A6F5F1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9012D2EB-E5CC-432C-AA35-77EFC9F89485}"/>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03456285-A128-4E7C-BB44-15A078AAE0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0D856385-0064-4BB9-8988-568621472550}"/>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889C8C6F-0009-4DC3-B43A-17955C7C84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lgn="r" rtl="1">
              <a:buFont typeface="Arial" panose="020B0604020202020204" pitchFamily="34" charset="0"/>
              <a:buChar char="•"/>
            </a:pPr>
            <a:r>
              <a:rPr lang="fa-IR" sz="1800" dirty="0">
                <a:latin typeface="Calibri" panose="020F0502020204030204" pitchFamily="34" charset="0"/>
                <a:cs typeface="Calibri" panose="020F0502020204030204" pitchFamily="34" charset="0"/>
              </a:rPr>
              <a:t>بافر اشتراکی به صورت یک آرایه دایره‌ای با دو اشارهگر منطقی پیاده‌سازی شده است: </a:t>
            </a:r>
            <a:r>
              <a:rPr lang="en-US" sz="1800" dirty="0">
                <a:latin typeface="Calibri" panose="020F0502020204030204" pitchFamily="34" charset="0"/>
                <a:cs typeface="Calibri" panose="020F0502020204030204" pitchFamily="34" charset="0"/>
              </a:rPr>
              <a:t>in </a:t>
            </a:r>
            <a:r>
              <a:rPr lang="fa-IR" sz="1800" dirty="0">
                <a:latin typeface="Calibri" panose="020F0502020204030204" pitchFamily="34" charset="0"/>
                <a:cs typeface="Calibri" panose="020F0502020204030204" pitchFamily="34" charset="0"/>
              </a:rPr>
              <a:t>و</a:t>
            </a:r>
            <a:r>
              <a:rPr lang="en-US" sz="1800" dirty="0">
                <a:latin typeface="Calibri" panose="020F0502020204030204" pitchFamily="34" charset="0"/>
                <a:cs typeface="Calibri" panose="020F0502020204030204" pitchFamily="34" charset="0"/>
              </a:rPr>
              <a:t> out.</a:t>
            </a:r>
          </a:p>
          <a:p>
            <a:pPr marL="285750" indent="-285750" algn="r" rtl="1">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gn="r" rtl="1">
              <a:buFont typeface="Arial" panose="020B0604020202020204" pitchFamily="34" charset="0"/>
              <a:buChar char="•"/>
            </a:pPr>
            <a:r>
              <a:rPr lang="fa-IR" sz="1800" dirty="0">
                <a:latin typeface="Calibri" panose="020F0502020204030204" pitchFamily="34" charset="0"/>
                <a:cs typeface="Calibri" panose="020F0502020204030204" pitchFamily="34" charset="0"/>
              </a:rPr>
              <a:t>متغیر</a:t>
            </a:r>
            <a:r>
              <a:rPr lang="en-US" sz="1800" dirty="0">
                <a:latin typeface="Calibri" panose="020F0502020204030204" pitchFamily="34" charset="0"/>
                <a:cs typeface="Calibri" panose="020F0502020204030204" pitchFamily="34" charset="0"/>
              </a:rPr>
              <a:t> in </a:t>
            </a:r>
            <a:r>
              <a:rPr lang="fa-IR" sz="1800" dirty="0">
                <a:latin typeface="Calibri" panose="020F0502020204030204" pitchFamily="34" charset="0"/>
                <a:cs typeface="Calibri" panose="020F0502020204030204" pitchFamily="34" charset="0"/>
              </a:rPr>
              <a:t>به اولین موقعیت خالی در بافر اشاره می‌کند، در حالی که</a:t>
            </a:r>
            <a:r>
              <a:rPr lang="en-US" sz="1800" dirty="0">
                <a:latin typeface="Calibri" panose="020F0502020204030204" pitchFamily="34" charset="0"/>
                <a:cs typeface="Calibri" panose="020F0502020204030204" pitchFamily="34" charset="0"/>
              </a:rPr>
              <a:t> out </a:t>
            </a:r>
            <a:r>
              <a:rPr lang="fa-IR" sz="1800" dirty="0">
                <a:latin typeface="Calibri" panose="020F0502020204030204" pitchFamily="34" charset="0"/>
                <a:cs typeface="Calibri" panose="020F0502020204030204" pitchFamily="34" charset="0"/>
              </a:rPr>
              <a:t>به اولین موقعیت پر اشاره دارد</a:t>
            </a:r>
            <a:r>
              <a:rPr lang="en-US" sz="1800" dirty="0">
                <a:latin typeface="Calibri" panose="020F0502020204030204" pitchFamily="34" charset="0"/>
                <a:cs typeface="Calibri" panose="020F0502020204030204" pitchFamily="34" charset="0"/>
              </a:rPr>
              <a:t>.</a:t>
            </a:r>
          </a:p>
          <a:p>
            <a:pPr marL="285750" indent="-285750" algn="r" rtl="1">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gn="r" rtl="1">
              <a:buFont typeface="Arial" panose="020B0604020202020204" pitchFamily="34" charset="0"/>
              <a:buChar char="•"/>
            </a:pPr>
            <a:r>
              <a:rPr lang="fa-IR" sz="1800" dirty="0">
                <a:latin typeface="Calibri" panose="020F0502020204030204" pitchFamily="34" charset="0"/>
                <a:cs typeface="Calibri" panose="020F0502020204030204" pitchFamily="34" charset="0"/>
              </a:rPr>
              <a:t>بافر در شرایطی خالی است که</a:t>
            </a:r>
            <a:r>
              <a:rPr lang="en-US" sz="1800" dirty="0">
                <a:latin typeface="Calibri" panose="020F0502020204030204" pitchFamily="34" charset="0"/>
                <a:cs typeface="Calibri" panose="020F0502020204030204" pitchFamily="34" charset="0"/>
              </a:rPr>
              <a:t> in </a:t>
            </a:r>
            <a:r>
              <a:rPr lang="fa-IR" sz="1800" dirty="0">
                <a:latin typeface="Calibri" panose="020F0502020204030204" pitchFamily="34" charset="0"/>
                <a:cs typeface="Calibri" panose="020F0502020204030204" pitchFamily="34" charset="0"/>
              </a:rPr>
              <a:t>با</a:t>
            </a:r>
            <a:r>
              <a:rPr lang="en-US" sz="1800" dirty="0">
                <a:latin typeface="Calibri" panose="020F0502020204030204" pitchFamily="34" charset="0"/>
                <a:cs typeface="Calibri" panose="020F0502020204030204" pitchFamily="34" charset="0"/>
              </a:rPr>
              <a:t> out </a:t>
            </a:r>
            <a:r>
              <a:rPr lang="fa-IR" sz="1800" dirty="0">
                <a:latin typeface="Calibri" panose="020F0502020204030204" pitchFamily="34" charset="0"/>
                <a:cs typeface="Calibri" panose="020F0502020204030204" pitchFamily="34" charset="0"/>
              </a:rPr>
              <a:t>برابر باشد</a:t>
            </a:r>
            <a:r>
              <a:rPr lang="en-US" sz="1800" dirty="0">
                <a:latin typeface="Calibri" panose="020F0502020204030204" pitchFamily="34" charset="0"/>
                <a:cs typeface="Calibri" panose="020F0502020204030204" pitchFamily="34" charset="0"/>
              </a:rPr>
              <a:t>.</a:t>
            </a:r>
          </a:p>
          <a:p>
            <a:pPr marL="285750" indent="-285750" algn="r" rtl="1">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gn="r" rtl="1">
              <a:buFont typeface="Arial" panose="020B0604020202020204" pitchFamily="34" charset="0"/>
              <a:buChar char="•"/>
            </a:pPr>
            <a:r>
              <a:rPr lang="fa-IR" sz="1800" dirty="0">
                <a:latin typeface="Calibri" panose="020F0502020204030204" pitchFamily="34" charset="0"/>
                <a:cs typeface="Calibri" panose="020F0502020204030204" pitchFamily="34" charset="0"/>
              </a:rPr>
              <a:t>بافر زمانی پر محسوب می‌شود که</a:t>
            </a:r>
            <a:r>
              <a:rPr lang="en-US" sz="1800" dirty="0">
                <a:latin typeface="Calibri" panose="020F0502020204030204" pitchFamily="34" charset="0"/>
                <a:cs typeface="Calibri" panose="020F0502020204030204" pitchFamily="34" charset="0"/>
              </a:rPr>
              <a:t> ((in + </a:t>
            </a:r>
            <a:r>
              <a:rPr lang="fa-IR" sz="1800" dirty="0">
                <a:latin typeface="Calibri" panose="020F0502020204030204" pitchFamily="34" charset="0"/>
                <a:cs typeface="Calibri" panose="020F0502020204030204" pitchFamily="34" charset="0"/>
              </a:rPr>
              <a:t>1</a:t>
            </a:r>
            <a:r>
              <a:rPr lang="en-US" sz="1800" dirty="0">
                <a:latin typeface="Calibri" panose="020F0502020204030204" pitchFamily="34" charset="0"/>
                <a:cs typeface="Calibri" panose="020F0502020204030204" pitchFamily="34" charset="0"/>
              </a:rPr>
              <a:t>) % </a:t>
            </a:r>
            <a:r>
              <a:rPr lang="fa-IR" sz="1800" dirty="0">
                <a:latin typeface="Calibri" panose="020F0502020204030204" pitchFamily="34" charset="0"/>
                <a:cs typeface="Calibri" panose="020F0502020204030204" pitchFamily="34" charset="0"/>
              </a:rPr>
              <a:t>اندازه_بافر</a:t>
            </a:r>
            <a:r>
              <a:rPr lang="en-US" sz="1800" dirty="0">
                <a:latin typeface="Calibri" panose="020F0502020204030204" pitchFamily="34" charset="0"/>
                <a:cs typeface="Calibri" panose="020F0502020204030204" pitchFamily="34" charset="0"/>
              </a:rPr>
              <a:t>) </a:t>
            </a:r>
            <a:r>
              <a:rPr lang="fa-IR" sz="1800" dirty="0">
                <a:latin typeface="Calibri" panose="020F0502020204030204" pitchFamily="34" charset="0"/>
                <a:cs typeface="Calibri" panose="020F0502020204030204" pitchFamily="34" charset="0"/>
              </a:rPr>
              <a:t>با</a:t>
            </a:r>
            <a:r>
              <a:rPr lang="en-US" sz="1800" dirty="0">
                <a:latin typeface="Calibri" panose="020F0502020204030204" pitchFamily="34" charset="0"/>
                <a:cs typeface="Calibri" panose="020F0502020204030204" pitchFamily="34" charset="0"/>
              </a:rPr>
              <a:t> out </a:t>
            </a:r>
            <a:r>
              <a:rPr lang="fa-IR" sz="1800" dirty="0">
                <a:latin typeface="Calibri" panose="020F0502020204030204" pitchFamily="34" charset="0"/>
                <a:cs typeface="Calibri" panose="020F0502020204030204" pitchFamily="34" charset="0"/>
              </a:rPr>
              <a:t>برابر باشد</a:t>
            </a:r>
            <a:r>
              <a:rPr lang="en-US" sz="1800" dirty="0">
                <a:latin typeface="Calibri" panose="020F0502020204030204" pitchFamily="34" charset="0"/>
                <a:cs typeface="Calibri" panose="020F0502020204030204" pitchFamily="34" charset="0"/>
              </a:rPr>
              <a:t>.</a:t>
            </a:r>
          </a:p>
          <a:p>
            <a:pPr marL="285750" marR="0" lvl="0" indent="-285750" algn="r" defTabSz="914400" rtl="1"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2800" b="0" i="0" dirty="0">
                <a:solidFill>
                  <a:srgbClr val="1F1F1F"/>
                </a:solidFill>
                <a:effectLst/>
                <a:latin typeface="Google Sans"/>
              </a:rPr>
              <a:t>((in + 1) % BUFFER SIZE) == out</a:t>
            </a:r>
          </a:p>
          <a:p>
            <a:pPr marL="285750" indent="-285750" algn="r" rtl="1">
              <a:buFont typeface="Arial" panose="020B0604020202020204" pitchFamily="34" charset="0"/>
              <a:buChar char="•"/>
            </a:pPr>
            <a:endParaRPr lang="en" sz="1800" dirty="0">
              <a:latin typeface="Calibri" panose="020F0502020204030204" pitchFamily="34" charset="0"/>
              <a:cs typeface="Calibri" panose="020F050202020403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B49629EB-AB81-479E-8FE7-E7DEFE8390A0}"/>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F6953B83-564C-41A0-B89B-0BB8D611B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r" defTabSz="914400" rtl="1" eaLnBrk="0" fontAlgn="base" latinLnBrk="0" hangingPunct="0">
              <a:lnSpc>
                <a:spcPct val="100000"/>
              </a:lnSpc>
              <a:spcBef>
                <a:spcPct val="30000"/>
              </a:spcBef>
              <a:spcAft>
                <a:spcPct val="0"/>
              </a:spcAft>
              <a:buClrTx/>
              <a:buSzTx/>
              <a:buFontTx/>
              <a:buNone/>
              <a:tabLst/>
              <a:defRPr/>
            </a:pPr>
            <a:r>
              <a:rPr lang="fa-IR" sz="1200" b="1" i="0" dirty="0">
                <a:solidFill>
                  <a:srgbClr val="1F1F1F"/>
                </a:solidFill>
                <a:effectLst/>
                <a:latin typeface="Google Sans"/>
                <a:cs typeface="B Nazanin" panose="00000400000000000000" pitchFamily="2" charset="-78"/>
              </a:rPr>
              <a:t>روش قبل حداکثر </a:t>
            </a:r>
            <a:r>
              <a:rPr lang="en-US" sz="1200" b="1" i="0" dirty="0">
                <a:solidFill>
                  <a:srgbClr val="1F1F1F"/>
                </a:solidFill>
                <a:effectLst/>
                <a:latin typeface="Google Sans"/>
                <a:cs typeface="B Nazanin" panose="00000400000000000000" pitchFamily="2" charset="-78"/>
              </a:rPr>
              <a:t>BUFFER_SIZE - 1 </a:t>
            </a:r>
            <a:r>
              <a:rPr lang="fa-IR" sz="1200" b="1" i="0" dirty="0">
                <a:solidFill>
                  <a:srgbClr val="1F1F1F"/>
                </a:solidFill>
                <a:effectLst/>
                <a:latin typeface="Google Sans"/>
                <a:cs typeface="B Nazanin" panose="00000400000000000000" pitchFamily="2" charset="-78"/>
              </a:rPr>
              <a:t>آیتم می‌توانند به طور همزمان در بافر قرار داشته باشند.</a:t>
            </a:r>
            <a:endParaRPr lang="en-US" sz="1200" dirty="0">
              <a:cs typeface="B Nazanin" panose="00000400000000000000" pitchFamily="2" charset="-78"/>
            </a:endParaRPr>
          </a:p>
          <a:p>
            <a:pPr algn="r" rtl="1"/>
            <a:endParaRPr lang="en-US" altLang="en-US" dirty="0">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a-IR" altLang="en-US" dirty="0">
                <a:latin typeface="Times New Roman" panose="02020603050405020304" pitchFamily="18" charset="0"/>
              </a:rPr>
              <a:t>سوال از دانشجویان برای ارائه راه حل؟</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8085336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8A1752F3-9769-4F81-A848-54098A15C8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329CD1A-AE72-4F61-8821-1DA62212AA59}"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2831E14A-C331-4555-A8C3-1457C596F42C}"/>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A0ABAF6A-CE19-4868-B5E3-A38DB65BE4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903351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4D3C1504-DE2D-4887-8827-E09054DAE8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BF11701-DA1F-421D-A56C-66611BA250E3}"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1F122118-23A7-4491-BF21-7CA9F458BDE5}"/>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76BB2CE-B3E7-43A0-B4C8-E70E2791B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808399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B7DE31E6-8C1D-4E43-8FC9-1E2F3766DE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D4BBD69-54AE-4751-B982-30356D027400}"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8DB144-017B-4356-8EB3-B56BEAA00FD5}"/>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8FA50972-E87E-46C7-B77B-BB77C65B2E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570634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ADE71AF2-BE40-466B-B1D6-529EC4391F00}"/>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163544B4-63EF-4C2F-8659-49A75C26F2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lgn="r" rtl="1">
              <a:buFont typeface="Wingdings" panose="05000000000000000000" pitchFamily="2" charset="2"/>
              <a:buChar char="q"/>
            </a:pPr>
            <a:endParaRPr lang="en-US" sz="1800" kern="1200" dirty="0">
              <a:solidFill>
                <a:srgbClr val="000000"/>
              </a:solidFill>
              <a:latin typeface="Times New Roman" panose="02020603050405020304" pitchFamily="18" charset="0"/>
            </a:endParaRPr>
          </a:p>
          <a:p>
            <a:pPr marL="285750" indent="-285750" algn="r" rtl="1">
              <a:buFont typeface="Wingdings" panose="05000000000000000000" pitchFamily="2" charset="2"/>
              <a:buChar char="q"/>
            </a:pPr>
            <a:r>
              <a:rPr lang="fa-IR" sz="1800" kern="1200" dirty="0">
                <a:solidFill>
                  <a:srgbClr val="000000"/>
                </a:solidFill>
                <a:latin typeface="Times New Roman" panose="02020603050405020304" pitchFamily="18" charset="0"/>
                <a:cs typeface="Times New Roman" panose="02020603050405020304" pitchFamily="18" charset="0"/>
              </a:rPr>
              <a:t>گذر پیام </a:t>
            </a:r>
            <a:r>
              <a:rPr lang="en-US" sz="1800" kern="1200" dirty="0">
                <a:solidFill>
                  <a:srgbClr val="000000"/>
                </a:solidFill>
                <a:latin typeface="Times New Roman" panose="02020603050405020304" pitchFamily="18" charset="0"/>
                <a:cs typeface="Times New Roman" panose="02020603050405020304" pitchFamily="18" charset="0"/>
              </a:rPr>
              <a:t>:</a:t>
            </a:r>
            <a:r>
              <a:rPr lang="fa-IR" sz="1800" kern="1200" dirty="0">
                <a:solidFill>
                  <a:srgbClr val="000000"/>
                </a:solidFill>
                <a:latin typeface="Times New Roman" panose="02020603050405020304" pitchFamily="18" charset="0"/>
                <a:cs typeface="Times New Roman" panose="02020603050405020304" pitchFamily="18" charset="0"/>
              </a:rPr>
              <a:t>روشی برای برقراری ارتباط بین فرایندها و همگام‌سازی عملکرد آن‌ها بدون نیاز به اشتراک یک فضای آدرس‌دهی مشترک است. این روش به ویژه در محیط‌های توزیع‌شده کاربرد دارد، </a:t>
            </a:r>
          </a:p>
          <a:p>
            <a:pPr marL="285750" indent="-285750" algn="r" rtl="1">
              <a:buFont typeface="Wingdings" panose="05000000000000000000" pitchFamily="2" charset="2"/>
              <a:buChar char="q"/>
            </a:pPr>
            <a:r>
              <a:rPr lang="fa-IR" sz="1800" kern="1200" dirty="0">
                <a:solidFill>
                  <a:srgbClr val="000000"/>
                </a:solidFill>
                <a:latin typeface="Times New Roman" panose="02020603050405020304" pitchFamily="18" charset="0"/>
                <a:cs typeface="Times New Roman" panose="02020603050405020304" pitchFamily="18" charset="0"/>
              </a:rPr>
              <a:t>جایی که فرایندهای در حال ارتباط ممکن است روی رایانه‌های مختلفی در یک شبکه قرار داشته باشند. به عنوان مثال، یک برنامه چت اینترنتی می‌تواند به گونه‌ای طراحی شود که شرکت‌کنندگان در چت از طریق تبادل پیام با یکدیگر ارتباط برقرار کنند.</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66F45FA-B662-4E14-83BC-2CA84F5CF7B6}"/>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67B2FD97-934F-4AF8-A525-6E87AD2A06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D492BA8-9072-4CF5-A54A-DE5E3CE45ABB}"/>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43B894CE-C3E8-4116-9227-ABEEFBBE3F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 Direct or indirect communication • Synchronous or asynchronous communication • Automatic or explicit </a:t>
            </a:r>
            <a:r>
              <a:rPr lang="en-US" dirty="0" err="1"/>
              <a:t>bufferi</a:t>
            </a:r>
            <a:endParaRPr lang="en-US" altLang="en-US" dirty="0">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4C8FA0E1-3EB3-4E2B-963D-980FCF3F4D0F}"/>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23C93D2C-31D7-493E-84F1-0B33AC4A11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i="0" dirty="0">
                <a:solidFill>
                  <a:srgbClr val="E3E3E3"/>
                </a:solidFill>
                <a:effectLst/>
                <a:latin typeface="Google Sans"/>
              </a:rPr>
              <a:t>Ports vs. Mailboxes:</a:t>
            </a:r>
            <a:r>
              <a:rPr lang="en-US" b="0" i="0" dirty="0">
                <a:solidFill>
                  <a:srgbClr val="E3E3E3"/>
                </a:solidFill>
                <a:effectLst/>
                <a:latin typeface="Google Sans"/>
              </a:rPr>
              <a:t> Sometimes, ports are a restricted type of mailbox that allows only one receiver but can have multiple senders. This is useful for client-server style communication where one process acts as the server (receiver) and others act as clients (senders). Mailboxes, on the other hand, can have multiple receivers along with multiple senders, offering more flexibility in communication patterns.</a:t>
            </a:r>
          </a:p>
          <a:p>
            <a:endParaRPr lang="en-US" altLang="en-US" dirty="0">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A10BBC64-6D22-40D9-8A39-A922F2B55011}"/>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DEFA5C88-3591-4F38-8DE2-ED780B85BE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EE794A5A-A3D6-4F4A-AC5D-7848682BF0CB}"/>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51B19849-C4BE-437E-8FA6-62C406FD6A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840D6A5B-2DF8-46AB-99E3-DD4447D91D92}"/>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643A5627-CB21-4B22-827F-59A9C1902D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Now suppose that processes P1, P2, and P3 all share mailbox A. Process P1 sends a message to A, while both P2 and P3 execute a receive() from A. Which process will receive the message sent by P1? The answer depends on which of the following methods we choose</a:t>
            </a:r>
            <a:endParaRPr lang="en-US" altLang="en-US" dirty="0">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68B1FC-40C0-4209-B546-5BC55506CCE8}"/>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E1D34BBE-98B7-491C-B523-E80B67BE05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b="1" dirty="0">
                <a:solidFill>
                  <a:srgbClr val="000000"/>
                </a:solidFill>
                <a:effectLst/>
                <a:latin typeface="Tahoma" panose="020B0604030504040204" pitchFamily="34" charset="0"/>
              </a:rPr>
              <a:t>rendezvous</a:t>
            </a:r>
            <a:r>
              <a:rPr lang="en-US" sz="1800" dirty="0">
                <a:solidFill>
                  <a:srgbClr val="808080"/>
                </a:solidFill>
                <a:effectLst/>
                <a:latin typeface="Tahoma" panose="020B0604030504040204" pitchFamily="34" charset="0"/>
              </a:rPr>
              <a:t>  </a:t>
            </a:r>
            <a:r>
              <a:rPr lang="en-US" sz="1800" dirty="0">
                <a:solidFill>
                  <a:srgbClr val="808080"/>
                </a:solidFill>
                <a:effectLst/>
                <a:latin typeface="Lingoes Unicode" panose="020B0604020202020204" pitchFamily="34" charset="-128"/>
                <a:ea typeface="Lingoes Unicode" panose="020B0604020202020204" pitchFamily="34" charset="-128"/>
              </a:rPr>
              <a:t>[</a:t>
            </a:r>
            <a:r>
              <a:rPr lang="en-US" sz="1800" dirty="0" err="1">
                <a:solidFill>
                  <a:srgbClr val="808080"/>
                </a:solidFill>
                <a:effectLst/>
                <a:latin typeface="Lingoes Unicode" panose="020B0604020202020204" pitchFamily="34" charset="-128"/>
                <a:ea typeface="Lingoes Unicode" panose="020B0604020202020204" pitchFamily="34" charset="-128"/>
              </a:rPr>
              <a:t>rɑndɪvu</a:t>
            </a:r>
            <a:r>
              <a:rPr lang="en-US" sz="1800" dirty="0">
                <a:solidFill>
                  <a:srgbClr val="808080"/>
                </a:solidFill>
                <a:effectLst/>
                <a:latin typeface="Lingoes Unicode" panose="020B0604020202020204" pitchFamily="34" charset="-128"/>
                <a:ea typeface="Lingoes Unicode" panose="020B0604020202020204" pitchFamily="34" charset="-128"/>
              </a:rPr>
              <a:t>ː] </a:t>
            </a:r>
            <a:r>
              <a:rPr lang="fa-IR" sz="1800" dirty="0">
                <a:solidFill>
                  <a:srgbClr val="808080"/>
                </a:solidFill>
                <a:effectLst/>
                <a:latin typeface="Lingoes Unicode" panose="020B0604020202020204" pitchFamily="34" charset="-128"/>
                <a:ea typeface="Lingoes Unicode" panose="020B0604020202020204" pitchFamily="34" charset="-128"/>
              </a:rPr>
              <a:t>راندیوو</a:t>
            </a:r>
            <a:endParaRPr lang="en-US" sz="1800" dirty="0">
              <a:solidFill>
                <a:srgbClr val="808080"/>
              </a:solidFill>
              <a:effectLst/>
              <a:latin typeface="Tahoma" panose="020B0604030504040204" pitchFamily="34"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0619451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840D6A5B-2DF8-46AB-99E3-DD4447D91D92}"/>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643A5627-CB21-4B22-827F-59A9C1902D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1807673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7B3A5B9D-7073-4B04-815D-4C28F8C6294A}"/>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BC76B9EF-EFF6-4934-98D1-D26E322C1B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a-IR" altLang="en-US" dirty="0">
                <a:latin typeface="Times New Roman" panose="02020603050405020304" pitchFamily="18" charset="0"/>
              </a:rPr>
              <a:t>راندیو</a:t>
            </a:r>
            <a:endParaRPr lang="en-US" altLang="en-US" dirty="0">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9AF59525-78E1-4DD8-A170-40C6713E65FA}"/>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63C1A84E-D626-48F7-9E90-4ECA8C9E4F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lgn="r" rtl="1">
              <a:buFont typeface="Arial" panose="020B0604020202020204" pitchFamily="34" charset="0"/>
              <a:buChar char="•"/>
            </a:pPr>
            <a:r>
              <a:rPr lang="en-US" sz="1800" dirty="0">
                <a:solidFill>
                  <a:srgbClr val="000000"/>
                </a:solidFill>
                <a:latin typeface="Helvetica" panose="020B0604020202020204" pitchFamily="34" charset="0"/>
              </a:rPr>
              <a:t>(ALPC)  </a:t>
            </a:r>
            <a:r>
              <a:rPr lang="fa-IR" sz="1800" dirty="0">
                <a:solidFill>
                  <a:srgbClr val="000000"/>
                </a:solidFill>
                <a:latin typeface="Helvetica" panose="020B0604020202020204" pitchFamily="34" charset="0"/>
                <a:cs typeface="Helvetica" panose="020B0604020202020204" pitchFamily="34" charset="0"/>
              </a:rPr>
              <a:t>قابلیت </a:t>
            </a:r>
            <a:r>
              <a:rPr lang="en-US" sz="1800" dirty="0">
                <a:solidFill>
                  <a:srgbClr val="000000"/>
                </a:solidFill>
                <a:latin typeface="Helvetica" panose="020B0604020202020204" pitchFamily="34" charset="0"/>
                <a:cs typeface="Helvetica" panose="020B0604020202020204" pitchFamily="34" charset="0"/>
              </a:rPr>
              <a:t>"</a:t>
            </a:r>
            <a:r>
              <a:rPr lang="fa-IR" sz="1800" dirty="0">
                <a:solidFill>
                  <a:srgbClr val="000000"/>
                </a:solidFill>
                <a:latin typeface="Helvetica" panose="020B0604020202020204" pitchFamily="34" charset="0"/>
                <a:cs typeface="Helvetica" panose="020B0604020202020204" pitchFamily="34" charset="0"/>
              </a:rPr>
              <a:t>گذر پیام</a:t>
            </a:r>
            <a:r>
              <a:rPr lang="en-US" sz="1800" dirty="0">
                <a:solidFill>
                  <a:srgbClr val="000000"/>
                </a:solidFill>
                <a:latin typeface="Helvetica" panose="020B0604020202020204" pitchFamily="34" charset="0"/>
                <a:cs typeface="Helvetica" panose="020B0604020202020204" pitchFamily="34" charset="0"/>
              </a:rPr>
              <a:t>" </a:t>
            </a:r>
            <a:r>
              <a:rPr lang="fa-IR" sz="1800" dirty="0">
                <a:solidFill>
                  <a:srgbClr val="000000"/>
                </a:solidFill>
                <a:latin typeface="Helvetica" panose="020B0604020202020204" pitchFamily="34" charset="0"/>
                <a:cs typeface="Helvetica" panose="020B0604020202020204" pitchFamily="34" charset="0"/>
              </a:rPr>
              <a:t>در سیستم عامل ویندوز است. این قابلیت برای ارتباط بین دو فرایند بر روی یک ماشین (رایانه) به کار می‌رود. </a:t>
            </a:r>
            <a:r>
              <a:rPr lang="en-US" sz="1800" dirty="0">
                <a:solidFill>
                  <a:srgbClr val="000000"/>
                </a:solidFill>
                <a:latin typeface="Helvetica" panose="020B0604020202020204" pitchFamily="34" charset="0"/>
                <a:cs typeface="Helvetica" panose="020B0604020202020204" pitchFamily="34" charset="0"/>
              </a:rPr>
              <a:t>ALPC </a:t>
            </a:r>
            <a:r>
              <a:rPr lang="fa-IR" sz="1800" dirty="0">
                <a:solidFill>
                  <a:srgbClr val="000000"/>
                </a:solidFill>
                <a:latin typeface="Helvetica" panose="020B0604020202020204" pitchFamily="34" charset="0"/>
                <a:cs typeface="Helvetica" panose="020B0604020202020204" pitchFamily="34" charset="0"/>
              </a:rPr>
              <a:t>شبیه به مکانیزم رایج "فراخوان رویه از راه دور" (</a:t>
            </a:r>
            <a:r>
              <a:rPr lang="en-US" sz="1800" dirty="0">
                <a:solidFill>
                  <a:srgbClr val="000000"/>
                </a:solidFill>
                <a:latin typeface="Helvetica" panose="020B0604020202020204" pitchFamily="34" charset="0"/>
                <a:cs typeface="Helvetica" panose="020B0604020202020204" pitchFamily="34" charset="0"/>
              </a:rPr>
              <a:t>RPC) </a:t>
            </a:r>
            <a:r>
              <a:rPr lang="fa-IR" sz="1800" dirty="0">
                <a:solidFill>
                  <a:srgbClr val="000000"/>
                </a:solidFill>
                <a:latin typeface="Helvetica" panose="020B0604020202020204" pitchFamily="34" charset="0"/>
                <a:cs typeface="Helvetica" panose="020B0604020202020204" pitchFamily="34" charset="0"/>
              </a:rPr>
              <a:t>است، اما به طور خاص برای ویندوز بهینه‌سازی شده است.</a:t>
            </a:r>
            <a:endParaRPr lang="en-US" sz="1800" dirty="0">
              <a:solidFill>
                <a:srgbClr val="000000"/>
              </a:solidFill>
              <a:latin typeface="Helvetica" panose="020B0604020202020204" pitchFamily="34" charset="0"/>
              <a:cs typeface="Helvetica" panose="020B0604020202020204" pitchFamily="34" charset="0"/>
            </a:endParaRPr>
          </a:p>
          <a:p>
            <a:pPr marL="285750" indent="-285750" algn="r" rtl="1">
              <a:buFont typeface="Arial" panose="020B0604020202020204" pitchFamily="34" charset="0"/>
              <a:buChar char="•"/>
            </a:pPr>
            <a:endParaRPr lang="en-US" sz="1800" dirty="0">
              <a:solidFill>
                <a:srgbClr val="000000"/>
              </a:solidFill>
              <a:latin typeface="Helvetica" panose="020B0604020202020204" pitchFamily="34" charset="0"/>
              <a:cs typeface="Helvetica" panose="020B0604020202020204" pitchFamily="34" charset="0"/>
            </a:endParaRPr>
          </a:p>
          <a:p>
            <a:pPr marL="457200" indent="-457200" algn="r" rtl="1">
              <a:buFont typeface="Arial" panose="020B0604020202020204" pitchFamily="34" charset="0"/>
              <a:buChar char="•"/>
            </a:pPr>
            <a:r>
              <a:rPr lang="fa-IR" sz="2800" b="0" i="0" dirty="0">
                <a:solidFill>
                  <a:srgbClr val="1F1F1F"/>
                </a:solidFill>
                <a:effectLst/>
                <a:latin typeface="Google Sans"/>
              </a:rPr>
              <a:t>هنگامی که یک سرویس گیرنده به خدمات یک زیرسیستم نیاز دارد، یک هندل به شیء پورت اتصال سرور باز می کند و یک درخواست اتصال به آن پورت ارسال می کند. </a:t>
            </a:r>
            <a:endParaRPr lang="en-US" sz="2800" b="0" i="0" dirty="0">
              <a:solidFill>
                <a:srgbClr val="1F1F1F"/>
              </a:solidFill>
              <a:effectLst/>
              <a:latin typeface="Google Sans"/>
            </a:endParaRPr>
          </a:p>
          <a:p>
            <a:pPr marL="457200" indent="-457200" algn="r" rtl="1">
              <a:buFont typeface="Arial" panose="020B0604020202020204" pitchFamily="34" charset="0"/>
              <a:buChar char="•"/>
            </a:pPr>
            <a:r>
              <a:rPr lang="fa-IR" sz="2800" b="0" i="0" dirty="0">
                <a:solidFill>
                  <a:srgbClr val="1F1F1F"/>
                </a:solidFill>
                <a:effectLst/>
                <a:latin typeface="Google Sans"/>
              </a:rPr>
              <a:t>سپس سرور یک کانال ایجاد می کند و یک هندل به سرویس گیرنده برمی گرداند. </a:t>
            </a:r>
            <a:endParaRPr lang="en-US" sz="2800" b="0" i="0" dirty="0">
              <a:solidFill>
                <a:srgbClr val="1F1F1F"/>
              </a:solidFill>
              <a:effectLst/>
              <a:latin typeface="Google Sans"/>
            </a:endParaRPr>
          </a:p>
          <a:p>
            <a:pPr marL="457200" indent="-457200" algn="r" rtl="1">
              <a:buFont typeface="Arial" panose="020B0604020202020204" pitchFamily="34" charset="0"/>
              <a:buChar char="•"/>
            </a:pPr>
            <a:r>
              <a:rPr lang="fa-IR" sz="2800" b="0" i="0" dirty="0">
                <a:solidFill>
                  <a:srgbClr val="1F1F1F"/>
                </a:solidFill>
                <a:effectLst/>
                <a:latin typeface="Google Sans"/>
              </a:rPr>
              <a:t>این کانال از یک جفت پورت ارتباطی خصوصی تشکیل شده است: یکی برای پیام های سرویس گیرنده-سرور، دیگری برای پیام های سرور-سرویس گیرنده. علاوه بر این، کانال‌های ارتباطی از یک مکانیزم بازگشت تماس پشتیبانی می‌کنند که به سرویس گیرنده و سرور اجازه می‌دهد تا درخواست‌ها را زمانی که به‌طور معمول انتظار پاسخ دارند، بپذیرند.</a:t>
            </a:r>
            <a:endParaRPr lang="fa-IR" sz="1800" dirty="0">
              <a:solidFill>
                <a:srgbClr val="00000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4316610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CB6525D0-C6FC-4582-B2A0-7ABC03968879}"/>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866B3374-7828-4D2F-A3CB-4C44E319D1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ارتباط به شرح زیر عمل می کند: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کلاینت یک هندل به آبجکت پورت اتصال زیرسیستم باز می کند.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کلاینت درخواست اتصال ارسال می کند.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سرور دو پورت ارتباطی خصوصی ایجاد می کند و هندل یکی از آنها را به کلاینت برمی گرداند.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کلاینت و سرور از هندل پورت مربوطه برای ارسال پیام یا </a:t>
            </a:r>
            <a:r>
              <a:rPr lang="en-US"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callback</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و گوش دادن به پاسخ ها استفاده می کنند.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endParaRPr lang="en-US" altLang="en-US" dirty="0">
              <a:latin typeface="Times New Roman" panose="02020603050405020304" pitchFamily="18" charset="0"/>
            </a:endParaRPr>
          </a:p>
          <a:p>
            <a:pPr marL="342900" indent="-342900" algn="r" rtl="1">
              <a:buAutoNum type="arabicPeriod"/>
            </a:pPr>
            <a:r>
              <a:rPr lang="fa-IR" sz="1800" dirty="0">
                <a:solidFill>
                  <a:srgbClr val="000000"/>
                </a:solidFill>
                <a:latin typeface="Helvetica" panose="020B0604020202020204" pitchFamily="34" charset="0"/>
                <a:cs typeface="Helvetica" panose="020B0604020202020204" pitchFamily="34" charset="0"/>
              </a:rPr>
              <a:t>برای پیام‌های کوچک (تا ۲۵۶ بایت)، صف پیام پورت به عنوان فضای ذخیره‌سازی موقت استفاده می‌شود و پیام‌ها از یک فرایند به فرایند دیگر کپی می‌شوند.</a:t>
            </a:r>
            <a:endParaRPr lang="en-US" sz="1800" dirty="0">
              <a:solidFill>
                <a:srgbClr val="000000"/>
              </a:solidFill>
              <a:latin typeface="Helvetica" panose="020B0604020202020204" pitchFamily="34" charset="0"/>
              <a:cs typeface="Helvetica" panose="020B0604020202020204" pitchFamily="34" charset="0"/>
            </a:endParaRPr>
          </a:p>
          <a:p>
            <a:pPr marL="342900" indent="-342900" algn="r" rtl="1">
              <a:buAutoNum type="arabicPeriod"/>
            </a:pPr>
            <a:endParaRPr lang="fa-IR" sz="1800" dirty="0">
              <a:solidFill>
                <a:srgbClr val="000000"/>
              </a:solidFill>
              <a:latin typeface="Helvetica" panose="020B0604020202020204" pitchFamily="34" charset="0"/>
              <a:cs typeface="Helvetica" panose="020B0604020202020204" pitchFamily="34" charset="0"/>
            </a:endParaRPr>
          </a:p>
          <a:p>
            <a:pPr algn="r" rtl="1"/>
            <a:r>
              <a:rPr lang="fa-IR" sz="1800" dirty="0">
                <a:solidFill>
                  <a:srgbClr val="000000"/>
                </a:solidFill>
                <a:latin typeface="Helvetica" panose="020B0604020202020204" pitchFamily="34" charset="0"/>
                <a:cs typeface="Helvetica" panose="020B0604020202020204" pitchFamily="34" charset="0"/>
              </a:rPr>
              <a:t>۲. پیام‌های بزرگتر باید از طریق یک شیء بخش </a:t>
            </a:r>
            <a:r>
              <a:rPr lang="en-US" sz="1800" dirty="0">
                <a:solidFill>
                  <a:srgbClr val="000000"/>
                </a:solidFill>
                <a:latin typeface="Helvetica" panose="020B0604020202020204" pitchFamily="34" charset="0"/>
                <a:cs typeface="Helvetica" panose="020B0604020202020204" pitchFamily="34" charset="0"/>
              </a:rPr>
              <a:t>section object </a:t>
            </a:r>
            <a:r>
              <a:rPr lang="fa-IR" sz="1800" dirty="0">
                <a:solidFill>
                  <a:srgbClr val="000000"/>
                </a:solidFill>
                <a:latin typeface="Helvetica" panose="020B0604020202020204" pitchFamily="34" charset="0"/>
                <a:cs typeface="Helvetica" panose="020B0604020202020204" pitchFamily="34" charset="0"/>
              </a:rPr>
              <a:t>منتقل شوند که ناحیه‌ای از حافظه‌ی مشترک مرتبط با کانال است.</a:t>
            </a:r>
            <a:endParaRPr lang="en-US" sz="1800" dirty="0">
              <a:solidFill>
                <a:srgbClr val="000000"/>
              </a:solidFill>
              <a:latin typeface="Helvetica" panose="020B0604020202020204" pitchFamily="34" charset="0"/>
              <a:cs typeface="Helvetica" panose="020B0604020202020204" pitchFamily="34" charset="0"/>
            </a:endParaRPr>
          </a:p>
          <a:p>
            <a:pPr algn="r" rtl="1"/>
            <a:endParaRPr lang="fa-IR" sz="1800" dirty="0">
              <a:solidFill>
                <a:srgbClr val="000000"/>
              </a:solidFill>
              <a:latin typeface="Helvetica" panose="020B0604020202020204" pitchFamily="34" charset="0"/>
              <a:cs typeface="Helvetica" panose="020B0604020202020204" pitchFamily="34" charset="0"/>
            </a:endParaRPr>
          </a:p>
          <a:p>
            <a:pPr algn="r" rtl="1"/>
            <a:r>
              <a:rPr lang="fa-IR" sz="1800" dirty="0">
                <a:solidFill>
                  <a:srgbClr val="000000"/>
                </a:solidFill>
                <a:latin typeface="Helvetica" panose="020B0604020202020204" pitchFamily="34" charset="0"/>
                <a:cs typeface="Helvetica" panose="020B0604020202020204" pitchFamily="34" charset="0"/>
              </a:rPr>
              <a:t>۳. هنگامی که حجم داده‌ها برای جایگذاری در یک شیء بخش بسیار زیاد است، یک </a:t>
            </a:r>
            <a:r>
              <a:rPr lang="en-US" sz="1800" dirty="0">
                <a:solidFill>
                  <a:srgbClr val="000000"/>
                </a:solidFill>
                <a:latin typeface="Helvetica" panose="020B0604020202020204" pitchFamily="34" charset="0"/>
                <a:cs typeface="Helvetica" panose="020B0604020202020204" pitchFamily="34" charset="0"/>
              </a:rPr>
              <a:t>API </a:t>
            </a:r>
            <a:r>
              <a:rPr lang="fa-IR" sz="1800" dirty="0">
                <a:solidFill>
                  <a:srgbClr val="000000"/>
                </a:solidFill>
                <a:latin typeface="Helvetica" panose="020B0604020202020204" pitchFamily="34" charset="0"/>
                <a:cs typeface="Helvetica" panose="020B0604020202020204" pitchFamily="34" charset="0"/>
              </a:rPr>
              <a:t>در دسترس قرار می‌گیرد که به فرآیندهای سرور اجازه می‌دهد تا به طور مستقیم در فضای آدرس‌دهی یک گیرنده (کلاینت) بخوانند و بنویسند.</a:t>
            </a:r>
          </a:p>
          <a:p>
            <a:endParaRPr lang="en-US" altLang="en-US" dirty="0">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9AF59525-78E1-4DD8-A170-40C6713E65FA}"/>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63C1A84E-D626-48F7-9E90-4ECA8C9E4F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lgn="r" rtl="1">
              <a:buFont typeface="Arial" panose="020B0604020202020204" pitchFamily="34" charset="0"/>
              <a:buChar char="•"/>
            </a:pPr>
            <a:r>
              <a:rPr lang="en-US" sz="1800" dirty="0">
                <a:solidFill>
                  <a:srgbClr val="000000"/>
                </a:solidFill>
                <a:latin typeface="Helvetica" panose="020B0604020202020204" pitchFamily="34" charset="0"/>
              </a:rPr>
              <a:t>(ALPC)  </a:t>
            </a:r>
            <a:r>
              <a:rPr lang="fa-IR" sz="1800" dirty="0">
                <a:solidFill>
                  <a:srgbClr val="000000"/>
                </a:solidFill>
                <a:latin typeface="Helvetica" panose="020B0604020202020204" pitchFamily="34" charset="0"/>
                <a:cs typeface="Helvetica" panose="020B0604020202020204" pitchFamily="34" charset="0"/>
              </a:rPr>
              <a:t>قابلیت </a:t>
            </a:r>
            <a:r>
              <a:rPr lang="en-US" sz="1800" dirty="0">
                <a:solidFill>
                  <a:srgbClr val="000000"/>
                </a:solidFill>
                <a:latin typeface="Helvetica" panose="020B0604020202020204" pitchFamily="34" charset="0"/>
                <a:cs typeface="Helvetica" panose="020B0604020202020204" pitchFamily="34" charset="0"/>
              </a:rPr>
              <a:t>"</a:t>
            </a:r>
            <a:r>
              <a:rPr lang="fa-IR" sz="1800" dirty="0">
                <a:solidFill>
                  <a:srgbClr val="000000"/>
                </a:solidFill>
                <a:latin typeface="Helvetica" panose="020B0604020202020204" pitchFamily="34" charset="0"/>
                <a:cs typeface="Helvetica" panose="020B0604020202020204" pitchFamily="34" charset="0"/>
              </a:rPr>
              <a:t>گذر پیام</a:t>
            </a:r>
            <a:r>
              <a:rPr lang="en-US" sz="1800" dirty="0">
                <a:solidFill>
                  <a:srgbClr val="000000"/>
                </a:solidFill>
                <a:latin typeface="Helvetica" panose="020B0604020202020204" pitchFamily="34" charset="0"/>
                <a:cs typeface="Helvetica" panose="020B0604020202020204" pitchFamily="34" charset="0"/>
              </a:rPr>
              <a:t>" </a:t>
            </a:r>
            <a:r>
              <a:rPr lang="fa-IR" sz="1800" dirty="0">
                <a:solidFill>
                  <a:srgbClr val="000000"/>
                </a:solidFill>
                <a:latin typeface="Helvetica" panose="020B0604020202020204" pitchFamily="34" charset="0"/>
                <a:cs typeface="Helvetica" panose="020B0604020202020204" pitchFamily="34" charset="0"/>
              </a:rPr>
              <a:t>در سیستم عامل ویندوز است. این قابلیت برای ارتباط بین دو فرایند بر روی یک ماشین (رایانه) به کار می‌رود. </a:t>
            </a:r>
            <a:r>
              <a:rPr lang="en-US" sz="1800" dirty="0">
                <a:solidFill>
                  <a:srgbClr val="000000"/>
                </a:solidFill>
                <a:latin typeface="Helvetica" panose="020B0604020202020204" pitchFamily="34" charset="0"/>
                <a:cs typeface="Helvetica" panose="020B0604020202020204" pitchFamily="34" charset="0"/>
              </a:rPr>
              <a:t>ALPC </a:t>
            </a:r>
            <a:r>
              <a:rPr lang="fa-IR" sz="1800" dirty="0">
                <a:solidFill>
                  <a:srgbClr val="000000"/>
                </a:solidFill>
                <a:latin typeface="Helvetica" panose="020B0604020202020204" pitchFamily="34" charset="0"/>
                <a:cs typeface="Helvetica" panose="020B0604020202020204" pitchFamily="34" charset="0"/>
              </a:rPr>
              <a:t>شبیه به مکانیزم رایج "فراخوان رویه از راه دور" (</a:t>
            </a:r>
            <a:r>
              <a:rPr lang="en-US" sz="1800" dirty="0">
                <a:solidFill>
                  <a:srgbClr val="000000"/>
                </a:solidFill>
                <a:latin typeface="Helvetica" panose="020B0604020202020204" pitchFamily="34" charset="0"/>
                <a:cs typeface="Helvetica" panose="020B0604020202020204" pitchFamily="34" charset="0"/>
              </a:rPr>
              <a:t>RPC) </a:t>
            </a:r>
            <a:r>
              <a:rPr lang="fa-IR" sz="1800" dirty="0">
                <a:solidFill>
                  <a:srgbClr val="000000"/>
                </a:solidFill>
                <a:latin typeface="Helvetica" panose="020B0604020202020204" pitchFamily="34" charset="0"/>
                <a:cs typeface="Helvetica" panose="020B0604020202020204" pitchFamily="34" charset="0"/>
              </a:rPr>
              <a:t>است، اما به طور خاص برای ویندوز بهینه‌سازی شده است.</a:t>
            </a:r>
            <a:endParaRPr lang="en-US" sz="1800" dirty="0">
              <a:solidFill>
                <a:srgbClr val="000000"/>
              </a:solidFill>
              <a:latin typeface="Helvetica" panose="020B0604020202020204" pitchFamily="34" charset="0"/>
              <a:cs typeface="Helvetica" panose="020B0604020202020204" pitchFamily="34" charset="0"/>
            </a:endParaRPr>
          </a:p>
          <a:p>
            <a:pPr marL="285750" indent="-285750" algn="r" rtl="1">
              <a:buFont typeface="Arial" panose="020B0604020202020204" pitchFamily="34" charset="0"/>
              <a:buChar char="•"/>
            </a:pPr>
            <a:endParaRPr lang="en-US" sz="1800" dirty="0">
              <a:solidFill>
                <a:srgbClr val="000000"/>
              </a:solidFill>
              <a:latin typeface="Helvetica" panose="020B0604020202020204" pitchFamily="34" charset="0"/>
              <a:cs typeface="Helvetica" panose="020B0604020202020204" pitchFamily="34" charset="0"/>
            </a:endParaRPr>
          </a:p>
          <a:p>
            <a:pPr marL="457200" indent="-457200" algn="r" rtl="1">
              <a:buFont typeface="Arial" panose="020B0604020202020204" pitchFamily="34" charset="0"/>
              <a:buChar char="•"/>
            </a:pPr>
            <a:r>
              <a:rPr lang="fa-IR" sz="4000" b="0" i="0" dirty="0">
                <a:solidFill>
                  <a:srgbClr val="1F1F1F"/>
                </a:solidFill>
                <a:effectLst/>
                <a:latin typeface="Google Sans"/>
              </a:rPr>
              <a:t>فرآیندهای سرور پورت های اتصال را منتشر میکند و سرویس گیرنده با باز کردن یک هندل به آن وصل میشه. </a:t>
            </a:r>
          </a:p>
          <a:p>
            <a:pPr marL="457200" indent="-457200" algn="r" rtl="1">
              <a:buFont typeface="Arial" panose="020B0604020202020204" pitchFamily="34" charset="0"/>
              <a:buChar char="•"/>
            </a:pPr>
            <a:r>
              <a:rPr lang="fa-IR" sz="4000" b="0" i="0" dirty="0">
                <a:solidFill>
                  <a:srgbClr val="1F1F1F"/>
                </a:solidFill>
                <a:effectLst/>
                <a:latin typeface="Google Sans"/>
              </a:rPr>
              <a:t>سرور یک کانال با دو پورت اختصاصی برای پیام‌های طرفین ایجاد میکنه </a:t>
            </a:r>
          </a:p>
          <a:p>
            <a:pPr marL="457200" indent="-457200" algn="r" rtl="1">
              <a:buFont typeface="Arial" panose="020B0604020202020204" pitchFamily="34" charset="0"/>
              <a:buChar char="•"/>
            </a:pPr>
            <a:r>
              <a:rPr lang="fa-IR" sz="4000" b="0" i="0" dirty="0">
                <a:solidFill>
                  <a:srgbClr val="1F1F1F"/>
                </a:solidFill>
                <a:effectLst/>
                <a:latin typeface="Google Sans"/>
              </a:rPr>
              <a:t>سرور از مکانیزم بازگشت تماس هم پشتیبانی می‌کنه </a:t>
            </a:r>
            <a:r>
              <a:rPr lang="fa-IR" sz="2800" b="0" i="0" dirty="0">
                <a:solidFill>
                  <a:srgbClr val="1F1F1F"/>
                </a:solidFill>
                <a:effectLst/>
                <a:latin typeface="Google Sans"/>
              </a:rPr>
              <a:t>که به سرویس گیرنده و سرور اجازه می‌دهد تا درخواست‌ها را زمانی که به‌طور معمول انتظار پاسخ دارند، بپذیرند.</a:t>
            </a:r>
            <a:endParaRPr lang="fa-IR" sz="1800" dirty="0">
              <a:solidFill>
                <a:srgbClr val="000000"/>
              </a:solidFill>
              <a:latin typeface="Helvetica" panose="020B0604020202020204" pitchFamily="34" charset="0"/>
              <a:cs typeface="Helvetica"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3029FECB-27E2-4224-86B6-18EB5F828FA3}"/>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9BD96AFF-203C-437E-94F6-276A8EF05F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A79B685D-D33A-4C9E-AEC1-D2DFA67D0001}"/>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BCEEA52D-F721-4D9B-9317-6AD73159E3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b="0" i="0" dirty="0">
                <a:solidFill>
                  <a:srgbClr val="161616"/>
                </a:solidFill>
                <a:effectLst/>
                <a:latin typeface="Segoe UI" panose="020B0502040204020203" pitchFamily="34" charset="0"/>
              </a:rPr>
              <a:t>A port identifies a unique process for which a service can be provided. In the present context, a port is associated with an application that supports Windows Sockets. The idea is to identify each Windows Sockets application uniquely so you can have more than one Windows Sockets application running on a machine at the same time.</a:t>
            </a:r>
          </a:p>
          <a:p>
            <a:br>
              <a:rPr lang="en-US" dirty="0"/>
            </a:br>
            <a:endParaRPr lang="en-US" altLang="en-US" dirty="0">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8FA0F68A-BCAA-45B1-A89C-BCD5C5E6EBC1}"/>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F71B20DB-2F60-43E4-8C82-8E3C6650EC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buNone/>
            </a:pPr>
            <a:r>
              <a:rPr lang="fa-IR" dirty="0"/>
              <a:t>ارتباط از طریق سوکت، مثل یک دست دادن است که به کامپیوترها اجازه می‌دهد با یکدیگر صحبت کنند. بیا این موضوع را کمی انسانی‌تر کنیم:</a:t>
            </a:r>
          </a:p>
          <a:p>
            <a:pPr algn="r" rtl="1">
              <a:buNone/>
            </a:pPr>
            <a:r>
              <a:rPr lang="fa-IR" b="1" dirty="0"/>
              <a:t>سم سرور</a:t>
            </a:r>
            <a:endParaRPr lang="fa-IR" dirty="0"/>
          </a:p>
          <a:p>
            <a:pPr algn="r" rtl="1">
              <a:buFont typeface="+mj-lt"/>
              <a:buAutoNum type="arabicPeriod"/>
            </a:pPr>
            <a:r>
              <a:rPr lang="en-US" b="1" dirty="0"/>
              <a:t>Socket():</a:t>
            </a:r>
            <a:r>
              <a:rPr lang="en-US" dirty="0"/>
              <a:t> </a:t>
            </a:r>
            <a:r>
              <a:rPr lang="fa-IR" dirty="0"/>
              <a:t>سم یک واکی‌تاکی برمی‌دارد و آماده صحبت می‌شود.</a:t>
            </a:r>
          </a:p>
          <a:p>
            <a:pPr algn="r" rtl="1">
              <a:buFont typeface="+mj-lt"/>
              <a:buAutoNum type="arabicPeriod"/>
            </a:pPr>
            <a:r>
              <a:rPr lang="en-US" b="1" dirty="0"/>
              <a:t>Bind():</a:t>
            </a:r>
            <a:r>
              <a:rPr lang="en-US" dirty="0"/>
              <a:t> </a:t>
            </a:r>
            <a:r>
              <a:rPr lang="fa-IR" dirty="0"/>
              <a:t>او کانال واکی‌تاکی‌اش (آدرس و درگاهش) را انتخاب می‌کند تا کلارا او را پیدا کند.</a:t>
            </a:r>
          </a:p>
          <a:p>
            <a:pPr algn="r" rtl="1">
              <a:buFont typeface="+mj-lt"/>
              <a:buAutoNum type="arabicPeriod"/>
            </a:pPr>
            <a:r>
              <a:rPr lang="en-US" b="1" dirty="0"/>
              <a:t>Listen():</a:t>
            </a:r>
            <a:r>
              <a:rPr lang="en-US" dirty="0"/>
              <a:t> </a:t>
            </a:r>
            <a:r>
              <a:rPr lang="fa-IR" dirty="0"/>
              <a:t>سم گوش می‌دهد و منتظر تماس کلارا می‌شود.</a:t>
            </a:r>
          </a:p>
          <a:p>
            <a:pPr algn="r" rtl="1">
              <a:buFont typeface="+mj-lt"/>
              <a:buAutoNum type="arabicPeriod"/>
            </a:pPr>
            <a:r>
              <a:rPr lang="en-US" b="1" dirty="0"/>
              <a:t>Accept():</a:t>
            </a:r>
            <a:r>
              <a:rPr lang="en-US" dirty="0"/>
              <a:t> </a:t>
            </a:r>
            <a:r>
              <a:rPr lang="fa-IR" dirty="0"/>
              <a:t>او صدای کلارا را می‌شنود که می‌گوید "الو؟" و دکمه صحبت را فشار می‌دهد تا ارتباط برقرار شود.</a:t>
            </a:r>
          </a:p>
          <a:p>
            <a:pPr algn="r" rtl="1">
              <a:buFont typeface="+mj-lt"/>
              <a:buAutoNum type="arabicPeriod"/>
            </a:pPr>
            <a:r>
              <a:rPr lang="en-US" b="1" dirty="0"/>
              <a:t>Read():</a:t>
            </a:r>
            <a:r>
              <a:rPr lang="en-US" dirty="0"/>
              <a:t> </a:t>
            </a:r>
            <a:r>
              <a:rPr lang="fa-IR" dirty="0"/>
              <a:t>سم گوش می‌کند که کلارا چه چیزی برای گفتن دارد.</a:t>
            </a:r>
          </a:p>
          <a:p>
            <a:pPr algn="r" rtl="1">
              <a:buFont typeface="+mj-lt"/>
              <a:buAutoNum type="arabicPeriod"/>
            </a:pPr>
            <a:r>
              <a:rPr lang="en-US" b="1" dirty="0"/>
              <a:t>Write():</a:t>
            </a:r>
            <a:r>
              <a:rPr lang="en-US" dirty="0"/>
              <a:t> </a:t>
            </a:r>
            <a:r>
              <a:rPr lang="fa-IR" dirty="0"/>
              <a:t>سم پاسخ می‌دهد و فکرهایش را به اشتراک می‌گذارد.</a:t>
            </a:r>
          </a:p>
          <a:p>
            <a:pPr algn="r" rtl="1">
              <a:buFont typeface="+mj-lt"/>
              <a:buAutoNum type="arabicPeriod"/>
            </a:pPr>
            <a:r>
              <a:rPr lang="en-US" b="1" dirty="0"/>
              <a:t>Close():</a:t>
            </a:r>
            <a:r>
              <a:rPr lang="en-US" dirty="0"/>
              <a:t> </a:t>
            </a:r>
            <a:r>
              <a:rPr lang="fa-IR" dirty="0"/>
              <a:t>وقتی گفتگو به پایان رسید، سم خداحافظی کرده و واکی‌تاکی را خاموش می‌کند.</a:t>
            </a:r>
          </a:p>
          <a:p>
            <a:pPr algn="r" rtl="1">
              <a:buNone/>
            </a:pPr>
            <a:r>
              <a:rPr lang="fa-IR" b="1" dirty="0"/>
              <a:t>کلارا کلاینت</a:t>
            </a:r>
            <a:endParaRPr lang="fa-IR" dirty="0"/>
          </a:p>
          <a:p>
            <a:pPr algn="r" rtl="1">
              <a:buFont typeface="+mj-lt"/>
              <a:buAutoNum type="arabicPeriod"/>
            </a:pPr>
            <a:r>
              <a:rPr lang="en-US" b="1" dirty="0"/>
              <a:t>Socket():</a:t>
            </a:r>
            <a:r>
              <a:rPr lang="en-US" dirty="0"/>
              <a:t> </a:t>
            </a:r>
            <a:r>
              <a:rPr lang="fa-IR" dirty="0"/>
              <a:t>کلارا واکی‌تاکی خودش را برای شروع گفتگو برمی‌دارد.</a:t>
            </a:r>
          </a:p>
          <a:p>
            <a:pPr algn="r" rtl="1">
              <a:buFont typeface="+mj-lt"/>
              <a:buAutoNum type="arabicPeriod"/>
            </a:pPr>
            <a:r>
              <a:rPr lang="en-US" b="1" dirty="0"/>
              <a:t>Connect():</a:t>
            </a:r>
            <a:r>
              <a:rPr lang="en-US" dirty="0"/>
              <a:t> </a:t>
            </a:r>
            <a:r>
              <a:rPr lang="fa-IR" dirty="0"/>
              <a:t>او روی کانال سم تنظیم می‌شود و می‌گوید "الو؟"</a:t>
            </a:r>
          </a:p>
          <a:p>
            <a:pPr algn="r" rtl="1">
              <a:buFont typeface="+mj-lt"/>
              <a:buAutoNum type="arabicPeriod"/>
            </a:pPr>
            <a:r>
              <a:rPr lang="en-US" b="1" dirty="0"/>
              <a:t>Write():</a:t>
            </a:r>
            <a:r>
              <a:rPr lang="en-US" dirty="0"/>
              <a:t> </a:t>
            </a:r>
            <a:r>
              <a:rPr lang="fa-IR" dirty="0"/>
              <a:t>کلارا درباره روزش به سم می‌گوید.</a:t>
            </a:r>
          </a:p>
          <a:p>
            <a:pPr algn="r" rtl="1">
              <a:buFont typeface="+mj-lt"/>
              <a:buAutoNum type="arabicPeriod"/>
            </a:pPr>
            <a:r>
              <a:rPr lang="en-US" b="1" dirty="0"/>
              <a:t>Read():</a:t>
            </a:r>
            <a:r>
              <a:rPr lang="en-US" dirty="0"/>
              <a:t> </a:t>
            </a:r>
            <a:r>
              <a:rPr lang="fa-IR" dirty="0"/>
              <a:t>کلارا به پاسخ سم گوش می‌دهد.</a:t>
            </a:r>
          </a:p>
          <a:p>
            <a:pPr algn="r" rtl="1">
              <a:buFont typeface="+mj-lt"/>
              <a:buAutoNum type="arabicPeriod"/>
            </a:pPr>
            <a:r>
              <a:rPr lang="en-US" b="1" dirty="0"/>
              <a:t>Close():</a:t>
            </a:r>
            <a:r>
              <a:rPr lang="en-US" dirty="0"/>
              <a:t> </a:t>
            </a:r>
            <a:r>
              <a:rPr lang="fa-IR" dirty="0"/>
              <a:t>او مکالمه را به پایان رسانده و واکی‌تاکی را خاموش می‌کند.</a:t>
            </a:r>
          </a:p>
          <a:p>
            <a:pPr algn="r" rtl="1"/>
            <a:endParaRPr lang="en-US" dirty="0"/>
          </a:p>
        </p:txBody>
      </p:sp>
      <p:sp>
        <p:nvSpPr>
          <p:cNvPr id="4" name="Slide Number Placeholder 3"/>
          <p:cNvSpPr>
            <a:spLocks noGrp="1"/>
          </p:cNvSpPr>
          <p:nvPr>
            <p:ph type="sldNum" sz="quarter" idx="5"/>
          </p:nvPr>
        </p:nvSpPr>
        <p:spPr/>
        <p:txBody>
          <a:bodyPr/>
          <a:lstStyle/>
          <a:p>
            <a:pPr>
              <a:defRPr/>
            </a:pPr>
            <a:fld id="{73B872E8-FDB0-4502-A51A-B7A4A00AC4E7}" type="slidenum">
              <a:rPr lang="en-US" altLang="x-none" smtClean="0"/>
              <a:pPr>
                <a:defRPr/>
              </a:pPr>
              <a:t>58</a:t>
            </a:fld>
            <a:endParaRPr lang="en-US" altLang="x-none"/>
          </a:p>
        </p:txBody>
      </p:sp>
    </p:spTree>
    <p:extLst>
      <p:ext uri="{BB962C8B-B14F-4D97-AF65-F5344CB8AC3E}">
        <p14:creationId xmlns:p14="http://schemas.microsoft.com/office/powerpoint/2010/main" val="41067766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21358D55-194B-4251-8EB7-586E9A80ED61}"/>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F661D109-31FD-4BA0-87F2-4B254366E2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15000"/>
              </a:lnSpc>
              <a:spcAft>
                <a:spcPts val="800"/>
              </a:spcAft>
              <a:buNone/>
            </a:pPr>
            <a:r>
              <a:rPr lang="ar-SA" sz="1800" i="0" kern="100" dirty="0">
                <a:effectLst/>
                <a:latin typeface="Aptos" panose="020B0004020202020204" pitchFamily="34" charset="0"/>
                <a:ea typeface="Aptos" panose="020B0004020202020204" pitchFamily="34" charset="0"/>
                <a:cs typeface="Arial" panose="020B0604020202020204" pitchFamily="34" charset="0"/>
              </a:rPr>
              <a:t>سه نوع سوکت آورده شده است</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en-US" sz="1800" b="1" i="0" kern="100" dirty="0">
                <a:effectLst/>
                <a:latin typeface="Aptos" panose="020B0004020202020204" pitchFamily="34" charset="0"/>
                <a:ea typeface="Aptos" panose="020B0004020202020204" pitchFamily="34" charset="0"/>
                <a:cs typeface="Arial" panose="020B0604020202020204" pitchFamily="34" charset="0"/>
              </a:rPr>
              <a:t>1. </a:t>
            </a:r>
            <a:r>
              <a:rPr lang="ar-SA" sz="1800" b="1" i="0" kern="100" dirty="0">
                <a:effectLst/>
                <a:latin typeface="Aptos" panose="020B0004020202020204" pitchFamily="34" charset="0"/>
                <a:ea typeface="Aptos" panose="020B0004020202020204" pitchFamily="34" charset="0"/>
                <a:cs typeface="Arial" panose="020B0604020202020204" pitchFamily="34" charset="0"/>
              </a:rPr>
              <a:t>سوکت اتصال‌محور</a:t>
            </a:r>
            <a:r>
              <a:rPr lang="en-US" sz="1800" b="1" i="0" kern="100" dirty="0">
                <a:effectLst/>
                <a:latin typeface="Aptos" panose="020B0004020202020204" pitchFamily="34" charset="0"/>
                <a:ea typeface="Aptos" panose="020B0004020202020204" pitchFamily="34" charset="0"/>
                <a:cs typeface="Arial" panose="020B0604020202020204" pitchFamily="34" charset="0"/>
              </a:rPr>
              <a:t> (TCP)</a:t>
            </a:r>
            <a:endParaRPr lang="en-US" sz="1800" i="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800" i="0" kern="100" dirty="0">
                <a:effectLst/>
                <a:latin typeface="Aptos" panose="020B0004020202020204" pitchFamily="34" charset="0"/>
                <a:ea typeface="Aptos" panose="020B0004020202020204" pitchFamily="34" charset="0"/>
                <a:cs typeface="Arial" panose="020B0604020202020204" pitchFamily="34" charset="0"/>
              </a:rPr>
              <a:t>سوکت</a:t>
            </a:r>
            <a:r>
              <a:rPr lang="en-US" sz="1800" i="0" kern="100" dirty="0">
                <a:effectLst/>
                <a:latin typeface="Aptos" panose="020B0004020202020204" pitchFamily="34" charset="0"/>
                <a:ea typeface="Aptos" panose="020B0004020202020204" pitchFamily="34" charset="0"/>
                <a:cs typeface="Arial" panose="020B0604020202020204" pitchFamily="34" charset="0"/>
              </a:rPr>
              <a:t> TCP (Transmission Control Protocol) </a:t>
            </a:r>
            <a:r>
              <a:rPr lang="ar-SA" sz="1800" i="0" kern="100" dirty="0">
                <a:effectLst/>
                <a:latin typeface="Aptos" panose="020B0004020202020204" pitchFamily="34" charset="0"/>
                <a:ea typeface="Aptos" panose="020B0004020202020204" pitchFamily="34" charset="0"/>
                <a:cs typeface="Arial" panose="020B0604020202020204" pitchFamily="34" charset="0"/>
              </a:rPr>
              <a:t>مثل برقراری تماس تلفنی است. این نوع سوکت برای ارتباطات قابل اعتماد و پایدار استفاده می‌شود. مراحل شامل اتصال اولیه، انتقال داده و سپس بستن اتصال هستند</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ar-SA" sz="1800" b="1" i="0" kern="100" dirty="0">
                <a:effectLst/>
                <a:latin typeface="Aptos" panose="020B0004020202020204" pitchFamily="34" charset="0"/>
                <a:ea typeface="Aptos" panose="020B0004020202020204" pitchFamily="34" charset="0"/>
                <a:cs typeface="Arial" panose="020B0604020202020204" pitchFamily="34" charset="0"/>
              </a:rPr>
              <a:t>ویژگی‌ها</a:t>
            </a:r>
            <a:r>
              <a:rPr lang="en-US" sz="1800" b="1" i="0" kern="100" dirty="0">
                <a:effectLst/>
                <a:latin typeface="Aptos" panose="020B0004020202020204" pitchFamily="34" charset="0"/>
                <a:ea typeface="Aptos" panose="020B0004020202020204" pitchFamily="34" charset="0"/>
                <a:cs typeface="Arial" panose="020B0604020202020204" pitchFamily="34" charset="0"/>
              </a:rPr>
              <a:t>:</a:t>
            </a:r>
            <a:endParaRPr lang="en-US" sz="1800" i="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i="0" kern="100" dirty="0">
                <a:effectLst/>
                <a:latin typeface="Aptos" panose="020B0004020202020204" pitchFamily="34" charset="0"/>
                <a:ea typeface="Aptos" panose="020B0004020202020204" pitchFamily="34" charset="0"/>
                <a:cs typeface="Arial" panose="020B0604020202020204" pitchFamily="34" charset="0"/>
              </a:rPr>
              <a:t>ارتباط دوطرفه (کلاینت و سرور می‌توانند همزمان داده ارسال کنند)</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i="0" kern="100" dirty="0">
                <a:effectLst/>
                <a:latin typeface="Aptos" panose="020B0004020202020204" pitchFamily="34" charset="0"/>
                <a:ea typeface="Aptos" panose="020B0004020202020204" pitchFamily="34" charset="0"/>
                <a:cs typeface="Arial" panose="020B0604020202020204" pitchFamily="34" charset="0"/>
              </a:rPr>
              <a:t>قابل اعتماد است؛ تضمین می‌کند تمام داده‌ها به ترتیب و بدون ازدست‌رفتگی منتقل می‌شوند</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i="0" kern="100" dirty="0">
                <a:effectLst/>
                <a:latin typeface="Aptos" panose="020B0004020202020204" pitchFamily="34" charset="0"/>
                <a:ea typeface="Aptos" panose="020B0004020202020204" pitchFamily="34" charset="0"/>
                <a:cs typeface="Arial" panose="020B0604020202020204" pitchFamily="34" charset="0"/>
              </a:rPr>
              <a:t>مناسب برای کارهایی مانند مرور وب، ایمیل، و انتقال فایل</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ar-SA" sz="1800" i="0" kern="100" dirty="0">
                <a:effectLst/>
                <a:latin typeface="Aptos" panose="020B0004020202020204" pitchFamily="34" charset="0"/>
                <a:ea typeface="Aptos" panose="020B0004020202020204" pitchFamily="34" charset="0"/>
                <a:cs typeface="Arial" panose="020B0604020202020204" pitchFamily="34" charset="0"/>
              </a:rPr>
              <a:t>تصور کنید دو نفر که در حال تماس تلفنی هستند، در هر لحظه می‌توانند صحبت کنند و مطمئن هستند که پیام‌ها قطع نمی‌شوند</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en-US" sz="1800" b="1" i="0" kern="100" dirty="0">
                <a:effectLst/>
                <a:latin typeface="Aptos" panose="020B0004020202020204" pitchFamily="34" charset="0"/>
                <a:ea typeface="Aptos" panose="020B0004020202020204" pitchFamily="34" charset="0"/>
                <a:cs typeface="Arial" panose="020B0604020202020204" pitchFamily="34" charset="0"/>
              </a:rPr>
              <a:t>2. </a:t>
            </a:r>
            <a:r>
              <a:rPr lang="ar-SA" sz="1800" b="1" i="0" kern="100" dirty="0">
                <a:effectLst/>
                <a:latin typeface="Aptos" panose="020B0004020202020204" pitchFamily="34" charset="0"/>
                <a:ea typeface="Aptos" panose="020B0004020202020204" pitchFamily="34" charset="0"/>
                <a:cs typeface="Arial" panose="020B0604020202020204" pitchFamily="34" charset="0"/>
              </a:rPr>
              <a:t>سوکت بدون اتصال</a:t>
            </a:r>
            <a:r>
              <a:rPr lang="en-US" sz="1800" b="1" i="0" kern="100" dirty="0">
                <a:effectLst/>
                <a:latin typeface="Aptos" panose="020B0004020202020204" pitchFamily="34" charset="0"/>
                <a:ea typeface="Aptos" panose="020B0004020202020204" pitchFamily="34" charset="0"/>
                <a:cs typeface="Arial" panose="020B0604020202020204" pitchFamily="34" charset="0"/>
              </a:rPr>
              <a:t> (UDP)</a:t>
            </a:r>
            <a:endParaRPr lang="en-US" sz="1800" i="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800" i="0" kern="100" dirty="0">
                <a:effectLst/>
                <a:latin typeface="Aptos" panose="020B0004020202020204" pitchFamily="34" charset="0"/>
                <a:ea typeface="Aptos" panose="020B0004020202020204" pitchFamily="34" charset="0"/>
                <a:cs typeface="Arial" panose="020B0604020202020204" pitchFamily="34" charset="0"/>
              </a:rPr>
              <a:t>سوکت</a:t>
            </a:r>
            <a:r>
              <a:rPr lang="en-US" sz="1800" i="0" kern="100" dirty="0">
                <a:effectLst/>
                <a:latin typeface="Aptos" panose="020B0004020202020204" pitchFamily="34" charset="0"/>
                <a:ea typeface="Aptos" panose="020B0004020202020204" pitchFamily="34" charset="0"/>
                <a:cs typeface="Arial" panose="020B0604020202020204" pitchFamily="34" charset="0"/>
              </a:rPr>
              <a:t> UDP (User Datagram Protocol) </a:t>
            </a:r>
            <a:r>
              <a:rPr lang="ar-SA" sz="1800" i="0" kern="100" dirty="0">
                <a:effectLst/>
                <a:latin typeface="Aptos" panose="020B0004020202020204" pitchFamily="34" charset="0"/>
                <a:ea typeface="Aptos" panose="020B0004020202020204" pitchFamily="34" charset="0"/>
                <a:cs typeface="Arial" panose="020B0604020202020204" pitchFamily="34" charset="0"/>
              </a:rPr>
              <a:t>مانند ارسال پیام کوتاه یا پست الکترونیکی است. نیازی به اتصال اولیه نیست؛ پیام‌ها به‌صورت مستقل ارسال می‌شوند، اما تضمینی برای تحویل یا ترتیب آنها وجود ندارد</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ar-SA" sz="1800" b="1" i="0" kern="100" dirty="0">
                <a:effectLst/>
                <a:latin typeface="Aptos" panose="020B0004020202020204" pitchFamily="34" charset="0"/>
                <a:ea typeface="Aptos" panose="020B0004020202020204" pitchFamily="34" charset="0"/>
                <a:cs typeface="Arial" panose="020B0604020202020204" pitchFamily="34" charset="0"/>
              </a:rPr>
              <a:t>ویژگی‌ها</a:t>
            </a:r>
            <a:r>
              <a:rPr lang="en-US" sz="1800" b="1" i="0" kern="100" dirty="0">
                <a:effectLst/>
                <a:latin typeface="Aptos" panose="020B0004020202020204" pitchFamily="34" charset="0"/>
                <a:ea typeface="Aptos" panose="020B0004020202020204" pitchFamily="34" charset="0"/>
                <a:cs typeface="Arial" panose="020B0604020202020204" pitchFamily="34" charset="0"/>
              </a:rPr>
              <a:t>:</a:t>
            </a:r>
            <a:endParaRPr lang="en-US" sz="1800" i="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i="0" kern="100" dirty="0">
                <a:effectLst/>
                <a:latin typeface="Aptos" panose="020B0004020202020204" pitchFamily="34" charset="0"/>
                <a:ea typeface="Aptos" panose="020B0004020202020204" pitchFamily="34" charset="0"/>
                <a:cs typeface="Arial" panose="020B0604020202020204" pitchFamily="34" charset="0"/>
              </a:rPr>
              <a:t>سریع‌تر اما کمتر قابل اعتماد</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i="0" kern="100" dirty="0">
                <a:effectLst/>
                <a:latin typeface="Aptos" panose="020B0004020202020204" pitchFamily="34" charset="0"/>
                <a:ea typeface="Aptos" panose="020B0004020202020204" pitchFamily="34" charset="0"/>
                <a:cs typeface="Arial" panose="020B0604020202020204" pitchFamily="34" charset="0"/>
              </a:rPr>
              <a:t>برای کاربردهایی مناسب است که سرعت مهم‌تر از دقت است، مثل بازی‌های آنلاین و پخش زنده</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i="0" kern="100" dirty="0">
                <a:effectLst/>
                <a:latin typeface="Aptos" panose="020B0004020202020204" pitchFamily="34" charset="0"/>
                <a:ea typeface="Aptos" panose="020B0004020202020204" pitchFamily="34" charset="0"/>
                <a:cs typeface="Arial" panose="020B0604020202020204" pitchFamily="34" charset="0"/>
              </a:rPr>
              <a:t>هر پیام (یا بسته داده) به‌صورت جداگانه ارسال می‌شود</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ar-SA" sz="1800" i="0" kern="100" dirty="0">
                <a:effectLst/>
                <a:latin typeface="Aptos" panose="020B0004020202020204" pitchFamily="34" charset="0"/>
                <a:ea typeface="Aptos" panose="020B0004020202020204" pitchFamily="34" charset="0"/>
                <a:cs typeface="Arial" panose="020B0604020202020204" pitchFamily="34" charset="0"/>
              </a:rPr>
              <a:t>تصور کنید که شما پیام‌هایی را در یک چت عمومی ارسال می‌کنید—ممکن است برخی افراد پیام‌ها را دریافت نکنند یا ترتیبشان بهم بریزد</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en-US" sz="1800" b="1" i="0" kern="100" dirty="0">
                <a:effectLst/>
                <a:latin typeface="Aptos" panose="020B0004020202020204" pitchFamily="34" charset="0"/>
                <a:ea typeface="Aptos" panose="020B0004020202020204" pitchFamily="34" charset="0"/>
                <a:cs typeface="Arial" panose="020B0604020202020204" pitchFamily="34" charset="0"/>
              </a:rPr>
              <a:t>3. </a:t>
            </a:r>
            <a:r>
              <a:rPr lang="en-US" sz="1800" b="1" i="0" kern="100" dirty="0" err="1">
                <a:effectLst/>
                <a:latin typeface="Aptos" panose="020B0004020202020204" pitchFamily="34" charset="0"/>
                <a:ea typeface="Aptos" panose="020B0004020202020204" pitchFamily="34" charset="0"/>
                <a:cs typeface="Arial" panose="020B0604020202020204" pitchFamily="34" charset="0"/>
              </a:rPr>
              <a:t>MulticastSocket</a:t>
            </a:r>
            <a:endParaRPr lang="en-US" sz="1800" i="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800" i="0" kern="100" dirty="0">
                <a:effectLst/>
                <a:latin typeface="Aptos" panose="020B0004020202020204" pitchFamily="34" charset="0"/>
                <a:ea typeface="Aptos" panose="020B0004020202020204" pitchFamily="34" charset="0"/>
                <a:cs typeface="Arial" panose="020B0604020202020204" pitchFamily="34" charset="0"/>
              </a:rPr>
              <a:t>این نوع سوکت نوع خاصی از</a:t>
            </a:r>
            <a:r>
              <a:rPr lang="en-US" sz="1800" i="0" kern="100" dirty="0">
                <a:effectLst/>
                <a:latin typeface="Aptos" panose="020B0004020202020204" pitchFamily="34" charset="0"/>
                <a:ea typeface="Aptos" panose="020B0004020202020204" pitchFamily="34" charset="0"/>
                <a:cs typeface="Arial" panose="020B0604020202020204" pitchFamily="34" charset="0"/>
              </a:rPr>
              <a:t> UDP </a:t>
            </a:r>
            <a:r>
              <a:rPr lang="ar-SA" sz="1800" i="0" kern="100" dirty="0">
                <a:effectLst/>
                <a:latin typeface="Aptos" panose="020B0004020202020204" pitchFamily="34" charset="0"/>
                <a:ea typeface="Aptos" panose="020B0004020202020204" pitchFamily="34" charset="0"/>
                <a:cs typeface="Arial" panose="020B0604020202020204" pitchFamily="34" charset="0"/>
              </a:rPr>
              <a:t>است که داده‌ها را به چند گیرنده به‌صورت همزمان ارسال می‌کند. به جای ارتباط با یک گیرنده، داده‌ها به یک گروه</a:t>
            </a:r>
            <a:r>
              <a:rPr lang="en-US" sz="1800" i="0" kern="100" dirty="0">
                <a:effectLst/>
                <a:latin typeface="Aptos" panose="020B0004020202020204" pitchFamily="34" charset="0"/>
                <a:ea typeface="Aptos" panose="020B0004020202020204" pitchFamily="34" charset="0"/>
                <a:cs typeface="Arial" panose="020B0604020202020204" pitchFamily="34" charset="0"/>
              </a:rPr>
              <a:t> (Multicast Group) </a:t>
            </a:r>
            <a:r>
              <a:rPr lang="ar-SA" sz="1800" i="0" kern="100" dirty="0">
                <a:effectLst/>
                <a:latin typeface="Aptos" panose="020B0004020202020204" pitchFamily="34" charset="0"/>
                <a:ea typeface="Aptos" panose="020B0004020202020204" pitchFamily="34" charset="0"/>
                <a:cs typeface="Arial" panose="020B0604020202020204" pitchFamily="34" charset="0"/>
              </a:rPr>
              <a:t>فرستاده می‌شوند</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ar-SA" sz="1800" b="1" i="0" kern="100" dirty="0">
                <a:effectLst/>
                <a:latin typeface="Aptos" panose="020B0004020202020204" pitchFamily="34" charset="0"/>
                <a:ea typeface="Aptos" panose="020B0004020202020204" pitchFamily="34" charset="0"/>
                <a:cs typeface="Arial" panose="020B0604020202020204" pitchFamily="34" charset="0"/>
              </a:rPr>
              <a:t>ویژگی‌ها</a:t>
            </a:r>
            <a:r>
              <a:rPr lang="en-US" sz="1800" b="1" i="0" kern="100" dirty="0">
                <a:effectLst/>
                <a:latin typeface="Aptos" panose="020B0004020202020204" pitchFamily="34" charset="0"/>
                <a:ea typeface="Aptos" panose="020B0004020202020204" pitchFamily="34" charset="0"/>
                <a:cs typeface="Arial" panose="020B0604020202020204" pitchFamily="34" charset="0"/>
              </a:rPr>
              <a:t>:</a:t>
            </a:r>
            <a:endParaRPr lang="en-US" sz="1800" i="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i="0" kern="100" dirty="0">
                <a:effectLst/>
                <a:latin typeface="Aptos" panose="020B0004020202020204" pitchFamily="34" charset="0"/>
                <a:ea typeface="Aptos" panose="020B0004020202020204" pitchFamily="34" charset="0"/>
                <a:cs typeface="Arial" panose="020B0604020202020204" pitchFamily="34" charset="0"/>
              </a:rPr>
              <a:t>مناسب برای پخش یک پیام یا جریان داده به تعداد زیادی از گیرندگان به‌طور همزمان</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i="0" kern="100" dirty="0">
                <a:effectLst/>
                <a:latin typeface="Aptos" panose="020B0004020202020204" pitchFamily="34" charset="0"/>
                <a:ea typeface="Aptos" panose="020B0004020202020204" pitchFamily="34" charset="0"/>
                <a:cs typeface="Arial" panose="020B0604020202020204" pitchFamily="34" charset="0"/>
              </a:rPr>
              <a:t>استفاده در ویدیو کنفرانس‌ها، پخش زنده و سیستم‌های هشدار جمعی</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ar-SA" sz="1800" i="0" kern="100" dirty="0">
                <a:effectLst/>
                <a:latin typeface="Aptos" panose="020B0004020202020204" pitchFamily="34" charset="0"/>
                <a:ea typeface="Aptos" panose="020B0004020202020204" pitchFamily="34" charset="0"/>
                <a:cs typeface="Arial" panose="020B0604020202020204" pitchFamily="34" charset="0"/>
              </a:rPr>
              <a:t>تصور کنید که یک سخنران از طریق میکروفون صحبت می‌کند و پیامش به همه حضار در سالن می‌رسد</a:t>
            </a:r>
            <a:r>
              <a:rPr lang="en-US" sz="1800" i="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pPr>
            <a:r>
              <a:rPr lang="en-US" sz="1800" i="0" kern="100" dirty="0">
                <a:effectLst/>
                <a:latin typeface="Aptos" panose="020B0004020202020204" pitchFamily="34" charset="0"/>
                <a:ea typeface="Aptos" panose="020B0004020202020204" pitchFamily="34" charset="0"/>
                <a:cs typeface="Arial" panose="020B0604020202020204" pitchFamily="34" charset="0"/>
              </a:rPr>
              <a:t> </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F8E2826C-ECE4-478F-AF2E-8187477427E3}"/>
              </a:ext>
            </a:extLst>
          </p:cNvPr>
          <p:cNvSpPr>
            <a:spLocks noGrp="1" noRot="1" noChangeAspect="1" noChangeArrowheads="1" noTextEdit="1"/>
          </p:cNvSpPr>
          <p:nvPr>
            <p:ph type="sldImg"/>
          </p:nvPr>
        </p:nvSpPr>
        <p:spPr>
          <a:ln/>
        </p:spPr>
      </p:sp>
      <p:sp>
        <p:nvSpPr>
          <p:cNvPr id="128003" name="Rectangle 3">
            <a:extLst>
              <a:ext uri="{FF2B5EF4-FFF2-40B4-BE49-F238E27FC236}">
                <a16:creationId xmlns:a16="http://schemas.microsoft.com/office/drawing/2014/main" id="{7F1F8D25-5A9A-4DEE-8199-BF48C3B4B0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marR="0" lvl="0" indent="-285750" algn="r" defTabSz="914400" rtl="1" eaLnBrk="0" fontAlgn="base" latinLnBrk="0" hangingPunct="0">
              <a:lnSpc>
                <a:spcPct val="100000"/>
              </a:lnSpc>
              <a:spcBef>
                <a:spcPct val="30000"/>
              </a:spcBef>
              <a:spcAft>
                <a:spcPct val="0"/>
              </a:spcAft>
              <a:buClrTx/>
              <a:buSzTx/>
              <a:buFont typeface="Wingdings" panose="05000000000000000000" pitchFamily="2" charset="2"/>
              <a:buChar char="Ø"/>
              <a:tabLst/>
              <a:defRPr/>
            </a:pPr>
            <a:r>
              <a:rPr lang="ar-SA" sz="1800" dirty="0">
                <a:solidFill>
                  <a:srgbClr val="1F1F1F"/>
                </a:solidFill>
                <a:effectLst/>
                <a:latin typeface="Calibri" panose="020F0502020204030204" pitchFamily="34" charset="0"/>
                <a:ea typeface="Calibri" panose="020F0502020204030204" pitchFamily="34" charset="0"/>
                <a:cs typeface="Arial" panose="020B0604020202020204" pitchFamily="34" charset="0"/>
              </a:rPr>
              <a:t>بر خلاف پیام‌های</a:t>
            </a:r>
            <a:r>
              <a:rPr lang="en-US" sz="1800" dirty="0">
                <a:solidFill>
                  <a:srgbClr val="1F1F1F"/>
                </a:solidFill>
                <a:effectLst/>
                <a:latin typeface="Arial" panose="020B0604020202020204" pitchFamily="34" charset="0"/>
                <a:ea typeface="Calibri" panose="020F0502020204030204" pitchFamily="34" charset="0"/>
                <a:cs typeface="Arial" panose="020B0604020202020204" pitchFamily="34" charset="0"/>
              </a:rPr>
              <a:t> IPC </a:t>
            </a:r>
            <a:r>
              <a:rPr lang="ar-SA" sz="1800" dirty="0">
                <a:solidFill>
                  <a:srgbClr val="1F1F1F"/>
                </a:solidFill>
                <a:effectLst/>
                <a:latin typeface="Calibri" panose="020F0502020204030204" pitchFamily="34" charset="0"/>
                <a:ea typeface="Calibri" panose="020F0502020204030204" pitchFamily="34" charset="0"/>
                <a:cs typeface="Arial" panose="020B0604020202020204" pitchFamily="34" charset="0"/>
              </a:rPr>
              <a:t>(ارتباط بین فرایندها)، پیام‌هایی که در ارتباط</a:t>
            </a:r>
            <a:r>
              <a:rPr lang="en-US" sz="1800" dirty="0">
                <a:solidFill>
                  <a:srgbClr val="1F1F1F"/>
                </a:solidFill>
                <a:effectLst/>
                <a:latin typeface="Arial" panose="020B0604020202020204" pitchFamily="34" charset="0"/>
                <a:ea typeface="Calibri" panose="020F0502020204030204" pitchFamily="34" charset="0"/>
                <a:cs typeface="Arial" panose="020B0604020202020204" pitchFamily="34" charset="0"/>
              </a:rPr>
              <a:t> RPC </a:t>
            </a:r>
            <a:r>
              <a:rPr lang="ar-SA" sz="1800" dirty="0">
                <a:solidFill>
                  <a:srgbClr val="1F1F1F"/>
                </a:solidFill>
                <a:effectLst/>
                <a:latin typeface="Calibri" panose="020F0502020204030204" pitchFamily="34" charset="0"/>
                <a:ea typeface="Calibri" panose="020F0502020204030204" pitchFamily="34" charset="0"/>
                <a:cs typeface="Arial" panose="020B0604020202020204" pitchFamily="34" charset="0"/>
              </a:rPr>
              <a:t>رد و بدل می‌شوند، ساختارمند بوده و در نتیجه دیگر صرفا بسته‌های داده نیستند. هر پیام برای یک دیمن</a:t>
            </a:r>
            <a:r>
              <a:rPr lang="en-US" sz="1800" dirty="0">
                <a:solidFill>
                  <a:srgbClr val="1F1F1F"/>
                </a:solidFill>
                <a:effectLst/>
                <a:latin typeface="Arial" panose="020B0604020202020204" pitchFamily="34" charset="0"/>
                <a:ea typeface="Calibri" panose="020F0502020204030204" pitchFamily="34" charset="0"/>
                <a:cs typeface="Arial" panose="020B0604020202020204" pitchFamily="34" charset="0"/>
              </a:rPr>
              <a:t> RPC </a:t>
            </a:r>
            <a:r>
              <a:rPr lang="ar-SA" sz="1800" dirty="0">
                <a:solidFill>
                  <a:srgbClr val="1F1F1F"/>
                </a:solidFill>
                <a:effectLst/>
                <a:latin typeface="Calibri" panose="020F0502020204030204" pitchFamily="34" charset="0"/>
                <a:ea typeface="Calibri" panose="020F0502020204030204" pitchFamily="34" charset="0"/>
                <a:cs typeface="Arial" panose="020B0604020202020204" pitchFamily="34" charset="0"/>
              </a:rPr>
              <a:t>که به پورتی روی سیستم راه دور گوش می‌دهد، آدرس‌دهی می‌شود و حاوی شناسه‌ای برای تعیین تابعی که باید اجرا شود و همچنین پارامترهایی است که به آن تابع ارسال می‌گردد</a:t>
            </a:r>
            <a:r>
              <a:rPr lang="en-US" sz="1800" dirty="0">
                <a:solidFill>
                  <a:srgbClr val="1F1F1F"/>
                </a:solidFill>
                <a:effectLst/>
                <a:latin typeface="Arial" panose="020B0604020202020204" pitchFamily="34" charset="0"/>
                <a:ea typeface="Calibri" panose="020F0502020204030204" pitchFamily="34"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171450" indent="-171450" algn="r" rtl="1">
              <a:buFont typeface="Wingdings" panose="05000000000000000000" pitchFamily="2" charset="2"/>
              <a:buChar char="Ø"/>
            </a:pPr>
            <a:endParaRPr lang="en-US" altLang="en-US" dirty="0">
              <a:latin typeface="Times New Roman" panose="02020603050405020304" pitchFamily="18" charset="0"/>
            </a:endParaRPr>
          </a:p>
          <a:p>
            <a:pPr marL="285750" marR="0" indent="-285750" algn="r" rtl="1">
              <a:lnSpc>
                <a:spcPts val="2625"/>
              </a:lnSpc>
              <a:spcBef>
                <a:spcPts val="0"/>
              </a:spcBef>
              <a:spcAft>
                <a:spcPts val="1500"/>
              </a:spcAft>
              <a:buFont typeface="Wingdings" panose="05000000000000000000" pitchFamily="2" charset="2"/>
              <a:buChar char="Ø"/>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پورت تنها عددی است که در ابتدای بسته‌ی پیام گنجانده می‌شود. در حالی که یک سیستم به طور معمول تنها یک آدرس شبکه دارد، می‌تواند دارای پورت‌های زیادی در همان آدرس باشد تا سرویس‌های مختلف شبکه‌ای که پشتیبانی می‌کند را از هم تفکیک کند. </a:t>
            </a:r>
            <a:endPar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endParaRPr>
          </a:p>
          <a:p>
            <a:pPr marL="285750" marR="0" indent="-285750" algn="r" rtl="1">
              <a:lnSpc>
                <a:spcPts val="2625"/>
              </a:lnSpc>
              <a:spcBef>
                <a:spcPts val="0"/>
              </a:spcBef>
              <a:spcAft>
                <a:spcPts val="1500"/>
              </a:spcAft>
              <a:buFont typeface="Wingdings" panose="05000000000000000000" pitchFamily="2" charset="2"/>
              <a:buChar char="Ø"/>
            </a:pPr>
            <a:endPar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endParaRPr>
          </a:p>
          <a:p>
            <a:pPr marL="285750" marR="0" indent="-285750" algn="r" rtl="1">
              <a:lnSpc>
                <a:spcPts val="2625"/>
              </a:lnSpc>
              <a:spcBef>
                <a:spcPts val="0"/>
              </a:spcBef>
              <a:spcAft>
                <a:spcPts val="1500"/>
              </a:spcAft>
              <a:buFont typeface="Wingdings" panose="05000000000000000000" pitchFamily="2" charset="2"/>
              <a:buChar char="Ø"/>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اگر یک فرآیند از راه دور به یک سرویس نیاز داشته باشد، پیام خود را به پورت مناسب ارسال می‌کند. برای مثال، اگر سیستمی بخواهد به سیستم‌های دیگر امکان لیست کردن کاربران فعلی خود را بدهد، یک دیمن با قابلیت پشتیبانی از چنین فراخوانی رویه از راه دور (</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RPC</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به یک پورت خاص (مثلا پورت 3027) متصل خواهد شد. هر سیستم از راه دوری می‌تواند با ارسال یک پیام </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RPC</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به پورت 3027 روی سرور، اطلاعات مورد نیاز (یعنی لیست کاربران فعلی) را دریافت کند. داده‌ها در یک پیام پاسخ دریافت می‌گردند.</a:t>
            </a:r>
            <a:endParaRPr lang="en-US" sz="1800" dirty="0">
              <a:effectLst/>
              <a:latin typeface="Times New Roman" panose="02020603050405020304" pitchFamily="18" charset="0"/>
              <a:ea typeface="Times New Roman" panose="02020603050405020304" pitchFamily="18" charset="0"/>
            </a:endParaRPr>
          </a:p>
          <a:p>
            <a:pPr marL="285750" marR="0" indent="-285750">
              <a:lnSpc>
                <a:spcPct val="107000"/>
              </a:lnSpc>
              <a:spcBef>
                <a:spcPts val="0"/>
              </a:spcBef>
              <a:spcAft>
                <a:spcPts val="800"/>
              </a:spcAft>
              <a:buFont typeface="Wingdings" panose="05000000000000000000" pitchFamily="2" charset="2"/>
              <a:buChar char="Ø"/>
            </a:pPr>
            <a:r>
              <a:rPr lang="en-US" sz="1800" dirty="0">
                <a:effectLst/>
                <a:latin typeface="Calibri" panose="020F0502020204030204" pitchFamily="34" charset="0"/>
                <a:ea typeface="Calibri" panose="020F0502020204030204" pitchFamily="34" charset="0"/>
                <a:cs typeface="B Nazanin" panose="00000400000000000000" pitchFamily="2" charset="-78"/>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171450" indent="-171450" algn="r" rtl="1">
              <a:buFont typeface="Wingdings" panose="05000000000000000000" pitchFamily="2" charset="2"/>
              <a:buChar char="Ø"/>
            </a:pPr>
            <a:endParaRPr lang="en-US" altLang="en-US" dirty="0">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F8E2826C-ECE4-478F-AF2E-8187477427E3}"/>
              </a:ext>
            </a:extLst>
          </p:cNvPr>
          <p:cNvSpPr>
            <a:spLocks noGrp="1" noRot="1" noChangeAspect="1" noChangeArrowheads="1" noTextEdit="1"/>
          </p:cNvSpPr>
          <p:nvPr>
            <p:ph type="sldImg"/>
          </p:nvPr>
        </p:nvSpPr>
        <p:spPr>
          <a:ln/>
        </p:spPr>
      </p:sp>
      <p:sp>
        <p:nvSpPr>
          <p:cNvPr id="128003" name="Rectangle 3">
            <a:extLst>
              <a:ext uri="{FF2B5EF4-FFF2-40B4-BE49-F238E27FC236}">
                <a16:creationId xmlns:a16="http://schemas.microsoft.com/office/drawing/2014/main" id="{7F1F8D25-5A9A-4DEE-8199-BF48C3B4B0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15000"/>
              </a:lnSpc>
              <a:spcAft>
                <a:spcPts val="800"/>
              </a:spcAft>
              <a:buNone/>
            </a:pPr>
            <a:r>
              <a:rPr lang="en-US" sz="1800" b="1" kern="100" dirty="0">
                <a:effectLst/>
                <a:latin typeface="Aptos" panose="020B0004020202020204" pitchFamily="34" charset="0"/>
                <a:ea typeface="Aptos" panose="020B0004020202020204" pitchFamily="34" charset="0"/>
                <a:cs typeface="Arial" panose="020B0604020202020204" pitchFamily="34" charset="0"/>
              </a:rPr>
              <a:t>RPC </a:t>
            </a:r>
            <a:r>
              <a:rPr lang="ar-SA" sz="1800" b="1" kern="100" dirty="0">
                <a:effectLst/>
                <a:latin typeface="Aptos" panose="020B0004020202020204" pitchFamily="34" charset="0"/>
                <a:ea typeface="Aptos" panose="020B0004020202020204" pitchFamily="34" charset="0"/>
                <a:cs typeface="Arial" panose="020B0604020202020204" pitchFamily="34" charset="0"/>
              </a:rPr>
              <a:t>و پورت‌ها</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800" kern="100" dirty="0">
                <a:effectLst/>
                <a:latin typeface="Aptos" panose="020B0004020202020204" pitchFamily="34" charset="0"/>
                <a:ea typeface="Aptos" panose="020B0004020202020204" pitchFamily="34" charset="0"/>
                <a:cs typeface="Arial" panose="020B0604020202020204" pitchFamily="34" charset="0"/>
              </a:rPr>
              <a:t>تصور کنید شما یک اداره پرمشغله را مدیریت می‌کنید که بخش‌های مختلفی دارد؛ هر بخش مسئول انجام کاری خاص است. پورت‌ها در</a:t>
            </a:r>
            <a:r>
              <a:rPr lang="en-US" sz="1800" kern="100" dirty="0">
                <a:effectLst/>
                <a:latin typeface="Aptos" panose="020B0004020202020204" pitchFamily="34" charset="0"/>
                <a:ea typeface="Aptos" panose="020B0004020202020204" pitchFamily="34" charset="0"/>
                <a:cs typeface="Arial" panose="020B0604020202020204" pitchFamily="34" charset="0"/>
              </a:rPr>
              <a:t> RPC (Remote Procedure Call) </a:t>
            </a:r>
            <a:r>
              <a:rPr lang="ar-SA" sz="1800" kern="100" dirty="0">
                <a:effectLst/>
                <a:latin typeface="Aptos" panose="020B0004020202020204" pitchFamily="34" charset="0"/>
                <a:ea typeface="Aptos" panose="020B0004020202020204" pitchFamily="34" charset="0"/>
                <a:cs typeface="Arial" panose="020B0604020202020204" pitchFamily="34" charset="0"/>
              </a:rPr>
              <a:t>مثل شماره‌های داخلی اداره عمل می‌کنند که مشخص می‌کنند تماس یا درخواست باید به کدام بخش برود. بنابراین، وقتی شما درخواست خود را ارسال می‌کنید، پورت‌ها تضمین می‌کنند که این درخواست دقیقاً به سرویس مورد نظر تحویل داده شود</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en-US" sz="1800" b="1" kern="100" dirty="0">
                <a:effectLst/>
                <a:latin typeface="Aptos" panose="020B0004020202020204" pitchFamily="34" charset="0"/>
                <a:ea typeface="Aptos" panose="020B0004020202020204" pitchFamily="34" charset="0"/>
                <a:cs typeface="Arial" panose="020B0604020202020204" pitchFamily="34" charset="0"/>
              </a:rPr>
              <a:t>Stub</a:t>
            </a:r>
            <a:r>
              <a:rPr lang="ar-SA" sz="1800" b="1" kern="100" dirty="0">
                <a:effectLst/>
                <a:latin typeface="Aptos" panose="020B0004020202020204" pitchFamily="34" charset="0"/>
                <a:ea typeface="Aptos" panose="020B0004020202020204" pitchFamily="34" charset="0"/>
                <a:cs typeface="Arial" panose="020B0604020202020204" pitchFamily="34" charset="0"/>
              </a:rPr>
              <a:t>، پروکسی بین کلاینت و سرور</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800" kern="100" dirty="0">
                <a:effectLst/>
                <a:latin typeface="Aptos" panose="020B0004020202020204" pitchFamily="34" charset="0"/>
                <a:ea typeface="Aptos" panose="020B0004020202020204" pitchFamily="34" charset="0"/>
                <a:cs typeface="Arial" panose="020B0604020202020204" pitchFamily="34" charset="0"/>
              </a:rPr>
              <a:t>حال، فرض کنید شما در اداره هستید و نیاز دارید یک کار خاص انجام شود، اما این کار باید در ساختمان دیگری انجام شود. به جای اینکه شخصاً بروید، یک نماینده (مثل منشی) می‌فرستید که کار شما را انجام دهد</a:t>
            </a:r>
            <a:r>
              <a:rPr lang="en-US" sz="1800" kern="100" dirty="0">
                <a:effectLst/>
                <a:latin typeface="Aptos" panose="020B0004020202020204" pitchFamily="34" charset="0"/>
                <a:ea typeface="Aptos" panose="020B0004020202020204" pitchFamily="34" charset="0"/>
                <a:cs typeface="Arial" panose="020B0604020202020204" pitchFamily="34" charset="0"/>
              </a:rPr>
              <a:t>. Stub </a:t>
            </a:r>
            <a:r>
              <a:rPr lang="ar-SA" sz="1800" kern="100" dirty="0">
                <a:effectLst/>
                <a:latin typeface="Aptos" panose="020B0004020202020204" pitchFamily="34" charset="0"/>
                <a:ea typeface="Aptos" panose="020B0004020202020204" pitchFamily="34" charset="0"/>
                <a:cs typeface="Arial" panose="020B0604020202020204" pitchFamily="34" charset="0"/>
              </a:rPr>
              <a:t>روی سمت کلاینت همان منشی است؛ به‌عنوان نماینده شما عمل می‌کند. این</a:t>
            </a:r>
            <a:r>
              <a:rPr lang="en-US" sz="1800" kern="100" dirty="0">
                <a:effectLst/>
                <a:latin typeface="Aptos" panose="020B0004020202020204" pitchFamily="34" charset="0"/>
                <a:ea typeface="Aptos" panose="020B0004020202020204" pitchFamily="34" charset="0"/>
                <a:cs typeface="Arial" panose="020B0604020202020204" pitchFamily="34" charset="0"/>
              </a:rPr>
              <a:t> Stub:</a:t>
            </a:r>
          </a:p>
          <a:p>
            <a:pPr marL="342900" marR="0" lvl="0" indent="-342900" algn="r" rtl="1">
              <a:lnSpc>
                <a:spcPct val="115000"/>
              </a:lnSpc>
              <a:spcAft>
                <a:spcPts val="800"/>
              </a:spcAft>
              <a:buFont typeface="+mj-lt"/>
              <a:buAutoNum type="arabicPeriod"/>
              <a:tabLst>
                <a:tab pos="457200" algn="l"/>
              </a:tabLst>
            </a:pPr>
            <a:r>
              <a:rPr lang="ar-SA" sz="1800" b="1" kern="100" dirty="0">
                <a:effectLst/>
                <a:latin typeface="Aptos" panose="020B0004020202020204" pitchFamily="34" charset="0"/>
                <a:ea typeface="Aptos" panose="020B0004020202020204" pitchFamily="34" charset="0"/>
                <a:cs typeface="Arial" panose="020B0604020202020204" pitchFamily="34" charset="0"/>
              </a:rPr>
              <a:t>سرور مقصد را پیدا می‌کند</a:t>
            </a:r>
            <a:r>
              <a:rPr lang="en-US" sz="1800" b="1" kern="100" dirty="0">
                <a:effectLst/>
                <a:latin typeface="Aptos" panose="020B0004020202020204" pitchFamily="34" charset="0"/>
                <a:ea typeface="Aptos" panose="020B0004020202020204" pitchFamily="34" charset="0"/>
                <a:cs typeface="Arial" panose="020B0604020202020204" pitchFamily="34" charset="0"/>
              </a:rPr>
              <a:t>:</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ar-SA" sz="1800" kern="100" dirty="0">
                <a:effectLst/>
                <a:latin typeface="Aptos" panose="020B0004020202020204" pitchFamily="34" charset="0"/>
                <a:ea typeface="Aptos" panose="020B0004020202020204" pitchFamily="34" charset="0"/>
                <a:cs typeface="Arial" panose="020B0604020202020204" pitchFamily="34" charset="0"/>
              </a:rPr>
              <a:t>مثل یافتن آدرس ساختمان دیگر</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Font typeface="+mj-lt"/>
              <a:buAutoNum type="arabicPeriod"/>
              <a:tabLst>
                <a:tab pos="457200" algn="l"/>
              </a:tabLst>
            </a:pPr>
            <a:r>
              <a:rPr lang="ar-SA" sz="1800" b="1" kern="100" dirty="0">
                <a:effectLst/>
                <a:latin typeface="Aptos" panose="020B0004020202020204" pitchFamily="34" charset="0"/>
                <a:ea typeface="Aptos" panose="020B0004020202020204" pitchFamily="34" charset="0"/>
                <a:cs typeface="Arial" panose="020B0604020202020204" pitchFamily="34" charset="0"/>
              </a:rPr>
              <a:t>پارامترها را آماده می‌کند</a:t>
            </a:r>
            <a:r>
              <a:rPr lang="en-US" sz="1800" b="1" kern="100" dirty="0">
                <a:effectLst/>
                <a:latin typeface="Aptos" panose="020B0004020202020204" pitchFamily="34" charset="0"/>
                <a:ea typeface="Aptos" panose="020B0004020202020204" pitchFamily="34" charset="0"/>
                <a:cs typeface="Arial" panose="020B0604020202020204" pitchFamily="34" charset="0"/>
              </a:rPr>
              <a:t> (Marshaling):</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ar-SA" sz="1800" kern="100" dirty="0">
                <a:effectLst/>
                <a:latin typeface="Aptos" panose="020B0004020202020204" pitchFamily="34" charset="0"/>
                <a:ea typeface="Aptos" panose="020B0004020202020204" pitchFamily="34" charset="0"/>
                <a:cs typeface="Arial" panose="020B0604020202020204" pitchFamily="34" charset="0"/>
              </a:rPr>
              <a:t>مثل آماده‌سازی اسناد و مدارک برای ارسال</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Font typeface="+mj-lt"/>
              <a:buAutoNum type="arabicPeriod"/>
              <a:tabLst>
                <a:tab pos="457200" algn="l"/>
              </a:tabLst>
            </a:pPr>
            <a:r>
              <a:rPr lang="ar-SA" sz="1800" b="1" kern="100" dirty="0">
                <a:effectLst/>
                <a:latin typeface="Aptos" panose="020B0004020202020204" pitchFamily="34" charset="0"/>
                <a:ea typeface="Aptos" panose="020B0004020202020204" pitchFamily="34" charset="0"/>
                <a:cs typeface="Arial" panose="020B0604020202020204" pitchFamily="34" charset="0"/>
              </a:rPr>
              <a:t>درخواست را ارسال می‌کند</a:t>
            </a:r>
            <a:r>
              <a:rPr lang="en-US" sz="1800" b="1" kern="100" dirty="0">
                <a:effectLst/>
                <a:latin typeface="Aptos" panose="020B0004020202020204" pitchFamily="34" charset="0"/>
                <a:ea typeface="Aptos" panose="020B0004020202020204" pitchFamily="34" charset="0"/>
                <a:cs typeface="Arial" panose="020B0604020202020204" pitchFamily="34" charset="0"/>
              </a:rPr>
              <a:t>:</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ar-SA" sz="1800" kern="100" dirty="0">
                <a:effectLst/>
                <a:latin typeface="Aptos" panose="020B0004020202020204" pitchFamily="34" charset="0"/>
                <a:ea typeface="Aptos" panose="020B0004020202020204" pitchFamily="34" charset="0"/>
                <a:cs typeface="Arial" panose="020B0604020202020204" pitchFamily="34" charset="0"/>
              </a:rPr>
              <a:t>منشی درخواست شما را به آن ساختمان می‌برد</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en-US" sz="1800" b="1" kern="100" dirty="0">
                <a:effectLst/>
                <a:latin typeface="Aptos" panose="020B0004020202020204" pitchFamily="34" charset="0"/>
                <a:ea typeface="Aptos" panose="020B0004020202020204" pitchFamily="34" charset="0"/>
                <a:cs typeface="Arial" panose="020B0604020202020204" pitchFamily="34" charset="0"/>
              </a:rPr>
              <a:t>Stub </a:t>
            </a:r>
            <a:r>
              <a:rPr lang="ar-SA" sz="1800" b="1" kern="100" dirty="0">
                <a:effectLst/>
                <a:latin typeface="Aptos" panose="020B0004020202020204" pitchFamily="34" charset="0"/>
                <a:ea typeface="Aptos" panose="020B0004020202020204" pitchFamily="34" charset="0"/>
                <a:cs typeface="Arial" panose="020B0604020202020204" pitchFamily="34" charset="0"/>
              </a:rPr>
              <a:t>سمت سرور</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800" kern="100" dirty="0">
                <a:effectLst/>
                <a:latin typeface="Aptos" panose="020B0004020202020204" pitchFamily="34" charset="0"/>
                <a:ea typeface="Aptos" panose="020B0004020202020204" pitchFamily="34" charset="0"/>
                <a:cs typeface="Arial" panose="020B0604020202020204" pitchFamily="34" charset="0"/>
              </a:rPr>
              <a:t>در ساختمان مقصد، منشی دیگر درخواست شما را دریافت می‌کند. این</a:t>
            </a:r>
            <a:r>
              <a:rPr lang="en-US" sz="1800" kern="100" dirty="0">
                <a:effectLst/>
                <a:latin typeface="Aptos" panose="020B0004020202020204" pitchFamily="34" charset="0"/>
                <a:ea typeface="Aptos" panose="020B0004020202020204" pitchFamily="34" charset="0"/>
                <a:cs typeface="Arial" panose="020B0604020202020204" pitchFamily="34" charset="0"/>
              </a:rPr>
              <a:t> Stub:</a:t>
            </a:r>
          </a:p>
          <a:p>
            <a:pPr marL="342900" marR="0" lvl="0" indent="-342900" algn="r" rtl="1">
              <a:lnSpc>
                <a:spcPct val="115000"/>
              </a:lnSpc>
              <a:spcAft>
                <a:spcPts val="800"/>
              </a:spcAft>
              <a:buFont typeface="+mj-lt"/>
              <a:buAutoNum type="arabicPeriod"/>
              <a:tabLst>
                <a:tab pos="457200" algn="l"/>
              </a:tabLst>
            </a:pPr>
            <a:r>
              <a:rPr lang="ar-SA" sz="1800" b="1" kern="100" dirty="0">
                <a:effectLst/>
                <a:latin typeface="Aptos" panose="020B0004020202020204" pitchFamily="34" charset="0"/>
                <a:ea typeface="Aptos" panose="020B0004020202020204" pitchFamily="34" charset="0"/>
                <a:cs typeface="Arial" panose="020B0604020202020204" pitchFamily="34" charset="0"/>
              </a:rPr>
              <a:t>اسناد را باز می‌کند</a:t>
            </a:r>
            <a:r>
              <a:rPr lang="en-US" sz="1800" b="1" kern="100" dirty="0">
                <a:effectLst/>
                <a:latin typeface="Aptos" panose="020B0004020202020204" pitchFamily="34" charset="0"/>
                <a:ea typeface="Aptos" panose="020B0004020202020204" pitchFamily="34" charset="0"/>
                <a:cs typeface="Arial" panose="020B0604020202020204" pitchFamily="34" charset="0"/>
              </a:rPr>
              <a:t> (</a:t>
            </a:r>
            <a:r>
              <a:rPr lang="en-US" sz="1800" b="1" kern="100" dirty="0" err="1">
                <a:effectLst/>
                <a:latin typeface="Aptos" panose="020B0004020202020204" pitchFamily="34" charset="0"/>
                <a:ea typeface="Aptos" panose="020B0004020202020204" pitchFamily="34" charset="0"/>
                <a:cs typeface="Arial" panose="020B0604020202020204" pitchFamily="34" charset="0"/>
              </a:rPr>
              <a:t>Unmarshaling</a:t>
            </a:r>
            <a:r>
              <a:rPr lang="en-US" sz="1800" b="1" kern="100" dirty="0">
                <a:effectLst/>
                <a:latin typeface="Aptos" panose="020B0004020202020204" pitchFamily="34" charset="0"/>
                <a:ea typeface="Aptos" panose="020B0004020202020204" pitchFamily="34" charset="0"/>
                <a:cs typeface="Arial" panose="020B0604020202020204" pitchFamily="34" charset="0"/>
              </a:rPr>
              <a:t>):</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ar-SA" sz="1800" kern="100" dirty="0">
                <a:effectLst/>
                <a:latin typeface="Aptos" panose="020B0004020202020204" pitchFamily="34" charset="0"/>
                <a:ea typeface="Aptos" panose="020B0004020202020204" pitchFamily="34" charset="0"/>
                <a:cs typeface="Arial" panose="020B0604020202020204" pitchFamily="34" charset="0"/>
              </a:rPr>
              <a:t>بررسی می‌کند که مدارک شما درست هستند</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Font typeface="+mj-lt"/>
              <a:buAutoNum type="arabicPeriod"/>
              <a:tabLst>
                <a:tab pos="457200" algn="l"/>
              </a:tabLst>
            </a:pPr>
            <a:r>
              <a:rPr lang="ar-SA" sz="1800" b="1" kern="100" dirty="0">
                <a:effectLst/>
                <a:latin typeface="Aptos" panose="020B0004020202020204" pitchFamily="34" charset="0"/>
                <a:ea typeface="Aptos" panose="020B0004020202020204" pitchFamily="34" charset="0"/>
                <a:cs typeface="Arial" panose="020B0604020202020204" pitchFamily="34" charset="0"/>
              </a:rPr>
              <a:t>پروسیجر مورد نظر را اجرا می‌کند</a:t>
            </a:r>
            <a:r>
              <a:rPr lang="en-US" sz="1800" b="1" kern="100" dirty="0">
                <a:effectLst/>
                <a:latin typeface="Aptos" panose="020B0004020202020204" pitchFamily="34" charset="0"/>
                <a:ea typeface="Aptos" panose="020B0004020202020204" pitchFamily="34" charset="0"/>
                <a:cs typeface="Arial" panose="020B0604020202020204" pitchFamily="34" charset="0"/>
              </a:rPr>
              <a:t>:</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ar-SA" sz="1800" kern="100" dirty="0">
                <a:effectLst/>
                <a:latin typeface="Aptos" panose="020B0004020202020204" pitchFamily="34" charset="0"/>
                <a:ea typeface="Aptos" panose="020B0004020202020204" pitchFamily="34" charset="0"/>
                <a:cs typeface="Arial" panose="020B0604020202020204" pitchFamily="34" charset="0"/>
              </a:rPr>
              <a:t>مانند انجام کار مورد نظر شما</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 </a:t>
            </a:r>
          </a:p>
          <a:p>
            <a:endParaRPr lang="en-US" altLang="en-US" b="1" dirty="0">
              <a:solidFill>
                <a:srgbClr val="006699"/>
              </a:solidFill>
              <a:latin typeface="+mj-lt"/>
            </a:endParaRPr>
          </a:p>
          <a:p>
            <a:endParaRPr lang="en-US" altLang="en-US" b="1" dirty="0">
              <a:solidFill>
                <a:srgbClr val="006699"/>
              </a:solidFill>
              <a:latin typeface="+mj-lt"/>
            </a:endParaRPr>
          </a:p>
          <a:p>
            <a:r>
              <a:rPr lang="en-US" altLang="en-US" b="1" dirty="0">
                <a:solidFill>
                  <a:srgbClr val="006699"/>
                </a:solidFill>
                <a:latin typeface="+mj-lt"/>
              </a:rPr>
              <a:t>Microsoft</a:t>
            </a:r>
            <a:r>
              <a:rPr lang="en-US" altLang="en-US" b="1" dirty="0">
                <a:solidFill>
                  <a:srgbClr val="0000FF"/>
                </a:solidFill>
              </a:rPr>
              <a:t> </a:t>
            </a:r>
            <a:r>
              <a:rPr lang="en-US" altLang="en-US" b="1" dirty="0">
                <a:solidFill>
                  <a:srgbClr val="006699"/>
                </a:solidFill>
                <a:latin typeface="+mj-lt"/>
              </a:rPr>
              <a:t>Interface</a:t>
            </a:r>
            <a:r>
              <a:rPr lang="en-US" altLang="en-US" b="1" dirty="0">
                <a:solidFill>
                  <a:srgbClr val="0000FF"/>
                </a:solidFill>
              </a:rPr>
              <a:t> </a:t>
            </a:r>
            <a:r>
              <a:rPr lang="en-US" altLang="en-US" b="1" dirty="0">
                <a:solidFill>
                  <a:srgbClr val="006699"/>
                </a:solidFill>
                <a:latin typeface="+mj-lt"/>
              </a:rPr>
              <a:t>Definition</a:t>
            </a:r>
            <a:r>
              <a:rPr lang="en-US" altLang="en-US" b="1" dirty="0">
                <a:solidFill>
                  <a:srgbClr val="0000FF"/>
                </a:solidFill>
              </a:rPr>
              <a:t> </a:t>
            </a:r>
            <a:r>
              <a:rPr lang="en-US" altLang="en-US" b="1" dirty="0">
                <a:solidFill>
                  <a:srgbClr val="006699"/>
                </a:solidFill>
                <a:latin typeface="+mj-lt"/>
              </a:rPr>
              <a:t>Language</a:t>
            </a:r>
            <a:r>
              <a:rPr lang="en-US" altLang="en-US" b="1" dirty="0">
                <a:solidFill>
                  <a:srgbClr val="0000FF"/>
                </a:solidFill>
              </a:rPr>
              <a:t> </a:t>
            </a:r>
            <a:r>
              <a:rPr lang="en-US" altLang="en-US" dirty="0"/>
              <a:t>(</a:t>
            </a:r>
            <a:r>
              <a:rPr lang="en-US" altLang="en-US" b="1" dirty="0">
                <a:solidFill>
                  <a:srgbClr val="006699"/>
                </a:solidFill>
                <a:latin typeface="+mj-lt"/>
              </a:rPr>
              <a:t>MIDL</a:t>
            </a:r>
            <a:r>
              <a:rPr lang="en-US" altLang="en-US" dirty="0"/>
              <a:t>)</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7521172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DD978D27-7A45-4707-9571-68634552145B}"/>
              </a:ext>
            </a:extLst>
          </p:cNvPr>
          <p:cNvSpPr>
            <a:spLocks noGrp="1" noRot="1" noChangeAspect="1" noChangeArrowheads="1" noTextEdit="1"/>
          </p:cNvSpPr>
          <p:nvPr>
            <p:ph type="sldImg"/>
          </p:nvPr>
        </p:nvSpPr>
        <p:spPr>
          <a:ln/>
        </p:spPr>
      </p:sp>
      <p:sp>
        <p:nvSpPr>
          <p:cNvPr id="130051" name="Rectangle 3">
            <a:extLst>
              <a:ext uri="{FF2B5EF4-FFF2-40B4-BE49-F238E27FC236}">
                <a16:creationId xmlns:a16="http://schemas.microsoft.com/office/drawing/2014/main" id="{0F720247-6A7A-40C8-A560-7ACEAC13E1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07000"/>
              </a:lnSpc>
              <a:spcBef>
                <a:spcPts val="0"/>
              </a:spcBef>
              <a:spcAft>
                <a:spcPts val="8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در کامپیوتر، ترتیب قرارگیری بایت‌ها (واحدهای تک‌بایتی) درون یک کلمه (واحد داده) که در حافظه‌ی اصلی ذخیره می‌شود، </a:t>
            </a: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بِدیانی</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Endianness</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نامیده می‌شود. دو روش اصلی برای نمایش ترتیب بایت‌ها وجود دارد: </a:t>
            </a: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بِدیان بزرگ (</a:t>
            </a:r>
            <a:r>
              <a:rPr lang="en-US" sz="1800" b="1"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Big-Endian</a:t>
            </a: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و </a:t>
            </a: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بِدیان کوچک (</a:t>
            </a:r>
            <a:r>
              <a:rPr lang="en-US" sz="1800" b="1"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Little-Endian</a:t>
            </a: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در </a:t>
            </a: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بِدیان بزرگ</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بایت مهم‌تر (حاوی مقدار اصلی‌تر) در کمترین آدرس حافظه قرار می‌گیرد و بایت کم‌اهمیت‌تر (حاوی مقدار فرعی‌تر) در بیشترین آدرس حافظه جای می‌گیرد.</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در مقابل، در </a:t>
            </a: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بِدیان کوچک</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کم‌اهمیت‌ترین بایت در کمترین آدرس حافظه و مهم‌ترین بایت در بیشترین آدرس حافظه قرار می‌گیرد.</a:t>
            </a:r>
            <a:endParaRPr lang="en-US"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endParaRPr>
          </a:p>
          <a:p>
            <a:pPr marL="0" marR="0" algn="r" rtl="1">
              <a:lnSpc>
                <a:spcPct val="107000"/>
              </a:lnSpc>
              <a:spcBef>
                <a:spcPts val="0"/>
              </a:spcBef>
              <a:spcAft>
                <a:spcPts val="800"/>
              </a:spcAft>
            </a:pP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a:buNone/>
            </a:pPr>
            <a:endParaRPr lang="en-US" sz="2800" dirty="0"/>
          </a:p>
          <a:p>
            <a:pPr>
              <a:buFont typeface="Arial" panose="020B0604020202020204" pitchFamily="34" charset="0"/>
              <a:buChar char="•"/>
            </a:pPr>
            <a:r>
              <a:rPr lang="en-US" sz="2800" dirty="0"/>
              <a:t>XDR is employed to serialize (encode) procedure arguments and results into a format suitable for network transmission.</a:t>
            </a:r>
          </a:p>
          <a:p>
            <a:pPr>
              <a:buFont typeface="Arial" panose="020B0604020202020204" pitchFamily="34" charset="0"/>
              <a:buChar char="•"/>
            </a:pPr>
            <a:r>
              <a:rPr lang="en-US" sz="2800" dirty="0"/>
              <a:t>When the data reaches its destination, XDR deserializes (decodes) it for use by the receiving system.</a:t>
            </a:r>
          </a:p>
          <a:p>
            <a:pPr marL="0" marR="0" algn="r" rtl="1">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dirty="0">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2143"/>
              </a:lnSpc>
              <a:spcBef>
                <a:spcPts val="1029"/>
              </a:spcBef>
              <a:spcAft>
                <a:spcPts val="1029"/>
              </a:spcAft>
              <a:buFont typeface="+mj-lt"/>
              <a:buAutoNum type="arabicPeriod"/>
            </a:pPr>
            <a:r>
              <a:rPr lang="en-US" b="1" i="0" dirty="0">
                <a:solidFill>
                  <a:srgbClr val="404040"/>
                </a:solidFill>
                <a:effectLst/>
                <a:latin typeface="DeepSeek-CJK-patch"/>
              </a:rPr>
              <a:t>Client Call</a:t>
            </a:r>
            <a:r>
              <a:rPr lang="en-US" b="0" i="0" dirty="0">
                <a:solidFill>
                  <a:srgbClr val="404040"/>
                </a:solidFill>
                <a:effectLst/>
                <a:latin typeface="DeepSeek-CJK-patch"/>
              </a:rPr>
              <a:t>: The client calls a local stub (proxy) instead of the actual remote procedure.</a:t>
            </a:r>
          </a:p>
          <a:p>
            <a:pPr algn="l">
              <a:lnSpc>
                <a:spcPts val="2143"/>
              </a:lnSpc>
              <a:spcBef>
                <a:spcPts val="300"/>
              </a:spcBef>
              <a:spcAft>
                <a:spcPts val="1029"/>
              </a:spcAft>
              <a:buFont typeface="+mj-lt"/>
              <a:buAutoNum type="arabicPeriod"/>
            </a:pPr>
            <a:r>
              <a:rPr lang="en-US" b="1" i="0" dirty="0">
                <a:solidFill>
                  <a:srgbClr val="404040"/>
                </a:solidFill>
                <a:effectLst/>
                <a:latin typeface="DeepSeek-CJK-patch"/>
              </a:rPr>
              <a:t>Packing (Marshalling)</a:t>
            </a:r>
            <a:r>
              <a:rPr lang="en-US" b="0" i="0" dirty="0">
                <a:solidFill>
                  <a:srgbClr val="404040"/>
                </a:solidFill>
                <a:effectLst/>
                <a:latin typeface="DeepSeek-CJK-patch"/>
              </a:rPr>
              <a:t>: The client stub packs the procedure name and arguments into a message (Call Packet).</a:t>
            </a:r>
          </a:p>
          <a:p>
            <a:pPr algn="l">
              <a:lnSpc>
                <a:spcPts val="2143"/>
              </a:lnSpc>
              <a:spcBef>
                <a:spcPts val="300"/>
              </a:spcBef>
              <a:spcAft>
                <a:spcPts val="1029"/>
              </a:spcAft>
              <a:buFont typeface="+mj-lt"/>
              <a:buAutoNum type="arabicPeriod"/>
            </a:pPr>
            <a:r>
              <a:rPr lang="en-US" b="1" i="0" dirty="0">
                <a:solidFill>
                  <a:srgbClr val="404040"/>
                </a:solidFill>
                <a:effectLst/>
                <a:latin typeface="DeepSeek-CJK-patch"/>
              </a:rPr>
              <a:t>RPC Runtime</a:t>
            </a:r>
            <a:r>
              <a:rPr lang="en-US" b="0" i="0" dirty="0">
                <a:solidFill>
                  <a:srgbClr val="404040"/>
                </a:solidFill>
                <a:effectLst/>
                <a:latin typeface="DeepSeek-CJK-patch"/>
              </a:rPr>
              <a:t>: The client’s RPC runtime sends the message over the network to the server.</a:t>
            </a:r>
          </a:p>
          <a:p>
            <a:pPr algn="l">
              <a:lnSpc>
                <a:spcPts val="2143"/>
              </a:lnSpc>
              <a:spcBef>
                <a:spcPts val="300"/>
              </a:spcBef>
              <a:spcAft>
                <a:spcPts val="1029"/>
              </a:spcAft>
              <a:buFont typeface="+mj-lt"/>
              <a:buAutoNum type="arabicPeriod"/>
            </a:pPr>
            <a:r>
              <a:rPr lang="en-US" b="1" i="0" dirty="0">
                <a:solidFill>
                  <a:srgbClr val="404040"/>
                </a:solidFill>
                <a:effectLst/>
                <a:latin typeface="DeepSeek-CJK-patch"/>
              </a:rPr>
              <a:t>Server Processing</a:t>
            </a:r>
            <a:r>
              <a:rPr lang="en-US" b="0" i="0" dirty="0">
                <a:solidFill>
                  <a:srgbClr val="404040"/>
                </a:solidFill>
                <a:effectLst/>
                <a:latin typeface="DeepSeek-CJK-patch"/>
              </a:rPr>
              <a:t>: The server’s RPC runtime receives the message, unpacks it, and the server stub invokes the actual procedure.</a:t>
            </a:r>
          </a:p>
          <a:p>
            <a:pPr algn="l">
              <a:lnSpc>
                <a:spcPts val="2143"/>
              </a:lnSpc>
              <a:spcBef>
                <a:spcPts val="300"/>
              </a:spcBef>
              <a:spcAft>
                <a:spcPts val="1029"/>
              </a:spcAft>
              <a:buFont typeface="+mj-lt"/>
              <a:buAutoNum type="arabicPeriod"/>
            </a:pPr>
            <a:r>
              <a:rPr lang="en-US" b="1" i="0" dirty="0">
                <a:solidFill>
                  <a:srgbClr val="404040"/>
                </a:solidFill>
                <a:effectLst/>
                <a:latin typeface="DeepSeek-CJK-patch"/>
              </a:rPr>
              <a:t>Return Result</a:t>
            </a:r>
            <a:r>
              <a:rPr lang="en-US" b="0" i="0" dirty="0">
                <a:solidFill>
                  <a:srgbClr val="404040"/>
                </a:solidFill>
                <a:effectLst/>
                <a:latin typeface="DeepSeek-CJK-patch"/>
              </a:rPr>
              <a:t>: The server </a:t>
            </a:r>
            <a:r>
              <a:rPr lang="en-US" b="0" i="0" dirty="0" err="1">
                <a:solidFill>
                  <a:srgbClr val="404040"/>
                </a:solidFill>
                <a:effectLst/>
                <a:latin typeface="DeepSeek-CJK-patch"/>
              </a:rPr>
              <a:t>stu</a:t>
            </a:r>
            <a:endParaRPr lang="en-US" b="0" i="0" dirty="0">
              <a:solidFill>
                <a:srgbClr val="404040"/>
              </a:solidFill>
              <a:effectLst/>
              <a:latin typeface="DeepSeek-CJK-patch"/>
            </a:endParaRPr>
          </a:p>
          <a:p>
            <a:endParaRPr lang="en-US" dirty="0"/>
          </a:p>
        </p:txBody>
      </p:sp>
      <p:sp>
        <p:nvSpPr>
          <p:cNvPr id="4" name="Slide Number Placeholder 3"/>
          <p:cNvSpPr>
            <a:spLocks noGrp="1"/>
          </p:cNvSpPr>
          <p:nvPr>
            <p:ph type="sldNum" sz="quarter" idx="5"/>
          </p:nvPr>
        </p:nvSpPr>
        <p:spPr/>
        <p:txBody>
          <a:bodyPr/>
          <a:lstStyle/>
          <a:p>
            <a:pPr>
              <a:defRPr/>
            </a:pPr>
            <a:fld id="{73B872E8-FDB0-4502-A51A-B7A4A00AC4E7}" type="slidenum">
              <a:rPr lang="en-US" altLang="x-none" smtClean="0"/>
              <a:pPr>
                <a:defRPr/>
              </a:pPr>
              <a:t>64</a:t>
            </a:fld>
            <a:endParaRPr lang="en-US" altLang="x-none"/>
          </a:p>
        </p:txBody>
      </p:sp>
    </p:spTree>
    <p:extLst>
      <p:ext uri="{BB962C8B-B14F-4D97-AF65-F5344CB8AC3E}">
        <p14:creationId xmlns:p14="http://schemas.microsoft.com/office/powerpoint/2010/main" val="1173965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8C7272E3-D47D-40CB-9DDB-74FA84462C40}"/>
              </a:ext>
            </a:extLst>
          </p:cNvPr>
          <p:cNvSpPr>
            <a:spLocks noGrp="1" noRot="1" noChangeAspect="1" noChangeArrowheads="1" noTextEdit="1"/>
          </p:cNvSpPr>
          <p:nvPr>
            <p:ph type="sldImg"/>
          </p:nvPr>
        </p:nvSpPr>
        <p:spPr>
          <a:ln/>
        </p:spPr>
      </p:sp>
      <p:sp>
        <p:nvSpPr>
          <p:cNvPr id="132099" name="Rectangle 3">
            <a:extLst>
              <a:ext uri="{FF2B5EF4-FFF2-40B4-BE49-F238E27FC236}">
                <a16:creationId xmlns:a16="http://schemas.microsoft.com/office/drawing/2014/main" id="{71ACBF84-7E20-4056-909C-C5D64438B8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15000"/>
              </a:lnSpc>
              <a:spcAft>
                <a:spcPts val="800"/>
              </a:spcAft>
              <a:buNone/>
            </a:pPr>
            <a:r>
              <a:rPr lang="ar-SA" sz="1800" kern="100" dirty="0">
                <a:effectLst/>
                <a:latin typeface="Aptos" panose="020B0004020202020204" pitchFamily="34" charset="0"/>
                <a:ea typeface="Aptos" panose="020B0004020202020204" pitchFamily="34" charset="0"/>
                <a:cs typeface="Arial" panose="020B0604020202020204" pitchFamily="34" charset="0"/>
              </a:rPr>
              <a:t>تصور کنید که کلاینت می‌خواهد پیام</a:t>
            </a:r>
            <a:r>
              <a:rPr lang="en-US" sz="1800" kern="100" dirty="0">
                <a:effectLst/>
                <a:latin typeface="Aptos" panose="020B0004020202020204" pitchFamily="34" charset="0"/>
                <a:ea typeface="Aptos" panose="020B0004020202020204" pitchFamily="34" charset="0"/>
                <a:cs typeface="Arial" panose="020B0604020202020204" pitchFamily="34" charset="0"/>
              </a:rPr>
              <a:t> RPC </a:t>
            </a:r>
            <a:r>
              <a:rPr lang="ar-SA" sz="1800" kern="100" dirty="0">
                <a:effectLst/>
                <a:latin typeface="Aptos" panose="020B0004020202020204" pitchFamily="34" charset="0"/>
                <a:ea typeface="Aptos" panose="020B0004020202020204" pitchFamily="34" charset="0"/>
                <a:cs typeface="Arial" panose="020B0604020202020204" pitchFamily="34" charset="0"/>
              </a:rPr>
              <a:t>خود را به یک پروسیجر خاص روی سرور ارسال کند. اما کلاینت نمی‌داند کدام شماره پورت برای این پروسیجر مناسب است. اینجاست که</a:t>
            </a:r>
            <a:r>
              <a:rPr lang="en-US" sz="1800" kern="100" dirty="0">
                <a:effectLst/>
                <a:latin typeface="Aptos" panose="020B0004020202020204" pitchFamily="34" charset="0"/>
                <a:ea typeface="Aptos" panose="020B0004020202020204" pitchFamily="34" charset="0"/>
                <a:cs typeface="Arial" panose="020B0604020202020204" pitchFamily="34" charset="0"/>
              </a:rPr>
              <a:t> Matchmaker </a:t>
            </a:r>
            <a:r>
              <a:rPr lang="ar-SA" sz="1800" kern="100" dirty="0">
                <a:effectLst/>
                <a:latin typeface="Aptos" panose="020B0004020202020204" pitchFamily="34" charset="0"/>
                <a:ea typeface="Aptos" panose="020B0004020202020204" pitchFamily="34" charset="0"/>
                <a:cs typeface="Arial" panose="020B0604020202020204" pitchFamily="34" charset="0"/>
              </a:rPr>
              <a:t>وارد عمل می‌شود</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Font typeface="+mj-lt"/>
              <a:buAutoNum type="arabicPeriod"/>
              <a:tabLst>
                <a:tab pos="457200" algn="l"/>
              </a:tabLst>
            </a:pPr>
            <a:r>
              <a:rPr lang="ar-SA" sz="1800" b="1" kern="100" dirty="0">
                <a:effectLst/>
                <a:latin typeface="Aptos" panose="020B0004020202020204" pitchFamily="34" charset="0"/>
                <a:ea typeface="Aptos" panose="020B0004020202020204" pitchFamily="34" charset="0"/>
                <a:cs typeface="Arial" panose="020B0604020202020204" pitchFamily="34" charset="0"/>
              </a:rPr>
              <a:t>شروع درخواست توسط کلاینت</a:t>
            </a:r>
            <a:r>
              <a:rPr lang="en-US" sz="1800" b="1" kern="100" dirty="0">
                <a:effectLst/>
                <a:latin typeface="Aptos" panose="020B0004020202020204" pitchFamily="34" charset="0"/>
                <a:ea typeface="Aptos" panose="020B0004020202020204" pitchFamily="34" charset="0"/>
                <a:cs typeface="Arial" panose="020B0604020202020204" pitchFamily="34" charset="0"/>
              </a:rPr>
              <a:t>:</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ar-SA" sz="1800" kern="100" dirty="0">
                <a:effectLst/>
                <a:latin typeface="Aptos" panose="020B0004020202020204" pitchFamily="34" charset="0"/>
                <a:ea typeface="Aptos" panose="020B0004020202020204" pitchFamily="34" charset="0"/>
                <a:cs typeface="Arial" panose="020B0604020202020204" pitchFamily="34" charset="0"/>
              </a:rPr>
              <a:t>کاربر درخواست</a:t>
            </a:r>
            <a:r>
              <a:rPr lang="en-US" sz="1800" kern="100" dirty="0">
                <a:effectLst/>
                <a:latin typeface="Aptos" panose="020B0004020202020204" pitchFamily="34" charset="0"/>
                <a:ea typeface="Aptos" panose="020B0004020202020204" pitchFamily="34" charset="0"/>
                <a:cs typeface="Arial" panose="020B0604020202020204" pitchFamily="34" charset="0"/>
              </a:rPr>
              <a:t> RPC </a:t>
            </a:r>
            <a:r>
              <a:rPr lang="ar-SA" sz="1800" kern="100" dirty="0">
                <a:effectLst/>
                <a:latin typeface="Aptos" panose="020B0004020202020204" pitchFamily="34" charset="0"/>
                <a:ea typeface="Aptos" panose="020B0004020202020204" pitchFamily="34" charset="0"/>
                <a:cs typeface="Arial" panose="020B0604020202020204" pitchFamily="34" charset="0"/>
              </a:rPr>
              <a:t>را برای پروسیجر خاصی</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ar-SA" sz="1800" kern="100" dirty="0">
                <a:effectLst/>
                <a:latin typeface="Aptos" panose="020B0004020202020204" pitchFamily="34" charset="0"/>
                <a:ea typeface="Aptos" panose="020B0004020202020204" pitchFamily="34" charset="0"/>
                <a:cs typeface="Arial" panose="020B0604020202020204" pitchFamily="34" charset="0"/>
              </a:rPr>
              <a:t>مثلاً پروسیجر</a:t>
            </a:r>
            <a:r>
              <a:rPr lang="en-US" sz="1800" kern="100" dirty="0">
                <a:effectLst/>
                <a:latin typeface="Aptos" panose="020B0004020202020204" pitchFamily="34" charset="0"/>
                <a:ea typeface="Aptos" panose="020B0004020202020204" pitchFamily="34" charset="0"/>
                <a:cs typeface="Arial" panose="020B0604020202020204" pitchFamily="34" charset="0"/>
              </a:rPr>
              <a:t> X) </a:t>
            </a:r>
            <a:r>
              <a:rPr lang="ar-SA" sz="1800" kern="100" dirty="0">
                <a:effectLst/>
                <a:latin typeface="Aptos" panose="020B0004020202020204" pitchFamily="34" charset="0"/>
                <a:ea typeface="Aptos" panose="020B0004020202020204" pitchFamily="34" charset="0"/>
                <a:cs typeface="Arial" panose="020B0604020202020204" pitchFamily="34" charset="0"/>
              </a:rPr>
              <a:t>به کرنل ارسال می‌کند</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Font typeface="+mj-lt"/>
              <a:buAutoNum type="arabicPeriod"/>
              <a:tabLst>
                <a:tab pos="457200" algn="l"/>
              </a:tabLst>
            </a:pPr>
            <a:r>
              <a:rPr lang="ar-SA" sz="1800" b="1" kern="100" dirty="0">
                <a:effectLst/>
                <a:latin typeface="Aptos" panose="020B0004020202020204" pitchFamily="34" charset="0"/>
                <a:ea typeface="Aptos" panose="020B0004020202020204" pitchFamily="34" charset="0"/>
                <a:cs typeface="Arial" panose="020B0604020202020204" pitchFamily="34" charset="0"/>
              </a:rPr>
              <a:t>کرنل پیام را به</a:t>
            </a:r>
            <a:r>
              <a:rPr lang="en-US" sz="1800" b="1" kern="100" dirty="0">
                <a:effectLst/>
                <a:latin typeface="Aptos" panose="020B0004020202020204" pitchFamily="34" charset="0"/>
                <a:ea typeface="Aptos" panose="020B0004020202020204" pitchFamily="34" charset="0"/>
                <a:cs typeface="Arial" panose="020B0604020202020204" pitchFamily="34" charset="0"/>
              </a:rPr>
              <a:t> Matchmaker </a:t>
            </a:r>
            <a:r>
              <a:rPr lang="ar-SA" sz="1800" b="1" kern="100" dirty="0">
                <a:effectLst/>
                <a:latin typeface="Aptos" panose="020B0004020202020204" pitchFamily="34" charset="0"/>
                <a:ea typeface="Aptos" panose="020B0004020202020204" pitchFamily="34" charset="0"/>
                <a:cs typeface="Arial" panose="020B0604020202020204" pitchFamily="34" charset="0"/>
              </a:rPr>
              <a:t>ارسال می‌کند</a:t>
            </a:r>
            <a:r>
              <a:rPr lang="en-US" sz="1800" b="1" kern="100" dirty="0">
                <a:effectLst/>
                <a:latin typeface="Aptos" panose="020B0004020202020204" pitchFamily="34" charset="0"/>
                <a:ea typeface="Aptos" panose="020B0004020202020204" pitchFamily="34" charset="0"/>
                <a:cs typeface="Arial" panose="020B0604020202020204" pitchFamily="34" charset="0"/>
              </a:rPr>
              <a:t>:</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ar-SA" sz="1800" kern="100" dirty="0">
                <a:effectLst/>
                <a:latin typeface="Aptos" panose="020B0004020202020204" pitchFamily="34" charset="0"/>
                <a:ea typeface="Aptos" panose="020B0004020202020204" pitchFamily="34" charset="0"/>
                <a:cs typeface="Arial" panose="020B0604020202020204" pitchFamily="34" charset="0"/>
              </a:rPr>
              <a:t>کرنل از</a:t>
            </a:r>
            <a:r>
              <a:rPr lang="en-US" sz="1800" kern="100" dirty="0">
                <a:effectLst/>
                <a:latin typeface="Aptos" panose="020B0004020202020204" pitchFamily="34" charset="0"/>
                <a:ea typeface="Aptos" panose="020B0004020202020204" pitchFamily="34" charset="0"/>
                <a:cs typeface="Arial" panose="020B0604020202020204" pitchFamily="34" charset="0"/>
              </a:rPr>
              <a:t> Matchmaker </a:t>
            </a:r>
            <a:r>
              <a:rPr lang="ar-SA" sz="1800" kern="100" dirty="0">
                <a:effectLst/>
                <a:latin typeface="Aptos" panose="020B0004020202020204" pitchFamily="34" charset="0"/>
                <a:ea typeface="Aptos" panose="020B0004020202020204" pitchFamily="34" charset="0"/>
                <a:cs typeface="Arial" panose="020B0604020202020204" pitchFamily="34" charset="0"/>
              </a:rPr>
              <a:t>می‌خواهد شماره پورت مناسب را برای پروسیجر</a:t>
            </a:r>
            <a:r>
              <a:rPr lang="en-US" sz="1800" kern="100" dirty="0">
                <a:effectLst/>
                <a:latin typeface="Aptos" panose="020B0004020202020204" pitchFamily="34" charset="0"/>
                <a:ea typeface="Aptos" panose="020B0004020202020204" pitchFamily="34" charset="0"/>
                <a:cs typeface="Arial" panose="020B0604020202020204" pitchFamily="34" charset="0"/>
              </a:rPr>
              <a:t> X </a:t>
            </a:r>
            <a:r>
              <a:rPr lang="ar-SA" sz="1800" kern="100" dirty="0">
                <a:effectLst/>
                <a:latin typeface="Aptos" panose="020B0004020202020204" pitchFamily="34" charset="0"/>
                <a:ea typeface="Aptos" panose="020B0004020202020204" pitchFamily="34" charset="0"/>
                <a:cs typeface="Arial" panose="020B0604020202020204" pitchFamily="34" charset="0"/>
              </a:rPr>
              <a:t>پیدا کند</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Arial" panose="020B0604020202020204" pitchFamily="34" charset="0"/>
              </a:rPr>
              <a:t>Matchmaker </a:t>
            </a:r>
            <a:r>
              <a:rPr lang="ar-SA" sz="1800" b="1" kern="100" dirty="0">
                <a:effectLst/>
                <a:latin typeface="Aptos" panose="020B0004020202020204" pitchFamily="34" charset="0"/>
                <a:ea typeface="Aptos" panose="020B0004020202020204" pitchFamily="34" charset="0"/>
                <a:cs typeface="Arial" panose="020B0604020202020204" pitchFamily="34" charset="0"/>
              </a:rPr>
              <a:t>پیام را دریافت می‌کند</a:t>
            </a:r>
            <a:r>
              <a:rPr lang="en-US" sz="1800" b="1" kern="100" dirty="0">
                <a:effectLst/>
                <a:latin typeface="Aptos" panose="020B0004020202020204" pitchFamily="34" charset="0"/>
                <a:ea typeface="Aptos" panose="020B0004020202020204" pitchFamily="34" charset="0"/>
                <a:cs typeface="Arial" panose="020B0604020202020204" pitchFamily="34" charset="0"/>
              </a:rPr>
              <a:t>:</a:t>
            </a:r>
            <a:r>
              <a:rPr lang="en-US" sz="1800" kern="100" dirty="0">
                <a:effectLst/>
                <a:latin typeface="Aptos" panose="020B0004020202020204" pitchFamily="34" charset="0"/>
                <a:ea typeface="Aptos" panose="020B0004020202020204" pitchFamily="34" charset="0"/>
                <a:cs typeface="Arial" panose="020B0604020202020204" pitchFamily="34" charset="0"/>
              </a:rPr>
              <a:t> Matchmaker </a:t>
            </a:r>
            <a:r>
              <a:rPr lang="ar-SA" sz="1800" kern="100" dirty="0">
                <a:effectLst/>
                <a:latin typeface="Aptos" panose="020B0004020202020204" pitchFamily="34" charset="0"/>
                <a:ea typeface="Aptos" panose="020B0004020202020204" pitchFamily="34" charset="0"/>
                <a:cs typeface="Arial" panose="020B0604020202020204" pitchFamily="34" charset="0"/>
              </a:rPr>
              <a:t>پیام دریافتی را بررسی می‌کند و شماره پورت مناسب را پیدا می‌کند</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Font typeface="+mj-lt"/>
              <a:buAutoNum type="arabicPeriod"/>
              <a:tabLst>
                <a:tab pos="457200" algn="l"/>
              </a:tabLst>
            </a:pPr>
            <a:r>
              <a:rPr lang="ar-SA" sz="1800" b="1" kern="100" dirty="0">
                <a:effectLst/>
                <a:latin typeface="Aptos" panose="020B0004020202020204" pitchFamily="34" charset="0"/>
                <a:ea typeface="Aptos" panose="020B0004020202020204" pitchFamily="34" charset="0"/>
                <a:cs typeface="Arial" panose="020B0604020202020204" pitchFamily="34" charset="0"/>
              </a:rPr>
              <a:t>پاسخ به کلاینت</a:t>
            </a:r>
            <a:r>
              <a:rPr lang="en-US" sz="1800" b="1" kern="100" dirty="0">
                <a:effectLst/>
                <a:latin typeface="Aptos" panose="020B0004020202020204" pitchFamily="34" charset="0"/>
                <a:ea typeface="Aptos" panose="020B0004020202020204" pitchFamily="34" charset="0"/>
                <a:cs typeface="Arial" panose="020B0604020202020204" pitchFamily="34" charset="0"/>
              </a:rPr>
              <a:t>:</a:t>
            </a:r>
            <a:r>
              <a:rPr lang="en-US" sz="1800" kern="100" dirty="0">
                <a:effectLst/>
                <a:latin typeface="Aptos" panose="020B0004020202020204" pitchFamily="34" charset="0"/>
                <a:ea typeface="Aptos" panose="020B0004020202020204" pitchFamily="34" charset="0"/>
                <a:cs typeface="Arial" panose="020B0604020202020204" pitchFamily="34" charset="0"/>
              </a:rPr>
              <a:t> Matchmaker </a:t>
            </a:r>
            <a:r>
              <a:rPr lang="ar-SA" sz="1800" kern="100" dirty="0">
                <a:effectLst/>
                <a:latin typeface="Aptos" panose="020B0004020202020204" pitchFamily="34" charset="0"/>
                <a:ea typeface="Aptos" panose="020B0004020202020204" pitchFamily="34" charset="0"/>
                <a:cs typeface="Arial" panose="020B0604020202020204" pitchFamily="34" charset="0"/>
              </a:rPr>
              <a:t>شماره پورت مناسب</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ar-SA" sz="1800" kern="100" dirty="0">
                <a:effectLst/>
                <a:latin typeface="Aptos" panose="020B0004020202020204" pitchFamily="34" charset="0"/>
                <a:ea typeface="Aptos" panose="020B0004020202020204" pitchFamily="34" charset="0"/>
                <a:cs typeface="Arial" panose="020B0604020202020204" pitchFamily="34" charset="0"/>
              </a:rPr>
              <a:t>مثلاً</a:t>
            </a:r>
            <a:r>
              <a:rPr lang="en-US" sz="1800" kern="100" dirty="0">
                <a:effectLst/>
                <a:latin typeface="Aptos" panose="020B0004020202020204" pitchFamily="34" charset="0"/>
                <a:ea typeface="Aptos" panose="020B0004020202020204" pitchFamily="34" charset="0"/>
                <a:cs typeface="Arial" panose="020B0604020202020204" pitchFamily="34" charset="0"/>
              </a:rPr>
              <a:t> P) </a:t>
            </a:r>
            <a:r>
              <a:rPr lang="ar-SA" sz="1800" kern="100" dirty="0">
                <a:effectLst/>
                <a:latin typeface="Aptos" panose="020B0004020202020204" pitchFamily="34" charset="0"/>
                <a:ea typeface="Aptos" panose="020B0004020202020204" pitchFamily="34" charset="0"/>
                <a:cs typeface="Arial" panose="020B0604020202020204" pitchFamily="34" charset="0"/>
              </a:rPr>
              <a:t>را به کرنل باز می‌گرداند</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Font typeface="+mj-lt"/>
              <a:buAutoNum type="arabicPeriod"/>
              <a:tabLst>
                <a:tab pos="457200" algn="l"/>
              </a:tabLst>
            </a:pPr>
            <a:r>
              <a:rPr lang="ar-SA" sz="1800" b="1" kern="100" dirty="0">
                <a:effectLst/>
                <a:latin typeface="Aptos" panose="020B0004020202020204" pitchFamily="34" charset="0"/>
                <a:ea typeface="Aptos" panose="020B0004020202020204" pitchFamily="34" charset="0"/>
                <a:cs typeface="Arial" panose="020B0604020202020204" pitchFamily="34" charset="0"/>
              </a:rPr>
              <a:t>ادامه ارسال پیام</a:t>
            </a:r>
            <a:r>
              <a:rPr lang="en-US" sz="1800" b="1" kern="100" dirty="0">
                <a:effectLst/>
                <a:latin typeface="Aptos" panose="020B0004020202020204" pitchFamily="34" charset="0"/>
                <a:ea typeface="Aptos" panose="020B0004020202020204" pitchFamily="34" charset="0"/>
                <a:cs typeface="Arial" panose="020B0604020202020204" pitchFamily="34" charset="0"/>
              </a:rPr>
              <a:t> RPC:</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ar-SA" sz="1800" kern="100" dirty="0">
                <a:effectLst/>
                <a:latin typeface="Aptos" panose="020B0004020202020204" pitchFamily="34" charset="0"/>
                <a:ea typeface="Aptos" panose="020B0004020202020204" pitchFamily="34" charset="0"/>
                <a:cs typeface="Arial" panose="020B0604020202020204" pitchFamily="34" charset="0"/>
              </a:rPr>
              <a:t>کرنل شماره پورت را در پیام</a:t>
            </a:r>
            <a:r>
              <a:rPr lang="en-US" sz="1800" kern="100" dirty="0">
                <a:effectLst/>
                <a:latin typeface="Aptos" panose="020B0004020202020204" pitchFamily="34" charset="0"/>
                <a:ea typeface="Aptos" panose="020B0004020202020204" pitchFamily="34" charset="0"/>
                <a:cs typeface="Arial" panose="020B0604020202020204" pitchFamily="34" charset="0"/>
              </a:rPr>
              <a:t> RPC </a:t>
            </a:r>
            <a:r>
              <a:rPr lang="ar-SA" sz="1800" kern="100" dirty="0">
                <a:effectLst/>
                <a:latin typeface="Aptos" panose="020B0004020202020204" pitchFamily="34" charset="0"/>
                <a:ea typeface="Aptos" panose="020B0004020202020204" pitchFamily="34" charset="0"/>
                <a:cs typeface="Arial" panose="020B0604020202020204" pitchFamily="34" charset="0"/>
              </a:rPr>
              <a:t>کلاینت قرار می‌دهد و درخواست را به سرور ارسال می‌کند</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Font typeface="+mj-lt"/>
              <a:buAutoNum type="arabicPeriod"/>
              <a:tabLst>
                <a:tab pos="457200" algn="l"/>
              </a:tabLst>
            </a:pPr>
            <a:r>
              <a:rPr lang="ar-SA" sz="1800" b="1" kern="100" dirty="0">
                <a:effectLst/>
                <a:latin typeface="Aptos" panose="020B0004020202020204" pitchFamily="34" charset="0"/>
                <a:ea typeface="Aptos" panose="020B0004020202020204" pitchFamily="34" charset="0"/>
                <a:cs typeface="Arial" panose="020B0604020202020204" pitchFamily="34" charset="0"/>
              </a:rPr>
              <a:t>اجرای درخواست</a:t>
            </a:r>
            <a:r>
              <a:rPr lang="en-US" sz="1800" b="1" kern="100" dirty="0">
                <a:effectLst/>
                <a:latin typeface="Aptos" panose="020B0004020202020204" pitchFamily="34" charset="0"/>
                <a:ea typeface="Aptos" panose="020B0004020202020204" pitchFamily="34" charset="0"/>
                <a:cs typeface="Arial" panose="020B0604020202020204" pitchFamily="34" charset="0"/>
              </a:rPr>
              <a:t>:</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ar-SA" sz="1800" kern="100" dirty="0">
                <a:effectLst/>
                <a:latin typeface="Aptos" panose="020B0004020202020204" pitchFamily="34" charset="0"/>
                <a:ea typeface="Aptos" panose="020B0004020202020204" pitchFamily="34" charset="0"/>
                <a:cs typeface="Arial" panose="020B0604020202020204" pitchFamily="34" charset="0"/>
              </a:rPr>
              <a:t>دیمن روی سرور که به شماره پورت</a:t>
            </a:r>
            <a:r>
              <a:rPr lang="en-US" sz="1800" kern="100" dirty="0">
                <a:effectLst/>
                <a:latin typeface="Aptos" panose="020B0004020202020204" pitchFamily="34" charset="0"/>
                <a:ea typeface="Aptos" panose="020B0004020202020204" pitchFamily="34" charset="0"/>
                <a:cs typeface="Arial" panose="020B0604020202020204" pitchFamily="34" charset="0"/>
              </a:rPr>
              <a:t> P </a:t>
            </a:r>
            <a:r>
              <a:rPr lang="ar-SA" sz="1800" kern="100" dirty="0">
                <a:effectLst/>
                <a:latin typeface="Aptos" panose="020B0004020202020204" pitchFamily="34" charset="0"/>
                <a:ea typeface="Aptos" panose="020B0004020202020204" pitchFamily="34" charset="0"/>
                <a:cs typeface="Arial" panose="020B0604020202020204" pitchFamily="34" charset="0"/>
              </a:rPr>
              <a:t>گوش می‌دهد، پیام را دریافت کرده و پروسیجر مورد نظر را اجرا می‌کند</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Font typeface="+mj-lt"/>
              <a:buAutoNum type="arabicPeriod"/>
              <a:tabLst>
                <a:tab pos="457200" algn="l"/>
              </a:tabLst>
            </a:pPr>
            <a:r>
              <a:rPr lang="ar-SA" sz="1800" b="1" kern="100" dirty="0">
                <a:effectLst/>
                <a:latin typeface="Aptos" panose="020B0004020202020204" pitchFamily="34" charset="0"/>
                <a:ea typeface="Aptos" panose="020B0004020202020204" pitchFamily="34" charset="0"/>
                <a:cs typeface="Arial" panose="020B0604020202020204" pitchFamily="34" charset="0"/>
              </a:rPr>
              <a:t>پاسخ به کلاینت</a:t>
            </a:r>
            <a:r>
              <a:rPr lang="en-US" sz="1800" b="1" kern="100" dirty="0">
                <a:effectLst/>
                <a:latin typeface="Aptos" panose="020B0004020202020204" pitchFamily="34" charset="0"/>
                <a:ea typeface="Aptos" panose="020B0004020202020204" pitchFamily="34" charset="0"/>
                <a:cs typeface="Arial" panose="020B0604020202020204" pitchFamily="34" charset="0"/>
              </a:rPr>
              <a:t>:</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ar-SA" sz="1800" kern="100" dirty="0">
                <a:effectLst/>
                <a:latin typeface="Aptos" panose="020B0004020202020204" pitchFamily="34" charset="0"/>
                <a:ea typeface="Aptos" panose="020B0004020202020204" pitchFamily="34" charset="0"/>
                <a:cs typeface="Arial" panose="020B0604020202020204" pitchFamily="34" charset="0"/>
              </a:rPr>
              <a:t>خروجی پروسیجر توسط دیمن پردازش شده و از طریق کرنل به کلاینت بازگردانده می‌شود</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ar-SA" sz="1800" b="1" kern="100" dirty="0">
                <a:effectLst/>
                <a:latin typeface="Aptos" panose="020B0004020202020204" pitchFamily="34" charset="0"/>
                <a:ea typeface="Aptos" panose="020B0004020202020204" pitchFamily="34" charset="0"/>
                <a:cs typeface="Arial" panose="020B0604020202020204" pitchFamily="34" charset="0"/>
              </a:rPr>
              <a:t>مثال انسانی برای فهم بهتر</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800" kern="100" dirty="0">
                <a:effectLst/>
                <a:latin typeface="Aptos" panose="020B0004020202020204" pitchFamily="34" charset="0"/>
                <a:ea typeface="Aptos" panose="020B0004020202020204" pitchFamily="34" charset="0"/>
                <a:cs typeface="Arial" panose="020B0604020202020204" pitchFamily="34" charset="0"/>
              </a:rPr>
              <a:t>فرض کنید شما می‌خواهید با یک بخش خاص در یک شرکت تماس بگیرید، اما شماره داخلی آن بخش را نمی‌دانید</a:t>
            </a:r>
            <a:r>
              <a:rPr lang="en-US" sz="1800" kern="100" dirty="0">
                <a:effectLst/>
                <a:latin typeface="Aptos" panose="020B0004020202020204" pitchFamily="34" charset="0"/>
                <a:ea typeface="Aptos" panose="020B0004020202020204" pitchFamily="34" charset="0"/>
                <a:cs typeface="Arial" panose="020B0604020202020204" pitchFamily="34" charset="0"/>
              </a:rPr>
              <a:t>. Matchmaker </a:t>
            </a:r>
            <a:r>
              <a:rPr lang="ar-SA" sz="1800" kern="100" dirty="0">
                <a:effectLst/>
                <a:latin typeface="Aptos" panose="020B0004020202020204" pitchFamily="34" charset="0"/>
                <a:ea typeface="Aptos" panose="020B0004020202020204" pitchFamily="34" charset="0"/>
                <a:cs typeface="Arial" panose="020B0604020202020204" pitchFamily="34" charset="0"/>
              </a:rPr>
              <a:t>مثل یک منشی عمل می‌کند که شماره داخلی مناسب را پیدا می‌کند و به شما اطلاع می‌دهد. سپس شما با آن بخش تماس می‌گیرید و درخواست خود را مطرح می‌کنید</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pPr>
            <a:r>
              <a:rPr lang="en-US" sz="1800" kern="100">
                <a:effectLst/>
                <a:latin typeface="Aptos" panose="020B0004020202020204" pitchFamily="34" charset="0"/>
                <a:ea typeface="Aptos" panose="020B0004020202020204" pitchFamily="34" charset="0"/>
                <a:cs typeface="Arial" panose="020B0604020202020204" pitchFamily="34" charset="0"/>
              </a:rPr>
              <a:t> </a:t>
            </a:r>
          </a:p>
          <a:p>
            <a:pPr marL="0" marR="0" algn="r" rtl="1">
              <a:lnSpc>
                <a:spcPct val="115000"/>
              </a:lnSpc>
              <a:spcAft>
                <a:spcPts val="800"/>
              </a:spcAft>
              <a:buNone/>
            </a:pPr>
            <a:endParaRPr lang="en-US" sz="1200" b="1" kern="10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200" b="1"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en-US" sz="1200" b="1" kern="100" dirty="0">
                <a:effectLst/>
                <a:latin typeface="Aptos" panose="020B0004020202020204" pitchFamily="34" charset="0"/>
                <a:ea typeface="Aptos" panose="020B0004020202020204" pitchFamily="34" charset="0"/>
                <a:cs typeface="Arial" panose="020B0604020202020204" pitchFamily="34" charset="0"/>
              </a:rPr>
              <a:t>. </a:t>
            </a:r>
            <a:r>
              <a:rPr lang="ar-SA" sz="1200" b="1" kern="100" dirty="0">
                <a:effectLst/>
                <a:latin typeface="Aptos" panose="020B0004020202020204" pitchFamily="34" charset="0"/>
                <a:ea typeface="Aptos" panose="020B0004020202020204" pitchFamily="34" charset="0"/>
                <a:cs typeface="Arial" panose="020B0604020202020204" pitchFamily="34" charset="0"/>
              </a:rPr>
              <a:t>کلاینت درخواست</a:t>
            </a:r>
            <a:r>
              <a:rPr lang="en-US" sz="1200" b="1" kern="100" dirty="0">
                <a:effectLst/>
                <a:latin typeface="Aptos" panose="020B0004020202020204" pitchFamily="34" charset="0"/>
                <a:ea typeface="Aptos" panose="020B0004020202020204" pitchFamily="34" charset="0"/>
                <a:cs typeface="Arial" panose="020B0604020202020204" pitchFamily="34" charset="0"/>
              </a:rPr>
              <a:t> RPC </a:t>
            </a:r>
            <a:r>
              <a:rPr lang="ar-SA" sz="1200" b="1" kern="100" dirty="0">
                <a:effectLst/>
                <a:latin typeface="Aptos" panose="020B0004020202020204" pitchFamily="34" charset="0"/>
                <a:ea typeface="Aptos" panose="020B0004020202020204" pitchFamily="34" charset="0"/>
                <a:cs typeface="Arial" panose="020B0604020202020204" pitchFamily="34" charset="0"/>
              </a:rPr>
              <a:t>را آغاز می‌کند</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200" b="1" kern="100" dirty="0">
                <a:effectLst/>
                <a:latin typeface="Aptos" panose="020B0004020202020204" pitchFamily="34" charset="0"/>
                <a:ea typeface="Aptos" panose="020B0004020202020204" pitchFamily="34" charset="0"/>
                <a:cs typeface="Arial" panose="020B0604020202020204" pitchFamily="34" charset="0"/>
              </a:rPr>
              <a:t>کاربر کرنل را فراخوانی می‌کند</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برنامه کلاینت از کرنل درخواست می‌کند تا یک پیام</a:t>
            </a:r>
            <a:r>
              <a:rPr lang="en-US" sz="1200" kern="100" dirty="0">
                <a:effectLst/>
                <a:latin typeface="Aptos" panose="020B0004020202020204" pitchFamily="34" charset="0"/>
                <a:ea typeface="Aptos" panose="020B0004020202020204" pitchFamily="34" charset="0"/>
                <a:cs typeface="Arial" panose="020B0604020202020204" pitchFamily="34" charset="0"/>
              </a:rPr>
              <a:t> RPC </a:t>
            </a:r>
            <a:r>
              <a:rPr lang="ar-SA" sz="1200" kern="100" dirty="0">
                <a:effectLst/>
                <a:latin typeface="Aptos" panose="020B0004020202020204" pitchFamily="34" charset="0"/>
                <a:ea typeface="Aptos" panose="020B0004020202020204" pitchFamily="34" charset="0"/>
                <a:cs typeface="Arial" panose="020B0604020202020204" pitchFamily="34" charset="0"/>
              </a:rPr>
              <a:t>برای اجرای رویه </a:t>
            </a:r>
            <a:r>
              <a:rPr lang="en-US" sz="1200" b="1" kern="100" dirty="0">
                <a:effectLst/>
                <a:latin typeface="Aptos" panose="020B0004020202020204" pitchFamily="34" charset="0"/>
                <a:ea typeface="Aptos" panose="020B0004020202020204" pitchFamily="34" charset="0"/>
                <a:cs typeface="Arial" panose="020B0604020202020204" pitchFamily="34" charset="0"/>
              </a:rPr>
              <a:t>X</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روی یک سرور راه‌دور ارسال کند</a:t>
            </a:r>
            <a:r>
              <a:rPr lang="en-US" sz="12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200" b="1" kern="100" dirty="0">
                <a:effectLst/>
                <a:latin typeface="Aptos" panose="020B0004020202020204" pitchFamily="34" charset="0"/>
                <a:ea typeface="Aptos" panose="020B0004020202020204" pitchFamily="34" charset="0"/>
                <a:cs typeface="Arial" panose="020B0604020202020204" pitchFamily="34" charset="0"/>
              </a:rPr>
              <a:t>کرنل با تطبیق‌دهنده تماس می‌گیرد</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از آنجا که کلاینت پورت سرور را نمی‌داند، کرنل یک درخواست جست‌وجو به </a:t>
            </a:r>
            <a:r>
              <a:rPr lang="ar-SA" sz="1200" b="1" kern="100" dirty="0">
                <a:effectLst/>
                <a:latin typeface="Aptos" panose="020B0004020202020204" pitchFamily="34" charset="0"/>
                <a:ea typeface="Aptos" panose="020B0004020202020204" pitchFamily="34" charset="0"/>
                <a:cs typeface="Arial" panose="020B0604020202020204" pitchFamily="34" charset="0"/>
              </a:rPr>
              <a:t>سرویس تطبیق‌دهنده</a:t>
            </a:r>
            <a:r>
              <a:rPr lang="ar-SA" sz="1200" kern="100" dirty="0">
                <a:effectLst/>
                <a:latin typeface="Aptos" panose="020B0004020202020204" pitchFamily="34" charset="0"/>
                <a:ea typeface="Aptos" panose="020B0004020202020204" pitchFamily="34" charset="0"/>
                <a:cs typeface="Arial" panose="020B0604020202020204" pitchFamily="34" charset="0"/>
              </a:rPr>
              <a:t> </a:t>
            </a:r>
            <a:r>
              <a:rPr lang="en-US" sz="1200" kern="100" dirty="0">
                <a:effectLst/>
                <a:latin typeface="Aptos" panose="020B0004020202020204" pitchFamily="34" charset="0"/>
                <a:ea typeface="Aptos" panose="020B0004020202020204" pitchFamily="34" charset="0"/>
                <a:cs typeface="Arial" panose="020B0604020202020204" pitchFamily="34" charset="0"/>
              </a:rPr>
              <a:t>(</a:t>
            </a:r>
            <a:r>
              <a:rPr lang="ar-SA" sz="1200" kern="100" dirty="0">
                <a:effectLst/>
                <a:latin typeface="Aptos" panose="020B0004020202020204" pitchFamily="34" charset="0"/>
                <a:ea typeface="Aptos" panose="020B0004020202020204" pitchFamily="34" charset="0"/>
                <a:cs typeface="Arial" panose="020B0604020202020204" pitchFamily="34" charset="0"/>
              </a:rPr>
              <a:t>یک رجیستری متمرکز که نام‌های</a:t>
            </a:r>
            <a:r>
              <a:rPr lang="en-US" sz="1200" kern="100" dirty="0">
                <a:effectLst/>
                <a:latin typeface="Aptos" panose="020B0004020202020204" pitchFamily="34" charset="0"/>
                <a:ea typeface="Aptos" panose="020B0004020202020204" pitchFamily="34" charset="0"/>
                <a:cs typeface="Arial" panose="020B0604020202020204" pitchFamily="34" charset="0"/>
              </a:rPr>
              <a:t> RPC </a:t>
            </a:r>
            <a:r>
              <a:rPr lang="ar-SA" sz="1200" kern="100" dirty="0">
                <a:effectLst/>
                <a:latin typeface="Aptos" panose="020B0004020202020204" pitchFamily="34" charset="0"/>
                <a:ea typeface="Aptos" panose="020B0004020202020204" pitchFamily="34" charset="0"/>
                <a:cs typeface="Arial" panose="020B0604020202020204" pitchFamily="34" charset="0"/>
              </a:rPr>
              <a:t>را به پورت‌های سرور نگاشت می‌کند</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ارسال می‌کند</a:t>
            </a:r>
            <a:r>
              <a:rPr lang="en-US" sz="1200" kern="100" dirty="0">
                <a:effectLst/>
                <a:latin typeface="Aptos" panose="020B0004020202020204" pitchFamily="34" charset="0"/>
                <a:ea typeface="Aptos" panose="020B0004020202020204" pitchFamily="34" charset="0"/>
                <a:cs typeface="Arial" panose="020B0604020202020204" pitchFamily="34" charset="0"/>
              </a:rPr>
              <a:t>.</a:t>
            </a:r>
          </a:p>
          <a:p>
            <a:pPr marL="742950" marR="0" lvl="1" indent="-285750" algn="r" rtl="1">
              <a:lnSpc>
                <a:spcPct val="115000"/>
              </a:lnSpc>
              <a:spcAft>
                <a:spcPts val="800"/>
              </a:spcAft>
              <a:buSzPts val="1000"/>
              <a:buFont typeface="Courier New" panose="02070309020205020404" pitchFamily="49" charset="0"/>
              <a:buChar char="o"/>
              <a:tabLst>
                <a:tab pos="914400" algn="l"/>
              </a:tabLst>
            </a:pPr>
            <a:r>
              <a:rPr lang="ar-SA" sz="1200" b="1" kern="100" dirty="0">
                <a:effectLst/>
                <a:latin typeface="Aptos" panose="020B0004020202020204" pitchFamily="34" charset="0"/>
                <a:ea typeface="Aptos" panose="020B0004020202020204" pitchFamily="34" charset="0"/>
                <a:cs typeface="Arial" panose="020B0604020202020204" pitchFamily="34" charset="0"/>
              </a:rPr>
              <a:t>قالب پیام</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gn="r" rtl="1">
              <a:lnSpc>
                <a:spcPct val="115000"/>
              </a:lnSpc>
              <a:spcAft>
                <a:spcPts val="800"/>
              </a:spcAft>
              <a:buNone/>
            </a:pPr>
            <a:r>
              <a:rPr lang="en-US" sz="1200" kern="100" dirty="0">
                <a:effectLst/>
                <a:latin typeface="Aptos" panose="020B0004020202020204" pitchFamily="34" charset="0"/>
                <a:ea typeface="Aptos" panose="020B0004020202020204" pitchFamily="34" charset="0"/>
                <a:cs typeface="Arial" panose="020B0604020202020204" pitchFamily="34" charset="0"/>
              </a:rPr>
              <a:t>Copy</a:t>
            </a: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از: کلاینت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به: سرور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پورت: تطبیق‌دهنده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موضوع: آدرس برای</a:t>
            </a:r>
            <a:r>
              <a:rPr lang="en-US" sz="1200" kern="100" dirty="0">
                <a:effectLst/>
                <a:latin typeface="Aptos" panose="020B0004020202020204" pitchFamily="34" charset="0"/>
                <a:ea typeface="Aptos" panose="020B0004020202020204" pitchFamily="34" charset="0"/>
                <a:cs typeface="Arial" panose="020B0604020202020204" pitchFamily="34" charset="0"/>
              </a:rPr>
              <a:t> RPC X  </a:t>
            </a:r>
          </a:p>
          <a:p>
            <a:pPr marL="0" marR="0" algn="r" rtl="1">
              <a:lnSpc>
                <a:spcPct val="115000"/>
              </a:lnSpc>
              <a:spcAft>
                <a:spcPts val="800"/>
              </a:spcAft>
              <a:buNone/>
            </a:pPr>
            <a:r>
              <a:rPr lang="fa-IR" sz="1200" b="1" kern="100" dirty="0">
                <a:effectLst/>
                <a:latin typeface="Aptos" panose="020B0004020202020204" pitchFamily="34" charset="0"/>
                <a:ea typeface="Aptos" panose="020B0004020202020204" pitchFamily="34" charset="0"/>
                <a:cs typeface="Arial" panose="020B0604020202020204" pitchFamily="34" charset="0"/>
              </a:rPr>
              <a:t>۲</a:t>
            </a:r>
            <a:r>
              <a:rPr lang="en-US" sz="1200" b="1" kern="100" dirty="0">
                <a:effectLst/>
                <a:latin typeface="Aptos" panose="020B0004020202020204" pitchFamily="34" charset="0"/>
                <a:ea typeface="Aptos" panose="020B0004020202020204" pitchFamily="34" charset="0"/>
                <a:cs typeface="Arial" panose="020B0604020202020204" pitchFamily="34" charset="0"/>
              </a:rPr>
              <a:t>. </a:t>
            </a:r>
            <a:r>
              <a:rPr lang="ar-SA" sz="1200" b="1" kern="100" dirty="0">
                <a:effectLst/>
                <a:latin typeface="Aptos" panose="020B0004020202020204" pitchFamily="34" charset="0"/>
                <a:ea typeface="Aptos" panose="020B0004020202020204" pitchFamily="34" charset="0"/>
                <a:cs typeface="Arial" panose="020B0604020202020204" pitchFamily="34" charset="0"/>
              </a:rPr>
              <a:t>تطبیق‌دهنده درخواست را حل می‌کند</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200" b="1" kern="100" dirty="0">
                <a:effectLst/>
                <a:latin typeface="Aptos" panose="020B0004020202020204" pitchFamily="34" charset="0"/>
                <a:ea typeface="Aptos" panose="020B0004020202020204" pitchFamily="34" charset="0"/>
                <a:cs typeface="Arial" panose="020B0604020202020204" pitchFamily="34" charset="0"/>
              </a:rPr>
              <a:t>تطبیق‌دهنده پورت را جست‌جو می‌کند</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تطبیق‌دهنده رجیستری خود را بررسی می‌کند تا بفهمد کدام سرور رویه </a:t>
            </a:r>
            <a:r>
              <a:rPr lang="en-US" sz="1200" b="1" kern="100" dirty="0">
                <a:effectLst/>
                <a:latin typeface="Aptos" panose="020B0004020202020204" pitchFamily="34" charset="0"/>
                <a:ea typeface="Aptos" panose="020B0004020202020204" pitchFamily="34" charset="0"/>
                <a:cs typeface="Arial" panose="020B0604020202020204" pitchFamily="34" charset="0"/>
              </a:rPr>
              <a:t>X</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را میزبانی می‌کند و پورت مربوطه</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en-US" sz="1200" b="1" kern="100" dirty="0">
                <a:effectLst/>
                <a:latin typeface="Aptos" panose="020B0004020202020204" pitchFamily="34" charset="0"/>
                <a:ea typeface="Aptos" panose="020B0004020202020204" pitchFamily="34" charset="0"/>
                <a:cs typeface="Arial" panose="020B0604020202020204" pitchFamily="34" charset="0"/>
              </a:rPr>
              <a:t>P</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را بازیابی می‌کند</a:t>
            </a:r>
            <a:r>
              <a:rPr lang="en-US" sz="12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200" b="1" kern="100" dirty="0">
                <a:effectLst/>
                <a:latin typeface="Aptos" panose="020B0004020202020204" pitchFamily="34" charset="0"/>
                <a:ea typeface="Aptos" panose="020B0004020202020204" pitchFamily="34" charset="0"/>
                <a:cs typeface="Arial" panose="020B0604020202020204" pitchFamily="34" charset="0"/>
              </a:rPr>
              <a:t>پاسخ به کلاینت</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تطبیق‌دهنده شماره پورت </a:t>
            </a:r>
            <a:r>
              <a:rPr lang="en-US" sz="1200" b="1" kern="100" dirty="0">
                <a:effectLst/>
                <a:latin typeface="Aptos" panose="020B0004020202020204" pitchFamily="34" charset="0"/>
                <a:ea typeface="Aptos" panose="020B0004020202020204" pitchFamily="34" charset="0"/>
                <a:cs typeface="Arial" panose="020B0604020202020204" pitchFamily="34" charset="0"/>
              </a:rPr>
              <a:t>P</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را به کرنل کلاینت ارسال می‌کند</a:t>
            </a:r>
            <a:r>
              <a:rPr lang="en-US" sz="1200" kern="100" dirty="0">
                <a:effectLst/>
                <a:latin typeface="Aptos" panose="020B0004020202020204" pitchFamily="34" charset="0"/>
                <a:ea typeface="Aptos" panose="020B0004020202020204" pitchFamily="34" charset="0"/>
                <a:cs typeface="Arial" panose="020B0604020202020204" pitchFamily="34" charset="0"/>
              </a:rPr>
              <a:t>.</a:t>
            </a:r>
          </a:p>
          <a:p>
            <a:pPr marL="742950" marR="0" lvl="1" indent="-285750" algn="r" rtl="1">
              <a:lnSpc>
                <a:spcPct val="115000"/>
              </a:lnSpc>
              <a:spcAft>
                <a:spcPts val="800"/>
              </a:spcAft>
              <a:buSzPts val="1000"/>
              <a:buFont typeface="Courier New" panose="02070309020205020404" pitchFamily="49" charset="0"/>
              <a:buChar char="o"/>
              <a:tabLst>
                <a:tab pos="914400" algn="l"/>
              </a:tabLst>
            </a:pPr>
            <a:r>
              <a:rPr lang="ar-SA" sz="1200" b="1" kern="100" dirty="0">
                <a:effectLst/>
                <a:latin typeface="Aptos" panose="020B0004020202020204" pitchFamily="34" charset="0"/>
                <a:ea typeface="Aptos" panose="020B0004020202020204" pitchFamily="34" charset="0"/>
                <a:cs typeface="Arial" panose="020B0604020202020204" pitchFamily="34" charset="0"/>
              </a:rPr>
              <a:t>قالب پیام</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gn="r" rtl="1">
              <a:lnSpc>
                <a:spcPct val="115000"/>
              </a:lnSpc>
              <a:spcAft>
                <a:spcPts val="800"/>
              </a:spcAft>
              <a:buNone/>
            </a:pPr>
            <a:r>
              <a:rPr lang="en-US" sz="1200" kern="100" dirty="0">
                <a:effectLst/>
                <a:latin typeface="Aptos" panose="020B0004020202020204" pitchFamily="34" charset="0"/>
                <a:ea typeface="Aptos" panose="020B0004020202020204" pitchFamily="34" charset="0"/>
                <a:cs typeface="Arial" panose="020B0604020202020204" pitchFamily="34" charset="0"/>
              </a:rPr>
              <a:t>Copy</a:t>
            </a: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از: سرور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به: کلاینت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پورت: کرنل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موضوع</a:t>
            </a:r>
            <a:r>
              <a:rPr lang="en-US" sz="1200" kern="100" dirty="0">
                <a:effectLst/>
                <a:latin typeface="Aptos" panose="020B0004020202020204" pitchFamily="34" charset="0"/>
                <a:ea typeface="Aptos" panose="020B0004020202020204" pitchFamily="34" charset="0"/>
                <a:cs typeface="Arial" panose="020B0604020202020204" pitchFamily="34" charset="0"/>
              </a:rPr>
              <a:t>: RPC X  </a:t>
            </a: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پورت</a:t>
            </a:r>
            <a:r>
              <a:rPr lang="en-US" sz="1200" kern="100" dirty="0">
                <a:effectLst/>
                <a:latin typeface="Aptos" panose="020B0004020202020204" pitchFamily="34" charset="0"/>
                <a:ea typeface="Aptos" panose="020B0004020202020204" pitchFamily="34" charset="0"/>
                <a:cs typeface="Arial" panose="020B0604020202020204" pitchFamily="34" charset="0"/>
              </a:rPr>
              <a:t>: P  </a:t>
            </a:r>
          </a:p>
          <a:p>
            <a:pPr marL="0" marR="0" algn="r" rtl="1">
              <a:lnSpc>
                <a:spcPct val="115000"/>
              </a:lnSpc>
              <a:spcAft>
                <a:spcPts val="800"/>
              </a:spcAft>
              <a:buNone/>
            </a:pPr>
            <a:r>
              <a:rPr lang="fa-IR" sz="1200" b="1" kern="100" dirty="0">
                <a:effectLst/>
                <a:latin typeface="Aptos" panose="020B0004020202020204" pitchFamily="34" charset="0"/>
                <a:ea typeface="Aptos" panose="020B0004020202020204" pitchFamily="34" charset="0"/>
                <a:cs typeface="Arial" panose="020B0604020202020204" pitchFamily="34" charset="0"/>
              </a:rPr>
              <a:t>۳</a:t>
            </a:r>
            <a:r>
              <a:rPr lang="en-US" sz="1200" b="1" kern="100" dirty="0">
                <a:effectLst/>
                <a:latin typeface="Aptos" panose="020B0004020202020204" pitchFamily="34" charset="0"/>
                <a:ea typeface="Aptos" panose="020B0004020202020204" pitchFamily="34" charset="0"/>
                <a:cs typeface="Arial" panose="020B0604020202020204" pitchFamily="34" charset="0"/>
              </a:rPr>
              <a:t>. </a:t>
            </a:r>
            <a:r>
              <a:rPr lang="ar-SA" sz="1200" b="1" kern="100" dirty="0">
                <a:effectLst/>
                <a:latin typeface="Aptos" panose="020B0004020202020204" pitchFamily="34" charset="0"/>
                <a:ea typeface="Aptos" panose="020B0004020202020204" pitchFamily="34" charset="0"/>
                <a:cs typeface="Arial" panose="020B0604020202020204" pitchFamily="34" charset="0"/>
              </a:rPr>
              <a:t>کلاینت</a:t>
            </a:r>
            <a:r>
              <a:rPr lang="en-US" sz="1200" b="1" kern="100" dirty="0">
                <a:effectLst/>
                <a:latin typeface="Aptos" panose="020B0004020202020204" pitchFamily="34" charset="0"/>
                <a:ea typeface="Aptos" panose="020B0004020202020204" pitchFamily="34" charset="0"/>
                <a:cs typeface="Arial" panose="020B0604020202020204" pitchFamily="34" charset="0"/>
              </a:rPr>
              <a:t> RPC </a:t>
            </a:r>
            <a:r>
              <a:rPr lang="ar-SA" sz="1200" b="1" kern="100" dirty="0">
                <a:effectLst/>
                <a:latin typeface="Aptos" panose="020B0004020202020204" pitchFamily="34" charset="0"/>
                <a:ea typeface="Aptos" panose="020B0004020202020204" pitchFamily="34" charset="0"/>
                <a:cs typeface="Arial" panose="020B0604020202020204" pitchFamily="34" charset="0"/>
              </a:rPr>
              <a:t>را به سرور ارسال می‌کند</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200" b="1" kern="100" dirty="0">
                <a:effectLst/>
                <a:latin typeface="Aptos" panose="020B0004020202020204" pitchFamily="34" charset="0"/>
                <a:ea typeface="Aptos" panose="020B0004020202020204" pitchFamily="34" charset="0"/>
                <a:cs typeface="Arial" panose="020B0604020202020204" pitchFamily="34" charset="0"/>
              </a:rPr>
              <a:t>کرنل</a:t>
            </a:r>
            <a:r>
              <a:rPr lang="en-US" sz="1200" b="1" kern="100" dirty="0">
                <a:effectLst/>
                <a:latin typeface="Aptos" panose="020B0004020202020204" pitchFamily="34" charset="0"/>
                <a:ea typeface="Aptos" panose="020B0004020202020204" pitchFamily="34" charset="0"/>
                <a:cs typeface="Arial" panose="020B0604020202020204" pitchFamily="34" charset="0"/>
              </a:rPr>
              <a:t> RPC </a:t>
            </a:r>
            <a:r>
              <a:rPr lang="ar-SA" sz="1200" b="1" kern="100" dirty="0">
                <a:effectLst/>
                <a:latin typeface="Aptos" panose="020B0004020202020204" pitchFamily="34" charset="0"/>
                <a:ea typeface="Aptos" panose="020B0004020202020204" pitchFamily="34" charset="0"/>
                <a:cs typeface="Arial" panose="020B0604020202020204" pitchFamily="34" charset="0"/>
              </a:rPr>
              <a:t>را ارسال می‌کند</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با استفاده از پورت </a:t>
            </a:r>
            <a:r>
              <a:rPr lang="en-US" sz="1200" b="1" kern="100" dirty="0">
                <a:effectLst/>
                <a:latin typeface="Aptos" panose="020B0004020202020204" pitchFamily="34" charset="0"/>
                <a:ea typeface="Aptos" panose="020B0004020202020204" pitchFamily="34" charset="0"/>
                <a:cs typeface="Arial" panose="020B0604020202020204" pitchFamily="34" charset="0"/>
              </a:rPr>
              <a:t>P</a:t>
            </a:r>
            <a:r>
              <a:rPr lang="ar-SA" sz="1200" kern="100" dirty="0">
                <a:effectLst/>
                <a:latin typeface="Aptos" panose="020B0004020202020204" pitchFamily="34" charset="0"/>
                <a:ea typeface="Aptos" panose="020B0004020202020204" pitchFamily="34" charset="0"/>
                <a:cs typeface="Arial" panose="020B0604020202020204" pitchFamily="34" charset="0"/>
              </a:rPr>
              <a:t>، کرنل کلاینت درخواست</a:t>
            </a:r>
            <a:r>
              <a:rPr lang="en-US" sz="1200" kern="100" dirty="0">
                <a:effectLst/>
                <a:latin typeface="Aptos" panose="020B0004020202020204" pitchFamily="34" charset="0"/>
                <a:ea typeface="Aptos" panose="020B0004020202020204" pitchFamily="34" charset="0"/>
                <a:cs typeface="Arial" panose="020B0604020202020204" pitchFamily="34" charset="0"/>
              </a:rPr>
              <a:t> RPC </a:t>
            </a:r>
            <a:r>
              <a:rPr lang="ar-SA" sz="1200" kern="100" dirty="0">
                <a:effectLst/>
                <a:latin typeface="Aptos" panose="020B0004020202020204" pitchFamily="34" charset="0"/>
                <a:ea typeface="Aptos" panose="020B0004020202020204" pitchFamily="34" charset="0"/>
                <a:cs typeface="Arial" panose="020B0604020202020204" pitchFamily="34" charset="0"/>
              </a:rPr>
              <a:t>واقعی را به سرور ارسال می‌کند</a:t>
            </a:r>
            <a:r>
              <a:rPr lang="en-US" sz="1200" kern="100" dirty="0">
                <a:effectLst/>
                <a:latin typeface="Aptos" panose="020B0004020202020204" pitchFamily="34" charset="0"/>
                <a:ea typeface="Aptos" panose="020B0004020202020204" pitchFamily="34" charset="0"/>
                <a:cs typeface="Arial" panose="020B0604020202020204" pitchFamily="34" charset="0"/>
              </a:rPr>
              <a:t>.</a:t>
            </a:r>
          </a:p>
          <a:p>
            <a:pPr marL="742950" marR="0" lvl="1" indent="-285750" algn="r" rtl="1">
              <a:lnSpc>
                <a:spcPct val="115000"/>
              </a:lnSpc>
              <a:spcAft>
                <a:spcPts val="800"/>
              </a:spcAft>
              <a:buSzPts val="1000"/>
              <a:buFont typeface="Courier New" panose="02070309020205020404" pitchFamily="49" charset="0"/>
              <a:buChar char="o"/>
              <a:tabLst>
                <a:tab pos="914400" algn="l"/>
              </a:tabLst>
            </a:pPr>
            <a:r>
              <a:rPr lang="ar-SA" sz="1200" b="1" kern="100" dirty="0">
                <a:effectLst/>
                <a:latin typeface="Aptos" panose="020B0004020202020204" pitchFamily="34" charset="0"/>
                <a:ea typeface="Aptos" panose="020B0004020202020204" pitchFamily="34" charset="0"/>
                <a:cs typeface="Arial" panose="020B0604020202020204" pitchFamily="34" charset="0"/>
              </a:rPr>
              <a:t>قالب پیام</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gn="r" rtl="1">
              <a:lnSpc>
                <a:spcPct val="115000"/>
              </a:lnSpc>
              <a:spcAft>
                <a:spcPts val="800"/>
              </a:spcAft>
              <a:buNone/>
            </a:pPr>
            <a:r>
              <a:rPr lang="en-US" sz="1200" kern="100" dirty="0">
                <a:effectLst/>
                <a:latin typeface="Aptos" panose="020B0004020202020204" pitchFamily="34" charset="0"/>
                <a:ea typeface="Aptos" panose="020B0004020202020204" pitchFamily="34" charset="0"/>
                <a:cs typeface="Arial" panose="020B0604020202020204" pitchFamily="34" charset="0"/>
              </a:rPr>
              <a:t>Copy</a:t>
            </a: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از: کلاینت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به: سرور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پورت</a:t>
            </a:r>
            <a:r>
              <a:rPr lang="en-US" sz="1200" kern="100" dirty="0">
                <a:effectLst/>
                <a:latin typeface="Aptos" panose="020B0004020202020204" pitchFamily="34" charset="0"/>
                <a:ea typeface="Aptos" panose="020B0004020202020204" pitchFamily="34" charset="0"/>
                <a:cs typeface="Arial" panose="020B0604020202020204" pitchFamily="34" charset="0"/>
              </a:rPr>
              <a:t>: P  </a:t>
            </a:r>
          </a:p>
          <a:p>
            <a:pPr marL="0" marR="0" algn="r" rtl="1">
              <a:lnSpc>
                <a:spcPct val="115000"/>
              </a:lnSpc>
              <a:spcAft>
                <a:spcPts val="800"/>
              </a:spcAft>
              <a:buNone/>
            </a:pPr>
            <a:r>
              <a:rPr lang="en-US" sz="1200" kern="100" dirty="0">
                <a:effectLst/>
                <a:latin typeface="Aptos" panose="020B0004020202020204" pitchFamily="34" charset="0"/>
                <a:ea typeface="Aptos" panose="020B0004020202020204" pitchFamily="34" charset="0"/>
                <a:cs typeface="Arial" panose="020B0604020202020204" pitchFamily="34" charset="0"/>
              </a:rPr>
              <a:t>&lt;</a:t>
            </a:r>
            <a:r>
              <a:rPr lang="ar-SA" sz="1200" kern="100" dirty="0">
                <a:effectLst/>
                <a:latin typeface="Aptos" panose="020B0004020202020204" pitchFamily="34" charset="0"/>
                <a:ea typeface="Aptos" panose="020B0004020202020204" pitchFamily="34" charset="0"/>
                <a:cs typeface="Arial" panose="020B0604020202020204" pitchFamily="34" charset="0"/>
              </a:rPr>
              <a:t>آرگومان‌های رویه</a:t>
            </a:r>
            <a:r>
              <a:rPr lang="en-US" sz="1200" kern="100" dirty="0">
                <a:effectLst/>
                <a:latin typeface="Aptos" panose="020B0004020202020204" pitchFamily="34" charset="0"/>
                <a:ea typeface="Aptos" panose="020B0004020202020204" pitchFamily="34" charset="0"/>
                <a:cs typeface="Arial" panose="020B0604020202020204" pitchFamily="34" charset="0"/>
              </a:rPr>
              <a:t> X&gt;  </a:t>
            </a:r>
          </a:p>
          <a:p>
            <a:pPr marL="0" marR="0" algn="r" rtl="1">
              <a:lnSpc>
                <a:spcPct val="115000"/>
              </a:lnSpc>
              <a:spcAft>
                <a:spcPts val="800"/>
              </a:spcAft>
              <a:buNone/>
            </a:pPr>
            <a:r>
              <a:rPr lang="fa-IR" sz="1200" b="1" kern="100" dirty="0">
                <a:effectLst/>
                <a:latin typeface="Aptos" panose="020B0004020202020204" pitchFamily="34" charset="0"/>
                <a:ea typeface="Aptos" panose="020B0004020202020204" pitchFamily="34" charset="0"/>
                <a:cs typeface="Arial" panose="020B0604020202020204" pitchFamily="34" charset="0"/>
              </a:rPr>
              <a:t>۴</a:t>
            </a:r>
            <a:r>
              <a:rPr lang="en-US" sz="1200" b="1" kern="100" dirty="0">
                <a:effectLst/>
                <a:latin typeface="Aptos" panose="020B0004020202020204" pitchFamily="34" charset="0"/>
                <a:ea typeface="Aptos" panose="020B0004020202020204" pitchFamily="34" charset="0"/>
                <a:cs typeface="Arial" panose="020B0604020202020204" pitchFamily="34" charset="0"/>
              </a:rPr>
              <a:t>. </a:t>
            </a:r>
            <a:r>
              <a:rPr lang="ar-SA" sz="1200" b="1" kern="100" dirty="0">
                <a:effectLst/>
                <a:latin typeface="Aptos" panose="020B0004020202020204" pitchFamily="34" charset="0"/>
                <a:ea typeface="Aptos" panose="020B0004020202020204" pitchFamily="34" charset="0"/>
                <a:cs typeface="Arial" panose="020B0604020202020204" pitchFamily="34" charset="0"/>
              </a:rPr>
              <a:t>سرور درخواست را پردازش می‌کند</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200" b="1" kern="100" dirty="0">
                <a:effectLst/>
                <a:latin typeface="Aptos" panose="020B0004020202020204" pitchFamily="34" charset="0"/>
                <a:ea typeface="Aptos" panose="020B0004020202020204" pitchFamily="34" charset="0"/>
                <a:cs typeface="Arial" panose="020B0604020202020204" pitchFamily="34" charset="0"/>
              </a:rPr>
              <a:t>دمون روی پورت</a:t>
            </a:r>
            <a:r>
              <a:rPr lang="en-US" sz="1200" b="1" kern="100" dirty="0">
                <a:effectLst/>
                <a:latin typeface="Aptos" panose="020B0004020202020204" pitchFamily="34" charset="0"/>
                <a:ea typeface="Aptos" panose="020B0004020202020204" pitchFamily="34" charset="0"/>
                <a:cs typeface="Arial" panose="020B0604020202020204" pitchFamily="34" charset="0"/>
              </a:rPr>
              <a:t> P </a:t>
            </a:r>
            <a:r>
              <a:rPr lang="ar-SA" sz="1200" b="1" kern="100" dirty="0">
                <a:effectLst/>
                <a:latin typeface="Aptos" panose="020B0004020202020204" pitchFamily="34" charset="0"/>
                <a:ea typeface="Aptos" panose="020B0004020202020204" pitchFamily="34" charset="0"/>
                <a:cs typeface="Arial" panose="020B0604020202020204" pitchFamily="34" charset="0"/>
              </a:rPr>
              <a:t>گوش می‌دهد</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یک دمون (فرآیند پس‌زمینه) در سمت سرور روی پورت </a:t>
            </a:r>
            <a:r>
              <a:rPr lang="en-US" sz="1200" b="1" kern="100" dirty="0">
                <a:effectLst/>
                <a:latin typeface="Aptos" panose="020B0004020202020204" pitchFamily="34" charset="0"/>
                <a:ea typeface="Aptos" panose="020B0004020202020204" pitchFamily="34" charset="0"/>
                <a:cs typeface="Arial" panose="020B0604020202020204" pitchFamily="34" charset="0"/>
              </a:rPr>
              <a:t>P</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گوش می‌دهد، پیام</a:t>
            </a:r>
            <a:r>
              <a:rPr lang="en-US" sz="1200" kern="100" dirty="0">
                <a:effectLst/>
                <a:latin typeface="Aptos" panose="020B0004020202020204" pitchFamily="34" charset="0"/>
                <a:ea typeface="Aptos" panose="020B0004020202020204" pitchFamily="34" charset="0"/>
                <a:cs typeface="Arial" panose="020B0604020202020204" pitchFamily="34" charset="0"/>
              </a:rPr>
              <a:t> RPC </a:t>
            </a:r>
            <a:r>
              <a:rPr lang="ar-SA" sz="1200" kern="100" dirty="0">
                <a:effectLst/>
                <a:latin typeface="Aptos" panose="020B0004020202020204" pitchFamily="34" charset="0"/>
                <a:ea typeface="Aptos" panose="020B0004020202020204" pitchFamily="34" charset="0"/>
                <a:cs typeface="Arial" panose="020B0604020202020204" pitchFamily="34" charset="0"/>
              </a:rPr>
              <a:t>را دریافت می‌کند و رویه </a:t>
            </a:r>
            <a:r>
              <a:rPr lang="en-US" sz="1200" b="1" kern="100" dirty="0">
                <a:effectLst/>
                <a:latin typeface="Aptos" panose="020B0004020202020204" pitchFamily="34" charset="0"/>
                <a:ea typeface="Aptos" panose="020B0004020202020204" pitchFamily="34" charset="0"/>
                <a:cs typeface="Arial" panose="020B0604020202020204" pitchFamily="34" charset="0"/>
              </a:rPr>
              <a:t>X</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را اجرا می‌کند</a:t>
            </a:r>
            <a:r>
              <a:rPr lang="en-US" sz="12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200" b="1" kern="100" dirty="0">
                <a:effectLst/>
                <a:latin typeface="Aptos" panose="020B0004020202020204" pitchFamily="34" charset="0"/>
                <a:ea typeface="Aptos" panose="020B0004020202020204" pitchFamily="34" charset="0"/>
                <a:cs typeface="Arial" panose="020B0604020202020204" pitchFamily="34" charset="0"/>
              </a:rPr>
              <a:t>نتیجه ارسال می‌شود</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سرور خروجی را بسته‌بندی کرده و به کرنل کلاینت ارسال می‌کند</a:t>
            </a:r>
            <a:r>
              <a:rPr lang="en-US" sz="1200" kern="100" dirty="0">
                <a:effectLst/>
                <a:latin typeface="Aptos" panose="020B0004020202020204" pitchFamily="34" charset="0"/>
                <a:ea typeface="Aptos" panose="020B0004020202020204" pitchFamily="34" charset="0"/>
                <a:cs typeface="Arial" panose="020B0604020202020204" pitchFamily="34" charset="0"/>
              </a:rPr>
              <a:t>.</a:t>
            </a:r>
          </a:p>
          <a:p>
            <a:pPr marL="742950" marR="0" lvl="1" indent="-285750" algn="r" rtl="1">
              <a:lnSpc>
                <a:spcPct val="115000"/>
              </a:lnSpc>
              <a:spcAft>
                <a:spcPts val="800"/>
              </a:spcAft>
              <a:buSzPts val="1000"/>
              <a:buFont typeface="Courier New" panose="02070309020205020404" pitchFamily="49" charset="0"/>
              <a:buChar char="o"/>
              <a:tabLst>
                <a:tab pos="914400" algn="l"/>
              </a:tabLst>
            </a:pPr>
            <a:r>
              <a:rPr lang="ar-SA" sz="1200" b="1" kern="100" dirty="0">
                <a:effectLst/>
                <a:latin typeface="Aptos" panose="020B0004020202020204" pitchFamily="34" charset="0"/>
                <a:ea typeface="Aptos" panose="020B0004020202020204" pitchFamily="34" charset="0"/>
                <a:cs typeface="Arial" panose="020B0604020202020204" pitchFamily="34" charset="0"/>
              </a:rPr>
              <a:t>قالب پیام</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gn="r" rtl="1">
              <a:lnSpc>
                <a:spcPct val="115000"/>
              </a:lnSpc>
              <a:spcAft>
                <a:spcPts val="800"/>
              </a:spcAft>
              <a:buNone/>
            </a:pPr>
            <a:r>
              <a:rPr lang="en-US" sz="1200" kern="100" dirty="0">
                <a:effectLst/>
                <a:latin typeface="Aptos" panose="020B0004020202020204" pitchFamily="34" charset="0"/>
                <a:ea typeface="Aptos" panose="020B0004020202020204" pitchFamily="34" charset="0"/>
                <a:cs typeface="Arial" panose="020B0604020202020204" pitchFamily="34" charset="0"/>
              </a:rPr>
              <a:t>Copy</a:t>
            </a: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از</a:t>
            </a:r>
            <a:r>
              <a:rPr lang="en-US" sz="1200" kern="100" dirty="0">
                <a:effectLst/>
                <a:latin typeface="Aptos" panose="020B0004020202020204" pitchFamily="34" charset="0"/>
                <a:ea typeface="Aptos" panose="020B0004020202020204" pitchFamily="34" charset="0"/>
                <a:cs typeface="Arial" panose="020B0604020202020204" pitchFamily="34" charset="0"/>
              </a:rPr>
              <a:t>: RPC  </a:t>
            </a: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پورت</a:t>
            </a:r>
            <a:r>
              <a:rPr lang="en-US" sz="1200" kern="100" dirty="0">
                <a:effectLst/>
                <a:latin typeface="Aptos" panose="020B0004020202020204" pitchFamily="34" charset="0"/>
                <a:ea typeface="Aptos" panose="020B0004020202020204" pitchFamily="34" charset="0"/>
                <a:cs typeface="Arial" panose="020B0604020202020204" pitchFamily="34" charset="0"/>
              </a:rPr>
              <a:t>: P  </a:t>
            </a: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به: کلاینت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پورت: کرنل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200" kern="100" dirty="0">
                <a:effectLst/>
                <a:latin typeface="Aptos" panose="020B0004020202020204" pitchFamily="34" charset="0"/>
                <a:ea typeface="Aptos" panose="020B0004020202020204" pitchFamily="34" charset="0"/>
                <a:cs typeface="Arial" panose="020B0604020202020204" pitchFamily="34" charset="0"/>
              </a:rPr>
              <a:t>&lt;</a:t>
            </a:r>
            <a:r>
              <a:rPr lang="ar-SA" sz="1200" kern="100" dirty="0">
                <a:effectLst/>
                <a:latin typeface="Aptos" panose="020B0004020202020204" pitchFamily="34" charset="0"/>
                <a:ea typeface="Aptos" panose="020B0004020202020204" pitchFamily="34" charset="0"/>
                <a:cs typeface="Arial" panose="020B0604020202020204" pitchFamily="34" charset="0"/>
              </a:rPr>
              <a:t>خروجی رویه</a:t>
            </a:r>
            <a:r>
              <a:rPr lang="en-US" sz="1200" kern="100" dirty="0">
                <a:effectLst/>
                <a:latin typeface="Aptos" panose="020B0004020202020204" pitchFamily="34" charset="0"/>
                <a:ea typeface="Aptos" panose="020B0004020202020204" pitchFamily="34" charset="0"/>
                <a:cs typeface="Arial" panose="020B0604020202020204" pitchFamily="34" charset="0"/>
              </a:rPr>
              <a:t> X&gt;  </a:t>
            </a:r>
          </a:p>
          <a:p>
            <a:pPr marL="0" marR="0" algn="r" rtl="1">
              <a:lnSpc>
                <a:spcPct val="115000"/>
              </a:lnSpc>
              <a:spcAft>
                <a:spcPts val="800"/>
              </a:spcAft>
              <a:buNone/>
            </a:pPr>
            <a:r>
              <a:rPr lang="fa-IR" sz="1200" b="1" kern="100" dirty="0">
                <a:effectLst/>
                <a:latin typeface="Aptos" panose="020B0004020202020204" pitchFamily="34" charset="0"/>
                <a:ea typeface="Aptos" panose="020B0004020202020204" pitchFamily="34" charset="0"/>
                <a:cs typeface="Arial" panose="020B0604020202020204" pitchFamily="34" charset="0"/>
              </a:rPr>
              <a:t>۵</a:t>
            </a:r>
            <a:r>
              <a:rPr lang="en-US" sz="1200" b="1" kern="100" dirty="0">
                <a:effectLst/>
                <a:latin typeface="Aptos" panose="020B0004020202020204" pitchFamily="34" charset="0"/>
                <a:ea typeface="Aptos" panose="020B0004020202020204" pitchFamily="34" charset="0"/>
                <a:cs typeface="Arial" panose="020B0604020202020204" pitchFamily="34" charset="0"/>
              </a:rPr>
              <a:t>. </a:t>
            </a:r>
            <a:r>
              <a:rPr lang="ar-SA" sz="1200" b="1" kern="100" dirty="0">
                <a:effectLst/>
                <a:latin typeface="Aptos" panose="020B0004020202020204" pitchFamily="34" charset="0"/>
                <a:ea typeface="Aptos" panose="020B0004020202020204" pitchFamily="34" charset="0"/>
                <a:cs typeface="Arial" panose="020B0604020202020204" pitchFamily="34" charset="0"/>
              </a:rPr>
              <a:t>کرنل نتیجه را به کلاینت تحویل می‌دهد</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200" kern="100" dirty="0">
                <a:effectLst/>
                <a:latin typeface="Aptos" panose="020B0004020202020204" pitchFamily="34" charset="0"/>
                <a:ea typeface="Aptos" panose="020B0004020202020204" pitchFamily="34" charset="0"/>
                <a:cs typeface="Arial" panose="020B0604020202020204" pitchFamily="34" charset="0"/>
              </a:rPr>
              <a:t>کرنل کلاینت پاسخ را دریافت کرده و نتیجه را به برنامه کاربر منتقل می‌کند و چرخه</a:t>
            </a:r>
            <a:r>
              <a:rPr lang="en-US" sz="1200" kern="100" dirty="0">
                <a:effectLst/>
                <a:latin typeface="Aptos" panose="020B0004020202020204" pitchFamily="34" charset="0"/>
                <a:ea typeface="Aptos" panose="020B0004020202020204" pitchFamily="34" charset="0"/>
                <a:cs typeface="Arial" panose="020B0604020202020204" pitchFamily="34" charset="0"/>
              </a:rPr>
              <a:t> RPC </a:t>
            </a:r>
            <a:r>
              <a:rPr lang="ar-SA" sz="1200" kern="100" dirty="0">
                <a:effectLst/>
                <a:latin typeface="Aptos" panose="020B0004020202020204" pitchFamily="34" charset="0"/>
                <a:ea typeface="Aptos" panose="020B0004020202020204" pitchFamily="34" charset="0"/>
                <a:cs typeface="Arial" panose="020B0604020202020204" pitchFamily="34" charset="0"/>
              </a:rPr>
              <a:t>را تکمیل می‌کند</a:t>
            </a:r>
            <a:r>
              <a:rPr lang="en-US" sz="120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ar-SA" sz="1200" b="1" kern="100" dirty="0">
                <a:effectLst/>
                <a:latin typeface="Aptos" panose="020B0004020202020204" pitchFamily="34" charset="0"/>
                <a:ea typeface="Aptos" panose="020B0004020202020204" pitchFamily="34" charset="0"/>
                <a:cs typeface="Arial" panose="020B0604020202020204" pitchFamily="34" charset="0"/>
              </a:rPr>
              <a:t>مفاهیم کلیدی</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fa-IR" sz="1200" kern="100" dirty="0">
                <a:effectLst/>
                <a:latin typeface="Aptos" panose="020B0004020202020204" pitchFamily="34" charset="0"/>
                <a:ea typeface="Aptos" panose="020B0004020202020204" pitchFamily="34" charset="0"/>
                <a:cs typeface="Arial" panose="020B0604020202020204" pitchFamily="34" charset="0"/>
              </a:rPr>
              <a:t>۱</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b="1" kern="100" dirty="0">
                <a:effectLst/>
                <a:latin typeface="Aptos" panose="020B0004020202020204" pitchFamily="34" charset="0"/>
                <a:ea typeface="Aptos" panose="020B0004020202020204" pitchFamily="34" charset="0"/>
                <a:cs typeface="Arial" panose="020B0604020202020204" pitchFamily="34" charset="0"/>
              </a:rPr>
              <a:t>تطبیق‌دهنده</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به عنوان یک دایرکتوری سرویس عمل می‌کند و مکان سرورها (پورت‌ها) را برای</a:t>
            </a:r>
            <a:r>
              <a:rPr lang="en-US" sz="1200" kern="100" dirty="0">
                <a:effectLst/>
                <a:latin typeface="Aptos" panose="020B0004020202020204" pitchFamily="34" charset="0"/>
                <a:ea typeface="Aptos" panose="020B0004020202020204" pitchFamily="34" charset="0"/>
                <a:cs typeface="Arial" panose="020B0604020202020204" pitchFamily="34" charset="0"/>
              </a:rPr>
              <a:t> RPC</a:t>
            </a:r>
            <a:r>
              <a:rPr lang="ar-SA" sz="1200" kern="100" dirty="0">
                <a:effectLst/>
                <a:latin typeface="Aptos" panose="020B0004020202020204" pitchFamily="34" charset="0"/>
                <a:ea typeface="Aptos" panose="020B0004020202020204" pitchFamily="34" charset="0"/>
                <a:cs typeface="Arial" panose="020B0604020202020204" pitchFamily="34" charset="0"/>
              </a:rPr>
              <a:t>ها به صورت پویا حل می‌کند</a:t>
            </a:r>
            <a:r>
              <a:rPr lang="en-US" sz="1200" kern="100" dirty="0">
                <a:effectLst/>
                <a:latin typeface="Aptos" panose="020B0004020202020204" pitchFamily="34" charset="0"/>
                <a:ea typeface="Aptos" panose="020B0004020202020204" pitchFamily="34" charset="0"/>
                <a:cs typeface="Arial" panose="020B0604020202020204" pitchFamily="34" charset="0"/>
              </a:rPr>
              <a:t>.</a:t>
            </a:r>
            <a:br>
              <a:rPr lang="en-US" sz="1200" kern="100" dirty="0">
                <a:effectLst/>
                <a:latin typeface="Aptos" panose="020B0004020202020204" pitchFamily="34" charset="0"/>
                <a:ea typeface="Aptos" panose="020B0004020202020204" pitchFamily="34" charset="0"/>
                <a:cs typeface="Arial" panose="020B0604020202020204" pitchFamily="34" charset="0"/>
              </a:rPr>
            </a:br>
            <a:r>
              <a:rPr lang="fa-IR" sz="1200" kern="100" dirty="0">
                <a:effectLst/>
                <a:latin typeface="Aptos" panose="020B0004020202020204" pitchFamily="34" charset="0"/>
                <a:ea typeface="Aptos" panose="020B0004020202020204" pitchFamily="34" charset="0"/>
                <a:cs typeface="Arial" panose="020B0604020202020204" pitchFamily="34" charset="0"/>
              </a:rPr>
              <a:t>۲</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b="1" kern="100" dirty="0">
                <a:effectLst/>
                <a:latin typeface="Aptos" panose="020B0004020202020204" pitchFamily="34" charset="0"/>
                <a:ea typeface="Aptos" panose="020B0004020202020204" pitchFamily="34" charset="0"/>
                <a:cs typeface="Arial" panose="020B0604020202020204" pitchFamily="34" charset="0"/>
              </a:rPr>
              <a:t>ارتباط مبتنی بر پورت</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سرورها به پورت‌های خاصی متصل می‌شوند و کلاینت‌ها آن‌ها را از طریق تطبیق‌دهنده کشف می‌کنند</a:t>
            </a:r>
            <a:r>
              <a:rPr lang="en-US" sz="1200" kern="100" dirty="0">
                <a:effectLst/>
                <a:latin typeface="Aptos" panose="020B0004020202020204" pitchFamily="34" charset="0"/>
                <a:ea typeface="Aptos" panose="020B0004020202020204" pitchFamily="34" charset="0"/>
                <a:cs typeface="Arial" panose="020B0604020202020204" pitchFamily="34" charset="0"/>
              </a:rPr>
              <a:t>.</a:t>
            </a:r>
            <a:br>
              <a:rPr lang="en-US" sz="1200" kern="100" dirty="0">
                <a:effectLst/>
                <a:latin typeface="Aptos" panose="020B0004020202020204" pitchFamily="34" charset="0"/>
                <a:ea typeface="Aptos" panose="020B0004020202020204" pitchFamily="34" charset="0"/>
                <a:cs typeface="Arial" panose="020B0604020202020204" pitchFamily="34" charset="0"/>
              </a:rPr>
            </a:br>
            <a:r>
              <a:rPr lang="fa-IR" sz="1200" kern="100" dirty="0">
                <a:effectLst/>
                <a:latin typeface="Aptos" panose="020B0004020202020204" pitchFamily="34" charset="0"/>
                <a:ea typeface="Aptos" panose="020B0004020202020204" pitchFamily="34" charset="0"/>
                <a:cs typeface="Arial" panose="020B0604020202020204" pitchFamily="34" charset="0"/>
              </a:rPr>
              <a:t>۳</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b="1" kern="100" dirty="0">
                <a:effectLst/>
                <a:latin typeface="Aptos" panose="020B0004020202020204" pitchFamily="34" charset="0"/>
                <a:ea typeface="Aptos" panose="020B0004020202020204" pitchFamily="34" charset="0"/>
                <a:cs typeface="Arial" panose="020B0604020202020204" pitchFamily="34" charset="0"/>
              </a:rPr>
              <a:t>مشارکت کرنل</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مدیریت ارسال/دریافت پیام‌های سطح پایین بین ماشین‌ها را بر عهده دارد</a:t>
            </a:r>
            <a:r>
              <a:rPr lang="en-US" sz="1200" kern="100" dirty="0">
                <a:effectLst/>
                <a:latin typeface="Aptos" panose="020B0004020202020204" pitchFamily="34" charset="0"/>
                <a:ea typeface="Aptos" panose="020B0004020202020204" pitchFamily="34" charset="0"/>
                <a:cs typeface="Arial" panose="020B0604020202020204" pitchFamily="34" charset="0"/>
              </a:rPr>
              <a:t>.</a:t>
            </a:r>
            <a:br>
              <a:rPr lang="en-US" sz="1200" kern="100" dirty="0">
                <a:effectLst/>
                <a:latin typeface="Aptos" panose="020B0004020202020204" pitchFamily="34" charset="0"/>
                <a:ea typeface="Aptos" panose="020B0004020202020204" pitchFamily="34" charset="0"/>
                <a:cs typeface="Arial" panose="020B0604020202020204" pitchFamily="34" charset="0"/>
              </a:rPr>
            </a:br>
            <a:r>
              <a:rPr lang="fa-IR" sz="1200" kern="100" dirty="0">
                <a:effectLst/>
                <a:latin typeface="Aptos" panose="020B0004020202020204" pitchFamily="34" charset="0"/>
                <a:ea typeface="Aptos" panose="020B0004020202020204" pitchFamily="34" charset="0"/>
                <a:cs typeface="Arial" panose="020B0604020202020204" pitchFamily="34" charset="0"/>
              </a:rPr>
              <a:t>۴</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b="1" kern="100" dirty="0">
                <a:effectLst/>
                <a:latin typeface="Aptos" panose="020B0004020202020204" pitchFamily="34" charset="0"/>
                <a:ea typeface="Aptos" panose="020B0004020202020204" pitchFamily="34" charset="0"/>
                <a:cs typeface="Arial" panose="020B0604020202020204" pitchFamily="34" charset="0"/>
              </a:rPr>
              <a:t>دمون</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یک فرآیند سرور پایدار که برای درخواست‌های</a:t>
            </a:r>
            <a:r>
              <a:rPr lang="en-US" sz="1200" kern="100" dirty="0">
                <a:effectLst/>
                <a:latin typeface="Aptos" panose="020B0004020202020204" pitchFamily="34" charset="0"/>
                <a:ea typeface="Aptos" panose="020B0004020202020204" pitchFamily="34" charset="0"/>
                <a:cs typeface="Arial" panose="020B0604020202020204" pitchFamily="34" charset="0"/>
              </a:rPr>
              <a:t> RPC </a:t>
            </a:r>
            <a:r>
              <a:rPr lang="ar-SA" sz="1200" kern="100" dirty="0">
                <a:effectLst/>
                <a:latin typeface="Aptos" panose="020B0004020202020204" pitchFamily="34" charset="0"/>
                <a:ea typeface="Aptos" panose="020B0004020202020204" pitchFamily="34" charset="0"/>
                <a:cs typeface="Arial" panose="020B0604020202020204" pitchFamily="34" charset="0"/>
              </a:rPr>
              <a:t>روی پورت‌های مشخص‌شده گوش می‌دهد</a:t>
            </a:r>
            <a:r>
              <a:rPr lang="en-US" sz="120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ar-SA" sz="1200" b="1" kern="100" dirty="0">
                <a:effectLst/>
                <a:latin typeface="Aptos" panose="020B0004020202020204" pitchFamily="34" charset="0"/>
                <a:ea typeface="Aptos" panose="020B0004020202020204" pitchFamily="34" charset="0"/>
                <a:cs typeface="Arial" panose="020B0604020202020204" pitchFamily="34" charset="0"/>
              </a:rPr>
              <a:t>اهمیت این مکانیسم</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200" b="1" kern="100" dirty="0">
                <a:effectLst/>
                <a:latin typeface="Aptos" panose="020B0004020202020204" pitchFamily="34" charset="0"/>
                <a:ea typeface="Aptos" panose="020B0004020202020204" pitchFamily="34" charset="0"/>
                <a:cs typeface="Arial" panose="020B0604020202020204" pitchFamily="34" charset="0"/>
              </a:rPr>
              <a:t>انعطاف‌پذیری</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سرورها می‌توانند پورت‌ها یا مکان‌های خود را تغییر دهند؛ کلاینت‌ها فقط نیاز دارند آدرس تطبیق‌دهنده را بدانند</a:t>
            </a:r>
            <a:r>
              <a:rPr lang="en-US" sz="12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200" b="1" kern="100" dirty="0">
                <a:effectLst/>
                <a:latin typeface="Aptos" panose="020B0004020202020204" pitchFamily="34" charset="0"/>
                <a:ea typeface="Aptos" panose="020B0004020202020204" pitchFamily="34" charset="0"/>
                <a:cs typeface="Arial" panose="020B0604020202020204" pitchFamily="34" charset="0"/>
              </a:rPr>
              <a:t>انتزاع</a:t>
            </a:r>
            <a:r>
              <a:rPr lang="en-US" sz="1200" kern="100" dirty="0">
                <a:effectLst/>
                <a:latin typeface="Aptos" panose="020B0004020202020204" pitchFamily="34" charset="0"/>
                <a:ea typeface="Aptos" panose="020B0004020202020204" pitchFamily="34" charset="0"/>
                <a:cs typeface="Arial" panose="020B0604020202020204" pitchFamily="34" charset="0"/>
              </a:rPr>
              <a:t>: </a:t>
            </a:r>
            <a:r>
              <a:rPr lang="ar-SA" sz="1200" kern="100" dirty="0">
                <a:effectLst/>
                <a:latin typeface="Aptos" panose="020B0004020202020204" pitchFamily="34" charset="0"/>
                <a:ea typeface="Aptos" panose="020B0004020202020204" pitchFamily="34" charset="0"/>
                <a:cs typeface="Arial" panose="020B0604020202020204" pitchFamily="34" charset="0"/>
              </a:rPr>
              <a:t>کلاینت‌ها رویه‌های راه‌دور را به گونه‌ای فراخوانی می‌کنند که گویی محلی هستند و پیچیدگی شبکه را پنهان می‌کنند</a:t>
            </a:r>
            <a:r>
              <a:rPr lang="en-US" sz="1200" kern="100" dirty="0">
                <a:effectLst/>
                <a:latin typeface="Aptos" panose="020B0004020202020204" pitchFamily="34" charset="0"/>
                <a:ea typeface="Aptos" panose="020B0004020202020204" pitchFamily="34" charset="0"/>
                <a:cs typeface="Arial" panose="020B0604020202020204" pitchFamily="34" charset="0"/>
              </a:rPr>
              <a:t>.</a:t>
            </a:r>
          </a:p>
          <a:p>
            <a:pPr marL="0" marR="0" algn="r" rtl="1">
              <a:lnSpc>
                <a:spcPct val="115000"/>
              </a:lnSpc>
              <a:spcAft>
                <a:spcPts val="800"/>
              </a:spcAft>
              <a:buNone/>
            </a:pPr>
            <a:r>
              <a:rPr lang="ar-SA" sz="1200" kern="100" dirty="0">
                <a:effectLst/>
                <a:latin typeface="Aptos" panose="020B0004020202020204" pitchFamily="34" charset="0"/>
                <a:ea typeface="Aptos" panose="020B0004020202020204" pitchFamily="34" charset="0"/>
                <a:cs typeface="Arial" panose="020B0604020202020204" pitchFamily="34" charset="0"/>
              </a:rPr>
              <a:t>این مکانیسم برای سیستم‌های توزیع‌شده مانند میکروسرویس‌ها اساسی است، جایی که سروی</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pPr>
            <a:r>
              <a:rPr lang="en-US" sz="1200" kern="100" dirty="0">
                <a:effectLst/>
                <a:latin typeface="Aptos" panose="020B0004020202020204" pitchFamily="34" charset="0"/>
                <a:ea typeface="Aptos" panose="020B0004020202020204" pitchFamily="34" charset="0"/>
                <a:cs typeface="Arial" panose="020B0604020202020204" pitchFamily="34" charset="0"/>
              </a:rPr>
              <a:t> </a:t>
            </a:r>
          </a:p>
          <a:p>
            <a:endParaRPr lang="en-US" altLang="en-US" dirty="0">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D2202362-7471-46C7-9C31-E5A6027418EA}"/>
              </a:ext>
            </a:extLst>
          </p:cNvPr>
          <p:cNvSpPr>
            <a:spLocks noGrp="1" noRot="1" noChangeAspect="1" noChangeArrowheads="1" noTextEdit="1"/>
          </p:cNvSpPr>
          <p:nvPr>
            <p:ph type="sldImg"/>
          </p:nvPr>
        </p:nvSpPr>
        <p:spPr>
          <a:ln/>
        </p:spPr>
      </p:sp>
      <p:sp>
        <p:nvSpPr>
          <p:cNvPr id="134147" name="Rectangle 3">
            <a:extLst>
              <a:ext uri="{FF2B5EF4-FFF2-40B4-BE49-F238E27FC236}">
                <a16:creationId xmlns:a16="http://schemas.microsoft.com/office/drawing/2014/main" id="{C33781B4-D103-424B-BE83-A42E8E9F7B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9BD35E56-DD67-4ECB-BD37-13A2B5AEECCF}"/>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671B6D1F-21BA-45DA-B276-24F324AE8A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3749986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9BD35E56-DD67-4ECB-BD37-13A2B5AEECCF}"/>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671B6D1F-21BA-45DA-B276-24F324AE8A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595535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2138AA6B-8B83-46B1-9A6E-00FA4154E850}"/>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8F978D44-4AC2-455B-BA58-C9B7F48E19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9594092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E6962208-A29D-4A10-9198-5929731D8BF1}"/>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BDBB8E9B-EDCD-470E-8881-2446C34889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209365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459F42AB-B2FE-430D-B9BB-6A59FD8514A4}"/>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6AA9600B-65A8-48A0-AEBE-270116A22D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3435306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4346804A-C554-4977-937C-189AD5B0D8CC}"/>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96DEE86A-65F8-40A4-9764-1414407722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6490222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82C699AE-42EF-4ED2-8387-CB52FD55731C}"/>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07CC3844-787A-4A53-A206-0A1C333628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1556249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454A392F-FA1E-4AA5-9D5A-3DF2596D7624}"/>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07B613B1-0A3B-4DB4-B957-B63CB6628D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14925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mailto:a0taghinezhad@gmail.com"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785276E-E512-431C-9863-60C16073997B}"/>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A16CBBBC-832D-4981-B7BE-1E6129BC1A7C}"/>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sp>
          <p:nvSpPr>
            <p:cNvPr id="5" name="Rectangle 5">
              <a:extLst>
                <a:ext uri="{FF2B5EF4-FFF2-40B4-BE49-F238E27FC236}">
                  <a16:creationId xmlns:a16="http://schemas.microsoft.com/office/drawing/2014/main" id="{ECCF6664-2599-48D7-AF8C-34B0B9441612}"/>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sp>
          <p:nvSpPr>
            <p:cNvPr id="6" name="Rectangle 6">
              <a:extLst>
                <a:ext uri="{FF2B5EF4-FFF2-40B4-BE49-F238E27FC236}">
                  <a16:creationId xmlns:a16="http://schemas.microsoft.com/office/drawing/2014/main" id="{C5EC98FB-CBB8-449B-A94E-B0B58773A4D4}"/>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grpSp>
      <p:sp>
        <p:nvSpPr>
          <p:cNvPr id="7" name="Text Box 7">
            <a:extLst>
              <a:ext uri="{FF2B5EF4-FFF2-40B4-BE49-F238E27FC236}">
                <a16:creationId xmlns:a16="http://schemas.microsoft.com/office/drawing/2014/main" id="{F334230E-B06E-4011-9947-832BC9534778}"/>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25BFB58C-5B52-429B-BF7C-2A3DD468AE0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sz="1000" b="1" dirty="0">
                <a:solidFill>
                  <a:srgbClr val="336699"/>
                </a:solidFill>
                <a:latin typeface="Helvetica" pitchFamily="-84" charset="0"/>
              </a:rPr>
              <a:t>Operating System Concepts – 10</a:t>
            </a:r>
            <a:r>
              <a:rPr lang="en-US" sz="1000" b="1" baseline="30000" dirty="0">
                <a:solidFill>
                  <a:srgbClr val="336699"/>
                </a:solidFill>
                <a:latin typeface="Helvetica" pitchFamily="-84" charset="0"/>
              </a:rPr>
              <a:t>th</a:t>
            </a:r>
            <a:r>
              <a:rPr 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D3E76B3A-1933-415B-8018-61828BE854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568F85F6-D2B1-49C8-8F26-5A6CD47E8342}"/>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466835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027522"/>
            <a:ext cx="8215459" cy="502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006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856602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6875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03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34732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4399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00291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43869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9121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9995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10" name="Rectangle 9"/>
          <p:cNvSpPr/>
          <p:nvPr/>
        </p:nvSpPr>
        <p:spPr>
          <a:xfrm>
            <a:off x="-26671" y="6178558"/>
            <a:ext cx="9144001" cy="67944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anchor="ctr"/>
          <a:lstStyle/>
          <a:p>
            <a:pPr marL="0" indent="0"/>
            <a:r>
              <a:rPr lang="en-US" sz="1800" dirty="0">
                <a:latin typeface="Consolas" panose="020B0609020204030204" pitchFamily="49" charset="0"/>
                <a:ea typeface="Tahoma" panose="020B0604030504040204" pitchFamily="34" charset="0"/>
                <a:cs typeface="Tahoma" panose="020B0604030504040204" pitchFamily="34" charset="0"/>
              </a:rPr>
              <a:t>Website: </a:t>
            </a:r>
            <a:r>
              <a:rPr lang="en-US" sz="1800" dirty="0">
                <a:latin typeface="Consolas" panose="020B0609020204030204" pitchFamily="49" charset="0"/>
                <a:ea typeface="Tahoma" panose="020B0604030504040204" pitchFamily="34" charset="0"/>
                <a:cs typeface="Tahoma" panose="020B0604030504040204" pitchFamily="34" charset="0"/>
                <a:hlinkClick r:id="rId2">
                  <a:extLst>
                    <a:ext uri="{A12FA001-AC4F-418D-AE19-62706E023703}">
                      <ahyp:hlinkClr xmlns:ahyp="http://schemas.microsoft.com/office/drawing/2018/hyperlinkcolor" val="tx"/>
                    </a:ext>
                  </a:extLst>
                </a:hlinkClick>
              </a:rPr>
              <a:t>ataghinezhad</a:t>
            </a:r>
            <a:r>
              <a:rPr lang="en-US" sz="1800" dirty="0">
                <a:latin typeface="Consolas" panose="020B0609020204030204" pitchFamily="49" charset="0"/>
                <a:ea typeface="Tahoma" panose="020B0604030504040204" pitchFamily="34" charset="0"/>
                <a:cs typeface="Tahoma" panose="020B0604030504040204" pitchFamily="34" charset="0"/>
              </a:rPr>
              <a:t>.github.io, Email:a0taghinezhad@gmail.com</a:t>
            </a:r>
          </a:p>
        </p:txBody>
      </p:sp>
      <p:sp>
        <p:nvSpPr>
          <p:cNvPr id="19" name="Rectangle 18"/>
          <p:cNvSpPr/>
          <p:nvPr/>
        </p:nvSpPr>
        <p:spPr>
          <a:xfrm>
            <a:off x="0" y="15240"/>
            <a:ext cx="5475317" cy="6157952"/>
          </a:xfrm>
          <a:prstGeom prst="rect">
            <a:avLst/>
          </a:prstGeom>
          <a:solidFill>
            <a:schemeClr val="accent5">
              <a:lumMod val="7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9" name="Slide Number Placeholder 28"/>
          <p:cNvSpPr>
            <a:spLocks noGrp="1"/>
          </p:cNvSpPr>
          <p:nvPr>
            <p:ph type="sldNum" sz="quarter" idx="12"/>
          </p:nvPr>
        </p:nvSpPr>
        <p:spPr>
          <a:xfrm>
            <a:off x="8320089" y="1136"/>
            <a:ext cx="747712" cy="365760"/>
          </a:xfrm>
        </p:spPr>
        <p:txBody>
          <a:bodyPr/>
          <a:lstStyle>
            <a:lvl1pPr algn="r">
              <a:defRPr sz="1350">
                <a:solidFill>
                  <a:schemeClr val="bg1"/>
                </a:solidFill>
              </a:defRPr>
            </a:lvl1pPr>
          </a:lstStyle>
          <a:p>
            <a:fld id="{401CF334-2D5C-4859-84A6-CA7E6E43FAEB}" type="slidenum">
              <a:rPr lang="en-US" smtClean="0"/>
              <a:t>‹#›</a:t>
            </a:fld>
            <a:endParaRPr lang="en-US" dirty="0"/>
          </a:p>
        </p:txBody>
      </p:sp>
      <p:sp>
        <p:nvSpPr>
          <p:cNvPr id="9" name="Subtitle 8"/>
          <p:cNvSpPr>
            <a:spLocks noGrp="1"/>
          </p:cNvSpPr>
          <p:nvPr>
            <p:ph type="subTitle" idx="1" hasCustomPrompt="1"/>
          </p:nvPr>
        </p:nvSpPr>
        <p:spPr>
          <a:xfrm>
            <a:off x="-1" y="3941143"/>
            <a:ext cx="5040631" cy="2195473"/>
          </a:xfrm>
          <a:solidFill>
            <a:schemeClr val="accent6">
              <a:lumMod val="75000"/>
            </a:schemeClr>
          </a:solidFill>
        </p:spPr>
        <p:style>
          <a:lnRef idx="2">
            <a:schemeClr val="accent4"/>
          </a:lnRef>
          <a:fillRef idx="1">
            <a:schemeClr val="lt1"/>
          </a:fillRef>
          <a:effectRef idx="0">
            <a:schemeClr val="accent4"/>
          </a:effectRef>
          <a:fontRef idx="minor">
            <a:schemeClr val="dk1"/>
          </a:fontRef>
        </p:style>
        <p:txBody>
          <a:bodyPr anchor="ctr">
            <a:normAutofit/>
          </a:bodyPr>
          <a:lstStyle>
            <a:lvl1pPr marL="0" indent="0" algn="l">
              <a:buNone/>
              <a:defRPr sz="2100">
                <a:solidFill>
                  <a:schemeClr val="bg1"/>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pPr marL="0" indent="0"/>
            <a:r>
              <a:rPr lang="en-US" sz="2400" dirty="0">
                <a:latin typeface="Consolas" panose="020B0609020204030204" pitchFamily="49" charset="0"/>
                <a:ea typeface="Tahoma" panose="020B0604030504040204" pitchFamily="34" charset="0"/>
                <a:cs typeface="Tahoma" panose="020B0604030504040204" pitchFamily="34" charset="0"/>
              </a:rPr>
              <a:t>A. </a:t>
            </a:r>
            <a:r>
              <a:rPr lang="en-US" sz="2400" dirty="0" err="1">
                <a:latin typeface="Consolas" panose="020B0609020204030204" pitchFamily="49" charset="0"/>
                <a:ea typeface="Tahoma" panose="020B0604030504040204" pitchFamily="34" charset="0"/>
                <a:cs typeface="Tahoma" panose="020B0604030504040204" pitchFamily="34" charset="0"/>
              </a:rPr>
              <a:t>Taghinezhad</a:t>
            </a:r>
            <a:r>
              <a:rPr lang="en-US" sz="2400" dirty="0">
                <a:latin typeface="Consolas" panose="020B0609020204030204" pitchFamily="49" charset="0"/>
                <a:ea typeface="Tahoma" panose="020B0604030504040204" pitchFamily="34" charset="0"/>
                <a:cs typeface="Tahoma" panose="020B0604030504040204" pitchFamily="34" charset="0"/>
              </a:rPr>
              <a:t>, Ph.D.</a:t>
            </a:r>
          </a:p>
        </p:txBody>
      </p:sp>
      <p:sp>
        <p:nvSpPr>
          <p:cNvPr id="8" name="Title 7"/>
          <p:cNvSpPr>
            <a:spLocks noGrp="1"/>
          </p:cNvSpPr>
          <p:nvPr>
            <p:ph type="ctrTitle"/>
          </p:nvPr>
        </p:nvSpPr>
        <p:spPr>
          <a:xfrm>
            <a:off x="0" y="526792"/>
            <a:ext cx="5173884" cy="3345122"/>
          </a:xfrm>
        </p:spPr>
        <p:txBody>
          <a:bodyPr anchor="ctr">
            <a:normAutofit/>
          </a:bodyPr>
          <a:lstStyle>
            <a:lvl1pPr algn="ctr">
              <a:defRPr sz="3600" b="1" cap="none" spc="0">
                <a:ln w="10160">
                  <a:solidFill>
                    <a:schemeClr val="bg1">
                      <a:lumMod val="65000"/>
                    </a:schemeClr>
                  </a:solidFill>
                  <a:prstDash val="solid"/>
                </a:ln>
                <a:solidFill>
                  <a:schemeClr val="tx1"/>
                </a:solidFill>
                <a:effectLst/>
              </a:defRPr>
            </a:lvl1pPr>
          </a:lstStyle>
          <a:p>
            <a:r>
              <a:rPr kumimoji="0" lang="en-US" dirty="0"/>
              <a:t>Click to edit Master title style</a:t>
            </a:r>
          </a:p>
        </p:txBody>
      </p:sp>
    </p:spTree>
    <p:extLst>
      <p:ext uri="{BB962C8B-B14F-4D97-AF65-F5344CB8AC3E}">
        <p14:creationId xmlns:p14="http://schemas.microsoft.com/office/powerpoint/2010/main" val="2371813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9AD7FE-FA45-4BE9-8DFC-4D28F5C3291D}"/>
              </a:ext>
            </a:extLst>
          </p:cNvPr>
          <p:cNvSpPr/>
          <p:nvPr userDrawn="1"/>
        </p:nvSpPr>
        <p:spPr bwMode="auto">
          <a:xfrm>
            <a:off x="-71120" y="-141604"/>
            <a:ext cx="1493520" cy="995679"/>
          </a:xfrm>
          <a:prstGeom prst="rect">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
        <p:nvSpPr>
          <p:cNvPr id="2" name="Title 1">
            <a:extLst>
              <a:ext uri="{FF2B5EF4-FFF2-40B4-BE49-F238E27FC236}">
                <a16:creationId xmlns:a16="http://schemas.microsoft.com/office/drawing/2014/main" id="{9323FE09-FBC5-4664-87DC-B985BBAD83CA}"/>
              </a:ext>
            </a:extLst>
          </p:cNvPr>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633A2F6B-A885-4B23-A49E-7A743B993F19}"/>
              </a:ext>
            </a:extLst>
          </p:cNvPr>
          <p:cNvSpPr/>
          <p:nvPr userDrawn="1"/>
        </p:nvSpPr>
        <p:spPr bwMode="auto">
          <a:xfrm>
            <a:off x="0" y="0"/>
            <a:ext cx="386080" cy="6858000"/>
          </a:xfrm>
          <a:prstGeom prst="rect">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
        <p:nvSpPr>
          <p:cNvPr id="4" name="Rectangle 3">
            <a:extLst>
              <a:ext uri="{FF2B5EF4-FFF2-40B4-BE49-F238E27FC236}">
                <a16:creationId xmlns:a16="http://schemas.microsoft.com/office/drawing/2014/main" id="{315BD073-F466-4EFA-95C9-B4DCE8C74F73}"/>
              </a:ext>
            </a:extLst>
          </p:cNvPr>
          <p:cNvSpPr/>
          <p:nvPr userDrawn="1"/>
        </p:nvSpPr>
        <p:spPr bwMode="auto">
          <a:xfrm>
            <a:off x="254524" y="6429080"/>
            <a:ext cx="2539477" cy="428920"/>
          </a:xfrm>
          <a:prstGeom prst="rect">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
        <p:nvSpPr>
          <p:cNvPr id="5" name="Rectangle 4">
            <a:extLst>
              <a:ext uri="{FF2B5EF4-FFF2-40B4-BE49-F238E27FC236}">
                <a16:creationId xmlns:a16="http://schemas.microsoft.com/office/drawing/2014/main" id="{2BEB24DE-D382-4EF4-9BC1-484F8BDA7493}"/>
              </a:ext>
            </a:extLst>
          </p:cNvPr>
          <p:cNvSpPr/>
          <p:nvPr userDrawn="1"/>
        </p:nvSpPr>
        <p:spPr bwMode="auto">
          <a:xfrm>
            <a:off x="6350000" y="5862320"/>
            <a:ext cx="2794000" cy="995679"/>
          </a:xfrm>
          <a:prstGeom prst="rect">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Tree>
    <p:extLst>
      <p:ext uri="{BB962C8B-B14F-4D97-AF65-F5344CB8AC3E}">
        <p14:creationId xmlns:p14="http://schemas.microsoft.com/office/powerpoint/2010/main" val="1444337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34B7DADE-05C1-4235-BC95-7FD16DF5A58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2C13949F-D9D1-4EE3-9FC6-AFE9404AECD0}"/>
              </a:ext>
            </a:extLst>
          </p:cNvPr>
          <p:cNvSpPr>
            <a:spLocks noGrp="1" noChangeArrowheads="1"/>
          </p:cNvSpPr>
          <p:nvPr>
            <p:ph type="title"/>
          </p:nvPr>
        </p:nvSpPr>
        <p:spPr bwMode="auto">
          <a:xfrm>
            <a:off x="457200" y="225425"/>
            <a:ext cx="8077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2156033E-2A1D-44DE-9E54-71D4B4B6E84C}"/>
              </a:ext>
            </a:extLst>
          </p:cNvPr>
          <p:cNvSpPr>
            <a:spLocks noGrp="1" noChangeArrowheads="1"/>
          </p:cNvSpPr>
          <p:nvPr>
            <p:ph type="body" idx="1"/>
          </p:nvPr>
        </p:nvSpPr>
        <p:spPr bwMode="auto">
          <a:xfrm>
            <a:off x="457201" y="919163"/>
            <a:ext cx="8077199" cy="5568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44A806BF-A0C0-4368-AD58-420F34B3A6F7}"/>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eaLnBrk="1" hangingPunct="1">
              <a:defRPr/>
            </a:pPr>
            <a:endParaRPr lang="x-none" altLang="x-none" sz="2400">
              <a:latin typeface="Times New Roman" charset="0"/>
            </a:endParaRPr>
          </a:p>
        </p:txBody>
      </p:sp>
      <p:sp>
        <p:nvSpPr>
          <p:cNvPr id="1030" name="Line 6">
            <a:extLst>
              <a:ext uri="{FF2B5EF4-FFF2-40B4-BE49-F238E27FC236}">
                <a16:creationId xmlns:a16="http://schemas.microsoft.com/office/drawing/2014/main" id="{38CA0CBE-E7DB-4B13-BE0C-81E2F34D25C5}"/>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E66E26E9-18B9-458C-AE7B-19180B81EF90}"/>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eaLnBrk="1" hangingPunct="1">
              <a:defRPr/>
            </a:pPr>
            <a:endParaRPr lang="x-none" altLang="x-none" sz="2400">
              <a:latin typeface="Times New Roman" charset="0"/>
            </a:endParaRPr>
          </a:p>
        </p:txBody>
      </p:sp>
      <p:sp>
        <p:nvSpPr>
          <p:cNvPr id="1032" name="Rectangle 8">
            <a:extLst>
              <a:ext uri="{FF2B5EF4-FFF2-40B4-BE49-F238E27FC236}">
                <a16:creationId xmlns:a16="http://schemas.microsoft.com/office/drawing/2014/main" id="{2CCFF09E-8C15-497C-99D4-D11290D2DDF6}"/>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eaLnBrk="1" hangingPunct="1">
              <a:defRPr/>
            </a:pPr>
            <a:endParaRPr lang="x-none" altLang="x-none" sz="2400">
              <a:latin typeface="Times New Roman" charset="0"/>
            </a:endParaRPr>
          </a:p>
        </p:txBody>
      </p:sp>
      <p:sp>
        <p:nvSpPr>
          <p:cNvPr id="1033" name="Text Box 9">
            <a:extLst>
              <a:ext uri="{FF2B5EF4-FFF2-40B4-BE49-F238E27FC236}">
                <a16:creationId xmlns:a16="http://schemas.microsoft.com/office/drawing/2014/main" id="{332EE4A3-5FFF-44B0-9A59-5F8CE7D7599F}"/>
              </a:ext>
            </a:extLst>
          </p:cNvPr>
          <p:cNvSpPr txBox="1">
            <a:spLocks noChangeArrowheads="1"/>
          </p:cNvSpPr>
          <p:nvPr/>
        </p:nvSpPr>
        <p:spPr bwMode="auto">
          <a:xfrm>
            <a:off x="4256088" y="6613525"/>
            <a:ext cx="447675" cy="246063"/>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x-none" sz="1000" b="1">
                <a:solidFill>
                  <a:srgbClr val="006699"/>
                </a:solidFill>
                <a:latin typeface="Helvetica" charset="0"/>
              </a:rPr>
              <a:t>3.</a:t>
            </a:r>
            <a:fld id="{A6EDADC4-5648-406C-94CA-EDDB863B04E2}" type="slidenum">
              <a:rPr lang="en-US" altLang="x-none" sz="1000" b="1" smtClean="0">
                <a:solidFill>
                  <a:srgbClr val="006699"/>
                </a:solidFill>
                <a:latin typeface="Helvetica" charset="0"/>
              </a:rPr>
              <a:pPr algn="ctr">
                <a:spcBef>
                  <a:spcPct val="50000"/>
                </a:spcBef>
                <a:defRPr/>
              </a:pPr>
              <a:t>‹#›</a:t>
            </a:fld>
            <a:endParaRPr lang="en-US" altLang="x-none" sz="1000" b="1">
              <a:solidFill>
                <a:srgbClr val="006699"/>
              </a:solidFill>
              <a:latin typeface="Helvetica" charset="0"/>
            </a:endParaRPr>
          </a:p>
        </p:txBody>
      </p:sp>
      <p:sp>
        <p:nvSpPr>
          <p:cNvPr id="1034" name="Text Box 10">
            <a:extLst>
              <a:ext uri="{FF2B5EF4-FFF2-40B4-BE49-F238E27FC236}">
                <a16:creationId xmlns:a16="http://schemas.microsoft.com/office/drawing/2014/main" id="{4AE1926B-ED4A-404A-BC01-96D11B8A42EE}"/>
              </a:ext>
            </a:extLst>
          </p:cNvPr>
          <p:cNvSpPr txBox="1">
            <a:spLocks noChangeArrowheads="1"/>
          </p:cNvSpPr>
          <p:nvPr/>
        </p:nvSpPr>
        <p:spPr bwMode="auto">
          <a:xfrm>
            <a:off x="6430963" y="6613525"/>
            <a:ext cx="2713037"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fa-IR" altLang="en-US" sz="1000" b="1" dirty="0">
                <a:solidFill>
                  <a:srgbClr val="006699"/>
                </a:solidFill>
                <a:latin typeface="Helvetica" pitchFamily="-84" charset="0"/>
                <a:cs typeface="B Nazanin" panose="00000400000000000000" pitchFamily="2" charset="-78"/>
              </a:rPr>
              <a:t>دکتر احمد تقی نژاد ۲۰۲۴</a:t>
            </a:r>
            <a:endParaRPr lang="en-US" altLang="en-US" sz="1000" b="1" dirty="0">
              <a:solidFill>
                <a:srgbClr val="006699"/>
              </a:solidFill>
              <a:latin typeface="Helvetica" pitchFamily="-84" charset="0"/>
              <a:cs typeface="B Nazanin" panose="00000400000000000000" pitchFamily="2" charset="-78"/>
            </a:endParaRPr>
          </a:p>
        </p:txBody>
      </p:sp>
      <p:sp>
        <p:nvSpPr>
          <p:cNvPr id="1035" name="Text Box 11">
            <a:extLst>
              <a:ext uri="{FF2B5EF4-FFF2-40B4-BE49-F238E27FC236}">
                <a16:creationId xmlns:a16="http://schemas.microsoft.com/office/drawing/2014/main" id="{32010AC7-36CA-437D-BB87-25E8B15E0034}"/>
              </a:ext>
            </a:extLst>
          </p:cNvPr>
          <p:cNvSpPr txBox="1">
            <a:spLocks noChangeArrowheads="1"/>
          </p:cNvSpPr>
          <p:nvPr/>
        </p:nvSpPr>
        <p:spPr bwMode="auto">
          <a:xfrm>
            <a:off x="185738" y="6594475"/>
            <a:ext cx="2125903" cy="246221"/>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fa-IR" altLang="en-US" sz="1000" b="1" dirty="0">
                <a:solidFill>
                  <a:srgbClr val="006699"/>
                </a:solidFill>
                <a:latin typeface="Helvetica" pitchFamily="-84" charset="0"/>
                <a:cs typeface="B Nazanin" panose="00000400000000000000" pitchFamily="2" charset="-78"/>
              </a:rPr>
              <a:t>مفاهیم سیستم عامل نسخه ۱۰- سیلبرشاتس</a:t>
            </a:r>
            <a:endParaRPr lang="en-US" altLang="en-US" sz="1000" b="1" dirty="0">
              <a:solidFill>
                <a:srgbClr val="006699"/>
              </a:solidFill>
              <a:latin typeface="Helvetica" pitchFamily="-84" charset="0"/>
              <a:cs typeface="B Nazanin" panose="00000400000000000000" pitchFamily="2" charset="-78"/>
            </a:endParaRPr>
          </a:p>
        </p:txBody>
      </p:sp>
      <p:pic>
        <p:nvPicPr>
          <p:cNvPr id="1036" name="Picture 12" descr="dino_6">
            <a:extLst>
              <a:ext uri="{FF2B5EF4-FFF2-40B4-BE49-F238E27FC236}">
                <a16:creationId xmlns:a16="http://schemas.microsoft.com/office/drawing/2014/main" id="{09E176C0-BBA8-45C3-9F79-40005E1FFE3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256111" y="6147315"/>
            <a:ext cx="802164" cy="494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15" r:id="rId1"/>
    <p:sldLayoutId id="2147484205" r:id="rId2"/>
    <p:sldLayoutId id="2147484206" r:id="rId3"/>
    <p:sldLayoutId id="2147484207" r:id="rId4"/>
    <p:sldLayoutId id="2147484208" r:id="rId5"/>
    <p:sldLayoutId id="2147484209" r:id="rId6"/>
    <p:sldLayoutId id="2147484210" r:id="rId7"/>
    <p:sldLayoutId id="2147484211" r:id="rId8"/>
    <p:sldLayoutId id="2147484212" r:id="rId9"/>
    <p:sldLayoutId id="2147484213" r:id="rId10"/>
    <p:sldLayoutId id="2147484214" r:id="rId11"/>
    <p:sldLayoutId id="2147484216" r:id="rId12"/>
    <p:sldLayoutId id="2147484217" r:id="rId13"/>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65.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35.png"/><Relationship Id="rId3" Type="http://schemas.openxmlformats.org/officeDocument/2006/relationships/image" Target="../media/image30.jpeg"/><Relationship Id="rId7" Type="http://schemas.openxmlformats.org/officeDocument/2006/relationships/image" Target="../media/image32.png"/><Relationship Id="rId12" Type="http://schemas.openxmlformats.org/officeDocument/2006/relationships/customXml" Target="../ink/ink5.xml"/><Relationship Id="rId2" Type="http://schemas.openxmlformats.org/officeDocument/2006/relationships/notesSlide" Target="../notesSlides/notesSlide61.xml"/><Relationship Id="rId1" Type="http://schemas.openxmlformats.org/officeDocument/2006/relationships/slideLayout" Target="../slideLayouts/slideLayout6.xml"/><Relationship Id="rId6" Type="http://schemas.openxmlformats.org/officeDocument/2006/relationships/customXml" Target="../ink/ink2.xml"/><Relationship Id="rId11" Type="http://schemas.openxmlformats.org/officeDocument/2006/relationships/image" Target="../media/image34.png"/><Relationship Id="rId5" Type="http://schemas.openxmlformats.org/officeDocument/2006/relationships/image" Target="../media/image31.png"/><Relationship Id="rId15" Type="http://schemas.openxmlformats.org/officeDocument/2006/relationships/image" Target="../media/image36.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33.png"/><Relationship Id="rId14" Type="http://schemas.openxmlformats.org/officeDocument/2006/relationships/customXml" Target="../ink/ink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60CEF4-0835-4317-BDEB-A5571B14B8CB}"/>
              </a:ext>
            </a:extLst>
          </p:cNvPr>
          <p:cNvSpPr>
            <a:spLocks noGrp="1"/>
          </p:cNvSpPr>
          <p:nvPr>
            <p:ph type="sldNum" sz="quarter" idx="12"/>
          </p:nvPr>
        </p:nvSpPr>
        <p:spPr/>
        <p:txBody>
          <a:bodyPr/>
          <a:lstStyle/>
          <a:p>
            <a:fld id="{401CF334-2D5C-4859-84A6-CA7E6E43FAEB}" type="slidenum">
              <a:rPr lang="en-US" smtClean="0"/>
              <a:t>1</a:t>
            </a:fld>
            <a:endParaRPr lang="en-US" dirty="0"/>
          </a:p>
        </p:txBody>
      </p:sp>
      <p:sp>
        <p:nvSpPr>
          <p:cNvPr id="6" name="Subtitle 5">
            <a:extLst>
              <a:ext uri="{FF2B5EF4-FFF2-40B4-BE49-F238E27FC236}">
                <a16:creationId xmlns:a16="http://schemas.microsoft.com/office/drawing/2014/main" id="{57B35CAD-C853-45BE-BF0D-F746ACC4A2F0}"/>
              </a:ext>
            </a:extLst>
          </p:cNvPr>
          <p:cNvSpPr>
            <a:spLocks noGrp="1"/>
          </p:cNvSpPr>
          <p:nvPr>
            <p:ph type="subTitle" idx="1"/>
          </p:nvPr>
        </p:nvSpPr>
        <p:spPr/>
        <p:txBody>
          <a:bodyPr/>
          <a:lstStyle/>
          <a:p>
            <a:r>
              <a:rPr lang="en-US" dirty="0"/>
              <a:t>Dr. A. </a:t>
            </a:r>
            <a:r>
              <a:rPr lang="en-US" dirty="0" err="1"/>
              <a:t>Taghinezhad</a:t>
            </a:r>
            <a:endParaRPr lang="en-US" dirty="0"/>
          </a:p>
        </p:txBody>
      </p:sp>
      <p:sp>
        <p:nvSpPr>
          <p:cNvPr id="5" name="Title 4">
            <a:extLst>
              <a:ext uri="{FF2B5EF4-FFF2-40B4-BE49-F238E27FC236}">
                <a16:creationId xmlns:a16="http://schemas.microsoft.com/office/drawing/2014/main" id="{092F418E-BA19-4F07-9634-49890018C0B8}"/>
              </a:ext>
            </a:extLst>
          </p:cNvPr>
          <p:cNvSpPr>
            <a:spLocks noGrp="1"/>
          </p:cNvSpPr>
          <p:nvPr>
            <p:ph type="ctrTitle"/>
          </p:nvPr>
        </p:nvSpPr>
        <p:spPr>
          <a:xfrm>
            <a:off x="-210207" y="977462"/>
            <a:ext cx="5250836" cy="2804745"/>
          </a:xfrm>
        </p:spPr>
        <p:txBody>
          <a:bodyPr/>
          <a:lstStyle/>
          <a:p>
            <a:r>
              <a:rPr lang="en-US" b="0" dirty="0">
                <a:ln w="0"/>
                <a:solidFill>
                  <a:schemeClr val="bg1"/>
                </a:solidFill>
                <a:effectLst>
                  <a:outerShdw blurRad="38100" dist="19050" dir="2700000" algn="tl" rotWithShape="0">
                    <a:schemeClr val="dk1">
                      <a:alpha val="40000"/>
                    </a:schemeClr>
                  </a:outerShdw>
                </a:effectLst>
                <a:cs typeface="B Koodak" panose="00000700000000000000" pitchFamily="2" charset="-78"/>
              </a:rPr>
              <a:t>Operation Systems</a:t>
            </a:r>
          </a:p>
        </p:txBody>
      </p:sp>
      <p:pic>
        <p:nvPicPr>
          <p:cNvPr id="4" name="Picture 3">
            <a:extLst>
              <a:ext uri="{FF2B5EF4-FFF2-40B4-BE49-F238E27FC236}">
                <a16:creationId xmlns:a16="http://schemas.microsoft.com/office/drawing/2014/main" id="{079A858C-7C9A-4398-B7CD-2DD5002CA2F7}"/>
              </a:ext>
            </a:extLst>
          </p:cNvPr>
          <p:cNvPicPr>
            <a:picLocks noChangeAspect="1"/>
          </p:cNvPicPr>
          <p:nvPr/>
        </p:nvPicPr>
        <p:blipFill>
          <a:blip r:embed="rId2"/>
          <a:stretch>
            <a:fillRect/>
          </a:stretch>
        </p:blipFill>
        <p:spPr>
          <a:xfrm>
            <a:off x="4686121" y="0"/>
            <a:ext cx="4457879" cy="6206067"/>
          </a:xfrm>
          <a:prstGeom prst="rect">
            <a:avLst/>
          </a:prstGeom>
        </p:spPr>
      </p:pic>
      <p:pic>
        <p:nvPicPr>
          <p:cNvPr id="7" name="Picture 6">
            <a:extLst>
              <a:ext uri="{FF2B5EF4-FFF2-40B4-BE49-F238E27FC236}">
                <a16:creationId xmlns:a16="http://schemas.microsoft.com/office/drawing/2014/main" id="{B2F1EA7A-7EC7-46F6-853E-0E31422BC8A4}"/>
              </a:ext>
            </a:extLst>
          </p:cNvPr>
          <p:cNvPicPr>
            <a:picLocks noChangeAspect="1"/>
          </p:cNvPicPr>
          <p:nvPr/>
        </p:nvPicPr>
        <p:blipFill>
          <a:blip r:embed="rId3"/>
          <a:stretch>
            <a:fillRect/>
          </a:stretch>
        </p:blipFill>
        <p:spPr>
          <a:xfrm>
            <a:off x="2594728" y="4145569"/>
            <a:ext cx="1863152" cy="1863152"/>
          </a:xfrm>
          <a:prstGeom prst="rect">
            <a:avLst/>
          </a:prstGeom>
        </p:spPr>
      </p:pic>
    </p:spTree>
    <p:extLst>
      <p:ext uri="{BB962C8B-B14F-4D97-AF65-F5344CB8AC3E}">
        <p14:creationId xmlns:p14="http://schemas.microsoft.com/office/powerpoint/2010/main" val="2574714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9BD8569B-4861-4CBE-8902-C2DD5C49C833}"/>
              </a:ext>
            </a:extLst>
          </p:cNvPr>
          <p:cNvSpPr>
            <a:spLocks noGrp="1" noChangeArrowheads="1"/>
          </p:cNvSpPr>
          <p:nvPr>
            <p:ph type="ctrTitle"/>
          </p:nvPr>
        </p:nvSpPr>
        <p:spPr>
          <a:xfrm>
            <a:off x="371475" y="1831975"/>
            <a:ext cx="8458200" cy="1143000"/>
          </a:xfrm>
          <a:noFill/>
        </p:spPr>
        <p:txBody>
          <a:bodyPr/>
          <a:lstStyle/>
          <a:p>
            <a:pPr eaLnBrk="1" hangingPunct="1"/>
            <a:r>
              <a:rPr lang="fa-IR" altLang="en-US" dirty="0">
                <a:cs typeface="B Nazanin" panose="00000400000000000000" pitchFamily="2" charset="-78"/>
              </a:rPr>
              <a:t>فصل ۳: فرآیند‌ها</a:t>
            </a:r>
            <a:endParaRPr lang="en-US" altLang="en-US" dirty="0">
              <a:cs typeface="B Nazanin" panose="00000400000000000000" pitchFamily="2" charset="-7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3F2AA79-94D9-4276-9C41-F8DFF3001472}"/>
              </a:ext>
            </a:extLst>
          </p:cNvPr>
          <p:cNvSpPr>
            <a:spLocks noGrp="1" noChangeArrowheads="1"/>
          </p:cNvSpPr>
          <p:nvPr>
            <p:ph type="title"/>
          </p:nvPr>
        </p:nvSpPr>
        <p:spPr>
          <a:xfrm>
            <a:off x="1644650" y="228600"/>
            <a:ext cx="6380163" cy="576263"/>
          </a:xfrm>
        </p:spPr>
        <p:txBody>
          <a:bodyPr/>
          <a:lstStyle/>
          <a:p>
            <a:pPr eaLnBrk="1" hangingPunct="1"/>
            <a:r>
              <a:rPr lang="en-US" altLang="en-US" dirty="0">
                <a:cs typeface="B Nazanin" panose="00000400000000000000" pitchFamily="2" charset="-78"/>
              </a:rPr>
              <a:t>Outline </a:t>
            </a:r>
            <a:r>
              <a:rPr lang="fa-IR" dirty="0">
                <a:cs typeface="B Nazanin" panose="00000400000000000000" pitchFamily="2" charset="-78"/>
              </a:rPr>
              <a:t>طرح کلی</a:t>
            </a:r>
            <a:endParaRPr lang="en-US" altLang="en-US" dirty="0">
              <a:cs typeface="B Nazanin" panose="00000400000000000000" pitchFamily="2" charset="-78"/>
            </a:endParaRPr>
          </a:p>
        </p:txBody>
      </p:sp>
      <p:sp>
        <p:nvSpPr>
          <p:cNvPr id="7171" name="Rectangle 3">
            <a:extLst>
              <a:ext uri="{FF2B5EF4-FFF2-40B4-BE49-F238E27FC236}">
                <a16:creationId xmlns:a16="http://schemas.microsoft.com/office/drawing/2014/main" id="{5C7B4A6B-A9B9-465A-90EA-66F577052347}"/>
              </a:ext>
            </a:extLst>
          </p:cNvPr>
          <p:cNvSpPr>
            <a:spLocks noGrp="1" noChangeArrowheads="1"/>
          </p:cNvSpPr>
          <p:nvPr>
            <p:ph type="body" idx="1"/>
          </p:nvPr>
        </p:nvSpPr>
        <p:spPr>
          <a:xfrm>
            <a:off x="434404" y="781503"/>
            <a:ext cx="8122875" cy="5294993"/>
          </a:xfrm>
        </p:spPr>
        <p:txBody>
          <a:bodyPr/>
          <a:lstStyle/>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en-US"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مفهوم فرایند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(Process Concept): </a:t>
            </a:r>
            <a:endParaRPr lang="en-US"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زمانبندی فرایند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(Process Scheduling): </a:t>
            </a:r>
            <a:endParaRPr lang="en-US"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عملیات روی فرایندها</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(Operations on Processes): </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ارتباط بین فرایندی</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(IPC - </a:t>
            </a:r>
            <a:r>
              <a:rPr lang="en-US" sz="24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Interprocess</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Communication): </a:t>
            </a:r>
            <a:endParaRPr lang="en-US"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a:p>
            <a:pPr marL="742950" marR="0" lvl="1" indent="-285750" algn="r" rtl="1">
              <a:lnSpc>
                <a:spcPct val="107000"/>
              </a:lnSpc>
              <a:spcBef>
                <a:spcPts val="0"/>
              </a:spcBef>
              <a:spcAft>
                <a:spcPts val="0"/>
              </a:spcAft>
              <a:buFont typeface="Wingdings" panose="05000000000000000000" pitchFamily="2" charset="2"/>
              <a:buChar char=""/>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حافظه مشترک</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p>
          <a:p>
            <a:pPr marL="742950" marR="0" lvl="1" indent="-285750" algn="r" rtl="1">
              <a:lnSpc>
                <a:spcPct val="107000"/>
              </a:lnSpc>
              <a:spcBef>
                <a:spcPts val="0"/>
              </a:spcBef>
              <a:spcAft>
                <a:spcPts val="0"/>
              </a:spcAft>
              <a:buFont typeface="Wingdings" panose="05000000000000000000" pitchFamily="2" charset="2"/>
              <a:buChar char=""/>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ارسال پیام</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(Message Passing): </a:t>
            </a:r>
            <a:endParaRPr lang="en-US"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ارتباط بین فرایندی در سیستم های حافظه مشترک</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(IPC in Shared-Memory Systems): </a:t>
            </a:r>
            <a:endParaRPr lang="en-US"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ارتباط بین فرایندی در سیستم های ارسال پیام</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(IPC in Message-Passing Systems): </a:t>
            </a:r>
            <a:endParaRPr lang="en-US"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نمونه هایی از سیستم های</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IPC (Examples of IPC Systems): </a:t>
            </a:r>
            <a:endParaRPr lang="en-US"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ارتباط در سیستم های سرویس گیرنده-سرور</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(Communication in Client-Server Systems): </a:t>
            </a:r>
            <a:endParaRPr lang="en-US"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2977390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7E8AE27-E50C-40A0-B477-CFFEC3475E01}"/>
              </a:ext>
            </a:extLst>
          </p:cNvPr>
          <p:cNvSpPr>
            <a:spLocks noGrp="1" noChangeArrowheads="1"/>
          </p:cNvSpPr>
          <p:nvPr>
            <p:ph type="title"/>
          </p:nvPr>
        </p:nvSpPr>
        <p:spPr>
          <a:xfrm>
            <a:off x="1576388" y="222250"/>
            <a:ext cx="6107112" cy="576263"/>
          </a:xfrm>
        </p:spPr>
        <p:txBody>
          <a:bodyPr/>
          <a:lstStyle/>
          <a:p>
            <a:pPr eaLnBrk="1" hangingPunct="1"/>
            <a:r>
              <a:rPr lang="fa-IR" altLang="en-US" dirty="0">
                <a:cs typeface="B Nazanin" panose="00000400000000000000" pitchFamily="2" charset="-78"/>
              </a:rPr>
              <a:t>مفاهیم فرآیند</a:t>
            </a:r>
            <a:endParaRPr lang="en-US" altLang="en-US" dirty="0">
              <a:cs typeface="B Nazanin" panose="00000400000000000000" pitchFamily="2" charset="-78"/>
            </a:endParaRPr>
          </a:p>
        </p:txBody>
      </p:sp>
      <p:sp>
        <p:nvSpPr>
          <p:cNvPr id="11267" name="Rectangle 3">
            <a:extLst>
              <a:ext uri="{FF2B5EF4-FFF2-40B4-BE49-F238E27FC236}">
                <a16:creationId xmlns:a16="http://schemas.microsoft.com/office/drawing/2014/main" id="{5D446FCF-843C-4B0E-B66C-D60BED27776C}"/>
              </a:ext>
            </a:extLst>
          </p:cNvPr>
          <p:cNvSpPr>
            <a:spLocks noGrp="1" noChangeArrowheads="1"/>
          </p:cNvSpPr>
          <p:nvPr>
            <p:ph type="body" idx="1"/>
          </p:nvPr>
        </p:nvSpPr>
        <p:spPr>
          <a:xfrm>
            <a:off x="627315" y="884176"/>
            <a:ext cx="8318721" cy="5089647"/>
          </a:xfrm>
        </p:spPr>
        <p:txBody>
          <a:bodyPr/>
          <a:lstStyle/>
          <a:p>
            <a:pPr algn="r" rtl="1"/>
            <a:r>
              <a:rPr lang="fa-IR" sz="22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یک سیستم عامل انواع برنامه ها را اجرا می کند که به صورت فرایند  اجرا می شوند.</a:t>
            </a:r>
          </a:p>
          <a:p>
            <a:pPr algn="r" rtl="1"/>
            <a:r>
              <a:rPr lang="fa-IR" sz="22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فرایند :</a:t>
            </a:r>
            <a:r>
              <a:rPr lang="fa-IR" sz="22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برنامه ای در حال اجرا؛ اجرای فرآیند باید به صورت متوالی پیشرفت کند. اجرای موازی دستورالعمل های یک فرآیند واحد وجود ندارد.</a:t>
            </a:r>
          </a:p>
          <a:p>
            <a:pPr algn="r" rtl="1"/>
            <a:r>
              <a:rPr lang="fa-IR" sz="22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شامل چندین بخش است:</a:t>
            </a:r>
            <a:endParaRPr lang="fa-IR" sz="22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endParaRPr>
          </a:p>
          <a:p>
            <a:pPr lvl="1" algn="r" rtl="1"/>
            <a:r>
              <a:rPr lang="fa-IR" sz="22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کد برنامه، همچنین به عنوان بخش متن شناخته می شود:</a:t>
            </a:r>
            <a:r>
              <a:rPr lang="fa-IR" sz="22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این به دستورالعمل های واقعی که برنامه از آنها ساخته شده است اشاره دارد.</a:t>
            </a:r>
          </a:p>
          <a:p>
            <a:pPr lvl="1" algn="r" rtl="1"/>
            <a:r>
              <a:rPr lang="fa-IR" sz="22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فعالیت جاری شامل شمارنده برنامه، رجیسترهای پردازنده:</a:t>
            </a:r>
            <a:r>
              <a:rPr lang="fa-IR" sz="22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این شامل اطلاعاتی در مورد وضعیت فعلی برنامه است، مانند اینکه کدام دستورالعمل در حال اجرا است و هر داده موقتی که با آن کار می کند.</a:t>
            </a:r>
          </a:p>
          <a:p>
            <a:pPr lvl="1" algn="r" rtl="1"/>
            <a:r>
              <a:rPr lang="en-US" sz="22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Stack</a:t>
            </a:r>
            <a:r>
              <a:rPr lang="fa-IR" sz="22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حاوی داده های موقت</a:t>
            </a:r>
            <a:r>
              <a:rPr lang="fa-IR" sz="2200" b="1" i="0">
                <a:solidFill>
                  <a:srgbClr val="1F1F1F"/>
                </a:solidFill>
                <a:effectLst/>
                <a:latin typeface="Tahoma" panose="020B0604030504040204" pitchFamily="34" charset="0"/>
                <a:ea typeface="Tahoma" panose="020B0604030504040204" pitchFamily="34" charset="0"/>
                <a:cs typeface="B Nazanin" panose="00000400000000000000" pitchFamily="2" charset="-78"/>
              </a:rPr>
              <a:t>:</a:t>
            </a:r>
            <a:r>
              <a:rPr lang="fa-IR" sz="2200" b="0" i="0">
                <a:solidFill>
                  <a:srgbClr val="1F1F1F"/>
                </a:solidFill>
                <a:effectLst/>
                <a:latin typeface="Tahoma" panose="020B0604030504040204" pitchFamily="34" charset="0"/>
                <a:ea typeface="Tahoma" panose="020B0604030504040204" pitchFamily="34" charset="0"/>
                <a:cs typeface="B Nazanin" panose="00000400000000000000" pitchFamily="2" charset="-78"/>
              </a:rPr>
              <a:t> </a:t>
            </a:r>
            <a:r>
              <a:rPr lang="fa-IR" sz="2200">
                <a:solidFill>
                  <a:srgbClr val="1F1F1F"/>
                </a:solidFill>
                <a:latin typeface="Tahoma" panose="020B0604030504040204" pitchFamily="34" charset="0"/>
                <a:ea typeface="Tahoma" panose="020B0604030504040204" pitchFamily="34" charset="0"/>
                <a:cs typeface="B Nazanin" panose="00000400000000000000" pitchFamily="2" charset="-78"/>
              </a:rPr>
              <a:t>استک</a:t>
            </a:r>
            <a:r>
              <a:rPr lang="fa-IR" sz="2200" b="0" i="0">
                <a:solidFill>
                  <a:srgbClr val="1F1F1F"/>
                </a:solidFill>
                <a:effectLst/>
                <a:latin typeface="Tahoma" panose="020B0604030504040204" pitchFamily="34" charset="0"/>
                <a:ea typeface="Tahoma" panose="020B0604030504040204" pitchFamily="34" charset="0"/>
                <a:cs typeface="B Nazanin" panose="00000400000000000000" pitchFamily="2" charset="-78"/>
              </a:rPr>
              <a:t> </a:t>
            </a:r>
            <a:r>
              <a:rPr lang="fa-IR" sz="22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بخشی از حافظه است </a:t>
            </a:r>
            <a:r>
              <a:rPr lang="fa-IR" sz="22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که داده های موقتی </a:t>
            </a:r>
            <a:r>
              <a:rPr lang="fa-IR" sz="22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را که برنامه در </a:t>
            </a:r>
            <a:r>
              <a:rPr lang="fa-IR" sz="22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طول اجرای </a:t>
            </a:r>
            <a:r>
              <a:rPr lang="fa-IR" sz="22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خود استفاده می کند، ذخیره می کند. این شامل مواردی مانند </a:t>
            </a:r>
            <a:r>
              <a:rPr lang="fa-IR" sz="22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پارامترهای تابع</a:t>
            </a:r>
            <a:r>
              <a:rPr lang="fa-IR" sz="22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a:t>
            </a:r>
            <a:r>
              <a:rPr lang="fa-IR" sz="22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آدرس‌های بازگشت </a:t>
            </a:r>
            <a:r>
              <a:rPr lang="fa-IR" sz="22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و </a:t>
            </a:r>
            <a:r>
              <a:rPr lang="fa-IR" sz="22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متغیرهای محلی </a:t>
            </a:r>
            <a:r>
              <a:rPr lang="fa-IR" sz="22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است. </a:t>
            </a:r>
            <a:endParaRPr lang="en-US" sz="22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endParaRPr>
          </a:p>
          <a:p>
            <a:pPr lvl="1" algn="r" rtl="1"/>
            <a:r>
              <a:rPr lang="fa-IR" sz="22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بخش داده حاوی متغیرهای سراسری:</a:t>
            </a:r>
            <a:r>
              <a:rPr lang="fa-IR" sz="22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این بخش داده هایی را ذخیره می کند که توسط قسمت های مختلف برنامه قابل دسترسی است.</a:t>
            </a:r>
          </a:p>
        </p:txBody>
      </p:sp>
    </p:spTree>
    <p:extLst>
      <p:ext uri="{BB962C8B-B14F-4D97-AF65-F5344CB8AC3E}">
        <p14:creationId xmlns:p14="http://schemas.microsoft.com/office/powerpoint/2010/main" val="3207795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39FB78B1-A72C-494F-9718-8FF44F7505B0}"/>
              </a:ext>
            </a:extLst>
          </p:cNvPr>
          <p:cNvSpPr>
            <a:spLocks noGrp="1" noChangeArrowheads="1"/>
          </p:cNvSpPr>
          <p:nvPr>
            <p:ph type="title"/>
          </p:nvPr>
        </p:nvSpPr>
        <p:spPr>
          <a:xfrm>
            <a:off x="1576388" y="230188"/>
            <a:ext cx="6107112" cy="576262"/>
          </a:xfrm>
        </p:spPr>
        <p:txBody>
          <a:bodyPr/>
          <a:lstStyle/>
          <a:p>
            <a:pPr eaLnBrk="1" hangingPunct="1"/>
            <a:r>
              <a:rPr lang="fa-IR" altLang="en-US" dirty="0">
                <a:cs typeface="B Nazanin" panose="00000400000000000000" pitchFamily="2" charset="-78"/>
              </a:rPr>
              <a:t>مفاهیم فرآیند</a:t>
            </a:r>
            <a:endParaRPr lang="en-US" altLang="en-US" dirty="0"/>
          </a:p>
        </p:txBody>
      </p:sp>
      <p:sp>
        <p:nvSpPr>
          <p:cNvPr id="13315" name="Rectangle 3">
            <a:extLst>
              <a:ext uri="{FF2B5EF4-FFF2-40B4-BE49-F238E27FC236}">
                <a16:creationId xmlns:a16="http://schemas.microsoft.com/office/drawing/2014/main" id="{1B99AC1A-7079-467A-A88A-5DCC86E364CB}"/>
              </a:ext>
            </a:extLst>
          </p:cNvPr>
          <p:cNvSpPr>
            <a:spLocks noGrp="1" noChangeArrowheads="1"/>
          </p:cNvSpPr>
          <p:nvPr>
            <p:ph type="body" idx="1"/>
          </p:nvPr>
        </p:nvSpPr>
        <p:spPr>
          <a:xfrm>
            <a:off x="301214" y="1000462"/>
            <a:ext cx="8546695" cy="5627350"/>
          </a:xfrm>
        </p:spPr>
        <p:txBody>
          <a:bodyPr/>
          <a:lstStyle/>
          <a:p>
            <a:pPr algn="r" rtl="1"/>
            <a:r>
              <a:rPr lang="en-US" sz="24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Heap</a:t>
            </a:r>
            <a:r>
              <a:rPr lang="fa-IR" sz="24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(پشته) حاوی حافظه اختصاص یافته به صورت پویا در زمان اجرا:</a:t>
            </a:r>
            <a:r>
              <a:rPr lang="fa-IR" sz="24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هیپ ناحیه دیگری از حافظه است که برنامه می تواند در حین اجرا برای اختصاص حافظه حسب نیاز از آن استفاده کند. برنامه نویس این قسمت را کنترل می کند و میتواند درخواست حافظه نماید و به صورت اشاره گر سیستم عامل این قسمت را در اختیار برنامه نویس قرار می دهد و به صورت خودکار پاک نمیشود و باید </a:t>
            </a:r>
            <a:r>
              <a:rPr lang="en-US" sz="24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Garbage collector</a:t>
            </a:r>
            <a:r>
              <a:rPr lang="fa-IR" sz="24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آن را حذف کند.</a:t>
            </a:r>
            <a:endParaRPr lang="en-US" sz="2400" i="0" dirty="0">
              <a:solidFill>
                <a:srgbClr val="1F1F1F"/>
              </a:solidFill>
              <a:effectLst/>
              <a:latin typeface="Bahnschrift" panose="020B0502040204020203" pitchFamily="34" charset="0"/>
              <a:ea typeface="Tahoma" panose="020B0604030504040204" pitchFamily="34" charset="0"/>
              <a:cs typeface="B Nazanin" panose="00000400000000000000" pitchFamily="2" charset="-78"/>
            </a:endParaRPr>
          </a:p>
          <a:p>
            <a:pPr algn="r" rtl="1"/>
            <a:r>
              <a:rPr lang="fa-IR" sz="2400" i="0" dirty="0">
                <a:solidFill>
                  <a:srgbClr val="1F1F1F"/>
                </a:solidFill>
                <a:effectLst/>
                <a:latin typeface="Bahnschrift" panose="020B0502040204020203" pitchFamily="34" charset="0"/>
                <a:ea typeface="Tahoma" panose="020B0604030504040204" pitchFamily="34" charset="0"/>
                <a:cs typeface="B Nazanin" panose="00000400000000000000" pitchFamily="2" charset="-78"/>
              </a:rPr>
              <a:t>برنامه یک موجودیت غیرفعال است که روی دیسک ذخیره می شود (فایل اجرایی)؛ در مقابل فرآیند فعال است.</a:t>
            </a:r>
          </a:p>
          <a:p>
            <a:pPr algn="r" rtl="1"/>
            <a:r>
              <a:rPr lang="fa-IR" sz="2400" i="0" dirty="0">
                <a:solidFill>
                  <a:srgbClr val="1F1F1F"/>
                </a:solidFill>
                <a:effectLst/>
                <a:latin typeface="Bahnschrift" panose="020B0502040204020203" pitchFamily="34" charset="0"/>
                <a:ea typeface="Tahoma" panose="020B0604030504040204" pitchFamily="34" charset="0"/>
                <a:cs typeface="B Nazanin" panose="00000400000000000000" pitchFamily="2" charset="-78"/>
              </a:rPr>
              <a:t>برنامه زمانی به فرآیند تبدیل می شود که فایل اجرایی به حافظه بارگذاری شود.</a:t>
            </a:r>
          </a:p>
          <a:p>
            <a:pPr algn="r" rtl="1"/>
            <a:r>
              <a:rPr lang="fa-IR" sz="2400" i="0" dirty="0">
                <a:solidFill>
                  <a:srgbClr val="1F1F1F"/>
                </a:solidFill>
                <a:effectLst/>
                <a:latin typeface="Bahnschrift" panose="020B0502040204020203" pitchFamily="34" charset="0"/>
                <a:ea typeface="Tahoma" panose="020B0604030504040204" pitchFamily="34" charset="0"/>
                <a:cs typeface="B Nazanin" panose="00000400000000000000" pitchFamily="2" charset="-78"/>
              </a:rPr>
              <a:t>اجرای برنامه از طریق کلیک های ماوس رابط گرافیکی </a:t>
            </a:r>
            <a:r>
              <a:rPr lang="en-US" sz="2400" i="0" dirty="0">
                <a:solidFill>
                  <a:srgbClr val="1F1F1F"/>
                </a:solidFill>
                <a:effectLst/>
                <a:latin typeface="Bahnschrift" panose="020B0502040204020203" pitchFamily="34" charset="0"/>
                <a:ea typeface="Tahoma" panose="020B0604030504040204" pitchFamily="34" charset="0"/>
                <a:cs typeface="B Nazanin" panose="00000400000000000000" pitchFamily="2" charset="-78"/>
              </a:rPr>
              <a:t>GUI، </a:t>
            </a:r>
            <a:r>
              <a:rPr lang="fa-IR" sz="2400" i="0" dirty="0">
                <a:solidFill>
                  <a:srgbClr val="1F1F1F"/>
                </a:solidFill>
                <a:effectLst/>
                <a:latin typeface="Bahnschrift" panose="020B0502040204020203" pitchFamily="34" charset="0"/>
                <a:ea typeface="Tahoma" panose="020B0604030504040204" pitchFamily="34" charset="0"/>
                <a:cs typeface="B Nazanin" panose="00000400000000000000" pitchFamily="2" charset="-78"/>
              </a:rPr>
              <a:t>وارد کردن نام آن در خط فرمان و غیره آغاز می شود.</a:t>
            </a:r>
          </a:p>
          <a:p>
            <a:pPr algn="r" rtl="1"/>
            <a:r>
              <a:rPr lang="fa-IR" sz="2400" i="0" dirty="0">
                <a:solidFill>
                  <a:srgbClr val="1F1F1F"/>
                </a:solidFill>
                <a:effectLst/>
                <a:latin typeface="Bahnschrift" panose="020B0502040204020203" pitchFamily="34" charset="0"/>
                <a:ea typeface="Tahoma" panose="020B0604030504040204" pitchFamily="34" charset="0"/>
                <a:cs typeface="B Nazanin" panose="00000400000000000000" pitchFamily="2" charset="-78"/>
              </a:rPr>
              <a:t>یک برنامه می تواند منجر به چندین فرآیند شود.</a:t>
            </a:r>
          </a:p>
          <a:p>
            <a:pPr lvl="1" algn="r" rtl="1"/>
            <a:r>
              <a:rPr lang="fa-IR" sz="2400" i="0" dirty="0">
                <a:solidFill>
                  <a:srgbClr val="1F1F1F"/>
                </a:solidFill>
                <a:effectLst/>
                <a:latin typeface="Bahnschrift" panose="020B0502040204020203" pitchFamily="34" charset="0"/>
                <a:ea typeface="Tahoma" panose="020B0604030504040204" pitchFamily="34" charset="0"/>
                <a:cs typeface="B Nazanin" panose="00000400000000000000" pitchFamily="2" charset="-78"/>
              </a:rPr>
              <a:t>سناریویی را در نظر بگیرید که کاربران متعددی یک برنامه یکسان را اجرا می کنند.</a:t>
            </a:r>
          </a:p>
        </p:txBody>
      </p:sp>
    </p:spTree>
    <p:extLst>
      <p:ext uri="{BB962C8B-B14F-4D97-AF65-F5344CB8AC3E}">
        <p14:creationId xmlns:p14="http://schemas.microsoft.com/office/powerpoint/2010/main" val="531722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20AFA67C-5037-4199-ADB3-2B949804BC7A}"/>
              </a:ext>
            </a:extLst>
          </p:cNvPr>
          <p:cNvSpPr>
            <a:spLocks noGrp="1" noChangeArrowheads="1"/>
          </p:cNvSpPr>
          <p:nvPr>
            <p:ph type="title"/>
          </p:nvPr>
        </p:nvSpPr>
        <p:spPr>
          <a:xfrm>
            <a:off x="457200" y="222250"/>
            <a:ext cx="8229600" cy="576263"/>
          </a:xfrm>
        </p:spPr>
        <p:txBody>
          <a:bodyPr/>
          <a:lstStyle/>
          <a:p>
            <a:pPr eaLnBrk="1" hangingPunct="1"/>
            <a:r>
              <a:rPr lang="fa-IR" altLang="en-US" dirty="0">
                <a:cs typeface="B Nazanin" panose="00000400000000000000" pitchFamily="2" charset="-78"/>
              </a:rPr>
              <a:t>فرآیند در حافظه</a:t>
            </a:r>
            <a:endParaRPr lang="en-US" altLang="en-US" dirty="0"/>
          </a:p>
        </p:txBody>
      </p:sp>
      <p:pic>
        <p:nvPicPr>
          <p:cNvPr id="15363" name="Picture 1">
            <a:extLst>
              <a:ext uri="{FF2B5EF4-FFF2-40B4-BE49-F238E27FC236}">
                <a16:creationId xmlns:a16="http://schemas.microsoft.com/office/drawing/2014/main" id="{56913459-B2A5-4780-A47A-63C55AF8C37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57550" y="1595438"/>
            <a:ext cx="2655888"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5F0918BC-EE47-4B64-B75C-97D41C08DCAD}"/>
              </a:ext>
            </a:extLst>
          </p:cNvPr>
          <p:cNvSpPr>
            <a:spLocks noGrp="1" noChangeArrowheads="1"/>
          </p:cNvSpPr>
          <p:nvPr>
            <p:ph type="title"/>
          </p:nvPr>
        </p:nvSpPr>
        <p:spPr>
          <a:xfrm>
            <a:off x="1074057" y="196397"/>
            <a:ext cx="8077200" cy="576263"/>
          </a:xfrm>
        </p:spPr>
        <p:txBody>
          <a:bodyPr/>
          <a:lstStyle/>
          <a:p>
            <a:pPr rtl="1"/>
            <a:r>
              <a:rPr lang="fa-IR" b="1" i="0" dirty="0">
                <a:solidFill>
                  <a:srgbClr val="1F1F1F"/>
                </a:solidFill>
                <a:effectLst/>
                <a:latin typeface="Google Sans"/>
                <a:cs typeface="B Nazanin" panose="00000400000000000000" pitchFamily="2" charset="-78"/>
              </a:rPr>
              <a:t>چیدمان حافظه در یک برنامه </a:t>
            </a:r>
            <a:r>
              <a:rPr lang="en-US" b="1" i="0" dirty="0">
                <a:solidFill>
                  <a:srgbClr val="1F1F1F"/>
                </a:solidFill>
                <a:effectLst/>
                <a:latin typeface="Google Sans"/>
                <a:cs typeface="B Nazanin" panose="00000400000000000000" pitchFamily="2" charset="-78"/>
              </a:rPr>
              <a:t>C</a:t>
            </a:r>
          </a:p>
        </p:txBody>
      </p:sp>
      <p:pic>
        <p:nvPicPr>
          <p:cNvPr id="17411" name="Picture 1">
            <a:extLst>
              <a:ext uri="{FF2B5EF4-FFF2-40B4-BE49-F238E27FC236}">
                <a16:creationId xmlns:a16="http://schemas.microsoft.com/office/drawing/2014/main" id="{E58EFC16-5ABF-4B34-B546-50AB9FB8184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2899" y="1636644"/>
            <a:ext cx="8243735"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890CFA9-9E5C-4419-8C0A-3AE15BC75848}"/>
              </a:ext>
            </a:extLst>
          </p:cNvPr>
          <p:cNvSpPr>
            <a:spLocks noGrp="1" noChangeArrowheads="1"/>
          </p:cNvSpPr>
          <p:nvPr>
            <p:ph type="title"/>
          </p:nvPr>
        </p:nvSpPr>
        <p:spPr>
          <a:xfrm>
            <a:off x="1360488" y="228600"/>
            <a:ext cx="6251575" cy="576263"/>
          </a:xfrm>
        </p:spPr>
        <p:txBody>
          <a:bodyPr/>
          <a:lstStyle/>
          <a:p>
            <a:pPr eaLnBrk="1" hangingPunct="1"/>
            <a:r>
              <a:rPr lang="fa-IR" altLang="en-US" dirty="0">
                <a:cs typeface="B Nazanin" panose="00000400000000000000" pitchFamily="2" charset="-78"/>
              </a:rPr>
              <a:t>وضعیت یک فرآیند</a:t>
            </a:r>
            <a:endParaRPr lang="en-US" altLang="en-US" dirty="0">
              <a:cs typeface="B Nazanin" panose="00000400000000000000" pitchFamily="2" charset="-78"/>
            </a:endParaRPr>
          </a:p>
        </p:txBody>
      </p:sp>
      <p:sp>
        <p:nvSpPr>
          <p:cNvPr id="18435" name="Rectangle 3">
            <a:extLst>
              <a:ext uri="{FF2B5EF4-FFF2-40B4-BE49-F238E27FC236}">
                <a16:creationId xmlns:a16="http://schemas.microsoft.com/office/drawing/2014/main" id="{024CBB90-3DD4-48C6-830E-D5B680DA86BE}"/>
              </a:ext>
            </a:extLst>
          </p:cNvPr>
          <p:cNvSpPr>
            <a:spLocks noGrp="1" noChangeArrowheads="1"/>
          </p:cNvSpPr>
          <p:nvPr>
            <p:ph type="body" idx="1"/>
          </p:nvPr>
        </p:nvSpPr>
        <p:spPr>
          <a:xfrm>
            <a:off x="806450" y="1246188"/>
            <a:ext cx="7370763" cy="4401577"/>
          </a:xfrm>
        </p:spPr>
        <p:txBody>
          <a:bodyPr/>
          <a:lstStyle/>
          <a:p>
            <a:pPr algn="r" rtl="1"/>
            <a:r>
              <a:rPr lang="fa-IR" sz="28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با اجرای یک فرآیند، حالت آن تغییر می کند:</a:t>
            </a:r>
            <a:endParaRPr lang="fa-IR" sz="28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endParaRPr>
          </a:p>
          <a:p>
            <a:pPr algn="r" rtl="1">
              <a:buFont typeface="Arial" panose="020B0604020202020204" pitchFamily="34" charset="0"/>
              <a:buChar char="•"/>
            </a:pPr>
            <a:r>
              <a:rPr lang="fa-IR" sz="28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ایجاد </a:t>
            </a:r>
            <a:r>
              <a:rPr lang="en-US" sz="28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New</a:t>
            </a:r>
            <a:r>
              <a:rPr lang="en-US" sz="28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a:t>
            </a:r>
            <a:r>
              <a:rPr lang="fa-IR" sz="28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فرآیند در حال ایجاد است.</a:t>
            </a:r>
          </a:p>
          <a:p>
            <a:pPr algn="r" rtl="1">
              <a:buFont typeface="Arial" panose="020B0604020202020204" pitchFamily="34" charset="0"/>
              <a:buChar char="•"/>
            </a:pPr>
            <a:r>
              <a:rPr lang="fa-IR" sz="28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در حال اجرا </a:t>
            </a:r>
            <a:r>
              <a:rPr lang="en-US" sz="28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Running</a:t>
            </a:r>
            <a:r>
              <a:rPr lang="en-US" sz="28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a:t>
            </a:r>
            <a:r>
              <a:rPr lang="fa-IR" sz="28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دستورالعمل ها در حال اجرا هستند.</a:t>
            </a:r>
          </a:p>
          <a:p>
            <a:pPr algn="r" rtl="1">
              <a:buFont typeface="Arial" panose="020B0604020202020204" pitchFamily="34" charset="0"/>
              <a:buChar char="•"/>
            </a:pPr>
            <a:r>
              <a:rPr lang="fa-IR" sz="28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در انتظار </a:t>
            </a:r>
            <a:r>
              <a:rPr lang="en-US" sz="28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Waiting</a:t>
            </a:r>
            <a:r>
              <a:rPr lang="en-US" sz="28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a:t>
            </a:r>
            <a:r>
              <a:rPr lang="fa-IR" sz="28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فرآیند منتظر رخ دادن رویدادی است.</a:t>
            </a:r>
          </a:p>
          <a:p>
            <a:pPr algn="r" rtl="1">
              <a:buFont typeface="Arial" panose="020B0604020202020204" pitchFamily="34" charset="0"/>
              <a:buChar char="•"/>
            </a:pPr>
            <a:r>
              <a:rPr lang="fa-IR" sz="28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آماده </a:t>
            </a:r>
            <a:r>
              <a:rPr lang="en-US" sz="28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Ready </a:t>
            </a:r>
            <a:r>
              <a:rPr lang="en-US" sz="28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a:t>
            </a:r>
            <a:r>
              <a:rPr lang="fa-IR" sz="28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فرآیند در انتظار اختصاص به یک پردازنده است.</a:t>
            </a:r>
          </a:p>
          <a:p>
            <a:pPr algn="r" rtl="1">
              <a:buFont typeface="Arial" panose="020B0604020202020204" pitchFamily="34" charset="0"/>
              <a:buChar char="•"/>
            </a:pPr>
            <a:r>
              <a:rPr lang="fa-IR" sz="28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خاتمه یافته </a:t>
            </a:r>
            <a:r>
              <a:rPr lang="en-US" sz="2800" b="1"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Terminated</a:t>
            </a:r>
            <a:r>
              <a:rPr lang="en-US" sz="28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 </a:t>
            </a:r>
            <a:r>
              <a:rPr lang="fa-IR" sz="2800" b="0" i="0" dirty="0">
                <a:solidFill>
                  <a:srgbClr val="1F1F1F"/>
                </a:solidFill>
                <a:effectLst/>
                <a:latin typeface="Tahoma" panose="020B0604030504040204" pitchFamily="34" charset="0"/>
                <a:ea typeface="Tahoma" panose="020B0604030504040204" pitchFamily="34" charset="0"/>
                <a:cs typeface="B Nazanin" panose="00000400000000000000" pitchFamily="2" charset="-78"/>
              </a:rPr>
              <a:t>فرآیند اجرای خود را به پایان رسانده است.</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03351C7C-1AE3-4532-A2F7-C7EB33BCDB3F}"/>
              </a:ext>
            </a:extLst>
          </p:cNvPr>
          <p:cNvSpPr>
            <a:spLocks noGrp="1" noChangeArrowheads="1"/>
          </p:cNvSpPr>
          <p:nvPr>
            <p:ph type="title"/>
          </p:nvPr>
        </p:nvSpPr>
        <p:spPr>
          <a:xfrm>
            <a:off x="739775" y="228600"/>
            <a:ext cx="7947025" cy="576263"/>
          </a:xfrm>
        </p:spPr>
        <p:txBody>
          <a:bodyPr/>
          <a:lstStyle/>
          <a:p>
            <a:pPr eaLnBrk="1" hangingPunct="1"/>
            <a:r>
              <a:rPr lang="fa-IR" altLang="en-US" dirty="0">
                <a:cs typeface="B Nazanin" panose="00000400000000000000" pitchFamily="2" charset="-78"/>
              </a:rPr>
              <a:t>نمودار وضعیت یک فرآیند</a:t>
            </a:r>
            <a:endParaRPr lang="en-US" altLang="en-US" dirty="0"/>
          </a:p>
        </p:txBody>
      </p:sp>
      <p:pic>
        <p:nvPicPr>
          <p:cNvPr id="20483" name="Picture 1">
            <a:extLst>
              <a:ext uri="{FF2B5EF4-FFF2-40B4-BE49-F238E27FC236}">
                <a16:creationId xmlns:a16="http://schemas.microsoft.com/office/drawing/2014/main" id="{C48543A4-67CA-450C-8237-41432A1A6BF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93913" y="2238375"/>
            <a:ext cx="5591175" cy="217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C14ED24-AEFF-4F38-8076-4F8FF58C3F94}"/>
              </a:ext>
            </a:extLst>
          </p:cNvPr>
          <p:cNvSpPr>
            <a:spLocks noGrp="1" noChangeArrowheads="1"/>
          </p:cNvSpPr>
          <p:nvPr>
            <p:ph type="title"/>
          </p:nvPr>
        </p:nvSpPr>
        <p:spPr>
          <a:xfrm>
            <a:off x="1166813" y="193903"/>
            <a:ext cx="7519987" cy="576262"/>
          </a:xfrm>
        </p:spPr>
        <p:txBody>
          <a:bodyPr/>
          <a:lstStyle/>
          <a:p>
            <a:pPr rtl="1" eaLnBrk="1" hangingPunct="1"/>
            <a:r>
              <a:rPr lang="fa-IR" altLang="en-US" dirty="0">
                <a:cs typeface="B Nazanin" panose="00000400000000000000" pitchFamily="2" charset="-78"/>
              </a:rPr>
              <a:t>بلاک کنترل فرآیند </a:t>
            </a:r>
            <a:r>
              <a:rPr lang="en-US" altLang="en-US" dirty="0">
                <a:cs typeface="B Nazanin" panose="00000400000000000000" pitchFamily="2" charset="-78"/>
              </a:rPr>
              <a:t>PCB</a:t>
            </a:r>
            <a:endParaRPr lang="en-US" altLang="en-US" dirty="0"/>
          </a:p>
        </p:txBody>
      </p:sp>
      <p:pic>
        <p:nvPicPr>
          <p:cNvPr id="22532" name="Picture 1">
            <a:extLst>
              <a:ext uri="{FF2B5EF4-FFF2-40B4-BE49-F238E27FC236}">
                <a16:creationId xmlns:a16="http://schemas.microsoft.com/office/drawing/2014/main" id="{4C1B42D7-9239-4535-8C25-EF8AF0D9262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1183" y="2236067"/>
            <a:ext cx="18542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a:extLst>
              <a:ext uri="{FF2B5EF4-FFF2-40B4-BE49-F238E27FC236}">
                <a16:creationId xmlns:a16="http://schemas.microsoft.com/office/drawing/2014/main" id="{2FDB8B88-BC9B-4EFB-B56C-7CFE83F1759C}"/>
              </a:ext>
            </a:extLst>
          </p:cNvPr>
          <p:cNvSpPr>
            <a:spLocks noGrp="1" noChangeArrowheads="1"/>
          </p:cNvSpPr>
          <p:nvPr>
            <p:ph idx="1"/>
          </p:nvPr>
        </p:nvSpPr>
        <p:spPr bwMode="auto">
          <a:xfrm>
            <a:off x="2215383" y="1372726"/>
            <a:ext cx="6567434" cy="4739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fa-IR" altLang="en-US" sz="2000" b="1" i="0" u="none" strike="noStrike" cap="none" normalizeH="0" baseline="0" dirty="0">
                <a:ln>
                  <a:noFill/>
                </a:ln>
                <a:solidFill>
                  <a:srgbClr val="1F1F1F"/>
                </a:solidFill>
                <a:effectLst/>
                <a:latin typeface="Google Sans"/>
                <a:cs typeface="B Nazanin" panose="00000400000000000000" pitchFamily="2" charset="-78"/>
              </a:rPr>
              <a:t>اطلاعات مربوط به فرآیند (</a:t>
            </a:r>
            <a:r>
              <a:rPr kumimoji="0" lang="en-US" altLang="en-US" sz="2000" b="1" i="0" u="none" strike="noStrike" cap="none" normalizeH="0" baseline="0" dirty="0">
                <a:ln>
                  <a:noFill/>
                </a:ln>
                <a:solidFill>
                  <a:srgbClr val="1F1F1F"/>
                </a:solidFill>
                <a:effectLst/>
                <a:latin typeface="Google Sans"/>
                <a:cs typeface="B Nazanin" panose="00000400000000000000" pitchFamily="2" charset="-78"/>
              </a:rPr>
              <a:t>Process Information</a:t>
            </a:r>
            <a:r>
              <a:rPr kumimoji="0" lang="fa-IR" altLang="en-US" sz="2000" b="1" i="0" u="none" strike="noStrike" cap="none" normalizeH="0" baseline="0" dirty="0">
                <a:ln>
                  <a:noFill/>
                </a:ln>
                <a:solidFill>
                  <a:srgbClr val="1F1F1F"/>
                </a:solidFill>
                <a:effectLst/>
                <a:latin typeface="Google Sans"/>
                <a:cs typeface="B Nazanin" panose="00000400000000000000" pitchFamily="2" charset="-78"/>
              </a:rPr>
              <a:t>):</a:t>
            </a:r>
            <a:endParaRPr kumimoji="0" lang="fa-IR" altLang="en-US" sz="2000" b="0" i="0" u="none" strike="noStrike" cap="none" normalizeH="0" baseline="0" dirty="0">
              <a:ln>
                <a:noFill/>
              </a:ln>
              <a:solidFill>
                <a:srgbClr val="1F1F1F"/>
              </a:solidFill>
              <a:effectLst/>
              <a:latin typeface="Google Sans"/>
              <a:cs typeface="B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fa-IR" altLang="en-US" sz="2000" b="1" i="0" u="none" strike="noStrike" cap="none" normalizeH="0" baseline="0" dirty="0">
                <a:ln>
                  <a:noFill/>
                </a:ln>
                <a:solidFill>
                  <a:srgbClr val="1F1F1F"/>
                </a:solidFill>
                <a:effectLst/>
                <a:latin typeface="Google Sans"/>
                <a:cs typeface="B Nazanin" panose="00000400000000000000" pitchFamily="2" charset="-78"/>
              </a:rPr>
              <a:t>حالت فرآیند (</a:t>
            </a:r>
            <a:r>
              <a:rPr kumimoji="0" lang="en-US" altLang="en-US" sz="2000" b="1" i="0" u="none" strike="noStrike" cap="none" normalizeH="0" baseline="0" dirty="0">
                <a:ln>
                  <a:noFill/>
                </a:ln>
                <a:solidFill>
                  <a:srgbClr val="1F1F1F"/>
                </a:solidFill>
                <a:effectLst/>
                <a:latin typeface="Google Sans"/>
                <a:cs typeface="B Nazanin" panose="00000400000000000000" pitchFamily="2" charset="-78"/>
              </a:rPr>
              <a:t>Process State</a:t>
            </a:r>
            <a:r>
              <a:rPr kumimoji="0" lang="fa-IR" altLang="en-US" sz="2000" b="1" i="0" u="none" strike="noStrike" cap="none" normalizeH="0" baseline="0" dirty="0">
                <a:ln>
                  <a:noFill/>
                </a:ln>
                <a:solidFill>
                  <a:srgbClr val="1F1F1F"/>
                </a:solidFill>
                <a:effectLst/>
                <a:latin typeface="Google Sans"/>
                <a:cs typeface="B Nazanin" panose="00000400000000000000" pitchFamily="2" charset="-78"/>
              </a:rPr>
              <a:t>):</a:t>
            </a:r>
            <a:r>
              <a:rPr kumimoji="0" lang="fa-IR" altLang="en-US" sz="2000" b="0" i="0" u="none" strike="noStrike" cap="none" normalizeH="0" baseline="0" dirty="0">
                <a:ln>
                  <a:noFill/>
                </a:ln>
                <a:solidFill>
                  <a:srgbClr val="1F1F1F"/>
                </a:solidFill>
                <a:effectLst/>
                <a:latin typeface="Google Sans"/>
                <a:cs typeface="B Nazanin" panose="00000400000000000000" pitchFamily="2" charset="-78"/>
              </a:rPr>
              <a:t> این نشان دهنده وضعیت فعلی فرآیند است،</a:t>
            </a:r>
            <a:endParaRPr kumimoji="0" lang="en-US" altLang="en-US" sz="2000" b="0" i="0" u="none" strike="noStrike" cap="none" normalizeH="0" baseline="0" dirty="0">
              <a:ln>
                <a:noFill/>
              </a:ln>
              <a:solidFill>
                <a:srgbClr val="1F1F1F"/>
              </a:solidFill>
              <a:effectLst/>
              <a:latin typeface="Google Sans"/>
              <a:cs typeface="B Nazanin" panose="00000400000000000000" pitchFamily="2" charset="-78"/>
            </a:endParaRPr>
          </a:p>
          <a:p>
            <a:pPr marL="400050" lvl="1" indent="0" algn="r" rtl="1">
              <a:spcBef>
                <a:spcPct val="0"/>
              </a:spcBef>
              <a:buClrTx/>
              <a:buSzTx/>
              <a:buFontTx/>
              <a:buChar char="•"/>
            </a:pPr>
            <a:r>
              <a:rPr kumimoji="0" lang="fa-IR" altLang="en-US" sz="2000" b="0" i="0" u="none" strike="noStrike" cap="none" normalizeH="0" baseline="0" dirty="0">
                <a:ln>
                  <a:noFill/>
                </a:ln>
                <a:solidFill>
                  <a:srgbClr val="1F1F1F"/>
                </a:solidFill>
                <a:effectLst/>
                <a:latin typeface="Google Sans"/>
                <a:cs typeface="B Nazanin" panose="00000400000000000000" pitchFamily="2" charset="-78"/>
              </a:rPr>
              <a:t>مانند در حال اجرا (</a:t>
            </a:r>
            <a:r>
              <a:rPr kumimoji="0" lang="en-US" altLang="en-US" sz="2000" b="0" i="0" u="none" strike="noStrike" cap="none" normalizeH="0" baseline="0" dirty="0">
                <a:ln>
                  <a:noFill/>
                </a:ln>
                <a:solidFill>
                  <a:srgbClr val="1F1F1F"/>
                </a:solidFill>
                <a:effectLst/>
                <a:latin typeface="Google Sans"/>
                <a:cs typeface="B Nazanin" panose="00000400000000000000" pitchFamily="2" charset="-78"/>
              </a:rPr>
              <a:t>running</a:t>
            </a:r>
            <a:r>
              <a:rPr kumimoji="0" lang="fa-IR" altLang="en-US" sz="2000" b="0" i="0" u="none" strike="noStrike" cap="none" normalizeH="0" baseline="0" dirty="0">
                <a:ln>
                  <a:noFill/>
                </a:ln>
                <a:solidFill>
                  <a:srgbClr val="1F1F1F"/>
                </a:solidFill>
                <a:effectLst/>
                <a:latin typeface="Google Sans"/>
                <a:cs typeface="B Nazanin" panose="00000400000000000000" pitchFamily="2" charset="-78"/>
              </a:rPr>
              <a:t>)، در انتظار (</a:t>
            </a:r>
            <a:r>
              <a:rPr kumimoji="0" lang="en-US" altLang="en-US" sz="2000" b="0" i="0" u="none" strike="noStrike" cap="none" normalizeH="0" baseline="0" dirty="0">
                <a:ln>
                  <a:noFill/>
                </a:ln>
                <a:solidFill>
                  <a:srgbClr val="1F1F1F"/>
                </a:solidFill>
                <a:effectLst/>
                <a:latin typeface="Google Sans"/>
                <a:cs typeface="B Nazanin" panose="00000400000000000000" pitchFamily="2" charset="-78"/>
              </a:rPr>
              <a:t>waiting</a:t>
            </a:r>
            <a:r>
              <a:rPr kumimoji="0" lang="fa-IR" altLang="en-US" sz="2000" b="0" i="0" u="none" strike="noStrike" cap="none" normalizeH="0" baseline="0" dirty="0">
                <a:ln>
                  <a:noFill/>
                </a:ln>
                <a:solidFill>
                  <a:srgbClr val="1F1F1F"/>
                </a:solidFill>
                <a:effectLst/>
                <a:latin typeface="Google Sans"/>
                <a:cs typeface="B Nazanin" panose="00000400000000000000" pitchFamily="2" charset="-78"/>
              </a:rPr>
              <a:t>) و غیره.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fa-IR" altLang="en-US" sz="2000" b="1" i="0" u="none" strike="noStrike" cap="none" normalizeH="0" baseline="0" dirty="0">
                <a:ln>
                  <a:noFill/>
                </a:ln>
                <a:solidFill>
                  <a:srgbClr val="1F1F1F"/>
                </a:solidFill>
                <a:effectLst/>
                <a:latin typeface="Google Sans"/>
                <a:cs typeface="B Nazanin" panose="00000400000000000000" pitchFamily="2" charset="-78"/>
              </a:rPr>
              <a:t>شمارنده برنامه (</a:t>
            </a:r>
            <a:r>
              <a:rPr kumimoji="0" lang="en-US" altLang="en-US" sz="2000" b="1" i="0" u="none" strike="noStrike" cap="none" normalizeH="0" baseline="0" dirty="0">
                <a:ln>
                  <a:noFill/>
                </a:ln>
                <a:solidFill>
                  <a:srgbClr val="1F1F1F"/>
                </a:solidFill>
                <a:effectLst/>
                <a:latin typeface="Google Sans"/>
                <a:cs typeface="B Nazanin" panose="00000400000000000000" pitchFamily="2" charset="-78"/>
              </a:rPr>
              <a:t>Program Counter</a:t>
            </a:r>
            <a:r>
              <a:rPr kumimoji="0" lang="fa-IR" altLang="en-US" sz="2000" b="1" i="0" u="none" strike="noStrike" cap="none" normalizeH="0" baseline="0" dirty="0">
                <a:ln>
                  <a:noFill/>
                </a:ln>
                <a:solidFill>
                  <a:srgbClr val="1F1F1F"/>
                </a:solidFill>
                <a:effectLst/>
                <a:latin typeface="Google Sans"/>
                <a:cs typeface="B Nazanin" panose="00000400000000000000" pitchFamily="2" charset="-78"/>
              </a:rPr>
              <a:t>):</a:t>
            </a:r>
            <a:r>
              <a:rPr kumimoji="0" lang="fa-IR" altLang="en-US" sz="2000" b="0" i="0" u="none" strike="noStrike" cap="none" normalizeH="0" baseline="0" dirty="0">
                <a:ln>
                  <a:noFill/>
                </a:ln>
                <a:solidFill>
                  <a:srgbClr val="1F1F1F"/>
                </a:solidFill>
                <a:effectLst/>
                <a:latin typeface="Google Sans"/>
                <a:cs typeface="B Nazanin" panose="00000400000000000000" pitchFamily="2" charset="-78"/>
              </a:rPr>
              <a:t> این موقعیت دستورالعمل بعدی است که توسط فرآیند اجرا خواهد شد.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fa-IR" altLang="en-US" sz="2000" b="1" i="0" u="none" strike="noStrike" cap="none" normalizeH="0" baseline="0" dirty="0">
                <a:ln>
                  <a:noFill/>
                </a:ln>
                <a:solidFill>
                  <a:srgbClr val="1F1F1F"/>
                </a:solidFill>
                <a:effectLst/>
                <a:latin typeface="Google Sans"/>
                <a:cs typeface="B Nazanin" panose="00000400000000000000" pitchFamily="2" charset="-78"/>
              </a:rPr>
              <a:t>رجیسترهای </a:t>
            </a:r>
            <a:r>
              <a:rPr kumimoji="0" lang="en-US" altLang="en-US" sz="2000" b="1" i="0" u="none" strike="noStrike" cap="none" normalizeH="0" baseline="0" dirty="0">
                <a:ln>
                  <a:noFill/>
                </a:ln>
                <a:solidFill>
                  <a:srgbClr val="1F1F1F"/>
                </a:solidFill>
                <a:effectLst/>
                <a:latin typeface="Google Sans"/>
                <a:cs typeface="B Nazanin" panose="00000400000000000000" pitchFamily="2" charset="-78"/>
              </a:rPr>
              <a:t>CPU</a:t>
            </a:r>
            <a:r>
              <a:rPr kumimoji="0" lang="fa-IR" altLang="en-US" sz="2000" b="1" i="0" u="none" strike="noStrike" cap="none" normalizeH="0" baseline="0" dirty="0">
                <a:ln>
                  <a:noFill/>
                </a:ln>
                <a:solidFill>
                  <a:srgbClr val="1F1F1F"/>
                </a:solidFill>
                <a:effectLst/>
                <a:latin typeface="Google Sans"/>
                <a:cs typeface="B Nazanin" panose="00000400000000000000" pitchFamily="2" charset="-78"/>
              </a:rPr>
              <a:t>:</a:t>
            </a:r>
            <a:r>
              <a:rPr kumimoji="0" lang="fa-IR" altLang="en-US" sz="2000" b="0" i="0" u="none" strike="noStrike" cap="none" normalizeH="0" baseline="0" dirty="0">
                <a:ln>
                  <a:noFill/>
                </a:ln>
                <a:solidFill>
                  <a:srgbClr val="1F1F1F"/>
                </a:solidFill>
                <a:effectLst/>
                <a:latin typeface="Google Sans"/>
                <a:cs typeface="B Nazanin" panose="00000400000000000000" pitchFamily="2" charset="-78"/>
              </a:rPr>
              <a:t> این شامل محتوای تمام رجیسترهای اختصاصی فرآیند در </a:t>
            </a:r>
            <a:r>
              <a:rPr kumimoji="0" lang="en-US" altLang="en-US" sz="2000" b="0" i="0" u="none" strike="noStrike" cap="none" normalizeH="0" baseline="0" dirty="0">
                <a:ln>
                  <a:noFill/>
                </a:ln>
                <a:solidFill>
                  <a:srgbClr val="1F1F1F"/>
                </a:solidFill>
                <a:effectLst/>
                <a:latin typeface="Google Sans"/>
                <a:cs typeface="B Nazanin" panose="00000400000000000000" pitchFamily="2" charset="-78"/>
              </a:rPr>
              <a:t>CPU</a:t>
            </a:r>
            <a:r>
              <a:rPr kumimoji="0" lang="fa-IR" altLang="en-US" sz="2000" b="0" i="0" u="none" strike="noStrike" cap="none" normalizeH="0" baseline="0" dirty="0">
                <a:ln>
                  <a:noFill/>
                </a:ln>
                <a:solidFill>
                  <a:srgbClr val="1F1F1F"/>
                </a:solidFill>
                <a:effectLst/>
                <a:latin typeface="Google Sans"/>
                <a:cs typeface="B Nazanin" panose="00000400000000000000" pitchFamily="2" charset="-78"/>
              </a:rPr>
              <a:t> می شود.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fa-IR" altLang="en-US" sz="2000" b="1" i="0" u="none" strike="noStrike" cap="none" normalizeH="0" baseline="0" dirty="0">
                <a:ln>
                  <a:noFill/>
                </a:ln>
                <a:solidFill>
                  <a:srgbClr val="1F1F1F"/>
                </a:solidFill>
                <a:effectLst/>
                <a:latin typeface="Google Sans"/>
                <a:cs typeface="B Nazanin" panose="00000400000000000000" pitchFamily="2" charset="-78"/>
              </a:rPr>
              <a:t>اطلاعات زمان‌بندی </a:t>
            </a:r>
            <a:r>
              <a:rPr kumimoji="0" lang="en-US" altLang="en-US" sz="2000" b="1" i="0" u="none" strike="noStrike" cap="none" normalizeH="0" baseline="0" dirty="0">
                <a:ln>
                  <a:noFill/>
                </a:ln>
                <a:solidFill>
                  <a:srgbClr val="1F1F1F"/>
                </a:solidFill>
                <a:effectLst/>
                <a:latin typeface="Google Sans"/>
                <a:cs typeface="B Nazanin" panose="00000400000000000000" pitchFamily="2" charset="-78"/>
              </a:rPr>
              <a:t>CPU</a:t>
            </a:r>
            <a:r>
              <a:rPr kumimoji="0" lang="fa-IR" altLang="en-US" sz="2000" b="1" i="0" u="none" strike="noStrike" cap="none" normalizeH="0" baseline="0" dirty="0">
                <a:ln>
                  <a:noFill/>
                </a:ln>
                <a:solidFill>
                  <a:srgbClr val="1F1F1F"/>
                </a:solidFill>
                <a:effectLst/>
                <a:latin typeface="Google Sans"/>
                <a:cs typeface="B Nazanin" panose="00000400000000000000" pitchFamily="2" charset="-78"/>
              </a:rPr>
              <a:t>:</a:t>
            </a:r>
            <a:r>
              <a:rPr kumimoji="0" lang="fa-IR" altLang="en-US" sz="2000" b="0" i="0" u="none" strike="noStrike" cap="none" normalizeH="0" baseline="0" dirty="0">
                <a:ln>
                  <a:noFill/>
                </a:ln>
                <a:solidFill>
                  <a:srgbClr val="1F1F1F"/>
                </a:solidFill>
                <a:effectLst/>
                <a:latin typeface="Google Sans"/>
                <a:cs typeface="B Nazanin" panose="00000400000000000000" pitchFamily="2" charset="-78"/>
              </a:rPr>
              <a:t> شامل اولویت‌های فرآیند و اشاره‌هایی به صف‌های زمان‌بندی است.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fa-IR" altLang="en-US" sz="2000" b="1" i="0" u="none" strike="noStrike" cap="none" normalizeH="0" baseline="0" dirty="0">
                <a:ln>
                  <a:noFill/>
                </a:ln>
                <a:solidFill>
                  <a:srgbClr val="1F1F1F"/>
                </a:solidFill>
                <a:effectLst/>
                <a:latin typeface="Google Sans"/>
                <a:cs typeface="B Nazanin" panose="00000400000000000000" pitchFamily="2" charset="-78"/>
              </a:rPr>
              <a:t>اطلاعات مدیریت حافظه:</a:t>
            </a:r>
            <a:r>
              <a:rPr kumimoji="0" lang="fa-IR" altLang="en-US" sz="2000" b="0" i="0" u="none" strike="noStrike" cap="none" normalizeH="0" baseline="0" dirty="0">
                <a:ln>
                  <a:noFill/>
                </a:ln>
                <a:solidFill>
                  <a:srgbClr val="1F1F1F"/>
                </a:solidFill>
                <a:effectLst/>
                <a:latin typeface="Google Sans"/>
                <a:cs typeface="B Nazanin" panose="00000400000000000000" pitchFamily="2" charset="-78"/>
              </a:rPr>
              <a:t> نشان دهنده حافظه اختصاص یافته به فرآیند است.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fa-IR" altLang="en-US" sz="2000" b="1" i="0" u="none" strike="noStrike" cap="none" normalizeH="0" baseline="0" dirty="0">
                <a:ln>
                  <a:noFill/>
                </a:ln>
                <a:solidFill>
                  <a:srgbClr val="1F1F1F"/>
                </a:solidFill>
                <a:effectLst/>
                <a:latin typeface="Google Sans"/>
                <a:cs typeface="B Nazanin" panose="00000400000000000000" pitchFamily="2" charset="-78"/>
              </a:rPr>
              <a:t>اطلاعات حسابداری:</a:t>
            </a:r>
            <a:r>
              <a:rPr kumimoji="0" lang="fa-IR" altLang="en-US" sz="2000" b="0" i="0" u="none" strike="noStrike" cap="none" normalizeH="0" baseline="0" dirty="0">
                <a:ln>
                  <a:noFill/>
                </a:ln>
                <a:solidFill>
                  <a:srgbClr val="1F1F1F"/>
                </a:solidFill>
                <a:effectLst/>
                <a:latin typeface="Google Sans"/>
                <a:cs typeface="B Nazanin" panose="00000400000000000000" pitchFamily="2" charset="-78"/>
              </a:rPr>
              <a:t> شامل زمان استفاده شده از </a:t>
            </a:r>
            <a:r>
              <a:rPr kumimoji="0" lang="en-US" altLang="en-US" sz="2000" b="0" i="0" u="none" strike="noStrike" cap="none" normalizeH="0" baseline="0" dirty="0">
                <a:ln>
                  <a:noFill/>
                </a:ln>
                <a:solidFill>
                  <a:srgbClr val="1F1F1F"/>
                </a:solidFill>
                <a:effectLst/>
                <a:latin typeface="Google Sans"/>
                <a:cs typeface="B Nazanin" panose="00000400000000000000" pitchFamily="2" charset="-78"/>
              </a:rPr>
              <a:t>CPU</a:t>
            </a:r>
            <a:r>
              <a:rPr kumimoji="0" lang="fa-IR" altLang="en-US" sz="2000" b="0" i="0" u="none" strike="noStrike" cap="none" normalizeH="0" baseline="0" dirty="0">
                <a:ln>
                  <a:noFill/>
                </a:ln>
                <a:solidFill>
                  <a:srgbClr val="1F1F1F"/>
                </a:solidFill>
                <a:effectLst/>
                <a:latin typeface="Google Sans"/>
                <a:cs typeface="B Nazanin" panose="00000400000000000000" pitchFamily="2" charset="-78"/>
              </a:rPr>
              <a:t>، زمان سپری شده از شروع اجرا و محدودیت‌های زمانی است.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fa-IR" altLang="en-US" sz="2000" b="1" i="0" u="none" strike="noStrike" cap="none" normalizeH="0" baseline="0" dirty="0">
                <a:ln>
                  <a:noFill/>
                </a:ln>
                <a:solidFill>
                  <a:srgbClr val="1F1F1F"/>
                </a:solidFill>
                <a:effectLst/>
                <a:latin typeface="Google Sans"/>
                <a:cs typeface="B Nazanin" panose="00000400000000000000" pitchFamily="2" charset="-78"/>
              </a:rPr>
              <a:t>اطلاعات وضعیت </a:t>
            </a:r>
            <a:r>
              <a:rPr kumimoji="0" lang="en-US" altLang="en-US" sz="2000" b="1" i="0" u="none" strike="noStrike" cap="none" normalizeH="0" baseline="0" dirty="0">
                <a:ln>
                  <a:noFill/>
                </a:ln>
                <a:solidFill>
                  <a:srgbClr val="1F1F1F"/>
                </a:solidFill>
                <a:effectLst/>
                <a:latin typeface="Google Sans"/>
                <a:cs typeface="B Nazanin" panose="00000400000000000000" pitchFamily="2" charset="-78"/>
              </a:rPr>
              <a:t>I/O</a:t>
            </a:r>
            <a:r>
              <a:rPr kumimoji="0" lang="fa-IR" altLang="en-US" sz="2000" b="1" i="0" u="none" strike="noStrike" cap="none" normalizeH="0" baseline="0" dirty="0">
                <a:ln>
                  <a:noFill/>
                </a:ln>
                <a:solidFill>
                  <a:srgbClr val="1F1F1F"/>
                </a:solidFill>
                <a:effectLst/>
                <a:latin typeface="Google Sans"/>
                <a:cs typeface="B Nazanin" panose="00000400000000000000" pitchFamily="2" charset="-78"/>
              </a:rPr>
              <a:t>:</a:t>
            </a:r>
            <a:r>
              <a:rPr kumimoji="0" lang="fa-IR" altLang="en-US" sz="2000" b="0" i="0" u="none" strike="noStrike" cap="none" normalizeH="0" baseline="0" dirty="0">
                <a:ln>
                  <a:noFill/>
                </a:ln>
                <a:solidFill>
                  <a:srgbClr val="1F1F1F"/>
                </a:solidFill>
                <a:effectLst/>
                <a:latin typeface="Google Sans"/>
                <a:cs typeface="B Nazanin" panose="00000400000000000000" pitchFamily="2" charset="-78"/>
              </a:rPr>
              <a:t> این شامل دستگاه‌های </a:t>
            </a:r>
            <a:r>
              <a:rPr kumimoji="0" lang="en-US" altLang="en-US" sz="2000" b="0" i="0" u="none" strike="noStrike" cap="none" normalizeH="0" baseline="0" dirty="0">
                <a:ln>
                  <a:noFill/>
                </a:ln>
                <a:solidFill>
                  <a:srgbClr val="1F1F1F"/>
                </a:solidFill>
                <a:effectLst/>
                <a:latin typeface="Google Sans"/>
                <a:cs typeface="B Nazanin" panose="00000400000000000000" pitchFamily="2" charset="-78"/>
              </a:rPr>
              <a:t>I/O</a:t>
            </a:r>
            <a:r>
              <a:rPr kumimoji="0" lang="fa-IR" altLang="en-US" sz="2000" b="0" i="0" u="none" strike="noStrike" cap="none" normalizeH="0" baseline="0" dirty="0">
                <a:ln>
                  <a:noFill/>
                </a:ln>
                <a:solidFill>
                  <a:srgbClr val="1F1F1F"/>
                </a:solidFill>
                <a:effectLst/>
                <a:latin typeface="Google Sans"/>
                <a:cs typeface="B Nazanin" panose="00000400000000000000" pitchFamily="2" charset="-78"/>
              </a:rPr>
              <a:t> اختصاص یافته به فرآیند و لیستی از فایل‌های باز است. </a:t>
            </a:r>
          </a:p>
          <a:p>
            <a:pPr marL="0" marR="0" lvl="0" indent="0" algn="r" defTabSz="914400" rtl="1" eaLnBrk="0" fontAlgn="base" latinLnBrk="0" hangingPunct="0">
              <a:lnSpc>
                <a:spcPct val="100000"/>
              </a:lnSpc>
              <a:spcBef>
                <a:spcPct val="0"/>
              </a:spcBef>
              <a:spcAft>
                <a:spcPct val="0"/>
              </a:spcAft>
              <a:buClrTx/>
              <a:buSzTx/>
              <a:buFontTx/>
              <a:buNone/>
              <a:tabLst/>
            </a:pPr>
            <a:endParaRPr kumimoji="0" lang="fa-IR" altLang="en-US" sz="2800" b="0" i="0" u="none" strike="noStrike" cap="none" normalizeH="0" baseline="0" dirty="0">
              <a:ln>
                <a:noFill/>
              </a:ln>
              <a:solidFill>
                <a:schemeClr val="tx1"/>
              </a:solidFill>
              <a:effectLst/>
              <a:latin typeface="Arial" panose="020B0604020202020204" pitchFamily="34" charset="0"/>
              <a:cs typeface="B Nazanin" panose="00000400000000000000" pitchFamily="2" charset="-78"/>
            </a:endParaRPr>
          </a:p>
        </p:txBody>
      </p:sp>
      <p:sp>
        <p:nvSpPr>
          <p:cNvPr id="11" name="TextBox 10">
            <a:extLst>
              <a:ext uri="{FF2B5EF4-FFF2-40B4-BE49-F238E27FC236}">
                <a16:creationId xmlns:a16="http://schemas.microsoft.com/office/drawing/2014/main" id="{899866F2-7607-40B0-B9FF-CE2D90E68718}"/>
              </a:ext>
            </a:extLst>
          </p:cNvPr>
          <p:cNvSpPr txBox="1"/>
          <p:nvPr/>
        </p:nvSpPr>
        <p:spPr>
          <a:xfrm>
            <a:off x="361182" y="952642"/>
            <a:ext cx="8325617" cy="388696"/>
          </a:xfrm>
          <a:prstGeom prst="rect">
            <a:avLst/>
          </a:prstGeom>
          <a:noFill/>
        </p:spPr>
        <p:txBody>
          <a:bodyPr wrap="square">
            <a:spAutoFit/>
          </a:bodyPr>
          <a:lstStyle/>
          <a:p>
            <a:pPr marL="0" marR="0" algn="r" rtl="1">
              <a:lnSpc>
                <a:spcPct val="107000"/>
              </a:lnSpc>
              <a:spcBef>
                <a:spcPts val="0"/>
              </a:spcBef>
              <a:spcAft>
                <a:spcPts val="800"/>
              </a:spcAft>
            </a:pPr>
            <a:r>
              <a:rPr lang="ar-SA" sz="1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اطلاعات مرتبط با هر فرآیند (همچنین به عنوان بلوک کنترل وظیفه شناخته می شود)</a:t>
            </a:r>
            <a:endParaRPr lang="en-US" sz="1200" dirty="0">
              <a:effectLst/>
              <a:latin typeface="Calibri" panose="020F0502020204030204" pitchFamily="34" charset="0"/>
              <a:ea typeface="Calibri" panose="020F0502020204030204" pitchFamily="34" charset="0"/>
              <a:cs typeface="B Nazanin" panose="00000400000000000000" pitchFamily="2" charset="-78"/>
            </a:endParaRPr>
          </a:p>
        </p:txBody>
      </p:sp>
    </p:spTree>
    <p:extLst>
      <p:ext uri="{BB962C8B-B14F-4D97-AF65-F5344CB8AC3E}">
        <p14:creationId xmlns:p14="http://schemas.microsoft.com/office/powerpoint/2010/main" val="1637629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8D9066D-6E62-480A-A448-F88C6FB241E9}"/>
              </a:ext>
            </a:extLst>
          </p:cNvPr>
          <p:cNvSpPr>
            <a:spLocks noGrp="1" noChangeArrowheads="1"/>
          </p:cNvSpPr>
          <p:nvPr>
            <p:ph type="title"/>
          </p:nvPr>
        </p:nvSpPr>
        <p:spPr>
          <a:xfrm>
            <a:off x="1041400" y="230188"/>
            <a:ext cx="7383463" cy="576262"/>
          </a:xfrm>
        </p:spPr>
        <p:txBody>
          <a:bodyPr/>
          <a:lstStyle/>
          <a:p>
            <a:pPr eaLnBrk="1" hangingPunct="1"/>
            <a:r>
              <a:rPr lang="en-US" altLang="en-US" dirty="0">
                <a:latin typeface="Tahoma" panose="020B0604030504040204" pitchFamily="34" charset="0"/>
                <a:ea typeface="Tahoma" panose="020B0604030504040204" pitchFamily="34" charset="0"/>
                <a:cs typeface="B Nazanin" panose="00000400000000000000" pitchFamily="2" charset="-78"/>
              </a:rPr>
              <a:t>Threads </a:t>
            </a:r>
            <a:r>
              <a:rPr lang="fa-IR" altLang="en-US" dirty="0">
                <a:latin typeface="Tahoma" panose="020B0604030504040204" pitchFamily="34" charset="0"/>
                <a:ea typeface="Tahoma" panose="020B0604030504040204" pitchFamily="34" charset="0"/>
                <a:cs typeface="B Nazanin" panose="00000400000000000000" pitchFamily="2" charset="-78"/>
              </a:rPr>
              <a:t>نخ یا رشته</a:t>
            </a:r>
            <a:endParaRPr lang="en-US" altLang="en-US" dirty="0">
              <a:latin typeface="Tahoma" panose="020B0604030504040204" pitchFamily="34" charset="0"/>
              <a:ea typeface="Tahoma" panose="020B0604030504040204" pitchFamily="34" charset="0"/>
              <a:cs typeface="B Nazanin" panose="00000400000000000000" pitchFamily="2" charset="-78"/>
            </a:endParaRPr>
          </a:p>
        </p:txBody>
      </p:sp>
      <p:sp>
        <p:nvSpPr>
          <p:cNvPr id="24579" name="Rectangle 3">
            <a:extLst>
              <a:ext uri="{FF2B5EF4-FFF2-40B4-BE49-F238E27FC236}">
                <a16:creationId xmlns:a16="http://schemas.microsoft.com/office/drawing/2014/main" id="{5FE53719-71CB-4158-A535-768E646E48D7}"/>
              </a:ext>
            </a:extLst>
          </p:cNvPr>
          <p:cNvSpPr>
            <a:spLocks noGrp="1" noChangeArrowheads="1"/>
          </p:cNvSpPr>
          <p:nvPr>
            <p:ph type="body" idx="1"/>
          </p:nvPr>
        </p:nvSpPr>
        <p:spPr>
          <a:xfrm>
            <a:off x="793751" y="1059090"/>
            <a:ext cx="7941458" cy="5040495"/>
          </a:xfrm>
        </p:spPr>
        <p:txBody>
          <a:bodyPr/>
          <a:lstStyle/>
          <a:p>
            <a:pPr marL="0" marR="0" algn="r" rtl="1">
              <a:lnSpc>
                <a:spcPct val="107000"/>
              </a:lnSpc>
              <a:spcBef>
                <a:spcPts val="0"/>
              </a:spcBef>
              <a:spcAft>
                <a:spcPts val="800"/>
              </a:spcAf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تا کنون، هر فرایند دارای یک رشته اجرایی واحد بوده است</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فرض کنید به ازای هر فرایند چندین شمارنده برنامه داشته باشیم</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چندین مکان می توانند به طور همزمان اجرا شوند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چندین رشته کنترل</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-&gt;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رشته ها</a:t>
            </a:r>
            <a:endParaRPr lang="en-US"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سپس باید فضایی برای جزئیات رشته، چندین شمارنده برنامه در</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PCB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داشته باشیم</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در فصل </a:t>
            </a:r>
            <a:r>
              <a:rPr lang="fa-IR"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۴</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به طور مفصل بررسی می شود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en-US" sz="2400" dirty="0">
                <a:effectLst/>
                <a:latin typeface="Calibri" panose="020F0502020204030204" pitchFamily="34" charset="0"/>
                <a:ea typeface="Calibri" panose="020F0502020204030204" pitchFamily="34" charset="0"/>
                <a:cs typeface="B Nazanin" panose="00000400000000000000" pitchFamily="2" charset="-78"/>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F2632-0F03-49DD-8FCE-B7C2BC9A712B}"/>
              </a:ext>
            </a:extLst>
          </p:cNvPr>
          <p:cNvSpPr>
            <a:spLocks noGrp="1"/>
          </p:cNvSpPr>
          <p:nvPr>
            <p:ph type="title"/>
          </p:nvPr>
        </p:nvSpPr>
        <p:spPr/>
        <p:txBody>
          <a:bodyPr/>
          <a:lstStyle/>
          <a:p>
            <a:r>
              <a:rPr lang="fa-IR" dirty="0">
                <a:cs typeface="B Nazanin" panose="00000400000000000000" pitchFamily="2" charset="-78"/>
              </a:rPr>
              <a:t>رشته</a:t>
            </a:r>
            <a:endParaRPr lang="en-US" dirty="0">
              <a:cs typeface="B Nazanin" panose="00000400000000000000" pitchFamily="2" charset="-78"/>
            </a:endParaRPr>
          </a:p>
        </p:txBody>
      </p:sp>
      <p:sp>
        <p:nvSpPr>
          <p:cNvPr id="3" name="Content Placeholder 2">
            <a:extLst>
              <a:ext uri="{FF2B5EF4-FFF2-40B4-BE49-F238E27FC236}">
                <a16:creationId xmlns:a16="http://schemas.microsoft.com/office/drawing/2014/main" id="{71417724-CEDD-467E-A6E0-FDBBBCC9B57B}"/>
              </a:ext>
            </a:extLst>
          </p:cNvPr>
          <p:cNvSpPr>
            <a:spLocks noGrp="1"/>
          </p:cNvSpPr>
          <p:nvPr>
            <p:ph idx="1"/>
          </p:nvPr>
        </p:nvSpPr>
        <p:spPr/>
        <p:txBody>
          <a:bodyPr/>
          <a:lstStyle/>
          <a:p>
            <a:pPr marL="0" marR="0" algn="r" rtl="1">
              <a:lnSpc>
                <a:spcPct val="107000"/>
              </a:lnSpc>
              <a:spcBef>
                <a:spcPts val="0"/>
              </a:spcBef>
              <a:spcAft>
                <a:spcPts val="800"/>
              </a:spcAf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یک رشته</a:t>
            </a:r>
            <a:r>
              <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Thread</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اجرایی </a:t>
            </a:r>
            <a:r>
              <a:rPr lang="ar-SA" sz="2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کوچکترین توالی دستورالعمل هایی </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است که می تواند توسط یک </a:t>
            </a:r>
            <a:r>
              <a:rPr lang="ar-SA" sz="2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زمانبندی به طور مستقل </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مدیریت شود</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fa-IR"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آنها </a:t>
            </a:r>
            <a:r>
              <a:rPr lang="ar-SA" sz="2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اجزای کوچکی از یک فرایند </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هستند و چندین رشته می توانند به طور همزمان اجرا شوند و کد، حافظه، متغیرها و غیره را به اشتراک بگذارند</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هر رشته کد، داده و بلوک های پشته</a:t>
            </a:r>
            <a:r>
              <a:rPr lang="en-US"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 (heap) </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یکسانی را به اشتراک می گذارد، اما </a:t>
            </a:r>
            <a:r>
              <a:rPr lang="fa-IR"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استک</a:t>
            </a:r>
            <a:r>
              <a:rPr lang="en-US"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(stack) </a:t>
            </a:r>
            <a:r>
              <a:rPr lang="fa-IR"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 </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خاص خود را خواهد داشت</a:t>
            </a:r>
            <a:endParaRPr lang="fa-IR"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رشته ها اغلب فرآیندهای سبک وزن نامیده می شوند زیرا حافظه پشته</a:t>
            </a:r>
            <a:r>
              <a:rPr lang="en-US"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 </a:t>
            </a:r>
            <a:r>
              <a:rPr lang="fa-IR"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 </a:t>
            </a:r>
            <a:r>
              <a:rPr lang="en-US"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(stack) </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مخصوص به خود را دارند</a:t>
            </a:r>
            <a:r>
              <a:rPr lang="en-US"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p:txBody>
      </p:sp>
    </p:spTree>
    <p:extLst>
      <p:ext uri="{BB962C8B-B14F-4D97-AF65-F5344CB8AC3E}">
        <p14:creationId xmlns:p14="http://schemas.microsoft.com/office/powerpoint/2010/main" val="1421395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249B161E-EAED-4DCF-B609-D8AB274D0369}"/>
              </a:ext>
            </a:extLst>
          </p:cNvPr>
          <p:cNvSpPr>
            <a:spLocks noGrp="1" noChangeArrowheads="1"/>
          </p:cNvSpPr>
          <p:nvPr>
            <p:ph type="title"/>
          </p:nvPr>
        </p:nvSpPr>
        <p:spPr>
          <a:xfrm>
            <a:off x="960438" y="228600"/>
            <a:ext cx="8005762" cy="576263"/>
          </a:xfrm>
        </p:spPr>
        <p:txBody>
          <a:bodyPr/>
          <a:lstStyle/>
          <a:p>
            <a:r>
              <a:rPr lang="fa-IR" altLang="en-US" dirty="0">
                <a:cs typeface="B Nazanin" panose="00000400000000000000" pitchFamily="2" charset="-78"/>
              </a:rPr>
              <a:t>نمایش فرآیند در لینکوس</a:t>
            </a:r>
            <a:endParaRPr lang="en-US" altLang="en-US" dirty="0"/>
          </a:p>
        </p:txBody>
      </p:sp>
      <p:sp>
        <p:nvSpPr>
          <p:cNvPr id="26627" name="Content Placeholder 2">
            <a:extLst>
              <a:ext uri="{FF2B5EF4-FFF2-40B4-BE49-F238E27FC236}">
                <a16:creationId xmlns:a16="http://schemas.microsoft.com/office/drawing/2014/main" id="{1363C44F-7AD0-4380-824D-C4E77F3B346A}"/>
              </a:ext>
            </a:extLst>
          </p:cNvPr>
          <p:cNvSpPr>
            <a:spLocks noGrp="1" noChangeArrowheads="1"/>
          </p:cNvSpPr>
          <p:nvPr>
            <p:ph idx="1"/>
          </p:nvPr>
        </p:nvSpPr>
        <p:spPr/>
        <p:txBody>
          <a:bodyPr/>
          <a:lstStyle/>
          <a:p>
            <a:pPr>
              <a:buFont typeface="Monotype Sorts" pitchFamily="-84" charset="2"/>
              <a:buNone/>
            </a:pPr>
            <a:r>
              <a:rPr lang="en-US" altLang="en-US" sz="2000" dirty="0"/>
              <a:t>Represented by the C structure </a:t>
            </a:r>
            <a:r>
              <a:rPr lang="en-US" altLang="en-US" sz="2000" dirty="0" err="1">
                <a:latin typeface="Courier New" panose="02070309020205020404" pitchFamily="49" charset="0"/>
              </a:rPr>
              <a:t>task_struct</a:t>
            </a:r>
            <a:endParaRPr lang="en-US" altLang="en-US" sz="2000" dirty="0">
              <a:latin typeface="Courier New" panose="02070309020205020404" pitchFamily="49" charset="0"/>
            </a:endParaRPr>
          </a:p>
          <a:p>
            <a:pPr>
              <a:buFont typeface="Monotype Sorts" pitchFamily="-84" charset="2"/>
              <a:buNone/>
            </a:pPr>
            <a:br>
              <a:rPr lang="en-US" altLang="en-US" sz="2000" dirty="0">
                <a:latin typeface="Courier New" panose="02070309020205020404" pitchFamily="49" charset="0"/>
              </a:rPr>
            </a:br>
            <a:r>
              <a:rPr lang="en-US" altLang="en-US" b="1" dirty="0" err="1">
                <a:latin typeface="Courier New" panose="02070309020205020404" pitchFamily="49" charset="0"/>
              </a:rPr>
              <a:t>pid</a:t>
            </a:r>
            <a:r>
              <a:rPr lang="en-US" altLang="en-US" dirty="0">
                <a:latin typeface="Courier New" panose="02070309020205020404" pitchFamily="49" charset="0"/>
              </a:rPr>
              <a:t> </a:t>
            </a:r>
            <a:r>
              <a:rPr lang="en-US" altLang="en-US" dirty="0" err="1">
                <a:latin typeface="Courier New" panose="02070309020205020404" pitchFamily="49" charset="0"/>
              </a:rPr>
              <a:t>t_pid</a:t>
            </a:r>
            <a:r>
              <a:rPr lang="en-US" altLang="en-US" dirty="0">
                <a:latin typeface="Courier New" panose="02070309020205020404" pitchFamily="49" charset="0"/>
              </a:rPr>
              <a:t>; 			/* process identifier */ </a:t>
            </a:r>
            <a:br>
              <a:rPr lang="en-US" altLang="en-US" dirty="0">
                <a:latin typeface="Courier New" panose="02070309020205020404" pitchFamily="49" charset="0"/>
              </a:rPr>
            </a:br>
            <a:r>
              <a:rPr lang="en-US" altLang="en-US" b="1" dirty="0">
                <a:latin typeface="Courier New" panose="02070309020205020404" pitchFamily="49" charset="0"/>
              </a:rPr>
              <a:t>long</a:t>
            </a:r>
            <a:r>
              <a:rPr lang="en-US" altLang="en-US" dirty="0">
                <a:latin typeface="Courier New" panose="02070309020205020404" pitchFamily="49" charset="0"/>
              </a:rPr>
              <a:t> state; 			/* state of the process */ </a:t>
            </a:r>
            <a:br>
              <a:rPr lang="en-US" altLang="en-US" dirty="0">
                <a:latin typeface="Courier New" panose="02070309020205020404" pitchFamily="49" charset="0"/>
              </a:rPr>
            </a:br>
            <a:r>
              <a:rPr lang="en-US" altLang="en-US" dirty="0">
                <a:latin typeface="Courier New" panose="02070309020205020404" pitchFamily="49" charset="0"/>
              </a:rPr>
              <a:t>unsigned int </a:t>
            </a:r>
            <a:r>
              <a:rPr lang="en-US" altLang="en-US" dirty="0" err="1">
                <a:latin typeface="Courier New" panose="02070309020205020404" pitchFamily="49" charset="0"/>
              </a:rPr>
              <a:t>time_slice</a:t>
            </a:r>
            <a:r>
              <a:rPr lang="en-US" altLang="en-US" dirty="0">
                <a:latin typeface="Courier New" panose="02070309020205020404" pitchFamily="49" charset="0"/>
              </a:rPr>
              <a:t> 	/* scheduling information */ </a:t>
            </a:r>
            <a:br>
              <a:rPr lang="en-US" altLang="en-US" dirty="0">
                <a:latin typeface="Courier New" panose="02070309020205020404" pitchFamily="49" charset="0"/>
              </a:rPr>
            </a:br>
            <a:r>
              <a:rPr lang="en-US" altLang="en-US" dirty="0">
                <a:latin typeface="Courier New" panose="02070309020205020404" pitchFamily="49" charset="0"/>
              </a:rPr>
              <a:t>struct </a:t>
            </a:r>
            <a:r>
              <a:rPr lang="en-US" altLang="en-US" dirty="0" err="1">
                <a:latin typeface="Courier New" panose="02070309020205020404" pitchFamily="49" charset="0"/>
              </a:rPr>
              <a:t>task_struct</a:t>
            </a:r>
            <a:r>
              <a:rPr lang="en-US" altLang="en-US" dirty="0">
                <a:latin typeface="Courier New" panose="02070309020205020404" pitchFamily="49" charset="0"/>
              </a:rPr>
              <a:t> *</a:t>
            </a:r>
            <a:r>
              <a:rPr lang="en-US" altLang="en-US" b="1" dirty="0">
                <a:latin typeface="Courier New" panose="02070309020205020404" pitchFamily="49" charset="0"/>
              </a:rPr>
              <a:t>parent</a:t>
            </a:r>
            <a:r>
              <a:rPr lang="en-US" altLang="en-US" dirty="0">
                <a:latin typeface="Courier New" panose="02070309020205020404" pitchFamily="49" charset="0"/>
              </a:rPr>
              <a:t>;/* this process</a:t>
            </a:r>
            <a:r>
              <a:rPr lang="ja-JP" altLang="en-US" dirty="0">
                <a:latin typeface="Courier New" panose="02070309020205020404" pitchFamily="49" charset="0"/>
              </a:rPr>
              <a:t>’</a:t>
            </a:r>
            <a:r>
              <a:rPr lang="en-US" altLang="ja-JP" dirty="0">
                <a:latin typeface="Courier New" panose="02070309020205020404" pitchFamily="49" charset="0"/>
              </a:rPr>
              <a:t>s parent */ </a:t>
            </a:r>
            <a:br>
              <a:rPr lang="en-US" altLang="ja-JP" dirty="0">
                <a:latin typeface="Courier New" panose="02070309020205020404" pitchFamily="49" charset="0"/>
              </a:rPr>
            </a:br>
            <a:r>
              <a:rPr lang="en-US" altLang="ja-JP" dirty="0">
                <a:latin typeface="Courier New" panose="02070309020205020404" pitchFamily="49" charset="0"/>
              </a:rPr>
              <a:t>struct </a:t>
            </a:r>
            <a:r>
              <a:rPr lang="en-US" altLang="ja-JP" dirty="0" err="1">
                <a:latin typeface="Courier New" panose="02070309020205020404" pitchFamily="49" charset="0"/>
              </a:rPr>
              <a:t>list_head</a:t>
            </a:r>
            <a:r>
              <a:rPr lang="en-US" altLang="ja-JP" dirty="0">
                <a:latin typeface="Courier New" panose="02070309020205020404" pitchFamily="49" charset="0"/>
              </a:rPr>
              <a:t> </a:t>
            </a:r>
            <a:r>
              <a:rPr lang="en-US" altLang="ja-JP" b="1" dirty="0">
                <a:latin typeface="Courier New" panose="02070309020205020404" pitchFamily="49" charset="0"/>
              </a:rPr>
              <a:t>children</a:t>
            </a:r>
            <a:r>
              <a:rPr lang="en-US" altLang="ja-JP" dirty="0">
                <a:latin typeface="Courier New" panose="02070309020205020404" pitchFamily="49" charset="0"/>
              </a:rPr>
              <a:t>; /* this process</a:t>
            </a:r>
            <a:r>
              <a:rPr lang="ja-JP" altLang="en-US" dirty="0">
                <a:latin typeface="Courier New" panose="02070309020205020404" pitchFamily="49" charset="0"/>
              </a:rPr>
              <a:t>’</a:t>
            </a:r>
            <a:r>
              <a:rPr lang="en-US" altLang="ja-JP" dirty="0">
                <a:latin typeface="Courier New" panose="02070309020205020404" pitchFamily="49" charset="0"/>
              </a:rPr>
              <a:t>s children */ </a:t>
            </a:r>
            <a:br>
              <a:rPr lang="en-US" altLang="ja-JP" dirty="0">
                <a:latin typeface="Courier New" panose="02070309020205020404" pitchFamily="49" charset="0"/>
              </a:rPr>
            </a:br>
            <a:r>
              <a:rPr lang="en-US" altLang="ja-JP" dirty="0">
                <a:latin typeface="Courier New" panose="02070309020205020404" pitchFamily="49" charset="0"/>
              </a:rPr>
              <a:t>struct </a:t>
            </a:r>
            <a:r>
              <a:rPr lang="en-US" altLang="ja-JP" dirty="0" err="1">
                <a:latin typeface="Courier New" panose="02070309020205020404" pitchFamily="49" charset="0"/>
              </a:rPr>
              <a:t>files_struct</a:t>
            </a:r>
            <a:r>
              <a:rPr lang="en-US" altLang="ja-JP" dirty="0">
                <a:latin typeface="Courier New" panose="02070309020205020404" pitchFamily="49" charset="0"/>
              </a:rPr>
              <a:t> *</a:t>
            </a:r>
            <a:r>
              <a:rPr lang="en-US" altLang="ja-JP" b="1" dirty="0">
                <a:latin typeface="Courier New" panose="02070309020205020404" pitchFamily="49" charset="0"/>
              </a:rPr>
              <a:t>files</a:t>
            </a:r>
            <a:r>
              <a:rPr lang="en-US" altLang="ja-JP" dirty="0">
                <a:latin typeface="Courier New" panose="02070309020205020404" pitchFamily="49" charset="0"/>
              </a:rPr>
              <a:t>;/* list of open files */ </a:t>
            </a:r>
            <a:br>
              <a:rPr lang="en-US" altLang="ja-JP" dirty="0">
                <a:latin typeface="Courier New" panose="02070309020205020404" pitchFamily="49" charset="0"/>
              </a:rPr>
            </a:br>
            <a:r>
              <a:rPr lang="en-US" altLang="ja-JP" dirty="0">
                <a:latin typeface="Courier New" panose="02070309020205020404" pitchFamily="49" charset="0"/>
              </a:rPr>
              <a:t>struct </a:t>
            </a:r>
            <a:r>
              <a:rPr lang="en-US" altLang="ja-JP" dirty="0" err="1">
                <a:latin typeface="Courier New" panose="02070309020205020404" pitchFamily="49" charset="0"/>
              </a:rPr>
              <a:t>mm_struct</a:t>
            </a:r>
            <a:r>
              <a:rPr lang="en-US" altLang="ja-JP" dirty="0">
                <a:latin typeface="Courier New" panose="02070309020205020404" pitchFamily="49" charset="0"/>
              </a:rPr>
              <a:t> *</a:t>
            </a:r>
            <a:r>
              <a:rPr lang="en-US" altLang="ja-JP" b="1" dirty="0">
                <a:latin typeface="Courier New" panose="02070309020205020404" pitchFamily="49" charset="0"/>
              </a:rPr>
              <a:t>mm</a:t>
            </a:r>
            <a:r>
              <a:rPr lang="en-US" altLang="ja-JP" dirty="0">
                <a:latin typeface="Courier New" panose="02070309020205020404" pitchFamily="49" charset="0"/>
              </a:rPr>
              <a:t>; 	/* address space of this process */</a:t>
            </a:r>
            <a:endParaRPr lang="en-US" altLang="en-US" dirty="0">
              <a:latin typeface="Courier New" panose="02070309020205020404" pitchFamily="49" charset="0"/>
            </a:endParaRPr>
          </a:p>
        </p:txBody>
      </p:sp>
      <p:pic>
        <p:nvPicPr>
          <p:cNvPr id="26628" name="Picture 1">
            <a:extLst>
              <a:ext uri="{FF2B5EF4-FFF2-40B4-BE49-F238E27FC236}">
                <a16:creationId xmlns:a16="http://schemas.microsoft.com/office/drawing/2014/main" id="{93AD06B9-FDEF-4097-849B-AE5BDEF25F0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0439" y="4490291"/>
            <a:ext cx="6212681" cy="2139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6D14E00-AC36-46B6-804B-3B1E61B7A1F4}"/>
              </a:ext>
            </a:extLst>
          </p:cNvPr>
          <p:cNvSpPr>
            <a:spLocks noGrp="1" noChangeArrowheads="1"/>
          </p:cNvSpPr>
          <p:nvPr>
            <p:ph type="title"/>
          </p:nvPr>
        </p:nvSpPr>
        <p:spPr>
          <a:xfrm>
            <a:off x="1079500" y="172132"/>
            <a:ext cx="7645400" cy="576262"/>
          </a:xfrm>
        </p:spPr>
        <p:txBody>
          <a:bodyPr/>
          <a:lstStyle/>
          <a:p>
            <a:pPr eaLnBrk="1" hangingPunct="1"/>
            <a:r>
              <a:rPr lang="fa-IR" altLang="en-US" dirty="0">
                <a:cs typeface="B Nazanin" panose="00000400000000000000" pitchFamily="2" charset="-78"/>
              </a:rPr>
              <a:t>زمان بندی فرآیند</a:t>
            </a:r>
            <a:endParaRPr lang="en-US" altLang="en-US" dirty="0"/>
          </a:p>
        </p:txBody>
      </p:sp>
      <p:sp>
        <p:nvSpPr>
          <p:cNvPr id="27651" name="Rectangle 3">
            <a:extLst>
              <a:ext uri="{FF2B5EF4-FFF2-40B4-BE49-F238E27FC236}">
                <a16:creationId xmlns:a16="http://schemas.microsoft.com/office/drawing/2014/main" id="{CD9E4484-1299-4947-B075-F0D9269BBD17}"/>
              </a:ext>
            </a:extLst>
          </p:cNvPr>
          <p:cNvSpPr>
            <a:spLocks noGrp="1" noChangeArrowheads="1"/>
          </p:cNvSpPr>
          <p:nvPr>
            <p:ph type="body" idx="1"/>
          </p:nvPr>
        </p:nvSpPr>
        <p:spPr>
          <a:xfrm>
            <a:off x="376518" y="989705"/>
            <a:ext cx="8466268" cy="5696164"/>
          </a:xfrm>
        </p:spPr>
        <p:txBody>
          <a:bodyPr/>
          <a:lstStyle/>
          <a:p>
            <a:pPr marL="0" marR="0" algn="r" rtl="1">
              <a:lnSpc>
                <a:spcPct val="107000"/>
              </a:lnSpc>
              <a:spcBef>
                <a:spcPts val="0"/>
              </a:spcBef>
              <a:spcAft>
                <a:spcPts val="800"/>
              </a:spcAf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فرایند زمانبندی کننده از بین فرایندهای موجود برای اجرای بعدی روی هسته</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CPU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انتخاب می کند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هدف</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 به حداکثر رساندن استفاده از</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CPU</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به سرعت فرآیندها را روی هسته</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CPU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سوئیچ کنید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صف های زمانبندی فرآیندها را حفظ می کند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صف آماده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مجموعه ای از تمام فرآیندهایی که در </a:t>
            </a: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حافظه اصلی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قرار دارند، آماده و منتظر اجرا هستند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صف های انتظار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مجموعه ای از فرآیندهایی که منتظر یک رویداد (یعنی ورودی/خروجی) هستند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فرایندها بین صف های مختلف مهاجرت می کنند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79FFB59-5D7F-4075-B911-2B593B51732C}"/>
              </a:ext>
            </a:extLst>
          </p:cNvPr>
          <p:cNvSpPr>
            <a:spLocks noGrp="1" noChangeArrowheads="1"/>
          </p:cNvSpPr>
          <p:nvPr>
            <p:ph type="title"/>
          </p:nvPr>
        </p:nvSpPr>
        <p:spPr>
          <a:xfrm>
            <a:off x="974725" y="349250"/>
            <a:ext cx="7591425" cy="457200"/>
          </a:xfrm>
        </p:spPr>
        <p:txBody>
          <a:bodyPr/>
          <a:lstStyle/>
          <a:p>
            <a:pPr eaLnBrk="1" hangingPunct="1"/>
            <a:r>
              <a:rPr lang="fa-IR" altLang="en-US" dirty="0">
                <a:cs typeface="B Nazanin" panose="00000400000000000000" pitchFamily="2" charset="-78"/>
              </a:rPr>
              <a:t>صف آماده و انتظار</a:t>
            </a:r>
            <a:endParaRPr lang="en-US" altLang="en-US" dirty="0"/>
          </a:p>
        </p:txBody>
      </p:sp>
      <p:pic>
        <p:nvPicPr>
          <p:cNvPr id="29699" name="Picture 1">
            <a:extLst>
              <a:ext uri="{FF2B5EF4-FFF2-40B4-BE49-F238E27FC236}">
                <a16:creationId xmlns:a16="http://schemas.microsoft.com/office/drawing/2014/main" id="{BCBD9C55-CB2E-45AE-A528-0022312EC9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0639" y="1142963"/>
            <a:ext cx="7139411" cy="4246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C0B1E62-D399-4E80-8BE2-47A417BFBADD}"/>
              </a:ext>
            </a:extLst>
          </p:cNvPr>
          <p:cNvSpPr txBox="1"/>
          <p:nvPr/>
        </p:nvSpPr>
        <p:spPr>
          <a:xfrm>
            <a:off x="0" y="5502631"/>
            <a:ext cx="8401252" cy="646331"/>
          </a:xfrm>
          <a:prstGeom prst="rect">
            <a:avLst/>
          </a:prstGeom>
          <a:noFill/>
        </p:spPr>
        <p:txBody>
          <a:bodyPr wrap="square">
            <a:spAutoFit/>
          </a:bodyPr>
          <a:lstStyle/>
          <a:p>
            <a:pPr algn="r"/>
            <a:r>
              <a:rPr lang="fa-IR" b="1" i="0" dirty="0">
                <a:solidFill>
                  <a:srgbClr val="1F1F1F"/>
                </a:solidFill>
                <a:effectLst/>
                <a:latin typeface="Google Sans"/>
                <a:cs typeface="B Nazanin" panose="00000400000000000000" pitchFamily="2" charset="-78"/>
              </a:rPr>
              <a:t>تعداد فرآیندهایی که در حال حاضر در حافظه قرار دارند، به عنوان درجه چندبرنامگی(چندفرآیندی) شناخته می‌شود.</a:t>
            </a:r>
            <a:endParaRPr lang="en-US" dirty="0">
              <a:cs typeface="B Nazanin" panose="00000400000000000000" pitchFamily="2" charset="-7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8DB7F06-1635-4E8A-B106-08B7519EA753}"/>
              </a:ext>
            </a:extLst>
          </p:cNvPr>
          <p:cNvSpPr>
            <a:spLocks noGrp="1" noChangeArrowheads="1"/>
          </p:cNvSpPr>
          <p:nvPr>
            <p:ph type="title"/>
          </p:nvPr>
        </p:nvSpPr>
        <p:spPr>
          <a:xfrm>
            <a:off x="887413" y="227013"/>
            <a:ext cx="8229600" cy="576262"/>
          </a:xfrm>
        </p:spPr>
        <p:txBody>
          <a:bodyPr/>
          <a:lstStyle/>
          <a:p>
            <a:pPr eaLnBrk="1" hangingPunct="1"/>
            <a:r>
              <a:rPr lang="fa-IR" altLang="en-US" dirty="0">
                <a:cs typeface="B Nazanin" panose="00000400000000000000" pitchFamily="2" charset="-78"/>
              </a:rPr>
              <a:t>نمایش زمان بندی فرآیندها</a:t>
            </a:r>
            <a:endParaRPr lang="en-US" altLang="en-US" dirty="0"/>
          </a:p>
        </p:txBody>
      </p:sp>
      <p:pic>
        <p:nvPicPr>
          <p:cNvPr id="31747" name="Picture 2">
            <a:extLst>
              <a:ext uri="{FF2B5EF4-FFF2-40B4-BE49-F238E27FC236}">
                <a16:creationId xmlns:a16="http://schemas.microsoft.com/office/drawing/2014/main" id="{A0A8D57B-B011-4BA3-A330-AE3AFD4CB52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18329" y="1025694"/>
            <a:ext cx="7859873" cy="4536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4294884C-D89B-43C5-8278-E1AFFD1E5DD1}"/>
              </a:ext>
            </a:extLst>
          </p:cNvPr>
          <p:cNvSpPr>
            <a:spLocks noGrp="1" noChangeArrowheads="1"/>
          </p:cNvSpPr>
          <p:nvPr>
            <p:ph type="title"/>
          </p:nvPr>
        </p:nvSpPr>
        <p:spPr>
          <a:xfrm>
            <a:off x="842963" y="228600"/>
            <a:ext cx="8229600" cy="576263"/>
          </a:xfrm>
        </p:spPr>
        <p:txBody>
          <a:bodyPr/>
          <a:lstStyle/>
          <a:p>
            <a:pPr eaLnBrk="1" hangingPunct="1"/>
            <a:r>
              <a:rPr lang="en-US" altLang="en-US"/>
              <a:t>CPU Switch From Process to Process</a:t>
            </a:r>
          </a:p>
        </p:txBody>
      </p:sp>
      <p:sp>
        <p:nvSpPr>
          <p:cNvPr id="33795" name="TextBox 1">
            <a:extLst>
              <a:ext uri="{FF2B5EF4-FFF2-40B4-BE49-F238E27FC236}">
                <a16:creationId xmlns:a16="http://schemas.microsoft.com/office/drawing/2014/main" id="{2AC6A249-89C1-4E3A-A92E-5E91F7A23743}"/>
              </a:ext>
            </a:extLst>
          </p:cNvPr>
          <p:cNvSpPr txBox="1">
            <a:spLocks noChangeArrowheads="1"/>
          </p:cNvSpPr>
          <p:nvPr/>
        </p:nvSpPr>
        <p:spPr bwMode="auto">
          <a:xfrm>
            <a:off x="93643" y="984995"/>
            <a:ext cx="8978919"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algn="r" rtl="1">
              <a:lnSpc>
                <a:spcPts val="2625"/>
              </a:lnSpc>
              <a:spcBef>
                <a:spcPts val="1500"/>
              </a:spcBef>
              <a:spcAft>
                <a:spcPts val="1500"/>
              </a:spcAft>
            </a:pPr>
            <a:r>
              <a:rPr lang="ar-SA" sz="20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وقتی</a:t>
            </a:r>
            <a:r>
              <a:rPr lang="en-US" sz="20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CPU </a:t>
            </a:r>
            <a:r>
              <a:rPr lang="ar-SA" sz="20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از یک فرایند به فرایند دیگری تغییر می‌کند، یک تغییر زمینه</a:t>
            </a:r>
            <a:r>
              <a:rPr lang="en-US" sz="20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(context switch) </a:t>
            </a:r>
            <a:r>
              <a:rPr lang="ar-SA" sz="20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رخ می‌دهد</a:t>
            </a:r>
            <a:r>
              <a:rPr lang="en-US" sz="20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000" dirty="0">
              <a:effectLst/>
              <a:latin typeface="Times New Roman" panose="02020603050405020304" pitchFamily="18" charset="0"/>
              <a:ea typeface="Times New Roman" panose="02020603050405020304" pitchFamily="18" charset="0"/>
              <a:cs typeface="B Nazanin" panose="00000400000000000000" pitchFamily="2" charset="-78"/>
            </a:endParaRPr>
          </a:p>
        </p:txBody>
      </p:sp>
      <p:pic>
        <p:nvPicPr>
          <p:cNvPr id="33796" name="Picture 1">
            <a:extLst>
              <a:ext uri="{FF2B5EF4-FFF2-40B4-BE49-F238E27FC236}">
                <a16:creationId xmlns:a16="http://schemas.microsoft.com/office/drawing/2014/main" id="{81BF3499-8F25-4834-B5FB-DDAE904111A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36321" y="1546754"/>
            <a:ext cx="5984488" cy="489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69EF2C8-62D9-4AD3-A3DB-7E8B03141FB3}"/>
              </a:ext>
            </a:extLst>
          </p:cNvPr>
          <p:cNvSpPr>
            <a:spLocks noGrp="1" noChangeArrowheads="1"/>
          </p:cNvSpPr>
          <p:nvPr>
            <p:ph type="title"/>
          </p:nvPr>
        </p:nvSpPr>
        <p:spPr>
          <a:xfrm>
            <a:off x="363538" y="231775"/>
            <a:ext cx="8229600" cy="576263"/>
          </a:xfrm>
        </p:spPr>
        <p:txBody>
          <a:bodyPr/>
          <a:lstStyle/>
          <a:p>
            <a:pPr eaLnBrk="1" hangingPunct="1"/>
            <a:r>
              <a:rPr lang="en-US" altLang="en-US" dirty="0">
                <a:cs typeface="B Nazanin" panose="00000400000000000000" pitchFamily="2" charset="-78"/>
              </a:rPr>
              <a:t>Context Switch </a:t>
            </a:r>
            <a:r>
              <a:rPr lang="fa-IR" altLang="en-US" dirty="0">
                <a:cs typeface="B Nazanin" panose="00000400000000000000" pitchFamily="2" charset="-78"/>
              </a:rPr>
              <a:t>تغییر زمینه</a:t>
            </a:r>
            <a:endParaRPr lang="en-US" altLang="en-US" dirty="0">
              <a:cs typeface="B Nazanin" panose="00000400000000000000" pitchFamily="2" charset="-78"/>
            </a:endParaRPr>
          </a:p>
        </p:txBody>
      </p:sp>
      <p:sp>
        <p:nvSpPr>
          <p:cNvPr id="35843" name="Rectangle 3">
            <a:extLst>
              <a:ext uri="{FF2B5EF4-FFF2-40B4-BE49-F238E27FC236}">
                <a16:creationId xmlns:a16="http://schemas.microsoft.com/office/drawing/2014/main" id="{BFE77FD9-7213-4CFD-BE76-B9508F46FB81}"/>
              </a:ext>
            </a:extLst>
          </p:cNvPr>
          <p:cNvSpPr>
            <a:spLocks noGrp="1" noChangeArrowheads="1"/>
          </p:cNvSpPr>
          <p:nvPr>
            <p:ph type="body" idx="1"/>
          </p:nvPr>
        </p:nvSpPr>
        <p:spPr>
          <a:xfrm>
            <a:off x="363538" y="925158"/>
            <a:ext cx="8500763" cy="5701067"/>
          </a:xfrm>
        </p:spPr>
        <p:txBody>
          <a:bodyPr/>
          <a:lstStyle/>
          <a:p>
            <a:pPr marL="0" marR="0" algn="r" rtl="1">
              <a:lnSpc>
                <a:spcPct val="107000"/>
              </a:lnSpc>
              <a:spcBef>
                <a:spcPts val="0"/>
              </a:spcBef>
              <a:spcAft>
                <a:spcPts val="800"/>
              </a:spcAf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زمانی که</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CPU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از یک فرآیند به فرآیند دیگر سوئیچ می کند، سیستم باید وضعیت فرآیند قدیمی را ذخیره کند و وضعیت ذخیره شده برای فرآیند جدید را از طریق یک سوئیچ زمینه بارگذاری کند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زمینه</a:t>
            </a:r>
            <a:r>
              <a:rPr lang="en-US" sz="3200" dirty="0">
                <a:solidFill>
                  <a:srgbClr val="1F1F1F"/>
                </a:solidFill>
                <a:latin typeface="Calibri" panose="020F0502020204030204" pitchFamily="34" charset="0"/>
                <a:ea typeface="Times New Roman" panose="02020603050405020304" pitchFamily="18" charset="0"/>
                <a:cs typeface="B Nazanin" panose="00000400000000000000" pitchFamily="2" charset="-78"/>
              </a:rPr>
              <a:t>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یک فرآیند در</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PCB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نشان داده شده است</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زمان سوئیچ زمینه صرفا سربار است. سیستم در هنگام سوئیچ کاری مفید انجام نمی دهد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Font typeface="Wingdings" panose="05000000000000000000" pitchFamily="2" charset="2"/>
              <a:buChar char=""/>
              <a:tabLst>
                <a:tab pos="4572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هرچه سیستم عامل و</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32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PCB</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3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پیچیده</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تر باشند، </a:t>
            </a:r>
            <a:r>
              <a:rPr lang="ar-SA" sz="3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سوئیچ زمینه طولانی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تر می شود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Font typeface="Wingdings" panose="05000000000000000000" pitchFamily="2" charset="2"/>
              <a:buChar char=""/>
              <a:tabLst>
                <a:tab pos="4572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زمان وابسته به </a:t>
            </a:r>
            <a:r>
              <a:rPr lang="ar-SA" sz="3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پشتیبانی سخت افزار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است</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D9C18A1-E10D-464E-ADF5-DBECC2503EA1}"/>
              </a:ext>
            </a:extLst>
          </p:cNvPr>
          <p:cNvSpPr>
            <a:spLocks noGrp="1" noChangeArrowheads="1"/>
          </p:cNvSpPr>
          <p:nvPr>
            <p:ph type="title"/>
          </p:nvPr>
        </p:nvSpPr>
        <p:spPr>
          <a:xfrm>
            <a:off x="457200" y="217488"/>
            <a:ext cx="8229600" cy="576262"/>
          </a:xfrm>
        </p:spPr>
        <p:txBody>
          <a:bodyPr/>
          <a:lstStyle/>
          <a:p>
            <a:pPr eaLnBrk="1" hangingPunct="1"/>
            <a:r>
              <a:rPr lang="fa-IR" altLang="en-US" dirty="0">
                <a:cs typeface="B Nazanin" panose="00000400000000000000" pitchFamily="2" charset="-78"/>
              </a:rPr>
              <a:t>عملیاتهای فرآیند</a:t>
            </a:r>
            <a:endParaRPr lang="en-US" altLang="en-US" dirty="0"/>
          </a:p>
        </p:txBody>
      </p:sp>
      <p:sp>
        <p:nvSpPr>
          <p:cNvPr id="39939" name="Rectangle 3">
            <a:extLst>
              <a:ext uri="{FF2B5EF4-FFF2-40B4-BE49-F238E27FC236}">
                <a16:creationId xmlns:a16="http://schemas.microsoft.com/office/drawing/2014/main" id="{1EED5598-4581-4F9D-8CEF-0D1A5A5544B9}"/>
              </a:ext>
            </a:extLst>
          </p:cNvPr>
          <p:cNvSpPr>
            <a:spLocks noGrp="1" noChangeArrowheads="1"/>
          </p:cNvSpPr>
          <p:nvPr>
            <p:ph type="body" idx="1"/>
          </p:nvPr>
        </p:nvSpPr>
        <p:spPr>
          <a:xfrm>
            <a:off x="849313" y="1233488"/>
            <a:ext cx="7381875" cy="4448175"/>
          </a:xfrm>
        </p:spPr>
        <p:txBody>
          <a:bodyPr/>
          <a:lstStyle/>
          <a:p>
            <a:pPr marL="0" marR="0" algn="r" rtl="1">
              <a:lnSpc>
                <a:spcPct val="107000"/>
              </a:lnSpc>
              <a:spcBef>
                <a:spcPts val="0"/>
              </a:spcBef>
              <a:spcAft>
                <a:spcPts val="800"/>
              </a:spcAft>
            </a:pPr>
            <a:r>
              <a:rPr lang="ar-SA" sz="40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سیستم باید مکانیزم هایی برای موارد زیر ارائه دهد</a:t>
            </a:r>
            <a:r>
              <a:rPr lang="en-US" sz="40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40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40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ایجاد فرآیند</a:t>
            </a:r>
            <a:endParaRPr lang="en-US" sz="40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40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خاتمه فرآیند</a:t>
            </a:r>
            <a:endParaRPr lang="en-US" sz="4000" dirty="0">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072917A-2F04-4923-8279-E4AEA8CC4538}"/>
              </a:ext>
            </a:extLst>
          </p:cNvPr>
          <p:cNvSpPr>
            <a:spLocks noGrp="1" noChangeArrowheads="1"/>
          </p:cNvSpPr>
          <p:nvPr>
            <p:ph type="title"/>
          </p:nvPr>
        </p:nvSpPr>
        <p:spPr>
          <a:xfrm>
            <a:off x="457200" y="147150"/>
            <a:ext cx="8229600" cy="576262"/>
          </a:xfrm>
        </p:spPr>
        <p:txBody>
          <a:bodyPr/>
          <a:lstStyle/>
          <a:p>
            <a:pPr eaLnBrk="1" hangingPunct="1"/>
            <a:r>
              <a:rPr lang="fa-IR" altLang="en-US" dirty="0">
                <a:cs typeface="B Nazanin" panose="00000400000000000000" pitchFamily="2" charset="-78"/>
              </a:rPr>
              <a:t>ایجاد فرآیند</a:t>
            </a:r>
            <a:endParaRPr lang="en-US" altLang="en-US" dirty="0"/>
          </a:p>
        </p:txBody>
      </p:sp>
      <p:sp>
        <p:nvSpPr>
          <p:cNvPr id="41987" name="Rectangle 3">
            <a:extLst>
              <a:ext uri="{FF2B5EF4-FFF2-40B4-BE49-F238E27FC236}">
                <a16:creationId xmlns:a16="http://schemas.microsoft.com/office/drawing/2014/main" id="{D7F79436-9B7B-4340-B99C-8D1E088896F0}"/>
              </a:ext>
            </a:extLst>
          </p:cNvPr>
          <p:cNvSpPr>
            <a:spLocks noGrp="1" noChangeArrowheads="1"/>
          </p:cNvSpPr>
          <p:nvPr>
            <p:ph type="body" idx="1"/>
          </p:nvPr>
        </p:nvSpPr>
        <p:spPr>
          <a:xfrm>
            <a:off x="457200" y="1043492"/>
            <a:ext cx="8321039" cy="5111123"/>
          </a:xfrm>
        </p:spPr>
        <p:txBody>
          <a:bodyPr/>
          <a:lstStyle/>
          <a:p>
            <a:pPr marL="0" marR="0" algn="r" rtl="1">
              <a:lnSpc>
                <a:spcPct val="107000"/>
              </a:lnSpc>
              <a:spcBef>
                <a:spcPts val="0"/>
              </a:spcBef>
              <a:spcAft>
                <a:spcPts val="800"/>
              </a:spcAft>
            </a:pPr>
            <a:r>
              <a:rPr lang="ar-SA" sz="26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 والد فرآیندهای فرزند را ایجاد می‌کند</a:t>
            </a:r>
            <a:r>
              <a:rPr lang="ar-SA" sz="26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که به نوبه خود فرآیندهای دیگری را ایجاد می‌کنند </a:t>
            </a:r>
            <a:r>
              <a:rPr lang="ar-SA" sz="26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 درختی از فرآیندها</a:t>
            </a:r>
            <a:r>
              <a:rPr lang="ar-SA" sz="26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را تشکیل می‌دهند</a:t>
            </a:r>
            <a:r>
              <a:rPr lang="en-US" sz="26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6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6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فرآیند از طریق یک شناسه فرآیند</a:t>
            </a:r>
            <a:r>
              <a:rPr lang="en-US" sz="26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2600" b="1"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pid</a:t>
            </a:r>
            <a:r>
              <a:rPr lang="en-US" sz="26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26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شناسایی و مدیریت می شود</a:t>
            </a:r>
            <a:r>
              <a:rPr lang="en-US" sz="26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6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6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گزینه های </a:t>
            </a:r>
            <a:r>
              <a:rPr lang="ar-SA" sz="26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اشتراک گذاری منابع</a:t>
            </a:r>
            <a:r>
              <a:rPr lang="en-US" sz="26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600" dirty="0">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6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والد و فرزندان همه منابع را به اشتراک </a:t>
            </a:r>
            <a:r>
              <a:rPr lang="ar-SA" sz="26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می گذارند</a:t>
            </a:r>
            <a:r>
              <a:rPr lang="en-US" sz="26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6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6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فرزندان زیرمجموعه ای از منابع والد </a:t>
            </a:r>
            <a:r>
              <a:rPr lang="ar-SA" sz="26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را به اشتراک می گذارند</a:t>
            </a:r>
            <a:r>
              <a:rPr lang="en-US" sz="26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6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6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والد و فرزند هیچ منبعی را به اشتراک </a:t>
            </a:r>
            <a:r>
              <a:rPr lang="ar-SA" sz="26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نمی گذارند</a:t>
            </a:r>
            <a:r>
              <a:rPr lang="en-US" sz="26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6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6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گزینه های اجرا</a:t>
            </a:r>
            <a:r>
              <a:rPr lang="en-US" sz="26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600" dirty="0">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6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والد و فرزندان </a:t>
            </a:r>
            <a:r>
              <a:rPr lang="ar-SA" sz="26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به طور </a:t>
            </a:r>
            <a:r>
              <a:rPr lang="ar-SA" sz="26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همزمان</a:t>
            </a:r>
            <a:r>
              <a:rPr lang="ar-SA" sz="26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اجرا می شوند</a:t>
            </a:r>
            <a:r>
              <a:rPr lang="en-US" sz="26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6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6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والد منتظر </a:t>
            </a:r>
            <a:r>
              <a:rPr lang="ar-SA" sz="26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می ماند </a:t>
            </a:r>
            <a:r>
              <a:rPr lang="ar-SA" sz="26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تا فرزندان خاتمه </a:t>
            </a:r>
            <a:r>
              <a:rPr lang="ar-SA" sz="26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یابند</a:t>
            </a:r>
            <a:r>
              <a:rPr lang="en-US" sz="26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6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AE43D30-47DB-4A10-9067-ED0817C05E25}"/>
              </a:ext>
            </a:extLst>
          </p:cNvPr>
          <p:cNvSpPr>
            <a:spLocks noGrp="1" noChangeArrowheads="1"/>
          </p:cNvSpPr>
          <p:nvPr>
            <p:ph type="title"/>
          </p:nvPr>
        </p:nvSpPr>
        <p:spPr>
          <a:xfrm>
            <a:off x="1069975" y="217488"/>
            <a:ext cx="7616825" cy="576262"/>
          </a:xfrm>
        </p:spPr>
        <p:txBody>
          <a:bodyPr/>
          <a:lstStyle/>
          <a:p>
            <a:pPr eaLnBrk="1" hangingPunct="1"/>
            <a:r>
              <a:rPr lang="fa-IR" altLang="en-US" dirty="0">
                <a:cs typeface="B Nazanin" panose="00000400000000000000" pitchFamily="2" charset="-78"/>
              </a:rPr>
              <a:t>ایجاد فرآیند (ادامه)</a:t>
            </a:r>
            <a:endParaRPr lang="en-US" altLang="en-US" dirty="0"/>
          </a:p>
        </p:txBody>
      </p:sp>
      <p:sp>
        <p:nvSpPr>
          <p:cNvPr id="46083" name="Rectangle 3">
            <a:extLst>
              <a:ext uri="{FF2B5EF4-FFF2-40B4-BE49-F238E27FC236}">
                <a16:creationId xmlns:a16="http://schemas.microsoft.com/office/drawing/2014/main" id="{5A61E917-5669-429F-AA78-E90F2FCB894C}"/>
              </a:ext>
            </a:extLst>
          </p:cNvPr>
          <p:cNvSpPr>
            <a:spLocks noGrp="1" noChangeArrowheads="1"/>
          </p:cNvSpPr>
          <p:nvPr>
            <p:ph type="body" idx="1"/>
          </p:nvPr>
        </p:nvSpPr>
        <p:spPr>
          <a:xfrm>
            <a:off x="363835" y="838580"/>
            <a:ext cx="8128095" cy="5389580"/>
          </a:xfrm>
        </p:spPr>
        <p:txBody>
          <a:bodyPr/>
          <a:lstStyle/>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fa-IR"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فضای آدرس</a:t>
            </a: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فرزند </a:t>
            </a:r>
            <a:r>
              <a:rPr lang="fa-IR" sz="3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همانندی</a:t>
            </a:r>
            <a:r>
              <a:rPr lang="en-US"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duplicate</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از </a:t>
            </a:r>
            <a:r>
              <a:rPr lang="ar-SA" sz="3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والد</a:t>
            </a:r>
            <a:r>
              <a:rPr lang="en-US"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a:t>
            </a:r>
            <a:r>
              <a:rPr lang="fa-IR"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a:t>
            </a:r>
            <a:r>
              <a:rPr lang="fa-IR" sz="3200" dirty="0">
                <a:solidFill>
                  <a:srgbClr val="1F1F1F"/>
                </a:solidFill>
                <a:latin typeface="Calibri" panose="020F0502020204030204" pitchFamily="34" charset="0"/>
                <a:ea typeface="Times New Roman" panose="02020603050405020304" pitchFamily="18" charset="0"/>
                <a:cs typeface="B Nazanin" panose="00000400000000000000" pitchFamily="2" charset="-78"/>
              </a:rPr>
              <a:t>همان فضای آدرس والد را دارد</a:t>
            </a:r>
            <a:r>
              <a:rPr lang="fa-IR"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باعث ارتباط راحتر فرزند و والد می شود</a:t>
            </a:r>
            <a:endParaRPr lang="en-US" sz="32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فرزندی با یک برنامه</a:t>
            </a:r>
            <a:r>
              <a:rPr lang="fa-IR"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جدید</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در آن بارگذاری </a:t>
            </a:r>
            <a:r>
              <a:rPr lang="fa-IR"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می شود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32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مثال‌های یونیکس</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فراخوان سیستمی</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fork()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 جدیدی ایجاد می‌کند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32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فراخوان سیستمی</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exec()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پس از یک</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fork()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برای جایگزینی فضای حافظه فرآیند با یک برنامه جدید استفاده می شود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32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 والد با فراخوان</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wait()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منتظر خاتمه فرزند می ماند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32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CE1AA525-61E4-4CE5-B1B8-BBEC4CC5E094}"/>
              </a:ext>
            </a:extLst>
          </p:cNvPr>
          <p:cNvSpPr>
            <a:spLocks noGrp="1" noChangeArrowheads="1"/>
          </p:cNvSpPr>
          <p:nvPr>
            <p:ph type="title"/>
          </p:nvPr>
        </p:nvSpPr>
        <p:spPr>
          <a:xfrm>
            <a:off x="996950" y="227013"/>
            <a:ext cx="8229600" cy="576262"/>
          </a:xfrm>
        </p:spPr>
        <p:txBody>
          <a:bodyPr/>
          <a:lstStyle/>
          <a:p>
            <a:pPr eaLnBrk="1" hangingPunct="1"/>
            <a:r>
              <a:rPr lang="en-US" altLang="en-US" dirty="0"/>
              <a:t>C Program Forking Separate Process</a:t>
            </a:r>
          </a:p>
        </p:txBody>
      </p:sp>
      <p:pic>
        <p:nvPicPr>
          <p:cNvPr id="48131" name="Picture 5" descr="Screen Shot 2012-12-04 at 11.21.10 AM.png">
            <a:extLst>
              <a:ext uri="{FF2B5EF4-FFF2-40B4-BE49-F238E27FC236}">
                <a16:creationId xmlns:a16="http://schemas.microsoft.com/office/drawing/2014/main" id="{D4AAA5E2-276C-448A-B064-DFAFD902308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1341" y="1027112"/>
            <a:ext cx="6038850" cy="560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
            <a:extLst>
              <a:ext uri="{FF2B5EF4-FFF2-40B4-BE49-F238E27FC236}">
                <a16:creationId xmlns:a16="http://schemas.microsoft.com/office/drawing/2014/main" id="{F28DE046-DF8E-497B-915D-27D8BB61027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656060" y="1170133"/>
            <a:ext cx="5288262" cy="1088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39237D4-E7AC-45FA-BF2A-B2DEBB1756B7}"/>
              </a:ext>
            </a:extLst>
          </p:cNvPr>
          <p:cNvSpPr>
            <a:spLocks noGrp="1" noChangeArrowheads="1"/>
          </p:cNvSpPr>
          <p:nvPr>
            <p:ph type="title"/>
          </p:nvPr>
        </p:nvSpPr>
        <p:spPr>
          <a:xfrm>
            <a:off x="1296988" y="222250"/>
            <a:ext cx="7259637" cy="576263"/>
          </a:xfrm>
        </p:spPr>
        <p:txBody>
          <a:bodyPr/>
          <a:lstStyle/>
          <a:p>
            <a:pPr eaLnBrk="1" hangingPunct="1"/>
            <a:r>
              <a:rPr lang="fa-IR" altLang="en-US" dirty="0">
                <a:cs typeface="B Nazanin" panose="00000400000000000000" pitchFamily="2" charset="-78"/>
              </a:rPr>
              <a:t>درختی از فرآیندها در لینوکس</a:t>
            </a:r>
            <a:endParaRPr lang="en-US" altLang="en-US" dirty="0"/>
          </a:p>
        </p:txBody>
      </p:sp>
      <p:pic>
        <p:nvPicPr>
          <p:cNvPr id="44035" name="Picture 1">
            <a:extLst>
              <a:ext uri="{FF2B5EF4-FFF2-40B4-BE49-F238E27FC236}">
                <a16:creationId xmlns:a16="http://schemas.microsoft.com/office/drawing/2014/main" id="{EA22965C-6F67-436A-9A7E-32781923A7C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1500" y="1701800"/>
            <a:ext cx="7985125" cy="343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3909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0F4113AE-3A57-4A41-B077-3753934F4615}"/>
              </a:ext>
            </a:extLst>
          </p:cNvPr>
          <p:cNvSpPr>
            <a:spLocks noGrp="1" noChangeArrowheads="1"/>
          </p:cNvSpPr>
          <p:nvPr>
            <p:ph type="title"/>
          </p:nvPr>
        </p:nvSpPr>
        <p:spPr>
          <a:xfrm>
            <a:off x="1046163" y="228600"/>
            <a:ext cx="8229600" cy="576263"/>
          </a:xfrm>
        </p:spPr>
        <p:txBody>
          <a:bodyPr/>
          <a:lstStyle/>
          <a:p>
            <a:pPr eaLnBrk="1" hangingPunct="1"/>
            <a:r>
              <a:rPr lang="en-US" altLang="en-US" sz="2800" dirty="0"/>
              <a:t>Creating a Separate Process via Windows API</a:t>
            </a:r>
          </a:p>
        </p:txBody>
      </p:sp>
      <p:pic>
        <p:nvPicPr>
          <p:cNvPr id="50179" name="Picture 1" descr="Screen Shot 2012-12-04 at 11.23.48 AM.png">
            <a:extLst>
              <a:ext uri="{FF2B5EF4-FFF2-40B4-BE49-F238E27FC236}">
                <a16:creationId xmlns:a16="http://schemas.microsoft.com/office/drawing/2014/main" id="{92929ABB-1259-4492-BE46-EE3BC21BF5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0469" y="1092200"/>
            <a:ext cx="5796392" cy="553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B3A2AC5D-C916-47B2-8787-ACB9BD2F9B0E}"/>
              </a:ext>
            </a:extLst>
          </p:cNvPr>
          <p:cNvSpPr>
            <a:spLocks noGrp="1" noChangeArrowheads="1"/>
          </p:cNvSpPr>
          <p:nvPr>
            <p:ph type="title"/>
          </p:nvPr>
        </p:nvSpPr>
        <p:spPr>
          <a:xfrm>
            <a:off x="457200" y="227013"/>
            <a:ext cx="8229600" cy="576262"/>
          </a:xfrm>
        </p:spPr>
        <p:txBody>
          <a:bodyPr/>
          <a:lstStyle/>
          <a:p>
            <a:pPr eaLnBrk="1" hangingPunct="1"/>
            <a:r>
              <a:rPr lang="fa-IR" altLang="en-US" dirty="0">
                <a:cs typeface="B Nazanin" panose="00000400000000000000" pitchFamily="2" charset="-78"/>
              </a:rPr>
              <a:t>اتمام فرآیند</a:t>
            </a:r>
            <a:endParaRPr lang="en-US" altLang="en-US" dirty="0"/>
          </a:p>
        </p:txBody>
      </p:sp>
      <p:sp>
        <p:nvSpPr>
          <p:cNvPr id="52227" name="Rectangle 3">
            <a:extLst>
              <a:ext uri="{FF2B5EF4-FFF2-40B4-BE49-F238E27FC236}">
                <a16:creationId xmlns:a16="http://schemas.microsoft.com/office/drawing/2014/main" id="{9AB8093C-E173-4473-A450-3BC8EBA8DE1B}"/>
              </a:ext>
            </a:extLst>
          </p:cNvPr>
          <p:cNvSpPr>
            <a:spLocks noGrp="1" noChangeArrowheads="1"/>
          </p:cNvSpPr>
          <p:nvPr>
            <p:ph type="body" idx="1"/>
          </p:nvPr>
        </p:nvSpPr>
        <p:spPr>
          <a:xfrm>
            <a:off x="159745" y="979254"/>
            <a:ext cx="8692762" cy="5410530"/>
          </a:xfrm>
        </p:spPr>
        <p:txBody>
          <a:bodyPr/>
          <a:lstStyle/>
          <a:p>
            <a:pPr marL="0" marR="0" algn="r" rtl="1">
              <a:lnSpc>
                <a:spcPct val="107000"/>
              </a:lnSpc>
              <a:spcBef>
                <a:spcPts val="0"/>
              </a:spcBef>
              <a:spcAft>
                <a:spcPts val="800"/>
              </a:spcAft>
            </a:pPr>
            <a:r>
              <a:rPr lang="fa-IR"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اتمام فرایند: </a:t>
            </a:r>
            <a:r>
              <a:rPr lang="ar-SA" sz="27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 آخرین دستور </a:t>
            </a: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را اجرا می کند </a:t>
            </a:r>
            <a:r>
              <a:rPr lang="fa-IR"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یا </a:t>
            </a: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با استفاده از </a:t>
            </a:r>
            <a:r>
              <a:rPr lang="ar-SA" sz="27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فراخوان سیستمی </a:t>
            </a:r>
            <a:r>
              <a:rPr lang="en-US" sz="2700" b="1" dirty="0">
                <a:solidFill>
                  <a:srgbClr val="00B0F0"/>
                </a:solidFill>
                <a:effectLst/>
                <a:latin typeface="Courier New" panose="02070309020205020404" pitchFamily="49" charset="0"/>
                <a:ea typeface="Times New Roman" panose="02020603050405020304" pitchFamily="18" charset="0"/>
                <a:cs typeface="B Nazanin" panose="00000400000000000000" pitchFamily="2" charset="-78"/>
              </a:rPr>
              <a:t>exit</a:t>
            </a:r>
            <a:r>
              <a:rPr lang="en-US" sz="2700"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a:t>
            </a:r>
            <a:r>
              <a:rPr lang="en-US" sz="27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از سیستم عامل درخواست حذف آن را می کند</a:t>
            </a:r>
            <a:r>
              <a:rPr lang="en-US" sz="27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700" dirty="0">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fa-IR"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فرآیندخاتمه یافته :</a:t>
            </a: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داده های </a:t>
            </a:r>
            <a:r>
              <a:rPr lang="ar-SA" sz="27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وضعیت</a:t>
            </a:r>
            <a:r>
              <a:rPr lang="fa-IR"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(عدد صحیح)</a:t>
            </a: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را از فرزند به والد از طریق </a:t>
            </a:r>
            <a:r>
              <a:rPr lang="en-US" sz="2700" b="1" dirty="0">
                <a:solidFill>
                  <a:srgbClr val="00B0F0"/>
                </a:solidFill>
                <a:effectLst/>
                <a:latin typeface="Courier New" panose="02070309020205020404" pitchFamily="49" charset="0"/>
                <a:ea typeface="Times New Roman" panose="02020603050405020304" pitchFamily="18" charset="0"/>
                <a:cs typeface="B Nazanin" panose="00000400000000000000" pitchFamily="2" charset="-78"/>
              </a:rPr>
              <a:t>wait</a:t>
            </a:r>
            <a:r>
              <a:rPr lang="en-US" sz="2700"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a:t>
            </a:r>
            <a:r>
              <a:rPr lang="fa-IR" sz="2700"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 </a:t>
            </a:r>
            <a:r>
              <a:rPr lang="en-US" sz="27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برمی گرداند</a:t>
            </a:r>
            <a:r>
              <a:rPr lang="en-US" sz="27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7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7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منابع</a:t>
            </a: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فرآیند توسط سیستم عامل </a:t>
            </a:r>
            <a:r>
              <a:rPr lang="ar-SA" sz="27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آزاد</a:t>
            </a: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می شوند</a:t>
            </a:r>
            <a:r>
              <a:rPr lang="en-US" sz="27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fa-IR" sz="27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endParaRPr lang="en-US" sz="27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 والد ممکن است اجرای فرآیندهای فرزند را با استفاده از فراخوان سیستمی </a:t>
            </a:r>
            <a:r>
              <a:rPr lang="en-US" sz="2700" b="1" dirty="0">
                <a:solidFill>
                  <a:srgbClr val="00B0F0"/>
                </a:solidFill>
                <a:effectLst/>
                <a:latin typeface="Courier New" panose="02070309020205020404" pitchFamily="49" charset="0"/>
                <a:ea typeface="Times New Roman" panose="02020603050405020304" pitchFamily="18" charset="0"/>
                <a:cs typeface="B Nazanin" panose="00000400000000000000" pitchFamily="2" charset="-78"/>
              </a:rPr>
              <a:t>abort</a:t>
            </a:r>
            <a:r>
              <a:rPr lang="en-US" sz="2700"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a:t>
            </a:r>
            <a:r>
              <a:rPr lang="en-US" sz="27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خاتمه دهد. از دلایل انجام این کار عبارتند از</a:t>
            </a:r>
            <a:r>
              <a:rPr lang="en-US" sz="27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700" dirty="0">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fa-IR" sz="27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استفاده</a:t>
            </a:r>
            <a:r>
              <a:rPr lang="fa-IR"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a:t>
            </a: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فرزند از منابع اختصاص داده شده </a:t>
            </a:r>
            <a:r>
              <a:rPr lang="ar-SA" sz="27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فراتر</a:t>
            </a: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رفته است</a:t>
            </a:r>
            <a:r>
              <a:rPr lang="en-US" sz="27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7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وظیفه اختصاص داده شده به </a:t>
            </a:r>
            <a:r>
              <a:rPr lang="ar-SA" sz="27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فرزند</a:t>
            </a: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دیگر </a:t>
            </a:r>
            <a:r>
              <a:rPr lang="ar-SA" sz="27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مورد نیاز نیست</a:t>
            </a:r>
            <a:r>
              <a:rPr lang="en-US" sz="27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7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 والد در حال خروج است و </a:t>
            </a:r>
            <a:r>
              <a:rPr lang="ar-SA" sz="2700" dirty="0">
                <a:solidFill>
                  <a:srgbClr val="1F1F1F"/>
                </a:solidFill>
                <a:latin typeface="Calibri" panose="020F0502020204030204" pitchFamily="34" charset="0"/>
                <a:cs typeface="B Nazanin" panose="00000400000000000000" pitchFamily="2" charset="-78"/>
              </a:rPr>
              <a:t>سیستم</a:t>
            </a:r>
            <a:r>
              <a:rPr lang="ar-SA" sz="27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عامل اجازه نمی دهد فرزندی در صورت خاتمه والد به کار خود ادامه دهد</a:t>
            </a:r>
            <a:r>
              <a:rPr lang="en-US" sz="27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7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30622719-68BE-4BB0-B168-1A3AE8D09602}"/>
              </a:ext>
            </a:extLst>
          </p:cNvPr>
          <p:cNvSpPr>
            <a:spLocks noGrp="1" noChangeArrowheads="1"/>
          </p:cNvSpPr>
          <p:nvPr>
            <p:ph type="title"/>
          </p:nvPr>
        </p:nvSpPr>
        <p:spPr>
          <a:xfrm>
            <a:off x="457200" y="134816"/>
            <a:ext cx="8229600" cy="576263"/>
          </a:xfrm>
        </p:spPr>
        <p:txBody>
          <a:bodyPr/>
          <a:lstStyle/>
          <a:p>
            <a:pPr eaLnBrk="1" hangingPunct="1"/>
            <a:r>
              <a:rPr lang="fa-IR" altLang="en-US" dirty="0">
                <a:cs typeface="B Nazanin" panose="00000400000000000000" pitchFamily="2" charset="-78"/>
              </a:rPr>
              <a:t>اتمام فرآیند</a:t>
            </a:r>
            <a:endParaRPr lang="en-US" altLang="en-US" dirty="0"/>
          </a:p>
        </p:txBody>
      </p:sp>
      <p:sp>
        <p:nvSpPr>
          <p:cNvPr id="54275" name="Rectangle 3">
            <a:extLst>
              <a:ext uri="{FF2B5EF4-FFF2-40B4-BE49-F238E27FC236}">
                <a16:creationId xmlns:a16="http://schemas.microsoft.com/office/drawing/2014/main" id="{C7E8DAD2-CD54-4141-B861-1A2932EF060A}"/>
              </a:ext>
            </a:extLst>
          </p:cNvPr>
          <p:cNvSpPr>
            <a:spLocks noGrp="1" noChangeArrowheads="1"/>
          </p:cNvSpPr>
          <p:nvPr>
            <p:ph type="body" idx="1"/>
          </p:nvPr>
        </p:nvSpPr>
        <p:spPr>
          <a:xfrm>
            <a:off x="457200" y="968188"/>
            <a:ext cx="8321040" cy="5378824"/>
          </a:xfrm>
        </p:spPr>
        <p:txBody>
          <a:bodyPr/>
          <a:lstStyle/>
          <a:p>
            <a:pPr marL="0" marR="0" algn="r" rtl="1">
              <a:lnSpc>
                <a:spcPct val="107000"/>
              </a:lnSpc>
              <a:spcBef>
                <a:spcPts val="0"/>
              </a:spcBef>
              <a:spcAft>
                <a:spcPts val="800"/>
              </a:spcAf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برخی از سیستم عامل ها اجازه نمی دهند فرزند در صورت خاتمه والد وجود داشته باشد. اگر یک فرآیند خاتمه یابد، تمام فرزندان آن نیز باید خاتمه یابند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خاتمه آبشاری</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3200" dirty="0">
                <a:solidFill>
                  <a:srgbClr val="00B0F0"/>
                </a:solidFill>
                <a:effectLst/>
                <a:latin typeface="Arial" panose="020B0604020202020204" pitchFamily="34" charset="0"/>
                <a:ea typeface="Times New Roman" panose="02020603050405020304" pitchFamily="18" charset="0"/>
                <a:cs typeface="B Nazanin" panose="00000400000000000000" pitchFamily="2" charset="-78"/>
              </a:rPr>
              <a:t>Cascading Termination</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تمام فرزندان، نوه ها و غیره خاتمه می یابند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32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خاتمه توسط سیستم عامل آغاز می شود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32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30622719-68BE-4BB0-B168-1A3AE8D09602}"/>
              </a:ext>
            </a:extLst>
          </p:cNvPr>
          <p:cNvSpPr>
            <a:spLocks noGrp="1" noChangeArrowheads="1"/>
          </p:cNvSpPr>
          <p:nvPr>
            <p:ph type="title"/>
          </p:nvPr>
        </p:nvSpPr>
        <p:spPr>
          <a:xfrm>
            <a:off x="457200" y="134816"/>
            <a:ext cx="8229600" cy="576263"/>
          </a:xfrm>
        </p:spPr>
        <p:txBody>
          <a:bodyPr/>
          <a:lstStyle/>
          <a:p>
            <a:pPr eaLnBrk="1" hangingPunct="1"/>
            <a:r>
              <a:rPr lang="fa-IR" altLang="en-US" dirty="0">
                <a:cs typeface="B Nazanin" panose="00000400000000000000" pitchFamily="2" charset="-78"/>
              </a:rPr>
              <a:t>اتمام فرآیند</a:t>
            </a:r>
            <a:endParaRPr lang="en-US" altLang="en-US" dirty="0"/>
          </a:p>
        </p:txBody>
      </p:sp>
      <p:sp>
        <p:nvSpPr>
          <p:cNvPr id="54275" name="Rectangle 3">
            <a:extLst>
              <a:ext uri="{FF2B5EF4-FFF2-40B4-BE49-F238E27FC236}">
                <a16:creationId xmlns:a16="http://schemas.microsoft.com/office/drawing/2014/main" id="{C7E8DAD2-CD54-4141-B861-1A2932EF060A}"/>
              </a:ext>
            </a:extLst>
          </p:cNvPr>
          <p:cNvSpPr>
            <a:spLocks noGrp="1" noChangeArrowheads="1"/>
          </p:cNvSpPr>
          <p:nvPr>
            <p:ph type="body" idx="1"/>
          </p:nvPr>
        </p:nvSpPr>
        <p:spPr>
          <a:xfrm>
            <a:off x="457200" y="968188"/>
            <a:ext cx="8321040" cy="5378824"/>
          </a:xfrm>
        </p:spPr>
        <p:txBody>
          <a:bodyPr/>
          <a:lstStyle/>
          <a:p>
            <a:pPr marL="0" marR="0" algn="r" rtl="1">
              <a:lnSpc>
                <a:spcPct val="107000"/>
              </a:lnSpc>
              <a:spcBef>
                <a:spcPts val="0"/>
              </a:spcBef>
              <a:spcAft>
                <a:spcPts val="800"/>
              </a:spcAf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 والد با استفاده از فراخوان سیستمی </a:t>
            </a:r>
            <a:r>
              <a:rPr lang="en-US" sz="3200"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wait()</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منتظر خاتمه یک فرآیند فرزند </a:t>
            </a:r>
            <a:r>
              <a:rPr lang="fa-IR"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می شود</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این فراخوان اطلاعات وضعیت و شناسه فرآیند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32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pid</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 خاتمه یافته را برمی گرداند</a:t>
            </a:r>
            <a:r>
              <a:rPr lang="fa-IR"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a:t>
            </a:r>
          </a:p>
          <a:p>
            <a:pPr marL="0" marR="0">
              <a:lnSpc>
                <a:spcPct val="107000"/>
              </a:lnSpc>
              <a:spcBef>
                <a:spcPts val="0"/>
              </a:spcBef>
              <a:spcAft>
                <a:spcPts val="800"/>
              </a:spcAft>
            </a:pPr>
            <a:r>
              <a:rPr lang="en-US" sz="3200" b="1" dirty="0" err="1">
                <a:effectLst/>
                <a:latin typeface="Courier New" panose="02070309020205020404" pitchFamily="49" charset="0"/>
                <a:ea typeface="Times New Roman" panose="02020603050405020304" pitchFamily="18" charset="0"/>
                <a:cs typeface="B Nazanin" panose="00000400000000000000" pitchFamily="2" charset="-78"/>
              </a:rPr>
              <a:t>pid</a:t>
            </a:r>
            <a:r>
              <a:rPr lang="en-US" sz="3200" b="1" dirty="0">
                <a:effectLst/>
                <a:latin typeface="Courier New" panose="02070309020205020404" pitchFamily="49" charset="0"/>
                <a:ea typeface="Times New Roman" panose="02020603050405020304" pitchFamily="18" charset="0"/>
                <a:cs typeface="B Nazanin" panose="00000400000000000000" pitchFamily="2" charset="-78"/>
              </a:rPr>
              <a:t> = </a:t>
            </a:r>
            <a:r>
              <a:rPr lang="en-US" sz="3200" b="1" dirty="0">
                <a:solidFill>
                  <a:srgbClr val="00B0F0"/>
                </a:solidFill>
                <a:effectLst/>
                <a:latin typeface="Courier New" panose="02070309020205020404" pitchFamily="49" charset="0"/>
                <a:ea typeface="Times New Roman" panose="02020603050405020304" pitchFamily="18" charset="0"/>
                <a:cs typeface="B Nazanin" panose="00000400000000000000" pitchFamily="2" charset="-78"/>
              </a:rPr>
              <a:t>wait</a:t>
            </a:r>
            <a:r>
              <a:rPr lang="en-US" sz="3200" b="1" dirty="0">
                <a:effectLst/>
                <a:latin typeface="Courier New" panose="02070309020205020404" pitchFamily="49" charset="0"/>
                <a:ea typeface="Times New Roman" panose="02020603050405020304" pitchFamily="18" charset="0"/>
                <a:cs typeface="B Nazanin" panose="00000400000000000000" pitchFamily="2" charset="-78"/>
              </a:rPr>
              <a:t>(&amp;status);</a:t>
            </a:r>
            <a:endParaRPr lang="en-US" sz="3200" b="1" dirty="0">
              <a:effectLst/>
              <a:latin typeface="Calibri" panose="020F0502020204030204" pitchFamily="34" charset="0"/>
              <a:ea typeface="Calibri" panose="020F0502020204030204" pitchFamily="34" charset="0"/>
              <a:cs typeface="B Nazanin" panose="00000400000000000000" pitchFamily="2" charset="-78"/>
            </a:endParaRPr>
          </a:p>
          <a:p>
            <a:pPr marL="400050" lvl="1" indent="0" algn="r" rtl="1">
              <a:lnSpc>
                <a:spcPct val="107000"/>
              </a:lnSpc>
              <a:spcBef>
                <a:spcPts val="0"/>
              </a:spcBef>
              <a:spcAft>
                <a:spcPts val="0"/>
              </a:spcAft>
              <a:buSzPts val="1000"/>
              <a:buNone/>
              <a:tabLst>
                <a:tab pos="457200" algn="l"/>
              </a:tabLst>
            </a:pPr>
            <a:endParaRPr lang="en-US"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2234382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30622719-68BE-4BB0-B168-1A3AE8D09602}"/>
              </a:ext>
            </a:extLst>
          </p:cNvPr>
          <p:cNvSpPr>
            <a:spLocks noGrp="1" noChangeArrowheads="1"/>
          </p:cNvSpPr>
          <p:nvPr>
            <p:ph type="title"/>
          </p:nvPr>
        </p:nvSpPr>
        <p:spPr>
          <a:xfrm>
            <a:off x="457200" y="134816"/>
            <a:ext cx="8229600" cy="576263"/>
          </a:xfrm>
        </p:spPr>
        <p:txBody>
          <a:bodyPr/>
          <a:lstStyle/>
          <a:p>
            <a:pPr eaLnBrk="1" hangingPunct="1"/>
            <a:r>
              <a:rPr lang="fa-IR" altLang="en-US" dirty="0">
                <a:cs typeface="B Nazanin" panose="00000400000000000000" pitchFamily="2" charset="-78"/>
              </a:rPr>
              <a:t>اتمام فرآیند</a:t>
            </a:r>
            <a:endParaRPr lang="en-US" altLang="en-US" dirty="0"/>
          </a:p>
        </p:txBody>
      </p:sp>
      <p:sp>
        <p:nvSpPr>
          <p:cNvPr id="54275" name="Rectangle 3">
            <a:extLst>
              <a:ext uri="{FF2B5EF4-FFF2-40B4-BE49-F238E27FC236}">
                <a16:creationId xmlns:a16="http://schemas.microsoft.com/office/drawing/2014/main" id="{C7E8DAD2-CD54-4141-B861-1A2932EF060A}"/>
              </a:ext>
            </a:extLst>
          </p:cNvPr>
          <p:cNvSpPr>
            <a:spLocks noGrp="1" noChangeArrowheads="1"/>
          </p:cNvSpPr>
          <p:nvPr>
            <p:ph type="body" idx="1"/>
          </p:nvPr>
        </p:nvSpPr>
        <p:spPr>
          <a:xfrm>
            <a:off x="457200" y="968188"/>
            <a:ext cx="8321040" cy="5378824"/>
          </a:xfrm>
        </p:spPr>
        <p:txBody>
          <a:bodyPr/>
          <a:lstStyle/>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fa-IR" sz="2800" b="1" dirty="0">
                <a:solidFill>
                  <a:srgbClr val="1F1F1F"/>
                </a:solidFill>
                <a:latin typeface="Calibri" panose="020F0502020204030204" pitchFamily="34" charset="0"/>
                <a:cs typeface="B Nazanin" panose="00000400000000000000" pitchFamily="2" charset="-78"/>
              </a:rPr>
              <a:t>فرآیند یتیم</a:t>
            </a:r>
            <a:r>
              <a:rPr lang="fa-IR" sz="2800" dirty="0">
                <a:solidFill>
                  <a:srgbClr val="1F1F1F"/>
                </a:solidFill>
                <a:latin typeface="Calibri" panose="020F0502020204030204" pitchFamily="34" charset="0"/>
                <a:cs typeface="B Nazanin" panose="00000400000000000000" pitchFamily="2" charset="-78"/>
              </a:rPr>
              <a:t>، فرآیندی است که خاتمه نیافته و فرآیند والد آن به اتمام رسیده یا خاتمه پیدا کرده است. </a:t>
            </a:r>
            <a:endParaRPr lang="en-US" sz="2800" dirty="0">
              <a:solidFill>
                <a:srgbClr val="1F1F1F"/>
              </a:solidFill>
              <a:latin typeface="Calibri" panose="020F0502020204030204" pitchFamily="34" charset="0"/>
              <a:cs typeface="B Nazanin" panose="00000400000000000000" pitchFamily="2" charset="-78"/>
            </a:endParaRPr>
          </a:p>
          <a:p>
            <a:pPr lvl="2"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b="1" dirty="0">
                <a:solidFill>
                  <a:srgbClr val="1F1F1F"/>
                </a:solidFill>
                <a:latin typeface="Calibri" panose="020F0502020204030204" pitchFamily="34" charset="0"/>
                <a:cs typeface="B Nazanin" panose="00000400000000000000" pitchFamily="2" charset="-78"/>
              </a:rPr>
              <a:t>اگر والد بدون </a:t>
            </a: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فراخوانی </a:t>
            </a:r>
            <a:r>
              <a:rPr lang="en-US" sz="2800" b="1"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wait()</a:t>
            </a:r>
            <a:r>
              <a:rPr lang="en-US" sz="2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خاتمه یابد، فرآیند به یک یتیم</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2800" dirty="0">
                <a:solidFill>
                  <a:srgbClr val="00B0F0"/>
                </a:solidFill>
                <a:effectLst/>
                <a:latin typeface="Arial" panose="020B0604020202020204" pitchFamily="34" charset="0"/>
                <a:ea typeface="Times New Roman" panose="02020603050405020304" pitchFamily="18" charset="0"/>
                <a:cs typeface="B Nazanin" panose="00000400000000000000" pitchFamily="2" charset="-78"/>
              </a:rPr>
              <a:t>Orphan</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تبدیل می شود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endParaRPr lang="en-US"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fa-IR" sz="2800" b="1" dirty="0">
                <a:solidFill>
                  <a:srgbClr val="1F1F1F"/>
                </a:solidFill>
                <a:latin typeface="Calibri" panose="020F0502020204030204" pitchFamily="34" charset="0"/>
                <a:cs typeface="B Nazanin" panose="00000400000000000000" pitchFamily="2" charset="-78"/>
              </a:rPr>
              <a:t>فرآیند زامبی</a:t>
            </a:r>
            <a:r>
              <a:rPr lang="fa-IR" sz="2800" dirty="0">
                <a:solidFill>
                  <a:srgbClr val="1F1F1F"/>
                </a:solidFill>
                <a:latin typeface="Calibri" panose="020F0502020204030204" pitchFamily="34" charset="0"/>
                <a:cs typeface="B Nazanin" panose="00000400000000000000" pitchFamily="2" charset="-78"/>
              </a:rPr>
              <a:t>، فرآیندی است که خاتمه یافته اما همچنان ورودی‌ای برای آن در جدول فرآیندها وجود دارد.</a:t>
            </a:r>
            <a:endParaRPr lang="en-US" sz="2800" dirty="0">
              <a:solidFill>
                <a:srgbClr val="1F1F1F"/>
              </a:solidFill>
              <a:latin typeface="Calibri" panose="020F0502020204030204" pitchFamily="34" charset="0"/>
              <a:cs typeface="B Nazanin" panose="00000400000000000000" pitchFamily="2" charset="-78"/>
            </a:endParaRPr>
          </a:p>
          <a:p>
            <a:pPr lvl="2" indent="-342900" algn="r" rtl="1">
              <a:lnSpc>
                <a:spcPct val="107000"/>
              </a:lnSpc>
              <a:spcBef>
                <a:spcPts val="0"/>
              </a:spcBef>
              <a:spcAft>
                <a:spcPts val="0"/>
              </a:spcAft>
              <a:buSzPts val="1000"/>
              <a:buFont typeface="Symbol" panose="05050102010706020507" pitchFamily="18" charset="2"/>
              <a:buChar char=""/>
              <a:tabLst>
                <a:tab pos="457200" algn="l"/>
              </a:tabLst>
            </a:pPr>
            <a:r>
              <a:rPr lang="fa-IR" sz="2800" dirty="0">
                <a:solidFill>
                  <a:srgbClr val="1F1F1F"/>
                </a:solidFill>
                <a:latin typeface="Calibri" panose="020F0502020204030204" pitchFamily="34" charset="0"/>
                <a:cs typeface="B Nazanin" panose="00000400000000000000" pitchFamily="2" charset="-78"/>
              </a:rPr>
              <a:t>فرآیندی </a:t>
            </a:r>
            <a:r>
              <a:rPr lang="fa-IR"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خاتمه یافته ولی </a:t>
            </a: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اگر هیچ والدی منتظر نباشد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a:t>
            </a:r>
            <a:r>
              <a:rPr lang="fa-IR"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والد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فراخوان </a:t>
            </a:r>
            <a:r>
              <a:rPr lang="en-US" sz="2800"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wait()</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را اجرا نکرده باشد) فرآیند به یک زامبی</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fa-IR"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r>
              <a:rPr lang="en-US" sz="2800" dirty="0">
                <a:solidFill>
                  <a:srgbClr val="00B0F0"/>
                </a:solidFill>
                <a:effectLst/>
                <a:latin typeface="Arial" panose="020B0604020202020204" pitchFamily="34" charset="0"/>
                <a:ea typeface="Times New Roman" panose="02020603050405020304" pitchFamily="18" charset="0"/>
                <a:cs typeface="B Nazanin" panose="00000400000000000000" pitchFamily="2" charset="-78"/>
              </a:rPr>
              <a:t>Zombie</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تبدیل می شود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p:txBody>
      </p:sp>
    </p:spTree>
    <p:extLst>
      <p:ext uri="{BB962C8B-B14F-4D97-AF65-F5344CB8AC3E}">
        <p14:creationId xmlns:p14="http://schemas.microsoft.com/office/powerpoint/2010/main" val="37255743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D6E94F8E-122F-4FED-9B3D-FD01E2845895}"/>
              </a:ext>
            </a:extLst>
          </p:cNvPr>
          <p:cNvSpPr>
            <a:spLocks noGrp="1" noChangeArrowheads="1"/>
          </p:cNvSpPr>
          <p:nvPr>
            <p:ph type="title"/>
          </p:nvPr>
        </p:nvSpPr>
        <p:spPr>
          <a:xfrm>
            <a:off x="1202347" y="143364"/>
            <a:ext cx="7997825" cy="576263"/>
          </a:xfrm>
        </p:spPr>
        <p:txBody>
          <a:bodyPr/>
          <a:lstStyle/>
          <a:p>
            <a:r>
              <a:rPr lang="fa-IR" altLang="en-US" sz="2800" dirty="0">
                <a:cs typeface="B Nazanin" panose="00000400000000000000" pitchFamily="2" charset="-78"/>
              </a:rPr>
              <a:t>معماری چندپردازنده ای-مرورگر کروم</a:t>
            </a:r>
            <a:endParaRPr lang="en-US" altLang="en-US" sz="2800" dirty="0"/>
          </a:p>
        </p:txBody>
      </p:sp>
      <p:sp>
        <p:nvSpPr>
          <p:cNvPr id="57347" name="Content Placeholder 2">
            <a:extLst>
              <a:ext uri="{FF2B5EF4-FFF2-40B4-BE49-F238E27FC236}">
                <a16:creationId xmlns:a16="http://schemas.microsoft.com/office/drawing/2014/main" id="{360D7C25-6ED1-40E0-9C1E-876BC3EC89DC}"/>
              </a:ext>
            </a:extLst>
          </p:cNvPr>
          <p:cNvSpPr>
            <a:spLocks noGrp="1" noChangeArrowheads="1"/>
          </p:cNvSpPr>
          <p:nvPr>
            <p:ph idx="1"/>
          </p:nvPr>
        </p:nvSpPr>
        <p:spPr>
          <a:xfrm>
            <a:off x="451821" y="1073426"/>
            <a:ext cx="8169892" cy="5456466"/>
          </a:xfrm>
        </p:spPr>
        <p:txBody>
          <a:bodyPr/>
          <a:lstStyle/>
          <a:p>
            <a:pPr marL="0" marR="0" algn="r" rtl="1">
              <a:lnSpc>
                <a:spcPct val="107000"/>
              </a:lnSpc>
              <a:spcBef>
                <a:spcPts val="0"/>
              </a:spcBef>
              <a:spcAft>
                <a:spcPts val="800"/>
              </a:spcAft>
            </a:pP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بسیاری از </a:t>
            </a:r>
            <a:r>
              <a:rPr lang="ar-SA" sz="2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مرورگرهای وب به عنوان یک فرآیند واحد</a:t>
            </a: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اجرا می شدند </a:t>
            </a:r>
            <a:endParaRPr lang="fa-IR"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a:p>
            <a:pPr marL="400050" lvl="1" algn="r" rtl="1">
              <a:lnSpc>
                <a:spcPct val="107000"/>
              </a:lnSpc>
              <a:spcBef>
                <a:spcPts val="0"/>
              </a:spcBef>
              <a:spcAft>
                <a:spcPts val="800"/>
              </a:spcAft>
            </a:pP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اگر یک وب سایت باعث ایجاد مشکل شود، کل مرورگر ممکن است گیر کند یا خراب شود</a:t>
            </a:r>
            <a:r>
              <a:rPr lang="en-US" sz="2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2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400050" lvl="1" algn="r" rtl="1">
              <a:lnSpc>
                <a:spcPct val="107000"/>
              </a:lnSpc>
              <a:spcBef>
                <a:spcPts val="0"/>
              </a:spcBef>
              <a:spcAft>
                <a:spcPts val="800"/>
              </a:spcAft>
            </a:pP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مرورگر گوگل کروم چند فرآیندی است و از سه نوع فرآیند مختلف تشکیل شده است</a:t>
            </a:r>
            <a:r>
              <a:rPr lang="en-US" sz="2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200" dirty="0">
              <a:effectLst/>
              <a:latin typeface="Calibri" panose="020F0502020204030204" pitchFamily="34" charset="0"/>
              <a:ea typeface="Calibri" panose="020F0502020204030204" pitchFamily="34" charset="0"/>
              <a:cs typeface="B Nazanin" panose="00000400000000000000" pitchFamily="2" charset="-78"/>
            </a:endParaRPr>
          </a:p>
          <a:p>
            <a:pPr marL="1200150" lvl="2" indent="-457200" algn="r" rtl="1">
              <a:lnSpc>
                <a:spcPct val="107000"/>
              </a:lnSpc>
              <a:spcBef>
                <a:spcPts val="0"/>
              </a:spcBef>
              <a:spcAft>
                <a:spcPts val="0"/>
              </a:spcAft>
              <a:buSzPts val="1000"/>
              <a:buFont typeface="+mj-lt"/>
              <a:buAutoNum type="arabicPeriod"/>
              <a:tabLst>
                <a:tab pos="457200" algn="l"/>
              </a:tabLst>
            </a:pPr>
            <a:r>
              <a:rPr lang="ar-SA" sz="2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 مرورگر رابط کاربری</a:t>
            </a: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دیسک و</a:t>
            </a:r>
            <a:r>
              <a:rPr lang="en-US" sz="2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I/O </a:t>
            </a: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شبکه را مدیریت می کند</a:t>
            </a:r>
            <a:r>
              <a:rPr lang="en-US" sz="2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2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1200150" lvl="2" indent="-457200" algn="r" rtl="1">
              <a:lnSpc>
                <a:spcPct val="107000"/>
              </a:lnSpc>
              <a:spcBef>
                <a:spcPts val="0"/>
              </a:spcBef>
              <a:spcAft>
                <a:spcPts val="0"/>
              </a:spcAft>
              <a:buSzPts val="1000"/>
              <a:buFont typeface="+mj-lt"/>
              <a:buAutoNum type="arabicPeriod"/>
              <a:tabLst>
                <a:tab pos="457200" algn="l"/>
              </a:tabLst>
            </a:pPr>
            <a:r>
              <a:rPr lang="ar-SA" sz="2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 رندر </a:t>
            </a: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کننده صفحات وب را رندر می کند، با</a:t>
            </a:r>
            <a:r>
              <a:rPr lang="en-US" sz="2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HTML </a:t>
            </a: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 جاوا اسکریپت سروکار دارد. </a:t>
            </a:r>
            <a:r>
              <a:rPr lang="ar-SA" sz="2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برای هر وب سایتی که باز می شود یک رندر کننده جدید </a:t>
            </a: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ایجاد می شود</a:t>
            </a:r>
            <a:r>
              <a:rPr lang="en-US" sz="2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2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1200150" lvl="2" indent="-457200" algn="r" rtl="1">
              <a:lnSpc>
                <a:spcPct val="107000"/>
              </a:lnSpc>
              <a:spcBef>
                <a:spcPts val="0"/>
              </a:spcBef>
              <a:spcAft>
                <a:spcPts val="0"/>
              </a:spcAft>
              <a:buSzPts val="1000"/>
              <a:buFont typeface="+mj-lt"/>
              <a:buAutoNum type="arabicPeriod"/>
              <a:tabLst>
                <a:tab pos="457200" algn="l"/>
              </a:tabLst>
            </a:pP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برای هر نوع </a:t>
            </a:r>
            <a:r>
              <a:rPr lang="ar-SA" sz="2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افزونه</a:t>
            </a: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a:t>
            </a:r>
            <a:r>
              <a:rPr lang="ar-SA" sz="2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یک</a:t>
            </a: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a:t>
            </a:r>
            <a:r>
              <a:rPr lang="ar-SA" sz="2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a:t>
            </a: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پلاگین وجود دارد</a:t>
            </a:r>
            <a:r>
              <a:rPr lang="en-US" sz="2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2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1200150" lvl="2" indent="-457200" algn="r" rtl="1">
              <a:lnSpc>
                <a:spcPct val="107000"/>
              </a:lnSpc>
              <a:spcBef>
                <a:spcPts val="0"/>
              </a:spcBef>
              <a:spcAft>
                <a:spcPts val="0"/>
              </a:spcAft>
              <a:buSzPts val="1000"/>
              <a:buFont typeface="+mj-lt"/>
              <a:buAutoNum type="arabicPeriod"/>
              <a:tabLst>
                <a:tab pos="457200" algn="l"/>
              </a:tabLst>
            </a:pP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در یک سندباکس</a:t>
            </a:r>
            <a:r>
              <a:rPr lang="en-US" sz="2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(Sandbox) </a:t>
            </a: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اجرا می شود </a:t>
            </a:r>
            <a:r>
              <a:rPr lang="fa-IR"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یعنی دسترسی</a:t>
            </a:r>
            <a:r>
              <a:rPr lang="en-US" sz="2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I/O </a:t>
            </a:r>
            <a:r>
              <a:rPr lang="ar-SA" sz="2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دیسک و شبکه را محدود می کند و تأثیر سوء استفاده های امنیتی را به حداقل می رساند</a:t>
            </a:r>
            <a:r>
              <a:rPr lang="en-US" sz="2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2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p:txBody>
      </p:sp>
      <p:pic>
        <p:nvPicPr>
          <p:cNvPr id="57348" name="Picture 1">
            <a:extLst>
              <a:ext uri="{FF2B5EF4-FFF2-40B4-BE49-F238E27FC236}">
                <a16:creationId xmlns:a16="http://schemas.microsoft.com/office/drawing/2014/main" id="{FC10B725-AB13-417A-BEE0-FCE2190A3E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5422593"/>
            <a:ext cx="7114079" cy="1435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09D0E5E8-A027-43B0-871E-ED73DF85B2CC}"/>
              </a:ext>
            </a:extLst>
          </p:cNvPr>
          <p:cNvSpPr>
            <a:spLocks noGrp="1" noChangeArrowheads="1"/>
          </p:cNvSpPr>
          <p:nvPr>
            <p:ph type="title"/>
          </p:nvPr>
        </p:nvSpPr>
        <p:spPr>
          <a:xfrm>
            <a:off x="1001713" y="130054"/>
            <a:ext cx="7485062" cy="576262"/>
          </a:xfrm>
        </p:spPr>
        <p:txBody>
          <a:bodyPr/>
          <a:lstStyle/>
          <a:p>
            <a:r>
              <a:rPr lang="fa-IR" altLang="en-US" dirty="0">
                <a:cs typeface="B Nazanin" panose="00000400000000000000" pitchFamily="2" charset="-78"/>
              </a:rPr>
              <a:t>ارتباط بین فرایندی</a:t>
            </a:r>
            <a:r>
              <a:rPr lang="en-US" altLang="en-US" dirty="0"/>
              <a:t> (IPC)</a:t>
            </a:r>
          </a:p>
        </p:txBody>
      </p:sp>
      <p:sp>
        <p:nvSpPr>
          <p:cNvPr id="59395" name="Content Placeholder 2">
            <a:extLst>
              <a:ext uri="{FF2B5EF4-FFF2-40B4-BE49-F238E27FC236}">
                <a16:creationId xmlns:a16="http://schemas.microsoft.com/office/drawing/2014/main" id="{2EF26BE1-FCB0-440F-8834-E9B667D36DB4}"/>
              </a:ext>
            </a:extLst>
          </p:cNvPr>
          <p:cNvSpPr>
            <a:spLocks noGrp="1" noChangeArrowheads="1"/>
          </p:cNvSpPr>
          <p:nvPr>
            <p:ph idx="1"/>
          </p:nvPr>
        </p:nvSpPr>
        <p:spPr>
          <a:xfrm>
            <a:off x="441064" y="1021977"/>
            <a:ext cx="8401722" cy="5836024"/>
          </a:xfrm>
        </p:spPr>
        <p:txBody>
          <a:bodyPr/>
          <a:lstStyle/>
          <a:p>
            <a:pPr marL="0" marR="0" algn="r" rtl="1">
              <a:lnSpc>
                <a:spcPct val="107000"/>
              </a:lnSpc>
              <a:spcBef>
                <a:spcPts val="0"/>
              </a:spcBef>
              <a:spcAft>
                <a:spcPts val="800"/>
              </a:spcAf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فرآیندهای درون یک سیستم ممکن است مستقل یا همکار باشند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فرآیندهای همکار می توانند بر فرآیندهای دیگر تأثیر بگذارند یا تحت تأثیر آنها قرار بگیرند</a:t>
            </a:r>
            <a:endParaRPr lang="fa-IR"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a:p>
            <a:pPr marL="742950" lvl="2" algn="r" rtl="1">
              <a:lnSpc>
                <a:spcPct val="107000"/>
              </a:lnSpc>
              <a:spcBef>
                <a:spcPts val="0"/>
              </a:spcBef>
              <a:spcAft>
                <a:spcPts val="800"/>
              </a:spcAf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دلایل استفاده از فرآیندهای همکار</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lvl="3"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اشتراک</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a:t>
            </a: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گذاری</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اطلاعات</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3"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سرعت</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a:t>
            </a: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بخشیدن</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به محاسبات</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3"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ماژولار</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بودن</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3"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سهولت</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استفاده</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فرآیندهای همکار به ارتباط بین فرآیند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(IPC)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نیاز دارند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marL="400050" lvl="1" algn="r" rtl="1">
              <a:lnSpc>
                <a:spcPct val="107000"/>
              </a:lnSpc>
              <a:spcBef>
                <a:spcPts val="0"/>
              </a:spcBef>
              <a:spcAft>
                <a:spcPts val="800"/>
              </a:spcAf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دو مدل</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IPC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وجود دارد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r>
              <a:rPr lang="fa-IR"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۱-</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حافظه مشترک</a:t>
            </a:r>
            <a:r>
              <a:rPr lang="fa-IR"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۲-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ارسال پیام</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D24006AF-9462-4FD7-8602-D757042B979A}"/>
              </a:ext>
            </a:extLst>
          </p:cNvPr>
          <p:cNvSpPr>
            <a:spLocks noGrp="1" noChangeArrowheads="1"/>
          </p:cNvSpPr>
          <p:nvPr>
            <p:ph type="title"/>
          </p:nvPr>
        </p:nvSpPr>
        <p:spPr>
          <a:xfrm>
            <a:off x="457200" y="228600"/>
            <a:ext cx="8229600" cy="576263"/>
          </a:xfrm>
        </p:spPr>
        <p:txBody>
          <a:bodyPr/>
          <a:lstStyle/>
          <a:p>
            <a:pPr eaLnBrk="1" hangingPunct="1"/>
            <a:r>
              <a:rPr lang="fa-IR" sz="2800" b="1" dirty="0">
                <a:solidFill>
                  <a:srgbClr val="006699"/>
                </a:solidFill>
                <a:effectLst/>
                <a:latin typeface="Arial" panose="020B0604020202020204" pitchFamily="34" charset="0"/>
                <a:ea typeface="MS PGothic" panose="020B0600070205080204" pitchFamily="34" charset="-128"/>
                <a:cs typeface="B Nazanin" panose="00000400000000000000" pitchFamily="2" charset="-78"/>
              </a:rPr>
              <a:t>مدل های ارتباطی فرایندی</a:t>
            </a:r>
            <a:endParaRPr lang="en-US" altLang="en-US" sz="4400" dirty="0"/>
          </a:p>
        </p:txBody>
      </p:sp>
      <p:sp>
        <p:nvSpPr>
          <p:cNvPr id="61443" name="Rectangle 3">
            <a:extLst>
              <a:ext uri="{FF2B5EF4-FFF2-40B4-BE49-F238E27FC236}">
                <a16:creationId xmlns:a16="http://schemas.microsoft.com/office/drawing/2014/main" id="{00B4232E-A93C-4613-91D0-E8A0948B61F1}"/>
              </a:ext>
            </a:extLst>
          </p:cNvPr>
          <p:cNvSpPr>
            <a:spLocks noChangeArrowheads="1"/>
          </p:cNvSpPr>
          <p:nvPr/>
        </p:nvSpPr>
        <p:spPr bwMode="auto">
          <a:xfrm>
            <a:off x="1487488" y="1150938"/>
            <a:ext cx="6372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a:solidFill>
                  <a:srgbClr val="000000"/>
                </a:solidFill>
                <a:latin typeface="Arial" panose="020B0604020202020204" pitchFamily="34" charset="0"/>
              </a:rPr>
              <a:t>(a) Shared memory.  		(b) Message passing. </a:t>
            </a:r>
            <a:r>
              <a:rPr kumimoji="0" lang="en-US" altLang="en-US" dirty="0">
                <a:latin typeface="Arial" panose="020B0604020202020204" pitchFamily="34" charset="0"/>
              </a:rPr>
              <a:t> </a:t>
            </a:r>
          </a:p>
        </p:txBody>
      </p:sp>
      <p:pic>
        <p:nvPicPr>
          <p:cNvPr id="61444" name="Picture 1">
            <a:extLst>
              <a:ext uri="{FF2B5EF4-FFF2-40B4-BE49-F238E27FC236}">
                <a16:creationId xmlns:a16="http://schemas.microsoft.com/office/drawing/2014/main" id="{3ED38AED-C0F5-4084-BE69-BF6EFD7FF58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12900" y="2016125"/>
            <a:ext cx="6246813" cy="399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69141823-0818-4D21-8248-27E5004ACAF5}"/>
              </a:ext>
            </a:extLst>
          </p:cNvPr>
          <p:cNvSpPr>
            <a:spLocks noGrp="1" noChangeArrowheads="1"/>
          </p:cNvSpPr>
          <p:nvPr>
            <p:ph type="title"/>
          </p:nvPr>
        </p:nvSpPr>
        <p:spPr>
          <a:xfrm>
            <a:off x="749300" y="228600"/>
            <a:ext cx="7937500" cy="576263"/>
          </a:xfrm>
        </p:spPr>
        <p:txBody>
          <a:bodyPr/>
          <a:lstStyle/>
          <a:p>
            <a:pPr eaLnBrk="1" hangingPunct="1"/>
            <a:r>
              <a:rPr lang="fa-IR" sz="2800" b="1" dirty="0">
                <a:solidFill>
                  <a:srgbClr val="006699"/>
                </a:solidFill>
                <a:effectLst/>
                <a:latin typeface="Arial" panose="020B0604020202020204" pitchFamily="34" charset="0"/>
                <a:ea typeface="MS PGothic" panose="020B0600070205080204" pitchFamily="34" charset="-128"/>
                <a:cs typeface="B Nazanin" panose="00000400000000000000" pitchFamily="2" charset="-78"/>
              </a:rPr>
              <a:t>مسئله تولیدکننده و مصرف کننده</a:t>
            </a:r>
            <a:endParaRPr lang="en-US" altLang="en-US" sz="4400" dirty="0"/>
          </a:p>
        </p:txBody>
      </p:sp>
      <p:sp>
        <p:nvSpPr>
          <p:cNvPr id="65539" name="Rectangle 3">
            <a:extLst>
              <a:ext uri="{FF2B5EF4-FFF2-40B4-BE49-F238E27FC236}">
                <a16:creationId xmlns:a16="http://schemas.microsoft.com/office/drawing/2014/main" id="{99B8C2EA-F3A4-449A-81E9-2FC5EC36E1D3}"/>
              </a:ext>
            </a:extLst>
          </p:cNvPr>
          <p:cNvSpPr>
            <a:spLocks noGrp="1" noChangeArrowheads="1"/>
          </p:cNvSpPr>
          <p:nvPr>
            <p:ph type="body" idx="1"/>
          </p:nvPr>
        </p:nvSpPr>
        <p:spPr>
          <a:xfrm>
            <a:off x="814388" y="1214438"/>
            <a:ext cx="7937500" cy="5141538"/>
          </a:xfrm>
        </p:spPr>
        <p:txBody>
          <a:bodyPr/>
          <a:lstStyle/>
          <a:p>
            <a:pPr marL="0" marR="0" algn="r" rtl="1">
              <a:lnSpc>
                <a:spcPct val="107000"/>
              </a:lnSpc>
              <a:spcBef>
                <a:spcPts val="0"/>
              </a:spcBef>
              <a:spcAft>
                <a:spcPts val="800"/>
              </a:spcAf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الگوی فرآیندهای همکار</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فرآیند تولید کننده اطلاعاتی را تولید می کند که توسط یک فرآیند مصرف کننده مصرف می شود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دو </a:t>
            </a:r>
            <a:r>
              <a:rPr lang="fa-IR"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نوع</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بافر بدون محدودیت</a:t>
            </a:r>
            <a:r>
              <a:rPr lang="en-US" sz="24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(Unbounded Buffer):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هیچ محدودیت عملی برای اندازه بافر قائل نمی شود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تولید کننده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هرگز </a:t>
            </a: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منتظر نمی ماند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مصرف کننده در صورت عدم وجود بافر برای مصرف، منتظر می ماند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بافر محدود</a:t>
            </a:r>
            <a:r>
              <a:rPr lang="en-US" sz="24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(Bounded Buffer):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فرض می کند که اندازه بافر ثابتی وجود دارد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اگر </a:t>
            </a: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همه بافرها پر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باشند، تولید کننده </a:t>
            </a: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باید منتظر بماند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مصرف کننده در صورت عدم وجود بافر برای مصرف، منتظر می ماند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p:txBody>
      </p:sp>
    </p:spTree>
    <p:extLst>
      <p:ext uri="{BB962C8B-B14F-4D97-AF65-F5344CB8AC3E}">
        <p14:creationId xmlns:p14="http://schemas.microsoft.com/office/powerpoint/2010/main" val="12619828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F75428CE-94A1-42F8-AA1B-55485F581E53}"/>
              </a:ext>
            </a:extLst>
          </p:cNvPr>
          <p:cNvSpPr>
            <a:spLocks noGrp="1" noChangeArrowheads="1"/>
          </p:cNvSpPr>
          <p:nvPr>
            <p:ph type="title"/>
          </p:nvPr>
        </p:nvSpPr>
        <p:spPr>
          <a:xfrm>
            <a:off x="920585" y="95580"/>
            <a:ext cx="8426450" cy="576263"/>
          </a:xfrm>
        </p:spPr>
        <p:txBody>
          <a:bodyPr/>
          <a:lstStyle/>
          <a:p>
            <a:pPr eaLnBrk="1" hangingPunct="1"/>
            <a:r>
              <a:rPr lang="en-US" altLang="en-US" sz="2600" dirty="0"/>
              <a:t>IPC – </a:t>
            </a:r>
            <a:r>
              <a:rPr lang="fa-IR" sz="2400" b="1" dirty="0">
                <a:solidFill>
                  <a:srgbClr val="006699"/>
                </a:solidFill>
                <a:effectLst/>
                <a:latin typeface="Arial" panose="020B0604020202020204" pitchFamily="34" charset="0"/>
                <a:ea typeface="MS PGothic" panose="020B0600070205080204" pitchFamily="34" charset="-128"/>
                <a:cs typeface="B Nazanin" panose="00000400000000000000" pitchFamily="2" charset="-78"/>
              </a:rPr>
              <a:t>اشتراک حافظه</a:t>
            </a:r>
            <a:endParaRPr lang="en-US" altLang="en-US" sz="2600" dirty="0"/>
          </a:p>
        </p:txBody>
      </p:sp>
      <p:sp>
        <p:nvSpPr>
          <p:cNvPr id="67587" name="Rectangle 3">
            <a:extLst>
              <a:ext uri="{FF2B5EF4-FFF2-40B4-BE49-F238E27FC236}">
                <a16:creationId xmlns:a16="http://schemas.microsoft.com/office/drawing/2014/main" id="{90C2EA05-1541-4195-8AE7-131E61118D2E}"/>
              </a:ext>
            </a:extLst>
          </p:cNvPr>
          <p:cNvSpPr>
            <a:spLocks noGrp="1" noChangeArrowheads="1"/>
          </p:cNvSpPr>
          <p:nvPr>
            <p:ph type="body" idx="1"/>
          </p:nvPr>
        </p:nvSpPr>
        <p:spPr>
          <a:xfrm>
            <a:off x="632298" y="1177047"/>
            <a:ext cx="8307421" cy="4922195"/>
          </a:xfrm>
        </p:spPr>
        <p:txBody>
          <a:bodyPr/>
          <a:lstStyle/>
          <a:p>
            <a:pPr marL="342900" marR="0" lvl="0" indent="-342900" algn="r" rtl="1">
              <a:buFont typeface="Wingdings" panose="05000000000000000000" pitchFamily="2" charset="2"/>
              <a:buChar char=""/>
              <a:tabLst>
                <a:tab pos="457200" algn="l"/>
              </a:tabLst>
            </a:pPr>
            <a:r>
              <a:rPr lang="ar-SA" sz="32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حافظه مشترک </a:t>
            </a:r>
            <a:r>
              <a:rPr lang="ar-SA" sz="32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ناحیه ای از حافظه است که </a:t>
            </a:r>
            <a:r>
              <a:rPr lang="ar-SA" sz="32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بین فرآیندهایی </a:t>
            </a:r>
            <a:r>
              <a:rPr lang="ar-SA" sz="32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که می خواهند ارتباط برقرار کنند به اشتراک گذاشته می شود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32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Font typeface="Wingdings" panose="05000000000000000000" pitchFamily="2" charset="2"/>
              <a:buChar char=""/>
              <a:tabLst>
                <a:tab pos="457200" algn="l"/>
              </a:tabLst>
            </a:pPr>
            <a:r>
              <a:rPr lang="ar-SA" sz="32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ارتباط</a:t>
            </a:r>
            <a:r>
              <a:rPr lang="ar-SA" sz="32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تحت </a:t>
            </a:r>
            <a:r>
              <a:rPr lang="ar-SA" sz="32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کنترل فرآیندهای کاربر </a:t>
            </a:r>
            <a:r>
              <a:rPr lang="ar-SA" sz="32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است نه </a:t>
            </a:r>
            <a:r>
              <a:rPr lang="ar-SA" sz="32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سیستم عامل</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32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Font typeface="Wingdings" panose="05000000000000000000" pitchFamily="2" charset="2"/>
              <a:buChar char=""/>
              <a:tabLst>
                <a:tab pos="457200" algn="l"/>
              </a:tabLst>
            </a:pPr>
            <a:r>
              <a:rPr lang="ar-SA" sz="32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موضوع اصلی ارائه مکانیزمی است که به فرآیندهای کاربر اجازه دهد تا زمانی که به حافظه مشترک دسترسی پیدا می کنند، اقدامات خود را همزمان سازی کنند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p>
          <a:p>
            <a:pPr marL="342900" marR="0" lvl="0" indent="-342900" algn="r" rtl="1">
              <a:buFont typeface="Wingdings" panose="05000000000000000000" pitchFamily="2" charset="2"/>
              <a:buChar char=""/>
              <a:tabLst>
                <a:tab pos="457200" algn="l"/>
              </a:tabLst>
            </a:pPr>
            <a:r>
              <a:rPr lang="ar-SA" sz="32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همزمانی سازی در فصل های </a:t>
            </a:r>
            <a:r>
              <a:rPr lang="fa-IR" sz="32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۶</a:t>
            </a:r>
            <a:r>
              <a:rPr lang="ar-SA" sz="32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و </a:t>
            </a:r>
            <a:r>
              <a:rPr lang="fa-IR" sz="32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۷</a:t>
            </a:r>
            <a:r>
              <a:rPr lang="ar-SA" sz="32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a:t>
            </a:r>
            <a:r>
              <a:rPr lang="fa-IR" sz="32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مفصل پرداخته شده است.</a:t>
            </a:r>
            <a:endParaRPr lang="en-US" sz="3200" dirty="0">
              <a:effectLst/>
              <a:latin typeface="Times New Roman" panose="02020603050405020304" pitchFamily="18" charset="0"/>
              <a:ea typeface="Times New Roman" panose="02020603050405020304" pitchFamily="18" charset="0"/>
              <a:cs typeface="B Nazanin" panose="00000400000000000000" pitchFamily="2" charset="-78"/>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99EE88E8-FB94-4EA2-914B-EA0288206255}"/>
              </a:ext>
            </a:extLst>
          </p:cNvPr>
          <p:cNvSpPr>
            <a:spLocks noGrp="1" noChangeArrowheads="1"/>
          </p:cNvSpPr>
          <p:nvPr>
            <p:ph type="title"/>
          </p:nvPr>
        </p:nvSpPr>
        <p:spPr>
          <a:xfrm>
            <a:off x="1046163" y="265946"/>
            <a:ext cx="8074025" cy="457200"/>
          </a:xfrm>
        </p:spPr>
        <p:txBody>
          <a:bodyPr/>
          <a:lstStyle/>
          <a:p>
            <a:pPr eaLnBrk="1" hangingPunct="1"/>
            <a:r>
              <a:rPr lang="fa-IR" sz="2800" b="1" dirty="0">
                <a:solidFill>
                  <a:srgbClr val="006699"/>
                </a:solidFill>
                <a:effectLst/>
                <a:latin typeface="Arial" panose="020B0604020202020204" pitchFamily="34" charset="0"/>
                <a:ea typeface="MS PGothic" panose="020B0600070205080204" pitchFamily="34" charset="-128"/>
                <a:cs typeface="B Nazanin" panose="00000400000000000000" pitchFamily="2" charset="-78"/>
              </a:rPr>
              <a:t>راهکار اشتراک حافظه- بافر محدود</a:t>
            </a:r>
            <a:endParaRPr lang="en-US" altLang="en-US" sz="2800" dirty="0"/>
          </a:p>
        </p:txBody>
      </p:sp>
      <p:sp>
        <p:nvSpPr>
          <p:cNvPr id="69635" name="Rectangle 3">
            <a:extLst>
              <a:ext uri="{FF2B5EF4-FFF2-40B4-BE49-F238E27FC236}">
                <a16:creationId xmlns:a16="http://schemas.microsoft.com/office/drawing/2014/main" id="{06B4B2DB-0CD0-402C-8F68-104A05E1E5E5}"/>
              </a:ext>
            </a:extLst>
          </p:cNvPr>
          <p:cNvSpPr>
            <a:spLocks noGrp="1" noChangeArrowheads="1"/>
          </p:cNvSpPr>
          <p:nvPr>
            <p:ph type="body" idx="1"/>
          </p:nvPr>
        </p:nvSpPr>
        <p:spPr>
          <a:xfrm>
            <a:off x="839788" y="1203325"/>
            <a:ext cx="7486650" cy="4700588"/>
          </a:xfrm>
        </p:spPr>
        <p:txBody>
          <a:bodyPr/>
          <a:lstStyle/>
          <a:p>
            <a:r>
              <a:rPr lang="en-US" altLang="en-US" dirty="0"/>
              <a:t>Shared data</a:t>
            </a:r>
          </a:p>
          <a:p>
            <a:pPr marL="1598613" lvl="3">
              <a:buFontTx/>
              <a:buNone/>
            </a:pPr>
            <a:r>
              <a:rPr lang="en-US" altLang="en-US" sz="2000" dirty="0">
                <a:latin typeface="Consolas" panose="020B0609020204030204" pitchFamily="49" charset="0"/>
              </a:rPr>
              <a:t>#define </a:t>
            </a:r>
            <a:r>
              <a:rPr lang="en-US" altLang="en-US" sz="2000" b="1" dirty="0">
                <a:latin typeface="Consolas" panose="020B0609020204030204" pitchFamily="49" charset="0"/>
              </a:rPr>
              <a:t>BUFFER_SIZE 10</a:t>
            </a:r>
          </a:p>
          <a:p>
            <a:pPr marL="1598613" lvl="3">
              <a:buFontTx/>
              <a:buNone/>
            </a:pPr>
            <a:r>
              <a:rPr lang="en-US" altLang="en-US" sz="2000" dirty="0">
                <a:latin typeface="Consolas" panose="020B0609020204030204" pitchFamily="49" charset="0"/>
              </a:rPr>
              <a:t>typedef </a:t>
            </a:r>
            <a:r>
              <a:rPr lang="en-US" altLang="en-US" sz="2000" b="1" dirty="0">
                <a:solidFill>
                  <a:srgbClr val="0070C0"/>
                </a:solidFill>
                <a:latin typeface="Consolas" panose="020B0609020204030204" pitchFamily="49" charset="0"/>
              </a:rPr>
              <a:t>struct</a:t>
            </a:r>
            <a:r>
              <a:rPr lang="en-US" altLang="en-US" sz="2000" dirty="0">
                <a:latin typeface="Consolas" panose="020B0609020204030204" pitchFamily="49" charset="0"/>
              </a:rPr>
              <a:t> {</a:t>
            </a:r>
          </a:p>
          <a:p>
            <a:pPr marL="1598613" lvl="3">
              <a:buFontTx/>
              <a:buNone/>
            </a:pPr>
            <a:r>
              <a:rPr lang="en-US" altLang="en-US" sz="2000" dirty="0">
                <a:latin typeface="Consolas" panose="020B0609020204030204" pitchFamily="49" charset="0"/>
              </a:rPr>
              <a:t>	. . .</a:t>
            </a:r>
          </a:p>
          <a:p>
            <a:pPr marL="1598613" lvl="3">
              <a:buFontTx/>
              <a:buNone/>
            </a:pPr>
            <a:r>
              <a:rPr lang="en-US" altLang="en-US" sz="2000" dirty="0">
                <a:latin typeface="Consolas" panose="020B0609020204030204" pitchFamily="49" charset="0"/>
              </a:rPr>
              <a:t>} </a:t>
            </a:r>
            <a:r>
              <a:rPr lang="en-US" altLang="en-US" sz="2000" b="1" dirty="0">
                <a:latin typeface="Consolas" panose="020B0609020204030204" pitchFamily="49" charset="0"/>
              </a:rPr>
              <a:t>item</a:t>
            </a:r>
            <a:r>
              <a:rPr lang="en-US" altLang="en-US" sz="2000" dirty="0">
                <a:latin typeface="Consolas" panose="020B0609020204030204" pitchFamily="49" charset="0"/>
              </a:rPr>
              <a:t>;</a:t>
            </a:r>
          </a:p>
          <a:p>
            <a:pPr marL="1598613" lvl="3">
              <a:buFontTx/>
              <a:buNone/>
            </a:pPr>
            <a:endParaRPr lang="en-US" altLang="en-US" sz="2000" dirty="0">
              <a:latin typeface="Consolas" panose="020B0609020204030204" pitchFamily="49" charset="0"/>
            </a:endParaRPr>
          </a:p>
          <a:p>
            <a:pPr marL="1598613" lvl="3">
              <a:buFontTx/>
              <a:buNone/>
            </a:pPr>
            <a:r>
              <a:rPr lang="en-US" altLang="en-US" sz="2000" b="1" dirty="0">
                <a:solidFill>
                  <a:srgbClr val="0070C0"/>
                </a:solidFill>
                <a:latin typeface="Consolas" panose="020B0609020204030204" pitchFamily="49" charset="0"/>
              </a:rPr>
              <a:t>item</a:t>
            </a:r>
            <a:r>
              <a:rPr lang="en-US" altLang="en-US" sz="2000" dirty="0">
                <a:latin typeface="Consolas" panose="020B0609020204030204" pitchFamily="49" charset="0"/>
              </a:rPr>
              <a:t> </a:t>
            </a:r>
            <a:r>
              <a:rPr lang="en-US" altLang="en-US" sz="2000" b="1" dirty="0">
                <a:latin typeface="Consolas" panose="020B0609020204030204" pitchFamily="49" charset="0"/>
              </a:rPr>
              <a:t>buffer</a:t>
            </a:r>
            <a:r>
              <a:rPr lang="en-US" altLang="en-US" sz="2000" dirty="0">
                <a:latin typeface="Consolas" panose="020B0609020204030204" pitchFamily="49" charset="0"/>
              </a:rPr>
              <a:t>[BUFFER_SIZE];</a:t>
            </a:r>
          </a:p>
          <a:p>
            <a:pPr marL="1598613" lvl="3">
              <a:buFontTx/>
              <a:buNone/>
            </a:pPr>
            <a:r>
              <a:rPr lang="en-US" altLang="en-US" sz="2000" b="1" dirty="0">
                <a:solidFill>
                  <a:srgbClr val="0070C0"/>
                </a:solidFill>
                <a:latin typeface="Consolas" panose="020B0609020204030204" pitchFamily="49" charset="0"/>
              </a:rPr>
              <a:t>int</a:t>
            </a:r>
            <a:r>
              <a:rPr lang="en-US" altLang="en-US" sz="2000" dirty="0">
                <a:latin typeface="Consolas" panose="020B0609020204030204" pitchFamily="49" charset="0"/>
              </a:rPr>
              <a:t> </a:t>
            </a:r>
            <a:r>
              <a:rPr lang="en-US" altLang="en-US" sz="2000" b="1" dirty="0">
                <a:latin typeface="Consolas" panose="020B0609020204030204" pitchFamily="49" charset="0"/>
              </a:rPr>
              <a:t>in</a:t>
            </a:r>
            <a:r>
              <a:rPr lang="en-US" altLang="en-US" sz="2000" dirty="0">
                <a:latin typeface="Consolas" panose="020B0609020204030204" pitchFamily="49" charset="0"/>
              </a:rPr>
              <a:t> = 0;</a:t>
            </a:r>
          </a:p>
          <a:p>
            <a:pPr marL="1598613" lvl="3">
              <a:buFontTx/>
              <a:buNone/>
            </a:pPr>
            <a:r>
              <a:rPr lang="en-US" altLang="en-US" sz="2000" b="1" dirty="0">
                <a:solidFill>
                  <a:srgbClr val="0070C0"/>
                </a:solidFill>
                <a:latin typeface="Consolas" panose="020B0609020204030204" pitchFamily="49" charset="0"/>
              </a:rPr>
              <a:t>int</a:t>
            </a:r>
            <a:r>
              <a:rPr lang="en-US" altLang="en-US" sz="2000" dirty="0">
                <a:latin typeface="Consolas" panose="020B0609020204030204" pitchFamily="49" charset="0"/>
              </a:rPr>
              <a:t> </a:t>
            </a:r>
            <a:r>
              <a:rPr lang="en-US" altLang="en-US" sz="2000" b="1" dirty="0">
                <a:latin typeface="Consolas" panose="020B0609020204030204" pitchFamily="49" charset="0"/>
              </a:rPr>
              <a:t>out</a:t>
            </a:r>
            <a:r>
              <a:rPr lang="en-US" altLang="en-US" sz="2000" dirty="0">
                <a:latin typeface="Consolas" panose="020B0609020204030204" pitchFamily="49" charset="0"/>
              </a:rPr>
              <a:t> = 0;</a:t>
            </a:r>
          </a:p>
          <a:p>
            <a:pPr marL="1598613" lvl="3">
              <a:buFontTx/>
              <a:buNone/>
            </a:pPr>
            <a:endParaRPr lang="en-US" altLang="en-US" dirty="0"/>
          </a:p>
          <a:p>
            <a:pPr marL="342900" marR="0" lvl="0" indent="-342900" algn="r" rtl="1">
              <a:buFont typeface="Wingdings" panose="05000000000000000000" pitchFamily="2" charset="2"/>
              <a:buChar char=""/>
              <a:tabLst>
                <a:tab pos="457200" algn="l"/>
              </a:tabLst>
            </a:pPr>
            <a:r>
              <a:rPr lang="ar-SA" sz="20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راه حل صحیح است، اما فقط می تواند از</a:t>
            </a:r>
            <a:r>
              <a:rPr lang="en-US" sz="20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fa-IR" sz="20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تعداد یک منهای اندازه بافر </a:t>
            </a:r>
            <a:r>
              <a:rPr lang="ar-SA" sz="20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عنصر استفاده کند</a:t>
            </a:r>
            <a:r>
              <a:rPr lang="en-US" sz="20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000" dirty="0">
              <a:effectLst/>
              <a:latin typeface="Times New Roman" panose="02020603050405020304" pitchFamily="18" charset="0"/>
              <a:ea typeface="Times New Roman" panose="02020603050405020304" pitchFamily="18" charset="0"/>
              <a:cs typeface="B Nazanin" panose="00000400000000000000" pitchFamily="2" charset="-78"/>
            </a:endParaRPr>
          </a:p>
          <a:p>
            <a:pPr marL="1598613" lvl="3">
              <a:buFontTx/>
              <a:buNone/>
            </a:pPr>
            <a:endParaRPr lang="en-US" altLang="en-US" sz="2000"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B426FA82-2801-4913-A63A-AF57E7132643}"/>
              </a:ext>
            </a:extLst>
          </p:cNvPr>
          <p:cNvSpPr>
            <a:spLocks noGrp="1" noChangeArrowheads="1"/>
          </p:cNvSpPr>
          <p:nvPr>
            <p:ph type="title"/>
          </p:nvPr>
        </p:nvSpPr>
        <p:spPr>
          <a:xfrm>
            <a:off x="1117600" y="222250"/>
            <a:ext cx="7569200" cy="576263"/>
          </a:xfrm>
        </p:spPr>
        <p:txBody>
          <a:bodyPr/>
          <a:lstStyle/>
          <a:p>
            <a:pPr eaLnBrk="1" hangingPunct="1"/>
            <a:r>
              <a:rPr lang="en-US" altLang="en-US" dirty="0"/>
              <a:t>Producer Process – Shared Memory</a:t>
            </a:r>
          </a:p>
        </p:txBody>
      </p:sp>
      <p:sp>
        <p:nvSpPr>
          <p:cNvPr id="71683" name="Rectangle 3">
            <a:extLst>
              <a:ext uri="{FF2B5EF4-FFF2-40B4-BE49-F238E27FC236}">
                <a16:creationId xmlns:a16="http://schemas.microsoft.com/office/drawing/2014/main" id="{918AC823-35A6-4F95-9F20-D71790E773CD}"/>
              </a:ext>
            </a:extLst>
          </p:cNvPr>
          <p:cNvSpPr>
            <a:spLocks noGrp="1" noChangeArrowheads="1"/>
          </p:cNvSpPr>
          <p:nvPr>
            <p:ph type="body" idx="1"/>
          </p:nvPr>
        </p:nvSpPr>
        <p:spPr>
          <a:xfrm>
            <a:off x="688975" y="1187450"/>
            <a:ext cx="6940550" cy="4483100"/>
          </a:xfrm>
        </p:spPr>
        <p:txBody>
          <a:bodyPr/>
          <a:lstStyle/>
          <a:p>
            <a:pPr>
              <a:buFont typeface="Monotype Sorts" pitchFamily="-84" charset="2"/>
              <a:buNone/>
            </a:pPr>
            <a:endParaRPr lang="en-US" altLang="en-US" sz="2000" dirty="0">
              <a:latin typeface="Consolas" panose="020B0609020204030204" pitchFamily="49" charset="0"/>
            </a:endParaRPr>
          </a:p>
          <a:p>
            <a:pPr>
              <a:buFont typeface="Monotype Sorts" pitchFamily="-84" charset="2"/>
              <a:buNone/>
            </a:pPr>
            <a:r>
              <a:rPr lang="en-US" altLang="en-US" sz="2000" b="1" dirty="0">
                <a:solidFill>
                  <a:srgbClr val="0070C0"/>
                </a:solidFill>
                <a:latin typeface="Consolas" panose="020B0609020204030204" pitchFamily="49" charset="0"/>
              </a:rPr>
              <a:t>item</a:t>
            </a:r>
            <a:r>
              <a:rPr lang="en-US" altLang="en-US" sz="2000" dirty="0">
                <a:latin typeface="Consolas" panose="020B0609020204030204" pitchFamily="49" charset="0"/>
              </a:rPr>
              <a:t> </a:t>
            </a:r>
            <a:r>
              <a:rPr lang="en-US" altLang="en-US" sz="2000" dirty="0" err="1">
                <a:latin typeface="Consolas" panose="020B0609020204030204" pitchFamily="49" charset="0"/>
              </a:rPr>
              <a:t>next_produced</a:t>
            </a:r>
            <a:r>
              <a:rPr lang="en-US" altLang="en-US" sz="2000" dirty="0">
                <a:latin typeface="Consolas" panose="020B0609020204030204" pitchFamily="49" charset="0"/>
              </a:rPr>
              <a:t>; </a:t>
            </a:r>
            <a:br>
              <a:rPr lang="en-US" altLang="en-US" sz="2000" dirty="0">
                <a:latin typeface="Consolas" panose="020B0609020204030204" pitchFamily="49" charset="0"/>
              </a:rPr>
            </a:br>
            <a:endParaRPr lang="en-US" altLang="en-US" sz="2000" dirty="0">
              <a:latin typeface="Consolas" panose="020B0609020204030204" pitchFamily="49" charset="0"/>
            </a:endParaRPr>
          </a:p>
          <a:p>
            <a:pPr>
              <a:buFont typeface="Monotype Sorts" pitchFamily="-84" charset="2"/>
              <a:buNone/>
            </a:pPr>
            <a:r>
              <a:rPr lang="en-US" altLang="en-US" sz="2000" b="1" dirty="0">
                <a:solidFill>
                  <a:srgbClr val="0070C0"/>
                </a:solidFill>
                <a:latin typeface="Consolas" panose="020B0609020204030204" pitchFamily="49" charset="0"/>
              </a:rPr>
              <a:t>while</a:t>
            </a:r>
            <a:r>
              <a:rPr lang="en-US" altLang="en-US" sz="2000" dirty="0">
                <a:latin typeface="Consolas" panose="020B0609020204030204" pitchFamily="49" charset="0"/>
              </a:rPr>
              <a:t> (</a:t>
            </a:r>
            <a:r>
              <a:rPr lang="en-US" altLang="en-US" sz="2000" b="1" dirty="0">
                <a:solidFill>
                  <a:srgbClr val="0070C0"/>
                </a:solidFill>
                <a:latin typeface="Consolas" panose="020B0609020204030204" pitchFamily="49" charset="0"/>
              </a:rPr>
              <a:t>true</a:t>
            </a:r>
            <a:r>
              <a:rPr lang="en-US" altLang="en-US" sz="2000" dirty="0">
                <a:latin typeface="Consolas" panose="020B0609020204030204" pitchFamily="49" charset="0"/>
              </a:rPr>
              <a:t>) { </a:t>
            </a:r>
          </a:p>
          <a:p>
            <a:pPr>
              <a:buFont typeface="Monotype Sorts" pitchFamily="-84" charset="2"/>
              <a:buNone/>
            </a:pPr>
            <a:r>
              <a:rPr lang="en-US" altLang="en-US" sz="2000" dirty="0">
                <a:latin typeface="Consolas" panose="020B0609020204030204" pitchFamily="49" charset="0"/>
              </a:rPr>
              <a:t>	/* produce an item in next produced */ </a:t>
            </a:r>
          </a:p>
          <a:p>
            <a:pPr>
              <a:buFont typeface="Monotype Sorts" pitchFamily="-84" charset="2"/>
              <a:buNone/>
            </a:pPr>
            <a:r>
              <a:rPr lang="en-US" altLang="en-US" sz="2000" dirty="0">
                <a:latin typeface="Consolas" panose="020B0609020204030204" pitchFamily="49" charset="0"/>
              </a:rPr>
              <a:t>	</a:t>
            </a:r>
            <a:r>
              <a:rPr lang="en-US" altLang="en-US" sz="2000" b="1" dirty="0">
                <a:solidFill>
                  <a:srgbClr val="0070C0"/>
                </a:solidFill>
                <a:latin typeface="Consolas" panose="020B0609020204030204" pitchFamily="49" charset="0"/>
              </a:rPr>
              <a:t>while</a:t>
            </a:r>
            <a:r>
              <a:rPr lang="en-US" altLang="en-US" sz="2000" dirty="0">
                <a:latin typeface="Consolas" panose="020B0609020204030204" pitchFamily="49" charset="0"/>
              </a:rPr>
              <a:t> (((</a:t>
            </a:r>
            <a:r>
              <a:rPr lang="en-US" altLang="en-US" sz="2000" b="1" dirty="0">
                <a:latin typeface="Consolas" panose="020B0609020204030204" pitchFamily="49" charset="0"/>
              </a:rPr>
              <a:t>in</a:t>
            </a:r>
            <a:r>
              <a:rPr lang="en-US" altLang="en-US" sz="2000" dirty="0">
                <a:latin typeface="Consolas" panose="020B0609020204030204" pitchFamily="49" charset="0"/>
              </a:rPr>
              <a:t> + 1) % </a:t>
            </a:r>
            <a:r>
              <a:rPr lang="en-US" altLang="en-US" sz="2000" b="1" dirty="0">
                <a:latin typeface="Consolas" panose="020B0609020204030204" pitchFamily="49" charset="0"/>
              </a:rPr>
              <a:t>BUFFER_SIZE</a:t>
            </a:r>
            <a:r>
              <a:rPr lang="en-US" altLang="en-US" sz="2000" dirty="0">
                <a:latin typeface="Consolas" panose="020B0609020204030204" pitchFamily="49" charset="0"/>
              </a:rPr>
              <a:t>) == out) </a:t>
            </a:r>
          </a:p>
          <a:p>
            <a:pPr>
              <a:buFont typeface="Monotype Sorts" pitchFamily="-84" charset="2"/>
              <a:buNone/>
            </a:pPr>
            <a:r>
              <a:rPr lang="en-US" altLang="en-US" sz="2000" dirty="0">
                <a:latin typeface="Consolas" panose="020B0609020204030204" pitchFamily="49" charset="0"/>
              </a:rPr>
              <a:t>		; /* </a:t>
            </a:r>
            <a:r>
              <a:rPr lang="en-US" altLang="en-US" sz="2000" b="1" dirty="0">
                <a:latin typeface="Consolas" panose="020B0609020204030204" pitchFamily="49" charset="0"/>
              </a:rPr>
              <a:t>do nothing-buffer is full</a:t>
            </a:r>
            <a:r>
              <a:rPr lang="en-US" altLang="en-US" sz="2000" dirty="0">
                <a:latin typeface="Consolas" panose="020B0609020204030204" pitchFamily="49" charset="0"/>
              </a:rPr>
              <a:t>*/ </a:t>
            </a:r>
          </a:p>
          <a:p>
            <a:pPr>
              <a:buFont typeface="Monotype Sorts" pitchFamily="-84" charset="2"/>
              <a:buNone/>
            </a:pPr>
            <a:r>
              <a:rPr lang="en-US" altLang="en-US" sz="2000" dirty="0">
                <a:latin typeface="Consolas" panose="020B0609020204030204" pitchFamily="49" charset="0"/>
              </a:rPr>
              <a:t>	</a:t>
            </a:r>
            <a:r>
              <a:rPr lang="en-US" altLang="en-US" sz="2000" b="1" dirty="0">
                <a:latin typeface="Consolas" panose="020B0609020204030204" pitchFamily="49" charset="0"/>
              </a:rPr>
              <a:t>buffer</a:t>
            </a:r>
            <a:r>
              <a:rPr lang="en-US" altLang="en-US" sz="2000" dirty="0">
                <a:latin typeface="Consolas" panose="020B0609020204030204" pitchFamily="49" charset="0"/>
              </a:rPr>
              <a:t>[</a:t>
            </a:r>
            <a:r>
              <a:rPr lang="en-US" altLang="en-US" sz="2000" b="1" dirty="0">
                <a:latin typeface="Consolas" panose="020B0609020204030204" pitchFamily="49" charset="0"/>
              </a:rPr>
              <a:t>in</a:t>
            </a:r>
            <a:r>
              <a:rPr lang="en-US" altLang="en-US" sz="2000" dirty="0">
                <a:latin typeface="Consolas" panose="020B0609020204030204" pitchFamily="49" charset="0"/>
              </a:rPr>
              <a:t>] = </a:t>
            </a:r>
            <a:r>
              <a:rPr lang="en-US" altLang="en-US" sz="2000" dirty="0" err="1">
                <a:latin typeface="Consolas" panose="020B0609020204030204" pitchFamily="49" charset="0"/>
              </a:rPr>
              <a:t>next_produced</a:t>
            </a:r>
            <a:r>
              <a:rPr lang="en-US" altLang="en-US" sz="2000" dirty="0">
                <a:latin typeface="Consolas" panose="020B0609020204030204" pitchFamily="49" charset="0"/>
              </a:rPr>
              <a:t>; </a:t>
            </a:r>
          </a:p>
          <a:p>
            <a:pPr>
              <a:buFont typeface="Monotype Sorts" pitchFamily="-84" charset="2"/>
              <a:buNone/>
            </a:pPr>
            <a:r>
              <a:rPr lang="en-US" altLang="en-US" sz="2000" dirty="0">
                <a:latin typeface="Consolas" panose="020B0609020204030204" pitchFamily="49" charset="0"/>
              </a:rPr>
              <a:t>	</a:t>
            </a:r>
            <a:r>
              <a:rPr lang="en-US" altLang="en-US" sz="2000" b="1" dirty="0">
                <a:latin typeface="Consolas" panose="020B0609020204030204" pitchFamily="49" charset="0"/>
              </a:rPr>
              <a:t>in</a:t>
            </a:r>
            <a:r>
              <a:rPr lang="en-US" altLang="en-US" sz="2000" dirty="0">
                <a:latin typeface="Consolas" panose="020B0609020204030204" pitchFamily="49" charset="0"/>
              </a:rPr>
              <a:t> = (in + 1) % </a:t>
            </a:r>
            <a:r>
              <a:rPr lang="en-US" altLang="en-US" sz="2000" b="1" dirty="0">
                <a:latin typeface="Consolas" panose="020B0609020204030204" pitchFamily="49" charset="0"/>
              </a:rPr>
              <a:t>BUFFER_SIZE</a:t>
            </a:r>
            <a:r>
              <a:rPr lang="en-US" altLang="en-US" sz="2000" dirty="0">
                <a:latin typeface="Consolas" panose="020B0609020204030204" pitchFamily="49" charset="0"/>
              </a:rPr>
              <a:t>; </a:t>
            </a:r>
          </a:p>
          <a:p>
            <a:pPr>
              <a:buFont typeface="Monotype Sorts" pitchFamily="-84" charset="2"/>
              <a:buNone/>
            </a:pPr>
            <a:r>
              <a:rPr lang="en-US" altLang="en-US" sz="2000" dirty="0">
                <a:latin typeface="Consolas" panose="020B0609020204030204" pitchFamily="49" charset="0"/>
              </a:rPr>
              <a:t>} </a:t>
            </a:r>
          </a:p>
          <a:p>
            <a:pPr>
              <a:buFont typeface="Monotype Sorts" pitchFamily="-84" charset="2"/>
              <a:buNone/>
            </a:pPr>
            <a:endParaRPr lang="en-US" altLang="en-US" sz="2000" dirty="0">
              <a:latin typeface="Consolas" panose="020B0609020204030204" pitchFamily="49" charset="0"/>
            </a:endParaRPr>
          </a:p>
          <a:p>
            <a:pPr>
              <a:buFont typeface="Monotype Sorts" pitchFamily="-84" charset="2"/>
              <a:buNone/>
            </a:pPr>
            <a:endParaRPr lang="en-US" altLang="en-US" sz="2000" dirty="0">
              <a:latin typeface="Consolas" panose="020B0609020204030204" pitchFamily="49" charset="0"/>
            </a:endParaRPr>
          </a:p>
          <a:p>
            <a:pPr>
              <a:buFont typeface="Monotype Sorts" pitchFamily="-84" charset="2"/>
              <a:buNone/>
            </a:pPr>
            <a:r>
              <a:rPr lang="en-US" altLang="en-US" sz="2000" dirty="0">
                <a:latin typeface="Consolas" panose="020B0609020204030204" pitchFamily="49" charset="0"/>
              </a:rPr>
              <a:t>	</a:t>
            </a:r>
          </a:p>
          <a:p>
            <a:pPr marL="7167563" lvl="4">
              <a:buFontTx/>
              <a:buNone/>
            </a:pPr>
            <a:endParaRPr lang="en-US" altLang="en-US" sz="2000" dirty="0">
              <a:latin typeface="Consolas" panose="020B0609020204030204" pitchFamily="49"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65A24975-CF06-4A73-8D26-DA0E6F7E659C}"/>
              </a:ext>
            </a:extLst>
          </p:cNvPr>
          <p:cNvSpPr>
            <a:spLocks noGrp="1" noChangeArrowheads="1"/>
          </p:cNvSpPr>
          <p:nvPr>
            <p:ph type="title"/>
          </p:nvPr>
        </p:nvSpPr>
        <p:spPr>
          <a:xfrm>
            <a:off x="1332835" y="204535"/>
            <a:ext cx="7594600" cy="545850"/>
          </a:xfrm>
        </p:spPr>
        <p:txBody>
          <a:bodyPr/>
          <a:lstStyle/>
          <a:p>
            <a:pPr eaLnBrk="1" hangingPunct="1"/>
            <a:r>
              <a:rPr lang="en-US" altLang="en-US" dirty="0"/>
              <a:t>Consumer Process – Shared Memory</a:t>
            </a:r>
          </a:p>
        </p:txBody>
      </p:sp>
      <p:sp>
        <p:nvSpPr>
          <p:cNvPr id="73731" name="Rectangle 3">
            <a:extLst>
              <a:ext uri="{FF2B5EF4-FFF2-40B4-BE49-F238E27FC236}">
                <a16:creationId xmlns:a16="http://schemas.microsoft.com/office/drawing/2014/main" id="{A4383804-C100-4255-A1BD-B8DC67A9F255}"/>
              </a:ext>
            </a:extLst>
          </p:cNvPr>
          <p:cNvSpPr>
            <a:spLocks noGrp="1" noChangeArrowheads="1"/>
          </p:cNvSpPr>
          <p:nvPr>
            <p:ph type="body" idx="1"/>
          </p:nvPr>
        </p:nvSpPr>
        <p:spPr>
          <a:xfrm>
            <a:off x="610834" y="1223168"/>
            <a:ext cx="7189787" cy="4411663"/>
          </a:xfrm>
        </p:spPr>
        <p:txBody>
          <a:bodyPr/>
          <a:lstStyle/>
          <a:p>
            <a:pPr marL="0" indent="0">
              <a:buFont typeface="Monotype Sorts" pitchFamily="-84" charset="2"/>
              <a:buNone/>
            </a:pPr>
            <a:r>
              <a:rPr lang="en-US" altLang="en-US" sz="2000" b="1" dirty="0">
                <a:solidFill>
                  <a:srgbClr val="0070C0"/>
                </a:solidFill>
                <a:latin typeface="Consolas" panose="020B0609020204030204" pitchFamily="49" charset="0"/>
              </a:rPr>
              <a:t>item</a:t>
            </a:r>
            <a:r>
              <a:rPr lang="en-US" altLang="en-US" sz="2000" dirty="0">
                <a:latin typeface="Consolas" panose="020B0609020204030204" pitchFamily="49" charset="0"/>
              </a:rPr>
              <a:t> </a:t>
            </a:r>
            <a:r>
              <a:rPr lang="en-US" altLang="en-US" sz="2000" dirty="0" err="1">
                <a:latin typeface="Consolas" panose="020B0609020204030204" pitchFamily="49" charset="0"/>
              </a:rPr>
              <a:t>next_consumed</a:t>
            </a:r>
            <a:r>
              <a:rPr lang="en-US" altLang="en-US" sz="2000" dirty="0">
                <a:latin typeface="Consolas" panose="020B0609020204030204" pitchFamily="49" charset="0"/>
              </a:rPr>
              <a:t>; </a:t>
            </a:r>
            <a:br>
              <a:rPr lang="en-US" altLang="en-US" sz="2000" dirty="0">
                <a:latin typeface="Consolas" panose="020B0609020204030204" pitchFamily="49" charset="0"/>
              </a:rPr>
            </a:br>
            <a:endParaRPr lang="en-US" altLang="en-US" sz="2000" dirty="0">
              <a:latin typeface="Consolas" panose="020B0609020204030204" pitchFamily="49" charset="0"/>
            </a:endParaRPr>
          </a:p>
          <a:p>
            <a:pPr marL="0" indent="0">
              <a:buFont typeface="Monotype Sorts" pitchFamily="-84" charset="2"/>
              <a:buNone/>
            </a:pPr>
            <a:r>
              <a:rPr lang="en-US" altLang="en-US" sz="2000" b="1" dirty="0">
                <a:solidFill>
                  <a:srgbClr val="0070C0"/>
                </a:solidFill>
                <a:latin typeface="Consolas" panose="020B0609020204030204" pitchFamily="49" charset="0"/>
              </a:rPr>
              <a:t>while</a:t>
            </a:r>
            <a:r>
              <a:rPr lang="en-US" altLang="en-US" sz="2000" dirty="0">
                <a:latin typeface="Consolas" panose="020B0609020204030204" pitchFamily="49" charset="0"/>
              </a:rPr>
              <a:t> (</a:t>
            </a:r>
            <a:r>
              <a:rPr lang="en-US" altLang="en-US" sz="2000" b="1" dirty="0">
                <a:solidFill>
                  <a:srgbClr val="0070C0"/>
                </a:solidFill>
                <a:latin typeface="Consolas" panose="020B0609020204030204" pitchFamily="49" charset="0"/>
              </a:rPr>
              <a:t>true</a:t>
            </a:r>
            <a:r>
              <a:rPr lang="en-US" altLang="en-US" sz="2000" dirty="0">
                <a:latin typeface="Consolas" panose="020B0609020204030204" pitchFamily="49" charset="0"/>
              </a:rPr>
              <a:t>) {</a:t>
            </a:r>
            <a:br>
              <a:rPr lang="en-US" altLang="en-US" sz="2000" dirty="0">
                <a:latin typeface="Consolas" panose="020B0609020204030204" pitchFamily="49" charset="0"/>
              </a:rPr>
            </a:br>
            <a:r>
              <a:rPr lang="en-US" altLang="en-US" sz="2000" dirty="0">
                <a:latin typeface="Consolas" panose="020B0609020204030204" pitchFamily="49" charset="0"/>
              </a:rPr>
              <a:t>	</a:t>
            </a:r>
            <a:r>
              <a:rPr lang="en-US" altLang="en-US" sz="2000" b="1" dirty="0">
                <a:solidFill>
                  <a:srgbClr val="0070C0"/>
                </a:solidFill>
                <a:latin typeface="Consolas" panose="020B0609020204030204" pitchFamily="49" charset="0"/>
              </a:rPr>
              <a:t>while</a:t>
            </a:r>
            <a:r>
              <a:rPr lang="en-US" altLang="en-US" sz="2000" dirty="0">
                <a:latin typeface="Consolas" panose="020B0609020204030204" pitchFamily="49" charset="0"/>
              </a:rPr>
              <a:t> (in == out) </a:t>
            </a:r>
          </a:p>
          <a:p>
            <a:pPr marL="0" indent="0">
              <a:buFont typeface="Monotype Sorts" pitchFamily="-84" charset="2"/>
              <a:buNone/>
            </a:pPr>
            <a:r>
              <a:rPr lang="en-US" altLang="en-US" sz="2000" dirty="0">
                <a:latin typeface="Consolas" panose="020B0609020204030204" pitchFamily="49" charset="0"/>
              </a:rPr>
              <a:t>		</a:t>
            </a:r>
            <a:r>
              <a:rPr lang="en-US" altLang="en-US" sz="2000" b="1" dirty="0">
                <a:latin typeface="Consolas" panose="020B0609020204030204" pitchFamily="49" charset="0"/>
              </a:rPr>
              <a:t>; /* do nothing- buffer is empty */</a:t>
            </a:r>
            <a:br>
              <a:rPr lang="en-US" altLang="en-US" sz="2000" b="1" dirty="0">
                <a:latin typeface="Consolas" panose="020B0609020204030204" pitchFamily="49" charset="0"/>
              </a:rPr>
            </a:br>
            <a:r>
              <a:rPr lang="en-US" altLang="en-US" sz="2000" dirty="0">
                <a:latin typeface="Consolas" panose="020B0609020204030204" pitchFamily="49" charset="0"/>
              </a:rPr>
              <a:t>	</a:t>
            </a:r>
            <a:r>
              <a:rPr lang="en-US" altLang="en-US" sz="2000" dirty="0" err="1">
                <a:latin typeface="Consolas" panose="020B0609020204030204" pitchFamily="49" charset="0"/>
              </a:rPr>
              <a:t>next_consumed</a:t>
            </a:r>
            <a:r>
              <a:rPr lang="en-US" altLang="en-US" sz="2000" dirty="0">
                <a:latin typeface="Consolas" panose="020B0609020204030204" pitchFamily="49" charset="0"/>
              </a:rPr>
              <a:t> = </a:t>
            </a:r>
            <a:r>
              <a:rPr lang="en-US" altLang="en-US" sz="2000" b="1" dirty="0">
                <a:latin typeface="Consolas" panose="020B0609020204030204" pitchFamily="49" charset="0"/>
              </a:rPr>
              <a:t>buffer[out]</a:t>
            </a:r>
            <a:r>
              <a:rPr lang="en-US" altLang="en-US" sz="2000" dirty="0">
                <a:latin typeface="Consolas" panose="020B0609020204030204" pitchFamily="49" charset="0"/>
              </a:rPr>
              <a:t>; </a:t>
            </a:r>
          </a:p>
          <a:p>
            <a:pPr marL="0" indent="0">
              <a:buFont typeface="Monotype Sorts" pitchFamily="-84" charset="2"/>
              <a:buNone/>
            </a:pPr>
            <a:r>
              <a:rPr lang="en-US" altLang="en-US" sz="2000" dirty="0">
                <a:latin typeface="Consolas" panose="020B0609020204030204" pitchFamily="49" charset="0"/>
              </a:rPr>
              <a:t>	</a:t>
            </a:r>
            <a:r>
              <a:rPr lang="en-US" altLang="en-US" sz="2000" b="1" dirty="0">
                <a:latin typeface="Consolas" panose="020B0609020204030204" pitchFamily="49" charset="0"/>
              </a:rPr>
              <a:t>out</a:t>
            </a:r>
            <a:r>
              <a:rPr lang="en-US" altLang="en-US" sz="2000" dirty="0">
                <a:latin typeface="Consolas" panose="020B0609020204030204" pitchFamily="49" charset="0"/>
              </a:rPr>
              <a:t> = (</a:t>
            </a:r>
            <a:r>
              <a:rPr lang="en-US" altLang="en-US" sz="2000" b="1" dirty="0">
                <a:latin typeface="Consolas" panose="020B0609020204030204" pitchFamily="49" charset="0"/>
              </a:rPr>
              <a:t>out</a:t>
            </a:r>
            <a:r>
              <a:rPr lang="en-US" altLang="en-US" sz="2000" dirty="0">
                <a:latin typeface="Consolas" panose="020B0609020204030204" pitchFamily="49" charset="0"/>
              </a:rPr>
              <a:t> + 1) % BUFFER_SIZE;</a:t>
            </a:r>
            <a:br>
              <a:rPr lang="en-US" altLang="en-US" sz="2000" dirty="0">
                <a:latin typeface="Consolas" panose="020B0609020204030204" pitchFamily="49" charset="0"/>
              </a:rPr>
            </a:br>
            <a:endParaRPr lang="en-US" altLang="en-US" sz="2000" dirty="0">
              <a:latin typeface="Consolas" panose="020B0609020204030204" pitchFamily="49" charset="0"/>
            </a:endParaRPr>
          </a:p>
          <a:p>
            <a:pPr marL="0" indent="0">
              <a:buFont typeface="Monotype Sorts" pitchFamily="-84" charset="2"/>
              <a:buNone/>
            </a:pPr>
            <a:r>
              <a:rPr lang="en-US" altLang="en-US" sz="2000" dirty="0">
                <a:latin typeface="Consolas" panose="020B0609020204030204" pitchFamily="49" charset="0"/>
              </a:rPr>
              <a:t>	/* consume the item in next consumed */ </a:t>
            </a:r>
          </a:p>
          <a:p>
            <a:pPr marL="0" indent="0">
              <a:buFont typeface="Monotype Sorts" pitchFamily="-84" charset="2"/>
              <a:buNone/>
            </a:pPr>
            <a:r>
              <a:rPr lang="en-US" altLang="en-US" sz="2000" dirty="0">
                <a:latin typeface="Consolas" panose="020B0609020204030204" pitchFamily="49" charset="0"/>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a:xfrm>
            <a:off x="938127" y="215318"/>
            <a:ext cx="7870888" cy="576263"/>
          </a:xfrm>
        </p:spPr>
        <p:txBody>
          <a:bodyPr/>
          <a:lstStyle/>
          <a:p>
            <a:pPr eaLnBrk="1" hangingPunct="1"/>
            <a:r>
              <a:rPr lang="fa-IR" altLang="en-US" dirty="0">
                <a:cs typeface="B Nazanin" panose="00000400000000000000" pitchFamily="2" charset="-78"/>
              </a:rPr>
              <a:t>آیا می‌شود همه بافر را پرکرد؟</a:t>
            </a:r>
            <a:endParaRPr lang="en-US" altLang="en-US" dirty="0">
              <a:cs typeface="B Nazanin" panose="00000400000000000000" pitchFamily="2" charset="-78"/>
            </a:endParaRPr>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type="body" idx="1"/>
          </p:nvPr>
        </p:nvSpPr>
        <p:spPr>
          <a:xfrm>
            <a:off x="519954" y="1075766"/>
            <a:ext cx="8289062" cy="5686278"/>
          </a:xfrm>
        </p:spPr>
        <p:txBody>
          <a:bodyPr/>
          <a:lstStyle/>
          <a:p>
            <a:pPr algn="r" rtl="1"/>
            <a:r>
              <a:rPr lang="fa-IR" sz="2800" b="1" dirty="0">
                <a:solidFill>
                  <a:srgbClr val="1F1F1F"/>
                </a:solidFill>
                <a:latin typeface="Google Sans"/>
                <a:cs typeface="B Nazanin" panose="00000400000000000000" pitchFamily="2" charset="-78"/>
              </a:rPr>
              <a:t>در </a:t>
            </a:r>
            <a:r>
              <a:rPr lang="fa-IR" sz="2800" b="1" i="0" dirty="0">
                <a:solidFill>
                  <a:srgbClr val="1F1F1F"/>
                </a:solidFill>
                <a:effectLst/>
                <a:latin typeface="Google Sans"/>
                <a:cs typeface="B Nazanin" panose="00000400000000000000" pitchFamily="2" charset="-78"/>
              </a:rPr>
              <a:t>روش قبل حداکثر </a:t>
            </a:r>
            <a:r>
              <a:rPr lang="en-US" sz="2800" b="1" i="0" dirty="0">
                <a:solidFill>
                  <a:srgbClr val="1F1F1F"/>
                </a:solidFill>
                <a:effectLst/>
                <a:latin typeface="Google Sans"/>
                <a:cs typeface="B Nazanin" panose="00000400000000000000" pitchFamily="2" charset="-78"/>
              </a:rPr>
              <a:t>BUFFER_SIZE - 1 </a:t>
            </a:r>
            <a:r>
              <a:rPr lang="fa-IR" sz="2800" b="1" i="0" dirty="0">
                <a:solidFill>
                  <a:srgbClr val="1F1F1F"/>
                </a:solidFill>
                <a:effectLst/>
                <a:latin typeface="Google Sans"/>
                <a:cs typeface="B Nazanin" panose="00000400000000000000" pitchFamily="2" charset="-78"/>
              </a:rPr>
              <a:t>آیتم می‌توانند به طور همزمان در بافر قرار داشته باشند.</a:t>
            </a:r>
            <a:endParaRPr lang="en-US" sz="2800" dirty="0">
              <a:cs typeface="B Nazanin" panose="00000400000000000000" pitchFamily="2" charset="-78"/>
            </a:endParaRPr>
          </a:p>
          <a:p>
            <a:pPr algn="r" rtl="1"/>
            <a:r>
              <a:rPr lang="fa-IR"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راه حل:</a:t>
            </a:r>
            <a:endParaRPr lang="en-US"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endParaRPr>
          </a:p>
          <a:p>
            <a:pPr lvl="1" algn="r" rtl="1"/>
            <a:r>
              <a:rPr lang="ar-SA"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فرض کنید می‌خواهیم راه‌حلی برای مشکل مصرف‌کننده-تولیدکننده ارائه کنیم که تمام بافرها را پر کند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endParaRPr lang="fa-IR"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endParaRPr>
          </a:p>
          <a:p>
            <a:pPr lvl="1" algn="r" rtl="1"/>
            <a:r>
              <a:rPr lang="ar-SA"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با داشتن یک </a:t>
            </a:r>
            <a:r>
              <a:rPr lang="ar-SA" sz="28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شمارنده صحیح که تعداد بافرهای پر را ردیابی </a:t>
            </a:r>
            <a:r>
              <a:rPr lang="ar-SA"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می‌کند، انجام دهیم</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endParaRPr lang="fa-IR"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endParaRPr>
          </a:p>
          <a:p>
            <a:pPr lvl="1" algn="r" rtl="1"/>
            <a:r>
              <a:rPr lang="ar-SA"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در ابتدا، </a:t>
            </a:r>
            <a:r>
              <a:rPr lang="ar-SA" sz="28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شمارنده روی 0 تنظیم شده است</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این شمارنده صحیح توسط تولید کننده پس از تولید یک بافر جدید افزایش می یابد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endParaRPr lang="fa-IR"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endParaRPr>
          </a:p>
          <a:p>
            <a:pPr lvl="1" algn="r" rtl="1"/>
            <a:r>
              <a:rPr lang="ar-SA"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شمارنده صحیح توسط مصرف کننده پس از </a:t>
            </a:r>
            <a:r>
              <a:rPr lang="ar-SA" sz="28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مصرف یک بافر کاهش </a:t>
            </a:r>
            <a:r>
              <a:rPr lang="ar-SA"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می یابد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cs typeface="B Nazanin" panose="00000400000000000000" pitchFamily="2" charset="-78"/>
            </a:endParaRPr>
          </a:p>
          <a:p>
            <a:endParaRPr lang="en-US" altLang="en-US" sz="2800" dirty="0">
              <a:cs typeface="B Nazanin" panose="00000400000000000000" pitchFamily="2" charset="-78"/>
            </a:endParaRPr>
          </a:p>
        </p:txBody>
      </p:sp>
    </p:spTree>
    <p:extLst>
      <p:ext uri="{BB962C8B-B14F-4D97-AF65-F5344CB8AC3E}">
        <p14:creationId xmlns:p14="http://schemas.microsoft.com/office/powerpoint/2010/main" val="41892523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6FBA2318-657D-42C6-AB7B-E9BBF4DA22CE}"/>
              </a:ext>
            </a:extLst>
          </p:cNvPr>
          <p:cNvSpPr>
            <a:spLocks noGrp="1" noChangeArrowheads="1"/>
          </p:cNvSpPr>
          <p:nvPr>
            <p:ph type="title"/>
          </p:nvPr>
        </p:nvSpPr>
        <p:spPr>
          <a:xfrm>
            <a:off x="457200" y="215318"/>
            <a:ext cx="8229600" cy="576263"/>
          </a:xfrm>
        </p:spPr>
        <p:txBody>
          <a:bodyPr/>
          <a:lstStyle/>
          <a:p>
            <a:pPr eaLnBrk="1" hangingPunct="1"/>
            <a:r>
              <a:rPr lang="fa-IR" altLang="en-US" dirty="0">
                <a:cs typeface="B Nazanin" panose="00000400000000000000" pitchFamily="2" charset="-78"/>
              </a:rPr>
              <a:t>تولید کننده</a:t>
            </a:r>
            <a:endParaRPr lang="en-US" altLang="en-US" dirty="0"/>
          </a:p>
        </p:txBody>
      </p:sp>
      <p:sp>
        <p:nvSpPr>
          <p:cNvPr id="13314" name="Rectangle 3">
            <a:extLst>
              <a:ext uri="{FF2B5EF4-FFF2-40B4-BE49-F238E27FC236}">
                <a16:creationId xmlns:a16="http://schemas.microsoft.com/office/drawing/2014/main" id="{32980AD2-3FC6-4309-A775-93AFA5595597}"/>
              </a:ext>
            </a:extLst>
          </p:cNvPr>
          <p:cNvSpPr>
            <a:spLocks noGrp="1" noChangeArrowheads="1"/>
          </p:cNvSpPr>
          <p:nvPr>
            <p:ph type="body" idx="1"/>
          </p:nvPr>
        </p:nvSpPr>
        <p:spPr>
          <a:xfrm>
            <a:off x="914400" y="1258888"/>
            <a:ext cx="6999288" cy="4557712"/>
          </a:xfrm>
        </p:spPr>
        <p:txBody>
          <a:bodyPr/>
          <a:lstStyle/>
          <a:p>
            <a:pPr marL="0" indent="0">
              <a:buFont typeface="Monotype Sorts" pitchFamily="-84" charset="2"/>
              <a:buNone/>
            </a:pPr>
            <a:r>
              <a:rPr lang="en-US" altLang="en-US" sz="2000" b="1" dirty="0">
                <a:solidFill>
                  <a:srgbClr val="0070C0"/>
                </a:solidFill>
                <a:latin typeface="Consolas" panose="020B0609020204030204" pitchFamily="49" charset="0"/>
              </a:rPr>
              <a:t>while</a:t>
            </a:r>
            <a:r>
              <a:rPr lang="en-US" altLang="en-US" sz="2000" dirty="0">
                <a:latin typeface="Consolas" panose="020B0609020204030204" pitchFamily="49" charset="0"/>
              </a:rPr>
              <a:t> (</a:t>
            </a:r>
            <a:r>
              <a:rPr lang="en-US" altLang="en-US" sz="2000" b="1" dirty="0">
                <a:solidFill>
                  <a:srgbClr val="0070C0"/>
                </a:solidFill>
                <a:latin typeface="Consolas" panose="020B0609020204030204" pitchFamily="49" charset="0"/>
              </a:rPr>
              <a:t>true</a:t>
            </a:r>
            <a:r>
              <a:rPr lang="en-US" altLang="en-US" sz="2000" dirty="0">
                <a:latin typeface="Consolas" panose="020B0609020204030204" pitchFamily="49" charset="0"/>
              </a:rPr>
              <a:t>) {</a:t>
            </a:r>
            <a:br>
              <a:rPr lang="en-US" altLang="en-US" sz="2000" dirty="0">
                <a:latin typeface="Consolas" panose="020B0609020204030204" pitchFamily="49" charset="0"/>
              </a:rPr>
            </a:br>
            <a:r>
              <a:rPr lang="en-US" altLang="en-US" sz="2000" dirty="0">
                <a:latin typeface="Consolas" panose="020B0609020204030204" pitchFamily="49" charset="0"/>
              </a:rPr>
              <a:t>	/* produce an item in next produced */ </a:t>
            </a:r>
          </a:p>
          <a:p>
            <a:pPr marL="0" indent="0">
              <a:buFont typeface="Monotype Sorts" pitchFamily="-84" charset="2"/>
              <a:buNone/>
            </a:pPr>
            <a:r>
              <a:rPr lang="en-US" altLang="en-US" sz="2000" dirty="0">
                <a:latin typeface="Consolas" panose="020B0609020204030204" pitchFamily="49" charset="0"/>
              </a:rPr>
              <a:t>	</a:t>
            </a:r>
          </a:p>
          <a:p>
            <a:pPr marL="0" indent="0">
              <a:buFont typeface="Monotype Sorts" pitchFamily="-84" charset="2"/>
              <a:buNone/>
            </a:pPr>
            <a:r>
              <a:rPr lang="en-US" altLang="en-US" sz="2000" dirty="0">
                <a:latin typeface="Consolas" panose="020B0609020204030204" pitchFamily="49" charset="0"/>
              </a:rPr>
              <a:t>	</a:t>
            </a:r>
            <a:r>
              <a:rPr lang="en-US" altLang="en-US" sz="2000" b="1" dirty="0">
                <a:solidFill>
                  <a:srgbClr val="0070C0"/>
                </a:solidFill>
                <a:latin typeface="Consolas" panose="020B0609020204030204" pitchFamily="49" charset="0"/>
              </a:rPr>
              <a:t>while</a:t>
            </a:r>
            <a:r>
              <a:rPr lang="en-US" altLang="en-US" sz="2000" dirty="0">
                <a:latin typeface="Consolas" panose="020B0609020204030204" pitchFamily="49" charset="0"/>
              </a:rPr>
              <a:t> (</a:t>
            </a:r>
            <a:r>
              <a:rPr lang="en-US" altLang="en-US" sz="2000" b="1" dirty="0">
                <a:solidFill>
                  <a:srgbClr val="FF0000"/>
                </a:solidFill>
                <a:latin typeface="Consolas" panose="020B0609020204030204" pitchFamily="49" charset="0"/>
              </a:rPr>
              <a:t>counter</a:t>
            </a:r>
            <a:r>
              <a:rPr lang="en-US" altLang="en-US" sz="2000" dirty="0">
                <a:latin typeface="Consolas" panose="020B0609020204030204" pitchFamily="49" charset="0"/>
              </a:rPr>
              <a:t> == BUFFER_SIZE)  </a:t>
            </a:r>
          </a:p>
          <a:p>
            <a:pPr marL="0" indent="0">
              <a:buFont typeface="Monotype Sorts" pitchFamily="-84" charset="2"/>
              <a:buNone/>
            </a:pPr>
            <a:r>
              <a:rPr lang="en-US" altLang="en-US" sz="2000" dirty="0">
                <a:latin typeface="Consolas" panose="020B0609020204030204" pitchFamily="49" charset="0"/>
              </a:rPr>
              <a:t>		; /* do nothing */ </a:t>
            </a:r>
          </a:p>
          <a:p>
            <a:pPr marL="0" indent="0">
              <a:buFont typeface="Monotype Sorts" pitchFamily="-84" charset="2"/>
              <a:buNone/>
            </a:pPr>
            <a:r>
              <a:rPr lang="en-US" altLang="en-US" sz="2000" dirty="0">
                <a:latin typeface="Consolas" panose="020B0609020204030204" pitchFamily="49" charset="0"/>
              </a:rPr>
              <a:t>	</a:t>
            </a:r>
            <a:r>
              <a:rPr lang="en-US" altLang="en-US" sz="2000" b="1" dirty="0">
                <a:latin typeface="Consolas" panose="020B0609020204030204" pitchFamily="49" charset="0"/>
              </a:rPr>
              <a:t>buffer</a:t>
            </a:r>
            <a:r>
              <a:rPr lang="en-US" altLang="en-US" sz="2000" dirty="0">
                <a:latin typeface="Consolas" panose="020B0609020204030204" pitchFamily="49" charset="0"/>
              </a:rPr>
              <a:t>[in] = </a:t>
            </a:r>
            <a:r>
              <a:rPr lang="en-US" altLang="en-US" sz="2000" dirty="0" err="1">
                <a:latin typeface="Consolas" panose="020B0609020204030204" pitchFamily="49" charset="0"/>
              </a:rPr>
              <a:t>next_produced</a:t>
            </a:r>
            <a:r>
              <a:rPr lang="en-US" altLang="en-US" sz="2000" dirty="0">
                <a:latin typeface="Consolas" panose="020B0609020204030204" pitchFamily="49" charset="0"/>
              </a:rPr>
              <a:t>; </a:t>
            </a:r>
          </a:p>
          <a:p>
            <a:pPr marL="0" indent="0">
              <a:buFont typeface="Monotype Sorts" pitchFamily="-84" charset="2"/>
              <a:buNone/>
            </a:pPr>
            <a:r>
              <a:rPr lang="en-US" altLang="en-US" sz="2000" dirty="0">
                <a:latin typeface="Consolas" panose="020B0609020204030204" pitchFamily="49" charset="0"/>
              </a:rPr>
              <a:t>	</a:t>
            </a:r>
            <a:r>
              <a:rPr lang="en-US" altLang="en-US" sz="2000" b="1" dirty="0">
                <a:latin typeface="Consolas" panose="020B0609020204030204" pitchFamily="49" charset="0"/>
              </a:rPr>
              <a:t>in</a:t>
            </a:r>
            <a:r>
              <a:rPr lang="en-US" altLang="en-US" sz="2000" dirty="0">
                <a:latin typeface="Consolas" panose="020B0609020204030204" pitchFamily="49" charset="0"/>
              </a:rPr>
              <a:t> = (</a:t>
            </a:r>
            <a:r>
              <a:rPr lang="en-US" altLang="en-US" sz="2000" b="1" dirty="0">
                <a:latin typeface="Consolas" panose="020B0609020204030204" pitchFamily="49" charset="0"/>
              </a:rPr>
              <a:t>in + 1</a:t>
            </a:r>
            <a:r>
              <a:rPr lang="en-US" altLang="en-US" sz="2000" dirty="0">
                <a:latin typeface="Consolas" panose="020B0609020204030204" pitchFamily="49" charset="0"/>
              </a:rPr>
              <a:t>) % BUFFER_SIZE; </a:t>
            </a:r>
          </a:p>
          <a:p>
            <a:pPr marL="0" indent="0">
              <a:buFont typeface="Monotype Sorts" pitchFamily="-84" charset="2"/>
              <a:buNone/>
            </a:pPr>
            <a:r>
              <a:rPr lang="en-US" altLang="en-US" sz="2000" dirty="0">
                <a:latin typeface="Consolas" panose="020B0609020204030204" pitchFamily="49" charset="0"/>
              </a:rPr>
              <a:t>	</a:t>
            </a:r>
            <a:r>
              <a:rPr lang="en-US" altLang="en-US" sz="2000" b="1" dirty="0">
                <a:solidFill>
                  <a:srgbClr val="FF0000"/>
                </a:solidFill>
                <a:latin typeface="Consolas" panose="020B0609020204030204" pitchFamily="49" charset="0"/>
              </a:rPr>
              <a:t>counter+</a:t>
            </a:r>
            <a:r>
              <a:rPr lang="en-US" altLang="en-US" sz="2000" dirty="0">
                <a:solidFill>
                  <a:srgbClr val="FF0000"/>
                </a:solidFill>
                <a:latin typeface="Consolas" panose="020B0609020204030204" pitchFamily="49" charset="0"/>
              </a:rPr>
              <a:t>+; </a:t>
            </a:r>
          </a:p>
          <a:p>
            <a:pPr marL="0" indent="0">
              <a:buFont typeface="Monotype Sorts" pitchFamily="-84" charset="2"/>
              <a:buNone/>
            </a:pPr>
            <a:r>
              <a:rPr lang="en-US" altLang="en-US" sz="2000" dirty="0">
                <a:latin typeface="Consolas" panose="020B0609020204030204" pitchFamily="49" charset="0"/>
              </a:rPr>
              <a:t>} </a:t>
            </a:r>
          </a:p>
        </p:txBody>
      </p:sp>
    </p:spTree>
    <p:extLst>
      <p:ext uri="{BB962C8B-B14F-4D97-AF65-F5344CB8AC3E}">
        <p14:creationId xmlns:p14="http://schemas.microsoft.com/office/powerpoint/2010/main" val="4199346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BF7414AA-B215-4A20-88A1-C865671BEA99}"/>
              </a:ext>
            </a:extLst>
          </p:cNvPr>
          <p:cNvSpPr>
            <a:spLocks noGrp="1" noChangeArrowheads="1"/>
          </p:cNvSpPr>
          <p:nvPr>
            <p:ph type="title"/>
          </p:nvPr>
        </p:nvSpPr>
        <p:spPr>
          <a:xfrm>
            <a:off x="487363" y="208192"/>
            <a:ext cx="8229600" cy="576263"/>
          </a:xfrm>
        </p:spPr>
        <p:txBody>
          <a:bodyPr/>
          <a:lstStyle/>
          <a:p>
            <a:pPr eaLnBrk="1" hangingPunct="1"/>
            <a:r>
              <a:rPr lang="fa-IR" altLang="en-US" dirty="0">
                <a:cs typeface="B Nazanin" panose="00000400000000000000" pitchFamily="2" charset="-78"/>
              </a:rPr>
              <a:t>مصرف کننده</a:t>
            </a:r>
            <a:endParaRPr lang="en-US" altLang="en-US" dirty="0"/>
          </a:p>
        </p:txBody>
      </p:sp>
      <p:sp>
        <p:nvSpPr>
          <p:cNvPr id="15362" name="Rectangle 3">
            <a:extLst>
              <a:ext uri="{FF2B5EF4-FFF2-40B4-BE49-F238E27FC236}">
                <a16:creationId xmlns:a16="http://schemas.microsoft.com/office/drawing/2014/main" id="{F7E5C80C-620B-4BAE-A990-B50235C7DFB9}"/>
              </a:ext>
            </a:extLst>
          </p:cNvPr>
          <p:cNvSpPr>
            <a:spLocks noGrp="1" noChangeArrowheads="1"/>
          </p:cNvSpPr>
          <p:nvPr>
            <p:ph type="body" idx="1"/>
          </p:nvPr>
        </p:nvSpPr>
        <p:spPr>
          <a:xfrm>
            <a:off x="923731" y="1262063"/>
            <a:ext cx="7520358" cy="4860925"/>
          </a:xfrm>
        </p:spPr>
        <p:txBody>
          <a:bodyPr/>
          <a:lstStyle/>
          <a:p>
            <a:pPr marL="0" indent="0">
              <a:buFont typeface="Monotype Sorts" pitchFamily="-84" charset="2"/>
              <a:buNone/>
            </a:pPr>
            <a:r>
              <a:rPr lang="en-US" altLang="en-US" sz="2000" b="1" dirty="0">
                <a:solidFill>
                  <a:srgbClr val="0070C0"/>
                </a:solidFill>
                <a:latin typeface="Consolas" panose="020B0609020204030204" pitchFamily="49" charset="0"/>
              </a:rPr>
              <a:t>while</a:t>
            </a:r>
            <a:r>
              <a:rPr lang="en-US" altLang="en-US" sz="2000" dirty="0">
                <a:latin typeface="Consolas" panose="020B0609020204030204" pitchFamily="49" charset="0"/>
              </a:rPr>
              <a:t> (</a:t>
            </a:r>
            <a:r>
              <a:rPr lang="en-US" altLang="en-US" sz="2000" b="1" dirty="0">
                <a:solidFill>
                  <a:srgbClr val="0070C0"/>
                </a:solidFill>
                <a:latin typeface="Consolas" panose="020B0609020204030204" pitchFamily="49" charset="0"/>
              </a:rPr>
              <a:t>true</a:t>
            </a:r>
            <a:r>
              <a:rPr lang="en-US" altLang="en-US" sz="2000" dirty="0">
                <a:latin typeface="Consolas" panose="020B0609020204030204" pitchFamily="49" charset="0"/>
              </a:rPr>
              <a:t>) {</a:t>
            </a:r>
          </a:p>
          <a:p>
            <a:pPr marL="0" indent="0">
              <a:buFont typeface="Monotype Sorts" pitchFamily="-84" charset="2"/>
              <a:buNone/>
            </a:pPr>
            <a:r>
              <a:rPr lang="en-US" altLang="en-US" sz="2000" dirty="0">
                <a:latin typeface="Consolas" panose="020B0609020204030204" pitchFamily="49" charset="0"/>
              </a:rPr>
              <a:t>	</a:t>
            </a:r>
            <a:r>
              <a:rPr lang="en-US" altLang="en-US" sz="2000" b="1" dirty="0">
                <a:solidFill>
                  <a:srgbClr val="0070C0"/>
                </a:solidFill>
                <a:latin typeface="Consolas" panose="020B0609020204030204" pitchFamily="49" charset="0"/>
              </a:rPr>
              <a:t>while</a:t>
            </a:r>
            <a:r>
              <a:rPr lang="en-US" altLang="en-US" sz="2000" dirty="0">
                <a:latin typeface="Consolas" panose="020B0609020204030204" pitchFamily="49" charset="0"/>
              </a:rPr>
              <a:t> (</a:t>
            </a:r>
            <a:r>
              <a:rPr lang="en-US" altLang="en-US" sz="2000" b="1" dirty="0">
                <a:solidFill>
                  <a:srgbClr val="FF0000"/>
                </a:solidFill>
                <a:latin typeface="Consolas" panose="020B0609020204030204" pitchFamily="49" charset="0"/>
              </a:rPr>
              <a:t>counter</a:t>
            </a:r>
            <a:r>
              <a:rPr lang="en-US" altLang="en-US" sz="2000" dirty="0">
                <a:latin typeface="Consolas" panose="020B0609020204030204" pitchFamily="49" charset="0"/>
              </a:rPr>
              <a:t> == 0) </a:t>
            </a:r>
          </a:p>
          <a:p>
            <a:pPr marL="0" indent="0">
              <a:buFont typeface="Monotype Sorts" pitchFamily="-84" charset="2"/>
              <a:buNone/>
            </a:pPr>
            <a:r>
              <a:rPr lang="en-US" altLang="en-US" sz="2000" dirty="0">
                <a:latin typeface="Consolas" panose="020B0609020204030204" pitchFamily="49" charset="0"/>
              </a:rPr>
              <a:t>		; /* do nothing */ </a:t>
            </a:r>
          </a:p>
          <a:p>
            <a:pPr marL="0" indent="0">
              <a:buFont typeface="Monotype Sorts" pitchFamily="-84" charset="2"/>
              <a:buNone/>
            </a:pPr>
            <a:r>
              <a:rPr lang="en-US" altLang="en-US" sz="2000" dirty="0">
                <a:latin typeface="Consolas" panose="020B0609020204030204" pitchFamily="49" charset="0"/>
              </a:rPr>
              <a:t>	</a:t>
            </a:r>
            <a:r>
              <a:rPr lang="en-US" altLang="en-US" sz="2000" dirty="0" err="1">
                <a:latin typeface="Consolas" panose="020B0609020204030204" pitchFamily="49" charset="0"/>
              </a:rPr>
              <a:t>next_consumed</a:t>
            </a:r>
            <a:r>
              <a:rPr lang="en-US" altLang="en-US" sz="2000" dirty="0">
                <a:latin typeface="Consolas" panose="020B0609020204030204" pitchFamily="49" charset="0"/>
              </a:rPr>
              <a:t> = </a:t>
            </a:r>
            <a:r>
              <a:rPr lang="en-US" altLang="en-US" sz="2000" b="1" dirty="0">
                <a:latin typeface="Consolas" panose="020B0609020204030204" pitchFamily="49" charset="0"/>
              </a:rPr>
              <a:t>buffer[out]</a:t>
            </a:r>
            <a:r>
              <a:rPr lang="en-US" altLang="en-US" sz="2000" dirty="0">
                <a:latin typeface="Consolas" panose="020B0609020204030204" pitchFamily="49" charset="0"/>
              </a:rPr>
              <a:t>; </a:t>
            </a:r>
          </a:p>
          <a:p>
            <a:pPr marL="0" indent="0">
              <a:buFont typeface="Monotype Sorts" pitchFamily="-84" charset="2"/>
              <a:buNone/>
            </a:pPr>
            <a:r>
              <a:rPr lang="en-US" altLang="en-US" sz="2000" dirty="0">
                <a:latin typeface="Consolas" panose="020B0609020204030204" pitchFamily="49" charset="0"/>
              </a:rPr>
              <a:t>	</a:t>
            </a:r>
            <a:r>
              <a:rPr lang="en-US" altLang="en-US" sz="2000" b="1" dirty="0">
                <a:latin typeface="Consolas" panose="020B0609020204030204" pitchFamily="49" charset="0"/>
              </a:rPr>
              <a:t>out</a:t>
            </a:r>
            <a:r>
              <a:rPr lang="en-US" altLang="en-US" sz="2000" dirty="0">
                <a:latin typeface="Consolas" panose="020B0609020204030204" pitchFamily="49" charset="0"/>
              </a:rPr>
              <a:t> = (</a:t>
            </a:r>
            <a:r>
              <a:rPr lang="en-US" altLang="en-US" sz="2000" b="1" dirty="0">
                <a:latin typeface="Consolas" panose="020B0609020204030204" pitchFamily="49" charset="0"/>
              </a:rPr>
              <a:t>out</a:t>
            </a:r>
            <a:r>
              <a:rPr lang="en-US" altLang="en-US" sz="2000" dirty="0">
                <a:latin typeface="Consolas" panose="020B0609020204030204" pitchFamily="49" charset="0"/>
              </a:rPr>
              <a:t> + 1) % BUFFER_SIZE; 	</a:t>
            </a:r>
          </a:p>
          <a:p>
            <a:pPr marL="0" indent="0">
              <a:buFont typeface="Monotype Sorts" pitchFamily="-84" charset="2"/>
              <a:buNone/>
            </a:pPr>
            <a:r>
              <a:rPr lang="en-US" altLang="en-US" sz="2000" dirty="0">
                <a:solidFill>
                  <a:srgbClr val="FF0000"/>
                </a:solidFill>
                <a:latin typeface="Consolas" panose="020B0609020204030204" pitchFamily="49" charset="0"/>
              </a:rPr>
              <a:t>        </a:t>
            </a:r>
            <a:r>
              <a:rPr lang="en-US" altLang="en-US" sz="2000" b="1" dirty="0">
                <a:solidFill>
                  <a:srgbClr val="FF0000"/>
                </a:solidFill>
                <a:latin typeface="Consolas" panose="020B0609020204030204" pitchFamily="49" charset="0"/>
              </a:rPr>
              <a:t>counter--</a:t>
            </a:r>
            <a:r>
              <a:rPr lang="en-US" altLang="en-US" sz="2000" dirty="0">
                <a:solidFill>
                  <a:srgbClr val="FF0000"/>
                </a:solidFill>
                <a:latin typeface="Consolas" panose="020B0609020204030204" pitchFamily="49" charset="0"/>
              </a:rPr>
              <a:t>; </a:t>
            </a:r>
          </a:p>
          <a:p>
            <a:pPr marL="0" indent="0">
              <a:buFont typeface="Monotype Sorts" pitchFamily="-84" charset="2"/>
              <a:buNone/>
            </a:pPr>
            <a:r>
              <a:rPr lang="en-US" altLang="en-US" sz="2000" dirty="0">
                <a:latin typeface="Consolas" panose="020B0609020204030204" pitchFamily="49" charset="0"/>
              </a:rPr>
              <a:t>	/* consume the item in next consumed */ </a:t>
            </a:r>
          </a:p>
          <a:p>
            <a:pPr marL="0" indent="0">
              <a:buFont typeface="Monotype Sorts" pitchFamily="-84" charset="2"/>
              <a:buNone/>
            </a:pPr>
            <a:r>
              <a:rPr lang="en-US" altLang="en-US" sz="2000" dirty="0">
                <a:latin typeface="Consolas" panose="020B0609020204030204" pitchFamily="49" charset="0"/>
              </a:rPr>
              <a:t>} </a:t>
            </a:r>
          </a:p>
        </p:txBody>
      </p:sp>
    </p:spTree>
    <p:extLst>
      <p:ext uri="{BB962C8B-B14F-4D97-AF65-F5344CB8AC3E}">
        <p14:creationId xmlns:p14="http://schemas.microsoft.com/office/powerpoint/2010/main" val="2111936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26">
            <a:extLst>
              <a:ext uri="{FF2B5EF4-FFF2-40B4-BE49-F238E27FC236}">
                <a16:creationId xmlns:a16="http://schemas.microsoft.com/office/drawing/2014/main" id="{8C101D6F-C0EC-4766-8D52-60E1DFA5593C}"/>
              </a:ext>
            </a:extLst>
          </p:cNvPr>
          <p:cNvSpPr>
            <a:spLocks noGrp="1" noChangeArrowheads="1"/>
          </p:cNvSpPr>
          <p:nvPr>
            <p:ph type="title"/>
          </p:nvPr>
        </p:nvSpPr>
        <p:spPr>
          <a:xfrm>
            <a:off x="457200" y="225267"/>
            <a:ext cx="8229600" cy="576262"/>
          </a:xfrm>
        </p:spPr>
        <p:txBody>
          <a:bodyPr/>
          <a:lstStyle/>
          <a:p>
            <a:pPr eaLnBrk="1" hangingPunct="1"/>
            <a:r>
              <a:rPr lang="fa-IR" altLang="en-US" dirty="0">
                <a:cs typeface="B Nazanin" panose="00000400000000000000" pitchFamily="2" charset="-78"/>
              </a:rPr>
              <a:t>شرط مسابقه </a:t>
            </a:r>
            <a:r>
              <a:rPr lang="en-US" altLang="en-US" dirty="0">
                <a:cs typeface="B Nazanin" panose="00000400000000000000" pitchFamily="2" charset="-78"/>
              </a:rPr>
              <a:t>Race Condition</a:t>
            </a:r>
            <a:r>
              <a:rPr lang="fa-IR" altLang="en-US" dirty="0">
                <a:cs typeface="B Nazanin" panose="00000400000000000000" pitchFamily="2" charset="-78"/>
              </a:rPr>
              <a:t> </a:t>
            </a:r>
            <a:endParaRPr lang="en-US" altLang="en-US" dirty="0"/>
          </a:p>
        </p:txBody>
      </p:sp>
      <p:sp>
        <p:nvSpPr>
          <p:cNvPr id="17410" name="Rectangle 1027">
            <a:extLst>
              <a:ext uri="{FF2B5EF4-FFF2-40B4-BE49-F238E27FC236}">
                <a16:creationId xmlns:a16="http://schemas.microsoft.com/office/drawing/2014/main" id="{338D3C38-85C1-4063-A149-971FC47DCC1F}"/>
              </a:ext>
            </a:extLst>
          </p:cNvPr>
          <p:cNvSpPr>
            <a:spLocks noGrp="1" noChangeArrowheads="1"/>
          </p:cNvSpPr>
          <p:nvPr>
            <p:ph idx="1"/>
          </p:nvPr>
        </p:nvSpPr>
        <p:spPr>
          <a:xfrm>
            <a:off x="457200" y="963436"/>
            <a:ext cx="8428671" cy="5184445"/>
          </a:xfrm>
        </p:spPr>
        <p:txBody>
          <a:bodyPr/>
          <a:lstStyle/>
          <a:p>
            <a:pPr>
              <a:lnSpc>
                <a:spcPct val="90000"/>
              </a:lnSpc>
            </a:pPr>
            <a:r>
              <a:rPr lang="en-US" altLang="en-US" sz="2000" b="1" dirty="0">
                <a:solidFill>
                  <a:srgbClr val="000000"/>
                </a:solidFill>
                <a:latin typeface="Courier New" panose="02070309020205020404" pitchFamily="49" charset="0"/>
              </a:rPr>
              <a:t>counter++ </a:t>
            </a:r>
            <a:r>
              <a:rPr lang="en-US" altLang="en-US" dirty="0"/>
              <a:t>could be implemented as</a:t>
            </a:r>
            <a:br>
              <a:rPr lang="en-US" altLang="en-US" dirty="0"/>
            </a:br>
            <a:r>
              <a:rPr lang="en-US" altLang="en-US" b="1" dirty="0">
                <a:latin typeface="Courier New" panose="02070309020205020404" pitchFamily="49" charset="0"/>
              </a:rPr>
              <a:t>     </a:t>
            </a:r>
            <a:r>
              <a:rPr lang="en-US" altLang="en-US" b="1" dirty="0">
                <a:solidFill>
                  <a:srgbClr val="0000FF"/>
                </a:solidFill>
                <a:latin typeface="Courier New" panose="02070309020205020404" pitchFamily="49" charset="0"/>
              </a:rPr>
              <a:t>register1 = counter</a:t>
            </a:r>
            <a:br>
              <a:rPr lang="en-US" altLang="en-US" b="1" dirty="0">
                <a:solidFill>
                  <a:srgbClr val="0000FF"/>
                </a:solidFill>
                <a:latin typeface="Courier New" panose="02070309020205020404" pitchFamily="49" charset="0"/>
              </a:rPr>
            </a:br>
            <a:r>
              <a:rPr lang="en-US" altLang="en-US" b="1" dirty="0">
                <a:solidFill>
                  <a:srgbClr val="0000FF"/>
                </a:solidFill>
                <a:latin typeface="Courier New" panose="02070309020205020404" pitchFamily="49" charset="0"/>
              </a:rPr>
              <a:t>     register1 = register1 + 1</a:t>
            </a:r>
            <a:br>
              <a:rPr lang="en-US" altLang="en-US" b="1" dirty="0">
                <a:solidFill>
                  <a:srgbClr val="0000FF"/>
                </a:solidFill>
                <a:latin typeface="Courier New" panose="02070309020205020404" pitchFamily="49" charset="0"/>
              </a:rPr>
            </a:br>
            <a:r>
              <a:rPr lang="en-US" altLang="en-US" b="1" dirty="0">
                <a:solidFill>
                  <a:srgbClr val="0000FF"/>
                </a:solidFill>
                <a:latin typeface="Courier New" panose="02070309020205020404" pitchFamily="49" charset="0"/>
              </a:rPr>
              <a:t>     counter = register1</a:t>
            </a:r>
            <a:endParaRPr lang="en-US" altLang="en-US" sz="900" dirty="0">
              <a:solidFill>
                <a:srgbClr val="0000FF"/>
              </a:solidFill>
            </a:endParaRPr>
          </a:p>
          <a:p>
            <a:pPr>
              <a:lnSpc>
                <a:spcPct val="90000"/>
              </a:lnSpc>
            </a:pPr>
            <a:r>
              <a:rPr lang="en-US" altLang="en-US" sz="2000" b="1" dirty="0">
                <a:solidFill>
                  <a:srgbClr val="000000"/>
                </a:solidFill>
                <a:latin typeface="Courier New" panose="02070309020205020404" pitchFamily="49" charset="0"/>
              </a:rPr>
              <a:t>counter--</a:t>
            </a:r>
            <a:r>
              <a:rPr lang="en-US" altLang="en-US" b="1" dirty="0">
                <a:solidFill>
                  <a:schemeClr val="tx2"/>
                </a:solidFill>
                <a:latin typeface="Courier New" panose="02070309020205020404" pitchFamily="49" charset="0"/>
              </a:rPr>
              <a:t> </a:t>
            </a:r>
            <a:r>
              <a:rPr lang="en-US" altLang="en-US" dirty="0"/>
              <a:t>could be implemented as</a:t>
            </a:r>
            <a:br>
              <a:rPr lang="en-US" altLang="en-US" dirty="0"/>
            </a:br>
            <a:br>
              <a:rPr lang="en-US" altLang="en-US" dirty="0"/>
            </a:br>
            <a:r>
              <a:rPr lang="en-US" altLang="en-US" b="1" dirty="0">
                <a:latin typeface="Courier New" panose="02070309020205020404" pitchFamily="49" charset="0"/>
              </a:rPr>
              <a:t>     </a:t>
            </a:r>
            <a:r>
              <a:rPr lang="en-US" altLang="en-US" b="1" dirty="0">
                <a:solidFill>
                  <a:schemeClr val="tx2"/>
                </a:solidFill>
                <a:latin typeface="Courier New" panose="02070309020205020404" pitchFamily="49" charset="0"/>
              </a:rPr>
              <a:t>register2 = counter</a:t>
            </a:r>
            <a:br>
              <a:rPr lang="en-US" altLang="en-US" b="1" dirty="0">
                <a:solidFill>
                  <a:schemeClr val="tx2"/>
                </a:solidFill>
                <a:latin typeface="Courier New" panose="02070309020205020404" pitchFamily="49" charset="0"/>
              </a:rPr>
            </a:br>
            <a:r>
              <a:rPr lang="en-US" altLang="en-US" b="1" dirty="0">
                <a:solidFill>
                  <a:schemeClr val="tx2"/>
                </a:solidFill>
                <a:latin typeface="Courier New" panose="02070309020205020404" pitchFamily="49" charset="0"/>
              </a:rPr>
              <a:t>     register2 = register2 - 1</a:t>
            </a:r>
            <a:br>
              <a:rPr lang="en-US" altLang="en-US" b="1" dirty="0">
                <a:solidFill>
                  <a:schemeClr val="tx2"/>
                </a:solidFill>
                <a:latin typeface="Courier New" panose="02070309020205020404" pitchFamily="49" charset="0"/>
              </a:rPr>
            </a:br>
            <a:r>
              <a:rPr lang="en-US" altLang="en-US" b="1" dirty="0">
                <a:solidFill>
                  <a:schemeClr val="tx2"/>
                </a:solidFill>
                <a:latin typeface="Courier New" panose="02070309020205020404" pitchFamily="49" charset="0"/>
              </a:rPr>
              <a:t>     counter = register2</a:t>
            </a:r>
          </a:p>
          <a:p>
            <a:pPr>
              <a:lnSpc>
                <a:spcPct val="90000"/>
              </a:lnSpc>
              <a:buFont typeface="Monotype Sorts" pitchFamily="-84" charset="2"/>
              <a:buNone/>
            </a:pPr>
            <a:endParaRPr lang="en-US" altLang="en-US" sz="900" dirty="0">
              <a:solidFill>
                <a:schemeClr val="tx2"/>
              </a:solidFill>
            </a:endParaRPr>
          </a:p>
          <a:p>
            <a:pPr>
              <a:lnSpc>
                <a:spcPct val="90000"/>
              </a:lnSpc>
            </a:pPr>
            <a:r>
              <a:rPr lang="en-US" altLang="en-US" dirty="0"/>
              <a:t>Consider this execution </a:t>
            </a:r>
            <a:r>
              <a:rPr lang="en-US" altLang="en-US" b="1" dirty="0"/>
              <a:t>interleaving</a:t>
            </a:r>
            <a:r>
              <a:rPr lang="en-US" altLang="en-US" dirty="0"/>
              <a:t> with </a:t>
            </a:r>
            <a:r>
              <a:rPr lang="ja-JP" altLang="en-US" dirty="0"/>
              <a:t>“</a:t>
            </a:r>
            <a:r>
              <a:rPr lang="en-US" altLang="ja-JP" dirty="0"/>
              <a:t>count = 5</a:t>
            </a:r>
            <a:r>
              <a:rPr lang="ja-JP" altLang="en-US" dirty="0"/>
              <a:t>”</a:t>
            </a:r>
            <a:r>
              <a:rPr lang="en-US" altLang="ja-JP" dirty="0"/>
              <a:t> initially:</a:t>
            </a:r>
          </a:p>
          <a:p>
            <a:pPr lvl="1">
              <a:lnSpc>
                <a:spcPct val="90000"/>
              </a:lnSpc>
              <a:buFont typeface="Monotype Sorts" pitchFamily="-84" charset="2"/>
              <a:buNone/>
            </a:pPr>
            <a:r>
              <a:rPr lang="en-US" altLang="en-US" dirty="0"/>
              <a:t>	S0: producer execute </a:t>
            </a:r>
            <a:r>
              <a:rPr lang="en-US" altLang="en-US" b="1" dirty="0">
                <a:solidFill>
                  <a:srgbClr val="0000FF"/>
                </a:solidFill>
                <a:latin typeface="Courier New" panose="02070309020205020404" pitchFamily="49" charset="0"/>
              </a:rPr>
              <a:t>register1 = counter</a:t>
            </a:r>
            <a:r>
              <a:rPr lang="en-US" altLang="en-US" b="1" dirty="0">
                <a:latin typeface="Courier New" panose="02070309020205020404" pitchFamily="49" charset="0"/>
              </a:rPr>
              <a:t>         </a:t>
            </a:r>
            <a:r>
              <a:rPr lang="en-US" altLang="en-US" dirty="0"/>
              <a:t>{register1 = 5}</a:t>
            </a:r>
            <a:br>
              <a:rPr lang="en-US" altLang="en-US" dirty="0"/>
            </a:br>
            <a:r>
              <a:rPr lang="en-US" altLang="en-US" dirty="0"/>
              <a:t>S1: producer execute </a:t>
            </a:r>
            <a:r>
              <a:rPr lang="en-US" altLang="en-US" b="1" dirty="0">
                <a:solidFill>
                  <a:srgbClr val="0000FF"/>
                </a:solidFill>
                <a:latin typeface="Courier New" panose="02070309020205020404" pitchFamily="49" charset="0"/>
              </a:rPr>
              <a:t>register1 = register1 + 1   </a:t>
            </a:r>
            <a:r>
              <a:rPr lang="en-US" altLang="en-US" dirty="0"/>
              <a:t>{register1 = 6} </a:t>
            </a:r>
            <a:br>
              <a:rPr lang="en-US" altLang="en-US" dirty="0"/>
            </a:br>
            <a:r>
              <a:rPr lang="en-US" altLang="en-US" dirty="0"/>
              <a:t>S2: consumer execute </a:t>
            </a:r>
            <a:r>
              <a:rPr lang="en-US" altLang="en-US" b="1" dirty="0">
                <a:solidFill>
                  <a:schemeClr val="tx2"/>
                </a:solidFill>
                <a:latin typeface="Courier New" panose="02070309020205020404" pitchFamily="49" charset="0"/>
              </a:rPr>
              <a:t>register2 = counter</a:t>
            </a:r>
            <a:r>
              <a:rPr lang="en-US" altLang="en-US" b="1" dirty="0">
                <a:latin typeface="Courier New" panose="02070309020205020404" pitchFamily="49" charset="0"/>
              </a:rPr>
              <a:t>        </a:t>
            </a:r>
            <a:r>
              <a:rPr lang="en-US" altLang="en-US" dirty="0"/>
              <a:t>{register2 = 5} </a:t>
            </a:r>
            <a:br>
              <a:rPr lang="en-US" altLang="en-US" dirty="0"/>
            </a:br>
            <a:r>
              <a:rPr lang="en-US" altLang="en-US" dirty="0"/>
              <a:t>S3: consumer execute </a:t>
            </a:r>
            <a:r>
              <a:rPr lang="en-US" altLang="en-US" b="1" dirty="0">
                <a:solidFill>
                  <a:schemeClr val="tx2"/>
                </a:solidFill>
                <a:latin typeface="Courier New" panose="02070309020205020404" pitchFamily="49" charset="0"/>
              </a:rPr>
              <a:t>register2 = register2 – 1  </a:t>
            </a:r>
            <a:r>
              <a:rPr lang="en-US" altLang="en-US" dirty="0"/>
              <a:t>{register2 = 4} </a:t>
            </a:r>
            <a:br>
              <a:rPr lang="en-US" altLang="en-US" dirty="0"/>
            </a:br>
            <a:r>
              <a:rPr lang="en-US" altLang="en-US" dirty="0"/>
              <a:t>S4: producer execute </a:t>
            </a:r>
            <a:r>
              <a:rPr lang="en-US" altLang="en-US" b="1" dirty="0">
                <a:solidFill>
                  <a:srgbClr val="0000FF"/>
                </a:solidFill>
                <a:latin typeface="Courier New" panose="02070309020205020404" pitchFamily="49" charset="0"/>
              </a:rPr>
              <a:t>counter = register1         </a:t>
            </a:r>
            <a:r>
              <a:rPr lang="en-US" altLang="en-US" dirty="0"/>
              <a:t>{counter = 6 } </a:t>
            </a:r>
            <a:br>
              <a:rPr lang="en-US" altLang="en-US" dirty="0"/>
            </a:br>
            <a:r>
              <a:rPr lang="en-US" altLang="en-US" dirty="0"/>
              <a:t>S5: consumer execute </a:t>
            </a:r>
            <a:r>
              <a:rPr lang="en-US" altLang="en-US" b="1" dirty="0">
                <a:solidFill>
                  <a:schemeClr val="tx2"/>
                </a:solidFill>
                <a:latin typeface="Courier New" panose="02070309020205020404" pitchFamily="49" charset="0"/>
              </a:rPr>
              <a:t>counter = register2        </a:t>
            </a:r>
            <a:r>
              <a:rPr lang="en-US" altLang="en-US" dirty="0"/>
              <a:t>{counter = 4}</a:t>
            </a:r>
          </a:p>
          <a:p>
            <a:pPr lvl="1">
              <a:lnSpc>
                <a:spcPct val="90000"/>
              </a:lnSpc>
              <a:buFont typeface="Monotype Sorts" pitchFamily="-84" charset="2"/>
              <a:buNone/>
            </a:pPr>
            <a:endParaRPr lang="en-US" altLang="en-US" sz="2000" dirty="0"/>
          </a:p>
        </p:txBody>
      </p:sp>
    </p:spTree>
    <p:extLst>
      <p:ext uri="{BB962C8B-B14F-4D97-AF65-F5344CB8AC3E}">
        <p14:creationId xmlns:p14="http://schemas.microsoft.com/office/powerpoint/2010/main" val="29641058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6F3F2B4A-DE70-43EF-BB61-6A78698FE935}"/>
              </a:ext>
            </a:extLst>
          </p:cNvPr>
          <p:cNvSpPr>
            <a:spLocks noGrp="1" noChangeArrowheads="1"/>
          </p:cNvSpPr>
          <p:nvPr>
            <p:ph type="title"/>
          </p:nvPr>
        </p:nvSpPr>
        <p:spPr>
          <a:xfrm>
            <a:off x="1258222" y="133932"/>
            <a:ext cx="7996237" cy="576262"/>
          </a:xfrm>
        </p:spPr>
        <p:txBody>
          <a:bodyPr/>
          <a:lstStyle/>
          <a:p>
            <a:pPr eaLnBrk="1" hangingPunct="1"/>
            <a:r>
              <a:rPr lang="en-US" altLang="en-US" dirty="0"/>
              <a:t>IPC – </a:t>
            </a:r>
            <a:r>
              <a:rPr lang="fa-IR" altLang="en-US" dirty="0">
                <a:cs typeface="B Nazanin" panose="00000400000000000000" pitchFamily="2" charset="-78"/>
              </a:rPr>
              <a:t>ارسال پیام</a:t>
            </a:r>
            <a:endParaRPr lang="en-US" altLang="en-US" dirty="0"/>
          </a:p>
        </p:txBody>
      </p:sp>
      <p:sp>
        <p:nvSpPr>
          <p:cNvPr id="75779" name="Rectangle 3">
            <a:extLst>
              <a:ext uri="{FF2B5EF4-FFF2-40B4-BE49-F238E27FC236}">
                <a16:creationId xmlns:a16="http://schemas.microsoft.com/office/drawing/2014/main" id="{70AECD7B-E784-4C8C-8677-1B9EFF1929B0}"/>
              </a:ext>
            </a:extLst>
          </p:cNvPr>
          <p:cNvSpPr>
            <a:spLocks noGrp="1" noChangeArrowheads="1"/>
          </p:cNvSpPr>
          <p:nvPr>
            <p:ph type="body" idx="1"/>
          </p:nvPr>
        </p:nvSpPr>
        <p:spPr>
          <a:xfrm>
            <a:off x="338668" y="1201738"/>
            <a:ext cx="8321238" cy="5153906"/>
          </a:xfrm>
        </p:spPr>
        <p:txBody>
          <a:bodyPr/>
          <a:lstStyle/>
          <a:p>
            <a:pPr marL="0" marR="0" algn="r" rtl="1">
              <a:lnSpc>
                <a:spcPct val="107000"/>
              </a:lnSpc>
              <a:spcBef>
                <a:spcPts val="0"/>
              </a:spcBef>
              <a:spcAft>
                <a:spcPts val="800"/>
              </a:spcAft>
            </a:pPr>
            <a:r>
              <a:rPr lang="ar-SA" sz="2800" b="1" dirty="0">
                <a:solidFill>
                  <a:srgbClr val="1F1F1F"/>
                </a:solidFill>
                <a:effectLst/>
                <a:latin typeface="Nazanin" panose="00000400000000000000" pitchFamily="2" charset="-78"/>
                <a:ea typeface="Times New Roman" panose="02020603050405020304" pitchFamily="18" charset="0"/>
                <a:cs typeface="B Nazanin" panose="00000400000000000000" pitchFamily="2" charset="-78"/>
              </a:rPr>
              <a:t>فرایندها بدون نیاز به متغیرهای مشترک با یکدیگر ارتباط برقرار می کنند</a:t>
            </a:r>
            <a:endParaRPr lang="en-US" sz="2800" dirty="0">
              <a:effectLst/>
              <a:latin typeface="Nazanin" panose="00000400000000000000" pitchFamily="2" charset="-78"/>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800" dirty="0">
                <a:solidFill>
                  <a:srgbClr val="1F1F1F"/>
                </a:solidFill>
                <a:effectLst/>
                <a:latin typeface="Nazanin" panose="00000400000000000000" pitchFamily="2" charset="-78"/>
                <a:ea typeface="Times New Roman" panose="02020603050405020304" pitchFamily="18" charset="0"/>
                <a:cs typeface="B Nazanin" panose="00000400000000000000" pitchFamily="2" charset="-78"/>
              </a:rPr>
              <a:t>سیستم ارتباط بین فرایندی</a:t>
            </a:r>
            <a:r>
              <a:rPr lang="en-US" sz="2800" dirty="0">
                <a:solidFill>
                  <a:srgbClr val="1F1F1F"/>
                </a:solidFill>
                <a:effectLst/>
                <a:latin typeface="Nazanin" panose="00000400000000000000" pitchFamily="2" charset="-78"/>
                <a:ea typeface="Times New Roman" panose="02020603050405020304" pitchFamily="18" charset="0"/>
                <a:cs typeface="B Nazanin" panose="00000400000000000000" pitchFamily="2" charset="-78"/>
              </a:rPr>
              <a:t> (IPC) </a:t>
            </a:r>
            <a:r>
              <a:rPr lang="ar-SA" sz="2800" dirty="0">
                <a:solidFill>
                  <a:srgbClr val="1F1F1F"/>
                </a:solidFill>
                <a:effectLst/>
                <a:latin typeface="Nazanin" panose="00000400000000000000" pitchFamily="2" charset="-78"/>
                <a:ea typeface="Times New Roman" panose="02020603050405020304" pitchFamily="18" charset="0"/>
                <a:cs typeface="B Nazanin" panose="00000400000000000000" pitchFamily="2" charset="-78"/>
              </a:rPr>
              <a:t>دو عملیات را ارائه می دهد</a:t>
            </a:r>
            <a:r>
              <a:rPr lang="en-US" sz="2800" dirty="0">
                <a:solidFill>
                  <a:srgbClr val="1F1F1F"/>
                </a:solidFill>
                <a:effectLst/>
                <a:latin typeface="Nazanin" panose="00000400000000000000" pitchFamily="2" charset="-78"/>
                <a:ea typeface="Times New Roman" panose="02020603050405020304" pitchFamily="18" charset="0"/>
                <a:cs typeface="B Nazanin" panose="00000400000000000000" pitchFamily="2" charset="-78"/>
              </a:rPr>
              <a:t>:</a:t>
            </a:r>
            <a:endParaRPr lang="en-US" sz="2800" dirty="0">
              <a:effectLst/>
              <a:latin typeface="Nazanin" panose="00000400000000000000" pitchFamily="2" charset="-78"/>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Nazanin" panose="00000400000000000000" pitchFamily="2" charset="-78"/>
                <a:ea typeface="Times New Roman" panose="02020603050405020304" pitchFamily="18" charset="0"/>
                <a:cs typeface="B Nazanin" panose="00000400000000000000" pitchFamily="2" charset="-78"/>
              </a:rPr>
              <a:t>ارسال(پیام) </a:t>
            </a:r>
            <a:r>
              <a:rPr lang="en-US" sz="2800" dirty="0">
                <a:solidFill>
                  <a:srgbClr val="1F1F1F"/>
                </a:solidFill>
                <a:effectLst/>
                <a:latin typeface="Nazanin" panose="00000400000000000000" pitchFamily="2" charset="-78"/>
                <a:ea typeface="Times New Roman" panose="02020603050405020304" pitchFamily="18" charset="0"/>
                <a:cs typeface="B Nazanin" panose="00000400000000000000" pitchFamily="2" charset="-78"/>
              </a:rPr>
              <a:t>(send(message))</a:t>
            </a:r>
            <a:endParaRPr lang="en-US" sz="2800" dirty="0">
              <a:solidFill>
                <a:srgbClr val="1F1F1F"/>
              </a:solidFill>
              <a:effectLst/>
              <a:latin typeface="Nazanin" panose="00000400000000000000" pitchFamily="2" charset="-78"/>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Nazanin" panose="00000400000000000000" pitchFamily="2" charset="-78"/>
                <a:ea typeface="Times New Roman" panose="02020603050405020304" pitchFamily="18" charset="0"/>
                <a:cs typeface="B Nazanin" panose="00000400000000000000" pitchFamily="2" charset="-78"/>
              </a:rPr>
              <a:t>دریافت(پیام) </a:t>
            </a:r>
            <a:r>
              <a:rPr lang="en-US" sz="2800" dirty="0">
                <a:solidFill>
                  <a:srgbClr val="1F1F1F"/>
                </a:solidFill>
                <a:effectLst/>
                <a:latin typeface="Nazanin" panose="00000400000000000000" pitchFamily="2" charset="-78"/>
                <a:ea typeface="Times New Roman" panose="02020603050405020304" pitchFamily="18" charset="0"/>
                <a:cs typeface="B Nazanin" panose="00000400000000000000" pitchFamily="2" charset="-78"/>
              </a:rPr>
              <a:t>(receive(message))</a:t>
            </a:r>
            <a:endParaRPr lang="en-US" sz="2800" dirty="0">
              <a:solidFill>
                <a:srgbClr val="1F1F1F"/>
              </a:solidFill>
              <a:effectLst/>
              <a:latin typeface="Nazanin" panose="00000400000000000000" pitchFamily="2" charset="-78"/>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800" dirty="0">
                <a:solidFill>
                  <a:srgbClr val="1F1F1F"/>
                </a:solidFill>
                <a:effectLst/>
                <a:latin typeface="Nazanin" panose="00000400000000000000" pitchFamily="2" charset="-78"/>
                <a:ea typeface="Times New Roman" panose="02020603050405020304" pitchFamily="18" charset="0"/>
                <a:cs typeface="B Nazanin" panose="00000400000000000000" pitchFamily="2" charset="-78"/>
              </a:rPr>
              <a:t>اندازه پیام یا ثابت است یا متغیر</a:t>
            </a:r>
            <a:r>
              <a:rPr lang="en-US" sz="2800" dirty="0">
                <a:solidFill>
                  <a:srgbClr val="1F1F1F"/>
                </a:solidFill>
                <a:effectLst/>
                <a:latin typeface="Nazanin" panose="00000400000000000000" pitchFamily="2" charset="-78"/>
                <a:ea typeface="Times New Roman" panose="02020603050405020304" pitchFamily="18" charset="0"/>
                <a:cs typeface="B Nazanin" panose="00000400000000000000" pitchFamily="2" charset="-78"/>
              </a:rPr>
              <a:t>.</a:t>
            </a:r>
            <a:endParaRPr lang="en-US" sz="2800" dirty="0">
              <a:effectLst/>
              <a:latin typeface="Nazanin" panose="00000400000000000000" pitchFamily="2" charset="-78"/>
              <a:ea typeface="Calibri" panose="020F0502020204030204" pitchFamily="34" charset="0"/>
              <a:cs typeface="B Nazanin" panose="00000400000000000000" pitchFamily="2" charset="-78"/>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833C5ED-B4D0-4EF0-A04C-582581174B0B}"/>
              </a:ext>
            </a:extLst>
          </p:cNvPr>
          <p:cNvSpPr>
            <a:spLocks noGrp="1" noChangeArrowheads="1"/>
          </p:cNvSpPr>
          <p:nvPr>
            <p:ph type="title"/>
          </p:nvPr>
        </p:nvSpPr>
        <p:spPr>
          <a:xfrm>
            <a:off x="1006475" y="220663"/>
            <a:ext cx="7997825" cy="576262"/>
          </a:xfrm>
        </p:spPr>
        <p:txBody>
          <a:bodyPr/>
          <a:lstStyle/>
          <a:p>
            <a:pPr eaLnBrk="1" hangingPunct="1"/>
            <a:r>
              <a:rPr lang="en-US" altLang="en-US" dirty="0"/>
              <a:t>Message Passing (Cont.)</a:t>
            </a:r>
          </a:p>
        </p:txBody>
      </p:sp>
      <p:sp>
        <p:nvSpPr>
          <p:cNvPr id="77827" name="Rectangle 3">
            <a:extLst>
              <a:ext uri="{FF2B5EF4-FFF2-40B4-BE49-F238E27FC236}">
                <a16:creationId xmlns:a16="http://schemas.microsoft.com/office/drawing/2014/main" id="{BA6A6236-9FD7-4CF5-AFB2-3C81D1F5DE97}"/>
              </a:ext>
            </a:extLst>
          </p:cNvPr>
          <p:cNvSpPr>
            <a:spLocks noGrp="1" noChangeArrowheads="1"/>
          </p:cNvSpPr>
          <p:nvPr>
            <p:ph type="body" idx="1"/>
          </p:nvPr>
        </p:nvSpPr>
        <p:spPr>
          <a:xfrm>
            <a:off x="293512" y="1016001"/>
            <a:ext cx="8353778" cy="4674936"/>
          </a:xfrm>
        </p:spPr>
        <p:txBody>
          <a:bodyPr/>
          <a:lstStyle/>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اگر فرایندهای</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P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Q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بخواهند با هم ارتباط برقرار کنند، باید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0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یک </a:t>
            </a: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لینک ارتباطی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بین خود </a:t>
            </a: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ایجاد</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کنند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0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پیام ها را از طریق ارسال/دریافت رد و بدل کنند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0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مسائل پیاده سازی</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لینک ها چگونه ایجاد می شوند؟</a:t>
            </a:r>
            <a:endParaRPr lang="en-US" sz="20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آیا یک لینک را می توان با بیش از دو فرایند مرتبط کرد؟</a:t>
            </a:r>
            <a:endParaRPr lang="en-US" sz="20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چند لینک می تواند بین هر جفت از فرایندهای در حال ارتباط وجود داشته باشد؟</a:t>
            </a:r>
            <a:endParaRPr lang="en-US" sz="20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ظرفیت یک لینک چقدر است؟</a:t>
            </a:r>
            <a:endParaRPr lang="en-US" sz="20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اندازه پیامی که لینک می تواند تحمل کند ثابت است یا متغیر؟</a:t>
            </a:r>
            <a:endParaRPr lang="en-US" sz="20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یک لینک یک طرفه است یا دو طرفه؟</a:t>
            </a:r>
            <a:endParaRPr lang="en-US" sz="20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457200" marR="0" lvl="1" indent="0" algn="r" rtl="1">
              <a:lnSpc>
                <a:spcPct val="107000"/>
              </a:lnSpc>
              <a:spcBef>
                <a:spcPts val="0"/>
              </a:spcBef>
              <a:spcAft>
                <a:spcPts val="800"/>
              </a:spcAft>
              <a:buNone/>
              <a:tabLst>
                <a:tab pos="914400" algn="l"/>
              </a:tabLst>
            </a:pPr>
            <a:endParaRPr lang="en-US" sz="2000" dirty="0">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381AC626-0A50-457E-ACC9-A83EC0103DD7}"/>
              </a:ext>
            </a:extLst>
          </p:cNvPr>
          <p:cNvSpPr>
            <a:spLocks noGrp="1" noChangeArrowheads="1"/>
          </p:cNvSpPr>
          <p:nvPr>
            <p:ph type="title"/>
          </p:nvPr>
        </p:nvSpPr>
        <p:spPr>
          <a:xfrm>
            <a:off x="979488" y="130757"/>
            <a:ext cx="8061325" cy="576262"/>
          </a:xfrm>
        </p:spPr>
        <p:txBody>
          <a:bodyPr/>
          <a:lstStyle/>
          <a:p>
            <a:pPr eaLnBrk="1" hangingPunct="1"/>
            <a:r>
              <a:rPr lang="en-US" altLang="en-US" sz="3000" dirty="0"/>
              <a:t>Implementation of Communication Link</a:t>
            </a:r>
          </a:p>
        </p:txBody>
      </p:sp>
      <p:sp>
        <p:nvSpPr>
          <p:cNvPr id="79875" name="Rectangle 3">
            <a:extLst>
              <a:ext uri="{FF2B5EF4-FFF2-40B4-BE49-F238E27FC236}">
                <a16:creationId xmlns:a16="http://schemas.microsoft.com/office/drawing/2014/main" id="{1D1C4DEC-BA4C-4FF4-8D99-3F8564557894}"/>
              </a:ext>
            </a:extLst>
          </p:cNvPr>
          <p:cNvSpPr>
            <a:spLocks noGrp="1" noChangeArrowheads="1"/>
          </p:cNvSpPr>
          <p:nvPr>
            <p:ph type="body" idx="1"/>
          </p:nvPr>
        </p:nvSpPr>
        <p:spPr>
          <a:xfrm>
            <a:off x="901700" y="785813"/>
            <a:ext cx="7694613" cy="4530725"/>
          </a:xfrm>
        </p:spPr>
        <p:txBody>
          <a:bodyPr/>
          <a:lstStyle/>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فیزیکی</a:t>
            </a:r>
            <a:r>
              <a:rPr lang="en-US" sz="2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حافظه مشترک</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باس سخت افزار</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شبکه</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منطقی</a:t>
            </a:r>
            <a:r>
              <a:rPr lang="en-US" sz="2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مستقیم یا غیرمستقیم</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fa-IR"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ارتباط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همزمان یا ناهمزمان</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بافرگیری خودکار یا صریح</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942199CC-6297-4236-868D-6C51816630C7}"/>
              </a:ext>
            </a:extLst>
          </p:cNvPr>
          <p:cNvSpPr>
            <a:spLocks noGrp="1" noChangeArrowheads="1"/>
          </p:cNvSpPr>
          <p:nvPr>
            <p:ph type="title"/>
          </p:nvPr>
        </p:nvSpPr>
        <p:spPr>
          <a:xfrm>
            <a:off x="457200" y="149139"/>
            <a:ext cx="8229600" cy="576262"/>
          </a:xfrm>
        </p:spPr>
        <p:txBody>
          <a:bodyPr/>
          <a:lstStyle/>
          <a:p>
            <a:pPr eaLnBrk="1" hangingPunct="1"/>
            <a:r>
              <a:rPr lang="fa-IR" altLang="en-US" dirty="0">
                <a:cs typeface="B Nazanin" panose="00000400000000000000" pitchFamily="2" charset="-78"/>
              </a:rPr>
              <a:t>ارتباط مستقیم</a:t>
            </a:r>
            <a:endParaRPr lang="en-US" altLang="en-US" dirty="0">
              <a:cs typeface="B Nazanin" panose="00000400000000000000" pitchFamily="2" charset="-78"/>
            </a:endParaRPr>
          </a:p>
        </p:txBody>
      </p:sp>
      <p:sp>
        <p:nvSpPr>
          <p:cNvPr id="3" name="Text Placeholder 2">
            <a:extLst>
              <a:ext uri="{FF2B5EF4-FFF2-40B4-BE49-F238E27FC236}">
                <a16:creationId xmlns:a16="http://schemas.microsoft.com/office/drawing/2014/main" id="{37AB9A74-B6C2-4350-879E-CFD734BAF641}"/>
              </a:ext>
            </a:extLst>
          </p:cNvPr>
          <p:cNvSpPr>
            <a:spLocks noGrp="1" noChangeArrowheads="1"/>
          </p:cNvSpPr>
          <p:nvPr>
            <p:ph type="body" idx="1"/>
          </p:nvPr>
        </p:nvSpPr>
        <p:spPr bwMode="auto">
          <a:xfrm>
            <a:off x="540497" y="810385"/>
            <a:ext cx="8146303" cy="50629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0" bIns="0" numCol="1" anchor="ctr" anchorCtr="0" compatLnSpc="1">
            <a:prstTxWarp prst="textNoShape">
              <a:avLst/>
            </a:prstTxWarp>
            <a:spAutoFit/>
          </a:bodyPr>
          <a:lstStyle/>
          <a:p>
            <a:pPr algn="r" rtl="1">
              <a:spcBef>
                <a:spcPct val="0"/>
              </a:spcBef>
              <a:buClrTx/>
              <a:buSzTx/>
            </a:pPr>
            <a:r>
              <a:rPr kumimoji="0" lang="ar-SA" altLang="en-US" sz="2800" b="0" i="0" u="none" strike="noStrike" cap="none" normalizeH="0" baseline="0" dirty="0">
                <a:ln>
                  <a:noFill/>
                </a:ln>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فرایندها باید یکدیگر را به طور واضح نامگذاری کنند</a:t>
            </a:r>
            <a:r>
              <a:rPr kumimoji="0" lang="en-US" altLang="en-US" sz="2800" b="0" i="0" u="none" strike="noStrike" cap="none" normalizeH="0" baseline="0" dirty="0">
                <a:ln>
                  <a:noFill/>
                </a:ln>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kumimoji="0" lang="en-US" altLang="en-US" sz="1050" b="0" i="0" u="none" strike="noStrike" cap="none" normalizeH="0" baseline="0" dirty="0">
              <a:ln>
                <a:noFill/>
              </a:ln>
              <a:solidFill>
                <a:schemeClr val="tx1"/>
              </a:solidFill>
              <a:effectLst/>
              <a:cs typeface="B Nazanin" panose="00000400000000000000" pitchFamily="2" charset="-78"/>
            </a:endParaRPr>
          </a:p>
          <a:p>
            <a:pPr lvl="1"/>
            <a:r>
              <a:rPr lang="en-US" altLang="en-US" sz="2000" b="1" dirty="0">
                <a:latin typeface="Courier New" panose="02070309020205020404" pitchFamily="49" charset="0"/>
                <a:cs typeface="B Nazanin" panose="00000400000000000000" pitchFamily="2" charset="-78"/>
              </a:rPr>
              <a:t>send</a:t>
            </a:r>
            <a:r>
              <a:rPr lang="en-US" altLang="en-US" sz="2000" dirty="0">
                <a:cs typeface="B Nazanin" panose="00000400000000000000" pitchFamily="2" charset="-78"/>
              </a:rPr>
              <a:t> (</a:t>
            </a:r>
            <a:r>
              <a:rPr lang="en-US" altLang="en-US" sz="2000" i="1" dirty="0">
                <a:cs typeface="B Nazanin" panose="00000400000000000000" pitchFamily="2" charset="-78"/>
              </a:rPr>
              <a:t>P, message</a:t>
            </a:r>
            <a:r>
              <a:rPr lang="en-US" altLang="en-US" sz="2000" dirty="0">
                <a:cs typeface="B Nazanin" panose="00000400000000000000" pitchFamily="2" charset="-78"/>
              </a:rPr>
              <a:t>) – P</a:t>
            </a:r>
            <a:r>
              <a:rPr lang="fa-IR" altLang="en-US" sz="2000" dirty="0">
                <a:cs typeface="B Nazanin" panose="00000400000000000000" pitchFamily="2" charset="-78"/>
              </a:rPr>
              <a:t>ارسال یک پیام به فرایند</a:t>
            </a:r>
            <a:endParaRPr lang="en-US" altLang="en-US" sz="2000" dirty="0">
              <a:cs typeface="B Nazanin" panose="00000400000000000000" pitchFamily="2" charset="-78"/>
            </a:endParaRPr>
          </a:p>
          <a:p>
            <a:pPr lvl="1"/>
            <a:r>
              <a:rPr lang="en-US" altLang="en-US" sz="2000" b="1" dirty="0">
                <a:latin typeface="Courier New" panose="02070309020205020404" pitchFamily="49" charset="0"/>
                <a:cs typeface="B Nazanin" panose="00000400000000000000" pitchFamily="2" charset="-78"/>
              </a:rPr>
              <a:t>receive</a:t>
            </a:r>
            <a:r>
              <a:rPr lang="en-US" altLang="en-US" sz="2000" dirty="0">
                <a:cs typeface="B Nazanin" panose="00000400000000000000" pitchFamily="2" charset="-78"/>
              </a:rPr>
              <a:t>(</a:t>
            </a:r>
            <a:r>
              <a:rPr lang="en-US" altLang="en-US" sz="2000" i="1" dirty="0">
                <a:cs typeface="B Nazanin" panose="00000400000000000000" pitchFamily="2" charset="-78"/>
              </a:rPr>
              <a:t>Q, message</a:t>
            </a:r>
            <a:r>
              <a:rPr lang="en-US" altLang="en-US" sz="2000" dirty="0">
                <a:cs typeface="B Nazanin" panose="00000400000000000000" pitchFamily="2" charset="-78"/>
              </a:rPr>
              <a:t>) – Q </a:t>
            </a:r>
            <a:r>
              <a:rPr lang="fa-IR" altLang="en-US" sz="2000" dirty="0">
                <a:cs typeface="B Nazanin" panose="00000400000000000000" pitchFamily="2" charset="-78"/>
              </a:rPr>
              <a:t>دریافت یک پیام از فرایند</a:t>
            </a:r>
            <a:endParaRPr lang="en-US" altLang="en-US" sz="2000" dirty="0">
              <a:cs typeface="B Nazanin" panose="00000400000000000000" pitchFamily="2" charset="-78"/>
            </a:endParaRPr>
          </a:p>
          <a:p>
            <a:pPr algn="r" rtl="1">
              <a:spcBef>
                <a:spcPct val="0"/>
              </a:spcBef>
              <a:buClrTx/>
              <a:buSzTx/>
            </a:pPr>
            <a:endParaRPr kumimoji="0" lang="en-US" altLang="en-US" sz="3600" b="1" i="0" u="none" strike="noStrike" cap="none" normalizeH="0" baseline="0" dirty="0">
              <a:ln>
                <a:noFill/>
              </a:ln>
              <a:solidFill>
                <a:srgbClr val="1F1F1F"/>
              </a:solidFill>
              <a:effectLst/>
              <a:latin typeface="Arial" panose="020B0604020202020204" pitchFamily="34" charset="0"/>
              <a:ea typeface="Times New Roman" panose="02020603050405020304" pitchFamily="18" charset="0"/>
              <a:cs typeface="B Nazanin" panose="00000400000000000000" pitchFamily="2" charset="-78"/>
            </a:endParaRPr>
          </a:p>
          <a:p>
            <a:pPr algn="r" rtl="1">
              <a:spcBef>
                <a:spcPct val="0"/>
              </a:spcBef>
              <a:buClrTx/>
              <a:buSzTx/>
            </a:pPr>
            <a:r>
              <a:rPr kumimoji="0" lang="ar-SA" altLang="en-US" sz="3200" b="1" i="0" u="none" strike="noStrike" cap="none" normalizeH="0" baseline="0" dirty="0">
                <a:ln>
                  <a:noFill/>
                </a:ln>
                <a:solidFill>
                  <a:srgbClr val="CC6600"/>
                </a:solidFill>
                <a:effectLst/>
                <a:latin typeface="Arial" panose="020B0604020202020204" pitchFamily="34" charset="0"/>
                <a:ea typeface="Times New Roman" panose="02020603050405020304" pitchFamily="18" charset="0"/>
                <a:cs typeface="B Nazanin" panose="00000400000000000000" pitchFamily="2" charset="-78"/>
              </a:rPr>
              <a:t>ویژگی های لینک ارتباطی</a:t>
            </a:r>
            <a:endParaRPr kumimoji="0" lang="en-US" altLang="en-US" sz="3200" b="1" i="0" u="none" strike="noStrike" cap="none" normalizeH="0" baseline="0" dirty="0">
              <a:ln>
                <a:noFill/>
              </a:ln>
              <a:solidFill>
                <a:srgbClr val="CC6600"/>
              </a:solidFill>
              <a:effectLst/>
              <a:ea typeface="Times New Roman" panose="02020603050405020304" pitchFamily="18" charset="0"/>
              <a:cs typeface="B Nazanin" panose="00000400000000000000" pitchFamily="2" charset="-78"/>
            </a:endParaRPr>
          </a:p>
          <a:p>
            <a:pPr marL="400050" lvl="1" indent="0" algn="r" rtl="1">
              <a:spcBef>
                <a:spcPct val="0"/>
              </a:spcBef>
              <a:buClrTx/>
              <a:buSzTx/>
              <a:buFontTx/>
              <a:buChar char="•"/>
            </a:pPr>
            <a:r>
              <a:rPr kumimoji="0" lang="ar-SA" altLang="en-US" sz="2800" b="1"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لینک ها به طور خودکار </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ایجاد می شوند</a:t>
            </a:r>
            <a:r>
              <a:rPr kumimoji="0" lang="en-US"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kumimoji="0" lang="en-US" altLang="en-US" sz="2000"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400050" lvl="1" indent="0" algn="r" rtl="1">
              <a:spcBef>
                <a:spcPct val="0"/>
              </a:spcBef>
              <a:buClrTx/>
              <a:buSzTx/>
              <a:buFontTx/>
              <a:buChar char="•"/>
            </a:pP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یک </a:t>
            </a:r>
            <a:r>
              <a:rPr kumimoji="0" lang="ar-SA" altLang="en-US" sz="2800" b="1"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لینک</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دقیقاً </a:t>
            </a:r>
            <a:r>
              <a:rPr kumimoji="0" lang="fa-IR"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به</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a:t>
            </a:r>
            <a:r>
              <a:rPr kumimoji="0" lang="ar-SA" altLang="en-US" sz="2800" b="1"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یک</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a:t>
            </a:r>
            <a:r>
              <a:rPr kumimoji="0" lang="ar-SA" altLang="en-US" sz="2800" b="1"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جفت</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از فرایندهای در حال ارتباط </a:t>
            </a:r>
            <a:r>
              <a:rPr kumimoji="0" lang="fa-IR"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وصل</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است</a:t>
            </a:r>
            <a:r>
              <a:rPr kumimoji="0" lang="en-US"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kumimoji="0" lang="en-US" altLang="en-US" sz="2000"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400050" lvl="1" indent="0" algn="r" rtl="1">
              <a:spcBef>
                <a:spcPct val="0"/>
              </a:spcBef>
              <a:buClrTx/>
              <a:buSzTx/>
              <a:buFontTx/>
              <a:buChar char="•"/>
            </a:pP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بین </a:t>
            </a:r>
            <a:r>
              <a:rPr kumimoji="0" lang="ar-SA" altLang="en-US" sz="2800" b="1"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هر</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a:t>
            </a:r>
            <a:r>
              <a:rPr kumimoji="0" lang="ar-SA" altLang="en-US" sz="2800" b="1"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جفت</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فقط یک </a:t>
            </a:r>
            <a:r>
              <a:rPr kumimoji="0" lang="ar-SA" altLang="en-US" sz="2800" b="1"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لینک</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وجود دارد</a:t>
            </a:r>
            <a:r>
              <a:rPr kumimoji="0" lang="en-US"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kumimoji="0" lang="en-US" altLang="en-US" sz="2000"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400050" lvl="1" indent="0" algn="r" rtl="1">
              <a:spcBef>
                <a:spcPct val="0"/>
              </a:spcBef>
              <a:buClrTx/>
              <a:buSzTx/>
              <a:buFontTx/>
              <a:buChar char="•"/>
            </a:pP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لینک </a:t>
            </a:r>
            <a:r>
              <a:rPr kumimoji="0" lang="ar-SA" altLang="en-US" sz="2800" b="1"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ممکن است یک طرفه </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باشد، اما </a:t>
            </a:r>
            <a:r>
              <a:rPr kumimoji="0" lang="ar-SA" altLang="en-US" sz="2800" b="1"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معمولاً دو طرفه </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است</a:t>
            </a:r>
            <a:r>
              <a:rPr kumimoji="0" lang="en-US"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kumimoji="0" lang="en-US" altLang="en-US" sz="1050" b="0" i="0" u="none" strike="noStrike" cap="none" normalizeH="0" baseline="0" dirty="0">
              <a:ln>
                <a:noFill/>
              </a:ln>
              <a:solidFill>
                <a:schemeClr val="tx1"/>
              </a:solidFill>
              <a:effectLst/>
              <a:cs typeface="B Nazanin" panose="00000400000000000000" pitchFamily="2" charset="-78"/>
            </a:endParaRPr>
          </a:p>
          <a:p>
            <a:pPr algn="r">
              <a:spcBef>
                <a:spcPct val="0"/>
              </a:spcBef>
              <a:buClrTx/>
              <a:buSzTx/>
            </a:pPr>
            <a:endParaRPr kumimoji="0" lang="en-US" altLang="en-US" sz="3600" b="0" i="0" u="none" strike="noStrike" cap="none" normalizeH="0" baseline="0" dirty="0">
              <a:ln>
                <a:noFill/>
              </a:ln>
              <a:solidFill>
                <a:schemeClr val="tx1"/>
              </a:solidFill>
              <a:effectLst/>
              <a:latin typeface="Arial" panose="020B0604020202020204" pitchFamily="34" charset="0"/>
              <a:cs typeface="B Nazanin" panose="00000400000000000000" pitchFamily="2" charset="-78"/>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1143D8FC-6F48-4E94-BF58-37342F331C98}"/>
              </a:ext>
            </a:extLst>
          </p:cNvPr>
          <p:cNvSpPr>
            <a:spLocks noGrp="1" noChangeArrowheads="1"/>
          </p:cNvSpPr>
          <p:nvPr>
            <p:ph type="title"/>
          </p:nvPr>
        </p:nvSpPr>
        <p:spPr>
          <a:xfrm>
            <a:off x="457200" y="130757"/>
            <a:ext cx="8229600" cy="576262"/>
          </a:xfrm>
        </p:spPr>
        <p:txBody>
          <a:bodyPr/>
          <a:lstStyle/>
          <a:p>
            <a:pPr eaLnBrk="1" hangingPunct="1"/>
            <a:r>
              <a:rPr lang="fa-IR" altLang="en-US" dirty="0">
                <a:cs typeface="B Nazanin" panose="00000400000000000000" pitchFamily="2" charset="-78"/>
              </a:rPr>
              <a:t>ارتباط غیر مستقیم</a:t>
            </a:r>
            <a:endParaRPr lang="en-US" altLang="en-US" dirty="0"/>
          </a:p>
        </p:txBody>
      </p:sp>
      <p:sp>
        <p:nvSpPr>
          <p:cNvPr id="83971" name="Rectangle 3">
            <a:extLst>
              <a:ext uri="{FF2B5EF4-FFF2-40B4-BE49-F238E27FC236}">
                <a16:creationId xmlns:a16="http://schemas.microsoft.com/office/drawing/2014/main" id="{DD569671-6F8E-4503-8E83-6B359504BFA7}"/>
              </a:ext>
            </a:extLst>
          </p:cNvPr>
          <p:cNvSpPr>
            <a:spLocks noGrp="1" noChangeArrowheads="1"/>
          </p:cNvSpPr>
          <p:nvPr>
            <p:ph type="body" idx="1"/>
          </p:nvPr>
        </p:nvSpPr>
        <p:spPr>
          <a:xfrm>
            <a:off x="319803" y="842962"/>
            <a:ext cx="8451663" cy="5670727"/>
          </a:xfrm>
        </p:spPr>
        <p:txBody>
          <a:bodyPr/>
          <a:lstStyle/>
          <a:p>
            <a:pPr marL="0" marR="0" algn="r" rtl="1"/>
            <a:r>
              <a:rPr lang="ar-SA" sz="28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پیام ها از صندوق</a:t>
            </a:r>
            <a:r>
              <a:rPr lang="fa-IR" sz="28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a:t>
            </a:r>
            <a:r>
              <a:rPr lang="ar-SA" sz="28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های پستی </a:t>
            </a:r>
            <a:r>
              <a:rPr lang="ar-SA"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(همچنین به عنوان </a:t>
            </a:r>
            <a:r>
              <a:rPr lang="ar-SA" sz="28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پورت</a:t>
            </a:r>
            <a:r>
              <a:rPr lang="ar-SA"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شناخته می شوند) هدایت و دریافت می شوند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هر </a:t>
            </a:r>
            <a:r>
              <a:rPr lang="ar-SA" sz="28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پورت</a:t>
            </a:r>
            <a:r>
              <a:rPr lang="fa-IR" sz="2800" dirty="0">
                <a:solidFill>
                  <a:srgbClr val="1F1F1F"/>
                </a:solidFill>
                <a:latin typeface="Calibri" panose="020F0502020204030204" pitchFamily="34" charset="0"/>
                <a:ea typeface="Calibri" panose="020F0502020204030204" pitchFamily="34" charset="0"/>
                <a:cs typeface="B Nazanin" panose="00000400000000000000" pitchFamily="2" charset="-78"/>
              </a:rPr>
              <a:t> </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یک </a:t>
            </a:r>
            <a:r>
              <a:rPr lang="ar-SA" sz="2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شناسه</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منحصر به فرد دارد</a:t>
            </a:r>
            <a:r>
              <a:rPr lang="en-US"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فرایندها فقط در صورتی می توانند ارتباط برقرار کنند که یک </a:t>
            </a:r>
            <a:r>
              <a:rPr lang="ar-SA" sz="28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پورت</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را به اشتراک بگذارند</a:t>
            </a:r>
            <a:r>
              <a:rPr lang="en-US"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r>
              <a:rPr lang="ar-SA" sz="28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ویژگی های لینک ارتباطی (مدل </a:t>
            </a:r>
            <a:r>
              <a:rPr lang="fa-IR" sz="2800" b="1" dirty="0">
                <a:solidFill>
                  <a:srgbClr val="1F1F1F"/>
                </a:solidFill>
                <a:latin typeface="Times New Roman" panose="02020603050405020304" pitchFamily="18" charset="0"/>
                <a:ea typeface="Times New Roman" panose="02020603050405020304" pitchFamily="18" charset="0"/>
                <a:cs typeface="B Nazanin" panose="00000400000000000000" pitchFamily="2" charset="-78"/>
              </a:rPr>
              <a:t>پورت</a:t>
            </a:r>
            <a:r>
              <a:rPr lang="ar-SA" sz="28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b="1" dirty="0">
              <a:effectLst/>
              <a:latin typeface="Times New Roman" panose="02020603050405020304" pitchFamily="18" charset="0"/>
              <a:ea typeface="Times New Roman" panose="02020603050405020304" pitchFamily="18"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لینک</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فقط در صورتی </a:t>
            </a:r>
            <a:r>
              <a:rPr lang="ar-SA" sz="2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برقرار</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می شود که فرایندها یک </a:t>
            </a:r>
            <a:r>
              <a:rPr lang="fa-IR" sz="2800" b="1" dirty="0">
                <a:solidFill>
                  <a:srgbClr val="1F1F1F"/>
                </a:solidFill>
                <a:latin typeface="Calibri" panose="020F0502020204030204" pitchFamily="34" charset="0"/>
                <a:ea typeface="Calibri" panose="020F0502020204030204" pitchFamily="34" charset="0"/>
                <a:cs typeface="B Nazanin" panose="00000400000000000000" pitchFamily="2" charset="-78"/>
              </a:rPr>
              <a:t>پورت </a:t>
            </a:r>
            <a:r>
              <a:rPr lang="ar-SA" sz="2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مشترک </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داشته باشند</a:t>
            </a:r>
            <a:r>
              <a:rPr lang="en-US"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یک </a:t>
            </a:r>
            <a:r>
              <a:rPr lang="ar-SA" sz="2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لینک</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ممکن است با </a:t>
            </a:r>
            <a:r>
              <a:rPr lang="ar-SA" sz="2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چندین فرایند </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مرتبط باشد</a:t>
            </a:r>
            <a:r>
              <a:rPr lang="en-US"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هر </a:t>
            </a:r>
            <a:r>
              <a:rPr lang="ar-SA" sz="2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جفت از فرایندها </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ممکن است </a:t>
            </a:r>
            <a:r>
              <a:rPr lang="ar-SA" sz="2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چندین لینک ارتباطی </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را به اشتراک بگذارند</a:t>
            </a:r>
            <a:r>
              <a:rPr lang="en-US"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لینک ممکن است یک طرفه یا دو طرفه باشد</a:t>
            </a:r>
            <a:r>
              <a:rPr lang="en-US"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
            <a:extLst>
              <a:ext uri="{FF2B5EF4-FFF2-40B4-BE49-F238E27FC236}">
                <a16:creationId xmlns:a16="http://schemas.microsoft.com/office/drawing/2014/main" id="{34E55BDD-A170-4015-BADB-B0ED48E46AEA}"/>
              </a:ext>
            </a:extLst>
          </p:cNvPr>
          <p:cNvSpPr>
            <a:spLocks noGrp="1" noChangeArrowheads="1"/>
          </p:cNvSpPr>
          <p:nvPr>
            <p:ph type="body" idx="1"/>
          </p:nvPr>
        </p:nvSpPr>
        <p:spPr>
          <a:xfrm>
            <a:off x="225778" y="1135063"/>
            <a:ext cx="8192735" cy="3821112"/>
          </a:xfrm>
        </p:spPr>
        <p:txBody>
          <a:bodyPr/>
          <a:lstStyle/>
          <a:p>
            <a:pPr marL="0" marR="0" algn="r" rtl="1">
              <a:lnSpc>
                <a:spcPct val="107000"/>
              </a:lnSpc>
              <a:spcBef>
                <a:spcPts val="0"/>
              </a:spcBef>
              <a:spcAft>
                <a:spcPts val="800"/>
              </a:spcAf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عملیات</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ایجاد</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یک </a:t>
            </a:r>
            <a:r>
              <a:rPr lang="fa-IR"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پورت</a:t>
            </a:r>
            <a:r>
              <a:rPr lang="fa-IR"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یا صندوق پستی جدید</a:t>
            </a:r>
            <a:endParaRPr lang="en-US"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ارسال</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و </a:t>
            </a: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دریافت</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a:t>
            </a: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پیام</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از طریق </a:t>
            </a:r>
            <a:r>
              <a:rPr lang="fa-IR"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پورت</a:t>
            </a:r>
            <a:endParaRPr lang="en-US"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حذف</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یک </a:t>
            </a:r>
            <a:r>
              <a:rPr lang="fa-IR"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پورت</a:t>
            </a:r>
            <a:endParaRPr lang="en-US"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عملگرهای ابتدایی به صورت زیر تعریف می شوند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lvl="1"/>
            <a:r>
              <a:rPr lang="en-US" altLang="en-US" sz="2400" b="1" dirty="0">
                <a:latin typeface="Courier New" panose="02070309020205020404" pitchFamily="49" charset="0"/>
              </a:rPr>
              <a:t>send</a:t>
            </a:r>
            <a:r>
              <a:rPr lang="en-US" altLang="en-US" sz="2400" dirty="0"/>
              <a:t>(</a:t>
            </a:r>
            <a:r>
              <a:rPr lang="en-US" altLang="en-US" sz="2400" i="1" dirty="0"/>
              <a:t>A, message</a:t>
            </a:r>
            <a:r>
              <a:rPr lang="en-US" altLang="en-US" sz="2400" dirty="0"/>
              <a:t>) – send a message to port A</a:t>
            </a:r>
          </a:p>
          <a:p>
            <a:pPr lvl="1"/>
            <a:r>
              <a:rPr lang="en-US" altLang="en-US" sz="2400" b="1" dirty="0">
                <a:latin typeface="Courier New" panose="02070309020205020404" pitchFamily="49" charset="0"/>
              </a:rPr>
              <a:t>receive</a:t>
            </a:r>
            <a:r>
              <a:rPr lang="en-US" altLang="en-US" sz="2400" dirty="0"/>
              <a:t>(</a:t>
            </a:r>
            <a:r>
              <a:rPr lang="en-US" altLang="en-US" sz="2400" i="1" dirty="0"/>
              <a:t>A, message</a:t>
            </a:r>
            <a:r>
              <a:rPr lang="en-US" altLang="en-US" sz="2400" dirty="0"/>
              <a:t>) – receive a message from port A</a:t>
            </a:r>
          </a:p>
        </p:txBody>
      </p:sp>
      <p:sp>
        <p:nvSpPr>
          <p:cNvPr id="86019" name="Rectangle 2">
            <a:extLst>
              <a:ext uri="{FF2B5EF4-FFF2-40B4-BE49-F238E27FC236}">
                <a16:creationId xmlns:a16="http://schemas.microsoft.com/office/drawing/2014/main" id="{5F04958A-396F-4A7F-8CBA-0260CD19660B}"/>
              </a:ext>
            </a:extLst>
          </p:cNvPr>
          <p:cNvSpPr>
            <a:spLocks noGrp="1" noChangeArrowheads="1"/>
          </p:cNvSpPr>
          <p:nvPr>
            <p:ph type="title"/>
          </p:nvPr>
        </p:nvSpPr>
        <p:spPr>
          <a:xfrm>
            <a:off x="1234572" y="141201"/>
            <a:ext cx="7947025" cy="576263"/>
          </a:xfrm>
        </p:spPr>
        <p:txBody>
          <a:bodyPr/>
          <a:lstStyle/>
          <a:p>
            <a:pPr eaLnBrk="1" hangingPunct="1"/>
            <a:r>
              <a:rPr lang="fa-IR" altLang="en-US" dirty="0">
                <a:cs typeface="B Nazanin" panose="00000400000000000000" pitchFamily="2" charset="-78"/>
              </a:rPr>
              <a:t>ارتباط غیر مستقیم</a:t>
            </a:r>
            <a:r>
              <a:rPr lang="en-US" altLang="en-US" dirty="0">
                <a:cs typeface="B Nazanin" panose="00000400000000000000" pitchFamily="2" charset="-78"/>
              </a:rPr>
              <a:t> </a:t>
            </a:r>
            <a:r>
              <a:rPr lang="fa-IR" altLang="en-US" dirty="0">
                <a:cs typeface="B Nazanin" panose="00000400000000000000" pitchFamily="2" charset="-78"/>
              </a:rPr>
              <a:t>(ادامه)</a:t>
            </a:r>
            <a:endParaRPr lang="en-US" altLang="en-US" dirty="0"/>
          </a:p>
        </p:txBody>
      </p:sp>
      <p:pic>
        <p:nvPicPr>
          <p:cNvPr id="3074" name="Picture 2" descr="clip_image006">
            <a:extLst>
              <a:ext uri="{FF2B5EF4-FFF2-40B4-BE49-F238E27FC236}">
                <a16:creationId xmlns:a16="http://schemas.microsoft.com/office/drawing/2014/main" id="{84CF8DD1-F3D0-4B59-975A-0088FB6645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327" y="1034619"/>
            <a:ext cx="3003805" cy="16865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a:extLst>
              <a:ext uri="{FF2B5EF4-FFF2-40B4-BE49-F238E27FC236}">
                <a16:creationId xmlns:a16="http://schemas.microsoft.com/office/drawing/2014/main" id="{97701EB2-5660-4646-90DB-5F302502B1C7}"/>
              </a:ext>
            </a:extLst>
          </p:cNvPr>
          <p:cNvSpPr>
            <a:spLocks noGrp="1" noChangeArrowheads="1"/>
          </p:cNvSpPr>
          <p:nvPr>
            <p:ph type="body" idx="1"/>
          </p:nvPr>
        </p:nvSpPr>
        <p:spPr>
          <a:xfrm>
            <a:off x="383823" y="1127125"/>
            <a:ext cx="8161866" cy="5307542"/>
          </a:xfrm>
        </p:spPr>
        <p:txBody>
          <a:bodyPr/>
          <a:lstStyle/>
          <a:p>
            <a:pPr marL="0" marR="0" algn="r" rtl="1">
              <a:lnSpc>
                <a:spcPct val="107000"/>
              </a:lnSpc>
              <a:spcBef>
                <a:spcPts val="0"/>
              </a:spcBef>
              <a:spcAft>
                <a:spcPts val="800"/>
              </a:spcAf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اشتراک </a:t>
            </a:r>
            <a:r>
              <a:rPr lang="fa-IR"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پورت</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400050" lvl="1" algn="r" rtl="1">
              <a:lnSpc>
                <a:spcPct val="107000"/>
              </a:lnSpc>
              <a:spcBef>
                <a:spcPts val="0"/>
              </a:spcBef>
              <a:spcAft>
                <a:spcPts val="800"/>
              </a:spcAf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فرض کنید سه فرایند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P1</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P2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P3 </a:t>
            </a:r>
            <a:r>
              <a:rPr lang="fa-IR"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پورت </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را به اشتراک می گذارند</a:t>
            </a:r>
            <a:endParaRPr lang="fa-IR"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a:p>
            <a:pPr marL="400050" lvl="1" algn="r" rtl="1">
              <a:lnSpc>
                <a:spcPct val="107000"/>
              </a:lnSpc>
              <a:spcBef>
                <a:spcPts val="0"/>
              </a:spcBef>
              <a:spcAft>
                <a:spcPts val="800"/>
              </a:spcAft>
            </a:pP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P1 </a:t>
            </a:r>
            <a:r>
              <a:rPr lang="fa-IR"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ارسال می کند؛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P2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P3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دریافت می کنند.</a:t>
            </a:r>
            <a:endParaRPr lang="fa-IR"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a:p>
            <a:pPr marL="400050" lvl="1" algn="r" rtl="1">
              <a:lnSpc>
                <a:spcPct val="107000"/>
              </a:lnSpc>
              <a:spcBef>
                <a:spcPts val="0"/>
              </a:spcBef>
              <a:spcAft>
                <a:spcPts val="800"/>
              </a:spcAf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a:t>
            </a:r>
            <a:r>
              <a:rPr lang="fa-IR"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مسئله: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چه کسی پیام را دریافت می کند؟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راه‌حل‌ها</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Font typeface="Wingdings" panose="05000000000000000000" pitchFamily="2" charset="2"/>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اجازه دهید یک لینک حداکثر با دو فرآیند مرتبط باشد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Font typeface="Wingdings" panose="05000000000000000000" pitchFamily="2" charset="2"/>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فقط به </a:t>
            </a: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یک فرایند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در یک زمان اجازه دهید یک </a:t>
            </a: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عملیات دریافت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را اجرا کند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Font typeface="Wingdings" panose="05000000000000000000" pitchFamily="2" charset="2"/>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اجازه دهید </a:t>
            </a: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سیستم به طور دلخواه گیرنده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را </a:t>
            </a: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انتخاب</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a:t>
            </a: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کند</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a:t>
            </a: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فرستنده</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مطلع می شود که </a:t>
            </a: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گیرنده</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چه کسی بوده است</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p:txBody>
      </p:sp>
      <p:sp>
        <p:nvSpPr>
          <p:cNvPr id="88067" name="Rectangle 2">
            <a:extLst>
              <a:ext uri="{FF2B5EF4-FFF2-40B4-BE49-F238E27FC236}">
                <a16:creationId xmlns:a16="http://schemas.microsoft.com/office/drawing/2014/main" id="{24243AD7-0317-465B-AB50-5EC00B8ABFD8}"/>
              </a:ext>
            </a:extLst>
          </p:cNvPr>
          <p:cNvSpPr>
            <a:spLocks noGrp="1" noChangeArrowheads="1"/>
          </p:cNvSpPr>
          <p:nvPr>
            <p:ph type="title"/>
          </p:nvPr>
        </p:nvSpPr>
        <p:spPr>
          <a:xfrm>
            <a:off x="976985" y="129169"/>
            <a:ext cx="8058734" cy="576263"/>
          </a:xfrm>
        </p:spPr>
        <p:txBody>
          <a:bodyPr/>
          <a:lstStyle/>
          <a:p>
            <a:pPr eaLnBrk="1" hangingPunct="1"/>
            <a:r>
              <a:rPr lang="fa-IR" altLang="en-US" dirty="0">
                <a:cs typeface="B Nazanin" panose="00000400000000000000" pitchFamily="2" charset="-78"/>
              </a:rPr>
              <a:t>ارتباط غیر مستقیم</a:t>
            </a:r>
            <a:r>
              <a:rPr lang="en-US" altLang="en-US" dirty="0">
                <a:cs typeface="B Nazanin" panose="00000400000000000000" pitchFamily="2" charset="-78"/>
              </a:rPr>
              <a:t> </a:t>
            </a:r>
            <a:r>
              <a:rPr lang="fa-IR" altLang="en-US" dirty="0">
                <a:cs typeface="B Nazanin" panose="00000400000000000000" pitchFamily="2" charset="-78"/>
              </a:rPr>
              <a:t>(ادامه)</a:t>
            </a:r>
            <a:endParaRPr lang="en-US" altLang="en-US" dirty="0"/>
          </a:p>
        </p:txBody>
      </p:sp>
      <p:pic>
        <p:nvPicPr>
          <p:cNvPr id="2050" name="Picture 2" descr="clip_image002">
            <a:extLst>
              <a:ext uri="{FF2B5EF4-FFF2-40B4-BE49-F238E27FC236}">
                <a16:creationId xmlns:a16="http://schemas.microsoft.com/office/drawing/2014/main" id="{AC0F76E7-803D-4DB5-89D6-CF68DD652E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124" y="2130358"/>
            <a:ext cx="1601355" cy="18089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66DE404-CE0D-4099-B2D8-AC3784357141}"/>
              </a:ext>
            </a:extLst>
          </p:cNvPr>
          <p:cNvSpPr>
            <a:spLocks noGrp="1" noChangeArrowheads="1"/>
          </p:cNvSpPr>
          <p:nvPr>
            <p:ph type="title"/>
          </p:nvPr>
        </p:nvSpPr>
        <p:spPr>
          <a:xfrm>
            <a:off x="457200" y="115550"/>
            <a:ext cx="8229600" cy="576262"/>
          </a:xfrm>
        </p:spPr>
        <p:txBody>
          <a:bodyPr/>
          <a:lstStyle/>
          <a:p>
            <a:pPr eaLnBrk="1" hangingPunct="1"/>
            <a:r>
              <a:rPr lang="en-US" altLang="en-US" dirty="0">
                <a:cs typeface="B Nazanin" panose="00000400000000000000" pitchFamily="2" charset="-78"/>
              </a:rPr>
              <a:t>Synchronization</a:t>
            </a:r>
            <a:r>
              <a:rPr lang="fa-IR" altLang="en-US" dirty="0">
                <a:cs typeface="B Nazanin" panose="00000400000000000000" pitchFamily="2" charset="-78"/>
              </a:rPr>
              <a:t>همگامی </a:t>
            </a:r>
            <a:endParaRPr lang="en-US" altLang="en-US" dirty="0">
              <a:cs typeface="B Nazanin" panose="00000400000000000000" pitchFamily="2" charset="-78"/>
            </a:endParaRPr>
          </a:p>
        </p:txBody>
      </p:sp>
      <p:sp>
        <p:nvSpPr>
          <p:cNvPr id="44035" name="Rectangle 3">
            <a:extLst>
              <a:ext uri="{FF2B5EF4-FFF2-40B4-BE49-F238E27FC236}">
                <a16:creationId xmlns:a16="http://schemas.microsoft.com/office/drawing/2014/main" id="{67B9D991-600B-415B-8F62-A95ED2FAF9E0}"/>
              </a:ext>
            </a:extLst>
          </p:cNvPr>
          <p:cNvSpPr>
            <a:spLocks noGrp="1" noChangeArrowheads="1"/>
          </p:cNvSpPr>
          <p:nvPr>
            <p:ph type="body" idx="1"/>
          </p:nvPr>
        </p:nvSpPr>
        <p:spPr>
          <a:xfrm>
            <a:off x="211016" y="851279"/>
            <a:ext cx="8542606" cy="5766961"/>
          </a:xfrm>
        </p:spPr>
        <p:txBody>
          <a:bodyPr/>
          <a:lstStyle/>
          <a:p>
            <a:pPr marL="0" marR="0" algn="r" rtl="1"/>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ارسال پیام ممکن است مسدود کننده یا غیرمسدود کننده باشد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000" dirty="0">
              <a:effectLst/>
              <a:latin typeface="Times New Roman" panose="02020603050405020304" pitchFamily="18" charset="0"/>
              <a:ea typeface="Times New Roman" panose="02020603050405020304" pitchFamily="18" charset="0"/>
              <a:cs typeface="B Nazanin" panose="00000400000000000000" pitchFamily="2" charset="-78"/>
            </a:endParaRPr>
          </a:p>
          <a:p>
            <a:pPr marL="0" marR="0" algn="r" rtl="1"/>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مسدود شدن به عنوان همزمان در نظر گرفته می شود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000" dirty="0">
              <a:effectLst/>
              <a:latin typeface="Times New Roman" panose="02020603050405020304" pitchFamily="18" charset="0"/>
              <a:ea typeface="Times New Roman" panose="02020603050405020304" pitchFamily="18"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ارسال مسدود کننده </a:t>
            </a: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فرستنده تا زمانی که پیام دریافت نشود مسدود می شود</a:t>
            </a:r>
            <a:r>
              <a:rPr lang="en-US" sz="24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r>
              <a:rPr lang="fa-IR" sz="24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 تا ارسال دیگری انجام نشود. </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دریافت مسدود کننده </a:t>
            </a: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گیرنده تا زمانی که پیامی در دسترس نباشد مسدود می شود</a:t>
            </a:r>
            <a:r>
              <a:rPr lang="en-US" sz="24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غیر مسدود شدن به عنوان ناهمزمان در نظر گرفته می شود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000" dirty="0">
              <a:effectLst/>
              <a:latin typeface="Times New Roman" panose="02020603050405020304" pitchFamily="18" charset="0"/>
              <a:ea typeface="Times New Roman" panose="02020603050405020304" pitchFamily="18"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ارسال غیر مسدود کننده </a:t>
            </a: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فرستنده پیام را ارسال می کند و ادامه می دهد</a:t>
            </a:r>
            <a:r>
              <a:rPr lang="en-US" sz="24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دریافت غیر مسدود کننده </a:t>
            </a: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گیرنده دریافت می کند</a:t>
            </a:r>
            <a:r>
              <a:rPr lang="en-US" sz="24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3"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یک </a:t>
            </a:r>
            <a:r>
              <a:rPr lang="ar-SA"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پیام معتبر</a:t>
            </a: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یا</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lvl="3"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پیام تهی</a:t>
            </a:r>
            <a:r>
              <a:rPr lang="en-US" sz="2400" b="1"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 </a:t>
            </a:r>
            <a:r>
              <a:rPr lang="en-US" sz="24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r>
              <a:rPr lang="en-US" sz="2400" u="sng"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null</a:t>
            </a:r>
            <a:r>
              <a:rPr lang="en-US" sz="24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ترکیب‌های مختلفی امکان‌پذیر است</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000" dirty="0">
              <a:effectLst/>
              <a:latin typeface="Times New Roman" panose="02020603050405020304" pitchFamily="18" charset="0"/>
              <a:ea typeface="Times New Roman" panose="02020603050405020304" pitchFamily="18" charset="0"/>
              <a:cs typeface="B Nazanin" panose="00000400000000000000" pitchFamily="2" charset="-78"/>
            </a:endParaRPr>
          </a:p>
          <a:p>
            <a:pPr lvl="1"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اگر هم ارسال و هم دریافت مسدود کننده باشند، یک دیدار</a:t>
            </a:r>
            <a:r>
              <a:rPr lang="en-US" sz="24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 (rendezvous) </a:t>
            </a: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داریم</a:t>
            </a:r>
            <a:r>
              <a:rPr lang="en-US" sz="24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p:txBody>
      </p:sp>
    </p:spTree>
    <p:extLst>
      <p:ext uri="{BB962C8B-B14F-4D97-AF65-F5344CB8AC3E}">
        <p14:creationId xmlns:p14="http://schemas.microsoft.com/office/powerpoint/2010/main" val="16159241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a:extLst>
              <a:ext uri="{FF2B5EF4-FFF2-40B4-BE49-F238E27FC236}">
                <a16:creationId xmlns:a16="http://schemas.microsoft.com/office/drawing/2014/main" id="{97701EB2-5660-4646-90DB-5F302502B1C7}"/>
              </a:ext>
            </a:extLst>
          </p:cNvPr>
          <p:cNvSpPr>
            <a:spLocks noGrp="1" noChangeArrowheads="1"/>
          </p:cNvSpPr>
          <p:nvPr>
            <p:ph type="body" idx="1"/>
          </p:nvPr>
        </p:nvSpPr>
        <p:spPr>
          <a:xfrm>
            <a:off x="253218" y="984737"/>
            <a:ext cx="8496887" cy="5584875"/>
          </a:xfrm>
        </p:spPr>
        <p:txBody>
          <a:bodyPr/>
          <a:lstStyle/>
          <a:p>
            <a:r>
              <a:rPr lang="en-US" altLang="en-US" sz="2400" b="1" dirty="0"/>
              <a:t>Producer</a:t>
            </a:r>
          </a:p>
          <a:p>
            <a:pPr>
              <a:spcBef>
                <a:spcPct val="0"/>
              </a:spcBef>
              <a:buClrTx/>
              <a:buSzTx/>
              <a:buFont typeface="Monotype Sorts" pitchFamily="-84" charset="2"/>
              <a:buNone/>
            </a:pPr>
            <a:r>
              <a:rPr lang="en-US" altLang="en-US" sz="2400" dirty="0">
                <a:cs typeface="Courier New" panose="02070309020205020404" pitchFamily="49" charset="0"/>
              </a:rPr>
              <a:t>           </a:t>
            </a:r>
            <a:r>
              <a:rPr kumimoji="0" lang="en-US" altLang="en-US" sz="2400" b="1" dirty="0">
                <a:latin typeface="Courier New" panose="02070309020205020404" pitchFamily="49" charset="0"/>
                <a:cs typeface="Courier New" panose="02070309020205020404" pitchFamily="49" charset="0"/>
              </a:rPr>
              <a:t>message</a:t>
            </a:r>
            <a:r>
              <a:rPr kumimoji="0" lang="en-US" altLang="en-US" sz="2400" dirty="0">
                <a:latin typeface="Courier New" panose="02070309020205020404" pitchFamily="49" charset="0"/>
                <a:cs typeface="Courier New" panose="02070309020205020404" pitchFamily="49" charset="0"/>
              </a:rPr>
              <a:t> next_produced;</a:t>
            </a:r>
            <a:br>
              <a:rPr kumimoji="0" lang="en-US" altLang="en-US" sz="2400" dirty="0">
                <a:latin typeface="Courier New" panose="02070309020205020404" pitchFamily="49" charset="0"/>
                <a:cs typeface="Courier New" panose="02070309020205020404" pitchFamily="49" charset="0"/>
              </a:rPr>
            </a:br>
            <a:r>
              <a:rPr kumimoji="0" lang="en-US" altLang="en-US" sz="2400" dirty="0">
                <a:latin typeface="Courier New" panose="02070309020205020404" pitchFamily="49" charset="0"/>
                <a:cs typeface="Courier New" panose="02070309020205020404" pitchFamily="49" charset="0"/>
              </a:rPr>
              <a:t>   </a:t>
            </a:r>
            <a:r>
              <a:rPr kumimoji="0" lang="en-US" altLang="en-US" sz="2400" b="1" dirty="0">
                <a:solidFill>
                  <a:srgbClr val="00B0F0"/>
                </a:solidFill>
                <a:latin typeface="Courier New" panose="02070309020205020404" pitchFamily="49" charset="0"/>
                <a:cs typeface="Courier New" panose="02070309020205020404" pitchFamily="49" charset="0"/>
              </a:rPr>
              <a:t>while</a:t>
            </a:r>
            <a:r>
              <a:rPr kumimoji="0" lang="en-US" altLang="en-US" sz="2400" dirty="0">
                <a:latin typeface="Courier New" panose="02070309020205020404" pitchFamily="49" charset="0"/>
                <a:cs typeface="Courier New" panose="02070309020205020404" pitchFamily="49" charset="0"/>
              </a:rPr>
              <a:t> (</a:t>
            </a:r>
            <a:r>
              <a:rPr kumimoji="0" lang="en-US" altLang="en-US" sz="2400" b="1" dirty="0">
                <a:latin typeface="Courier New" panose="02070309020205020404" pitchFamily="49" charset="0"/>
                <a:cs typeface="Courier New" panose="02070309020205020404" pitchFamily="49" charset="0"/>
              </a:rPr>
              <a:t>true</a:t>
            </a:r>
            <a:r>
              <a:rPr kumimoji="0" lang="en-US" altLang="en-US" sz="2400" dirty="0">
                <a:latin typeface="Courier New" panose="02070309020205020404" pitchFamily="49" charset="0"/>
                <a:cs typeface="Courier New" panose="02070309020205020404" pitchFamily="49" charset="0"/>
              </a:rPr>
              <a:t>) {</a:t>
            </a:r>
            <a:br>
              <a:rPr kumimoji="0" lang="en-US" altLang="en-US" sz="2400" dirty="0">
                <a:latin typeface="Courier New" panose="02070309020205020404" pitchFamily="49" charset="0"/>
                <a:cs typeface="Courier New" panose="02070309020205020404" pitchFamily="49" charset="0"/>
              </a:rPr>
            </a:br>
            <a:r>
              <a:rPr kumimoji="0" lang="en-US" altLang="en-US" sz="2400" dirty="0">
                <a:latin typeface="Courier New" panose="02070309020205020404" pitchFamily="49" charset="0"/>
                <a:cs typeface="Courier New" panose="02070309020205020404" pitchFamily="49" charset="0"/>
              </a:rPr>
              <a:t>	</a:t>
            </a:r>
            <a:r>
              <a:rPr kumimoji="0" lang="en-US" altLang="en-US" sz="2400" b="1" dirty="0">
                <a:latin typeface="Courier New" panose="02070309020205020404" pitchFamily="49" charset="0"/>
                <a:cs typeface="Courier New" panose="02070309020205020404" pitchFamily="49" charset="0"/>
              </a:rPr>
              <a:t>/*</a:t>
            </a:r>
            <a:r>
              <a:rPr kumimoji="0" lang="en-US" altLang="en-US" sz="2400" dirty="0">
                <a:latin typeface="Courier New" panose="02070309020205020404" pitchFamily="49" charset="0"/>
                <a:cs typeface="Courier New" panose="02070309020205020404" pitchFamily="49" charset="0"/>
              </a:rPr>
              <a:t> </a:t>
            </a:r>
            <a:r>
              <a:rPr kumimoji="0" lang="en-US" altLang="en-US" sz="2400" b="1" dirty="0">
                <a:latin typeface="Courier New" panose="02070309020205020404" pitchFamily="49" charset="0"/>
                <a:cs typeface="Courier New" panose="02070309020205020404" pitchFamily="49" charset="0"/>
              </a:rPr>
              <a:t>produce</a:t>
            </a:r>
            <a:r>
              <a:rPr kumimoji="0" lang="en-US" altLang="en-US" sz="2400" dirty="0">
                <a:latin typeface="Courier New" panose="02070309020205020404" pitchFamily="49" charset="0"/>
                <a:cs typeface="Courier New" panose="02070309020205020404" pitchFamily="49" charset="0"/>
              </a:rPr>
              <a:t> an item </a:t>
            </a:r>
            <a:r>
              <a:rPr kumimoji="0" lang="en-US" altLang="en-US" sz="2400" b="1" dirty="0">
                <a:latin typeface="Courier New" panose="02070309020205020404" pitchFamily="49" charset="0"/>
                <a:cs typeface="Courier New" panose="02070309020205020404" pitchFamily="49" charset="0"/>
              </a:rPr>
              <a:t>in</a:t>
            </a:r>
            <a:r>
              <a:rPr kumimoji="0" lang="en-US" altLang="en-US" sz="2400" dirty="0">
                <a:latin typeface="Courier New" panose="02070309020205020404" pitchFamily="49" charset="0"/>
                <a:cs typeface="Courier New" panose="02070309020205020404" pitchFamily="49" charset="0"/>
              </a:rPr>
              <a:t> </a:t>
            </a:r>
            <a:r>
              <a:rPr kumimoji="0" lang="en-US" altLang="en-US" sz="2400" b="1" dirty="0">
                <a:latin typeface="Courier New" panose="02070309020205020404" pitchFamily="49" charset="0"/>
                <a:cs typeface="Courier New" panose="02070309020205020404" pitchFamily="49" charset="0"/>
              </a:rPr>
              <a:t>next_produced</a:t>
            </a:r>
            <a:r>
              <a:rPr kumimoji="0" lang="en-US" altLang="en-US" sz="2400" dirty="0">
                <a:latin typeface="Courier New" panose="02070309020205020404" pitchFamily="49" charset="0"/>
                <a:cs typeface="Courier New" panose="02070309020205020404" pitchFamily="49" charset="0"/>
              </a:rPr>
              <a:t> </a:t>
            </a:r>
            <a:r>
              <a:rPr kumimoji="0" lang="en-US" altLang="en-US" sz="2400" b="1" dirty="0">
                <a:latin typeface="Courier New" panose="02070309020205020404" pitchFamily="49" charset="0"/>
                <a:cs typeface="Courier New" panose="02070309020205020404" pitchFamily="49" charset="0"/>
              </a:rPr>
              <a:t>*/</a:t>
            </a:r>
          </a:p>
          <a:p>
            <a:pPr>
              <a:spcBef>
                <a:spcPct val="0"/>
              </a:spcBef>
              <a:buClrTx/>
              <a:buSzTx/>
              <a:buFont typeface="Monotype Sorts" pitchFamily="-84" charset="2"/>
              <a:buNone/>
            </a:pPr>
            <a:r>
              <a:rPr kumimoji="0" lang="en-US" altLang="en-US" sz="2400" dirty="0">
                <a:latin typeface="Courier New" panose="02070309020205020404" pitchFamily="49" charset="0"/>
                <a:cs typeface="Courier New" panose="02070309020205020404" pitchFamily="49" charset="0"/>
              </a:rPr>
              <a:t>      </a:t>
            </a:r>
            <a:r>
              <a:rPr kumimoji="0" lang="en-US" altLang="en-US" sz="2400" b="1" dirty="0">
                <a:latin typeface="Courier New" panose="02070309020205020404" pitchFamily="49" charset="0"/>
                <a:cs typeface="Courier New" panose="02070309020205020404" pitchFamily="49" charset="0"/>
              </a:rPr>
              <a:t>send</a:t>
            </a:r>
            <a:r>
              <a:rPr kumimoji="0" lang="en-US" altLang="en-US" sz="2400" dirty="0">
                <a:latin typeface="Courier New" panose="02070309020205020404" pitchFamily="49" charset="0"/>
                <a:cs typeface="Courier New" panose="02070309020205020404" pitchFamily="49" charset="0"/>
              </a:rPr>
              <a:t>(</a:t>
            </a:r>
            <a:r>
              <a:rPr kumimoji="0" lang="en-US" altLang="en-US" sz="2400" u="sng" dirty="0">
                <a:latin typeface="Courier New" panose="02070309020205020404" pitchFamily="49" charset="0"/>
                <a:cs typeface="Courier New" panose="02070309020205020404" pitchFamily="49" charset="0"/>
              </a:rPr>
              <a:t>next_produced</a:t>
            </a:r>
            <a:r>
              <a:rPr kumimoji="0" lang="en-US" altLang="en-US" sz="2400" dirty="0">
                <a:latin typeface="Courier New" panose="02070309020205020404" pitchFamily="49" charset="0"/>
                <a:cs typeface="Courier New" panose="02070309020205020404" pitchFamily="49" charset="0"/>
              </a:rPr>
              <a:t>); </a:t>
            </a:r>
          </a:p>
          <a:p>
            <a:pPr>
              <a:spcBef>
                <a:spcPct val="0"/>
              </a:spcBef>
              <a:buClrTx/>
              <a:buSzTx/>
              <a:buFont typeface="Monotype Sorts" pitchFamily="-84" charset="2"/>
              <a:buNone/>
            </a:pPr>
            <a:r>
              <a:rPr kumimoji="0" lang="en-US" altLang="en-US" sz="2400" dirty="0">
                <a:latin typeface="Courier New" panose="02070309020205020404" pitchFamily="49" charset="0"/>
                <a:cs typeface="Courier New" panose="02070309020205020404" pitchFamily="49" charset="0"/>
              </a:rPr>
              <a:t>     } </a:t>
            </a:r>
          </a:p>
          <a:p>
            <a:pPr>
              <a:spcBef>
                <a:spcPct val="0"/>
              </a:spcBef>
              <a:buClrTx/>
              <a:buSzTx/>
              <a:buFont typeface="Monotype Sorts" pitchFamily="-84" charset="2"/>
              <a:buNone/>
            </a:pPr>
            <a:endParaRPr lang="en-US" altLang="en-US" sz="2400" dirty="0"/>
          </a:p>
          <a:p>
            <a:r>
              <a:rPr lang="en-US" altLang="en-US" sz="2400" b="1" dirty="0"/>
              <a:t>Consumer</a:t>
            </a:r>
          </a:p>
          <a:p>
            <a:pPr>
              <a:spcBef>
                <a:spcPct val="0"/>
              </a:spcBef>
              <a:buClrTx/>
              <a:buSzTx/>
              <a:buFont typeface="Monotype Sorts" pitchFamily="-84" charset="2"/>
              <a:buNone/>
            </a:pPr>
            <a:r>
              <a:rPr lang="en-US" altLang="en-US" sz="2400" dirty="0"/>
              <a:t>          </a:t>
            </a:r>
            <a:r>
              <a:rPr kumimoji="0" lang="en-US" altLang="en-US" sz="2400" b="1" dirty="0">
                <a:latin typeface="Courier New" panose="02070309020205020404" pitchFamily="49" charset="0"/>
                <a:cs typeface="Courier New" panose="02070309020205020404" pitchFamily="49" charset="0"/>
              </a:rPr>
              <a:t>message</a:t>
            </a:r>
            <a:r>
              <a:rPr kumimoji="0" lang="en-US" altLang="en-US" sz="2400" dirty="0">
                <a:latin typeface="Courier New" panose="02070309020205020404" pitchFamily="49" charset="0"/>
                <a:cs typeface="Courier New" panose="02070309020205020404" pitchFamily="49" charset="0"/>
              </a:rPr>
              <a:t> next_consumed;</a:t>
            </a:r>
            <a:br>
              <a:rPr kumimoji="0" lang="en-US" altLang="en-US" sz="2400" dirty="0">
                <a:latin typeface="Courier New" panose="02070309020205020404" pitchFamily="49" charset="0"/>
                <a:cs typeface="Courier New" panose="02070309020205020404" pitchFamily="49" charset="0"/>
              </a:rPr>
            </a:br>
            <a:r>
              <a:rPr kumimoji="0" lang="en-US" altLang="en-US" sz="2400" dirty="0">
                <a:latin typeface="Courier New" panose="02070309020205020404" pitchFamily="49" charset="0"/>
                <a:cs typeface="Courier New" panose="02070309020205020404" pitchFamily="49" charset="0"/>
              </a:rPr>
              <a:t>   </a:t>
            </a:r>
            <a:r>
              <a:rPr kumimoji="0" lang="en-US" altLang="en-US" sz="2400" b="1" dirty="0">
                <a:solidFill>
                  <a:srgbClr val="00B0F0"/>
                </a:solidFill>
                <a:latin typeface="Courier New" panose="02070309020205020404" pitchFamily="49" charset="0"/>
                <a:cs typeface="Courier New" panose="02070309020205020404" pitchFamily="49" charset="0"/>
              </a:rPr>
              <a:t>while</a:t>
            </a:r>
            <a:r>
              <a:rPr kumimoji="0" lang="en-US" altLang="en-US" sz="2400" dirty="0">
                <a:latin typeface="Courier New" panose="02070309020205020404" pitchFamily="49" charset="0"/>
                <a:cs typeface="Courier New" panose="02070309020205020404" pitchFamily="49" charset="0"/>
              </a:rPr>
              <a:t> (</a:t>
            </a:r>
            <a:r>
              <a:rPr kumimoji="0" lang="en-US" altLang="en-US" sz="2400" b="1" dirty="0">
                <a:latin typeface="Courier New" panose="02070309020205020404" pitchFamily="49" charset="0"/>
                <a:cs typeface="Courier New" panose="02070309020205020404" pitchFamily="49" charset="0"/>
              </a:rPr>
              <a:t>true</a:t>
            </a:r>
            <a:r>
              <a:rPr kumimoji="0" lang="en-US" altLang="en-US" sz="2400" dirty="0">
                <a:latin typeface="Courier New" panose="02070309020205020404" pitchFamily="49" charset="0"/>
                <a:cs typeface="Courier New" panose="02070309020205020404" pitchFamily="49" charset="0"/>
              </a:rPr>
              <a:t>) {</a:t>
            </a:r>
            <a:br>
              <a:rPr kumimoji="0" lang="en-US" altLang="en-US" sz="2400" dirty="0">
                <a:latin typeface="Courier New" panose="02070309020205020404" pitchFamily="49" charset="0"/>
                <a:cs typeface="Courier New" panose="02070309020205020404" pitchFamily="49" charset="0"/>
              </a:rPr>
            </a:br>
            <a:r>
              <a:rPr kumimoji="0" lang="en-US" altLang="en-US" sz="2400" dirty="0">
                <a:latin typeface="Courier New" panose="02070309020205020404" pitchFamily="49" charset="0"/>
                <a:cs typeface="Courier New" panose="02070309020205020404" pitchFamily="49" charset="0"/>
              </a:rPr>
              <a:t>	 </a:t>
            </a:r>
            <a:r>
              <a:rPr kumimoji="0" lang="en-US" altLang="en-US" sz="2400" b="1" dirty="0">
                <a:latin typeface="Courier New" panose="02070309020205020404" pitchFamily="49" charset="0"/>
                <a:cs typeface="Courier New" panose="02070309020205020404" pitchFamily="49" charset="0"/>
              </a:rPr>
              <a:t>receive</a:t>
            </a:r>
            <a:r>
              <a:rPr kumimoji="0" lang="en-US" altLang="en-US" sz="2400" dirty="0">
                <a:latin typeface="Courier New" panose="02070309020205020404" pitchFamily="49" charset="0"/>
                <a:cs typeface="Courier New" panose="02070309020205020404" pitchFamily="49" charset="0"/>
              </a:rPr>
              <a:t>(</a:t>
            </a:r>
            <a:r>
              <a:rPr kumimoji="0" lang="en-US" altLang="en-US" sz="2400" u="sng" dirty="0">
                <a:latin typeface="Courier New" panose="02070309020205020404" pitchFamily="49" charset="0"/>
                <a:cs typeface="Courier New" panose="02070309020205020404" pitchFamily="49" charset="0"/>
              </a:rPr>
              <a:t>next_consumed</a:t>
            </a:r>
            <a:r>
              <a:rPr kumimoji="0" lang="en-US" altLang="en-US" sz="2400" dirty="0">
                <a:latin typeface="Courier New" panose="02070309020205020404" pitchFamily="49" charset="0"/>
                <a:cs typeface="Courier New" panose="02070309020205020404" pitchFamily="49" charset="0"/>
              </a:rPr>
              <a:t>)</a:t>
            </a:r>
            <a:br>
              <a:rPr kumimoji="0" lang="en-US" altLang="en-US" sz="2400" dirty="0">
                <a:latin typeface="Courier New" panose="02070309020205020404" pitchFamily="49" charset="0"/>
                <a:cs typeface="Courier New" panose="02070309020205020404" pitchFamily="49" charset="0"/>
              </a:rPr>
            </a:br>
            <a:r>
              <a:rPr kumimoji="0" lang="en-US" altLang="en-US" sz="2400" dirty="0">
                <a:latin typeface="Courier New" panose="02070309020205020404" pitchFamily="49" charset="0"/>
                <a:cs typeface="Courier New" panose="02070309020205020404" pitchFamily="49" charset="0"/>
              </a:rPr>
              <a:t>	/* </a:t>
            </a:r>
            <a:r>
              <a:rPr kumimoji="0" lang="en-US" altLang="en-US" sz="2400" b="1" dirty="0">
                <a:latin typeface="Courier New" panose="02070309020205020404" pitchFamily="49" charset="0"/>
                <a:cs typeface="Courier New" panose="02070309020205020404" pitchFamily="49" charset="0"/>
              </a:rPr>
              <a:t>consume</a:t>
            </a:r>
            <a:r>
              <a:rPr kumimoji="0" lang="en-US" altLang="en-US" sz="2400" dirty="0">
                <a:latin typeface="Courier New" panose="02070309020205020404" pitchFamily="49" charset="0"/>
                <a:cs typeface="Courier New" panose="02070309020205020404" pitchFamily="49" charset="0"/>
              </a:rPr>
              <a:t> the item </a:t>
            </a:r>
            <a:r>
              <a:rPr kumimoji="0" lang="en-US" altLang="en-US" sz="2400" b="1" dirty="0">
                <a:latin typeface="Courier New" panose="02070309020205020404" pitchFamily="49" charset="0"/>
                <a:cs typeface="Courier New" panose="02070309020205020404" pitchFamily="49" charset="0"/>
              </a:rPr>
              <a:t>in</a:t>
            </a:r>
            <a:r>
              <a:rPr kumimoji="0" lang="en-US" altLang="en-US" sz="2400" dirty="0">
                <a:latin typeface="Courier New" panose="02070309020205020404" pitchFamily="49" charset="0"/>
                <a:cs typeface="Courier New" panose="02070309020205020404" pitchFamily="49" charset="0"/>
              </a:rPr>
              <a:t> </a:t>
            </a:r>
            <a:r>
              <a:rPr kumimoji="0" lang="en-US" altLang="en-US" sz="2400" b="1" dirty="0">
                <a:latin typeface="Courier New" panose="02070309020205020404" pitchFamily="49" charset="0"/>
                <a:cs typeface="Courier New" panose="02070309020205020404" pitchFamily="49" charset="0"/>
              </a:rPr>
              <a:t>next_consumed </a:t>
            </a:r>
            <a:r>
              <a:rPr kumimoji="0" lang="en-US" altLang="en-US" sz="2400" dirty="0">
                <a:latin typeface="Courier New" panose="02070309020205020404" pitchFamily="49" charset="0"/>
                <a:cs typeface="Courier New" panose="02070309020205020404" pitchFamily="49" charset="0"/>
              </a:rPr>
              <a:t>*/</a:t>
            </a:r>
            <a:br>
              <a:rPr kumimoji="0" lang="en-US" altLang="en-US" sz="2400" dirty="0">
                <a:latin typeface="Courier New" panose="02070309020205020404" pitchFamily="49" charset="0"/>
                <a:cs typeface="Courier New" panose="02070309020205020404" pitchFamily="49" charset="0"/>
              </a:rPr>
            </a:br>
            <a:r>
              <a:rPr kumimoji="0" lang="en-US" altLang="en-US" sz="2400" dirty="0">
                <a:latin typeface="Courier New" panose="02070309020205020404" pitchFamily="49" charset="0"/>
                <a:cs typeface="Courier New" panose="02070309020205020404" pitchFamily="49" charset="0"/>
              </a:rPr>
              <a:t>  }</a:t>
            </a:r>
            <a:endParaRPr lang="en-US" altLang="en-US" sz="2400" dirty="0"/>
          </a:p>
        </p:txBody>
      </p:sp>
      <p:sp>
        <p:nvSpPr>
          <p:cNvPr id="88067" name="Rectangle 2">
            <a:extLst>
              <a:ext uri="{FF2B5EF4-FFF2-40B4-BE49-F238E27FC236}">
                <a16:creationId xmlns:a16="http://schemas.microsoft.com/office/drawing/2014/main" id="{24243AD7-0317-465B-AB50-5EC00B8ABFD8}"/>
              </a:ext>
            </a:extLst>
          </p:cNvPr>
          <p:cNvSpPr>
            <a:spLocks noGrp="1" noChangeArrowheads="1"/>
          </p:cNvSpPr>
          <p:nvPr>
            <p:ph type="title"/>
          </p:nvPr>
        </p:nvSpPr>
        <p:spPr>
          <a:xfrm>
            <a:off x="1013081" y="129169"/>
            <a:ext cx="8058734" cy="576263"/>
          </a:xfrm>
        </p:spPr>
        <p:txBody>
          <a:bodyPr/>
          <a:lstStyle/>
          <a:p>
            <a:pPr eaLnBrk="1" hangingPunct="1"/>
            <a:r>
              <a:rPr lang="en-US" altLang="en-US" sz="3000" dirty="0"/>
              <a:t>Producer-Consumer: Message Passing</a:t>
            </a:r>
          </a:p>
        </p:txBody>
      </p:sp>
    </p:spTree>
    <p:extLst>
      <p:ext uri="{BB962C8B-B14F-4D97-AF65-F5344CB8AC3E}">
        <p14:creationId xmlns:p14="http://schemas.microsoft.com/office/powerpoint/2010/main" val="9924406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EFCCDAF0-ADCB-498D-ABA7-61D9ACD7A11E}"/>
              </a:ext>
            </a:extLst>
          </p:cNvPr>
          <p:cNvSpPr>
            <a:spLocks noGrp="1" noChangeArrowheads="1"/>
          </p:cNvSpPr>
          <p:nvPr>
            <p:ph type="title"/>
          </p:nvPr>
        </p:nvSpPr>
        <p:spPr>
          <a:xfrm>
            <a:off x="457200" y="230188"/>
            <a:ext cx="8229600" cy="576262"/>
          </a:xfrm>
        </p:spPr>
        <p:txBody>
          <a:bodyPr/>
          <a:lstStyle/>
          <a:p>
            <a:pPr eaLnBrk="1" hangingPunct="1"/>
            <a:r>
              <a:rPr lang="fa-IR" altLang="en-US" dirty="0">
                <a:cs typeface="B Nazanin" panose="00000400000000000000" pitchFamily="2" charset="-78"/>
              </a:rPr>
              <a:t>بافر کردن</a:t>
            </a:r>
            <a:endParaRPr lang="en-US" altLang="en-US" dirty="0">
              <a:cs typeface="B Nazanin" panose="00000400000000000000" pitchFamily="2" charset="-78"/>
            </a:endParaRPr>
          </a:p>
        </p:txBody>
      </p:sp>
      <p:sp>
        <p:nvSpPr>
          <p:cNvPr id="94211" name="Rectangle 3">
            <a:extLst>
              <a:ext uri="{FF2B5EF4-FFF2-40B4-BE49-F238E27FC236}">
                <a16:creationId xmlns:a16="http://schemas.microsoft.com/office/drawing/2014/main" id="{9F3FAE0B-E324-4D81-9059-93D9D79F308F}"/>
              </a:ext>
            </a:extLst>
          </p:cNvPr>
          <p:cNvSpPr>
            <a:spLocks noGrp="1" noChangeArrowheads="1"/>
          </p:cNvSpPr>
          <p:nvPr>
            <p:ph type="body" idx="1"/>
          </p:nvPr>
        </p:nvSpPr>
        <p:spPr>
          <a:xfrm>
            <a:off x="889000" y="1233488"/>
            <a:ext cx="7658100" cy="5020556"/>
          </a:xfrm>
        </p:spPr>
        <p:txBody>
          <a:bodyPr/>
          <a:lstStyle/>
          <a:p>
            <a:pPr marL="0" marR="0" algn="r" rtl="1">
              <a:lnSpc>
                <a:spcPct val="107000"/>
              </a:lnSpc>
              <a:spcBef>
                <a:spcPts val="0"/>
              </a:spcBef>
              <a:spcAft>
                <a:spcPts val="800"/>
              </a:spcAf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صف پیام ها به لینک ارتباطی متصل هستند و به سه روش پیاده سازی می شوند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ظرفیت صفر</a:t>
            </a:r>
            <a:r>
              <a:rPr lang="en-US" sz="24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(Zero Capacity):</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هیچ پیامی روی لینک </a:t>
            </a:r>
            <a:r>
              <a:rPr lang="fa-IR"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صف نمی‌شود. </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فرستنده باید منتظر گیرنده بماند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fa-IR"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دیدار</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fa-IR"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یا </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(rendezvous)</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ظرفیت محدود</a:t>
            </a:r>
            <a:r>
              <a:rPr lang="en-US" sz="24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(Bounded Capacity):</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صف دارای طول محدودی از</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n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پیام است</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اگر لینک پر باشد، فرستنده باید منتظر بماند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ظرفیت نامحدود</a:t>
            </a:r>
            <a:r>
              <a:rPr lang="en-US" sz="24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(Unbounded Capacity):</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صف دارای طول نامحدود است</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فرستنده هرگز منتظر نمی ماند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9AA84AD8-45BC-496F-93D4-85BB20F8DC08}"/>
              </a:ext>
            </a:extLst>
          </p:cNvPr>
          <p:cNvSpPr>
            <a:spLocks noGrp="1" noChangeArrowheads="1"/>
          </p:cNvSpPr>
          <p:nvPr>
            <p:ph type="title"/>
          </p:nvPr>
        </p:nvSpPr>
        <p:spPr>
          <a:xfrm>
            <a:off x="959603" y="170670"/>
            <a:ext cx="8229600" cy="576263"/>
          </a:xfrm>
        </p:spPr>
        <p:txBody>
          <a:bodyPr/>
          <a:lstStyle/>
          <a:p>
            <a:r>
              <a:rPr lang="en-US" altLang="en-US" dirty="0"/>
              <a:t>Examples of IPC Systems – Windows</a:t>
            </a:r>
          </a:p>
        </p:txBody>
      </p:sp>
      <p:sp>
        <p:nvSpPr>
          <p:cNvPr id="107523" name="Content Placeholder 2">
            <a:extLst>
              <a:ext uri="{FF2B5EF4-FFF2-40B4-BE49-F238E27FC236}">
                <a16:creationId xmlns:a16="http://schemas.microsoft.com/office/drawing/2014/main" id="{31766832-DFC8-4A86-A2CF-46CA4D6FAF7B}"/>
              </a:ext>
            </a:extLst>
          </p:cNvPr>
          <p:cNvSpPr>
            <a:spLocks noGrp="1" noChangeArrowheads="1"/>
          </p:cNvSpPr>
          <p:nvPr>
            <p:ph idx="1"/>
          </p:nvPr>
        </p:nvSpPr>
        <p:spPr>
          <a:xfrm>
            <a:off x="185914" y="1187979"/>
            <a:ext cx="8772172" cy="5269265"/>
          </a:xfrm>
        </p:spPr>
        <p:txBody>
          <a:bodyPr/>
          <a:lstStyle/>
          <a:p>
            <a:pPr marL="0" marR="0" algn="r" rtl="1"/>
            <a:r>
              <a:rPr lang="ar-SA" sz="24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فراخوان محلی پیشرفته (</a:t>
            </a:r>
            <a:r>
              <a:rPr lang="en-US" sz="24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Local Procedure Call - LPC</a:t>
            </a:r>
            <a:r>
              <a:rPr lang="ar-SA" sz="24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b="1"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این روش</a:t>
            </a:r>
            <a:r>
              <a:rPr lang="ar-SA" sz="2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بر پایه ارسال پیام </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است.</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تنها بین فرآیندهای روی </a:t>
            </a:r>
            <a:r>
              <a:rPr lang="ar-SA" sz="2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یک سیستم واحد </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کار می کند.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از </a:t>
            </a:r>
            <a:r>
              <a:rPr lang="ar-SA" sz="28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پورت</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a:t>
            </a:r>
            <a:r>
              <a:rPr lang="ar-SA" sz="2800" dirty="0">
                <a:solidFill>
                  <a:srgbClr val="1F1F1F"/>
                </a:solidFill>
                <a:latin typeface="Calibri" panose="020F0502020204030204" pitchFamily="34" charset="0"/>
                <a:cs typeface="B Nazanin" panose="00000400000000000000" pitchFamily="2" charset="-78"/>
              </a:rPr>
              <a:t>برای </a:t>
            </a:r>
            <a:r>
              <a:rPr lang="ar-SA" sz="2800" b="1" dirty="0">
                <a:solidFill>
                  <a:srgbClr val="1F1F1F"/>
                </a:solidFill>
                <a:latin typeface="Calibri" panose="020F0502020204030204" pitchFamily="34" charset="0"/>
                <a:cs typeface="B Nazanin" panose="00000400000000000000" pitchFamily="2" charset="-78"/>
              </a:rPr>
              <a:t>ایجاد و نگهداری کانال های ارتباطی </a:t>
            </a:r>
            <a:r>
              <a:rPr lang="ar-SA" sz="2800" dirty="0">
                <a:solidFill>
                  <a:srgbClr val="1F1F1F"/>
                </a:solidFill>
                <a:latin typeface="Calibri" panose="020F0502020204030204" pitchFamily="34" charset="0"/>
                <a:cs typeface="B Nazanin" panose="00000400000000000000" pitchFamily="2" charset="-78"/>
              </a:rPr>
              <a:t>استفاده می کند.</a:t>
            </a:r>
            <a:endParaRPr lang="en-US" sz="2800" dirty="0">
              <a:solidFill>
                <a:srgbClr val="1F1F1F"/>
              </a:solidFill>
              <a:latin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Font typeface="Arial" panose="020B0604020202020204" pitchFamily="34" charset="0"/>
              <a:buChar char="•"/>
              <a:tabLst>
                <a:tab pos="457200" algn="l"/>
              </a:tabLst>
            </a:pPr>
            <a:endParaRPr lang="en-US" sz="2800" dirty="0">
              <a:solidFill>
                <a:srgbClr val="1F1F1F"/>
              </a:solidFill>
              <a:latin typeface="Calibri" panose="020F0502020204030204" pitchFamily="34" charset="0"/>
              <a:cs typeface="B Nazanin" panose="00000400000000000000" pitchFamily="2" charset="-78"/>
            </a:endParaRPr>
          </a:p>
          <a:p>
            <a:pPr algn="r" rtl="1">
              <a:lnSpc>
                <a:spcPct val="107000"/>
              </a:lnSpc>
              <a:spcBef>
                <a:spcPts val="0"/>
              </a:spcBef>
              <a:spcAft>
                <a:spcPts val="0"/>
              </a:spcAft>
              <a:buFont typeface="Arial" panose="020B0604020202020204" pitchFamily="34" charset="0"/>
              <a:buChar char="•"/>
              <a:tabLst>
                <a:tab pos="457200" algn="l"/>
              </a:tabLst>
            </a:pPr>
            <a:r>
              <a:rPr lang="fa-IR" sz="2800" dirty="0">
                <a:solidFill>
                  <a:srgbClr val="1F1F1F"/>
                </a:solidFill>
                <a:latin typeface="Calibri" panose="020F0502020204030204" pitchFamily="34" charset="0"/>
                <a:cs typeface="B Nazanin" panose="00000400000000000000" pitchFamily="2" charset="-78"/>
              </a:rPr>
              <a:t>سیسستم عامل ویندوز امکان پشتیبانی از چندین محیط عملیاتی یا زیرسیستم را فراهم می‌آورد. </a:t>
            </a:r>
            <a:endParaRPr lang="en-US" sz="2800" dirty="0">
              <a:solidFill>
                <a:srgbClr val="1F1F1F"/>
              </a:solidFill>
              <a:latin typeface="Calibri" panose="020F0502020204030204" pitchFamily="34" charset="0"/>
              <a:cs typeface="B Nazanin" panose="00000400000000000000" pitchFamily="2" charset="-78"/>
            </a:endParaRPr>
          </a:p>
          <a:p>
            <a:pPr algn="r" rtl="1">
              <a:lnSpc>
                <a:spcPct val="107000"/>
              </a:lnSpc>
              <a:spcBef>
                <a:spcPts val="0"/>
              </a:spcBef>
              <a:spcAft>
                <a:spcPts val="0"/>
              </a:spcAft>
              <a:buFont typeface="Arial" panose="020B0604020202020204" pitchFamily="34" charset="0"/>
              <a:buChar char="•"/>
              <a:tabLst>
                <a:tab pos="457200" algn="l"/>
              </a:tabLst>
            </a:pPr>
            <a:r>
              <a:rPr lang="fa-IR" sz="2800" dirty="0">
                <a:solidFill>
                  <a:srgbClr val="1F1F1F"/>
                </a:solidFill>
                <a:latin typeface="Calibri" panose="020F0502020204030204" pitchFamily="34" charset="0"/>
                <a:cs typeface="B Nazanin" panose="00000400000000000000" pitchFamily="2" charset="-78"/>
              </a:rPr>
              <a:t>برنامه‌های کاربردی از طریق یک مکانیزم ارسال و دریافت پیام که به آن </a:t>
            </a:r>
            <a:r>
              <a:rPr lang="en-US" sz="2800" dirty="0">
                <a:solidFill>
                  <a:srgbClr val="1F1F1F"/>
                </a:solidFill>
                <a:latin typeface="Calibri" panose="020F0502020204030204" pitchFamily="34" charset="0"/>
                <a:cs typeface="B Nazanin" panose="00000400000000000000" pitchFamily="2" charset="-78"/>
              </a:rPr>
              <a:t>IPC </a:t>
            </a:r>
            <a:r>
              <a:rPr lang="fa-IR" sz="2800" dirty="0">
                <a:solidFill>
                  <a:srgbClr val="1F1F1F"/>
                </a:solidFill>
                <a:latin typeface="Calibri" panose="020F0502020204030204" pitchFamily="34" charset="0"/>
                <a:cs typeface="B Nazanin" panose="00000400000000000000" pitchFamily="2" charset="-78"/>
              </a:rPr>
              <a:t>ارتباط بین فرایندها، نیز گفته می‌شود، با این زیرسیستم‌ها ارتباط برقرار می‌کنند.</a:t>
            </a:r>
          </a:p>
          <a:p>
            <a:pPr marL="342900" marR="0" lvl="0" indent="-342900" algn="r" rtl="1">
              <a:lnSpc>
                <a:spcPct val="107000"/>
              </a:lnSpc>
              <a:spcBef>
                <a:spcPts val="0"/>
              </a:spcBef>
              <a:spcAft>
                <a:spcPts val="0"/>
              </a:spcAft>
              <a:buFont typeface="Arial" panose="020B0604020202020204" pitchFamily="34" charset="0"/>
              <a:buChar char="•"/>
              <a:tabLst>
                <a:tab pos="457200" algn="l"/>
              </a:tabLst>
            </a:pPr>
            <a:endParaRPr lang="en-US" sz="2400" dirty="0">
              <a:effectLst/>
              <a:latin typeface="Calibri" panose="020F0502020204030204" pitchFamily="34" charset="0"/>
              <a:ea typeface="Calibri" panose="020F0502020204030204" pitchFamily="34" charset="0"/>
              <a:cs typeface="B Nazanin" panose="00000400000000000000" pitchFamily="2" charset="-78"/>
            </a:endParaRPr>
          </a:p>
        </p:txBody>
      </p:sp>
    </p:spTree>
    <p:extLst>
      <p:ext uri="{BB962C8B-B14F-4D97-AF65-F5344CB8AC3E}">
        <p14:creationId xmlns:p14="http://schemas.microsoft.com/office/powerpoint/2010/main" val="38930692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1870AEF7-4CF4-41BC-81BB-29CC7F55AB70}"/>
              </a:ext>
            </a:extLst>
          </p:cNvPr>
          <p:cNvSpPr>
            <a:spLocks noGrp="1" noChangeArrowheads="1"/>
          </p:cNvSpPr>
          <p:nvPr>
            <p:ph type="title"/>
          </p:nvPr>
        </p:nvSpPr>
        <p:spPr>
          <a:xfrm>
            <a:off x="1025525" y="228600"/>
            <a:ext cx="7810500" cy="576263"/>
          </a:xfrm>
        </p:spPr>
        <p:txBody>
          <a:bodyPr/>
          <a:lstStyle/>
          <a:p>
            <a:r>
              <a:rPr lang="en-US" altLang="en-US"/>
              <a:t>Local Procedure Calls in Windows</a:t>
            </a:r>
          </a:p>
        </p:txBody>
      </p:sp>
      <p:pic>
        <p:nvPicPr>
          <p:cNvPr id="109571" name="Picture 1">
            <a:extLst>
              <a:ext uri="{FF2B5EF4-FFF2-40B4-BE49-F238E27FC236}">
                <a16:creationId xmlns:a16="http://schemas.microsoft.com/office/drawing/2014/main" id="{0D6084EA-7656-42CC-8EAC-D97ED13454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1820863"/>
            <a:ext cx="68897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9AA84AD8-45BC-496F-93D4-85BB20F8DC08}"/>
              </a:ext>
            </a:extLst>
          </p:cNvPr>
          <p:cNvSpPr>
            <a:spLocks noGrp="1" noChangeArrowheads="1"/>
          </p:cNvSpPr>
          <p:nvPr>
            <p:ph type="title"/>
          </p:nvPr>
        </p:nvSpPr>
        <p:spPr>
          <a:xfrm>
            <a:off x="959603" y="170670"/>
            <a:ext cx="8229600" cy="576263"/>
          </a:xfrm>
        </p:spPr>
        <p:txBody>
          <a:bodyPr/>
          <a:lstStyle/>
          <a:p>
            <a:r>
              <a:rPr lang="en-US" altLang="en-US" dirty="0"/>
              <a:t>Examples of IPC Systems – Windows</a:t>
            </a:r>
          </a:p>
        </p:txBody>
      </p:sp>
      <p:sp>
        <p:nvSpPr>
          <p:cNvPr id="107523" name="Content Placeholder 2">
            <a:extLst>
              <a:ext uri="{FF2B5EF4-FFF2-40B4-BE49-F238E27FC236}">
                <a16:creationId xmlns:a16="http://schemas.microsoft.com/office/drawing/2014/main" id="{31766832-DFC8-4A86-A2CF-46CA4D6FAF7B}"/>
              </a:ext>
            </a:extLst>
          </p:cNvPr>
          <p:cNvSpPr>
            <a:spLocks noGrp="1" noChangeArrowheads="1"/>
          </p:cNvSpPr>
          <p:nvPr>
            <p:ph idx="1"/>
          </p:nvPr>
        </p:nvSpPr>
        <p:spPr>
          <a:xfrm>
            <a:off x="185914" y="1187979"/>
            <a:ext cx="8772172" cy="5269265"/>
          </a:xfrm>
        </p:spPr>
        <p:txBody>
          <a:bodyPr/>
          <a:lstStyle/>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ارتباط به شرح زیر عمل می کند: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کلاینت یک هندل به آبجکت پورت اتصال زیرسیستم باز می کند.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کلاینت درخواست اتصال ارسال می کند.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سرور دو پورت ارتباطی خصوصی ایجاد می کند و هندل یکی از آنها را به کلاینت برمی گرداند.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کلاینت و سرور از هندل پورت مربوطه برای ارسال پیام یا </a:t>
            </a:r>
            <a:r>
              <a:rPr lang="en-US" sz="28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callback</a:t>
            </a:r>
            <a:r>
              <a:rPr lang="ar-SA" sz="28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و گوش دادن به پاسخ ها استفاده می کنند.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A75C715D-993B-44C7-ADB7-9A677E467AAE}"/>
              </a:ext>
            </a:extLst>
          </p:cNvPr>
          <p:cNvSpPr>
            <a:spLocks noGrp="1" noChangeArrowheads="1"/>
          </p:cNvSpPr>
          <p:nvPr>
            <p:ph type="title"/>
          </p:nvPr>
        </p:nvSpPr>
        <p:spPr>
          <a:xfrm>
            <a:off x="766763" y="236538"/>
            <a:ext cx="8229600" cy="576262"/>
          </a:xfrm>
        </p:spPr>
        <p:txBody>
          <a:bodyPr/>
          <a:lstStyle/>
          <a:p>
            <a:pPr eaLnBrk="1" hangingPunct="1"/>
            <a:r>
              <a:rPr lang="en-US" altLang="en-US" sz="2800"/>
              <a:t>Communications in Client-Server Systems</a:t>
            </a:r>
          </a:p>
        </p:txBody>
      </p:sp>
      <p:sp>
        <p:nvSpPr>
          <p:cNvPr id="117763" name="Rectangle 3">
            <a:extLst>
              <a:ext uri="{FF2B5EF4-FFF2-40B4-BE49-F238E27FC236}">
                <a16:creationId xmlns:a16="http://schemas.microsoft.com/office/drawing/2014/main" id="{4D67705B-FB5C-413D-B899-1A626A2B7D74}"/>
              </a:ext>
            </a:extLst>
          </p:cNvPr>
          <p:cNvSpPr>
            <a:spLocks noGrp="1" noChangeArrowheads="1"/>
          </p:cNvSpPr>
          <p:nvPr>
            <p:ph type="body" idx="1"/>
          </p:nvPr>
        </p:nvSpPr>
        <p:spPr>
          <a:xfrm>
            <a:off x="889000" y="1233488"/>
            <a:ext cx="6794500" cy="4530725"/>
          </a:xfrm>
        </p:spPr>
        <p:txBody>
          <a:bodyPr/>
          <a:lstStyle/>
          <a:p>
            <a:pPr algn="r" rtl="1"/>
            <a:r>
              <a:rPr lang="fa-IR" sz="3200" b="1" i="0" dirty="0">
                <a:solidFill>
                  <a:srgbClr val="1F1F1F"/>
                </a:solidFill>
                <a:effectLst/>
                <a:latin typeface="Google Sans"/>
                <a:cs typeface="B Nazanin" panose="00000400000000000000" pitchFamily="2" charset="-78"/>
              </a:rPr>
              <a:t>سوکت ها </a:t>
            </a:r>
            <a:r>
              <a:rPr lang="en-US" sz="3200" b="1" i="0" dirty="0">
                <a:solidFill>
                  <a:srgbClr val="1F1F1F"/>
                </a:solidFill>
                <a:effectLst/>
                <a:latin typeface="Google Sans"/>
                <a:cs typeface="B Nazanin" panose="00000400000000000000" pitchFamily="2" charset="-78"/>
              </a:rPr>
              <a:t>Sockets</a:t>
            </a:r>
            <a:endParaRPr lang="en-US" altLang="en-US" sz="3200" dirty="0">
              <a:cs typeface="B Nazanin" panose="00000400000000000000" pitchFamily="2" charset="-78"/>
            </a:endParaRPr>
          </a:p>
          <a:p>
            <a:pPr algn="r" rtl="1"/>
            <a:r>
              <a:rPr lang="fa-IR" sz="3200" b="1" i="0" dirty="0">
                <a:solidFill>
                  <a:srgbClr val="1F1F1F"/>
                </a:solidFill>
                <a:effectLst/>
                <a:latin typeface="Google Sans"/>
                <a:cs typeface="B Nazanin" panose="00000400000000000000" pitchFamily="2" charset="-78"/>
              </a:rPr>
              <a:t>فراخوان رویه از راه دور </a:t>
            </a:r>
            <a:r>
              <a:rPr lang="en-US" sz="3200" b="1" i="0" dirty="0">
                <a:solidFill>
                  <a:srgbClr val="1F1F1F"/>
                </a:solidFill>
                <a:effectLst/>
                <a:latin typeface="Google Sans"/>
                <a:cs typeface="B Nazanin" panose="00000400000000000000" pitchFamily="2" charset="-78"/>
              </a:rPr>
              <a:t>RPC - Remote Procedure Calls</a:t>
            </a:r>
          </a:p>
          <a:p>
            <a:pPr algn="r" rtl="1"/>
            <a:endParaRPr lang="en-US" altLang="en-US" sz="3200" dirty="0">
              <a:cs typeface="B Nazanin" panose="00000400000000000000" pitchFamily="2" charset="-78"/>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9A89FFA0-4422-4D97-8EC3-0539C7C28F43}"/>
              </a:ext>
            </a:extLst>
          </p:cNvPr>
          <p:cNvSpPr>
            <a:spLocks noGrp="1" noChangeArrowheads="1"/>
          </p:cNvSpPr>
          <p:nvPr>
            <p:ph type="title"/>
          </p:nvPr>
        </p:nvSpPr>
        <p:spPr>
          <a:xfrm>
            <a:off x="457200" y="236538"/>
            <a:ext cx="8229600" cy="576262"/>
          </a:xfrm>
        </p:spPr>
        <p:txBody>
          <a:bodyPr/>
          <a:lstStyle/>
          <a:p>
            <a:pPr eaLnBrk="1" hangingPunct="1"/>
            <a:r>
              <a:rPr lang="en-US" altLang="en-US"/>
              <a:t>Sockets</a:t>
            </a:r>
          </a:p>
        </p:txBody>
      </p:sp>
      <p:sp>
        <p:nvSpPr>
          <p:cNvPr id="119811" name="Rectangle 3">
            <a:extLst>
              <a:ext uri="{FF2B5EF4-FFF2-40B4-BE49-F238E27FC236}">
                <a16:creationId xmlns:a16="http://schemas.microsoft.com/office/drawing/2014/main" id="{7EE1CFE9-1B2A-4F4F-8A26-40D04D7473F6}"/>
              </a:ext>
            </a:extLst>
          </p:cNvPr>
          <p:cNvSpPr>
            <a:spLocks noGrp="1" noChangeArrowheads="1"/>
          </p:cNvSpPr>
          <p:nvPr>
            <p:ph type="body" idx="1"/>
          </p:nvPr>
        </p:nvSpPr>
        <p:spPr>
          <a:xfrm>
            <a:off x="457200" y="1016001"/>
            <a:ext cx="8229600" cy="5283200"/>
          </a:xfrm>
        </p:spPr>
        <p:txBody>
          <a:bodyPr/>
          <a:lstStyle/>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سوکت به عنوان یک نقطه انتهایی </a:t>
            </a:r>
            <a:r>
              <a:rPr lang="en-US"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(end-points)</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برای برقراری ارتباط تعریف می شود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ترکیبی از آدرس</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IP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و پورت - عددی که در ابتدای بسته پیام برای تمایز قائل شدن بین سرویس های شبکه روی یک میزبان گنجانده شده است</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r>
              <a:rPr lang="en-US" sz="2800" dirty="0">
                <a:latin typeface="Calibri" panose="020F0502020204030204" pitchFamily="34" charset="0"/>
                <a:ea typeface="Times New Roman" panose="02020603050405020304" pitchFamily="18" charset="0"/>
                <a:cs typeface="B Nazanin" panose="00000400000000000000" pitchFamily="2" charset="-78"/>
              </a:rPr>
              <a:t>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سوکت </a:t>
            </a:r>
            <a:r>
              <a:rPr lang="ar-SA" sz="28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161.25.19.8:</a:t>
            </a:r>
            <a:r>
              <a:rPr lang="ar-SA" sz="2800" b="1" dirty="0">
                <a:solidFill>
                  <a:srgbClr val="00B0F0"/>
                </a:solidFill>
                <a:effectLst/>
                <a:latin typeface="Calibri" panose="020F0502020204030204" pitchFamily="34" charset="0"/>
                <a:ea typeface="Times New Roman" panose="02020603050405020304" pitchFamily="18" charset="0"/>
                <a:cs typeface="B Nazanin" panose="00000400000000000000" pitchFamily="2" charset="-78"/>
              </a:rPr>
              <a:t>1625</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به پورت 1625 روی میزبان 161.25.19.8 اشاره دارد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ارتباط بین یک جفت سوکت برقرار می شود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تمام پورت های زیر 1024 درگاه های شناخته شده هستند که برای سرویس های استاندارد استفاده می شوند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آدرس</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IP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خاص 127.0.0.1</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(loopback) </a:t>
            </a:r>
            <a:r>
              <a:rPr lang="ar-SA" sz="28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برای اشاره به سیستمی که فرآیند در حال اجرا است استفاده می شود</a:t>
            </a:r>
            <a:r>
              <a:rPr lang="en-US" sz="2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2ED2E090-F4D8-4519-90FE-FAC4503D24F9}"/>
              </a:ext>
            </a:extLst>
          </p:cNvPr>
          <p:cNvSpPr>
            <a:spLocks noGrp="1" noChangeArrowheads="1"/>
          </p:cNvSpPr>
          <p:nvPr>
            <p:ph type="title"/>
          </p:nvPr>
        </p:nvSpPr>
        <p:spPr>
          <a:xfrm>
            <a:off x="757238" y="227013"/>
            <a:ext cx="8229600" cy="576262"/>
          </a:xfrm>
        </p:spPr>
        <p:txBody>
          <a:bodyPr/>
          <a:lstStyle/>
          <a:p>
            <a:pPr eaLnBrk="1" hangingPunct="1"/>
            <a:r>
              <a:rPr lang="en-US" altLang="en-US" dirty="0"/>
              <a:t>Socket Communication</a:t>
            </a:r>
          </a:p>
        </p:txBody>
      </p:sp>
      <p:pic>
        <p:nvPicPr>
          <p:cNvPr id="121859" name="Picture 1">
            <a:extLst>
              <a:ext uri="{FF2B5EF4-FFF2-40B4-BE49-F238E27FC236}">
                <a16:creationId xmlns:a16="http://schemas.microsoft.com/office/drawing/2014/main" id="{4D63FFD0-5A8A-4D78-9147-3649FE91104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17688" y="1676400"/>
            <a:ext cx="5440362" cy="370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54768-8461-4C47-8C1A-9B2DA2946659}"/>
              </a:ext>
            </a:extLst>
          </p:cNvPr>
          <p:cNvSpPr>
            <a:spLocks noGrp="1"/>
          </p:cNvSpPr>
          <p:nvPr>
            <p:ph type="title"/>
          </p:nvPr>
        </p:nvSpPr>
        <p:spPr/>
        <p:txBody>
          <a:bodyPr/>
          <a:lstStyle/>
          <a:p>
            <a:r>
              <a:rPr lang="en-US" altLang="en-US" dirty="0"/>
              <a:t>Socket Communication</a:t>
            </a:r>
            <a:endParaRPr lang="en-US" dirty="0"/>
          </a:p>
        </p:txBody>
      </p:sp>
      <p:sp>
        <p:nvSpPr>
          <p:cNvPr id="3" name="AutoShape 2">
            <a:extLst>
              <a:ext uri="{FF2B5EF4-FFF2-40B4-BE49-F238E27FC236}">
                <a16:creationId xmlns:a16="http://schemas.microsoft.com/office/drawing/2014/main" id="{87D420C7-3A2D-4986-8825-035D2CD6F41B}"/>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AE613C7B-7495-499B-8250-EA5A4087F29D}"/>
              </a:ext>
            </a:extLst>
          </p:cNvPr>
          <p:cNvPicPr>
            <a:picLocks noChangeAspect="1"/>
          </p:cNvPicPr>
          <p:nvPr/>
        </p:nvPicPr>
        <p:blipFill>
          <a:blip r:embed="rId2"/>
          <a:stretch>
            <a:fillRect/>
          </a:stretch>
        </p:blipFill>
        <p:spPr>
          <a:xfrm>
            <a:off x="821601" y="1414901"/>
            <a:ext cx="7033870" cy="3444538"/>
          </a:xfrm>
          <a:prstGeom prst="rect">
            <a:avLst/>
          </a:prstGeom>
        </p:spPr>
      </p:pic>
    </p:spTree>
    <p:extLst>
      <p:ext uri="{BB962C8B-B14F-4D97-AF65-F5344CB8AC3E}">
        <p14:creationId xmlns:p14="http://schemas.microsoft.com/office/powerpoint/2010/main" val="26354449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54768-8461-4C47-8C1A-9B2DA2946659}"/>
              </a:ext>
            </a:extLst>
          </p:cNvPr>
          <p:cNvSpPr>
            <a:spLocks noGrp="1"/>
          </p:cNvSpPr>
          <p:nvPr>
            <p:ph type="title"/>
          </p:nvPr>
        </p:nvSpPr>
        <p:spPr/>
        <p:txBody>
          <a:bodyPr/>
          <a:lstStyle/>
          <a:p>
            <a:r>
              <a:rPr lang="en-US" altLang="en-US" dirty="0"/>
              <a:t>Socket Communication</a:t>
            </a:r>
            <a:endParaRPr lang="en-US" dirty="0"/>
          </a:p>
        </p:txBody>
      </p:sp>
      <p:sp>
        <p:nvSpPr>
          <p:cNvPr id="3" name="AutoShape 2">
            <a:extLst>
              <a:ext uri="{FF2B5EF4-FFF2-40B4-BE49-F238E27FC236}">
                <a16:creationId xmlns:a16="http://schemas.microsoft.com/office/drawing/2014/main" id="{87D420C7-3A2D-4986-8825-035D2CD6F41B}"/>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711CF1B2-752B-42B4-92A0-9BF17F3EDBC1}"/>
              </a:ext>
            </a:extLst>
          </p:cNvPr>
          <p:cNvPicPr>
            <a:picLocks noChangeAspect="1"/>
          </p:cNvPicPr>
          <p:nvPr/>
        </p:nvPicPr>
        <p:blipFill>
          <a:blip r:embed="rId3"/>
          <a:stretch>
            <a:fillRect/>
          </a:stretch>
        </p:blipFill>
        <p:spPr>
          <a:xfrm>
            <a:off x="1740560" y="1196261"/>
            <a:ext cx="5358080" cy="5092829"/>
          </a:xfrm>
          <a:prstGeom prst="rect">
            <a:avLst/>
          </a:prstGeom>
        </p:spPr>
      </p:pic>
    </p:spTree>
    <p:extLst>
      <p:ext uri="{BB962C8B-B14F-4D97-AF65-F5344CB8AC3E}">
        <p14:creationId xmlns:p14="http://schemas.microsoft.com/office/powerpoint/2010/main" val="3463422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8" name="Picture 1">
            <a:extLst>
              <a:ext uri="{FF2B5EF4-FFF2-40B4-BE49-F238E27FC236}">
                <a16:creationId xmlns:a16="http://schemas.microsoft.com/office/drawing/2014/main" id="{EEE0770C-1450-4345-BEEA-A9C8ED78C94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8844" y="1080299"/>
            <a:ext cx="5444673" cy="5424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6" name="Rectangle 2">
            <a:extLst>
              <a:ext uri="{FF2B5EF4-FFF2-40B4-BE49-F238E27FC236}">
                <a16:creationId xmlns:a16="http://schemas.microsoft.com/office/drawing/2014/main" id="{AC43FE53-E6DD-4685-9922-7444BF8AFB40}"/>
              </a:ext>
            </a:extLst>
          </p:cNvPr>
          <p:cNvSpPr>
            <a:spLocks noGrp="1" noChangeArrowheads="1"/>
          </p:cNvSpPr>
          <p:nvPr>
            <p:ph type="title"/>
          </p:nvPr>
        </p:nvSpPr>
        <p:spPr>
          <a:xfrm>
            <a:off x="457200" y="227013"/>
            <a:ext cx="8229600" cy="576262"/>
          </a:xfrm>
        </p:spPr>
        <p:txBody>
          <a:bodyPr/>
          <a:lstStyle/>
          <a:p>
            <a:pPr eaLnBrk="1" hangingPunct="1"/>
            <a:r>
              <a:rPr lang="en-US" altLang="en-US"/>
              <a:t>Sockets in Java</a:t>
            </a:r>
          </a:p>
        </p:txBody>
      </p:sp>
      <p:sp>
        <p:nvSpPr>
          <p:cNvPr id="123907" name="Rectangle 3">
            <a:extLst>
              <a:ext uri="{FF2B5EF4-FFF2-40B4-BE49-F238E27FC236}">
                <a16:creationId xmlns:a16="http://schemas.microsoft.com/office/drawing/2014/main" id="{FDE461F4-16B3-46F4-BD43-800014F0C53C}"/>
              </a:ext>
            </a:extLst>
          </p:cNvPr>
          <p:cNvSpPr>
            <a:spLocks noGrp="1" noChangeArrowheads="1"/>
          </p:cNvSpPr>
          <p:nvPr>
            <p:ph type="body" idx="1"/>
          </p:nvPr>
        </p:nvSpPr>
        <p:spPr>
          <a:xfrm>
            <a:off x="4880114" y="1080299"/>
            <a:ext cx="4344334" cy="6115127"/>
          </a:xfrm>
        </p:spPr>
        <p:txBody>
          <a:bodyPr/>
          <a:lstStyle/>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سه نوع سوکت وجود دارد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اتصال محور</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(TCP)</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بدون اتصال</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(UDP)</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en-US" sz="24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MulticastSocket</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داده ها را می توان به چندین گیرنده ارسال کرد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lvl="1"/>
            <a:endParaRPr lang="en-US" altLang="en-US" sz="3200" dirty="0">
              <a:cs typeface="B Nazanin" panose="00000400000000000000" pitchFamily="2" charset="-78"/>
            </a:endParaRPr>
          </a:p>
          <a:p>
            <a:endParaRPr lang="en-US" altLang="en-US" sz="3200" dirty="0">
              <a:cs typeface="B Nazanin" panose="00000400000000000000" pitchFamily="2" charset="-78"/>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a:extLst>
              <a:ext uri="{FF2B5EF4-FFF2-40B4-BE49-F238E27FC236}">
                <a16:creationId xmlns:a16="http://schemas.microsoft.com/office/drawing/2014/main" id="{C7511513-CD31-4692-851D-D1DB58E82D1A}"/>
              </a:ext>
            </a:extLst>
          </p:cNvPr>
          <p:cNvSpPr>
            <a:spLocks noGrp="1" noChangeArrowheads="1"/>
          </p:cNvSpPr>
          <p:nvPr>
            <p:ph type="title"/>
          </p:nvPr>
        </p:nvSpPr>
        <p:spPr/>
        <p:txBody>
          <a:bodyPr/>
          <a:lstStyle/>
          <a:p>
            <a:r>
              <a:rPr lang="en-US" altLang="en-US"/>
              <a:t>Sockets in Java</a:t>
            </a:r>
          </a:p>
        </p:txBody>
      </p:sp>
      <p:sp>
        <p:nvSpPr>
          <p:cNvPr id="2" name="TextBox 2">
            <a:extLst>
              <a:ext uri="{FF2B5EF4-FFF2-40B4-BE49-F238E27FC236}">
                <a16:creationId xmlns:a16="http://schemas.microsoft.com/office/drawing/2014/main" id="{F8969296-5702-413C-B856-961B30BD420A}"/>
              </a:ext>
            </a:extLst>
          </p:cNvPr>
          <p:cNvSpPr txBox="1">
            <a:spLocks noChangeArrowheads="1"/>
          </p:cNvSpPr>
          <p:nvPr/>
        </p:nvSpPr>
        <p:spPr bwMode="auto">
          <a:xfrm>
            <a:off x="343077" y="1171576"/>
            <a:ext cx="246969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defRPr/>
            </a:pPr>
            <a:r>
              <a:rPr kumimoji="0" lang="en-US" altLang="en-US" dirty="0">
                <a:latin typeface="+mn-lt"/>
              </a:rPr>
              <a:t>The equivalent Date client</a:t>
            </a:r>
          </a:p>
        </p:txBody>
      </p:sp>
      <p:pic>
        <p:nvPicPr>
          <p:cNvPr id="125956" name="Picture 3">
            <a:extLst>
              <a:ext uri="{FF2B5EF4-FFF2-40B4-BE49-F238E27FC236}">
                <a16:creationId xmlns:a16="http://schemas.microsoft.com/office/drawing/2014/main" id="{80564BD1-BFAE-4AE7-BD99-CC3DE4A875F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12774" y="945769"/>
            <a:ext cx="6186311" cy="5686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E01BCD28-A345-4D38-A597-097FF1FEF581}"/>
              </a:ext>
            </a:extLst>
          </p:cNvPr>
          <p:cNvSpPr>
            <a:spLocks noGrp="1" noChangeArrowheads="1"/>
          </p:cNvSpPr>
          <p:nvPr>
            <p:ph type="title"/>
          </p:nvPr>
        </p:nvSpPr>
        <p:spPr>
          <a:xfrm>
            <a:off x="457200" y="233363"/>
            <a:ext cx="8229600" cy="576262"/>
          </a:xfrm>
        </p:spPr>
        <p:txBody>
          <a:bodyPr/>
          <a:lstStyle/>
          <a:p>
            <a:pPr eaLnBrk="1" hangingPunct="1"/>
            <a:r>
              <a:rPr lang="en-US" altLang="en-US"/>
              <a:t>Remote Procedure Calls</a:t>
            </a:r>
          </a:p>
        </p:txBody>
      </p:sp>
      <p:sp>
        <p:nvSpPr>
          <p:cNvPr id="126979" name="Rectangle 3">
            <a:extLst>
              <a:ext uri="{FF2B5EF4-FFF2-40B4-BE49-F238E27FC236}">
                <a16:creationId xmlns:a16="http://schemas.microsoft.com/office/drawing/2014/main" id="{CDEC6CAE-EDD4-4F10-873D-FB38F22E6965}"/>
              </a:ext>
            </a:extLst>
          </p:cNvPr>
          <p:cNvSpPr>
            <a:spLocks noGrp="1" noChangeArrowheads="1"/>
          </p:cNvSpPr>
          <p:nvPr>
            <p:ph type="body" idx="1"/>
          </p:nvPr>
        </p:nvSpPr>
        <p:spPr>
          <a:xfrm>
            <a:off x="214490" y="1138238"/>
            <a:ext cx="8782754" cy="5386740"/>
          </a:xfrm>
        </p:spPr>
        <p:txBody>
          <a:bodyPr/>
          <a:lstStyle/>
          <a:p>
            <a:pPr marL="0" marR="0" algn="r" rtl="1">
              <a:lnSpc>
                <a:spcPct val="115000"/>
              </a:lnSpc>
              <a:spcBef>
                <a:spcPts val="0"/>
              </a:spcBef>
              <a:spcAft>
                <a:spcPts val="1000"/>
              </a:spcAft>
            </a:pPr>
            <a:r>
              <a:rPr lang="ar-SA" sz="3200" dirty="0">
                <a:solidFill>
                  <a:srgbClr val="000000"/>
                </a:solidFill>
                <a:effectLst/>
                <a:latin typeface="Calibri" panose="020F0502020204030204" pitchFamily="34" charset="0"/>
                <a:ea typeface="Calibri" panose="020F0502020204030204" pitchFamily="34" charset="0"/>
                <a:cs typeface="B Nazanin" panose="00000400000000000000" pitchFamily="2" charset="-78"/>
              </a:rPr>
              <a:t>فراخوانی رویه از راه </a:t>
            </a:r>
            <a:r>
              <a:rPr lang="fa-IR" sz="3200" dirty="0">
                <a:solidFill>
                  <a:srgbClr val="000000"/>
                </a:solidFill>
                <a:effectLst/>
                <a:latin typeface="Calibri" panose="020F0502020204030204" pitchFamily="34" charset="0"/>
                <a:ea typeface="Calibri" panose="020F0502020204030204" pitchFamily="34" charset="0"/>
                <a:cs typeface="B Nazanin" panose="00000400000000000000" pitchFamily="2" charset="-78"/>
              </a:rPr>
              <a:t>دور (RPC) یک مکانیزم برای انتزاع فراخوانی رویه بین فرآیندها در سیستم‌های توزیع شده بر بستر شبکه است. </a:t>
            </a:r>
            <a:endParaRPr lang="en-US" sz="3200" dirty="0">
              <a:solidFill>
                <a:srgbClr val="000000"/>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15000"/>
              </a:lnSpc>
              <a:spcBef>
                <a:spcPts val="0"/>
              </a:spcBef>
              <a:spcAft>
                <a:spcPts val="1000"/>
              </a:spcAft>
            </a:pPr>
            <a:r>
              <a:rPr lang="fa-IR" sz="3200" dirty="0">
                <a:solidFill>
                  <a:srgbClr val="000000"/>
                </a:solidFill>
                <a:effectLst/>
                <a:latin typeface="Calibri" panose="020F0502020204030204" pitchFamily="34" charset="0"/>
                <a:ea typeface="Calibri" panose="020F0502020204030204" pitchFamily="34" charset="0"/>
                <a:cs typeface="B Nazanin" panose="00000400000000000000" pitchFamily="2" charset="-78"/>
              </a:rPr>
              <a:t>به عبارت دیگر، این پروتکل به برنامه‌نویس این امکان را می‌دهد تا توابع موجود روی یک کامپیوتر دیگر در شبکه را اجرا کند، گویی آن توابع به صورت محلی در دسترس هستند.</a:t>
            </a:r>
            <a:endParaRPr lang="en-US" sz="3200" dirty="0">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E01BCD28-A345-4D38-A597-097FF1FEF581}"/>
              </a:ext>
            </a:extLst>
          </p:cNvPr>
          <p:cNvSpPr>
            <a:spLocks noGrp="1" noChangeArrowheads="1"/>
          </p:cNvSpPr>
          <p:nvPr>
            <p:ph type="title"/>
          </p:nvPr>
        </p:nvSpPr>
        <p:spPr>
          <a:xfrm>
            <a:off x="457200" y="233363"/>
            <a:ext cx="8229600" cy="576262"/>
          </a:xfrm>
        </p:spPr>
        <p:txBody>
          <a:bodyPr/>
          <a:lstStyle/>
          <a:p>
            <a:pPr marL="0" algn="r" rtl="1">
              <a:lnSpc>
                <a:spcPct val="115000"/>
              </a:lnSpc>
              <a:spcBef>
                <a:spcPts val="0"/>
              </a:spcBef>
              <a:spcAft>
                <a:spcPts val="1000"/>
              </a:spcAft>
            </a:pPr>
            <a:r>
              <a:rPr lang="ar-SA" sz="24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فراخوان رویه از راه دور</a:t>
            </a:r>
            <a:r>
              <a:rPr lang="en-US" sz="24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(RPC - Remote Procedure Calls)</a:t>
            </a:r>
            <a:endParaRPr lang="en-US" sz="2400" dirty="0">
              <a:solidFill>
                <a:srgbClr val="000000"/>
              </a:solidFill>
              <a:effectLst/>
              <a:latin typeface="Calibri" panose="020F0502020204030204" pitchFamily="34" charset="0"/>
              <a:ea typeface="Calibri" panose="020F0502020204030204" pitchFamily="34" charset="0"/>
              <a:cs typeface="B Nazanin" panose="00000400000000000000" pitchFamily="2" charset="-78"/>
            </a:endParaRPr>
          </a:p>
        </p:txBody>
      </p:sp>
      <p:sp>
        <p:nvSpPr>
          <p:cNvPr id="126979" name="Rectangle 3">
            <a:extLst>
              <a:ext uri="{FF2B5EF4-FFF2-40B4-BE49-F238E27FC236}">
                <a16:creationId xmlns:a16="http://schemas.microsoft.com/office/drawing/2014/main" id="{CDEC6CAE-EDD4-4F10-873D-FB38F22E6965}"/>
              </a:ext>
            </a:extLst>
          </p:cNvPr>
          <p:cNvSpPr>
            <a:spLocks noGrp="1" noChangeArrowheads="1"/>
          </p:cNvSpPr>
          <p:nvPr>
            <p:ph type="body" idx="1"/>
          </p:nvPr>
        </p:nvSpPr>
        <p:spPr>
          <a:xfrm>
            <a:off x="214490" y="1138238"/>
            <a:ext cx="8782754" cy="5386740"/>
          </a:xfrm>
        </p:spPr>
        <p:txBody>
          <a:bodyPr/>
          <a:lstStyle/>
          <a:p>
            <a:pPr marL="400050" lvl="1" algn="r" rtl="1">
              <a:lnSpc>
                <a:spcPct val="115000"/>
              </a:lnSpc>
              <a:spcBef>
                <a:spcPts val="0"/>
              </a:spcBef>
              <a:spcAft>
                <a:spcPts val="1000"/>
              </a:spcAft>
            </a:pPr>
            <a:r>
              <a:rPr lang="fa-IR" sz="2400" dirty="0">
                <a:solidFill>
                  <a:srgbClr val="000000"/>
                </a:solidFill>
                <a:effectLst/>
                <a:latin typeface="Calibri" panose="020F0502020204030204" pitchFamily="34" charset="0"/>
                <a:ea typeface="Calibri" panose="020F0502020204030204" pitchFamily="34" charset="0"/>
                <a:cs typeface="B Nazanin" panose="00000400000000000000" pitchFamily="2" charset="-78"/>
              </a:rPr>
              <a:t>RPC از پورت‌ها برای تمایز قائل شدن بین سرویس‌های مختلف استفاده می‌کند.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400050" lvl="1" algn="r" rtl="1">
              <a:lnSpc>
                <a:spcPct val="115000"/>
              </a:lnSpc>
              <a:spcBef>
                <a:spcPts val="0"/>
              </a:spcBef>
              <a:spcAft>
                <a:spcPts val="1000"/>
              </a:spcAft>
            </a:pPr>
            <a:r>
              <a:rPr lang="fa-IR" sz="2400" dirty="0">
                <a:solidFill>
                  <a:srgbClr val="000000"/>
                </a:solidFill>
                <a:effectLst/>
                <a:latin typeface="Calibri" panose="020F0502020204030204" pitchFamily="34" charset="0"/>
                <a:ea typeface="Calibri" panose="020F0502020204030204" pitchFamily="34" charset="0"/>
                <a:cs typeface="B Nazanin" panose="00000400000000000000" pitchFamily="2" charset="-78"/>
              </a:rPr>
              <a:t> Stub یک پروکسی در سمت کلاینت است که به عنوان نماینده</a:t>
            </a:r>
            <a:r>
              <a:rPr lang="fa-IR" sz="2400" b="1" dirty="0">
                <a:solidFill>
                  <a:srgbClr val="000000"/>
                </a:solidFill>
                <a:effectLst/>
                <a:latin typeface="Calibri" panose="020F0502020204030204" pitchFamily="34" charset="0"/>
                <a:ea typeface="Calibri" panose="020F0502020204030204" pitchFamily="34" charset="0"/>
                <a:cs typeface="B Nazanin" panose="00000400000000000000" pitchFamily="2" charset="-78"/>
              </a:rPr>
              <a:t> پروسیجر واقعی </a:t>
            </a:r>
            <a:r>
              <a:rPr lang="fa-IR" sz="2400" dirty="0">
                <a:solidFill>
                  <a:srgbClr val="000000"/>
                </a:solidFill>
                <a:effectLst/>
                <a:latin typeface="Calibri" panose="020F0502020204030204" pitchFamily="34" charset="0"/>
                <a:ea typeface="Calibri" panose="020F0502020204030204" pitchFamily="34" charset="0"/>
                <a:cs typeface="B Nazanin" panose="00000400000000000000" pitchFamily="2" charset="-78"/>
              </a:rPr>
              <a:t>روی سرور عمل می‌کند.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400050" lvl="1" algn="r" rtl="1">
              <a:lnSpc>
                <a:spcPct val="115000"/>
              </a:lnSpc>
              <a:spcBef>
                <a:spcPts val="0"/>
              </a:spcBef>
              <a:spcAft>
                <a:spcPts val="1000"/>
              </a:spcAft>
            </a:pPr>
            <a:r>
              <a:rPr lang="fa-IR" sz="2400" dirty="0">
                <a:solidFill>
                  <a:srgbClr val="000000"/>
                </a:solidFill>
                <a:effectLst/>
                <a:latin typeface="Calibri" panose="020F0502020204030204" pitchFamily="34" charset="0"/>
                <a:ea typeface="Calibri" panose="020F0502020204030204" pitchFamily="34" charset="0"/>
                <a:cs typeface="B Nazanin" panose="00000400000000000000" pitchFamily="2" charset="-78"/>
              </a:rPr>
              <a:t> Stub سمت کلاینت مسئولیت یافتن سرور مقصد و آماده‌سازی (marshaling) پارامترهای ارسالی را برعهده دارد</a:t>
            </a:r>
            <a:r>
              <a:rPr lang="en-US" sz="2400" dirty="0">
                <a:solidFill>
                  <a:srgbClr val="000000"/>
                </a:solidFill>
                <a:effectLst/>
                <a:latin typeface="Helvetica" panose="020B060402020202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400050" lvl="1" algn="r" rtl="1">
              <a:lnSpc>
                <a:spcPct val="115000"/>
              </a:lnSpc>
              <a:spcBef>
                <a:spcPts val="0"/>
              </a:spcBef>
              <a:spcAft>
                <a:spcPts val="1000"/>
              </a:spcAft>
            </a:pPr>
            <a:r>
              <a:rPr lang="fa-IR" sz="2400" dirty="0">
                <a:solidFill>
                  <a:srgbClr val="000000"/>
                </a:solidFill>
                <a:effectLst/>
                <a:latin typeface="Calibri" panose="020F0502020204030204" pitchFamily="34" charset="0"/>
                <a:ea typeface="Calibri" panose="020F0502020204030204" pitchFamily="34" charset="0"/>
                <a:cs typeface="B Nazanin" panose="00000400000000000000" pitchFamily="2" charset="-78"/>
              </a:rPr>
              <a:t>در سمت سرور، Stub دیگر این پیام را دریافت کرده و پارامترهای آماده‌سازی شده را از حالت آماده‌سازی خارج (unmarshaling) کرده و در نهایت، پروسیجر مورد نظر را روی سرور اجرا می‌کند.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400050" lvl="1" algn="r" rtl="1">
              <a:lnSpc>
                <a:spcPct val="115000"/>
              </a:lnSpc>
              <a:spcBef>
                <a:spcPts val="0"/>
              </a:spcBef>
              <a:spcAft>
                <a:spcPts val="1000"/>
              </a:spcAft>
            </a:pPr>
            <a:r>
              <a:rPr lang="fa-IR" sz="2400" dirty="0">
                <a:solidFill>
                  <a:srgbClr val="000000"/>
                </a:solidFill>
                <a:effectLst/>
                <a:latin typeface="Calibri" panose="020F0502020204030204" pitchFamily="34" charset="0"/>
                <a:ea typeface="Calibri" panose="020F0502020204030204" pitchFamily="34" charset="0"/>
                <a:cs typeface="B Nazanin" panose="00000400000000000000" pitchFamily="2" charset="-78"/>
              </a:rPr>
              <a:t>بر روی سیستم‌عامل ویندوز، کدهای Stub بر اساس مشخصات نوشته شده با زبان تعریف رابط مایکروسافت (MIDL) کامپایل می‌شوند.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0" marR="0" indent="0">
              <a:lnSpc>
                <a:spcPct val="107000"/>
              </a:lnSpc>
              <a:spcBef>
                <a:spcPts val="0"/>
              </a:spcBef>
              <a:spcAft>
                <a:spcPts val="800"/>
              </a:spcAft>
              <a:buNone/>
            </a:pPr>
            <a:endParaRPr lang="en-US" sz="2400" dirty="0">
              <a:effectLst/>
              <a:latin typeface="Calibri" panose="020F0502020204030204" pitchFamily="34" charset="0"/>
              <a:ea typeface="Calibri" panose="020F0502020204030204" pitchFamily="34" charset="0"/>
              <a:cs typeface="B Nazanin" panose="00000400000000000000" pitchFamily="2" charset="-78"/>
            </a:endParaRPr>
          </a:p>
        </p:txBody>
      </p:sp>
    </p:spTree>
    <p:extLst>
      <p:ext uri="{BB962C8B-B14F-4D97-AF65-F5344CB8AC3E}">
        <p14:creationId xmlns:p14="http://schemas.microsoft.com/office/powerpoint/2010/main" val="28690626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3CFC0513-6498-44D9-8826-FE7B637CBB87}"/>
              </a:ext>
            </a:extLst>
          </p:cNvPr>
          <p:cNvSpPr>
            <a:spLocks noGrp="1" noChangeArrowheads="1"/>
          </p:cNvSpPr>
          <p:nvPr>
            <p:ph type="title"/>
          </p:nvPr>
        </p:nvSpPr>
        <p:spPr>
          <a:xfrm>
            <a:off x="930275" y="230188"/>
            <a:ext cx="8229600" cy="576262"/>
          </a:xfrm>
        </p:spPr>
        <p:txBody>
          <a:bodyPr/>
          <a:lstStyle/>
          <a:p>
            <a:pPr eaLnBrk="1" hangingPunct="1"/>
            <a:r>
              <a:rPr lang="en-US" altLang="en-US"/>
              <a:t>Remote Procedure Calls (Cont.)</a:t>
            </a:r>
          </a:p>
        </p:txBody>
      </p:sp>
      <p:sp>
        <p:nvSpPr>
          <p:cNvPr id="129027" name="Rectangle 3">
            <a:extLst>
              <a:ext uri="{FF2B5EF4-FFF2-40B4-BE49-F238E27FC236}">
                <a16:creationId xmlns:a16="http://schemas.microsoft.com/office/drawing/2014/main" id="{2D773B3E-1F58-47D6-A600-27575633E577}"/>
              </a:ext>
            </a:extLst>
          </p:cNvPr>
          <p:cNvSpPr>
            <a:spLocks noGrp="1" noChangeArrowheads="1"/>
          </p:cNvSpPr>
          <p:nvPr>
            <p:ph type="body" idx="1"/>
          </p:nvPr>
        </p:nvSpPr>
        <p:spPr>
          <a:xfrm>
            <a:off x="519289" y="969963"/>
            <a:ext cx="8083374" cy="4675187"/>
          </a:xfrm>
        </p:spPr>
        <p:txBody>
          <a:bodyPr/>
          <a:lstStyle/>
          <a:p>
            <a:pPr marL="0" marR="0" algn="r" rtl="1">
              <a:lnSpc>
                <a:spcPct val="107000"/>
              </a:lnSpc>
              <a:spcBef>
                <a:spcPts val="0"/>
              </a:spcBef>
              <a:spcAft>
                <a:spcPts val="800"/>
              </a:spcAf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نمایش داده‌ها برای سازگاری با ساختارهای مختلف از طریق فرمت نمایش داده خارجی</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32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XDL:</a:t>
            </a:r>
            <a:r>
              <a:rPr lang="en-US" sz="3200" dirty="0" err="1"/>
              <a:t>eXternal</a:t>
            </a:r>
            <a:r>
              <a:rPr lang="en-US" sz="3200" dirty="0"/>
              <a:t> Data Representation</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fa-IR"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در فراخوانی </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RPC</a:t>
            </a:r>
            <a:r>
              <a:rPr lang="fa-IR"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مدیریت می‌شود</a:t>
            </a:r>
            <a:r>
              <a:rPr lang="fa-IR"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a:t>
            </a:r>
            <a:endParaRPr lang="en-US"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a:p>
            <a:pPr marL="0" marR="0" indent="0" algn="r" rtl="1">
              <a:lnSpc>
                <a:spcPct val="107000"/>
              </a:lnSpc>
              <a:spcBef>
                <a:spcPts val="0"/>
              </a:spcBef>
              <a:spcAft>
                <a:spcPts val="800"/>
              </a:spcAft>
              <a:buNone/>
            </a:pPr>
            <a:endParaRPr lang="en-US"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endParaRPr>
          </a:p>
          <a:p>
            <a:pPr marL="0" marR="0" algn="r" rtl="1">
              <a:lnSpc>
                <a:spcPct val="107000"/>
              </a:lnSpc>
              <a:spcBef>
                <a:spcPts val="0"/>
              </a:spcBef>
              <a:spcAft>
                <a:spcPts val="800"/>
              </a:spcAft>
            </a:pPr>
            <a:r>
              <a:rPr lang="ar-SA" sz="3200" dirty="0">
                <a:solidFill>
                  <a:srgbClr val="1F1F1F"/>
                </a:solidFill>
                <a:latin typeface="Calibri" panose="020F0502020204030204" pitchFamily="34" charset="0"/>
                <a:cs typeface="B Nazanin" panose="00000400000000000000" pitchFamily="2" charset="-78"/>
              </a:rPr>
              <a:t>ارتباطات راه دور نسبت به ارتباطات محلی، دارای سناریوهای خطای بالقوه بیشتری است. </a:t>
            </a:r>
            <a:endParaRPr lang="fa-IR" sz="3200" dirty="0">
              <a:solidFill>
                <a:srgbClr val="1F1F1F"/>
              </a:solidFill>
              <a:latin typeface="Calibri" panose="020F0502020204030204" pitchFamily="34" charset="0"/>
              <a:cs typeface="B Nazanin" panose="00000400000000000000" pitchFamily="2" charset="-78"/>
            </a:endParaRPr>
          </a:p>
          <a:p>
            <a:pPr marL="400050" lvl="1" algn="r" rtl="1">
              <a:lnSpc>
                <a:spcPct val="107000"/>
              </a:lnSpc>
              <a:spcBef>
                <a:spcPts val="0"/>
              </a:spcBef>
              <a:spcAft>
                <a:spcPts val="800"/>
              </a:spcAft>
            </a:pPr>
            <a:r>
              <a:rPr lang="ar-SA" sz="3200" dirty="0">
                <a:solidFill>
                  <a:srgbClr val="1F1F1F"/>
                </a:solidFill>
                <a:latin typeface="Calibri" panose="020F0502020204030204" pitchFamily="34" charset="0"/>
                <a:cs typeface="B Nazanin" panose="00000400000000000000" pitchFamily="2" charset="-78"/>
              </a:rPr>
              <a:t>با این حال، این پروتکل تضمین می‌کند که پیام‌ها حداکثر یک بار و به صورت صحیح، به گیرنده (مقصد) ارسال شوند (برخلاف سناریوی “حداکثر یک بار” در برخی پروتکل‌های دیگر)</a:t>
            </a:r>
            <a:r>
              <a:rPr lang="en-US" sz="3200" dirty="0">
                <a:solidFill>
                  <a:srgbClr val="1F1F1F"/>
                </a:solidFill>
                <a:latin typeface="Calibri" panose="020F0502020204030204" pitchFamily="34" charset="0"/>
                <a:cs typeface="B Nazanin" panose="00000400000000000000" pitchFamily="2" charset="-78"/>
              </a:rPr>
              <a:t>.</a:t>
            </a:r>
          </a:p>
          <a:p>
            <a:pPr marL="0" marR="0" indent="0" algn="r" rtl="1">
              <a:lnSpc>
                <a:spcPct val="107000"/>
              </a:lnSpc>
              <a:spcBef>
                <a:spcPts val="0"/>
              </a:spcBef>
              <a:spcAft>
                <a:spcPts val="800"/>
              </a:spcAft>
              <a:buNone/>
            </a:pPr>
            <a:endParaRPr lang="en-US" sz="3200" dirty="0">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51A14-0E35-40FA-B6CE-63F5637B5D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60CB0EA-00AE-4791-97B0-925DC9E51291}"/>
              </a:ext>
            </a:extLst>
          </p:cNvPr>
          <p:cNvSpPr>
            <a:spLocks noGrp="1"/>
          </p:cNvSpPr>
          <p:nvPr>
            <p:ph idx="1"/>
          </p:nvPr>
        </p:nvSpPr>
        <p:spPr/>
        <p:txBody>
          <a:bodyPr/>
          <a:lstStyle/>
          <a:p>
            <a:endParaRPr lang="en-US" dirty="0"/>
          </a:p>
        </p:txBody>
      </p:sp>
      <p:pic>
        <p:nvPicPr>
          <p:cNvPr id="5122" name="Picture 2" descr="What is RPC in Operating System">
            <a:extLst>
              <a:ext uri="{FF2B5EF4-FFF2-40B4-BE49-F238E27FC236}">
                <a16:creationId xmlns:a16="http://schemas.microsoft.com/office/drawing/2014/main" id="{50647FB2-A9A6-4C8D-94AE-64C64243D7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736" y="21787"/>
            <a:ext cx="4166289" cy="252796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What is RPC in Operating System">
            <a:extLst>
              <a:ext uri="{FF2B5EF4-FFF2-40B4-BE49-F238E27FC236}">
                <a16:creationId xmlns:a16="http://schemas.microsoft.com/office/drawing/2014/main" id="{909492F9-0916-4E1B-920E-75168A6AE4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9348" y="2295525"/>
            <a:ext cx="4295775"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7654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animEffect transition="in" filter="fade">
                                      <p:cBhvr>
                                        <p:cTn id="7" dur="500"/>
                                        <p:tgtEl>
                                          <p:spTgt spid="5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D538A429-F2A7-4F7C-87E2-EEC652982A19}"/>
              </a:ext>
            </a:extLst>
          </p:cNvPr>
          <p:cNvSpPr>
            <a:spLocks noGrp="1" noChangeArrowheads="1"/>
          </p:cNvSpPr>
          <p:nvPr>
            <p:ph type="title"/>
          </p:nvPr>
        </p:nvSpPr>
        <p:spPr>
          <a:xfrm>
            <a:off x="5396752" y="0"/>
            <a:ext cx="4419600" cy="576262"/>
          </a:xfrm>
        </p:spPr>
        <p:txBody>
          <a:bodyPr/>
          <a:lstStyle/>
          <a:p>
            <a:pPr rtl="1" eaLnBrk="1" hangingPunct="1"/>
            <a:r>
              <a:rPr lang="fa-IR" altLang="en-US" sz="2400" dirty="0">
                <a:cs typeface="B Nazanin" panose="00000400000000000000" pitchFamily="2" charset="-78"/>
              </a:rPr>
              <a:t>اجرای </a:t>
            </a:r>
            <a:r>
              <a:rPr lang="en-US" altLang="en-US" sz="2400" dirty="0">
                <a:cs typeface="B Nazanin" panose="00000400000000000000" pitchFamily="2" charset="-78"/>
              </a:rPr>
              <a:t>RPC</a:t>
            </a:r>
          </a:p>
        </p:txBody>
      </p:sp>
      <p:pic>
        <p:nvPicPr>
          <p:cNvPr id="131075" name="Picture 1">
            <a:extLst>
              <a:ext uri="{FF2B5EF4-FFF2-40B4-BE49-F238E27FC236}">
                <a16:creationId xmlns:a16="http://schemas.microsoft.com/office/drawing/2014/main" id="{ECFE0A42-3507-487F-9D40-A6D4040A6D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05570" y="108839"/>
            <a:ext cx="5608855" cy="6749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0351E1C-E69F-3493-BBFA-541B5585780C}"/>
              </a:ext>
            </a:extLst>
          </p:cNvPr>
          <p:cNvSpPr txBox="1"/>
          <p:nvPr/>
        </p:nvSpPr>
        <p:spPr>
          <a:xfrm>
            <a:off x="4065844" y="462421"/>
            <a:ext cx="4909930" cy="941796"/>
          </a:xfrm>
          <a:prstGeom prst="rect">
            <a:avLst/>
          </a:prstGeom>
          <a:noFill/>
        </p:spPr>
        <p:txBody>
          <a:bodyPr wrap="square">
            <a:spAutoFit/>
          </a:bodyPr>
          <a:lstStyle/>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600" b="1" kern="100" dirty="0">
                <a:effectLst/>
                <a:latin typeface="Aptos" panose="020B0004020202020204" pitchFamily="34" charset="0"/>
                <a:ea typeface="Aptos" panose="020B0004020202020204" pitchFamily="34" charset="0"/>
                <a:cs typeface="B Nazanin" panose="00000400000000000000" pitchFamily="2" charset="-78"/>
              </a:rPr>
              <a:t>کاربر کرنل را فراخوانی می‌کند</a:t>
            </a:r>
            <a:r>
              <a:rPr lang="en-US" sz="1600" kern="100" dirty="0">
                <a:effectLst/>
                <a:latin typeface="Aptos" panose="020B0004020202020204" pitchFamily="34" charset="0"/>
                <a:ea typeface="Aptos" panose="020B0004020202020204" pitchFamily="34" charset="0"/>
                <a:cs typeface="B Nazanin" panose="00000400000000000000" pitchFamily="2" charset="-78"/>
              </a:rPr>
              <a:t>: </a:t>
            </a:r>
            <a:r>
              <a:rPr lang="ar-SA" sz="1600" kern="100" dirty="0">
                <a:effectLst/>
                <a:latin typeface="Aptos" panose="020B0004020202020204" pitchFamily="34" charset="0"/>
                <a:ea typeface="Aptos" panose="020B0004020202020204" pitchFamily="34" charset="0"/>
                <a:cs typeface="B Nazanin" panose="00000400000000000000" pitchFamily="2" charset="-78"/>
              </a:rPr>
              <a:t>برنامه کلاینت از کرنل درخواست می‌کند تا یک پیام</a:t>
            </a:r>
            <a:r>
              <a:rPr lang="en-US" sz="1600" kern="100" dirty="0">
                <a:effectLst/>
                <a:latin typeface="Aptos" panose="020B0004020202020204" pitchFamily="34" charset="0"/>
                <a:ea typeface="Aptos" panose="020B0004020202020204" pitchFamily="34" charset="0"/>
                <a:cs typeface="B Nazanin" panose="00000400000000000000" pitchFamily="2" charset="-78"/>
              </a:rPr>
              <a:t> RPC </a:t>
            </a:r>
            <a:r>
              <a:rPr lang="ar-SA" sz="1600" kern="100" dirty="0">
                <a:effectLst/>
                <a:latin typeface="Aptos" panose="020B0004020202020204" pitchFamily="34" charset="0"/>
                <a:ea typeface="Aptos" panose="020B0004020202020204" pitchFamily="34" charset="0"/>
                <a:cs typeface="B Nazanin" panose="00000400000000000000" pitchFamily="2" charset="-78"/>
              </a:rPr>
              <a:t>برای اجرای رویه</a:t>
            </a:r>
            <a:r>
              <a:rPr lang="ar-SA" sz="1600" kern="100" dirty="0">
                <a:effectLst/>
                <a:latin typeface="Aptos" panose="020B0004020202020204" pitchFamily="34" charset="0"/>
                <a:ea typeface="Aptos" panose="020B0004020202020204" pitchFamily="34" charset="0"/>
                <a:cs typeface="Cambria" panose="02040503050406030204" pitchFamily="18" charset="0"/>
              </a:rPr>
              <a:t> </a:t>
            </a:r>
            <a:r>
              <a:rPr lang="en-US" sz="1600" b="1" kern="100" dirty="0">
                <a:effectLst/>
                <a:latin typeface="Aptos" panose="020B0004020202020204" pitchFamily="34" charset="0"/>
                <a:ea typeface="Aptos" panose="020B0004020202020204" pitchFamily="34" charset="0"/>
                <a:cs typeface="B Nazanin" panose="00000400000000000000" pitchFamily="2" charset="-78"/>
              </a:rPr>
              <a:t>X</a:t>
            </a:r>
            <a:r>
              <a:rPr lang="en-US" sz="1600" kern="100" dirty="0">
                <a:effectLst/>
                <a:latin typeface="Aptos" panose="020B0004020202020204" pitchFamily="34" charset="0"/>
                <a:ea typeface="Aptos" panose="020B0004020202020204" pitchFamily="34" charset="0"/>
                <a:cs typeface="B Nazanin" panose="00000400000000000000" pitchFamily="2" charset="-78"/>
              </a:rPr>
              <a:t> </a:t>
            </a:r>
            <a:r>
              <a:rPr lang="ar-SA" sz="1600" kern="100" dirty="0">
                <a:effectLst/>
                <a:latin typeface="Aptos" panose="020B0004020202020204" pitchFamily="34" charset="0"/>
                <a:ea typeface="Aptos" panose="020B0004020202020204" pitchFamily="34" charset="0"/>
                <a:cs typeface="B Nazanin" panose="00000400000000000000" pitchFamily="2" charset="-78"/>
              </a:rPr>
              <a:t>روی یک سرور راه‌دور ارسال کند</a:t>
            </a:r>
            <a:r>
              <a:rPr lang="en-US" sz="1600" kern="100" dirty="0">
                <a:effectLst/>
                <a:latin typeface="Aptos" panose="020B0004020202020204" pitchFamily="34" charset="0"/>
                <a:ea typeface="Aptos" panose="020B0004020202020204" pitchFamily="34" charset="0"/>
                <a:cs typeface="B Nazanin" panose="00000400000000000000" pitchFamily="2" charset="-78"/>
              </a:rPr>
              <a:t>.</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962761D-7F4D-4648-FD9C-9709CD2063F7}"/>
              </a:ext>
            </a:extLst>
          </p:cNvPr>
          <p:cNvSpPr txBox="1"/>
          <p:nvPr/>
        </p:nvSpPr>
        <p:spPr>
          <a:xfrm>
            <a:off x="221396" y="1484080"/>
            <a:ext cx="2584174" cy="1826654"/>
          </a:xfrm>
          <a:prstGeom prst="rect">
            <a:avLst/>
          </a:prstGeom>
          <a:noFill/>
        </p:spPr>
        <p:txBody>
          <a:bodyPr wrap="square">
            <a:spAutoFit/>
          </a:bodyPr>
          <a:lstStyle/>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400" b="1" kern="100" dirty="0">
                <a:effectLst/>
                <a:latin typeface="Aptos" panose="020B0004020202020204" pitchFamily="34" charset="0"/>
                <a:ea typeface="Aptos" panose="020B0004020202020204" pitchFamily="34" charset="0"/>
                <a:cs typeface="B Nazanin" panose="00000400000000000000" pitchFamily="2" charset="-78"/>
              </a:rPr>
              <a:t>کرنل با تطبیق‌دهنده تماس می‌گیرد</a:t>
            </a:r>
            <a:r>
              <a:rPr lang="en-US" sz="1400" kern="100" dirty="0">
                <a:effectLst/>
                <a:latin typeface="Aptos" panose="020B0004020202020204" pitchFamily="34" charset="0"/>
                <a:ea typeface="Aptos" panose="020B0004020202020204" pitchFamily="34" charset="0"/>
                <a:cs typeface="B Nazanin" panose="00000400000000000000" pitchFamily="2" charset="-78"/>
              </a:rPr>
              <a:t>: </a:t>
            </a:r>
            <a:r>
              <a:rPr lang="ar-SA" sz="1400" kern="100" dirty="0">
                <a:effectLst/>
                <a:latin typeface="Aptos" panose="020B0004020202020204" pitchFamily="34" charset="0"/>
                <a:ea typeface="Aptos" panose="020B0004020202020204" pitchFamily="34" charset="0"/>
                <a:cs typeface="B Nazanin" panose="00000400000000000000" pitchFamily="2" charset="-78"/>
              </a:rPr>
              <a:t>از آنجا که کلاینت پورت سرور را نمی‌داند، کرنل یک درخواست جست‌وجو به</a:t>
            </a:r>
            <a:r>
              <a:rPr lang="ar-SA" sz="1400" kern="100" dirty="0">
                <a:effectLst/>
                <a:latin typeface="Aptos" panose="020B0004020202020204" pitchFamily="34" charset="0"/>
                <a:ea typeface="Aptos" panose="020B0004020202020204" pitchFamily="34" charset="0"/>
                <a:cs typeface="Cambria" panose="02040503050406030204" pitchFamily="18" charset="0"/>
              </a:rPr>
              <a:t> </a:t>
            </a:r>
            <a:r>
              <a:rPr lang="ar-SA" sz="1400" b="1" kern="100" dirty="0">
                <a:effectLst/>
                <a:latin typeface="Aptos" panose="020B0004020202020204" pitchFamily="34" charset="0"/>
                <a:ea typeface="Aptos" panose="020B0004020202020204" pitchFamily="34" charset="0"/>
                <a:cs typeface="B Nazanin" panose="00000400000000000000" pitchFamily="2" charset="-78"/>
              </a:rPr>
              <a:t>سرویس تطبیق‌دهنده</a:t>
            </a:r>
            <a:r>
              <a:rPr lang="ar-SA" sz="1400" kern="100" dirty="0">
                <a:effectLst/>
                <a:latin typeface="Aptos" panose="020B0004020202020204" pitchFamily="34" charset="0"/>
                <a:ea typeface="Aptos" panose="020B0004020202020204" pitchFamily="34" charset="0"/>
                <a:cs typeface="Cambria" panose="02040503050406030204" pitchFamily="18" charset="0"/>
              </a:rPr>
              <a:t> </a:t>
            </a:r>
            <a:r>
              <a:rPr lang="ar-SA" sz="1400" kern="100" dirty="0">
                <a:effectLst/>
                <a:latin typeface="Aptos" panose="020B0004020202020204" pitchFamily="34" charset="0"/>
                <a:ea typeface="Aptos" panose="020B0004020202020204" pitchFamily="34" charset="0"/>
                <a:cs typeface="B Nazanin" panose="00000400000000000000" pitchFamily="2" charset="-78"/>
              </a:rPr>
              <a:t>یک رجیستری متمرکز که نام‌های</a:t>
            </a:r>
            <a:r>
              <a:rPr lang="en-US" sz="1400" kern="100" dirty="0">
                <a:effectLst/>
                <a:latin typeface="Aptos" panose="020B0004020202020204" pitchFamily="34" charset="0"/>
                <a:ea typeface="Aptos" panose="020B0004020202020204" pitchFamily="34" charset="0"/>
                <a:cs typeface="B Nazanin" panose="00000400000000000000" pitchFamily="2" charset="-78"/>
              </a:rPr>
              <a:t> RPC </a:t>
            </a:r>
            <a:r>
              <a:rPr lang="ar-SA" sz="1400" kern="100" dirty="0">
                <a:effectLst/>
                <a:latin typeface="Aptos" panose="020B0004020202020204" pitchFamily="34" charset="0"/>
                <a:ea typeface="Aptos" panose="020B0004020202020204" pitchFamily="34" charset="0"/>
                <a:cs typeface="B Nazanin" panose="00000400000000000000" pitchFamily="2" charset="-78"/>
              </a:rPr>
              <a:t>را به پورت‌های سرور نگاشت می‌کندارسال می‌کند</a:t>
            </a:r>
            <a:r>
              <a:rPr lang="en-US" sz="1400" kern="100" dirty="0">
                <a:effectLst/>
                <a:latin typeface="Aptos" panose="020B0004020202020204" pitchFamily="34" charset="0"/>
                <a:ea typeface="Aptos" panose="020B0004020202020204" pitchFamily="34" charset="0"/>
                <a:cs typeface="B Nazanin" panose="00000400000000000000" pitchFamily="2" charset="-78"/>
              </a:rPr>
              <a:t>.</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369D6224-38D6-E076-933F-840D6736AD86}"/>
              </a:ext>
            </a:extLst>
          </p:cNvPr>
          <p:cNvSpPr txBox="1"/>
          <p:nvPr/>
        </p:nvSpPr>
        <p:spPr>
          <a:xfrm>
            <a:off x="3557862" y="2732820"/>
            <a:ext cx="5288703" cy="340093"/>
          </a:xfrm>
          <a:prstGeom prst="rect">
            <a:avLst/>
          </a:prstGeom>
          <a:noFill/>
        </p:spPr>
        <p:txBody>
          <a:bodyPr wrap="square">
            <a:spAutoFit/>
          </a:bodyPr>
          <a:lstStyle/>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400" b="1" kern="100" dirty="0">
                <a:effectLst/>
                <a:latin typeface="Aptos" panose="020B0004020202020204" pitchFamily="34" charset="0"/>
                <a:ea typeface="Aptos" panose="020B0004020202020204" pitchFamily="34" charset="0"/>
                <a:cs typeface="B Nazanin" panose="00000400000000000000" pitchFamily="2" charset="-78"/>
              </a:rPr>
              <a:t>پاسخ به کلاینت</a:t>
            </a:r>
            <a:r>
              <a:rPr lang="en-US" sz="1400" kern="100" dirty="0">
                <a:effectLst/>
                <a:latin typeface="Aptos" panose="020B0004020202020204" pitchFamily="34" charset="0"/>
                <a:ea typeface="Aptos" panose="020B0004020202020204" pitchFamily="34" charset="0"/>
                <a:cs typeface="B Nazanin" panose="00000400000000000000" pitchFamily="2" charset="-78"/>
              </a:rPr>
              <a:t>: </a:t>
            </a:r>
            <a:r>
              <a:rPr lang="ar-SA" sz="1400" kern="100" dirty="0">
                <a:effectLst/>
                <a:latin typeface="Aptos" panose="020B0004020202020204" pitchFamily="34" charset="0"/>
                <a:ea typeface="Aptos" panose="020B0004020202020204" pitchFamily="34" charset="0"/>
                <a:cs typeface="B Nazanin" panose="00000400000000000000" pitchFamily="2" charset="-78"/>
              </a:rPr>
              <a:t>تطبیق‌دهنده شماره پورت</a:t>
            </a:r>
            <a:r>
              <a:rPr lang="ar-SA" sz="1400" kern="100" dirty="0">
                <a:effectLst/>
                <a:latin typeface="Aptos" panose="020B0004020202020204" pitchFamily="34" charset="0"/>
                <a:ea typeface="Aptos" panose="020B0004020202020204" pitchFamily="34" charset="0"/>
                <a:cs typeface="Cambria" panose="02040503050406030204" pitchFamily="18" charset="0"/>
              </a:rPr>
              <a:t> </a:t>
            </a:r>
            <a:r>
              <a:rPr lang="en-US" sz="1400" b="1" kern="100" dirty="0">
                <a:effectLst/>
                <a:latin typeface="Aptos" panose="020B0004020202020204" pitchFamily="34" charset="0"/>
                <a:ea typeface="Aptos" panose="020B0004020202020204" pitchFamily="34" charset="0"/>
                <a:cs typeface="B Nazanin" panose="00000400000000000000" pitchFamily="2" charset="-78"/>
              </a:rPr>
              <a:t>P</a:t>
            </a:r>
            <a:r>
              <a:rPr lang="en-US" sz="1400" kern="100" dirty="0">
                <a:effectLst/>
                <a:latin typeface="Aptos" panose="020B0004020202020204" pitchFamily="34" charset="0"/>
                <a:ea typeface="Aptos" panose="020B0004020202020204" pitchFamily="34" charset="0"/>
                <a:cs typeface="B Nazanin" panose="00000400000000000000" pitchFamily="2" charset="-78"/>
              </a:rPr>
              <a:t> </a:t>
            </a:r>
            <a:r>
              <a:rPr lang="ar-SA" sz="1400" kern="100" dirty="0">
                <a:effectLst/>
                <a:latin typeface="Aptos" panose="020B0004020202020204" pitchFamily="34" charset="0"/>
                <a:ea typeface="Aptos" panose="020B0004020202020204" pitchFamily="34" charset="0"/>
                <a:cs typeface="B Nazanin" panose="00000400000000000000" pitchFamily="2" charset="-78"/>
              </a:rPr>
              <a:t>را به کرنل کلاینت ارسال می‌کند</a:t>
            </a:r>
            <a:r>
              <a:rPr lang="en-US" sz="1400" kern="100" dirty="0">
                <a:effectLst/>
                <a:latin typeface="Aptos" panose="020B0004020202020204" pitchFamily="34" charset="0"/>
                <a:ea typeface="Aptos" panose="020B0004020202020204" pitchFamily="34" charset="0"/>
                <a:cs typeface="B Nazanin" panose="00000400000000000000" pitchFamily="2" charset="-78"/>
              </a:rPr>
              <a:t>.</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C2423A2-0ACC-69B4-4CEC-223A4B53E26D}"/>
              </a:ext>
            </a:extLst>
          </p:cNvPr>
          <p:cNvSpPr txBox="1"/>
          <p:nvPr/>
        </p:nvSpPr>
        <p:spPr>
          <a:xfrm>
            <a:off x="221396" y="4527847"/>
            <a:ext cx="2584174" cy="738664"/>
          </a:xfrm>
          <a:prstGeom prst="rect">
            <a:avLst/>
          </a:prstGeom>
          <a:noFill/>
        </p:spPr>
        <p:txBody>
          <a:bodyPr wrap="square">
            <a:spAutoFit/>
          </a:bodyPr>
          <a:lstStyle/>
          <a:p>
            <a:pPr algn="r" rtl="1"/>
            <a:r>
              <a:rPr lang="ar-SA" sz="1400" b="1">
                <a:effectLst/>
                <a:latin typeface="Aptos" panose="020B0004020202020204" pitchFamily="34" charset="0"/>
                <a:ea typeface="Aptos" panose="020B0004020202020204" pitchFamily="34" charset="0"/>
                <a:cs typeface="B Nazanin" panose="00000400000000000000" pitchFamily="2" charset="-78"/>
              </a:rPr>
              <a:t>کرنل</a:t>
            </a:r>
            <a:r>
              <a:rPr lang="en-US" sz="1400" b="1">
                <a:effectLst/>
                <a:latin typeface="Aptos" panose="020B0004020202020204" pitchFamily="34" charset="0"/>
                <a:ea typeface="Aptos" panose="020B0004020202020204" pitchFamily="34" charset="0"/>
                <a:cs typeface="B Nazanin" panose="00000400000000000000" pitchFamily="2" charset="-78"/>
              </a:rPr>
              <a:t> RPC </a:t>
            </a:r>
            <a:r>
              <a:rPr lang="ar-SA" sz="1400" b="1">
                <a:effectLst/>
                <a:latin typeface="Aptos" panose="020B0004020202020204" pitchFamily="34" charset="0"/>
                <a:ea typeface="Aptos" panose="020B0004020202020204" pitchFamily="34" charset="0"/>
                <a:cs typeface="B Nazanin" panose="00000400000000000000" pitchFamily="2" charset="-78"/>
              </a:rPr>
              <a:t>را ارسال می‌کند</a:t>
            </a:r>
            <a:r>
              <a:rPr lang="en-US" sz="1400">
                <a:effectLst/>
                <a:latin typeface="Aptos" panose="020B0004020202020204" pitchFamily="34" charset="0"/>
                <a:ea typeface="Aptos" panose="020B0004020202020204" pitchFamily="34" charset="0"/>
                <a:cs typeface="B Nazanin" panose="00000400000000000000" pitchFamily="2" charset="-78"/>
              </a:rPr>
              <a:t>: </a:t>
            </a:r>
            <a:r>
              <a:rPr lang="ar-SA" sz="1400">
                <a:effectLst/>
                <a:latin typeface="Aptos" panose="020B0004020202020204" pitchFamily="34" charset="0"/>
                <a:ea typeface="Aptos" panose="020B0004020202020204" pitchFamily="34" charset="0"/>
                <a:cs typeface="B Nazanin" panose="00000400000000000000" pitchFamily="2" charset="-78"/>
              </a:rPr>
              <a:t>با استفاده از پورت</a:t>
            </a:r>
            <a:r>
              <a:rPr lang="ar-SA" sz="1400">
                <a:effectLst/>
                <a:ea typeface="Aptos" panose="020B0004020202020204" pitchFamily="34" charset="0"/>
                <a:cs typeface="Cambria" panose="02040503050406030204" pitchFamily="18" charset="0"/>
              </a:rPr>
              <a:t> </a:t>
            </a:r>
            <a:r>
              <a:rPr lang="en-US" sz="1400" b="1">
                <a:effectLst/>
                <a:latin typeface="Aptos" panose="020B0004020202020204" pitchFamily="34" charset="0"/>
                <a:ea typeface="Aptos" panose="020B0004020202020204" pitchFamily="34" charset="0"/>
                <a:cs typeface="B Nazanin" panose="00000400000000000000" pitchFamily="2" charset="-78"/>
              </a:rPr>
              <a:t>P</a:t>
            </a:r>
            <a:r>
              <a:rPr lang="ar-SA" sz="1400">
                <a:effectLst/>
                <a:latin typeface="Aptos" panose="020B0004020202020204" pitchFamily="34" charset="0"/>
                <a:ea typeface="Aptos" panose="020B0004020202020204" pitchFamily="34" charset="0"/>
                <a:cs typeface="B Nazanin" panose="00000400000000000000" pitchFamily="2" charset="-78"/>
              </a:rPr>
              <a:t>، کرنل کلاینت درخواست</a:t>
            </a:r>
            <a:r>
              <a:rPr lang="en-US" sz="1400">
                <a:effectLst/>
                <a:latin typeface="Aptos" panose="020B0004020202020204" pitchFamily="34" charset="0"/>
                <a:ea typeface="Aptos" panose="020B0004020202020204" pitchFamily="34" charset="0"/>
                <a:cs typeface="B Nazanin" panose="00000400000000000000" pitchFamily="2" charset="-78"/>
              </a:rPr>
              <a:t> RPC </a:t>
            </a:r>
            <a:r>
              <a:rPr lang="ar-SA" sz="1400">
                <a:effectLst/>
                <a:latin typeface="Aptos" panose="020B0004020202020204" pitchFamily="34" charset="0"/>
                <a:ea typeface="Aptos" panose="020B0004020202020204" pitchFamily="34" charset="0"/>
                <a:cs typeface="B Nazanin" panose="00000400000000000000" pitchFamily="2" charset="-78"/>
              </a:rPr>
              <a:t>واقعی را به سرور ارسال می‌کند</a:t>
            </a:r>
            <a:endParaRPr lang="en-US" sz="1400" dirty="0"/>
          </a:p>
        </p:txBody>
      </p:sp>
      <p:sp>
        <p:nvSpPr>
          <p:cNvPr id="13" name="TextBox 12">
            <a:extLst>
              <a:ext uri="{FF2B5EF4-FFF2-40B4-BE49-F238E27FC236}">
                <a16:creationId xmlns:a16="http://schemas.microsoft.com/office/drawing/2014/main" id="{8F7A4C0C-76E2-8774-A58F-ED431EBF4E22}"/>
              </a:ext>
            </a:extLst>
          </p:cNvPr>
          <p:cNvSpPr txBox="1"/>
          <p:nvPr/>
        </p:nvSpPr>
        <p:spPr>
          <a:xfrm>
            <a:off x="1408076" y="5340953"/>
            <a:ext cx="7404653" cy="517065"/>
          </a:xfrm>
          <a:prstGeom prst="rect">
            <a:avLst/>
          </a:prstGeom>
          <a:noFill/>
        </p:spPr>
        <p:txBody>
          <a:bodyPr wrap="square">
            <a:spAutoFit/>
          </a:bodyPr>
          <a:lstStyle/>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200" b="1" kern="100" dirty="0">
                <a:effectLst/>
                <a:latin typeface="Aptos" panose="020B0004020202020204" pitchFamily="34" charset="0"/>
                <a:ea typeface="Aptos" panose="020B0004020202020204" pitchFamily="34" charset="0"/>
                <a:cs typeface="B Nazanin" panose="00000400000000000000" pitchFamily="2" charset="-78"/>
              </a:rPr>
              <a:t>دمون روی پورت</a:t>
            </a:r>
            <a:r>
              <a:rPr lang="en-US" sz="1200" b="1" kern="100" dirty="0">
                <a:effectLst/>
                <a:latin typeface="Aptos" panose="020B0004020202020204" pitchFamily="34" charset="0"/>
                <a:ea typeface="Aptos" panose="020B0004020202020204" pitchFamily="34" charset="0"/>
                <a:cs typeface="B Nazanin" panose="00000400000000000000" pitchFamily="2" charset="-78"/>
              </a:rPr>
              <a:t> P </a:t>
            </a:r>
            <a:r>
              <a:rPr lang="ar-SA" sz="1200" b="1" kern="100" dirty="0">
                <a:effectLst/>
                <a:latin typeface="Aptos" panose="020B0004020202020204" pitchFamily="34" charset="0"/>
                <a:ea typeface="Aptos" panose="020B0004020202020204" pitchFamily="34" charset="0"/>
                <a:cs typeface="B Nazanin" panose="00000400000000000000" pitchFamily="2" charset="-78"/>
              </a:rPr>
              <a:t>گوش می‌دهد</a:t>
            </a:r>
            <a:r>
              <a:rPr lang="en-US" sz="1200" kern="100" dirty="0">
                <a:effectLst/>
                <a:latin typeface="Aptos" panose="020B0004020202020204" pitchFamily="34" charset="0"/>
                <a:ea typeface="Aptos" panose="020B0004020202020204" pitchFamily="34" charset="0"/>
                <a:cs typeface="B Nazanin" panose="00000400000000000000" pitchFamily="2" charset="-78"/>
              </a:rPr>
              <a:t>: </a:t>
            </a:r>
            <a:r>
              <a:rPr lang="ar-SA" sz="1200" kern="100" dirty="0">
                <a:effectLst/>
                <a:latin typeface="Aptos" panose="020B0004020202020204" pitchFamily="34" charset="0"/>
                <a:ea typeface="Aptos" panose="020B0004020202020204" pitchFamily="34" charset="0"/>
                <a:cs typeface="B Nazanin" panose="00000400000000000000" pitchFamily="2" charset="-78"/>
              </a:rPr>
              <a:t>یک دمون (فرآیند پس‌زمینه) در سمت سرور روی پورت</a:t>
            </a:r>
            <a:r>
              <a:rPr lang="ar-SA" sz="1200" kern="100" dirty="0">
                <a:effectLst/>
                <a:latin typeface="Aptos" panose="020B0004020202020204" pitchFamily="34" charset="0"/>
                <a:ea typeface="Aptos" panose="020B0004020202020204" pitchFamily="34" charset="0"/>
                <a:cs typeface="Cambria" panose="02040503050406030204" pitchFamily="18" charset="0"/>
              </a:rPr>
              <a:t> </a:t>
            </a:r>
            <a:r>
              <a:rPr lang="en-US" sz="1200" b="1" kern="100" dirty="0">
                <a:effectLst/>
                <a:latin typeface="Aptos" panose="020B0004020202020204" pitchFamily="34" charset="0"/>
                <a:ea typeface="Aptos" panose="020B0004020202020204" pitchFamily="34" charset="0"/>
                <a:cs typeface="B Nazanin" panose="00000400000000000000" pitchFamily="2" charset="-78"/>
              </a:rPr>
              <a:t>P</a:t>
            </a:r>
            <a:r>
              <a:rPr lang="en-US" sz="1200" kern="100" dirty="0">
                <a:effectLst/>
                <a:latin typeface="Aptos" panose="020B0004020202020204" pitchFamily="34" charset="0"/>
                <a:ea typeface="Aptos" panose="020B0004020202020204" pitchFamily="34" charset="0"/>
                <a:cs typeface="B Nazanin" panose="00000400000000000000" pitchFamily="2" charset="-78"/>
              </a:rPr>
              <a:t> </a:t>
            </a:r>
            <a:r>
              <a:rPr lang="ar-SA" sz="1200" kern="100" dirty="0">
                <a:effectLst/>
                <a:latin typeface="Aptos" panose="020B0004020202020204" pitchFamily="34" charset="0"/>
                <a:ea typeface="Aptos" panose="020B0004020202020204" pitchFamily="34" charset="0"/>
                <a:cs typeface="B Nazanin" panose="00000400000000000000" pitchFamily="2" charset="-78"/>
              </a:rPr>
              <a:t>گوش می‌دهد، پیام</a:t>
            </a:r>
            <a:r>
              <a:rPr lang="en-US" sz="1200" kern="100" dirty="0">
                <a:effectLst/>
                <a:latin typeface="Aptos" panose="020B0004020202020204" pitchFamily="34" charset="0"/>
                <a:ea typeface="Aptos" panose="020B0004020202020204" pitchFamily="34" charset="0"/>
                <a:cs typeface="B Nazanin" panose="00000400000000000000" pitchFamily="2" charset="-78"/>
              </a:rPr>
              <a:t> RPC </a:t>
            </a:r>
            <a:r>
              <a:rPr lang="ar-SA" sz="1200" kern="100" dirty="0">
                <a:effectLst/>
                <a:latin typeface="Aptos" panose="020B0004020202020204" pitchFamily="34" charset="0"/>
                <a:ea typeface="Aptos" panose="020B0004020202020204" pitchFamily="34" charset="0"/>
                <a:cs typeface="B Nazanin" panose="00000400000000000000" pitchFamily="2" charset="-78"/>
              </a:rPr>
              <a:t>را دریافت می‌کند و رویه</a:t>
            </a:r>
            <a:r>
              <a:rPr lang="ar-SA" sz="1200" kern="100" dirty="0">
                <a:effectLst/>
                <a:latin typeface="Aptos" panose="020B0004020202020204" pitchFamily="34" charset="0"/>
                <a:ea typeface="Aptos" panose="020B0004020202020204" pitchFamily="34" charset="0"/>
                <a:cs typeface="Cambria" panose="02040503050406030204" pitchFamily="18" charset="0"/>
              </a:rPr>
              <a:t> </a:t>
            </a:r>
            <a:r>
              <a:rPr lang="en-US" sz="1200" b="1" kern="100" dirty="0">
                <a:effectLst/>
                <a:latin typeface="Aptos" panose="020B0004020202020204" pitchFamily="34" charset="0"/>
                <a:ea typeface="Aptos" panose="020B0004020202020204" pitchFamily="34" charset="0"/>
                <a:cs typeface="B Nazanin" panose="00000400000000000000" pitchFamily="2" charset="-78"/>
              </a:rPr>
              <a:t>X</a:t>
            </a:r>
            <a:r>
              <a:rPr lang="en-US" sz="1200" kern="100" dirty="0">
                <a:effectLst/>
                <a:latin typeface="Aptos" panose="020B0004020202020204" pitchFamily="34" charset="0"/>
                <a:ea typeface="Aptos" panose="020B0004020202020204" pitchFamily="34" charset="0"/>
                <a:cs typeface="B Nazanin" panose="00000400000000000000" pitchFamily="2" charset="-78"/>
              </a:rPr>
              <a:t> </a:t>
            </a:r>
            <a:r>
              <a:rPr lang="ar-SA" sz="1200" kern="100" dirty="0">
                <a:effectLst/>
                <a:latin typeface="Aptos" panose="020B0004020202020204" pitchFamily="34" charset="0"/>
                <a:ea typeface="Aptos" panose="020B0004020202020204" pitchFamily="34" charset="0"/>
                <a:cs typeface="B Nazanin" panose="00000400000000000000" pitchFamily="2" charset="-78"/>
              </a:rPr>
              <a:t>را اجرا می‌کند</a:t>
            </a:r>
            <a:r>
              <a:rPr lang="en-US" sz="1200" kern="100" dirty="0">
                <a:effectLst/>
                <a:latin typeface="Aptos" panose="020B0004020202020204" pitchFamily="34" charset="0"/>
                <a:ea typeface="Aptos" panose="020B0004020202020204" pitchFamily="34" charset="0"/>
                <a:cs typeface="B Nazanin" panose="00000400000000000000" pitchFamily="2" charset="-78"/>
              </a:rPr>
              <a:t>.</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A401BA49-284A-C0BF-F600-C9A4017851A9}"/>
              </a:ext>
            </a:extLst>
          </p:cNvPr>
          <p:cNvSpPr txBox="1"/>
          <p:nvPr/>
        </p:nvSpPr>
        <p:spPr>
          <a:xfrm>
            <a:off x="99391" y="5747850"/>
            <a:ext cx="3061252" cy="835613"/>
          </a:xfrm>
          <a:prstGeom prst="rect">
            <a:avLst/>
          </a:prstGeom>
          <a:noFill/>
        </p:spPr>
        <p:txBody>
          <a:bodyPr wrap="square">
            <a:spAutoFit/>
          </a:bodyPr>
          <a:lstStyle/>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400" kern="100" dirty="0">
                <a:effectLst/>
                <a:latin typeface="Aptos" panose="020B0004020202020204" pitchFamily="34" charset="0"/>
                <a:ea typeface="Aptos" panose="020B0004020202020204" pitchFamily="34" charset="0"/>
                <a:cs typeface="B Nazanin" panose="00000400000000000000" pitchFamily="2" charset="-78"/>
              </a:rPr>
              <a:t>کرنل کلاینت پاسخ را دریافت کرده و نتیجه را به برنامه کاربر منتقل می‌کند و چرخه</a:t>
            </a:r>
            <a:r>
              <a:rPr lang="en-US" sz="1400" kern="100" dirty="0">
                <a:effectLst/>
                <a:latin typeface="Aptos" panose="020B0004020202020204" pitchFamily="34" charset="0"/>
                <a:ea typeface="Aptos" panose="020B0004020202020204" pitchFamily="34" charset="0"/>
                <a:cs typeface="B Nazanin" panose="00000400000000000000" pitchFamily="2" charset="-78"/>
              </a:rPr>
              <a:t> RPC </a:t>
            </a:r>
            <a:r>
              <a:rPr lang="ar-SA" sz="1400" kern="100" dirty="0">
                <a:effectLst/>
                <a:latin typeface="Aptos" panose="020B0004020202020204" pitchFamily="34" charset="0"/>
                <a:ea typeface="Aptos" panose="020B0004020202020204" pitchFamily="34" charset="0"/>
                <a:cs typeface="B Nazanin" panose="00000400000000000000" pitchFamily="2" charset="-78"/>
              </a:rPr>
              <a:t>را تکمیل می‌کند</a:t>
            </a:r>
            <a:r>
              <a:rPr lang="en-US" sz="1400" kern="100" dirty="0">
                <a:effectLst/>
                <a:latin typeface="Aptos" panose="020B0004020202020204" pitchFamily="34" charset="0"/>
                <a:ea typeface="Aptos" panose="020B0004020202020204" pitchFamily="34" charset="0"/>
                <a:cs typeface="B Nazanin" panose="00000400000000000000" pitchFamily="2" charset="-78"/>
              </a:rPr>
              <a:t>.</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85A24198-E213-48AC-E7DE-832BA204850E}"/>
                  </a:ext>
                </a:extLst>
              </p14:cNvPr>
              <p14:cNvContentPartPr/>
              <p14:nvPr/>
            </p14:nvContentPartPr>
            <p14:xfrm>
              <a:off x="4025379" y="437353"/>
              <a:ext cx="346320" cy="100440"/>
            </p14:xfrm>
          </p:contentPart>
        </mc:Choice>
        <mc:Fallback xmlns="">
          <p:pic>
            <p:nvPicPr>
              <p:cNvPr id="16" name="Ink 15">
                <a:extLst>
                  <a:ext uri="{FF2B5EF4-FFF2-40B4-BE49-F238E27FC236}">
                    <a16:creationId xmlns:a16="http://schemas.microsoft.com/office/drawing/2014/main" id="{85A24198-E213-48AC-E7DE-832BA204850E}"/>
                  </a:ext>
                </a:extLst>
              </p:cNvPr>
              <p:cNvPicPr/>
              <p:nvPr/>
            </p:nvPicPr>
            <p:blipFill>
              <a:blip r:embed="rId5"/>
              <a:stretch>
                <a:fillRect/>
              </a:stretch>
            </p:blipFill>
            <p:spPr>
              <a:xfrm>
                <a:off x="4019259" y="431233"/>
                <a:ext cx="35856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1A5FA076-1B03-FF21-9E7B-F81338608E1B}"/>
                  </a:ext>
                </a:extLst>
              </p14:cNvPr>
              <p14:cNvContentPartPr/>
              <p14:nvPr/>
            </p14:nvContentPartPr>
            <p14:xfrm>
              <a:off x="2742699" y="1679713"/>
              <a:ext cx="195480" cy="100080"/>
            </p14:xfrm>
          </p:contentPart>
        </mc:Choice>
        <mc:Fallback xmlns="">
          <p:pic>
            <p:nvPicPr>
              <p:cNvPr id="17" name="Ink 16">
                <a:extLst>
                  <a:ext uri="{FF2B5EF4-FFF2-40B4-BE49-F238E27FC236}">
                    <a16:creationId xmlns:a16="http://schemas.microsoft.com/office/drawing/2014/main" id="{1A5FA076-1B03-FF21-9E7B-F81338608E1B}"/>
                  </a:ext>
                </a:extLst>
              </p:cNvPr>
              <p:cNvPicPr/>
              <p:nvPr/>
            </p:nvPicPr>
            <p:blipFill>
              <a:blip r:embed="rId7"/>
              <a:stretch>
                <a:fillRect/>
              </a:stretch>
            </p:blipFill>
            <p:spPr>
              <a:xfrm>
                <a:off x="2736579" y="1673593"/>
                <a:ext cx="20772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8A9916FB-E633-C0CF-AAF6-45FE3848BC18}"/>
                  </a:ext>
                </a:extLst>
              </p14:cNvPr>
              <p14:cNvContentPartPr/>
              <p14:nvPr/>
            </p14:nvContentPartPr>
            <p14:xfrm>
              <a:off x="8517819" y="2375233"/>
              <a:ext cx="419040" cy="1022760"/>
            </p14:xfrm>
          </p:contentPart>
        </mc:Choice>
        <mc:Fallback xmlns="">
          <p:pic>
            <p:nvPicPr>
              <p:cNvPr id="18" name="Ink 17">
                <a:extLst>
                  <a:ext uri="{FF2B5EF4-FFF2-40B4-BE49-F238E27FC236}">
                    <a16:creationId xmlns:a16="http://schemas.microsoft.com/office/drawing/2014/main" id="{8A9916FB-E633-C0CF-AAF6-45FE3848BC18}"/>
                  </a:ext>
                </a:extLst>
              </p:cNvPr>
              <p:cNvPicPr/>
              <p:nvPr/>
            </p:nvPicPr>
            <p:blipFill>
              <a:blip r:embed="rId9"/>
              <a:stretch>
                <a:fillRect/>
              </a:stretch>
            </p:blipFill>
            <p:spPr>
              <a:xfrm>
                <a:off x="8511699" y="2369113"/>
                <a:ext cx="431280" cy="1035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FB1F37A4-B377-58EE-9B7B-06998E31828A}"/>
                  </a:ext>
                </a:extLst>
              </p14:cNvPr>
              <p14:cNvContentPartPr/>
              <p14:nvPr/>
            </p14:nvContentPartPr>
            <p14:xfrm>
              <a:off x="2756739" y="4661593"/>
              <a:ext cx="6480" cy="17280"/>
            </p14:xfrm>
          </p:contentPart>
        </mc:Choice>
        <mc:Fallback xmlns="">
          <p:pic>
            <p:nvPicPr>
              <p:cNvPr id="19" name="Ink 18">
                <a:extLst>
                  <a:ext uri="{FF2B5EF4-FFF2-40B4-BE49-F238E27FC236}">
                    <a16:creationId xmlns:a16="http://schemas.microsoft.com/office/drawing/2014/main" id="{FB1F37A4-B377-58EE-9B7B-06998E31828A}"/>
                  </a:ext>
                </a:extLst>
              </p:cNvPr>
              <p:cNvPicPr/>
              <p:nvPr/>
            </p:nvPicPr>
            <p:blipFill>
              <a:blip r:embed="rId11"/>
              <a:stretch>
                <a:fillRect/>
              </a:stretch>
            </p:blipFill>
            <p:spPr>
              <a:xfrm>
                <a:off x="2750619" y="4655473"/>
                <a:ext cx="1872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0" name="Ink 19">
                <a:extLst>
                  <a:ext uri="{FF2B5EF4-FFF2-40B4-BE49-F238E27FC236}">
                    <a16:creationId xmlns:a16="http://schemas.microsoft.com/office/drawing/2014/main" id="{B3FB7FD6-9887-B7CF-EDAE-FB7A89A9E07E}"/>
                  </a:ext>
                </a:extLst>
              </p14:cNvPr>
              <p14:cNvContentPartPr/>
              <p14:nvPr/>
            </p14:nvContentPartPr>
            <p14:xfrm>
              <a:off x="8487579" y="5536033"/>
              <a:ext cx="229320" cy="171720"/>
            </p14:xfrm>
          </p:contentPart>
        </mc:Choice>
        <mc:Fallback xmlns="">
          <p:pic>
            <p:nvPicPr>
              <p:cNvPr id="20" name="Ink 19">
                <a:extLst>
                  <a:ext uri="{FF2B5EF4-FFF2-40B4-BE49-F238E27FC236}">
                    <a16:creationId xmlns:a16="http://schemas.microsoft.com/office/drawing/2014/main" id="{B3FB7FD6-9887-B7CF-EDAE-FB7A89A9E07E}"/>
                  </a:ext>
                </a:extLst>
              </p:cNvPr>
              <p:cNvPicPr/>
              <p:nvPr/>
            </p:nvPicPr>
            <p:blipFill>
              <a:blip r:embed="rId13"/>
              <a:stretch>
                <a:fillRect/>
              </a:stretch>
            </p:blipFill>
            <p:spPr>
              <a:xfrm>
                <a:off x="8481459" y="5529913"/>
                <a:ext cx="24156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1" name="Ink 20">
                <a:extLst>
                  <a:ext uri="{FF2B5EF4-FFF2-40B4-BE49-F238E27FC236}">
                    <a16:creationId xmlns:a16="http://schemas.microsoft.com/office/drawing/2014/main" id="{6F1A88D6-0AD9-5511-0D64-CCFDA2DAF872}"/>
                  </a:ext>
                </a:extLst>
              </p14:cNvPr>
              <p14:cNvContentPartPr/>
              <p14:nvPr/>
            </p14:nvContentPartPr>
            <p14:xfrm>
              <a:off x="2802459" y="5813593"/>
              <a:ext cx="220320" cy="38520"/>
            </p14:xfrm>
          </p:contentPart>
        </mc:Choice>
        <mc:Fallback xmlns="">
          <p:pic>
            <p:nvPicPr>
              <p:cNvPr id="21" name="Ink 20">
                <a:extLst>
                  <a:ext uri="{FF2B5EF4-FFF2-40B4-BE49-F238E27FC236}">
                    <a16:creationId xmlns:a16="http://schemas.microsoft.com/office/drawing/2014/main" id="{6F1A88D6-0AD9-5511-0D64-CCFDA2DAF872}"/>
                  </a:ext>
                </a:extLst>
              </p:cNvPr>
              <p:cNvPicPr/>
              <p:nvPr/>
            </p:nvPicPr>
            <p:blipFill>
              <a:blip r:embed="rId15"/>
              <a:stretch>
                <a:fillRect/>
              </a:stretch>
            </p:blipFill>
            <p:spPr>
              <a:xfrm>
                <a:off x="2796339" y="5807473"/>
                <a:ext cx="232560" cy="50760"/>
              </a:xfrm>
              <a:prstGeom prst="rect">
                <a:avLst/>
              </a:prstGeom>
            </p:spPr>
          </p:pic>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81719306-4F82-48FE-911C-AE3ACD5990CA}"/>
              </a:ext>
            </a:extLst>
          </p:cNvPr>
          <p:cNvSpPr>
            <a:spLocks noGrp="1" noChangeArrowheads="1"/>
          </p:cNvSpPr>
          <p:nvPr>
            <p:ph type="ctrTitle"/>
          </p:nvPr>
        </p:nvSpPr>
        <p:spPr/>
        <p:txBody>
          <a:bodyPr/>
          <a:lstStyle/>
          <a:p>
            <a:pPr eaLnBrk="1" hangingPunct="1"/>
            <a:r>
              <a:rPr lang="en-US" altLang="en-US"/>
              <a:t>End of Chapter 3</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177B0164-79AB-466A-AEF8-910811B2B40E}"/>
              </a:ext>
            </a:extLst>
          </p:cNvPr>
          <p:cNvSpPr>
            <a:spLocks noGrp="1" noChangeArrowheads="1"/>
          </p:cNvSpPr>
          <p:nvPr>
            <p:ph type="title"/>
          </p:nvPr>
        </p:nvSpPr>
        <p:spPr>
          <a:xfrm>
            <a:off x="966788" y="225425"/>
            <a:ext cx="7850187" cy="576263"/>
          </a:xfrm>
        </p:spPr>
        <p:txBody>
          <a:bodyPr/>
          <a:lstStyle/>
          <a:p>
            <a:r>
              <a:rPr lang="en-US" altLang="en-US"/>
              <a:t>Examples of IPC Systems - POSIX</a:t>
            </a:r>
          </a:p>
        </p:txBody>
      </p:sp>
      <p:sp>
        <p:nvSpPr>
          <p:cNvPr id="96259" name="Content Placeholder 2">
            <a:extLst>
              <a:ext uri="{FF2B5EF4-FFF2-40B4-BE49-F238E27FC236}">
                <a16:creationId xmlns:a16="http://schemas.microsoft.com/office/drawing/2014/main" id="{97B56D75-D444-495A-8F21-29317312A895}"/>
              </a:ext>
            </a:extLst>
          </p:cNvPr>
          <p:cNvSpPr>
            <a:spLocks noGrp="1" noChangeArrowheads="1"/>
          </p:cNvSpPr>
          <p:nvPr>
            <p:ph idx="1"/>
          </p:nvPr>
        </p:nvSpPr>
        <p:spPr>
          <a:xfrm>
            <a:off x="911225" y="1233488"/>
            <a:ext cx="7577138" cy="4530725"/>
          </a:xfrm>
        </p:spPr>
        <p:txBody>
          <a:bodyPr/>
          <a:lstStyle/>
          <a:p>
            <a:r>
              <a:rPr lang="en-US" altLang="en-US" dirty="0"/>
              <a:t>POSIX Shared Memory</a:t>
            </a:r>
          </a:p>
          <a:p>
            <a:pPr lvl="1"/>
            <a:r>
              <a:rPr lang="en-US" altLang="en-US" dirty="0"/>
              <a:t>Process first creates shared memory segment</a:t>
            </a:r>
            <a:br>
              <a:rPr lang="en-US" altLang="en-US" dirty="0"/>
            </a:br>
            <a:r>
              <a:rPr lang="en-US" altLang="en-US" b="1" dirty="0" err="1">
                <a:latin typeface="Courier New" panose="02070309020205020404" pitchFamily="49" charset="0"/>
                <a:cs typeface="Courier New" panose="02070309020205020404" pitchFamily="49" charset="0"/>
              </a:rPr>
              <a:t>shm_fd</a:t>
            </a:r>
            <a:r>
              <a:rPr lang="en-US" altLang="en-US" b="1" dirty="0">
                <a:latin typeface="Courier New" panose="02070309020205020404" pitchFamily="49" charset="0"/>
                <a:cs typeface="Courier New" panose="02070309020205020404" pitchFamily="49" charset="0"/>
              </a:rPr>
              <a:t> = </a:t>
            </a:r>
            <a:r>
              <a:rPr lang="en-US" altLang="en-US" b="1" dirty="0" err="1">
                <a:latin typeface="Courier New" panose="02070309020205020404" pitchFamily="49" charset="0"/>
                <a:cs typeface="Courier New" panose="02070309020205020404" pitchFamily="49" charset="0"/>
              </a:rPr>
              <a:t>shm_open</a:t>
            </a:r>
            <a:r>
              <a:rPr lang="en-US" altLang="en-US" b="1" dirty="0">
                <a:latin typeface="Courier New" panose="02070309020205020404" pitchFamily="49" charset="0"/>
                <a:cs typeface="Courier New" panose="02070309020205020404" pitchFamily="49" charset="0"/>
              </a:rPr>
              <a:t>(name, O CREAT | O RDWR, 0666);</a:t>
            </a:r>
          </a:p>
          <a:p>
            <a:pPr lvl="1"/>
            <a:r>
              <a:rPr lang="en-US" altLang="en-US" dirty="0"/>
              <a:t>Also used to open an existing segment</a:t>
            </a:r>
          </a:p>
          <a:p>
            <a:pPr lvl="1"/>
            <a:r>
              <a:rPr lang="en-US" altLang="en-US" dirty="0"/>
              <a:t>Set the size of the object</a:t>
            </a:r>
          </a:p>
          <a:p>
            <a:pPr>
              <a:buFont typeface="Monotype Sorts" pitchFamily="-84" charset="2"/>
              <a:buNone/>
            </a:pPr>
            <a:r>
              <a:rPr lang="en-US" altLang="en-US" dirty="0"/>
              <a:t>	            </a:t>
            </a:r>
            <a:r>
              <a:rPr lang="en-US" altLang="en-US" b="1" dirty="0" err="1">
                <a:latin typeface="Courier New" panose="02070309020205020404" pitchFamily="49" charset="0"/>
              </a:rPr>
              <a:t>ftruncate</a:t>
            </a:r>
            <a:r>
              <a:rPr lang="en-US" altLang="en-US" b="1" dirty="0">
                <a:latin typeface="Courier New" panose="02070309020205020404" pitchFamily="49" charset="0"/>
              </a:rPr>
              <a:t>(</a:t>
            </a:r>
            <a:r>
              <a:rPr lang="en-US" altLang="en-US" b="1" dirty="0" err="1">
                <a:latin typeface="Courier New" panose="02070309020205020404" pitchFamily="49" charset="0"/>
              </a:rPr>
              <a:t>shm_fd</a:t>
            </a:r>
            <a:r>
              <a:rPr lang="en-US" altLang="en-US" b="1" dirty="0">
                <a:latin typeface="Courier New" panose="02070309020205020404" pitchFamily="49" charset="0"/>
              </a:rPr>
              <a:t>, 4096); </a:t>
            </a:r>
          </a:p>
          <a:p>
            <a:pPr lvl="1"/>
            <a:r>
              <a:rPr lang="en-US" altLang="en-US" dirty="0"/>
              <a:t>Use </a:t>
            </a:r>
            <a:r>
              <a:rPr lang="en-US" altLang="en-US" b="1" dirty="0" err="1">
                <a:latin typeface="Courier New" panose="02070309020205020404" pitchFamily="49" charset="0"/>
                <a:cs typeface="Courier New" panose="02070309020205020404" pitchFamily="49" charset="0"/>
              </a:rPr>
              <a:t>mmap</a:t>
            </a:r>
            <a:r>
              <a:rPr lang="en-US" altLang="en-US" b="1" dirty="0">
                <a:latin typeface="Courier New" panose="02070309020205020404" pitchFamily="49" charset="0"/>
                <a:cs typeface="Courier New" panose="02070309020205020404" pitchFamily="49" charset="0"/>
              </a:rPr>
              <a:t>() </a:t>
            </a:r>
            <a:r>
              <a:rPr lang="en-US" altLang="en-US" dirty="0"/>
              <a:t>to memory-map a file pointer to the shared memory object</a:t>
            </a:r>
          </a:p>
          <a:p>
            <a:pPr lvl="1"/>
            <a:r>
              <a:rPr lang="en-US" altLang="en-US" dirty="0"/>
              <a:t>Reading and writing to shared memory is done by using the pointer returned by </a:t>
            </a:r>
            <a:r>
              <a:rPr lang="en-US" altLang="en-US" b="1" dirty="0" err="1">
                <a:latin typeface="Courier New" panose="02070309020205020404" pitchFamily="49" charset="0"/>
                <a:cs typeface="Courier New" panose="02070309020205020404" pitchFamily="49" charset="0"/>
              </a:rPr>
              <a:t>mmap</a:t>
            </a:r>
            <a:r>
              <a:rPr lang="en-US" altLang="en-US" b="1" dirty="0">
                <a:latin typeface="Courier New" panose="02070309020205020404" pitchFamily="49" charset="0"/>
                <a:cs typeface="Courier New" panose="02070309020205020404" pitchFamily="49" charset="0"/>
              </a:rPr>
              <a:t>()</a:t>
            </a:r>
            <a:r>
              <a:rPr lang="en-US" altLang="en-US" dirty="0"/>
              <a:t>.</a:t>
            </a:r>
            <a:br>
              <a:rPr lang="en-US" altLang="en-US" dirty="0"/>
            </a:br>
            <a:br>
              <a:rPr lang="en-US" altLang="en-US" dirty="0"/>
            </a:br>
            <a:endParaRPr lang="en-US" altLang="en-US" b="1" dirty="0">
              <a:latin typeface="Courier New" panose="02070309020205020404" pitchFamily="49" charset="0"/>
            </a:endParaRPr>
          </a:p>
        </p:txBody>
      </p:sp>
    </p:spTree>
    <p:extLst>
      <p:ext uri="{BB962C8B-B14F-4D97-AF65-F5344CB8AC3E}">
        <p14:creationId xmlns:p14="http://schemas.microsoft.com/office/powerpoint/2010/main" val="30096561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177B0164-79AB-466A-AEF8-910811B2B40E}"/>
              </a:ext>
            </a:extLst>
          </p:cNvPr>
          <p:cNvSpPr>
            <a:spLocks noGrp="1" noChangeArrowheads="1"/>
          </p:cNvSpPr>
          <p:nvPr>
            <p:ph type="title"/>
          </p:nvPr>
        </p:nvSpPr>
        <p:spPr>
          <a:xfrm>
            <a:off x="966788" y="225425"/>
            <a:ext cx="7850187" cy="576263"/>
          </a:xfrm>
        </p:spPr>
        <p:txBody>
          <a:bodyPr/>
          <a:lstStyle/>
          <a:p>
            <a:r>
              <a:rPr lang="en-US" altLang="en-US"/>
              <a:t>Examples of IPC Systems - POSIX</a:t>
            </a:r>
          </a:p>
        </p:txBody>
      </p:sp>
      <p:sp>
        <p:nvSpPr>
          <p:cNvPr id="96259" name="Content Placeholder 2">
            <a:extLst>
              <a:ext uri="{FF2B5EF4-FFF2-40B4-BE49-F238E27FC236}">
                <a16:creationId xmlns:a16="http://schemas.microsoft.com/office/drawing/2014/main" id="{97B56D75-D444-495A-8F21-29317312A895}"/>
              </a:ext>
            </a:extLst>
          </p:cNvPr>
          <p:cNvSpPr>
            <a:spLocks noGrp="1" noChangeArrowheads="1"/>
          </p:cNvSpPr>
          <p:nvPr>
            <p:ph idx="1"/>
          </p:nvPr>
        </p:nvSpPr>
        <p:spPr>
          <a:xfrm>
            <a:off x="502024" y="1233488"/>
            <a:ext cx="7986339" cy="5176277"/>
          </a:xfrm>
        </p:spPr>
        <p:txBody>
          <a:bodyPr/>
          <a:lstStyle/>
          <a:p>
            <a:pPr marL="0" marR="0" algn="r" rtl="1"/>
            <a:r>
              <a:rPr lang="ar-SA" sz="32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حافظه مشترک</a:t>
            </a:r>
            <a:r>
              <a:rPr lang="en-US" sz="32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POSIX</a:t>
            </a:r>
            <a:endParaRPr lang="en-US" sz="3200" b="1"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فرآیند ابتدا بخش حافظه مشترک ایجاد می کند</a:t>
            </a:r>
            <a:r>
              <a:rPr lang="en-US" sz="2400"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rtl="1">
              <a:lnSpc>
                <a:spcPct val="107000"/>
              </a:lnSpc>
              <a:spcBef>
                <a:spcPts val="0"/>
              </a:spcBef>
              <a:spcAft>
                <a:spcPts val="800"/>
              </a:spcAft>
              <a:buFont typeface="Wingdings" panose="05000000000000000000" pitchFamily="2" charset="2"/>
              <a:buChar char=""/>
              <a:tabLst>
                <a:tab pos="457200" algn="l"/>
              </a:tabLst>
            </a:pPr>
            <a:r>
              <a:rPr lang="en-US" b="1" dirty="0" err="1">
                <a:effectLst/>
                <a:latin typeface="Calibri" panose="020F0502020204030204" pitchFamily="34" charset="0"/>
                <a:ea typeface="Calibri" panose="020F0502020204030204" pitchFamily="34" charset="0"/>
                <a:cs typeface="B Nazanin" panose="00000400000000000000" pitchFamily="2" charset="-78"/>
              </a:rPr>
              <a:t>shm_fd</a:t>
            </a:r>
            <a:r>
              <a:rPr lang="en-US" b="1" dirty="0">
                <a:effectLst/>
                <a:latin typeface="Calibri" panose="020F0502020204030204" pitchFamily="34" charset="0"/>
                <a:ea typeface="Calibri" panose="020F0502020204030204" pitchFamily="34" charset="0"/>
                <a:cs typeface="B Nazanin" panose="00000400000000000000" pitchFamily="2" charset="-78"/>
              </a:rPr>
              <a:t> = </a:t>
            </a:r>
            <a:r>
              <a:rPr lang="en-US" b="1" dirty="0" err="1">
                <a:effectLst/>
                <a:latin typeface="Calibri" panose="020F0502020204030204" pitchFamily="34" charset="0"/>
                <a:ea typeface="Calibri" panose="020F0502020204030204" pitchFamily="34" charset="0"/>
                <a:cs typeface="B Nazanin" panose="00000400000000000000" pitchFamily="2" charset="-78"/>
              </a:rPr>
              <a:t>shm_open</a:t>
            </a:r>
            <a:r>
              <a:rPr lang="en-US" b="1" dirty="0">
                <a:effectLst/>
                <a:latin typeface="Calibri" panose="020F0502020204030204" pitchFamily="34" charset="0"/>
                <a:ea typeface="Calibri" panose="020F0502020204030204" pitchFamily="34" charset="0"/>
                <a:cs typeface="B Nazanin" panose="00000400000000000000" pitchFamily="2" charset="-78"/>
              </a:rPr>
              <a:t>(name, O CREAT | O RDWR, 0666);</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این دستور برای باز کردن یک بخش موجود نیز قابل استفاده است</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اندازه شیء (حافظه مشترک) را تنظیم می کند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rtl="1">
              <a:lnSpc>
                <a:spcPct val="107000"/>
              </a:lnSpc>
              <a:spcBef>
                <a:spcPts val="0"/>
              </a:spcBef>
              <a:spcAft>
                <a:spcPts val="800"/>
              </a:spcAft>
              <a:buFont typeface="Wingdings" panose="05000000000000000000" pitchFamily="2" charset="2"/>
              <a:buChar char=""/>
              <a:tabLst>
                <a:tab pos="457200" algn="l"/>
              </a:tabLst>
            </a:pPr>
            <a:r>
              <a:rPr lang="en-US" dirty="0">
                <a:effectLst/>
                <a:latin typeface="Calibri" panose="020F0502020204030204" pitchFamily="34" charset="0"/>
                <a:ea typeface="Calibri" panose="020F0502020204030204" pitchFamily="34" charset="0"/>
                <a:cs typeface="B Nazanin" panose="00000400000000000000" pitchFamily="2" charset="-78"/>
              </a:rPr>
              <a:t>            </a:t>
            </a:r>
            <a:r>
              <a:rPr lang="en-US" b="1" dirty="0" err="1">
                <a:effectLst/>
                <a:latin typeface="Calibri" panose="020F0502020204030204" pitchFamily="34" charset="0"/>
                <a:ea typeface="Calibri" panose="020F0502020204030204" pitchFamily="34" charset="0"/>
                <a:cs typeface="B Nazanin" panose="00000400000000000000" pitchFamily="2" charset="-78"/>
              </a:rPr>
              <a:t>ftruncate</a:t>
            </a:r>
            <a:r>
              <a:rPr lang="en-US" b="1" dirty="0">
                <a:effectLst/>
                <a:latin typeface="Calibri" panose="020F0502020204030204" pitchFamily="34" charset="0"/>
                <a:ea typeface="Calibri" panose="020F0502020204030204" pitchFamily="34" charset="0"/>
                <a:cs typeface="B Nazanin" panose="00000400000000000000" pitchFamily="2" charset="-78"/>
              </a:rPr>
              <a:t>(</a:t>
            </a:r>
            <a:r>
              <a:rPr lang="en-US" b="1" dirty="0" err="1">
                <a:effectLst/>
                <a:latin typeface="Calibri" panose="020F0502020204030204" pitchFamily="34" charset="0"/>
                <a:ea typeface="Calibri" panose="020F0502020204030204" pitchFamily="34" charset="0"/>
                <a:cs typeface="B Nazanin" panose="00000400000000000000" pitchFamily="2" charset="-78"/>
              </a:rPr>
              <a:t>shm_fd</a:t>
            </a:r>
            <a:r>
              <a:rPr lang="en-US" b="1" dirty="0">
                <a:effectLst/>
                <a:latin typeface="Calibri" panose="020F0502020204030204" pitchFamily="34" charset="0"/>
                <a:ea typeface="Calibri" panose="020F0502020204030204" pitchFamily="34" charset="0"/>
                <a:cs typeface="B Nazanin" panose="00000400000000000000" pitchFamily="2" charset="-78"/>
              </a:rPr>
              <a:t>, 4096);</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از </a:t>
            </a:r>
            <a:r>
              <a:rPr lang="en-US"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a:t>
            </a:r>
            <a:r>
              <a:rPr lang="en-US" sz="1400" dirty="0" err="1">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mmap</a:t>
            </a:r>
            <a:r>
              <a:rPr lang="en-US" sz="1400"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برای نگاشت حافظه</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(memory-map)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یک اشاره گر فایل به شیء حافظه مشترک استفاده می کند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خواندن و نوشتن به حافظه مشترک با استفاده از اشاره گری که توسط </a:t>
            </a:r>
            <a:r>
              <a:rPr lang="en-US" sz="1400" dirty="0" err="1">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mmap</a:t>
            </a:r>
            <a:r>
              <a:rPr lang="en-US" sz="1400"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fa-IR"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برگردانده می شود انجام می شود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Font typeface="Arial" panose="020B0604020202020204" pitchFamily="34" charset="0"/>
              <a:buChar char="•"/>
              <a:tabLst>
                <a:tab pos="914400" algn="l"/>
              </a:tabLst>
            </a:pPr>
            <a:r>
              <a:rPr lang="en-US" dirty="0">
                <a:effectLst/>
                <a:latin typeface="Calibri" panose="020F0502020204030204" pitchFamily="34" charset="0"/>
                <a:ea typeface="Calibri" panose="020F0502020204030204" pitchFamily="34" charset="0"/>
                <a:cs typeface="B Nazanin" panose="00000400000000000000" pitchFamily="2" charset="-78"/>
              </a:rPr>
              <a:t> </a:t>
            </a:r>
          </a:p>
        </p:txBody>
      </p:sp>
    </p:spTree>
    <p:extLst>
      <p:ext uri="{BB962C8B-B14F-4D97-AF65-F5344CB8AC3E}">
        <p14:creationId xmlns:p14="http://schemas.microsoft.com/office/powerpoint/2010/main" val="42287944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1C323C46-CF44-41D6-BAB1-2E6334C3801D}"/>
              </a:ext>
            </a:extLst>
          </p:cNvPr>
          <p:cNvSpPr>
            <a:spLocks noGrp="1" noChangeArrowheads="1"/>
          </p:cNvSpPr>
          <p:nvPr>
            <p:ph type="title"/>
          </p:nvPr>
        </p:nvSpPr>
        <p:spPr>
          <a:xfrm>
            <a:off x="936625" y="219075"/>
            <a:ext cx="7850188" cy="576263"/>
          </a:xfrm>
        </p:spPr>
        <p:txBody>
          <a:bodyPr/>
          <a:lstStyle/>
          <a:p>
            <a:r>
              <a:rPr lang="en-US" altLang="en-US"/>
              <a:t>IPC POSIX Producer</a:t>
            </a:r>
          </a:p>
        </p:txBody>
      </p:sp>
      <p:pic>
        <p:nvPicPr>
          <p:cNvPr id="98307" name="Picture 1" descr="Screen Shot 2013-03-14 at 6.46.57 PM.png">
            <a:extLst>
              <a:ext uri="{FF2B5EF4-FFF2-40B4-BE49-F238E27FC236}">
                <a16:creationId xmlns:a16="http://schemas.microsoft.com/office/drawing/2014/main" id="{61A9851A-030D-4A31-97DA-D34C1F0D85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81263" y="903288"/>
            <a:ext cx="3754437"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37162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2CAE47D-3817-440B-8694-F512695F8D49}"/>
              </a:ext>
            </a:extLst>
          </p:cNvPr>
          <p:cNvSpPr>
            <a:spLocks noGrp="1" noChangeArrowheads="1"/>
          </p:cNvSpPr>
          <p:nvPr>
            <p:ph type="title"/>
          </p:nvPr>
        </p:nvSpPr>
        <p:spPr>
          <a:xfrm>
            <a:off x="936625" y="233363"/>
            <a:ext cx="7850188" cy="576262"/>
          </a:xfrm>
        </p:spPr>
        <p:txBody>
          <a:bodyPr/>
          <a:lstStyle/>
          <a:p>
            <a:r>
              <a:rPr lang="en-US" altLang="en-US"/>
              <a:t>IPC POSIX Consumer</a:t>
            </a:r>
          </a:p>
        </p:txBody>
      </p:sp>
      <p:pic>
        <p:nvPicPr>
          <p:cNvPr id="100355" name="Picture 1" descr="Screen Shot 2013-03-12 at 1.38.41 PM.png">
            <a:extLst>
              <a:ext uri="{FF2B5EF4-FFF2-40B4-BE49-F238E27FC236}">
                <a16:creationId xmlns:a16="http://schemas.microsoft.com/office/drawing/2014/main" id="{0B653FB0-9968-4B72-95FF-0DAED2D5857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6625" y="892175"/>
            <a:ext cx="4521200" cy="566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68806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02" name="Title 1">
            <a:extLst>
              <a:ext uri="{FF2B5EF4-FFF2-40B4-BE49-F238E27FC236}">
                <a16:creationId xmlns:a16="http://schemas.microsoft.com/office/drawing/2014/main" id="{35415C98-6AA0-438D-B9AC-E2E863863792}"/>
              </a:ext>
            </a:extLst>
          </p:cNvPr>
          <p:cNvSpPr>
            <a:spLocks noGrp="1" noChangeArrowheads="1"/>
          </p:cNvSpPr>
          <p:nvPr>
            <p:ph type="title"/>
          </p:nvPr>
        </p:nvSpPr>
        <p:spPr>
          <a:xfrm>
            <a:off x="1138238" y="170228"/>
            <a:ext cx="7548562" cy="576262"/>
          </a:xfrm>
        </p:spPr>
        <p:txBody>
          <a:bodyPr/>
          <a:lstStyle/>
          <a:p>
            <a:r>
              <a:rPr lang="en-US" altLang="en-US" dirty="0"/>
              <a:t>Examples of IPC Systems - Mach</a:t>
            </a:r>
          </a:p>
        </p:txBody>
      </p:sp>
      <p:sp>
        <p:nvSpPr>
          <p:cNvPr id="3" name="Content Placeholder 2">
            <a:extLst>
              <a:ext uri="{FF2B5EF4-FFF2-40B4-BE49-F238E27FC236}">
                <a16:creationId xmlns:a16="http://schemas.microsoft.com/office/drawing/2014/main" id="{3B424602-9776-468C-B5F7-AFB28C5BB4A0}"/>
              </a:ext>
            </a:extLst>
          </p:cNvPr>
          <p:cNvSpPr>
            <a:spLocks noGrp="1" noChangeArrowheads="1"/>
          </p:cNvSpPr>
          <p:nvPr>
            <p:ph idx="1"/>
          </p:nvPr>
        </p:nvSpPr>
        <p:spPr bwMode="auto">
          <a:xfrm>
            <a:off x="307525" y="882149"/>
            <a:ext cx="8528950" cy="509370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0" bIns="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3200" b="1" i="0" u="none" strike="noStrike" cap="none" normalizeH="0" baseline="0" dirty="0">
                <a:ln>
                  <a:noFill/>
                </a:ln>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ارتباط</a:t>
            </a:r>
            <a:r>
              <a:rPr kumimoji="0" lang="en-US" altLang="en-US" sz="3200" b="1" i="0" u="none" strike="noStrike" cap="none" normalizeH="0" baseline="0" dirty="0">
                <a:ln>
                  <a:noFill/>
                </a:ln>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Mach </a:t>
            </a:r>
            <a:r>
              <a:rPr kumimoji="0" lang="ar-SA" altLang="en-US" sz="3200" b="1" i="0" u="none" strike="noStrike" cap="none" normalizeH="0" baseline="0" dirty="0">
                <a:ln>
                  <a:noFill/>
                </a:ln>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مبتنی بر پیام است</a:t>
            </a:r>
            <a:endParaRPr kumimoji="0" lang="en-US" altLang="en-US" sz="3200" b="1" i="0" u="none" strike="noStrike" cap="none" normalizeH="0" baseline="0" dirty="0">
              <a:ln>
                <a:noFill/>
              </a:ln>
              <a:solidFill>
                <a:schemeClr val="tx1"/>
              </a:solidFill>
              <a:effectLst/>
              <a:ea typeface="Times New Roman" panose="02020603050405020304" pitchFamily="18" charset="0"/>
              <a:cs typeface="B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حتی فراخوانی های سیستمی به صورت پیام هستند</a:t>
            </a:r>
            <a:r>
              <a:rPr kumimoji="0" lang="en-US"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kumimoji="0" lang="en-US" altLang="en-US"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هر کار</a:t>
            </a:r>
            <a:r>
              <a:rPr kumimoji="0" lang="en-US"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(task) </a:t>
            </a:r>
            <a:r>
              <a:rPr kumimoji="0" lang="ar-SA"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در زمان ایجاد دو پورت دریافت می کند: هسته</a:t>
            </a:r>
            <a:r>
              <a:rPr kumimoji="0" lang="en-US"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(Kernel) </a:t>
            </a:r>
            <a:r>
              <a:rPr kumimoji="0" lang="ar-SA"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و اطلاع رسانی</a:t>
            </a:r>
            <a:r>
              <a:rPr kumimoji="0" lang="en-US"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(Notify).</a:t>
            </a:r>
            <a:endParaRPr kumimoji="0" lang="en-US" altLang="en-US"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پیام ها با استفاده از تابع </a:t>
            </a:r>
            <a:r>
              <a:rPr kumimoji="0" lang="en-US" altLang="en-US" sz="1400" b="0" i="0" u="none" strike="noStrike" cap="none" normalizeH="0" baseline="0" dirty="0" err="1">
                <a:ln>
                  <a:noFill/>
                </a:ln>
                <a:solidFill>
                  <a:srgbClr val="1F1F1F"/>
                </a:solidFill>
                <a:effectLst/>
                <a:latin typeface="Arial Unicode MS"/>
                <a:ea typeface="Calibri" panose="020F0502020204030204" pitchFamily="34" charset="0"/>
                <a:cs typeface="B Nazanin" panose="00000400000000000000" pitchFamily="2" charset="-78"/>
              </a:rPr>
              <a:t>mach_msg</a:t>
            </a:r>
            <a:r>
              <a:rPr kumimoji="0" lang="en-US" altLang="en-US" sz="1400" b="0" i="0" u="none" strike="noStrike" cap="none" normalizeH="0" baseline="0" dirty="0">
                <a:ln>
                  <a:noFill/>
                </a:ln>
                <a:solidFill>
                  <a:srgbClr val="1F1F1F"/>
                </a:solidFill>
                <a:effectLst/>
                <a:latin typeface="Arial Unicode MS"/>
                <a:ea typeface="Calibri" panose="020F0502020204030204" pitchFamily="34" charset="0"/>
                <a:cs typeface="B Nazanin" panose="00000400000000000000" pitchFamily="2" charset="-78"/>
              </a:rPr>
              <a:t>()</a:t>
            </a:r>
            <a:r>
              <a:rPr kumimoji="0" lang="en-US" altLang="en-US" sz="2400"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rPr>
              <a:t> </a:t>
            </a:r>
            <a:r>
              <a:rPr kumimoji="0" lang="ar-SA"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ارسال و دریافت می شوند</a:t>
            </a:r>
            <a:r>
              <a:rPr kumimoji="0" lang="en-US"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kumimoji="0" lang="en-US" altLang="en-US"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پورت های مورد نیاز برای برقراری ارتباط از طریق </a:t>
            </a:r>
            <a:r>
              <a:rPr kumimoji="0" lang="en-US" altLang="en-US" sz="1400" b="0" i="0" u="none" strike="noStrike" cap="none" normalizeH="0" baseline="0" dirty="0" err="1">
                <a:ln>
                  <a:noFill/>
                </a:ln>
                <a:solidFill>
                  <a:srgbClr val="1F1F1F"/>
                </a:solidFill>
                <a:effectLst/>
                <a:latin typeface="Arial Unicode MS"/>
                <a:ea typeface="Calibri" panose="020F0502020204030204" pitchFamily="34" charset="0"/>
                <a:cs typeface="B Nazanin" panose="00000400000000000000" pitchFamily="2" charset="-78"/>
              </a:rPr>
              <a:t>mach_port_allocate</a:t>
            </a:r>
            <a:r>
              <a:rPr kumimoji="0" lang="en-US" altLang="en-US" sz="1400" b="0" i="0" u="none" strike="noStrike" cap="none" normalizeH="0" baseline="0" dirty="0">
                <a:ln>
                  <a:noFill/>
                </a:ln>
                <a:solidFill>
                  <a:srgbClr val="1F1F1F"/>
                </a:solidFill>
                <a:effectLst/>
                <a:latin typeface="Arial Unicode MS"/>
                <a:ea typeface="Calibri" panose="020F0502020204030204" pitchFamily="34" charset="0"/>
                <a:cs typeface="B Nazanin" panose="00000400000000000000" pitchFamily="2" charset="-78"/>
              </a:rPr>
              <a:t>()</a:t>
            </a:r>
            <a:r>
              <a:rPr kumimoji="0" lang="en-US" altLang="en-US" sz="2400"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rPr>
              <a:t> </a:t>
            </a:r>
            <a:r>
              <a:rPr kumimoji="0" lang="ar-SA"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ایجاد می شوند</a:t>
            </a:r>
            <a:r>
              <a:rPr kumimoji="0" lang="en-US"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kumimoji="0" lang="en-US" altLang="en-US"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ارسال و دریافت انعطاف پذیر هستند، به عنوان مثال، چهار گزینه وجود دارد اگر صندوق پستی پر باشد</a:t>
            </a:r>
            <a:r>
              <a:rPr kumimoji="0" lang="en-US"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kumimoji="0" lang="en-US" altLang="en-US" sz="1000" b="0" i="0" u="none" strike="noStrike" cap="none" normalizeH="0" baseline="0" dirty="0">
              <a:ln>
                <a:noFill/>
              </a:ln>
              <a:solidFill>
                <a:schemeClr val="tx1"/>
              </a:solidFill>
              <a:effectLst/>
              <a:cs typeface="B Nazanin" panose="00000400000000000000" pitchFamily="2" charset="-78"/>
            </a:endParaRPr>
          </a:p>
          <a:p>
            <a:pPr marL="457200" marR="0" lvl="1" indent="0" algn="r" defTabSz="914400" rtl="1" eaLnBrk="0" fontAlgn="base" latinLnBrk="0" hangingPunct="0">
              <a:lnSpc>
                <a:spcPct val="100000"/>
              </a:lnSpc>
              <a:spcBef>
                <a:spcPct val="0"/>
              </a:spcBef>
              <a:spcAft>
                <a:spcPct val="0"/>
              </a:spcAft>
              <a:buClrTx/>
              <a:buSzTx/>
              <a:buFont typeface="Symbol" panose="05050102010706020507" pitchFamily="18" charset="2"/>
              <a:buChar char=""/>
              <a:tabLst/>
            </a:pPr>
            <a:r>
              <a:rPr kumimoji="0" lang="ar-SA"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انتظار به طور نامحدود</a:t>
            </a:r>
            <a:endParaRPr kumimoji="0" lang="en-US" altLang="en-US"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457200" marR="0" lvl="1" indent="0" algn="r" defTabSz="914400" rtl="1" eaLnBrk="0" fontAlgn="base" latinLnBrk="0" hangingPunct="0">
              <a:lnSpc>
                <a:spcPct val="100000"/>
              </a:lnSpc>
              <a:spcBef>
                <a:spcPct val="0"/>
              </a:spcBef>
              <a:spcAft>
                <a:spcPct val="0"/>
              </a:spcAft>
              <a:buClrTx/>
              <a:buSzTx/>
              <a:buFont typeface="Symbol" panose="05050102010706020507" pitchFamily="18" charset="2"/>
              <a:buChar char=""/>
              <a:tabLst/>
            </a:pPr>
            <a:r>
              <a:rPr kumimoji="0" lang="ar-SA"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حداکثر</a:t>
            </a:r>
            <a:r>
              <a:rPr kumimoji="0" lang="en-US"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n </a:t>
            </a:r>
            <a:r>
              <a:rPr kumimoji="0" lang="ar-SA"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میلی ثانیه صبر کنید</a:t>
            </a:r>
            <a:endParaRPr kumimoji="0" lang="en-US" altLang="en-US"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457200" marR="0" lvl="1" indent="0" algn="r" defTabSz="914400" rtl="1" eaLnBrk="0" fontAlgn="base" latinLnBrk="0" hangingPunct="0">
              <a:lnSpc>
                <a:spcPct val="100000"/>
              </a:lnSpc>
              <a:spcBef>
                <a:spcPct val="0"/>
              </a:spcBef>
              <a:spcAft>
                <a:spcPct val="0"/>
              </a:spcAft>
              <a:buClrTx/>
              <a:buSzTx/>
              <a:buFont typeface="Symbol" panose="05050102010706020507" pitchFamily="18" charset="2"/>
              <a:buChar char=""/>
              <a:tabLst/>
            </a:pPr>
            <a:r>
              <a:rPr kumimoji="0" lang="ar-SA"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بلافاصله برگرداندن</a:t>
            </a:r>
            <a:endParaRPr kumimoji="0" lang="en-US" altLang="en-US"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457200" marR="0" lvl="1" indent="0" algn="r" defTabSz="914400" rtl="1" eaLnBrk="0" fontAlgn="base" latinLnBrk="0" hangingPunct="0">
              <a:lnSpc>
                <a:spcPct val="100000"/>
              </a:lnSpc>
              <a:spcBef>
                <a:spcPct val="0"/>
              </a:spcBef>
              <a:spcAft>
                <a:spcPct val="0"/>
              </a:spcAft>
              <a:buClrTx/>
              <a:buSzTx/>
              <a:buFont typeface="Symbol" panose="05050102010706020507" pitchFamily="18" charset="2"/>
              <a:buChar char=""/>
              <a:tabLst/>
            </a:pPr>
            <a:r>
              <a:rPr kumimoji="0" lang="ar-SA"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به طور موقت یک پیام را ذخیره سازی کند</a:t>
            </a:r>
            <a:r>
              <a:rPr kumimoji="0" lang="en-US" altLang="en-US" sz="24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(cache)</a:t>
            </a:r>
            <a:endParaRPr kumimoji="0" lang="en-US" altLang="en-US" sz="1000" b="0" i="0" u="none" strike="noStrike" cap="none" normalizeH="0" baseline="0" dirty="0">
              <a:ln>
                <a:noFill/>
              </a:ln>
              <a:solidFill>
                <a:schemeClr val="tx1"/>
              </a:solidFill>
              <a:effectLst/>
              <a:cs typeface="B Nazanin" panose="00000400000000000000" pitchFamily="2" charset="-78"/>
            </a:endParaRPr>
          </a:p>
          <a:p>
            <a:pPr marL="0" marR="0" lvl="0" indent="0" algn="r"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cs typeface="B Nazanin" panose="00000400000000000000" pitchFamily="2" charset="-78"/>
            </a:endParaRPr>
          </a:p>
        </p:txBody>
      </p:sp>
    </p:spTree>
    <p:extLst>
      <p:ext uri="{BB962C8B-B14F-4D97-AF65-F5344CB8AC3E}">
        <p14:creationId xmlns:p14="http://schemas.microsoft.com/office/powerpoint/2010/main" val="6334353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17415A41-B77C-44C2-A3A9-F61E201A8AA4}"/>
              </a:ext>
            </a:extLst>
          </p:cNvPr>
          <p:cNvSpPr>
            <a:spLocks noGrp="1" noChangeArrowheads="1"/>
          </p:cNvSpPr>
          <p:nvPr>
            <p:ph type="title"/>
          </p:nvPr>
        </p:nvSpPr>
        <p:spPr/>
        <p:txBody>
          <a:bodyPr/>
          <a:lstStyle/>
          <a:p>
            <a:r>
              <a:rPr lang="en-US" altLang="en-US"/>
              <a:t>Mach Messages</a:t>
            </a:r>
          </a:p>
        </p:txBody>
      </p:sp>
      <p:sp>
        <p:nvSpPr>
          <p:cNvPr id="104451" name="Rectangle 2">
            <a:extLst>
              <a:ext uri="{FF2B5EF4-FFF2-40B4-BE49-F238E27FC236}">
                <a16:creationId xmlns:a16="http://schemas.microsoft.com/office/drawing/2014/main" id="{1448A0B1-912B-4A5D-AA68-2FA59417A42F}"/>
              </a:ext>
            </a:extLst>
          </p:cNvPr>
          <p:cNvSpPr>
            <a:spLocks noChangeArrowheads="1"/>
          </p:cNvSpPr>
          <p:nvPr/>
        </p:nvSpPr>
        <p:spPr bwMode="auto">
          <a:xfrm>
            <a:off x="2286000" y="2551113"/>
            <a:ext cx="457200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b="1" dirty="0">
                <a:latin typeface="Courier New" panose="02070309020205020404" pitchFamily="49" charset="0"/>
              </a:rPr>
              <a:t>#include&lt;mach/mach.h&gt; </a:t>
            </a:r>
          </a:p>
          <a:p>
            <a:pPr>
              <a:spcBef>
                <a:spcPct val="0"/>
              </a:spcBef>
              <a:buClrTx/>
              <a:buSzTx/>
              <a:buFontTx/>
              <a:buNone/>
            </a:pPr>
            <a:endParaRPr kumimoji="0" lang="en-US" altLang="en-US" b="1" dirty="0">
              <a:latin typeface="Courier New" panose="02070309020205020404" pitchFamily="49" charset="0"/>
            </a:endParaRPr>
          </a:p>
          <a:p>
            <a:pPr>
              <a:spcBef>
                <a:spcPct val="0"/>
              </a:spcBef>
              <a:buClrTx/>
              <a:buSzTx/>
              <a:buFontTx/>
              <a:buNone/>
            </a:pPr>
            <a:r>
              <a:rPr kumimoji="0" lang="en-US" altLang="en-US" b="1" dirty="0">
                <a:latin typeface="Courier New" panose="02070309020205020404" pitchFamily="49" charset="0"/>
              </a:rPr>
              <a:t>struct message </a:t>
            </a:r>
            <a:r>
              <a:rPr kumimoji="0" lang="en-US" altLang="en-US" sz="1400" b="1" dirty="0">
                <a:latin typeface="Courier New" panose="02070309020205020404" pitchFamily="49" charset="0"/>
              </a:rPr>
              <a:t>{</a:t>
            </a:r>
            <a:br>
              <a:rPr kumimoji="0" lang="en-US" altLang="en-US" sz="1400" b="1" dirty="0">
                <a:latin typeface="Courier New" panose="02070309020205020404" pitchFamily="49" charset="0"/>
              </a:rPr>
            </a:br>
            <a:r>
              <a:rPr kumimoji="0" lang="en-US" altLang="en-US" sz="1400" b="1" dirty="0">
                <a:latin typeface="Courier New" panose="02070309020205020404" pitchFamily="49" charset="0"/>
              </a:rPr>
              <a:t>	</a:t>
            </a:r>
            <a:r>
              <a:rPr kumimoji="0" lang="en-US" altLang="en-US" b="1" dirty="0" err="1">
                <a:latin typeface="Courier New" panose="02070309020205020404" pitchFamily="49" charset="0"/>
              </a:rPr>
              <a:t>mach_msg_header_t</a:t>
            </a:r>
            <a:r>
              <a:rPr kumimoji="0" lang="en-US" altLang="en-US" b="1" dirty="0">
                <a:latin typeface="Courier New" panose="02070309020205020404" pitchFamily="49" charset="0"/>
              </a:rPr>
              <a:t> header; </a:t>
            </a:r>
          </a:p>
          <a:p>
            <a:pPr>
              <a:spcBef>
                <a:spcPct val="0"/>
              </a:spcBef>
              <a:buClrTx/>
              <a:buSzTx/>
              <a:buFontTx/>
              <a:buNone/>
            </a:pPr>
            <a:r>
              <a:rPr kumimoji="0" lang="en-US" altLang="en-US" b="1" dirty="0">
                <a:latin typeface="Courier New" panose="02070309020205020404" pitchFamily="49" charset="0"/>
              </a:rPr>
              <a:t>	int data; </a:t>
            </a:r>
          </a:p>
          <a:p>
            <a:pPr>
              <a:spcBef>
                <a:spcPct val="0"/>
              </a:spcBef>
              <a:buClrTx/>
              <a:buSzTx/>
              <a:buFontTx/>
              <a:buNone/>
            </a:pPr>
            <a:r>
              <a:rPr kumimoji="0" lang="en-US" altLang="en-US" sz="1400" b="1" dirty="0">
                <a:latin typeface="Courier New" panose="02070309020205020404" pitchFamily="49" charset="0"/>
              </a:rPr>
              <a:t>}</a:t>
            </a:r>
            <a:r>
              <a:rPr kumimoji="0" lang="en-US" altLang="en-US" b="1" dirty="0">
                <a:latin typeface="Courier New" panose="02070309020205020404" pitchFamily="49" charset="0"/>
              </a:rPr>
              <a:t>;</a:t>
            </a:r>
            <a:br>
              <a:rPr kumimoji="0" lang="en-US" altLang="en-US" b="1" dirty="0">
                <a:latin typeface="Courier New" panose="02070309020205020404" pitchFamily="49" charset="0"/>
              </a:rPr>
            </a:br>
            <a:br>
              <a:rPr kumimoji="0" lang="en-US" altLang="en-US" b="1" dirty="0">
                <a:latin typeface="Courier New" panose="02070309020205020404" pitchFamily="49" charset="0"/>
              </a:rPr>
            </a:br>
            <a:r>
              <a:rPr kumimoji="0" lang="en-US" altLang="en-US" b="1" dirty="0" err="1">
                <a:latin typeface="Courier New" panose="02070309020205020404" pitchFamily="49" charset="0"/>
              </a:rPr>
              <a:t>mach</a:t>
            </a:r>
            <a:r>
              <a:rPr kumimoji="0" lang="en-US" altLang="en-US" b="1" dirty="0">
                <a:latin typeface="Courier New" panose="02070309020205020404" pitchFamily="49" charset="0"/>
              </a:rPr>
              <a:t> port t client; </a:t>
            </a:r>
          </a:p>
          <a:p>
            <a:pPr>
              <a:spcBef>
                <a:spcPct val="0"/>
              </a:spcBef>
              <a:buClrTx/>
              <a:buSzTx/>
              <a:buFontTx/>
              <a:buNone/>
            </a:pPr>
            <a:r>
              <a:rPr kumimoji="0" lang="en-US" altLang="en-US" b="1" dirty="0" err="1">
                <a:latin typeface="Courier New" panose="02070309020205020404" pitchFamily="49" charset="0"/>
              </a:rPr>
              <a:t>mach</a:t>
            </a:r>
            <a:r>
              <a:rPr kumimoji="0" lang="en-US" altLang="en-US" b="1" dirty="0">
                <a:latin typeface="Courier New" panose="02070309020205020404" pitchFamily="49" charset="0"/>
              </a:rPr>
              <a:t> port t server;</a:t>
            </a:r>
            <a:br>
              <a:rPr kumimoji="0" lang="en-US" altLang="en-US" b="1" dirty="0">
                <a:latin typeface="Courier New" panose="02070309020205020404" pitchFamily="49" charset="0"/>
              </a:rPr>
            </a:br>
            <a:endParaRPr kumimoji="0" lang="en-US" altLang="en-US" b="1" dirty="0">
              <a:latin typeface="Courier New" panose="02070309020205020404" pitchFamily="49" charset="0"/>
            </a:endParaRPr>
          </a:p>
        </p:txBody>
      </p:sp>
    </p:spTree>
    <p:extLst>
      <p:ext uri="{BB962C8B-B14F-4D97-AF65-F5344CB8AC3E}">
        <p14:creationId xmlns:p14="http://schemas.microsoft.com/office/powerpoint/2010/main" val="2601359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474" name="Title 1">
            <a:extLst>
              <a:ext uri="{FF2B5EF4-FFF2-40B4-BE49-F238E27FC236}">
                <a16:creationId xmlns:a16="http://schemas.microsoft.com/office/drawing/2014/main" id="{BAB29CD7-9B87-4A97-899F-BD574BE8EF22}"/>
              </a:ext>
            </a:extLst>
          </p:cNvPr>
          <p:cNvSpPr>
            <a:spLocks noGrp="1" noChangeArrowheads="1"/>
          </p:cNvSpPr>
          <p:nvPr>
            <p:ph type="title"/>
          </p:nvPr>
        </p:nvSpPr>
        <p:spPr>
          <a:xfrm>
            <a:off x="895350" y="225425"/>
            <a:ext cx="7639050" cy="576263"/>
          </a:xfrm>
        </p:spPr>
        <p:txBody>
          <a:bodyPr/>
          <a:lstStyle/>
          <a:p>
            <a:r>
              <a:rPr lang="en-US" altLang="en-US"/>
              <a:t>Mach Message Passing - Client</a:t>
            </a:r>
          </a:p>
        </p:txBody>
      </p:sp>
      <p:pic>
        <p:nvPicPr>
          <p:cNvPr id="105475" name="Picture 2">
            <a:extLst>
              <a:ext uri="{FF2B5EF4-FFF2-40B4-BE49-F238E27FC236}">
                <a16:creationId xmlns:a16="http://schemas.microsoft.com/office/drawing/2014/main" id="{14AE9FBD-1D09-463A-8495-50DD2E8C51F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31900" y="1143000"/>
            <a:ext cx="6667500" cy="455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3846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6498" name="Title 1">
            <a:extLst>
              <a:ext uri="{FF2B5EF4-FFF2-40B4-BE49-F238E27FC236}">
                <a16:creationId xmlns:a16="http://schemas.microsoft.com/office/drawing/2014/main" id="{3CD3F126-E414-445F-91C4-4B40C1B1511E}"/>
              </a:ext>
            </a:extLst>
          </p:cNvPr>
          <p:cNvSpPr>
            <a:spLocks noGrp="1" noChangeArrowheads="1"/>
          </p:cNvSpPr>
          <p:nvPr>
            <p:ph type="title"/>
          </p:nvPr>
        </p:nvSpPr>
        <p:spPr>
          <a:xfrm>
            <a:off x="1008063" y="225425"/>
            <a:ext cx="7526337" cy="576263"/>
          </a:xfrm>
        </p:spPr>
        <p:txBody>
          <a:bodyPr/>
          <a:lstStyle/>
          <a:p>
            <a:r>
              <a:rPr lang="en-US" altLang="en-US"/>
              <a:t>Mach Message Passing - Server</a:t>
            </a:r>
          </a:p>
        </p:txBody>
      </p:sp>
      <p:pic>
        <p:nvPicPr>
          <p:cNvPr id="106499" name="Picture 2">
            <a:extLst>
              <a:ext uri="{FF2B5EF4-FFF2-40B4-BE49-F238E27FC236}">
                <a16:creationId xmlns:a16="http://schemas.microsoft.com/office/drawing/2014/main" id="{1E944D3E-85FF-4626-840A-0177C14FA69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19213" y="1633538"/>
            <a:ext cx="69977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27878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C25BF9C1-AE04-4A77-B3E6-FD94636BD87D}"/>
              </a:ext>
            </a:extLst>
          </p:cNvPr>
          <p:cNvSpPr>
            <a:spLocks noGrp="1" noChangeArrowheads="1"/>
          </p:cNvSpPr>
          <p:nvPr>
            <p:ph type="title"/>
          </p:nvPr>
        </p:nvSpPr>
        <p:spPr>
          <a:xfrm>
            <a:off x="457200" y="166168"/>
            <a:ext cx="8229600" cy="576262"/>
          </a:xfrm>
        </p:spPr>
        <p:txBody>
          <a:bodyPr/>
          <a:lstStyle/>
          <a:p>
            <a:pPr eaLnBrk="1" hangingPunct="1"/>
            <a:r>
              <a:rPr lang="en-US" altLang="en-US" dirty="0"/>
              <a:t>Pipes</a:t>
            </a:r>
          </a:p>
        </p:txBody>
      </p:sp>
      <p:sp>
        <p:nvSpPr>
          <p:cNvPr id="111619" name="Rectangle 3">
            <a:extLst>
              <a:ext uri="{FF2B5EF4-FFF2-40B4-BE49-F238E27FC236}">
                <a16:creationId xmlns:a16="http://schemas.microsoft.com/office/drawing/2014/main" id="{2C682366-2987-469E-AF71-AD20FF741E0E}"/>
              </a:ext>
            </a:extLst>
          </p:cNvPr>
          <p:cNvSpPr>
            <a:spLocks noGrp="1" noChangeArrowheads="1"/>
          </p:cNvSpPr>
          <p:nvPr>
            <p:ph type="body" idx="1"/>
          </p:nvPr>
        </p:nvSpPr>
        <p:spPr>
          <a:xfrm>
            <a:off x="457200" y="1154113"/>
            <a:ext cx="8005763" cy="5077354"/>
          </a:xfrm>
        </p:spPr>
        <p:txBody>
          <a:bodyPr/>
          <a:lstStyle/>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این مکانیزم به عنوان کانالی عمل می کند که به دو فرایند اجازه برقراری ارتباط می دهد</a:t>
            </a:r>
            <a:r>
              <a:rPr lang="en-US"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r>
              <a:rPr lang="fa-IR"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 که از اولین مکانیزمهای </a:t>
            </a:r>
            <a:r>
              <a:rPr lang="en-US"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IPC</a:t>
            </a:r>
            <a:r>
              <a:rPr lang="fa-IR"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 در سیستم های اولیه </a:t>
            </a:r>
            <a:r>
              <a:rPr lang="en-US"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UNIX</a:t>
            </a:r>
            <a:r>
              <a:rPr lang="fa-IR"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 بودند. </a:t>
            </a:r>
            <a:endParaRPr lang="en-US" sz="1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r>
              <a:rPr lang="fa-IR" sz="2400" b="1" dirty="0">
                <a:solidFill>
                  <a:srgbClr val="1F1F1F"/>
                </a:solidFill>
                <a:latin typeface="Times New Roman" panose="02020603050405020304" pitchFamily="18" charset="0"/>
                <a:ea typeface="Times New Roman" panose="02020603050405020304" pitchFamily="18" charset="0"/>
                <a:cs typeface="B Nazanin" panose="00000400000000000000" pitchFamily="2" charset="-78"/>
              </a:rPr>
              <a:t>مسائل</a:t>
            </a:r>
            <a:r>
              <a:rPr lang="en-US" sz="24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b="1"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SzPts val="1000"/>
              <a:buFont typeface="Symbol" panose="05050102010706020507" pitchFamily="18" charset="2"/>
              <a:buChar char=""/>
              <a:tabLst>
                <a:tab pos="457200" algn="l"/>
              </a:tabLst>
            </a:pPr>
            <a:r>
              <a:rPr lang="ar-SA"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آیا ارتباط یک طرفه</a:t>
            </a:r>
            <a:r>
              <a:rPr lang="en-US"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(unidirectional) </a:t>
            </a:r>
            <a:r>
              <a:rPr lang="ar-SA"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یا دو طرفه</a:t>
            </a:r>
            <a:r>
              <a:rPr lang="en-US"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(bidirectional) </a:t>
            </a:r>
            <a:r>
              <a:rPr lang="ar-SA"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است؟</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SzPts val="1000"/>
              <a:buFont typeface="Symbol" panose="05050102010706020507" pitchFamily="18" charset="2"/>
              <a:buChar char=""/>
              <a:tabLst>
                <a:tab pos="457200" algn="l"/>
              </a:tabLst>
            </a:pPr>
            <a:r>
              <a:rPr lang="ar-SA"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در مورد ارتباط دو طرفه، آیا نیمه دوبلکس</a:t>
            </a:r>
            <a:r>
              <a:rPr lang="en-US"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(half-duplex) </a:t>
            </a:r>
            <a:r>
              <a:rPr lang="ar-SA"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است یا تمام دوبلکس</a:t>
            </a:r>
            <a:r>
              <a:rPr lang="en-US"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(full-duplex)</a:t>
            </a:r>
            <a:r>
              <a:rPr lang="ar-SA"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SzPts val="1000"/>
              <a:buFont typeface="Symbol" panose="05050102010706020507" pitchFamily="18" charset="2"/>
              <a:buChar char=""/>
              <a:tabLst>
                <a:tab pos="457200" algn="l"/>
              </a:tabLst>
            </a:pPr>
            <a:r>
              <a:rPr lang="ar-SA"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آیا باید رابطه ای (مانند والد-فرزند) بین فرآیندهای در حال برقراری ارتباط وجود داشته باشد؟</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SzPts val="1000"/>
              <a:buFont typeface="Symbol" panose="05050102010706020507" pitchFamily="18" charset="2"/>
              <a:buChar char=""/>
              <a:tabLst>
                <a:tab pos="457200" algn="l"/>
              </a:tabLst>
            </a:pPr>
            <a:r>
              <a:rPr lang="ar-SA"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آیا می توان از لوله ها روی شبکه استفاده کرد؟</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SzPts val="1000"/>
              <a:buFont typeface="Symbol" panose="05050102010706020507" pitchFamily="18" charset="2"/>
              <a:buChar char=""/>
              <a:tabLst>
                <a:tab pos="457200" algn="l"/>
              </a:tabLst>
            </a:pPr>
            <a:r>
              <a:rPr lang="ar-SA"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لوله های معمولی</a:t>
            </a:r>
            <a:r>
              <a:rPr lang="en-US"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قابل دسترسی از فرآیندهای دیگر نیستند. (قابل دسترسی از خارج فرآیندی که آنها را ساخته نیستند)</a:t>
            </a:r>
            <a:endParaRPr lang="en-US" sz="1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به طور معمول برای برقراری ارتباط بین یک فرآیند والد و فرزند که خود ایجاد کرده استفاده می شود</a:t>
            </a:r>
            <a:r>
              <a:rPr lang="en-US"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sz="1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نیاز به رابطه والد-فرزند بین فرآیندهای در حال ارتباط دارند</a:t>
            </a:r>
            <a:r>
              <a:rPr lang="en-US"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sz="1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buSzPts val="1000"/>
              <a:buFont typeface="Symbol" panose="05050102010706020507" pitchFamily="18" charset="2"/>
              <a:buChar char=""/>
              <a:tabLst>
                <a:tab pos="457200" algn="l"/>
              </a:tabLst>
            </a:pPr>
            <a:r>
              <a:rPr lang="ar-SA"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لوله های نامگذاری شده</a:t>
            </a:r>
            <a:r>
              <a:rPr lang="en-US"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600" dirty="0">
              <a:effectLst/>
              <a:latin typeface="Times New Roman" panose="02020603050405020304" pitchFamily="18" charset="0"/>
              <a:ea typeface="Times New Roman" panose="02020603050405020304" pitchFamily="18" charset="0"/>
              <a:cs typeface="B Nazanin" panose="00000400000000000000" pitchFamily="2" charset="-78"/>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بدون نیاز به رابطه والد-فرزند قابل دسترسی هستند</a:t>
            </a:r>
            <a:r>
              <a:rPr lang="en-US"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a:t>
            </a:r>
            <a:endParaRPr lang="en-US" sz="1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p:txBody>
      </p:sp>
    </p:spTree>
    <p:extLst>
      <p:ext uri="{BB962C8B-B14F-4D97-AF65-F5344CB8AC3E}">
        <p14:creationId xmlns:p14="http://schemas.microsoft.com/office/powerpoint/2010/main" val="23099888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3666" name="Title 6">
            <a:extLst>
              <a:ext uri="{FF2B5EF4-FFF2-40B4-BE49-F238E27FC236}">
                <a16:creationId xmlns:a16="http://schemas.microsoft.com/office/drawing/2014/main" id="{39BA9E19-E982-409D-855A-7A7246EB3567}"/>
              </a:ext>
            </a:extLst>
          </p:cNvPr>
          <p:cNvSpPr>
            <a:spLocks noGrp="1" noChangeArrowheads="1"/>
          </p:cNvSpPr>
          <p:nvPr>
            <p:ph type="title"/>
          </p:nvPr>
        </p:nvSpPr>
        <p:spPr>
          <a:xfrm>
            <a:off x="457200" y="163878"/>
            <a:ext cx="8229600" cy="576262"/>
          </a:xfrm>
        </p:spPr>
        <p:txBody>
          <a:bodyPr/>
          <a:lstStyle/>
          <a:p>
            <a:r>
              <a:rPr lang="en-US" altLang="en-US" dirty="0"/>
              <a:t>Ordinary Pipes</a:t>
            </a:r>
          </a:p>
        </p:txBody>
      </p:sp>
      <p:sp>
        <p:nvSpPr>
          <p:cNvPr id="113667" name="Content Placeholder 7">
            <a:extLst>
              <a:ext uri="{FF2B5EF4-FFF2-40B4-BE49-F238E27FC236}">
                <a16:creationId xmlns:a16="http://schemas.microsoft.com/office/drawing/2014/main" id="{F5BD8B2E-EBB3-49C3-9C8D-A24250F5057E}"/>
              </a:ext>
            </a:extLst>
          </p:cNvPr>
          <p:cNvSpPr>
            <a:spLocks noGrp="1" noChangeArrowheads="1"/>
          </p:cNvSpPr>
          <p:nvPr>
            <p:ph idx="1"/>
          </p:nvPr>
        </p:nvSpPr>
        <p:spPr>
          <a:xfrm>
            <a:off x="868363" y="1138238"/>
            <a:ext cx="7537450" cy="4930775"/>
          </a:xfrm>
        </p:spPr>
        <p:txBody>
          <a:bodyPr/>
          <a:lstStyle/>
          <a:p>
            <a:pPr marL="342900" marR="0" lvl="0" indent="-342900" algn="r" rtl="1">
              <a:lnSpc>
                <a:spcPct val="107000"/>
              </a:lnSpc>
              <a:spcBef>
                <a:spcPts val="0"/>
              </a:spcBef>
              <a:spcAft>
                <a:spcPts val="800"/>
              </a:spcAft>
              <a:buFont typeface="Arial" panose="020B0604020202020204" pitchFamily="34" charset="0"/>
              <a:buChar char="•"/>
              <a:tabLst>
                <a:tab pos="457200" algn="l"/>
              </a:tabLst>
            </a:pP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لوله های معمولی</a:t>
            </a:r>
            <a:r>
              <a:rPr lang="en-US" sz="24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(Ordinary Pipes):</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به سبک تولید کننده-مصرف کننده</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(producer-consumer)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امکان برقراری ارتباط را فراهم می آورند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تولید کننده به یک انتها</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انتهای نوشتن</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pipe)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می نویسد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مصرف کننده از انتهای دیگر</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انتهای خواندن</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pipe)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می خواند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4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بنابراین، لوله های معمولی یک طرفه هستند</a:t>
            </a:r>
            <a:r>
              <a:rPr lang="en-US" sz="24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نیاز به رابطه والد-فرزند بین فرآیندهای در حال برقراری ارتباط دارند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solidFill>
                <a:srgbClr val="1F1F1F"/>
              </a:solidFill>
              <a:latin typeface="Arial" panose="020B060402020202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endParaRPr lang="en-US" sz="2400" dirty="0">
              <a:solidFill>
                <a:srgbClr val="1F1F1F"/>
              </a:solidFill>
              <a:effectLst/>
              <a:latin typeface="Arial" panose="020B060402020202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endParaRPr lang="en-US" sz="2400" dirty="0">
              <a:solidFill>
                <a:srgbClr val="1F1F1F"/>
              </a:solidFill>
              <a:latin typeface="Arial" panose="020B060402020202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endParaRPr lang="en-US" sz="2400" dirty="0">
              <a:solidFill>
                <a:srgbClr val="1F1F1F"/>
              </a:solidFill>
              <a:effectLst/>
              <a:latin typeface="Arial" panose="020B060402020202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در ویندوز با نام لوله های ناشناس</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(anonymous pipes) </a:t>
            </a:r>
            <a:r>
              <a:rPr lang="ar-SA" sz="24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شناخته می شوند</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p:txBody>
      </p:sp>
      <p:pic>
        <p:nvPicPr>
          <p:cNvPr id="113668" name="Picture 1">
            <a:extLst>
              <a:ext uri="{FF2B5EF4-FFF2-40B4-BE49-F238E27FC236}">
                <a16:creationId xmlns:a16="http://schemas.microsoft.com/office/drawing/2014/main" id="{7F3119A2-4C8F-4927-A524-86ABC2A54F6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7407" y="4187732"/>
            <a:ext cx="3316287" cy="1128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04635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5714" name="Title 6">
            <a:extLst>
              <a:ext uri="{FF2B5EF4-FFF2-40B4-BE49-F238E27FC236}">
                <a16:creationId xmlns:a16="http://schemas.microsoft.com/office/drawing/2014/main" id="{F46E3781-78DE-4BB1-BE01-A0E3071BAB52}"/>
              </a:ext>
            </a:extLst>
          </p:cNvPr>
          <p:cNvSpPr>
            <a:spLocks noGrp="1" noChangeArrowheads="1"/>
          </p:cNvSpPr>
          <p:nvPr>
            <p:ph type="title"/>
          </p:nvPr>
        </p:nvSpPr>
        <p:spPr>
          <a:xfrm>
            <a:off x="473075" y="217488"/>
            <a:ext cx="8229600" cy="576262"/>
          </a:xfrm>
        </p:spPr>
        <p:txBody>
          <a:bodyPr/>
          <a:lstStyle/>
          <a:p>
            <a:r>
              <a:rPr lang="en-US" altLang="en-US"/>
              <a:t>Named Pipes</a:t>
            </a:r>
          </a:p>
        </p:txBody>
      </p:sp>
      <p:sp>
        <p:nvSpPr>
          <p:cNvPr id="115715" name="Content Placeholder 7">
            <a:extLst>
              <a:ext uri="{FF2B5EF4-FFF2-40B4-BE49-F238E27FC236}">
                <a16:creationId xmlns:a16="http://schemas.microsoft.com/office/drawing/2014/main" id="{18F2E9C8-16A0-4DAA-AF49-56C9A6E9D651}"/>
              </a:ext>
            </a:extLst>
          </p:cNvPr>
          <p:cNvSpPr>
            <a:spLocks noGrp="1" noChangeArrowheads="1"/>
          </p:cNvSpPr>
          <p:nvPr>
            <p:ph idx="1"/>
          </p:nvPr>
        </p:nvSpPr>
        <p:spPr>
          <a:xfrm>
            <a:off x="885825" y="1233488"/>
            <a:ext cx="7651750" cy="4530725"/>
          </a:xfrm>
        </p:spPr>
        <p:txBody>
          <a:bodyPr/>
          <a:lstStyle/>
          <a:p>
            <a:pPr marL="342900" marR="0" lvl="0" indent="-342900" algn="r" rtl="1">
              <a:lnSpc>
                <a:spcPct val="107000"/>
              </a:lnSpc>
              <a:spcBef>
                <a:spcPts val="0"/>
              </a:spcBef>
              <a:spcAft>
                <a:spcPts val="800"/>
              </a:spcAft>
              <a:buFont typeface="Arial" panose="020B0604020202020204" pitchFamily="34" charset="0"/>
              <a:buChar char="•"/>
              <a:tabLst>
                <a:tab pos="457200" algn="l"/>
              </a:tabLst>
            </a:pPr>
            <a:r>
              <a:rPr lang="ar-SA" sz="3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لوله های نامگذاری شده</a:t>
            </a:r>
            <a:r>
              <a:rPr lang="en-US" sz="32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(Named Pipes):</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قدرتمندتر از لوله های معمولی هستند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3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ارتباط دوطرفه</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است</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3200" b="1"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هیچ رابطه والد-فرزندی</a:t>
            </a: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 بین فرآیندهای در حال ارتباط ضروری نیست</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چندین فرآیند می توانند از یک لوله نامگذاری شده برای برقراری ارتباط استفاده کنند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0"/>
              </a:spcAft>
              <a:buFont typeface="Arial" panose="020B0604020202020204" pitchFamily="34" charset="0"/>
              <a:buChar char="•"/>
              <a:tabLst>
                <a:tab pos="914400" algn="l"/>
              </a:tabLst>
            </a:pPr>
            <a:r>
              <a:rPr lang="ar-SA" sz="3200" dirty="0">
                <a:solidFill>
                  <a:srgbClr val="1F1F1F"/>
                </a:solidFill>
                <a:effectLst/>
                <a:latin typeface="Calibri" panose="020F0502020204030204" pitchFamily="34" charset="0"/>
                <a:ea typeface="Times New Roman" panose="02020603050405020304" pitchFamily="18" charset="0"/>
                <a:cs typeface="B Nazanin" panose="00000400000000000000" pitchFamily="2" charset="-78"/>
              </a:rPr>
              <a:t>در سیستم های یونیکس و ویندوز ارائه می شوند</a:t>
            </a:r>
            <a:r>
              <a:rPr lang="en-US" sz="32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p:txBody>
      </p:sp>
    </p:spTree>
    <p:extLst>
      <p:ext uri="{BB962C8B-B14F-4D97-AF65-F5344CB8AC3E}">
        <p14:creationId xmlns:p14="http://schemas.microsoft.com/office/powerpoint/2010/main" val="518382019"/>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17343</TotalTime>
  <Words>10756</Words>
  <Application>Microsoft Office PowerPoint</Application>
  <PresentationFormat>On-screen Show (4:3)</PresentationFormat>
  <Paragraphs>822</Paragraphs>
  <Slides>77</Slides>
  <Notes>70</Notes>
  <HiddenSlides>11</HiddenSlides>
  <MMClips>0</MMClips>
  <ScaleCrop>false</ScaleCrop>
  <HeadingPairs>
    <vt:vector size="6" baseType="variant">
      <vt:variant>
        <vt:lpstr>Fonts Used</vt:lpstr>
      </vt:variant>
      <vt:variant>
        <vt:i4>25</vt:i4>
      </vt:variant>
      <vt:variant>
        <vt:lpstr>Theme</vt:lpstr>
      </vt:variant>
      <vt:variant>
        <vt:i4>1</vt:i4>
      </vt:variant>
      <vt:variant>
        <vt:lpstr>Slide Titles</vt:lpstr>
      </vt:variant>
      <vt:variant>
        <vt:i4>77</vt:i4>
      </vt:variant>
    </vt:vector>
  </HeadingPairs>
  <TitlesOfParts>
    <vt:vector size="103" baseType="lpstr">
      <vt:lpstr>Lingoes Unicode</vt:lpstr>
      <vt:lpstr>__vazir_46c312</vt:lpstr>
      <vt:lpstr>-apple-system</vt:lpstr>
      <vt:lpstr>Aptos</vt:lpstr>
      <vt:lpstr>Arial</vt:lpstr>
      <vt:lpstr>Arial Unicode MS</vt:lpstr>
      <vt:lpstr>B Koodak</vt:lpstr>
      <vt:lpstr>B Nazanin</vt:lpstr>
      <vt:lpstr>Bahnschrift</vt:lpstr>
      <vt:lpstr>Calibri</vt:lpstr>
      <vt:lpstr>Consolas</vt:lpstr>
      <vt:lpstr>Courier New</vt:lpstr>
      <vt:lpstr>DeepSeek-CJK-patch</vt:lpstr>
      <vt:lpstr>Google Sans</vt:lpstr>
      <vt:lpstr>Helvetica</vt:lpstr>
      <vt:lpstr>Helvetica Neue</vt:lpstr>
      <vt:lpstr>Monotype Sorts</vt:lpstr>
      <vt:lpstr>Nazanin</vt:lpstr>
      <vt:lpstr>Segoe UI</vt:lpstr>
      <vt:lpstr>Symbol</vt:lpstr>
      <vt:lpstr>Tahoma</vt:lpstr>
      <vt:lpstr>Times New Roman</vt:lpstr>
      <vt:lpstr>Verdana</vt:lpstr>
      <vt:lpstr>Webdings</vt:lpstr>
      <vt:lpstr>Wingdings</vt:lpstr>
      <vt:lpstr>os-8</vt:lpstr>
      <vt:lpstr>Operation Systems</vt:lpstr>
      <vt:lpstr>فصل ۳: فرآیند‌ها</vt:lpstr>
      <vt:lpstr>Outline طرح کلی</vt:lpstr>
      <vt:lpstr>مفاهیم فرآیند</vt:lpstr>
      <vt:lpstr>مفاهیم فرآیند</vt:lpstr>
      <vt:lpstr>فرآیند در حافظه</vt:lpstr>
      <vt:lpstr>چیدمان حافظه در یک برنامه C</vt:lpstr>
      <vt:lpstr>وضعیت یک فرآیند</vt:lpstr>
      <vt:lpstr>نمودار وضعیت یک فرآیند</vt:lpstr>
      <vt:lpstr>بلاک کنترل فرآیند PCB</vt:lpstr>
      <vt:lpstr>Threads نخ یا رشته</vt:lpstr>
      <vt:lpstr>رشته</vt:lpstr>
      <vt:lpstr>نمایش فرآیند در لینکوس</vt:lpstr>
      <vt:lpstr>زمان بندی فرآیند</vt:lpstr>
      <vt:lpstr>صف آماده و انتظار</vt:lpstr>
      <vt:lpstr>نمایش زمان بندی فرآیندها</vt:lpstr>
      <vt:lpstr>CPU Switch From Process to Process</vt:lpstr>
      <vt:lpstr>Context Switch تغییر زمینه</vt:lpstr>
      <vt:lpstr>عملیاتهای فرآیند</vt:lpstr>
      <vt:lpstr>ایجاد فرآیند</vt:lpstr>
      <vt:lpstr>ایجاد فرآیند (ادامه)</vt:lpstr>
      <vt:lpstr>C Program Forking Separate Process</vt:lpstr>
      <vt:lpstr>درختی از فرآیندها در لینوکس</vt:lpstr>
      <vt:lpstr>Creating a Separate Process via Windows API</vt:lpstr>
      <vt:lpstr>اتمام فرآیند</vt:lpstr>
      <vt:lpstr>اتمام فرآیند</vt:lpstr>
      <vt:lpstr>اتمام فرآیند</vt:lpstr>
      <vt:lpstr>اتمام فرآیند</vt:lpstr>
      <vt:lpstr>معماری چندپردازنده ای-مرورگر کروم</vt:lpstr>
      <vt:lpstr>ارتباط بین فرایندی (IPC)</vt:lpstr>
      <vt:lpstr>مدل های ارتباطی فرایندی</vt:lpstr>
      <vt:lpstr>مسئله تولیدکننده و مصرف کننده</vt:lpstr>
      <vt:lpstr>IPC – اشتراک حافظه</vt:lpstr>
      <vt:lpstr>راهکار اشتراک حافظه- بافر محدود</vt:lpstr>
      <vt:lpstr>Producer Process – Shared Memory</vt:lpstr>
      <vt:lpstr>Consumer Process – Shared Memory</vt:lpstr>
      <vt:lpstr>آیا می‌شود همه بافر را پرکرد؟</vt:lpstr>
      <vt:lpstr>تولید کننده</vt:lpstr>
      <vt:lpstr>مصرف کننده</vt:lpstr>
      <vt:lpstr>شرط مسابقه Race Condition </vt:lpstr>
      <vt:lpstr>IPC – ارسال پیام</vt:lpstr>
      <vt:lpstr>Message Passing (Cont.)</vt:lpstr>
      <vt:lpstr>Implementation of Communication Link</vt:lpstr>
      <vt:lpstr>ارتباط مستقیم</vt:lpstr>
      <vt:lpstr>ارتباط غیر مستقیم</vt:lpstr>
      <vt:lpstr>ارتباط غیر مستقیم (ادامه)</vt:lpstr>
      <vt:lpstr>ارتباط غیر مستقیم (ادامه)</vt:lpstr>
      <vt:lpstr>Synchronizationهمگامی </vt:lpstr>
      <vt:lpstr>Producer-Consumer: Message Passing</vt:lpstr>
      <vt:lpstr>بافر کردن</vt:lpstr>
      <vt:lpstr>Examples of IPC Systems – Windows</vt:lpstr>
      <vt:lpstr>Local Procedure Calls in Windows</vt:lpstr>
      <vt:lpstr>Examples of IPC Systems – Windows</vt:lpstr>
      <vt:lpstr>Communications in Client-Server Systems</vt:lpstr>
      <vt:lpstr>Sockets</vt:lpstr>
      <vt:lpstr>Socket Communication</vt:lpstr>
      <vt:lpstr>Socket Communication</vt:lpstr>
      <vt:lpstr>Socket Communication</vt:lpstr>
      <vt:lpstr>Sockets in Java</vt:lpstr>
      <vt:lpstr>Sockets in Java</vt:lpstr>
      <vt:lpstr>Remote Procedure Calls</vt:lpstr>
      <vt:lpstr>فراخوان رویه از راه دور (RPC - Remote Procedure Calls)</vt:lpstr>
      <vt:lpstr>Remote Procedure Calls (Cont.)</vt:lpstr>
      <vt:lpstr>PowerPoint Presentation</vt:lpstr>
      <vt:lpstr>اجرای RPC</vt:lpstr>
      <vt:lpstr>End of Chapter 3</vt:lpstr>
      <vt:lpstr>Examples of IPC Systems - POSIX</vt:lpstr>
      <vt:lpstr>Examples of IPC Systems - POSIX</vt:lpstr>
      <vt:lpstr>IPC POSIX Producer</vt:lpstr>
      <vt:lpstr>IPC POSIX Consumer</vt:lpstr>
      <vt:lpstr>Examples of IPC Systems - Mach</vt:lpstr>
      <vt:lpstr>Mach Messages</vt:lpstr>
      <vt:lpstr>Mach Message Passing - Client</vt:lpstr>
      <vt:lpstr>Mach Message Passing - Server</vt:lpstr>
      <vt:lpstr>Pipes</vt:lpstr>
      <vt:lpstr>Ordinary Pipes</vt:lpstr>
      <vt:lpstr>Named Pipes</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A Taghinezhad</cp:lastModifiedBy>
  <cp:revision>582</cp:revision>
  <cp:lastPrinted>2013-10-02T18:16:40Z</cp:lastPrinted>
  <dcterms:created xsi:type="dcterms:W3CDTF">2011-01-13T23:43:38Z</dcterms:created>
  <dcterms:modified xsi:type="dcterms:W3CDTF">2026-04-27T13:09:40Z</dcterms:modified>
</cp:coreProperties>
</file>