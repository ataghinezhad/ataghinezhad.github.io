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145" r:id="rId1"/>
  </p:sldMasterIdLst>
  <p:notesMasterIdLst>
    <p:notesMasterId r:id="rId80"/>
  </p:notesMasterIdLst>
  <p:handoutMasterIdLst>
    <p:handoutMasterId r:id="rId81"/>
  </p:handoutMasterIdLst>
  <p:sldIdLst>
    <p:sldId id="319" r:id="rId2"/>
    <p:sldId id="420" r:id="rId3"/>
    <p:sldId id="332" r:id="rId4"/>
    <p:sldId id="333" r:id="rId5"/>
    <p:sldId id="448" r:id="rId6"/>
    <p:sldId id="335" r:id="rId7"/>
    <p:sldId id="449" r:id="rId8"/>
    <p:sldId id="450" r:id="rId9"/>
    <p:sldId id="451" r:id="rId10"/>
    <p:sldId id="452" r:id="rId11"/>
    <p:sldId id="341" r:id="rId12"/>
    <p:sldId id="453" r:id="rId13"/>
    <p:sldId id="454" r:id="rId14"/>
    <p:sldId id="455" r:id="rId15"/>
    <p:sldId id="469" r:id="rId16"/>
    <p:sldId id="471" r:id="rId17"/>
    <p:sldId id="475" r:id="rId18"/>
    <p:sldId id="483" r:id="rId19"/>
    <p:sldId id="457" r:id="rId20"/>
    <p:sldId id="458" r:id="rId21"/>
    <p:sldId id="349" r:id="rId22"/>
    <p:sldId id="459" r:id="rId23"/>
    <p:sldId id="472" r:id="rId24"/>
    <p:sldId id="460" r:id="rId25"/>
    <p:sldId id="461" r:id="rId26"/>
    <p:sldId id="476" r:id="rId27"/>
    <p:sldId id="477" r:id="rId28"/>
    <p:sldId id="462" r:id="rId29"/>
    <p:sldId id="473" r:id="rId30"/>
    <p:sldId id="474" r:id="rId31"/>
    <p:sldId id="464" r:id="rId32"/>
    <p:sldId id="362" r:id="rId33"/>
    <p:sldId id="484" r:id="rId34"/>
    <p:sldId id="363" r:id="rId35"/>
    <p:sldId id="419" r:id="rId36"/>
    <p:sldId id="479" r:id="rId37"/>
    <p:sldId id="480" r:id="rId38"/>
    <p:sldId id="481" r:id="rId39"/>
    <p:sldId id="482" r:id="rId40"/>
    <p:sldId id="447" r:id="rId41"/>
    <p:sldId id="367" r:id="rId42"/>
    <p:sldId id="400" r:id="rId43"/>
    <p:sldId id="368" r:id="rId44"/>
    <p:sldId id="369" r:id="rId45"/>
    <p:sldId id="370" r:id="rId46"/>
    <p:sldId id="371" r:id="rId47"/>
    <p:sldId id="372" r:id="rId48"/>
    <p:sldId id="373" r:id="rId49"/>
    <p:sldId id="374" r:id="rId50"/>
    <p:sldId id="375" r:id="rId51"/>
    <p:sldId id="376" r:id="rId52"/>
    <p:sldId id="378" r:id="rId53"/>
    <p:sldId id="379" r:id="rId54"/>
    <p:sldId id="380" r:id="rId55"/>
    <p:sldId id="381" r:id="rId56"/>
    <p:sldId id="382" r:id="rId57"/>
    <p:sldId id="383" r:id="rId58"/>
    <p:sldId id="384" r:id="rId59"/>
    <p:sldId id="385" r:id="rId60"/>
    <p:sldId id="386" r:id="rId61"/>
    <p:sldId id="401" r:id="rId62"/>
    <p:sldId id="431" r:id="rId63"/>
    <p:sldId id="432" r:id="rId64"/>
    <p:sldId id="433" r:id="rId65"/>
    <p:sldId id="434" r:id="rId66"/>
    <p:sldId id="435" r:id="rId67"/>
    <p:sldId id="436" r:id="rId68"/>
    <p:sldId id="437" r:id="rId69"/>
    <p:sldId id="438" r:id="rId70"/>
    <p:sldId id="439" r:id="rId71"/>
    <p:sldId id="440" r:id="rId72"/>
    <p:sldId id="441" r:id="rId73"/>
    <p:sldId id="442" r:id="rId74"/>
    <p:sldId id="443" r:id="rId75"/>
    <p:sldId id="444" r:id="rId76"/>
    <p:sldId id="445" r:id="rId77"/>
    <p:sldId id="446" r:id="rId78"/>
    <p:sldId id="395" r:id="rId79"/>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4D7"/>
    <a:srgbClr val="F8F8F8"/>
    <a:srgbClr val="C9EAFB"/>
    <a:srgbClr val="E7E7E5"/>
    <a:srgbClr val="CCECFF"/>
    <a:srgbClr val="FF0000"/>
    <a:srgbClr val="66CCFF"/>
    <a:srgbClr val="CCFFFF"/>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71" autoAdjust="0"/>
    <p:restoredTop sz="75486" autoAdjust="0"/>
  </p:normalViewPr>
  <p:slideViewPr>
    <p:cSldViewPr snapToGrid="0">
      <p:cViewPr varScale="1">
        <p:scale>
          <a:sx n="87" d="100"/>
          <a:sy n="87" d="100"/>
        </p:scale>
        <p:origin x="2382" y="84"/>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2858"/>
    </p:cViewPr>
  </p:sorterViewPr>
  <p:notesViewPr>
    <p:cSldViewPr snapToGrid="0">
      <p:cViewPr varScale="1">
        <p:scale>
          <a:sx n="65" d="100"/>
          <a:sy n="65" d="100"/>
        </p:scale>
        <p:origin x="3125" y="3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A241D02D-F0BE-479D-BFAE-28F6DABC062E}"/>
              </a:ext>
            </a:extLst>
          </p:cNvPr>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09A33344-A246-47EE-87AD-DC2B769C31C4}"/>
              </a:ext>
            </a:extLst>
          </p:cNvPr>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3169">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AF886B7E-9DF3-450F-92F2-1A3BF26B8AC0}"/>
              </a:ext>
            </a:extLst>
          </p:cNvPr>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53339C26-84D6-4CAB-9ACB-F216D653813F}"/>
              </a:ext>
            </a:extLst>
          </p:cNvPr>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650">
              <a:defRPr sz="1100">
                <a:latin typeface="Helvetica" panose="020B0604020202020204" pitchFamily="34" charset="0"/>
              </a:defRPr>
            </a:lvl1pPr>
          </a:lstStyle>
          <a:p>
            <a:fld id="{DF7B4608-F3D0-4E52-ABA4-6F2681683C18}"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6T13:40:23.981"/>
    </inkml:context>
    <inkml:brush xml:id="br0">
      <inkml:brushProperty name="width" value="0.035" units="cm"/>
      <inkml:brushProperty name="height" value="0.035" units="cm"/>
      <inkml:brushProperty name="color" value="#E71224"/>
    </inkml:brush>
  </inkml:definitions>
  <inkml:trace contextRef="#ctx0" brushRef="#br0">0 1 24575,'4'2'0,"1"-1"0,-1 1 0,0 0 0,0 1 0,0-1 0,0 1 0,-1 0 0,1 0 0,-1 0 0,0 0 0,1 0 0,3 6 0,5 4 0,-1-4 0,-1 0 0,0 1 0,0-1 0,-1 2 0,0 0 0,-1 0 0,0 0 0,-1 1 0,0 0 0,-1 0 0,-1 1 0,6 17 0,-8-20 0,-1 1 0,0 0 0,0 0 0,-1 0 0,-1 0 0,0 11 0,-1-16 0,0-1 0,0 1 0,-1-1 0,1 0 0,-1 0 0,0 0 0,-1 0 0,1 0 0,-1 0 0,0 0 0,-1-1 0,1 0 0,-1 0 0,-4 5 0,4-5 0,0 0 0,1 0 0,-1 0 0,1 1 0,0-1 0,0 1 0,0 0 0,1 0 0,0 0 0,-4 11 0,4-4 0,1 0 0,0 0 0,0 0 0,2 13 0,-2 1 0,0-16 0,1 0 0,0 1 0,3 20 0,-3-30 0,1 1 0,-1 0 0,1 0 0,-1 0 0,1 0 0,-1-1 0,1 1 0,0 0 0,0-1 0,0 1 0,0-1 0,0 1 0,1-1 0,-1 1 0,0-1 0,1 0 0,-1 0 0,1 1 0,-1-1 0,1 0 0,-1 0 0,1-1 0,0 1 0,-1 0 0,1 0 0,0-1 0,2 1 0,-2-1 0,-1 0 0,1 0 0,0 0 0,-1 0 0,1 1 0,-1-1 0,1 0 0,0 1 0,-1 0 0,1-1 0,-1 1 0,1 0 0,-1-1 0,0 1 0,1 0 0,-1 0 0,0 0 0,1 0 0,-1 1 0,0-1 0,0 0 0,0 0 0,0 1 0,1 1 0,-2-1 0,-1 0 0,0 0 0,1 0 0,-1 0 0,0 0 0,0 0 0,0 0 0,0-1 0,0 1 0,0 0 0,-1-1 0,1 1 0,-1-1 0,1 1 0,-1-1 0,1 0 0,-1 1 0,0-1 0,0 0 0,-3 1 0,2 0 0,0 0 0,0 1 0,0-1 0,0 1 0,0-1 0,0 1 0,1 0 0,0 0 0,-1 0 0,1 0 0,0 1 0,0-1 0,1 1 0,-1-1 0,-1 6 0,1 1 0,1 0 0,0 0 0,0 1 0,2 16 0,1 503 0,-2-527-2,0 0 0,0-1 0,-1 1 0,1 0-1,-1-1 1,1 1 0,-1-1 0,0 1 0,0-1 0,0 1-1,-1-1 1,1 0 0,0 1 0,-1-1 0,0 0 0,1 0-1,-1 0 1,0 0 0,0 0 0,0-1 0,0 1 0,0-1-1,-1 1 1,1-1 0,0 0 0,-1 0 0,1 0 0,-1 0-1,1 0 1,-1 0 0,-3 0 0,-24 12-1294,20-7-5530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6T13:40:26.294"/>
    </inkml:context>
    <inkml:brush xml:id="br0">
      <inkml:brushProperty name="width" value="0.035" units="cm"/>
      <inkml:brushProperty name="height" value="0.035" units="cm"/>
      <inkml:brushProperty name="color" value="#E71224"/>
    </inkml:brush>
  </inkml:definitions>
  <inkml:trace contextRef="#ctx0" brushRef="#br0">1 0 24575,'5'1'0,"-1"0"0,1 0 0,0 0 0,0 1 0,-1 0 0,1 0 0,-1 0 0,1 0 0,-1 1 0,0 0 0,0-1 0,6 7 0,48 47 0,-45-43 0,4 7 0,0 0 0,-2 1 0,0 1 0,-1 0 0,18 40 0,-14-20 0,-2 0 0,15 63 0,-25-69 0,-2 0 0,-1 0 0,-2 0 0,-5 51 0,1 4 0,4-34 0,0-25 0,-1 1 0,-1-1 0,-2 0 0,-1 0 0,-13 51 0,13-70 0,-2 3 0,2 0 0,-1 0 0,-1 23 0,5-35 0,1 1 0,0-1 0,0 0 0,0 0 0,0 0 0,1 1 0,0-1 0,0 0 0,0 0 0,0 0 0,1 0 0,-1 0 0,1 0 0,0-1 0,0 1 0,1 0 0,-1-1 0,4 5 0,28 39-164,-26-33-1037,-1-4-5625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6T13:40:29.571"/>
    </inkml:context>
    <inkml:brush xml:id="br0">
      <inkml:brushProperty name="width" value="0.035" units="cm"/>
      <inkml:brushProperty name="height" value="0.035" units="cm"/>
      <inkml:brushProperty name="color" value="#E71224"/>
    </inkml:brush>
  </inkml:definitions>
  <inkml:trace contextRef="#ctx0" brushRef="#br0">55 34 24575,'10'-1'0,"0"-1"0,1 1 0,-1-2 0,0 1 0,13-6 0,-15 4 0,1 1 0,0 1 0,0-1 0,1 2 0,-1-1 0,11 1 0,-17 1 0,1 0 0,-1 1 0,1-1 0,-1 1 0,0 0 0,1 0 0,-1 1 0,0-1 0,0 1 0,0-1 0,0 1 0,0 0 0,0 0 0,0 0 0,-1 1 0,1-1 0,-1 1 0,0-1 0,1 1 0,-1 0 0,1 3 0,4 2 0,-1 1 0,0 0 0,-1 0 0,0 0 0,-1 1 0,0-1 0,0 1 0,-1 0 0,0 0 0,-1 1 0,0-1 0,-1 0 0,0 1 0,0 10 0,-1 5 0,-1-1 0,-1 1 0,-2-1 0,0 0 0,-1 1 0,-2-2 0,-12 31 0,-10 27 0,28-77 0,-1 1 0,1 0 0,0 0 0,0 1 0,1-1 0,0 0 0,0 0 0,1 0 0,-1 0 0,1 0 0,4 12 0,-4-17 0,0 1 0,0 0 0,0 0 0,0-1 0,1 1 0,-1 0 0,1-1 0,-1 0 0,1 1 0,-1-1 0,1 0 0,0 0 0,0 0 0,0 0 0,0 0 0,-1 0 0,5 1 0,-4-2 0,0 1 0,0-1 0,0 1 0,0 0 0,0 0 0,0 0 0,-1 0 0,1 0 0,0 0 0,-1 1 0,1-1 0,-1 0 0,1 1 0,-1-1 0,0 1 0,1-1 0,-1 1 0,0 0 0,0 0 0,0-1 0,0 1 0,-1 0 0,1 2 0,1 6 0,-1-1 0,-1 1 0,0 0 0,0-1 0,-1 1 0,0 0 0,-1-1 0,0 1 0,0-1 0,-1 0 0,-4 10 0,2-6 0,1 1 0,0-1 0,1 1 0,-1 20 0,-13 123 0,28-62 0,-11-92 0,0 0 0,0-1 0,0 1 0,0 0 0,-1-1 0,1 1 0,-1 0 0,1-1 0,-1 1 0,0-1 0,0 1 0,0-1 0,0 0 0,-1 1 0,1-1 0,-1 0 0,1 0 0,-1 0 0,0 0 0,0 0 0,0 0 0,0 0 0,0 0 0,0-1 0,0 1 0,0-1 0,-1 0 0,1 0 0,-1 0 0,-4 2 0,-9 2 0,0 0 0,0-1 0,-31 4 0,26-4 0,4 0-22,0 0 0,-26 12 0,17-6-1277,14-6-5527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6T13:40:30.772"/>
    </inkml:context>
    <inkml:brush xml:id="br0">
      <inkml:brushProperty name="width" value="0.035" units="cm"/>
      <inkml:brushProperty name="height" value="0.035" units="cm"/>
      <inkml:brushProperty name="color" value="#E71224"/>
    </inkml:brush>
  </inkml:definitions>
  <inkml:trace contextRef="#ctx0" brushRef="#br0">0 0 24575,'7'1'0,"-1"0"0,0 1 0,1 0 0,-1 0 0,0 0 0,0 0 0,-1 1 0,1 0 0,0 0 0,-1 1 0,0 0 0,0 0 0,0 0 0,0 0 0,-1 1 0,1 0 0,4 7 0,6 7 0,-2 0 0,0 1 0,15 31 0,-18-29 0,-9-17 0,1-1 0,0 1 0,0 0 0,0-1 0,1 1 0,-1-1 0,1 0 0,0 0 0,1 0 0,-1 0 0,1-1 0,-1 1 0,1-1 0,0 0 0,7 4 0,-10-7 4,-1 1-1,1-1 1,0 0-1,0 1 1,-1-1-1,1 0 1,0 1-1,-1-1 1,1 1-1,0-1 0,-1 1 1,1 0-1,-1-1 1,1 1-1,-1 0 1,1-1-1,-1 1 1,0 0-1,1-1 1,-1 1-1,0 0 1,1 0-1,-1-1 1,0 1-1,0 0 1,0 0-1,0 0 1,0-1-1,0 2 1,-12 22-1474,-1-7-5356</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6T13:40:32.976"/>
    </inkml:context>
    <inkml:brush xml:id="br0">
      <inkml:brushProperty name="width" value="0.035" units="cm"/>
      <inkml:brushProperty name="height" value="0.035" units="cm"/>
      <inkml:brushProperty name="color" value="#E71224"/>
    </inkml:brush>
  </inkml:definitions>
  <inkml:trace contextRef="#ctx0" brushRef="#br0">1 1 24575,'5'-1'0,"-1"1"0,1 1 0,0-1 0,0 1 0,0-1 0,0 2 0,-1-1 0,1 0 0,-1 1 0,1 0 0,-1 0 0,1 0 0,-1 0 0,0 1 0,7 5 0,-7-3 0,0 0 0,0 0 0,0 0 0,-1 1 0,0-1 0,0 1 0,0 0 0,-1 0 0,0 0 0,0 0 0,2 12 0,0 8 0,-1 0 0,-1 33 0,5 38 0,7 71 0,-7-48 0,-1 260 0,-9-214 0,3-156 0,0 1 0,-1-1 0,-1 0 0,0 1 0,0-1 0,-1 0 0,0 0 0,-1-1 0,0 1 0,0-1 0,-1 0 0,-1 0 0,1 0 0,-9 10 0,11-16-92,0 2-120,-1 0 0,0 0-1,-1 0 1,1 0 0,-10 7 0,3-4-6614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6T13:40:34.509"/>
    </inkml:context>
    <inkml:brush xml:id="br0">
      <inkml:brushProperty name="width" value="0.035" units="cm"/>
      <inkml:brushProperty name="height" value="0.035" units="cm"/>
      <inkml:brushProperty name="color" value="#E71224"/>
    </inkml:brush>
  </inkml:definitions>
  <inkml:trace contextRef="#ctx0" brushRef="#br0">0 345 24575,'6'-1'0,"-1"1"0,0-1 0,0 0 0,0 0 0,1-1 0,-1 0 0,-1 1 0,1-2 0,0 1 0,0 0 0,-1-1 0,1 0 0,-1 0 0,0 0 0,6-6 0,4-7 0,0 1 0,19-29 0,-13 17 0,0 2 0,2 2 0,1 0 0,1 1 0,38-26 0,10-11-1365,-63 53-5461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6T13:40:37.142"/>
    </inkml:context>
    <inkml:brush xml:id="br0">
      <inkml:brushProperty name="width" value="0.035" units="cm"/>
      <inkml:brushProperty name="height" value="0.035" units="cm"/>
      <inkml:brushProperty name="color" value="#E71224"/>
    </inkml:brush>
  </inkml:definitions>
  <inkml:trace contextRef="#ctx0" brushRef="#br0">0 1 24575,'3'8'0,"0"-1"0,0 1 0,1-1 0,0 0 0,0 0 0,1 0 0,0 0 0,9 9 0,-6-6 0,-7-8 0,18 20 0,-1 1 0,-1 1 0,-1 1 0,-1 1 0,-2 0 0,16 40 0,-23-42 0,-1 1 0,-1 0 0,2 33 0,0 11 0,1 6 0,-7 139 0,-3-87 0,-6 4 0,-1 6 0,10-122 0,-2-1 0,0 1 0,0 0 0,-2-1 0,0 0 0,0 0 0,-1 0 0,-1 0 0,0-1 0,-1 0 0,-1 0 0,0 0 0,-10 11 0,9-14-195,0-1 0,-1 0 0,0-1 0,0 0 0,0-1 0,-17 8 0,15-9-6631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26T13:40:38.467"/>
    </inkml:context>
    <inkml:brush xml:id="br0">
      <inkml:brushProperty name="width" value="0.035" units="cm"/>
      <inkml:brushProperty name="height" value="0.035" units="cm"/>
      <inkml:brushProperty name="color" value="#E71224"/>
    </inkml:brush>
  </inkml:definitions>
  <inkml:trace contextRef="#ctx0" brushRef="#br0">0 1292 24575,'2'-18'0,"1"-1"0,0 0 0,2 1 0,0 0 0,1 0 0,1 0 0,10-20 0,9-25 0,-17 36 0,-2-1 0,-1 1 0,-2-2 0,0 1 0,-1-39 0,-2 54 0,1-7 0,2-1 0,0 1 0,2 0 0,0 0 0,14-31 0,-10 29 0,-2 0 0,0-1 0,8-45 0,-12 33 0,13-99 0,0-146 0,-17 274-85,0-1 0,1 1-1,0 0 1,1 0 0,-1 0-1,1 0 1,1 1 0,-1-1-1,1 0 1,0 1 0,0 0-1,0-1 1,1 1 0,-1 0-1,9-7 1,-2 2-6741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3:41:04.593"/>
    </inkml:context>
    <inkml:brush xml:id="br0">
      <inkml:brushProperty name="width" value="0.05" units="cm"/>
      <inkml:brushProperty name="height" value="0.3" units="cm"/>
      <inkml:brushProperty name="color" value="#004F8B"/>
      <inkml:brushProperty name="ignorePressure" value="1"/>
      <inkml:brushProperty name="inkEffects" value="pencil"/>
    </inkml:brush>
  </inkml:definitions>
  <inkml:trace contextRef="#ctx0" brushRef="#br0">161 0,'-4'0,"-7"0,0 5,-4 1,-3-1,1 4,-1 1,3 2,3 4,0 0,2 1,2 2,3 2,2 3,2 1,1 1,0 1,5-5,1-1,5-4,4-6,0 1,2-2,3-3,-3 2,1 0,-3 2,1 0,-3 2,1-1,3-2,-1-4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3:41:10.697"/>
    </inkml:context>
    <inkml:brush xml:id="br0">
      <inkml:brushProperty name="width" value="0.05" units="cm"/>
      <inkml:brushProperty name="height" value="0.3" units="cm"/>
      <inkml:brushProperty name="color" value="#004F8B"/>
      <inkml:brushProperty name="ignorePressure" value="1"/>
      <inkml:brushProperty name="inkEffects" value="pencil"/>
    </inkml:brush>
  </inkml:definitions>
  <inkml:trace contextRef="#ctx0" brushRef="#br0">346 1298,'0'-4,"0"-7,-4 0,-7-4,-5-4,-5 2,-3 4,2-1,5-2,1-3,-5-7,-5-4,-1-2,-2-3,5-1,2 5,5 5,4 1,6 0,-1 6,0 0,3 0,1-2,2-2,1-1,0-2,2-4,-1-3,0 0,5 2,6-3,10-1,5 2,4-4,1 2,4 5,0 4,4 2,-5 0,1 5,3 0,4 0,9-2,4-2,2-1,6-1,-1-1,0-1,-7 5,-8 1,-4 4,1 6,1-1,3 2,-3 3,0 3,1 1,2 2,2 1,1-4,-3-2,-1 1,1 1,-4 1,-5 1,-4 1,-4 0,-2 1,-2 1,-1-1,4 0,2 0,4 0,0 0,-1 0,-2 0,-2 0,-3 5,0 1,-1 0,-1 3,5 0,5 4,2-2,-2 3,7-1,1-3,-7 1,-2-1,-1 2,2 4,-5 4,-3 2,-3-2,1 0,-2-4,-3 1,-2 1,2-2,0 0,2-1,-3 0,-5 2,-5 3,0-2,3 1,4 1,3 2,-1 1,-5 2,1 1,2-4,2-2,-2 2,1 0,-3 1,1-3,2 0,-2 0,1 2,1 2,-1 0,0 2,2-4,-2-2,0 1,2 1,-2 2,0 0,2 2,-2 0,0-4,-3-1,-3 0,1-4,-2 1,-3 1,-2 2,-2 1,3-2,0 0,4 0,0 2,3 2,4 1,3 5,-1 2,-5 1,1-2,-3-1,-3-1,-4-1,3-2,4-4,0-1,-2-1,1-3,0 0,-3 2,2-3,0 1,-3 6,3 0,-1 0,3-4,-1-1,-2 2,2-4,-1 1,-3 2,3-3,0 1,-3 2,3-2,-1 0,-2 2,3-2,-1 0,3-3,-1 2,-2 1,-2 3,-3 3,-2 1,-2 2,0 0,5-4,0 4,5-4,0 0,-1 1,-3 0,-2 2,3-5,0 0,-1 1,3 1,0 1,-2 1,-1 2,-3 0,-1 1,-1-1,-1 1,4-5,2-1,-1 0,4-4,0 1,3-4,-1 1,3-3,-1 2,-3 3,-3 2,-3 3,-2 3,-1 5,-1 3,4-5,1-2,0-2,4-4,0-1,-2 0,3-3,0 1,-2 1,-3 3,-1 2,-3 1,0 2,4-4,0-1,1 0,-2 1,-1 2,-1 0,-1 2,-1 0,0 0,0 1,0 0,0-1,-1 1,1 0,0-1,0 1,0-1,0 1,0-1,0 1,0-1,0 1,0-1,0 0,0 1,0-1,0 5,0 2,0 3,0 2,0-3,0 2,0 0,0-2,0-3,0-2,0-2,0-1,0 0,0-1,0 4,0 2,0 0,0-1,0-2,0 0,0-2,0 0,0 4,0 2,0 3,0 1,-4-6,-3-5,2-1,0 0,2-1,-4 5,0 2,1 1,1-2,2 0,2-2,-5 0,0-1,0 4,2 1,1 0,1-1,1-1,1 3,0 0,0 4,0 0,1-2,-6 3,0-2,-1-1,2-3,1-3,1 0,0-2,2-1,0 0,0 0,-4 5,-2 1,0 4,2 1,-4-2,0-1,2-4,1 4,1-1,-2 0,-1 2,1 0,1-1,-2-2,-1-2,2 3,1 0,2-1,1 3,2 1,0-3,0-1,0-2,0-1,1-2,-1-1,0 1,-4-6,-3-1,2 1,0 0,2 7,-4-3,0 1,1-2,1 2,2-1,2 5,-4 3,-2 3,2 5,1 1,-4 1,0-1,2-4,1-4,1-3,3 2,-5 0,0 8,1 2,1-3,1-3,1 1,1 3,1 0,0-4,-4-3,-2-3,0-2,2 3,0 0,2 0,1-2,1-1,0-1,0 0,0-2,1 0,-1 1,0-1,0 0,0 0,0 1,0-1,5-4,1-1,0-1,3-2,0-1,-1 2,2-3,0 1,-3 1,3-1,0 0,-3 2,3-2,-1 0,3-3,-1 1,3-1,2-5,0 2,-3 3,0 0,-2 1,2-2,-2 2,3-2,2-3,0 1,0-1,3-2,3-3,1-2,2-2,1 0,0-2,1 1,0 0,0 4,0 1,-5 5,-1 1,0-3,1-1,-4 2,-4-1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3:41:12.329"/>
    </inkml:context>
    <inkml:brush xml:id="br0">
      <inkml:brushProperty name="width" value="0.05" units="cm"/>
      <inkml:brushProperty name="height" value="0.3" units="cm"/>
      <inkml:brushProperty name="color" value="#004F8B"/>
      <inkml:brushProperty name="ignorePressure" value="1"/>
      <inkml:brushProperty name="inkEffects" value="pencil"/>
    </inkml:brush>
  </inkml:definitions>
  <inkml:trace contextRef="#ctx0" brushRef="#br0">11 6,'0'-4,"0"3,0 5,0 8,5 1,1 3,4-1,5-4,0 2,-2 2,-9-1,-9-2,-8-5,-2 3,2 3,2 4,0-1,1-3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26T13:41:15.073"/>
    </inkml:context>
    <inkml:brush xml:id="br0">
      <inkml:brushProperty name="width" value="0.05" units="cm"/>
      <inkml:brushProperty name="height" value="0.3" units="cm"/>
      <inkml:brushProperty name="color" value="#004F8B"/>
      <inkml:brushProperty name="ignorePressure" value="1"/>
      <inkml:brushProperty name="inkEffects" value="pencil"/>
    </inkml:brush>
  </inkml:definitions>
  <inkml:trace contextRef="#ctx0" brushRef="#br0">479 607,'-4'0,"-7"0,-5 0,-5 0,-3 0,-2 0,-1 0,0 0,-1 0,5-4,2-2,0 0,3-3,1 0,2-4,1-3,-3 1,-3-2,2-7,0-4,2-6,1 3,1 2,5 2,-2 5,1 1,3 1,2-1,2-2,1-1,2-1,0-1,1-1,4 5,6 1,5 5,5 0,3 3,2-1,1 2,1 3,0 3,-5 7,2 3,2 6,1 1,0-1,0-3,-5 7,-2 5,0 4,-3 3,-6 6,1-3,-3-1,2-2,4-4,-2-3,2-3,-2 0,-3 1,1-2,-2 0,-2 4,-3 1,-2 3,-2 2,-1 1,0 1,0-1,-5-3,-6-7,-6-1,-4-2,2-1,-2-1,0-2,-2-4,-1-2,3-1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345CDFB-7A76-4C4D-913D-3C7D6FE5DE2A}"/>
              </a:ext>
            </a:extLst>
          </p:cNvPr>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7FB24A69-0B86-44C0-95FA-F8D9A6931146}"/>
              </a:ext>
            </a:extLst>
          </p:cNvPr>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1168">
              <a:defRPr sz="1200">
                <a:latin typeface="Times New Roman" charset="0"/>
                <a:ea typeface="ＭＳ Ｐゴシック" charset="-128"/>
                <a:cs typeface="ＭＳ Ｐゴシック" charset="-128"/>
              </a:defRPr>
            </a:lvl1pPr>
          </a:lstStyle>
          <a:p>
            <a:pPr>
              <a:defRPr/>
            </a:pPr>
            <a:endParaRPr lang="en-US"/>
          </a:p>
        </p:txBody>
      </p:sp>
      <p:sp>
        <p:nvSpPr>
          <p:cNvPr id="71684" name="Rectangle 4">
            <a:extLst>
              <a:ext uri="{FF2B5EF4-FFF2-40B4-BE49-F238E27FC236}">
                <a16:creationId xmlns:a16="http://schemas.microsoft.com/office/drawing/2014/main" id="{AA27146D-C92E-4EEF-9F79-56BA93AB219B}"/>
              </a:ext>
            </a:extLst>
          </p:cNvPr>
          <p:cNvSpPr>
            <a:spLocks noGrp="1" noRot="1" noChangeAspect="1" noChangeArrowheads="1" noTextEdit="1"/>
          </p:cNvSpPr>
          <p:nvPr>
            <p:ph type="sldImg" idx="2"/>
          </p:nvPr>
        </p:nvSpPr>
        <p:spPr bwMode="auto">
          <a:xfrm>
            <a:off x="1182688" y="698500"/>
            <a:ext cx="4646612"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A01186F9-B596-4A19-9264-7D2B4FC636C4}"/>
              </a:ext>
            </a:extLst>
          </p:cNvPr>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0C645014-0F43-4A0F-901D-B500E062F28B}"/>
              </a:ext>
            </a:extLst>
          </p:cNvPr>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A87C6AF3-49D0-4016-A1FB-7B03E0453DCB}"/>
              </a:ext>
            </a:extLst>
          </p:cNvPr>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0275">
              <a:defRPr sz="1200">
                <a:latin typeface="Times New Roman" panose="02020603050405020304" pitchFamily="18" charset="0"/>
              </a:defRPr>
            </a:lvl1pPr>
          </a:lstStyle>
          <a:p>
            <a:fld id="{47794835-A72A-4AEF-B6EC-BD8CE85FBF47}"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9F949B7-291A-4420-9D9C-B1ABA67FB313}" type="slidenum">
              <a:rPr lang="en-US" altLang="x-none" smtClean="0"/>
              <a:pPr>
                <a:defRPr/>
              </a:pPr>
              <a:t>1</a:t>
            </a:fld>
            <a:endParaRPr lang="en-US" altLang="x-none"/>
          </a:p>
        </p:txBody>
      </p:sp>
    </p:spTree>
    <p:extLst>
      <p:ext uri="{BB962C8B-B14F-4D97-AF65-F5344CB8AC3E}">
        <p14:creationId xmlns:p14="http://schemas.microsoft.com/office/powerpoint/2010/main" val="937755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8261A532-F5D8-4423-97D9-51A759C325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04C4C77-1749-414B-A598-D337A43D5075}"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5D5FC33A-937F-4E68-B2B3-4B4BD24C084F}"/>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5B2D7686-5433-4194-B42C-CF112404FA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9F30B147-5EF2-41FD-A336-400E429072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E255C31-64E2-43F9-BBBD-9CEB59C57D52}" type="slidenum">
              <a:rPr lang="en-US" altLang="en-US">
                <a:latin typeface="Helvetica" panose="020B0604020202020204" pitchFamily="34" charset="0"/>
              </a:rPr>
              <a:pPr/>
              <a:t>3</a:t>
            </a:fld>
            <a:endParaRPr lang="en-US" altLang="en-US">
              <a:latin typeface="Helvetica" panose="020B0604020202020204" pitchFamily="34" charset="0"/>
            </a:endParaRPr>
          </a:p>
        </p:txBody>
      </p:sp>
      <p:sp>
        <p:nvSpPr>
          <p:cNvPr id="73731" name="Rectangle 2">
            <a:extLst>
              <a:ext uri="{FF2B5EF4-FFF2-40B4-BE49-F238E27FC236}">
                <a16:creationId xmlns:a16="http://schemas.microsoft.com/office/drawing/2014/main" id="{B2EF8695-F0C2-4FCB-9C59-377007B3AE3D}"/>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A0CE4DCE-61B5-44FB-9697-E30B508F94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116CDF5D-5DA4-4CFA-BCC7-390A2861EF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AABF19-B1BB-4598-B75E-B058130364E3}" type="slidenum">
              <a:rPr lang="en-US" altLang="en-US">
                <a:latin typeface="Helvetica" panose="020B0604020202020204" pitchFamily="34" charset="0"/>
              </a:rPr>
              <a:pPr/>
              <a:t>4</a:t>
            </a:fld>
            <a:endParaRPr lang="en-US" altLang="en-US">
              <a:latin typeface="Helvetica" panose="020B0604020202020204" pitchFamily="34" charset="0"/>
            </a:endParaRPr>
          </a:p>
        </p:txBody>
      </p:sp>
      <p:sp>
        <p:nvSpPr>
          <p:cNvPr id="74755" name="Rectangle 2">
            <a:extLst>
              <a:ext uri="{FF2B5EF4-FFF2-40B4-BE49-F238E27FC236}">
                <a16:creationId xmlns:a16="http://schemas.microsoft.com/office/drawing/2014/main" id="{6FB5F106-41EE-4364-BF1E-20D5C6B2A496}"/>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0294DEFC-309C-4B8E-9AC7-318287BBAF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E4CBE908-8BB0-4DF6-A630-7278A1DB2F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12CC5BE-059E-4E33-A616-7566B8C50E03}" type="slidenum">
              <a:rPr lang="en-US" altLang="en-US">
                <a:latin typeface="Helvetica" panose="020B0604020202020204" pitchFamily="34" charset="0"/>
              </a:rPr>
              <a:pPr/>
              <a:t>5</a:t>
            </a:fld>
            <a:endParaRPr lang="en-US" altLang="en-US">
              <a:latin typeface="Helvetica" panose="020B0604020202020204" pitchFamily="34" charset="0"/>
            </a:endParaRPr>
          </a:p>
        </p:txBody>
      </p:sp>
      <p:sp>
        <p:nvSpPr>
          <p:cNvPr id="75779" name="Rectangle 2">
            <a:extLst>
              <a:ext uri="{FF2B5EF4-FFF2-40B4-BE49-F238E27FC236}">
                <a16:creationId xmlns:a16="http://schemas.microsoft.com/office/drawing/2014/main" id="{8C41B09B-CF38-410C-AB74-BB59838E0F40}"/>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0C60F9F9-E7B8-45A8-91CF-E2EF6341BF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73531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98DA1FFB-D227-47BC-9728-00B782DC28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C9090DC-ADAD-4D5C-A055-EC054CBA9BCF}" type="slidenum">
              <a:rPr lang="en-US" altLang="en-US">
                <a:latin typeface="Helvetica" panose="020B0604020202020204" pitchFamily="34" charset="0"/>
              </a:rPr>
              <a:pPr/>
              <a:t>6</a:t>
            </a:fld>
            <a:endParaRPr lang="en-US" altLang="en-US">
              <a:latin typeface="Helvetica" panose="020B0604020202020204" pitchFamily="34" charset="0"/>
            </a:endParaRPr>
          </a:p>
        </p:txBody>
      </p:sp>
      <p:sp>
        <p:nvSpPr>
          <p:cNvPr id="76803" name="Rectangle 2">
            <a:extLst>
              <a:ext uri="{FF2B5EF4-FFF2-40B4-BE49-F238E27FC236}">
                <a16:creationId xmlns:a16="http://schemas.microsoft.com/office/drawing/2014/main" id="{CD1394AA-6D61-4202-8BF0-CEA24B547311}"/>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F15A9A43-7F68-408F-9962-E7E257DA42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binding is a mapping from one address space to another</a:t>
            </a:r>
          </a:p>
        </p:txBody>
      </p:sp>
      <p:sp>
        <p:nvSpPr>
          <p:cNvPr id="4" name="Slide Number Placeholder 3"/>
          <p:cNvSpPr>
            <a:spLocks noGrp="1"/>
          </p:cNvSpPr>
          <p:nvPr>
            <p:ph type="sldNum" sz="quarter" idx="5"/>
          </p:nvPr>
        </p:nvSpPr>
        <p:spPr/>
        <p:txBody>
          <a:bodyPr/>
          <a:lstStyle/>
          <a:p>
            <a:fld id="{47794835-A72A-4AEF-B6EC-BD8CE85FBF47}" type="slidenum">
              <a:rPr lang="en-US" altLang="en-US" smtClean="0"/>
              <a:pPr/>
              <a:t>8</a:t>
            </a:fld>
            <a:endParaRPr lang="en-US" altLang="en-US"/>
          </a:p>
        </p:txBody>
      </p:sp>
    </p:spTree>
    <p:extLst>
      <p:ext uri="{BB962C8B-B14F-4D97-AF65-F5344CB8AC3E}">
        <p14:creationId xmlns:p14="http://schemas.microsoft.com/office/powerpoint/2010/main" val="24144849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2F9B0566-9DAA-40C6-BD9B-DA3EA41304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44794C4-13B3-47CE-ACEF-23B8A06F7C64}" type="slidenum">
              <a:rPr lang="en-US" altLang="en-US">
                <a:latin typeface="Helvetica" panose="020B0604020202020204" pitchFamily="34" charset="0"/>
              </a:rPr>
              <a:pPr/>
              <a:t>9</a:t>
            </a:fld>
            <a:endParaRPr lang="en-US" altLang="en-US">
              <a:latin typeface="Helvetica" panose="020B0604020202020204" pitchFamily="34" charset="0"/>
            </a:endParaRPr>
          </a:p>
        </p:txBody>
      </p:sp>
      <p:sp>
        <p:nvSpPr>
          <p:cNvPr id="77827" name="Rectangle 2">
            <a:extLst>
              <a:ext uri="{FF2B5EF4-FFF2-40B4-BE49-F238E27FC236}">
                <a16:creationId xmlns:a16="http://schemas.microsoft.com/office/drawing/2014/main" id="{81609710-F8FF-4ADB-8E3E-64DA55F859A2}"/>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DAD31A64-FBDF-459A-A519-16090EBFF3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rtl="1">
              <a:buNone/>
            </a:pPr>
            <a:r>
              <a:rPr lang="fa-IR" b="1" dirty="0"/>
              <a:t>تعریف کد قابل جابه‌جایی (</a:t>
            </a:r>
            <a:r>
              <a:rPr lang="en-US" b="1" dirty="0"/>
              <a:t>Relocatable Code):</a:t>
            </a:r>
          </a:p>
          <a:p>
            <a:pPr algn="r" rtl="1"/>
            <a:r>
              <a:rPr lang="fa-IR" dirty="0"/>
              <a:t>کدی است که می‌تواند در هر موقعیتی از حافظه بارگذاری شود، بدون اینکه نیاز به بازنویسی اساسی داشته باشد. این کد معمولاً حاوی </a:t>
            </a:r>
            <a:r>
              <a:rPr lang="fa-IR" b="1" dirty="0"/>
              <a:t>آدرس‌های نسبی</a:t>
            </a:r>
            <a:r>
              <a:rPr lang="fa-IR" dirty="0"/>
              <a:t> یا </a:t>
            </a:r>
            <a:r>
              <a:rPr lang="fa-IR" b="1" dirty="0"/>
              <a:t>جداول بازمحاسبه (</a:t>
            </a:r>
            <a:r>
              <a:rPr lang="en-US" b="1" dirty="0"/>
              <a:t>relocation tables)</a:t>
            </a:r>
            <a:r>
              <a:rPr lang="en-US" dirty="0"/>
              <a:t> </a:t>
            </a:r>
            <a:r>
              <a:rPr lang="fa-IR" dirty="0"/>
              <a:t>است که در زمان لود، توسط </a:t>
            </a:r>
            <a:r>
              <a:rPr lang="fa-IR" b="1" dirty="0"/>
              <a:t>لودر (</a:t>
            </a:r>
            <a:r>
              <a:rPr lang="en-US" b="1" dirty="0"/>
              <a:t>loader)</a:t>
            </a:r>
            <a:r>
              <a:rPr lang="en-US" dirty="0"/>
              <a:t> </a:t>
            </a:r>
            <a:r>
              <a:rPr lang="fa-IR" dirty="0"/>
              <a:t>پردازش می‌شوند تا آدرس‌های نهایی را تنظیم کنند.</a:t>
            </a:r>
          </a:p>
          <a:p>
            <a:pPr algn="r" rtl="1"/>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060804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88A20251-A093-4172-BD74-A36C2A3F8B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EEF4FF4-C9FD-46D9-BF24-6598973F25B8}" type="slidenum">
              <a:rPr lang="en-US" altLang="en-US">
                <a:latin typeface="Helvetica" panose="020B0604020202020204" pitchFamily="34" charset="0"/>
              </a:rPr>
              <a:pPr/>
              <a:t>10</a:t>
            </a:fld>
            <a:endParaRPr lang="en-US" altLang="en-US">
              <a:latin typeface="Helvetica" panose="020B0604020202020204" pitchFamily="34" charset="0"/>
            </a:endParaRPr>
          </a:p>
        </p:txBody>
      </p:sp>
      <p:sp>
        <p:nvSpPr>
          <p:cNvPr id="79875" name="Rectangle 2">
            <a:extLst>
              <a:ext uri="{FF2B5EF4-FFF2-40B4-BE49-F238E27FC236}">
                <a16:creationId xmlns:a16="http://schemas.microsoft.com/office/drawing/2014/main" id="{6BD19E41-E753-43B4-A52C-F3C0FDC8098C}"/>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AFC68E5A-AEFD-4D41-934B-C0BEE57967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254475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92D03978-248F-4696-B60F-15CD45A7CC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5C935A-6734-4108-A7F7-F209D07F3D5B}" type="slidenum">
              <a:rPr lang="en-US" altLang="en-US">
                <a:latin typeface="Helvetica" panose="020B0604020202020204" pitchFamily="34" charset="0"/>
              </a:rPr>
              <a:pPr/>
              <a:t>11</a:t>
            </a:fld>
            <a:endParaRPr lang="en-US" altLang="en-US">
              <a:latin typeface="Helvetica" panose="020B0604020202020204" pitchFamily="34" charset="0"/>
            </a:endParaRPr>
          </a:p>
        </p:txBody>
      </p:sp>
      <p:sp>
        <p:nvSpPr>
          <p:cNvPr id="80899" name="Rectangle 2">
            <a:extLst>
              <a:ext uri="{FF2B5EF4-FFF2-40B4-BE49-F238E27FC236}">
                <a16:creationId xmlns:a16="http://schemas.microsoft.com/office/drawing/2014/main" id="{14A40313-58A0-42FC-AA3D-425318110877}"/>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BA8BA248-769F-4CA6-AD44-A8BE8C9CDC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Memory-Management Unit (</a:t>
            </a:r>
            <a:r>
              <a:rPr lang="en-US" altLang="en-US" sz="1100" dirty="0"/>
              <a:t>MMU</a:t>
            </a:r>
            <a:r>
              <a:rPr lang="en-US" altLang="en-US" dirty="0"/>
              <a:t>)</a:t>
            </a:r>
            <a:endParaRPr lang="en-US" altLang="en-US" dirty="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CE0E1E75-0157-44F3-9622-F350D085CC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07A095-AA18-4824-800F-5810C91ED729}" type="slidenum">
              <a:rPr lang="en-US" altLang="en-US">
                <a:latin typeface="Helvetica" panose="020B0604020202020204" pitchFamily="34" charset="0"/>
              </a:rPr>
              <a:pPr/>
              <a:t>12</a:t>
            </a:fld>
            <a:endParaRPr lang="en-US" altLang="en-US">
              <a:latin typeface="Helvetica" panose="020B0604020202020204" pitchFamily="34" charset="0"/>
            </a:endParaRPr>
          </a:p>
        </p:txBody>
      </p:sp>
      <p:sp>
        <p:nvSpPr>
          <p:cNvPr id="81923" name="Rectangle 2">
            <a:extLst>
              <a:ext uri="{FF2B5EF4-FFF2-40B4-BE49-F238E27FC236}">
                <a16:creationId xmlns:a16="http://schemas.microsoft.com/office/drawing/2014/main" id="{325FA7A5-5293-4037-A8FE-84A57628CC52}"/>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B76E2EA0-63AB-4CE6-9C1C-A93A950A4A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Generalization</a:t>
            </a:r>
            <a:r>
              <a:rPr lang="fa-IR" altLang="en-US" dirty="0">
                <a:latin typeface="Times New Roman" panose="02020603050405020304" pitchFamily="18" charset="0"/>
              </a:rPr>
              <a:t>تعمیم یا نتیجه کلی = </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1679170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F9EA5C68-574E-43D3-8AA4-1A0D2027A0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CBCCD95-CD05-47DB-845C-969685A4B775}" type="slidenum">
              <a:rPr lang="en-US" altLang="en-US">
                <a:latin typeface="Helvetica" panose="020B0604020202020204" pitchFamily="34" charset="0"/>
              </a:rPr>
              <a:pPr/>
              <a:t>13</a:t>
            </a:fld>
            <a:endParaRPr lang="en-US" altLang="en-US">
              <a:latin typeface="Helvetica" panose="020B0604020202020204" pitchFamily="34" charset="0"/>
            </a:endParaRPr>
          </a:p>
        </p:txBody>
      </p:sp>
      <p:sp>
        <p:nvSpPr>
          <p:cNvPr id="82947" name="Rectangle 2">
            <a:extLst>
              <a:ext uri="{FF2B5EF4-FFF2-40B4-BE49-F238E27FC236}">
                <a16:creationId xmlns:a16="http://schemas.microsoft.com/office/drawing/2014/main" id="{D6CC32CC-C84C-408C-875E-EC881AC2B52B}"/>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316F2FD8-38C8-4D92-A346-9A90DEADB3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rtl="1">
              <a:buNone/>
            </a:pPr>
            <a:r>
              <a:rPr lang="en-US" b="1" dirty="0"/>
              <a:t>🧠 </a:t>
            </a:r>
            <a:r>
              <a:rPr lang="fa-IR" b="1" dirty="0"/>
              <a:t>هدف و اهمیت:</a:t>
            </a:r>
          </a:p>
          <a:p>
            <a:pPr algn="r" rtl="1">
              <a:buFont typeface="Arial" panose="020B0604020202020204" pitchFamily="34" charset="0"/>
              <a:buChar char="•"/>
            </a:pPr>
            <a:r>
              <a:rPr lang="fa-IR" b="1" dirty="0"/>
              <a:t>حفاظت:</a:t>
            </a:r>
            <a:r>
              <a:rPr lang="fa-IR" dirty="0"/>
              <a:t> هر فرآیند محدوده‌ای مجزا از حافظه دارد.</a:t>
            </a:r>
          </a:p>
          <a:p>
            <a:pPr algn="r" rtl="1">
              <a:buFont typeface="Arial" panose="020B0604020202020204" pitchFamily="34" charset="0"/>
              <a:buChar char="•"/>
            </a:pPr>
            <a:r>
              <a:rPr lang="fa-IR" b="1" dirty="0"/>
              <a:t>جابجایی:</a:t>
            </a:r>
            <a:r>
              <a:rPr lang="fa-IR" dirty="0"/>
              <a:t> برنامه‌ها می‌توانند در هر نقطه‌ای از حافظه بارگذاری شوند.</a:t>
            </a:r>
          </a:p>
          <a:p>
            <a:pPr algn="r" rtl="1">
              <a:buFont typeface="Arial" panose="020B0604020202020204" pitchFamily="34" charset="0"/>
              <a:buChar char="•"/>
            </a:pPr>
            <a:r>
              <a:rPr lang="en-US" dirty="0"/>
              <a:t>Abstraction</a:t>
            </a:r>
            <a:r>
              <a:rPr lang="fa-IR" b="1" dirty="0"/>
              <a:t>:</a:t>
            </a:r>
            <a:r>
              <a:rPr lang="fa-IR" dirty="0"/>
              <a:t> </a:t>
            </a:r>
            <a:r>
              <a:rPr lang="en-US" dirty="0"/>
              <a:t>CPU </a:t>
            </a:r>
            <a:r>
              <a:rPr lang="fa-IR" dirty="0"/>
              <a:t>نیازی به دانستن ساختار واقعی حافظه ندارد.</a:t>
            </a:r>
          </a:p>
        </p:txBody>
      </p:sp>
    </p:spTree>
    <p:extLst>
      <p:ext uri="{BB962C8B-B14F-4D97-AF65-F5344CB8AC3E}">
        <p14:creationId xmlns:p14="http://schemas.microsoft.com/office/powerpoint/2010/main" val="1822303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1B43D4C6-B078-49B2-94A6-F75E860811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EA43B7E-7F16-4CAA-8D0B-87BEF463E3F2}" type="slidenum">
              <a:rPr lang="en-US" altLang="en-US">
                <a:latin typeface="Helvetica" panose="020B0604020202020204" pitchFamily="34" charset="0"/>
              </a:rPr>
              <a:pPr/>
              <a:t>14</a:t>
            </a:fld>
            <a:endParaRPr lang="en-US" altLang="en-US">
              <a:latin typeface="Helvetica" panose="020B0604020202020204" pitchFamily="34" charset="0"/>
            </a:endParaRPr>
          </a:p>
        </p:txBody>
      </p:sp>
      <p:sp>
        <p:nvSpPr>
          <p:cNvPr id="83971" name="Rectangle 2">
            <a:extLst>
              <a:ext uri="{FF2B5EF4-FFF2-40B4-BE49-F238E27FC236}">
                <a16:creationId xmlns:a16="http://schemas.microsoft.com/office/drawing/2014/main" id="{E292BC99-152D-4943-9445-C6754FFD279D}"/>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9E8606BA-AF5C-481E-B48E-40B54C2A2B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a-IR" dirty="0"/>
              <a:t>فرض کنید برنامه‌ای شامل ۵ تابع است، ولی در ابتدا فقط تابع اصلی (</a:t>
            </a:r>
            <a:r>
              <a:rPr lang="en-US" dirty="0"/>
              <a:t>main) </a:t>
            </a:r>
            <a:r>
              <a:rPr lang="fa-IR" dirty="0"/>
              <a:t>در حافظه است. اگر تابع ۳ فراخوانی شود، لودر آن را از دیسک به حافظه آورده و اجرا می‌کند. این کار باعث صرفه‌جویی در حافظه می‌شود و اجرای برنامه‌های بزرگ‌تر از حافظه فیزیکی را ممکن می‌سازد.</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178050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1B43D4C6-B078-49B2-94A6-F75E860811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EA43B7E-7F16-4CAA-8D0B-87BEF463E3F2}" type="slidenum">
              <a:rPr lang="en-US" altLang="en-US">
                <a:latin typeface="Helvetica" panose="020B0604020202020204" pitchFamily="34" charset="0"/>
              </a:rPr>
              <a:pPr/>
              <a:t>15</a:t>
            </a:fld>
            <a:endParaRPr lang="en-US" altLang="en-US">
              <a:latin typeface="Helvetica" panose="020B0604020202020204" pitchFamily="34" charset="0"/>
            </a:endParaRPr>
          </a:p>
        </p:txBody>
      </p:sp>
      <p:sp>
        <p:nvSpPr>
          <p:cNvPr id="83971" name="Rectangle 2">
            <a:extLst>
              <a:ext uri="{FF2B5EF4-FFF2-40B4-BE49-F238E27FC236}">
                <a16:creationId xmlns:a16="http://schemas.microsoft.com/office/drawing/2014/main" id="{E292BC99-152D-4943-9445-C6754FFD279D}"/>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9E8606BA-AF5C-481E-B48E-40B54C2A2B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055450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F7928AB6-7C3B-4284-B62D-52F8811E96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F6CBA1-5D3E-43EC-A5A8-ECCA8CDA3AD6}" type="slidenum">
              <a:rPr lang="en-US" altLang="en-US">
                <a:latin typeface="Helvetica" panose="020B0604020202020204" pitchFamily="34" charset="0"/>
              </a:rPr>
              <a:pPr/>
              <a:t>16</a:t>
            </a:fld>
            <a:endParaRPr lang="en-US" altLang="en-US">
              <a:latin typeface="Helvetica" panose="020B0604020202020204" pitchFamily="34" charset="0"/>
            </a:endParaRPr>
          </a:p>
        </p:txBody>
      </p:sp>
      <p:sp>
        <p:nvSpPr>
          <p:cNvPr id="84995" name="Rectangle 2">
            <a:extLst>
              <a:ext uri="{FF2B5EF4-FFF2-40B4-BE49-F238E27FC236}">
                <a16:creationId xmlns:a16="http://schemas.microsoft.com/office/drawing/2014/main" id="{CA8E06C7-855A-4A71-93B8-11AE283BF50C}"/>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D7B26E9D-0999-4B30-AAA7-486C7B89D8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27744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FD39E-22F4-FBAF-C003-591DA5B3036E}"/>
            </a:ext>
          </a:extLst>
        </p:cNvPr>
        <p:cNvGrpSpPr/>
        <p:nvPr/>
      </p:nvGrpSpPr>
      <p:grpSpPr>
        <a:xfrm>
          <a:off x="0" y="0"/>
          <a:ext cx="0" cy="0"/>
          <a:chOff x="0" y="0"/>
          <a:chExt cx="0" cy="0"/>
        </a:xfrm>
      </p:grpSpPr>
      <p:sp>
        <p:nvSpPr>
          <p:cNvPr id="78850" name="Rectangle 7">
            <a:extLst>
              <a:ext uri="{FF2B5EF4-FFF2-40B4-BE49-F238E27FC236}">
                <a16:creationId xmlns:a16="http://schemas.microsoft.com/office/drawing/2014/main" id="{C2958133-2D11-9ECC-E0A1-35FD0C665E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DDB922B-DA28-4C54-94E7-219C3AC7D96C}" type="slidenum">
              <a:rPr lang="en-US" altLang="en-US">
                <a:latin typeface="Helvetica" panose="020B0604020202020204" pitchFamily="34" charset="0"/>
              </a:rPr>
              <a:pPr/>
              <a:t>18</a:t>
            </a:fld>
            <a:endParaRPr lang="en-US" altLang="en-US">
              <a:latin typeface="Helvetica" panose="020B0604020202020204" pitchFamily="34" charset="0"/>
            </a:endParaRPr>
          </a:p>
        </p:txBody>
      </p:sp>
      <p:sp>
        <p:nvSpPr>
          <p:cNvPr id="78851" name="Rectangle 2">
            <a:extLst>
              <a:ext uri="{FF2B5EF4-FFF2-40B4-BE49-F238E27FC236}">
                <a16:creationId xmlns:a16="http://schemas.microsoft.com/office/drawing/2014/main" id="{8B8ED5EF-F595-908B-82FB-9DC7FD67F382}"/>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8201F333-1A63-CE43-7367-F1D7FBE49C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ct val="115000"/>
              </a:lnSpc>
              <a:spcAft>
                <a:spcPts val="800"/>
              </a:spcAft>
              <a:buNone/>
            </a:pPr>
            <a:r>
              <a:rPr lang="ar-SA" sz="1800" b="1" kern="100" dirty="0">
                <a:effectLst/>
                <a:latin typeface="Aptos" panose="020B0004020202020204" pitchFamily="34" charset="0"/>
                <a:ea typeface="Aptos" panose="020B0004020202020204" pitchFamily="34" charset="0"/>
                <a:cs typeface="B Nazanin" panose="00000400000000000000" pitchFamily="2" charset="-78"/>
              </a:rPr>
              <a:t>مرحله اول: زمان کامپایل</a:t>
            </a:r>
            <a:r>
              <a:rPr lang="en-US" sz="1800" b="1" kern="100" dirty="0">
                <a:effectLst/>
                <a:latin typeface="Aptos" panose="020B0004020202020204" pitchFamily="34" charset="0"/>
                <a:ea typeface="Aptos" panose="020B0004020202020204" pitchFamily="34" charset="0"/>
                <a:cs typeface="B Nazanin" panose="00000400000000000000" pitchFamily="2" charset="-78"/>
              </a:rPr>
              <a:t> (Compile Time)</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Font typeface="+mj-lt"/>
              <a:buAutoNum type="arabicPeriod"/>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برنامه‌ی منبع</a:t>
            </a:r>
            <a:r>
              <a:rPr lang="en-US" sz="1800" b="1" kern="100" dirty="0">
                <a:effectLst/>
                <a:latin typeface="Aptos" panose="020B0004020202020204" pitchFamily="34" charset="0"/>
                <a:ea typeface="Aptos" panose="020B0004020202020204" pitchFamily="34" charset="0"/>
                <a:cs typeface="B Nazanin" panose="00000400000000000000" pitchFamily="2" charset="-78"/>
              </a:rPr>
              <a:t> (source program):</a:t>
            </a:r>
            <a:br>
              <a:rPr lang="en-US" sz="1800" kern="100" dirty="0">
                <a:effectLst/>
                <a:latin typeface="Aptos" panose="020B0004020202020204" pitchFamily="34" charset="0"/>
                <a:ea typeface="Aptos" panose="020B0004020202020204" pitchFamily="34" charset="0"/>
                <a:cs typeface="B Nazanin" panose="00000400000000000000" pitchFamily="2" charset="-78"/>
              </a:rPr>
            </a:br>
            <a:r>
              <a:rPr lang="ar-SA" sz="1800" kern="100" dirty="0">
                <a:effectLst/>
                <a:latin typeface="Aptos" panose="020B0004020202020204" pitchFamily="34" charset="0"/>
                <a:ea typeface="Aptos" panose="020B0004020202020204" pitchFamily="34" charset="0"/>
                <a:cs typeface="B Nazanin" panose="00000400000000000000" pitchFamily="2" charset="-78"/>
              </a:rPr>
              <a:t>این همون کدی هست که شما به زبان‌های برنامه‌نویسی مثل</a:t>
            </a:r>
            <a:r>
              <a:rPr lang="en-US" sz="1800" kern="100" dirty="0">
                <a:effectLst/>
                <a:latin typeface="Aptos" panose="020B0004020202020204" pitchFamily="34" charset="0"/>
                <a:ea typeface="Aptos" panose="020B0004020202020204" pitchFamily="34" charset="0"/>
                <a:cs typeface="B Nazanin" panose="00000400000000000000" pitchFamily="2" charset="-78"/>
              </a:rPr>
              <a:t> C </a:t>
            </a:r>
            <a:r>
              <a:rPr lang="ar-SA" sz="1800" kern="100" dirty="0">
                <a:effectLst/>
                <a:latin typeface="Aptos" panose="020B0004020202020204" pitchFamily="34" charset="0"/>
                <a:ea typeface="Aptos" panose="020B0004020202020204" pitchFamily="34" charset="0"/>
                <a:cs typeface="B Nazanin" panose="00000400000000000000" pitchFamily="2" charset="-78"/>
              </a:rPr>
              <a:t>یا</a:t>
            </a:r>
            <a:r>
              <a:rPr lang="en-US" sz="1800" kern="100" dirty="0">
                <a:effectLst/>
                <a:latin typeface="Aptos" panose="020B0004020202020204" pitchFamily="34" charset="0"/>
                <a:ea typeface="Aptos" panose="020B0004020202020204" pitchFamily="34" charset="0"/>
                <a:cs typeface="B Nazanin" panose="00000400000000000000" pitchFamily="2" charset="-78"/>
              </a:rPr>
              <a:t> ++C </a:t>
            </a:r>
            <a:r>
              <a:rPr lang="ar-SA" sz="1800" kern="100" dirty="0">
                <a:effectLst/>
                <a:latin typeface="Aptos" panose="020B0004020202020204" pitchFamily="34" charset="0"/>
                <a:ea typeface="Aptos" panose="020B0004020202020204" pitchFamily="34" charset="0"/>
                <a:cs typeface="B Nazanin" panose="00000400000000000000" pitchFamily="2" charset="-78"/>
              </a:rPr>
              <a:t>می‌نویسید. مثلاً یک فایل با پسوند </a:t>
            </a:r>
            <a:r>
              <a:rPr lang="en-US" sz="1800" kern="100" dirty="0">
                <a:effectLst/>
                <a:latin typeface="Aptos" panose="020B0004020202020204" pitchFamily="34" charset="0"/>
                <a:ea typeface="Aptos" panose="020B0004020202020204" pitchFamily="34" charset="0"/>
                <a:cs typeface="B Nazanin" panose="00000400000000000000" pitchFamily="2" charset="-78"/>
              </a:rPr>
              <a:t>.c </a:t>
            </a:r>
            <a:r>
              <a:rPr lang="ar-SA" sz="1800" kern="100" dirty="0">
                <a:effectLst/>
                <a:latin typeface="Aptos" panose="020B0004020202020204" pitchFamily="34" charset="0"/>
                <a:ea typeface="Aptos" panose="020B0004020202020204" pitchFamily="34" charset="0"/>
                <a:cs typeface="B Nazanin" panose="00000400000000000000" pitchFamily="2" charset="-78"/>
              </a:rPr>
              <a:t>یا </a:t>
            </a:r>
            <a:r>
              <a:rPr lang="en-US" sz="1800" kern="100" dirty="0">
                <a:effectLst/>
                <a:latin typeface="Aptos" panose="020B0004020202020204" pitchFamily="34" charset="0"/>
                <a:ea typeface="Aptos" panose="020B0004020202020204" pitchFamily="34" charset="0"/>
                <a:cs typeface="B Nazanin" panose="00000400000000000000" pitchFamily="2" charset="-78"/>
              </a:rPr>
              <a:t>.</a:t>
            </a:r>
            <a:r>
              <a:rPr lang="en-US" sz="1800" kern="100" dirty="0" err="1">
                <a:effectLst/>
                <a:latin typeface="Aptos" panose="020B0004020202020204" pitchFamily="34" charset="0"/>
                <a:ea typeface="Aptos" panose="020B0004020202020204" pitchFamily="34" charset="0"/>
                <a:cs typeface="B Nazanin" panose="00000400000000000000" pitchFamily="2" charset="-78"/>
              </a:rPr>
              <a:t>cpp</a:t>
            </a:r>
            <a:r>
              <a:rPr lang="en-US" sz="1800"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Font typeface="+mj-lt"/>
              <a:buAutoNum type="arabicPeriod"/>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کامپایلر یا اسمبلر</a:t>
            </a:r>
            <a:r>
              <a:rPr lang="en-US" sz="1800" b="1" kern="100" dirty="0">
                <a:effectLst/>
                <a:latin typeface="Aptos" panose="020B0004020202020204" pitchFamily="34" charset="0"/>
                <a:ea typeface="Aptos" panose="020B0004020202020204" pitchFamily="34" charset="0"/>
                <a:cs typeface="B Nazanin" panose="00000400000000000000" pitchFamily="2" charset="-78"/>
              </a:rPr>
              <a:t> (compiler or assembler):</a:t>
            </a:r>
            <a:br>
              <a:rPr lang="en-US" sz="1800" kern="100" dirty="0">
                <a:effectLst/>
                <a:latin typeface="Aptos" panose="020B0004020202020204" pitchFamily="34" charset="0"/>
                <a:ea typeface="Aptos" panose="020B0004020202020204" pitchFamily="34" charset="0"/>
                <a:cs typeface="B Nazanin" panose="00000400000000000000" pitchFamily="2" charset="-78"/>
              </a:rPr>
            </a:br>
            <a:r>
              <a:rPr lang="ar-SA" sz="1800" kern="100" dirty="0">
                <a:effectLst/>
                <a:latin typeface="Aptos" panose="020B0004020202020204" pitchFamily="34" charset="0"/>
                <a:ea typeface="Aptos" panose="020B0004020202020204" pitchFamily="34" charset="0"/>
                <a:cs typeface="B Nazanin" panose="00000400000000000000" pitchFamily="2" charset="-78"/>
              </a:rPr>
              <a:t>این ابزار کدی که شما نوشتید رو به زبان ماشین (که برای کامپیوتر قابل فهمه) تبدیل می‌کنه. نتیجه‌اش میشه یک فایل به نام </a:t>
            </a:r>
            <a:r>
              <a:rPr lang="ar-SA" sz="1800" b="1" kern="100" dirty="0">
                <a:effectLst/>
                <a:latin typeface="Aptos" panose="020B0004020202020204" pitchFamily="34" charset="0"/>
                <a:ea typeface="Aptos" panose="020B0004020202020204" pitchFamily="34" charset="0"/>
                <a:cs typeface="B Nazanin" panose="00000400000000000000" pitchFamily="2" charset="-78"/>
              </a:rPr>
              <a:t>شیء</a:t>
            </a:r>
            <a:r>
              <a:rPr lang="en-US" sz="1800" b="1" kern="100" dirty="0">
                <a:effectLst/>
                <a:latin typeface="Aptos" panose="020B0004020202020204" pitchFamily="34" charset="0"/>
                <a:ea typeface="Aptos" panose="020B0004020202020204" pitchFamily="34" charset="0"/>
                <a:cs typeface="B Nazanin" panose="00000400000000000000" pitchFamily="2" charset="-78"/>
              </a:rPr>
              <a:t> (object module)</a:t>
            </a:r>
            <a:r>
              <a:rPr lang="en-US" sz="1800" kern="100" dirty="0">
                <a:effectLst/>
                <a:latin typeface="Aptos" panose="020B0004020202020204" pitchFamily="34" charset="0"/>
                <a:ea typeface="Aptos" panose="020B0004020202020204" pitchFamily="34" charset="0"/>
                <a:cs typeface="B Nazanin" panose="00000400000000000000" pitchFamily="2" charset="-78"/>
              </a:rPr>
              <a:t> </a:t>
            </a:r>
            <a:r>
              <a:rPr lang="ar-SA" sz="1800" kern="100" dirty="0">
                <a:effectLst/>
                <a:latin typeface="Aptos" panose="020B0004020202020204" pitchFamily="34" charset="0"/>
                <a:ea typeface="Aptos" panose="020B0004020202020204" pitchFamily="34" charset="0"/>
                <a:cs typeface="B Nazanin" panose="00000400000000000000" pitchFamily="2" charset="-78"/>
              </a:rPr>
              <a:t>که هنوز قابل اجرا نیست</a:t>
            </a:r>
            <a:r>
              <a:rPr lang="en-US" sz="1800"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kern="100" dirty="0">
                <a:effectLst/>
                <a:latin typeface="Aptos" panose="020B0004020202020204" pitchFamily="34" charset="0"/>
                <a:ea typeface="Aptos" panose="020B0004020202020204" pitchFamily="34" charset="0"/>
                <a:cs typeface="B Nazanin" panose="00000400000000000000" pitchFamily="2" charset="-78"/>
              </a:rPr>
              <a:t> </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r>
              <a:rPr lang="en-US" sz="1800" b="1" kern="100" dirty="0">
                <a:effectLst/>
                <a:latin typeface="Aptos" panose="020B0004020202020204" pitchFamily="34" charset="0"/>
                <a:ea typeface="Aptos" panose="020B0004020202020204" pitchFamily="34" charset="0"/>
                <a:cs typeface="B Nazanin" panose="00000400000000000000" pitchFamily="2" charset="-78"/>
              </a:rPr>
              <a:t> </a:t>
            </a:r>
            <a:r>
              <a:rPr lang="ar-SA" sz="1800" b="1" kern="100" dirty="0">
                <a:effectLst/>
                <a:latin typeface="Aptos" panose="020B0004020202020204" pitchFamily="34" charset="0"/>
                <a:ea typeface="Aptos" panose="020B0004020202020204" pitchFamily="34" charset="0"/>
                <a:cs typeface="B Nazanin" panose="00000400000000000000" pitchFamily="2" charset="-78"/>
              </a:rPr>
              <a:t>مرحله دوم: زمان بارگذاری</a:t>
            </a:r>
            <a:r>
              <a:rPr lang="en-US" sz="1800" b="1" kern="100" dirty="0">
                <a:effectLst/>
                <a:latin typeface="Aptos" panose="020B0004020202020204" pitchFamily="34" charset="0"/>
                <a:ea typeface="Aptos" panose="020B0004020202020204" pitchFamily="34" charset="0"/>
                <a:cs typeface="B Nazanin" panose="00000400000000000000" pitchFamily="2" charset="-78"/>
              </a:rPr>
              <a:t> (Load Time)</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Font typeface="+mj-lt"/>
              <a:buAutoNum type="arabicPeriod" startAt="3"/>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ویرایشگر پیوند</a:t>
            </a:r>
            <a:r>
              <a:rPr lang="en-US" sz="1800" b="1" kern="100" dirty="0">
                <a:effectLst/>
                <a:latin typeface="Aptos" panose="020B0004020202020204" pitchFamily="34" charset="0"/>
                <a:ea typeface="Aptos" panose="020B0004020202020204" pitchFamily="34" charset="0"/>
                <a:cs typeface="B Nazanin" panose="00000400000000000000" pitchFamily="2" charset="-78"/>
              </a:rPr>
              <a:t> (linkage editor):</a:t>
            </a:r>
            <a:br>
              <a:rPr lang="en-US" sz="1800" kern="100" dirty="0">
                <a:effectLst/>
                <a:latin typeface="Aptos" panose="020B0004020202020204" pitchFamily="34" charset="0"/>
                <a:ea typeface="Aptos" panose="020B0004020202020204" pitchFamily="34" charset="0"/>
                <a:cs typeface="B Nazanin" panose="00000400000000000000" pitchFamily="2" charset="-78"/>
              </a:rPr>
            </a:br>
            <a:r>
              <a:rPr lang="ar-SA" sz="1800" kern="100" dirty="0">
                <a:effectLst/>
                <a:latin typeface="Aptos" panose="020B0004020202020204" pitchFamily="34" charset="0"/>
                <a:ea typeface="Aptos" panose="020B0004020202020204" pitchFamily="34" charset="0"/>
                <a:cs typeface="B Nazanin" panose="00000400000000000000" pitchFamily="2" charset="-78"/>
              </a:rPr>
              <a:t>اینجا فایل شیء شما به همراه بقیه‌ی ماژول‌های شیء (مثلاً کتابخانه‌ها یا بخش‌های دیگه‌ی برنامه) با هم ترکیب می‌شن و یک فایل نهایی به نام </a:t>
            </a:r>
            <a:r>
              <a:rPr lang="ar-SA" sz="1800" b="1" kern="100" dirty="0">
                <a:effectLst/>
                <a:latin typeface="Aptos" panose="020B0004020202020204" pitchFamily="34" charset="0"/>
                <a:ea typeface="Aptos" panose="020B0004020202020204" pitchFamily="34" charset="0"/>
                <a:cs typeface="B Nazanin" panose="00000400000000000000" pitchFamily="2" charset="-78"/>
              </a:rPr>
              <a:t>ماژول بارگذاری</a:t>
            </a:r>
            <a:r>
              <a:rPr lang="en-US" sz="1800" b="1" kern="100" dirty="0">
                <a:effectLst/>
                <a:latin typeface="Aptos" panose="020B0004020202020204" pitchFamily="34" charset="0"/>
                <a:ea typeface="Aptos" panose="020B0004020202020204" pitchFamily="34" charset="0"/>
                <a:cs typeface="B Nazanin" panose="00000400000000000000" pitchFamily="2" charset="-78"/>
              </a:rPr>
              <a:t> (load module)</a:t>
            </a:r>
            <a:r>
              <a:rPr lang="en-US" sz="1800" kern="100" dirty="0">
                <a:effectLst/>
                <a:latin typeface="Aptos" panose="020B0004020202020204" pitchFamily="34" charset="0"/>
                <a:ea typeface="Aptos" panose="020B0004020202020204" pitchFamily="34" charset="0"/>
                <a:cs typeface="B Nazanin" panose="00000400000000000000" pitchFamily="2" charset="-78"/>
              </a:rPr>
              <a:t> </a:t>
            </a:r>
            <a:r>
              <a:rPr lang="ar-SA" sz="1800" kern="100" dirty="0">
                <a:effectLst/>
                <a:latin typeface="Aptos" panose="020B0004020202020204" pitchFamily="34" charset="0"/>
                <a:ea typeface="Aptos" panose="020B0004020202020204" pitchFamily="34" charset="0"/>
                <a:cs typeface="B Nazanin" panose="00000400000000000000" pitchFamily="2" charset="-78"/>
              </a:rPr>
              <a:t>ساخته میشه</a:t>
            </a:r>
            <a:r>
              <a:rPr lang="en-US" sz="1800"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Font typeface="+mj-lt"/>
              <a:buAutoNum type="arabicPeriod" startAt="3"/>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کتابخانه‌ی سیستم</a:t>
            </a:r>
            <a:r>
              <a:rPr lang="en-US" sz="1800" b="1" kern="100" dirty="0">
                <a:effectLst/>
                <a:latin typeface="Aptos" panose="020B0004020202020204" pitchFamily="34" charset="0"/>
                <a:ea typeface="Aptos" panose="020B0004020202020204" pitchFamily="34" charset="0"/>
                <a:cs typeface="B Nazanin" panose="00000400000000000000" pitchFamily="2" charset="-78"/>
              </a:rPr>
              <a:t> (system library):</a:t>
            </a:r>
            <a:br>
              <a:rPr lang="en-US" sz="1800" kern="100" dirty="0">
                <a:effectLst/>
                <a:latin typeface="Aptos" panose="020B0004020202020204" pitchFamily="34" charset="0"/>
                <a:ea typeface="Aptos" panose="020B0004020202020204" pitchFamily="34" charset="0"/>
                <a:cs typeface="B Nazanin" panose="00000400000000000000" pitchFamily="2" charset="-78"/>
              </a:rPr>
            </a:br>
            <a:r>
              <a:rPr lang="ar-SA" sz="1800" kern="100" dirty="0">
                <a:effectLst/>
                <a:latin typeface="Aptos" panose="020B0004020202020204" pitchFamily="34" charset="0"/>
                <a:ea typeface="Aptos" panose="020B0004020202020204" pitchFamily="34" charset="0"/>
                <a:cs typeface="B Nazanin" panose="00000400000000000000" pitchFamily="2" charset="-78"/>
              </a:rPr>
              <a:t>این کتابخانه‌ها شامل کدهایی هستن که خیلی از برنامه‌ها ازشون استفاده می‌کنن (مثلاً توابع استاندارد مثل </a:t>
            </a:r>
            <a:r>
              <a:rPr lang="en-US" sz="1800" kern="100" dirty="0" err="1">
                <a:effectLst/>
                <a:latin typeface="Aptos" panose="020B0004020202020204" pitchFamily="34" charset="0"/>
                <a:ea typeface="Aptos" panose="020B0004020202020204" pitchFamily="34" charset="0"/>
                <a:cs typeface="B Nazanin" panose="00000400000000000000" pitchFamily="2" charset="-78"/>
              </a:rPr>
              <a:t>printf</a:t>
            </a:r>
            <a:r>
              <a:rPr lang="en-US" sz="1800" kern="100" dirty="0">
                <a:effectLst/>
                <a:latin typeface="Aptos" panose="020B0004020202020204" pitchFamily="34" charset="0"/>
                <a:ea typeface="Aptos" panose="020B0004020202020204" pitchFamily="34" charset="0"/>
                <a:cs typeface="B Nazanin" panose="00000400000000000000" pitchFamily="2" charset="-78"/>
              </a:rPr>
              <a:t>() </a:t>
            </a:r>
            <a:r>
              <a:rPr lang="ar-SA" sz="1800" kern="100" dirty="0">
                <a:effectLst/>
                <a:latin typeface="Aptos" panose="020B0004020202020204" pitchFamily="34" charset="0"/>
                <a:ea typeface="Aptos" panose="020B0004020202020204" pitchFamily="34" charset="0"/>
                <a:cs typeface="B Nazanin" panose="00000400000000000000" pitchFamily="2" charset="-78"/>
              </a:rPr>
              <a:t>در</a:t>
            </a:r>
            <a:r>
              <a:rPr lang="en-US" sz="1800" kern="100" dirty="0">
                <a:effectLst/>
                <a:latin typeface="Aptos" panose="020B0004020202020204" pitchFamily="34" charset="0"/>
                <a:ea typeface="Aptos" panose="020B0004020202020204" pitchFamily="34" charset="0"/>
                <a:cs typeface="B Nazanin" panose="00000400000000000000" pitchFamily="2" charset="-78"/>
              </a:rPr>
              <a:t> C). </a:t>
            </a:r>
            <a:r>
              <a:rPr lang="ar-SA" sz="1800" kern="100" dirty="0">
                <a:effectLst/>
                <a:latin typeface="Aptos" panose="020B0004020202020204" pitchFamily="34" charset="0"/>
                <a:ea typeface="Aptos" panose="020B0004020202020204" pitchFamily="34" charset="0"/>
                <a:cs typeface="B Nazanin" panose="00000400000000000000" pitchFamily="2" charset="-78"/>
              </a:rPr>
              <a:t>این‌ها هم در این مرحله به ماژول شما اضافه می‌شن</a:t>
            </a:r>
            <a:r>
              <a:rPr lang="en-US" sz="1800"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kern="100" dirty="0">
                <a:effectLst/>
                <a:latin typeface="Aptos" panose="020B0004020202020204" pitchFamily="34" charset="0"/>
                <a:ea typeface="Aptos" panose="020B0004020202020204" pitchFamily="34" charset="0"/>
                <a:cs typeface="B Nazanin" panose="00000400000000000000" pitchFamily="2" charset="-78"/>
              </a:rPr>
              <a:t> </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r>
              <a:rPr lang="en-US" sz="1800" b="1" kern="100" dirty="0">
                <a:effectLst/>
                <a:latin typeface="Aptos" panose="020B0004020202020204" pitchFamily="34" charset="0"/>
                <a:ea typeface="Aptos" panose="020B0004020202020204" pitchFamily="34" charset="0"/>
                <a:cs typeface="B Nazanin" panose="00000400000000000000" pitchFamily="2" charset="-78"/>
              </a:rPr>
              <a:t> </a:t>
            </a:r>
            <a:r>
              <a:rPr lang="ar-SA" sz="1800" b="1" kern="100" dirty="0">
                <a:effectLst/>
                <a:latin typeface="Aptos" panose="020B0004020202020204" pitchFamily="34" charset="0"/>
                <a:ea typeface="Aptos" panose="020B0004020202020204" pitchFamily="34" charset="0"/>
                <a:cs typeface="B Nazanin" panose="00000400000000000000" pitchFamily="2" charset="-78"/>
              </a:rPr>
              <a:t>مرحله سوم: زمان اجرا</a:t>
            </a:r>
            <a:r>
              <a:rPr lang="en-US" sz="1800" b="1" kern="100" dirty="0">
                <a:effectLst/>
                <a:latin typeface="Aptos" panose="020B0004020202020204" pitchFamily="34" charset="0"/>
                <a:ea typeface="Aptos" panose="020B0004020202020204" pitchFamily="34" charset="0"/>
                <a:cs typeface="B Nazanin" panose="00000400000000000000" pitchFamily="2" charset="-78"/>
              </a:rPr>
              <a:t> (Execution Time / Run Time)</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Font typeface="+mj-lt"/>
              <a:buAutoNum type="arabicPeriod" startAt="5"/>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لودر</a:t>
            </a:r>
            <a:r>
              <a:rPr lang="en-US" sz="1800" b="1" kern="100" dirty="0">
                <a:effectLst/>
                <a:latin typeface="Aptos" panose="020B0004020202020204" pitchFamily="34" charset="0"/>
                <a:ea typeface="Aptos" panose="020B0004020202020204" pitchFamily="34" charset="0"/>
                <a:cs typeface="B Nazanin" panose="00000400000000000000" pitchFamily="2" charset="-78"/>
              </a:rPr>
              <a:t> (loader):</a:t>
            </a:r>
            <a:br>
              <a:rPr lang="en-US" sz="1800" kern="100" dirty="0">
                <a:effectLst/>
                <a:latin typeface="Aptos" panose="020B0004020202020204" pitchFamily="34" charset="0"/>
                <a:ea typeface="Aptos" panose="020B0004020202020204" pitchFamily="34" charset="0"/>
                <a:cs typeface="B Nazanin" panose="00000400000000000000" pitchFamily="2" charset="-78"/>
              </a:rPr>
            </a:br>
            <a:r>
              <a:rPr lang="ar-SA" sz="1800" kern="100" dirty="0">
                <a:effectLst/>
                <a:latin typeface="Aptos" panose="020B0004020202020204" pitchFamily="34" charset="0"/>
                <a:ea typeface="Aptos" panose="020B0004020202020204" pitchFamily="34" charset="0"/>
                <a:cs typeface="B Nazanin" panose="00000400000000000000" pitchFamily="2" charset="-78"/>
              </a:rPr>
              <a:t>این ابزار، ماژول نهایی رو می‌گیره و در حافظه بارگذاری می‌کنه تا اجرا بشه. نتیجه، میشه یک </a:t>
            </a:r>
            <a:r>
              <a:rPr lang="ar-SA" sz="1800" b="1" kern="100" dirty="0">
                <a:effectLst/>
                <a:latin typeface="Aptos" panose="020B0004020202020204" pitchFamily="34" charset="0"/>
                <a:ea typeface="Aptos" panose="020B0004020202020204" pitchFamily="34" charset="0"/>
                <a:cs typeface="B Nazanin" panose="00000400000000000000" pitchFamily="2" charset="-78"/>
              </a:rPr>
              <a:t>تصویر دودویی در حافظه</a:t>
            </a:r>
            <a:r>
              <a:rPr lang="en-US" sz="1800" b="1" kern="100" dirty="0">
                <a:effectLst/>
                <a:latin typeface="Aptos" panose="020B0004020202020204" pitchFamily="34" charset="0"/>
                <a:ea typeface="Aptos" panose="020B0004020202020204" pitchFamily="34" charset="0"/>
                <a:cs typeface="B Nazanin" panose="00000400000000000000" pitchFamily="2" charset="-78"/>
              </a:rPr>
              <a:t> (in-memory binary memory image)</a:t>
            </a:r>
            <a:r>
              <a:rPr lang="en-US" sz="1800" kern="100" dirty="0">
                <a:effectLst/>
                <a:latin typeface="Aptos" panose="020B0004020202020204" pitchFamily="34" charset="0"/>
                <a:ea typeface="Aptos" panose="020B0004020202020204" pitchFamily="34" charset="0"/>
                <a:cs typeface="B Nazanin" panose="00000400000000000000" pitchFamily="2" charset="-78"/>
              </a:rPr>
              <a:t> </a:t>
            </a:r>
            <a:r>
              <a:rPr lang="ar-SA" sz="1800" kern="100" dirty="0">
                <a:effectLst/>
                <a:latin typeface="Aptos" panose="020B0004020202020204" pitchFamily="34" charset="0"/>
                <a:ea typeface="Aptos" panose="020B0004020202020204" pitchFamily="34" charset="0"/>
                <a:cs typeface="B Nazanin" panose="00000400000000000000" pitchFamily="2" charset="-78"/>
              </a:rPr>
              <a:t>که آماده اجراست</a:t>
            </a:r>
            <a:r>
              <a:rPr lang="en-US" sz="1800"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Font typeface="+mj-lt"/>
              <a:buAutoNum type="arabicPeriod" startAt="5"/>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بارگذاری پویا</a:t>
            </a:r>
            <a:r>
              <a:rPr lang="en-US" sz="1800" b="1" kern="100" dirty="0">
                <a:effectLst/>
                <a:latin typeface="Aptos" panose="020B0004020202020204" pitchFamily="34" charset="0"/>
                <a:ea typeface="Aptos" panose="020B0004020202020204" pitchFamily="34" charset="0"/>
                <a:cs typeface="B Nazanin" panose="00000400000000000000" pitchFamily="2" charset="-78"/>
              </a:rPr>
              <a:t> (Dynamic Linking):</a:t>
            </a:r>
            <a:br>
              <a:rPr lang="en-US" sz="1800" kern="100" dirty="0">
                <a:effectLst/>
                <a:latin typeface="Aptos" panose="020B0004020202020204" pitchFamily="34" charset="0"/>
                <a:ea typeface="Aptos" panose="020B0004020202020204" pitchFamily="34" charset="0"/>
                <a:cs typeface="B Nazanin" panose="00000400000000000000" pitchFamily="2" charset="-78"/>
              </a:rPr>
            </a:br>
            <a:r>
              <a:rPr lang="ar-SA" sz="1800" kern="100" dirty="0">
                <a:effectLst/>
                <a:latin typeface="Aptos" panose="020B0004020202020204" pitchFamily="34" charset="0"/>
                <a:ea typeface="Aptos" panose="020B0004020202020204" pitchFamily="34" charset="0"/>
                <a:cs typeface="B Nazanin" panose="00000400000000000000" pitchFamily="2" charset="-78"/>
              </a:rPr>
              <a:t>بعضی وقت‌ها همه‌ی کتابخانه‌ها از قبل وارد نمی‌شن، بلکه در زمان اجرا، اونایی که نیاز هست از سیستم بارگذاری می‌شن. این میشه </a:t>
            </a:r>
            <a:r>
              <a:rPr lang="ar-SA" sz="1800" b="1" kern="100" dirty="0">
                <a:effectLst/>
                <a:latin typeface="Aptos" panose="020B0004020202020204" pitchFamily="34" charset="0"/>
                <a:ea typeface="Aptos" panose="020B0004020202020204" pitchFamily="34" charset="0"/>
                <a:cs typeface="B Nazanin" panose="00000400000000000000" pitchFamily="2" charset="-78"/>
              </a:rPr>
              <a:t>بارگذاری پویای کتابخانه‌های سیستمی</a:t>
            </a:r>
            <a:r>
              <a:rPr lang="en-US" sz="1800"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9720842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C1E2D357-98EF-44EF-B229-8FA6D52439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2A78D6B-1C3F-43B1-8131-69093AE887F4}" type="slidenum">
              <a:rPr lang="en-US" altLang="en-US">
                <a:latin typeface="Helvetica" panose="020B0604020202020204" pitchFamily="34" charset="0"/>
              </a:rPr>
              <a:pPr/>
              <a:t>19</a:t>
            </a:fld>
            <a:endParaRPr lang="en-US" altLang="en-US">
              <a:latin typeface="Helvetica" panose="020B0604020202020204" pitchFamily="34" charset="0"/>
            </a:endParaRPr>
          </a:p>
        </p:txBody>
      </p:sp>
      <p:sp>
        <p:nvSpPr>
          <p:cNvPr id="86019" name="Rectangle 2">
            <a:extLst>
              <a:ext uri="{FF2B5EF4-FFF2-40B4-BE49-F238E27FC236}">
                <a16:creationId xmlns:a16="http://schemas.microsoft.com/office/drawing/2014/main" id="{B9137F58-B6E2-4DA1-8F77-D8941EA61BC4}"/>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9923125C-6B37-4814-8FA7-9CCA22E99A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648628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EA5E9E73-6680-4E2A-BDBC-23CBA418BA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B949489-9DD0-4351-83D6-B782AC42A5C2}" type="slidenum">
              <a:rPr lang="en-US" altLang="en-US">
                <a:latin typeface="Helvetica" panose="020B0604020202020204" pitchFamily="34" charset="0"/>
              </a:rPr>
              <a:pPr/>
              <a:t>20</a:t>
            </a:fld>
            <a:endParaRPr lang="en-US" altLang="en-US">
              <a:latin typeface="Helvetica" panose="020B0604020202020204" pitchFamily="34" charset="0"/>
            </a:endParaRPr>
          </a:p>
        </p:txBody>
      </p:sp>
      <p:sp>
        <p:nvSpPr>
          <p:cNvPr id="87043" name="Rectangle 2">
            <a:extLst>
              <a:ext uri="{FF2B5EF4-FFF2-40B4-BE49-F238E27FC236}">
                <a16:creationId xmlns:a16="http://schemas.microsoft.com/office/drawing/2014/main" id="{B84BDA33-3B5E-4843-A374-C409C28EBA3F}"/>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DCD1BC93-1450-4427-8557-C475503C48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rtl="1">
              <a:buNone/>
            </a:pPr>
            <a:r>
              <a:rPr lang="fa-IR" dirty="0"/>
              <a:t>سیستم‌عامل (هسته/</a:t>
            </a:r>
            <a:r>
              <a:rPr lang="en-US" dirty="0"/>
              <a:t>Kernel) </a:t>
            </a:r>
            <a:r>
              <a:rPr lang="fa-IR" dirty="0"/>
              <a:t>برای مدیریت منابع سیستم، کدی دارد که در حافظه قرار می‌گیرد. اما گاهی </a:t>
            </a:r>
            <a:r>
              <a:rPr lang="fa-IR" b="1" dirty="0"/>
              <a:t>همه‌ی این کدها همیشه لازم نیستند</a:t>
            </a:r>
            <a:r>
              <a:rPr lang="fa-IR" dirty="0"/>
              <a:t>.</a:t>
            </a:r>
          </a:p>
          <a:p>
            <a:pPr algn="r" rtl="1">
              <a:buNone/>
            </a:pPr>
            <a:r>
              <a:rPr lang="fa-IR" dirty="0"/>
              <a:t>مثلاً:</a:t>
            </a:r>
          </a:p>
          <a:p>
            <a:pPr algn="r" rtl="1">
              <a:buFont typeface="Arial" panose="020B0604020202020204" pitchFamily="34" charset="0"/>
              <a:buChar char="•"/>
            </a:pPr>
            <a:r>
              <a:rPr lang="fa-IR" dirty="0"/>
              <a:t>بعضی قسمت‌های هسته فقط هنگام </a:t>
            </a:r>
            <a:r>
              <a:rPr lang="fa-IR" b="1" dirty="0"/>
              <a:t>راه‌اندازی سیستم (</a:t>
            </a:r>
            <a:r>
              <a:rPr lang="en-US" b="1" dirty="0"/>
              <a:t>Boot)</a:t>
            </a:r>
            <a:r>
              <a:rPr lang="en-US" dirty="0"/>
              <a:t> </a:t>
            </a:r>
            <a:r>
              <a:rPr lang="fa-IR" dirty="0"/>
              <a:t>یا </a:t>
            </a:r>
            <a:r>
              <a:rPr lang="fa-IR" b="1" dirty="0"/>
              <a:t>نصب درایورها</a:t>
            </a:r>
            <a:r>
              <a:rPr lang="fa-IR" dirty="0"/>
              <a:t> استفاده می‌شوند.</a:t>
            </a:r>
          </a:p>
          <a:p>
            <a:pPr algn="r" rtl="1">
              <a:buFont typeface="Arial" panose="020B0604020202020204" pitchFamily="34" charset="0"/>
              <a:buChar char="•"/>
            </a:pPr>
            <a:r>
              <a:rPr lang="fa-IR" dirty="0"/>
              <a:t>بعد از اینکه کارشان تمام شد، می‌توانند از حافظه پاک شوند تا </a:t>
            </a:r>
            <a:r>
              <a:rPr lang="fa-IR" b="1" dirty="0"/>
              <a:t>جا برای کارهای دیگر</a:t>
            </a:r>
            <a:r>
              <a:rPr lang="fa-IR" dirty="0"/>
              <a:t> باز شود.</a:t>
            </a:r>
          </a:p>
          <a:p>
            <a:pPr algn="r" rtl="1"/>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4563481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23FCA68B-76DE-4E19-AFEB-C704D673A8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AA47A3-9678-4904-932E-9EDB75B03B24}" type="slidenum">
              <a:rPr lang="en-US" altLang="en-US">
                <a:latin typeface="Helvetica" panose="020B0604020202020204" pitchFamily="34" charset="0"/>
              </a:rPr>
              <a:pPr/>
              <a:t>21</a:t>
            </a:fld>
            <a:endParaRPr lang="en-US" altLang="en-US">
              <a:latin typeface="Helvetica" panose="020B0604020202020204" pitchFamily="34" charset="0"/>
            </a:endParaRPr>
          </a:p>
        </p:txBody>
      </p:sp>
      <p:sp>
        <p:nvSpPr>
          <p:cNvPr id="88067" name="Rectangle 2">
            <a:extLst>
              <a:ext uri="{FF2B5EF4-FFF2-40B4-BE49-F238E27FC236}">
                <a16:creationId xmlns:a16="http://schemas.microsoft.com/office/drawing/2014/main" id="{2DA20A22-D5AD-48A6-BFB6-E91F19D04240}"/>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3B366905-0837-46D1-8A35-E7D3946BBF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4DF6CBB8-BE1B-4115-8FA4-3DA7E66845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8548D9-7E48-4BD7-865E-CD96DE02414D}" type="slidenum">
              <a:rPr lang="en-US" altLang="en-US">
                <a:latin typeface="Helvetica" panose="020B0604020202020204" pitchFamily="34" charset="0"/>
              </a:rPr>
              <a:pPr/>
              <a:t>22</a:t>
            </a:fld>
            <a:endParaRPr lang="en-US" altLang="en-US">
              <a:latin typeface="Helvetica" panose="020B0604020202020204" pitchFamily="34" charset="0"/>
            </a:endParaRPr>
          </a:p>
        </p:txBody>
      </p:sp>
      <p:sp>
        <p:nvSpPr>
          <p:cNvPr id="89091" name="Rectangle 2">
            <a:extLst>
              <a:ext uri="{FF2B5EF4-FFF2-40B4-BE49-F238E27FC236}">
                <a16:creationId xmlns:a16="http://schemas.microsoft.com/office/drawing/2014/main" id="{6AA81E7E-1E15-49B4-BC44-1BDAD2867737}"/>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0D836AD2-F06B-4210-85C4-32B1FA7D46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3707989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4DF6CBB8-BE1B-4115-8FA4-3DA7E66845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8548D9-7E48-4BD7-865E-CD96DE02414D}" type="slidenum">
              <a:rPr lang="en-US" altLang="en-US">
                <a:latin typeface="Helvetica" panose="020B0604020202020204" pitchFamily="34" charset="0"/>
              </a:rPr>
              <a:pPr/>
              <a:t>23</a:t>
            </a:fld>
            <a:endParaRPr lang="en-US" altLang="en-US">
              <a:latin typeface="Helvetica" panose="020B0604020202020204" pitchFamily="34" charset="0"/>
            </a:endParaRPr>
          </a:p>
        </p:txBody>
      </p:sp>
      <p:sp>
        <p:nvSpPr>
          <p:cNvPr id="89091" name="Rectangle 2">
            <a:extLst>
              <a:ext uri="{FF2B5EF4-FFF2-40B4-BE49-F238E27FC236}">
                <a16:creationId xmlns:a16="http://schemas.microsoft.com/office/drawing/2014/main" id="{6AA81E7E-1E15-49B4-BC44-1BDAD2867737}"/>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0D836AD2-F06B-4210-85C4-32B1FA7D46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2755886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413C20D6-3B91-4BDF-A0EB-A01D448F97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8747A0-3F23-4346-9D94-40B7D7FD4BD7}" type="slidenum">
              <a:rPr lang="en-US" altLang="en-US">
                <a:latin typeface="Helvetica" panose="020B0604020202020204" pitchFamily="34" charset="0"/>
              </a:rPr>
              <a:pPr/>
              <a:t>24</a:t>
            </a:fld>
            <a:endParaRPr lang="en-US" altLang="en-US">
              <a:latin typeface="Helvetica" panose="020B0604020202020204" pitchFamily="34" charset="0"/>
            </a:endParaRPr>
          </a:p>
        </p:txBody>
      </p:sp>
      <p:sp>
        <p:nvSpPr>
          <p:cNvPr id="90115" name="Rectangle 2">
            <a:extLst>
              <a:ext uri="{FF2B5EF4-FFF2-40B4-BE49-F238E27FC236}">
                <a16:creationId xmlns:a16="http://schemas.microsoft.com/office/drawing/2014/main" id="{2DF4BF30-6508-4917-B4C4-0D2D5FF3DA12}"/>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BA14F544-E18E-4FD8-8779-D7DF3900C7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9790790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50C617EC-69D7-48FD-96B7-888407EFA1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82E3722-5434-4F37-913B-2B1F1F97A901}" type="slidenum">
              <a:rPr lang="en-US" altLang="en-US">
                <a:latin typeface="Helvetica" panose="020B0604020202020204" pitchFamily="34" charset="0"/>
              </a:rPr>
              <a:pPr/>
              <a:t>25</a:t>
            </a:fld>
            <a:endParaRPr lang="en-US" altLang="en-US">
              <a:latin typeface="Helvetica" panose="020B0604020202020204" pitchFamily="34" charset="0"/>
            </a:endParaRPr>
          </a:p>
        </p:txBody>
      </p:sp>
      <p:sp>
        <p:nvSpPr>
          <p:cNvPr id="91139" name="Rectangle 2">
            <a:extLst>
              <a:ext uri="{FF2B5EF4-FFF2-40B4-BE49-F238E27FC236}">
                <a16:creationId xmlns:a16="http://schemas.microsoft.com/office/drawing/2014/main" id="{6E09880E-5593-4F49-B83A-1998139242D8}"/>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2A483F1E-ED51-4E4A-83B7-93984987F0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248372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50C617EC-69D7-48FD-96B7-888407EFA1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82E3722-5434-4F37-913B-2B1F1F97A901}" type="slidenum">
              <a:rPr lang="en-US" altLang="en-US">
                <a:latin typeface="Helvetica" panose="020B0604020202020204" pitchFamily="34" charset="0"/>
              </a:rPr>
              <a:pPr/>
              <a:t>26</a:t>
            </a:fld>
            <a:endParaRPr lang="en-US" altLang="en-US">
              <a:latin typeface="Helvetica" panose="020B0604020202020204" pitchFamily="34" charset="0"/>
            </a:endParaRPr>
          </a:p>
        </p:txBody>
      </p:sp>
      <p:sp>
        <p:nvSpPr>
          <p:cNvPr id="91139" name="Rectangle 2">
            <a:extLst>
              <a:ext uri="{FF2B5EF4-FFF2-40B4-BE49-F238E27FC236}">
                <a16:creationId xmlns:a16="http://schemas.microsoft.com/office/drawing/2014/main" id="{6E09880E-5593-4F49-B83A-1998139242D8}"/>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2A483F1E-ED51-4E4A-83B7-93984987F0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553351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794835-A72A-4AEF-B6EC-BD8CE85FBF47}" type="slidenum">
              <a:rPr lang="en-US" altLang="en-US" smtClean="0"/>
              <a:pPr/>
              <a:t>27</a:t>
            </a:fld>
            <a:endParaRPr lang="en-US" altLang="en-US"/>
          </a:p>
        </p:txBody>
      </p:sp>
    </p:spTree>
    <p:extLst>
      <p:ext uri="{BB962C8B-B14F-4D97-AF65-F5344CB8AC3E}">
        <p14:creationId xmlns:p14="http://schemas.microsoft.com/office/powerpoint/2010/main" val="26561682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76243B76-2943-42FA-AE2E-8057E0DD31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009C96D-E87B-4C31-99FE-48B6AE2110B9}" type="slidenum">
              <a:rPr lang="en-US" altLang="en-US">
                <a:latin typeface="Helvetica" panose="020B0604020202020204" pitchFamily="34" charset="0"/>
              </a:rPr>
              <a:pPr/>
              <a:t>29</a:t>
            </a:fld>
            <a:endParaRPr lang="en-US" altLang="en-US">
              <a:latin typeface="Helvetica" panose="020B0604020202020204" pitchFamily="34" charset="0"/>
            </a:endParaRPr>
          </a:p>
        </p:txBody>
      </p:sp>
      <p:sp>
        <p:nvSpPr>
          <p:cNvPr id="92163" name="Rectangle 2">
            <a:extLst>
              <a:ext uri="{FF2B5EF4-FFF2-40B4-BE49-F238E27FC236}">
                <a16:creationId xmlns:a16="http://schemas.microsoft.com/office/drawing/2014/main" id="{4A9262E4-57B9-4642-B155-37E91B7CC582}"/>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0A1AB74C-BD95-4DD3-84AC-B364BD691C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433839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76243B76-2943-42FA-AE2E-8057E0DD31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009C96D-E87B-4C31-99FE-48B6AE2110B9}" type="slidenum">
              <a:rPr lang="en-US" altLang="en-US">
                <a:latin typeface="Helvetica" panose="020B0604020202020204" pitchFamily="34" charset="0"/>
              </a:rPr>
              <a:pPr/>
              <a:t>30</a:t>
            </a:fld>
            <a:endParaRPr lang="en-US" altLang="en-US">
              <a:latin typeface="Helvetica" panose="020B0604020202020204" pitchFamily="34" charset="0"/>
            </a:endParaRPr>
          </a:p>
        </p:txBody>
      </p:sp>
      <p:sp>
        <p:nvSpPr>
          <p:cNvPr id="92163" name="Rectangle 2">
            <a:extLst>
              <a:ext uri="{FF2B5EF4-FFF2-40B4-BE49-F238E27FC236}">
                <a16:creationId xmlns:a16="http://schemas.microsoft.com/office/drawing/2014/main" id="{4A9262E4-57B9-4642-B155-37E91B7CC582}"/>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0A1AB74C-BD95-4DD3-84AC-B364BD691C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688298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901C5943-A604-4186-BD17-441B8EDDC0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BD022F-97F0-4574-BB51-63412DE8BAAC}" type="slidenum">
              <a:rPr lang="en-US" altLang="en-US">
                <a:latin typeface="Helvetica" panose="020B0604020202020204" pitchFamily="34" charset="0"/>
              </a:rPr>
              <a:pPr/>
              <a:t>31</a:t>
            </a:fld>
            <a:endParaRPr lang="en-US" altLang="en-US">
              <a:latin typeface="Helvetica" panose="020B0604020202020204" pitchFamily="34" charset="0"/>
            </a:endParaRPr>
          </a:p>
        </p:txBody>
      </p:sp>
      <p:sp>
        <p:nvSpPr>
          <p:cNvPr id="93187" name="Rectangle 2">
            <a:extLst>
              <a:ext uri="{FF2B5EF4-FFF2-40B4-BE49-F238E27FC236}">
                <a16:creationId xmlns:a16="http://schemas.microsoft.com/office/drawing/2014/main" id="{FF507C2D-484D-4A5B-B922-81627BBC5C5E}"/>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03FF2E32-DC03-4BBA-B152-8A4AC669FB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009442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E23A9656-86B1-4C99-926E-64E7EC4E86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6CB05FC-BB22-4350-90D1-FD01A765181B}" type="slidenum">
              <a:rPr lang="en-US" altLang="en-US">
                <a:latin typeface="Helvetica" panose="020B0604020202020204" pitchFamily="34" charset="0"/>
              </a:rPr>
              <a:pPr/>
              <a:t>32</a:t>
            </a:fld>
            <a:endParaRPr lang="en-US" altLang="en-US">
              <a:latin typeface="Helvetica" panose="020B0604020202020204" pitchFamily="34" charset="0"/>
            </a:endParaRPr>
          </a:p>
        </p:txBody>
      </p:sp>
      <p:sp>
        <p:nvSpPr>
          <p:cNvPr id="94211" name="Rectangle 2">
            <a:extLst>
              <a:ext uri="{FF2B5EF4-FFF2-40B4-BE49-F238E27FC236}">
                <a16:creationId xmlns:a16="http://schemas.microsoft.com/office/drawing/2014/main" id="{8512BC6C-8103-4427-AE5D-8B165659894D}"/>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365BBC49-203D-48FB-B5E3-E304CAFE68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46A3333C-AE35-4AAE-8347-17622A596C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AA05447-E3CE-4EF1-A94F-D7CBC0B7D017}" type="slidenum">
              <a:rPr lang="en-US" altLang="en-US">
                <a:latin typeface="Helvetica" panose="020B0604020202020204" pitchFamily="34" charset="0"/>
              </a:rPr>
              <a:pPr/>
              <a:t>34</a:t>
            </a:fld>
            <a:endParaRPr lang="en-US" altLang="en-US">
              <a:latin typeface="Helvetica" panose="020B0604020202020204" pitchFamily="34" charset="0"/>
            </a:endParaRPr>
          </a:p>
        </p:txBody>
      </p:sp>
      <p:sp>
        <p:nvSpPr>
          <p:cNvPr id="95235" name="Rectangle 2">
            <a:extLst>
              <a:ext uri="{FF2B5EF4-FFF2-40B4-BE49-F238E27FC236}">
                <a16:creationId xmlns:a16="http://schemas.microsoft.com/office/drawing/2014/main" id="{F3D210D4-6BF0-4A24-8068-30C18155C840}"/>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F3DC1F24-2CCF-4C8C-A244-1B90B164B6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r>
              <a:rPr lang="en-US" sz="1800" b="1" kern="100" dirty="0">
                <a:effectLst/>
                <a:latin typeface="Aptos" panose="020B0004020202020204" pitchFamily="34" charset="0"/>
                <a:ea typeface="Aptos" panose="020B0004020202020204" pitchFamily="34" charset="0"/>
                <a:cs typeface="B Nazanin" panose="00000400000000000000" pitchFamily="2" charset="-78"/>
              </a:rPr>
              <a:t> </a:t>
            </a:r>
            <a:r>
              <a:rPr lang="ar-SA" sz="1800" b="1" kern="100" dirty="0">
                <a:effectLst/>
                <a:latin typeface="Aptos" panose="020B0004020202020204" pitchFamily="34" charset="0"/>
                <a:ea typeface="Aptos" panose="020B0004020202020204" pitchFamily="34" charset="0"/>
                <a:cs typeface="B Nazanin" panose="00000400000000000000" pitchFamily="2" charset="-78"/>
              </a:rPr>
              <a:t>مثال ساده از صفحه‌بندی</a:t>
            </a:r>
            <a:r>
              <a:rPr lang="en-US" sz="1800" b="1" kern="100" dirty="0">
                <a:effectLst/>
                <a:latin typeface="Aptos" panose="020B0004020202020204" pitchFamily="34" charset="0"/>
                <a:ea typeface="Aptos" panose="020B0004020202020204" pitchFamily="34" charset="0"/>
                <a:cs typeface="B Nazanin" panose="00000400000000000000" pitchFamily="2" charset="-78"/>
              </a:rPr>
              <a:t> (Paging)</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800" b="1" kern="100" dirty="0">
                <a:effectLst/>
                <a:latin typeface="Aptos" panose="020B0004020202020204" pitchFamily="34" charset="0"/>
                <a:ea typeface="Aptos" panose="020B0004020202020204" pitchFamily="34" charset="0"/>
                <a:cs typeface="B Nazanin" panose="00000400000000000000" pitchFamily="2" charset="-78"/>
              </a:rPr>
              <a:t>در این مثال، ما داریم یک برنامه را اجرا می‌کنیم و می‌خواهیم ببینیم آدرس‌های منطقی آن چطور به آدرس‌های فیزیکی نگاشت می‌شوند</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r>
              <a:rPr lang="en-US" sz="1800" b="1" kern="100" dirty="0">
                <a:effectLst/>
                <a:latin typeface="Aptos" panose="020B0004020202020204" pitchFamily="34" charset="0"/>
                <a:ea typeface="Aptos" panose="020B0004020202020204" pitchFamily="34" charset="0"/>
                <a:cs typeface="B Nazanin" panose="00000400000000000000" pitchFamily="2" charset="-78"/>
              </a:rPr>
              <a:t> </a:t>
            </a:r>
            <a:r>
              <a:rPr lang="ar-SA" sz="1800" b="1" kern="100" dirty="0">
                <a:effectLst/>
                <a:latin typeface="Aptos" panose="020B0004020202020204" pitchFamily="34" charset="0"/>
                <a:ea typeface="Aptos" panose="020B0004020202020204" pitchFamily="34" charset="0"/>
                <a:cs typeface="B Nazanin" panose="00000400000000000000" pitchFamily="2" charset="-78"/>
              </a:rPr>
              <a:t>تنظیمات</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اندازه هر صفحه </a:t>
            </a:r>
            <a:r>
              <a:rPr lang="en-US" sz="1800" b="1" kern="100" dirty="0">
                <a:effectLst/>
                <a:latin typeface="Aptos" panose="020B0004020202020204" pitchFamily="34" charset="0"/>
                <a:ea typeface="Aptos" panose="020B0004020202020204" pitchFamily="34" charset="0"/>
                <a:cs typeface="B Nazanin" panose="00000400000000000000" pitchFamily="2" charset="-78"/>
              </a:rPr>
              <a:t>= 22=</a:t>
            </a:r>
            <a:r>
              <a:rPr lang="fa-IR" sz="1800" b="1" kern="100" dirty="0">
                <a:effectLst/>
                <a:latin typeface="Aptos" panose="020B0004020202020204" pitchFamily="34" charset="0"/>
                <a:ea typeface="Aptos" panose="020B0004020202020204" pitchFamily="34" charset="0"/>
                <a:cs typeface="B Nazanin" panose="00000400000000000000" pitchFamily="2" charset="-78"/>
              </a:rPr>
              <a:t>۴</a:t>
            </a:r>
            <a:r>
              <a:rPr lang="en-US" sz="1800" b="1" kern="100" dirty="0">
                <a:effectLst/>
                <a:latin typeface="Aptos" panose="020B0004020202020204" pitchFamily="34" charset="0"/>
                <a:ea typeface="Aptos" panose="020B0004020202020204" pitchFamily="34" charset="0"/>
                <a:cs typeface="B Nazanin" panose="00000400000000000000" pitchFamily="2" charset="-78"/>
              </a:rPr>
              <a:t>2^2 = </a:t>
            </a:r>
            <a:r>
              <a:rPr lang="fa-IR" sz="1800" b="1" kern="100" dirty="0">
                <a:effectLst/>
                <a:latin typeface="Aptos" panose="020B0004020202020204" pitchFamily="34" charset="0"/>
                <a:ea typeface="Aptos" panose="020B0004020202020204" pitchFamily="34" charset="0"/>
                <a:cs typeface="B Nazanin" panose="00000400000000000000" pitchFamily="2" charset="-78"/>
              </a:rPr>
              <a:t>۴</a:t>
            </a:r>
            <a:r>
              <a:rPr lang="en-US" sz="1800" b="1" kern="100" dirty="0">
                <a:effectLst/>
                <a:latin typeface="Aptos" panose="020B0004020202020204" pitchFamily="34" charset="0"/>
                <a:ea typeface="Aptos" panose="020B0004020202020204" pitchFamily="34" charset="0"/>
                <a:cs typeface="B Nazanin" panose="00000400000000000000" pitchFamily="2" charset="-78"/>
              </a:rPr>
              <a:t>22=</a:t>
            </a:r>
            <a:r>
              <a:rPr lang="fa-IR" sz="1800" b="1" kern="100" dirty="0">
                <a:effectLst/>
                <a:latin typeface="Aptos" panose="020B0004020202020204" pitchFamily="34" charset="0"/>
                <a:ea typeface="Aptos" panose="020B0004020202020204" pitchFamily="34" charset="0"/>
                <a:cs typeface="B Nazanin" panose="00000400000000000000" pitchFamily="2" charset="-78"/>
              </a:rPr>
              <a:t>۴ </a:t>
            </a:r>
            <a:r>
              <a:rPr lang="ar-SA" sz="1800" b="1" kern="100" dirty="0">
                <a:effectLst/>
                <a:latin typeface="Aptos" panose="020B0004020202020204" pitchFamily="34" charset="0"/>
                <a:ea typeface="Aptos" panose="020B0004020202020204" pitchFamily="34" charset="0"/>
                <a:cs typeface="B Nazanin" panose="00000400000000000000" pitchFamily="2" charset="-78"/>
              </a:rPr>
              <a:t>بایت</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اندازه کل حافظه فیزیکی </a:t>
            </a:r>
            <a:r>
              <a:rPr lang="en-US" sz="1800" b="1" kern="100" dirty="0">
                <a:effectLst/>
                <a:latin typeface="Aptos" panose="020B0004020202020204" pitchFamily="34" charset="0"/>
                <a:ea typeface="Aptos" panose="020B0004020202020204" pitchFamily="34" charset="0"/>
                <a:cs typeface="B Nazanin" panose="00000400000000000000" pitchFamily="2" charset="-78"/>
              </a:rPr>
              <a:t>= 25=</a:t>
            </a:r>
            <a:r>
              <a:rPr lang="fa-IR" sz="1800" b="1" kern="100" dirty="0">
                <a:effectLst/>
                <a:latin typeface="Aptos" panose="020B0004020202020204" pitchFamily="34" charset="0"/>
                <a:ea typeface="Aptos" panose="020B0004020202020204" pitchFamily="34" charset="0"/>
                <a:cs typeface="B Nazanin" panose="00000400000000000000" pitchFamily="2" charset="-78"/>
              </a:rPr>
              <a:t>۳۲</a:t>
            </a:r>
            <a:r>
              <a:rPr lang="en-US" sz="1800" b="1" kern="100" dirty="0">
                <a:effectLst/>
                <a:latin typeface="Aptos" panose="020B0004020202020204" pitchFamily="34" charset="0"/>
                <a:ea typeface="Aptos" panose="020B0004020202020204" pitchFamily="34" charset="0"/>
                <a:cs typeface="B Nazanin" panose="00000400000000000000" pitchFamily="2" charset="-78"/>
              </a:rPr>
              <a:t>2^5 = </a:t>
            </a:r>
            <a:r>
              <a:rPr lang="fa-IR" sz="1800" b="1" kern="100" dirty="0">
                <a:effectLst/>
                <a:latin typeface="Aptos" panose="020B0004020202020204" pitchFamily="34" charset="0"/>
                <a:ea typeface="Aptos" panose="020B0004020202020204" pitchFamily="34" charset="0"/>
                <a:cs typeface="B Nazanin" panose="00000400000000000000" pitchFamily="2" charset="-78"/>
              </a:rPr>
              <a:t>۳۲</a:t>
            </a:r>
            <a:r>
              <a:rPr lang="en-US" sz="1800" b="1" kern="100" dirty="0">
                <a:effectLst/>
                <a:latin typeface="Aptos" panose="020B0004020202020204" pitchFamily="34" charset="0"/>
                <a:ea typeface="Aptos" panose="020B0004020202020204" pitchFamily="34" charset="0"/>
                <a:cs typeface="B Nazanin" panose="00000400000000000000" pitchFamily="2" charset="-78"/>
              </a:rPr>
              <a:t>25=</a:t>
            </a:r>
            <a:r>
              <a:rPr lang="fa-IR" sz="1800" b="1" kern="100" dirty="0">
                <a:effectLst/>
                <a:latin typeface="Aptos" panose="020B0004020202020204" pitchFamily="34" charset="0"/>
                <a:ea typeface="Aptos" panose="020B0004020202020204" pitchFamily="34" charset="0"/>
                <a:cs typeface="B Nazanin" panose="00000400000000000000" pitchFamily="2" charset="-78"/>
              </a:rPr>
              <a:t>۳۲ </a:t>
            </a:r>
            <a:r>
              <a:rPr lang="ar-SA" sz="1800" b="1" kern="100" dirty="0">
                <a:effectLst/>
                <a:latin typeface="Aptos" panose="020B0004020202020204" pitchFamily="34" charset="0"/>
                <a:ea typeface="Aptos" panose="020B0004020202020204" pitchFamily="34" charset="0"/>
                <a:cs typeface="B Nazanin" panose="00000400000000000000" pitchFamily="2" charset="-78"/>
              </a:rPr>
              <a:t>بایت</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بنابراین حافظه فیزیکی شامل </a:t>
            </a:r>
            <a:r>
              <a:rPr lang="fa-IR" sz="1800" b="1" kern="100" dirty="0">
                <a:effectLst/>
                <a:latin typeface="Aptos" panose="020B0004020202020204" pitchFamily="34" charset="0"/>
                <a:ea typeface="Aptos" panose="020B0004020202020204" pitchFamily="34" charset="0"/>
                <a:cs typeface="B Nazanin" panose="00000400000000000000" pitchFamily="2" charset="-78"/>
              </a:rPr>
              <a:t>۸ </a:t>
            </a:r>
            <a:r>
              <a:rPr lang="ar-SA" sz="1800" b="1" kern="100" dirty="0">
                <a:effectLst/>
                <a:latin typeface="Aptos" panose="020B0004020202020204" pitchFamily="34" charset="0"/>
                <a:ea typeface="Aptos" panose="020B0004020202020204" pitchFamily="34" charset="0"/>
                <a:cs typeface="B Nazanin" panose="00000400000000000000" pitchFamily="2" charset="-78"/>
              </a:rPr>
              <a:t>فریم </a:t>
            </a:r>
            <a:r>
              <a:rPr lang="fa-IR" sz="1800" b="1" kern="100" dirty="0">
                <a:effectLst/>
                <a:latin typeface="Aptos" panose="020B0004020202020204" pitchFamily="34" charset="0"/>
                <a:ea typeface="Aptos" panose="020B0004020202020204" pitchFamily="34" charset="0"/>
                <a:cs typeface="B Nazanin" panose="00000400000000000000" pitchFamily="2" charset="-78"/>
              </a:rPr>
              <a:t>۴</a:t>
            </a:r>
            <a:r>
              <a:rPr lang="ar-SA" sz="1800" b="1" kern="100" dirty="0">
                <a:effectLst/>
                <a:latin typeface="Aptos" panose="020B0004020202020204" pitchFamily="34" charset="0"/>
                <a:ea typeface="Aptos" panose="020B0004020202020204" pitchFamily="34" charset="0"/>
                <a:cs typeface="B Nazanin" panose="00000400000000000000" pitchFamily="2" charset="-78"/>
              </a:rPr>
              <a:t> بایتی است</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r>
              <a:rPr lang="en-US" sz="1800" b="1" kern="100" dirty="0">
                <a:effectLst/>
                <a:latin typeface="Aptos" panose="020B0004020202020204" pitchFamily="34" charset="0"/>
                <a:ea typeface="Aptos" panose="020B0004020202020204" pitchFamily="34" charset="0"/>
                <a:cs typeface="B Nazanin" panose="00000400000000000000" pitchFamily="2" charset="-78"/>
              </a:rPr>
              <a:t> </a:t>
            </a:r>
            <a:r>
              <a:rPr lang="ar-SA" sz="1800" b="1" kern="100" dirty="0">
                <a:effectLst/>
                <a:latin typeface="Aptos" panose="020B0004020202020204" pitchFamily="34" charset="0"/>
                <a:ea typeface="Aptos" panose="020B0004020202020204" pitchFamily="34" charset="0"/>
                <a:cs typeface="B Nazanin" panose="00000400000000000000" pitchFamily="2" charset="-78"/>
              </a:rPr>
              <a:t>اجزا</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آدرس منطقی</a:t>
            </a:r>
            <a:r>
              <a:rPr lang="en-US" sz="1800" b="1" kern="100" dirty="0">
                <a:effectLst/>
                <a:latin typeface="Aptos" panose="020B0004020202020204" pitchFamily="34" charset="0"/>
                <a:ea typeface="Aptos" panose="020B0004020202020204" pitchFamily="34" charset="0"/>
                <a:cs typeface="B Nazanin" panose="00000400000000000000" pitchFamily="2" charset="-78"/>
              </a:rPr>
              <a:t> (Logical Address): </a:t>
            </a:r>
            <a:r>
              <a:rPr lang="ar-SA" sz="1800" b="1" kern="100" dirty="0">
                <a:effectLst/>
                <a:latin typeface="Aptos" panose="020B0004020202020204" pitchFamily="34" charset="0"/>
                <a:ea typeface="Aptos" panose="020B0004020202020204" pitchFamily="34" charset="0"/>
                <a:cs typeface="B Nazanin" panose="00000400000000000000" pitchFamily="2" charset="-78"/>
              </a:rPr>
              <a:t>چیزی است که برنامه تولید می‌کند</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صفحه</a:t>
            </a:r>
            <a:r>
              <a:rPr lang="en-US" sz="1800" b="1" kern="100" dirty="0">
                <a:effectLst/>
                <a:latin typeface="Aptos" panose="020B0004020202020204" pitchFamily="34" charset="0"/>
                <a:ea typeface="Aptos" panose="020B0004020202020204" pitchFamily="34" charset="0"/>
                <a:cs typeface="B Nazanin" panose="00000400000000000000" pitchFamily="2" charset="-78"/>
              </a:rPr>
              <a:t> (Page): </a:t>
            </a:r>
            <a:r>
              <a:rPr lang="ar-SA" sz="1800" b="1" kern="100" dirty="0">
                <a:effectLst/>
                <a:latin typeface="Aptos" panose="020B0004020202020204" pitchFamily="34" charset="0"/>
                <a:ea typeface="Aptos" panose="020B0004020202020204" pitchFamily="34" charset="0"/>
                <a:cs typeface="B Nazanin" panose="00000400000000000000" pitchFamily="2" charset="-78"/>
              </a:rPr>
              <a:t>هر آدرس منطقی به یک صفحه و یک افست</a:t>
            </a:r>
            <a:r>
              <a:rPr lang="en-US" sz="1800" b="1" kern="100" dirty="0">
                <a:effectLst/>
                <a:latin typeface="Aptos" panose="020B0004020202020204" pitchFamily="34" charset="0"/>
                <a:ea typeface="Aptos" panose="020B0004020202020204" pitchFamily="34" charset="0"/>
                <a:cs typeface="B Nazanin" panose="00000400000000000000" pitchFamily="2" charset="-78"/>
              </a:rPr>
              <a:t> (Offset) </a:t>
            </a:r>
            <a:r>
              <a:rPr lang="ar-SA" sz="1800" b="1" kern="100" dirty="0">
                <a:effectLst/>
                <a:latin typeface="Aptos" panose="020B0004020202020204" pitchFamily="34" charset="0"/>
                <a:ea typeface="Aptos" panose="020B0004020202020204" pitchFamily="34" charset="0"/>
                <a:cs typeface="B Nazanin" panose="00000400000000000000" pitchFamily="2" charset="-78"/>
              </a:rPr>
              <a:t>تقسیم می‌شود</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جدول صفحه‌بندی</a:t>
            </a:r>
            <a:r>
              <a:rPr lang="en-US" sz="1800" b="1" kern="100" dirty="0">
                <a:effectLst/>
                <a:latin typeface="Aptos" panose="020B0004020202020204" pitchFamily="34" charset="0"/>
                <a:ea typeface="Aptos" panose="020B0004020202020204" pitchFamily="34" charset="0"/>
                <a:cs typeface="B Nazanin" panose="00000400000000000000" pitchFamily="2" charset="-78"/>
              </a:rPr>
              <a:t> (Page Table): </a:t>
            </a:r>
            <a:r>
              <a:rPr lang="ar-SA" sz="1800" b="1" kern="100" dirty="0">
                <a:effectLst/>
                <a:latin typeface="Aptos" panose="020B0004020202020204" pitchFamily="34" charset="0"/>
                <a:ea typeface="Aptos" panose="020B0004020202020204" pitchFamily="34" charset="0"/>
                <a:cs typeface="B Nazanin" panose="00000400000000000000" pitchFamily="2" charset="-78"/>
              </a:rPr>
              <a:t>سیستم‌عامل از این جدول برای تبدیل آدرس منطقی به فیزیکی استفاده می‌کند</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آدرس فیزیکی</a:t>
            </a:r>
            <a:r>
              <a:rPr lang="en-US" sz="1800" b="1" kern="100" dirty="0">
                <a:effectLst/>
                <a:latin typeface="Aptos" panose="020B0004020202020204" pitchFamily="34" charset="0"/>
                <a:ea typeface="Aptos" panose="020B0004020202020204" pitchFamily="34" charset="0"/>
                <a:cs typeface="B Nazanin" panose="00000400000000000000" pitchFamily="2" charset="-78"/>
              </a:rPr>
              <a:t> (Physical Address): </a:t>
            </a:r>
            <a:r>
              <a:rPr lang="ar-SA" sz="1800" b="1" kern="100" dirty="0">
                <a:effectLst/>
                <a:latin typeface="Aptos" panose="020B0004020202020204" pitchFamily="34" charset="0"/>
                <a:ea typeface="Aptos" panose="020B0004020202020204" pitchFamily="34" charset="0"/>
                <a:cs typeface="B Nazanin" panose="00000400000000000000" pitchFamily="2" charset="-78"/>
              </a:rPr>
              <a:t>آدرسی است که در حافظه واقعی</a:t>
            </a:r>
            <a:r>
              <a:rPr lang="en-US" sz="1800" b="1" kern="100" dirty="0">
                <a:effectLst/>
                <a:latin typeface="Aptos" panose="020B0004020202020204" pitchFamily="34" charset="0"/>
                <a:ea typeface="Aptos" panose="020B0004020202020204" pitchFamily="34" charset="0"/>
                <a:cs typeface="B Nazanin" panose="00000400000000000000" pitchFamily="2" charset="-78"/>
              </a:rPr>
              <a:t> (RAM) </a:t>
            </a:r>
            <a:r>
              <a:rPr lang="ar-SA" sz="1800" b="1" kern="100" dirty="0">
                <a:effectLst/>
                <a:latin typeface="Aptos" panose="020B0004020202020204" pitchFamily="34" charset="0"/>
                <a:ea typeface="Aptos" panose="020B0004020202020204" pitchFamily="34" charset="0"/>
                <a:cs typeface="B Nazanin" panose="00000400000000000000" pitchFamily="2" charset="-78"/>
              </a:rPr>
              <a:t>استفاده می‌شود</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r>
              <a:rPr lang="en-US" sz="1800" b="1" kern="100" dirty="0">
                <a:effectLst/>
                <a:latin typeface="Aptos" panose="020B0004020202020204" pitchFamily="34" charset="0"/>
                <a:ea typeface="Aptos" panose="020B0004020202020204" pitchFamily="34" charset="0"/>
                <a:cs typeface="B Nazanin" panose="00000400000000000000" pitchFamily="2" charset="-78"/>
              </a:rPr>
              <a:t> </a:t>
            </a:r>
            <a:r>
              <a:rPr lang="ar-SA" sz="1800" b="1" kern="100" dirty="0">
                <a:effectLst/>
                <a:latin typeface="Aptos" panose="020B0004020202020204" pitchFamily="34" charset="0"/>
                <a:ea typeface="Aptos" panose="020B0004020202020204" pitchFamily="34" charset="0"/>
                <a:cs typeface="B Nazanin" panose="00000400000000000000" pitchFamily="2" charset="-78"/>
              </a:rPr>
              <a:t>چند مثال از نگاشت آدرس‌ها</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r>
              <a:rPr lang="en-US" sz="1800" b="1" kern="100" dirty="0">
                <a:effectLst/>
                <a:latin typeface="Aptos" panose="020B0004020202020204" pitchFamily="34" charset="0"/>
                <a:ea typeface="Aptos" panose="020B0004020202020204" pitchFamily="34" charset="0"/>
                <a:cs typeface="B Nazanin" panose="00000400000000000000" pitchFamily="2" charset="-78"/>
              </a:rPr>
              <a:t> </a:t>
            </a:r>
            <a:r>
              <a:rPr lang="ar-SA" sz="1800" b="1" kern="100" dirty="0">
                <a:effectLst/>
                <a:latin typeface="Aptos" panose="020B0004020202020204" pitchFamily="34" charset="0"/>
                <a:ea typeface="Aptos" panose="020B0004020202020204" pitchFamily="34" charset="0"/>
                <a:cs typeface="B Nazanin" panose="00000400000000000000" pitchFamily="2" charset="-78"/>
              </a:rPr>
              <a:t>آدرس منطقی </a:t>
            </a:r>
            <a:r>
              <a:rPr lang="fa-IR" sz="1800" b="1" kern="100" dirty="0">
                <a:effectLst/>
                <a:latin typeface="Aptos" panose="020B0004020202020204" pitchFamily="34" charset="0"/>
                <a:ea typeface="Aptos" panose="020B0004020202020204" pitchFamily="34" charset="0"/>
                <a:cs typeface="B Nazanin" panose="00000400000000000000" pitchFamily="2" charset="-78"/>
              </a:rPr>
              <a:t>۰</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صفحه = </a:t>
            </a:r>
            <a:r>
              <a:rPr lang="fa-IR" sz="1800" b="1" kern="100" dirty="0">
                <a:effectLst/>
                <a:latin typeface="Aptos" panose="020B0004020202020204" pitchFamily="34" charset="0"/>
                <a:ea typeface="Aptos" panose="020B0004020202020204" pitchFamily="34" charset="0"/>
                <a:cs typeface="B Nazanin" panose="00000400000000000000" pitchFamily="2" charset="-78"/>
              </a:rPr>
              <a:t>۰</a:t>
            </a:r>
            <a:r>
              <a:rPr lang="ar-SA" sz="1800" b="1" kern="100" dirty="0">
                <a:effectLst/>
                <a:latin typeface="Aptos" panose="020B0004020202020204" pitchFamily="34" charset="0"/>
                <a:ea typeface="Aptos" panose="020B0004020202020204" pitchFamily="34" charset="0"/>
                <a:cs typeface="B Nazanin" panose="00000400000000000000" pitchFamily="2" charset="-78"/>
              </a:rPr>
              <a:t>، افست = </a:t>
            </a:r>
            <a:r>
              <a:rPr lang="fa-IR" sz="1800" b="1" kern="100" dirty="0">
                <a:effectLst/>
                <a:latin typeface="Aptos" panose="020B0004020202020204" pitchFamily="34" charset="0"/>
                <a:ea typeface="Aptos" panose="020B0004020202020204" pitchFamily="34" charset="0"/>
                <a:cs typeface="B Nazanin" panose="00000400000000000000" pitchFamily="2" charset="-78"/>
              </a:rPr>
              <a:t>۰</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جدول صفحه‌بندی می‌گوید: صفحه‌ی </a:t>
            </a:r>
            <a:r>
              <a:rPr lang="fa-IR" sz="1800" b="1" kern="100" dirty="0">
                <a:effectLst/>
                <a:latin typeface="Aptos" panose="020B0004020202020204" pitchFamily="34" charset="0"/>
                <a:ea typeface="Aptos" panose="020B0004020202020204" pitchFamily="34" charset="0"/>
                <a:cs typeface="B Nazanin" panose="00000400000000000000" pitchFamily="2" charset="-78"/>
              </a:rPr>
              <a:t>۰ </a:t>
            </a:r>
            <a:r>
              <a:rPr lang="fa-IR" sz="1800" b="1" kern="100" dirty="0">
                <a:effectLst/>
                <a:latin typeface="Aptos" panose="020B0004020202020204" pitchFamily="34" charset="0"/>
                <a:ea typeface="Aptos" panose="020B0004020202020204" pitchFamily="34" charset="0"/>
                <a:cs typeface="Times New Roman" panose="02020603050405020304" pitchFamily="18" charset="0"/>
              </a:rPr>
              <a:t>←</a:t>
            </a:r>
            <a:r>
              <a:rPr lang="fa-IR" sz="1800" b="1" kern="100" dirty="0">
                <a:effectLst/>
                <a:latin typeface="Aptos" panose="020B0004020202020204" pitchFamily="34" charset="0"/>
                <a:ea typeface="Aptos" panose="020B0004020202020204" pitchFamily="34" charset="0"/>
                <a:cs typeface="B Nazanin" panose="00000400000000000000" pitchFamily="2" charset="-78"/>
              </a:rPr>
              <a:t> </a:t>
            </a:r>
            <a:r>
              <a:rPr lang="ar-SA" sz="1800" b="1" kern="100" dirty="0">
                <a:effectLst/>
                <a:latin typeface="Aptos" panose="020B0004020202020204" pitchFamily="34" charset="0"/>
                <a:ea typeface="Aptos" panose="020B0004020202020204" pitchFamily="34" charset="0"/>
                <a:cs typeface="B Nazanin" panose="00000400000000000000" pitchFamily="2" charset="-78"/>
              </a:rPr>
              <a:t>فریم </a:t>
            </a:r>
            <a:r>
              <a:rPr lang="fa-IR" sz="1800" b="1" kern="100" dirty="0">
                <a:effectLst/>
                <a:latin typeface="Aptos" panose="020B0004020202020204" pitchFamily="34" charset="0"/>
                <a:ea typeface="Aptos" panose="020B0004020202020204" pitchFamily="34" charset="0"/>
                <a:cs typeface="B Nazanin" panose="00000400000000000000" pitchFamily="2" charset="-78"/>
              </a:rPr>
              <a:t>۵</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آدرس فیزیکی </a:t>
            </a:r>
            <a:r>
              <a:rPr lang="fa-IR" sz="1800" b="1" kern="100" dirty="0">
                <a:effectLst/>
                <a:latin typeface="Aptos" panose="020B0004020202020204" pitchFamily="34" charset="0"/>
                <a:ea typeface="Aptos" panose="020B0004020202020204" pitchFamily="34" charset="0"/>
                <a:cs typeface="B Nazanin" panose="00000400000000000000" pitchFamily="2" charset="-78"/>
              </a:rPr>
              <a:t>(4*5)+3=۲۳</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r>
              <a:rPr lang="en-US" sz="1800" b="1" kern="100" dirty="0">
                <a:effectLst/>
                <a:latin typeface="Aptos" panose="020B0004020202020204" pitchFamily="34" charset="0"/>
                <a:ea typeface="Aptos" panose="020B0004020202020204" pitchFamily="34" charset="0"/>
                <a:cs typeface="B Nazanin" panose="00000400000000000000" pitchFamily="2" charset="-78"/>
              </a:rPr>
              <a:t> </a:t>
            </a:r>
            <a:r>
              <a:rPr lang="ar-SA" sz="1800" b="1" kern="100" dirty="0">
                <a:effectLst/>
                <a:latin typeface="Aptos" panose="020B0004020202020204" pitchFamily="34" charset="0"/>
                <a:ea typeface="Aptos" panose="020B0004020202020204" pitchFamily="34" charset="0"/>
                <a:cs typeface="B Nazanin" panose="00000400000000000000" pitchFamily="2" charset="-78"/>
              </a:rPr>
              <a:t>آدرس منطقی </a:t>
            </a:r>
            <a:r>
              <a:rPr lang="fa-IR" sz="1800" b="1" kern="100" dirty="0">
                <a:effectLst/>
                <a:latin typeface="Aptos" panose="020B0004020202020204" pitchFamily="34" charset="0"/>
                <a:ea typeface="Aptos" panose="020B0004020202020204" pitchFamily="34" charset="0"/>
                <a:cs typeface="B Nazanin" panose="00000400000000000000" pitchFamily="2" charset="-78"/>
              </a:rPr>
              <a:t>۳</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صفحه = </a:t>
            </a:r>
            <a:r>
              <a:rPr lang="fa-IR" sz="1800" b="1" kern="100" dirty="0">
                <a:effectLst/>
                <a:latin typeface="Aptos" panose="020B0004020202020204" pitchFamily="34" charset="0"/>
                <a:ea typeface="Aptos" panose="020B0004020202020204" pitchFamily="34" charset="0"/>
                <a:cs typeface="B Nazanin" panose="00000400000000000000" pitchFamily="2" charset="-78"/>
              </a:rPr>
              <a:t>۰</a:t>
            </a:r>
            <a:r>
              <a:rPr lang="ar-SA" sz="1800" b="1" kern="100" dirty="0">
                <a:effectLst/>
                <a:latin typeface="Aptos" panose="020B0004020202020204" pitchFamily="34" charset="0"/>
                <a:ea typeface="Aptos" panose="020B0004020202020204" pitchFamily="34" charset="0"/>
                <a:cs typeface="B Nazanin" panose="00000400000000000000" pitchFamily="2" charset="-78"/>
              </a:rPr>
              <a:t>، افست = </a:t>
            </a:r>
            <a:r>
              <a:rPr lang="fa-IR" sz="1800" b="1" kern="100" dirty="0">
                <a:effectLst/>
                <a:latin typeface="Aptos" panose="020B0004020202020204" pitchFamily="34" charset="0"/>
                <a:ea typeface="Aptos" panose="020B0004020202020204" pitchFamily="34" charset="0"/>
                <a:cs typeface="B Nazanin" panose="00000400000000000000" pitchFamily="2" charset="-78"/>
              </a:rPr>
              <a:t>۳</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صفحه‌ی </a:t>
            </a:r>
            <a:r>
              <a:rPr lang="fa-IR" sz="1800" b="1" kern="100" dirty="0">
                <a:effectLst/>
                <a:latin typeface="Aptos" panose="020B0004020202020204" pitchFamily="34" charset="0"/>
                <a:ea typeface="Aptos" panose="020B0004020202020204" pitchFamily="34" charset="0"/>
                <a:cs typeface="B Nazanin" panose="00000400000000000000" pitchFamily="2" charset="-78"/>
              </a:rPr>
              <a:t>۰</a:t>
            </a:r>
            <a:r>
              <a:rPr lang="ar-SA" sz="1800" b="1" kern="100" dirty="0">
                <a:effectLst/>
                <a:latin typeface="Aptos" panose="020B0004020202020204" pitchFamily="34" charset="0"/>
                <a:ea typeface="Aptos" panose="020B0004020202020204" pitchFamily="34" charset="0"/>
                <a:cs typeface="B Nazanin" panose="00000400000000000000" pitchFamily="2" charset="-78"/>
              </a:rPr>
              <a:t> هنوز هم در فریم </a:t>
            </a:r>
            <a:r>
              <a:rPr lang="fa-IR" sz="1800" b="1" kern="100" dirty="0">
                <a:effectLst/>
                <a:latin typeface="Aptos" panose="020B0004020202020204" pitchFamily="34" charset="0"/>
                <a:ea typeface="Aptos" panose="020B0004020202020204" pitchFamily="34" charset="0"/>
                <a:cs typeface="B Nazanin" panose="00000400000000000000" pitchFamily="2" charset="-78"/>
              </a:rPr>
              <a:t>۵</a:t>
            </a:r>
            <a:r>
              <a:rPr lang="ar-SA" sz="1800" b="1" kern="100" dirty="0">
                <a:effectLst/>
                <a:latin typeface="Aptos" panose="020B0004020202020204" pitchFamily="34" charset="0"/>
                <a:ea typeface="Aptos" panose="020B0004020202020204" pitchFamily="34" charset="0"/>
                <a:cs typeface="B Nazanin" panose="00000400000000000000" pitchFamily="2" charset="-78"/>
              </a:rPr>
              <a:t> است</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آدرس فیزیکی </a:t>
            </a:r>
            <a:r>
              <a:rPr lang="fa-IR" sz="1800" b="1" kern="100" dirty="0">
                <a:effectLst/>
                <a:latin typeface="Aptos" panose="020B0004020202020204" pitchFamily="34" charset="0"/>
                <a:ea typeface="Aptos" panose="020B0004020202020204" pitchFamily="34" charset="0"/>
                <a:cs typeface="B Nazanin" panose="00000400000000000000" pitchFamily="2" charset="-78"/>
              </a:rPr>
              <a:t>(5*4)+3=۲۳</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r>
              <a:rPr lang="en-US" sz="1800" b="1" kern="100" dirty="0">
                <a:effectLst/>
                <a:latin typeface="Aptos" panose="020B0004020202020204" pitchFamily="34" charset="0"/>
                <a:ea typeface="Aptos" panose="020B0004020202020204" pitchFamily="34" charset="0"/>
                <a:cs typeface="B Nazanin" panose="00000400000000000000" pitchFamily="2" charset="-78"/>
              </a:rPr>
              <a:t> </a:t>
            </a:r>
            <a:r>
              <a:rPr lang="ar-SA" sz="1800" b="1" kern="100" dirty="0">
                <a:effectLst/>
                <a:latin typeface="Aptos" panose="020B0004020202020204" pitchFamily="34" charset="0"/>
                <a:ea typeface="Aptos" panose="020B0004020202020204" pitchFamily="34" charset="0"/>
                <a:cs typeface="B Nazanin" panose="00000400000000000000" pitchFamily="2" charset="-78"/>
              </a:rPr>
              <a:t>آدرس منطقی </a:t>
            </a:r>
            <a:r>
              <a:rPr lang="fa-IR" sz="1800" b="1" kern="100" dirty="0">
                <a:effectLst/>
                <a:latin typeface="Aptos" panose="020B0004020202020204" pitchFamily="34" charset="0"/>
                <a:ea typeface="Aptos" panose="020B0004020202020204" pitchFamily="34" charset="0"/>
                <a:cs typeface="B Nazanin" panose="00000400000000000000" pitchFamily="2" charset="-78"/>
              </a:rPr>
              <a:t>۴</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صفحه = </a:t>
            </a:r>
            <a:r>
              <a:rPr lang="fa-IR" sz="1800" b="1" kern="100" dirty="0">
                <a:effectLst/>
                <a:latin typeface="Aptos" panose="020B0004020202020204" pitchFamily="34" charset="0"/>
                <a:ea typeface="Aptos" panose="020B0004020202020204" pitchFamily="34" charset="0"/>
                <a:cs typeface="B Nazanin" panose="00000400000000000000" pitchFamily="2" charset="-78"/>
              </a:rPr>
              <a:t>۱</a:t>
            </a:r>
            <a:r>
              <a:rPr lang="ar-SA" sz="1800" b="1" kern="100" dirty="0">
                <a:effectLst/>
                <a:latin typeface="Aptos" panose="020B0004020202020204" pitchFamily="34" charset="0"/>
                <a:ea typeface="Aptos" panose="020B0004020202020204" pitchFamily="34" charset="0"/>
                <a:cs typeface="B Nazanin" panose="00000400000000000000" pitchFamily="2" charset="-78"/>
              </a:rPr>
              <a:t>، افست = </a:t>
            </a:r>
            <a:r>
              <a:rPr lang="fa-IR" sz="1800" b="1" kern="100" dirty="0">
                <a:effectLst/>
                <a:latin typeface="Aptos" panose="020B0004020202020204" pitchFamily="34" charset="0"/>
                <a:ea typeface="Aptos" panose="020B0004020202020204" pitchFamily="34" charset="0"/>
                <a:cs typeface="B Nazanin" panose="00000400000000000000" pitchFamily="2" charset="-78"/>
              </a:rPr>
              <a:t>۰</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جدول صفحه‌بندی می‌گوید: صفحه‌ی </a:t>
            </a:r>
            <a:r>
              <a:rPr lang="fa-IR" sz="1800" b="1" kern="100" dirty="0">
                <a:effectLst/>
                <a:latin typeface="Aptos" panose="020B0004020202020204" pitchFamily="34" charset="0"/>
                <a:ea typeface="Aptos" panose="020B0004020202020204" pitchFamily="34" charset="0"/>
                <a:cs typeface="B Nazanin" panose="00000400000000000000" pitchFamily="2" charset="-78"/>
              </a:rPr>
              <a:t>۱ </a:t>
            </a:r>
            <a:r>
              <a:rPr lang="fa-IR" sz="1800" b="1" kern="100" dirty="0">
                <a:effectLst/>
                <a:latin typeface="Aptos" panose="020B0004020202020204" pitchFamily="34" charset="0"/>
                <a:ea typeface="Aptos" panose="020B0004020202020204" pitchFamily="34" charset="0"/>
                <a:cs typeface="Times New Roman" panose="02020603050405020304" pitchFamily="18" charset="0"/>
              </a:rPr>
              <a:t>←</a:t>
            </a:r>
            <a:r>
              <a:rPr lang="fa-IR" sz="1800" b="1" kern="100" dirty="0">
                <a:effectLst/>
                <a:latin typeface="Aptos" panose="020B0004020202020204" pitchFamily="34" charset="0"/>
                <a:ea typeface="Aptos" panose="020B0004020202020204" pitchFamily="34" charset="0"/>
                <a:cs typeface="B Nazanin" panose="00000400000000000000" pitchFamily="2" charset="-78"/>
              </a:rPr>
              <a:t> </a:t>
            </a:r>
            <a:r>
              <a:rPr lang="ar-SA" sz="1800" b="1" kern="100" dirty="0">
                <a:effectLst/>
                <a:latin typeface="Aptos" panose="020B0004020202020204" pitchFamily="34" charset="0"/>
                <a:ea typeface="Aptos" panose="020B0004020202020204" pitchFamily="34" charset="0"/>
                <a:cs typeface="B Nazanin" panose="00000400000000000000" pitchFamily="2" charset="-78"/>
              </a:rPr>
              <a:t>فریم </a:t>
            </a:r>
            <a:r>
              <a:rPr lang="fa-IR" sz="1800" b="1" kern="100" dirty="0">
                <a:effectLst/>
                <a:latin typeface="Aptos" panose="020B0004020202020204" pitchFamily="34" charset="0"/>
                <a:ea typeface="Aptos" panose="020B0004020202020204" pitchFamily="34" charset="0"/>
                <a:cs typeface="B Nazanin" panose="00000400000000000000" pitchFamily="2" charset="-78"/>
              </a:rPr>
              <a:t>۶</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آدرس فیزیکی </a:t>
            </a:r>
            <a:r>
              <a:rPr lang="fa-IR" sz="1800" b="1" kern="100" dirty="0">
                <a:effectLst/>
                <a:latin typeface="Aptos" panose="020B0004020202020204" pitchFamily="34" charset="0"/>
                <a:ea typeface="Aptos" panose="020B0004020202020204" pitchFamily="34" charset="0"/>
                <a:cs typeface="B Nazanin" panose="00000400000000000000" pitchFamily="2" charset="-78"/>
              </a:rPr>
              <a:t>(6*4)+0=۲۴</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100" dirty="0">
                <a:effectLst/>
                <a:latin typeface="Aptos" panose="020B0004020202020204" pitchFamily="34" charset="0"/>
                <a:ea typeface="Aptos" panose="020B0004020202020204" pitchFamily="34" charset="0"/>
                <a:cs typeface="B Nazanin" panose="00000400000000000000" pitchFamily="2" charset="-78"/>
              </a:rPr>
              <a:t> </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pPr>
            <a:r>
              <a:rPr lang="en-US" sz="1800" kern="100" dirty="0">
                <a:effectLst/>
                <a:latin typeface="Aptos" panose="020B0004020202020204" pitchFamily="34" charset="0"/>
                <a:ea typeface="Aptos" panose="020B0004020202020204" pitchFamily="34" charset="0"/>
                <a:cs typeface="B Nazanin" panose="00000400000000000000" pitchFamily="2" charset="-78"/>
              </a:rPr>
              <a:t> </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7794835-A72A-4AEF-B6EC-BD8CE85FBF47}" type="slidenum">
              <a:rPr lang="en-US" altLang="en-US" smtClean="0"/>
              <a:pPr/>
              <a:t>35</a:t>
            </a:fld>
            <a:endParaRPr lang="en-US" altLang="en-US"/>
          </a:p>
        </p:txBody>
      </p:sp>
    </p:spTree>
    <p:extLst>
      <p:ext uri="{BB962C8B-B14F-4D97-AF65-F5344CB8AC3E}">
        <p14:creationId xmlns:p14="http://schemas.microsoft.com/office/powerpoint/2010/main" val="15348567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9BCDB-631E-6C3F-C98D-5B8F92EFB8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FADB27-CB86-A6BA-16AB-7C2CF6B652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762BE-95E2-92CF-819A-F024DC219188}"/>
              </a:ext>
            </a:extLst>
          </p:cNvPr>
          <p:cNvSpPr>
            <a:spLocks noGrp="1"/>
          </p:cNvSpPr>
          <p:nvPr>
            <p:ph type="body" idx="1"/>
          </p:nvPr>
        </p:nvSpPr>
        <p:spPr/>
        <p:txBody>
          <a:bodyPr/>
          <a:lstStyle/>
          <a:p>
            <a:pPr marL="342900" marR="0" lvl="0" indent="-342900" algn="r" rtl="1">
              <a:lnSpc>
                <a:spcPts val="2625"/>
              </a:lnSpc>
              <a:spcBef>
                <a:spcPts val="0"/>
              </a:spcBef>
              <a:spcAft>
                <a:spcPts val="0"/>
              </a:spcAft>
              <a:buSzPts val="1000"/>
              <a:buFont typeface="Symbol" panose="05050102010706020507" pitchFamily="18" charset="2"/>
              <a:buChar char=""/>
              <a:tabLst>
                <a:tab pos="457200" algn="l"/>
              </a:tabLst>
            </a:pPr>
            <a:r>
              <a:rPr lang="ar-SA" sz="1500" b="1" dirty="0">
                <a:solidFill>
                  <a:srgbClr val="1F1F1F"/>
                </a:solidFill>
                <a:effectLst/>
                <a:latin typeface="Google Sans"/>
                <a:ea typeface="Times New Roman" panose="02020603050405020304" pitchFamily="18" charset="0"/>
                <a:cs typeface="Times New Roman" panose="02020603050405020304" pitchFamily="18" charset="0"/>
              </a:rPr>
              <a:t>آدرس منطقی </a:t>
            </a:r>
            <a:r>
              <a:rPr lang="fa-IR" sz="1500" b="1" dirty="0">
                <a:solidFill>
                  <a:srgbClr val="1F1F1F"/>
                </a:solidFill>
                <a:effectLst/>
                <a:latin typeface="Google Sans"/>
                <a:ea typeface="Times New Roman" panose="02020603050405020304" pitchFamily="18" charset="0"/>
                <a:cs typeface="Times New Roman" panose="02020603050405020304" pitchFamily="18" charset="0"/>
              </a:rPr>
              <a:t>۱۳:</a:t>
            </a:r>
            <a:r>
              <a:rPr lang="ar-SA" sz="1500" dirty="0">
                <a:solidFill>
                  <a:srgbClr val="1F1F1F"/>
                </a:solidFill>
                <a:effectLst/>
                <a:latin typeface="Google Sans"/>
                <a:ea typeface="Times New Roman" panose="02020603050405020304" pitchFamily="18" charset="0"/>
                <a:cs typeface="Times New Roman" panose="02020603050405020304" pitchFamily="18" charset="0"/>
              </a:rPr>
              <a:t> </a:t>
            </a:r>
            <a:r>
              <a:rPr lang="fa-IR" sz="1500" dirty="0">
                <a:solidFill>
                  <a:srgbClr val="1F1F1F"/>
                </a:solidFill>
                <a:effectLst/>
                <a:latin typeface="Google Sans"/>
                <a:ea typeface="Times New Roman" panose="02020603050405020304" pitchFamily="18" charset="0"/>
                <a:cs typeface="Times New Roman" panose="02020603050405020304" pitchFamily="18" charset="0"/>
              </a:rPr>
              <a:t>صفحه ۲ و افست ۱. </a:t>
            </a:r>
            <a:r>
              <a:rPr lang="ar-SA" sz="1500" dirty="0">
                <a:solidFill>
                  <a:srgbClr val="1F1F1F"/>
                </a:solidFill>
                <a:effectLst/>
                <a:latin typeface="Google Sans"/>
                <a:ea typeface="Times New Roman" panose="02020603050405020304" pitchFamily="18" charset="0"/>
                <a:cs typeface="Times New Roman" panose="02020603050405020304" pitchFamily="18" charset="0"/>
              </a:rPr>
              <a:t>به آدرس فیزیکی </a:t>
            </a:r>
            <a:r>
              <a:rPr lang="fa-IR" sz="1500" dirty="0">
                <a:solidFill>
                  <a:srgbClr val="1F1F1F"/>
                </a:solidFill>
                <a:effectLst/>
                <a:latin typeface="Google Sans"/>
                <a:ea typeface="Times New Roman" panose="02020603050405020304" pitchFamily="18" charset="0"/>
                <a:cs typeface="Times New Roman" panose="02020603050405020304" pitchFamily="18" charset="0"/>
              </a:rPr>
              <a:t>۹</a:t>
            </a:r>
            <a:r>
              <a:rPr lang="ar-SA" sz="1500" dirty="0">
                <a:solidFill>
                  <a:srgbClr val="1F1F1F"/>
                </a:solidFill>
                <a:effectLst/>
                <a:latin typeface="Google Sans"/>
                <a:ea typeface="Times New Roman" panose="02020603050405020304" pitchFamily="18" charset="0"/>
                <a:cs typeface="Times New Roman" panose="02020603050405020304" pitchFamily="18" charset="0"/>
              </a:rPr>
              <a:t> نگاشت می‌شود.</a:t>
            </a:r>
            <a:r>
              <a:rPr lang="fa-IR" sz="1500" dirty="0">
                <a:solidFill>
                  <a:srgbClr val="1F1F1F"/>
                </a:solidFill>
                <a:effectLst/>
                <a:latin typeface="Google Sans"/>
                <a:ea typeface="Times New Roman" panose="02020603050405020304" pitchFamily="18" charset="0"/>
                <a:cs typeface="Times New Roman" panose="02020603050405020304" pitchFamily="18" charset="0"/>
              </a:rPr>
              <a:t> یعنی (۲*۴) +۱=۹</a:t>
            </a:r>
            <a:endParaRPr lang="en-US" sz="11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ts val="2625"/>
              </a:lnSpc>
              <a:spcBef>
                <a:spcPts val="0"/>
              </a:spcBef>
              <a:spcAft>
                <a:spcPts val="0"/>
              </a:spcAft>
            </a:pPr>
            <a:r>
              <a:rPr lang="ar-SA" sz="1500" dirty="0">
                <a:solidFill>
                  <a:srgbClr val="1F1F1F"/>
                </a:solidFill>
                <a:effectLst/>
                <a:latin typeface="Google Sans"/>
                <a:ea typeface="Times New Roman" panose="02020603050405020304" pitchFamily="18" charset="0"/>
                <a:cs typeface="Times New Roman" panose="02020603050405020304" pitchFamily="18" charset="0"/>
              </a:rPr>
              <a:t>همانطور که متوجه شدید، صفحه‌بندی خود نوعی جابه‌جایی پویاست. هر آدرس منطقی توسط سخت‌افزار صفحه‌بندی به یک آدرس فیزیکی خاص متصل می‌شود. استفاده از صفحه‌بندی شبیه به استفاده از جدولی از ثبات‌های پایه (یا جابه‌جایی) است، که یک ثبات برای هر فریم حافظه در نظر گرفته می‌شود.</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 </a:t>
            </a:r>
          </a:p>
          <a:p>
            <a:endParaRPr lang="en-US" dirty="0"/>
          </a:p>
        </p:txBody>
      </p:sp>
      <p:sp>
        <p:nvSpPr>
          <p:cNvPr id="4" name="Slide Number Placeholder 3">
            <a:extLst>
              <a:ext uri="{FF2B5EF4-FFF2-40B4-BE49-F238E27FC236}">
                <a16:creationId xmlns:a16="http://schemas.microsoft.com/office/drawing/2014/main" id="{33E7BBA4-2D39-EB44-700D-51855C9DDB0C}"/>
              </a:ext>
            </a:extLst>
          </p:cNvPr>
          <p:cNvSpPr>
            <a:spLocks noGrp="1"/>
          </p:cNvSpPr>
          <p:nvPr>
            <p:ph type="sldNum" sz="quarter" idx="5"/>
          </p:nvPr>
        </p:nvSpPr>
        <p:spPr/>
        <p:txBody>
          <a:bodyPr/>
          <a:lstStyle/>
          <a:p>
            <a:fld id="{47794835-A72A-4AEF-B6EC-BD8CE85FBF47}" type="slidenum">
              <a:rPr lang="en-US" altLang="en-US" smtClean="0"/>
              <a:pPr/>
              <a:t>36</a:t>
            </a:fld>
            <a:endParaRPr lang="en-US" altLang="en-US"/>
          </a:p>
        </p:txBody>
      </p:sp>
    </p:spTree>
    <p:extLst>
      <p:ext uri="{BB962C8B-B14F-4D97-AF65-F5344CB8AC3E}">
        <p14:creationId xmlns:p14="http://schemas.microsoft.com/office/powerpoint/2010/main" val="11062427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70DA0-97A5-AAE9-A278-EA4AA9D7FE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763B5-DD3F-430F-A5D8-81863227A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8619A0-A6AC-FD7C-D3A0-FC90933AB8F9}"/>
              </a:ext>
            </a:extLst>
          </p:cNvPr>
          <p:cNvSpPr>
            <a:spLocks noGrp="1"/>
          </p:cNvSpPr>
          <p:nvPr>
            <p:ph type="body" idx="1"/>
          </p:nvPr>
        </p:nvSpPr>
        <p:spPr/>
        <p:txBody>
          <a:bodyPr/>
          <a:lstStyle/>
          <a:p>
            <a:pPr marL="0" marR="0" algn="r" rtl="1">
              <a:lnSpc>
                <a:spcPct val="107000"/>
              </a:lnSpc>
              <a:spcBef>
                <a:spcPts val="0"/>
              </a:spcBef>
              <a:spcAft>
                <a:spcPts val="800"/>
              </a:spcAf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تاثیر اندازه صفحه بر پارگی</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اندازه صفحه کوچکتر</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به طور کلی، اندازه صفحه کوچک‌تر منجر به کاهش پارگی داخلی می‌شود، زیرا فضای بلااستفاده در آخرین صفحه کمتر خواهد بود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در مثال بالا، اگر اندازه صفحه به نصف (مثلا </a:t>
            </a: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۱۰۲۴</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 بایت) کاهش یابد، پارگی داخلی نیز به نصف کاهش می‌یابد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بدترین حالت پارگی</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در بدترین حالت، زمانی که تنها یک بایت در آخرین صفحه باقی مانده باشد، میزان پارگی داخلی معادل یک واحد اندازه صفحه خواهد بود (در این مثال، </a:t>
            </a: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۱</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 فریم - </a:t>
            </a: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۱</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 بایت)</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میانگین پارگی</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به طور میانگین، انتظار می‌رود که پارگی داخلی نصف اندازه صفحه باشد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fa-IR" sz="1800" dirty="0">
              <a:effectLst/>
              <a:latin typeface="Times New Roman" panose="02020603050405020304" pitchFamily="18" charset="0"/>
              <a:ea typeface="Times New Roman" panose="02020603050405020304" pitchFamily="18" charset="0"/>
              <a:cs typeface="B Nazanin" panose="00000400000000000000" pitchFamily="2" charset="-78"/>
            </a:endParaRPr>
          </a:p>
          <a:p>
            <a:pPr marL="0" marR="0" algn="r" rtl="1">
              <a:lnSpc>
                <a:spcPct val="107000"/>
              </a:lnSpc>
              <a:spcBef>
                <a:spcPts val="0"/>
              </a:spcBef>
              <a:spcAft>
                <a:spcPts val="8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به نظر برسد که همیشه استفاده از صفحات با اندازه کوچک‌تر ایده‌آل است</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اما با چال</a:t>
            </a: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ش‌هایی دارد:</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 همراه است</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ردیابی صفحات</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برای مدیریت صفحات در حافظه، سیستم‌عامل از یک جدول صفحه</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(Page Table)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استفاده می‌کند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هر ورودی در این جدول، اطلاعات مربوط به یک صفحه خاص را نگه می‌دارد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با کاهش اندازه صفحه، تعداد صفحات افزایش می‌یابد و در نتیجه به ورودی‌های بیشتری در جدول صفحه نیاز است</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این ورودی‌ها نیز خود حافظه اشغال می‌کنند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بنابراین، انتخاب اندازه صفحه به یک </a:t>
            </a: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موازنه</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 بین کاهش پارگی داخلی و مصرف حافظه برای جدول صفحه بستگی دارد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به همین دلیل، اندازه صفحه در طول زمان افزایش یافته است</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اندازه صفحه در سیستم‌عامل‌های واقعی</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سیستم‌عامل سولاریس از دو اندازه صفحه پشتیبانی می‌کند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۸</a:t>
            </a:r>
            <a:r>
              <a:rPr lang="fa-IR"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کیلوبایت</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(KB)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و </a:t>
            </a: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۴</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 مگابایت</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(MB).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این نشان می‌دهد که اندازه صفحه در عمل می‌تواند نسبتا بزرگ باشد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6678C2FE-45E3-3674-6413-DE1ECE849193}"/>
              </a:ext>
            </a:extLst>
          </p:cNvPr>
          <p:cNvSpPr>
            <a:spLocks noGrp="1"/>
          </p:cNvSpPr>
          <p:nvPr>
            <p:ph type="sldNum" sz="quarter" idx="5"/>
          </p:nvPr>
        </p:nvSpPr>
        <p:spPr/>
        <p:txBody>
          <a:bodyPr/>
          <a:lstStyle/>
          <a:p>
            <a:fld id="{47794835-A72A-4AEF-B6EC-BD8CE85FBF47}" type="slidenum">
              <a:rPr lang="en-US" altLang="en-US" smtClean="0"/>
              <a:pPr/>
              <a:t>37</a:t>
            </a:fld>
            <a:endParaRPr lang="en-US" altLang="en-US"/>
          </a:p>
        </p:txBody>
      </p:sp>
    </p:spTree>
    <p:extLst>
      <p:ext uri="{BB962C8B-B14F-4D97-AF65-F5344CB8AC3E}">
        <p14:creationId xmlns:p14="http://schemas.microsoft.com/office/powerpoint/2010/main" val="8955531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9E2CC-E8F6-7967-698B-A80DBB485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A696A4-D0FC-3751-2714-21F26E24B3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99240A-211E-6308-6A64-D9066D863D7C}"/>
              </a:ext>
            </a:extLst>
          </p:cNvPr>
          <p:cNvSpPr>
            <a:spLocks noGrp="1"/>
          </p:cNvSpPr>
          <p:nvPr>
            <p:ph type="body" idx="1"/>
          </p:nvPr>
        </p:nvSpPr>
        <p:spPr/>
        <p:txBody>
          <a:bodyPr/>
          <a:lstStyle/>
          <a:p>
            <a:pPr marL="0" marR="0" algn="r" rtl="1">
              <a:lnSpc>
                <a:spcPct val="107000"/>
              </a:lnSpc>
              <a:spcBef>
                <a:spcPts val="0"/>
              </a:spcBef>
              <a:spcAft>
                <a:spcPts val="8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بنابراین، انتخاب اندازه صفحه به یک </a:t>
            </a: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موازنه</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 بین کاهش پارگی داخلی و مصرف حافظه برای جدول صفحه بستگی دارد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به همین دلیل، اندازه صفحه در طول زمان افزایش یافته است</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اندازه صفحه در سیستم‌عامل‌های واقعی</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سیستم‌عامل سولاریس از دو اندازه صفحه پشتیبانی می‌کند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۸</a:t>
            </a:r>
            <a:r>
              <a:rPr lang="fa-IR" sz="1800" dirty="0">
                <a:effectLst/>
                <a:latin typeface="Calibri" panose="020F0502020204030204" pitchFamily="34" charset="0"/>
                <a:ea typeface="Times New Roman" panose="02020603050405020304" pitchFamily="18" charset="0"/>
                <a:cs typeface="Times New Roman" panose="02020603050405020304" pitchFamily="18" charset="0"/>
              </a:rPr>
              <a:t>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کیلوبایت</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(KB)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و </a:t>
            </a: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۴</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 مگابایت</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(MB).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این نشان می‌دهد که اندازه صفحه در عمل می‌تواند نسبتا بزرگ باشد</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05A9EAE0-561D-B550-F938-5D981D526FFA}"/>
              </a:ext>
            </a:extLst>
          </p:cNvPr>
          <p:cNvSpPr>
            <a:spLocks noGrp="1"/>
          </p:cNvSpPr>
          <p:nvPr>
            <p:ph type="sldNum" sz="quarter" idx="5"/>
          </p:nvPr>
        </p:nvSpPr>
        <p:spPr/>
        <p:txBody>
          <a:bodyPr/>
          <a:lstStyle/>
          <a:p>
            <a:fld id="{47794835-A72A-4AEF-B6EC-BD8CE85FBF47}" type="slidenum">
              <a:rPr lang="en-US" altLang="en-US" smtClean="0"/>
              <a:pPr/>
              <a:t>38</a:t>
            </a:fld>
            <a:endParaRPr lang="en-US" altLang="en-US"/>
          </a:p>
        </p:txBody>
      </p:sp>
    </p:spTree>
    <p:extLst>
      <p:ext uri="{BB962C8B-B14F-4D97-AF65-F5344CB8AC3E}">
        <p14:creationId xmlns:p14="http://schemas.microsoft.com/office/powerpoint/2010/main" val="16501634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3D5EF-7538-B992-E845-F51BC727BE9D}"/>
            </a:ext>
          </a:extLst>
        </p:cNvPr>
        <p:cNvGrpSpPr/>
        <p:nvPr/>
      </p:nvGrpSpPr>
      <p:grpSpPr>
        <a:xfrm>
          <a:off x="0" y="0"/>
          <a:ext cx="0" cy="0"/>
          <a:chOff x="0" y="0"/>
          <a:chExt cx="0" cy="0"/>
        </a:xfrm>
      </p:grpSpPr>
      <p:sp>
        <p:nvSpPr>
          <p:cNvPr id="96258" name="Rectangle 7">
            <a:extLst>
              <a:ext uri="{FF2B5EF4-FFF2-40B4-BE49-F238E27FC236}">
                <a16:creationId xmlns:a16="http://schemas.microsoft.com/office/drawing/2014/main" id="{4783206D-523B-61F1-D83E-A953065CEC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5F994C-A057-4A63-AE72-3FF0DACC8E52}" type="slidenum">
              <a:rPr lang="en-US" altLang="en-US">
                <a:latin typeface="Helvetica" panose="020B0604020202020204" pitchFamily="34" charset="0"/>
              </a:rPr>
              <a:pPr/>
              <a:t>39</a:t>
            </a:fld>
            <a:endParaRPr lang="en-US" altLang="en-US">
              <a:latin typeface="Helvetica" panose="020B0604020202020204" pitchFamily="34" charset="0"/>
            </a:endParaRPr>
          </a:p>
        </p:txBody>
      </p:sp>
      <p:sp>
        <p:nvSpPr>
          <p:cNvPr id="96259" name="Rectangle 2">
            <a:extLst>
              <a:ext uri="{FF2B5EF4-FFF2-40B4-BE49-F238E27FC236}">
                <a16:creationId xmlns:a16="http://schemas.microsoft.com/office/drawing/2014/main" id="{C6C5ED74-A576-F28D-9F63-B27CA2ACA300}"/>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862575F5-6608-0FCF-BDFF-982C56419D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rtl="1">
              <a:buNone/>
            </a:pPr>
            <a:r>
              <a:rPr lang="fa-IR" sz="2800" dirty="0"/>
              <a:t>در سیستم‌های مدیریت حافظه با روش صفحه‌بندی (</a:t>
            </a:r>
            <a:r>
              <a:rPr lang="en-US" sz="2800" dirty="0"/>
              <a:t>Paging)، </a:t>
            </a:r>
            <a:r>
              <a:rPr lang="fa-IR" sz="2800" dirty="0"/>
              <a:t>دو مفهوم کلیدی وجود دارد: </a:t>
            </a:r>
            <a:r>
              <a:rPr lang="fa-IR" sz="2800" b="1" dirty="0"/>
              <a:t>صفحه (</a:t>
            </a:r>
            <a:r>
              <a:rPr lang="en-US" sz="2800" b="1" dirty="0"/>
              <a:t>Page)</a:t>
            </a:r>
            <a:r>
              <a:rPr lang="en-US" sz="2800" dirty="0"/>
              <a:t> </a:t>
            </a:r>
            <a:r>
              <a:rPr lang="fa-IR" sz="2800" dirty="0"/>
              <a:t>و </a:t>
            </a:r>
            <a:r>
              <a:rPr lang="fa-IR" sz="2800" b="1" dirty="0"/>
              <a:t>فریم (</a:t>
            </a:r>
            <a:r>
              <a:rPr lang="en-US" sz="2800" b="1" dirty="0"/>
              <a:t>Frame)</a:t>
            </a:r>
            <a:r>
              <a:rPr lang="en-US" sz="2800" dirty="0"/>
              <a:t>. </a:t>
            </a:r>
            <a:r>
              <a:rPr lang="fa-IR" sz="2800" dirty="0"/>
              <a:t>تفاوت آن‌ها به شرح زیر است:</a:t>
            </a:r>
          </a:p>
          <a:p>
            <a:pPr algn="r" rtl="1">
              <a:buFont typeface="Arial" panose="020B0604020202020204" pitchFamily="34" charset="0"/>
              <a:buChar char="•"/>
            </a:pPr>
            <a:r>
              <a:rPr lang="fa-IR" sz="2800" b="1" dirty="0"/>
              <a:t>صفحه (</a:t>
            </a:r>
            <a:r>
              <a:rPr lang="en-US" sz="2800" b="1" dirty="0"/>
              <a:t>Page):</a:t>
            </a:r>
            <a:br>
              <a:rPr lang="en-US" sz="2800" dirty="0"/>
            </a:br>
            <a:r>
              <a:rPr lang="fa-IR" sz="2800" dirty="0"/>
              <a:t>صفحه یک واحد منطقی و مجازی از حافظه است که برنامه یا فرآیند به آن تقسیم می‌شود. یعنی حافظه مجازی برنامه به قسمت‌های کوچکتری به نام صفحه تقسیم می‌شود تا بهتر مدیریت شود.</a:t>
            </a:r>
          </a:p>
          <a:p>
            <a:pPr algn="r" rtl="1">
              <a:buFont typeface="Arial" panose="020B0604020202020204" pitchFamily="34" charset="0"/>
              <a:buChar char="•"/>
            </a:pPr>
            <a:r>
              <a:rPr lang="fa-IR" sz="2800" b="1" dirty="0"/>
              <a:t>فریم (</a:t>
            </a:r>
            <a:r>
              <a:rPr lang="en-US" sz="2800" b="1" dirty="0"/>
              <a:t>Frame):</a:t>
            </a:r>
            <a:br>
              <a:rPr lang="en-US" sz="2800" dirty="0"/>
            </a:br>
            <a:r>
              <a:rPr lang="fa-IR" sz="2800" dirty="0"/>
              <a:t>فریم یک واحد فیزیکی از حافظه اصلی (</a:t>
            </a:r>
            <a:r>
              <a:rPr lang="en-US" sz="2800" dirty="0"/>
              <a:t>RAM) </a:t>
            </a:r>
            <a:r>
              <a:rPr lang="fa-IR" sz="2800" dirty="0"/>
              <a:t>است که اندازه‌ای برابر با صفحه دارد. حافظه فیزیکی به قطعاتی به اندازه صفحات مجازی تقسیم می‌شود که به آن‌ها فریم گفته می‌شود.</a:t>
            </a:r>
          </a:p>
          <a:p>
            <a:pPr algn="r" rtl="1">
              <a:buNone/>
            </a:pPr>
            <a:r>
              <a:rPr lang="fa-IR" sz="2800" b="1" dirty="0"/>
              <a:t>خلاصه تفاوت:</a:t>
            </a:r>
            <a:endParaRPr lang="fa-IR" sz="2800" dirty="0"/>
          </a:p>
          <a:p>
            <a:pPr algn="r" rtl="1">
              <a:buFont typeface="Arial" panose="020B0604020202020204" pitchFamily="34" charset="0"/>
              <a:buChar char="•"/>
            </a:pPr>
            <a:r>
              <a:rPr lang="fa-IR" sz="2800" dirty="0"/>
              <a:t>صفحه مربوط به حافظه </a:t>
            </a:r>
            <a:r>
              <a:rPr lang="fa-IR" sz="2800" b="1" dirty="0"/>
              <a:t>مجازی</a:t>
            </a:r>
            <a:r>
              <a:rPr lang="fa-IR" sz="2800" dirty="0"/>
              <a:t> (منطقی) است که توسط سیستم عامل و برنامه‌ها دیده می‌شود.</a:t>
            </a:r>
          </a:p>
          <a:p>
            <a:pPr algn="r" rtl="1">
              <a:buFont typeface="Arial" panose="020B0604020202020204" pitchFamily="34" charset="0"/>
              <a:buChar char="•"/>
            </a:pPr>
            <a:r>
              <a:rPr lang="fa-IR" sz="2800" dirty="0"/>
              <a:t>فریم مربوط به حافظه </a:t>
            </a:r>
            <a:r>
              <a:rPr lang="fa-IR" sz="2800" b="1" dirty="0"/>
              <a:t>فیزیکی</a:t>
            </a:r>
            <a:r>
              <a:rPr lang="fa-IR" sz="2800" dirty="0"/>
              <a:t> است که در </a:t>
            </a:r>
            <a:r>
              <a:rPr lang="en-US" sz="2800" dirty="0"/>
              <a:t>RAM </a:t>
            </a:r>
            <a:r>
              <a:rPr lang="fa-IR" sz="2800" dirty="0"/>
              <a:t>واقعاً وجود دارد.</a:t>
            </a:r>
          </a:p>
        </p:txBody>
      </p:sp>
    </p:spTree>
    <p:extLst>
      <p:ext uri="{BB962C8B-B14F-4D97-AF65-F5344CB8AC3E}">
        <p14:creationId xmlns:p14="http://schemas.microsoft.com/office/powerpoint/2010/main" val="38307584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1F8059EB-C1F4-41C7-8BDD-788F7EBF2E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1913BD3-2B56-45D2-9EE3-2D6BA22F452A}" type="slidenum">
              <a:rPr lang="en-US" altLang="en-US">
                <a:latin typeface="Helvetica" panose="020B0604020202020204" pitchFamily="34" charset="0"/>
              </a:rPr>
              <a:pPr/>
              <a:t>41</a:t>
            </a:fld>
            <a:endParaRPr lang="en-US" altLang="en-US">
              <a:latin typeface="Helvetica" panose="020B0604020202020204" pitchFamily="34" charset="0"/>
            </a:endParaRPr>
          </a:p>
        </p:txBody>
      </p:sp>
      <p:sp>
        <p:nvSpPr>
          <p:cNvPr id="97283" name="Rectangle 2">
            <a:extLst>
              <a:ext uri="{FF2B5EF4-FFF2-40B4-BE49-F238E27FC236}">
                <a16:creationId xmlns:a16="http://schemas.microsoft.com/office/drawing/2014/main" id="{858E480D-A895-4DA3-BB9A-E02ED49B55EF}"/>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B96BF19E-94FF-4012-BDC7-437E159A15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AD03251D-B2B5-4661-A4DC-47F059246C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8E53CD-0E68-44EA-8FA1-CA1DA7ACA031}" type="slidenum">
              <a:rPr lang="en-US" altLang="en-US">
                <a:latin typeface="Helvetica" panose="020B0604020202020204" pitchFamily="34" charset="0"/>
              </a:rPr>
              <a:pPr/>
              <a:t>42</a:t>
            </a:fld>
            <a:endParaRPr lang="en-US" altLang="en-US">
              <a:latin typeface="Helvetica" panose="020B0604020202020204" pitchFamily="34" charset="0"/>
            </a:endParaRPr>
          </a:p>
        </p:txBody>
      </p:sp>
      <p:sp>
        <p:nvSpPr>
          <p:cNvPr id="98307" name="Rectangle 2">
            <a:extLst>
              <a:ext uri="{FF2B5EF4-FFF2-40B4-BE49-F238E27FC236}">
                <a16:creationId xmlns:a16="http://schemas.microsoft.com/office/drawing/2014/main" id="{E816B22A-223C-46BB-B5D9-3EF020289AB4}"/>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40F016C1-8C0F-4D11-B19D-1B0E182EEF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8408D356-8C72-4527-8A9E-B805AC7855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44299F4-DE32-472A-828E-99AC97F85AD6}" type="slidenum">
              <a:rPr lang="en-US" altLang="en-US">
                <a:latin typeface="Helvetica" panose="020B0604020202020204" pitchFamily="34" charset="0"/>
              </a:rPr>
              <a:pPr/>
              <a:t>43</a:t>
            </a:fld>
            <a:endParaRPr lang="en-US" altLang="en-US">
              <a:latin typeface="Helvetica" panose="020B0604020202020204" pitchFamily="34" charset="0"/>
            </a:endParaRPr>
          </a:p>
        </p:txBody>
      </p:sp>
      <p:sp>
        <p:nvSpPr>
          <p:cNvPr id="99331" name="Rectangle 2">
            <a:extLst>
              <a:ext uri="{FF2B5EF4-FFF2-40B4-BE49-F238E27FC236}">
                <a16:creationId xmlns:a16="http://schemas.microsoft.com/office/drawing/2014/main" id="{22E28FCD-1056-4D3D-9ACD-83965BCF1896}"/>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C10C43C3-A73A-42A6-A35F-C138D4AF4D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63E5A769-B41F-409B-96F7-18D03BDE4B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4B1DCA8-7D2E-45C2-A17E-B777FE8BF056}" type="slidenum">
              <a:rPr lang="en-US" altLang="en-US">
                <a:latin typeface="Helvetica" panose="020B0604020202020204" pitchFamily="34" charset="0"/>
              </a:rPr>
              <a:pPr/>
              <a:t>44</a:t>
            </a:fld>
            <a:endParaRPr lang="en-US" altLang="en-US">
              <a:latin typeface="Helvetica" panose="020B0604020202020204" pitchFamily="34" charset="0"/>
            </a:endParaRPr>
          </a:p>
        </p:txBody>
      </p:sp>
      <p:sp>
        <p:nvSpPr>
          <p:cNvPr id="100355" name="Rectangle 2">
            <a:extLst>
              <a:ext uri="{FF2B5EF4-FFF2-40B4-BE49-F238E27FC236}">
                <a16:creationId xmlns:a16="http://schemas.microsoft.com/office/drawing/2014/main" id="{8F55E19D-E8B3-4452-A038-9BCF911F5FE8}"/>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6D1C4F68-5A97-427E-AB9C-31AA19BCF8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A160A673-73B6-4D0B-AE41-7400795590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99055B3-7CA8-468D-80A4-EFD1891BDB98}" type="slidenum">
              <a:rPr lang="en-US" altLang="en-US">
                <a:latin typeface="Helvetica" panose="020B0604020202020204" pitchFamily="34" charset="0"/>
              </a:rPr>
              <a:pPr/>
              <a:t>45</a:t>
            </a:fld>
            <a:endParaRPr lang="en-US" altLang="en-US">
              <a:latin typeface="Helvetica" panose="020B0604020202020204" pitchFamily="34" charset="0"/>
            </a:endParaRPr>
          </a:p>
        </p:txBody>
      </p:sp>
      <p:sp>
        <p:nvSpPr>
          <p:cNvPr id="101379" name="Rectangle 2">
            <a:extLst>
              <a:ext uri="{FF2B5EF4-FFF2-40B4-BE49-F238E27FC236}">
                <a16:creationId xmlns:a16="http://schemas.microsoft.com/office/drawing/2014/main" id="{BEA9070E-1FCE-4DD4-AEED-61B1DD5C8B0C}"/>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BF3319BC-D57C-4115-A220-CA1578D217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C3F4BD51-7370-4471-9455-9FAA962FEC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BD35ECC-3C35-45A9-90FF-173B28872470}" type="slidenum">
              <a:rPr lang="en-US" altLang="en-US">
                <a:latin typeface="Helvetica" panose="020B0604020202020204" pitchFamily="34" charset="0"/>
              </a:rPr>
              <a:pPr/>
              <a:t>46</a:t>
            </a:fld>
            <a:endParaRPr lang="en-US" altLang="en-US">
              <a:latin typeface="Helvetica" panose="020B0604020202020204" pitchFamily="34" charset="0"/>
            </a:endParaRPr>
          </a:p>
        </p:txBody>
      </p:sp>
      <p:sp>
        <p:nvSpPr>
          <p:cNvPr id="102403" name="Rectangle 2">
            <a:extLst>
              <a:ext uri="{FF2B5EF4-FFF2-40B4-BE49-F238E27FC236}">
                <a16:creationId xmlns:a16="http://schemas.microsoft.com/office/drawing/2014/main" id="{0AB19387-36B0-44FF-A334-CD940F2A753E}"/>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35F188A5-8C67-46D5-8035-90BDFED9F5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C05E2778-289B-4FA5-A492-109BEB5330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7FBAA6-8447-4B86-94DA-8EBECE675900}" type="slidenum">
              <a:rPr lang="en-US" altLang="en-US">
                <a:latin typeface="Helvetica" panose="020B0604020202020204" pitchFamily="34" charset="0"/>
              </a:rPr>
              <a:pPr/>
              <a:t>47</a:t>
            </a:fld>
            <a:endParaRPr lang="en-US" altLang="en-US">
              <a:latin typeface="Helvetica" panose="020B0604020202020204" pitchFamily="34" charset="0"/>
            </a:endParaRPr>
          </a:p>
        </p:txBody>
      </p:sp>
      <p:sp>
        <p:nvSpPr>
          <p:cNvPr id="103427" name="Rectangle 2">
            <a:extLst>
              <a:ext uri="{FF2B5EF4-FFF2-40B4-BE49-F238E27FC236}">
                <a16:creationId xmlns:a16="http://schemas.microsoft.com/office/drawing/2014/main" id="{79229461-A223-439E-9F67-F96DEE523FEF}"/>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1408816B-F76B-4AC2-A2E1-9FCADC0E3E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CC0926BF-5F58-45F3-886B-2FC15B7FF7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D489229-DE4E-445F-987B-9FB85B6EB635}" type="slidenum">
              <a:rPr lang="en-US" altLang="en-US">
                <a:latin typeface="Helvetica" panose="020B0604020202020204" pitchFamily="34" charset="0"/>
              </a:rPr>
              <a:pPr/>
              <a:t>48</a:t>
            </a:fld>
            <a:endParaRPr lang="en-US" altLang="en-US">
              <a:latin typeface="Helvetica" panose="020B0604020202020204" pitchFamily="34" charset="0"/>
            </a:endParaRPr>
          </a:p>
        </p:txBody>
      </p:sp>
      <p:sp>
        <p:nvSpPr>
          <p:cNvPr id="104451" name="Rectangle 2">
            <a:extLst>
              <a:ext uri="{FF2B5EF4-FFF2-40B4-BE49-F238E27FC236}">
                <a16:creationId xmlns:a16="http://schemas.microsoft.com/office/drawing/2014/main" id="{77D4AAE1-3D09-4155-A61A-3F1F36C42C7A}"/>
              </a:ext>
            </a:extLst>
          </p:cNvPr>
          <p:cNvSpPr>
            <a:spLocks noGrp="1" noRot="1" noChangeAspect="1" noChangeArrowheads="1" noTextEdit="1"/>
          </p:cNvSpPr>
          <p:nvPr>
            <p:ph type="sldImg"/>
          </p:nvPr>
        </p:nvSpPr>
        <p:spPr>
          <a:ln/>
        </p:spPr>
      </p:sp>
      <p:sp>
        <p:nvSpPr>
          <p:cNvPr id="104452" name="Rectangle 3">
            <a:extLst>
              <a:ext uri="{FF2B5EF4-FFF2-40B4-BE49-F238E27FC236}">
                <a16:creationId xmlns:a16="http://schemas.microsoft.com/office/drawing/2014/main" id="{86A985B6-3037-4C54-BA8E-73201FFC52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E95F55ED-CF22-47BB-A4F1-B460B1D8B5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93E603D-49B1-4296-AFD2-423EB8C53B4D}" type="slidenum">
              <a:rPr lang="en-US" altLang="en-US">
                <a:latin typeface="Helvetica" panose="020B0604020202020204" pitchFamily="34" charset="0"/>
              </a:rPr>
              <a:pPr/>
              <a:t>49</a:t>
            </a:fld>
            <a:endParaRPr lang="en-US" altLang="en-US">
              <a:latin typeface="Helvetica" panose="020B0604020202020204" pitchFamily="34" charset="0"/>
            </a:endParaRPr>
          </a:p>
        </p:txBody>
      </p:sp>
      <p:sp>
        <p:nvSpPr>
          <p:cNvPr id="105475" name="Rectangle 2">
            <a:extLst>
              <a:ext uri="{FF2B5EF4-FFF2-40B4-BE49-F238E27FC236}">
                <a16:creationId xmlns:a16="http://schemas.microsoft.com/office/drawing/2014/main" id="{9BC7AB09-93B9-4BA4-877E-3CCE3D14DAA5}"/>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4F8C03A3-1A3A-401F-BD0A-A1C0DA492D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12E9F2BA-6286-4675-A574-E6B57F2B8F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9A63ADF-0873-41FA-9C34-062DC213BF4E}" type="slidenum">
              <a:rPr lang="en-US" altLang="en-US">
                <a:latin typeface="Helvetica" panose="020B0604020202020204" pitchFamily="34" charset="0"/>
              </a:rPr>
              <a:pPr/>
              <a:t>50</a:t>
            </a:fld>
            <a:endParaRPr lang="en-US" altLang="en-US">
              <a:latin typeface="Helvetica" panose="020B0604020202020204" pitchFamily="34" charset="0"/>
            </a:endParaRPr>
          </a:p>
        </p:txBody>
      </p:sp>
      <p:sp>
        <p:nvSpPr>
          <p:cNvPr id="106499" name="Rectangle 2">
            <a:extLst>
              <a:ext uri="{FF2B5EF4-FFF2-40B4-BE49-F238E27FC236}">
                <a16:creationId xmlns:a16="http://schemas.microsoft.com/office/drawing/2014/main" id="{CB25B9E3-8879-4B53-9B9A-FE00C8F84C32}"/>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F12CBF22-8D18-428E-9818-515DCCEEC8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6044D9D1-4022-4B17-AC3A-FC63E3105A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553468A-38EB-46C6-BF85-948BB8C046E0}" type="slidenum">
              <a:rPr lang="en-US" altLang="en-US">
                <a:latin typeface="Helvetica" panose="020B0604020202020204" pitchFamily="34" charset="0"/>
              </a:rPr>
              <a:pPr/>
              <a:t>51</a:t>
            </a:fld>
            <a:endParaRPr lang="en-US" altLang="en-US">
              <a:latin typeface="Helvetica" panose="020B0604020202020204" pitchFamily="34" charset="0"/>
            </a:endParaRPr>
          </a:p>
        </p:txBody>
      </p:sp>
      <p:sp>
        <p:nvSpPr>
          <p:cNvPr id="107523" name="Rectangle 2">
            <a:extLst>
              <a:ext uri="{FF2B5EF4-FFF2-40B4-BE49-F238E27FC236}">
                <a16:creationId xmlns:a16="http://schemas.microsoft.com/office/drawing/2014/main" id="{34DA4BF8-CC55-4E4C-B1AE-1BCAB50DA71A}"/>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02ECD0A4-9571-447C-BBD7-4957F74449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CA676750-B4D3-4F18-AA52-519F9E7691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EE3CDB-421C-4E33-8E8E-873AD4598F3E}" type="slidenum">
              <a:rPr lang="en-US" altLang="en-US">
                <a:latin typeface="Helvetica" panose="020B0604020202020204" pitchFamily="34" charset="0"/>
              </a:rPr>
              <a:pPr/>
              <a:t>52</a:t>
            </a:fld>
            <a:endParaRPr lang="en-US" altLang="en-US">
              <a:latin typeface="Helvetica" panose="020B0604020202020204" pitchFamily="34" charset="0"/>
            </a:endParaRPr>
          </a:p>
        </p:txBody>
      </p:sp>
      <p:sp>
        <p:nvSpPr>
          <p:cNvPr id="108547" name="Rectangle 2">
            <a:extLst>
              <a:ext uri="{FF2B5EF4-FFF2-40B4-BE49-F238E27FC236}">
                <a16:creationId xmlns:a16="http://schemas.microsoft.com/office/drawing/2014/main" id="{B9B86B8A-9592-4F2B-88CC-5725A5D37209}"/>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A6A5A5C3-6C82-4C1B-950D-A1B6687A43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7C44AEC8-02CE-442B-AD2A-963292252F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C4EA03B-198F-4011-9BDC-983A5F1750D4}" type="slidenum">
              <a:rPr lang="en-US" altLang="en-US">
                <a:latin typeface="Helvetica" panose="020B0604020202020204" pitchFamily="34" charset="0"/>
              </a:rPr>
              <a:pPr/>
              <a:t>53</a:t>
            </a:fld>
            <a:endParaRPr lang="en-US" altLang="en-US">
              <a:latin typeface="Helvetica" panose="020B0604020202020204" pitchFamily="34" charset="0"/>
            </a:endParaRPr>
          </a:p>
        </p:txBody>
      </p:sp>
      <p:sp>
        <p:nvSpPr>
          <p:cNvPr id="109571" name="Rectangle 2">
            <a:extLst>
              <a:ext uri="{FF2B5EF4-FFF2-40B4-BE49-F238E27FC236}">
                <a16:creationId xmlns:a16="http://schemas.microsoft.com/office/drawing/2014/main" id="{5B237BFB-5094-48A6-8D1D-812AB43C8FC9}"/>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CDCBE579-7F53-441F-BC12-B153F1DDD5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AEEB3116-0A89-4DB2-9F89-0978685564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73D6632-CA5F-4B56-8AD9-AB8805051578}" type="slidenum">
              <a:rPr lang="en-US" altLang="en-US">
                <a:latin typeface="Helvetica" panose="020B0604020202020204" pitchFamily="34" charset="0"/>
              </a:rPr>
              <a:pPr/>
              <a:t>55</a:t>
            </a:fld>
            <a:endParaRPr lang="en-US" altLang="en-US">
              <a:latin typeface="Helvetica" panose="020B0604020202020204" pitchFamily="34" charset="0"/>
            </a:endParaRPr>
          </a:p>
        </p:txBody>
      </p:sp>
      <p:sp>
        <p:nvSpPr>
          <p:cNvPr id="110595" name="Rectangle 2">
            <a:extLst>
              <a:ext uri="{FF2B5EF4-FFF2-40B4-BE49-F238E27FC236}">
                <a16:creationId xmlns:a16="http://schemas.microsoft.com/office/drawing/2014/main" id="{1A4D3144-9169-4202-8CFC-05EBC6596884}"/>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F45851CC-2986-4769-9EDF-BD13E088F1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E9FDADC0-F5DF-4D1F-B8F6-B07400DF01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A4E3610-9E09-4C5F-B265-434A74CEF86E}" type="slidenum">
              <a:rPr lang="en-US" altLang="en-US">
                <a:latin typeface="Helvetica" panose="020B0604020202020204" pitchFamily="34" charset="0"/>
              </a:rPr>
              <a:pPr/>
              <a:t>56</a:t>
            </a:fld>
            <a:endParaRPr lang="en-US" altLang="en-US">
              <a:latin typeface="Helvetica" panose="020B0604020202020204" pitchFamily="34" charset="0"/>
            </a:endParaRPr>
          </a:p>
        </p:txBody>
      </p:sp>
      <p:sp>
        <p:nvSpPr>
          <p:cNvPr id="111619" name="Rectangle 2">
            <a:extLst>
              <a:ext uri="{FF2B5EF4-FFF2-40B4-BE49-F238E27FC236}">
                <a16:creationId xmlns:a16="http://schemas.microsoft.com/office/drawing/2014/main" id="{D4BE53D0-AA2F-4499-8CF1-022EEB9C5824}"/>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1B8BC2EB-E345-4207-8D96-428E55C5D2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D38E2BCC-6763-4F93-9A27-415FB4345D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9B9FD1-100D-4C2E-9427-0CDF0A2FB98D}" type="slidenum">
              <a:rPr lang="en-US" altLang="en-US">
                <a:latin typeface="Helvetica" panose="020B0604020202020204" pitchFamily="34" charset="0"/>
              </a:rPr>
              <a:pPr/>
              <a:t>57</a:t>
            </a:fld>
            <a:endParaRPr lang="en-US" altLang="en-US">
              <a:latin typeface="Helvetica" panose="020B0604020202020204" pitchFamily="34" charset="0"/>
            </a:endParaRPr>
          </a:p>
        </p:txBody>
      </p:sp>
      <p:sp>
        <p:nvSpPr>
          <p:cNvPr id="112643" name="Rectangle 2">
            <a:extLst>
              <a:ext uri="{FF2B5EF4-FFF2-40B4-BE49-F238E27FC236}">
                <a16:creationId xmlns:a16="http://schemas.microsoft.com/office/drawing/2014/main" id="{4627EDFF-B8C3-4BDD-9F08-8EF15D1B487E}"/>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727F1191-666F-4ECF-896F-F12B93A3AA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395AA5DD-A159-4BC8-B0B4-62C228F8A8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A29CC0-F102-4AA1-A9A2-5E8696EDCEA1}" type="slidenum">
              <a:rPr lang="en-US" altLang="en-US">
                <a:latin typeface="Helvetica" panose="020B0604020202020204" pitchFamily="34" charset="0"/>
              </a:rPr>
              <a:pPr/>
              <a:t>58</a:t>
            </a:fld>
            <a:endParaRPr lang="en-US" altLang="en-US">
              <a:latin typeface="Helvetica" panose="020B0604020202020204" pitchFamily="34" charset="0"/>
            </a:endParaRPr>
          </a:p>
        </p:txBody>
      </p:sp>
      <p:sp>
        <p:nvSpPr>
          <p:cNvPr id="113667" name="Rectangle 2">
            <a:extLst>
              <a:ext uri="{FF2B5EF4-FFF2-40B4-BE49-F238E27FC236}">
                <a16:creationId xmlns:a16="http://schemas.microsoft.com/office/drawing/2014/main" id="{72118A2F-2588-4308-98F3-4C540E01943B}"/>
              </a:ext>
            </a:extLst>
          </p:cNvPr>
          <p:cNvSpPr>
            <a:spLocks noGrp="1" noRot="1" noChangeAspect="1" noChangeArrowheads="1" noTextEdit="1"/>
          </p:cNvSpPr>
          <p:nvPr>
            <p:ph type="sldImg"/>
          </p:nvPr>
        </p:nvSpPr>
        <p:spPr>
          <a:ln/>
        </p:spPr>
      </p:sp>
      <p:sp>
        <p:nvSpPr>
          <p:cNvPr id="113668" name="Rectangle 3">
            <a:extLst>
              <a:ext uri="{FF2B5EF4-FFF2-40B4-BE49-F238E27FC236}">
                <a16:creationId xmlns:a16="http://schemas.microsoft.com/office/drawing/2014/main" id="{D0D00539-4C19-4343-8F60-D0ECE1BCE7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2869BB6A-A424-4A9F-8F08-9E5CED4A36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AD26438-1D7C-4B65-BD22-47AB5585AE9F}" type="slidenum">
              <a:rPr lang="en-US" altLang="en-US">
                <a:latin typeface="Helvetica" panose="020B0604020202020204" pitchFamily="34" charset="0"/>
              </a:rPr>
              <a:pPr/>
              <a:t>59</a:t>
            </a:fld>
            <a:endParaRPr lang="en-US" altLang="en-US">
              <a:latin typeface="Helvetica" panose="020B0604020202020204" pitchFamily="34" charset="0"/>
            </a:endParaRPr>
          </a:p>
        </p:txBody>
      </p:sp>
      <p:sp>
        <p:nvSpPr>
          <p:cNvPr id="114691" name="Rectangle 2">
            <a:extLst>
              <a:ext uri="{FF2B5EF4-FFF2-40B4-BE49-F238E27FC236}">
                <a16:creationId xmlns:a16="http://schemas.microsoft.com/office/drawing/2014/main" id="{7C562C5D-B6F1-410C-9C15-862B61F47EFB}"/>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CCCFBF8B-BAA5-4791-B56F-89AE8DECAA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D0DE149E-B4E9-447D-A96F-52CED7627D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6C1A27-5E0E-4519-B47D-CE7061E41505}" type="slidenum">
              <a:rPr lang="en-US" altLang="en-US">
                <a:latin typeface="Helvetica" panose="020B0604020202020204" pitchFamily="34" charset="0"/>
              </a:rPr>
              <a:pPr/>
              <a:t>60</a:t>
            </a:fld>
            <a:endParaRPr lang="en-US" altLang="en-US">
              <a:latin typeface="Helvetica" panose="020B0604020202020204" pitchFamily="34" charset="0"/>
            </a:endParaRPr>
          </a:p>
        </p:txBody>
      </p:sp>
      <p:sp>
        <p:nvSpPr>
          <p:cNvPr id="115715" name="Rectangle 2">
            <a:extLst>
              <a:ext uri="{FF2B5EF4-FFF2-40B4-BE49-F238E27FC236}">
                <a16:creationId xmlns:a16="http://schemas.microsoft.com/office/drawing/2014/main" id="{7FFAF1B4-28CB-4198-8533-8A8CD9404647}"/>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0C7A78A9-8BCC-4FDB-8409-FB8A22AB78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C0D01FE7-E886-40E8-92FA-8D1E3FB675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E6D4CE-7E51-45F9-9D38-C961FBDFB35D}" type="slidenum">
              <a:rPr lang="en-US" altLang="en-US">
                <a:latin typeface="Helvetica" panose="020B0604020202020204" pitchFamily="34" charset="0"/>
              </a:rPr>
              <a:pPr/>
              <a:t>61</a:t>
            </a:fld>
            <a:endParaRPr lang="en-US" altLang="en-US">
              <a:latin typeface="Helvetica" panose="020B0604020202020204" pitchFamily="34" charset="0"/>
            </a:endParaRPr>
          </a:p>
        </p:txBody>
      </p:sp>
      <p:sp>
        <p:nvSpPr>
          <p:cNvPr id="116739" name="Rectangle 2">
            <a:extLst>
              <a:ext uri="{FF2B5EF4-FFF2-40B4-BE49-F238E27FC236}">
                <a16:creationId xmlns:a16="http://schemas.microsoft.com/office/drawing/2014/main" id="{FFE513B4-8EB5-4368-ADC7-E41FF4071A82}"/>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D2238889-0C7B-45C6-998F-D0BFA15F75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4C6EACAF-E6EA-457D-8641-E32A9D95C0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3CEC8C6-E810-4484-A297-26A2437CEBA7}" type="slidenum">
              <a:rPr lang="en-US" altLang="en-US">
                <a:latin typeface="Helvetica" panose="020B0604020202020204" pitchFamily="34" charset="0"/>
              </a:rPr>
              <a:pPr/>
              <a:t>62</a:t>
            </a:fld>
            <a:endParaRPr lang="en-US" altLang="en-US">
              <a:latin typeface="Helvetica" panose="020B0604020202020204" pitchFamily="34" charset="0"/>
            </a:endParaRPr>
          </a:p>
        </p:txBody>
      </p:sp>
      <p:sp>
        <p:nvSpPr>
          <p:cNvPr id="117763" name="Rectangle 2">
            <a:extLst>
              <a:ext uri="{FF2B5EF4-FFF2-40B4-BE49-F238E27FC236}">
                <a16:creationId xmlns:a16="http://schemas.microsoft.com/office/drawing/2014/main" id="{F41D4B89-0756-4DD7-8336-2BFB3BDAC204}"/>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508A804A-2118-4ED2-BE3C-0C1214B971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8E9A843E-1C4B-4C88-B075-0559BA69AA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38E3A2B-1C0B-471A-A4D6-4233FF161C8C}" type="slidenum">
              <a:rPr lang="en-US" altLang="en-US">
                <a:latin typeface="Helvetica" panose="020B0604020202020204" pitchFamily="34" charset="0"/>
              </a:rPr>
              <a:pPr/>
              <a:t>63</a:t>
            </a:fld>
            <a:endParaRPr lang="en-US" altLang="en-US">
              <a:latin typeface="Helvetica" panose="020B0604020202020204" pitchFamily="34" charset="0"/>
            </a:endParaRPr>
          </a:p>
        </p:txBody>
      </p:sp>
      <p:sp>
        <p:nvSpPr>
          <p:cNvPr id="118787" name="Rectangle 2">
            <a:extLst>
              <a:ext uri="{FF2B5EF4-FFF2-40B4-BE49-F238E27FC236}">
                <a16:creationId xmlns:a16="http://schemas.microsoft.com/office/drawing/2014/main" id="{008F5292-EF3C-4544-82EA-378A615937FB}"/>
              </a:ext>
            </a:extLst>
          </p:cNvPr>
          <p:cNvSpPr>
            <a:spLocks noGrp="1" noRot="1" noChangeAspect="1" noChangeArrowheads="1" noTextEdit="1"/>
          </p:cNvSpPr>
          <p:nvPr>
            <p:ph type="sldImg"/>
          </p:nvPr>
        </p:nvSpPr>
        <p:spPr>
          <a:ln/>
        </p:spPr>
      </p:sp>
      <p:sp>
        <p:nvSpPr>
          <p:cNvPr id="118788" name="Rectangle 3">
            <a:extLst>
              <a:ext uri="{FF2B5EF4-FFF2-40B4-BE49-F238E27FC236}">
                <a16:creationId xmlns:a16="http://schemas.microsoft.com/office/drawing/2014/main" id="{1F80D565-56DF-403E-B659-3C94647E27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E5E56C28-C60C-4E30-B37A-C45B0ABB01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5C7750-47E1-458A-9989-9BA8D4448C94}" type="slidenum">
              <a:rPr lang="en-US" altLang="en-US">
                <a:latin typeface="Helvetica" panose="020B0604020202020204" pitchFamily="34" charset="0"/>
              </a:rPr>
              <a:pPr/>
              <a:t>64</a:t>
            </a:fld>
            <a:endParaRPr lang="en-US" altLang="en-US">
              <a:latin typeface="Helvetica" panose="020B0604020202020204" pitchFamily="34" charset="0"/>
            </a:endParaRPr>
          </a:p>
        </p:txBody>
      </p:sp>
      <p:sp>
        <p:nvSpPr>
          <p:cNvPr id="119811" name="Rectangle 2">
            <a:extLst>
              <a:ext uri="{FF2B5EF4-FFF2-40B4-BE49-F238E27FC236}">
                <a16:creationId xmlns:a16="http://schemas.microsoft.com/office/drawing/2014/main" id="{316BCF08-E5F3-4982-863F-E15695200732}"/>
              </a:ext>
            </a:extLst>
          </p:cNvPr>
          <p:cNvSpPr>
            <a:spLocks noGrp="1" noRot="1" noChangeAspect="1" noChangeArrowheads="1" noTextEdit="1"/>
          </p:cNvSpPr>
          <p:nvPr>
            <p:ph type="sldImg"/>
          </p:nvPr>
        </p:nvSpPr>
        <p:spPr>
          <a:ln/>
        </p:spPr>
      </p:sp>
      <p:sp>
        <p:nvSpPr>
          <p:cNvPr id="119812" name="Rectangle 3">
            <a:extLst>
              <a:ext uri="{FF2B5EF4-FFF2-40B4-BE49-F238E27FC236}">
                <a16:creationId xmlns:a16="http://schemas.microsoft.com/office/drawing/2014/main" id="{246B23B8-CBD0-4DC0-A03E-62ED08FCA8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D3347AF9-CA54-42AC-9FA2-E17F9D18B9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0C2A26-FBF5-46FA-899B-D75458F32531}" type="slidenum">
              <a:rPr lang="en-US" altLang="en-US">
                <a:latin typeface="Helvetica" panose="020B0604020202020204" pitchFamily="34" charset="0"/>
              </a:rPr>
              <a:pPr/>
              <a:t>68</a:t>
            </a:fld>
            <a:endParaRPr lang="en-US" altLang="en-US">
              <a:latin typeface="Helvetica" panose="020B0604020202020204" pitchFamily="34" charset="0"/>
            </a:endParaRPr>
          </a:p>
        </p:txBody>
      </p:sp>
      <p:sp>
        <p:nvSpPr>
          <p:cNvPr id="120835" name="Rectangle 2">
            <a:extLst>
              <a:ext uri="{FF2B5EF4-FFF2-40B4-BE49-F238E27FC236}">
                <a16:creationId xmlns:a16="http://schemas.microsoft.com/office/drawing/2014/main" id="{62558D90-8CA8-4F16-A6C4-3F37608C4506}"/>
              </a:ext>
            </a:extLst>
          </p:cNvPr>
          <p:cNvSpPr>
            <a:spLocks noGrp="1" noRot="1" noChangeAspect="1" noChangeArrowheads="1" noTextEdit="1"/>
          </p:cNvSpPr>
          <p:nvPr>
            <p:ph type="sldImg"/>
          </p:nvPr>
        </p:nvSpPr>
        <p:spPr>
          <a:ln/>
        </p:spPr>
      </p:sp>
      <p:sp>
        <p:nvSpPr>
          <p:cNvPr id="120836" name="Rectangle 3">
            <a:extLst>
              <a:ext uri="{FF2B5EF4-FFF2-40B4-BE49-F238E27FC236}">
                <a16:creationId xmlns:a16="http://schemas.microsoft.com/office/drawing/2014/main" id="{87E4D024-6FA4-4D6B-903C-7C347FA170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12713C8E-F06D-48F7-9A44-14B868B44E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AEE641A-9D92-4373-A5E0-4C11D51957E7}" type="slidenum">
              <a:rPr lang="en-US" altLang="en-US">
                <a:latin typeface="Helvetica" panose="020B0604020202020204" pitchFamily="34" charset="0"/>
              </a:rPr>
              <a:pPr/>
              <a:t>69</a:t>
            </a:fld>
            <a:endParaRPr lang="en-US" altLang="en-US">
              <a:latin typeface="Helvetica" panose="020B0604020202020204" pitchFamily="34" charset="0"/>
            </a:endParaRPr>
          </a:p>
        </p:txBody>
      </p:sp>
      <p:sp>
        <p:nvSpPr>
          <p:cNvPr id="121859" name="Rectangle 2">
            <a:extLst>
              <a:ext uri="{FF2B5EF4-FFF2-40B4-BE49-F238E27FC236}">
                <a16:creationId xmlns:a16="http://schemas.microsoft.com/office/drawing/2014/main" id="{4E7ACE6D-059D-483A-A103-CE92675F2B3F}"/>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9E07AD1A-894F-44C2-B8F0-559D0E99B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9A2A9F0C-8B1F-4324-A783-5596BAC59F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5959CA7-2AF4-41B1-8F12-DE232B007B07}" type="slidenum">
              <a:rPr lang="en-US" altLang="en-US">
                <a:latin typeface="Helvetica" panose="020B0604020202020204" pitchFamily="34" charset="0"/>
              </a:rPr>
              <a:pPr/>
              <a:t>70</a:t>
            </a:fld>
            <a:endParaRPr lang="en-US" altLang="en-US">
              <a:latin typeface="Helvetica" panose="020B0604020202020204" pitchFamily="34" charset="0"/>
            </a:endParaRPr>
          </a:p>
        </p:txBody>
      </p:sp>
      <p:sp>
        <p:nvSpPr>
          <p:cNvPr id="122883" name="Rectangle 2">
            <a:extLst>
              <a:ext uri="{FF2B5EF4-FFF2-40B4-BE49-F238E27FC236}">
                <a16:creationId xmlns:a16="http://schemas.microsoft.com/office/drawing/2014/main" id="{A495CF2E-10C4-49A6-B353-620534988C92}"/>
              </a:ext>
            </a:extLst>
          </p:cNvPr>
          <p:cNvSpPr>
            <a:spLocks noGrp="1" noRot="1" noChangeAspect="1" noChangeArrowheads="1" noTextEdit="1"/>
          </p:cNvSpPr>
          <p:nvPr>
            <p:ph type="sldImg"/>
          </p:nvPr>
        </p:nvSpPr>
        <p:spPr>
          <a:ln/>
        </p:spPr>
      </p:sp>
      <p:sp>
        <p:nvSpPr>
          <p:cNvPr id="122884" name="Rectangle 3">
            <a:extLst>
              <a:ext uri="{FF2B5EF4-FFF2-40B4-BE49-F238E27FC236}">
                <a16:creationId xmlns:a16="http://schemas.microsoft.com/office/drawing/2014/main" id="{04D12019-D120-4BCE-9EFE-1883EE02D9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53451A08-37D6-4065-ADF9-DCFC5E7F54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EF6A302-414C-4CF1-ABBB-AF2CB72D9427}" type="slidenum">
              <a:rPr lang="en-US" altLang="en-US">
                <a:latin typeface="Helvetica" panose="020B0604020202020204" pitchFamily="34" charset="0"/>
              </a:rPr>
              <a:pPr/>
              <a:t>71</a:t>
            </a:fld>
            <a:endParaRPr lang="en-US" altLang="en-US">
              <a:latin typeface="Helvetica" panose="020B0604020202020204" pitchFamily="34" charset="0"/>
            </a:endParaRPr>
          </a:p>
        </p:txBody>
      </p:sp>
      <p:sp>
        <p:nvSpPr>
          <p:cNvPr id="123907" name="Rectangle 2">
            <a:extLst>
              <a:ext uri="{FF2B5EF4-FFF2-40B4-BE49-F238E27FC236}">
                <a16:creationId xmlns:a16="http://schemas.microsoft.com/office/drawing/2014/main" id="{D5FEAE45-D480-4553-9BB5-5A0507ABE536}"/>
              </a:ext>
            </a:extLst>
          </p:cNvPr>
          <p:cNvSpPr>
            <a:spLocks noGrp="1" noRot="1" noChangeAspect="1" noChangeArrowheads="1" noTextEdit="1"/>
          </p:cNvSpPr>
          <p:nvPr>
            <p:ph type="sldImg"/>
          </p:nvPr>
        </p:nvSpPr>
        <p:spPr>
          <a:ln/>
        </p:spPr>
      </p:sp>
      <p:sp>
        <p:nvSpPr>
          <p:cNvPr id="123908" name="Rectangle 3">
            <a:extLst>
              <a:ext uri="{FF2B5EF4-FFF2-40B4-BE49-F238E27FC236}">
                <a16:creationId xmlns:a16="http://schemas.microsoft.com/office/drawing/2014/main" id="{7B30AC3E-C36C-4606-A8DA-4C89455DB7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F3964CCA-B0C6-4BC4-9C47-2A0B624ED5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4AC478-933A-4CBB-A14C-170BD7B7A37D}" type="slidenum">
              <a:rPr lang="en-US" altLang="en-US">
                <a:latin typeface="Helvetica" panose="020B0604020202020204" pitchFamily="34" charset="0"/>
              </a:rPr>
              <a:pPr/>
              <a:t>72</a:t>
            </a:fld>
            <a:endParaRPr lang="en-US" altLang="en-US">
              <a:latin typeface="Helvetica" panose="020B0604020202020204" pitchFamily="34" charset="0"/>
            </a:endParaRPr>
          </a:p>
        </p:txBody>
      </p:sp>
      <p:sp>
        <p:nvSpPr>
          <p:cNvPr id="124931" name="Rectangle 2">
            <a:extLst>
              <a:ext uri="{FF2B5EF4-FFF2-40B4-BE49-F238E27FC236}">
                <a16:creationId xmlns:a16="http://schemas.microsoft.com/office/drawing/2014/main" id="{5BA5CE0E-B27A-4856-9DE3-4E3B5F085534}"/>
              </a:ext>
            </a:extLst>
          </p:cNvPr>
          <p:cNvSpPr>
            <a:spLocks noGrp="1" noRot="1" noChangeAspect="1" noChangeArrowheads="1" noTextEdit="1"/>
          </p:cNvSpPr>
          <p:nvPr>
            <p:ph type="sldImg"/>
          </p:nvPr>
        </p:nvSpPr>
        <p:spPr>
          <a:ln/>
        </p:spPr>
      </p:sp>
      <p:sp>
        <p:nvSpPr>
          <p:cNvPr id="124932" name="Rectangle 3">
            <a:extLst>
              <a:ext uri="{FF2B5EF4-FFF2-40B4-BE49-F238E27FC236}">
                <a16:creationId xmlns:a16="http://schemas.microsoft.com/office/drawing/2014/main" id="{F3BEEA9A-3ADC-4256-823F-620A5A5D3E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B7F14923-ACFB-4915-B395-086C762B82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B647AF-E822-4E57-BBE1-148D84FF4D7D}" type="slidenum">
              <a:rPr lang="en-US" altLang="en-US">
                <a:latin typeface="Helvetica" panose="020B0604020202020204" pitchFamily="34" charset="0"/>
              </a:rPr>
              <a:pPr/>
              <a:t>73</a:t>
            </a:fld>
            <a:endParaRPr lang="en-US" altLang="en-US">
              <a:latin typeface="Helvetica" panose="020B0604020202020204" pitchFamily="34" charset="0"/>
            </a:endParaRPr>
          </a:p>
        </p:txBody>
      </p:sp>
      <p:sp>
        <p:nvSpPr>
          <p:cNvPr id="125955" name="Rectangle 2">
            <a:extLst>
              <a:ext uri="{FF2B5EF4-FFF2-40B4-BE49-F238E27FC236}">
                <a16:creationId xmlns:a16="http://schemas.microsoft.com/office/drawing/2014/main" id="{87E30E3B-E975-4CB0-A0C9-8AAF2DFCC0B7}"/>
              </a:ext>
            </a:extLst>
          </p:cNvPr>
          <p:cNvSpPr>
            <a:spLocks noGrp="1" noRot="1" noChangeAspect="1" noChangeArrowheads="1" noTextEdit="1"/>
          </p:cNvSpPr>
          <p:nvPr>
            <p:ph type="sldImg"/>
          </p:nvPr>
        </p:nvSpPr>
        <p:spPr>
          <a:ln/>
        </p:spPr>
      </p:sp>
      <p:sp>
        <p:nvSpPr>
          <p:cNvPr id="125956" name="Rectangle 3">
            <a:extLst>
              <a:ext uri="{FF2B5EF4-FFF2-40B4-BE49-F238E27FC236}">
                <a16:creationId xmlns:a16="http://schemas.microsoft.com/office/drawing/2014/main" id="{5C53E0C4-D20D-4178-B4B6-479C700AF8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C389213D-C1B2-4D5F-A81C-6155094876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CCD4250-8549-41EB-B8CE-11C2FE70C1AD}" type="slidenum">
              <a:rPr lang="en-US" altLang="en-US">
                <a:latin typeface="Helvetica" panose="020B0604020202020204" pitchFamily="34" charset="0"/>
              </a:rPr>
              <a:pPr/>
              <a:t>74</a:t>
            </a:fld>
            <a:endParaRPr lang="en-US" altLang="en-US">
              <a:latin typeface="Helvetica" panose="020B0604020202020204" pitchFamily="34" charset="0"/>
            </a:endParaRPr>
          </a:p>
        </p:txBody>
      </p:sp>
      <p:sp>
        <p:nvSpPr>
          <p:cNvPr id="126979" name="Rectangle 2">
            <a:extLst>
              <a:ext uri="{FF2B5EF4-FFF2-40B4-BE49-F238E27FC236}">
                <a16:creationId xmlns:a16="http://schemas.microsoft.com/office/drawing/2014/main" id="{FE9DAFE2-DC1F-4D1E-B399-6B86FC7E2D2C}"/>
              </a:ext>
            </a:extLst>
          </p:cNvPr>
          <p:cNvSpPr>
            <a:spLocks noGrp="1" noRot="1" noChangeAspect="1" noChangeArrowheads="1" noTextEdit="1"/>
          </p:cNvSpPr>
          <p:nvPr>
            <p:ph type="sldImg"/>
          </p:nvPr>
        </p:nvSpPr>
        <p:spPr>
          <a:ln/>
        </p:spPr>
      </p:sp>
      <p:sp>
        <p:nvSpPr>
          <p:cNvPr id="126980" name="Rectangle 3">
            <a:extLst>
              <a:ext uri="{FF2B5EF4-FFF2-40B4-BE49-F238E27FC236}">
                <a16:creationId xmlns:a16="http://schemas.microsoft.com/office/drawing/2014/main" id="{091DFE67-CF76-4428-8F44-8818B6CA45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ED0B62DC-CB08-44D1-BC03-AEB34D5AEA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663A73F-90DC-456E-8045-F336DF30EDE6}" type="slidenum">
              <a:rPr lang="en-US" altLang="en-US">
                <a:latin typeface="Helvetica" panose="020B0604020202020204" pitchFamily="34" charset="0"/>
              </a:rPr>
              <a:pPr/>
              <a:t>75</a:t>
            </a:fld>
            <a:endParaRPr lang="en-US" altLang="en-US">
              <a:latin typeface="Helvetica" panose="020B0604020202020204" pitchFamily="34" charset="0"/>
            </a:endParaRPr>
          </a:p>
        </p:txBody>
      </p:sp>
      <p:sp>
        <p:nvSpPr>
          <p:cNvPr id="128003" name="Rectangle 2">
            <a:extLst>
              <a:ext uri="{FF2B5EF4-FFF2-40B4-BE49-F238E27FC236}">
                <a16:creationId xmlns:a16="http://schemas.microsoft.com/office/drawing/2014/main" id="{0845853C-5FA1-4025-BED7-C0AB0146FBAD}"/>
              </a:ext>
            </a:extLst>
          </p:cNvPr>
          <p:cNvSpPr>
            <a:spLocks noGrp="1" noRot="1" noChangeAspect="1" noChangeArrowheads="1" noTextEdit="1"/>
          </p:cNvSpPr>
          <p:nvPr>
            <p:ph type="sldImg"/>
          </p:nvPr>
        </p:nvSpPr>
        <p:spPr>
          <a:ln/>
        </p:spPr>
      </p:sp>
      <p:sp>
        <p:nvSpPr>
          <p:cNvPr id="128004" name="Rectangle 3">
            <a:extLst>
              <a:ext uri="{FF2B5EF4-FFF2-40B4-BE49-F238E27FC236}">
                <a16:creationId xmlns:a16="http://schemas.microsoft.com/office/drawing/2014/main" id="{00CAEAE0-BD27-4E21-A6F6-851C82C8742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CA637A56-6863-41EE-AA0A-373A6CE79C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B5DB225-437D-47A1-AC86-C348FBB6B5C2}" type="slidenum">
              <a:rPr lang="en-US" altLang="en-US">
                <a:latin typeface="Helvetica" panose="020B0604020202020204" pitchFamily="34" charset="0"/>
              </a:rPr>
              <a:pPr/>
              <a:t>76</a:t>
            </a:fld>
            <a:endParaRPr lang="en-US" altLang="en-US">
              <a:latin typeface="Helvetica" panose="020B0604020202020204" pitchFamily="34" charset="0"/>
            </a:endParaRPr>
          </a:p>
        </p:txBody>
      </p:sp>
      <p:sp>
        <p:nvSpPr>
          <p:cNvPr id="129027" name="Rectangle 2">
            <a:extLst>
              <a:ext uri="{FF2B5EF4-FFF2-40B4-BE49-F238E27FC236}">
                <a16:creationId xmlns:a16="http://schemas.microsoft.com/office/drawing/2014/main" id="{866B417B-93D6-4ED8-B9CC-B9C6B0EAE8B2}"/>
              </a:ext>
            </a:extLst>
          </p:cNvPr>
          <p:cNvSpPr>
            <a:spLocks noGrp="1" noRot="1" noChangeAspect="1" noChangeArrowheads="1" noTextEdit="1"/>
          </p:cNvSpPr>
          <p:nvPr>
            <p:ph type="sldImg"/>
          </p:nvPr>
        </p:nvSpPr>
        <p:spPr>
          <a:ln/>
        </p:spPr>
      </p:sp>
      <p:sp>
        <p:nvSpPr>
          <p:cNvPr id="129028" name="Rectangle 3">
            <a:extLst>
              <a:ext uri="{FF2B5EF4-FFF2-40B4-BE49-F238E27FC236}">
                <a16:creationId xmlns:a16="http://schemas.microsoft.com/office/drawing/2014/main" id="{CC7CAEC1-5261-4D7B-B4CB-0B9C19BF7C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87E65574-C17F-4176-AEAD-E10057288D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BDB658E-05DD-4628-B2EA-452E849C1C28}" type="slidenum">
              <a:rPr lang="en-US" altLang="en-US">
                <a:latin typeface="Helvetica" panose="020B0604020202020204" pitchFamily="34" charset="0"/>
              </a:rPr>
              <a:pPr/>
              <a:t>77</a:t>
            </a:fld>
            <a:endParaRPr lang="en-US" altLang="en-US">
              <a:latin typeface="Helvetica" panose="020B0604020202020204" pitchFamily="34" charset="0"/>
            </a:endParaRPr>
          </a:p>
        </p:txBody>
      </p:sp>
      <p:sp>
        <p:nvSpPr>
          <p:cNvPr id="130051" name="Rectangle 2">
            <a:extLst>
              <a:ext uri="{FF2B5EF4-FFF2-40B4-BE49-F238E27FC236}">
                <a16:creationId xmlns:a16="http://schemas.microsoft.com/office/drawing/2014/main" id="{29E3D940-7858-42F4-BFF7-ADDBC0AA9F2D}"/>
              </a:ext>
            </a:extLst>
          </p:cNvPr>
          <p:cNvSpPr>
            <a:spLocks noGrp="1" noRot="1" noChangeAspect="1" noChangeArrowheads="1" noTextEdit="1"/>
          </p:cNvSpPr>
          <p:nvPr>
            <p:ph type="sldImg"/>
          </p:nvPr>
        </p:nvSpPr>
        <p:spPr>
          <a:ln/>
        </p:spPr>
      </p:sp>
      <p:sp>
        <p:nvSpPr>
          <p:cNvPr id="130052" name="Rectangle 3">
            <a:extLst>
              <a:ext uri="{FF2B5EF4-FFF2-40B4-BE49-F238E27FC236}">
                <a16:creationId xmlns:a16="http://schemas.microsoft.com/office/drawing/2014/main" id="{BACAC1CB-C347-4FF6-BB9C-CDBBAF17F7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DF69C08F-D0B7-4A7F-B4BC-CA12D73A0F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509B2EB-74E1-4827-890E-11429954D163}" type="slidenum">
              <a:rPr lang="en-US" altLang="en-US">
                <a:latin typeface="Helvetica" panose="020B0604020202020204" pitchFamily="34" charset="0"/>
              </a:rPr>
              <a:pPr/>
              <a:t>78</a:t>
            </a:fld>
            <a:endParaRPr lang="en-US" altLang="en-US">
              <a:latin typeface="Helvetica" panose="020B0604020202020204" pitchFamily="34" charset="0"/>
            </a:endParaRPr>
          </a:p>
        </p:txBody>
      </p:sp>
      <p:sp>
        <p:nvSpPr>
          <p:cNvPr id="131075" name="Rectangle 2">
            <a:extLst>
              <a:ext uri="{FF2B5EF4-FFF2-40B4-BE49-F238E27FC236}">
                <a16:creationId xmlns:a16="http://schemas.microsoft.com/office/drawing/2014/main" id="{503BE3B8-8709-416F-955A-C1B867F72270}"/>
              </a:ext>
            </a:extLst>
          </p:cNvPr>
          <p:cNvSpPr>
            <a:spLocks noGrp="1" noRot="1" noChangeAspect="1" noChangeArrowheads="1" noTextEdit="1"/>
          </p:cNvSpPr>
          <p:nvPr>
            <p:ph type="sldImg"/>
          </p:nvPr>
        </p:nvSpPr>
        <p:spPr>
          <a:ln/>
        </p:spPr>
      </p:sp>
      <p:sp>
        <p:nvSpPr>
          <p:cNvPr id="131076" name="Rectangle 3">
            <a:extLst>
              <a:ext uri="{FF2B5EF4-FFF2-40B4-BE49-F238E27FC236}">
                <a16:creationId xmlns:a16="http://schemas.microsoft.com/office/drawing/2014/main" id="{5E9933E8-7EB8-47B5-A34A-BA868C636A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mailto:a0taghinezhad@gmail.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F9054E9F-B0F7-4A1B-8874-547788B722C4}"/>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1B0B5327-705F-4338-8684-BE3C6B32B1E1}"/>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F9912C43-735E-4FCD-9C20-4B4E9F5D4C0F}"/>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8B2B38F7-FF3D-4D34-8AF3-C5E2B22472F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9D6487E-E59C-4825-A316-F9FD0074A55B}"/>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0BACFF7A-A989-4729-8688-C6C2FD0049F0}"/>
              </a:ext>
            </a:extLst>
          </p:cNvPr>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62320D51-40DC-47DF-B772-6310A5073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B4F18C78-A1C0-4229-859F-4A1EAA01B0EB}"/>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004874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0595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638358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38342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6935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34989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391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37563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2620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264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9102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10" name="Rectangle 9"/>
          <p:cNvSpPr/>
          <p:nvPr/>
        </p:nvSpPr>
        <p:spPr>
          <a:xfrm>
            <a:off x="-26671" y="6178558"/>
            <a:ext cx="9144001" cy="679443"/>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anchor="ctr"/>
          <a:lstStyle/>
          <a:p>
            <a:pPr marL="0" indent="0"/>
            <a:r>
              <a:rPr lang="en-US" sz="1800" dirty="0">
                <a:latin typeface="Consolas" panose="020B0609020204030204" pitchFamily="49" charset="0"/>
                <a:ea typeface="Tahoma" panose="020B0604030504040204" pitchFamily="34" charset="0"/>
                <a:cs typeface="Tahoma" panose="020B0604030504040204" pitchFamily="34" charset="0"/>
              </a:rPr>
              <a:t>Website: </a:t>
            </a:r>
            <a:r>
              <a:rPr lang="en-US" sz="1800" dirty="0">
                <a:latin typeface="Consolas" panose="020B0609020204030204" pitchFamily="49" charset="0"/>
                <a:ea typeface="Tahoma" panose="020B0604030504040204" pitchFamily="34" charset="0"/>
                <a:cs typeface="Tahoma" panose="020B0604030504040204" pitchFamily="34" charset="0"/>
                <a:hlinkClick r:id="rId2">
                  <a:extLst>
                    <a:ext uri="{A12FA001-AC4F-418D-AE19-62706E023703}">
                      <ahyp:hlinkClr xmlns:ahyp="http://schemas.microsoft.com/office/drawing/2018/hyperlinkcolor" val="tx"/>
                    </a:ext>
                  </a:extLst>
                </a:hlinkClick>
              </a:rPr>
              <a:t>ataghinezhad</a:t>
            </a:r>
            <a:r>
              <a:rPr lang="en-US" sz="1800" dirty="0">
                <a:latin typeface="Consolas" panose="020B0609020204030204" pitchFamily="49" charset="0"/>
                <a:ea typeface="Tahoma" panose="020B0604030504040204" pitchFamily="34" charset="0"/>
                <a:cs typeface="Tahoma" panose="020B0604030504040204" pitchFamily="34" charset="0"/>
              </a:rPr>
              <a:t>.github.io, Email:a0taghinezhad@gmail.com</a:t>
            </a:r>
          </a:p>
        </p:txBody>
      </p:sp>
      <p:sp>
        <p:nvSpPr>
          <p:cNvPr id="19" name="Rectangle 18"/>
          <p:cNvSpPr/>
          <p:nvPr/>
        </p:nvSpPr>
        <p:spPr>
          <a:xfrm>
            <a:off x="0" y="15240"/>
            <a:ext cx="5475317" cy="6157952"/>
          </a:xfrm>
          <a:prstGeom prst="rect">
            <a:avLst/>
          </a:prstGeom>
          <a:solidFill>
            <a:schemeClr val="accent5">
              <a:lumMod val="7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350" dirty="0"/>
          </a:p>
        </p:txBody>
      </p:sp>
      <p:sp>
        <p:nvSpPr>
          <p:cNvPr id="29" name="Slide Number Placeholder 28"/>
          <p:cNvSpPr>
            <a:spLocks noGrp="1"/>
          </p:cNvSpPr>
          <p:nvPr>
            <p:ph type="sldNum" sz="quarter" idx="12"/>
          </p:nvPr>
        </p:nvSpPr>
        <p:spPr>
          <a:xfrm>
            <a:off x="8320089" y="1136"/>
            <a:ext cx="747712" cy="365760"/>
          </a:xfrm>
        </p:spPr>
        <p:txBody>
          <a:bodyPr/>
          <a:lstStyle>
            <a:lvl1pPr algn="r">
              <a:defRPr sz="1350">
                <a:solidFill>
                  <a:schemeClr val="bg1"/>
                </a:solidFill>
              </a:defRPr>
            </a:lvl1pPr>
          </a:lstStyle>
          <a:p>
            <a:fld id="{401CF334-2D5C-4859-84A6-CA7E6E43FAEB}" type="slidenum">
              <a:rPr lang="en-US" smtClean="0"/>
              <a:t>‹#›</a:t>
            </a:fld>
            <a:endParaRPr lang="en-US" dirty="0"/>
          </a:p>
        </p:txBody>
      </p:sp>
      <p:sp>
        <p:nvSpPr>
          <p:cNvPr id="9" name="Subtitle 8"/>
          <p:cNvSpPr>
            <a:spLocks noGrp="1"/>
          </p:cNvSpPr>
          <p:nvPr>
            <p:ph type="subTitle" idx="1" hasCustomPrompt="1"/>
          </p:nvPr>
        </p:nvSpPr>
        <p:spPr>
          <a:xfrm>
            <a:off x="-1" y="3941143"/>
            <a:ext cx="5040631" cy="2195473"/>
          </a:xfrm>
          <a:solidFill>
            <a:schemeClr val="accent6">
              <a:lumMod val="75000"/>
            </a:schemeClr>
          </a:solidFill>
        </p:spPr>
        <p:style>
          <a:lnRef idx="2">
            <a:schemeClr val="accent4"/>
          </a:lnRef>
          <a:fillRef idx="1">
            <a:schemeClr val="lt1"/>
          </a:fillRef>
          <a:effectRef idx="0">
            <a:schemeClr val="accent4"/>
          </a:effectRef>
          <a:fontRef idx="minor">
            <a:schemeClr val="dk1"/>
          </a:fontRef>
        </p:style>
        <p:txBody>
          <a:bodyPr anchor="ctr">
            <a:normAutofit/>
          </a:bodyPr>
          <a:lstStyle>
            <a:lvl1pPr marL="0" indent="0" algn="l">
              <a:buNone/>
              <a:defRPr sz="2100">
                <a:solidFill>
                  <a:schemeClr val="bg1"/>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pPr marL="0" indent="0"/>
            <a:r>
              <a:rPr lang="en-US" sz="2400" dirty="0">
                <a:latin typeface="Consolas" panose="020B0609020204030204" pitchFamily="49" charset="0"/>
                <a:ea typeface="Tahoma" panose="020B0604030504040204" pitchFamily="34" charset="0"/>
                <a:cs typeface="Tahoma" panose="020B0604030504040204" pitchFamily="34" charset="0"/>
              </a:rPr>
              <a:t>A. </a:t>
            </a:r>
            <a:r>
              <a:rPr lang="en-US" sz="2400" dirty="0" err="1">
                <a:latin typeface="Consolas" panose="020B0609020204030204" pitchFamily="49" charset="0"/>
                <a:ea typeface="Tahoma" panose="020B0604030504040204" pitchFamily="34" charset="0"/>
                <a:cs typeface="Tahoma" panose="020B0604030504040204" pitchFamily="34" charset="0"/>
              </a:rPr>
              <a:t>Taghinezhad</a:t>
            </a:r>
            <a:r>
              <a:rPr lang="en-US" sz="2400" dirty="0">
                <a:latin typeface="Consolas" panose="020B0609020204030204" pitchFamily="49" charset="0"/>
                <a:ea typeface="Tahoma" panose="020B0604030504040204" pitchFamily="34" charset="0"/>
                <a:cs typeface="Tahoma" panose="020B0604030504040204" pitchFamily="34" charset="0"/>
              </a:rPr>
              <a:t>, Ph.D.</a:t>
            </a:r>
          </a:p>
        </p:txBody>
      </p:sp>
      <p:sp>
        <p:nvSpPr>
          <p:cNvPr id="8" name="Title 7"/>
          <p:cNvSpPr>
            <a:spLocks noGrp="1"/>
          </p:cNvSpPr>
          <p:nvPr>
            <p:ph type="ctrTitle"/>
          </p:nvPr>
        </p:nvSpPr>
        <p:spPr>
          <a:xfrm>
            <a:off x="0" y="526792"/>
            <a:ext cx="5173884" cy="3345122"/>
          </a:xfrm>
        </p:spPr>
        <p:txBody>
          <a:bodyPr anchor="ctr">
            <a:normAutofit/>
          </a:bodyPr>
          <a:lstStyle>
            <a:lvl1pPr algn="ctr">
              <a:defRPr sz="3600" b="1" cap="none" spc="0">
                <a:ln w="10160">
                  <a:solidFill>
                    <a:schemeClr val="bg1">
                      <a:lumMod val="65000"/>
                    </a:schemeClr>
                  </a:solidFill>
                  <a:prstDash val="solid"/>
                </a:ln>
                <a:solidFill>
                  <a:schemeClr val="tx1"/>
                </a:solidFill>
                <a:effectLst/>
              </a:defRPr>
            </a:lvl1pPr>
          </a:lstStyle>
          <a:p>
            <a:r>
              <a:rPr kumimoji="0" lang="en-US" dirty="0"/>
              <a:t>Click to edit Master title style</a:t>
            </a:r>
          </a:p>
        </p:txBody>
      </p:sp>
    </p:spTree>
    <p:extLst>
      <p:ext uri="{BB962C8B-B14F-4D97-AF65-F5344CB8AC3E}">
        <p14:creationId xmlns:p14="http://schemas.microsoft.com/office/powerpoint/2010/main" val="2273850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36" name="Picture 12" descr="dino_6">
            <a:extLst>
              <a:ext uri="{FF2B5EF4-FFF2-40B4-BE49-F238E27FC236}">
                <a16:creationId xmlns:a16="http://schemas.microsoft.com/office/drawing/2014/main" id="{502C53CD-F3D0-4970-8364-2ED201BCF77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flipH="1">
            <a:off x="827225" y="402614"/>
            <a:ext cx="742670" cy="458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dino_3">
            <a:extLst>
              <a:ext uri="{FF2B5EF4-FFF2-40B4-BE49-F238E27FC236}">
                <a16:creationId xmlns:a16="http://schemas.microsoft.com/office/drawing/2014/main" id="{DB124D09-86E8-40B1-99F0-1209287C1393}"/>
              </a:ext>
            </a:extLst>
          </p:cNvPr>
          <p:cNvPicPr>
            <a:picLocks noChangeAspect="1" noChangeArrowheads="1"/>
          </p:cNvPicPr>
          <p:nvPr/>
        </p:nvPicPr>
        <p:blipFill>
          <a:blip r:embed="rId15">
            <a:extLst>
              <a:ext uri="{BEBA8EAE-BF5A-486C-A8C5-ECC9F3942E4B}">
                <a14:imgProps xmlns:a14="http://schemas.microsoft.com/office/drawing/2010/main">
                  <a14:imgLayer r:embed="rId16">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14300" y="128219"/>
            <a:ext cx="1036732" cy="787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101563B5-6DEC-40C9-94C1-11A3E355C2E2}"/>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
        <p:nvSpPr>
          <p:cNvPr id="1028" name="Rectangle 4">
            <a:extLst>
              <a:ext uri="{FF2B5EF4-FFF2-40B4-BE49-F238E27FC236}">
                <a16:creationId xmlns:a16="http://schemas.microsoft.com/office/drawing/2014/main" id="{97A89EDA-A1F4-4710-BBC1-A142F18D0927}"/>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7773D04D-003A-405C-9D9C-1709ED056175}"/>
              </a:ext>
            </a:extLst>
          </p:cNvPr>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0" name="Line 6">
            <a:extLst>
              <a:ext uri="{FF2B5EF4-FFF2-40B4-BE49-F238E27FC236}">
                <a16:creationId xmlns:a16="http://schemas.microsoft.com/office/drawing/2014/main" id="{7AA57875-966E-44EB-9268-6903F2C1DDAD}"/>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B805250A-2DE9-48CE-9970-F8DC7B1A9953}"/>
              </a:ext>
            </a:extLst>
          </p:cNvPr>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2" name="Rectangle 8">
            <a:extLst>
              <a:ext uri="{FF2B5EF4-FFF2-40B4-BE49-F238E27FC236}">
                <a16:creationId xmlns:a16="http://schemas.microsoft.com/office/drawing/2014/main" id="{5DF010FB-BF4A-4539-85F6-EF017614C474}"/>
              </a:ext>
            </a:extLst>
          </p:cNvPr>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3" name="Text Box 9">
            <a:extLst>
              <a:ext uri="{FF2B5EF4-FFF2-40B4-BE49-F238E27FC236}">
                <a16:creationId xmlns:a16="http://schemas.microsoft.com/office/drawing/2014/main" id="{F35EB3C6-158A-401E-AF69-45BFE965FB7C}"/>
              </a:ext>
            </a:extLst>
          </p:cNvPr>
          <p:cNvSpPr txBox="1">
            <a:spLocks noChangeArrowheads="1"/>
          </p:cNvSpPr>
          <p:nvPr/>
        </p:nvSpPr>
        <p:spPr bwMode="auto">
          <a:xfrm>
            <a:off x="4256147" y="6613525"/>
            <a:ext cx="447558" cy="246221"/>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en-US" sz="1000" b="1" dirty="0">
                <a:solidFill>
                  <a:srgbClr val="006699"/>
                </a:solidFill>
                <a:latin typeface="Helvetica" charset="0"/>
              </a:rPr>
              <a:t>5.</a:t>
            </a:r>
            <a:fld id="{4EB6AB46-21AB-49DC-9DBD-606B37BEB33B}" type="slidenum">
              <a:rPr lang="en-US" altLang="en-US" sz="1000" b="1" smtClean="0">
                <a:solidFill>
                  <a:srgbClr val="006699"/>
                </a:solidFill>
                <a:latin typeface="Helvetica" charset="0"/>
              </a:rPr>
              <a:pPr algn="ctr">
                <a:spcBef>
                  <a:spcPct val="50000"/>
                </a:spcBef>
                <a:defRPr/>
              </a:pPr>
              <a:t>‹#›</a:t>
            </a:fld>
            <a:endParaRPr lang="en-US" altLang="en-US" sz="1000" b="1" dirty="0">
              <a:solidFill>
                <a:srgbClr val="006699"/>
              </a:solidFill>
              <a:latin typeface="Helvetica" charset="0"/>
            </a:endParaRPr>
          </a:p>
        </p:txBody>
      </p:sp>
      <p:sp>
        <p:nvSpPr>
          <p:cNvPr id="1034" name="Text Box 10">
            <a:extLst>
              <a:ext uri="{FF2B5EF4-FFF2-40B4-BE49-F238E27FC236}">
                <a16:creationId xmlns:a16="http://schemas.microsoft.com/office/drawing/2014/main" id="{D78F82E7-FC4D-4DEF-BAC0-15DF6AAD70A5}"/>
              </a:ext>
            </a:extLst>
          </p:cNvPr>
          <p:cNvSpPr txBox="1">
            <a:spLocks noChangeArrowheads="1"/>
          </p:cNvSpPr>
          <p:nvPr/>
        </p:nvSpPr>
        <p:spPr bwMode="auto">
          <a:xfrm>
            <a:off x="7040516" y="6595087"/>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fa-IR" altLang="en-US" sz="1000" b="1" dirty="0">
                <a:solidFill>
                  <a:srgbClr val="006699"/>
                </a:solidFill>
                <a:latin typeface="Helvetica" pitchFamily="-84" charset="0"/>
                <a:cs typeface="B Nazanin" panose="00000400000000000000" pitchFamily="2" charset="-78"/>
              </a:rPr>
              <a:t>دکتر احمد تقی نژاد ۲۰۲۴</a:t>
            </a:r>
            <a:endParaRPr lang="en-US" altLang="en-US" sz="1000" b="1" dirty="0">
              <a:solidFill>
                <a:srgbClr val="006699"/>
              </a:solidFill>
              <a:latin typeface="Helvetica" pitchFamily="-84" charset="0"/>
              <a:cs typeface="B Nazanin" panose="00000400000000000000" pitchFamily="2" charset="-78"/>
            </a:endParaRPr>
          </a:p>
        </p:txBody>
      </p:sp>
      <p:sp>
        <p:nvSpPr>
          <p:cNvPr id="1035" name="Text Box 11">
            <a:extLst>
              <a:ext uri="{FF2B5EF4-FFF2-40B4-BE49-F238E27FC236}">
                <a16:creationId xmlns:a16="http://schemas.microsoft.com/office/drawing/2014/main" id="{A47C3AE5-5C42-45F2-A307-C022C640A4BF}"/>
              </a:ext>
            </a:extLst>
          </p:cNvPr>
          <p:cNvSpPr txBox="1">
            <a:spLocks noChangeArrowheads="1"/>
          </p:cNvSpPr>
          <p:nvPr/>
        </p:nvSpPr>
        <p:spPr bwMode="auto">
          <a:xfrm>
            <a:off x="185738" y="6595087"/>
            <a:ext cx="2125903" cy="246221"/>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fa-IR" altLang="en-US" sz="1000" b="1" dirty="0">
                <a:solidFill>
                  <a:srgbClr val="006699"/>
                </a:solidFill>
                <a:latin typeface="Helvetica" pitchFamily="-84" charset="0"/>
                <a:cs typeface="B Nazanin" panose="00000400000000000000" pitchFamily="2" charset="-78"/>
              </a:rPr>
              <a:t>مفاهیم سیستم عامل نسخه ۱۰- سیلبرشاتس</a:t>
            </a:r>
            <a:endParaRPr lang="en-US" altLang="en-US" sz="1000" b="1" dirty="0">
              <a:solidFill>
                <a:srgbClr val="006699"/>
              </a:solidFill>
              <a:latin typeface="Helvetica" pitchFamily="-84" charset="0"/>
              <a:cs typeface="B Nazanin" panose="00000400000000000000" pitchFamily="2" charset="-78"/>
            </a:endParaRPr>
          </a:p>
        </p:txBody>
      </p:sp>
      <p:sp>
        <p:nvSpPr>
          <p:cNvPr id="13" name="Freeform: Shape 12">
            <a:extLst>
              <a:ext uri="{FF2B5EF4-FFF2-40B4-BE49-F238E27FC236}">
                <a16:creationId xmlns:a16="http://schemas.microsoft.com/office/drawing/2014/main" id="{E84A52AF-7066-4C64-9EB8-E7C40085EAD1}"/>
              </a:ext>
            </a:extLst>
          </p:cNvPr>
          <p:cNvSpPr/>
          <p:nvPr userDrawn="1"/>
        </p:nvSpPr>
        <p:spPr bwMode="auto">
          <a:xfrm>
            <a:off x="-40341" y="6243823"/>
            <a:ext cx="9144000" cy="663389"/>
          </a:xfrm>
          <a:custGeom>
            <a:avLst/>
            <a:gdLst>
              <a:gd name="connsiteX0" fmla="*/ 649468 w 10114548"/>
              <a:gd name="connsiteY0" fmla="*/ 13955 h 584481"/>
              <a:gd name="connsiteX1" fmla="*/ 649468 w 10114548"/>
              <a:gd name="connsiteY1" fmla="*/ 542873 h 584481"/>
              <a:gd name="connsiteX2" fmla="*/ 9354198 w 10114548"/>
              <a:gd name="connsiteY2" fmla="*/ 542873 h 584481"/>
              <a:gd name="connsiteX3" fmla="*/ 9667962 w 10114548"/>
              <a:gd name="connsiteY3" fmla="*/ 480120 h 584481"/>
              <a:gd name="connsiteX4" fmla="*/ 963233 w 10114548"/>
              <a:gd name="connsiteY4" fmla="*/ 533908 h 584481"/>
              <a:gd name="connsiteX5" fmla="*/ 774974 w 10114548"/>
              <a:gd name="connsiteY5" fmla="*/ 184284 h 584481"/>
              <a:gd name="connsiteX6" fmla="*/ 649468 w 10114548"/>
              <a:gd name="connsiteY6" fmla="*/ 13955 h 584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114548" h="584481">
                <a:moveTo>
                  <a:pt x="649468" y="13955"/>
                </a:moveTo>
                <a:cubicBezTo>
                  <a:pt x="628550" y="73720"/>
                  <a:pt x="-801320" y="454720"/>
                  <a:pt x="649468" y="542873"/>
                </a:cubicBezTo>
                <a:cubicBezTo>
                  <a:pt x="2100256" y="631026"/>
                  <a:pt x="7851116" y="553332"/>
                  <a:pt x="9354198" y="542873"/>
                </a:cubicBezTo>
                <a:cubicBezTo>
                  <a:pt x="10857280" y="532414"/>
                  <a:pt x="9667962" y="480120"/>
                  <a:pt x="9667962" y="480120"/>
                </a:cubicBezTo>
                <a:lnTo>
                  <a:pt x="963233" y="533908"/>
                </a:lnTo>
                <a:cubicBezTo>
                  <a:pt x="-518932" y="484602"/>
                  <a:pt x="819798" y="267955"/>
                  <a:pt x="774974" y="184284"/>
                </a:cubicBezTo>
                <a:cubicBezTo>
                  <a:pt x="730151" y="100613"/>
                  <a:pt x="670386" y="-45810"/>
                  <a:pt x="649468" y="13955"/>
                </a:cubicBezTo>
                <a:close/>
              </a:path>
            </a:pathLst>
          </a:cu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108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Tree>
    <p:extLst>
      <p:ext uri="{BB962C8B-B14F-4D97-AF65-F5344CB8AC3E}">
        <p14:creationId xmlns:p14="http://schemas.microsoft.com/office/powerpoint/2010/main" val="1239159104"/>
      </p:ext>
    </p:extLst>
  </p:cSld>
  <p:clrMap bg1="lt1" tx1="dk1" bg2="lt2" tx2="dk2" accent1="accent1" accent2="accent2" accent3="accent3" accent4="accent4" accent5="accent5" accent6="accent6" hlink="hlink" folHlink="folHlink"/>
  <p:sldLayoutIdLst>
    <p:sldLayoutId id="2147484146" r:id="rId1"/>
    <p:sldLayoutId id="2147484147" r:id="rId2"/>
    <p:sldLayoutId id="2147484148" r:id="rId3"/>
    <p:sldLayoutId id="2147484149" r:id="rId4"/>
    <p:sldLayoutId id="2147484150" r:id="rId5"/>
    <p:sldLayoutId id="2147484151" r:id="rId6"/>
    <p:sldLayoutId id="2147484152" r:id="rId7"/>
    <p:sldLayoutId id="2147484153" r:id="rId8"/>
    <p:sldLayoutId id="2147484154" r:id="rId9"/>
    <p:sldLayoutId id="2147484155" r:id="rId10"/>
    <p:sldLayoutId id="2147484156" r:id="rId11"/>
    <p:sldLayoutId id="2147484157" r:id="rId12"/>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3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23.png"/><Relationship Id="rId18" Type="http://schemas.openxmlformats.org/officeDocument/2006/relationships/customXml" Target="../ink/ink8.xml"/><Relationship Id="rId26" Type="http://schemas.openxmlformats.org/officeDocument/2006/relationships/customXml" Target="../ink/ink12.xml"/><Relationship Id="rId3" Type="http://schemas.openxmlformats.org/officeDocument/2006/relationships/image" Target="../media/image17.png"/><Relationship Id="rId21" Type="http://schemas.openxmlformats.org/officeDocument/2006/relationships/image" Target="../media/image27.png"/><Relationship Id="rId7" Type="http://schemas.openxmlformats.org/officeDocument/2006/relationships/image" Target="../media/image20.png"/><Relationship Id="rId12" Type="http://schemas.openxmlformats.org/officeDocument/2006/relationships/customXml" Target="../ink/ink5.xml"/><Relationship Id="rId17" Type="http://schemas.openxmlformats.org/officeDocument/2006/relationships/image" Target="../media/image25.png"/><Relationship Id="rId25" Type="http://schemas.openxmlformats.org/officeDocument/2006/relationships/image" Target="../media/image29.png"/><Relationship Id="rId2" Type="http://schemas.openxmlformats.org/officeDocument/2006/relationships/notesSlide" Target="../notesSlides/notesSlide32.xml"/><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22.png"/><Relationship Id="rId24" Type="http://schemas.openxmlformats.org/officeDocument/2006/relationships/customXml" Target="../ink/ink11.xml"/><Relationship Id="rId5" Type="http://schemas.openxmlformats.org/officeDocument/2006/relationships/image" Target="../media/image19.png"/><Relationship Id="rId15" Type="http://schemas.openxmlformats.org/officeDocument/2006/relationships/image" Target="../media/image24.png"/><Relationship Id="rId23" Type="http://schemas.openxmlformats.org/officeDocument/2006/relationships/image" Target="../media/image28.png"/><Relationship Id="rId10" Type="http://schemas.openxmlformats.org/officeDocument/2006/relationships/customXml" Target="../ink/ink4.xml"/><Relationship Id="rId19" Type="http://schemas.openxmlformats.org/officeDocument/2006/relationships/image" Target="../media/image26.png"/><Relationship Id="rId4" Type="http://schemas.openxmlformats.org/officeDocument/2006/relationships/customXml" Target="../ink/ink1.xml"/><Relationship Id="rId9" Type="http://schemas.openxmlformats.org/officeDocument/2006/relationships/image" Target="../media/image21.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3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3.xml"/><Relationship Id="rId1" Type="http://schemas.openxmlformats.org/officeDocument/2006/relationships/slideLayout" Target="../slideLayouts/slideLayout6.xml"/><Relationship Id="rId4" Type="http://schemas.openxmlformats.org/officeDocument/2006/relationships/image" Target="../media/image46.png"/></Relationships>
</file>

<file path=ppt/slides/_rels/slide7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60CEF4-0835-4317-BDEB-A5571B14B8CB}"/>
              </a:ext>
            </a:extLst>
          </p:cNvPr>
          <p:cNvSpPr>
            <a:spLocks noGrp="1"/>
          </p:cNvSpPr>
          <p:nvPr>
            <p:ph type="sldNum" sz="quarter" idx="12"/>
          </p:nvPr>
        </p:nvSpPr>
        <p:spPr/>
        <p:txBody>
          <a:bodyPr/>
          <a:lstStyle/>
          <a:p>
            <a:fld id="{401CF334-2D5C-4859-84A6-CA7E6E43FAEB}" type="slidenum">
              <a:rPr lang="en-US" smtClean="0"/>
              <a:t>1</a:t>
            </a:fld>
            <a:endParaRPr lang="en-US" dirty="0"/>
          </a:p>
        </p:txBody>
      </p:sp>
      <p:sp>
        <p:nvSpPr>
          <p:cNvPr id="6" name="Subtitle 5">
            <a:extLst>
              <a:ext uri="{FF2B5EF4-FFF2-40B4-BE49-F238E27FC236}">
                <a16:creationId xmlns:a16="http://schemas.microsoft.com/office/drawing/2014/main" id="{57B35CAD-C853-45BE-BF0D-F746ACC4A2F0}"/>
              </a:ext>
            </a:extLst>
          </p:cNvPr>
          <p:cNvSpPr>
            <a:spLocks noGrp="1"/>
          </p:cNvSpPr>
          <p:nvPr>
            <p:ph type="subTitle" idx="1"/>
          </p:nvPr>
        </p:nvSpPr>
        <p:spPr/>
        <p:txBody>
          <a:bodyPr/>
          <a:lstStyle/>
          <a:p>
            <a:r>
              <a:rPr lang="en-US" dirty="0"/>
              <a:t>Dr. A. </a:t>
            </a:r>
            <a:r>
              <a:rPr lang="en-US" dirty="0" err="1"/>
              <a:t>Taghinezhad</a:t>
            </a:r>
            <a:endParaRPr lang="en-US" dirty="0"/>
          </a:p>
        </p:txBody>
      </p:sp>
      <p:sp>
        <p:nvSpPr>
          <p:cNvPr id="5" name="Title 4">
            <a:extLst>
              <a:ext uri="{FF2B5EF4-FFF2-40B4-BE49-F238E27FC236}">
                <a16:creationId xmlns:a16="http://schemas.microsoft.com/office/drawing/2014/main" id="{092F418E-BA19-4F07-9634-49890018C0B8}"/>
              </a:ext>
            </a:extLst>
          </p:cNvPr>
          <p:cNvSpPr>
            <a:spLocks noGrp="1"/>
          </p:cNvSpPr>
          <p:nvPr>
            <p:ph type="ctrTitle"/>
          </p:nvPr>
        </p:nvSpPr>
        <p:spPr>
          <a:xfrm>
            <a:off x="-210207" y="977462"/>
            <a:ext cx="5250836" cy="2804745"/>
          </a:xfrm>
        </p:spPr>
        <p:txBody>
          <a:bodyPr/>
          <a:lstStyle/>
          <a:p>
            <a:r>
              <a:rPr lang="fa-IR" b="0" dirty="0">
                <a:ln w="0"/>
                <a:solidFill>
                  <a:schemeClr val="bg1"/>
                </a:solidFill>
                <a:effectLst>
                  <a:outerShdw blurRad="38100" dist="19050" dir="2700000" algn="tl" rotWithShape="0">
                    <a:schemeClr val="dk1">
                      <a:alpha val="40000"/>
                    </a:schemeClr>
                  </a:outerShdw>
                </a:effectLst>
                <a:cs typeface="B Koodak" panose="00000700000000000000" pitchFamily="2" charset="-78"/>
              </a:rPr>
              <a:t>سیستم‌عامل</a:t>
            </a:r>
            <a:endParaRPr lang="en-US" b="0" dirty="0">
              <a:ln w="0"/>
              <a:solidFill>
                <a:schemeClr val="bg1"/>
              </a:solidFill>
              <a:effectLst>
                <a:outerShdw blurRad="38100" dist="19050" dir="2700000" algn="tl" rotWithShape="0">
                  <a:schemeClr val="dk1">
                    <a:alpha val="40000"/>
                  </a:schemeClr>
                </a:outerShdw>
              </a:effectLst>
              <a:cs typeface="B Koodak" panose="00000700000000000000" pitchFamily="2" charset="-78"/>
            </a:endParaRPr>
          </a:p>
        </p:txBody>
      </p:sp>
      <p:pic>
        <p:nvPicPr>
          <p:cNvPr id="4" name="Picture 3">
            <a:extLst>
              <a:ext uri="{FF2B5EF4-FFF2-40B4-BE49-F238E27FC236}">
                <a16:creationId xmlns:a16="http://schemas.microsoft.com/office/drawing/2014/main" id="{079A858C-7C9A-4398-B7CD-2DD5002CA2F7}"/>
              </a:ext>
            </a:extLst>
          </p:cNvPr>
          <p:cNvPicPr>
            <a:picLocks noChangeAspect="1"/>
          </p:cNvPicPr>
          <p:nvPr/>
        </p:nvPicPr>
        <p:blipFill>
          <a:blip r:embed="rId3"/>
          <a:stretch>
            <a:fillRect/>
          </a:stretch>
        </p:blipFill>
        <p:spPr>
          <a:xfrm>
            <a:off x="4686121" y="0"/>
            <a:ext cx="4457879" cy="6206067"/>
          </a:xfrm>
          <a:prstGeom prst="rect">
            <a:avLst/>
          </a:prstGeom>
        </p:spPr>
      </p:pic>
      <p:pic>
        <p:nvPicPr>
          <p:cNvPr id="7" name="Picture 6">
            <a:extLst>
              <a:ext uri="{FF2B5EF4-FFF2-40B4-BE49-F238E27FC236}">
                <a16:creationId xmlns:a16="http://schemas.microsoft.com/office/drawing/2014/main" id="{AD172332-60AA-47D6-8689-58ADEA17385D}"/>
              </a:ext>
            </a:extLst>
          </p:cNvPr>
          <p:cNvPicPr>
            <a:picLocks noChangeAspect="1"/>
          </p:cNvPicPr>
          <p:nvPr/>
        </p:nvPicPr>
        <p:blipFill>
          <a:blip r:embed="rId4"/>
          <a:stretch>
            <a:fillRect/>
          </a:stretch>
        </p:blipFill>
        <p:spPr>
          <a:xfrm>
            <a:off x="2708848" y="4173850"/>
            <a:ext cx="1863152" cy="1863152"/>
          </a:xfrm>
          <a:prstGeom prst="rect">
            <a:avLst/>
          </a:prstGeom>
        </p:spPr>
      </p:pic>
    </p:spTree>
    <p:extLst>
      <p:ext uri="{BB962C8B-B14F-4D97-AF65-F5344CB8AC3E}">
        <p14:creationId xmlns:p14="http://schemas.microsoft.com/office/powerpoint/2010/main" val="2574714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DFA84464-F8AB-4CD4-8982-CE48FC8A6BA9}"/>
              </a:ext>
            </a:extLst>
          </p:cNvPr>
          <p:cNvSpPr>
            <a:spLocks noGrp="1" noChangeArrowheads="1"/>
          </p:cNvSpPr>
          <p:nvPr>
            <p:ph type="ctrTitle"/>
          </p:nvPr>
        </p:nvSpPr>
        <p:spPr>
          <a:xfrm>
            <a:off x="685800" y="808038"/>
            <a:ext cx="7772400" cy="2128837"/>
          </a:xfrm>
        </p:spPr>
        <p:txBody>
          <a:bodyPr/>
          <a:lstStyle/>
          <a:p>
            <a:pPr eaLnBrk="1" hangingPunct="1"/>
            <a:r>
              <a:rPr lang="fa-IR" altLang="en-US" dirty="0">
                <a:cs typeface="B Nazanin" panose="00000400000000000000" pitchFamily="2" charset="-78"/>
              </a:rPr>
              <a:t>فصل ۹: حافظه اصلی</a:t>
            </a:r>
            <a:endParaRPr lang="en-US" altLang="en-US" dirty="0">
              <a:cs typeface="B Nazanin" panose="00000400000000000000" pitchFamily="2" charset="-7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C0C38B97-7795-4DED-B696-8AD40F968EA5}"/>
              </a:ext>
            </a:extLst>
          </p:cNvPr>
          <p:cNvSpPr>
            <a:spLocks noGrp="1" noChangeArrowheads="1"/>
          </p:cNvSpPr>
          <p:nvPr>
            <p:ph type="title"/>
          </p:nvPr>
        </p:nvSpPr>
        <p:spPr>
          <a:xfrm>
            <a:off x="1006475" y="214313"/>
            <a:ext cx="7743825" cy="576262"/>
          </a:xfrm>
        </p:spPr>
        <p:txBody>
          <a:bodyPr/>
          <a:lstStyle/>
          <a:p>
            <a:pPr eaLnBrk="1" hangingPunct="1"/>
            <a:r>
              <a:rPr lang="fa-IR" altLang="en-US" dirty="0">
                <a:cs typeface="B Nazanin" panose="00000400000000000000" pitchFamily="2" charset="-78"/>
              </a:rPr>
              <a:t>فصل ۹: حافظه اصلی</a:t>
            </a:r>
            <a:endParaRPr lang="en-US" altLang="en-US" dirty="0"/>
          </a:p>
        </p:txBody>
      </p:sp>
      <p:sp>
        <p:nvSpPr>
          <p:cNvPr id="4099" name="Rectangle 3">
            <a:extLst>
              <a:ext uri="{FF2B5EF4-FFF2-40B4-BE49-F238E27FC236}">
                <a16:creationId xmlns:a16="http://schemas.microsoft.com/office/drawing/2014/main" id="{9427F6F0-7B2E-46E8-AA4D-0BCC9683CECC}"/>
              </a:ext>
            </a:extLst>
          </p:cNvPr>
          <p:cNvSpPr>
            <a:spLocks noGrp="1" noChangeArrowheads="1"/>
          </p:cNvSpPr>
          <p:nvPr>
            <p:ph idx="1"/>
          </p:nvPr>
        </p:nvSpPr>
        <p:spPr>
          <a:xfrm>
            <a:off x="821094" y="1203325"/>
            <a:ext cx="7678381" cy="4483100"/>
          </a:xfrm>
        </p:spPr>
        <p:txBody>
          <a:bodyPr/>
          <a:lstStyle/>
          <a:p>
            <a:pPr marL="342900" marR="0" lvl="0" indent="-342900" algn="r" rtl="1">
              <a:buFont typeface="Wingdings" panose="05000000000000000000" pitchFamily="2"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پیش زمینه</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تخصیص حافظه پیوسته</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صفحه‌بندی</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ساختار جدول صفحه </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جایگزینی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(Swapping) </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مثال</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معماری‌های 32 و 64 بیتی</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اینتل مثال</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معماری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ARMv8</a:t>
            </a:r>
            <a:endParaRPr lang="en-US" sz="2400" dirty="0">
              <a:effectLst/>
              <a:latin typeface="Times New Roman" panose="02020603050405020304" pitchFamily="18" charset="0"/>
              <a:ea typeface="Times New Roman" panose="02020603050405020304" pitchFamily="18" charset="0"/>
            </a:endParaRPr>
          </a:p>
          <a:p>
            <a:endParaRPr lang="en-US" alt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8CB8D04B-AD7F-49A8-9388-3AF72B45C930}"/>
              </a:ext>
            </a:extLst>
          </p:cNvPr>
          <p:cNvSpPr>
            <a:spLocks noGrp="1" noChangeArrowheads="1"/>
          </p:cNvSpPr>
          <p:nvPr>
            <p:ph type="title"/>
          </p:nvPr>
        </p:nvSpPr>
        <p:spPr>
          <a:xfrm>
            <a:off x="457200" y="228054"/>
            <a:ext cx="8229600" cy="576262"/>
          </a:xfrm>
        </p:spPr>
        <p:txBody>
          <a:bodyPr/>
          <a:lstStyle/>
          <a:p>
            <a:pPr eaLnBrk="1" hangingPunct="1"/>
            <a:r>
              <a:rPr lang="en-US" altLang="en-US" dirty="0"/>
              <a:t>Objectives</a:t>
            </a:r>
            <a:r>
              <a:rPr lang="ar-SA" sz="3200" dirty="0">
                <a:effectLst/>
                <a:latin typeface="Calibri" panose="020F0502020204030204" pitchFamily="34" charset="0"/>
                <a:ea typeface="Calibri" panose="020F0502020204030204" pitchFamily="34" charset="0"/>
                <a:cs typeface="B Nazanin" panose="00000400000000000000" pitchFamily="2" charset="-78"/>
              </a:rPr>
              <a:t> </a:t>
            </a:r>
            <a:r>
              <a:rPr lang="fa-IR" sz="3200" dirty="0">
                <a:effectLst/>
                <a:latin typeface="Calibri" panose="020F0502020204030204" pitchFamily="34" charset="0"/>
                <a:ea typeface="Calibri" panose="020F0502020204030204" pitchFamily="34" charset="0"/>
                <a:cs typeface="B Nazanin" panose="00000400000000000000" pitchFamily="2" charset="-78"/>
              </a:rPr>
              <a:t>اهداف</a:t>
            </a:r>
            <a:endParaRPr lang="en-US" altLang="en-US" dirty="0"/>
          </a:p>
        </p:txBody>
      </p:sp>
      <p:sp>
        <p:nvSpPr>
          <p:cNvPr id="5123" name="Rectangle 3">
            <a:extLst>
              <a:ext uri="{FF2B5EF4-FFF2-40B4-BE49-F238E27FC236}">
                <a16:creationId xmlns:a16="http://schemas.microsoft.com/office/drawing/2014/main" id="{3B5605CA-B522-4E77-8066-64E77643554B}"/>
              </a:ext>
            </a:extLst>
          </p:cNvPr>
          <p:cNvSpPr>
            <a:spLocks noGrp="1" noChangeArrowheads="1"/>
          </p:cNvSpPr>
          <p:nvPr>
            <p:ph idx="1"/>
          </p:nvPr>
        </p:nvSpPr>
        <p:spPr>
          <a:xfrm>
            <a:off x="830426" y="1262063"/>
            <a:ext cx="7735078" cy="4440237"/>
          </a:xfrm>
        </p:spPr>
        <p:txBody>
          <a:bodyPr/>
          <a:lstStyle/>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3200" dirty="0">
                <a:effectLst/>
                <a:latin typeface="Calibri" panose="020F0502020204030204" pitchFamily="34" charset="0"/>
                <a:ea typeface="Calibri" panose="020F0502020204030204" pitchFamily="34" charset="0"/>
                <a:cs typeface="B Nazanin" panose="00000400000000000000" pitchFamily="2" charset="-78"/>
              </a:rPr>
              <a:t>این بخش به توصیف جزئیات روش‌های مختلف سازماندهی سخت‌افزار حافظه می‌پردازد</a:t>
            </a:r>
            <a:endParaRPr lang="fa-IR" sz="32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3200" dirty="0">
                <a:effectLst/>
                <a:latin typeface="Calibri" panose="020F0502020204030204" pitchFamily="34" charset="0"/>
                <a:ea typeface="Calibri" panose="020F0502020204030204" pitchFamily="34" charset="0"/>
                <a:cs typeface="B Nazanin" panose="00000400000000000000" pitchFamily="2" charset="-78"/>
              </a:rPr>
              <a:t>همچنین به بحث در مورد تکنیک‌های مدیریت حافظه، توضیحات دقیق در مورد پردازنده اینتل پنتیوم که از هر دو حالت تقسیم‌بندی خالص و تقسیم‌بندی با صفحه‌بندی پشتیبانی می‌کند، می‌پردازد</a:t>
            </a:r>
            <a:r>
              <a:rPr lang="en-US" sz="3200" dirty="0">
                <a:effectLst/>
                <a:latin typeface="Calibri" panose="020F0502020204030204" pitchFamily="34" charset="0"/>
                <a:ea typeface="Calibri" panose="020F0502020204030204" pitchFamily="34" charset="0"/>
                <a:cs typeface="B Nazanin" panose="00000400000000000000" pitchFamily="2" charset="-78"/>
              </a:rPr>
              <a:t>.</a:t>
            </a:r>
            <a:endParaRPr lang="en-US" sz="32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6">
            <a:extLst>
              <a:ext uri="{FF2B5EF4-FFF2-40B4-BE49-F238E27FC236}">
                <a16:creationId xmlns:a16="http://schemas.microsoft.com/office/drawing/2014/main" id="{14E85D12-A179-49DD-AB72-1C6EAAF20EF7}"/>
              </a:ext>
            </a:extLst>
          </p:cNvPr>
          <p:cNvSpPr>
            <a:spLocks noGrp="1" noChangeArrowheads="1"/>
          </p:cNvSpPr>
          <p:nvPr>
            <p:ph type="title"/>
          </p:nvPr>
        </p:nvSpPr>
        <p:spPr>
          <a:xfrm>
            <a:off x="1060450" y="228830"/>
            <a:ext cx="6764338" cy="576262"/>
          </a:xfrm>
        </p:spPr>
        <p:txBody>
          <a:bodyPr/>
          <a:lstStyle/>
          <a:p>
            <a:pPr eaLnBrk="1" hangingPunct="1"/>
            <a:r>
              <a:rPr lang="fa-IR" sz="3200" dirty="0">
                <a:effectLst/>
                <a:latin typeface="Calibri" panose="020F0502020204030204" pitchFamily="34" charset="0"/>
                <a:ea typeface="Calibri" panose="020F0502020204030204" pitchFamily="34" charset="0"/>
                <a:cs typeface="B Nazanin" panose="00000400000000000000" pitchFamily="2" charset="-78"/>
              </a:rPr>
              <a:t>پیش زمینه</a:t>
            </a:r>
            <a:endParaRPr lang="en-US" altLang="en-US" dirty="0"/>
          </a:p>
        </p:txBody>
      </p:sp>
      <p:sp>
        <p:nvSpPr>
          <p:cNvPr id="6147" name="Rectangle 1027">
            <a:extLst>
              <a:ext uri="{FF2B5EF4-FFF2-40B4-BE49-F238E27FC236}">
                <a16:creationId xmlns:a16="http://schemas.microsoft.com/office/drawing/2014/main" id="{3919CD36-C961-4D2E-8F87-B9EA333CBE98}"/>
              </a:ext>
            </a:extLst>
          </p:cNvPr>
          <p:cNvSpPr>
            <a:spLocks noGrp="1" noChangeArrowheads="1"/>
          </p:cNvSpPr>
          <p:nvPr>
            <p:ph idx="1"/>
          </p:nvPr>
        </p:nvSpPr>
        <p:spPr>
          <a:xfrm>
            <a:off x="498371" y="1001073"/>
            <a:ext cx="8303272" cy="5438730"/>
          </a:xfrm>
        </p:spPr>
        <p:txBody>
          <a:bodyPr/>
          <a:lstStyle/>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برای اجرا</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یک برنامه</a:t>
            </a:r>
            <a:r>
              <a:rPr lang="fa-IR" sz="2400" dirty="0">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باید از دیسک به حافظه آورده شده و در فرآیندی قرار گیرد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حافظه اصلی و رجیسترها تنها حافظه‌هایی هستند که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پردازنده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می‌تواند به طور مستقیم به آن‌ها دسترسی داشته باشد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واحد حافظه تنها جریان</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‌های زیر را می‌بینید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lvl="1" indent="-342900" algn="r" rtl="1">
              <a:lnSpc>
                <a:spcPct val="107000"/>
              </a:lnSpc>
              <a:spcBef>
                <a:spcPts val="0"/>
              </a:spcBef>
              <a:spcAft>
                <a:spcPts val="800"/>
              </a:spcAft>
              <a:buFont typeface="Wingdings" panose="05000000000000000000" pitchFamily="2" charset="2"/>
              <a:buChar char=""/>
              <a:tabLst>
                <a:tab pos="457200" algn="l"/>
              </a:tabLst>
            </a:pP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آدرس</a:t>
            </a:r>
            <a:r>
              <a:rPr lang="fa-IR" sz="2400" dirty="0">
                <a:latin typeface="Times New Roman" panose="02020603050405020304" pitchFamily="18" charset="0"/>
                <a:ea typeface="Times New Roman" panose="02020603050405020304" pitchFamily="18" charset="0"/>
                <a:cs typeface="B Nazanin" panose="00000400000000000000" pitchFamily="2" charset="-78"/>
              </a:rPr>
              <a:t>ها</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 درخواست خواندن، یا</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lvl="1" indent="-342900" algn="r" rtl="1">
              <a:lnSpc>
                <a:spcPct val="107000"/>
              </a:lnSpc>
              <a:spcBef>
                <a:spcPts val="0"/>
              </a:spcBef>
              <a:spcAft>
                <a:spcPts val="800"/>
              </a:spcAft>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آدرس + داده و درخواست نوشتن</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دسترسی به رجیستر در یک سیکل ساعت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پردازنده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(یا کمتر) انجام می‌شود</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حافظه اصلی می‌تواند چندین سیکل طول بکشد و باعث توقف</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Stall</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 پردازنده</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شود</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lvl="1" indent="-342900" algn="r" rtl="1">
              <a:buFont typeface="Wingdings" panose="05000000000000000000" pitchFamily="2" charset="2"/>
              <a:buChar char=""/>
              <a:tabLst>
                <a:tab pos="457200" algn="l"/>
              </a:tabLst>
            </a:pP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کش بین حافظه اصلی و رجیسترهای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پردازنده برای کمتر کردن توقف</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قرار می‌گیرد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برای اطمینان از عملکرد صحیح، حفاظت از حافظه ضروری است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5685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E119B86-5C5B-4A93-AC7C-158FC121EE16}"/>
              </a:ext>
            </a:extLst>
          </p:cNvPr>
          <p:cNvSpPr>
            <a:spLocks noGrp="1" noChangeArrowheads="1"/>
          </p:cNvSpPr>
          <p:nvPr>
            <p:ph type="title"/>
          </p:nvPr>
        </p:nvSpPr>
        <p:spPr>
          <a:xfrm>
            <a:off x="1265238" y="224685"/>
            <a:ext cx="6559550" cy="576262"/>
          </a:xfrm>
        </p:spPr>
        <p:txBody>
          <a:bodyPr/>
          <a:lstStyle/>
          <a:p>
            <a:pPr eaLnBrk="1" hangingPunct="1"/>
            <a:r>
              <a:rPr lang="fa-IR" sz="3200" dirty="0">
                <a:effectLst/>
                <a:latin typeface="Calibri" panose="020F0502020204030204" pitchFamily="34" charset="0"/>
                <a:ea typeface="Calibri" panose="020F0502020204030204" pitchFamily="34" charset="0"/>
                <a:cs typeface="B Nazanin" panose="00000400000000000000" pitchFamily="2" charset="-78"/>
              </a:rPr>
              <a:t>محافظت</a:t>
            </a:r>
            <a:endParaRPr lang="en-US" altLang="en-US" dirty="0"/>
          </a:p>
        </p:txBody>
      </p:sp>
      <p:pic>
        <p:nvPicPr>
          <p:cNvPr id="7172" name="Picture 5" descr="W:\os-book\OS10\slide-dir\os-figures\9_01.jpg">
            <a:extLst>
              <a:ext uri="{FF2B5EF4-FFF2-40B4-BE49-F238E27FC236}">
                <a16:creationId xmlns:a16="http://schemas.microsoft.com/office/drawing/2014/main" id="{AFDDF805-A4EF-4AEB-B1EC-649AE08850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343" y="3262589"/>
            <a:ext cx="3263900" cy="318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0E758276-5620-467D-B5A9-469FC8A394A2}"/>
              </a:ext>
            </a:extLst>
          </p:cNvPr>
          <p:cNvSpPr txBox="1"/>
          <p:nvPr/>
        </p:nvSpPr>
        <p:spPr>
          <a:xfrm>
            <a:off x="349134" y="1062507"/>
            <a:ext cx="8445731" cy="3043205"/>
          </a:xfrm>
          <a:prstGeom prst="rect">
            <a:avLst/>
          </a:prstGeom>
          <a:noFill/>
        </p:spPr>
        <p:txBody>
          <a:bodyPr wrap="square">
            <a:spAutoFit/>
          </a:bodyPr>
          <a:lstStyle/>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باید مطمئن شویم که یک فرآیند فقط بتواند به آدرس‌های موجود در فضای آدرس خود دسترسی پیدا کند</a:t>
            </a:r>
            <a:endParaRPr lang="fa-IR" sz="28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ما می‌توانیم این حفاظت را با استفاده از یک جفت رجیستر </a:t>
            </a:r>
            <a:r>
              <a:rPr lang="ar-SA" sz="2800" b="1" dirty="0">
                <a:effectLst/>
                <a:latin typeface="Calibri" panose="020F0502020204030204" pitchFamily="34" charset="0"/>
                <a:ea typeface="Calibri" panose="020F0502020204030204" pitchFamily="34" charset="0"/>
                <a:cs typeface="B Nazanin" panose="00000400000000000000" pitchFamily="2" charset="-78"/>
              </a:rPr>
              <a:t>پایه</a:t>
            </a:r>
            <a:r>
              <a:rPr lang="fa-IR" sz="2800" b="1" dirty="0">
                <a:effectLst/>
                <a:latin typeface="Calibri" panose="020F0502020204030204" pitchFamily="34" charset="0"/>
                <a:ea typeface="Calibri" panose="020F0502020204030204" pitchFamily="34" charset="0"/>
                <a:cs typeface="B Nazanin" panose="00000400000000000000" pitchFamily="2" charset="-78"/>
              </a:rPr>
              <a:t> </a:t>
            </a:r>
            <a:r>
              <a:rPr lang="en-US" sz="2800" b="1" dirty="0">
                <a:effectLst/>
                <a:latin typeface="Calibri" panose="020F0502020204030204" pitchFamily="34" charset="0"/>
                <a:ea typeface="Calibri" panose="020F0502020204030204" pitchFamily="34" charset="0"/>
                <a:cs typeface="B Nazanin" panose="00000400000000000000" pitchFamily="2" charset="-78"/>
              </a:rPr>
              <a:t>base</a:t>
            </a:r>
            <a:r>
              <a:rPr lang="ar-SA" sz="2800" dirty="0">
                <a:effectLst/>
                <a:latin typeface="Calibri" panose="020F0502020204030204" pitchFamily="34" charset="0"/>
                <a:ea typeface="Calibri" panose="020F0502020204030204" pitchFamily="34" charset="0"/>
                <a:cs typeface="B Nazanin" panose="00000400000000000000" pitchFamily="2" charset="-78"/>
              </a:rPr>
              <a:t> و </a:t>
            </a:r>
            <a:r>
              <a:rPr lang="ar-SA" sz="2800" b="1" dirty="0">
                <a:effectLst/>
                <a:latin typeface="Calibri" panose="020F0502020204030204" pitchFamily="34" charset="0"/>
                <a:ea typeface="Calibri" panose="020F0502020204030204" pitchFamily="34" charset="0"/>
                <a:cs typeface="B Nazanin" panose="00000400000000000000" pitchFamily="2" charset="-78"/>
              </a:rPr>
              <a:t>محدوده</a:t>
            </a:r>
            <a:r>
              <a:rPr lang="ar-SA" sz="2800" dirty="0">
                <a:effectLst/>
                <a:latin typeface="Calibri" panose="020F0502020204030204" pitchFamily="34" charset="0"/>
                <a:ea typeface="Calibri" panose="020F0502020204030204" pitchFamily="34" charset="0"/>
                <a:cs typeface="B Nazanin" panose="00000400000000000000" pitchFamily="2" charset="-78"/>
              </a:rPr>
              <a:t> </a:t>
            </a:r>
            <a:r>
              <a:rPr lang="en-US" sz="2800" dirty="0">
                <a:effectLst/>
                <a:latin typeface="Calibri" panose="020F0502020204030204" pitchFamily="34" charset="0"/>
                <a:ea typeface="Calibri" panose="020F0502020204030204" pitchFamily="34" charset="0"/>
                <a:cs typeface="B Nazanin" panose="00000400000000000000" pitchFamily="2" charset="-78"/>
              </a:rPr>
              <a:t>limit </a:t>
            </a:r>
            <a:r>
              <a:rPr lang="fa-IR"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ارائه دهیم که فضای آدرس منطقی یک فرآیند را تعریف می‌کنند</a:t>
            </a:r>
            <a:r>
              <a:rPr lang="en-US" sz="2800" dirty="0">
                <a:effectLst/>
                <a:latin typeface="Calibri" panose="020F0502020204030204" pitchFamily="34" charset="0"/>
                <a:ea typeface="Calibri" panose="020F0502020204030204" pitchFamily="34" charset="0"/>
                <a:cs typeface="B Nazanin" panose="00000400000000000000" pitchFamily="2" charset="-78"/>
              </a:rPr>
              <a:t>.</a:t>
            </a: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CC028BA8-06B9-45E5-8D07-E0D431ECFD59}"/>
              </a:ext>
            </a:extLst>
          </p:cNvPr>
          <p:cNvSpPr txBox="1"/>
          <p:nvPr/>
        </p:nvSpPr>
        <p:spPr>
          <a:xfrm>
            <a:off x="3531203" y="3745523"/>
            <a:ext cx="5263662" cy="2397451"/>
          </a:xfrm>
          <a:prstGeom prst="rect">
            <a:avLst/>
          </a:prstGeom>
          <a:noFill/>
        </p:spPr>
        <p:txBody>
          <a:bodyPr wrap="square">
            <a:spAutoFit/>
          </a:bodyPr>
          <a:lstStyle/>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fa-IR" sz="2800" dirty="0">
                <a:latin typeface="Calibri" panose="020F0502020204030204" pitchFamily="34" charset="0"/>
                <a:cs typeface="B Nazanin" panose="00000400000000000000" pitchFamily="2" charset="-78"/>
              </a:rPr>
              <a:t>به عنوان مثال، اگر ثبات پایه 300040 داشته باشد و رجیستر محدود 120900 باشد، برنامه می تواند به طور قانونی به همه آدرس ها از 300040 تا 420939 دسترسی داشته باشد.</a:t>
            </a:r>
            <a:endParaRPr lang="en-US" sz="2800" dirty="0">
              <a:latin typeface="Calibri" panose="020F0502020204030204" pitchFamily="34" charset="0"/>
              <a:cs typeface="B Nazanin" panose="00000400000000000000" pitchFamily="2" charset="-7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0FEA4152-F51E-450F-8EB1-7EDAF762DFDB}"/>
              </a:ext>
            </a:extLst>
          </p:cNvPr>
          <p:cNvSpPr>
            <a:spLocks noGrp="1"/>
          </p:cNvSpPr>
          <p:nvPr>
            <p:ph type="title"/>
          </p:nvPr>
        </p:nvSpPr>
        <p:spPr>
          <a:xfrm>
            <a:off x="941388" y="228636"/>
            <a:ext cx="7745412" cy="576262"/>
          </a:xfrm>
        </p:spPr>
        <p:txBody>
          <a:bodyPr/>
          <a:lstStyle/>
          <a:p>
            <a:r>
              <a:rPr lang="fa-IR" sz="3200" dirty="0">
                <a:latin typeface="Calibri" panose="020F0502020204030204" pitchFamily="34" charset="0"/>
                <a:ea typeface="Calibri" panose="020F0502020204030204" pitchFamily="34" charset="0"/>
                <a:cs typeface="B Nazanin" panose="00000400000000000000" pitchFamily="2" charset="-78"/>
              </a:rPr>
              <a:t>محافظت از آدرس سخت‌افزاری</a:t>
            </a:r>
            <a:endParaRPr lang="en-US" altLang="en-US" dirty="0"/>
          </a:p>
        </p:txBody>
      </p:sp>
      <p:sp>
        <p:nvSpPr>
          <p:cNvPr id="8195" name="Content Placeholder 3">
            <a:extLst>
              <a:ext uri="{FF2B5EF4-FFF2-40B4-BE49-F238E27FC236}">
                <a16:creationId xmlns:a16="http://schemas.microsoft.com/office/drawing/2014/main" id="{E339BA72-DE38-4DD0-AECD-94CEBF5B201D}"/>
              </a:ext>
            </a:extLst>
          </p:cNvPr>
          <p:cNvSpPr>
            <a:spLocks noGrp="1"/>
          </p:cNvSpPr>
          <p:nvPr>
            <p:ph idx="1"/>
          </p:nvPr>
        </p:nvSpPr>
        <p:spPr>
          <a:xfrm>
            <a:off x="321648" y="1001705"/>
            <a:ext cx="8560438" cy="4756158"/>
          </a:xfrm>
        </p:spPr>
        <p:txBody>
          <a:bodyPr/>
          <a:lstStyle/>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fa-IR" sz="2400" dirty="0">
                <a:latin typeface="Calibri" panose="020F0502020204030204" pitchFamily="34" charset="0"/>
                <a:ea typeface="Calibri" panose="020F0502020204030204" pitchFamily="34" charset="0"/>
                <a:cs typeface="B Nazanin" panose="00000400000000000000" pitchFamily="2" charset="-78"/>
              </a:rPr>
              <a:t>پردازنده</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باید هر دسترسی به حافظه که در حالت کاربر ایجاد می‌شود را بررسی کند تا مطمئن شود بین پایه و محدوده برای آن کاربر قرار دارد</a:t>
            </a:r>
            <a:r>
              <a:rPr lang="en-US" sz="2400" dirty="0">
                <a:effectLst/>
                <a:latin typeface="Calibri" panose="020F0502020204030204" pitchFamily="34" charset="0"/>
                <a:ea typeface="Calibri" panose="020F0502020204030204" pitchFamily="34" charset="0"/>
                <a:cs typeface="B Nazanin" panose="00000400000000000000" pitchFamily="2" charset="-78"/>
              </a:rPr>
              <a:t>. </a:t>
            </a:r>
            <a:endParaRPr lang="fa-IR" sz="24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endParaRPr lang="fa-IR" sz="2400" dirty="0">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endParaRPr lang="fa-IR" sz="24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endParaRPr lang="fa-IR" sz="2400" dirty="0">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endParaRPr lang="fa-IR" sz="24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endParaRPr lang="fa-IR" sz="2400" dirty="0">
              <a:latin typeface="Calibri" panose="020F0502020204030204" pitchFamily="34" charset="0"/>
              <a:ea typeface="Calibri" panose="020F0502020204030204" pitchFamily="34" charset="0"/>
              <a:cs typeface="B Nazanin" panose="00000400000000000000" pitchFamily="2" charset="-78"/>
            </a:endParaRPr>
          </a:p>
          <a:p>
            <a:pPr marL="0" marR="0" lvl="0" indent="0" algn="r" rtl="1">
              <a:lnSpc>
                <a:spcPct val="107000"/>
              </a:lnSpc>
              <a:spcBef>
                <a:spcPts val="0"/>
              </a:spcBef>
              <a:spcAft>
                <a:spcPts val="800"/>
              </a:spcAft>
              <a:buNone/>
              <a:tabLst>
                <a:tab pos="457200" algn="l"/>
              </a:tabLst>
            </a:pPr>
            <a:endParaRPr lang="fa-IR" sz="24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endParaRPr lang="fa-IR" sz="24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دستورالعمل‌های مربوط به بارگذاری رجیسترهای پایه و محدوده دارای امتیاز هستند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8196" name="Picture 4" descr="W:\os-book\OS10\slide-dir\os-figures\9_02.jpg">
            <a:extLst>
              <a:ext uri="{FF2B5EF4-FFF2-40B4-BE49-F238E27FC236}">
                <a16:creationId xmlns:a16="http://schemas.microsoft.com/office/drawing/2014/main" id="{174AFAC5-44F9-4ADE-8DC6-07277643F8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2130" y="2331257"/>
            <a:ext cx="5251450"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0796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1270BE95-63FA-4E80-993B-493058D85F67}"/>
              </a:ext>
            </a:extLst>
          </p:cNvPr>
          <p:cNvSpPr>
            <a:spLocks noGrp="1"/>
          </p:cNvSpPr>
          <p:nvPr>
            <p:ph type="title"/>
          </p:nvPr>
        </p:nvSpPr>
        <p:spPr>
          <a:xfrm>
            <a:off x="457200" y="235568"/>
            <a:ext cx="8229600" cy="576262"/>
          </a:xfrm>
        </p:spPr>
        <p:txBody>
          <a:bodyPr/>
          <a:lstStyle/>
          <a:p>
            <a:r>
              <a:rPr lang="en-US" dirty="0">
                <a:latin typeface="Calibri" panose="020F0502020204030204" pitchFamily="34" charset="0"/>
                <a:ea typeface="Calibri" panose="020F0502020204030204" pitchFamily="34" charset="0"/>
                <a:cs typeface="B Nazanin" panose="00000400000000000000" pitchFamily="2" charset="-78"/>
              </a:rPr>
              <a:t>Address Bind</a:t>
            </a:r>
            <a:r>
              <a:rPr lang="fa-IR" dirty="0">
                <a:latin typeface="Calibri" panose="020F0502020204030204" pitchFamily="34" charset="0"/>
                <a:ea typeface="Calibri" panose="020F0502020204030204" pitchFamily="34" charset="0"/>
                <a:cs typeface="B Nazanin" panose="00000400000000000000" pitchFamily="2" charset="-78"/>
              </a:rPr>
              <a:t>اتصال آدرس</a:t>
            </a:r>
            <a:endParaRPr lang="en-US" altLang="en-US" dirty="0"/>
          </a:p>
        </p:txBody>
      </p:sp>
      <p:sp>
        <p:nvSpPr>
          <p:cNvPr id="9219" name="Content Placeholder 2">
            <a:extLst>
              <a:ext uri="{FF2B5EF4-FFF2-40B4-BE49-F238E27FC236}">
                <a16:creationId xmlns:a16="http://schemas.microsoft.com/office/drawing/2014/main" id="{8A5804ED-6C6C-4BF4-8BFF-7FB99CC306D3}"/>
              </a:ext>
            </a:extLst>
          </p:cNvPr>
          <p:cNvSpPr>
            <a:spLocks noGrp="1"/>
          </p:cNvSpPr>
          <p:nvPr>
            <p:ph idx="1"/>
          </p:nvPr>
        </p:nvSpPr>
        <p:spPr>
          <a:xfrm>
            <a:off x="193040" y="871651"/>
            <a:ext cx="8757919" cy="6390978"/>
          </a:xfrm>
        </p:spPr>
        <p:txBody>
          <a:bodyPr/>
          <a:lstStyle/>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برنامه‌های روی دیسک، آماده برای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آمدن</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به حافظه</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 برای اجرا،</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یک صف ورودی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را تشکیل می‌دهند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lvl="1"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بدون پشتیبانی، باید در آدرس 0000 بارگذاری شوند</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اینکه آدرس فیزیکی اولین فرآیند کاربر همیشه در 0000 باشد، ناخوشایند است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آدرس‌ها در مراحل مختلف عمر برنامه به روش‌های مختلف نشان داده می‌شوند</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lvl="1"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آدرس‌های کد منبع معمولاً نمادین هستند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lvl="1"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آدرس‌های کد کامپایل شده به آدرس‌های قابل جابه‌جایی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متصل</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می‌شوند</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lvl="2"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به عنوان مثال، "14 بایت از ابتدای این ماژول</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lvl="2" indent="-342900" algn="r" rtl="1">
              <a:buFont typeface="Wingdings" panose="05000000000000000000" pitchFamily="2" charset="2"/>
              <a:buChar char=""/>
              <a:tabLst>
                <a:tab pos="457200" algn="l"/>
              </a:tabLst>
            </a:pP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لینکر</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(linker)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یا لودر</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(loader)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آدرس‌های قابل جابه‌جایی </a:t>
            </a:r>
            <a:r>
              <a:rPr lang="en-US" sz="2400" dirty="0"/>
              <a:t>relocatable addresses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را به آدرس‌های مطلق متصل می‌کنند</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lvl="3"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به عنوان مثال، 74014 </a:t>
            </a:r>
            <a:endParaRPr lang="fa-IR"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lvl="3"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هر اتصال </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binding</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یک فضای آدرس را به فضای دیگر نگاشت می‌کند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99272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631FDCDF-862F-4130-9AC2-74FFC425A8A9}"/>
              </a:ext>
            </a:extLst>
          </p:cNvPr>
          <p:cNvSpPr>
            <a:spLocks noGrp="1" noChangeArrowheads="1"/>
          </p:cNvSpPr>
          <p:nvPr>
            <p:ph type="title"/>
          </p:nvPr>
        </p:nvSpPr>
        <p:spPr>
          <a:xfrm>
            <a:off x="862692" y="346499"/>
            <a:ext cx="8134350" cy="457200"/>
          </a:xfrm>
        </p:spPr>
        <p:txBody>
          <a:bodyPr/>
          <a:lstStyle/>
          <a:p>
            <a:pPr eaLnBrk="1" hangingPunct="1"/>
            <a:r>
              <a:rPr lang="fa-IR" sz="2800" dirty="0">
                <a:latin typeface="Calibri" panose="020F0502020204030204" pitchFamily="34" charset="0"/>
                <a:ea typeface="Calibri" panose="020F0502020204030204" pitchFamily="34" charset="0"/>
                <a:cs typeface="B Nazanin" panose="00000400000000000000" pitchFamily="2" charset="-78"/>
              </a:rPr>
              <a:t>اتصال دستورالعمل ها در حافظه</a:t>
            </a:r>
            <a:endParaRPr lang="en-US" altLang="en-US" sz="2800" dirty="0"/>
          </a:p>
        </p:txBody>
      </p:sp>
      <p:sp>
        <p:nvSpPr>
          <p:cNvPr id="10243" name="Rectangle 3">
            <a:extLst>
              <a:ext uri="{FF2B5EF4-FFF2-40B4-BE49-F238E27FC236}">
                <a16:creationId xmlns:a16="http://schemas.microsoft.com/office/drawing/2014/main" id="{0EEA4A90-B04E-4456-A1FE-DC4568DFF5CA}"/>
              </a:ext>
            </a:extLst>
          </p:cNvPr>
          <p:cNvSpPr>
            <a:spLocks noGrp="1" noChangeArrowheads="1"/>
          </p:cNvSpPr>
          <p:nvPr>
            <p:ph idx="1"/>
          </p:nvPr>
        </p:nvSpPr>
        <p:spPr>
          <a:xfrm>
            <a:off x="424288" y="1301027"/>
            <a:ext cx="8295424" cy="4792202"/>
          </a:xfrm>
        </p:spPr>
        <p:txBody>
          <a:bodyPr/>
          <a:lstStyle/>
          <a:p>
            <a:pPr marL="0" marR="0" algn="r" rtl="1">
              <a:lnSpc>
                <a:spcPct val="107000"/>
              </a:lnSpc>
              <a:spcBef>
                <a:spcPts val="0"/>
              </a:spcBef>
              <a:spcAft>
                <a:spcPts val="800"/>
              </a:spcAft>
            </a:pP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اتصال یا </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bind</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آدرس دستورالعمل‌ها و داده‌ها به آدرس‌های حافظه می‌تواند در سه مرحله‌ی مختلف اتفاق بیفتد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زمان کامپایل (تجميع)</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اگر موقعیت حافظه از قبل مشخص باشد، کد مطلق</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(Absolute Code)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قابل تولید است؛ اما اگر موقعیت شروع تغییر کند، کد نیاز به کامپایل مجدد دارد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زمان</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2400" b="1" dirty="0">
                <a:effectLst/>
                <a:latin typeface="Times New Roman" panose="02020603050405020304" pitchFamily="18" charset="0"/>
                <a:ea typeface="Times New Roman" panose="02020603050405020304" pitchFamily="18" charset="0"/>
                <a:cs typeface="B Nazanin" panose="00000400000000000000" pitchFamily="2" charset="-78"/>
              </a:rPr>
              <a:t>لود یا</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 بارگذاری</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اگر موقعیت حافظه در زمان کامپایل مشخص نباشد، باید کد قابل جابه‌جایی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(Relocatable Code)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تولید شود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زمان اجرا</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اگر فرآیند در طول اجرا بتواند از یک بخش حافظه به بخش دیگر منتقل شود،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اتصال</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آدرس تا زمان اجرا به تعویق می‌افتد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برای نگاشت‌های آدرس (مانند رجیسترهای پایه و محدوده) به پشتیبانی سخت‌افزاری نیاز است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813782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6EE17CB2-3EF8-43F1-A8BB-98F682CD0EF3}"/>
              </a:ext>
            </a:extLst>
          </p:cNvPr>
          <p:cNvSpPr>
            <a:spLocks noGrp="1" noChangeArrowheads="1"/>
          </p:cNvSpPr>
          <p:nvPr>
            <p:ph type="title"/>
          </p:nvPr>
        </p:nvSpPr>
        <p:spPr>
          <a:xfrm>
            <a:off x="993808" y="235762"/>
            <a:ext cx="7548562" cy="576262"/>
          </a:xfrm>
        </p:spPr>
        <p:txBody>
          <a:bodyPr/>
          <a:lstStyle/>
          <a:p>
            <a:pPr eaLnBrk="1" hangingPunct="1"/>
            <a:r>
              <a:rPr lang="fa-IR" sz="3200" dirty="0">
                <a:effectLst/>
                <a:latin typeface="Calibri" panose="020F0502020204030204" pitchFamily="34" charset="0"/>
                <a:ea typeface="Calibri" panose="020F0502020204030204" pitchFamily="34" charset="0"/>
                <a:cs typeface="B Nazanin" panose="00000400000000000000" pitchFamily="2" charset="-78"/>
              </a:rPr>
              <a:t>فضای آدرس فیزیکی و منطقی</a:t>
            </a:r>
            <a:endParaRPr lang="en-US" altLang="en-US" dirty="0"/>
          </a:p>
        </p:txBody>
      </p:sp>
      <p:sp>
        <p:nvSpPr>
          <p:cNvPr id="12291" name="Rectangle 3">
            <a:extLst>
              <a:ext uri="{FF2B5EF4-FFF2-40B4-BE49-F238E27FC236}">
                <a16:creationId xmlns:a16="http://schemas.microsoft.com/office/drawing/2014/main" id="{C26127BF-B122-444D-8E10-A4BB1E147CB0}"/>
              </a:ext>
            </a:extLst>
          </p:cNvPr>
          <p:cNvSpPr>
            <a:spLocks noGrp="1" noChangeArrowheads="1"/>
          </p:cNvSpPr>
          <p:nvPr>
            <p:ph idx="1"/>
          </p:nvPr>
        </p:nvSpPr>
        <p:spPr>
          <a:xfrm>
            <a:off x="146538" y="935488"/>
            <a:ext cx="8918185" cy="5740804"/>
          </a:xfrm>
        </p:spPr>
        <p:txBody>
          <a:bodyPr/>
          <a:lstStyle/>
          <a:p>
            <a:pPr marL="0" marR="0" algn="r" rtl="1">
              <a:lnSpc>
                <a:spcPct val="107000"/>
              </a:lnSpc>
              <a:spcBef>
                <a:spcPts val="0"/>
              </a:spcBef>
              <a:spcAft>
                <a:spcPts val="800"/>
              </a:spcAf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مفهوم فضای آدرس منطقی که به یک فضای آدرس فیزیکی مجزا متصل شده است، برای مدیریت صحیح حافظه ضروری است</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solidFill>
                  <a:srgbClr val="00B0F0"/>
                </a:solidFill>
                <a:effectLst/>
                <a:latin typeface="Times New Roman" panose="02020603050405020304" pitchFamily="18" charset="0"/>
                <a:ea typeface="Times New Roman" panose="02020603050405020304" pitchFamily="18" charset="0"/>
                <a:cs typeface="B Nazanin" panose="00000400000000000000" pitchFamily="2" charset="-78"/>
              </a:rPr>
              <a:t>آدرس منطقی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(یا آدرس مجازی)</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توسط</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پردازنده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تولید می‌شود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solidFill>
                  <a:srgbClr val="00B0F0"/>
                </a:solidFill>
                <a:effectLst/>
                <a:latin typeface="Times New Roman" panose="02020603050405020304" pitchFamily="18" charset="0"/>
                <a:ea typeface="Times New Roman" panose="02020603050405020304" pitchFamily="18" charset="0"/>
                <a:cs typeface="B Nazanin" panose="00000400000000000000" pitchFamily="2" charset="-78"/>
              </a:rPr>
              <a:t>آدرس فیزیکی</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آدرسی که واحد حافظه می‌بیند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در </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الگو‌های</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اتصال</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آدرس در زمان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کامپایل و بارگذاری،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آدرس‌های منطقی و فیزیکی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یکسان</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هستند؛ در </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الگو‌های</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اتصال</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آدرس در زمان اجرا، آدرس‌های منطقی (مجازی) و فیزیکی با هم تفاوت دارند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fa-IR" sz="2800" dirty="0">
              <a:latin typeface="Calibri" panose="020F0502020204030204" pitchFamily="34" charset="0"/>
              <a:ea typeface="Times New Roman" panose="02020603050405020304" pitchFamily="18" charset="0"/>
              <a:cs typeface="Arial" panose="020B0604020202020204" pitchFamily="34" charset="0"/>
            </a:endParaRPr>
          </a:p>
          <a:p>
            <a:pPr marL="0" marR="0" algn="r" rtl="1">
              <a:lnSpc>
                <a:spcPct val="107000"/>
              </a:lnSpc>
              <a:spcBef>
                <a:spcPts val="0"/>
              </a:spcBef>
              <a:spcAft>
                <a:spcPts val="800"/>
              </a:spcAft>
            </a:pPr>
            <a:r>
              <a:rPr lang="ar-SA" sz="2800" b="1" dirty="0">
                <a:solidFill>
                  <a:srgbClr val="00B0F0"/>
                </a:solidFill>
                <a:effectLst/>
                <a:latin typeface="Times New Roman" panose="02020603050405020304" pitchFamily="18" charset="0"/>
                <a:ea typeface="Times New Roman" panose="02020603050405020304" pitchFamily="18" charset="0"/>
                <a:cs typeface="B Nazanin" panose="00000400000000000000" pitchFamily="2" charset="-78"/>
              </a:rPr>
              <a:t>فضای آدرس منطقی</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مجموعه‌ی تمام آدرس‌های منطقی تولید شده توسط یک برنامه است</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fa-IR" sz="2800" dirty="0">
              <a:latin typeface="Calibri" panose="020F0502020204030204" pitchFamily="34" charset="0"/>
              <a:ea typeface="Times New Roman" panose="02020603050405020304" pitchFamily="18" charset="0"/>
              <a:cs typeface="Arial" panose="020B0604020202020204" pitchFamily="34" charset="0"/>
            </a:endParaRPr>
          </a:p>
          <a:p>
            <a:pPr marL="0" marR="0" algn="r" rtl="1">
              <a:lnSpc>
                <a:spcPct val="107000"/>
              </a:lnSpc>
              <a:spcBef>
                <a:spcPts val="0"/>
              </a:spcBef>
              <a:spcAft>
                <a:spcPts val="800"/>
              </a:spcAft>
            </a:pPr>
            <a:r>
              <a:rPr lang="ar-SA" sz="2800" b="1" dirty="0">
                <a:solidFill>
                  <a:srgbClr val="00B0F0"/>
                </a:solidFill>
                <a:effectLst/>
                <a:latin typeface="Times New Roman" panose="02020603050405020304" pitchFamily="18" charset="0"/>
                <a:ea typeface="Times New Roman" panose="02020603050405020304" pitchFamily="18" charset="0"/>
                <a:cs typeface="B Nazanin" panose="00000400000000000000" pitchFamily="2" charset="-78"/>
              </a:rPr>
              <a:t>فضای آدرس فیزیکی</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مجموعه‌ی تمام آدرس‌های فیزیکی تولید شده توسط یک برنامه است</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10959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B95EF18-CDEF-4577-B2D3-2194188A6B2D}"/>
              </a:ext>
            </a:extLst>
          </p:cNvPr>
          <p:cNvSpPr>
            <a:spLocks noGrp="1" noChangeArrowheads="1"/>
          </p:cNvSpPr>
          <p:nvPr>
            <p:ph type="title"/>
          </p:nvPr>
        </p:nvSpPr>
        <p:spPr>
          <a:xfrm>
            <a:off x="879475" y="225267"/>
            <a:ext cx="7839075" cy="576262"/>
          </a:xfrm>
        </p:spPr>
        <p:txBody>
          <a:bodyPr/>
          <a:lstStyle/>
          <a:p>
            <a:pPr eaLnBrk="1" hangingPunct="1"/>
            <a:r>
              <a:rPr lang="fa-IR" b="1" dirty="0">
                <a:solidFill>
                  <a:srgbClr val="006699"/>
                </a:solidFill>
                <a:effectLst/>
                <a:latin typeface="Calibri" panose="020F0502020204030204" pitchFamily="34" charset="0"/>
                <a:ea typeface="Calibri" panose="020F0502020204030204" pitchFamily="34" charset="0"/>
                <a:cs typeface="B Nazanin" panose="00000400000000000000" pitchFamily="2" charset="-78"/>
              </a:rPr>
              <a:t>واحد مدیریت حافظه (ادامه)</a:t>
            </a:r>
            <a:endParaRPr lang="en-US" altLang="en-US" sz="4800" dirty="0"/>
          </a:p>
        </p:txBody>
      </p:sp>
      <p:sp>
        <p:nvSpPr>
          <p:cNvPr id="13315" name="Rectangle 3">
            <a:extLst>
              <a:ext uri="{FF2B5EF4-FFF2-40B4-BE49-F238E27FC236}">
                <a16:creationId xmlns:a16="http://schemas.microsoft.com/office/drawing/2014/main" id="{48574B01-7329-4E5A-9F99-22E3D937557B}"/>
              </a:ext>
            </a:extLst>
          </p:cNvPr>
          <p:cNvSpPr>
            <a:spLocks noGrp="1" noChangeArrowheads="1"/>
          </p:cNvSpPr>
          <p:nvPr>
            <p:ph idx="1"/>
          </p:nvPr>
        </p:nvSpPr>
        <p:spPr>
          <a:xfrm>
            <a:off x="181708" y="1025769"/>
            <a:ext cx="8281157" cy="4606521"/>
          </a:xfrm>
        </p:spPr>
        <p:txBody>
          <a:bodyPr/>
          <a:lstStyle/>
          <a:p>
            <a:pPr algn="r" rtl="1"/>
            <a:r>
              <a:rPr lang="ar-SA" sz="2800" dirty="0">
                <a:effectLst/>
                <a:latin typeface="Calibri" panose="020F0502020204030204" pitchFamily="34" charset="0"/>
                <a:ea typeface="Calibri" panose="020F0502020204030204" pitchFamily="34" charset="0"/>
                <a:cs typeface="B Nazanin" panose="00000400000000000000" pitchFamily="2" charset="-78"/>
              </a:rPr>
              <a:t>یک سخت‌افزار در زمان اجرا، آدرس مجازی را به آدرس فیزیکی نگاشت می‌کند</a:t>
            </a:r>
            <a:endParaRPr lang="fa-IR" sz="2800" dirty="0">
              <a:effectLst/>
              <a:latin typeface="Calibri" panose="020F0502020204030204" pitchFamily="34" charset="0"/>
              <a:ea typeface="Calibri" panose="020F0502020204030204" pitchFamily="34" charset="0"/>
              <a:cs typeface="B Nazanin" panose="00000400000000000000" pitchFamily="2" charset="-78"/>
            </a:endParaRPr>
          </a:p>
          <a:p>
            <a:pPr algn="r" rtl="1"/>
            <a:endParaRPr lang="fa-IR" altLang="en-US" sz="2800" dirty="0">
              <a:latin typeface="Calibri" panose="020F0502020204030204" pitchFamily="34" charset="0"/>
              <a:cs typeface="B Nazanin" panose="00000400000000000000" pitchFamily="2" charset="-78"/>
            </a:endParaRPr>
          </a:p>
          <a:p>
            <a:pPr algn="r" rtl="1"/>
            <a:endParaRPr lang="fa-IR" altLang="en-US" sz="2800" dirty="0"/>
          </a:p>
          <a:p>
            <a:endParaRPr lang="en-US" altLang="en-US" sz="2800" dirty="0"/>
          </a:p>
          <a:p>
            <a:pPr marL="0" indent="0">
              <a:buNone/>
            </a:pPr>
            <a:endParaRPr lang="en-US" altLang="en-US" sz="2800" dirty="0"/>
          </a:p>
          <a:p>
            <a:endParaRPr lang="en-US" altLang="en-US" sz="2800" dirty="0"/>
          </a:p>
          <a:p>
            <a:pPr algn="r" rtl="1"/>
            <a:r>
              <a:rPr lang="ar-SA" sz="2800" dirty="0">
                <a:effectLst/>
                <a:latin typeface="Calibri" panose="020F0502020204030204" pitchFamily="34" charset="0"/>
                <a:ea typeface="Calibri" panose="020F0502020204030204" pitchFamily="34" charset="0"/>
                <a:cs typeface="B Nazanin" panose="00000400000000000000" pitchFamily="2" charset="-78"/>
              </a:rPr>
              <a:t>روش‌های زیادی برای این کار وجود دارد که در ادامه‌ی این فصل به آن‌ها پرداخته می‌شود</a:t>
            </a:r>
            <a:endParaRPr lang="en-US" altLang="en-US" sz="2800" dirty="0"/>
          </a:p>
          <a:p>
            <a:endParaRPr lang="en-US" altLang="en-US" sz="2800" dirty="0"/>
          </a:p>
          <a:p>
            <a:pPr>
              <a:buFont typeface="Monotype Sorts" pitchFamily="-84" charset="2"/>
              <a:buNone/>
            </a:pPr>
            <a:endParaRPr lang="en-US" altLang="en-US" sz="1050" dirty="0"/>
          </a:p>
          <a:p>
            <a:pPr>
              <a:buFont typeface="Monotype Sorts" pitchFamily="-84" charset="2"/>
              <a:buNone/>
            </a:pPr>
            <a:endParaRPr lang="en-US" altLang="en-US" sz="2800" dirty="0"/>
          </a:p>
        </p:txBody>
      </p:sp>
      <p:pic>
        <p:nvPicPr>
          <p:cNvPr id="13316" name="Picture 4" descr="W:\os-book\OS10\slide-dir\os-figures\9_04.jpg">
            <a:extLst>
              <a:ext uri="{FF2B5EF4-FFF2-40B4-BE49-F238E27FC236}">
                <a16:creationId xmlns:a16="http://schemas.microsoft.com/office/drawing/2014/main" id="{2AB2E1F5-A2FA-4767-BE68-4BD3C62D7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486" y="2140476"/>
            <a:ext cx="7091265" cy="2577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96C914D6-7DF2-4970-A533-F73CC0C0469A}"/>
              </a:ext>
            </a:extLst>
          </p:cNvPr>
          <p:cNvSpPr txBox="1"/>
          <p:nvPr/>
        </p:nvSpPr>
        <p:spPr>
          <a:xfrm>
            <a:off x="2242177" y="2544737"/>
            <a:ext cx="1145791" cy="830997"/>
          </a:xfrm>
          <a:prstGeom prst="rect">
            <a:avLst/>
          </a:prstGeom>
          <a:solidFill>
            <a:schemeClr val="bg1"/>
          </a:solidFill>
        </p:spPr>
        <p:txBody>
          <a:bodyPr wrap="square">
            <a:spAutoFit/>
          </a:bodyPr>
          <a:lstStyle/>
          <a:p>
            <a:pPr algn="ct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آدرس منطقی</a:t>
            </a:r>
            <a:endParaRPr lang="en-US" sz="2400" dirty="0"/>
          </a:p>
        </p:txBody>
      </p:sp>
      <p:sp>
        <p:nvSpPr>
          <p:cNvPr id="8" name="TextBox 7">
            <a:extLst>
              <a:ext uri="{FF2B5EF4-FFF2-40B4-BE49-F238E27FC236}">
                <a16:creationId xmlns:a16="http://schemas.microsoft.com/office/drawing/2014/main" id="{C6C42343-A4D8-4374-8881-6C49952CEAB5}"/>
              </a:ext>
            </a:extLst>
          </p:cNvPr>
          <p:cNvSpPr txBox="1"/>
          <p:nvPr/>
        </p:nvSpPr>
        <p:spPr>
          <a:xfrm>
            <a:off x="3823598" y="2960235"/>
            <a:ext cx="1482041" cy="923330"/>
          </a:xfrm>
          <a:prstGeom prst="rect">
            <a:avLst/>
          </a:prstGeom>
          <a:solidFill>
            <a:srgbClr val="C9EAFB"/>
          </a:solidFill>
        </p:spPr>
        <p:txBody>
          <a:bodyPr wrap="square">
            <a:spAutoFit/>
          </a:bodyPr>
          <a:lstStyle/>
          <a:p>
            <a:pPr algn="ctr"/>
            <a:r>
              <a:rPr lang="fa-IR" dirty="0">
                <a:latin typeface="Times New Roman" panose="02020603050405020304" pitchFamily="18" charset="0"/>
                <a:ea typeface="Times New Roman" panose="02020603050405020304" pitchFamily="18" charset="0"/>
                <a:cs typeface="B Nazanin" panose="00000400000000000000" pitchFamily="2" charset="-78"/>
              </a:rPr>
              <a:t>واحد مدیریت‌حافظه </a:t>
            </a:r>
            <a:r>
              <a:rPr lang="en-US" dirty="0">
                <a:effectLst/>
                <a:latin typeface="Times New Roman" panose="02020603050405020304" pitchFamily="18" charset="0"/>
                <a:ea typeface="Times New Roman" panose="02020603050405020304" pitchFamily="18" charset="0"/>
                <a:cs typeface="B Nazanin" panose="00000400000000000000" pitchFamily="2" charset="-78"/>
              </a:rPr>
              <a:t>MMU</a:t>
            </a:r>
            <a:endParaRPr lang="en-US" dirty="0"/>
          </a:p>
        </p:txBody>
      </p:sp>
      <p:sp>
        <p:nvSpPr>
          <p:cNvPr id="9" name="TextBox 8">
            <a:extLst>
              <a:ext uri="{FF2B5EF4-FFF2-40B4-BE49-F238E27FC236}">
                <a16:creationId xmlns:a16="http://schemas.microsoft.com/office/drawing/2014/main" id="{D983CB39-5B16-43F4-A7F5-0C1017736A8A}"/>
              </a:ext>
            </a:extLst>
          </p:cNvPr>
          <p:cNvSpPr txBox="1"/>
          <p:nvPr/>
        </p:nvSpPr>
        <p:spPr>
          <a:xfrm>
            <a:off x="1085249" y="3259723"/>
            <a:ext cx="886772" cy="400110"/>
          </a:xfrm>
          <a:prstGeom prst="rect">
            <a:avLst/>
          </a:prstGeom>
          <a:solidFill>
            <a:srgbClr val="E7E7E5"/>
          </a:solidFill>
          <a:ln>
            <a:noFill/>
          </a:ln>
        </p:spPr>
        <p:txBody>
          <a:bodyPr wrap="square">
            <a:spAutoFit/>
          </a:bodyPr>
          <a:lstStyle/>
          <a:p>
            <a:pPr algn="ct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پردازنده</a:t>
            </a:r>
            <a:endParaRPr lang="en-US" sz="2000" dirty="0"/>
          </a:p>
        </p:txBody>
      </p:sp>
      <p:sp>
        <p:nvSpPr>
          <p:cNvPr id="10" name="TextBox 9">
            <a:extLst>
              <a:ext uri="{FF2B5EF4-FFF2-40B4-BE49-F238E27FC236}">
                <a16:creationId xmlns:a16="http://schemas.microsoft.com/office/drawing/2014/main" id="{5E2BDDCE-855C-48DB-A981-8735DBB75A9B}"/>
              </a:ext>
            </a:extLst>
          </p:cNvPr>
          <p:cNvSpPr txBox="1"/>
          <p:nvPr/>
        </p:nvSpPr>
        <p:spPr>
          <a:xfrm>
            <a:off x="7040764" y="3021791"/>
            <a:ext cx="886772" cy="707886"/>
          </a:xfrm>
          <a:prstGeom prst="rect">
            <a:avLst/>
          </a:prstGeom>
          <a:solidFill>
            <a:srgbClr val="E7E7E5"/>
          </a:solidFill>
          <a:ln>
            <a:noFill/>
          </a:ln>
        </p:spPr>
        <p:txBody>
          <a:bodyPr wrap="square">
            <a:spAutoFit/>
          </a:bodyPr>
          <a:lstStyle/>
          <a:p>
            <a:pPr algn="ct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حافظه فیزیکی</a:t>
            </a:r>
            <a:endParaRPr lang="en-US" sz="2000" dirty="0"/>
          </a:p>
        </p:txBody>
      </p:sp>
      <p:sp>
        <p:nvSpPr>
          <p:cNvPr id="11" name="TextBox 10">
            <a:extLst>
              <a:ext uri="{FF2B5EF4-FFF2-40B4-BE49-F238E27FC236}">
                <a16:creationId xmlns:a16="http://schemas.microsoft.com/office/drawing/2014/main" id="{5310B739-576A-4774-BE37-EA00A1529A1A}"/>
              </a:ext>
            </a:extLst>
          </p:cNvPr>
          <p:cNvSpPr txBox="1"/>
          <p:nvPr/>
        </p:nvSpPr>
        <p:spPr>
          <a:xfrm>
            <a:off x="5502084" y="2428726"/>
            <a:ext cx="1145791" cy="830997"/>
          </a:xfrm>
          <a:prstGeom prst="rect">
            <a:avLst/>
          </a:prstGeom>
          <a:solidFill>
            <a:schemeClr val="bg1"/>
          </a:solidFill>
        </p:spPr>
        <p:txBody>
          <a:bodyPr wrap="square">
            <a:spAutoFit/>
          </a:bodyPr>
          <a:lstStyle/>
          <a:p>
            <a:pPr algn="ct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آدرس فیزیکی</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C1853C0D-86FA-4ABD-BE59-06CB86C67253}"/>
              </a:ext>
            </a:extLst>
          </p:cNvPr>
          <p:cNvSpPr>
            <a:spLocks noGrp="1" noChangeArrowheads="1"/>
          </p:cNvSpPr>
          <p:nvPr>
            <p:ph type="title"/>
          </p:nvPr>
        </p:nvSpPr>
        <p:spPr>
          <a:xfrm>
            <a:off x="879475" y="225265"/>
            <a:ext cx="7839075" cy="576262"/>
          </a:xfrm>
        </p:spPr>
        <p:txBody>
          <a:bodyPr/>
          <a:lstStyle/>
          <a:p>
            <a:pPr eaLnBrk="1" hangingPunct="1"/>
            <a:r>
              <a:rPr lang="fa-IR" sz="3200" dirty="0">
                <a:effectLst/>
                <a:latin typeface="Calibri" panose="020F0502020204030204" pitchFamily="34" charset="0"/>
                <a:ea typeface="Calibri" panose="020F0502020204030204" pitchFamily="34" charset="0"/>
                <a:cs typeface="B Nazanin" panose="00000400000000000000" pitchFamily="2" charset="-78"/>
              </a:rPr>
              <a:t>واحد مدیریت حافظه (ادامه)</a:t>
            </a:r>
            <a:endParaRPr lang="en-US" altLang="en-US" dirty="0"/>
          </a:p>
        </p:txBody>
      </p:sp>
      <p:sp>
        <p:nvSpPr>
          <p:cNvPr id="13315" name="Rectangle 3">
            <a:extLst>
              <a:ext uri="{FF2B5EF4-FFF2-40B4-BE49-F238E27FC236}">
                <a16:creationId xmlns:a16="http://schemas.microsoft.com/office/drawing/2014/main" id="{CFED0DC6-3DA5-44F7-A884-CB2916BA4B49}"/>
              </a:ext>
            </a:extLst>
          </p:cNvPr>
          <p:cNvSpPr>
            <a:spLocks noGrp="1" noChangeArrowheads="1"/>
          </p:cNvSpPr>
          <p:nvPr>
            <p:ph idx="1"/>
          </p:nvPr>
        </p:nvSpPr>
        <p:spPr>
          <a:xfrm>
            <a:off x="339970" y="1025769"/>
            <a:ext cx="8636188" cy="5873262"/>
          </a:xfrm>
        </p:spPr>
        <p:txBody>
          <a:bodyPr/>
          <a:lstStyle/>
          <a:p>
            <a:pPr marL="342900" marR="0" lvl="0" indent="-342900" algn="r" rtl="1">
              <a:buFont typeface="Wingdings" panose="05000000000000000000" pitchFamily="2" charset="2"/>
              <a:buChar char=""/>
              <a:tabLst>
                <a:tab pos="457200" algn="l"/>
              </a:tabLs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یک طرح ساده که تعمیمی از طرح رجیستر</a:t>
            </a:r>
            <a:r>
              <a:rPr lang="fa-IR" sz="28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 پایه است را در نظر بگیرید</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در این طرح، رجیستر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پایه</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اکنون </a:t>
            </a:r>
            <a:r>
              <a:rPr lang="ar-SA" sz="2800" u="sng" dirty="0">
                <a:effectLst/>
                <a:latin typeface="Times New Roman" panose="02020603050405020304" pitchFamily="18" charset="0"/>
                <a:ea typeface="Times New Roman" panose="02020603050405020304" pitchFamily="18" charset="0"/>
                <a:cs typeface="B Nazanin" panose="00000400000000000000" pitchFamily="2" charset="-78"/>
              </a:rPr>
              <a:t>رجیستر </a:t>
            </a:r>
            <a:r>
              <a:rPr lang="fa-IR" sz="2800" u="sng" dirty="0">
                <a:latin typeface="Times New Roman" panose="02020603050405020304" pitchFamily="18" charset="0"/>
                <a:ea typeface="Times New Roman" panose="02020603050405020304" pitchFamily="18" charset="0"/>
                <a:cs typeface="B Nazanin" panose="00000400000000000000" pitchFamily="2" charset="-78"/>
              </a:rPr>
              <a:t>جابجایی</a:t>
            </a:r>
            <a:r>
              <a:rPr lang="en-US" sz="2800" u="sng"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Relocation</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Register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نامیده می‌شود</a:t>
            </a:r>
            <a:endParaRPr lang="fa-IR" sz="28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Font typeface="Wingdings" panose="05000000000000000000" pitchFamily="2" charset="2"/>
              <a:buChar char=""/>
              <a:tabLst>
                <a:tab pos="457200" algn="l"/>
              </a:tabLst>
            </a:pP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مقدار موجود در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رجیستر</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2800" b="1" dirty="0">
                <a:effectLst/>
                <a:latin typeface="Times New Roman" panose="02020603050405020304" pitchFamily="18" charset="0"/>
                <a:ea typeface="Times New Roman" panose="02020603050405020304" pitchFamily="18" charset="0"/>
                <a:cs typeface="B Nazanin" panose="00000400000000000000" pitchFamily="2" charset="-78"/>
              </a:rPr>
              <a:t>جابجایی</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به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هر آدرسی که توسط یک فرآیند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کاربر در زمان ارسال به حافظه تولید می‌شود،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اضافه می‌شود</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a:t>
            </a:r>
          </a:p>
          <a:p>
            <a:pPr marL="342900" marR="0" lvl="0" indent="-342900" algn="r" rtl="1">
              <a:buFont typeface="Wingdings" panose="05000000000000000000" pitchFamily="2"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برنامه‌ی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کاربر</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با آدرس‌های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منطقی</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سروکار دارد و هرگز آدرس‌های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فیزیکی</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واقعی را نمی‌بیند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lvl="2" indent="-342900" algn="r" rtl="1">
              <a:buFont typeface="Wingdings" panose="05000000000000000000" pitchFamily="2" charset="2"/>
              <a:buChar char=""/>
              <a:tabLst>
                <a:tab pos="457200" algn="l"/>
              </a:tabLst>
            </a:pP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اتصال</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آدرس در زمان اجرا زمانی اتفاق می‌افتد که به یک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موقعیت</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در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حافظه</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اشاره شود</a:t>
            </a:r>
            <a:endParaRPr lang="fa-IR" sz="2800" dirty="0">
              <a:effectLst/>
              <a:latin typeface="Times New Roman" panose="02020603050405020304" pitchFamily="18" charset="0"/>
              <a:ea typeface="Times New Roman" panose="02020603050405020304" pitchFamily="18" charset="0"/>
              <a:cs typeface="B Nazanin" panose="00000400000000000000" pitchFamily="2" charset="-78"/>
            </a:endParaRPr>
          </a:p>
          <a:p>
            <a:pPr lvl="2" indent="-342900" algn="r" rtl="1">
              <a:buFont typeface="Wingdings" panose="05000000000000000000" pitchFamily="2"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در این لحظه، آدرس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منطقی</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به آدرس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فیزیکی</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متصل می‌شود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23702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203BE3E9-3276-40C6-9019-A680702CA624}"/>
              </a:ext>
            </a:extLst>
          </p:cNvPr>
          <p:cNvSpPr>
            <a:spLocks noGrp="1" noChangeArrowheads="1"/>
          </p:cNvSpPr>
          <p:nvPr>
            <p:ph type="title"/>
          </p:nvPr>
        </p:nvSpPr>
        <p:spPr>
          <a:xfrm>
            <a:off x="879475" y="225267"/>
            <a:ext cx="7839075" cy="576262"/>
          </a:xfrm>
        </p:spPr>
        <p:txBody>
          <a:bodyPr/>
          <a:lstStyle/>
          <a:p>
            <a:pPr eaLnBrk="1" hangingPunct="1"/>
            <a:r>
              <a:rPr lang="fa-IR" sz="3200" dirty="0">
                <a:effectLst/>
                <a:latin typeface="Calibri" panose="020F0502020204030204" pitchFamily="34" charset="0"/>
                <a:ea typeface="Calibri" panose="020F0502020204030204" pitchFamily="34" charset="0"/>
                <a:cs typeface="B Nazanin" panose="00000400000000000000" pitchFamily="2" charset="-78"/>
              </a:rPr>
              <a:t>واحد مدیریت حافظه (ادامه)</a:t>
            </a:r>
            <a:endParaRPr lang="en-US" altLang="en-US" dirty="0"/>
          </a:p>
        </p:txBody>
      </p:sp>
      <p:sp>
        <p:nvSpPr>
          <p:cNvPr id="15363" name="Rectangle 3">
            <a:extLst>
              <a:ext uri="{FF2B5EF4-FFF2-40B4-BE49-F238E27FC236}">
                <a16:creationId xmlns:a16="http://schemas.microsoft.com/office/drawing/2014/main" id="{3112FE82-FDC2-4B07-9892-9E8699A75913}"/>
              </a:ext>
            </a:extLst>
          </p:cNvPr>
          <p:cNvSpPr>
            <a:spLocks noGrp="1" noChangeArrowheads="1"/>
          </p:cNvSpPr>
          <p:nvPr>
            <p:ph idx="1"/>
          </p:nvPr>
        </p:nvSpPr>
        <p:spPr>
          <a:xfrm>
            <a:off x="528422" y="992516"/>
            <a:ext cx="8055743" cy="4678828"/>
          </a:xfrm>
        </p:spPr>
        <p:txBody>
          <a:bodyPr/>
          <a:lstStyle/>
          <a:p>
            <a:pPr marL="342900" marR="0" lvl="0" indent="-342900" algn="r" rtl="1">
              <a:buFont typeface="Wingdings" panose="05000000000000000000" pitchFamily="2" charset="2"/>
              <a:buChar char=""/>
              <a:tabLst>
                <a:tab pos="457200" algn="l"/>
              </a:tabLst>
            </a:pP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یک طرح ساده در نظر بگیرید که تعمیمی از طرح رجیستر پایه است</a:t>
            </a:r>
            <a:r>
              <a:rPr lang="en-US" sz="20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در این طرح، رجیستر پایه اکنون «رجیستر </a:t>
            </a:r>
            <a:r>
              <a:rPr lang="fa-IR" sz="2000" dirty="0">
                <a:latin typeface="Times New Roman" panose="02020603050405020304" pitchFamily="18" charset="0"/>
                <a:ea typeface="Times New Roman" panose="02020603050405020304" pitchFamily="18" charset="0"/>
                <a:cs typeface="B Nazanin" panose="00000400000000000000" pitchFamily="2" charset="-78"/>
              </a:rPr>
              <a:t>جابجایی</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(Relocation Register)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نامیده می‌شود</a:t>
            </a:r>
            <a:endParaRPr lang="fa-IR" sz="20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Font typeface="Wingdings" panose="05000000000000000000" pitchFamily="2" charset="2"/>
              <a:buChar char=""/>
              <a:tabLst>
                <a:tab pos="457200" algn="l"/>
              </a:tabLst>
            </a:pP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مقدار موجود در رجیستر </a:t>
            </a: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جابجایی </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relocation register</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 به هر آدرسی که توسط یک فرآیند کاربر در زمان ارسال به حافظه تولید می‌شود، اضافه می‌شود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p>
          <a:p>
            <a:pPr lvl="1" indent="-342900" algn="r" rtl="1">
              <a:buFont typeface="Wingdings" panose="05000000000000000000" pitchFamily="2" charset="2"/>
              <a:buChar char=""/>
              <a:tabLst>
                <a:tab pos="457200" algn="l"/>
              </a:tabLst>
            </a:pPr>
            <a:r>
              <a:rPr lang="fa-IR" sz="2000" dirty="0">
                <a:cs typeface="B Nazanin" panose="00000400000000000000" pitchFamily="2" charset="-78"/>
              </a:rPr>
              <a:t>آدرس فیزیکی=آدرس منطقی+ثبات جابجایی</a:t>
            </a:r>
            <a:endParaRPr lang="en-US" sz="2000" dirty="0">
              <a:effectLst/>
              <a:latin typeface="Times New Roman" panose="02020603050405020304" pitchFamily="18" charset="0"/>
              <a:ea typeface="Times New Roman" panose="02020603050405020304" pitchFamily="18" charset="0"/>
              <a:cs typeface="B Nazanin" panose="00000400000000000000" pitchFamily="2" charset="-78"/>
            </a:endParaRPr>
          </a:p>
        </p:txBody>
      </p:sp>
      <p:grpSp>
        <p:nvGrpSpPr>
          <p:cNvPr id="2" name="Group 1">
            <a:extLst>
              <a:ext uri="{FF2B5EF4-FFF2-40B4-BE49-F238E27FC236}">
                <a16:creationId xmlns:a16="http://schemas.microsoft.com/office/drawing/2014/main" id="{145D26D2-36B2-4EAE-980C-E8F86F668D15}"/>
              </a:ext>
            </a:extLst>
          </p:cNvPr>
          <p:cNvGrpSpPr/>
          <p:nvPr/>
        </p:nvGrpSpPr>
        <p:grpSpPr>
          <a:xfrm>
            <a:off x="1187339" y="3147170"/>
            <a:ext cx="6573995" cy="3555631"/>
            <a:chOff x="1187339" y="3147170"/>
            <a:chExt cx="6573995" cy="3555631"/>
          </a:xfrm>
        </p:grpSpPr>
        <p:pic>
          <p:nvPicPr>
            <p:cNvPr id="15364" name="Picture 2" descr="W:\os-book\OS10\slide-dir\os-figures\9_05.jpg">
              <a:extLst>
                <a:ext uri="{FF2B5EF4-FFF2-40B4-BE49-F238E27FC236}">
                  <a16:creationId xmlns:a16="http://schemas.microsoft.com/office/drawing/2014/main" id="{CBF084AF-4DAB-4818-B64F-34A63D306E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339" y="3147170"/>
              <a:ext cx="6573995" cy="354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076C2094-DB77-4A43-A890-5D3637DA8297}"/>
                </a:ext>
              </a:extLst>
            </p:cNvPr>
            <p:cNvSpPr txBox="1"/>
            <p:nvPr/>
          </p:nvSpPr>
          <p:spPr>
            <a:xfrm>
              <a:off x="2062973" y="4676806"/>
              <a:ext cx="1360283" cy="400110"/>
            </a:xfrm>
            <a:prstGeom prst="rect">
              <a:avLst/>
            </a:prstGeom>
            <a:solidFill>
              <a:schemeClr val="bg1"/>
            </a:solidFill>
          </p:spPr>
          <p:txBody>
            <a:bodyPr wrap="square">
              <a:spAutoFit/>
            </a:bodyPr>
            <a:lstStyle/>
            <a:p>
              <a:pPr algn="ct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آدرس منطقی</a:t>
              </a:r>
              <a:endParaRPr lang="en-US" sz="2000" dirty="0"/>
            </a:p>
          </p:txBody>
        </p:sp>
        <p:sp>
          <p:nvSpPr>
            <p:cNvPr id="8" name="TextBox 7">
              <a:extLst>
                <a:ext uri="{FF2B5EF4-FFF2-40B4-BE49-F238E27FC236}">
                  <a16:creationId xmlns:a16="http://schemas.microsoft.com/office/drawing/2014/main" id="{291CD63E-E59D-4D78-9B9E-38CC900BAD29}"/>
                </a:ext>
              </a:extLst>
            </p:cNvPr>
            <p:cNvSpPr txBox="1"/>
            <p:nvPr/>
          </p:nvSpPr>
          <p:spPr>
            <a:xfrm>
              <a:off x="4912153" y="4660539"/>
              <a:ext cx="1360283" cy="400110"/>
            </a:xfrm>
            <a:prstGeom prst="rect">
              <a:avLst/>
            </a:prstGeom>
            <a:solidFill>
              <a:schemeClr val="bg1"/>
            </a:solidFill>
          </p:spPr>
          <p:txBody>
            <a:bodyPr wrap="square">
              <a:spAutoFit/>
            </a:bodyPr>
            <a:lstStyle/>
            <a:p>
              <a:pPr algn="ct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آدرس فیزیکی</a:t>
              </a:r>
              <a:endParaRPr lang="en-US" sz="2000" dirty="0"/>
            </a:p>
          </p:txBody>
        </p:sp>
        <p:sp>
          <p:nvSpPr>
            <p:cNvPr id="10" name="TextBox 9">
              <a:extLst>
                <a:ext uri="{FF2B5EF4-FFF2-40B4-BE49-F238E27FC236}">
                  <a16:creationId xmlns:a16="http://schemas.microsoft.com/office/drawing/2014/main" id="{E2F193B5-3E45-45A5-B937-F7668374E5E3}"/>
                </a:ext>
              </a:extLst>
            </p:cNvPr>
            <p:cNvSpPr txBox="1"/>
            <p:nvPr/>
          </p:nvSpPr>
          <p:spPr>
            <a:xfrm>
              <a:off x="3423256" y="6056470"/>
              <a:ext cx="1596754" cy="646331"/>
            </a:xfrm>
            <a:prstGeom prst="rect">
              <a:avLst/>
            </a:prstGeom>
            <a:solidFill>
              <a:schemeClr val="bg1"/>
            </a:solidFill>
          </p:spPr>
          <p:txBody>
            <a:bodyPr wrap="square">
              <a:spAutoFit/>
            </a:bodyPr>
            <a:lstStyle/>
            <a:p>
              <a:pPr algn="ctr"/>
              <a:r>
                <a:rPr lang="fa-IR" dirty="0">
                  <a:latin typeface="Times New Roman" panose="02020603050405020304" pitchFamily="18" charset="0"/>
                  <a:ea typeface="Times New Roman" panose="02020603050405020304" pitchFamily="18" charset="0"/>
                  <a:cs typeface="B Nazanin" panose="00000400000000000000" pitchFamily="2" charset="-78"/>
                </a:rPr>
                <a:t>واحد مدیریت‌حافظه </a:t>
              </a:r>
              <a:r>
                <a:rPr lang="en-US" dirty="0">
                  <a:effectLst/>
                  <a:latin typeface="Times New Roman" panose="02020603050405020304" pitchFamily="18" charset="0"/>
                  <a:ea typeface="Times New Roman" panose="02020603050405020304" pitchFamily="18" charset="0"/>
                  <a:cs typeface="B Nazanin" panose="00000400000000000000" pitchFamily="2" charset="-78"/>
                </a:rPr>
                <a:t>MMU</a:t>
              </a:r>
              <a:endParaRPr lang="en-US" dirty="0"/>
            </a:p>
          </p:txBody>
        </p:sp>
        <p:sp>
          <p:nvSpPr>
            <p:cNvPr id="11" name="TextBox 10">
              <a:extLst>
                <a:ext uri="{FF2B5EF4-FFF2-40B4-BE49-F238E27FC236}">
                  <a16:creationId xmlns:a16="http://schemas.microsoft.com/office/drawing/2014/main" id="{ECDFC63A-D9A5-4573-ACCD-CB90DCD8D449}"/>
                </a:ext>
              </a:extLst>
            </p:cNvPr>
            <p:cNvSpPr txBox="1"/>
            <p:nvPr/>
          </p:nvSpPr>
          <p:spPr>
            <a:xfrm>
              <a:off x="6485767" y="4895241"/>
              <a:ext cx="1190520" cy="369332"/>
            </a:xfrm>
            <a:prstGeom prst="rect">
              <a:avLst/>
            </a:prstGeom>
            <a:solidFill>
              <a:srgbClr val="C9EAFB"/>
            </a:solidFill>
          </p:spPr>
          <p:txBody>
            <a:bodyPr wrap="square">
              <a:spAutoFit/>
            </a:bodyPr>
            <a:lstStyle/>
            <a:p>
              <a:pPr algn="ctr"/>
              <a:r>
                <a:rPr lang="fa-IR" dirty="0">
                  <a:latin typeface="Times New Roman" panose="02020603050405020304" pitchFamily="18" charset="0"/>
                  <a:ea typeface="Times New Roman" panose="02020603050405020304" pitchFamily="18" charset="0"/>
                  <a:cs typeface="B Nazanin" panose="00000400000000000000" pitchFamily="2" charset="-78"/>
                </a:rPr>
                <a:t>حافظه</a:t>
              </a:r>
              <a:endParaRPr lang="en-US" dirty="0"/>
            </a:p>
          </p:txBody>
        </p:sp>
      </p:grpSp>
      <p:sp>
        <p:nvSpPr>
          <p:cNvPr id="13" name="TextBox 12">
            <a:extLst>
              <a:ext uri="{FF2B5EF4-FFF2-40B4-BE49-F238E27FC236}">
                <a16:creationId xmlns:a16="http://schemas.microsoft.com/office/drawing/2014/main" id="{DB506D26-FA90-4AA2-9851-C35C55B801F8}"/>
              </a:ext>
            </a:extLst>
          </p:cNvPr>
          <p:cNvSpPr txBox="1"/>
          <p:nvPr/>
        </p:nvSpPr>
        <p:spPr>
          <a:xfrm>
            <a:off x="1182743" y="4918726"/>
            <a:ext cx="768969" cy="369332"/>
          </a:xfrm>
          <a:prstGeom prst="rect">
            <a:avLst/>
          </a:prstGeom>
          <a:solidFill>
            <a:srgbClr val="D0D4D7"/>
          </a:solidFill>
          <a:ln>
            <a:noFill/>
          </a:ln>
        </p:spPr>
        <p:txBody>
          <a:bodyPr wrap="square">
            <a:spAutoFit/>
          </a:bodyPr>
          <a:lstStyle/>
          <a:p>
            <a:pPr algn="ctr"/>
            <a:r>
              <a:rPr lang="fa-IR" dirty="0">
                <a:effectLst/>
                <a:latin typeface="Times New Roman" panose="02020603050405020304" pitchFamily="18" charset="0"/>
                <a:ea typeface="Times New Roman" panose="02020603050405020304" pitchFamily="18" charset="0"/>
                <a:cs typeface="B Nazanin" panose="00000400000000000000" pitchFamily="2" charset="-78"/>
              </a:rPr>
              <a:t>پردازنده</a:t>
            </a:r>
            <a:endParaRPr lang="en-US" dirty="0"/>
          </a:p>
        </p:txBody>
      </p:sp>
    </p:spTree>
    <p:extLst>
      <p:ext uri="{BB962C8B-B14F-4D97-AF65-F5344CB8AC3E}">
        <p14:creationId xmlns:p14="http://schemas.microsoft.com/office/powerpoint/2010/main" val="1418713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17DA286-2F3A-47A5-A909-FB6B92D7C79F}"/>
              </a:ext>
            </a:extLst>
          </p:cNvPr>
          <p:cNvSpPr>
            <a:spLocks noGrp="1" noChangeArrowheads="1"/>
          </p:cNvSpPr>
          <p:nvPr>
            <p:ph type="title"/>
          </p:nvPr>
        </p:nvSpPr>
        <p:spPr>
          <a:xfrm>
            <a:off x="452631" y="237998"/>
            <a:ext cx="8224837" cy="571500"/>
          </a:xfrm>
        </p:spPr>
        <p:txBody>
          <a:bodyPr/>
          <a:lstStyle/>
          <a:p>
            <a:pPr eaLnBrk="1" hangingPunct="1"/>
            <a:r>
              <a:rPr lang="fa-IR" altLang="en-US" dirty="0"/>
              <a:t> </a:t>
            </a:r>
            <a:r>
              <a:rPr lang="fa-IR" sz="3200" dirty="0">
                <a:effectLst/>
                <a:latin typeface="Calibri" panose="020F0502020204030204" pitchFamily="34" charset="0"/>
                <a:ea typeface="Calibri" panose="020F0502020204030204" pitchFamily="34" charset="0"/>
                <a:cs typeface="B Nazanin" panose="00000400000000000000" pitchFamily="2" charset="-78"/>
              </a:rPr>
              <a:t>بارگزاری پویا </a:t>
            </a:r>
            <a:r>
              <a:rPr lang="en-US" altLang="en-US" dirty="0"/>
              <a:t>Dynamic Loading</a:t>
            </a:r>
          </a:p>
        </p:txBody>
      </p:sp>
      <p:sp>
        <p:nvSpPr>
          <p:cNvPr id="16387" name="Rectangle 3">
            <a:extLst>
              <a:ext uri="{FF2B5EF4-FFF2-40B4-BE49-F238E27FC236}">
                <a16:creationId xmlns:a16="http://schemas.microsoft.com/office/drawing/2014/main" id="{ADD2F991-6EF7-4E08-A73D-5D29F76031BC}"/>
              </a:ext>
            </a:extLst>
          </p:cNvPr>
          <p:cNvSpPr txBox="1">
            <a:spLocks noChangeArrowheads="1"/>
          </p:cNvSpPr>
          <p:nvPr/>
        </p:nvSpPr>
        <p:spPr bwMode="auto">
          <a:xfrm>
            <a:off x="381383" y="935558"/>
            <a:ext cx="8585972" cy="521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lstStyle>
            <a:lvl1pPr marL="488950" indent="-488950">
              <a:defRPr>
                <a:solidFill>
                  <a:schemeClr val="tx1"/>
                </a:solidFill>
                <a:latin typeface="Verdana" panose="020B0604030504040204" pitchFamily="34" charset="0"/>
                <a:ea typeface="MS PGothic" panose="020B0600070205080204" pitchFamily="34" charset="-128"/>
              </a:defRPr>
            </a:lvl1pPr>
            <a:lvl2pPr marL="1060450" indent="-407988">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algn="r" rtl="1">
              <a:lnSpc>
                <a:spcPct val="115000"/>
              </a:lnSpc>
              <a:spcAft>
                <a:spcPts val="800"/>
              </a:spcAft>
              <a:buFont typeface="Arial" panose="020B0604020202020204" pitchFamily="34" charset="0"/>
              <a:buChar char="•"/>
            </a:pPr>
            <a:r>
              <a:rPr lang="ar-SA" sz="2800" kern="100" dirty="0">
                <a:effectLst/>
                <a:latin typeface="Aptos" panose="020B0004020202020204" pitchFamily="34" charset="0"/>
                <a:ea typeface="Aptos" panose="020B0004020202020204" pitchFamily="34" charset="0"/>
                <a:cs typeface="B Nazanin" panose="00000400000000000000" pitchFamily="2" charset="-78"/>
              </a:rPr>
              <a:t>در مدل سنتی اجرای برنامه، کل کد و داده‌های فرآیند باید به‌صورت کامل و هم‌زمان در حافظه فیزیکی بارگذاری شوند تا اجرا شوند. این حالت را </a:t>
            </a:r>
            <a:r>
              <a:rPr lang="ar-SA" sz="2800" b="1" kern="100" dirty="0">
                <a:effectLst/>
                <a:latin typeface="Aptos" panose="020B0004020202020204" pitchFamily="34" charset="0"/>
                <a:ea typeface="Aptos" panose="020B0004020202020204" pitchFamily="34" charset="0"/>
                <a:cs typeface="B Nazanin" panose="00000400000000000000" pitchFamily="2" charset="-78"/>
              </a:rPr>
              <a:t>بارگذاری ایستا</a:t>
            </a:r>
            <a:r>
              <a:rPr lang="ar-SA" sz="2800" kern="100" dirty="0">
                <a:effectLst/>
                <a:latin typeface="Aptos" panose="020B0004020202020204" pitchFamily="34" charset="0"/>
                <a:ea typeface="Aptos" panose="020B0004020202020204" pitchFamily="34" charset="0"/>
                <a:cs typeface="B Nazanin" panose="00000400000000000000" pitchFamily="2" charset="-78"/>
              </a:rPr>
              <a:t> می‌نامند و اندازه برنامه را به اندازه حافظه فیزیکی محدود می‌کند</a:t>
            </a:r>
            <a:r>
              <a:rPr lang="en-US" sz="2800" kern="100" dirty="0">
                <a:effectLst/>
                <a:latin typeface="Aptos" panose="020B0004020202020204" pitchFamily="34" charset="0"/>
                <a:ea typeface="Aptos" panose="020B0004020202020204" pitchFamily="34" charset="0"/>
                <a:cs typeface="B Nazanin" panose="00000400000000000000" pitchFamily="2" charset="-78"/>
              </a:rPr>
              <a:t>.</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Font typeface="Arial" panose="020B0604020202020204" pitchFamily="34" charset="0"/>
              <a:buChar char="•"/>
            </a:pPr>
            <a:r>
              <a:rPr lang="ar-SA" sz="2800" kern="100" dirty="0">
                <a:effectLst/>
                <a:latin typeface="Aptos" panose="020B0004020202020204" pitchFamily="34" charset="0"/>
                <a:ea typeface="Aptos" panose="020B0004020202020204" pitchFamily="34" charset="0"/>
                <a:cs typeface="B Nazanin" panose="00000400000000000000" pitchFamily="2" charset="-78"/>
              </a:rPr>
              <a:t>در مقابل، </a:t>
            </a:r>
            <a:r>
              <a:rPr lang="ar-SA" sz="2800" b="1" kern="100" dirty="0">
                <a:effectLst/>
                <a:latin typeface="Aptos" panose="020B0004020202020204" pitchFamily="34" charset="0"/>
                <a:ea typeface="Aptos" panose="020B0004020202020204" pitchFamily="34" charset="0"/>
                <a:cs typeface="B Nazanin" panose="00000400000000000000" pitchFamily="2" charset="-78"/>
              </a:rPr>
              <a:t>بارگذاری پویا</a:t>
            </a:r>
            <a:r>
              <a:rPr lang="en-US" sz="2800" b="1" kern="100" dirty="0">
                <a:effectLst/>
                <a:latin typeface="Aptos" panose="020B0004020202020204" pitchFamily="34" charset="0"/>
                <a:ea typeface="Aptos" panose="020B0004020202020204" pitchFamily="34" charset="0"/>
                <a:cs typeface="B Nazanin" panose="00000400000000000000" pitchFamily="2" charset="-78"/>
              </a:rPr>
              <a:t> (Dynamic Loading)</a:t>
            </a:r>
            <a:r>
              <a:rPr lang="en-US" sz="2800" kern="100" dirty="0">
                <a:effectLst/>
                <a:latin typeface="Aptos" panose="020B0004020202020204" pitchFamily="34" charset="0"/>
                <a:ea typeface="Aptos" panose="020B0004020202020204" pitchFamily="34" charset="0"/>
                <a:cs typeface="B Nazanin" panose="00000400000000000000" pitchFamily="2" charset="-78"/>
              </a:rPr>
              <a:t> </a:t>
            </a:r>
            <a:r>
              <a:rPr lang="ar-SA" sz="2800" kern="100" dirty="0">
                <a:effectLst/>
                <a:latin typeface="Aptos" panose="020B0004020202020204" pitchFamily="34" charset="0"/>
                <a:ea typeface="Aptos" panose="020B0004020202020204" pitchFamily="34" charset="0"/>
                <a:cs typeface="B Nazanin" panose="00000400000000000000" pitchFamily="2" charset="-78"/>
              </a:rPr>
              <a:t>به معنای آن است که تنها بخش اصلی برنامه ابتدا در حافظه بارگذاری می‌شود. سایر روال‌ها روی دیسک باقی می‌مانند و فقط زمانی که نیاز به اجرای آن‌ها باشد، به‌صورت پویا در حافظه لود می‌شوند.</a:t>
            </a:r>
            <a:endParaRPr lang="en-US" sz="2800" kern="100" dirty="0">
              <a:effectLst/>
              <a:latin typeface="Aptos" panose="020B0004020202020204" pitchFamily="34" charset="0"/>
              <a:ea typeface="Aptos" panose="020B0004020202020204" pitchFamily="34" charset="0"/>
              <a:cs typeface="B Nazanin" panose="00000400000000000000" pitchFamily="2" charset="-78"/>
            </a:endParaRPr>
          </a:p>
          <a:p>
            <a:pPr marL="0" marR="0" algn="r" rtl="1">
              <a:lnSpc>
                <a:spcPct val="115000"/>
              </a:lnSpc>
              <a:spcAft>
                <a:spcPts val="800"/>
              </a:spcAft>
              <a:buFont typeface="Arial" panose="020B0604020202020204" pitchFamily="34" charset="0"/>
              <a:buChar char="•"/>
            </a:pPr>
            <a:r>
              <a:rPr lang="ar-SA" sz="2800" kern="100" dirty="0">
                <a:effectLst/>
                <a:latin typeface="Aptos" panose="020B0004020202020204" pitchFamily="34" charset="0"/>
                <a:ea typeface="Aptos" panose="020B0004020202020204" pitchFamily="34" charset="0"/>
                <a:cs typeface="B Nazanin" panose="00000400000000000000" pitchFamily="2" charset="-78"/>
              </a:rPr>
              <a:t> اگر روال مورد نظر قبلاً لود نشده باشد، لودر قابل جابه‌جایی آن را بارگذاری کرده، جدول آدرس‌ها را به‌روزرسانی می‌کند و سپس کنترل اجرای برنامه را به آن می‌دهد</a:t>
            </a:r>
            <a:r>
              <a:rPr lang="en-US" sz="2800" kern="100" dirty="0">
                <a:effectLst/>
                <a:latin typeface="Aptos" panose="020B0004020202020204" pitchFamily="34" charset="0"/>
                <a:ea typeface="Aptos" panose="020B0004020202020204" pitchFamily="34" charset="0"/>
                <a:cs typeface="B Nazanin" panose="00000400000000000000" pitchFamily="2" charset="-78"/>
              </a:rPr>
              <a:t>.</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041917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17DA286-2F3A-47A5-A909-FB6B92D7C79F}"/>
              </a:ext>
            </a:extLst>
          </p:cNvPr>
          <p:cNvSpPr>
            <a:spLocks noGrp="1" noChangeArrowheads="1"/>
          </p:cNvSpPr>
          <p:nvPr>
            <p:ph type="title"/>
          </p:nvPr>
        </p:nvSpPr>
        <p:spPr>
          <a:xfrm>
            <a:off x="452631" y="237998"/>
            <a:ext cx="8224837" cy="571500"/>
          </a:xfrm>
        </p:spPr>
        <p:txBody>
          <a:bodyPr/>
          <a:lstStyle/>
          <a:p>
            <a:pPr eaLnBrk="1" hangingPunct="1"/>
            <a:r>
              <a:rPr lang="fa-IR" altLang="en-US" dirty="0"/>
              <a:t> </a:t>
            </a:r>
            <a:r>
              <a:rPr lang="fa-IR" sz="3200" dirty="0">
                <a:effectLst/>
                <a:latin typeface="Calibri" panose="020F0502020204030204" pitchFamily="34" charset="0"/>
                <a:ea typeface="Calibri" panose="020F0502020204030204" pitchFamily="34" charset="0"/>
                <a:cs typeface="B Nazanin" panose="00000400000000000000" pitchFamily="2" charset="-78"/>
              </a:rPr>
              <a:t>بارگزاری پویا </a:t>
            </a:r>
            <a:r>
              <a:rPr lang="en-US" altLang="en-US" dirty="0"/>
              <a:t>Dynamic Loading</a:t>
            </a:r>
          </a:p>
        </p:txBody>
      </p:sp>
      <p:sp>
        <p:nvSpPr>
          <p:cNvPr id="16387" name="Rectangle 3">
            <a:extLst>
              <a:ext uri="{FF2B5EF4-FFF2-40B4-BE49-F238E27FC236}">
                <a16:creationId xmlns:a16="http://schemas.microsoft.com/office/drawing/2014/main" id="{ADD2F991-6EF7-4E08-A73D-5D29F76031BC}"/>
              </a:ext>
            </a:extLst>
          </p:cNvPr>
          <p:cNvSpPr txBox="1">
            <a:spLocks noChangeArrowheads="1"/>
          </p:cNvSpPr>
          <p:nvPr/>
        </p:nvSpPr>
        <p:spPr bwMode="auto">
          <a:xfrm>
            <a:off x="111095" y="935558"/>
            <a:ext cx="8973170" cy="5684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lstStyle>
            <a:lvl1pPr marL="488950" indent="-488950">
              <a:defRPr>
                <a:solidFill>
                  <a:schemeClr val="tx1"/>
                </a:solidFill>
                <a:latin typeface="Verdana" panose="020B0604030504040204" pitchFamily="34" charset="0"/>
                <a:ea typeface="MS PGothic" panose="020B0600070205080204" pitchFamily="34" charset="-128"/>
              </a:defRPr>
            </a:lvl1pPr>
            <a:lvl2pPr marL="1060450" indent="-407988">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algn="r" rtl="1">
              <a:lnSpc>
                <a:spcPct val="115000"/>
              </a:lnSpc>
              <a:spcAft>
                <a:spcPts val="800"/>
              </a:spcAft>
              <a:buNone/>
            </a:pPr>
            <a:r>
              <a:rPr lang="en-US" sz="2200" kern="100" dirty="0">
                <a:effectLst/>
                <a:latin typeface="Segoe UI Emoji" panose="020B0502040204020203" pitchFamily="34" charset="0"/>
                <a:ea typeface="Aptos" panose="020B0004020202020204" pitchFamily="34" charset="0"/>
                <a:cs typeface="Segoe UI Emoji" panose="020B0502040204020203" pitchFamily="34" charset="0"/>
              </a:rPr>
              <a:t>✅</a:t>
            </a:r>
            <a:r>
              <a:rPr lang="en-US" sz="2200" kern="100" dirty="0">
                <a:effectLst/>
                <a:latin typeface="Aptos" panose="020B0004020202020204" pitchFamily="34" charset="0"/>
                <a:ea typeface="Aptos" panose="020B0004020202020204" pitchFamily="34" charset="0"/>
                <a:cs typeface="B Nazanin" panose="00000400000000000000" pitchFamily="2" charset="-78"/>
              </a:rPr>
              <a:t> </a:t>
            </a:r>
            <a:r>
              <a:rPr lang="ar-SA" sz="2200" kern="100" dirty="0">
                <a:effectLst/>
                <a:latin typeface="Aptos" panose="020B0004020202020204" pitchFamily="34" charset="0"/>
                <a:ea typeface="Aptos" panose="020B0004020202020204" pitchFamily="34" charset="0"/>
                <a:cs typeface="B Nazanin" panose="00000400000000000000" pitchFamily="2" charset="-78"/>
              </a:rPr>
              <a:t>مزایای بارگذاری پویا به زبان ساده</a:t>
            </a:r>
            <a:r>
              <a:rPr lang="en-US" sz="2200" kern="100" dirty="0">
                <a:effectLst/>
                <a:latin typeface="Aptos" panose="020B0004020202020204" pitchFamily="34" charset="0"/>
                <a:ea typeface="Aptos" panose="020B0004020202020204" pitchFamily="34" charset="0"/>
                <a:cs typeface="B Nazanin" panose="00000400000000000000" pitchFamily="2" charset="-78"/>
              </a:rPr>
              <a:t>:</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200" kern="100" dirty="0">
                <a:effectLst/>
                <a:latin typeface="Aptos" panose="020B0004020202020204" pitchFamily="34" charset="0"/>
                <a:ea typeface="Aptos" panose="020B0004020202020204" pitchFamily="34" charset="0"/>
                <a:cs typeface="B Nazanin" panose="00000400000000000000" pitchFamily="2" charset="-78"/>
              </a:rPr>
              <a:t>لازم نیست تمام برنامه از ابتدا در حافظه باشد؛ فقط بخش‌های لازم بارگذاری می‌شوند</a:t>
            </a:r>
            <a:r>
              <a:rPr lang="en-US" sz="2200" kern="100" dirty="0">
                <a:effectLst/>
                <a:latin typeface="Aptos" panose="020B0004020202020204" pitchFamily="34" charset="0"/>
                <a:ea typeface="Aptos" panose="020B0004020202020204" pitchFamily="34" charset="0"/>
                <a:cs typeface="B Nazanin" panose="00000400000000000000" pitchFamily="2" charset="-78"/>
              </a:rPr>
              <a:t>.</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200" kern="100" dirty="0">
                <a:effectLst/>
                <a:latin typeface="Aptos" panose="020B0004020202020204" pitchFamily="34" charset="0"/>
                <a:ea typeface="Aptos" panose="020B0004020202020204" pitchFamily="34" charset="0"/>
                <a:cs typeface="B Nazanin" panose="00000400000000000000" pitchFamily="2" charset="-78"/>
              </a:rPr>
              <a:t>هر روال</a:t>
            </a:r>
            <a:r>
              <a:rPr lang="en-US" sz="2200" kern="100" dirty="0">
                <a:effectLst/>
                <a:latin typeface="Aptos" panose="020B0004020202020204" pitchFamily="34" charset="0"/>
                <a:ea typeface="Aptos" panose="020B0004020202020204" pitchFamily="34" charset="0"/>
                <a:cs typeface="B Nazanin" panose="00000400000000000000" pitchFamily="2" charset="-78"/>
              </a:rPr>
              <a:t> (Routine) </a:t>
            </a:r>
            <a:r>
              <a:rPr lang="ar-SA" sz="2200" kern="100" dirty="0">
                <a:effectLst/>
                <a:latin typeface="Aptos" panose="020B0004020202020204" pitchFamily="34" charset="0"/>
                <a:ea typeface="Aptos" panose="020B0004020202020204" pitchFamily="34" charset="0"/>
                <a:cs typeface="B Nazanin" panose="00000400000000000000" pitchFamily="2" charset="-78"/>
              </a:rPr>
              <a:t>فقط وقتی که واقعاً نیاز باشد فراخوانی و بارگذاری می‌شود</a:t>
            </a:r>
            <a:r>
              <a:rPr lang="en-US" sz="2200" kern="100" dirty="0">
                <a:effectLst/>
                <a:latin typeface="Aptos" panose="020B0004020202020204" pitchFamily="34" charset="0"/>
                <a:ea typeface="Aptos" panose="020B0004020202020204" pitchFamily="34" charset="0"/>
                <a:cs typeface="B Nazanin" panose="00000400000000000000" pitchFamily="2" charset="-78"/>
              </a:rPr>
              <a:t>.</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200" kern="100" dirty="0">
                <a:effectLst/>
                <a:latin typeface="Aptos" panose="020B0004020202020204" pitchFamily="34" charset="0"/>
                <a:ea typeface="Aptos" panose="020B0004020202020204" pitchFamily="34" charset="0"/>
                <a:cs typeface="B Nazanin" panose="00000400000000000000" pitchFamily="2" charset="-78"/>
              </a:rPr>
              <a:t>این کار باعث می‌شود حافظه هدر نرود و فقط از بخش‌هایی استفاده شود که لازم‌اند</a:t>
            </a:r>
            <a:r>
              <a:rPr lang="en-US" sz="2200" kern="100" dirty="0">
                <a:effectLst/>
                <a:latin typeface="Aptos" panose="020B0004020202020204" pitchFamily="34" charset="0"/>
                <a:ea typeface="Aptos" panose="020B0004020202020204" pitchFamily="34" charset="0"/>
                <a:cs typeface="B Nazanin" panose="00000400000000000000" pitchFamily="2" charset="-78"/>
              </a:rPr>
              <a:t>.</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200" kern="100" dirty="0">
                <a:effectLst/>
                <a:latin typeface="Aptos" panose="020B0004020202020204" pitchFamily="34" charset="0"/>
                <a:ea typeface="Aptos" panose="020B0004020202020204" pitchFamily="34" charset="0"/>
                <a:cs typeface="B Nazanin" panose="00000400000000000000" pitchFamily="2" charset="-78"/>
              </a:rPr>
              <a:t>روال‌های بلااستفاده اصلاً وارد حافظه نمی‌شوند، چون نیازی به آن‌ها نیست</a:t>
            </a:r>
            <a:r>
              <a:rPr lang="en-US" sz="2200" kern="100" dirty="0">
                <a:effectLst/>
                <a:latin typeface="Aptos" panose="020B0004020202020204" pitchFamily="34" charset="0"/>
                <a:ea typeface="Aptos" panose="020B0004020202020204" pitchFamily="34" charset="0"/>
                <a:cs typeface="B Nazanin" panose="00000400000000000000" pitchFamily="2" charset="-78"/>
              </a:rPr>
              <a:t>.</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200" kern="100" dirty="0">
                <a:effectLst/>
                <a:latin typeface="Aptos" panose="020B0004020202020204" pitchFamily="34" charset="0"/>
                <a:ea typeface="Aptos" panose="020B0004020202020204" pitchFamily="34" charset="0"/>
                <a:cs typeface="B Nazanin" panose="00000400000000000000" pitchFamily="2" charset="-78"/>
              </a:rPr>
              <a:t>همه‌ی روال‌ها را می‌توان روی دیسک نگه داشت و هر وقت لازم بود، به حافظه آورد</a:t>
            </a:r>
            <a:r>
              <a:rPr lang="en-US" sz="2200" kern="100" dirty="0">
                <a:effectLst/>
                <a:latin typeface="Aptos" panose="020B0004020202020204" pitchFamily="34" charset="0"/>
                <a:ea typeface="Aptos" panose="020B0004020202020204" pitchFamily="34" charset="0"/>
                <a:cs typeface="B Nazanin" panose="00000400000000000000" pitchFamily="2" charset="-78"/>
              </a:rPr>
              <a:t>.</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200" kern="100" dirty="0">
                <a:effectLst/>
                <a:latin typeface="Aptos" panose="020B0004020202020204" pitchFamily="34" charset="0"/>
                <a:ea typeface="Aptos" panose="020B0004020202020204" pitchFamily="34" charset="0"/>
                <a:cs typeface="B Nazanin" panose="00000400000000000000" pitchFamily="2" charset="-78"/>
              </a:rPr>
              <a:t>مخصوصاً در شرایطی مفید است که حجم زیادی از کد داریم اما فقط گهگاهی استفاده می‌شود (مثلاً خطاهای خاص یا تنظیمات پیشرفته)</a:t>
            </a:r>
            <a:r>
              <a:rPr lang="en-US" sz="2200" kern="100" dirty="0">
                <a:effectLst/>
                <a:latin typeface="Aptos" panose="020B0004020202020204" pitchFamily="34" charset="0"/>
                <a:ea typeface="Aptos" panose="020B0004020202020204" pitchFamily="34" charset="0"/>
                <a:cs typeface="B Nazanin" panose="00000400000000000000" pitchFamily="2" charset="-78"/>
              </a:rPr>
              <a:t>.</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200" kern="100" dirty="0">
                <a:effectLst/>
                <a:latin typeface="Aptos" panose="020B0004020202020204" pitchFamily="34" charset="0"/>
                <a:ea typeface="Aptos" panose="020B0004020202020204" pitchFamily="34" charset="0"/>
                <a:cs typeface="B Nazanin" panose="00000400000000000000" pitchFamily="2" charset="-78"/>
              </a:rPr>
              <a:t>این روش نیاز به تغییر خاصی در سیستم‌عامل ندارد و می‌تواند</a:t>
            </a:r>
            <a:r>
              <a:rPr lang="en-US" sz="2200" kern="100" dirty="0">
                <a:effectLst/>
                <a:latin typeface="Aptos" panose="020B0004020202020204" pitchFamily="34" charset="0"/>
                <a:ea typeface="Aptos" panose="020B0004020202020204" pitchFamily="34" charset="0"/>
                <a:cs typeface="B Nazanin" panose="00000400000000000000" pitchFamily="2" charset="-78"/>
              </a:rPr>
              <a:t>:</a:t>
            </a:r>
            <a:endParaRPr lang="en-US" sz="22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gn="r" rtl="1">
              <a:lnSpc>
                <a:spcPct val="115000"/>
              </a:lnSpc>
              <a:spcAft>
                <a:spcPts val="800"/>
              </a:spcAft>
              <a:buSzPts val="1000"/>
              <a:buFont typeface="Courier New" panose="02070309020205020404" pitchFamily="49" charset="0"/>
              <a:buChar char="o"/>
              <a:tabLst>
                <a:tab pos="914400" algn="l"/>
              </a:tabLst>
            </a:pPr>
            <a:r>
              <a:rPr lang="ar-SA" sz="2200" kern="100" dirty="0">
                <a:effectLst/>
                <a:latin typeface="Aptos" panose="020B0004020202020204" pitchFamily="34" charset="0"/>
                <a:ea typeface="Aptos" panose="020B0004020202020204" pitchFamily="34" charset="0"/>
                <a:cs typeface="B Nazanin" panose="00000400000000000000" pitchFamily="2" charset="-78"/>
              </a:rPr>
              <a:t>یا در خود طراحی برنامه لحاظ شود (توسط لودر دینامیکی</a:t>
            </a:r>
            <a:r>
              <a:rPr lang="en-US" sz="2200" kern="100" dirty="0">
                <a:effectLst/>
                <a:latin typeface="Aptos" panose="020B0004020202020204" pitchFamily="34" charset="0"/>
                <a:ea typeface="Aptos" panose="020B0004020202020204" pitchFamily="34" charset="0"/>
                <a:cs typeface="B Nazanin" panose="00000400000000000000" pitchFamily="2" charset="-78"/>
              </a:rPr>
              <a:t>(</a:t>
            </a:r>
            <a:r>
              <a:rPr lang="ar-SA" sz="2200" kern="100" dirty="0">
                <a:effectLst/>
                <a:latin typeface="Aptos" panose="020B0004020202020204" pitchFamily="34" charset="0"/>
                <a:ea typeface="Aptos" panose="020B0004020202020204" pitchFamily="34" charset="0"/>
                <a:cs typeface="B Nazanin" panose="00000400000000000000" pitchFamily="2" charset="-78"/>
              </a:rPr>
              <a:t>،</a:t>
            </a:r>
            <a:endParaRPr lang="en-US" sz="22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r" rtl="1">
              <a:lnSpc>
                <a:spcPct val="115000"/>
              </a:lnSpc>
              <a:spcAft>
                <a:spcPts val="800"/>
              </a:spcAft>
              <a:buSzPts val="1000"/>
              <a:buFont typeface="Courier New" panose="02070309020205020404" pitchFamily="49" charset="0"/>
              <a:buChar char="o"/>
              <a:tabLst>
                <a:tab pos="914400" algn="l"/>
              </a:tabLst>
            </a:pPr>
            <a:r>
              <a:rPr lang="ar-SA" sz="2200" kern="100" dirty="0">
                <a:effectLst/>
                <a:latin typeface="Aptos" panose="020B0004020202020204" pitchFamily="34" charset="0"/>
                <a:ea typeface="Aptos" panose="020B0004020202020204" pitchFamily="34" charset="0"/>
                <a:cs typeface="B Nazanin" panose="00000400000000000000" pitchFamily="2" charset="-78"/>
              </a:rPr>
              <a:t>یا سیستم‌عامل کتابخانه‌هایی برای پشتیبانی از آن فراهم کند</a:t>
            </a:r>
            <a:r>
              <a:rPr lang="en-US" sz="2200" kern="100" dirty="0">
                <a:effectLst/>
                <a:latin typeface="Aptos" panose="020B0004020202020204" pitchFamily="34" charset="0"/>
                <a:ea typeface="Aptos" panose="020B0004020202020204" pitchFamily="34" charset="0"/>
                <a:cs typeface="B Nazanin" panose="00000400000000000000" pitchFamily="2" charset="-78"/>
              </a:rPr>
              <a:t>.</a:t>
            </a:r>
            <a:endParaRPr lang="en-US" sz="2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r" rtl="1">
              <a:lnSpc>
                <a:spcPct val="115000"/>
              </a:lnSpc>
              <a:spcAft>
                <a:spcPts val="800"/>
              </a:spcAft>
            </a:pPr>
            <a:r>
              <a:rPr lang="en-US" sz="2200" kern="100" dirty="0">
                <a:effectLst/>
                <a:latin typeface="Aptos" panose="020B0004020202020204" pitchFamily="34" charset="0"/>
                <a:ea typeface="Aptos" panose="020B0004020202020204" pitchFamily="34" charset="0"/>
                <a:cs typeface="Arial" panose="020B0604020202020204" pitchFamily="34" charset="0"/>
              </a:rPr>
              <a:t> </a:t>
            </a:r>
          </a:p>
        </p:txBody>
      </p:sp>
    </p:spTree>
    <p:extLst>
      <p:ext uri="{BB962C8B-B14F-4D97-AF65-F5344CB8AC3E}">
        <p14:creationId xmlns:p14="http://schemas.microsoft.com/office/powerpoint/2010/main" val="11405654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3696C27A-FB51-40E7-91BD-D5EBFD1BE814}"/>
              </a:ext>
            </a:extLst>
          </p:cNvPr>
          <p:cNvSpPr>
            <a:spLocks noGrp="1" noChangeArrowheads="1"/>
          </p:cNvSpPr>
          <p:nvPr>
            <p:ph type="title"/>
          </p:nvPr>
        </p:nvSpPr>
        <p:spPr>
          <a:xfrm>
            <a:off x="457200" y="237188"/>
            <a:ext cx="8229600" cy="576262"/>
          </a:xfrm>
        </p:spPr>
        <p:txBody>
          <a:bodyPr/>
          <a:lstStyle/>
          <a:p>
            <a:pPr eaLnBrk="1" hangingPunct="1"/>
            <a:r>
              <a:rPr lang="fa-IR" altLang="en-US" dirty="0"/>
              <a:t> </a:t>
            </a:r>
            <a:r>
              <a:rPr lang="fa-IR" sz="3200" dirty="0">
                <a:effectLst/>
                <a:latin typeface="Calibri" panose="020F0502020204030204" pitchFamily="34" charset="0"/>
                <a:ea typeface="Calibri" panose="020F0502020204030204" pitchFamily="34" charset="0"/>
                <a:cs typeface="B Nazanin" panose="00000400000000000000" pitchFamily="2" charset="-78"/>
              </a:rPr>
              <a:t>اتصال پویا </a:t>
            </a:r>
            <a:r>
              <a:rPr lang="en-US" altLang="en-US" dirty="0"/>
              <a:t>Dynamic Linking</a:t>
            </a:r>
          </a:p>
        </p:txBody>
      </p:sp>
      <p:sp>
        <p:nvSpPr>
          <p:cNvPr id="17411" name="Rectangle 3">
            <a:extLst>
              <a:ext uri="{FF2B5EF4-FFF2-40B4-BE49-F238E27FC236}">
                <a16:creationId xmlns:a16="http://schemas.microsoft.com/office/drawing/2014/main" id="{7C59CC23-F8F4-463E-94EA-C3BD81D92617}"/>
              </a:ext>
            </a:extLst>
          </p:cNvPr>
          <p:cNvSpPr>
            <a:spLocks noGrp="1" noChangeArrowheads="1"/>
          </p:cNvSpPr>
          <p:nvPr>
            <p:ph idx="1"/>
          </p:nvPr>
        </p:nvSpPr>
        <p:spPr>
          <a:xfrm>
            <a:off x="289483" y="882235"/>
            <a:ext cx="8656933" cy="4753398"/>
          </a:xfrm>
        </p:spPr>
        <p:txBody>
          <a:bodyPr/>
          <a:lstStyle/>
          <a:p>
            <a:pPr marL="0" marR="0" algn="r" rtl="1">
              <a:lnSpc>
                <a:spcPct val="115000"/>
              </a:lnSpc>
              <a:spcAft>
                <a:spcPts val="800"/>
              </a:spcAft>
              <a:buNone/>
            </a:pP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r>
              <a:rPr lang="en-US" sz="2000" b="1" kern="100" dirty="0">
                <a:effectLst/>
                <a:latin typeface="Arial" panose="020B0604020202020204" pitchFamily="34" charset="0"/>
                <a:ea typeface="Aptos" panose="020B0004020202020204" pitchFamily="34" charset="0"/>
                <a:cs typeface="B Nazanin" panose="00000400000000000000" pitchFamily="2" charset="-78"/>
              </a:rPr>
              <a:t> </a:t>
            </a:r>
            <a:r>
              <a:rPr lang="ar-SA" sz="2000" b="1" kern="100" dirty="0">
                <a:effectLst/>
                <a:latin typeface="Arial" panose="020B0604020202020204" pitchFamily="34" charset="0"/>
                <a:ea typeface="Aptos" panose="020B0004020202020204" pitchFamily="34" charset="0"/>
                <a:cs typeface="B Nazanin" panose="00000400000000000000" pitchFamily="2" charset="-78"/>
              </a:rPr>
              <a:t>کتابخانه‌های پیوند پویا</a:t>
            </a:r>
            <a:r>
              <a:rPr lang="en-US" sz="2000" b="1" kern="100" dirty="0">
                <a:effectLst/>
                <a:latin typeface="Arial" panose="020B0604020202020204" pitchFamily="34" charset="0"/>
                <a:ea typeface="Aptos" panose="020B0004020202020204" pitchFamily="34" charset="0"/>
                <a:cs typeface="B Nazanin" panose="00000400000000000000" pitchFamily="2" charset="-78"/>
              </a:rPr>
              <a:t> (DLL) </a:t>
            </a:r>
            <a:r>
              <a:rPr lang="ar-SA" sz="2000" b="1" kern="100" dirty="0">
                <a:effectLst/>
                <a:latin typeface="Arial" panose="020B0604020202020204" pitchFamily="34" charset="0"/>
                <a:ea typeface="Aptos" panose="020B0004020202020204" pitchFamily="34" charset="0"/>
                <a:cs typeface="B Nazanin" panose="00000400000000000000" pitchFamily="2" charset="-78"/>
              </a:rPr>
              <a:t>به زبان ساده</a:t>
            </a:r>
            <a:r>
              <a:rPr lang="en-US" sz="2000" b="1" kern="100" dirty="0">
                <a:effectLst/>
                <a:latin typeface="Arial" panose="020B0604020202020204"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en-US" sz="2000" b="1" kern="100" dirty="0">
                <a:effectLst/>
                <a:latin typeface="Arial" panose="020B0604020202020204" pitchFamily="34" charset="0"/>
                <a:ea typeface="Aptos" panose="020B0004020202020204" pitchFamily="34" charset="0"/>
                <a:cs typeface="B Nazanin" panose="00000400000000000000" pitchFamily="2" charset="-78"/>
              </a:rPr>
              <a:t>DLL</a:t>
            </a:r>
            <a:r>
              <a:rPr lang="ar-SA" sz="2000" b="1" kern="100" dirty="0">
                <a:effectLst/>
                <a:latin typeface="Arial" panose="020B0604020202020204" pitchFamily="34" charset="0"/>
                <a:ea typeface="Aptos" panose="020B0004020202020204" pitchFamily="34" charset="0"/>
                <a:cs typeface="B Nazanin" panose="00000400000000000000" pitchFamily="2" charset="-78"/>
              </a:rPr>
              <a:t>ها مثل جعبه‌ابزارهایی هستند که برنامه‌ها فقط موقع نیاز، سراغشان می‌روند</a:t>
            </a:r>
            <a:r>
              <a:rPr lang="en-US" sz="2000" b="1" kern="100" dirty="0">
                <a:effectLst/>
                <a:latin typeface="Arial" panose="020B0604020202020204"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000" b="1" kern="100" dirty="0">
                <a:effectLst/>
                <a:latin typeface="Arial" panose="020B0604020202020204" pitchFamily="34" charset="0"/>
                <a:ea typeface="Aptos" panose="020B0004020202020204" pitchFamily="34" charset="0"/>
                <a:cs typeface="B Nazanin" panose="00000400000000000000" pitchFamily="2" charset="-78"/>
              </a:rPr>
              <a:t>برخلاف روش‌های قدیمی، این کتابخانه‌ها در زمان اجرا به برنامه وصل می‌شوند، نه از اول داخلش باشند</a:t>
            </a:r>
            <a:r>
              <a:rPr lang="en-US" sz="2000" b="1" kern="100" dirty="0">
                <a:effectLst/>
                <a:latin typeface="Arial" panose="020B0604020202020204"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2000" b="1" kern="100" dirty="0">
                <a:effectLst/>
                <a:latin typeface="Arial" panose="020B0604020202020204" pitchFamily="34" charset="0"/>
                <a:ea typeface="Aptos" panose="020B0004020202020204" pitchFamily="34" charset="0"/>
                <a:cs typeface="B Nazanin" panose="00000400000000000000" pitchFamily="2" charset="-78"/>
              </a:rPr>
              <a:t> </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r>
              <a:rPr lang="en-US" sz="2000" b="1" kern="100" dirty="0">
                <a:effectLst/>
                <a:latin typeface="Arial" panose="020B0604020202020204" pitchFamily="34" charset="0"/>
                <a:ea typeface="Aptos" panose="020B0004020202020204" pitchFamily="34" charset="0"/>
                <a:cs typeface="B Nazanin" panose="00000400000000000000" pitchFamily="2" charset="-78"/>
              </a:rPr>
              <a:t> </a:t>
            </a:r>
            <a:r>
              <a:rPr lang="ar-SA" sz="2000" b="1" kern="100" dirty="0">
                <a:effectLst/>
                <a:latin typeface="Arial" panose="020B0604020202020204" pitchFamily="34" charset="0"/>
                <a:ea typeface="Aptos" panose="020B0004020202020204" pitchFamily="34" charset="0"/>
                <a:cs typeface="B Nazanin" panose="00000400000000000000" pitchFamily="2" charset="-78"/>
              </a:rPr>
              <a:t>مزایای اصلی</a:t>
            </a:r>
            <a:r>
              <a:rPr lang="en-US" sz="2000" b="1" kern="100" dirty="0">
                <a:effectLst/>
                <a:latin typeface="Arial" panose="020B0604020202020204"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000" b="1" kern="100" dirty="0">
                <a:effectLst/>
                <a:latin typeface="Arial" panose="020B0604020202020204" pitchFamily="34" charset="0"/>
                <a:ea typeface="Aptos" panose="020B0004020202020204" pitchFamily="34" charset="0"/>
                <a:cs typeface="B Nazanin" panose="00000400000000000000" pitchFamily="2" charset="-78"/>
              </a:rPr>
              <a:t>کاهش حجم برنامه‌ها</a:t>
            </a:r>
            <a:r>
              <a:rPr lang="en-US" sz="2000" b="1" kern="100" dirty="0">
                <a:effectLst/>
                <a:latin typeface="Arial" panose="020B0604020202020204" pitchFamily="34" charset="0"/>
                <a:ea typeface="Aptos" panose="020B0004020202020204" pitchFamily="34" charset="0"/>
                <a:cs typeface="B Nazanin" panose="00000400000000000000" pitchFamily="2" charset="-78"/>
              </a:rPr>
              <a:t>: </a:t>
            </a:r>
            <a:r>
              <a:rPr lang="ar-SA" sz="2000" b="1" kern="100" dirty="0">
                <a:effectLst/>
                <a:latin typeface="Arial" panose="020B0604020202020204" pitchFamily="34" charset="0"/>
                <a:ea typeface="Aptos" panose="020B0004020202020204" pitchFamily="34" charset="0"/>
                <a:cs typeface="B Nazanin" panose="00000400000000000000" pitchFamily="2" charset="-78"/>
              </a:rPr>
              <a:t>چون توابع مشترک بین چند برنامه فقط یک بار در</a:t>
            </a:r>
            <a:r>
              <a:rPr lang="en-US" sz="2000" b="1" kern="100" dirty="0">
                <a:effectLst/>
                <a:latin typeface="Arial" panose="020B0604020202020204" pitchFamily="34" charset="0"/>
                <a:ea typeface="Aptos" panose="020B0004020202020204" pitchFamily="34" charset="0"/>
                <a:cs typeface="B Nazanin" panose="00000400000000000000" pitchFamily="2" charset="-78"/>
              </a:rPr>
              <a:t> DLL </a:t>
            </a:r>
            <a:r>
              <a:rPr lang="ar-SA" sz="2000" b="1" kern="100" dirty="0">
                <a:effectLst/>
                <a:latin typeface="Arial" panose="020B0604020202020204" pitchFamily="34" charset="0"/>
                <a:ea typeface="Aptos" panose="020B0004020202020204" pitchFamily="34" charset="0"/>
                <a:cs typeface="B Nazanin" panose="00000400000000000000" pitchFamily="2" charset="-78"/>
              </a:rPr>
              <a:t>قرار دارند، برنامه‌ها سبک‌تر می‌شوند</a:t>
            </a:r>
            <a:r>
              <a:rPr lang="en-US" sz="2000" b="1" kern="100" dirty="0">
                <a:effectLst/>
                <a:latin typeface="Arial" panose="020B0604020202020204"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000" b="1" kern="100" dirty="0">
                <a:effectLst/>
                <a:latin typeface="Arial" panose="020B0604020202020204" pitchFamily="34" charset="0"/>
                <a:ea typeface="Aptos" panose="020B0004020202020204" pitchFamily="34" charset="0"/>
                <a:cs typeface="B Nazanin" panose="00000400000000000000" pitchFamily="2" charset="-78"/>
              </a:rPr>
              <a:t>صرفه‌جویی در حافظه</a:t>
            </a:r>
            <a:r>
              <a:rPr lang="en-US" sz="2000" b="1" kern="100" dirty="0">
                <a:effectLst/>
                <a:latin typeface="Arial" panose="020B0604020202020204" pitchFamily="34" charset="0"/>
                <a:ea typeface="Aptos" panose="020B0004020202020204" pitchFamily="34" charset="0"/>
                <a:cs typeface="B Nazanin" panose="00000400000000000000" pitchFamily="2" charset="-78"/>
              </a:rPr>
              <a:t>: </a:t>
            </a:r>
            <a:r>
              <a:rPr lang="ar-SA" sz="2000" b="1" kern="100" dirty="0">
                <a:effectLst/>
                <a:latin typeface="Arial" panose="020B0604020202020204" pitchFamily="34" charset="0"/>
                <a:ea typeface="Aptos" panose="020B0004020202020204" pitchFamily="34" charset="0"/>
                <a:cs typeface="B Nazanin" panose="00000400000000000000" pitchFamily="2" charset="-78"/>
              </a:rPr>
              <a:t>فقط یک نسخه از</a:t>
            </a:r>
            <a:r>
              <a:rPr lang="en-US" sz="2000" b="1" kern="100" dirty="0">
                <a:effectLst/>
                <a:latin typeface="Arial" panose="020B0604020202020204" pitchFamily="34" charset="0"/>
                <a:ea typeface="Aptos" panose="020B0004020202020204" pitchFamily="34" charset="0"/>
                <a:cs typeface="B Nazanin" panose="00000400000000000000" pitchFamily="2" charset="-78"/>
              </a:rPr>
              <a:t> DLL </a:t>
            </a:r>
            <a:r>
              <a:rPr lang="ar-SA" sz="2000" b="1" kern="100" dirty="0">
                <a:effectLst/>
                <a:latin typeface="Arial" panose="020B0604020202020204" pitchFamily="34" charset="0"/>
                <a:ea typeface="Aptos" panose="020B0004020202020204" pitchFamily="34" charset="0"/>
                <a:cs typeface="B Nazanin" panose="00000400000000000000" pitchFamily="2" charset="-78"/>
              </a:rPr>
              <a:t>در حافظه بار می‌شود و چند برنامه می‌توانند همزمان از آن استفاده کنند</a:t>
            </a:r>
            <a:r>
              <a:rPr lang="en-US" sz="2000" b="1" kern="100" dirty="0">
                <a:effectLst/>
                <a:latin typeface="Arial" panose="020B0604020202020204"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000" b="1" kern="100" dirty="0">
                <a:effectLst/>
                <a:latin typeface="Arial" panose="020B0604020202020204" pitchFamily="34" charset="0"/>
                <a:ea typeface="Aptos" panose="020B0004020202020204" pitchFamily="34" charset="0"/>
                <a:cs typeface="B Nazanin" panose="00000400000000000000" pitchFamily="2" charset="-78"/>
              </a:rPr>
              <a:t>به‌روزرسانی آسان</a:t>
            </a:r>
            <a:r>
              <a:rPr lang="en-US" sz="2000" b="1" kern="100" dirty="0">
                <a:effectLst/>
                <a:latin typeface="Arial" panose="020B0604020202020204" pitchFamily="34" charset="0"/>
                <a:ea typeface="Aptos" panose="020B0004020202020204" pitchFamily="34" charset="0"/>
                <a:cs typeface="B Nazanin" panose="00000400000000000000" pitchFamily="2" charset="-78"/>
              </a:rPr>
              <a:t>: </a:t>
            </a:r>
            <a:r>
              <a:rPr lang="ar-SA" sz="2000" b="1" kern="100" dirty="0">
                <a:effectLst/>
                <a:latin typeface="Arial" panose="020B0604020202020204" pitchFamily="34" charset="0"/>
                <a:ea typeface="Aptos" panose="020B0004020202020204" pitchFamily="34" charset="0"/>
                <a:cs typeface="B Nazanin" panose="00000400000000000000" pitchFamily="2" charset="-78"/>
              </a:rPr>
              <a:t>با آپدیت کردن خود</a:t>
            </a:r>
            <a:r>
              <a:rPr lang="en-US" sz="2000" b="1" kern="100" dirty="0">
                <a:effectLst/>
                <a:latin typeface="Arial" panose="020B0604020202020204" pitchFamily="34" charset="0"/>
                <a:ea typeface="Aptos" panose="020B0004020202020204" pitchFamily="34" charset="0"/>
                <a:cs typeface="B Nazanin" panose="00000400000000000000" pitchFamily="2" charset="-78"/>
              </a:rPr>
              <a:t> DLL</a:t>
            </a:r>
            <a:r>
              <a:rPr lang="ar-SA" sz="2000" b="1" kern="100" dirty="0">
                <a:effectLst/>
                <a:latin typeface="Arial" panose="020B0604020202020204" pitchFamily="34" charset="0"/>
                <a:ea typeface="Aptos" panose="020B0004020202020204" pitchFamily="34" charset="0"/>
                <a:cs typeface="B Nazanin" panose="00000400000000000000" pitchFamily="2" charset="-78"/>
              </a:rPr>
              <a:t>، همه‌ی برنامه‌های وابسته به‌طور خودکار از نسخه جدید استفاده می‌کنند. نیازی به دستکاری تک‌تک برنامه‌ها نیست</a:t>
            </a:r>
            <a:r>
              <a:rPr lang="en-US" sz="2000" b="1" kern="100" dirty="0">
                <a:effectLst/>
                <a:latin typeface="Arial" panose="020B0604020202020204" pitchFamily="34" charset="0"/>
                <a:ea typeface="Aptos" panose="020B0004020202020204" pitchFamily="34" charset="0"/>
                <a:cs typeface="B Nazanin" panose="00000400000000000000" pitchFamily="2" charset="-78"/>
              </a:rPr>
              <a:t>.</a:t>
            </a:r>
            <a:r>
              <a:rPr lang="en-US" sz="2000" kern="100" dirty="0">
                <a:effectLst/>
                <a:latin typeface="Aptos" panose="020B0004020202020204" pitchFamily="34" charset="0"/>
                <a:ea typeface="Aptos" panose="020B0004020202020204" pitchFamily="34" charset="0"/>
                <a:cs typeface="B Nazanin" panose="00000400000000000000" pitchFamily="2" charset="-78"/>
              </a:rPr>
              <a:t> </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B1A9F633-14FD-4A9C-9C7D-F90D12EBD3EE}"/>
              </a:ext>
            </a:extLst>
          </p:cNvPr>
          <p:cNvSpPr>
            <a:spLocks noChangeArrowheads="1"/>
          </p:cNvSpPr>
          <p:nvPr/>
        </p:nvSpPr>
        <p:spPr bwMode="auto">
          <a:xfrm>
            <a:off x="0" y="58050"/>
            <a:ext cx="65" cy="341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1" eaLnBrk="0" fontAlgn="base" latinLnBrk="0" hangingPunct="0">
              <a:lnSpc>
                <a:spcPct val="100000"/>
              </a:lnSpc>
              <a:spcBef>
                <a:spcPct val="0"/>
              </a:spcBef>
              <a:spcAft>
                <a:spcPct val="0"/>
              </a:spcAft>
              <a:buClrTx/>
              <a:buSzTx/>
              <a:buFontTx/>
              <a:buNone/>
              <a:tabLst/>
            </a:pPr>
            <a:endParaRPr kumimoji="0" lang="ar-SA"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7237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85656-7233-4954-B9C5-DE805B19F105}"/>
              </a:ext>
            </a:extLst>
          </p:cNvPr>
          <p:cNvSpPr>
            <a:spLocks noGrp="1"/>
          </p:cNvSpPr>
          <p:nvPr>
            <p:ph type="title"/>
          </p:nvPr>
        </p:nvSpPr>
        <p:spPr/>
        <p:txBody>
          <a:bodyPr/>
          <a:lstStyle/>
          <a:p>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ک</a:t>
            </a: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تابخانه های پیوندپذیر</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 (DLL)</a:t>
            </a:r>
            <a:endParaRPr lang="en-US" dirty="0"/>
          </a:p>
        </p:txBody>
      </p:sp>
      <p:sp>
        <p:nvSpPr>
          <p:cNvPr id="3" name="Content Placeholder 2">
            <a:extLst>
              <a:ext uri="{FF2B5EF4-FFF2-40B4-BE49-F238E27FC236}">
                <a16:creationId xmlns:a16="http://schemas.microsoft.com/office/drawing/2014/main" id="{8BBBF090-874F-48BB-88F2-D098EACDAEB0}"/>
              </a:ext>
            </a:extLst>
          </p:cNvPr>
          <p:cNvSpPr>
            <a:spLocks noGrp="1"/>
          </p:cNvSpPr>
          <p:nvPr>
            <p:ph idx="1"/>
          </p:nvPr>
        </p:nvSpPr>
        <p:spPr>
          <a:xfrm>
            <a:off x="457201" y="1233488"/>
            <a:ext cx="8077200" cy="4825480"/>
          </a:xfrm>
        </p:spPr>
        <p:txBody>
          <a:bodyPr/>
          <a:lstStyle/>
          <a:p>
            <a:pPr marL="0" marR="0" algn="r" rtl="1">
              <a:lnSpc>
                <a:spcPct val="107000"/>
              </a:lnSpc>
              <a:spcBef>
                <a:spcPts val="0"/>
              </a:spcBef>
              <a:spcAft>
                <a:spcPts val="800"/>
              </a:spcAft>
            </a:pPr>
            <a:r>
              <a:rPr lang="fa-IR" sz="3200" b="1" dirty="0">
                <a:effectLst/>
                <a:latin typeface="Times New Roman" panose="02020603050405020304" pitchFamily="18" charset="0"/>
                <a:ea typeface="Times New Roman" panose="02020603050405020304" pitchFamily="18" charset="0"/>
                <a:cs typeface="B Nazanin" panose="00000400000000000000" pitchFamily="2" charset="-78"/>
              </a:rPr>
              <a:t>ک</a:t>
            </a: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تابخانه های پیوندپذیر</a:t>
            </a:r>
            <a:r>
              <a:rPr lang="en-US" sz="3200" b="1" dirty="0">
                <a:effectLst/>
                <a:latin typeface="Times New Roman" panose="02020603050405020304" pitchFamily="18" charset="0"/>
                <a:ea typeface="Times New Roman" panose="02020603050405020304" pitchFamily="18" charset="0"/>
                <a:cs typeface="B Nazanin" panose="00000400000000000000" pitchFamily="2" charset="-78"/>
              </a:rPr>
              <a:t> (DLL)</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مشابه ماژول‌های شیء</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توسط لودر در تصویر نهایی برنامه (باینری) ترکیب می‌شوند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پیوند دینامیک (برخلاف پیوند ایستا)</a:t>
            </a:r>
            <a:r>
              <a:rPr lang="en-US" sz="20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پیوند به زمان اجرا موکول می‌شود (شبیه بارگذاری پویا)</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کاربرد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کتابخانه‌های سیستمی</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مثل کتابخانه استاندارد زبان</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C</a:t>
            </a: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مزایای</a:t>
            </a:r>
            <a:r>
              <a:rPr lang="en-US" sz="2000" b="1" dirty="0">
                <a:effectLst/>
                <a:latin typeface="Times New Roman" panose="02020603050405020304" pitchFamily="18" charset="0"/>
                <a:ea typeface="Times New Roman" panose="02020603050405020304" pitchFamily="18" charset="0"/>
                <a:cs typeface="B Nazanin" panose="00000400000000000000" pitchFamily="2" charset="-78"/>
              </a:rPr>
              <a:t> DLL </a:t>
            </a: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ها</a:t>
            </a:r>
            <a:r>
              <a:rPr lang="en-US" sz="20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کاهش حجم برنامه</a:t>
            </a:r>
            <a:r>
              <a:rPr lang="en-US" sz="20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هر برنامه نیازی به کپی جداگانه از کتابخانه ندارد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بهینه‌سازی حافظه</a:t>
            </a:r>
            <a:r>
              <a:rPr lang="en-US" sz="20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یک نسخه از</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DLL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در حافظه اصلی برای چندین فرایند قابل اشتراک است</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کاربرد گسترده</a:t>
            </a:r>
            <a:r>
              <a:rPr lang="en-US" sz="20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کتابخانه‌های</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DLL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در سیستم‌عامل‌های ویندوز و لینوکس استفاده می‌شوند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dirty="0">
                <a:effectLst/>
                <a:latin typeface="Calibri" panose="020F0502020204030204" pitchFamily="34" charset="0"/>
                <a:ea typeface="Calibri" panose="020F0502020204030204" pitchFamily="34" charset="0"/>
                <a:cs typeface="B Nazanin" panose="00000400000000000000" pitchFamily="2" charset="-78"/>
              </a:rPr>
              <a:t> </a:t>
            </a:r>
            <a:endParaRPr lang="en-US" dirty="0">
              <a:effectLst/>
              <a:latin typeface="Calibri" panose="020F0502020204030204" pitchFamily="34" charset="0"/>
              <a:ea typeface="Calibri" panose="020F0502020204030204" pitchFamily="34" charset="0"/>
              <a:cs typeface="Arial" panose="020B0604020202020204" pitchFamily="34" charset="0"/>
            </a:endParaRPr>
          </a:p>
          <a:p>
            <a:endParaRPr lang="en-US" sz="3200" dirty="0"/>
          </a:p>
        </p:txBody>
      </p:sp>
    </p:spTree>
    <p:extLst>
      <p:ext uri="{BB962C8B-B14F-4D97-AF65-F5344CB8AC3E}">
        <p14:creationId xmlns:p14="http://schemas.microsoft.com/office/powerpoint/2010/main" val="7570612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E9A6A-BC2A-0E0F-AD1D-F32499FCAC54}"/>
            </a:ext>
          </a:extLst>
        </p:cNvPr>
        <p:cNvGrpSpPr/>
        <p:nvPr/>
      </p:nvGrpSpPr>
      <p:grpSpPr>
        <a:xfrm>
          <a:off x="0" y="0"/>
          <a:ext cx="0" cy="0"/>
          <a:chOff x="0" y="0"/>
          <a:chExt cx="0" cy="0"/>
        </a:xfrm>
      </p:grpSpPr>
      <p:pic>
        <p:nvPicPr>
          <p:cNvPr id="11267" name="Picture 4" descr="8">
            <a:extLst>
              <a:ext uri="{FF2B5EF4-FFF2-40B4-BE49-F238E27FC236}">
                <a16:creationId xmlns:a16="http://schemas.microsoft.com/office/drawing/2014/main" id="{B7031F0A-1316-F15F-ADC3-E5DA8579F8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0753" y="0"/>
            <a:ext cx="3578542" cy="6641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A4D20E6-8A55-12B3-AC93-0151B839782E}"/>
              </a:ext>
            </a:extLst>
          </p:cNvPr>
          <p:cNvSpPr txBox="1"/>
          <p:nvPr/>
        </p:nvSpPr>
        <p:spPr>
          <a:xfrm>
            <a:off x="6134350" y="78630"/>
            <a:ext cx="657023" cy="646331"/>
          </a:xfrm>
          <a:prstGeom prst="rect">
            <a:avLst/>
          </a:prstGeom>
          <a:solidFill>
            <a:srgbClr val="C9EAFB"/>
          </a:solidFill>
        </p:spPr>
        <p:txBody>
          <a:bodyPr wrap="square">
            <a:spAutoFit/>
          </a:bodyPr>
          <a:lstStyle/>
          <a:p>
            <a:pPr algn="ct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کد برنامه</a:t>
            </a:r>
            <a:endParaRPr lang="en-US" dirty="0"/>
          </a:p>
        </p:txBody>
      </p:sp>
      <p:sp>
        <p:nvSpPr>
          <p:cNvPr id="6" name="TextBox 5">
            <a:extLst>
              <a:ext uri="{FF2B5EF4-FFF2-40B4-BE49-F238E27FC236}">
                <a16:creationId xmlns:a16="http://schemas.microsoft.com/office/drawing/2014/main" id="{F178EF7F-63F6-79CF-C303-F72C877E1A95}"/>
              </a:ext>
            </a:extLst>
          </p:cNvPr>
          <p:cNvSpPr txBox="1"/>
          <p:nvPr/>
        </p:nvSpPr>
        <p:spPr>
          <a:xfrm>
            <a:off x="6134349" y="2001051"/>
            <a:ext cx="657023" cy="646331"/>
          </a:xfrm>
          <a:prstGeom prst="rect">
            <a:avLst/>
          </a:prstGeom>
          <a:solidFill>
            <a:srgbClr val="C9EAFB"/>
          </a:solidFill>
        </p:spPr>
        <p:txBody>
          <a:bodyPr wrap="square">
            <a:spAutoFit/>
          </a:bodyPr>
          <a:lstStyle/>
          <a:p>
            <a:pPr algn="ct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شی ماژول</a:t>
            </a:r>
            <a:endParaRPr lang="en-US" dirty="0"/>
          </a:p>
        </p:txBody>
      </p:sp>
      <p:sp>
        <p:nvSpPr>
          <p:cNvPr id="7" name="TextBox 6">
            <a:extLst>
              <a:ext uri="{FF2B5EF4-FFF2-40B4-BE49-F238E27FC236}">
                <a16:creationId xmlns:a16="http://schemas.microsoft.com/office/drawing/2014/main" id="{A61C6737-7EAB-2558-873E-101710542775}"/>
              </a:ext>
            </a:extLst>
          </p:cNvPr>
          <p:cNvSpPr txBox="1"/>
          <p:nvPr/>
        </p:nvSpPr>
        <p:spPr>
          <a:xfrm>
            <a:off x="4670527" y="4356655"/>
            <a:ext cx="657023" cy="523220"/>
          </a:xfrm>
          <a:prstGeom prst="rect">
            <a:avLst/>
          </a:prstGeom>
          <a:solidFill>
            <a:srgbClr val="C9EAFB"/>
          </a:solidFill>
        </p:spPr>
        <p:txBody>
          <a:bodyPr wrap="square">
            <a:spAutoFit/>
          </a:bodyPr>
          <a:lstStyle/>
          <a:p>
            <a:pPr algn="ctr"/>
            <a:r>
              <a:rPr lang="fa-IR" sz="1400" dirty="0">
                <a:effectLst/>
                <a:latin typeface="Times New Roman" panose="02020603050405020304" pitchFamily="18" charset="0"/>
                <a:ea typeface="Times New Roman" panose="02020603050405020304" pitchFamily="18" charset="0"/>
                <a:cs typeface="B Nazanin" panose="00000400000000000000" pitchFamily="2" charset="-78"/>
              </a:rPr>
              <a:t>کتابخانه سیستم</a:t>
            </a:r>
            <a:endParaRPr lang="en-US" sz="1400" dirty="0"/>
          </a:p>
        </p:txBody>
      </p:sp>
      <p:sp>
        <p:nvSpPr>
          <p:cNvPr id="8" name="TextBox 7">
            <a:extLst>
              <a:ext uri="{FF2B5EF4-FFF2-40B4-BE49-F238E27FC236}">
                <a16:creationId xmlns:a16="http://schemas.microsoft.com/office/drawing/2014/main" id="{309ABC69-743F-4C6E-2216-F3243E75ECC5}"/>
              </a:ext>
            </a:extLst>
          </p:cNvPr>
          <p:cNvSpPr txBox="1"/>
          <p:nvPr/>
        </p:nvSpPr>
        <p:spPr>
          <a:xfrm>
            <a:off x="6134349" y="4015239"/>
            <a:ext cx="657023" cy="523220"/>
          </a:xfrm>
          <a:prstGeom prst="rect">
            <a:avLst/>
          </a:prstGeom>
          <a:solidFill>
            <a:srgbClr val="C9EAFB"/>
          </a:solidFill>
        </p:spPr>
        <p:txBody>
          <a:bodyPr wrap="square">
            <a:spAutoFit/>
          </a:bodyPr>
          <a:lstStyle/>
          <a:p>
            <a:pPr algn="ctr"/>
            <a:r>
              <a:rPr lang="fa-IR" sz="1400" dirty="0">
                <a:effectLst/>
                <a:latin typeface="Times New Roman" panose="02020603050405020304" pitchFamily="18" charset="0"/>
                <a:ea typeface="Times New Roman" panose="02020603050405020304" pitchFamily="18" charset="0"/>
                <a:cs typeface="B Nazanin" panose="00000400000000000000" pitchFamily="2" charset="-78"/>
              </a:rPr>
              <a:t>ماژول بارگزاری</a:t>
            </a:r>
            <a:endParaRPr lang="en-US" sz="1400" dirty="0"/>
          </a:p>
        </p:txBody>
      </p:sp>
      <p:sp>
        <p:nvSpPr>
          <p:cNvPr id="9" name="TextBox 8">
            <a:extLst>
              <a:ext uri="{FF2B5EF4-FFF2-40B4-BE49-F238E27FC236}">
                <a16:creationId xmlns:a16="http://schemas.microsoft.com/office/drawing/2014/main" id="{C7B516C3-C711-6E62-3C23-A859082FD21C}"/>
              </a:ext>
            </a:extLst>
          </p:cNvPr>
          <p:cNvSpPr txBox="1"/>
          <p:nvPr/>
        </p:nvSpPr>
        <p:spPr>
          <a:xfrm>
            <a:off x="7453085" y="4092183"/>
            <a:ext cx="1145791" cy="369332"/>
          </a:xfrm>
          <a:prstGeom prst="rect">
            <a:avLst/>
          </a:prstGeom>
          <a:solidFill>
            <a:schemeClr val="bg1"/>
          </a:solidFill>
        </p:spPr>
        <p:txBody>
          <a:bodyPr wrap="square">
            <a:spAutoFit/>
          </a:bodyPr>
          <a:lstStyle/>
          <a:p>
            <a:pPr algn="ctr"/>
            <a:r>
              <a:rPr lang="fa-IR" dirty="0">
                <a:effectLst/>
                <a:latin typeface="Times New Roman" panose="02020603050405020304" pitchFamily="18" charset="0"/>
                <a:ea typeface="Times New Roman" panose="02020603050405020304" pitchFamily="18" charset="0"/>
                <a:cs typeface="B Nazanin" panose="00000400000000000000" pitchFamily="2" charset="-78"/>
              </a:rPr>
              <a:t>زمان‌بارگذاری</a:t>
            </a:r>
            <a:endParaRPr lang="en-US" dirty="0"/>
          </a:p>
        </p:txBody>
      </p:sp>
      <p:sp>
        <p:nvSpPr>
          <p:cNvPr id="10" name="TextBox 9">
            <a:extLst>
              <a:ext uri="{FF2B5EF4-FFF2-40B4-BE49-F238E27FC236}">
                <a16:creationId xmlns:a16="http://schemas.microsoft.com/office/drawing/2014/main" id="{3FD71BE3-4E0F-AFB8-3F20-1EE15E7D6101}"/>
              </a:ext>
            </a:extLst>
          </p:cNvPr>
          <p:cNvSpPr txBox="1"/>
          <p:nvPr/>
        </p:nvSpPr>
        <p:spPr>
          <a:xfrm>
            <a:off x="7374972" y="1174374"/>
            <a:ext cx="1015452" cy="338554"/>
          </a:xfrm>
          <a:prstGeom prst="rect">
            <a:avLst/>
          </a:prstGeom>
          <a:solidFill>
            <a:schemeClr val="bg1"/>
          </a:solidFill>
        </p:spPr>
        <p:txBody>
          <a:bodyPr wrap="square">
            <a:spAutoFit/>
          </a:bodyPr>
          <a:lstStyle/>
          <a:p>
            <a:pPr algn="ctr"/>
            <a:r>
              <a:rPr lang="fa-IR" sz="1600" dirty="0">
                <a:effectLst/>
                <a:latin typeface="Times New Roman" panose="02020603050405020304" pitchFamily="18" charset="0"/>
                <a:ea typeface="Times New Roman" panose="02020603050405020304" pitchFamily="18" charset="0"/>
                <a:cs typeface="B Nazanin" panose="00000400000000000000" pitchFamily="2" charset="-78"/>
              </a:rPr>
              <a:t>زمان کامپایل</a:t>
            </a:r>
            <a:endParaRPr lang="en-US" sz="1600" dirty="0"/>
          </a:p>
        </p:txBody>
      </p:sp>
      <p:sp>
        <p:nvSpPr>
          <p:cNvPr id="14" name="TextBox 13">
            <a:extLst>
              <a:ext uri="{FF2B5EF4-FFF2-40B4-BE49-F238E27FC236}">
                <a16:creationId xmlns:a16="http://schemas.microsoft.com/office/drawing/2014/main" id="{6E0122AF-EFDA-98B7-ABB6-59826DDA357A}"/>
              </a:ext>
            </a:extLst>
          </p:cNvPr>
          <p:cNvSpPr txBox="1"/>
          <p:nvPr/>
        </p:nvSpPr>
        <p:spPr>
          <a:xfrm>
            <a:off x="4548290" y="5094951"/>
            <a:ext cx="837006" cy="954107"/>
          </a:xfrm>
          <a:prstGeom prst="rect">
            <a:avLst/>
          </a:prstGeom>
          <a:solidFill>
            <a:srgbClr val="C9EAFB"/>
          </a:solidFill>
        </p:spPr>
        <p:txBody>
          <a:bodyPr wrap="square">
            <a:spAutoFit/>
          </a:bodyPr>
          <a:lstStyle/>
          <a:p>
            <a:pPr algn="ctr"/>
            <a:r>
              <a:rPr lang="fa-IR" sz="1400" dirty="0">
                <a:effectLst/>
                <a:latin typeface="Times New Roman" panose="02020603050405020304" pitchFamily="18" charset="0"/>
                <a:ea typeface="Times New Roman" panose="02020603050405020304" pitchFamily="18" charset="0"/>
                <a:cs typeface="B Nazanin" panose="00000400000000000000" pitchFamily="2" charset="-78"/>
              </a:rPr>
              <a:t>کتابخانه سیستم بارگذاری شده پویا</a:t>
            </a:r>
            <a:endParaRPr lang="en-US" sz="1400" dirty="0"/>
          </a:p>
        </p:txBody>
      </p:sp>
      <p:sp>
        <p:nvSpPr>
          <p:cNvPr id="16" name="TextBox 15">
            <a:extLst>
              <a:ext uri="{FF2B5EF4-FFF2-40B4-BE49-F238E27FC236}">
                <a16:creationId xmlns:a16="http://schemas.microsoft.com/office/drawing/2014/main" id="{B01F84DD-184E-0CC3-4B2F-223932340BD3}"/>
              </a:ext>
            </a:extLst>
          </p:cNvPr>
          <p:cNvSpPr txBox="1"/>
          <p:nvPr/>
        </p:nvSpPr>
        <p:spPr>
          <a:xfrm>
            <a:off x="7416322" y="5916564"/>
            <a:ext cx="1015452" cy="640080"/>
          </a:xfrm>
          <a:prstGeom prst="rect">
            <a:avLst/>
          </a:prstGeom>
          <a:solidFill>
            <a:schemeClr val="bg1"/>
          </a:solidFill>
        </p:spPr>
        <p:txBody>
          <a:bodyPr wrap="square">
            <a:spAutoFit/>
          </a:bodyPr>
          <a:lstStyle/>
          <a:p>
            <a:pPr algn="ct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زمان اجرا</a:t>
            </a:r>
            <a:endParaRPr lang="en-US" sz="2000" dirty="0"/>
          </a:p>
        </p:txBody>
      </p:sp>
      <p:sp>
        <p:nvSpPr>
          <p:cNvPr id="19" name="TextBox 18">
            <a:extLst>
              <a:ext uri="{FF2B5EF4-FFF2-40B4-BE49-F238E27FC236}">
                <a16:creationId xmlns:a16="http://schemas.microsoft.com/office/drawing/2014/main" id="{F06913E8-07CA-F0E3-7C7B-7A8DFB530836}"/>
              </a:ext>
            </a:extLst>
          </p:cNvPr>
          <p:cNvSpPr txBox="1"/>
          <p:nvPr/>
        </p:nvSpPr>
        <p:spPr>
          <a:xfrm>
            <a:off x="5949805" y="1101396"/>
            <a:ext cx="886772" cy="523220"/>
          </a:xfrm>
          <a:prstGeom prst="rect">
            <a:avLst/>
          </a:prstGeom>
          <a:solidFill>
            <a:srgbClr val="D0D4D7"/>
          </a:solidFill>
          <a:ln>
            <a:solidFill>
              <a:srgbClr val="D0D4D7"/>
            </a:solidFill>
          </a:ln>
        </p:spPr>
        <p:txBody>
          <a:bodyPr wrap="square">
            <a:spAutoFit/>
          </a:bodyPr>
          <a:lstStyle/>
          <a:p>
            <a:pPr algn="ctr"/>
            <a:r>
              <a:rPr lang="fa-IR" sz="1400" dirty="0">
                <a:effectLst/>
                <a:latin typeface="Times New Roman" panose="02020603050405020304" pitchFamily="18" charset="0"/>
                <a:ea typeface="Times New Roman" panose="02020603050405020304" pitchFamily="18" charset="0"/>
                <a:cs typeface="B Nazanin" panose="00000400000000000000" pitchFamily="2" charset="-78"/>
              </a:rPr>
              <a:t>کامپایلر یا اسمبلر</a:t>
            </a:r>
            <a:endParaRPr lang="en-US" sz="1400" dirty="0"/>
          </a:p>
        </p:txBody>
      </p:sp>
      <p:sp>
        <p:nvSpPr>
          <p:cNvPr id="22" name="TextBox 21">
            <a:extLst>
              <a:ext uri="{FF2B5EF4-FFF2-40B4-BE49-F238E27FC236}">
                <a16:creationId xmlns:a16="http://schemas.microsoft.com/office/drawing/2014/main" id="{9502B2EF-DEE2-56A8-80D7-2475ACE91B96}"/>
              </a:ext>
            </a:extLst>
          </p:cNvPr>
          <p:cNvSpPr txBox="1"/>
          <p:nvPr/>
        </p:nvSpPr>
        <p:spPr>
          <a:xfrm>
            <a:off x="5949805" y="5828575"/>
            <a:ext cx="886772" cy="830997"/>
          </a:xfrm>
          <a:prstGeom prst="rect">
            <a:avLst/>
          </a:prstGeom>
          <a:solidFill>
            <a:srgbClr val="D0D4D7"/>
          </a:solidFill>
          <a:ln>
            <a:solidFill>
              <a:srgbClr val="D0D4D7"/>
            </a:solidFill>
          </a:ln>
        </p:spPr>
        <p:txBody>
          <a:bodyPr wrap="square">
            <a:spAutoFit/>
          </a:bodyPr>
          <a:lstStyle/>
          <a:p>
            <a:pPr algn="ctr"/>
            <a:r>
              <a:rPr lang="ar-SA" sz="1600" b="1" dirty="0">
                <a:effectLst/>
                <a:latin typeface="Aptos" panose="020B0004020202020204" pitchFamily="34" charset="0"/>
                <a:ea typeface="Aptos" panose="020B0004020202020204" pitchFamily="34" charset="0"/>
                <a:cs typeface="B Nazanin" panose="00000400000000000000" pitchFamily="2" charset="-78"/>
              </a:rPr>
              <a:t>تصویر دودویی در حافظه</a:t>
            </a:r>
            <a:endParaRPr lang="en-US" sz="1200" dirty="0">
              <a:latin typeface="Times New Roman" panose="02020603050405020304" pitchFamily="18" charset="0"/>
              <a:cs typeface="B Nazanin" panose="00000400000000000000" pitchFamily="2" charset="-78"/>
            </a:endParaRPr>
          </a:p>
        </p:txBody>
      </p:sp>
      <p:sp>
        <p:nvSpPr>
          <p:cNvPr id="23" name="TextBox 22">
            <a:extLst>
              <a:ext uri="{FF2B5EF4-FFF2-40B4-BE49-F238E27FC236}">
                <a16:creationId xmlns:a16="http://schemas.microsoft.com/office/drawing/2014/main" id="{B72B1792-8532-97BF-0AAE-CC26EC09C66D}"/>
              </a:ext>
            </a:extLst>
          </p:cNvPr>
          <p:cNvSpPr txBox="1"/>
          <p:nvPr/>
        </p:nvSpPr>
        <p:spPr>
          <a:xfrm>
            <a:off x="6019473" y="5043140"/>
            <a:ext cx="886772" cy="307777"/>
          </a:xfrm>
          <a:prstGeom prst="rect">
            <a:avLst/>
          </a:prstGeom>
          <a:solidFill>
            <a:srgbClr val="D0D4D7"/>
          </a:solidFill>
          <a:ln>
            <a:solidFill>
              <a:srgbClr val="D0D4D7"/>
            </a:solidFill>
          </a:ln>
        </p:spPr>
        <p:txBody>
          <a:bodyPr wrap="square">
            <a:spAutoFit/>
          </a:bodyPr>
          <a:lstStyle/>
          <a:p>
            <a:pPr algn="ctr"/>
            <a:r>
              <a:rPr lang="fa-IR" sz="1400" dirty="0">
                <a:latin typeface="Times New Roman" panose="02020603050405020304" pitchFamily="18" charset="0"/>
                <a:cs typeface="B Nazanin" panose="00000400000000000000" pitchFamily="2" charset="-78"/>
              </a:rPr>
              <a:t>بارگذار</a:t>
            </a:r>
            <a:endParaRPr lang="en-US" sz="1400" dirty="0">
              <a:latin typeface="Times New Roman" panose="02020603050405020304" pitchFamily="18" charset="0"/>
              <a:cs typeface="B Nazanin" panose="00000400000000000000" pitchFamily="2" charset="-78"/>
            </a:endParaRPr>
          </a:p>
        </p:txBody>
      </p:sp>
      <p:sp>
        <p:nvSpPr>
          <p:cNvPr id="2" name="Title 1">
            <a:extLst>
              <a:ext uri="{FF2B5EF4-FFF2-40B4-BE49-F238E27FC236}">
                <a16:creationId xmlns:a16="http://schemas.microsoft.com/office/drawing/2014/main" id="{9D1C7217-A17D-96D8-2F11-3ABE81022E0E}"/>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97CBA93A-413F-6B65-9446-B25F9F410BFB}"/>
              </a:ext>
            </a:extLst>
          </p:cNvPr>
          <p:cNvSpPr txBox="1"/>
          <p:nvPr/>
        </p:nvSpPr>
        <p:spPr>
          <a:xfrm>
            <a:off x="457199" y="847062"/>
            <a:ext cx="4296161" cy="5418919"/>
          </a:xfrm>
          <a:prstGeom prst="rect">
            <a:avLst/>
          </a:prstGeom>
          <a:noFill/>
        </p:spPr>
        <p:txBody>
          <a:bodyPr wrap="square">
            <a:spAutoFit/>
          </a:bodyPr>
          <a:lstStyle/>
          <a:p>
            <a:pPr marL="0" marR="0" algn="r" rtl="1">
              <a:lnSpc>
                <a:spcPct val="115000"/>
              </a:lnSpc>
              <a:spcAft>
                <a:spcPts val="800"/>
              </a:spcAft>
              <a:buNone/>
            </a:pPr>
            <a:r>
              <a:rPr lang="ar-SA" sz="1600" b="1" kern="100" dirty="0">
                <a:effectLst/>
                <a:latin typeface="Aptos" panose="020B0004020202020204" pitchFamily="34" charset="0"/>
                <a:ea typeface="Aptos" panose="020B0004020202020204" pitchFamily="34" charset="0"/>
                <a:cs typeface="B Nazanin" panose="00000400000000000000" pitchFamily="2" charset="-78"/>
              </a:rPr>
              <a:t>مرحله اول: زمان کامپایل</a:t>
            </a:r>
            <a:r>
              <a:rPr lang="en-US" sz="1600" b="1" kern="100" dirty="0">
                <a:effectLst/>
                <a:latin typeface="Aptos" panose="020B0004020202020204" pitchFamily="34" charset="0"/>
                <a:ea typeface="Aptos" panose="020B0004020202020204" pitchFamily="34" charset="0"/>
                <a:cs typeface="B Nazanin" panose="00000400000000000000" pitchFamily="2" charset="-78"/>
              </a:rPr>
              <a:t> (Compile Time)</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Font typeface="+mj-lt"/>
              <a:buAutoNum type="arabicPeriod"/>
              <a:tabLst>
                <a:tab pos="457200" algn="l"/>
              </a:tabLst>
            </a:pPr>
            <a:r>
              <a:rPr lang="ar-SA" sz="1600" b="1" kern="100" dirty="0">
                <a:effectLst/>
                <a:latin typeface="Aptos" panose="020B0004020202020204" pitchFamily="34" charset="0"/>
                <a:ea typeface="Aptos" panose="020B0004020202020204" pitchFamily="34" charset="0"/>
                <a:cs typeface="B Nazanin" panose="00000400000000000000" pitchFamily="2" charset="-78"/>
              </a:rPr>
              <a:t>برنامه‌ی منبع</a:t>
            </a:r>
            <a:r>
              <a:rPr lang="en-US" sz="1600" b="1" kern="100" dirty="0">
                <a:effectLst/>
                <a:latin typeface="Aptos" panose="020B0004020202020204" pitchFamily="34" charset="0"/>
                <a:ea typeface="Aptos" panose="020B0004020202020204" pitchFamily="34" charset="0"/>
                <a:cs typeface="B Nazanin" panose="00000400000000000000" pitchFamily="2" charset="-78"/>
              </a:rPr>
              <a:t> (source program):</a:t>
            </a:r>
            <a:r>
              <a:rPr lang="fa-IR" sz="1600" b="1" kern="100" dirty="0">
                <a:effectLst/>
                <a:latin typeface="Aptos" panose="020B0004020202020204" pitchFamily="34" charset="0"/>
                <a:ea typeface="Aptos" panose="020B0004020202020204" pitchFamily="34" charset="0"/>
                <a:cs typeface="B Nazanin" panose="00000400000000000000" pitchFamily="2" charset="-78"/>
              </a:rPr>
              <a:t> کد برنامه</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Font typeface="+mj-lt"/>
              <a:buAutoNum type="arabicPeriod"/>
              <a:tabLst>
                <a:tab pos="457200" algn="l"/>
              </a:tabLst>
            </a:pPr>
            <a:r>
              <a:rPr lang="ar-SA" sz="1600" b="1" kern="100" dirty="0">
                <a:effectLst/>
                <a:latin typeface="Aptos" panose="020B0004020202020204" pitchFamily="34" charset="0"/>
                <a:ea typeface="Aptos" panose="020B0004020202020204" pitchFamily="34" charset="0"/>
                <a:cs typeface="B Nazanin" panose="00000400000000000000" pitchFamily="2" charset="-78"/>
              </a:rPr>
              <a:t>کامپایلر یا اسمبلر</a:t>
            </a:r>
            <a:r>
              <a:rPr lang="en-US" sz="1600" b="1" kern="100" dirty="0">
                <a:effectLst/>
                <a:latin typeface="Aptos" panose="020B0004020202020204" pitchFamily="34" charset="0"/>
                <a:ea typeface="Aptos" panose="020B0004020202020204" pitchFamily="34" charset="0"/>
                <a:cs typeface="B Nazanin" panose="00000400000000000000" pitchFamily="2" charset="-78"/>
              </a:rPr>
              <a:t> (compiler or assembler):</a:t>
            </a:r>
            <a:br>
              <a:rPr lang="en-US" sz="1600" kern="100" dirty="0">
                <a:effectLst/>
                <a:latin typeface="Aptos" panose="020B0004020202020204" pitchFamily="34" charset="0"/>
                <a:ea typeface="Aptos" panose="020B0004020202020204" pitchFamily="34" charset="0"/>
                <a:cs typeface="B Nazanin" panose="00000400000000000000" pitchFamily="2" charset="-78"/>
              </a:rPr>
            </a:br>
            <a:r>
              <a:rPr lang="ar-SA" sz="1600" kern="100" dirty="0">
                <a:effectLst/>
                <a:latin typeface="Aptos" panose="020B0004020202020204" pitchFamily="34" charset="0"/>
                <a:ea typeface="Aptos" panose="020B0004020202020204" pitchFamily="34" charset="0"/>
                <a:cs typeface="B Nazanin" panose="00000400000000000000" pitchFamily="2" charset="-78"/>
              </a:rPr>
              <a:t>این ابزار کدی که شما نوشتید رو به زبان ماشین (که برای کامپیوتر قابل فهمه) تبدیل می‌کنه. نتیجه‌اش میشه یک فایل به نام </a:t>
            </a:r>
            <a:r>
              <a:rPr lang="ar-SA" sz="1600" b="1" kern="100" dirty="0">
                <a:effectLst/>
                <a:latin typeface="Aptos" panose="020B0004020202020204" pitchFamily="34" charset="0"/>
                <a:ea typeface="Aptos" panose="020B0004020202020204" pitchFamily="34" charset="0"/>
                <a:cs typeface="B Nazanin" panose="00000400000000000000" pitchFamily="2" charset="-78"/>
              </a:rPr>
              <a:t>شیء</a:t>
            </a:r>
            <a:r>
              <a:rPr lang="en-US" sz="1600" b="1" kern="100" dirty="0">
                <a:effectLst/>
                <a:latin typeface="Aptos" panose="020B0004020202020204" pitchFamily="34" charset="0"/>
                <a:ea typeface="Aptos" panose="020B0004020202020204" pitchFamily="34" charset="0"/>
                <a:cs typeface="B Nazanin" panose="00000400000000000000" pitchFamily="2" charset="-78"/>
              </a:rPr>
              <a:t> (object module)</a:t>
            </a:r>
            <a:r>
              <a:rPr lang="en-US" sz="1600" kern="100" dirty="0">
                <a:effectLst/>
                <a:latin typeface="Aptos" panose="020B0004020202020204" pitchFamily="34" charset="0"/>
                <a:ea typeface="Aptos" panose="020B0004020202020204" pitchFamily="34" charset="0"/>
                <a:cs typeface="B Nazanin" panose="00000400000000000000" pitchFamily="2" charset="-78"/>
              </a:rPr>
              <a:t> </a:t>
            </a:r>
            <a:r>
              <a:rPr lang="ar-SA" sz="1600" kern="100" dirty="0">
                <a:effectLst/>
                <a:latin typeface="Aptos" panose="020B0004020202020204" pitchFamily="34" charset="0"/>
                <a:ea typeface="Aptos" panose="020B0004020202020204" pitchFamily="34" charset="0"/>
                <a:cs typeface="B Nazanin" panose="00000400000000000000" pitchFamily="2" charset="-78"/>
              </a:rPr>
              <a:t>که هنوز قابل اجرا نیست</a:t>
            </a:r>
            <a:r>
              <a:rPr lang="en-US" sz="1600" kern="100" dirty="0">
                <a:effectLst/>
                <a:latin typeface="Aptos" panose="020B0004020202020204" pitchFamily="34" charset="0"/>
                <a:ea typeface="Aptos" panose="020B0004020202020204" pitchFamily="34" charset="0"/>
                <a:cs typeface="B Nazanin" panose="00000400000000000000" pitchFamily="2" charset="-78"/>
              </a:rPr>
              <a:t>.</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600" b="1" kern="100" dirty="0">
                <a:effectLst/>
                <a:latin typeface="Segoe UI Emoji" panose="020B0502040204020203" pitchFamily="34" charset="0"/>
                <a:ea typeface="Aptos" panose="020B0004020202020204" pitchFamily="34" charset="0"/>
                <a:cs typeface="B Nazanin" panose="00000400000000000000" pitchFamily="2" charset="-78"/>
              </a:rPr>
              <a:t>🔧</a:t>
            </a:r>
            <a:r>
              <a:rPr lang="en-US" sz="1600" b="1" kern="100" dirty="0">
                <a:effectLst/>
                <a:latin typeface="Aptos" panose="020B0004020202020204" pitchFamily="34" charset="0"/>
                <a:ea typeface="Aptos" panose="020B0004020202020204" pitchFamily="34" charset="0"/>
                <a:cs typeface="B Nazanin" panose="00000400000000000000" pitchFamily="2" charset="-78"/>
              </a:rPr>
              <a:t> </a:t>
            </a:r>
            <a:r>
              <a:rPr lang="ar-SA" sz="1600" b="1" kern="100" dirty="0">
                <a:effectLst/>
                <a:latin typeface="Aptos" panose="020B0004020202020204" pitchFamily="34" charset="0"/>
                <a:ea typeface="Aptos" panose="020B0004020202020204" pitchFamily="34" charset="0"/>
                <a:cs typeface="B Nazanin" panose="00000400000000000000" pitchFamily="2" charset="-78"/>
              </a:rPr>
              <a:t>مرحله دوم: زمان بارگذاری</a:t>
            </a:r>
            <a:r>
              <a:rPr lang="en-US" sz="1600" b="1" kern="100" dirty="0">
                <a:effectLst/>
                <a:latin typeface="Aptos" panose="020B0004020202020204" pitchFamily="34" charset="0"/>
                <a:ea typeface="Aptos" panose="020B0004020202020204" pitchFamily="34" charset="0"/>
                <a:cs typeface="B Nazanin" panose="00000400000000000000" pitchFamily="2" charset="-78"/>
              </a:rPr>
              <a:t> (Load Time)</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Font typeface="+mj-lt"/>
              <a:buAutoNum type="arabicPeriod" startAt="3"/>
              <a:tabLst>
                <a:tab pos="457200" algn="l"/>
              </a:tabLst>
            </a:pPr>
            <a:r>
              <a:rPr lang="ar-SA" sz="1600" b="1" kern="100" dirty="0">
                <a:effectLst/>
                <a:latin typeface="Aptos" panose="020B0004020202020204" pitchFamily="34" charset="0"/>
                <a:ea typeface="Aptos" panose="020B0004020202020204" pitchFamily="34" charset="0"/>
                <a:cs typeface="B Nazanin" panose="00000400000000000000" pitchFamily="2" charset="-78"/>
              </a:rPr>
              <a:t>ویرایشگر پیوند</a:t>
            </a:r>
            <a:r>
              <a:rPr lang="en-US" sz="1600" b="1" kern="100" dirty="0">
                <a:effectLst/>
                <a:latin typeface="Aptos" panose="020B0004020202020204" pitchFamily="34" charset="0"/>
                <a:ea typeface="Aptos" panose="020B0004020202020204" pitchFamily="34" charset="0"/>
                <a:cs typeface="B Nazanin" panose="00000400000000000000" pitchFamily="2" charset="-78"/>
              </a:rPr>
              <a:t> (linkage editor):</a:t>
            </a:r>
            <a:br>
              <a:rPr lang="en-US" sz="1600" kern="100" dirty="0">
                <a:effectLst/>
                <a:latin typeface="Aptos" panose="020B0004020202020204" pitchFamily="34" charset="0"/>
                <a:ea typeface="Aptos" panose="020B0004020202020204" pitchFamily="34" charset="0"/>
                <a:cs typeface="B Nazanin" panose="00000400000000000000" pitchFamily="2" charset="-78"/>
              </a:rPr>
            </a:br>
            <a:r>
              <a:rPr lang="ar-SA" sz="1600" kern="100" dirty="0">
                <a:effectLst/>
                <a:latin typeface="Aptos" panose="020B0004020202020204" pitchFamily="34" charset="0"/>
                <a:ea typeface="Aptos" panose="020B0004020202020204" pitchFamily="34" charset="0"/>
                <a:cs typeface="B Nazanin" panose="00000400000000000000" pitchFamily="2" charset="-78"/>
              </a:rPr>
              <a:t>اینجا فایل شیء شما به همراه بقیه‌ی ماژول‌های شیء (مثلاً کتابخانه‌ها یا بخش‌های دیگه‌ی برنامه) با هم ترکیب می‌شن و یک فایل نهایی به نام </a:t>
            </a:r>
            <a:r>
              <a:rPr lang="ar-SA" sz="1600" b="1" kern="100" dirty="0">
                <a:effectLst/>
                <a:latin typeface="Aptos" panose="020B0004020202020204" pitchFamily="34" charset="0"/>
                <a:ea typeface="Aptos" panose="020B0004020202020204" pitchFamily="34" charset="0"/>
                <a:cs typeface="B Nazanin" panose="00000400000000000000" pitchFamily="2" charset="-78"/>
              </a:rPr>
              <a:t>ماژول بارگذاری</a:t>
            </a:r>
            <a:r>
              <a:rPr lang="en-US" sz="1600" b="1" kern="100" dirty="0">
                <a:effectLst/>
                <a:latin typeface="Aptos" panose="020B0004020202020204" pitchFamily="34" charset="0"/>
                <a:ea typeface="Aptos" panose="020B0004020202020204" pitchFamily="34" charset="0"/>
                <a:cs typeface="B Nazanin" panose="00000400000000000000" pitchFamily="2" charset="-78"/>
              </a:rPr>
              <a:t> (load module)</a:t>
            </a:r>
            <a:r>
              <a:rPr lang="en-US" sz="1600" kern="100" dirty="0">
                <a:effectLst/>
                <a:latin typeface="Aptos" panose="020B0004020202020204" pitchFamily="34" charset="0"/>
                <a:ea typeface="Aptos" panose="020B0004020202020204" pitchFamily="34" charset="0"/>
                <a:cs typeface="B Nazanin" panose="00000400000000000000" pitchFamily="2" charset="-78"/>
              </a:rPr>
              <a:t> </a:t>
            </a:r>
            <a:r>
              <a:rPr lang="ar-SA" sz="1600" kern="100" dirty="0">
                <a:effectLst/>
                <a:latin typeface="Aptos" panose="020B0004020202020204" pitchFamily="34" charset="0"/>
                <a:ea typeface="Aptos" panose="020B0004020202020204" pitchFamily="34" charset="0"/>
                <a:cs typeface="B Nazanin" panose="00000400000000000000" pitchFamily="2" charset="-78"/>
              </a:rPr>
              <a:t>ساخته میشه</a:t>
            </a:r>
            <a:r>
              <a:rPr lang="en-US" sz="1600" kern="100" dirty="0">
                <a:effectLst/>
                <a:latin typeface="Aptos" panose="020B0004020202020204" pitchFamily="34" charset="0"/>
                <a:ea typeface="Aptos" panose="020B0004020202020204" pitchFamily="34" charset="0"/>
                <a:cs typeface="B Nazanin" panose="00000400000000000000" pitchFamily="2" charset="-78"/>
              </a:rPr>
              <a:t>.</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Font typeface="+mj-lt"/>
              <a:buAutoNum type="arabicPeriod" startAt="3"/>
              <a:tabLst>
                <a:tab pos="457200" algn="l"/>
              </a:tabLst>
            </a:pPr>
            <a:r>
              <a:rPr lang="ar-SA" sz="1600" b="1" kern="100" dirty="0">
                <a:effectLst/>
                <a:latin typeface="Aptos" panose="020B0004020202020204" pitchFamily="34" charset="0"/>
                <a:ea typeface="Aptos" panose="020B0004020202020204" pitchFamily="34" charset="0"/>
                <a:cs typeface="B Nazanin" panose="00000400000000000000" pitchFamily="2" charset="-78"/>
              </a:rPr>
              <a:t>کتابخانه‌ی سیستم</a:t>
            </a:r>
            <a:r>
              <a:rPr lang="en-US" sz="1600" b="1" kern="100" dirty="0">
                <a:effectLst/>
                <a:latin typeface="Aptos" panose="020B0004020202020204" pitchFamily="34" charset="0"/>
                <a:ea typeface="Aptos" panose="020B0004020202020204" pitchFamily="34" charset="0"/>
                <a:cs typeface="B Nazanin" panose="00000400000000000000" pitchFamily="2" charset="-78"/>
              </a:rPr>
              <a:t> (system library):</a:t>
            </a:r>
            <a:br>
              <a:rPr lang="en-US" sz="1600" kern="100" dirty="0">
                <a:effectLst/>
                <a:latin typeface="Aptos" panose="020B0004020202020204" pitchFamily="34" charset="0"/>
                <a:ea typeface="Aptos" panose="020B0004020202020204" pitchFamily="34" charset="0"/>
                <a:cs typeface="B Nazanin" panose="00000400000000000000" pitchFamily="2" charset="-78"/>
              </a:rPr>
            </a:br>
            <a:r>
              <a:rPr lang="ar-SA" sz="1600" kern="100" dirty="0">
                <a:effectLst/>
                <a:latin typeface="Aptos" panose="020B0004020202020204" pitchFamily="34" charset="0"/>
                <a:ea typeface="Aptos" panose="020B0004020202020204" pitchFamily="34" charset="0"/>
                <a:cs typeface="B Nazanin" panose="00000400000000000000" pitchFamily="2" charset="-78"/>
              </a:rPr>
              <a:t>این کتابخانه‌ها شامل کدهایی هستن که خیلی از برنامه‌ها ازشون استفاده می‌کنن (مثلاً توابع استاندارد مثل </a:t>
            </a:r>
            <a:r>
              <a:rPr lang="en-US" sz="1600" kern="100" dirty="0" err="1">
                <a:effectLst/>
                <a:latin typeface="Aptos" panose="020B0004020202020204" pitchFamily="34" charset="0"/>
                <a:ea typeface="Aptos" panose="020B0004020202020204" pitchFamily="34" charset="0"/>
                <a:cs typeface="B Nazanin" panose="00000400000000000000" pitchFamily="2" charset="-78"/>
              </a:rPr>
              <a:t>printf</a:t>
            </a:r>
            <a:r>
              <a:rPr lang="en-US" sz="1600" kern="100" dirty="0">
                <a:effectLst/>
                <a:latin typeface="Aptos" panose="020B0004020202020204" pitchFamily="34" charset="0"/>
                <a:ea typeface="Aptos" panose="020B0004020202020204" pitchFamily="34" charset="0"/>
                <a:cs typeface="B Nazanin" panose="00000400000000000000" pitchFamily="2" charset="-78"/>
              </a:rPr>
              <a:t>() </a:t>
            </a:r>
            <a:r>
              <a:rPr lang="ar-SA" sz="1600" kern="100" dirty="0">
                <a:effectLst/>
                <a:latin typeface="Aptos" panose="020B0004020202020204" pitchFamily="34" charset="0"/>
                <a:ea typeface="Aptos" panose="020B0004020202020204" pitchFamily="34" charset="0"/>
                <a:cs typeface="B Nazanin" panose="00000400000000000000" pitchFamily="2" charset="-78"/>
              </a:rPr>
              <a:t>در</a:t>
            </a:r>
            <a:r>
              <a:rPr lang="en-US" sz="1600" kern="100" dirty="0">
                <a:effectLst/>
                <a:latin typeface="Aptos" panose="020B0004020202020204" pitchFamily="34" charset="0"/>
                <a:ea typeface="Aptos" panose="020B0004020202020204" pitchFamily="34" charset="0"/>
                <a:cs typeface="B Nazanin" panose="00000400000000000000" pitchFamily="2" charset="-78"/>
              </a:rPr>
              <a:t> C). </a:t>
            </a:r>
            <a:r>
              <a:rPr lang="ar-SA" sz="1600" kern="100" dirty="0">
                <a:effectLst/>
                <a:latin typeface="Aptos" panose="020B0004020202020204" pitchFamily="34" charset="0"/>
                <a:ea typeface="Aptos" panose="020B0004020202020204" pitchFamily="34" charset="0"/>
                <a:cs typeface="B Nazanin" panose="00000400000000000000" pitchFamily="2" charset="-78"/>
              </a:rPr>
              <a:t>این‌ها هم در این مرحله به ماژول شما اضافه می‌شن</a:t>
            </a:r>
            <a:r>
              <a:rPr lang="en-US" sz="1600" kern="100" dirty="0">
                <a:effectLst/>
                <a:latin typeface="Aptos" panose="020B0004020202020204" pitchFamily="34" charset="0"/>
                <a:ea typeface="Aptos" panose="020B0004020202020204" pitchFamily="34" charset="0"/>
                <a:cs typeface="B Nazanin" panose="00000400000000000000" pitchFamily="2" charset="-78"/>
              </a:rPr>
              <a:t>.</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6568999B-FC78-8CAB-90D7-2DD03AFFB2B8}"/>
              </a:ext>
            </a:extLst>
          </p:cNvPr>
          <p:cNvSpPr txBox="1"/>
          <p:nvPr/>
        </p:nvSpPr>
        <p:spPr>
          <a:xfrm>
            <a:off x="6019165" y="3045708"/>
            <a:ext cx="886772" cy="523220"/>
          </a:xfrm>
          <a:prstGeom prst="rect">
            <a:avLst/>
          </a:prstGeom>
          <a:solidFill>
            <a:srgbClr val="D0D4D7"/>
          </a:solidFill>
          <a:ln>
            <a:solidFill>
              <a:srgbClr val="D0D4D7"/>
            </a:solidFill>
          </a:ln>
        </p:spPr>
        <p:txBody>
          <a:bodyPr wrap="square">
            <a:spAutoFit/>
          </a:bodyPr>
          <a:lstStyle/>
          <a:p>
            <a:pPr algn="ctr"/>
            <a:r>
              <a:rPr lang="fa-IR" sz="1400" dirty="0">
                <a:latin typeface="Times New Roman" panose="02020603050405020304" pitchFamily="18" charset="0"/>
                <a:cs typeface="B Nazanin" panose="00000400000000000000" pitchFamily="2" charset="-78"/>
              </a:rPr>
              <a:t>ویرایشگر پیوند</a:t>
            </a:r>
            <a:endParaRPr lang="en-US" sz="1400" dirty="0">
              <a:latin typeface="Times New Roman" panose="02020603050405020304" pitchFamily="18" charset="0"/>
              <a:cs typeface="B Nazanin" panose="00000400000000000000" pitchFamily="2" charset="-78"/>
            </a:endParaRPr>
          </a:p>
        </p:txBody>
      </p:sp>
      <p:sp>
        <p:nvSpPr>
          <p:cNvPr id="21" name="TextBox 20">
            <a:extLst>
              <a:ext uri="{FF2B5EF4-FFF2-40B4-BE49-F238E27FC236}">
                <a16:creationId xmlns:a16="http://schemas.microsoft.com/office/drawing/2014/main" id="{0C81A3CE-1AF0-44D4-B843-89900DFD71B0}"/>
              </a:ext>
            </a:extLst>
          </p:cNvPr>
          <p:cNvSpPr txBox="1"/>
          <p:nvPr/>
        </p:nvSpPr>
        <p:spPr>
          <a:xfrm>
            <a:off x="4776989" y="6051937"/>
            <a:ext cx="1145791" cy="369332"/>
          </a:xfrm>
          <a:prstGeom prst="rect">
            <a:avLst/>
          </a:prstGeom>
          <a:solidFill>
            <a:schemeClr val="bg1"/>
          </a:solidFill>
        </p:spPr>
        <p:txBody>
          <a:bodyPr wrap="square">
            <a:spAutoFit/>
          </a:bodyPr>
          <a:lstStyle/>
          <a:p>
            <a:pPr algn="ctr"/>
            <a:r>
              <a:rPr lang="fa-IR" dirty="0">
                <a:effectLst/>
                <a:latin typeface="Times New Roman" panose="02020603050405020304" pitchFamily="18" charset="0"/>
                <a:ea typeface="Times New Roman" panose="02020603050405020304" pitchFamily="18" charset="0"/>
                <a:cs typeface="B Nazanin" panose="00000400000000000000" pitchFamily="2" charset="-78"/>
              </a:rPr>
              <a:t>پیوند پویا</a:t>
            </a:r>
            <a:endParaRPr lang="en-US" dirty="0"/>
          </a:p>
        </p:txBody>
      </p:sp>
    </p:spTree>
    <p:extLst>
      <p:ext uri="{BB962C8B-B14F-4D97-AF65-F5344CB8AC3E}">
        <p14:creationId xmlns:p14="http://schemas.microsoft.com/office/powerpoint/2010/main" val="4284525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26">
            <a:extLst>
              <a:ext uri="{FF2B5EF4-FFF2-40B4-BE49-F238E27FC236}">
                <a16:creationId xmlns:a16="http://schemas.microsoft.com/office/drawing/2014/main" id="{5A517565-09AB-4767-AA90-A8C1F0CB8474}"/>
              </a:ext>
            </a:extLst>
          </p:cNvPr>
          <p:cNvSpPr>
            <a:spLocks noGrp="1" noChangeArrowheads="1"/>
          </p:cNvSpPr>
          <p:nvPr>
            <p:ph type="title"/>
          </p:nvPr>
        </p:nvSpPr>
        <p:spPr>
          <a:xfrm>
            <a:off x="866775" y="222674"/>
            <a:ext cx="7820025" cy="576262"/>
          </a:xfrm>
        </p:spPr>
        <p:txBody>
          <a:bodyPr/>
          <a:lstStyle/>
          <a:p>
            <a:pPr eaLnBrk="1" hangingPunct="1"/>
            <a:r>
              <a:rPr lang="en-US" altLang="en-US" dirty="0"/>
              <a:t>Contiguous Allocation</a:t>
            </a: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 تخصیص پیوسته</a:t>
            </a:r>
            <a:r>
              <a:rPr lang="en-US" sz="3200" b="1"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3200" b="1" dirty="0">
                <a:effectLst/>
                <a:latin typeface="Times New Roman" panose="02020603050405020304" pitchFamily="18" charset="0"/>
                <a:ea typeface="Times New Roman" panose="02020603050405020304" pitchFamily="18" charset="0"/>
                <a:cs typeface="B Nazanin" panose="00000400000000000000" pitchFamily="2" charset="-78"/>
              </a:rPr>
              <a:t> </a:t>
            </a:r>
            <a:endParaRPr lang="en-US" altLang="en-US" dirty="0"/>
          </a:p>
        </p:txBody>
      </p:sp>
      <p:sp>
        <p:nvSpPr>
          <p:cNvPr id="18435" name="Rectangle 1027">
            <a:extLst>
              <a:ext uri="{FF2B5EF4-FFF2-40B4-BE49-F238E27FC236}">
                <a16:creationId xmlns:a16="http://schemas.microsoft.com/office/drawing/2014/main" id="{363EA7DD-91CF-4272-A490-C120271519AF}"/>
              </a:ext>
            </a:extLst>
          </p:cNvPr>
          <p:cNvSpPr>
            <a:spLocks noGrp="1" noChangeArrowheads="1"/>
          </p:cNvSpPr>
          <p:nvPr>
            <p:ph idx="1"/>
          </p:nvPr>
        </p:nvSpPr>
        <p:spPr>
          <a:xfrm>
            <a:off x="220558" y="933450"/>
            <a:ext cx="8702883" cy="4991100"/>
          </a:xfrm>
        </p:spPr>
        <p:txBody>
          <a:bodyPr/>
          <a:lstStyle/>
          <a:p>
            <a:pPr marL="0" marR="0" algn="r" rtl="1">
              <a:lnSpc>
                <a:spcPct val="115000"/>
              </a:lnSpc>
              <a:spcAft>
                <a:spcPts val="800"/>
              </a:spcAft>
              <a:buNone/>
            </a:pP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مدیریت حافظه اصلی </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حافظه‌ی اصلی باید هم برای سیستم‌عامل جا داشته باشد و هم برای برنامه‌های کاربر</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چون حافظه محدود است، باید هوشمندانه و کارآمد بین این دو تقسیم شود</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تخصیص پیوسته</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(Contiguous Allocation):</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یکی از روش‌های قدیمی و ساده برای مدیریت حافظه است</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در این روش، هر برنامه در یک قطعه‌ی پشت‌سر‌هم (پیوسته) از حافظه قرار می‌گیرد</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تقسیم حافظه</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معمولاً حافظه به دو بخش کلی تقسیم می‌شود</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gn="r" rtl="1">
              <a:lnSpc>
                <a:spcPct val="115000"/>
              </a:lnSpc>
              <a:spcAft>
                <a:spcPts val="800"/>
              </a:spcAft>
              <a:buSzPts val="1000"/>
              <a:buFont typeface="Courier New" panose="02070309020205020404" pitchFamily="49" charset="0"/>
              <a:buChar char="o"/>
              <a:tabLst>
                <a:tab pos="914400" algn="l"/>
              </a:tabLst>
            </a:pP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هسته سیستم‌عامل</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(Kernel):</a:t>
            </a:r>
            <a:br>
              <a:rPr lang="en-US" sz="2000" b="1" kern="100" dirty="0">
                <a:effectLst/>
                <a:latin typeface="Segoe UI Emoji" panose="020B0502040204020203" pitchFamily="34" charset="0"/>
                <a:ea typeface="Aptos" panose="020B0004020202020204" pitchFamily="34" charset="0"/>
                <a:cs typeface="B Nazanin" panose="00000400000000000000" pitchFamily="2" charset="-78"/>
              </a:rPr>
            </a:b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اغلب در بالای حافظه قرار می‌گیرد (مثل ویندوز و لینوکس)</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r" rtl="1">
              <a:lnSpc>
                <a:spcPct val="115000"/>
              </a:lnSpc>
              <a:spcAft>
                <a:spcPts val="800"/>
              </a:spcAft>
              <a:buSzPts val="1000"/>
              <a:buFont typeface="Courier New" panose="02070309020205020404" pitchFamily="49" charset="0"/>
              <a:buChar char="o"/>
              <a:tabLst>
                <a:tab pos="914400" algn="l"/>
              </a:tabLst>
            </a:pP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فرآیندهای کاربر</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br>
              <a:rPr lang="en-US" sz="2000" b="1" kern="100" dirty="0">
                <a:effectLst/>
                <a:latin typeface="Segoe UI Emoji" panose="020B0502040204020203" pitchFamily="34" charset="0"/>
                <a:ea typeface="Aptos" panose="020B0004020202020204" pitchFamily="34" charset="0"/>
                <a:cs typeface="B Nazanin" panose="00000400000000000000" pitchFamily="2" charset="-78"/>
              </a:rPr>
            </a:b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در پایین حافظه جای می‌گیرند</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gn="r" rtl="1">
              <a:lnSpc>
                <a:spcPct val="115000"/>
              </a:lnSpc>
              <a:spcAft>
                <a:spcPts val="800"/>
              </a:spcAft>
              <a:buNone/>
            </a:pP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این جای‌گذاری به عواملی مثل محل بردار وقفه</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(interrupt vector)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بستگی دارد</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pPr>
            <a:r>
              <a:rPr lang="en-US" sz="2000" kern="100" dirty="0">
                <a:effectLst/>
                <a:latin typeface="Aptos" panose="020B0004020202020204" pitchFamily="34" charset="0"/>
                <a:ea typeface="Aptos" panose="020B0004020202020204" pitchFamily="34" charset="0"/>
                <a:cs typeface="Arial" panose="020B0604020202020204" pitchFamily="34" charset="0"/>
              </a:rPr>
              <a:t> </a:t>
            </a:r>
          </a:p>
        </p:txBody>
      </p:sp>
    </p:spTree>
    <p:extLst>
      <p:ext uri="{BB962C8B-B14F-4D97-AF65-F5344CB8AC3E}">
        <p14:creationId xmlns:p14="http://schemas.microsoft.com/office/powerpoint/2010/main" val="2306123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26">
            <a:extLst>
              <a:ext uri="{FF2B5EF4-FFF2-40B4-BE49-F238E27FC236}">
                <a16:creationId xmlns:a16="http://schemas.microsoft.com/office/drawing/2014/main" id="{8560E35A-794D-4ECB-A0B0-C5E4764E2BAF}"/>
              </a:ext>
            </a:extLst>
          </p:cNvPr>
          <p:cNvSpPr>
            <a:spLocks noGrp="1" noChangeArrowheads="1"/>
          </p:cNvSpPr>
          <p:nvPr>
            <p:ph type="title"/>
          </p:nvPr>
        </p:nvSpPr>
        <p:spPr>
          <a:xfrm>
            <a:off x="866775" y="232005"/>
            <a:ext cx="7820025" cy="576262"/>
          </a:xfrm>
        </p:spPr>
        <p:txBody>
          <a:bodyPr/>
          <a:lstStyle/>
          <a:p>
            <a:pPr eaLnBrk="1" hangingPunct="1"/>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تخصیص پیوسته</a:t>
            </a:r>
            <a:r>
              <a:rPr lang="fa-IR" sz="3200" b="1" dirty="0">
                <a:effectLst/>
                <a:latin typeface="Times New Roman" panose="02020603050405020304" pitchFamily="18" charset="0"/>
                <a:ea typeface="Times New Roman" panose="02020603050405020304" pitchFamily="18" charset="0"/>
                <a:cs typeface="B Nazanin" panose="00000400000000000000" pitchFamily="2" charset="-78"/>
              </a:rPr>
              <a:t> (ادامه)</a:t>
            </a:r>
            <a:endParaRPr lang="en-US" altLang="en-US" dirty="0"/>
          </a:p>
        </p:txBody>
      </p:sp>
      <p:sp>
        <p:nvSpPr>
          <p:cNvPr id="19459" name="Rectangle 1027">
            <a:extLst>
              <a:ext uri="{FF2B5EF4-FFF2-40B4-BE49-F238E27FC236}">
                <a16:creationId xmlns:a16="http://schemas.microsoft.com/office/drawing/2014/main" id="{05D35068-7CB7-493B-864A-9C27D4AD815C}"/>
              </a:ext>
            </a:extLst>
          </p:cNvPr>
          <p:cNvSpPr>
            <a:spLocks noGrp="1" noChangeArrowheads="1"/>
          </p:cNvSpPr>
          <p:nvPr>
            <p:ph idx="1"/>
          </p:nvPr>
        </p:nvSpPr>
        <p:spPr>
          <a:xfrm>
            <a:off x="273465" y="1093787"/>
            <a:ext cx="8613216" cy="5366747"/>
          </a:xfrm>
        </p:spPr>
        <p:txBody>
          <a:bodyPr/>
          <a:lstStyle/>
          <a:p>
            <a:pPr marL="0" marR="0" algn="r" rtl="1">
              <a:lnSpc>
                <a:spcPct val="115000"/>
              </a:lnSpc>
              <a:spcAft>
                <a:spcPts val="800"/>
              </a:spcAft>
              <a:buNone/>
            </a:pPr>
            <a:r>
              <a:rPr lang="ar-SA" sz="2400" b="1" kern="100" dirty="0">
                <a:effectLst/>
                <a:latin typeface="Segoe UI Emoji" panose="020B0502040204020203" pitchFamily="34" charset="0"/>
                <a:ea typeface="Aptos" panose="020B0004020202020204" pitchFamily="34" charset="0"/>
                <a:cs typeface="B Nazanin" panose="00000400000000000000" pitchFamily="2" charset="-78"/>
              </a:rPr>
              <a:t>رجیسترهای جابجایی</a:t>
            </a:r>
            <a:r>
              <a:rPr lang="en-US" sz="2400" b="1" kern="100" dirty="0">
                <a:effectLst/>
                <a:latin typeface="Segoe UI Emoji" panose="020B0502040204020203" pitchFamily="34" charset="0"/>
                <a:ea typeface="Aptos" panose="020B0004020202020204" pitchFamily="34" charset="0"/>
                <a:cs typeface="B Nazanin" panose="00000400000000000000" pitchFamily="2" charset="-78"/>
              </a:rPr>
              <a:t> (Relocation Registers) </a:t>
            </a:r>
            <a:r>
              <a:rPr lang="fa-IR" sz="24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2400" b="1" kern="100" dirty="0">
                <a:effectLst/>
                <a:latin typeface="Segoe UI Emoji" panose="020B0502040204020203" pitchFamily="34" charset="0"/>
                <a:ea typeface="Aptos" panose="020B0004020202020204" pitchFamily="34" charset="0"/>
                <a:cs typeface="B Nazanin" panose="00000400000000000000" pitchFamily="2" charset="-78"/>
              </a:rPr>
              <a:t>این رجیسترها کمک می‌کنند که فرآیندهای کاربر نتوانند به هم یا به سیستم‌عامل آسیب بزنند</a:t>
            </a:r>
            <a:r>
              <a:rPr lang="en-US" sz="24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400" b="1" kern="100" dirty="0">
                <a:effectLst/>
                <a:latin typeface="Segoe UI Emoji" panose="020B0502040204020203" pitchFamily="34" charset="0"/>
                <a:ea typeface="Aptos" panose="020B0004020202020204" pitchFamily="34" charset="0"/>
                <a:cs typeface="B Nazanin" panose="00000400000000000000" pitchFamily="2" charset="-78"/>
              </a:rPr>
              <a:t>مثل نگهبان‌هایی هستند که تعیین می‌کنند یک برنامه تا کجا اجازه‌ی دسترسی به حافظه دارد</a:t>
            </a:r>
            <a:r>
              <a:rPr lang="en-US" sz="24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fa-IR" sz="2400" b="1" kern="100" dirty="0">
              <a:effectLst/>
              <a:latin typeface="Segoe UI Emoji" panose="020B0502040204020203" pitchFamily="34" charset="0"/>
              <a:ea typeface="Aptos" panose="020B0004020202020204" pitchFamily="34" charset="0"/>
              <a:cs typeface="B Nazanin" panose="00000400000000000000" pitchFamily="2" charset="-78"/>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400" b="1" kern="100" dirty="0">
                <a:latin typeface="Segoe UI Emoji" panose="020B0502040204020203" pitchFamily="34" charset="0"/>
                <a:cs typeface="B Nazanin" panose="00000400000000000000" pitchFamily="2" charset="-78"/>
              </a:rPr>
              <a:t>واحد مدیریت حافظه</a:t>
            </a:r>
            <a:r>
              <a:rPr lang="en-US" sz="2400" b="1" kern="100" dirty="0">
                <a:latin typeface="Segoe UI Emoji" panose="020B0502040204020203" pitchFamily="34" charset="0"/>
                <a:cs typeface="B Nazanin" panose="00000400000000000000" pitchFamily="2" charset="-78"/>
              </a:rPr>
              <a:t> (MMU) </a:t>
            </a:r>
            <a:r>
              <a:rPr lang="ar-SA" sz="2400" b="1" kern="100" dirty="0">
                <a:latin typeface="Segoe UI Emoji" panose="020B0502040204020203" pitchFamily="34" charset="0"/>
                <a:cs typeface="B Nazanin" panose="00000400000000000000" pitchFamily="2" charset="-78"/>
              </a:rPr>
              <a:t>آدرس‌های منطقی را به‌صورت پویا به آدرس‌های فیزیکی ترجمه می‌کند</a:t>
            </a:r>
            <a:r>
              <a:rPr lang="en-US" sz="2400" b="1" kern="100" dirty="0">
                <a:latin typeface="Segoe UI Emoji" panose="020B0502040204020203" pitchFamily="34" charset="0"/>
                <a:cs typeface="B Nazanin" panose="00000400000000000000" pitchFamily="2" charset="-78"/>
              </a:rPr>
              <a:t>.</a:t>
            </a: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400" b="1" kern="100" dirty="0">
                <a:latin typeface="Segoe UI Emoji" panose="020B0502040204020203" pitchFamily="34" charset="0"/>
                <a:cs typeface="B Nazanin" panose="00000400000000000000" pitchFamily="2" charset="-78"/>
              </a:rPr>
              <a:t>این روش اجازه می‌دهد</a:t>
            </a:r>
            <a:r>
              <a:rPr lang="en-US" sz="2400" b="1" kern="100" dirty="0">
                <a:latin typeface="Segoe UI Emoji" panose="020B0502040204020203" pitchFamily="34" charset="0"/>
                <a:cs typeface="B Nazanin" panose="00000400000000000000" pitchFamily="2" charset="-78"/>
              </a:rPr>
              <a:t>:</a:t>
            </a:r>
          </a:p>
          <a:p>
            <a:pPr marL="742950" marR="0" lvl="1" indent="-285750" algn="r" rtl="1">
              <a:lnSpc>
                <a:spcPct val="115000"/>
              </a:lnSpc>
              <a:spcAft>
                <a:spcPts val="800"/>
              </a:spcAft>
              <a:buSzPts val="1000"/>
              <a:buFont typeface="Courier New" panose="02070309020205020404" pitchFamily="49" charset="0"/>
              <a:buChar char="o"/>
              <a:tabLst>
                <a:tab pos="914400" algn="l"/>
              </a:tabLst>
            </a:pPr>
            <a:r>
              <a:rPr lang="ar-SA" sz="2400" b="1" kern="100" dirty="0">
                <a:latin typeface="Segoe UI Emoji" panose="020B0502040204020203" pitchFamily="34" charset="0"/>
                <a:cs typeface="B Nazanin" panose="00000400000000000000" pitchFamily="2" charset="-78"/>
              </a:rPr>
              <a:t>کد هسته موقتی باشد و در زمان لازم </a:t>
            </a:r>
            <a:r>
              <a:rPr lang="fa-IR" sz="2400" b="1" kern="100" dirty="0">
                <a:latin typeface="Segoe UI Emoji" panose="020B0502040204020203" pitchFamily="34" charset="0"/>
                <a:cs typeface="B Nazanin" panose="00000400000000000000" pitchFamily="2" charset="-78"/>
              </a:rPr>
              <a:t>(بخش‌های غیرضروری هسته)</a:t>
            </a:r>
            <a:r>
              <a:rPr lang="ar-SA" sz="2400" b="1" kern="100" dirty="0">
                <a:latin typeface="Segoe UI Emoji" panose="020B0502040204020203" pitchFamily="34" charset="0"/>
                <a:cs typeface="B Nazanin" panose="00000400000000000000" pitchFamily="2" charset="-78"/>
              </a:rPr>
              <a:t> حذف شود</a:t>
            </a:r>
            <a:r>
              <a:rPr lang="en-US" sz="2400" b="1" kern="100" dirty="0">
                <a:latin typeface="Segoe UI Emoji" panose="020B0502040204020203" pitchFamily="34" charset="0"/>
                <a:cs typeface="B Nazanin" panose="00000400000000000000" pitchFamily="2" charset="-78"/>
              </a:rPr>
              <a:t>.</a:t>
            </a:r>
          </a:p>
          <a:p>
            <a:pPr marL="742950" marR="0" lvl="1" indent="-285750" algn="r" rtl="1">
              <a:lnSpc>
                <a:spcPct val="115000"/>
              </a:lnSpc>
              <a:spcAft>
                <a:spcPts val="800"/>
              </a:spcAft>
              <a:buSzPts val="1000"/>
              <a:buFont typeface="Courier New" panose="02070309020205020404" pitchFamily="49" charset="0"/>
              <a:buChar char="o"/>
              <a:tabLst>
                <a:tab pos="914400" algn="l"/>
              </a:tabLst>
            </a:pPr>
            <a:r>
              <a:rPr lang="ar-SA" sz="2400" b="1" kern="100" dirty="0">
                <a:latin typeface="Segoe UI Emoji" panose="020B0502040204020203" pitchFamily="34" charset="0"/>
                <a:cs typeface="B Nazanin" panose="00000400000000000000" pitchFamily="2" charset="-78"/>
              </a:rPr>
              <a:t>اندازه هسته در صورت نیاز تغییر کند، بدون آسیب به برنامه‌های دیگر</a:t>
            </a:r>
            <a:r>
              <a:rPr lang="en-US" sz="2400" b="1" kern="100" dirty="0">
                <a:latin typeface="Segoe UI Emoji" panose="020B0502040204020203" pitchFamily="34" charset="0"/>
                <a:cs typeface="B Nazanin" panose="00000400000000000000" pitchFamily="2" charset="-78"/>
              </a:rPr>
              <a:t>.</a:t>
            </a:r>
          </a:p>
          <a:p>
            <a:pPr marL="342900" marR="0" lvl="0" indent="-342900" algn="r" rtl="1">
              <a:lnSpc>
                <a:spcPct val="115000"/>
              </a:lnSpc>
              <a:spcAft>
                <a:spcPts val="800"/>
              </a:spcAft>
              <a:buSzPts val="1000"/>
              <a:buFont typeface="Symbol" panose="05050102010706020507" pitchFamily="18" charset="2"/>
              <a:buChar char=""/>
              <a:tabLst>
                <a:tab pos="457200" algn="l"/>
              </a:tabLst>
            </a:pPr>
            <a:endParaRPr lang="en-US" sz="24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287921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CA539788-E800-4271-88C5-165DD45312EB}"/>
              </a:ext>
            </a:extLst>
          </p:cNvPr>
          <p:cNvSpPr>
            <a:spLocks noGrp="1" noChangeArrowheads="1"/>
          </p:cNvSpPr>
          <p:nvPr>
            <p:ph type="title"/>
          </p:nvPr>
        </p:nvSpPr>
        <p:spPr>
          <a:xfrm>
            <a:off x="788693" y="232005"/>
            <a:ext cx="8442325" cy="576262"/>
          </a:xfrm>
        </p:spPr>
        <p:txBody>
          <a:bodyPr/>
          <a:lstStyle/>
          <a:p>
            <a:pPr eaLnBrk="1" hangingPunct="1"/>
            <a:r>
              <a:rPr lang="en-US" altLang="en-US" sz="2400" dirty="0"/>
              <a:t>Hardware Support for Relocation and Limit Registers</a:t>
            </a:r>
          </a:p>
        </p:txBody>
      </p:sp>
      <p:pic>
        <p:nvPicPr>
          <p:cNvPr id="20483" name="Picture 4" descr="8">
            <a:extLst>
              <a:ext uri="{FF2B5EF4-FFF2-40B4-BE49-F238E27FC236}">
                <a16:creationId xmlns:a16="http://schemas.microsoft.com/office/drawing/2014/main" id="{8B9138A6-75B5-441A-842E-43E123DF3E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693" y="1882620"/>
            <a:ext cx="7776187" cy="386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69AD85B-657C-45B4-9A55-23530FD605F5}"/>
              </a:ext>
            </a:extLst>
          </p:cNvPr>
          <p:cNvSpPr txBox="1"/>
          <p:nvPr/>
        </p:nvSpPr>
        <p:spPr>
          <a:xfrm>
            <a:off x="1686560" y="3154680"/>
            <a:ext cx="1351280" cy="54864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آدرس منطقی</a:t>
            </a:r>
            <a:endParaRPr lang="en-US" dirty="0"/>
          </a:p>
        </p:txBody>
      </p:sp>
      <p:sp>
        <p:nvSpPr>
          <p:cNvPr id="6" name="TextBox 5">
            <a:extLst>
              <a:ext uri="{FF2B5EF4-FFF2-40B4-BE49-F238E27FC236}">
                <a16:creationId xmlns:a16="http://schemas.microsoft.com/office/drawing/2014/main" id="{A702175D-AB3C-4B8F-AF14-C7284E8A46B7}"/>
              </a:ext>
            </a:extLst>
          </p:cNvPr>
          <p:cNvSpPr txBox="1"/>
          <p:nvPr/>
        </p:nvSpPr>
        <p:spPr>
          <a:xfrm>
            <a:off x="2143760" y="5445046"/>
            <a:ext cx="2529840"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b="1" dirty="0">
                <a:latin typeface="Times New Roman" panose="02020603050405020304" pitchFamily="18" charset="0"/>
                <a:cs typeface="B Nazanin" panose="00000400000000000000" pitchFamily="2" charset="-78"/>
              </a:rPr>
              <a:t>تله: خطای آدرس</a:t>
            </a:r>
            <a:endParaRPr lang="en-US" dirty="0"/>
          </a:p>
        </p:txBody>
      </p:sp>
      <p:sp>
        <p:nvSpPr>
          <p:cNvPr id="8" name="TextBox 7">
            <a:extLst>
              <a:ext uri="{FF2B5EF4-FFF2-40B4-BE49-F238E27FC236}">
                <a16:creationId xmlns:a16="http://schemas.microsoft.com/office/drawing/2014/main" id="{91B01E59-61B8-4498-B69B-FBA797533FEA}"/>
              </a:ext>
            </a:extLst>
          </p:cNvPr>
          <p:cNvSpPr txBox="1"/>
          <p:nvPr/>
        </p:nvSpPr>
        <p:spPr>
          <a:xfrm>
            <a:off x="2736269" y="1037322"/>
            <a:ext cx="1595120" cy="830997"/>
          </a:xfrm>
          <a:prstGeom prst="rect">
            <a:avLst/>
          </a:prstGeom>
          <a:noFill/>
          <a:ln>
            <a:noFill/>
          </a:ln>
        </p:spPr>
        <p:style>
          <a:lnRef idx="2">
            <a:schemeClr val="accent4"/>
          </a:lnRef>
          <a:fillRef idx="1">
            <a:schemeClr val="lt1"/>
          </a:fillRef>
          <a:effectRef idx="0">
            <a:schemeClr val="accent4"/>
          </a:effectRef>
          <a:fontRef idx="minor">
            <a:schemeClr val="dk1"/>
          </a:fontRef>
        </p:style>
        <p:txBody>
          <a:bodyPr wrap="square">
            <a:spAutoFit/>
          </a:bodyPr>
          <a:lstStyle/>
          <a:p>
            <a:pPr algn="ctr"/>
            <a:r>
              <a:rPr lang="fa-IR" sz="2400" b="1" dirty="0">
                <a:effectLst/>
                <a:latin typeface="Times New Roman" panose="02020603050405020304" pitchFamily="18" charset="0"/>
                <a:ea typeface="Times New Roman" panose="02020603050405020304" pitchFamily="18" charset="0"/>
                <a:cs typeface="B Nazanin" panose="00000400000000000000" pitchFamily="2" charset="-78"/>
              </a:rPr>
              <a:t>محدودیت ثبات</a:t>
            </a:r>
            <a:endParaRPr lang="en-US" sz="2400" dirty="0"/>
          </a:p>
        </p:txBody>
      </p:sp>
      <p:sp>
        <p:nvSpPr>
          <p:cNvPr id="11" name="TextBox 10">
            <a:extLst>
              <a:ext uri="{FF2B5EF4-FFF2-40B4-BE49-F238E27FC236}">
                <a16:creationId xmlns:a16="http://schemas.microsoft.com/office/drawing/2014/main" id="{8AEB9264-F5CB-48EF-8D67-C4A70128428A}"/>
              </a:ext>
            </a:extLst>
          </p:cNvPr>
          <p:cNvSpPr txBox="1"/>
          <p:nvPr/>
        </p:nvSpPr>
        <p:spPr>
          <a:xfrm>
            <a:off x="4673600" y="1051623"/>
            <a:ext cx="1595120" cy="830997"/>
          </a:xfrm>
          <a:prstGeom prst="rect">
            <a:avLst/>
          </a:prstGeom>
          <a:noFill/>
          <a:ln>
            <a:noFill/>
          </a:ln>
        </p:spPr>
        <p:style>
          <a:lnRef idx="2">
            <a:schemeClr val="accent4"/>
          </a:lnRef>
          <a:fillRef idx="1">
            <a:schemeClr val="lt1"/>
          </a:fillRef>
          <a:effectRef idx="0">
            <a:schemeClr val="accent4"/>
          </a:effectRef>
          <a:fontRef idx="minor">
            <a:schemeClr val="dk1"/>
          </a:fontRef>
        </p:style>
        <p:txBody>
          <a:bodyPr wrap="square">
            <a:spAutoFit/>
          </a:bodyPr>
          <a:lstStyle/>
          <a:p>
            <a:pPr algn="ctr"/>
            <a:r>
              <a:rPr lang="fa-IR" sz="2400" b="1" dirty="0">
                <a:effectLst/>
                <a:latin typeface="Times New Roman" panose="02020603050405020304" pitchFamily="18" charset="0"/>
                <a:ea typeface="Times New Roman" panose="02020603050405020304" pitchFamily="18" charset="0"/>
                <a:cs typeface="B Nazanin" panose="00000400000000000000" pitchFamily="2" charset="-78"/>
              </a:rPr>
              <a:t>ثبات جایگذاری</a:t>
            </a:r>
            <a:endParaRPr lang="en-US" sz="2400" dirty="0"/>
          </a:p>
        </p:txBody>
      </p:sp>
      <p:sp>
        <p:nvSpPr>
          <p:cNvPr id="12" name="TextBox 11">
            <a:extLst>
              <a:ext uri="{FF2B5EF4-FFF2-40B4-BE49-F238E27FC236}">
                <a16:creationId xmlns:a16="http://schemas.microsoft.com/office/drawing/2014/main" id="{E192B1CF-F59B-4684-9CA9-F1B351D7FB2F}"/>
              </a:ext>
            </a:extLst>
          </p:cNvPr>
          <p:cNvSpPr txBox="1"/>
          <p:nvPr/>
        </p:nvSpPr>
        <p:spPr>
          <a:xfrm>
            <a:off x="5742442" y="3056989"/>
            <a:ext cx="1052556"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آدرس فیزیکی</a:t>
            </a:r>
            <a:endParaRPr lang="en-US" dirty="0"/>
          </a:p>
        </p:txBody>
      </p:sp>
      <p:sp>
        <p:nvSpPr>
          <p:cNvPr id="9" name="TextBox 8">
            <a:extLst>
              <a:ext uri="{FF2B5EF4-FFF2-40B4-BE49-F238E27FC236}">
                <a16:creationId xmlns:a16="http://schemas.microsoft.com/office/drawing/2014/main" id="{7FF60780-57F5-42B9-B5B3-69698CE7A43B}"/>
              </a:ext>
            </a:extLst>
          </p:cNvPr>
          <p:cNvSpPr txBox="1"/>
          <p:nvPr/>
        </p:nvSpPr>
        <p:spPr>
          <a:xfrm>
            <a:off x="3601863" y="4204851"/>
            <a:ext cx="508664"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b="1" dirty="0">
                <a:latin typeface="Times New Roman" panose="02020603050405020304" pitchFamily="18" charset="0"/>
                <a:cs typeface="B Nazanin" panose="00000400000000000000" pitchFamily="2" charset="-78"/>
              </a:rPr>
              <a:t>خیر</a:t>
            </a:r>
            <a:endParaRPr lang="en-US" dirty="0"/>
          </a:p>
        </p:txBody>
      </p:sp>
      <p:sp>
        <p:nvSpPr>
          <p:cNvPr id="10" name="TextBox 9">
            <a:extLst>
              <a:ext uri="{FF2B5EF4-FFF2-40B4-BE49-F238E27FC236}">
                <a16:creationId xmlns:a16="http://schemas.microsoft.com/office/drawing/2014/main" id="{E97D7C26-1F4D-438B-9A1A-C4385228BE92}"/>
              </a:ext>
            </a:extLst>
          </p:cNvPr>
          <p:cNvSpPr txBox="1"/>
          <p:nvPr/>
        </p:nvSpPr>
        <p:spPr>
          <a:xfrm>
            <a:off x="4031053" y="3333988"/>
            <a:ext cx="780230"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b="1" dirty="0">
                <a:latin typeface="Times New Roman" panose="02020603050405020304" pitchFamily="18" charset="0"/>
                <a:cs typeface="B Nazanin" panose="00000400000000000000" pitchFamily="2" charset="-78"/>
              </a:rPr>
              <a:t>بلی</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EE547A1C-BA00-4FD5-B75F-1BA0C14CB239}"/>
              </a:ext>
            </a:extLst>
          </p:cNvPr>
          <p:cNvSpPr>
            <a:spLocks noGrp="1" noChangeArrowheads="1"/>
          </p:cNvSpPr>
          <p:nvPr>
            <p:ph type="title"/>
          </p:nvPr>
        </p:nvSpPr>
        <p:spPr>
          <a:xfrm>
            <a:off x="559837" y="184150"/>
            <a:ext cx="8438113" cy="615950"/>
          </a:xfrm>
        </p:spPr>
        <p:txBody>
          <a:bodyPr/>
          <a:lstStyle/>
          <a:p>
            <a:pPr eaLnBrk="1" hangingPunct="1"/>
            <a:r>
              <a:rPr lang="fa-IR" sz="3200" b="1" dirty="0">
                <a:effectLst/>
                <a:latin typeface="Times New Roman" panose="02020603050405020304" pitchFamily="18" charset="0"/>
                <a:ea typeface="Times New Roman" panose="02020603050405020304" pitchFamily="18" charset="0"/>
                <a:cs typeface="B Nazanin" panose="00000400000000000000" pitchFamily="2" charset="-78"/>
              </a:rPr>
              <a:t>اندازه پارتیشن متغیر</a:t>
            </a:r>
            <a:endParaRPr lang="en-US" altLang="en-US" dirty="0"/>
          </a:p>
        </p:txBody>
      </p:sp>
      <p:sp>
        <p:nvSpPr>
          <p:cNvPr id="21507" name="Rectangle 3">
            <a:extLst>
              <a:ext uri="{FF2B5EF4-FFF2-40B4-BE49-F238E27FC236}">
                <a16:creationId xmlns:a16="http://schemas.microsoft.com/office/drawing/2014/main" id="{4B12B19D-5F62-4569-A4AE-2840954F1ED4}"/>
              </a:ext>
            </a:extLst>
          </p:cNvPr>
          <p:cNvSpPr>
            <a:spLocks noGrp="1" noChangeArrowheads="1"/>
          </p:cNvSpPr>
          <p:nvPr>
            <p:ph idx="1"/>
          </p:nvPr>
        </p:nvSpPr>
        <p:spPr>
          <a:xfrm>
            <a:off x="224444" y="906088"/>
            <a:ext cx="8703425" cy="3767002"/>
          </a:xfrm>
        </p:spPr>
        <p:txBody>
          <a:bodyPr/>
          <a:lstStyle/>
          <a:p>
            <a:pPr marL="0" marR="0" algn="r" rtl="1">
              <a:lnSpc>
                <a:spcPct val="107000"/>
              </a:lnSpc>
              <a:spcBef>
                <a:spcPts val="0"/>
              </a:spcBef>
              <a:spcAft>
                <a:spcPts val="800"/>
              </a:spcAf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تخصیص چندبخشی</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(Multiple-Partition Allocation):</a:t>
            </a:r>
            <a:r>
              <a:rPr lang="fa-IR" sz="2400" b="1" dirty="0">
                <a:effectLst/>
                <a:latin typeface="Times New Roman" panose="02020603050405020304" pitchFamily="18" charset="0"/>
                <a:ea typeface="Times New Roman" panose="02020603050405020304" pitchFamily="18" charset="0"/>
                <a:cs typeface="B Nazanin" panose="00000400000000000000" pitchFamily="2" charset="-78"/>
              </a:rPr>
              <a:t>:</a:t>
            </a: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حافظه به چند قسمت (پارتیشن) تقسیم می‌شود و هر برنامه در یک بخش جداگانه اجرا می‌شود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اما تعداد برنامه‌هایی که می‌توانند هم‌زمان اجرا شوند، محدود به تعداد پارتیشن‌ها است</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در این روش، درجه چندبرنامگی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(Multiprogramming)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توسط تعداد پارتیشن‌ها محدود می‌شود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برای کارایی بیشتر، </a:t>
            </a:r>
            <a:r>
              <a:rPr lang="ar-SA" sz="2400" b="1" dirty="0">
                <a:solidFill>
                  <a:srgbClr val="0070C0"/>
                </a:solidFill>
                <a:effectLst/>
                <a:latin typeface="Times New Roman" panose="02020603050405020304" pitchFamily="18" charset="0"/>
                <a:ea typeface="Times New Roman" panose="02020603050405020304" pitchFamily="18" charset="0"/>
                <a:cs typeface="B Nazanin" panose="00000400000000000000" pitchFamily="2" charset="-78"/>
              </a:rPr>
              <a:t>اندازه‌های پارتیشن‌ها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متغیر هستند (متناسب با نیازهای یک فرآیند خاص)</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fa-IR" sz="2400" b="1" dirty="0">
                <a:solidFill>
                  <a:srgbClr val="0070C0"/>
                </a:solidFill>
                <a:effectLst/>
                <a:latin typeface="Times New Roman" panose="02020603050405020304" pitchFamily="18" charset="0"/>
                <a:ea typeface="Times New Roman" panose="02020603050405020304" pitchFamily="18" charset="0"/>
                <a:cs typeface="B Nazanin" panose="00000400000000000000" pitchFamily="2" charset="-78"/>
              </a:rPr>
              <a:t>فضای خالی</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(Hole):</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بلوکی از حافظه در دسترس؛ سوراخ‌ها با اندازه‌های مختلف در سراسر حافظه پراکنده‌اند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21508" name="Picture 5" descr="W:\os-book\OS10\slide-dir\os-figures\9_07.jpg">
            <a:extLst>
              <a:ext uri="{FF2B5EF4-FFF2-40B4-BE49-F238E27FC236}">
                <a16:creationId xmlns:a16="http://schemas.microsoft.com/office/drawing/2014/main" id="{6DDB2633-499B-427F-A2B7-19B399A98E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837" y="4779078"/>
            <a:ext cx="5852771" cy="1737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2449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EE547A1C-BA00-4FD5-B75F-1BA0C14CB239}"/>
              </a:ext>
            </a:extLst>
          </p:cNvPr>
          <p:cNvSpPr>
            <a:spLocks noGrp="1" noChangeArrowheads="1"/>
          </p:cNvSpPr>
          <p:nvPr>
            <p:ph type="title"/>
          </p:nvPr>
        </p:nvSpPr>
        <p:spPr>
          <a:xfrm>
            <a:off x="559837" y="184150"/>
            <a:ext cx="8438113" cy="615950"/>
          </a:xfrm>
        </p:spPr>
        <p:txBody>
          <a:bodyPr/>
          <a:lstStyle/>
          <a:p>
            <a:pPr eaLnBrk="1" hangingPunct="1"/>
            <a:r>
              <a:rPr lang="fa-IR" sz="3200" b="1" dirty="0">
                <a:effectLst/>
                <a:latin typeface="Times New Roman" panose="02020603050405020304" pitchFamily="18" charset="0"/>
                <a:ea typeface="Times New Roman" panose="02020603050405020304" pitchFamily="18" charset="0"/>
                <a:cs typeface="B Nazanin" panose="00000400000000000000" pitchFamily="2" charset="-78"/>
              </a:rPr>
              <a:t>اندازه پارتیشن متغیر</a:t>
            </a:r>
            <a:endParaRPr lang="en-US" altLang="en-US" dirty="0"/>
          </a:p>
        </p:txBody>
      </p:sp>
      <p:sp>
        <p:nvSpPr>
          <p:cNvPr id="21507" name="Rectangle 3">
            <a:extLst>
              <a:ext uri="{FF2B5EF4-FFF2-40B4-BE49-F238E27FC236}">
                <a16:creationId xmlns:a16="http://schemas.microsoft.com/office/drawing/2014/main" id="{4B12B19D-5F62-4569-A4AE-2840954F1ED4}"/>
              </a:ext>
            </a:extLst>
          </p:cNvPr>
          <p:cNvSpPr>
            <a:spLocks noGrp="1" noChangeArrowheads="1"/>
          </p:cNvSpPr>
          <p:nvPr>
            <p:ph idx="1"/>
          </p:nvPr>
        </p:nvSpPr>
        <p:spPr>
          <a:xfrm>
            <a:off x="224444" y="906088"/>
            <a:ext cx="8703425" cy="3767002"/>
          </a:xfrm>
        </p:spPr>
        <p:txBody>
          <a:bodyPr/>
          <a:lstStyle/>
          <a:p>
            <a:pPr marL="0" marR="0" algn="r" rtl="1">
              <a:lnSpc>
                <a:spcPct val="107000"/>
              </a:lnSpc>
              <a:spcBef>
                <a:spcPts val="0"/>
              </a:spcBef>
              <a:spcAft>
                <a:spcPts val="800"/>
              </a:spcAf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هنگامی که فرآیندی وارد می‌شود، حافظه‌ای از یک </a:t>
            </a:r>
            <a:r>
              <a:rPr lang="fa-IR" sz="2400" dirty="0">
                <a:latin typeface="Times New Roman" panose="02020603050405020304" pitchFamily="18" charset="0"/>
                <a:ea typeface="Times New Roman" panose="02020603050405020304" pitchFamily="18" charset="0"/>
                <a:cs typeface="B Nazanin" panose="00000400000000000000" pitchFamily="2" charset="-78"/>
              </a:rPr>
              <a:t>فضای خالی</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به اندازه‌ی کافی برای جای دادن آن به آن اختصاص داده می‌شود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خارج شدن یک فرآیند، پارتیشن آن را آزاد می‌کند و پارتیشن‌های مجاور آزاد با هم ترکیب می‌شوند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سیستم‌عامل اطلاعات زیر را نگهداری می‌کند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الف) پارتیشن‌های اختصاص‌یافته</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 پارتیشن‌های آزاد </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فضاهای خالی</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21508" name="Picture 5" descr="W:\os-book\OS10\slide-dir\os-figures\9_07.jpg">
            <a:extLst>
              <a:ext uri="{FF2B5EF4-FFF2-40B4-BE49-F238E27FC236}">
                <a16:creationId xmlns:a16="http://schemas.microsoft.com/office/drawing/2014/main" id="{6DDB2633-499B-427F-A2B7-19B399A98E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7662" y="4771506"/>
            <a:ext cx="5852771" cy="1737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076897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E1A741CD-CC0B-4B8D-B4DA-1C981F6F7248}"/>
              </a:ext>
            </a:extLst>
          </p:cNvPr>
          <p:cNvSpPr>
            <a:spLocks noGrp="1" noChangeArrowheads="1"/>
          </p:cNvSpPr>
          <p:nvPr>
            <p:ph type="title"/>
          </p:nvPr>
        </p:nvSpPr>
        <p:spPr>
          <a:xfrm>
            <a:off x="288099" y="235762"/>
            <a:ext cx="8474187" cy="576262"/>
          </a:xfrm>
        </p:spPr>
        <p:txBody>
          <a:bodyPr/>
          <a:lstStyle/>
          <a:p>
            <a:pPr rtl="1" eaLnBrk="1" hangingPunct="1"/>
            <a:r>
              <a:rPr lang="fa-IR" sz="2400" b="1" dirty="0">
                <a:cs typeface="B Nazanin" panose="00000400000000000000" pitchFamily="2" charset="-78"/>
              </a:rPr>
              <a:t>مشکل تخصیص پویا‌ی حافظه </a:t>
            </a:r>
            <a:r>
              <a:rPr lang="en-US" sz="2400" b="1" dirty="0">
                <a:cs typeface="B Nazanin" panose="00000400000000000000" pitchFamily="2" charset="-78"/>
              </a:rPr>
              <a:t>Dynamic Storage-Allocation Problem</a:t>
            </a:r>
            <a:endParaRPr lang="en-US" altLang="en-US" sz="2400" dirty="0">
              <a:cs typeface="B Nazanin" panose="00000400000000000000" pitchFamily="2" charset="-78"/>
            </a:endParaRPr>
          </a:p>
        </p:txBody>
      </p:sp>
      <p:sp>
        <p:nvSpPr>
          <p:cNvPr id="22531" name="Rectangle 3">
            <a:extLst>
              <a:ext uri="{FF2B5EF4-FFF2-40B4-BE49-F238E27FC236}">
                <a16:creationId xmlns:a16="http://schemas.microsoft.com/office/drawing/2014/main" id="{046846F0-F200-438E-8BA7-F729921F7A72}"/>
              </a:ext>
            </a:extLst>
          </p:cNvPr>
          <p:cNvSpPr>
            <a:spLocks noGrp="1" noChangeArrowheads="1"/>
          </p:cNvSpPr>
          <p:nvPr>
            <p:ph idx="1"/>
          </p:nvPr>
        </p:nvSpPr>
        <p:spPr>
          <a:xfrm>
            <a:off x="555079" y="1006299"/>
            <a:ext cx="8313223" cy="4978865"/>
          </a:xfrm>
        </p:spPr>
        <p:txBody>
          <a:bodyPr/>
          <a:lstStyle/>
          <a:p>
            <a:pPr marL="0" marR="0" algn="r" rtl="1">
              <a:lnSpc>
                <a:spcPct val="107000"/>
              </a:lnSpc>
              <a:spcBef>
                <a:spcPts val="0"/>
              </a:spcBef>
              <a:spcAft>
                <a:spcPts val="800"/>
              </a:spcAft>
            </a:pPr>
            <a:r>
              <a:rPr lang="ar-SA" sz="2200" dirty="0">
                <a:effectLst/>
                <a:latin typeface="Times New Roman" panose="02020603050405020304" pitchFamily="18" charset="0"/>
                <a:ea typeface="Times New Roman" panose="02020603050405020304" pitchFamily="18" charset="0"/>
                <a:cs typeface="B Nazanin" panose="00000400000000000000" pitchFamily="2" charset="-78"/>
              </a:rPr>
              <a:t>چگونه می‌توان درخواست فضای به اندازه‌ی</a:t>
            </a:r>
            <a:r>
              <a:rPr lang="en-US" sz="2200" dirty="0">
                <a:effectLst/>
                <a:latin typeface="Times New Roman" panose="02020603050405020304" pitchFamily="18" charset="0"/>
                <a:ea typeface="Times New Roman" panose="02020603050405020304" pitchFamily="18" charset="0"/>
                <a:cs typeface="B Nazanin" panose="00000400000000000000" pitchFamily="2" charset="-78"/>
              </a:rPr>
              <a:t> n </a:t>
            </a:r>
            <a:r>
              <a:rPr lang="ar-SA" sz="2200" dirty="0">
                <a:effectLst/>
                <a:latin typeface="Times New Roman" panose="02020603050405020304" pitchFamily="18" charset="0"/>
                <a:ea typeface="Times New Roman" panose="02020603050405020304" pitchFamily="18" charset="0"/>
                <a:cs typeface="B Nazanin" panose="00000400000000000000" pitchFamily="2" charset="-78"/>
              </a:rPr>
              <a:t>از لیستی از سوراخ‌های آزاد را برآورده کرد؟</a:t>
            </a:r>
            <a:endParaRPr lang="en-US" sz="2200" dirty="0">
              <a:effectLst/>
              <a:latin typeface="Calibri" panose="020F0502020204030204" pitchFamily="34" charset="0"/>
              <a:ea typeface="Calibri" panose="020F0502020204030204" pitchFamily="34" charset="0"/>
              <a:cs typeface="Arial" panose="020B0604020202020204" pitchFamily="34" charset="0"/>
            </a:endParaRPr>
          </a:p>
          <a:p>
            <a:pPr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200" b="1" dirty="0">
                <a:effectLst/>
                <a:latin typeface="Times New Roman" panose="02020603050405020304" pitchFamily="18" charset="0"/>
                <a:ea typeface="Times New Roman" panose="02020603050405020304" pitchFamily="18" charset="0"/>
                <a:cs typeface="B Nazanin" panose="00000400000000000000" pitchFamily="2" charset="-78"/>
              </a:rPr>
              <a:t>اولین برازش</a:t>
            </a:r>
            <a:r>
              <a:rPr lang="en-US" sz="2200" b="1" dirty="0">
                <a:effectLst/>
                <a:latin typeface="Times New Roman" panose="02020603050405020304" pitchFamily="18" charset="0"/>
                <a:ea typeface="Times New Roman" panose="02020603050405020304" pitchFamily="18" charset="0"/>
                <a:cs typeface="B Nazanin" panose="00000400000000000000" pitchFamily="2" charset="-78"/>
              </a:rPr>
              <a:t> (First-fit):</a:t>
            </a:r>
            <a:r>
              <a:rPr lang="en-US" sz="2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200" dirty="0">
                <a:effectLst/>
                <a:latin typeface="Times New Roman" panose="02020603050405020304" pitchFamily="18" charset="0"/>
                <a:ea typeface="Times New Roman" panose="02020603050405020304" pitchFamily="18" charset="0"/>
                <a:cs typeface="B Nazanin" panose="00000400000000000000" pitchFamily="2" charset="-78"/>
              </a:rPr>
              <a:t>اختصاص اولین </a:t>
            </a:r>
            <a:r>
              <a:rPr lang="fa-IR" sz="2200" dirty="0">
                <a:effectLst/>
                <a:latin typeface="Times New Roman" panose="02020603050405020304" pitchFamily="18" charset="0"/>
                <a:ea typeface="Times New Roman" panose="02020603050405020304" pitchFamily="18" charset="0"/>
                <a:cs typeface="B Nazanin" panose="00000400000000000000" pitchFamily="2" charset="-78"/>
              </a:rPr>
              <a:t>فضای خالی</a:t>
            </a:r>
            <a:r>
              <a:rPr lang="ar-SA" sz="2200" dirty="0">
                <a:effectLst/>
                <a:latin typeface="Times New Roman" panose="02020603050405020304" pitchFamily="18" charset="0"/>
                <a:ea typeface="Times New Roman" panose="02020603050405020304" pitchFamily="18" charset="0"/>
                <a:cs typeface="B Nazanin" panose="00000400000000000000" pitchFamily="2" charset="-78"/>
              </a:rPr>
              <a:t> که به اندازه‌ی کافی بزرگ است</a:t>
            </a:r>
            <a:r>
              <a:rPr lang="en-US" sz="2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200" dirty="0">
              <a:effectLst/>
              <a:latin typeface="Calibri" panose="020F0502020204030204" pitchFamily="34" charset="0"/>
              <a:ea typeface="Calibri" panose="020F0502020204030204" pitchFamily="34" charset="0"/>
              <a:cs typeface="Arial" panose="020B0604020202020204" pitchFamily="34" charset="0"/>
            </a:endParaRPr>
          </a:p>
          <a:p>
            <a:pPr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200" b="1" dirty="0">
                <a:effectLst/>
                <a:latin typeface="Times New Roman" panose="02020603050405020304" pitchFamily="18" charset="0"/>
                <a:ea typeface="Times New Roman" panose="02020603050405020304" pitchFamily="18" charset="0"/>
                <a:cs typeface="B Nazanin" panose="00000400000000000000" pitchFamily="2" charset="-78"/>
              </a:rPr>
              <a:t>بهترین برازش</a:t>
            </a:r>
            <a:r>
              <a:rPr lang="en-US" sz="2200" b="1" dirty="0">
                <a:effectLst/>
                <a:latin typeface="Times New Roman" panose="02020603050405020304" pitchFamily="18" charset="0"/>
                <a:ea typeface="Times New Roman" panose="02020603050405020304" pitchFamily="18" charset="0"/>
                <a:cs typeface="B Nazanin" panose="00000400000000000000" pitchFamily="2" charset="-78"/>
              </a:rPr>
              <a:t> (Best-fit):</a:t>
            </a:r>
            <a:r>
              <a:rPr lang="en-US" sz="2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200" dirty="0">
                <a:effectLst/>
                <a:latin typeface="Times New Roman" panose="02020603050405020304" pitchFamily="18" charset="0"/>
                <a:ea typeface="Times New Roman" panose="02020603050405020304" pitchFamily="18" charset="0"/>
                <a:cs typeface="B Nazanin" panose="00000400000000000000" pitchFamily="2" charset="-78"/>
              </a:rPr>
              <a:t>اختصاص کوچکترین </a:t>
            </a:r>
            <a:r>
              <a:rPr lang="fa-IR" sz="2200" dirty="0">
                <a:effectLst/>
                <a:latin typeface="Times New Roman" panose="02020603050405020304" pitchFamily="18" charset="0"/>
                <a:ea typeface="Times New Roman" panose="02020603050405020304" pitchFamily="18" charset="0"/>
                <a:cs typeface="B Nazanin" panose="00000400000000000000" pitchFamily="2" charset="-78"/>
              </a:rPr>
              <a:t>فضای خالی</a:t>
            </a:r>
            <a:r>
              <a:rPr lang="ar-SA" sz="2200" dirty="0">
                <a:effectLst/>
                <a:latin typeface="Times New Roman" panose="02020603050405020304" pitchFamily="18" charset="0"/>
                <a:ea typeface="Times New Roman" panose="02020603050405020304" pitchFamily="18" charset="0"/>
                <a:cs typeface="B Nazanin" panose="00000400000000000000" pitchFamily="2" charset="-78"/>
              </a:rPr>
              <a:t> که به اندازه‌ی کافی بزرگ است؛ مگر اینکه بر اساس اندازه مرتب شده باشند، کل لیست را باید جستجو کرد</a:t>
            </a:r>
            <a:r>
              <a:rPr lang="en-US" sz="2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200" dirty="0">
              <a:effectLst/>
              <a:latin typeface="Calibri" panose="020F0502020204030204" pitchFamily="34" charset="0"/>
              <a:ea typeface="Calibri" panose="020F0502020204030204" pitchFamily="34" charset="0"/>
              <a:cs typeface="Arial" panose="020B0604020202020204" pitchFamily="34" charset="0"/>
            </a:endParaRPr>
          </a:p>
          <a:p>
            <a:pPr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200" dirty="0">
                <a:effectLst/>
                <a:latin typeface="Times New Roman" panose="02020603050405020304" pitchFamily="18" charset="0"/>
                <a:ea typeface="Times New Roman" panose="02020603050405020304" pitchFamily="18" charset="0"/>
                <a:cs typeface="B Nazanin" panose="00000400000000000000" pitchFamily="2" charset="-78"/>
              </a:rPr>
              <a:t>این روش کوچکترین </a:t>
            </a:r>
            <a:r>
              <a:rPr lang="fa-IR" sz="2200" dirty="0">
                <a:effectLst/>
                <a:latin typeface="Times New Roman" panose="02020603050405020304" pitchFamily="18" charset="0"/>
                <a:ea typeface="Times New Roman" panose="02020603050405020304" pitchFamily="18" charset="0"/>
                <a:cs typeface="B Nazanin" panose="00000400000000000000" pitchFamily="2" charset="-78"/>
              </a:rPr>
              <a:t>فضای خالی</a:t>
            </a:r>
            <a:r>
              <a:rPr lang="ar-SA" sz="2200" dirty="0">
                <a:effectLst/>
                <a:latin typeface="Times New Roman" panose="02020603050405020304" pitchFamily="18" charset="0"/>
                <a:ea typeface="Times New Roman" panose="02020603050405020304" pitchFamily="18" charset="0"/>
                <a:cs typeface="B Nazanin" panose="00000400000000000000" pitchFamily="2" charset="-78"/>
              </a:rPr>
              <a:t> باقی‌مانده را ایجاد می‌کند</a:t>
            </a:r>
            <a:r>
              <a:rPr lang="en-US" sz="2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200" dirty="0">
              <a:effectLst/>
              <a:latin typeface="Calibri" panose="020F0502020204030204" pitchFamily="34" charset="0"/>
              <a:ea typeface="Calibri" panose="020F0502020204030204" pitchFamily="34" charset="0"/>
              <a:cs typeface="Arial" panose="020B0604020202020204" pitchFamily="34" charset="0"/>
            </a:endParaRPr>
          </a:p>
          <a:p>
            <a:pPr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200" b="1" dirty="0">
                <a:effectLst/>
                <a:latin typeface="Times New Roman" panose="02020603050405020304" pitchFamily="18" charset="0"/>
                <a:ea typeface="Times New Roman" panose="02020603050405020304" pitchFamily="18" charset="0"/>
                <a:cs typeface="B Nazanin" panose="00000400000000000000" pitchFamily="2" charset="-78"/>
              </a:rPr>
              <a:t>بدترین برازش</a:t>
            </a:r>
            <a:r>
              <a:rPr lang="en-US" sz="2200" b="1" dirty="0">
                <a:effectLst/>
                <a:latin typeface="Times New Roman" panose="02020603050405020304" pitchFamily="18" charset="0"/>
                <a:ea typeface="Times New Roman" panose="02020603050405020304" pitchFamily="18" charset="0"/>
                <a:cs typeface="B Nazanin" panose="00000400000000000000" pitchFamily="2" charset="-78"/>
              </a:rPr>
              <a:t> (Worst-fit):</a:t>
            </a:r>
            <a:r>
              <a:rPr lang="en-US" sz="2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200" dirty="0">
                <a:effectLst/>
                <a:latin typeface="Times New Roman" panose="02020603050405020304" pitchFamily="18" charset="0"/>
                <a:ea typeface="Times New Roman" panose="02020603050405020304" pitchFamily="18" charset="0"/>
                <a:cs typeface="B Nazanin" panose="00000400000000000000" pitchFamily="2" charset="-78"/>
              </a:rPr>
              <a:t>اختصاص بزرگترین </a:t>
            </a:r>
            <a:r>
              <a:rPr lang="fa-IR" sz="2200" dirty="0">
                <a:effectLst/>
                <a:latin typeface="Times New Roman" panose="02020603050405020304" pitchFamily="18" charset="0"/>
                <a:ea typeface="Times New Roman" panose="02020603050405020304" pitchFamily="18" charset="0"/>
                <a:cs typeface="B Nazanin" panose="00000400000000000000" pitchFamily="2" charset="-78"/>
              </a:rPr>
              <a:t>فضای خالی</a:t>
            </a:r>
            <a:r>
              <a:rPr lang="ar-SA" sz="2200" dirty="0">
                <a:effectLst/>
                <a:latin typeface="Times New Roman" panose="02020603050405020304" pitchFamily="18" charset="0"/>
                <a:ea typeface="Times New Roman" panose="02020603050405020304" pitchFamily="18" charset="0"/>
                <a:cs typeface="B Nazanin" panose="00000400000000000000" pitchFamily="2" charset="-78"/>
              </a:rPr>
              <a:t>؛ همچنین باید کل لیست را جستجو کرد</a:t>
            </a:r>
            <a:r>
              <a:rPr lang="en-US" sz="2200" dirty="0">
                <a:effectLst/>
                <a:latin typeface="Times New Roman" panose="02020603050405020304" pitchFamily="18" charset="0"/>
                <a:ea typeface="Times New Roman" panose="02020603050405020304" pitchFamily="18" charset="0"/>
                <a:cs typeface="B Nazanin" panose="00000400000000000000" pitchFamily="2" charset="-78"/>
              </a:rPr>
              <a:t>.</a:t>
            </a:r>
          </a:p>
          <a:p>
            <a:pPr lvl="2"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200" dirty="0">
                <a:latin typeface="Times New Roman" panose="02020603050405020304" pitchFamily="18" charset="0"/>
                <a:cs typeface="B Nazanin" panose="00000400000000000000" pitchFamily="2" charset="-78"/>
              </a:rPr>
              <a:t>این روش بزرگترین </a:t>
            </a:r>
            <a:r>
              <a:rPr lang="fa-IR" sz="2200" dirty="0">
                <a:latin typeface="Times New Roman" panose="02020603050405020304" pitchFamily="18" charset="0"/>
                <a:cs typeface="B Nazanin" panose="00000400000000000000" pitchFamily="2" charset="-78"/>
              </a:rPr>
              <a:t>فضای خالی</a:t>
            </a:r>
            <a:r>
              <a:rPr lang="ar-SA" sz="2200" dirty="0">
                <a:latin typeface="Times New Roman" panose="02020603050405020304" pitchFamily="18" charset="0"/>
                <a:cs typeface="B Nazanin" panose="00000400000000000000" pitchFamily="2" charset="-78"/>
              </a:rPr>
              <a:t> باقی‌مانده را ایجاد می‌کند</a:t>
            </a:r>
            <a:r>
              <a:rPr lang="en-US" sz="2200" dirty="0">
                <a:latin typeface="Times New Roman" panose="02020603050405020304" pitchFamily="18" charset="0"/>
                <a:cs typeface="B Nazanin" panose="00000400000000000000" pitchFamily="2" charset="-78"/>
              </a:rPr>
              <a:t>.</a:t>
            </a:r>
            <a:endParaRPr lang="en-US" sz="2200" dirty="0">
              <a:latin typeface="Calibri" panose="020F0502020204030204" pitchFamily="34" charset="0"/>
              <a:ea typeface="Times New Roman" panose="02020603050405020304" pitchFamily="18" charset="0"/>
              <a:cs typeface="Arial" panose="020B0604020202020204" pitchFamily="34" charset="0"/>
            </a:endParaRPr>
          </a:p>
          <a:p>
            <a:pPr algn="r" rtl="1"/>
            <a:r>
              <a:rPr lang="ar-SA" sz="2200" dirty="0">
                <a:effectLst/>
                <a:latin typeface="Times New Roman" panose="02020603050405020304" pitchFamily="18" charset="0"/>
                <a:ea typeface="Times New Roman" panose="02020603050405020304" pitchFamily="18" charset="0"/>
                <a:cs typeface="B Nazanin" panose="00000400000000000000" pitchFamily="2" charset="-78"/>
              </a:rPr>
              <a:t>اولین برازش و بهترین برازش از نظر سرعت و استفاده از حافظه نسبت به بدترین برازش بهتر عمل می‌کنند</a:t>
            </a:r>
            <a:endParaRPr lang="en-US" altLang="en-US" sz="2200" dirty="0"/>
          </a:p>
        </p:txBody>
      </p:sp>
    </p:spTree>
    <p:extLst>
      <p:ext uri="{BB962C8B-B14F-4D97-AF65-F5344CB8AC3E}">
        <p14:creationId xmlns:p14="http://schemas.microsoft.com/office/powerpoint/2010/main" val="34540048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26">
            <a:extLst>
              <a:ext uri="{FF2B5EF4-FFF2-40B4-BE49-F238E27FC236}">
                <a16:creationId xmlns:a16="http://schemas.microsoft.com/office/drawing/2014/main" id="{534D9BC0-752C-49BF-81BD-50A1A3166DAB}"/>
              </a:ext>
            </a:extLst>
          </p:cNvPr>
          <p:cNvSpPr>
            <a:spLocks noGrp="1" noChangeArrowheads="1"/>
          </p:cNvSpPr>
          <p:nvPr>
            <p:ph type="title"/>
          </p:nvPr>
        </p:nvSpPr>
        <p:spPr>
          <a:xfrm>
            <a:off x="855663" y="236379"/>
            <a:ext cx="7831137" cy="576263"/>
          </a:xfrm>
        </p:spPr>
        <p:txBody>
          <a:bodyPr/>
          <a:lstStyle/>
          <a:p>
            <a:pPr eaLnBrk="1" hangingPunct="1"/>
            <a:r>
              <a:rPr lang="ar-SA" sz="3200" b="1" dirty="0">
                <a:latin typeface="Calibri" panose="020F0502020204030204" pitchFamily="34" charset="0"/>
                <a:cs typeface="B Nazanin" panose="00000400000000000000" pitchFamily="2" charset="-78"/>
              </a:rPr>
              <a:t>پراکندگی</a:t>
            </a:r>
            <a:r>
              <a:rPr lang="fa-IR" sz="3200" b="1"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3200" b="1" dirty="0">
                <a:latin typeface="Calibri" panose="020F0502020204030204" pitchFamily="34" charset="0"/>
                <a:cs typeface="B Nazanin" panose="00000400000000000000" pitchFamily="2" charset="-78"/>
              </a:rPr>
              <a:t>Fragmentation</a:t>
            </a:r>
            <a:endParaRPr lang="en-US" altLang="en-US" dirty="0"/>
          </a:p>
        </p:txBody>
      </p:sp>
      <p:sp>
        <p:nvSpPr>
          <p:cNvPr id="23555" name="Rectangle 1027">
            <a:extLst>
              <a:ext uri="{FF2B5EF4-FFF2-40B4-BE49-F238E27FC236}">
                <a16:creationId xmlns:a16="http://schemas.microsoft.com/office/drawing/2014/main" id="{C8EC98FB-DB12-4D53-B1D8-DA0D6EC9FEE0}"/>
              </a:ext>
            </a:extLst>
          </p:cNvPr>
          <p:cNvSpPr>
            <a:spLocks noGrp="1" noChangeArrowheads="1"/>
          </p:cNvSpPr>
          <p:nvPr>
            <p:ph idx="1"/>
          </p:nvPr>
        </p:nvSpPr>
        <p:spPr>
          <a:xfrm>
            <a:off x="237995" y="1114425"/>
            <a:ext cx="8512898" cy="4999038"/>
          </a:xfrm>
        </p:spPr>
        <p:txBody>
          <a:bodyPr/>
          <a:lstStyle/>
          <a:p>
            <a:pPr algn="r" rtl="1">
              <a:lnSpc>
                <a:spcPct val="107000"/>
              </a:lnSpc>
              <a:spcBef>
                <a:spcPts val="0"/>
              </a:spcBef>
              <a:spcAft>
                <a:spcPts val="800"/>
              </a:spcAft>
              <a:buSzPts val="1000"/>
              <a:buFont typeface="Symbol" panose="05050102010706020507" pitchFamily="18" charset="2"/>
              <a:buChar char=""/>
              <a:tabLst>
                <a:tab pos="457200" algn="l"/>
              </a:tabLst>
            </a:pPr>
            <a:r>
              <a:rPr lang="ar-SA" sz="2200" dirty="0">
                <a:effectLst/>
                <a:latin typeface="Calibri" panose="020F0502020204030204" pitchFamily="34" charset="0"/>
                <a:ea typeface="Calibri" panose="020F0502020204030204" pitchFamily="34" charset="0"/>
                <a:cs typeface="B Nazanin" panose="00000400000000000000" pitchFamily="2" charset="-78"/>
              </a:rPr>
              <a:t>فرض کنید یک طرح </a:t>
            </a:r>
            <a:r>
              <a:rPr lang="ar-SA" sz="2200" b="1" dirty="0">
                <a:effectLst/>
                <a:latin typeface="Times New Roman" panose="02020603050405020304" pitchFamily="18" charset="0"/>
                <a:ea typeface="Times New Roman" panose="02020603050405020304" pitchFamily="18" charset="0"/>
                <a:cs typeface="B Nazanin" panose="00000400000000000000" pitchFamily="2" charset="-78"/>
              </a:rPr>
              <a:t>تخصیص چندبخشی</a:t>
            </a:r>
            <a:r>
              <a:rPr lang="en-US" sz="2200" b="1" dirty="0">
                <a:effectLst/>
                <a:latin typeface="Times New Roman" panose="02020603050405020304" pitchFamily="18" charset="0"/>
                <a:ea typeface="Times New Roman" panose="02020603050405020304" pitchFamily="18" charset="0"/>
                <a:cs typeface="B Nazanin" panose="00000400000000000000" pitchFamily="2" charset="-78"/>
              </a:rPr>
              <a:t> (Multiple-Partition Allocation)</a:t>
            </a:r>
            <a:r>
              <a:rPr lang="ar-SA" sz="2200" dirty="0">
                <a:effectLst/>
                <a:latin typeface="Calibri" panose="020F0502020204030204" pitchFamily="34" charset="0"/>
                <a:ea typeface="Calibri" panose="020F0502020204030204" pitchFamily="34" charset="0"/>
                <a:cs typeface="B Nazanin" panose="00000400000000000000" pitchFamily="2" charset="-78"/>
              </a:rPr>
              <a:t> با فضایی خالی به اندازه </a:t>
            </a:r>
            <a:r>
              <a:rPr lang="fa-IR" sz="2200" dirty="0">
                <a:effectLst/>
                <a:latin typeface="Calibri" panose="020F0502020204030204" pitchFamily="34" charset="0"/>
                <a:ea typeface="Calibri" panose="020F0502020204030204" pitchFamily="34" charset="0"/>
                <a:cs typeface="B Nazanin" panose="00000400000000000000" pitchFamily="2" charset="-78"/>
              </a:rPr>
              <a:t>۱۸۴۶۴</a:t>
            </a:r>
            <a:r>
              <a:rPr lang="ar-SA" sz="2200" dirty="0">
                <a:effectLst/>
                <a:latin typeface="Calibri" panose="020F0502020204030204" pitchFamily="34" charset="0"/>
                <a:ea typeface="Calibri" panose="020F0502020204030204" pitchFamily="34" charset="0"/>
                <a:cs typeface="B Nazanin" panose="00000400000000000000" pitchFamily="2" charset="-78"/>
              </a:rPr>
              <a:t> بایت داریم</a:t>
            </a:r>
            <a:r>
              <a:rPr lang="en-US" sz="2200" dirty="0">
                <a:effectLst/>
                <a:latin typeface="Calibri" panose="020F0502020204030204" pitchFamily="34" charset="0"/>
                <a:ea typeface="Calibri" panose="020F0502020204030204" pitchFamily="34" charset="0"/>
                <a:cs typeface="B Nazanin" panose="00000400000000000000" pitchFamily="2" charset="-78"/>
              </a:rPr>
              <a:t>.</a:t>
            </a:r>
            <a:endParaRPr lang="en-US" sz="22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200" dirty="0">
                <a:effectLst/>
                <a:latin typeface="Calibri" panose="020F0502020204030204" pitchFamily="34" charset="0"/>
                <a:ea typeface="Calibri" panose="020F0502020204030204" pitchFamily="34" charset="0"/>
                <a:cs typeface="B Nazanin" panose="00000400000000000000" pitchFamily="2" charset="-78"/>
              </a:rPr>
              <a:t>اگر فرآیند بعدی </a:t>
            </a:r>
            <a:r>
              <a:rPr lang="fa-IR" sz="2200" dirty="0">
                <a:effectLst/>
                <a:latin typeface="Calibri" panose="020F0502020204030204" pitchFamily="34" charset="0"/>
                <a:ea typeface="Calibri" panose="020F0502020204030204" pitchFamily="34" charset="0"/>
                <a:cs typeface="B Nazanin" panose="00000400000000000000" pitchFamily="2" charset="-78"/>
              </a:rPr>
              <a:t>۱۸۴۶۲</a:t>
            </a:r>
            <a:r>
              <a:rPr lang="ar-SA" sz="2200" dirty="0">
                <a:effectLst/>
                <a:latin typeface="Calibri" panose="020F0502020204030204" pitchFamily="34" charset="0"/>
                <a:ea typeface="Calibri" panose="020F0502020204030204" pitchFamily="34" charset="0"/>
                <a:cs typeface="B Nazanin" panose="00000400000000000000" pitchFamily="2" charset="-78"/>
              </a:rPr>
              <a:t> بایت حافظه درخواست کند، چه اتفاقی می‌افتد؟ </a:t>
            </a:r>
            <a:endParaRPr lang="en-US" sz="22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200" dirty="0">
                <a:effectLst/>
                <a:latin typeface="Calibri" panose="020F0502020204030204" pitchFamily="34" charset="0"/>
                <a:ea typeface="Calibri" panose="020F0502020204030204" pitchFamily="34" charset="0"/>
                <a:cs typeface="B Nazanin" panose="00000400000000000000" pitchFamily="2" charset="-78"/>
              </a:rPr>
              <a:t>اگر دقیقاً همان بلوک درخواستی را اختصاص دهیم، با یک فضای خالی </a:t>
            </a:r>
            <a:r>
              <a:rPr lang="fa-IR" sz="2200" dirty="0">
                <a:effectLst/>
                <a:latin typeface="Calibri" panose="020F0502020204030204" pitchFamily="34" charset="0"/>
                <a:ea typeface="Calibri" panose="020F0502020204030204" pitchFamily="34" charset="0"/>
                <a:cs typeface="B Nazanin" panose="00000400000000000000" pitchFamily="2" charset="-78"/>
              </a:rPr>
              <a:t>۲</a:t>
            </a:r>
            <a:r>
              <a:rPr lang="ar-SA" sz="2200" dirty="0">
                <a:effectLst/>
                <a:latin typeface="Calibri" panose="020F0502020204030204" pitchFamily="34" charset="0"/>
                <a:ea typeface="Calibri" panose="020F0502020204030204" pitchFamily="34" charset="0"/>
                <a:cs typeface="B Nazanin" panose="00000400000000000000" pitchFamily="2" charset="-78"/>
              </a:rPr>
              <a:t> بایتی باقی می‌مانیم</a:t>
            </a:r>
            <a:r>
              <a:rPr lang="en-US" sz="2200" dirty="0">
                <a:effectLst/>
                <a:latin typeface="Calibri" panose="020F0502020204030204" pitchFamily="34" charset="0"/>
                <a:ea typeface="Calibri" panose="020F0502020204030204" pitchFamily="34" charset="0"/>
                <a:cs typeface="B Nazanin" panose="00000400000000000000" pitchFamily="2" charset="-78"/>
              </a:rPr>
              <a:t>.</a:t>
            </a:r>
            <a:endParaRPr lang="en-US" sz="2200" dirty="0">
              <a:effectLst/>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200" dirty="0">
                <a:latin typeface="Calibri" panose="020F0502020204030204" pitchFamily="34" charset="0"/>
                <a:cs typeface="B Nazanin" panose="00000400000000000000" pitchFamily="2" charset="-78"/>
              </a:rPr>
              <a:t>مدیریت این فضای خالی کوچک، از خود آن فضا، کارایی کمتری خواهد داشت</a:t>
            </a:r>
            <a:r>
              <a:rPr lang="en-US" sz="2200" dirty="0">
                <a:latin typeface="Calibri" panose="020F0502020204030204" pitchFamily="34" charset="0"/>
                <a:cs typeface="B Nazanin" panose="00000400000000000000" pitchFamily="2" charset="-78"/>
              </a:rPr>
              <a:t>.</a:t>
            </a: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200" b="1" dirty="0">
                <a:latin typeface="Calibri" panose="020F0502020204030204" pitchFamily="34" charset="0"/>
                <a:cs typeface="B Nazanin" panose="00000400000000000000" pitchFamily="2" charset="-78"/>
              </a:rPr>
              <a:t>پراکندگی خارجی</a:t>
            </a:r>
            <a:r>
              <a:rPr lang="en-US" sz="2200" b="1" dirty="0">
                <a:latin typeface="Calibri" panose="020F0502020204030204" pitchFamily="34" charset="0"/>
                <a:cs typeface="B Nazanin" panose="00000400000000000000" pitchFamily="2" charset="-78"/>
              </a:rPr>
              <a:t> (External Fragmentation):</a:t>
            </a: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200" dirty="0">
                <a:latin typeface="Calibri" panose="020F0502020204030204" pitchFamily="34" charset="0"/>
                <a:cs typeface="B Nazanin" panose="00000400000000000000" pitchFamily="2" charset="-78"/>
              </a:rPr>
              <a:t>زمانی رخ می‌دهد که فضای خالی کافی در حافظه وجود داشته باشد، اما این فضا به قطعات کوچک غیرقابل استفاده تقسیم شود</a:t>
            </a:r>
            <a:r>
              <a:rPr lang="en-US" sz="2200" dirty="0">
                <a:latin typeface="Calibri" panose="020F0502020204030204" pitchFamily="34" charset="0"/>
                <a:cs typeface="B Nazanin" panose="00000400000000000000" pitchFamily="2" charset="-78"/>
              </a:rPr>
              <a:t>.</a:t>
            </a: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200" dirty="0">
                <a:latin typeface="Calibri" panose="020F0502020204030204" pitchFamily="34" charset="0"/>
                <a:cs typeface="B Nazanin" panose="00000400000000000000" pitchFamily="2" charset="-78"/>
              </a:rPr>
              <a:t>هیچ یک از قطعات به تنهایی برای برآورده کردن نیازهای حافظه یک فرایند جدید کافی نیست</a:t>
            </a:r>
            <a:r>
              <a:rPr lang="en-US" sz="2200" dirty="0">
                <a:latin typeface="Calibri" panose="020F0502020204030204" pitchFamily="34" charset="0"/>
                <a:cs typeface="B Nazanin" panose="00000400000000000000" pitchFamily="2" charset="-78"/>
              </a:rPr>
              <a:t>.</a:t>
            </a: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endParaRPr lang="en-US" sz="2200" dirty="0">
              <a:latin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66232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26">
            <a:extLst>
              <a:ext uri="{FF2B5EF4-FFF2-40B4-BE49-F238E27FC236}">
                <a16:creationId xmlns:a16="http://schemas.microsoft.com/office/drawing/2014/main" id="{534D9BC0-752C-49BF-81BD-50A1A3166DAB}"/>
              </a:ext>
            </a:extLst>
          </p:cNvPr>
          <p:cNvSpPr>
            <a:spLocks noGrp="1" noChangeArrowheads="1"/>
          </p:cNvSpPr>
          <p:nvPr>
            <p:ph type="title"/>
          </p:nvPr>
        </p:nvSpPr>
        <p:spPr>
          <a:xfrm>
            <a:off x="855663" y="236379"/>
            <a:ext cx="7831137" cy="576263"/>
          </a:xfrm>
        </p:spPr>
        <p:txBody>
          <a:bodyPr/>
          <a:lstStyle/>
          <a:p>
            <a:pPr eaLnBrk="1" hangingPunct="1"/>
            <a:r>
              <a:rPr lang="ar-SA" sz="3200" b="1" dirty="0">
                <a:latin typeface="Calibri" panose="020F0502020204030204" pitchFamily="34" charset="0"/>
                <a:cs typeface="B Nazanin" panose="00000400000000000000" pitchFamily="2" charset="-78"/>
              </a:rPr>
              <a:t>پراکندگی</a:t>
            </a:r>
            <a:r>
              <a:rPr lang="fa-IR" sz="3200" b="1"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3200" b="1" dirty="0">
                <a:latin typeface="Calibri" panose="020F0502020204030204" pitchFamily="34" charset="0"/>
                <a:cs typeface="B Nazanin" panose="00000400000000000000" pitchFamily="2" charset="-78"/>
              </a:rPr>
              <a:t>Fragmentation</a:t>
            </a:r>
            <a:endParaRPr lang="en-US" altLang="en-US" dirty="0"/>
          </a:p>
        </p:txBody>
      </p:sp>
      <p:sp>
        <p:nvSpPr>
          <p:cNvPr id="23555" name="Rectangle 1027">
            <a:extLst>
              <a:ext uri="{FF2B5EF4-FFF2-40B4-BE49-F238E27FC236}">
                <a16:creationId xmlns:a16="http://schemas.microsoft.com/office/drawing/2014/main" id="{C8EC98FB-DB12-4D53-B1D8-DA0D6EC9FEE0}"/>
              </a:ext>
            </a:extLst>
          </p:cNvPr>
          <p:cNvSpPr>
            <a:spLocks noGrp="1" noChangeArrowheads="1"/>
          </p:cNvSpPr>
          <p:nvPr>
            <p:ph idx="1"/>
          </p:nvPr>
        </p:nvSpPr>
        <p:spPr>
          <a:xfrm>
            <a:off x="855663" y="1114425"/>
            <a:ext cx="7663186" cy="4999038"/>
          </a:xfrm>
        </p:spPr>
        <p:txBody>
          <a:bodyPr/>
          <a:lstStyle/>
          <a:p>
            <a:pPr marL="342900" marR="0" lvl="0" indent="-342900" algn="r" rtl="1">
              <a:buFont typeface="Wingdings" panose="05000000000000000000" pitchFamily="2" charset="2"/>
              <a:buChar char=""/>
              <a:tabLst>
                <a:tab pos="457200" algn="l"/>
              </a:tabLst>
            </a:pPr>
            <a:r>
              <a:rPr lang="ar-SA" sz="2400" b="1" dirty="0">
                <a:latin typeface="Calibri" panose="020F0502020204030204" pitchFamily="34" charset="0"/>
                <a:cs typeface="B Nazanin" panose="00000400000000000000" pitchFamily="2" charset="-78"/>
              </a:rPr>
              <a:t>پراکندگی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داخلی</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(Internal Fragmentation):</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حافظه‌ی اختصاص‌یافته ممکن است کمی بزرگ‌تر از حافظه‌ی درخواست‌شده باشد؛ این اختلاف اندازه، حافظه‌ای داخلی یک پارتیشن است که استفاده نمی‌شود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تحلیل اولین برازش نشان می‌دهد که با اختصاص</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N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بلوک،</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 تقریبا نیم 0.5</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N</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 دیگری از بلوک‌ها دست می‌روند که تقریبا یک سوم حافظه می‌شود که غیرقابل استفاده می‌شود.این خاصیت به قانون ۵۰ درصد شناخته می‌شود.  </a:t>
            </a:r>
          </a:p>
        </p:txBody>
      </p:sp>
      <p:pic>
        <p:nvPicPr>
          <p:cNvPr id="1027" name="Picture 3" descr="Memory Management in Operating Systems Explained">
            <a:extLst>
              <a:ext uri="{FF2B5EF4-FFF2-40B4-BE49-F238E27FC236}">
                <a16:creationId xmlns:a16="http://schemas.microsoft.com/office/drawing/2014/main" id="{184F688C-2D95-478D-813C-83E6E462DAA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7533"/>
          <a:stretch/>
        </p:blipFill>
        <p:spPr bwMode="auto">
          <a:xfrm>
            <a:off x="1443526" y="3732075"/>
            <a:ext cx="6655409" cy="2744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87666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F2A57-A8CF-E36F-D23A-20F078A5797B}"/>
            </a:ext>
          </a:extLst>
        </p:cNvPr>
        <p:cNvGrpSpPr/>
        <p:nvPr/>
      </p:nvGrpSpPr>
      <p:grpSpPr>
        <a:xfrm>
          <a:off x="0" y="0"/>
          <a:ext cx="0" cy="0"/>
          <a:chOff x="0" y="0"/>
          <a:chExt cx="0" cy="0"/>
        </a:xfrm>
      </p:grpSpPr>
      <p:sp>
        <p:nvSpPr>
          <p:cNvPr id="24578" name="Title 1">
            <a:extLst>
              <a:ext uri="{FF2B5EF4-FFF2-40B4-BE49-F238E27FC236}">
                <a16:creationId xmlns:a16="http://schemas.microsoft.com/office/drawing/2014/main" id="{4E722EE9-38ED-7434-2399-23A2763BE804}"/>
              </a:ext>
            </a:extLst>
          </p:cNvPr>
          <p:cNvSpPr>
            <a:spLocks noGrp="1"/>
          </p:cNvSpPr>
          <p:nvPr>
            <p:ph type="title"/>
          </p:nvPr>
        </p:nvSpPr>
        <p:spPr>
          <a:xfrm>
            <a:off x="457200" y="248493"/>
            <a:ext cx="8229600" cy="576263"/>
          </a:xfrm>
        </p:spPr>
        <p:txBody>
          <a:bodyPr/>
          <a:lstStyle/>
          <a:p>
            <a:r>
              <a:rPr lang="ar-SA" sz="3200" b="1" dirty="0">
                <a:latin typeface="Calibri" panose="020F0502020204030204" pitchFamily="34" charset="0"/>
                <a:cs typeface="B Nazanin" panose="00000400000000000000" pitchFamily="2" charset="-78"/>
              </a:rPr>
              <a:t>پراکندگی </a:t>
            </a:r>
            <a:r>
              <a:rPr lang="fa-IR" sz="3200" b="1" dirty="0">
                <a:effectLst/>
                <a:latin typeface="Times New Roman" panose="02020603050405020304" pitchFamily="18" charset="0"/>
                <a:ea typeface="Times New Roman" panose="02020603050405020304" pitchFamily="18" charset="0"/>
                <a:cs typeface="B Nazanin" panose="00000400000000000000" pitchFamily="2" charset="-78"/>
              </a:rPr>
              <a:t>(ادامه)</a:t>
            </a:r>
            <a:endParaRPr lang="en-US" altLang="en-US" dirty="0"/>
          </a:p>
        </p:txBody>
      </p:sp>
      <p:sp>
        <p:nvSpPr>
          <p:cNvPr id="24579" name="Content Placeholder 2">
            <a:extLst>
              <a:ext uri="{FF2B5EF4-FFF2-40B4-BE49-F238E27FC236}">
                <a16:creationId xmlns:a16="http://schemas.microsoft.com/office/drawing/2014/main" id="{F7E7DA0E-F1D7-4EA4-C6BE-3755B8F1C97E}"/>
              </a:ext>
            </a:extLst>
          </p:cNvPr>
          <p:cNvSpPr>
            <a:spLocks noGrp="1"/>
          </p:cNvSpPr>
          <p:nvPr>
            <p:ph idx="1"/>
          </p:nvPr>
        </p:nvSpPr>
        <p:spPr>
          <a:xfrm>
            <a:off x="849086" y="1154113"/>
            <a:ext cx="7953082" cy="5169775"/>
          </a:xfrm>
        </p:spPr>
        <p:txBody>
          <a:bodyPr/>
          <a:lstStyle/>
          <a:p>
            <a:pPr marL="0" marR="0" algn="r" rtl="1">
              <a:lnSpc>
                <a:spcPct val="115000"/>
              </a:lnSpc>
              <a:spcAft>
                <a:spcPts val="800"/>
              </a:spcAft>
              <a:buNone/>
            </a:pP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فشرده‌سازی حافظه چیست؟</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وقتی حافظه دچار پراکندگی خارجی (فضاهای خالی کوچک و جدا از هم) شود، می‌توان با فشرده‌سازی</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(Compaction)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این مشکل را کاهش داد</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فشرده‌سازی یعنی</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جابجا کردن برنامه‌ها در حافظه برای اینکه همه فضای آزاد در یک بلوک پیوسته جمع شود</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شبیه این است که کتاب‌های پراکنده روی قفسه را کنار هم بچینیم تا فضای خالی وسط‌ها از بین برود</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اما فقط وقتی ممکن است که</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سیستم اجازه دهد آدرس حافظه در حین اجرا تغییر کند </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(dynamic relocation).</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یعنی برنامه‌ها بتوانند بعد از شروع هم، جایشان را در حافظه عوض کنند</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0" marR="0" indent="0" algn="r" rtl="1">
              <a:lnSpc>
                <a:spcPct val="115000"/>
              </a:lnSpc>
              <a:spcAft>
                <a:spcPts val="800"/>
              </a:spcAft>
              <a:buNone/>
            </a:pPr>
            <a:r>
              <a:rPr lang="en-US" sz="2000" kern="100" dirty="0">
                <a:effectLst/>
                <a:latin typeface="Aptos" panose="020B0004020202020204" pitchFamily="34" charset="0"/>
                <a:ea typeface="Aptos" panose="020B0004020202020204" pitchFamily="34" charset="0"/>
                <a:cs typeface="Arial" panose="020B0604020202020204" pitchFamily="34" charset="0"/>
              </a:rPr>
              <a:t> </a:t>
            </a:r>
          </a:p>
        </p:txBody>
      </p:sp>
    </p:spTree>
    <p:extLst>
      <p:ext uri="{BB962C8B-B14F-4D97-AF65-F5344CB8AC3E}">
        <p14:creationId xmlns:p14="http://schemas.microsoft.com/office/powerpoint/2010/main" val="9362242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F08491A6-3C3E-4138-B669-0D4F9036684F}"/>
              </a:ext>
            </a:extLst>
          </p:cNvPr>
          <p:cNvSpPr>
            <a:spLocks noGrp="1"/>
          </p:cNvSpPr>
          <p:nvPr>
            <p:ph type="title"/>
          </p:nvPr>
        </p:nvSpPr>
        <p:spPr>
          <a:xfrm>
            <a:off x="457200" y="248493"/>
            <a:ext cx="8229600" cy="576263"/>
          </a:xfrm>
        </p:spPr>
        <p:txBody>
          <a:bodyPr/>
          <a:lstStyle/>
          <a:p>
            <a:r>
              <a:rPr lang="ar-SA" sz="3200" b="1" dirty="0">
                <a:latin typeface="Calibri" panose="020F0502020204030204" pitchFamily="34" charset="0"/>
                <a:cs typeface="B Nazanin" panose="00000400000000000000" pitchFamily="2" charset="-78"/>
              </a:rPr>
              <a:t>پراکندگی </a:t>
            </a:r>
            <a:r>
              <a:rPr lang="fa-IR" sz="3200" b="1" dirty="0">
                <a:effectLst/>
                <a:latin typeface="Times New Roman" panose="02020603050405020304" pitchFamily="18" charset="0"/>
                <a:ea typeface="Times New Roman" panose="02020603050405020304" pitchFamily="18" charset="0"/>
                <a:cs typeface="B Nazanin" panose="00000400000000000000" pitchFamily="2" charset="-78"/>
              </a:rPr>
              <a:t>(ادامه)</a:t>
            </a:r>
            <a:endParaRPr lang="en-US" altLang="en-US" dirty="0"/>
          </a:p>
        </p:txBody>
      </p:sp>
      <p:sp>
        <p:nvSpPr>
          <p:cNvPr id="24579" name="Content Placeholder 2">
            <a:extLst>
              <a:ext uri="{FF2B5EF4-FFF2-40B4-BE49-F238E27FC236}">
                <a16:creationId xmlns:a16="http://schemas.microsoft.com/office/drawing/2014/main" id="{73A91733-AB03-41FF-84D0-DFF0EF0FE2D4}"/>
              </a:ext>
            </a:extLst>
          </p:cNvPr>
          <p:cNvSpPr>
            <a:spLocks noGrp="1"/>
          </p:cNvSpPr>
          <p:nvPr>
            <p:ph idx="1"/>
          </p:nvPr>
        </p:nvSpPr>
        <p:spPr>
          <a:xfrm>
            <a:off x="849086" y="1154113"/>
            <a:ext cx="7953082" cy="5169775"/>
          </a:xfrm>
        </p:spPr>
        <p:txBody>
          <a:bodyPr/>
          <a:lstStyle/>
          <a:p>
            <a:pPr marL="0" marR="0" algn="r" rtl="1">
              <a:lnSpc>
                <a:spcPct val="115000"/>
              </a:lnSpc>
              <a:spcAft>
                <a:spcPts val="800"/>
              </a:spcAft>
              <a:buNone/>
            </a:pPr>
            <a:r>
              <a:rPr lang="en-US" sz="24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2400" b="1" kern="100" dirty="0">
                <a:effectLst/>
                <a:latin typeface="Segoe UI Emoji" panose="020B0502040204020203" pitchFamily="34" charset="0"/>
                <a:ea typeface="Aptos" panose="020B0004020202020204" pitchFamily="34" charset="0"/>
                <a:cs typeface="B Nazanin" panose="00000400000000000000" pitchFamily="2" charset="-78"/>
              </a:rPr>
              <a:t>مشکل در عملیات</a:t>
            </a:r>
            <a:r>
              <a:rPr lang="en-US" sz="2400" b="1" kern="100" dirty="0">
                <a:effectLst/>
                <a:latin typeface="Segoe UI Emoji" panose="020B0502040204020203" pitchFamily="34" charset="0"/>
                <a:ea typeface="Aptos" panose="020B0004020202020204" pitchFamily="34" charset="0"/>
                <a:cs typeface="B Nazanin" panose="00000400000000000000" pitchFamily="2" charset="-78"/>
              </a:rPr>
              <a:t> I/O </a:t>
            </a:r>
            <a:r>
              <a:rPr lang="ar-SA" sz="2400" b="1" kern="100" dirty="0">
                <a:effectLst/>
                <a:latin typeface="Segoe UI Emoji" panose="020B0502040204020203" pitchFamily="34" charset="0"/>
                <a:ea typeface="Aptos" panose="020B0004020202020204" pitchFamily="34" charset="0"/>
                <a:cs typeface="B Nazanin" panose="00000400000000000000" pitchFamily="2" charset="-78"/>
              </a:rPr>
              <a:t>ورودی/خروجی</a:t>
            </a:r>
            <a:r>
              <a:rPr lang="en-US" sz="24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2400" b="1" kern="100" dirty="0">
                <a:effectLst/>
                <a:latin typeface="Segoe UI Emoji" panose="020B0502040204020203" pitchFamily="34" charset="0"/>
                <a:ea typeface="Aptos" panose="020B0004020202020204" pitchFamily="34" charset="0"/>
                <a:cs typeface="B Nazanin" panose="00000400000000000000" pitchFamily="2" charset="-78"/>
              </a:rPr>
              <a:t>وقتی برنامه‌ای در حال استفاده از دستگاه‌های</a:t>
            </a:r>
            <a:r>
              <a:rPr lang="en-US" sz="2400" b="1" kern="100" dirty="0">
                <a:effectLst/>
                <a:latin typeface="Segoe UI Emoji" panose="020B0502040204020203" pitchFamily="34" charset="0"/>
                <a:ea typeface="Aptos" panose="020B0004020202020204" pitchFamily="34" charset="0"/>
                <a:cs typeface="B Nazanin" panose="00000400000000000000" pitchFamily="2" charset="-78"/>
              </a:rPr>
              <a:t> I/O </a:t>
            </a:r>
            <a:r>
              <a:rPr lang="ar-SA" sz="2400" b="1" kern="100" dirty="0">
                <a:effectLst/>
                <a:latin typeface="Segoe UI Emoji" panose="020B0502040204020203" pitchFamily="34" charset="0"/>
                <a:ea typeface="Aptos" panose="020B0004020202020204" pitchFamily="34" charset="0"/>
                <a:cs typeface="B Nazanin" panose="00000400000000000000" pitchFamily="2" charset="-78"/>
              </a:rPr>
              <a:t>(مثلاً دیسک یا چاپگر) است، جابه‌جا کردن آن در حافظه ممکن است باعث از دست رفتن داده‌ها شود</a:t>
            </a:r>
            <a:r>
              <a:rPr lang="en-US" sz="24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2400" b="1" kern="100" dirty="0">
                <a:effectLst/>
                <a:latin typeface="Segoe UI Emoji" panose="020B0502040204020203" pitchFamily="34" charset="0"/>
                <a:ea typeface="Aptos" panose="020B0004020202020204" pitchFamily="34" charset="0"/>
                <a:cs typeface="B Nazanin" panose="00000400000000000000" pitchFamily="2" charset="-78"/>
              </a:rPr>
              <a:t> </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24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2400" b="1" kern="100" dirty="0">
                <a:effectLst/>
                <a:latin typeface="Segoe UI Emoji" panose="020B0502040204020203" pitchFamily="34" charset="0"/>
                <a:ea typeface="Aptos" panose="020B0004020202020204" pitchFamily="34" charset="0"/>
                <a:cs typeface="B Nazanin" panose="00000400000000000000" pitchFamily="2" charset="-78"/>
              </a:rPr>
              <a:t>راه‌حل‌ها</a:t>
            </a:r>
            <a:r>
              <a:rPr lang="en-US" sz="24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Font typeface="+mj-lt"/>
              <a:buAutoNum type="arabicPeriod"/>
              <a:tabLst>
                <a:tab pos="457200" algn="l"/>
              </a:tabLst>
            </a:pPr>
            <a:r>
              <a:rPr lang="ar-SA" sz="2400" b="1" kern="100" dirty="0">
                <a:effectLst/>
                <a:latin typeface="Segoe UI Emoji" panose="020B0502040204020203" pitchFamily="34" charset="0"/>
                <a:ea typeface="Aptos" panose="020B0004020202020204" pitchFamily="34" charset="0"/>
                <a:cs typeface="B Nazanin" panose="00000400000000000000" pitchFamily="2" charset="-78"/>
              </a:rPr>
              <a:t>نگه داشتن کل برنامه در حافظه (امن ولی حافظه‌بر)</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Font typeface="+mj-lt"/>
              <a:buAutoNum type="arabicPeriod"/>
              <a:tabLst>
                <a:tab pos="457200" algn="l"/>
              </a:tabLst>
            </a:pPr>
            <a:r>
              <a:rPr lang="ar-SA" sz="2400" b="1" kern="100" dirty="0">
                <a:effectLst/>
                <a:latin typeface="Segoe UI Emoji" panose="020B0502040204020203" pitchFamily="34" charset="0"/>
                <a:ea typeface="Aptos" panose="020B0004020202020204" pitchFamily="34" charset="0"/>
                <a:cs typeface="B Nazanin" panose="00000400000000000000" pitchFamily="2" charset="-78"/>
              </a:rPr>
              <a:t>استفاده از بافرهایی که توسط سیستم‌عامل مدیریت می‌شوند</a:t>
            </a:r>
            <a:r>
              <a:rPr lang="en-US" sz="2400" b="1" kern="100" dirty="0">
                <a:effectLst/>
                <a:latin typeface="Segoe UI Emoji" panose="020B0502040204020203" pitchFamily="34" charset="0"/>
                <a:ea typeface="Aptos" panose="020B0004020202020204" pitchFamily="34" charset="0"/>
                <a:cs typeface="B Nazanin" panose="00000400000000000000" pitchFamily="2" charset="-78"/>
              </a:rPr>
              <a:t>:</a:t>
            </a:r>
            <a:r>
              <a:rPr lang="en-US" sz="2400" b="1" kern="100" dirty="0">
                <a:effectLst/>
                <a:latin typeface="B Nazanin" panose="00000400000000000000" pitchFamily="2" charset="-78"/>
                <a:ea typeface="Aptos" panose="020B0004020202020204" pitchFamily="34" charset="0"/>
                <a:cs typeface="Arial" panose="020B0604020202020204" pitchFamily="34" charset="0"/>
              </a:rPr>
              <a:t> </a:t>
            </a:r>
            <a:r>
              <a:rPr lang="ar-SA" sz="2400" b="1" kern="100" dirty="0">
                <a:effectLst/>
                <a:latin typeface="B Nazanin" panose="00000400000000000000" pitchFamily="2" charset="-78"/>
                <a:ea typeface="Aptos" panose="020B0004020202020204" pitchFamily="34" charset="0"/>
                <a:cs typeface="Arial" panose="020B0604020202020204" pitchFamily="34" charset="0"/>
              </a:rPr>
              <a:t>رویکرد بهتر و رایج‌تر</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5388554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a:extLst>
              <a:ext uri="{FF2B5EF4-FFF2-40B4-BE49-F238E27FC236}">
                <a16:creationId xmlns:a16="http://schemas.microsoft.com/office/drawing/2014/main" id="{E725BB56-A638-4160-B622-2B266E8E7972}"/>
              </a:ext>
            </a:extLst>
          </p:cNvPr>
          <p:cNvSpPr>
            <a:spLocks noGrp="1" noChangeArrowheads="1"/>
          </p:cNvSpPr>
          <p:nvPr>
            <p:ph type="title"/>
          </p:nvPr>
        </p:nvSpPr>
        <p:spPr>
          <a:xfrm>
            <a:off x="457200" y="236379"/>
            <a:ext cx="8229600" cy="576263"/>
          </a:xfrm>
        </p:spPr>
        <p:txBody>
          <a:bodyPr/>
          <a:lstStyle/>
          <a:p>
            <a:pPr eaLnBrk="1" hangingPunct="1"/>
            <a:r>
              <a:rPr lang="fa-IR" altLang="en-US" dirty="0">
                <a:latin typeface="Times New Roman" panose="02020603050405020304" pitchFamily="18" charset="0"/>
                <a:cs typeface="B Nazanin" panose="00000400000000000000" pitchFamily="2" charset="-78"/>
              </a:rPr>
              <a:t>صفحه بندی</a:t>
            </a:r>
            <a:endParaRPr lang="en-US" altLang="en-US" dirty="0"/>
          </a:p>
        </p:txBody>
      </p:sp>
      <p:sp>
        <p:nvSpPr>
          <p:cNvPr id="25603" name="Rectangle 1027">
            <a:extLst>
              <a:ext uri="{FF2B5EF4-FFF2-40B4-BE49-F238E27FC236}">
                <a16:creationId xmlns:a16="http://schemas.microsoft.com/office/drawing/2014/main" id="{441B5E44-FE32-44C1-BCFC-248B4940F17D}"/>
              </a:ext>
            </a:extLst>
          </p:cNvPr>
          <p:cNvSpPr>
            <a:spLocks noGrp="1" noChangeArrowheads="1"/>
          </p:cNvSpPr>
          <p:nvPr>
            <p:ph idx="1"/>
          </p:nvPr>
        </p:nvSpPr>
        <p:spPr>
          <a:xfrm>
            <a:off x="290342" y="1046956"/>
            <a:ext cx="8563315" cy="4764087"/>
          </a:xfrm>
        </p:spPr>
        <p:txBody>
          <a:bodyPr/>
          <a:lstStyle/>
          <a:p>
            <a:pPr marL="0" marR="0" algn="r" rtl="1">
              <a:spcBef>
                <a:spcPts val="0"/>
              </a:spcBef>
              <a:spcAft>
                <a:spcPts val="0"/>
              </a:spcAft>
            </a:pPr>
            <a:r>
              <a:rPr lang="ar-SA" sz="2400" dirty="0">
                <a:solidFill>
                  <a:srgbClr val="1F1F1F"/>
                </a:solidFill>
                <a:effectLst/>
                <a:latin typeface="Google Sans"/>
                <a:ea typeface="Times New Roman" panose="02020603050405020304" pitchFamily="18" charset="0"/>
                <a:cs typeface="B Nazanin" panose="00000400000000000000" pitchFamily="2" charset="-78"/>
              </a:rPr>
              <a:t>فضای آدرس فیزیکی یک فرآیند می‌تواند </a:t>
            </a:r>
            <a:r>
              <a:rPr lang="ar-SA" sz="2400" b="1" dirty="0">
                <a:solidFill>
                  <a:srgbClr val="1F1F1F"/>
                </a:solidFill>
                <a:effectLst/>
                <a:latin typeface="Google Sans"/>
                <a:ea typeface="Times New Roman" panose="02020603050405020304" pitchFamily="18" charset="0"/>
                <a:cs typeface="B Nazanin" panose="00000400000000000000" pitchFamily="2" charset="-78"/>
              </a:rPr>
              <a:t>غیرپیوسته</a:t>
            </a:r>
            <a:r>
              <a:rPr lang="ar-SA" sz="2400" dirty="0">
                <a:solidFill>
                  <a:srgbClr val="1F1F1F"/>
                </a:solidFill>
                <a:effectLst/>
                <a:latin typeface="Google Sans"/>
                <a:ea typeface="Times New Roman" panose="02020603050405020304" pitchFamily="18" charset="0"/>
                <a:cs typeface="B Nazanin" panose="00000400000000000000" pitchFamily="2" charset="-78"/>
              </a:rPr>
              <a:t> باشد. به این معنی که بخش‌های مختلف حافظه به فرآیند اختصاص داده می‌شود و این بخش‌ها الزاما مجاور هم قرار ندارند، به شرطی که فضای خالی در دسترس باشد. این روش مزایای زیر را به همراه دارد:</a:t>
            </a:r>
            <a:endParaRPr lang="en-US" sz="2400" dirty="0">
              <a:solidFill>
                <a:srgbClr val="1F1F1F"/>
              </a:solidFill>
              <a:effectLst/>
              <a:latin typeface="Google Sans"/>
              <a:ea typeface="Times New Roman" panose="02020603050405020304" pitchFamily="18" charset="0"/>
              <a:cs typeface="B Nazanin" panose="00000400000000000000" pitchFamily="2" charset="-78"/>
            </a:endParaRPr>
          </a:p>
          <a:p>
            <a:pPr marL="0" marR="0" algn="r" rtl="1">
              <a:spcBef>
                <a:spcPts val="0"/>
              </a:spcBef>
              <a:spcAft>
                <a:spcPts val="0"/>
              </a:spcAft>
            </a:pP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spcBef>
                <a:spcPts val="0"/>
              </a:spcBef>
              <a:spcAft>
                <a:spcPts val="0"/>
              </a:spcAft>
              <a:buSzPts val="1000"/>
              <a:buFont typeface="Symbol" panose="05050102010706020507" pitchFamily="18" charset="2"/>
              <a:buChar char=""/>
              <a:tabLst>
                <a:tab pos="457200" algn="l"/>
              </a:tabLst>
            </a:pPr>
            <a:r>
              <a:rPr lang="ar-SA" sz="2400" b="1" dirty="0">
                <a:solidFill>
                  <a:srgbClr val="1F1F1F"/>
                </a:solidFill>
                <a:effectLst/>
                <a:latin typeface="Google Sans"/>
                <a:ea typeface="Times New Roman" panose="02020603050405020304" pitchFamily="18" charset="0"/>
                <a:cs typeface="B Nazanin" panose="00000400000000000000" pitchFamily="2" charset="-78"/>
              </a:rPr>
              <a:t>جلوگیری از </a:t>
            </a:r>
            <a:r>
              <a:rPr lang="fa-IR" sz="2400" b="1" dirty="0">
                <a:solidFill>
                  <a:srgbClr val="1F1F1F"/>
                </a:solidFill>
                <a:latin typeface="Google Sans"/>
                <a:ea typeface="Times New Roman" panose="02020603050405020304" pitchFamily="18" charset="0"/>
                <a:cs typeface="B Nazanin" panose="00000400000000000000" pitchFamily="2" charset="-78"/>
              </a:rPr>
              <a:t>پراکندکی خارجی</a:t>
            </a:r>
            <a:r>
              <a:rPr lang="ar-SA" sz="2400" b="1" dirty="0">
                <a:solidFill>
                  <a:srgbClr val="1F1F1F"/>
                </a:solidFill>
                <a:effectLst/>
                <a:latin typeface="Google Sans"/>
                <a:ea typeface="Times New Roman" panose="02020603050405020304" pitchFamily="18" charset="0"/>
                <a:cs typeface="B Nazanin" panose="00000400000000000000" pitchFamily="2" charset="-78"/>
              </a:rPr>
              <a:t> حافظه (</a:t>
            </a:r>
            <a:r>
              <a:rPr lang="en-US" sz="2400" b="1" dirty="0">
                <a:solidFill>
                  <a:srgbClr val="1F1F1F"/>
                </a:solidFill>
                <a:effectLst/>
                <a:latin typeface="Google Sans"/>
                <a:ea typeface="Times New Roman" panose="02020603050405020304" pitchFamily="18" charset="0"/>
                <a:cs typeface="B Nazanin" panose="00000400000000000000" pitchFamily="2" charset="-78"/>
              </a:rPr>
              <a:t>External Fragmentation</a:t>
            </a:r>
            <a:endParaRPr lang="en-US"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spcBef>
                <a:spcPts val="0"/>
              </a:spcBef>
              <a:spcAft>
                <a:spcPts val="0"/>
              </a:spcAft>
              <a:buSzPts val="1000"/>
              <a:buFont typeface="Symbol" panose="05050102010706020507" pitchFamily="18" charset="2"/>
              <a:buChar char=""/>
              <a:tabLst>
                <a:tab pos="457200" algn="l"/>
              </a:tabLst>
            </a:pPr>
            <a:r>
              <a:rPr lang="ar-SA" sz="2400" b="1" dirty="0">
                <a:solidFill>
                  <a:srgbClr val="1F1F1F"/>
                </a:solidFill>
                <a:effectLst/>
                <a:latin typeface="Google Sans"/>
                <a:ea typeface="Times New Roman" panose="02020603050405020304" pitchFamily="18" charset="0"/>
                <a:cs typeface="B Nazanin" panose="00000400000000000000" pitchFamily="2" charset="-78"/>
              </a:rPr>
              <a:t>سازگاری با اندازه‌های مختلف حافظه:</a:t>
            </a:r>
            <a:r>
              <a:rPr lang="ar-SA" sz="2400" dirty="0">
                <a:solidFill>
                  <a:srgbClr val="1F1F1F"/>
                </a:solidFill>
                <a:effectLst/>
                <a:latin typeface="Google Sans"/>
                <a:ea typeface="Times New Roman" panose="02020603050405020304" pitchFamily="18" charset="0"/>
                <a:cs typeface="B Nazanin" panose="00000400000000000000" pitchFamily="2" charset="-78"/>
              </a:rPr>
              <a:t> این روش دیگر با مشکل قطعه‌های حافظه با اندازه‌های نامناسب مواجه نیست و می‌تواند حافظه را به صورت بهینه‌تری مدیریت کند.</a:t>
            </a:r>
            <a:endParaRPr lang="en-US"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p:txBody>
      </p:sp>
    </p:spTree>
    <p:extLst>
      <p:ext uri="{BB962C8B-B14F-4D97-AF65-F5344CB8AC3E}">
        <p14:creationId xmlns:p14="http://schemas.microsoft.com/office/powerpoint/2010/main" val="26776301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a:extLst>
              <a:ext uri="{FF2B5EF4-FFF2-40B4-BE49-F238E27FC236}">
                <a16:creationId xmlns:a16="http://schemas.microsoft.com/office/drawing/2014/main" id="{E725BB56-A638-4160-B622-2B266E8E7972}"/>
              </a:ext>
            </a:extLst>
          </p:cNvPr>
          <p:cNvSpPr>
            <a:spLocks noGrp="1" noChangeArrowheads="1"/>
          </p:cNvSpPr>
          <p:nvPr>
            <p:ph type="title"/>
          </p:nvPr>
        </p:nvSpPr>
        <p:spPr>
          <a:xfrm>
            <a:off x="457200" y="236379"/>
            <a:ext cx="8229600" cy="576263"/>
          </a:xfrm>
        </p:spPr>
        <p:txBody>
          <a:bodyPr/>
          <a:lstStyle/>
          <a:p>
            <a:pPr eaLnBrk="1" hangingPunct="1"/>
            <a:r>
              <a:rPr lang="fa-IR" altLang="en-US" dirty="0">
                <a:latin typeface="Times New Roman" panose="02020603050405020304" pitchFamily="18" charset="0"/>
                <a:cs typeface="B Nazanin" panose="00000400000000000000" pitchFamily="2" charset="-78"/>
              </a:rPr>
              <a:t>مراحل صفحه‌بندی</a:t>
            </a:r>
            <a:endParaRPr lang="en-US" altLang="en-US" dirty="0"/>
          </a:p>
        </p:txBody>
      </p:sp>
      <p:sp>
        <p:nvSpPr>
          <p:cNvPr id="25603" name="Rectangle 1027">
            <a:extLst>
              <a:ext uri="{FF2B5EF4-FFF2-40B4-BE49-F238E27FC236}">
                <a16:creationId xmlns:a16="http://schemas.microsoft.com/office/drawing/2014/main" id="{441B5E44-FE32-44C1-BCFC-248B4940F17D}"/>
              </a:ext>
            </a:extLst>
          </p:cNvPr>
          <p:cNvSpPr>
            <a:spLocks noGrp="1" noChangeArrowheads="1"/>
          </p:cNvSpPr>
          <p:nvPr>
            <p:ph idx="1"/>
          </p:nvPr>
        </p:nvSpPr>
        <p:spPr>
          <a:xfrm>
            <a:off x="136733" y="812642"/>
            <a:ext cx="8736162" cy="5265841"/>
          </a:xfrm>
        </p:spPr>
        <p:txBody>
          <a:bodyPr/>
          <a:lstStyle/>
          <a:p>
            <a:pPr marL="0" marR="0" algn="r" rtl="1">
              <a:lnSpc>
                <a:spcPts val="3000"/>
              </a:lnSpc>
              <a:spcBef>
                <a:spcPts val="0"/>
              </a:spcBef>
              <a:spcAft>
                <a:spcPts val="0"/>
              </a:spcAft>
            </a:pPr>
            <a:r>
              <a:rPr lang="fa-IR" sz="2200" dirty="0">
                <a:solidFill>
                  <a:srgbClr val="1F1F1F"/>
                </a:solidFill>
                <a:effectLst/>
                <a:latin typeface="Google Sans"/>
                <a:ea typeface="Times New Roman" panose="02020603050405020304" pitchFamily="18" charset="0"/>
                <a:cs typeface="B Nazanin" panose="00000400000000000000" pitchFamily="2" charset="-78"/>
              </a:rPr>
              <a:t>۱. </a:t>
            </a:r>
            <a:r>
              <a:rPr lang="ar-SA" sz="2200" b="1" dirty="0">
                <a:solidFill>
                  <a:srgbClr val="1F1F1F"/>
                </a:solidFill>
                <a:effectLst/>
                <a:latin typeface="Google Sans"/>
                <a:ea typeface="Times New Roman" panose="02020603050405020304" pitchFamily="18" charset="0"/>
                <a:cs typeface="B Nazanin" panose="00000400000000000000" pitchFamily="2" charset="-78"/>
              </a:rPr>
              <a:t>تقسیم حافظه اصلی:</a:t>
            </a:r>
            <a:r>
              <a:rPr lang="ar-SA" sz="2200" dirty="0">
                <a:solidFill>
                  <a:srgbClr val="1F1F1F"/>
                </a:solidFill>
                <a:effectLst/>
                <a:latin typeface="Google Sans"/>
                <a:ea typeface="Times New Roman" panose="02020603050405020304" pitchFamily="18" charset="0"/>
                <a:cs typeface="B Nazanin" panose="00000400000000000000" pitchFamily="2" charset="-78"/>
              </a:rPr>
              <a:t> حافظه اصلی به بلوک‌های با اندازه ثابت به نام </a:t>
            </a:r>
            <a:r>
              <a:rPr lang="ar-SA" sz="2200" b="1" dirty="0">
                <a:solidFill>
                  <a:srgbClr val="1F1F1F"/>
                </a:solidFill>
                <a:effectLst/>
                <a:latin typeface="Google Sans"/>
                <a:ea typeface="Times New Roman" panose="02020603050405020304" pitchFamily="18" charset="0"/>
                <a:cs typeface="B Nazanin" panose="00000400000000000000" pitchFamily="2" charset="-78"/>
              </a:rPr>
              <a:t>فریم (</a:t>
            </a:r>
            <a:r>
              <a:rPr lang="en-US" sz="2200" b="1" dirty="0">
                <a:solidFill>
                  <a:srgbClr val="1F1F1F"/>
                </a:solidFill>
                <a:effectLst/>
                <a:latin typeface="Google Sans"/>
                <a:ea typeface="Times New Roman" panose="02020603050405020304" pitchFamily="18" charset="0"/>
                <a:cs typeface="B Nazanin" panose="00000400000000000000" pitchFamily="2" charset="-78"/>
              </a:rPr>
              <a:t>Frame</a:t>
            </a:r>
            <a:r>
              <a:rPr lang="ar-SA" sz="2200" b="1" dirty="0">
                <a:solidFill>
                  <a:srgbClr val="1F1F1F"/>
                </a:solidFill>
                <a:effectLst/>
                <a:latin typeface="Google Sans"/>
                <a:ea typeface="Times New Roman" panose="02020603050405020304" pitchFamily="18" charset="0"/>
                <a:cs typeface="B Nazanin" panose="00000400000000000000" pitchFamily="2" charset="-78"/>
              </a:rPr>
              <a:t>)</a:t>
            </a:r>
            <a:r>
              <a:rPr lang="ar-SA" sz="2200" dirty="0">
                <a:solidFill>
                  <a:srgbClr val="1F1F1F"/>
                </a:solidFill>
                <a:effectLst/>
                <a:latin typeface="Google Sans"/>
                <a:ea typeface="Times New Roman" panose="02020603050405020304" pitchFamily="18" charset="0"/>
                <a:cs typeface="B Nazanin" panose="00000400000000000000" pitchFamily="2" charset="-78"/>
              </a:rPr>
              <a:t> تقسیم می‌شود. اندازه فریم معمولا توان</a:t>
            </a:r>
            <a:r>
              <a:rPr lang="fa-IR" sz="2200" dirty="0">
                <a:solidFill>
                  <a:srgbClr val="1F1F1F"/>
                </a:solidFill>
                <a:effectLst/>
                <a:latin typeface="Google Sans"/>
                <a:ea typeface="Times New Roman" panose="02020603050405020304" pitchFamily="18" charset="0"/>
                <a:cs typeface="B Nazanin" panose="00000400000000000000" pitchFamily="2" charset="-78"/>
              </a:rPr>
              <a:t>ی</a:t>
            </a:r>
            <a:r>
              <a:rPr lang="ar-SA" sz="2200" dirty="0">
                <a:solidFill>
                  <a:srgbClr val="1F1F1F"/>
                </a:solidFill>
                <a:effectLst/>
                <a:latin typeface="Google Sans"/>
                <a:ea typeface="Times New Roman" panose="02020603050405020304" pitchFamily="18" charset="0"/>
                <a:cs typeface="B Nazanin" panose="00000400000000000000" pitchFamily="2" charset="-78"/>
              </a:rPr>
              <a:t> از </a:t>
            </a:r>
            <a:r>
              <a:rPr lang="fa-IR" sz="2200" dirty="0">
                <a:solidFill>
                  <a:srgbClr val="1F1F1F"/>
                </a:solidFill>
                <a:effectLst/>
                <a:latin typeface="Google Sans"/>
                <a:ea typeface="Times New Roman" panose="02020603050405020304" pitchFamily="18" charset="0"/>
                <a:cs typeface="B Nazanin" panose="00000400000000000000" pitchFamily="2" charset="-78"/>
              </a:rPr>
              <a:t>۲</a:t>
            </a:r>
            <a:r>
              <a:rPr lang="ar-SA" sz="2200" dirty="0">
                <a:solidFill>
                  <a:srgbClr val="1F1F1F"/>
                </a:solidFill>
                <a:effectLst/>
                <a:latin typeface="Google Sans"/>
                <a:ea typeface="Times New Roman" panose="02020603050405020304" pitchFamily="18" charset="0"/>
                <a:cs typeface="B Nazanin" panose="00000400000000000000" pitchFamily="2" charset="-78"/>
              </a:rPr>
              <a:t> است و مقداری بین </a:t>
            </a:r>
            <a:r>
              <a:rPr lang="fa-IR" sz="2200" dirty="0">
                <a:solidFill>
                  <a:srgbClr val="1F1F1F"/>
                </a:solidFill>
                <a:effectLst/>
                <a:latin typeface="Google Sans"/>
                <a:ea typeface="Times New Roman" panose="02020603050405020304" pitchFamily="18" charset="0"/>
                <a:cs typeface="B Nazanin" panose="00000400000000000000" pitchFamily="2" charset="-78"/>
              </a:rPr>
              <a:t>۵۱۲</a:t>
            </a:r>
            <a:r>
              <a:rPr lang="ar-SA" sz="2200" dirty="0">
                <a:solidFill>
                  <a:srgbClr val="1F1F1F"/>
                </a:solidFill>
                <a:effectLst/>
                <a:latin typeface="Google Sans"/>
                <a:ea typeface="Times New Roman" panose="02020603050405020304" pitchFamily="18" charset="0"/>
                <a:cs typeface="B Nazanin" panose="00000400000000000000" pitchFamily="2" charset="-78"/>
              </a:rPr>
              <a:t> بایت تا </a:t>
            </a:r>
            <a:r>
              <a:rPr lang="fa-IR" sz="2200" dirty="0">
                <a:solidFill>
                  <a:srgbClr val="1F1F1F"/>
                </a:solidFill>
                <a:effectLst/>
                <a:latin typeface="Google Sans"/>
                <a:ea typeface="Times New Roman" panose="02020603050405020304" pitchFamily="18" charset="0"/>
                <a:cs typeface="B Nazanin" panose="00000400000000000000" pitchFamily="2" charset="-78"/>
              </a:rPr>
              <a:t>۱۶</a:t>
            </a:r>
            <a:r>
              <a:rPr lang="ar-SA" sz="2200" dirty="0">
                <a:solidFill>
                  <a:srgbClr val="1F1F1F"/>
                </a:solidFill>
                <a:effectLst/>
                <a:latin typeface="Google Sans"/>
                <a:ea typeface="Times New Roman" panose="02020603050405020304" pitchFamily="18" charset="0"/>
                <a:cs typeface="B Nazanin" panose="00000400000000000000" pitchFamily="2" charset="-78"/>
              </a:rPr>
              <a:t> مگابایت دارد.</a:t>
            </a:r>
            <a:endParaRPr lang="en-US" sz="2200" dirty="0">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ts val="3000"/>
              </a:lnSpc>
              <a:spcBef>
                <a:spcPts val="0"/>
              </a:spcBef>
              <a:spcAft>
                <a:spcPts val="0"/>
              </a:spcAft>
            </a:pPr>
            <a:r>
              <a:rPr lang="fa-IR" sz="2200" dirty="0">
                <a:solidFill>
                  <a:srgbClr val="1F1F1F"/>
                </a:solidFill>
                <a:effectLst/>
                <a:latin typeface="Google Sans"/>
                <a:ea typeface="Times New Roman" panose="02020603050405020304" pitchFamily="18" charset="0"/>
                <a:cs typeface="B Nazanin" panose="00000400000000000000" pitchFamily="2" charset="-78"/>
              </a:rPr>
              <a:t>۲. </a:t>
            </a:r>
            <a:r>
              <a:rPr lang="ar-SA" sz="2200" b="1" dirty="0">
                <a:solidFill>
                  <a:srgbClr val="1F1F1F"/>
                </a:solidFill>
                <a:effectLst/>
                <a:latin typeface="Google Sans"/>
                <a:ea typeface="Times New Roman" panose="02020603050405020304" pitchFamily="18" charset="0"/>
                <a:cs typeface="B Nazanin" panose="00000400000000000000" pitchFamily="2" charset="-78"/>
              </a:rPr>
              <a:t>تقسیم حافظه منطقی:</a:t>
            </a:r>
            <a:r>
              <a:rPr lang="ar-SA" sz="2200" dirty="0">
                <a:solidFill>
                  <a:srgbClr val="1F1F1F"/>
                </a:solidFill>
                <a:effectLst/>
                <a:latin typeface="Google Sans"/>
                <a:ea typeface="Times New Roman" panose="02020603050405020304" pitchFamily="18" charset="0"/>
                <a:cs typeface="B Nazanin" panose="00000400000000000000" pitchFamily="2" charset="-78"/>
              </a:rPr>
              <a:t> حافظه منطقی فرآیند نیز به بلوک‌های با اندازه مشابه به نام </a:t>
            </a:r>
            <a:r>
              <a:rPr lang="ar-SA" sz="2200" b="1" dirty="0">
                <a:solidFill>
                  <a:srgbClr val="1F1F1F"/>
                </a:solidFill>
                <a:effectLst/>
                <a:latin typeface="Google Sans"/>
                <a:ea typeface="Times New Roman" panose="02020603050405020304" pitchFamily="18" charset="0"/>
                <a:cs typeface="B Nazanin" panose="00000400000000000000" pitchFamily="2" charset="-78"/>
              </a:rPr>
              <a:t>صفحه (</a:t>
            </a:r>
            <a:r>
              <a:rPr lang="en-US" sz="2200" b="1" dirty="0">
                <a:solidFill>
                  <a:srgbClr val="1F1F1F"/>
                </a:solidFill>
                <a:effectLst/>
                <a:latin typeface="Google Sans"/>
                <a:ea typeface="Times New Roman" panose="02020603050405020304" pitchFamily="18" charset="0"/>
                <a:cs typeface="B Nazanin" panose="00000400000000000000" pitchFamily="2" charset="-78"/>
              </a:rPr>
              <a:t>Page</a:t>
            </a:r>
            <a:r>
              <a:rPr lang="ar-SA" sz="2200" b="1" dirty="0">
                <a:solidFill>
                  <a:srgbClr val="1F1F1F"/>
                </a:solidFill>
                <a:effectLst/>
                <a:latin typeface="Google Sans"/>
                <a:ea typeface="Times New Roman" panose="02020603050405020304" pitchFamily="18" charset="0"/>
                <a:cs typeface="B Nazanin" panose="00000400000000000000" pitchFamily="2" charset="-78"/>
              </a:rPr>
              <a:t>)</a:t>
            </a:r>
            <a:r>
              <a:rPr lang="ar-SA" sz="2200" dirty="0">
                <a:solidFill>
                  <a:srgbClr val="1F1F1F"/>
                </a:solidFill>
                <a:effectLst/>
                <a:latin typeface="Google Sans"/>
                <a:ea typeface="Times New Roman" panose="02020603050405020304" pitchFamily="18" charset="0"/>
                <a:cs typeface="B Nazanin" panose="00000400000000000000" pitchFamily="2" charset="-78"/>
              </a:rPr>
              <a:t> تقسیم می‌شود.</a:t>
            </a:r>
            <a:endParaRPr lang="en-US" sz="2200" dirty="0">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ts val="3000"/>
              </a:lnSpc>
              <a:spcBef>
                <a:spcPts val="0"/>
              </a:spcBef>
              <a:spcAft>
                <a:spcPts val="0"/>
              </a:spcAft>
            </a:pPr>
            <a:r>
              <a:rPr lang="fa-IR" sz="2200" dirty="0">
                <a:solidFill>
                  <a:srgbClr val="1F1F1F"/>
                </a:solidFill>
                <a:effectLst/>
                <a:latin typeface="Google Sans"/>
                <a:ea typeface="Times New Roman" panose="02020603050405020304" pitchFamily="18" charset="0"/>
                <a:cs typeface="B Nazanin" panose="00000400000000000000" pitchFamily="2" charset="-78"/>
              </a:rPr>
              <a:t>۳. </a:t>
            </a:r>
            <a:r>
              <a:rPr lang="ar-SA" sz="2200" b="1" dirty="0">
                <a:solidFill>
                  <a:srgbClr val="1F1F1F"/>
                </a:solidFill>
                <a:effectLst/>
                <a:latin typeface="Google Sans"/>
                <a:ea typeface="Times New Roman" panose="02020603050405020304" pitchFamily="18" charset="0"/>
                <a:cs typeface="B Nazanin" panose="00000400000000000000" pitchFamily="2" charset="-78"/>
              </a:rPr>
              <a:t>ردیابی فریم‌های خالی:</a:t>
            </a:r>
            <a:r>
              <a:rPr lang="ar-SA" sz="2200" dirty="0">
                <a:solidFill>
                  <a:srgbClr val="1F1F1F"/>
                </a:solidFill>
                <a:effectLst/>
                <a:latin typeface="Google Sans"/>
                <a:ea typeface="Times New Roman" panose="02020603050405020304" pitchFamily="18" charset="0"/>
                <a:cs typeface="B Nazanin" panose="00000400000000000000" pitchFamily="2" charset="-78"/>
              </a:rPr>
              <a:t> سیستم‌عامل لیستی از تمام فریم‌های خالی در حافظه را نگهداری می‌کند.</a:t>
            </a:r>
            <a:endParaRPr lang="en-US" sz="2200" dirty="0">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ts val="3000"/>
              </a:lnSpc>
              <a:spcBef>
                <a:spcPts val="0"/>
              </a:spcBef>
              <a:spcAft>
                <a:spcPts val="0"/>
              </a:spcAft>
            </a:pPr>
            <a:r>
              <a:rPr lang="fa-IR" sz="2200" dirty="0">
                <a:solidFill>
                  <a:srgbClr val="1F1F1F"/>
                </a:solidFill>
                <a:effectLst/>
                <a:latin typeface="Google Sans"/>
                <a:ea typeface="Times New Roman" panose="02020603050405020304" pitchFamily="18" charset="0"/>
                <a:cs typeface="B Nazanin" panose="00000400000000000000" pitchFamily="2" charset="-78"/>
              </a:rPr>
              <a:t>۴. </a:t>
            </a:r>
            <a:r>
              <a:rPr lang="ar-SA" sz="2200" b="1" dirty="0">
                <a:solidFill>
                  <a:srgbClr val="1F1F1F"/>
                </a:solidFill>
                <a:effectLst/>
                <a:latin typeface="Google Sans"/>
                <a:ea typeface="Times New Roman" panose="02020603050405020304" pitchFamily="18" charset="0"/>
                <a:cs typeface="B Nazanin" panose="00000400000000000000" pitchFamily="2" charset="-78"/>
              </a:rPr>
              <a:t>اجرای برنامه:</a:t>
            </a:r>
            <a:r>
              <a:rPr lang="ar-SA" sz="2200" dirty="0">
                <a:solidFill>
                  <a:srgbClr val="1F1F1F"/>
                </a:solidFill>
                <a:effectLst/>
                <a:latin typeface="Google Sans"/>
                <a:ea typeface="Times New Roman" panose="02020603050405020304" pitchFamily="18" charset="0"/>
                <a:cs typeface="B Nazanin" panose="00000400000000000000" pitchFamily="2" charset="-78"/>
              </a:rPr>
              <a:t> برای اجرای یک برنامه با اندازه </a:t>
            </a:r>
            <a:r>
              <a:rPr lang="en-US" sz="2200" dirty="0">
                <a:solidFill>
                  <a:srgbClr val="1F1F1F"/>
                </a:solidFill>
                <a:effectLst/>
                <a:latin typeface="Google Sans"/>
                <a:ea typeface="Times New Roman" panose="02020603050405020304" pitchFamily="18" charset="0"/>
                <a:cs typeface="B Nazanin" panose="00000400000000000000" pitchFamily="2" charset="-78"/>
              </a:rPr>
              <a:t>N</a:t>
            </a:r>
            <a:r>
              <a:rPr lang="ar-SA" sz="2200" dirty="0">
                <a:solidFill>
                  <a:srgbClr val="1F1F1F"/>
                </a:solidFill>
                <a:effectLst/>
                <a:latin typeface="Google Sans"/>
                <a:ea typeface="Times New Roman" panose="02020603050405020304" pitchFamily="18" charset="0"/>
                <a:cs typeface="B Nazanin" panose="00000400000000000000" pitchFamily="2" charset="-78"/>
              </a:rPr>
              <a:t> صفحه، سیستم‌عامل باید </a:t>
            </a:r>
            <a:r>
              <a:rPr lang="en-US" sz="2200" dirty="0">
                <a:solidFill>
                  <a:srgbClr val="1F1F1F"/>
                </a:solidFill>
                <a:effectLst/>
                <a:latin typeface="Google Sans"/>
                <a:ea typeface="Times New Roman" panose="02020603050405020304" pitchFamily="18" charset="0"/>
                <a:cs typeface="B Nazanin" panose="00000400000000000000" pitchFamily="2" charset="-78"/>
              </a:rPr>
              <a:t>N</a:t>
            </a:r>
            <a:r>
              <a:rPr lang="ar-SA" sz="2200" dirty="0">
                <a:solidFill>
                  <a:srgbClr val="1F1F1F"/>
                </a:solidFill>
                <a:effectLst/>
                <a:latin typeface="Google Sans"/>
                <a:ea typeface="Times New Roman" panose="02020603050405020304" pitchFamily="18" charset="0"/>
                <a:cs typeface="B Nazanin" panose="00000400000000000000" pitchFamily="2" charset="-78"/>
              </a:rPr>
              <a:t> فریم خالی پیدا کند و برنامه را در آن فریم‌ها بارگذاری نماید.</a:t>
            </a:r>
            <a:endParaRPr lang="en-US" sz="2200" dirty="0">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ts val="3000"/>
              </a:lnSpc>
              <a:spcBef>
                <a:spcPts val="0"/>
              </a:spcBef>
              <a:spcAft>
                <a:spcPts val="0"/>
              </a:spcAft>
            </a:pPr>
            <a:r>
              <a:rPr lang="fa-IR" sz="2200" dirty="0">
                <a:solidFill>
                  <a:srgbClr val="1F1F1F"/>
                </a:solidFill>
                <a:effectLst/>
                <a:latin typeface="Google Sans"/>
                <a:ea typeface="Times New Roman" panose="02020603050405020304" pitchFamily="18" charset="0"/>
                <a:cs typeface="B Nazanin" panose="00000400000000000000" pitchFamily="2" charset="-78"/>
              </a:rPr>
              <a:t>۵. </a:t>
            </a:r>
            <a:r>
              <a:rPr lang="ar-SA" sz="2200" b="1" dirty="0">
                <a:solidFill>
                  <a:srgbClr val="1F1F1F"/>
                </a:solidFill>
                <a:effectLst/>
                <a:latin typeface="Google Sans"/>
                <a:ea typeface="Times New Roman" panose="02020603050405020304" pitchFamily="18" charset="0"/>
                <a:cs typeface="B Nazanin" panose="00000400000000000000" pitchFamily="2" charset="-78"/>
              </a:rPr>
              <a:t>جدول صفحه‌بندی:</a:t>
            </a:r>
            <a:r>
              <a:rPr lang="ar-SA" sz="2200" dirty="0">
                <a:solidFill>
                  <a:srgbClr val="1F1F1F"/>
                </a:solidFill>
                <a:effectLst/>
                <a:latin typeface="Google Sans"/>
                <a:ea typeface="Times New Roman" panose="02020603050405020304" pitchFamily="18" charset="0"/>
                <a:cs typeface="B Nazanin" panose="00000400000000000000" pitchFamily="2" charset="-78"/>
              </a:rPr>
              <a:t> برای ترجمه آدرس‌های منطقی برنامه به آدرس‌های فیزیکی حافظه، از یک جدول صفحه‌بندی (</a:t>
            </a:r>
            <a:r>
              <a:rPr lang="en-US" sz="2200" dirty="0">
                <a:solidFill>
                  <a:srgbClr val="1F1F1F"/>
                </a:solidFill>
                <a:effectLst/>
                <a:latin typeface="Google Sans"/>
                <a:ea typeface="Times New Roman" panose="02020603050405020304" pitchFamily="18" charset="0"/>
                <a:cs typeface="B Nazanin" panose="00000400000000000000" pitchFamily="2" charset="-78"/>
              </a:rPr>
              <a:t>Page Table</a:t>
            </a:r>
            <a:r>
              <a:rPr lang="ar-SA" sz="2200" dirty="0">
                <a:solidFill>
                  <a:srgbClr val="1F1F1F"/>
                </a:solidFill>
                <a:effectLst/>
                <a:latin typeface="Google Sans"/>
                <a:ea typeface="Times New Roman" panose="02020603050405020304" pitchFamily="18" charset="0"/>
                <a:cs typeface="B Nazanin" panose="00000400000000000000" pitchFamily="2" charset="-78"/>
              </a:rPr>
              <a:t>) استفاده می‌شود.</a:t>
            </a:r>
            <a:endParaRPr lang="en-US" sz="2200" dirty="0">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ts val="3000"/>
              </a:lnSpc>
              <a:spcBef>
                <a:spcPts val="0"/>
              </a:spcBef>
              <a:spcAft>
                <a:spcPts val="0"/>
              </a:spcAft>
            </a:pPr>
            <a:r>
              <a:rPr lang="fa-IR" sz="2200" dirty="0">
                <a:solidFill>
                  <a:srgbClr val="1F1F1F"/>
                </a:solidFill>
                <a:effectLst/>
                <a:latin typeface="Google Sans"/>
                <a:ea typeface="Times New Roman" panose="02020603050405020304" pitchFamily="18" charset="0"/>
                <a:cs typeface="B Nazanin" panose="00000400000000000000" pitchFamily="2" charset="-78"/>
              </a:rPr>
              <a:t>۶. </a:t>
            </a:r>
            <a:r>
              <a:rPr lang="ar-SA" sz="2200" b="1" dirty="0">
                <a:solidFill>
                  <a:srgbClr val="1F1F1F"/>
                </a:solidFill>
                <a:effectLst/>
                <a:latin typeface="Google Sans"/>
                <a:ea typeface="Times New Roman" panose="02020603050405020304" pitchFamily="18" charset="0"/>
                <a:cs typeface="B Nazanin" panose="00000400000000000000" pitchFamily="2" charset="-78"/>
              </a:rPr>
              <a:t>حافظه جانبی (</a:t>
            </a:r>
            <a:r>
              <a:rPr lang="en-US" sz="2200" b="1" dirty="0">
                <a:solidFill>
                  <a:srgbClr val="1F1F1F"/>
                </a:solidFill>
                <a:effectLst/>
                <a:latin typeface="Google Sans"/>
                <a:ea typeface="Times New Roman" panose="02020603050405020304" pitchFamily="18" charset="0"/>
                <a:cs typeface="B Nazanin" panose="00000400000000000000" pitchFamily="2" charset="-78"/>
              </a:rPr>
              <a:t>Backing Store</a:t>
            </a:r>
            <a:r>
              <a:rPr lang="ar-SA" sz="2200" b="1" dirty="0">
                <a:solidFill>
                  <a:srgbClr val="1F1F1F"/>
                </a:solidFill>
                <a:effectLst/>
                <a:latin typeface="Google Sans"/>
                <a:ea typeface="Times New Roman" panose="02020603050405020304" pitchFamily="18" charset="0"/>
                <a:cs typeface="B Nazanin" panose="00000400000000000000" pitchFamily="2" charset="-78"/>
              </a:rPr>
              <a:t>):</a:t>
            </a:r>
            <a:r>
              <a:rPr lang="ar-SA" sz="2200" dirty="0">
                <a:solidFill>
                  <a:srgbClr val="1F1F1F"/>
                </a:solidFill>
                <a:effectLst/>
                <a:latin typeface="Google Sans"/>
                <a:ea typeface="Times New Roman" panose="02020603050405020304" pitchFamily="18" charset="0"/>
                <a:cs typeface="B Nazanin" panose="00000400000000000000" pitchFamily="2" charset="-78"/>
              </a:rPr>
              <a:t> حافظه جانبی نیز به صفحاتی با اندازه مشابه تقسیم می‌شود. این صفحات محل ذخیره شدن برنامه‌هایی هستند که در حال حاضر در حال اجرا نیستند.</a:t>
            </a:r>
            <a:endParaRPr lang="en-US" sz="2200" dirty="0">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ts val="3000"/>
              </a:lnSpc>
              <a:spcBef>
                <a:spcPts val="0"/>
              </a:spcBef>
              <a:spcAft>
                <a:spcPts val="0"/>
              </a:spcAft>
            </a:pPr>
            <a:r>
              <a:rPr lang="fa-IR" sz="2200" dirty="0">
                <a:solidFill>
                  <a:srgbClr val="1F1F1F"/>
                </a:solidFill>
                <a:latin typeface="Google Sans"/>
                <a:cs typeface="B Nazanin" panose="00000400000000000000" pitchFamily="2" charset="-78"/>
              </a:rPr>
              <a:t>۷. </a:t>
            </a:r>
            <a:r>
              <a:rPr lang="fa-IR" sz="2200" b="1" dirty="0">
                <a:solidFill>
                  <a:srgbClr val="1F1F1F"/>
                </a:solidFill>
                <a:latin typeface="Google Sans"/>
                <a:cs typeface="B Nazanin" panose="00000400000000000000" pitchFamily="2" charset="-78"/>
              </a:rPr>
              <a:t>پراکندگی داخلی</a:t>
            </a:r>
            <a:r>
              <a:rPr lang="fa-IR" sz="2200" dirty="0">
                <a:solidFill>
                  <a:srgbClr val="1F1F1F"/>
                </a:solidFill>
                <a:latin typeface="Google Sans"/>
                <a:cs typeface="B Nazanin" panose="00000400000000000000" pitchFamily="2" charset="-78"/>
              </a:rPr>
              <a:t>: با اینکه صفحه‌بندی خیلی مفید است، ولی گاهی فضای داخل یک فریم به‌طور کامل استفاده نمی‌شود و این باعث هدر رفتن مقداری از حافظه می‌شود. به این مشکل "پراکندگی داخلی" می‌گویند.</a:t>
            </a:r>
            <a:endParaRPr lang="en-US" sz="2200" dirty="0">
              <a:solidFill>
                <a:srgbClr val="1F1F1F"/>
              </a:solidFill>
              <a:latin typeface="Google Sans"/>
              <a:cs typeface="B Nazanin" panose="00000400000000000000" pitchFamily="2" charset="-78"/>
            </a:endParaRPr>
          </a:p>
        </p:txBody>
      </p:sp>
    </p:spTree>
    <p:extLst>
      <p:ext uri="{BB962C8B-B14F-4D97-AF65-F5344CB8AC3E}">
        <p14:creationId xmlns:p14="http://schemas.microsoft.com/office/powerpoint/2010/main" val="12007752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26">
            <a:extLst>
              <a:ext uri="{FF2B5EF4-FFF2-40B4-BE49-F238E27FC236}">
                <a16:creationId xmlns:a16="http://schemas.microsoft.com/office/drawing/2014/main" id="{576DB622-C30C-459E-B80D-9EEFF320C26D}"/>
              </a:ext>
            </a:extLst>
          </p:cNvPr>
          <p:cNvSpPr>
            <a:spLocks noGrp="1" noChangeArrowheads="1"/>
          </p:cNvSpPr>
          <p:nvPr>
            <p:ph type="title"/>
          </p:nvPr>
        </p:nvSpPr>
        <p:spPr>
          <a:xfrm>
            <a:off x="846138" y="236379"/>
            <a:ext cx="7840662" cy="576263"/>
          </a:xfrm>
        </p:spPr>
        <p:txBody>
          <a:bodyPr/>
          <a:lstStyle/>
          <a:p>
            <a:pPr eaLnBrk="1" hangingPunct="1"/>
            <a:r>
              <a:rPr lang="fa-IR" altLang="en-US" dirty="0">
                <a:latin typeface="Times New Roman" panose="02020603050405020304" pitchFamily="18" charset="0"/>
                <a:cs typeface="B Nazanin" panose="00000400000000000000" pitchFamily="2" charset="-78"/>
              </a:rPr>
              <a:t>الگوی ترجمه آدرس</a:t>
            </a:r>
            <a:endParaRPr lang="en-US" altLang="en-US" dirty="0"/>
          </a:p>
        </p:txBody>
      </p:sp>
      <mc:AlternateContent xmlns:mc="http://schemas.openxmlformats.org/markup-compatibility/2006" xmlns:a14="http://schemas.microsoft.com/office/drawing/2010/main">
        <mc:Choice Requires="a14">
          <p:sp>
            <p:nvSpPr>
              <p:cNvPr id="33795" name="Rectangle 1027">
                <a:extLst>
                  <a:ext uri="{FF2B5EF4-FFF2-40B4-BE49-F238E27FC236}">
                    <a16:creationId xmlns:a16="http://schemas.microsoft.com/office/drawing/2014/main" id="{42BA3A11-5083-4DE6-80B0-272DB2FBA097}"/>
                  </a:ext>
                </a:extLst>
              </p:cNvPr>
              <p:cNvSpPr>
                <a:spLocks noGrp="1" noChangeArrowheads="1"/>
              </p:cNvSpPr>
              <p:nvPr>
                <p:ph idx="1"/>
              </p:nvPr>
            </p:nvSpPr>
            <p:spPr>
              <a:xfrm>
                <a:off x="179462" y="1125538"/>
                <a:ext cx="8688841" cy="4483100"/>
              </a:xfrm>
            </p:spPr>
            <p:txBody>
              <a:bodyPr/>
              <a:lstStyle/>
              <a:p>
                <a:pPr marL="0" marR="0" algn="r" rtl="1">
                  <a:lnSpc>
                    <a:spcPct val="107000"/>
                  </a:lnSpc>
                  <a:spcBef>
                    <a:spcPts val="0"/>
                  </a:spcBef>
                  <a:spcAft>
                    <a:spcPts val="800"/>
                  </a:spcAf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وقتی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پردازنده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یک آدرس منطقی تولید می‌کند، این آدرس به دو بخش تقسیم می‌شود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lvl="0" algn="r" rtl="1">
                  <a:lnSpc>
                    <a:spcPct val="107000"/>
                  </a:lnSpc>
                  <a:spcBef>
                    <a:spcPts val="0"/>
                  </a:spcBef>
                  <a:spcAft>
                    <a:spcPts val="800"/>
                  </a:spcAft>
                  <a:buFont typeface="Wingdings" panose="05000000000000000000" pitchFamily="2"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شماره صفحه</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b="1" dirty="0">
                    <a:latin typeface="Times New Roman" panose="02020603050405020304" pitchFamily="18" charset="0"/>
                    <a:ea typeface="Times New Roman" panose="02020603050405020304" pitchFamily="18" charset="0"/>
                    <a:cs typeface="B Nazanin" panose="00000400000000000000" pitchFamily="2" charset="-78"/>
                  </a:rPr>
                  <a:t>: (</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p)</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به عنوان یک شاخص در جدول صفحه عمل می‌کند که حاوی آدرس پایه هر صفحه در حافظه فیزیکی است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lvl="0" algn="r" rtl="1">
                  <a:lnSpc>
                    <a:spcPct val="107000"/>
                  </a:lnSpc>
                  <a:spcBef>
                    <a:spcPts val="0"/>
                  </a:spcBef>
                  <a:spcAft>
                    <a:spcPts val="800"/>
                  </a:spcAft>
                  <a:buFont typeface="Wingdings" panose="05000000000000000000" pitchFamily="2" charset="2"/>
                  <a:buChar char=""/>
                  <a:tabLst>
                    <a:tab pos="457200" algn="l"/>
                  </a:tabLst>
                </a:pPr>
                <a:r>
                  <a:rPr lang="fa-IR" sz="2400" b="1" dirty="0">
                    <a:effectLst/>
                    <a:latin typeface="Times New Roman" panose="02020603050405020304" pitchFamily="18" charset="0"/>
                    <a:ea typeface="Times New Roman" panose="02020603050405020304" pitchFamily="18" charset="0"/>
                    <a:cs typeface="B Nazanin" panose="00000400000000000000" pitchFamily="2" charset="-78"/>
                  </a:rPr>
                  <a:t>محدوده صفحه یا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آفست</a:t>
                </a:r>
                <a:r>
                  <a:rPr lang="fa-IR" sz="2400" b="1" dirty="0">
                    <a:effectLst/>
                    <a:latin typeface="Times New Roman" panose="02020603050405020304" pitchFamily="18" charset="0"/>
                    <a:ea typeface="Times New Roman" panose="02020603050405020304" pitchFamily="18" charset="0"/>
                    <a:cs typeface="B Nazanin" panose="00000400000000000000" pitchFamily="2" charset="-78"/>
                  </a:rPr>
                  <a:t> (فاصله از مبدا)</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 صفحه</a:t>
                </a:r>
                <a:r>
                  <a:rPr lang="fa-IR" sz="2400" b="1"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b="1" dirty="0">
                    <a:latin typeface="Times New Roman" panose="02020603050405020304" pitchFamily="18" charset="0"/>
                    <a:ea typeface="Times New Roman" panose="02020603050405020304" pitchFamily="18" charset="0"/>
                    <a:cs typeface="B Nazanin" panose="00000400000000000000" pitchFamily="2" charset="-78"/>
                  </a:rPr>
                  <a:t>: (</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d)</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این مقدار با آدرس پایه ترکیب می‌شود تا آدرس نهایی حافظه فیزیکی را که به واحد حافظه ارسال می‌گردد، تعیین 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p>
              <a:p>
                <a:pPr lvl="0" algn="r" rtl="1">
                  <a:lnSpc>
                    <a:spcPct val="107000"/>
                  </a:lnSpc>
                  <a:spcBef>
                    <a:spcPts val="0"/>
                  </a:spcBef>
                  <a:spcAft>
                    <a:spcPts val="800"/>
                  </a:spcAft>
                  <a:buFont typeface="Wingdings" panose="05000000000000000000" pitchFamily="2"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فرض کنید فضای آدرس منطقی </a:t>
                </a:r>
                <a14:m>
                  <m:oMath xmlns:m="http://schemas.openxmlformats.org/officeDocument/2006/math">
                    <m:sSup>
                      <m:sSupPr>
                        <m:ctrlPr>
                          <a:rPr lang="en-US" sz="2400" i="1" dirty="0" smtClean="0">
                            <a:effectLst/>
                            <a:latin typeface="Cambria Math" panose="02040503050406030204" pitchFamily="18" charset="0"/>
                            <a:ea typeface="Calibri" panose="020F0502020204030204" pitchFamily="34" charset="0"/>
                            <a:cs typeface="B Nazanin" panose="00000400000000000000" pitchFamily="2" charset="-78"/>
                          </a:rPr>
                        </m:ctrlPr>
                      </m:sSupPr>
                      <m:e>
                        <m:r>
                          <a:rPr lang="fa-IR" sz="2400" b="0" i="1" dirty="0" smtClean="0">
                            <a:effectLst/>
                            <a:latin typeface="Cambria Math" panose="02040503050406030204" pitchFamily="18" charset="0"/>
                            <a:ea typeface="Calibri" panose="020F0502020204030204" pitchFamily="34" charset="0"/>
                            <a:cs typeface="B Nazanin" panose="00000400000000000000" pitchFamily="2" charset="-78"/>
                          </a:rPr>
                          <m:t>۲</m:t>
                        </m:r>
                      </m:e>
                      <m:sup>
                        <m:r>
                          <a:rPr lang="en-US" sz="2400" i="1" dirty="0" smtClean="0">
                            <a:effectLst/>
                            <a:latin typeface="Cambria Math" panose="02040503050406030204" pitchFamily="18" charset="0"/>
                            <a:ea typeface="Calibri" panose="020F0502020204030204" pitchFamily="34" charset="0"/>
                            <a:cs typeface="B Nazanin" panose="00000400000000000000" pitchFamily="2" charset="-78"/>
                          </a:rPr>
                          <m:t>𝑛</m:t>
                        </m:r>
                      </m:sup>
                    </m:sSup>
                  </m:oMath>
                </a14:m>
                <a:r>
                  <a:rPr lang="ar-SA" sz="2400" dirty="0">
                    <a:effectLst/>
                    <a:latin typeface="Calibri" panose="020F0502020204030204" pitchFamily="34" charset="0"/>
                    <a:ea typeface="Calibri" panose="020F0502020204030204" pitchFamily="34" charset="0"/>
                    <a:cs typeface="B Nazanin" panose="00000400000000000000" pitchFamily="2" charset="-78"/>
                  </a:rPr>
                  <a:t>بایت و اندازه صفحه </a:t>
                </a:r>
                <a14:m>
                  <m:oMath xmlns:m="http://schemas.openxmlformats.org/officeDocument/2006/math">
                    <m:sSup>
                      <m:sSupPr>
                        <m:ctrlPr>
                          <a:rPr lang="en-US" sz="2400" i="1" dirty="0">
                            <a:latin typeface="Cambria Math" panose="02040503050406030204" pitchFamily="18" charset="0"/>
                            <a:ea typeface="Calibri" panose="020F0502020204030204" pitchFamily="34" charset="0"/>
                            <a:cs typeface="B Nazanin" panose="00000400000000000000" pitchFamily="2" charset="-78"/>
                          </a:rPr>
                        </m:ctrlPr>
                      </m:sSupPr>
                      <m:e>
                        <m:r>
                          <a:rPr lang="fa-IR" sz="2400" i="1" dirty="0">
                            <a:latin typeface="Cambria Math" panose="02040503050406030204" pitchFamily="18" charset="0"/>
                            <a:ea typeface="Calibri" panose="020F0502020204030204" pitchFamily="34" charset="0"/>
                            <a:cs typeface="B Nazanin" panose="00000400000000000000" pitchFamily="2" charset="-78"/>
                          </a:rPr>
                          <m:t>۲</m:t>
                        </m:r>
                      </m:e>
                      <m:sup>
                        <m:r>
                          <a:rPr lang="en-US" sz="2400" b="0" i="1" dirty="0" smtClean="0">
                            <a:latin typeface="Cambria Math" panose="02040503050406030204" pitchFamily="18" charset="0"/>
                            <a:ea typeface="Calibri" panose="020F0502020204030204" pitchFamily="34" charset="0"/>
                            <a:cs typeface="B Nazanin" panose="00000400000000000000" pitchFamily="2" charset="-78"/>
                          </a:rPr>
                          <m:t>𝑚</m:t>
                        </m:r>
                      </m:sup>
                    </m:sSup>
                  </m:oMath>
                </a14:m>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بایت باشد </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33795" name="Rectangle 1027">
                <a:extLst>
                  <a:ext uri="{FF2B5EF4-FFF2-40B4-BE49-F238E27FC236}">
                    <a16:creationId xmlns:a16="http://schemas.microsoft.com/office/drawing/2014/main" id="{42BA3A11-5083-4DE6-80B0-272DB2FBA097}"/>
                  </a:ext>
                </a:extLst>
              </p:cNvPr>
              <p:cNvSpPr>
                <a:spLocks noGrp="1" noRot="1" noChangeAspect="1" noMove="1" noResize="1" noEditPoints="1" noAdjustHandles="1" noChangeArrowheads="1" noChangeShapeType="1" noTextEdit="1"/>
              </p:cNvSpPr>
              <p:nvPr>
                <p:ph idx="1"/>
              </p:nvPr>
            </p:nvSpPr>
            <p:spPr>
              <a:xfrm>
                <a:off x="179462" y="1125538"/>
                <a:ext cx="8688841" cy="4483100"/>
              </a:xfrm>
              <a:blipFill>
                <a:blip r:embed="rId3"/>
                <a:stretch>
                  <a:fillRect t="-1633" r="-1122"/>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93A14C65-2D99-4655-84F6-B6843D37F5FB}"/>
              </a:ext>
            </a:extLst>
          </p:cNvPr>
          <p:cNvGrpSpPr/>
          <p:nvPr/>
        </p:nvGrpSpPr>
        <p:grpSpPr>
          <a:xfrm>
            <a:off x="1986669" y="4671714"/>
            <a:ext cx="4622655" cy="1698924"/>
            <a:chOff x="2179709" y="3909714"/>
            <a:chExt cx="4622655" cy="1698924"/>
          </a:xfrm>
        </p:grpSpPr>
        <p:pic>
          <p:nvPicPr>
            <p:cNvPr id="26628" name="Picture 3">
              <a:extLst>
                <a:ext uri="{FF2B5EF4-FFF2-40B4-BE49-F238E27FC236}">
                  <a16:creationId xmlns:a16="http://schemas.microsoft.com/office/drawing/2014/main" id="{69904815-E7B7-455B-B35E-A1E6ACF08AD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179709" y="3909714"/>
              <a:ext cx="4622655" cy="1698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A0F44E25-DE34-486B-AAE1-5C266F9B6CF4}"/>
                </a:ext>
              </a:extLst>
            </p:cNvPr>
            <p:cNvSpPr txBox="1"/>
            <p:nvPr/>
          </p:nvSpPr>
          <p:spPr>
            <a:xfrm>
              <a:off x="4766469" y="4025730"/>
              <a:ext cx="1768539"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محدوده</a:t>
              </a: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 صفحه</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 </a:t>
              </a:r>
              <a:endParaRPr lang="en-US" dirty="0"/>
            </a:p>
          </p:txBody>
        </p:sp>
        <p:sp>
          <p:nvSpPr>
            <p:cNvPr id="7" name="TextBox 6">
              <a:extLst>
                <a:ext uri="{FF2B5EF4-FFF2-40B4-BE49-F238E27FC236}">
                  <a16:creationId xmlns:a16="http://schemas.microsoft.com/office/drawing/2014/main" id="{282C5820-F964-48A8-BEF3-ACBD029AB1D7}"/>
                </a:ext>
              </a:extLst>
            </p:cNvPr>
            <p:cNvSpPr txBox="1"/>
            <p:nvPr/>
          </p:nvSpPr>
          <p:spPr>
            <a:xfrm>
              <a:off x="2588820" y="4025730"/>
              <a:ext cx="1910293"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شماره صفحه</a:t>
              </a:r>
              <a:endParaRPr lang="en-US" dirty="0"/>
            </a:p>
          </p:txBody>
        </p:sp>
      </p:grpSp>
    </p:spTree>
    <p:extLst>
      <p:ext uri="{BB962C8B-B14F-4D97-AF65-F5344CB8AC3E}">
        <p14:creationId xmlns:p14="http://schemas.microsoft.com/office/powerpoint/2010/main" val="12362313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EF58487-042D-466C-B9C3-00E5052CDEC4}"/>
              </a:ext>
            </a:extLst>
          </p:cNvPr>
          <p:cNvSpPr>
            <a:spLocks noGrp="1" noChangeArrowheads="1"/>
          </p:cNvSpPr>
          <p:nvPr>
            <p:ph type="title"/>
          </p:nvPr>
        </p:nvSpPr>
        <p:spPr>
          <a:xfrm>
            <a:off x="749300" y="223291"/>
            <a:ext cx="7937500" cy="576263"/>
          </a:xfrm>
        </p:spPr>
        <p:txBody>
          <a:bodyPr/>
          <a:lstStyle/>
          <a:p>
            <a:pPr eaLnBrk="1" hangingPunct="1"/>
            <a:r>
              <a:rPr lang="en-US" altLang="en-US" dirty="0"/>
              <a:t>Paging Hardware</a:t>
            </a:r>
          </a:p>
        </p:txBody>
      </p:sp>
      <p:pic>
        <p:nvPicPr>
          <p:cNvPr id="27651" name="Picture 7" descr="C:\Users\as668\Desktop\9_08.jpg">
            <a:extLst>
              <a:ext uri="{FF2B5EF4-FFF2-40B4-BE49-F238E27FC236}">
                <a16:creationId xmlns:a16="http://schemas.microsoft.com/office/drawing/2014/main" id="{D7F6073E-F3FF-45ED-A7D7-18DC33404F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280" y="1423879"/>
            <a:ext cx="8344589" cy="4637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7D86C168-F407-4D3C-BA7B-6F65826EB4CD}"/>
              </a:ext>
            </a:extLst>
          </p:cNvPr>
          <p:cNvSpPr txBox="1"/>
          <p:nvPr/>
        </p:nvSpPr>
        <p:spPr>
          <a:xfrm>
            <a:off x="1942292" y="2715891"/>
            <a:ext cx="1910293"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آدرس منطقی</a:t>
            </a:r>
            <a:endParaRPr lang="en-US" dirty="0"/>
          </a:p>
        </p:txBody>
      </p:sp>
      <p:sp>
        <p:nvSpPr>
          <p:cNvPr id="5" name="TextBox 4">
            <a:extLst>
              <a:ext uri="{FF2B5EF4-FFF2-40B4-BE49-F238E27FC236}">
                <a16:creationId xmlns:a16="http://schemas.microsoft.com/office/drawing/2014/main" id="{E27CC269-44DA-4FE6-AE27-8101549F9FEF}"/>
              </a:ext>
            </a:extLst>
          </p:cNvPr>
          <p:cNvSpPr txBox="1"/>
          <p:nvPr/>
        </p:nvSpPr>
        <p:spPr>
          <a:xfrm>
            <a:off x="4284616" y="2715891"/>
            <a:ext cx="1910293"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آدرس فیزیکی</a:t>
            </a:r>
            <a:endParaRPr lang="en-US" dirty="0"/>
          </a:p>
        </p:txBody>
      </p:sp>
      <p:sp>
        <p:nvSpPr>
          <p:cNvPr id="6" name="TextBox 5">
            <a:extLst>
              <a:ext uri="{FF2B5EF4-FFF2-40B4-BE49-F238E27FC236}">
                <a16:creationId xmlns:a16="http://schemas.microsoft.com/office/drawing/2014/main" id="{D9AA8A08-CD2A-417F-AB25-85095FD729BF}"/>
              </a:ext>
            </a:extLst>
          </p:cNvPr>
          <p:cNvSpPr txBox="1"/>
          <p:nvPr/>
        </p:nvSpPr>
        <p:spPr>
          <a:xfrm>
            <a:off x="3079272" y="5687443"/>
            <a:ext cx="1910293"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جدول صفحه</a:t>
            </a:r>
            <a:endParaRPr lang="en-US" dirty="0"/>
          </a:p>
        </p:txBody>
      </p:sp>
      <p:sp>
        <p:nvSpPr>
          <p:cNvPr id="7" name="TextBox 6">
            <a:extLst>
              <a:ext uri="{FF2B5EF4-FFF2-40B4-BE49-F238E27FC236}">
                <a16:creationId xmlns:a16="http://schemas.microsoft.com/office/drawing/2014/main" id="{55FD1C29-C1D7-44A5-96AA-51390510CEAA}"/>
              </a:ext>
            </a:extLst>
          </p:cNvPr>
          <p:cNvSpPr txBox="1"/>
          <p:nvPr/>
        </p:nvSpPr>
        <p:spPr>
          <a:xfrm>
            <a:off x="6520741" y="5438893"/>
            <a:ext cx="1910293"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حافظه فیزیکی</a:t>
            </a:r>
            <a:endParaRPr lang="en-US" dirty="0"/>
          </a:p>
        </p:txBody>
      </p:sp>
      <p:sp>
        <p:nvSpPr>
          <p:cNvPr id="10" name="TextBox 9">
            <a:extLst>
              <a:ext uri="{FF2B5EF4-FFF2-40B4-BE49-F238E27FC236}">
                <a16:creationId xmlns:a16="http://schemas.microsoft.com/office/drawing/2014/main" id="{FA285D31-39F1-4895-85AD-D32B4E50D705}"/>
              </a:ext>
            </a:extLst>
          </p:cNvPr>
          <p:cNvSpPr txBox="1"/>
          <p:nvPr/>
        </p:nvSpPr>
        <p:spPr>
          <a:xfrm>
            <a:off x="345732" y="4250219"/>
            <a:ext cx="1910293"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شماره صفحه</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 p</a:t>
            </a:r>
          </a:p>
          <a:p>
            <a:pPr algn="ctr"/>
            <a:r>
              <a:rPr lang="fa-IR" b="1" dirty="0">
                <a:latin typeface="Times New Roman" panose="02020603050405020304" pitchFamily="18" charset="0"/>
                <a:cs typeface="B Nazanin" panose="00000400000000000000" pitchFamily="2" charset="-78"/>
              </a:rPr>
              <a:t>افست صفحه </a:t>
            </a:r>
            <a:r>
              <a:rPr lang="en-US" b="1" dirty="0">
                <a:latin typeface="Times New Roman" panose="02020603050405020304" pitchFamily="18" charset="0"/>
                <a:cs typeface="B Nazanin" panose="00000400000000000000" pitchFamily="2" charset="-78"/>
              </a:rPr>
              <a:t> d</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82287A-1F77-ED8E-551B-63F053DE2CFE}"/>
              </a:ext>
            </a:extLst>
          </p:cNvPr>
          <p:cNvSpPr>
            <a:spLocks noGrp="1"/>
          </p:cNvSpPr>
          <p:nvPr>
            <p:ph type="title"/>
          </p:nvPr>
        </p:nvSpPr>
        <p:spPr/>
        <p:txBody>
          <a:bodyPr/>
          <a:lstStyle/>
          <a:p>
            <a:r>
              <a:rPr lang="ar-SA" dirty="0">
                <a:cs typeface="B Nazanin" panose="00000400000000000000" pitchFamily="2" charset="-78"/>
              </a:rPr>
              <a:t>صفحه‌بندی و نحوه ترجمه آدرس توسط </a:t>
            </a:r>
            <a:r>
              <a:rPr lang="en-US" dirty="0">
                <a:cs typeface="B Nazanin" panose="00000400000000000000" pitchFamily="2" charset="-78"/>
              </a:rPr>
              <a:t>MMU</a:t>
            </a:r>
          </a:p>
        </p:txBody>
      </p:sp>
      <p:sp>
        <p:nvSpPr>
          <p:cNvPr id="4" name="Content Placeholder 3">
            <a:extLst>
              <a:ext uri="{FF2B5EF4-FFF2-40B4-BE49-F238E27FC236}">
                <a16:creationId xmlns:a16="http://schemas.microsoft.com/office/drawing/2014/main" id="{FD224AE0-A5CF-9468-8EBC-4BB9BC5E40E9}"/>
              </a:ext>
            </a:extLst>
          </p:cNvPr>
          <p:cNvSpPr>
            <a:spLocks noGrp="1"/>
          </p:cNvSpPr>
          <p:nvPr>
            <p:ph idx="1"/>
          </p:nvPr>
        </p:nvSpPr>
        <p:spPr/>
        <p:txBody>
          <a:bodyPr/>
          <a:lstStyle/>
          <a:p>
            <a:pPr algn="r" rtl="1"/>
            <a:r>
              <a:rPr lang="ar-SA" b="1" dirty="0">
                <a:cs typeface="B Nazanin" panose="00000400000000000000" pitchFamily="2" charset="-78"/>
              </a:rPr>
              <a:t>برنامه یک آدرس منطقی تولید می‌کند</a:t>
            </a:r>
            <a:endParaRPr lang="en-US" dirty="0">
              <a:cs typeface="B Nazanin" panose="00000400000000000000" pitchFamily="2" charset="-78"/>
            </a:endParaRPr>
          </a:p>
          <a:p>
            <a:pPr algn="r" rtl="1"/>
            <a:r>
              <a:rPr lang="ar-SA" dirty="0">
                <a:cs typeface="B Nazanin" panose="00000400000000000000" pitchFamily="2" charset="-78"/>
              </a:rPr>
              <a:t>فرض کنید برنامه می‌خواهد به آدرس منطقی</a:t>
            </a:r>
            <a:r>
              <a:rPr lang="en-US" dirty="0">
                <a:cs typeface="B Nazanin" panose="00000400000000000000" pitchFamily="2" charset="-78"/>
              </a:rPr>
              <a:t> </a:t>
            </a:r>
            <a:r>
              <a:rPr lang="en-US" b="1" dirty="0">
                <a:cs typeface="B Nazanin" panose="00000400000000000000" pitchFamily="2" charset="-78"/>
              </a:rPr>
              <a:t>5000</a:t>
            </a:r>
            <a:r>
              <a:rPr lang="ar-SA" dirty="0">
                <a:cs typeface="B Nazanin" panose="00000400000000000000" pitchFamily="2" charset="-78"/>
              </a:rPr>
              <a:t>دسترسی پیدا کند</a:t>
            </a:r>
            <a:r>
              <a:rPr lang="en-US" dirty="0">
                <a:cs typeface="B Nazanin" panose="00000400000000000000" pitchFamily="2" charset="-78"/>
              </a:rPr>
              <a:t>.</a:t>
            </a:r>
          </a:p>
          <a:p>
            <a:pPr algn="r" rtl="1"/>
            <a:r>
              <a:rPr lang="en-US" dirty="0">
                <a:cs typeface="B Nazanin" panose="00000400000000000000" pitchFamily="2" charset="-78"/>
              </a:rPr>
              <a:t>MMU </a:t>
            </a:r>
            <a:r>
              <a:rPr lang="ar-SA" dirty="0">
                <a:cs typeface="B Nazanin" panose="00000400000000000000" pitchFamily="2" charset="-78"/>
              </a:rPr>
              <a:t>این آدرس را به دو قسمت تقسیم می‌کند</a:t>
            </a:r>
            <a:r>
              <a:rPr lang="en-US" dirty="0">
                <a:cs typeface="B Nazanin" panose="00000400000000000000" pitchFamily="2" charset="-78"/>
              </a:rPr>
              <a:t>:</a:t>
            </a:r>
          </a:p>
          <a:p>
            <a:pPr algn="l"/>
            <a:r>
              <a:rPr lang="ar-SA" dirty="0">
                <a:cs typeface="B Nazanin" panose="00000400000000000000" pitchFamily="2" charset="-78"/>
              </a:rPr>
              <a:t>آدرس منطقی</a:t>
            </a:r>
            <a:r>
              <a:rPr lang="en-US" dirty="0">
                <a:cs typeface="B Nazanin" panose="00000400000000000000" pitchFamily="2" charset="-78"/>
              </a:rPr>
              <a:t> = [</a:t>
            </a:r>
            <a:r>
              <a:rPr lang="ar-SA" dirty="0">
                <a:cs typeface="B Nazanin" panose="00000400000000000000" pitchFamily="2" charset="-78"/>
              </a:rPr>
              <a:t>شماره صفحه</a:t>
            </a:r>
            <a:r>
              <a:rPr lang="en-US" dirty="0">
                <a:cs typeface="B Nazanin" panose="00000400000000000000" pitchFamily="2" charset="-78"/>
              </a:rPr>
              <a:t> (p) | </a:t>
            </a:r>
            <a:r>
              <a:rPr lang="ar-SA" dirty="0">
                <a:cs typeface="B Nazanin" panose="00000400000000000000" pitchFamily="2" charset="-78"/>
              </a:rPr>
              <a:t>افست یا جابجایی</a:t>
            </a:r>
            <a:r>
              <a:rPr lang="en-US" dirty="0">
                <a:cs typeface="B Nazanin" panose="00000400000000000000" pitchFamily="2" charset="-78"/>
              </a:rPr>
              <a:t> (d) ]</a:t>
            </a:r>
          </a:p>
          <a:p>
            <a:pPr lvl="0" algn="r" rtl="1"/>
            <a:r>
              <a:rPr lang="en-US" b="1" dirty="0">
                <a:cs typeface="B Nazanin" panose="00000400000000000000" pitchFamily="2" charset="-78"/>
              </a:rPr>
              <a:t>p </a:t>
            </a:r>
            <a:r>
              <a:rPr lang="ar-SA" dirty="0">
                <a:cs typeface="B Nazanin" panose="00000400000000000000" pitchFamily="2" charset="-78"/>
              </a:rPr>
              <a:t>شماره صفحه </a:t>
            </a:r>
            <a:r>
              <a:rPr lang="en-US" dirty="0">
                <a:cs typeface="B Nazanin" panose="00000400000000000000" pitchFamily="2" charset="-78"/>
              </a:rPr>
              <a:t> </a:t>
            </a:r>
            <a:r>
              <a:rPr lang="fa-IR" b="1" dirty="0">
                <a:cs typeface="B Nazanin" panose="00000400000000000000" pitchFamily="2" charset="-78"/>
              </a:rPr>
              <a:t> و </a:t>
            </a:r>
            <a:r>
              <a:rPr lang="en-US" b="1" dirty="0">
                <a:cs typeface="B Nazanin" panose="00000400000000000000" pitchFamily="2" charset="-78"/>
              </a:rPr>
              <a:t>d</a:t>
            </a:r>
            <a:r>
              <a:rPr lang="fa-IR" b="1" dirty="0">
                <a:cs typeface="B Nazanin" panose="00000400000000000000" pitchFamily="2" charset="-78"/>
              </a:rPr>
              <a:t> </a:t>
            </a:r>
            <a:r>
              <a:rPr lang="en-US" dirty="0">
                <a:cs typeface="B Nazanin" panose="00000400000000000000" pitchFamily="2" charset="-78"/>
              </a:rPr>
              <a:t> </a:t>
            </a:r>
            <a:r>
              <a:rPr lang="ar-SA" dirty="0">
                <a:cs typeface="B Nazanin" panose="00000400000000000000" pitchFamily="2" charset="-78"/>
              </a:rPr>
              <a:t>محل دقیق داده داخل آن صفحه </a:t>
            </a:r>
            <a:endParaRPr lang="en-US" dirty="0">
              <a:cs typeface="B Nazanin" panose="00000400000000000000" pitchFamily="2" charset="-78"/>
            </a:endParaRPr>
          </a:p>
          <a:p>
            <a:pPr marL="0" lvl="0" indent="0" algn="r" rtl="1">
              <a:buNone/>
            </a:pPr>
            <a:r>
              <a:rPr lang="en-US" b="1" dirty="0">
                <a:cs typeface="B Nazanin" panose="00000400000000000000" pitchFamily="2" charset="-78"/>
              </a:rPr>
              <a:t> </a:t>
            </a:r>
            <a:r>
              <a:rPr lang="ar-SA" b="1" dirty="0">
                <a:cs typeface="B Nazanin" panose="00000400000000000000" pitchFamily="2" charset="-78"/>
              </a:rPr>
              <a:t>مثال عددی</a:t>
            </a:r>
            <a:endParaRPr lang="en-US" dirty="0">
              <a:cs typeface="B Nazanin" panose="00000400000000000000" pitchFamily="2" charset="-78"/>
            </a:endParaRPr>
          </a:p>
          <a:p>
            <a:pPr algn="r" rtl="1"/>
            <a:r>
              <a:rPr lang="ar-SA" dirty="0">
                <a:cs typeface="B Nazanin" panose="00000400000000000000" pitchFamily="2" charset="-78"/>
              </a:rPr>
              <a:t>فرض کنید</a:t>
            </a:r>
            <a:r>
              <a:rPr lang="fa-IR" dirty="0">
                <a:cs typeface="B Nazanin" panose="00000400000000000000" pitchFamily="2" charset="-78"/>
              </a:rPr>
              <a:t> </a:t>
            </a:r>
            <a:r>
              <a:rPr lang="ar-SA" dirty="0">
                <a:cs typeface="B Nazanin" panose="00000400000000000000" pitchFamily="2" charset="-78"/>
              </a:rPr>
              <a:t>اندازه هر صفحه = 1024 بایت = 2¹⁰ </a:t>
            </a:r>
            <a:endParaRPr lang="en-US" dirty="0">
              <a:cs typeface="B Nazanin" panose="00000400000000000000" pitchFamily="2" charset="-78"/>
            </a:endParaRPr>
          </a:p>
          <a:p>
            <a:pPr lvl="0" algn="r" rtl="1"/>
            <a:r>
              <a:rPr lang="ar-SA" dirty="0">
                <a:cs typeface="B Nazanin" panose="00000400000000000000" pitchFamily="2" charset="-78"/>
              </a:rPr>
              <a:t>آدرس منطقی موردنظر = 5000 </a:t>
            </a:r>
            <a:endParaRPr lang="en-US" dirty="0">
              <a:cs typeface="B Nazanin" panose="00000400000000000000" pitchFamily="2" charset="-78"/>
            </a:endParaRPr>
          </a:p>
          <a:p>
            <a:pPr algn="r" rtl="1"/>
            <a:r>
              <a:rPr lang="ar-SA" dirty="0">
                <a:cs typeface="B Nazanin" panose="00000400000000000000" pitchFamily="2" charset="-78"/>
              </a:rPr>
              <a:t>برای پیدا کردن</a:t>
            </a:r>
            <a:r>
              <a:rPr lang="en-US" dirty="0">
                <a:cs typeface="B Nazanin" panose="00000400000000000000" pitchFamily="2" charset="-78"/>
              </a:rPr>
              <a:t> p </a:t>
            </a:r>
            <a:r>
              <a:rPr lang="ar-SA" dirty="0">
                <a:cs typeface="B Nazanin" panose="00000400000000000000" pitchFamily="2" charset="-78"/>
              </a:rPr>
              <a:t>و</a:t>
            </a:r>
            <a:r>
              <a:rPr lang="en-US" dirty="0">
                <a:cs typeface="B Nazanin" panose="00000400000000000000" pitchFamily="2" charset="-78"/>
              </a:rPr>
              <a:t> d</a:t>
            </a:r>
          </a:p>
          <a:p>
            <a:r>
              <a:rPr lang="en-US" dirty="0">
                <a:cs typeface="B Nazanin" panose="00000400000000000000" pitchFamily="2" charset="-78"/>
              </a:rPr>
              <a:t>p = </a:t>
            </a:r>
            <a:r>
              <a:rPr lang="fa-IR" dirty="0">
                <a:cs typeface="B Nazanin" panose="00000400000000000000" pitchFamily="2" charset="-78"/>
              </a:rPr>
              <a:t>5000</a:t>
            </a:r>
            <a:r>
              <a:rPr lang="en-US" dirty="0">
                <a:cs typeface="B Nazanin" panose="00000400000000000000" pitchFamily="2" charset="-78"/>
              </a:rPr>
              <a:t> ÷ </a:t>
            </a:r>
            <a:r>
              <a:rPr lang="fa-IR" dirty="0">
                <a:cs typeface="B Nazanin" panose="00000400000000000000" pitchFamily="2" charset="-78"/>
              </a:rPr>
              <a:t>1024</a:t>
            </a:r>
            <a:r>
              <a:rPr lang="en-US" dirty="0">
                <a:cs typeface="B Nazanin" panose="00000400000000000000" pitchFamily="2" charset="-78"/>
              </a:rPr>
              <a:t> = </a:t>
            </a:r>
            <a:r>
              <a:rPr lang="fa-IR" dirty="0">
                <a:cs typeface="B Nazanin" panose="00000400000000000000" pitchFamily="2" charset="-78"/>
              </a:rPr>
              <a:t>4</a:t>
            </a:r>
            <a:br>
              <a:rPr lang="en-US" dirty="0">
                <a:cs typeface="B Nazanin" panose="00000400000000000000" pitchFamily="2" charset="-78"/>
              </a:rPr>
            </a:br>
            <a:r>
              <a:rPr lang="en-US" dirty="0">
                <a:cs typeface="B Nazanin" panose="00000400000000000000" pitchFamily="2" charset="-78"/>
              </a:rPr>
              <a:t>d = </a:t>
            </a:r>
            <a:r>
              <a:rPr lang="fa-IR" dirty="0">
                <a:cs typeface="B Nazanin" panose="00000400000000000000" pitchFamily="2" charset="-78"/>
              </a:rPr>
              <a:t>5000</a:t>
            </a:r>
            <a:r>
              <a:rPr lang="en-US" dirty="0">
                <a:cs typeface="B Nazanin" panose="00000400000000000000" pitchFamily="2" charset="-78"/>
              </a:rPr>
              <a:t> mod </a:t>
            </a:r>
            <a:r>
              <a:rPr lang="fa-IR" dirty="0">
                <a:cs typeface="B Nazanin" panose="00000400000000000000" pitchFamily="2" charset="-78"/>
              </a:rPr>
              <a:t>1024</a:t>
            </a:r>
            <a:r>
              <a:rPr lang="en-US" dirty="0">
                <a:cs typeface="B Nazanin" panose="00000400000000000000" pitchFamily="2" charset="-78"/>
              </a:rPr>
              <a:t> = </a:t>
            </a:r>
            <a:r>
              <a:rPr lang="fa-IR" dirty="0">
                <a:cs typeface="B Nazanin" panose="00000400000000000000" pitchFamily="2" charset="-78"/>
              </a:rPr>
              <a:t>904</a:t>
            </a:r>
            <a:endParaRPr lang="en-US" dirty="0">
              <a:cs typeface="B Nazanin" panose="00000400000000000000" pitchFamily="2" charset="-78"/>
            </a:endParaRPr>
          </a:p>
          <a:p>
            <a:pPr marL="0" indent="0" rtl="1">
              <a:buNone/>
            </a:pPr>
            <a:r>
              <a:rPr lang="fa-IR" dirty="0">
                <a:cs typeface="B Nazanin" panose="00000400000000000000" pitchFamily="2" charset="-78"/>
              </a:rPr>
              <a:t>			۵۰۰۰=</a:t>
            </a:r>
            <a:r>
              <a:rPr lang="ar-SA" dirty="0">
                <a:cs typeface="B Nazanin" panose="00000400000000000000" pitchFamily="2" charset="-78"/>
              </a:rPr>
              <a:t>صفحه 4 + افست 904</a:t>
            </a:r>
            <a:r>
              <a:rPr lang="fa-IR" dirty="0">
                <a:cs typeface="B Nazanin" panose="00000400000000000000" pitchFamily="2" charset="-78"/>
              </a:rPr>
              <a:t>			</a:t>
            </a:r>
            <a:endParaRPr lang="en-US" dirty="0">
              <a:cs typeface="B Nazanin" panose="00000400000000000000" pitchFamily="2" charset="-78"/>
            </a:endParaRPr>
          </a:p>
          <a:p>
            <a:pPr algn="r" rtl="1"/>
            <a:r>
              <a:rPr lang="ar-SA" dirty="0">
                <a:cs typeface="B Nazanin" panose="00000400000000000000" pitchFamily="2" charset="-78"/>
              </a:rPr>
              <a:t>یعنی</a:t>
            </a:r>
            <a:r>
              <a:rPr lang="en-US" dirty="0">
                <a:cs typeface="B Nazanin" panose="00000400000000000000" pitchFamily="2" charset="-78"/>
              </a:rPr>
              <a:t>:</a:t>
            </a:r>
          </a:p>
          <a:p>
            <a:pPr algn="r" rtl="1"/>
            <a:r>
              <a:rPr lang="ar-SA" dirty="0">
                <a:cs typeface="B Nazanin" panose="00000400000000000000" pitchFamily="2" charset="-78"/>
              </a:rPr>
              <a:t>داده‌ای که می‌خواهم در صفحه شماره 4 قرار دارد و 904 بایت از ابتدای آن صفحه فاصله دارد</a:t>
            </a:r>
            <a:r>
              <a:rPr lang="en-US" dirty="0">
                <a:cs typeface="B Nazanin" panose="00000400000000000000" pitchFamily="2" charset="-78"/>
              </a:rPr>
              <a:t>.»</a:t>
            </a:r>
          </a:p>
          <a:p>
            <a:pPr algn="r"/>
            <a:endParaRPr lang="en-US" dirty="0">
              <a:cs typeface="B Nazanin" panose="00000400000000000000" pitchFamily="2" charset="-78"/>
            </a:endParaRPr>
          </a:p>
        </p:txBody>
      </p:sp>
    </p:spTree>
    <p:extLst>
      <p:ext uri="{BB962C8B-B14F-4D97-AF65-F5344CB8AC3E}">
        <p14:creationId xmlns:p14="http://schemas.microsoft.com/office/powerpoint/2010/main" val="18969119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26">
            <a:extLst>
              <a:ext uri="{FF2B5EF4-FFF2-40B4-BE49-F238E27FC236}">
                <a16:creationId xmlns:a16="http://schemas.microsoft.com/office/drawing/2014/main" id="{449B79E3-F191-44B4-954F-BE958071C149}"/>
              </a:ext>
            </a:extLst>
          </p:cNvPr>
          <p:cNvSpPr>
            <a:spLocks noGrp="1" noChangeArrowheads="1"/>
          </p:cNvSpPr>
          <p:nvPr>
            <p:ph type="title"/>
          </p:nvPr>
        </p:nvSpPr>
        <p:spPr>
          <a:xfrm>
            <a:off x="936819" y="167339"/>
            <a:ext cx="8229600" cy="644525"/>
          </a:xfrm>
        </p:spPr>
        <p:txBody>
          <a:bodyPr/>
          <a:lstStyle/>
          <a:p>
            <a:pPr rtl="1" eaLnBrk="1" hangingPunct="1"/>
            <a:r>
              <a:rPr lang="fa-IR" sz="2400" b="1" dirty="0">
                <a:cs typeface="B Nazanin" panose="00000400000000000000" pitchFamily="2" charset="-78"/>
              </a:rPr>
              <a:t>مدل صفحه‌بندی </a:t>
            </a:r>
            <a:r>
              <a:rPr lang="en-US" sz="2400" b="1" dirty="0">
                <a:cs typeface="B Nazanin" panose="00000400000000000000" pitchFamily="2" charset="-78"/>
              </a:rPr>
              <a:t>Paging Model</a:t>
            </a:r>
            <a:r>
              <a:rPr lang="en-US" sz="2400" dirty="0">
                <a:cs typeface="B Nazanin" panose="00000400000000000000" pitchFamily="2" charset="-78"/>
              </a:rPr>
              <a:t> </a:t>
            </a:r>
            <a:r>
              <a:rPr lang="fa-IR" sz="2400" dirty="0">
                <a:cs typeface="B Nazanin" panose="00000400000000000000" pitchFamily="2" charset="-78"/>
              </a:rPr>
              <a:t>برای حافظه منطقی و فیزیکی</a:t>
            </a:r>
            <a:endParaRPr lang="en-US" altLang="en-US" sz="3600" dirty="0">
              <a:cs typeface="B Nazanin" panose="00000400000000000000" pitchFamily="2" charset="-78"/>
            </a:endParaRPr>
          </a:p>
        </p:txBody>
      </p:sp>
      <p:pic>
        <p:nvPicPr>
          <p:cNvPr id="28675" name="Picture 1030">
            <a:extLst>
              <a:ext uri="{FF2B5EF4-FFF2-40B4-BE49-F238E27FC236}">
                <a16:creationId xmlns:a16="http://schemas.microsoft.com/office/drawing/2014/main" id="{A17EFDC3-16BC-41C6-9509-A548649291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8813" y="1203325"/>
            <a:ext cx="4938712" cy="461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C4916DDB-A5DF-4A83-AB91-63BC1B410F87}"/>
              </a:ext>
            </a:extLst>
          </p:cNvPr>
          <p:cNvSpPr txBox="1"/>
          <p:nvPr/>
        </p:nvSpPr>
        <p:spPr>
          <a:xfrm>
            <a:off x="1233846" y="3626719"/>
            <a:ext cx="1910293"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آدرس منطقی</a:t>
            </a:r>
            <a:endParaRPr lang="en-US" dirty="0"/>
          </a:p>
        </p:txBody>
      </p:sp>
      <p:sp>
        <p:nvSpPr>
          <p:cNvPr id="5" name="TextBox 4">
            <a:extLst>
              <a:ext uri="{FF2B5EF4-FFF2-40B4-BE49-F238E27FC236}">
                <a16:creationId xmlns:a16="http://schemas.microsoft.com/office/drawing/2014/main" id="{213B1A47-765F-4BA1-953A-BE7298D72535}"/>
              </a:ext>
            </a:extLst>
          </p:cNvPr>
          <p:cNvSpPr txBox="1"/>
          <p:nvPr/>
        </p:nvSpPr>
        <p:spPr>
          <a:xfrm>
            <a:off x="3443022" y="3140630"/>
            <a:ext cx="1910293"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جدول صفحه</a:t>
            </a:r>
            <a:endParaRPr lang="en-US" dirty="0"/>
          </a:p>
        </p:txBody>
      </p:sp>
      <p:sp>
        <p:nvSpPr>
          <p:cNvPr id="6" name="TextBox 5">
            <a:extLst>
              <a:ext uri="{FF2B5EF4-FFF2-40B4-BE49-F238E27FC236}">
                <a16:creationId xmlns:a16="http://schemas.microsoft.com/office/drawing/2014/main" id="{A9E49EC7-CD3E-4F1C-8858-3A3CD0150666}"/>
              </a:ext>
            </a:extLst>
          </p:cNvPr>
          <p:cNvSpPr txBox="1"/>
          <p:nvPr/>
        </p:nvSpPr>
        <p:spPr>
          <a:xfrm>
            <a:off x="5548152" y="5444959"/>
            <a:ext cx="1910293"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حافظه فیزیکی</a:t>
            </a:r>
            <a:endParaRPr lang="en-US" dirty="0"/>
          </a:p>
        </p:txBody>
      </p:sp>
      <p:sp>
        <p:nvSpPr>
          <p:cNvPr id="7" name="TextBox 6">
            <a:extLst>
              <a:ext uri="{FF2B5EF4-FFF2-40B4-BE49-F238E27FC236}">
                <a16:creationId xmlns:a16="http://schemas.microsoft.com/office/drawing/2014/main" id="{7B75E67E-28EB-4456-922C-AF5D637BD115}"/>
              </a:ext>
            </a:extLst>
          </p:cNvPr>
          <p:cNvSpPr txBox="1"/>
          <p:nvPr/>
        </p:nvSpPr>
        <p:spPr>
          <a:xfrm>
            <a:off x="4741817" y="1203325"/>
            <a:ext cx="1910293" cy="36933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sz="1800" b="1" dirty="0">
                <a:effectLst/>
                <a:latin typeface="Times New Roman" panose="02020603050405020304" pitchFamily="18" charset="0"/>
                <a:ea typeface="Times New Roman" panose="02020603050405020304" pitchFamily="18" charset="0"/>
                <a:cs typeface="B Nazanin" panose="00000400000000000000" pitchFamily="2" charset="-78"/>
              </a:rPr>
              <a:t>شماره فریم</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DCF916A-8C98-4095-ADA5-18068DA6E40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4250"/>
          <a:stretch/>
        </p:blipFill>
        <p:spPr bwMode="auto">
          <a:xfrm>
            <a:off x="1219223" y="885530"/>
            <a:ext cx="1017362" cy="4923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0" name="Picture 6">
            <a:extLst>
              <a:ext uri="{FF2B5EF4-FFF2-40B4-BE49-F238E27FC236}">
                <a16:creationId xmlns:a16="http://schemas.microsoft.com/office/drawing/2014/main" id="{5AE8FE82-D7E1-4A71-B46E-996A46A93C0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4250" b="46739"/>
          <a:stretch/>
        </p:blipFill>
        <p:spPr bwMode="auto">
          <a:xfrm>
            <a:off x="290818" y="885530"/>
            <a:ext cx="1017362" cy="2622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4">
            <a:extLst>
              <a:ext uri="{FF2B5EF4-FFF2-40B4-BE49-F238E27FC236}">
                <a16:creationId xmlns:a16="http://schemas.microsoft.com/office/drawing/2014/main" id="{02B96B6D-AA8D-4FFF-877C-169884E97803}"/>
              </a:ext>
            </a:extLst>
          </p:cNvPr>
          <p:cNvSpPr txBox="1">
            <a:spLocks noGrp="1"/>
          </p:cNvSpPr>
          <p:nvPr>
            <p:ph type="title"/>
          </p:nvPr>
        </p:nvSpPr>
        <p:spPr>
          <a:xfrm>
            <a:off x="488950" y="347960"/>
            <a:ext cx="8229600" cy="461665"/>
          </a:xfrm>
          <a:prstGeom prst="rect">
            <a:avLst/>
          </a:prstGeom>
          <a:noFill/>
        </p:spPr>
        <p:txBody>
          <a:bodyPr wrap="square">
            <a:spAutoFit/>
          </a:bodyPr>
          <a:lstStyle/>
          <a:p>
            <a:r>
              <a:rPr lang="fa-IR" sz="2400" b="1" dirty="0">
                <a:effectLst/>
                <a:latin typeface="Times New Roman" panose="02020603050405020304" pitchFamily="18" charset="0"/>
                <a:ea typeface="Times New Roman" panose="02020603050405020304" pitchFamily="18" charset="0"/>
                <a:cs typeface="B Nazanin" panose="00000400000000000000" pitchFamily="2" charset="-78"/>
              </a:rPr>
              <a:t>مثال صفحه بندی</a:t>
            </a:r>
            <a:endParaRPr lang="en-US" sz="4000" dirty="0"/>
          </a:p>
        </p:txBody>
      </p:sp>
      <p:pic>
        <p:nvPicPr>
          <p:cNvPr id="8" name="Picture 6">
            <a:extLst>
              <a:ext uri="{FF2B5EF4-FFF2-40B4-BE49-F238E27FC236}">
                <a16:creationId xmlns:a16="http://schemas.microsoft.com/office/drawing/2014/main" id="{5DBD0AA1-EDA9-4F48-B68B-66CE6C6705F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197" t="14517" r="42943" b="60286"/>
          <a:stretch/>
        </p:blipFill>
        <p:spPr bwMode="auto">
          <a:xfrm>
            <a:off x="304202" y="4034713"/>
            <a:ext cx="745151" cy="1240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22F136F2-0C50-4326-8EFC-3C972D812146}"/>
              </a:ext>
            </a:extLst>
          </p:cNvPr>
          <p:cNvSpPr txBox="1"/>
          <p:nvPr/>
        </p:nvSpPr>
        <p:spPr>
          <a:xfrm>
            <a:off x="235290" y="3477222"/>
            <a:ext cx="983933" cy="52322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sz="1400" b="1" dirty="0">
                <a:effectLst/>
                <a:latin typeface="Times New Roman" panose="02020603050405020304" pitchFamily="18" charset="0"/>
                <a:ea typeface="Times New Roman" panose="02020603050405020304" pitchFamily="18" charset="0"/>
                <a:cs typeface="B Nazanin" panose="00000400000000000000" pitchFamily="2" charset="-78"/>
              </a:rPr>
              <a:t>آدرس منطقی</a:t>
            </a:r>
            <a:endParaRPr lang="en-US" sz="1400" dirty="0"/>
          </a:p>
        </p:txBody>
      </p:sp>
      <p:sp>
        <p:nvSpPr>
          <p:cNvPr id="10" name="TextBox 9">
            <a:extLst>
              <a:ext uri="{FF2B5EF4-FFF2-40B4-BE49-F238E27FC236}">
                <a16:creationId xmlns:a16="http://schemas.microsoft.com/office/drawing/2014/main" id="{8BF3EFB1-3669-4958-AD31-1E6A6F343544}"/>
              </a:ext>
            </a:extLst>
          </p:cNvPr>
          <p:cNvSpPr txBox="1"/>
          <p:nvPr/>
        </p:nvSpPr>
        <p:spPr>
          <a:xfrm>
            <a:off x="411113" y="5295395"/>
            <a:ext cx="667505" cy="46166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sz="1200" b="1" dirty="0">
                <a:effectLst/>
                <a:latin typeface="Times New Roman" panose="02020603050405020304" pitchFamily="18" charset="0"/>
                <a:ea typeface="Times New Roman" panose="02020603050405020304" pitchFamily="18" charset="0"/>
                <a:cs typeface="B Nazanin" panose="00000400000000000000" pitchFamily="2" charset="-78"/>
              </a:rPr>
              <a:t>جدول صفحه</a:t>
            </a:r>
            <a:endParaRPr lang="en-US" sz="1200" dirty="0"/>
          </a:p>
        </p:txBody>
      </p:sp>
      <p:sp>
        <p:nvSpPr>
          <p:cNvPr id="11" name="TextBox 10">
            <a:extLst>
              <a:ext uri="{FF2B5EF4-FFF2-40B4-BE49-F238E27FC236}">
                <a16:creationId xmlns:a16="http://schemas.microsoft.com/office/drawing/2014/main" id="{44DF41D2-AF56-42B2-AF7F-5D32412CA7BA}"/>
              </a:ext>
            </a:extLst>
          </p:cNvPr>
          <p:cNvSpPr txBox="1"/>
          <p:nvPr/>
        </p:nvSpPr>
        <p:spPr>
          <a:xfrm>
            <a:off x="709127" y="5931784"/>
            <a:ext cx="1910293" cy="307777"/>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sz="1400" b="1" dirty="0">
                <a:effectLst/>
                <a:latin typeface="Times New Roman" panose="02020603050405020304" pitchFamily="18" charset="0"/>
                <a:ea typeface="Times New Roman" panose="02020603050405020304" pitchFamily="18" charset="0"/>
                <a:cs typeface="B Nazanin" panose="00000400000000000000" pitchFamily="2" charset="-78"/>
              </a:rPr>
              <a:t>حافظه فیزیکی</a:t>
            </a:r>
            <a:endParaRPr lang="en-US" sz="1400" dirty="0"/>
          </a:p>
        </p:txBody>
      </p:sp>
      <p:sp>
        <p:nvSpPr>
          <p:cNvPr id="29699" name="Content Placeholder 2">
            <a:extLst>
              <a:ext uri="{FF2B5EF4-FFF2-40B4-BE49-F238E27FC236}">
                <a16:creationId xmlns:a16="http://schemas.microsoft.com/office/drawing/2014/main" id="{D53A6D79-A0D1-42C5-8E0A-4AF4B4E95529}"/>
              </a:ext>
            </a:extLst>
          </p:cNvPr>
          <p:cNvSpPr>
            <a:spLocks noGrp="1"/>
          </p:cNvSpPr>
          <p:nvPr>
            <p:ph idx="1"/>
          </p:nvPr>
        </p:nvSpPr>
        <p:spPr>
          <a:xfrm>
            <a:off x="1977758" y="809625"/>
            <a:ext cx="7079910" cy="5687941"/>
          </a:xfrm>
        </p:spPr>
        <p:txBody>
          <a:bodyPr/>
          <a:lstStyle/>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r>
              <a:rPr lang="en-US" sz="1800" b="1" kern="100" dirty="0">
                <a:effectLst/>
                <a:latin typeface="Aptos" panose="020B0004020202020204" pitchFamily="34" charset="0"/>
                <a:ea typeface="Aptos" panose="020B0004020202020204" pitchFamily="34" charset="0"/>
                <a:cs typeface="B Nazanin" panose="00000400000000000000" pitchFamily="2" charset="-78"/>
              </a:rPr>
              <a:t> </a:t>
            </a:r>
            <a:r>
              <a:rPr lang="ar-SA" sz="1800" b="1" kern="100" dirty="0">
                <a:effectLst/>
                <a:latin typeface="Aptos" panose="020B0004020202020204" pitchFamily="34" charset="0"/>
                <a:ea typeface="Aptos" panose="020B0004020202020204" pitchFamily="34" charset="0"/>
                <a:cs typeface="B Nazanin" panose="00000400000000000000" pitchFamily="2" charset="-78"/>
              </a:rPr>
              <a:t>مثال ساده از صفحه‌بندی</a:t>
            </a:r>
            <a:r>
              <a:rPr lang="en-US" sz="1800" b="1" kern="100" dirty="0">
                <a:effectLst/>
                <a:latin typeface="Aptos" panose="020B0004020202020204" pitchFamily="34" charset="0"/>
                <a:ea typeface="Aptos" panose="020B0004020202020204" pitchFamily="34" charset="0"/>
                <a:cs typeface="B Nazanin" panose="00000400000000000000" pitchFamily="2" charset="-78"/>
              </a:rPr>
              <a:t> (Paging)</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800" b="1" kern="100" dirty="0">
                <a:effectLst/>
                <a:latin typeface="Aptos" panose="020B0004020202020204" pitchFamily="34" charset="0"/>
                <a:ea typeface="Aptos" panose="020B0004020202020204" pitchFamily="34" charset="0"/>
                <a:cs typeface="B Nazanin" panose="00000400000000000000" pitchFamily="2" charset="-78"/>
              </a:rPr>
              <a:t>در این مثال، ما داریم یک برنامه را اجرا می‌کنیم و می‌خواهیم ببینیم آدرس‌های منطقی آن چطور به آدرس‌های فیزیکی نگاشت می‌شوند</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اندازه هر صفحه </a:t>
            </a:r>
            <a:r>
              <a:rPr lang="en-US" sz="1800" b="1" kern="100" dirty="0">
                <a:effectLst/>
                <a:latin typeface="Aptos" panose="020B0004020202020204" pitchFamily="34" charset="0"/>
                <a:ea typeface="Aptos" panose="020B0004020202020204" pitchFamily="34" charset="0"/>
                <a:cs typeface="B Nazanin" panose="00000400000000000000" pitchFamily="2" charset="-78"/>
              </a:rPr>
              <a:t>2^2=4</a:t>
            </a:r>
            <a:r>
              <a:rPr lang="fa-IR" sz="1800" b="1" kern="100" dirty="0">
                <a:effectLst/>
                <a:latin typeface="Aptos" panose="020B0004020202020204" pitchFamily="34" charset="0"/>
                <a:ea typeface="Aptos" panose="020B0004020202020204" pitchFamily="34" charset="0"/>
                <a:cs typeface="B Nazanin" panose="00000400000000000000" pitchFamily="2" charset="-78"/>
              </a:rPr>
              <a:t> </a:t>
            </a:r>
            <a:r>
              <a:rPr lang="ar-SA" sz="1800" b="1" kern="100" dirty="0">
                <a:effectLst/>
                <a:latin typeface="Aptos" panose="020B0004020202020204" pitchFamily="34" charset="0"/>
                <a:ea typeface="Aptos" panose="020B0004020202020204" pitchFamily="34" charset="0"/>
                <a:cs typeface="B Nazanin" panose="00000400000000000000" pitchFamily="2" charset="-78"/>
              </a:rPr>
              <a:t>بایت</a:t>
            </a:r>
            <a:r>
              <a:rPr lang="fa-IR" sz="1800" b="1" kern="100" dirty="0">
                <a:effectLst/>
                <a:latin typeface="Aptos" panose="020B0004020202020204" pitchFamily="34" charset="0"/>
                <a:ea typeface="Aptos" panose="020B0004020202020204" pitchFamily="34" charset="0"/>
                <a:cs typeface="B Nazanin" panose="00000400000000000000" pitchFamily="2" charset="-78"/>
              </a:rPr>
              <a:t> -</a:t>
            </a:r>
            <a:r>
              <a:rPr lang="ar-SA" sz="1800" b="1" kern="100" dirty="0">
                <a:effectLst/>
                <a:latin typeface="Aptos" panose="020B0004020202020204" pitchFamily="34" charset="0"/>
                <a:ea typeface="Aptos" panose="020B0004020202020204" pitchFamily="34" charset="0"/>
                <a:cs typeface="B Nazanin" panose="00000400000000000000" pitchFamily="2" charset="-78"/>
              </a:rPr>
              <a:t>اندازه کل حافظه فیزیکی </a:t>
            </a:r>
            <a:r>
              <a:rPr lang="en-US" sz="1800" b="1" kern="100" dirty="0">
                <a:effectLst/>
                <a:latin typeface="Aptos" panose="020B0004020202020204" pitchFamily="34" charset="0"/>
                <a:ea typeface="Aptos" panose="020B0004020202020204" pitchFamily="34" charset="0"/>
                <a:cs typeface="B Nazanin" panose="00000400000000000000" pitchFamily="2" charset="-78"/>
              </a:rPr>
              <a:t> 2^5=32</a:t>
            </a:r>
            <a:r>
              <a:rPr lang="ar-SA" sz="1800" b="1" kern="100" dirty="0">
                <a:effectLst/>
                <a:latin typeface="Aptos" panose="020B0004020202020204" pitchFamily="34" charset="0"/>
                <a:ea typeface="Aptos" panose="020B0004020202020204" pitchFamily="34" charset="0"/>
                <a:cs typeface="B Nazanin" panose="00000400000000000000" pitchFamily="2" charset="-78"/>
              </a:rPr>
              <a:t>بایت</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بنابراین حافظه فیزیکی شامل </a:t>
            </a:r>
            <a:r>
              <a:rPr lang="en-US" sz="1800" b="1" kern="100" dirty="0">
                <a:effectLst/>
                <a:latin typeface="Aptos" panose="020B0004020202020204" pitchFamily="34" charset="0"/>
                <a:ea typeface="Aptos" panose="020B0004020202020204" pitchFamily="34" charset="0"/>
                <a:cs typeface="B Nazanin" panose="00000400000000000000" pitchFamily="2" charset="-78"/>
              </a:rPr>
              <a:t> </a:t>
            </a:r>
            <a:r>
              <a:rPr lang="fa-IR" sz="1800" b="1" kern="100" dirty="0">
                <a:effectLst/>
                <a:latin typeface="Aptos" panose="020B0004020202020204" pitchFamily="34" charset="0"/>
                <a:ea typeface="Aptos" panose="020B0004020202020204" pitchFamily="34" charset="0"/>
                <a:cs typeface="B Nazanin" panose="00000400000000000000" pitchFamily="2" charset="-78"/>
              </a:rPr>
              <a:t>(۳۲/۴=8)۸ </a:t>
            </a:r>
            <a:r>
              <a:rPr lang="ar-SA" sz="1800" b="1" kern="100" dirty="0">
                <a:effectLst/>
                <a:latin typeface="Aptos" panose="020B0004020202020204" pitchFamily="34" charset="0"/>
                <a:ea typeface="Aptos" panose="020B0004020202020204" pitchFamily="34" charset="0"/>
                <a:cs typeface="B Nazanin" panose="00000400000000000000" pitchFamily="2" charset="-78"/>
              </a:rPr>
              <a:t>فریم </a:t>
            </a:r>
            <a:r>
              <a:rPr lang="fa-IR" sz="1800" b="1" kern="100" dirty="0">
                <a:effectLst/>
                <a:latin typeface="Aptos" panose="020B0004020202020204" pitchFamily="34" charset="0"/>
                <a:ea typeface="Aptos" panose="020B0004020202020204" pitchFamily="34" charset="0"/>
                <a:cs typeface="B Nazanin" panose="00000400000000000000" pitchFamily="2" charset="-78"/>
              </a:rPr>
              <a:t>۴</a:t>
            </a:r>
            <a:r>
              <a:rPr lang="ar-SA" sz="1800" b="1" kern="100" dirty="0">
                <a:effectLst/>
                <a:latin typeface="Aptos" panose="020B0004020202020204" pitchFamily="34" charset="0"/>
                <a:ea typeface="Aptos" panose="020B0004020202020204" pitchFamily="34" charset="0"/>
                <a:cs typeface="B Nazanin" panose="00000400000000000000" pitchFamily="2" charset="-78"/>
              </a:rPr>
              <a:t> بایتی است</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r>
              <a:rPr lang="en-US" sz="1800" b="1" kern="100" dirty="0">
                <a:effectLst/>
                <a:latin typeface="Aptos" panose="020B0004020202020204" pitchFamily="34" charset="0"/>
                <a:ea typeface="Aptos" panose="020B0004020202020204" pitchFamily="34" charset="0"/>
                <a:cs typeface="B Nazanin" panose="00000400000000000000" pitchFamily="2" charset="-78"/>
              </a:rPr>
              <a:t> </a:t>
            </a:r>
            <a:r>
              <a:rPr lang="ar-SA" sz="1800" b="1" kern="100" dirty="0">
                <a:effectLst/>
                <a:latin typeface="Aptos" panose="020B0004020202020204" pitchFamily="34" charset="0"/>
                <a:ea typeface="Aptos" panose="020B0004020202020204" pitchFamily="34" charset="0"/>
                <a:cs typeface="B Nazanin" panose="00000400000000000000" pitchFamily="2" charset="-78"/>
              </a:rPr>
              <a:t>اجزا</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آدرس منطقی</a:t>
            </a:r>
            <a:r>
              <a:rPr lang="en-US" sz="1800" b="1" kern="100" dirty="0">
                <a:effectLst/>
                <a:latin typeface="Aptos" panose="020B0004020202020204" pitchFamily="34" charset="0"/>
                <a:ea typeface="Aptos" panose="020B0004020202020204" pitchFamily="34" charset="0"/>
                <a:cs typeface="B Nazanin" panose="00000400000000000000" pitchFamily="2" charset="-78"/>
              </a:rPr>
              <a:t> (Logical Address): </a:t>
            </a:r>
            <a:r>
              <a:rPr lang="ar-SA" sz="1800" b="1" kern="100" dirty="0">
                <a:effectLst/>
                <a:latin typeface="Aptos" panose="020B0004020202020204" pitchFamily="34" charset="0"/>
                <a:ea typeface="Aptos" panose="020B0004020202020204" pitchFamily="34" charset="0"/>
                <a:cs typeface="B Nazanin" panose="00000400000000000000" pitchFamily="2" charset="-78"/>
              </a:rPr>
              <a:t>چیزی است که برنامه تولید می‌کند</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صفحه</a:t>
            </a:r>
            <a:r>
              <a:rPr lang="en-US" sz="1800" b="1" kern="100" dirty="0">
                <a:effectLst/>
                <a:latin typeface="Aptos" panose="020B0004020202020204" pitchFamily="34" charset="0"/>
                <a:ea typeface="Aptos" panose="020B0004020202020204" pitchFamily="34" charset="0"/>
                <a:cs typeface="B Nazanin" panose="00000400000000000000" pitchFamily="2" charset="-78"/>
              </a:rPr>
              <a:t> (Page): </a:t>
            </a:r>
            <a:r>
              <a:rPr lang="ar-SA" sz="1800" b="1" kern="100" dirty="0">
                <a:effectLst/>
                <a:latin typeface="Aptos" panose="020B0004020202020204" pitchFamily="34" charset="0"/>
                <a:ea typeface="Aptos" panose="020B0004020202020204" pitchFamily="34" charset="0"/>
                <a:cs typeface="B Nazanin" panose="00000400000000000000" pitchFamily="2" charset="-78"/>
              </a:rPr>
              <a:t>هر آدرس منطقی به یک صفحه و یک افست</a:t>
            </a:r>
            <a:r>
              <a:rPr lang="en-US" sz="1800" b="1" kern="100" dirty="0">
                <a:effectLst/>
                <a:latin typeface="Aptos" panose="020B0004020202020204" pitchFamily="34" charset="0"/>
                <a:ea typeface="Aptos" panose="020B0004020202020204" pitchFamily="34" charset="0"/>
                <a:cs typeface="B Nazanin" panose="00000400000000000000" pitchFamily="2" charset="-78"/>
              </a:rPr>
              <a:t> (Offset) </a:t>
            </a:r>
            <a:r>
              <a:rPr lang="ar-SA" sz="1800" b="1" kern="100" dirty="0">
                <a:effectLst/>
                <a:latin typeface="Aptos" panose="020B0004020202020204" pitchFamily="34" charset="0"/>
                <a:ea typeface="Aptos" panose="020B0004020202020204" pitchFamily="34" charset="0"/>
                <a:cs typeface="B Nazanin" panose="00000400000000000000" pitchFamily="2" charset="-78"/>
              </a:rPr>
              <a:t>تقسیم می‌شود</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جدول صفحه‌بندی</a:t>
            </a:r>
            <a:r>
              <a:rPr lang="en-US" sz="1800" b="1" kern="100" dirty="0">
                <a:effectLst/>
                <a:latin typeface="Aptos" panose="020B0004020202020204" pitchFamily="34" charset="0"/>
                <a:ea typeface="Aptos" panose="020B0004020202020204" pitchFamily="34" charset="0"/>
                <a:cs typeface="B Nazanin" panose="00000400000000000000" pitchFamily="2" charset="-78"/>
              </a:rPr>
              <a:t> (Page Table): </a:t>
            </a:r>
            <a:r>
              <a:rPr lang="ar-SA" sz="1800" b="1" kern="100" dirty="0">
                <a:effectLst/>
                <a:latin typeface="Aptos" panose="020B0004020202020204" pitchFamily="34" charset="0"/>
                <a:ea typeface="Aptos" panose="020B0004020202020204" pitchFamily="34" charset="0"/>
                <a:cs typeface="B Nazanin" panose="00000400000000000000" pitchFamily="2" charset="-78"/>
              </a:rPr>
              <a:t>سیستم‌عامل از این جدول برای تبدیل آدرس منطقی به فیزیکی استفاده می‌کند</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Aptos" panose="020B0004020202020204" pitchFamily="34" charset="0"/>
                <a:ea typeface="Aptos" panose="020B0004020202020204" pitchFamily="34" charset="0"/>
                <a:cs typeface="B Nazanin" panose="00000400000000000000" pitchFamily="2" charset="-78"/>
              </a:rPr>
              <a:t>آدرس فیزیکی</a:t>
            </a:r>
            <a:r>
              <a:rPr lang="en-US" sz="1800" b="1" kern="100" dirty="0">
                <a:effectLst/>
                <a:latin typeface="Aptos" panose="020B0004020202020204" pitchFamily="34" charset="0"/>
                <a:ea typeface="Aptos" panose="020B0004020202020204" pitchFamily="34" charset="0"/>
                <a:cs typeface="B Nazanin" panose="00000400000000000000" pitchFamily="2" charset="-78"/>
              </a:rPr>
              <a:t> (Physical Address): </a:t>
            </a:r>
            <a:r>
              <a:rPr lang="ar-SA" sz="1800" b="1" kern="100" dirty="0">
                <a:effectLst/>
                <a:latin typeface="Aptos" panose="020B0004020202020204" pitchFamily="34" charset="0"/>
                <a:ea typeface="Aptos" panose="020B0004020202020204" pitchFamily="34" charset="0"/>
                <a:cs typeface="B Nazanin" panose="00000400000000000000" pitchFamily="2" charset="-78"/>
              </a:rPr>
              <a:t>آدرسی است که در حافظه واقعی</a:t>
            </a:r>
            <a:r>
              <a:rPr lang="en-US" sz="1800" b="1" kern="100" dirty="0">
                <a:effectLst/>
                <a:latin typeface="Aptos" panose="020B0004020202020204" pitchFamily="34" charset="0"/>
                <a:ea typeface="Aptos" panose="020B0004020202020204" pitchFamily="34" charset="0"/>
                <a:cs typeface="B Nazanin" panose="00000400000000000000" pitchFamily="2" charset="-78"/>
              </a:rPr>
              <a:t> (RAM) </a:t>
            </a:r>
            <a:r>
              <a:rPr lang="ar-SA" sz="1800" b="1" kern="100" dirty="0">
                <a:effectLst/>
                <a:latin typeface="Aptos" panose="020B0004020202020204" pitchFamily="34" charset="0"/>
                <a:ea typeface="Aptos" panose="020B0004020202020204" pitchFamily="34" charset="0"/>
                <a:cs typeface="B Nazanin" panose="00000400000000000000" pitchFamily="2" charset="-78"/>
              </a:rPr>
              <a:t>استفاده می‌شود</a:t>
            </a:r>
            <a:r>
              <a:rPr lang="en-US" sz="1800" b="1"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algn="r" rtl="1"/>
            <a:endParaRPr lang="en-US" alt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A5C34-AE76-0D26-0C49-0149DC45FFC7}"/>
            </a:ext>
          </a:extLst>
        </p:cNvPr>
        <p:cNvGrpSpPr/>
        <p:nvPr/>
      </p:nvGrpSpPr>
      <p:grpSpPr>
        <a:xfrm>
          <a:off x="0" y="0"/>
          <a:ext cx="0" cy="0"/>
          <a:chOff x="0" y="0"/>
          <a:chExt cx="0" cy="0"/>
        </a:xfrm>
      </p:grpSpPr>
      <p:sp>
        <p:nvSpPr>
          <p:cNvPr id="29699" name="Content Placeholder 2">
            <a:extLst>
              <a:ext uri="{FF2B5EF4-FFF2-40B4-BE49-F238E27FC236}">
                <a16:creationId xmlns:a16="http://schemas.microsoft.com/office/drawing/2014/main" id="{D2AF8FE3-386A-E795-4776-BC75512AEBB3}"/>
              </a:ext>
            </a:extLst>
          </p:cNvPr>
          <p:cNvSpPr>
            <a:spLocks noGrp="1"/>
          </p:cNvSpPr>
          <p:nvPr>
            <p:ph idx="1"/>
          </p:nvPr>
        </p:nvSpPr>
        <p:spPr>
          <a:xfrm>
            <a:off x="2868460" y="1138239"/>
            <a:ext cx="5566413" cy="5156274"/>
          </a:xfrm>
        </p:spPr>
        <p:txBody>
          <a:bodyPr/>
          <a:lstStyle/>
          <a:p>
            <a:pPr algn="r" rtl="1"/>
            <a:r>
              <a:rPr lang="en-US" sz="2200" b="1" dirty="0">
                <a:cs typeface="B Nazanin" panose="00000400000000000000" pitchFamily="2" charset="-78"/>
              </a:rPr>
              <a:t>🎯 </a:t>
            </a:r>
            <a:r>
              <a:rPr lang="ar-SA" sz="2200" b="1" dirty="0">
                <a:cs typeface="B Nazanin" panose="00000400000000000000" pitchFamily="2" charset="-78"/>
              </a:rPr>
              <a:t>چند مثال از نگاشت آدرس‌ها</a:t>
            </a:r>
            <a:r>
              <a:rPr lang="en-US" sz="2200" b="1" dirty="0">
                <a:cs typeface="B Nazanin" panose="00000400000000000000" pitchFamily="2" charset="-78"/>
              </a:rPr>
              <a:t>:</a:t>
            </a:r>
            <a:endParaRPr lang="en-US" sz="2200" dirty="0">
              <a:cs typeface="B Nazanin" panose="00000400000000000000" pitchFamily="2" charset="-78"/>
            </a:endParaRPr>
          </a:p>
          <a:p>
            <a:pPr marL="0" indent="0" algn="r" rtl="1">
              <a:buNone/>
            </a:pPr>
            <a:r>
              <a:rPr lang="en-US" sz="2200" b="1" dirty="0">
                <a:cs typeface="B Nazanin" panose="00000400000000000000" pitchFamily="2" charset="-78"/>
              </a:rPr>
              <a:t>✅ </a:t>
            </a:r>
            <a:r>
              <a:rPr lang="ar-SA" sz="2200" b="1" dirty="0">
                <a:cs typeface="B Nazanin" panose="00000400000000000000" pitchFamily="2" charset="-78"/>
              </a:rPr>
              <a:t>آدرس منطقی </a:t>
            </a:r>
            <a:r>
              <a:rPr lang="fa-IR" sz="2200" b="1" dirty="0">
                <a:cs typeface="B Nazanin" panose="00000400000000000000" pitchFamily="2" charset="-78"/>
              </a:rPr>
              <a:t>۰</a:t>
            </a:r>
            <a:r>
              <a:rPr lang="en-US" sz="2200" b="1" dirty="0">
                <a:cs typeface="B Nazanin" panose="00000400000000000000" pitchFamily="2" charset="-78"/>
              </a:rPr>
              <a:t>:</a:t>
            </a:r>
            <a:r>
              <a:rPr lang="fa-IR" sz="2200" b="1" dirty="0">
                <a:cs typeface="B Nazanin" panose="00000400000000000000" pitchFamily="2" charset="-78"/>
              </a:rPr>
              <a:t> </a:t>
            </a:r>
            <a:r>
              <a:rPr lang="ar-SA" sz="2200" b="1" dirty="0">
                <a:cs typeface="B Nazanin" panose="00000400000000000000" pitchFamily="2" charset="-78"/>
              </a:rPr>
              <a:t>صفحه = </a:t>
            </a:r>
            <a:r>
              <a:rPr lang="fa-IR" sz="2200" b="1" dirty="0">
                <a:cs typeface="B Nazanin" panose="00000400000000000000" pitchFamily="2" charset="-78"/>
              </a:rPr>
              <a:t>۰</a:t>
            </a:r>
            <a:r>
              <a:rPr lang="ar-SA" sz="2200" b="1" dirty="0">
                <a:cs typeface="B Nazanin" panose="00000400000000000000" pitchFamily="2" charset="-78"/>
              </a:rPr>
              <a:t>، افست = </a:t>
            </a:r>
            <a:r>
              <a:rPr lang="fa-IR" sz="2200" b="1" dirty="0">
                <a:cs typeface="B Nazanin" panose="00000400000000000000" pitchFamily="2" charset="-78"/>
              </a:rPr>
              <a:t>۰</a:t>
            </a:r>
            <a:endParaRPr lang="en-US" sz="2200" dirty="0">
              <a:cs typeface="B Nazanin" panose="00000400000000000000" pitchFamily="2" charset="-78"/>
            </a:endParaRPr>
          </a:p>
          <a:p>
            <a:pPr lvl="1" algn="r" rtl="1"/>
            <a:r>
              <a:rPr lang="ar-SA" sz="2200" b="1" dirty="0">
                <a:cs typeface="B Nazanin" panose="00000400000000000000" pitchFamily="2" charset="-78"/>
              </a:rPr>
              <a:t>جدول صفحه‌بندی می‌گوید: صفحه‌ی </a:t>
            </a:r>
            <a:r>
              <a:rPr lang="fa-IR" sz="2200" b="1" dirty="0">
                <a:cs typeface="B Nazanin" panose="00000400000000000000" pitchFamily="2" charset="-78"/>
              </a:rPr>
              <a:t>۰ ← </a:t>
            </a:r>
            <a:r>
              <a:rPr lang="ar-SA" sz="2200" b="1" dirty="0">
                <a:cs typeface="B Nazanin" panose="00000400000000000000" pitchFamily="2" charset="-78"/>
              </a:rPr>
              <a:t>فریم </a:t>
            </a:r>
            <a:r>
              <a:rPr lang="fa-IR" sz="2200" b="1" dirty="0">
                <a:cs typeface="B Nazanin" panose="00000400000000000000" pitchFamily="2" charset="-78"/>
              </a:rPr>
              <a:t>۵</a:t>
            </a:r>
            <a:endParaRPr lang="en-US" sz="2200" dirty="0">
              <a:cs typeface="B Nazanin" panose="00000400000000000000" pitchFamily="2" charset="-78"/>
            </a:endParaRPr>
          </a:p>
          <a:p>
            <a:pPr lvl="1" algn="r" rtl="1"/>
            <a:r>
              <a:rPr lang="ar-SA" sz="2200" b="1" dirty="0">
                <a:cs typeface="B Nazanin" panose="00000400000000000000" pitchFamily="2" charset="-78"/>
              </a:rPr>
              <a:t>آدرس فیزیکی </a:t>
            </a:r>
            <a:r>
              <a:rPr lang="fa-IR" sz="2200" b="1" dirty="0">
                <a:cs typeface="B Nazanin" panose="00000400000000000000" pitchFamily="2" charset="-78"/>
              </a:rPr>
              <a:t>(4*5)+0=۲0</a:t>
            </a:r>
            <a:endParaRPr lang="en-US" sz="2200" dirty="0">
              <a:cs typeface="B Nazanin" panose="00000400000000000000" pitchFamily="2" charset="-78"/>
            </a:endParaRPr>
          </a:p>
          <a:p>
            <a:pPr marL="0" indent="0" algn="r" rtl="1">
              <a:buNone/>
            </a:pPr>
            <a:r>
              <a:rPr lang="en-US" sz="2200" b="1" dirty="0">
                <a:cs typeface="B Nazanin" panose="00000400000000000000" pitchFamily="2" charset="-78"/>
              </a:rPr>
              <a:t>✅ </a:t>
            </a:r>
            <a:r>
              <a:rPr lang="ar-SA" sz="2200" b="1" dirty="0">
                <a:cs typeface="B Nazanin" panose="00000400000000000000" pitchFamily="2" charset="-78"/>
              </a:rPr>
              <a:t>آدرس منطقی </a:t>
            </a:r>
            <a:r>
              <a:rPr lang="fa-IR" sz="2200" b="1" dirty="0">
                <a:cs typeface="B Nazanin" panose="00000400000000000000" pitchFamily="2" charset="-78"/>
              </a:rPr>
              <a:t>۳</a:t>
            </a:r>
            <a:r>
              <a:rPr lang="en-US" sz="2200" b="1" dirty="0">
                <a:cs typeface="B Nazanin" panose="00000400000000000000" pitchFamily="2" charset="-78"/>
              </a:rPr>
              <a:t>:</a:t>
            </a:r>
            <a:r>
              <a:rPr lang="fa-IR" sz="2200" b="1" dirty="0">
                <a:cs typeface="B Nazanin" panose="00000400000000000000" pitchFamily="2" charset="-78"/>
              </a:rPr>
              <a:t> </a:t>
            </a:r>
            <a:r>
              <a:rPr lang="ar-SA" sz="2200" b="1" dirty="0">
                <a:cs typeface="B Nazanin" panose="00000400000000000000" pitchFamily="2" charset="-78"/>
              </a:rPr>
              <a:t>صفحه = </a:t>
            </a:r>
            <a:r>
              <a:rPr lang="fa-IR" sz="2200" b="1" dirty="0">
                <a:cs typeface="B Nazanin" panose="00000400000000000000" pitchFamily="2" charset="-78"/>
              </a:rPr>
              <a:t>۰</a:t>
            </a:r>
            <a:r>
              <a:rPr lang="ar-SA" sz="2200" b="1" dirty="0">
                <a:cs typeface="B Nazanin" panose="00000400000000000000" pitchFamily="2" charset="-78"/>
              </a:rPr>
              <a:t>، افست = </a:t>
            </a:r>
            <a:r>
              <a:rPr lang="fa-IR" sz="2200" b="1" dirty="0">
                <a:cs typeface="B Nazanin" panose="00000400000000000000" pitchFamily="2" charset="-78"/>
              </a:rPr>
              <a:t>۳</a:t>
            </a:r>
            <a:endParaRPr lang="en-US" sz="2200" dirty="0">
              <a:cs typeface="B Nazanin" panose="00000400000000000000" pitchFamily="2" charset="-78"/>
            </a:endParaRPr>
          </a:p>
          <a:p>
            <a:pPr lvl="1" algn="r" rtl="1"/>
            <a:r>
              <a:rPr lang="ar-SA" sz="2200" b="1" dirty="0">
                <a:cs typeface="B Nazanin" panose="00000400000000000000" pitchFamily="2" charset="-78"/>
              </a:rPr>
              <a:t>صفحه‌ی </a:t>
            </a:r>
            <a:r>
              <a:rPr lang="fa-IR" sz="2200" b="1" dirty="0">
                <a:cs typeface="B Nazanin" panose="00000400000000000000" pitchFamily="2" charset="-78"/>
              </a:rPr>
              <a:t>۰</a:t>
            </a:r>
            <a:r>
              <a:rPr lang="ar-SA" sz="2200" b="1" dirty="0">
                <a:cs typeface="B Nazanin" panose="00000400000000000000" pitchFamily="2" charset="-78"/>
              </a:rPr>
              <a:t> هنوز هم در فریم </a:t>
            </a:r>
            <a:r>
              <a:rPr lang="fa-IR" sz="2200" b="1" dirty="0">
                <a:cs typeface="B Nazanin" panose="00000400000000000000" pitchFamily="2" charset="-78"/>
              </a:rPr>
              <a:t>۵</a:t>
            </a:r>
            <a:r>
              <a:rPr lang="ar-SA" sz="2200" b="1" dirty="0">
                <a:cs typeface="B Nazanin" panose="00000400000000000000" pitchFamily="2" charset="-78"/>
              </a:rPr>
              <a:t> است</a:t>
            </a:r>
            <a:endParaRPr lang="en-US" sz="2200" dirty="0">
              <a:cs typeface="B Nazanin" panose="00000400000000000000" pitchFamily="2" charset="-78"/>
            </a:endParaRPr>
          </a:p>
          <a:p>
            <a:pPr lvl="1" algn="r" rtl="1"/>
            <a:r>
              <a:rPr lang="ar-SA" sz="2200" b="1" dirty="0">
                <a:cs typeface="B Nazanin" panose="00000400000000000000" pitchFamily="2" charset="-78"/>
              </a:rPr>
              <a:t>آدرس فیزیکی </a:t>
            </a:r>
            <a:r>
              <a:rPr lang="fa-IR" sz="2200" b="1" dirty="0">
                <a:cs typeface="B Nazanin" panose="00000400000000000000" pitchFamily="2" charset="-78"/>
              </a:rPr>
              <a:t>(5*4)+3=۲۳</a:t>
            </a:r>
            <a:endParaRPr lang="en-US" sz="2200" dirty="0">
              <a:cs typeface="B Nazanin" panose="00000400000000000000" pitchFamily="2" charset="-78"/>
            </a:endParaRPr>
          </a:p>
          <a:p>
            <a:pPr marL="0" indent="0" algn="r" rtl="1">
              <a:buNone/>
            </a:pPr>
            <a:r>
              <a:rPr lang="en-US" sz="2200" b="1" dirty="0">
                <a:cs typeface="B Nazanin" panose="00000400000000000000" pitchFamily="2" charset="-78"/>
              </a:rPr>
              <a:t>✅ </a:t>
            </a:r>
            <a:r>
              <a:rPr lang="ar-SA" sz="2200" b="1" dirty="0">
                <a:cs typeface="B Nazanin" panose="00000400000000000000" pitchFamily="2" charset="-78"/>
              </a:rPr>
              <a:t>آدرس منطقی </a:t>
            </a:r>
            <a:r>
              <a:rPr lang="fa-IR" sz="2200" b="1" dirty="0">
                <a:cs typeface="B Nazanin" panose="00000400000000000000" pitchFamily="2" charset="-78"/>
              </a:rPr>
              <a:t>۴</a:t>
            </a:r>
            <a:r>
              <a:rPr lang="en-US" sz="2200" b="1" dirty="0">
                <a:cs typeface="B Nazanin" panose="00000400000000000000" pitchFamily="2" charset="-78"/>
              </a:rPr>
              <a:t>:</a:t>
            </a:r>
            <a:r>
              <a:rPr lang="fa-IR" sz="2200" b="1" dirty="0">
                <a:cs typeface="B Nazanin" panose="00000400000000000000" pitchFamily="2" charset="-78"/>
              </a:rPr>
              <a:t> </a:t>
            </a:r>
            <a:r>
              <a:rPr lang="ar-SA" sz="2200" b="1" dirty="0">
                <a:cs typeface="B Nazanin" panose="00000400000000000000" pitchFamily="2" charset="-78"/>
              </a:rPr>
              <a:t>صفحه = </a:t>
            </a:r>
            <a:r>
              <a:rPr lang="fa-IR" sz="2200" b="1" dirty="0">
                <a:cs typeface="B Nazanin" panose="00000400000000000000" pitchFamily="2" charset="-78"/>
              </a:rPr>
              <a:t>۱</a:t>
            </a:r>
            <a:r>
              <a:rPr lang="ar-SA" sz="2200" b="1" dirty="0">
                <a:cs typeface="B Nazanin" panose="00000400000000000000" pitchFamily="2" charset="-78"/>
              </a:rPr>
              <a:t>، افست = </a:t>
            </a:r>
            <a:r>
              <a:rPr lang="fa-IR" sz="2200" b="1" dirty="0">
                <a:cs typeface="B Nazanin" panose="00000400000000000000" pitchFamily="2" charset="-78"/>
              </a:rPr>
              <a:t>۰</a:t>
            </a:r>
            <a:endParaRPr lang="en-US" sz="2200" dirty="0">
              <a:cs typeface="B Nazanin" panose="00000400000000000000" pitchFamily="2" charset="-78"/>
            </a:endParaRPr>
          </a:p>
          <a:p>
            <a:pPr lvl="1" algn="r" rtl="1"/>
            <a:r>
              <a:rPr lang="ar-SA" sz="2200" b="1" dirty="0">
                <a:cs typeface="B Nazanin" panose="00000400000000000000" pitchFamily="2" charset="-78"/>
              </a:rPr>
              <a:t>جدول صفحه‌بندی می‌گوید: صفحه‌ی </a:t>
            </a:r>
            <a:r>
              <a:rPr lang="fa-IR" sz="2200" b="1" dirty="0">
                <a:cs typeface="B Nazanin" panose="00000400000000000000" pitchFamily="2" charset="-78"/>
              </a:rPr>
              <a:t>۱ ← </a:t>
            </a:r>
            <a:r>
              <a:rPr lang="ar-SA" sz="2200" b="1" dirty="0">
                <a:cs typeface="B Nazanin" panose="00000400000000000000" pitchFamily="2" charset="-78"/>
              </a:rPr>
              <a:t>فریم </a:t>
            </a:r>
            <a:r>
              <a:rPr lang="fa-IR" sz="2200" b="1" dirty="0">
                <a:cs typeface="B Nazanin" panose="00000400000000000000" pitchFamily="2" charset="-78"/>
              </a:rPr>
              <a:t>۶</a:t>
            </a:r>
            <a:endParaRPr lang="en-US" sz="2200" dirty="0">
              <a:cs typeface="B Nazanin" panose="00000400000000000000" pitchFamily="2" charset="-78"/>
            </a:endParaRPr>
          </a:p>
          <a:p>
            <a:pPr lvl="1" algn="r" rtl="1"/>
            <a:r>
              <a:rPr lang="ar-SA" sz="2200" b="1" dirty="0">
                <a:cs typeface="B Nazanin" panose="00000400000000000000" pitchFamily="2" charset="-78"/>
              </a:rPr>
              <a:t>آدرس فیزیکی </a:t>
            </a:r>
            <a:r>
              <a:rPr lang="fa-IR" sz="2200" b="1" dirty="0">
                <a:cs typeface="B Nazanin" panose="00000400000000000000" pitchFamily="2" charset="-78"/>
              </a:rPr>
              <a:t>(6*4)+0=۲۴</a:t>
            </a:r>
            <a:endParaRPr lang="en-US" sz="2200" dirty="0">
              <a:cs typeface="B Nazanin" panose="00000400000000000000" pitchFamily="2" charset="-78"/>
            </a:endParaRPr>
          </a:p>
        </p:txBody>
      </p:sp>
      <p:pic>
        <p:nvPicPr>
          <p:cNvPr id="29700" name="Picture 6">
            <a:extLst>
              <a:ext uri="{FF2B5EF4-FFF2-40B4-BE49-F238E27FC236}">
                <a16:creationId xmlns:a16="http://schemas.microsoft.com/office/drawing/2014/main" id="{6CE4024D-C303-93E0-FEBB-89739CAA2F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4250" b="46739"/>
          <a:stretch/>
        </p:blipFill>
        <p:spPr bwMode="auto">
          <a:xfrm>
            <a:off x="213172" y="1951152"/>
            <a:ext cx="1017362" cy="2622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4">
            <a:extLst>
              <a:ext uri="{FF2B5EF4-FFF2-40B4-BE49-F238E27FC236}">
                <a16:creationId xmlns:a16="http://schemas.microsoft.com/office/drawing/2014/main" id="{6AEB671D-9800-A772-11D1-40E254D628D2}"/>
              </a:ext>
            </a:extLst>
          </p:cNvPr>
          <p:cNvSpPr txBox="1">
            <a:spLocks noGrp="1"/>
          </p:cNvSpPr>
          <p:nvPr>
            <p:ph type="title"/>
          </p:nvPr>
        </p:nvSpPr>
        <p:spPr>
          <a:xfrm>
            <a:off x="488950" y="347960"/>
            <a:ext cx="8229600" cy="461665"/>
          </a:xfrm>
          <a:prstGeom prst="rect">
            <a:avLst/>
          </a:prstGeom>
          <a:noFill/>
        </p:spPr>
        <p:txBody>
          <a:bodyPr wrap="square">
            <a:spAutoFit/>
          </a:bodyPr>
          <a:lstStyle/>
          <a:p>
            <a:r>
              <a:rPr lang="fa-IR" sz="2400" b="1" dirty="0">
                <a:effectLst/>
                <a:latin typeface="Times New Roman" panose="02020603050405020304" pitchFamily="18" charset="0"/>
                <a:ea typeface="Times New Roman" panose="02020603050405020304" pitchFamily="18" charset="0"/>
                <a:cs typeface="B Nazanin" panose="00000400000000000000" pitchFamily="2" charset="-78"/>
              </a:rPr>
              <a:t>مثال صفحه بندی</a:t>
            </a:r>
            <a:endParaRPr lang="en-US" sz="4000" dirty="0"/>
          </a:p>
        </p:txBody>
      </p:sp>
      <p:pic>
        <p:nvPicPr>
          <p:cNvPr id="7" name="Picture 6">
            <a:extLst>
              <a:ext uri="{FF2B5EF4-FFF2-40B4-BE49-F238E27FC236}">
                <a16:creationId xmlns:a16="http://schemas.microsoft.com/office/drawing/2014/main" id="{5342BF6C-E335-A265-CA58-2AB7B12264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4250"/>
          <a:stretch/>
        </p:blipFill>
        <p:spPr bwMode="auto">
          <a:xfrm>
            <a:off x="1605517" y="1586238"/>
            <a:ext cx="1017362" cy="4923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a:extLst>
              <a:ext uri="{FF2B5EF4-FFF2-40B4-BE49-F238E27FC236}">
                <a16:creationId xmlns:a16="http://schemas.microsoft.com/office/drawing/2014/main" id="{A1323BA2-0F7F-B253-52E5-9019B1C6CA8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197" t="14517" r="42943" b="60286"/>
          <a:stretch/>
        </p:blipFill>
        <p:spPr bwMode="auto">
          <a:xfrm>
            <a:off x="1019190" y="2585550"/>
            <a:ext cx="745151" cy="1240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9C88AE8B-8B98-CD99-AC5A-A2304E5FD0D0}"/>
              </a:ext>
            </a:extLst>
          </p:cNvPr>
          <p:cNvSpPr txBox="1"/>
          <p:nvPr/>
        </p:nvSpPr>
        <p:spPr>
          <a:xfrm>
            <a:off x="246601" y="4384202"/>
            <a:ext cx="983933" cy="52322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sz="1400" b="1" dirty="0">
                <a:effectLst/>
                <a:latin typeface="Times New Roman" panose="02020603050405020304" pitchFamily="18" charset="0"/>
                <a:ea typeface="Times New Roman" panose="02020603050405020304" pitchFamily="18" charset="0"/>
                <a:cs typeface="B Nazanin" panose="00000400000000000000" pitchFamily="2" charset="-78"/>
              </a:rPr>
              <a:t>آدرس منطقی</a:t>
            </a:r>
            <a:endParaRPr lang="en-US" sz="1400" dirty="0"/>
          </a:p>
        </p:txBody>
      </p:sp>
      <p:sp>
        <p:nvSpPr>
          <p:cNvPr id="10" name="TextBox 9">
            <a:extLst>
              <a:ext uri="{FF2B5EF4-FFF2-40B4-BE49-F238E27FC236}">
                <a16:creationId xmlns:a16="http://schemas.microsoft.com/office/drawing/2014/main" id="{857A671F-BA12-22A9-800B-953D83DA6FD8}"/>
              </a:ext>
            </a:extLst>
          </p:cNvPr>
          <p:cNvSpPr txBox="1"/>
          <p:nvPr/>
        </p:nvSpPr>
        <p:spPr>
          <a:xfrm>
            <a:off x="1096836" y="3508000"/>
            <a:ext cx="667505" cy="46166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sz="1200" b="1" dirty="0">
                <a:effectLst/>
                <a:latin typeface="Times New Roman" panose="02020603050405020304" pitchFamily="18" charset="0"/>
                <a:ea typeface="Times New Roman" panose="02020603050405020304" pitchFamily="18" charset="0"/>
                <a:cs typeface="B Nazanin" panose="00000400000000000000" pitchFamily="2" charset="-78"/>
              </a:rPr>
              <a:t>جدول صفحه</a:t>
            </a:r>
            <a:endParaRPr lang="en-US" sz="1200" dirty="0"/>
          </a:p>
        </p:txBody>
      </p:sp>
      <p:sp>
        <p:nvSpPr>
          <p:cNvPr id="11" name="TextBox 10">
            <a:extLst>
              <a:ext uri="{FF2B5EF4-FFF2-40B4-BE49-F238E27FC236}">
                <a16:creationId xmlns:a16="http://schemas.microsoft.com/office/drawing/2014/main" id="{A6217B4C-6267-4DA8-47AB-7BF3A9D59665}"/>
              </a:ext>
            </a:extLst>
          </p:cNvPr>
          <p:cNvSpPr txBox="1"/>
          <p:nvPr/>
        </p:nvSpPr>
        <p:spPr>
          <a:xfrm>
            <a:off x="1159051" y="6294513"/>
            <a:ext cx="1910293" cy="307777"/>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fa-IR" sz="1400" b="1" dirty="0">
                <a:effectLst/>
                <a:latin typeface="Times New Roman" panose="02020603050405020304" pitchFamily="18" charset="0"/>
                <a:ea typeface="Times New Roman" panose="02020603050405020304" pitchFamily="18" charset="0"/>
                <a:cs typeface="B Nazanin" panose="00000400000000000000" pitchFamily="2" charset="-78"/>
              </a:rPr>
              <a:t>حافظه فیزیکی</a:t>
            </a:r>
            <a:endParaRPr lang="en-US" sz="1400" dirty="0"/>
          </a:p>
        </p:txBody>
      </p:sp>
      <p:grpSp>
        <p:nvGrpSpPr>
          <p:cNvPr id="27" name="Group 26">
            <a:extLst>
              <a:ext uri="{FF2B5EF4-FFF2-40B4-BE49-F238E27FC236}">
                <a16:creationId xmlns:a16="http://schemas.microsoft.com/office/drawing/2014/main" id="{6CBFC9B8-92F1-1E4E-87AE-9CF6C942F942}"/>
              </a:ext>
            </a:extLst>
          </p:cNvPr>
          <p:cNvGrpSpPr/>
          <p:nvPr/>
        </p:nvGrpSpPr>
        <p:grpSpPr>
          <a:xfrm>
            <a:off x="996220" y="1987230"/>
            <a:ext cx="250920" cy="2278440"/>
            <a:chOff x="996220" y="1987230"/>
            <a:chExt cx="250920" cy="2278440"/>
          </a:xfrm>
        </p:grpSpPr>
        <mc:AlternateContent xmlns:mc="http://schemas.openxmlformats.org/markup-compatibility/2006" xmlns:p14="http://schemas.microsoft.com/office/powerpoint/2010/main">
          <mc:Choice Requires="p14">
            <p:contentPart p14:bwMode="auto" r:id="rId4">
              <p14:nvContentPartPr>
                <p14:cNvPr id="16" name="Ink 15">
                  <a:extLst>
                    <a:ext uri="{FF2B5EF4-FFF2-40B4-BE49-F238E27FC236}">
                      <a16:creationId xmlns:a16="http://schemas.microsoft.com/office/drawing/2014/main" id="{9BC821DC-3248-92C2-2AFE-85067E32855B}"/>
                    </a:ext>
                  </a:extLst>
                </p14:cNvPr>
                <p14:cNvContentPartPr/>
                <p14:nvPr/>
              </p14:nvContentPartPr>
              <p14:xfrm>
                <a:off x="1028620" y="1987230"/>
                <a:ext cx="67320" cy="512280"/>
              </p14:xfrm>
            </p:contentPart>
          </mc:Choice>
          <mc:Fallback xmlns="">
            <p:pic>
              <p:nvPicPr>
                <p:cNvPr id="16" name="Ink 15">
                  <a:extLst>
                    <a:ext uri="{FF2B5EF4-FFF2-40B4-BE49-F238E27FC236}">
                      <a16:creationId xmlns:a16="http://schemas.microsoft.com/office/drawing/2014/main" id="{9BC821DC-3248-92C2-2AFE-85067E32855B}"/>
                    </a:ext>
                  </a:extLst>
                </p:cNvPr>
                <p:cNvPicPr/>
                <p:nvPr/>
              </p:nvPicPr>
              <p:blipFill>
                <a:blip r:embed="rId5"/>
                <a:stretch>
                  <a:fillRect/>
                </a:stretch>
              </p:blipFill>
              <p:spPr>
                <a:xfrm>
                  <a:off x="1022500" y="1981110"/>
                  <a:ext cx="79560" cy="524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7" name="Ink 16">
                  <a:extLst>
                    <a:ext uri="{FF2B5EF4-FFF2-40B4-BE49-F238E27FC236}">
                      <a16:creationId xmlns:a16="http://schemas.microsoft.com/office/drawing/2014/main" id="{B9284C73-9C25-A85D-18CC-4468254649BC}"/>
                    </a:ext>
                  </a:extLst>
                </p14:cNvPr>
                <p14:cNvContentPartPr/>
                <p14:nvPr/>
              </p14:nvContentPartPr>
              <p14:xfrm>
                <a:off x="1123660" y="2241390"/>
                <a:ext cx="123480" cy="479160"/>
              </p14:xfrm>
            </p:contentPart>
          </mc:Choice>
          <mc:Fallback xmlns="">
            <p:pic>
              <p:nvPicPr>
                <p:cNvPr id="17" name="Ink 16">
                  <a:extLst>
                    <a:ext uri="{FF2B5EF4-FFF2-40B4-BE49-F238E27FC236}">
                      <a16:creationId xmlns:a16="http://schemas.microsoft.com/office/drawing/2014/main" id="{B9284C73-9C25-A85D-18CC-4468254649BC}"/>
                    </a:ext>
                  </a:extLst>
                </p:cNvPr>
                <p:cNvPicPr/>
                <p:nvPr/>
              </p:nvPicPr>
              <p:blipFill>
                <a:blip r:embed="rId7"/>
                <a:stretch>
                  <a:fillRect/>
                </a:stretch>
              </p:blipFill>
              <p:spPr>
                <a:xfrm>
                  <a:off x="1117540" y="2235270"/>
                  <a:ext cx="135720" cy="491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9" name="Ink 18">
                  <a:extLst>
                    <a:ext uri="{FF2B5EF4-FFF2-40B4-BE49-F238E27FC236}">
                      <a16:creationId xmlns:a16="http://schemas.microsoft.com/office/drawing/2014/main" id="{4BCFA597-98C4-5BB7-FE61-3412834BF9F6}"/>
                    </a:ext>
                  </a:extLst>
                </p14:cNvPr>
                <p14:cNvContentPartPr/>
                <p14:nvPr/>
              </p14:nvContentPartPr>
              <p14:xfrm>
                <a:off x="996220" y="2629470"/>
                <a:ext cx="116280" cy="449280"/>
              </p14:xfrm>
            </p:contentPart>
          </mc:Choice>
          <mc:Fallback xmlns="">
            <p:pic>
              <p:nvPicPr>
                <p:cNvPr id="19" name="Ink 18">
                  <a:extLst>
                    <a:ext uri="{FF2B5EF4-FFF2-40B4-BE49-F238E27FC236}">
                      <a16:creationId xmlns:a16="http://schemas.microsoft.com/office/drawing/2014/main" id="{4BCFA597-98C4-5BB7-FE61-3412834BF9F6}"/>
                    </a:ext>
                  </a:extLst>
                </p:cNvPr>
                <p:cNvPicPr/>
                <p:nvPr/>
              </p:nvPicPr>
              <p:blipFill>
                <a:blip r:embed="rId9"/>
                <a:stretch>
                  <a:fillRect/>
                </a:stretch>
              </p:blipFill>
              <p:spPr>
                <a:xfrm>
                  <a:off x="990100" y="2623350"/>
                  <a:ext cx="128520" cy="461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0" name="Ink 19">
                  <a:extLst>
                    <a:ext uri="{FF2B5EF4-FFF2-40B4-BE49-F238E27FC236}">
                      <a16:creationId xmlns:a16="http://schemas.microsoft.com/office/drawing/2014/main" id="{6E15A679-ACA4-75D4-01F2-1CA3433A4C24}"/>
                    </a:ext>
                  </a:extLst>
                </p14:cNvPr>
                <p14:cNvContentPartPr/>
                <p14:nvPr/>
              </p14:nvContentPartPr>
              <p14:xfrm>
                <a:off x="1149220" y="2908110"/>
                <a:ext cx="90000" cy="115920"/>
              </p14:xfrm>
            </p:contentPart>
          </mc:Choice>
          <mc:Fallback xmlns="">
            <p:pic>
              <p:nvPicPr>
                <p:cNvPr id="20" name="Ink 19">
                  <a:extLst>
                    <a:ext uri="{FF2B5EF4-FFF2-40B4-BE49-F238E27FC236}">
                      <a16:creationId xmlns:a16="http://schemas.microsoft.com/office/drawing/2014/main" id="{6E15A679-ACA4-75D4-01F2-1CA3433A4C24}"/>
                    </a:ext>
                  </a:extLst>
                </p:cNvPr>
                <p:cNvPicPr/>
                <p:nvPr/>
              </p:nvPicPr>
              <p:blipFill>
                <a:blip r:embed="rId11"/>
                <a:stretch>
                  <a:fillRect/>
                </a:stretch>
              </p:blipFill>
              <p:spPr>
                <a:xfrm>
                  <a:off x="1143100" y="2901990"/>
                  <a:ext cx="10224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2" name="Ink 21">
                  <a:extLst>
                    <a:ext uri="{FF2B5EF4-FFF2-40B4-BE49-F238E27FC236}">
                      <a16:creationId xmlns:a16="http://schemas.microsoft.com/office/drawing/2014/main" id="{B063A3BF-5168-22A6-DF37-0463E441C18A}"/>
                    </a:ext>
                  </a:extLst>
                </p14:cNvPr>
                <p14:cNvContentPartPr/>
                <p14:nvPr/>
              </p14:nvContentPartPr>
              <p14:xfrm>
                <a:off x="1015660" y="3174870"/>
                <a:ext cx="58320" cy="486720"/>
              </p14:xfrm>
            </p:contentPart>
          </mc:Choice>
          <mc:Fallback xmlns="">
            <p:pic>
              <p:nvPicPr>
                <p:cNvPr id="22" name="Ink 21">
                  <a:extLst>
                    <a:ext uri="{FF2B5EF4-FFF2-40B4-BE49-F238E27FC236}">
                      <a16:creationId xmlns:a16="http://schemas.microsoft.com/office/drawing/2014/main" id="{B063A3BF-5168-22A6-DF37-0463E441C18A}"/>
                    </a:ext>
                  </a:extLst>
                </p:cNvPr>
                <p:cNvPicPr/>
                <p:nvPr/>
              </p:nvPicPr>
              <p:blipFill>
                <a:blip r:embed="rId13"/>
                <a:stretch>
                  <a:fillRect/>
                </a:stretch>
              </p:blipFill>
              <p:spPr>
                <a:xfrm>
                  <a:off x="1009540" y="3168750"/>
                  <a:ext cx="70560" cy="498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3" name="Ink 22">
                  <a:extLst>
                    <a:ext uri="{FF2B5EF4-FFF2-40B4-BE49-F238E27FC236}">
                      <a16:creationId xmlns:a16="http://schemas.microsoft.com/office/drawing/2014/main" id="{2E5CA52E-7E29-4F8D-127A-D9B2C128BC01}"/>
                    </a:ext>
                  </a:extLst>
                </p14:cNvPr>
                <p14:cNvContentPartPr/>
                <p14:nvPr/>
              </p14:nvContentPartPr>
              <p14:xfrm>
                <a:off x="1079380" y="3222390"/>
                <a:ext cx="142920" cy="124200"/>
              </p14:xfrm>
            </p:contentPart>
          </mc:Choice>
          <mc:Fallback xmlns="">
            <p:pic>
              <p:nvPicPr>
                <p:cNvPr id="23" name="Ink 22">
                  <a:extLst>
                    <a:ext uri="{FF2B5EF4-FFF2-40B4-BE49-F238E27FC236}">
                      <a16:creationId xmlns:a16="http://schemas.microsoft.com/office/drawing/2014/main" id="{2E5CA52E-7E29-4F8D-127A-D9B2C128BC01}"/>
                    </a:ext>
                  </a:extLst>
                </p:cNvPr>
                <p:cNvPicPr/>
                <p:nvPr/>
              </p:nvPicPr>
              <p:blipFill>
                <a:blip r:embed="rId15"/>
                <a:stretch>
                  <a:fillRect/>
                </a:stretch>
              </p:blipFill>
              <p:spPr>
                <a:xfrm>
                  <a:off x="1073260" y="3216270"/>
                  <a:ext cx="15516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5" name="Ink 24">
                  <a:extLst>
                    <a:ext uri="{FF2B5EF4-FFF2-40B4-BE49-F238E27FC236}">
                      <a16:creationId xmlns:a16="http://schemas.microsoft.com/office/drawing/2014/main" id="{68894BE8-2A2D-2ECA-BFC1-5500FDDD039F}"/>
                    </a:ext>
                  </a:extLst>
                </p14:cNvPr>
                <p14:cNvContentPartPr/>
                <p14:nvPr/>
              </p14:nvContentPartPr>
              <p14:xfrm>
                <a:off x="1028620" y="3739710"/>
                <a:ext cx="77760" cy="525960"/>
              </p14:xfrm>
            </p:contentPart>
          </mc:Choice>
          <mc:Fallback xmlns="">
            <p:pic>
              <p:nvPicPr>
                <p:cNvPr id="25" name="Ink 24">
                  <a:extLst>
                    <a:ext uri="{FF2B5EF4-FFF2-40B4-BE49-F238E27FC236}">
                      <a16:creationId xmlns:a16="http://schemas.microsoft.com/office/drawing/2014/main" id="{68894BE8-2A2D-2ECA-BFC1-5500FDDD039F}"/>
                    </a:ext>
                  </a:extLst>
                </p:cNvPr>
                <p:cNvPicPr/>
                <p:nvPr/>
              </p:nvPicPr>
              <p:blipFill>
                <a:blip r:embed="rId17"/>
                <a:stretch>
                  <a:fillRect/>
                </a:stretch>
              </p:blipFill>
              <p:spPr>
                <a:xfrm>
                  <a:off x="1022500" y="3733590"/>
                  <a:ext cx="90000" cy="5382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6" name="Ink 25">
                  <a:extLst>
                    <a:ext uri="{FF2B5EF4-FFF2-40B4-BE49-F238E27FC236}">
                      <a16:creationId xmlns:a16="http://schemas.microsoft.com/office/drawing/2014/main" id="{DF697DED-1B54-D09F-5F94-D82D45125B07}"/>
                    </a:ext>
                  </a:extLst>
                </p14:cNvPr>
                <p14:cNvContentPartPr/>
                <p14:nvPr/>
              </p14:nvContentPartPr>
              <p14:xfrm>
                <a:off x="1136620" y="3471870"/>
                <a:ext cx="102240" cy="465480"/>
              </p14:xfrm>
            </p:contentPart>
          </mc:Choice>
          <mc:Fallback xmlns="">
            <p:pic>
              <p:nvPicPr>
                <p:cNvPr id="26" name="Ink 25">
                  <a:extLst>
                    <a:ext uri="{FF2B5EF4-FFF2-40B4-BE49-F238E27FC236}">
                      <a16:creationId xmlns:a16="http://schemas.microsoft.com/office/drawing/2014/main" id="{DF697DED-1B54-D09F-5F94-D82D45125B07}"/>
                    </a:ext>
                  </a:extLst>
                </p:cNvPr>
                <p:cNvPicPr/>
                <p:nvPr/>
              </p:nvPicPr>
              <p:blipFill>
                <a:blip r:embed="rId19"/>
                <a:stretch>
                  <a:fillRect/>
                </a:stretch>
              </p:blipFill>
              <p:spPr>
                <a:xfrm>
                  <a:off x="1130500" y="3465750"/>
                  <a:ext cx="114480" cy="4777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20">
            <p14:nvContentPartPr>
              <p14:cNvPr id="28" name="Ink 27">
                <a:extLst>
                  <a:ext uri="{FF2B5EF4-FFF2-40B4-BE49-F238E27FC236}">
                    <a16:creationId xmlns:a16="http://schemas.microsoft.com/office/drawing/2014/main" id="{547A5796-DDE1-4828-8A8C-120D0E993EB4}"/>
                  </a:ext>
                </a:extLst>
              </p14:cNvPr>
              <p14:cNvContentPartPr/>
              <p14:nvPr/>
            </p14:nvContentPartPr>
            <p14:xfrm>
              <a:off x="427620" y="2009745"/>
              <a:ext cx="77760" cy="151200"/>
            </p14:xfrm>
          </p:contentPart>
        </mc:Choice>
        <mc:Fallback xmlns="">
          <p:pic>
            <p:nvPicPr>
              <p:cNvPr id="28" name="Ink 27">
                <a:extLst>
                  <a:ext uri="{FF2B5EF4-FFF2-40B4-BE49-F238E27FC236}">
                    <a16:creationId xmlns:a16="http://schemas.microsoft.com/office/drawing/2014/main" id="{547A5796-DDE1-4828-8A8C-120D0E993EB4}"/>
                  </a:ext>
                </a:extLst>
              </p:cNvPr>
              <p:cNvPicPr/>
              <p:nvPr/>
            </p:nvPicPr>
            <p:blipFill>
              <a:blip r:embed="rId21"/>
              <a:stretch>
                <a:fillRect/>
              </a:stretch>
            </p:blipFill>
            <p:spPr>
              <a:xfrm>
                <a:off x="418980" y="1955745"/>
                <a:ext cx="95400" cy="258840"/>
              </a:xfrm>
              <a:prstGeom prst="rect">
                <a:avLst/>
              </a:prstGeom>
            </p:spPr>
          </p:pic>
        </mc:Fallback>
      </mc:AlternateContent>
      <p:grpSp>
        <p:nvGrpSpPr>
          <p:cNvPr id="33" name="Group 32">
            <a:extLst>
              <a:ext uri="{FF2B5EF4-FFF2-40B4-BE49-F238E27FC236}">
                <a16:creationId xmlns:a16="http://schemas.microsoft.com/office/drawing/2014/main" id="{7F3F6441-EAB9-D8A3-6B52-1B58421E1E34}"/>
              </a:ext>
            </a:extLst>
          </p:cNvPr>
          <p:cNvGrpSpPr/>
          <p:nvPr/>
        </p:nvGrpSpPr>
        <p:grpSpPr>
          <a:xfrm>
            <a:off x="285060" y="1628145"/>
            <a:ext cx="2087280" cy="3100320"/>
            <a:chOff x="285060" y="1628145"/>
            <a:chExt cx="2087280" cy="3100320"/>
          </a:xfrm>
        </p:grpSpPr>
        <mc:AlternateContent xmlns:mc="http://schemas.openxmlformats.org/markup-compatibility/2006" xmlns:p14="http://schemas.microsoft.com/office/powerpoint/2010/main" xmlns:aink="http://schemas.microsoft.com/office/drawing/2016/ink">
          <mc:Choice Requires="p14 aink">
            <p:contentPart p14:bwMode="auto" r:id="rId22">
              <p14:nvContentPartPr>
                <p14:cNvPr id="29" name="Ink 28">
                  <a:extLst>
                    <a:ext uri="{FF2B5EF4-FFF2-40B4-BE49-F238E27FC236}">
                      <a16:creationId xmlns:a16="http://schemas.microsoft.com/office/drawing/2014/main" id="{755D6E33-F72E-B725-97B6-EF3027998B66}"/>
                    </a:ext>
                  </a:extLst>
                </p14:cNvPr>
                <p14:cNvContentPartPr/>
                <p14:nvPr/>
              </p14:nvContentPartPr>
              <p14:xfrm>
                <a:off x="285060" y="1628145"/>
                <a:ext cx="1539360" cy="3071880"/>
              </p14:xfrm>
            </p:contentPart>
          </mc:Choice>
          <mc:Fallback xmlns="">
            <p:pic>
              <p:nvPicPr>
                <p:cNvPr id="29" name="Ink 28">
                  <a:extLst>
                    <a:ext uri="{FF2B5EF4-FFF2-40B4-BE49-F238E27FC236}">
                      <a16:creationId xmlns:a16="http://schemas.microsoft.com/office/drawing/2014/main" id="{755D6E33-F72E-B725-97B6-EF3027998B66}"/>
                    </a:ext>
                  </a:extLst>
                </p:cNvPr>
                <p:cNvPicPr/>
                <p:nvPr/>
              </p:nvPicPr>
              <p:blipFill>
                <a:blip r:embed="rId23"/>
                <a:stretch>
                  <a:fillRect/>
                </a:stretch>
              </p:blipFill>
              <p:spPr>
                <a:xfrm>
                  <a:off x="276060" y="1574145"/>
                  <a:ext cx="1557000" cy="3179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4">
              <p14:nvContentPartPr>
                <p14:cNvPr id="30" name="Ink 29">
                  <a:extLst>
                    <a:ext uri="{FF2B5EF4-FFF2-40B4-BE49-F238E27FC236}">
                      <a16:creationId xmlns:a16="http://schemas.microsoft.com/office/drawing/2014/main" id="{EEB3D1C2-9A2D-3AF3-1D17-7EEBEEF6ACF5}"/>
                    </a:ext>
                  </a:extLst>
                </p14:cNvPr>
                <p14:cNvContentPartPr/>
                <p14:nvPr/>
              </p14:nvContentPartPr>
              <p14:xfrm>
                <a:off x="1805700" y="4655385"/>
                <a:ext cx="28440" cy="73080"/>
              </p14:xfrm>
            </p:contentPart>
          </mc:Choice>
          <mc:Fallback xmlns="">
            <p:pic>
              <p:nvPicPr>
                <p:cNvPr id="30" name="Ink 29">
                  <a:extLst>
                    <a:ext uri="{FF2B5EF4-FFF2-40B4-BE49-F238E27FC236}">
                      <a16:creationId xmlns:a16="http://schemas.microsoft.com/office/drawing/2014/main" id="{EEB3D1C2-9A2D-3AF3-1D17-7EEBEEF6ACF5}"/>
                    </a:ext>
                  </a:extLst>
                </p:cNvPr>
                <p:cNvPicPr/>
                <p:nvPr/>
              </p:nvPicPr>
              <p:blipFill>
                <a:blip r:embed="rId25"/>
                <a:stretch>
                  <a:fillRect/>
                </a:stretch>
              </p:blipFill>
              <p:spPr>
                <a:xfrm>
                  <a:off x="1797060" y="4601745"/>
                  <a:ext cx="46080" cy="180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6">
              <p14:nvContentPartPr>
                <p14:cNvPr id="32" name="Ink 31">
                  <a:extLst>
                    <a:ext uri="{FF2B5EF4-FFF2-40B4-BE49-F238E27FC236}">
                      <a16:creationId xmlns:a16="http://schemas.microsoft.com/office/drawing/2014/main" id="{7802B636-A250-79B7-6E4A-9554BCCEF0CA}"/>
                    </a:ext>
                  </a:extLst>
                </p14:cNvPr>
                <p14:cNvContentPartPr/>
                <p14:nvPr/>
              </p14:nvContentPartPr>
              <p14:xfrm>
                <a:off x="2161020" y="4448745"/>
                <a:ext cx="211320" cy="228960"/>
              </p14:xfrm>
            </p:contentPart>
          </mc:Choice>
          <mc:Fallback xmlns="">
            <p:pic>
              <p:nvPicPr>
                <p:cNvPr id="32" name="Ink 31">
                  <a:extLst>
                    <a:ext uri="{FF2B5EF4-FFF2-40B4-BE49-F238E27FC236}">
                      <a16:creationId xmlns:a16="http://schemas.microsoft.com/office/drawing/2014/main" id="{7802B636-A250-79B7-6E4A-9554BCCEF0CA}"/>
                    </a:ext>
                  </a:extLst>
                </p:cNvPr>
                <p:cNvPicPr/>
                <p:nvPr/>
              </p:nvPicPr>
              <p:blipFill>
                <a:blip r:embed="rId27"/>
                <a:stretch>
                  <a:fillRect/>
                </a:stretch>
              </p:blipFill>
              <p:spPr>
                <a:xfrm>
                  <a:off x="2152380" y="4395105"/>
                  <a:ext cx="228960" cy="336600"/>
                </a:xfrm>
                <a:prstGeom prst="rect">
                  <a:avLst/>
                </a:prstGeom>
              </p:spPr>
            </p:pic>
          </mc:Fallback>
        </mc:AlternateContent>
      </p:grpSp>
    </p:spTree>
    <p:extLst>
      <p:ext uri="{BB962C8B-B14F-4D97-AF65-F5344CB8AC3E}">
        <p14:creationId xmlns:p14="http://schemas.microsoft.com/office/powerpoint/2010/main" val="399742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3"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p:cTn id="11" dur="2000" fill="hold"/>
                                        <p:tgtEl>
                                          <p:spTgt spid="33"/>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2587E-AE72-097C-1398-EC7F6B10A390}"/>
            </a:ext>
          </a:extLst>
        </p:cNvPr>
        <p:cNvGrpSpPr/>
        <p:nvPr/>
      </p:nvGrpSpPr>
      <p:grpSpPr>
        <a:xfrm>
          <a:off x="0" y="0"/>
          <a:ext cx="0" cy="0"/>
          <a:chOff x="0" y="0"/>
          <a:chExt cx="0" cy="0"/>
        </a:xfrm>
      </p:grpSpPr>
      <p:sp>
        <p:nvSpPr>
          <p:cNvPr id="30722" name="Title 1">
            <a:extLst>
              <a:ext uri="{FF2B5EF4-FFF2-40B4-BE49-F238E27FC236}">
                <a16:creationId xmlns:a16="http://schemas.microsoft.com/office/drawing/2014/main" id="{413D38A3-D1E8-B185-9003-2BBC4A13A279}"/>
              </a:ext>
            </a:extLst>
          </p:cNvPr>
          <p:cNvSpPr>
            <a:spLocks noGrp="1"/>
          </p:cNvSpPr>
          <p:nvPr>
            <p:ph type="title"/>
          </p:nvPr>
        </p:nvSpPr>
        <p:spPr>
          <a:xfrm>
            <a:off x="966593" y="175468"/>
            <a:ext cx="7491607" cy="636588"/>
          </a:xfrm>
        </p:spPr>
        <p:txBody>
          <a:bodyPr/>
          <a:lstStyle/>
          <a:p>
            <a:r>
              <a:rPr lang="fa-IR" sz="2800" b="1" dirty="0">
                <a:effectLst/>
                <a:latin typeface="Times New Roman" panose="02020603050405020304" pitchFamily="18" charset="0"/>
                <a:ea typeface="Times New Roman" panose="02020603050405020304" pitchFamily="18" charset="0"/>
                <a:cs typeface="B Nazanin" panose="00000400000000000000" pitchFamily="2" charset="-78"/>
              </a:rPr>
              <a:t>صفحه‌بندی – محاسبه پراکندگی داخلی</a:t>
            </a:r>
            <a:endParaRPr lang="en-US" altLang="en-US" sz="2600" dirty="0"/>
          </a:p>
        </p:txBody>
      </p:sp>
      <p:sp>
        <p:nvSpPr>
          <p:cNvPr id="30723" name="Content Placeholder 2">
            <a:extLst>
              <a:ext uri="{FF2B5EF4-FFF2-40B4-BE49-F238E27FC236}">
                <a16:creationId xmlns:a16="http://schemas.microsoft.com/office/drawing/2014/main" id="{1C3D0BB2-542B-BC0F-9771-C6F3FFD22F99}"/>
              </a:ext>
            </a:extLst>
          </p:cNvPr>
          <p:cNvSpPr>
            <a:spLocks noGrp="1"/>
          </p:cNvSpPr>
          <p:nvPr>
            <p:ph idx="1"/>
          </p:nvPr>
        </p:nvSpPr>
        <p:spPr>
          <a:xfrm>
            <a:off x="495504" y="812056"/>
            <a:ext cx="8433784" cy="4633912"/>
          </a:xfrm>
        </p:spPr>
        <p:txBody>
          <a:bodyPr/>
          <a:lstStyle/>
          <a:p>
            <a:pPr marL="0" marR="0" algn="r" rtl="1">
              <a:lnSpc>
                <a:spcPct val="115000"/>
              </a:lnSpc>
              <a:spcAft>
                <a:spcPts val="800"/>
              </a:spcAft>
            </a:pP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فرض کنید اندازه هر صفحه حافظه </a:t>
            </a:r>
            <a:r>
              <a:rPr lang="fa-IR" sz="2000" b="1" kern="100" dirty="0">
                <a:effectLst/>
                <a:latin typeface="Segoe UI Emoji" panose="020B0502040204020203" pitchFamily="34" charset="0"/>
                <a:ea typeface="Aptos" panose="020B0004020202020204" pitchFamily="34" charset="0"/>
                <a:cs typeface="B Nazanin" panose="00000400000000000000" pitchFamily="2" charset="-78"/>
              </a:rPr>
              <a:t>۲۰۴۸</a:t>
            </a:r>
            <a:r>
              <a:rPr lang="fa-IR" sz="2000" b="1" kern="100" dirty="0">
                <a:effectLst/>
                <a:latin typeface="Aptos" panose="020B0004020202020204" pitchFamily="34" charset="0"/>
                <a:ea typeface="Aptos" panose="020B0004020202020204" pitchFamily="34" charset="0"/>
                <a:cs typeface="Segoe UI Emoji" panose="020B0502040204020203" pitchFamily="34" charset="0"/>
              </a:rPr>
              <a:t>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بایت است و برنامه‌ای داریم با اندازه </a:t>
            </a:r>
            <a:r>
              <a:rPr lang="fa-IR" sz="2000" b="1" kern="100" dirty="0">
                <a:effectLst/>
                <a:latin typeface="Segoe UI Emoji" panose="020B0502040204020203" pitchFamily="34" charset="0"/>
                <a:ea typeface="Aptos" panose="020B0004020202020204" pitchFamily="34" charset="0"/>
                <a:cs typeface="B Nazanin" panose="00000400000000000000" pitchFamily="2" charset="-78"/>
              </a:rPr>
              <a:t>۷۲،۷۶۶</a:t>
            </a:r>
            <a:r>
              <a:rPr lang="fa-IR" sz="2000" b="1" kern="100" dirty="0">
                <a:effectLst/>
                <a:latin typeface="Aptos" panose="020B0004020202020204" pitchFamily="34" charset="0"/>
                <a:ea typeface="Aptos" panose="020B0004020202020204" pitchFamily="34" charset="0"/>
                <a:cs typeface="Segoe UI Emoji" panose="020B0502040204020203" pitchFamily="34" charset="0"/>
              </a:rPr>
              <a:t>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بایت</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fa-IR" sz="2000" b="1" kern="100" dirty="0">
              <a:effectLst/>
              <a:latin typeface="Segoe UI Emoji" panose="020B0502040204020203" pitchFamily="34" charset="0"/>
              <a:ea typeface="Aptos" panose="020B0004020202020204" pitchFamily="34" charset="0"/>
              <a:cs typeface="B Nazanin" panose="00000400000000000000" pitchFamily="2" charset="-78"/>
            </a:endParaRPr>
          </a:p>
          <a:p>
            <a:pPr marL="0" marR="0" algn="r" rtl="1">
              <a:lnSpc>
                <a:spcPct val="115000"/>
              </a:lnSpc>
              <a:spcAft>
                <a:spcPts val="800"/>
              </a:spcAft>
              <a:buNone/>
            </a:pP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چه تعداد صفحه نیاز داریم؟</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اگر </a:t>
            </a:r>
            <a:r>
              <a:rPr lang="fa-IR" sz="2000" b="1" kern="100" dirty="0">
                <a:effectLst/>
                <a:latin typeface="Segoe UI Emoji" panose="020B0502040204020203" pitchFamily="34" charset="0"/>
                <a:ea typeface="Aptos" panose="020B0004020202020204" pitchFamily="34" charset="0"/>
                <a:cs typeface="B Nazanin" panose="00000400000000000000" pitchFamily="2" charset="-78"/>
              </a:rPr>
              <a:t>۷۲،۷۶۶</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 را بر </a:t>
            </a:r>
            <a:r>
              <a:rPr lang="fa-IR" sz="2000" b="1" kern="100" dirty="0">
                <a:effectLst/>
                <a:latin typeface="Segoe UI Emoji" panose="020B0502040204020203" pitchFamily="34" charset="0"/>
                <a:ea typeface="Aptos" panose="020B0004020202020204" pitchFamily="34" charset="0"/>
                <a:cs typeface="B Nazanin" panose="00000400000000000000" pitchFamily="2" charset="-78"/>
              </a:rPr>
              <a:t>۲۰۴۸</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 تقسیم کنیم، حدوداً </a:t>
            </a:r>
            <a:r>
              <a:rPr lang="fa-IR" sz="2000" b="1" kern="100" dirty="0">
                <a:effectLst/>
                <a:latin typeface="Segoe UI Emoji" panose="020B0502040204020203" pitchFamily="34" charset="0"/>
                <a:ea typeface="Aptos" panose="020B0004020202020204" pitchFamily="34" charset="0"/>
                <a:cs typeface="B Nazanin" panose="00000400000000000000" pitchFamily="2" charset="-78"/>
              </a:rPr>
              <a:t>۳۵.۵۳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به‌دست می‌آید</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br>
              <a:rPr lang="en-US" sz="2000" b="1" kern="100" dirty="0">
                <a:effectLst/>
                <a:latin typeface="Segoe UI Emoji" panose="020B0502040204020203" pitchFamily="34" charset="0"/>
                <a:ea typeface="Aptos" panose="020B0004020202020204" pitchFamily="34" charset="0"/>
                <a:cs typeface="B Nazanin" panose="00000400000000000000" pitchFamily="2" charset="-78"/>
              </a:rPr>
            </a:b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این یعنی</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r>
              <a:rPr lang="fa-IR" sz="2000" b="1" kern="100" dirty="0">
                <a:effectLst/>
                <a:latin typeface="Segoe UI Emoji" panose="020B0502040204020203" pitchFamily="34" charset="0"/>
                <a:ea typeface="Aptos" panose="020B0004020202020204" pitchFamily="34" charset="0"/>
                <a:cs typeface="B Nazanin" panose="00000400000000000000" pitchFamily="2" charset="-78"/>
              </a:rPr>
              <a:t> ۳۵</a:t>
            </a:r>
            <a:r>
              <a:rPr lang="fa-IR" sz="2000" b="1" kern="100" dirty="0">
                <a:effectLst/>
                <a:latin typeface="Aptos" panose="020B0004020202020204" pitchFamily="34" charset="0"/>
                <a:ea typeface="Aptos" panose="020B0004020202020204" pitchFamily="34" charset="0"/>
                <a:cs typeface="Segoe UI Emoji" panose="020B0502040204020203" pitchFamily="34" charset="0"/>
              </a:rPr>
              <a:t>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صفحه کامل پر می‌شوند (</a:t>
            </a:r>
            <a:r>
              <a:rPr lang="fa-IR" sz="2000" b="1" kern="100" dirty="0">
                <a:effectLst/>
                <a:latin typeface="Segoe UI Emoji" panose="020B0502040204020203" pitchFamily="34" charset="0"/>
                <a:ea typeface="Aptos" panose="020B0004020202020204" pitchFamily="34" charset="0"/>
                <a:cs typeface="B Nazanin" panose="00000400000000000000" pitchFamily="2" charset="-78"/>
              </a:rPr>
              <a:t>۳۵ × ۲۰۴۸ = ۷۱،۶۸۰</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 بایت)</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و </a:t>
            </a:r>
            <a:r>
              <a:rPr lang="fa-IR" sz="2000" b="1" kern="100" dirty="0">
                <a:effectLst/>
                <a:latin typeface="Segoe UI Emoji" panose="020B0502040204020203" pitchFamily="34" charset="0"/>
                <a:ea typeface="Aptos" panose="020B0004020202020204" pitchFamily="34" charset="0"/>
                <a:cs typeface="B Nazanin" panose="00000400000000000000" pitchFamily="2" charset="-78"/>
              </a:rPr>
              <a:t>۱،۰۸۶</a:t>
            </a:r>
            <a:r>
              <a:rPr lang="fa-IR" sz="2000" b="1" kern="100" dirty="0">
                <a:effectLst/>
                <a:latin typeface="Aptos" panose="020B0004020202020204" pitchFamily="34" charset="0"/>
                <a:ea typeface="Aptos" panose="020B0004020202020204" pitchFamily="34" charset="0"/>
                <a:cs typeface="Segoe UI Emoji" panose="020B0502040204020203" pitchFamily="34" charset="0"/>
              </a:rPr>
              <a:t>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بایت باقی‌مانده در یک صفحه جدید قرار می‌گیرد</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pP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در مجموع، این فرآیند به </a:t>
            </a:r>
            <a:r>
              <a:rPr lang="fa-IR" sz="2000" b="1" kern="100" dirty="0">
                <a:effectLst/>
                <a:latin typeface="Segoe UI Emoji" panose="020B0502040204020203" pitchFamily="34" charset="0"/>
                <a:ea typeface="Aptos" panose="020B0004020202020204" pitchFamily="34" charset="0"/>
                <a:cs typeface="B Nazanin" panose="00000400000000000000" pitchFamily="2" charset="-78"/>
              </a:rPr>
              <a:t>۳۶</a:t>
            </a:r>
            <a:r>
              <a:rPr lang="fa-IR" sz="2000" b="1" kern="100" dirty="0">
                <a:effectLst/>
                <a:latin typeface="Aptos" panose="020B0004020202020204" pitchFamily="34" charset="0"/>
                <a:ea typeface="Aptos" panose="020B0004020202020204" pitchFamily="34" charset="0"/>
                <a:cs typeface="Segoe UI Emoji" panose="020B0502040204020203" pitchFamily="34" charset="0"/>
              </a:rPr>
              <a:t>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صفحه نیاز دارد</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fa-IR" sz="2000" b="1" kern="100" dirty="0">
              <a:effectLst/>
              <a:latin typeface="Segoe UI Emoji" panose="020B0502040204020203" pitchFamily="34" charset="0"/>
              <a:ea typeface="Aptos" panose="020B0004020202020204" pitchFamily="34" charset="0"/>
              <a:cs typeface="B Nazanin" panose="00000400000000000000" pitchFamily="2" charset="-78"/>
            </a:endParaRPr>
          </a:p>
          <a:p>
            <a:pPr marL="0" marR="0" algn="r" rtl="1">
              <a:lnSpc>
                <a:spcPct val="115000"/>
              </a:lnSpc>
              <a:spcAft>
                <a:spcPts val="800"/>
              </a:spcAft>
              <a:buNone/>
            </a:pP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پراکندگی داخلی</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(Internal Fragmentation) </a:t>
            </a:r>
            <a:r>
              <a:rPr lang="fa-IR" sz="2000" b="1" kern="100" dirty="0">
                <a:effectLst/>
                <a:latin typeface="Segoe UI Emoji" panose="020B0502040204020203" pitchFamily="34" charset="0"/>
                <a:ea typeface="Aptos" panose="020B0004020202020204" pitchFamily="34" charset="0"/>
                <a:cs typeface="B Nazanin" panose="00000400000000000000" pitchFamily="2" charset="-78"/>
              </a:rPr>
              <a:t>:</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یعنی مقداری از حافظه داخل صفحه استفاده نمی‌شود و هدر می‌رود</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در این مثال</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r>
              <a:rPr lang="fa-IR" sz="20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اندازه صفحه = </a:t>
            </a:r>
            <a:r>
              <a:rPr lang="fa-IR" sz="2000" b="1" kern="100" dirty="0">
                <a:effectLst/>
                <a:latin typeface="Segoe UI Emoji" panose="020B0502040204020203" pitchFamily="34" charset="0"/>
                <a:ea typeface="Aptos" panose="020B0004020202020204" pitchFamily="34" charset="0"/>
                <a:cs typeface="B Nazanin" panose="00000400000000000000" pitchFamily="2" charset="-78"/>
              </a:rPr>
              <a:t>۲۰۴۸</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 بایت</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فقط </a:t>
            </a:r>
            <a:r>
              <a:rPr lang="fa-IR" sz="2000" b="1" kern="100" dirty="0">
                <a:effectLst/>
                <a:latin typeface="Segoe UI Emoji" panose="020B0502040204020203" pitchFamily="34" charset="0"/>
                <a:ea typeface="Aptos" panose="020B0004020202020204" pitchFamily="34" charset="0"/>
                <a:cs typeface="B Nazanin" panose="00000400000000000000" pitchFamily="2" charset="-78"/>
              </a:rPr>
              <a:t>۱۰۸۶</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 بایت از آخرین صفحه استفاده شده</a:t>
            </a:r>
            <a:r>
              <a:rPr lang="fa-IR" sz="20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پس </a:t>
            </a:r>
            <a:r>
              <a:rPr lang="fa-IR" sz="2000" b="1" kern="100" dirty="0">
                <a:effectLst/>
                <a:latin typeface="Segoe UI Emoji" panose="020B0502040204020203" pitchFamily="34" charset="0"/>
                <a:ea typeface="Aptos" panose="020B0004020202020204" pitchFamily="34" charset="0"/>
                <a:cs typeface="B Nazanin" panose="00000400000000000000" pitchFamily="2" charset="-78"/>
              </a:rPr>
              <a:t>۹۶۲</a:t>
            </a:r>
            <a:r>
              <a:rPr lang="fa-IR" sz="2000" b="1" kern="100" dirty="0">
                <a:effectLst/>
                <a:latin typeface="Aptos" panose="020B0004020202020204" pitchFamily="34" charset="0"/>
                <a:ea typeface="Aptos" panose="020B0004020202020204" pitchFamily="34" charset="0"/>
                <a:cs typeface="Segoe UI Emoji" panose="020B0502040204020203" pitchFamily="34" charset="0"/>
              </a:rPr>
              <a:t>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بایت فضای استفاده‌نشده باقی مانده است</a:t>
            </a:r>
            <a:r>
              <a:rPr lang="fa-IR" sz="2000" b="1" kern="100" dirty="0">
                <a:effectLst/>
                <a:latin typeface="Segoe UI Emoji" panose="020B0502040204020203" pitchFamily="34" charset="0"/>
                <a:ea typeface="Aptos" panose="020B0004020202020204" pitchFamily="34" charset="0"/>
                <a:cs typeface="B Nazanin" panose="00000400000000000000" pitchFamily="2" charset="-78"/>
              </a:rPr>
              <a:t> که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این مقدار پراکندگی داخلی است</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pPr>
            <a:endParaRPr lang="en-US" sz="20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459293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D3288-592F-8730-A876-735FCB229069}"/>
            </a:ext>
          </a:extLst>
        </p:cNvPr>
        <p:cNvGrpSpPr/>
        <p:nvPr/>
      </p:nvGrpSpPr>
      <p:grpSpPr>
        <a:xfrm>
          <a:off x="0" y="0"/>
          <a:ext cx="0" cy="0"/>
          <a:chOff x="0" y="0"/>
          <a:chExt cx="0" cy="0"/>
        </a:xfrm>
      </p:grpSpPr>
      <p:sp>
        <p:nvSpPr>
          <p:cNvPr id="30722" name="Title 1">
            <a:extLst>
              <a:ext uri="{FF2B5EF4-FFF2-40B4-BE49-F238E27FC236}">
                <a16:creationId xmlns:a16="http://schemas.microsoft.com/office/drawing/2014/main" id="{7049090C-FA2F-632C-D4CD-63865592D277}"/>
              </a:ext>
            </a:extLst>
          </p:cNvPr>
          <p:cNvSpPr>
            <a:spLocks noGrp="1"/>
          </p:cNvSpPr>
          <p:nvPr>
            <p:ph type="title"/>
          </p:nvPr>
        </p:nvSpPr>
        <p:spPr>
          <a:xfrm>
            <a:off x="966593" y="175468"/>
            <a:ext cx="7491607" cy="636588"/>
          </a:xfrm>
        </p:spPr>
        <p:txBody>
          <a:bodyPr/>
          <a:lstStyle/>
          <a:p>
            <a:r>
              <a:rPr lang="fa-IR" sz="2800" b="1" dirty="0">
                <a:effectLst/>
                <a:latin typeface="Times New Roman" panose="02020603050405020304" pitchFamily="18" charset="0"/>
                <a:ea typeface="Times New Roman" panose="02020603050405020304" pitchFamily="18" charset="0"/>
                <a:cs typeface="B Nazanin" panose="00000400000000000000" pitchFamily="2" charset="-78"/>
              </a:rPr>
              <a:t>صفحه‌بندی – محاسبه پراکندگی داخلی</a:t>
            </a:r>
            <a:endParaRPr lang="en-US" altLang="en-US" sz="2600" dirty="0"/>
          </a:p>
        </p:txBody>
      </p:sp>
      <p:sp>
        <p:nvSpPr>
          <p:cNvPr id="30723" name="Content Placeholder 2">
            <a:extLst>
              <a:ext uri="{FF2B5EF4-FFF2-40B4-BE49-F238E27FC236}">
                <a16:creationId xmlns:a16="http://schemas.microsoft.com/office/drawing/2014/main" id="{B2CA30A1-07AC-AD2F-BA8D-8F99B269603E}"/>
              </a:ext>
            </a:extLst>
          </p:cNvPr>
          <p:cNvSpPr>
            <a:spLocks noGrp="1"/>
          </p:cNvSpPr>
          <p:nvPr>
            <p:ph idx="1"/>
          </p:nvPr>
        </p:nvSpPr>
        <p:spPr>
          <a:xfrm>
            <a:off x="495504" y="812056"/>
            <a:ext cx="8433784" cy="4633912"/>
          </a:xfrm>
        </p:spPr>
        <p:txBody>
          <a:bodyPr/>
          <a:lstStyle/>
          <a:p>
            <a:pPr marL="0" marR="0" algn="r" rtl="1">
              <a:lnSpc>
                <a:spcPct val="115000"/>
              </a:lnSpc>
              <a:spcAft>
                <a:spcPts val="800"/>
              </a:spcAft>
              <a:buNone/>
            </a:pPr>
            <a:r>
              <a:rPr lang="en-US" sz="1800" b="1" dirty="0">
                <a:effectLst/>
                <a:latin typeface="Segoe UI Emoji" panose="020B0502040204020203" pitchFamily="34" charset="0"/>
                <a:ea typeface="Aptos" panose="020B0004020202020204" pitchFamily="34" charset="0"/>
                <a:cs typeface="B Nazanin" panose="00000400000000000000" pitchFamily="2" charset="-78"/>
              </a:rPr>
              <a:t>⚠️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حالت‌های خاص</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بدترین حالت</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فقط یک بایت از آخرین صفحه استفاده شود، یعنی تقریباً کل صفحه هدر می‌رود</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میانگین پراکندگی</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معمولاً انتظار داریم نصف یک صفحه هدر برود (در اینجا حدود </a:t>
            </a:r>
            <a:r>
              <a:rPr lang="fa-IR" sz="2000" b="1" kern="100" dirty="0">
                <a:effectLst/>
                <a:latin typeface="Segoe UI Emoji" panose="020B0502040204020203" pitchFamily="34" charset="0"/>
                <a:ea typeface="Aptos" panose="020B0004020202020204" pitchFamily="34" charset="0"/>
                <a:cs typeface="B Nazanin" panose="00000400000000000000" pitchFamily="2" charset="-78"/>
              </a:rPr>
              <a:t>۱۰۲۴</a:t>
            </a:r>
            <a:r>
              <a:rPr lang="ar-SA" sz="2000" b="1" kern="100" dirty="0">
                <a:effectLst/>
                <a:latin typeface="Segoe UI Emoji" panose="020B0502040204020203" pitchFamily="34" charset="0"/>
                <a:ea typeface="Aptos" panose="020B0004020202020204" pitchFamily="34" charset="0"/>
                <a:cs typeface="B Nazanin" panose="00000400000000000000" pitchFamily="2" charset="-78"/>
              </a:rPr>
              <a:t> بایت)</a:t>
            </a:r>
            <a:r>
              <a:rPr lang="en-US" sz="20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fa-IR" sz="2000" b="1" kern="100" dirty="0">
              <a:effectLst/>
              <a:latin typeface="Segoe UI Emoji" panose="020B0502040204020203" pitchFamily="34" charset="0"/>
              <a:ea typeface="Aptos" panose="020B0004020202020204" pitchFamily="34" charset="0"/>
              <a:cs typeface="B Nazanin" panose="00000400000000000000" pitchFamily="2" charset="-78"/>
            </a:endParaRPr>
          </a:p>
          <a:p>
            <a:pPr marL="0" marR="0" algn="r" rtl="1">
              <a:lnSpc>
                <a:spcPct val="115000"/>
              </a:lnSpc>
              <a:spcAft>
                <a:spcPts val="800"/>
              </a:spcAft>
              <a:buNone/>
            </a:pPr>
            <a:r>
              <a:rPr lang="en-US" sz="1800" b="1"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چرا اندازه صفحه مهم است؟</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انتخاب اندازه صفحه یک موازنه است</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اگر صفحات خیلی کوچک باشند، جدول صفحه‌بندی بزرگ‌تر می‌شود و حافظه بیشتری مصرف می‌شود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اگر صفحات خیلی بزرگ باشند، ممکن است پراکندگی داخلی زیاد شود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به همین دلیل در طول زمان، اندازه صفحات به‌تدریج بزرگ‌تر شده تا تعادل بین این دو برقرار شود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endParaRPr lang="en-US" sz="24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41276225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0AB67-80A7-9597-365D-EB69340F90DA}"/>
            </a:ext>
          </a:extLst>
        </p:cNvPr>
        <p:cNvGrpSpPr/>
        <p:nvPr/>
      </p:nvGrpSpPr>
      <p:grpSpPr>
        <a:xfrm>
          <a:off x="0" y="0"/>
          <a:ext cx="0" cy="0"/>
          <a:chOff x="0" y="0"/>
          <a:chExt cx="0" cy="0"/>
        </a:xfrm>
      </p:grpSpPr>
      <p:pic>
        <p:nvPicPr>
          <p:cNvPr id="31749" name="Picture 7">
            <a:extLst>
              <a:ext uri="{FF2B5EF4-FFF2-40B4-BE49-F238E27FC236}">
                <a16:creationId xmlns:a16="http://schemas.microsoft.com/office/drawing/2014/main" id="{6A11FE1D-7BFD-4B72-3123-8B4C10B41B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781" y="2711237"/>
            <a:ext cx="5084867" cy="3647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6" name="Rectangle 2">
            <a:extLst>
              <a:ext uri="{FF2B5EF4-FFF2-40B4-BE49-F238E27FC236}">
                <a16:creationId xmlns:a16="http://schemas.microsoft.com/office/drawing/2014/main" id="{DA823712-9B6F-CF1F-9026-9E781658D324}"/>
              </a:ext>
            </a:extLst>
          </p:cNvPr>
          <p:cNvSpPr>
            <a:spLocks noGrp="1" noChangeArrowheads="1"/>
          </p:cNvSpPr>
          <p:nvPr>
            <p:ph type="title"/>
          </p:nvPr>
        </p:nvSpPr>
        <p:spPr>
          <a:xfrm>
            <a:off x="457200" y="236379"/>
            <a:ext cx="8229600" cy="576263"/>
          </a:xfrm>
        </p:spPr>
        <p:txBody>
          <a:bodyPr/>
          <a:lstStyle/>
          <a:p>
            <a:pPr eaLnBrk="1" hangingPunct="1"/>
            <a:r>
              <a:rPr lang="fa-IR" sz="3200" b="1" dirty="0">
                <a:effectLst/>
                <a:latin typeface="Times New Roman" panose="02020603050405020304" pitchFamily="18" charset="0"/>
                <a:ea typeface="Times New Roman" panose="02020603050405020304" pitchFamily="18" charset="0"/>
                <a:cs typeface="B Nazanin" panose="00000400000000000000" pitchFamily="2" charset="-78"/>
              </a:rPr>
              <a:t>فریم‌های آزاد</a:t>
            </a:r>
            <a:endParaRPr lang="en-US" altLang="en-US" dirty="0"/>
          </a:p>
        </p:txBody>
      </p:sp>
      <p:sp>
        <p:nvSpPr>
          <p:cNvPr id="31747" name="Text Box 4">
            <a:extLst>
              <a:ext uri="{FF2B5EF4-FFF2-40B4-BE49-F238E27FC236}">
                <a16:creationId xmlns:a16="http://schemas.microsoft.com/office/drawing/2014/main" id="{DDD3EA48-681E-D14C-333D-434770486EFA}"/>
              </a:ext>
            </a:extLst>
          </p:cNvPr>
          <p:cNvSpPr txBox="1">
            <a:spLocks noChangeArrowheads="1"/>
          </p:cNvSpPr>
          <p:nvPr/>
        </p:nvSpPr>
        <p:spPr bwMode="auto">
          <a:xfrm>
            <a:off x="657464" y="6216384"/>
            <a:ext cx="1399732" cy="400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fa-IR" altLang="en-US" sz="2000" dirty="0">
                <a:latin typeface="Times New Roman" panose="02020603050405020304" pitchFamily="18" charset="0"/>
                <a:cs typeface="B Nazanin" panose="00000400000000000000" pitchFamily="2" charset="-78"/>
              </a:rPr>
              <a:t>قبل از تخصیص</a:t>
            </a:r>
            <a:endParaRPr lang="en-US" altLang="en-US" sz="2000" dirty="0">
              <a:latin typeface="Times New Roman" panose="02020603050405020304" pitchFamily="18" charset="0"/>
              <a:cs typeface="B Nazanin" panose="00000400000000000000" pitchFamily="2" charset="-78"/>
            </a:endParaRPr>
          </a:p>
        </p:txBody>
      </p:sp>
      <p:sp>
        <p:nvSpPr>
          <p:cNvPr id="31748" name="Text Box 5">
            <a:extLst>
              <a:ext uri="{FF2B5EF4-FFF2-40B4-BE49-F238E27FC236}">
                <a16:creationId xmlns:a16="http://schemas.microsoft.com/office/drawing/2014/main" id="{09944D44-AE17-9F04-639D-2214CAE60F66}"/>
              </a:ext>
            </a:extLst>
          </p:cNvPr>
          <p:cNvSpPr txBox="1">
            <a:spLocks noChangeArrowheads="1"/>
          </p:cNvSpPr>
          <p:nvPr/>
        </p:nvSpPr>
        <p:spPr bwMode="auto">
          <a:xfrm>
            <a:off x="3217151" y="6335328"/>
            <a:ext cx="1354848" cy="400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fa-IR" altLang="en-US" sz="2000" dirty="0">
                <a:latin typeface="Times New Roman" panose="02020603050405020304" pitchFamily="18" charset="0"/>
                <a:cs typeface="B Nazanin" panose="00000400000000000000" pitchFamily="2" charset="-78"/>
              </a:rPr>
              <a:t>بعد از تخصیص</a:t>
            </a:r>
            <a:endParaRPr lang="en-US" altLang="en-US" sz="2000" dirty="0">
              <a:latin typeface="Times New Roman" panose="02020603050405020304" pitchFamily="18" charset="0"/>
              <a:cs typeface="B Nazanin" panose="00000400000000000000" pitchFamily="2" charset="-78"/>
            </a:endParaRPr>
          </a:p>
        </p:txBody>
      </p:sp>
      <p:sp>
        <p:nvSpPr>
          <p:cNvPr id="9" name="TextBox 8">
            <a:extLst>
              <a:ext uri="{FF2B5EF4-FFF2-40B4-BE49-F238E27FC236}">
                <a16:creationId xmlns:a16="http://schemas.microsoft.com/office/drawing/2014/main" id="{89B52A70-4FF9-80A4-751D-97C9C2F97F1D}"/>
              </a:ext>
            </a:extLst>
          </p:cNvPr>
          <p:cNvSpPr txBox="1"/>
          <p:nvPr/>
        </p:nvSpPr>
        <p:spPr>
          <a:xfrm>
            <a:off x="291781" y="907787"/>
            <a:ext cx="8560437" cy="1951303"/>
          </a:xfrm>
          <a:prstGeom prst="rect">
            <a:avLst/>
          </a:prstGeom>
          <a:noFill/>
        </p:spPr>
        <p:txBody>
          <a:bodyPr wrap="square">
            <a:spAutoFit/>
          </a:bodyPr>
          <a:lstStyle/>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نحوه تخصیص فریم‌ها به صفحات یک فرآیند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(Page Allocation)</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فرض کنیم یک فرآیند جدید داریم که به </a:t>
            </a:r>
            <a:r>
              <a:rPr lang="fa-IR" sz="1800" b="1" kern="100" dirty="0">
                <a:effectLst/>
                <a:latin typeface="Segoe UI Emoji" panose="020B0502040204020203" pitchFamily="34" charset="0"/>
                <a:ea typeface="Aptos" panose="020B0004020202020204" pitchFamily="34" charset="0"/>
                <a:cs typeface="B Nazanin" panose="00000400000000000000" pitchFamily="2" charset="-78"/>
              </a:rPr>
              <a:t>۴</a:t>
            </a:r>
            <a:r>
              <a:rPr lang="fa-IR" sz="1800" b="1" kern="100" dirty="0">
                <a:effectLst/>
                <a:latin typeface="Aptos" panose="020B0004020202020204" pitchFamily="34" charset="0"/>
                <a:ea typeface="Aptos" panose="020B0004020202020204" pitchFamily="34" charset="0"/>
                <a:cs typeface="Segoe UI Emoji" panose="020B0502040204020203" pitchFamily="34" charset="0"/>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صفحه </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Page 0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تا</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Page 3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نیاز دارد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قانون اصلی</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r>
              <a:rPr lang="fa-IR"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اگر فرآیند به </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n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صفحه نیاز دارد، سیستم باید حداقل </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n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فریم خالی در حافظه داشته باشد تا بتواند این صفحات را بارگذاری کند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C8BA598E-37D0-F060-CC1E-0CB6DE6EC2B4}"/>
              </a:ext>
            </a:extLst>
          </p:cNvPr>
          <p:cNvSpPr txBox="1"/>
          <p:nvPr/>
        </p:nvSpPr>
        <p:spPr>
          <a:xfrm>
            <a:off x="86498" y="2377984"/>
            <a:ext cx="4893274" cy="369332"/>
          </a:xfrm>
          <a:prstGeom prst="rect">
            <a:avLst/>
          </a:prstGeom>
          <a:noFill/>
        </p:spPr>
        <p:txBody>
          <a:bodyPr wrap="square">
            <a:spAutoFit/>
          </a:bodyPr>
          <a:lstStyle/>
          <a:p>
            <a:r>
              <a:rPr lang="fa-IR" dirty="0">
                <a:cs typeface="B Nazanin" panose="00000400000000000000" pitchFamily="2" charset="-78"/>
              </a:rPr>
              <a:t>لیست فریم‌های خالی</a:t>
            </a:r>
            <a:endParaRPr lang="en-US" dirty="0">
              <a:cs typeface="B Nazanin" panose="00000400000000000000" pitchFamily="2" charset="-78"/>
            </a:endParaRPr>
          </a:p>
        </p:txBody>
      </p:sp>
      <p:sp>
        <p:nvSpPr>
          <p:cNvPr id="5" name="TextBox 4">
            <a:extLst>
              <a:ext uri="{FF2B5EF4-FFF2-40B4-BE49-F238E27FC236}">
                <a16:creationId xmlns:a16="http://schemas.microsoft.com/office/drawing/2014/main" id="{352499C7-A176-E290-A68B-9D6A75E9BB35}"/>
              </a:ext>
            </a:extLst>
          </p:cNvPr>
          <p:cNvSpPr txBox="1"/>
          <p:nvPr/>
        </p:nvSpPr>
        <p:spPr>
          <a:xfrm>
            <a:off x="5581931" y="2448722"/>
            <a:ext cx="3475570" cy="2585323"/>
          </a:xfrm>
          <a:prstGeom prst="rect">
            <a:avLst/>
          </a:prstGeom>
          <a:noFill/>
        </p:spPr>
        <p:txBody>
          <a:bodyPr wrap="square">
            <a:spAutoFit/>
          </a:bodyPr>
          <a:lstStyle/>
          <a:p>
            <a:pPr algn="r" rtl="1">
              <a:buNone/>
            </a:pPr>
            <a:r>
              <a:rPr lang="fa-IR" b="1" dirty="0">
                <a:cs typeface="B Nazanin" panose="00000400000000000000" pitchFamily="2" charset="-78"/>
              </a:rPr>
              <a:t>تخصیص فریم‌ها به صفحات:</a:t>
            </a:r>
          </a:p>
          <a:p>
            <a:pPr algn="r" rtl="1">
              <a:buNone/>
            </a:pPr>
            <a:r>
              <a:rPr lang="fa-IR" dirty="0">
                <a:cs typeface="B Nazanin" panose="00000400000000000000" pitchFamily="2" charset="-78"/>
              </a:rPr>
              <a:t>به ترتیب، صفحات فرآیند در فریم‌های خالی بارگذاری می‌شوند:</a:t>
            </a:r>
          </a:p>
          <a:p>
            <a:pPr algn="r" rtl="1">
              <a:buFont typeface="Arial" panose="020B0604020202020204" pitchFamily="34" charset="0"/>
              <a:buChar char="•"/>
            </a:pPr>
            <a:r>
              <a:rPr lang="en-US" dirty="0">
                <a:cs typeface="B Nazanin" panose="00000400000000000000" pitchFamily="2" charset="-78"/>
              </a:rPr>
              <a:t>Page 0 → Frame 14</a:t>
            </a:r>
          </a:p>
          <a:p>
            <a:pPr algn="r" rtl="1">
              <a:buFont typeface="Arial" panose="020B0604020202020204" pitchFamily="34" charset="0"/>
              <a:buChar char="•"/>
            </a:pPr>
            <a:r>
              <a:rPr lang="en-US" dirty="0">
                <a:cs typeface="B Nazanin" panose="00000400000000000000" pitchFamily="2" charset="-78"/>
              </a:rPr>
              <a:t>Page 1 → Frame 13</a:t>
            </a:r>
          </a:p>
          <a:p>
            <a:pPr algn="r" rtl="1">
              <a:buFont typeface="Arial" panose="020B0604020202020204" pitchFamily="34" charset="0"/>
              <a:buChar char="•"/>
            </a:pPr>
            <a:r>
              <a:rPr lang="en-US" dirty="0">
                <a:cs typeface="B Nazanin" panose="00000400000000000000" pitchFamily="2" charset="-78"/>
              </a:rPr>
              <a:t>Page 2 → Frame 18</a:t>
            </a:r>
          </a:p>
          <a:p>
            <a:pPr algn="r" rtl="1">
              <a:buFont typeface="Arial" panose="020B0604020202020204" pitchFamily="34" charset="0"/>
              <a:buChar char="•"/>
            </a:pPr>
            <a:r>
              <a:rPr lang="en-US" dirty="0">
                <a:cs typeface="B Nazanin" panose="00000400000000000000" pitchFamily="2" charset="-78"/>
              </a:rPr>
              <a:t>Page 3 → Frame 20</a:t>
            </a:r>
          </a:p>
          <a:p>
            <a:pPr algn="r" rtl="1"/>
            <a:r>
              <a:rPr lang="fa-IR" dirty="0">
                <a:cs typeface="B Nazanin" panose="00000400000000000000" pitchFamily="2" charset="-78"/>
              </a:rPr>
              <a:t>این اطلاعات در </a:t>
            </a:r>
            <a:r>
              <a:rPr lang="fa-IR" b="1" dirty="0">
                <a:cs typeface="B Nazanin" panose="00000400000000000000" pitchFamily="2" charset="-78"/>
              </a:rPr>
              <a:t>جدول صفحه</a:t>
            </a:r>
            <a:r>
              <a:rPr lang="en-US" dirty="0">
                <a:cs typeface="B Nazanin" panose="00000400000000000000" pitchFamily="2" charset="-78"/>
              </a:rPr>
              <a:t> </a:t>
            </a:r>
            <a:r>
              <a:rPr lang="fa-IR" dirty="0">
                <a:cs typeface="B Nazanin" panose="00000400000000000000" pitchFamily="2" charset="-78"/>
              </a:rPr>
              <a:t>برای این فرآیند ذخیره می‌شود:</a:t>
            </a:r>
          </a:p>
        </p:txBody>
      </p:sp>
    </p:spTree>
    <p:extLst>
      <p:ext uri="{BB962C8B-B14F-4D97-AF65-F5344CB8AC3E}">
        <p14:creationId xmlns:p14="http://schemas.microsoft.com/office/powerpoint/2010/main" val="16710279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CEC31-7071-4D44-9524-022A1AF52E35}"/>
              </a:ext>
            </a:extLst>
          </p:cNvPr>
          <p:cNvSpPr>
            <a:spLocks noGrp="1"/>
          </p:cNvSpPr>
          <p:nvPr>
            <p:ph type="title"/>
          </p:nvPr>
        </p:nvSpPr>
        <p:spPr/>
        <p:txBody>
          <a:bodyPr/>
          <a:lstStyle/>
          <a:p>
            <a:r>
              <a:rPr lang="en-US" dirty="0"/>
              <a:t>End of Essential part</a:t>
            </a:r>
          </a:p>
        </p:txBody>
      </p:sp>
    </p:spTree>
    <p:extLst>
      <p:ext uri="{BB962C8B-B14F-4D97-AF65-F5344CB8AC3E}">
        <p14:creationId xmlns:p14="http://schemas.microsoft.com/office/powerpoint/2010/main" val="11811535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0F89E33-0E54-4551-A82B-37622A289F14}"/>
              </a:ext>
            </a:extLst>
          </p:cNvPr>
          <p:cNvSpPr>
            <a:spLocks noGrp="1" noChangeArrowheads="1"/>
          </p:cNvSpPr>
          <p:nvPr>
            <p:ph type="title"/>
          </p:nvPr>
        </p:nvSpPr>
        <p:spPr>
          <a:xfrm>
            <a:off x="646113" y="235762"/>
            <a:ext cx="8229600" cy="576262"/>
          </a:xfrm>
        </p:spPr>
        <p:txBody>
          <a:bodyPr/>
          <a:lstStyle/>
          <a:p>
            <a:pPr eaLnBrk="1" hangingPunct="1"/>
            <a:r>
              <a:rPr lang="en-US" altLang="en-US" dirty="0"/>
              <a:t>Implementation of Page Table</a:t>
            </a:r>
          </a:p>
        </p:txBody>
      </p:sp>
      <p:sp>
        <p:nvSpPr>
          <p:cNvPr id="32771" name="Rectangle 3">
            <a:extLst>
              <a:ext uri="{FF2B5EF4-FFF2-40B4-BE49-F238E27FC236}">
                <a16:creationId xmlns:a16="http://schemas.microsoft.com/office/drawing/2014/main" id="{FB578CE8-E6A7-4D4B-8099-B7E1B8DD66E8}"/>
              </a:ext>
            </a:extLst>
          </p:cNvPr>
          <p:cNvSpPr>
            <a:spLocks noGrp="1" noChangeArrowheads="1"/>
          </p:cNvSpPr>
          <p:nvPr>
            <p:ph idx="1"/>
          </p:nvPr>
        </p:nvSpPr>
        <p:spPr>
          <a:xfrm>
            <a:off x="802434" y="1146175"/>
            <a:ext cx="7725746" cy="4686300"/>
          </a:xfrm>
        </p:spPr>
        <p:txBody>
          <a:bodyPr/>
          <a:lstStyle/>
          <a:p>
            <a:r>
              <a:rPr lang="en-US" altLang="en-US" dirty="0"/>
              <a:t>Page table is kept in main memory</a:t>
            </a:r>
          </a:p>
          <a:p>
            <a:pPr lvl="1"/>
            <a:r>
              <a:rPr lang="en-US" altLang="en-US" b="1" dirty="0">
                <a:solidFill>
                  <a:srgbClr val="006699"/>
                </a:solidFill>
                <a:latin typeface="+mj-lt"/>
              </a:rPr>
              <a:t>Page-table</a:t>
            </a:r>
            <a:r>
              <a:rPr lang="en-US" altLang="en-US" b="1" dirty="0">
                <a:solidFill>
                  <a:srgbClr val="3366FF"/>
                </a:solidFill>
              </a:rPr>
              <a:t> </a:t>
            </a:r>
            <a:r>
              <a:rPr lang="en-US" altLang="en-US" b="1" dirty="0">
                <a:solidFill>
                  <a:srgbClr val="006699"/>
                </a:solidFill>
                <a:latin typeface="+mj-lt"/>
              </a:rPr>
              <a:t>base</a:t>
            </a:r>
            <a:r>
              <a:rPr lang="en-US" altLang="en-US" b="1" dirty="0">
                <a:solidFill>
                  <a:srgbClr val="3366FF"/>
                </a:solidFill>
              </a:rPr>
              <a:t> </a:t>
            </a:r>
            <a:r>
              <a:rPr lang="en-US" altLang="en-US" b="1" dirty="0">
                <a:solidFill>
                  <a:srgbClr val="006699"/>
                </a:solidFill>
                <a:latin typeface="+mj-lt"/>
              </a:rPr>
              <a:t>register</a:t>
            </a:r>
            <a:r>
              <a:rPr lang="en-US" altLang="en-US" b="1" dirty="0">
                <a:solidFill>
                  <a:srgbClr val="3366FF"/>
                </a:solidFill>
              </a:rPr>
              <a:t> </a:t>
            </a:r>
            <a:r>
              <a:rPr lang="en-US" altLang="en-US" dirty="0"/>
              <a:t>(</a:t>
            </a:r>
            <a:r>
              <a:rPr lang="en-US" altLang="en-US" b="1" dirty="0">
                <a:solidFill>
                  <a:srgbClr val="006699"/>
                </a:solidFill>
                <a:latin typeface="+mj-lt"/>
              </a:rPr>
              <a:t>PTBR</a:t>
            </a:r>
            <a:r>
              <a:rPr lang="en-US" altLang="en-US" dirty="0"/>
              <a:t>)</a:t>
            </a:r>
            <a:r>
              <a:rPr lang="en-US" altLang="en-US" dirty="0">
                <a:solidFill>
                  <a:srgbClr val="3366FF"/>
                </a:solidFill>
              </a:rPr>
              <a:t> </a:t>
            </a:r>
            <a:r>
              <a:rPr lang="en-US" altLang="en-US" dirty="0"/>
              <a:t>points to the page table</a:t>
            </a:r>
          </a:p>
          <a:p>
            <a:pPr lvl="1"/>
            <a:r>
              <a:rPr lang="en-US" altLang="en-US" b="1" dirty="0">
                <a:solidFill>
                  <a:srgbClr val="006699"/>
                </a:solidFill>
                <a:latin typeface="+mj-lt"/>
              </a:rPr>
              <a:t>Page-table</a:t>
            </a:r>
            <a:r>
              <a:rPr lang="en-US" altLang="en-US" b="1" dirty="0">
                <a:solidFill>
                  <a:srgbClr val="3366FF"/>
                </a:solidFill>
              </a:rPr>
              <a:t> </a:t>
            </a:r>
            <a:r>
              <a:rPr lang="en-US" altLang="en-US" b="1" dirty="0">
                <a:solidFill>
                  <a:srgbClr val="006699"/>
                </a:solidFill>
                <a:latin typeface="+mj-lt"/>
              </a:rPr>
              <a:t>length</a:t>
            </a:r>
            <a:r>
              <a:rPr lang="en-US" altLang="en-US" b="1" dirty="0">
                <a:solidFill>
                  <a:srgbClr val="3366FF"/>
                </a:solidFill>
              </a:rPr>
              <a:t> </a:t>
            </a:r>
            <a:r>
              <a:rPr lang="en-US" altLang="en-US" b="1" dirty="0">
                <a:solidFill>
                  <a:srgbClr val="006699"/>
                </a:solidFill>
                <a:latin typeface="+mj-lt"/>
              </a:rPr>
              <a:t>register</a:t>
            </a:r>
            <a:r>
              <a:rPr lang="en-US" altLang="en-US" b="1" dirty="0">
                <a:solidFill>
                  <a:srgbClr val="3366FF"/>
                </a:solidFill>
              </a:rPr>
              <a:t> </a:t>
            </a:r>
            <a:r>
              <a:rPr lang="en-US" altLang="en-US" dirty="0"/>
              <a:t>(</a:t>
            </a:r>
            <a:r>
              <a:rPr lang="en-US" altLang="en-US" b="1" dirty="0">
                <a:solidFill>
                  <a:srgbClr val="006699"/>
                </a:solidFill>
                <a:latin typeface="+mj-lt"/>
              </a:rPr>
              <a:t>PTLR</a:t>
            </a:r>
            <a:r>
              <a:rPr lang="en-US" altLang="en-US" dirty="0"/>
              <a:t>)</a:t>
            </a:r>
            <a:r>
              <a:rPr lang="en-US" altLang="en-US" dirty="0">
                <a:solidFill>
                  <a:srgbClr val="3366FF"/>
                </a:solidFill>
              </a:rPr>
              <a:t> </a:t>
            </a:r>
            <a:r>
              <a:rPr lang="en-US" altLang="en-US" dirty="0"/>
              <a:t>indicates size of the page table</a:t>
            </a:r>
          </a:p>
          <a:p>
            <a:r>
              <a:rPr lang="en-US" altLang="en-US" dirty="0"/>
              <a:t>In this scheme every data/instruction access requires two memory accesses</a:t>
            </a:r>
          </a:p>
          <a:p>
            <a:pPr lvl="1"/>
            <a:r>
              <a:rPr lang="en-US" altLang="en-US" dirty="0"/>
              <a:t>One for the page table and one for the data / instruction</a:t>
            </a:r>
          </a:p>
          <a:p>
            <a:r>
              <a:rPr lang="en-US" altLang="en-US" dirty="0"/>
              <a:t>The two-memory access problem can be solved by the use of a special fast-lookup hardware cache called  </a:t>
            </a:r>
            <a:r>
              <a:rPr lang="en-US" altLang="en-US" b="1" dirty="0">
                <a:solidFill>
                  <a:srgbClr val="006699"/>
                </a:solidFill>
                <a:latin typeface="+mj-lt"/>
              </a:rPr>
              <a:t>translation</a:t>
            </a:r>
            <a:r>
              <a:rPr lang="en-US" altLang="en-US" b="1" dirty="0">
                <a:solidFill>
                  <a:srgbClr val="3366FF"/>
                </a:solidFill>
              </a:rPr>
              <a:t> </a:t>
            </a:r>
            <a:r>
              <a:rPr lang="en-US" altLang="en-US" b="1" dirty="0">
                <a:solidFill>
                  <a:srgbClr val="006699"/>
                </a:solidFill>
                <a:latin typeface="+mj-lt"/>
              </a:rPr>
              <a:t>look-aside</a:t>
            </a:r>
            <a:r>
              <a:rPr lang="en-US" altLang="en-US" b="1" dirty="0">
                <a:solidFill>
                  <a:srgbClr val="3366FF"/>
                </a:solidFill>
              </a:rPr>
              <a:t> </a:t>
            </a:r>
            <a:r>
              <a:rPr lang="en-US" altLang="en-US" b="1" dirty="0">
                <a:solidFill>
                  <a:srgbClr val="006699"/>
                </a:solidFill>
                <a:latin typeface="+mj-lt"/>
              </a:rPr>
              <a:t>buffers</a:t>
            </a:r>
            <a:r>
              <a:rPr lang="en-US" altLang="en-US" b="1" dirty="0">
                <a:solidFill>
                  <a:srgbClr val="3366FF"/>
                </a:solidFill>
              </a:rPr>
              <a:t> </a:t>
            </a:r>
            <a:r>
              <a:rPr lang="en-US" altLang="en-US" dirty="0"/>
              <a:t>(</a:t>
            </a:r>
            <a:r>
              <a:rPr lang="en-US" altLang="en-US" b="1" dirty="0">
                <a:solidFill>
                  <a:srgbClr val="006699"/>
                </a:solidFill>
                <a:latin typeface="+mj-lt"/>
              </a:rPr>
              <a:t>TLBs</a:t>
            </a:r>
            <a:r>
              <a:rPr lang="en-US" altLang="en-US" dirty="0"/>
              <a:t>) (also called </a:t>
            </a:r>
            <a:r>
              <a:rPr lang="en-US" altLang="en-US" b="1" dirty="0">
                <a:solidFill>
                  <a:srgbClr val="006699"/>
                </a:solidFill>
                <a:latin typeface="+mj-lt"/>
              </a:rPr>
              <a:t>associative</a:t>
            </a:r>
            <a:r>
              <a:rPr lang="en-US" altLang="en-US" b="1" dirty="0">
                <a:solidFill>
                  <a:srgbClr val="3366FF"/>
                </a:solidFill>
              </a:rPr>
              <a:t> </a:t>
            </a:r>
            <a:r>
              <a:rPr lang="en-US" altLang="en-US" b="1" dirty="0">
                <a:solidFill>
                  <a:srgbClr val="006699"/>
                </a:solidFill>
                <a:latin typeface="+mj-lt"/>
              </a:rPr>
              <a:t>memory</a:t>
            </a:r>
            <a:r>
              <a:rPr lang="en-US" altLang="en-US" dirty="0"/>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A230AB13-6435-4378-B830-FECCFE605468}"/>
              </a:ext>
            </a:extLst>
          </p:cNvPr>
          <p:cNvSpPr>
            <a:spLocks noGrp="1" noChangeArrowheads="1"/>
          </p:cNvSpPr>
          <p:nvPr>
            <p:ph type="title"/>
          </p:nvPr>
        </p:nvSpPr>
        <p:spPr>
          <a:xfrm>
            <a:off x="531846" y="222674"/>
            <a:ext cx="8360228" cy="576262"/>
          </a:xfrm>
        </p:spPr>
        <p:txBody>
          <a:bodyPr/>
          <a:lstStyle/>
          <a:p>
            <a:pPr eaLnBrk="1" hangingPunct="1"/>
            <a:r>
              <a:rPr lang="en-US" altLang="en-US" dirty="0"/>
              <a:t>Translation Look-Aside Buffer </a:t>
            </a:r>
          </a:p>
        </p:txBody>
      </p:sp>
      <p:sp>
        <p:nvSpPr>
          <p:cNvPr id="33795" name="Rectangle 3">
            <a:extLst>
              <a:ext uri="{FF2B5EF4-FFF2-40B4-BE49-F238E27FC236}">
                <a16:creationId xmlns:a16="http://schemas.microsoft.com/office/drawing/2014/main" id="{EB8310ED-D6D5-4E0C-8BB0-4E773523DA81}"/>
              </a:ext>
            </a:extLst>
          </p:cNvPr>
          <p:cNvSpPr>
            <a:spLocks noGrp="1" noChangeArrowheads="1"/>
          </p:cNvSpPr>
          <p:nvPr>
            <p:ph idx="1"/>
          </p:nvPr>
        </p:nvSpPr>
        <p:spPr>
          <a:xfrm>
            <a:off x="793101" y="1146175"/>
            <a:ext cx="7144399" cy="4606925"/>
          </a:xfrm>
        </p:spPr>
        <p:txBody>
          <a:bodyPr/>
          <a:lstStyle/>
          <a:p>
            <a:r>
              <a:rPr lang="en-US" altLang="en-US" dirty="0"/>
              <a:t>Some TLBs store</a:t>
            </a:r>
            <a:r>
              <a:rPr lang="en-US" altLang="en-US" b="1" dirty="0"/>
              <a:t> </a:t>
            </a:r>
            <a:r>
              <a:rPr lang="en-US" altLang="en-US" b="1" dirty="0">
                <a:solidFill>
                  <a:srgbClr val="006699"/>
                </a:solidFill>
                <a:latin typeface="+mj-lt"/>
              </a:rPr>
              <a:t>address-space</a:t>
            </a:r>
            <a:r>
              <a:rPr lang="en-US" altLang="en-US" b="1" dirty="0">
                <a:solidFill>
                  <a:srgbClr val="3366FF"/>
                </a:solidFill>
              </a:rPr>
              <a:t> </a:t>
            </a:r>
            <a:r>
              <a:rPr lang="en-US" altLang="en-US" b="1" dirty="0">
                <a:solidFill>
                  <a:srgbClr val="006699"/>
                </a:solidFill>
                <a:latin typeface="+mj-lt"/>
              </a:rPr>
              <a:t>identifiers</a:t>
            </a:r>
            <a:r>
              <a:rPr lang="en-US" altLang="en-US" b="1" dirty="0">
                <a:solidFill>
                  <a:srgbClr val="3366FF"/>
                </a:solidFill>
              </a:rPr>
              <a:t> </a:t>
            </a:r>
            <a:r>
              <a:rPr lang="en-US" altLang="en-US" dirty="0"/>
              <a:t>(</a:t>
            </a:r>
            <a:r>
              <a:rPr lang="en-US" altLang="en-US" b="1" dirty="0">
                <a:solidFill>
                  <a:srgbClr val="006699"/>
                </a:solidFill>
                <a:latin typeface="+mj-lt"/>
              </a:rPr>
              <a:t>ASIDs</a:t>
            </a:r>
            <a:r>
              <a:rPr lang="en-US" altLang="en-US" dirty="0"/>
              <a:t>)</a:t>
            </a:r>
            <a:r>
              <a:rPr lang="en-US" altLang="en-US" b="1" dirty="0">
                <a:solidFill>
                  <a:srgbClr val="3366FF"/>
                </a:solidFill>
              </a:rPr>
              <a:t> </a:t>
            </a:r>
            <a:r>
              <a:rPr lang="en-US" altLang="en-US" dirty="0"/>
              <a:t>in each TLB entry – uniquely identifies each process to provide address-space protection for that process</a:t>
            </a:r>
          </a:p>
          <a:p>
            <a:pPr lvl="1"/>
            <a:r>
              <a:rPr lang="en-US" altLang="en-US" dirty="0"/>
              <a:t>Otherwise need to flush at every context switch</a:t>
            </a:r>
          </a:p>
          <a:p>
            <a:r>
              <a:rPr lang="en-US" altLang="en-US" dirty="0"/>
              <a:t>TLBs typically small (64 to 1,024 entries)</a:t>
            </a:r>
          </a:p>
          <a:p>
            <a:r>
              <a:rPr lang="en-US" altLang="en-US" dirty="0"/>
              <a:t>On a TLB miss, value is loaded into the TLB for faster access next time</a:t>
            </a:r>
          </a:p>
          <a:p>
            <a:pPr lvl="1"/>
            <a:r>
              <a:rPr lang="en-US" altLang="en-US" dirty="0"/>
              <a:t>Replacement policies must be considered</a:t>
            </a:r>
          </a:p>
          <a:p>
            <a:pPr lvl="1"/>
            <a:r>
              <a:rPr lang="en-US" altLang="en-US" dirty="0"/>
              <a:t>Some entries can be</a:t>
            </a:r>
            <a:r>
              <a:rPr lang="en-US" altLang="en-US" b="1" dirty="0">
                <a:solidFill>
                  <a:srgbClr val="3366FF"/>
                </a:solidFill>
              </a:rPr>
              <a:t> </a:t>
            </a:r>
            <a:r>
              <a:rPr lang="en-US" altLang="en-US" b="1" dirty="0">
                <a:solidFill>
                  <a:srgbClr val="006699"/>
                </a:solidFill>
                <a:latin typeface="+mj-lt"/>
              </a:rPr>
              <a:t>wired</a:t>
            </a:r>
            <a:r>
              <a:rPr lang="en-US" altLang="en-US" b="1" dirty="0">
                <a:solidFill>
                  <a:srgbClr val="3366FF"/>
                </a:solidFill>
              </a:rPr>
              <a:t> </a:t>
            </a:r>
            <a:r>
              <a:rPr lang="en-US" altLang="en-US" b="1" dirty="0">
                <a:solidFill>
                  <a:srgbClr val="006699"/>
                </a:solidFill>
                <a:latin typeface="+mj-lt"/>
              </a:rPr>
              <a:t>down</a:t>
            </a:r>
            <a:r>
              <a:rPr lang="en-US" altLang="en-US" b="1" dirty="0">
                <a:solidFill>
                  <a:srgbClr val="3366FF"/>
                </a:solidFill>
              </a:rPr>
              <a:t> </a:t>
            </a:r>
            <a:r>
              <a:rPr lang="en-US" altLang="en-US" dirty="0"/>
              <a:t>for permanent fast access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050">
            <a:extLst>
              <a:ext uri="{FF2B5EF4-FFF2-40B4-BE49-F238E27FC236}">
                <a16:creationId xmlns:a16="http://schemas.microsoft.com/office/drawing/2014/main" id="{A7C684B0-80FB-46D4-B8E4-5BAFFE7E2C8E}"/>
              </a:ext>
            </a:extLst>
          </p:cNvPr>
          <p:cNvSpPr>
            <a:spLocks noGrp="1" noChangeArrowheads="1"/>
          </p:cNvSpPr>
          <p:nvPr>
            <p:ph type="title"/>
          </p:nvPr>
        </p:nvSpPr>
        <p:spPr>
          <a:xfrm>
            <a:off x="457200" y="232005"/>
            <a:ext cx="8229600" cy="576262"/>
          </a:xfrm>
        </p:spPr>
        <p:txBody>
          <a:bodyPr/>
          <a:lstStyle/>
          <a:p>
            <a:pPr eaLnBrk="1" hangingPunct="1"/>
            <a:r>
              <a:rPr lang="en-US" altLang="en-US" dirty="0"/>
              <a:t>Hardware</a:t>
            </a:r>
          </a:p>
        </p:txBody>
      </p:sp>
      <p:sp>
        <p:nvSpPr>
          <p:cNvPr id="34819" name="Rectangle 2051">
            <a:extLst>
              <a:ext uri="{FF2B5EF4-FFF2-40B4-BE49-F238E27FC236}">
                <a16:creationId xmlns:a16="http://schemas.microsoft.com/office/drawing/2014/main" id="{E7B29C5B-AFCD-4031-B6DE-A755EE36ADBD}"/>
              </a:ext>
            </a:extLst>
          </p:cNvPr>
          <p:cNvSpPr>
            <a:spLocks noGrp="1" noChangeArrowheads="1"/>
          </p:cNvSpPr>
          <p:nvPr>
            <p:ph idx="1"/>
          </p:nvPr>
        </p:nvSpPr>
        <p:spPr>
          <a:xfrm>
            <a:off x="811763" y="1211263"/>
            <a:ext cx="7735078" cy="4483100"/>
          </a:xfrm>
        </p:spPr>
        <p:txBody>
          <a:bodyPr/>
          <a:lstStyle/>
          <a:p>
            <a:r>
              <a:rPr lang="en-US" altLang="en-US" dirty="0"/>
              <a:t>Associative memory – parallel search </a:t>
            </a:r>
          </a:p>
          <a:p>
            <a:endParaRPr lang="en-US" altLang="en-US" dirty="0"/>
          </a:p>
          <a:p>
            <a:endParaRPr lang="en-US" altLang="en-US" dirty="0"/>
          </a:p>
          <a:p>
            <a:endParaRPr lang="en-US" altLang="en-US" dirty="0"/>
          </a:p>
          <a:p>
            <a:endParaRPr lang="en-US" altLang="en-US" dirty="0"/>
          </a:p>
          <a:p>
            <a:pPr>
              <a:buFont typeface="Monotype Sorts" pitchFamily="-84" charset="2"/>
              <a:buNone/>
            </a:pPr>
            <a:endParaRPr lang="en-US" altLang="en-US" dirty="0"/>
          </a:p>
          <a:p>
            <a:r>
              <a:rPr lang="en-US" altLang="en-US" dirty="0"/>
              <a:t>Address translation (p, d)</a:t>
            </a:r>
          </a:p>
          <a:p>
            <a:pPr marL="627063" lvl="1"/>
            <a:r>
              <a:rPr lang="en-US" altLang="en-US" dirty="0"/>
              <a:t>If p is in associative register, get frame # out</a:t>
            </a:r>
          </a:p>
          <a:p>
            <a:pPr marL="627063" lvl="1"/>
            <a:r>
              <a:rPr lang="en-US" altLang="en-US" dirty="0"/>
              <a:t>Otherwise get frame # from page table in memory</a:t>
            </a:r>
          </a:p>
          <a:p>
            <a:pPr marL="627063" lvl="1"/>
            <a:endParaRPr lang="en-US" altLang="en-US" dirty="0"/>
          </a:p>
        </p:txBody>
      </p:sp>
      <p:pic>
        <p:nvPicPr>
          <p:cNvPr id="34820" name="Picture 1">
            <a:extLst>
              <a:ext uri="{FF2B5EF4-FFF2-40B4-BE49-F238E27FC236}">
                <a16:creationId xmlns:a16="http://schemas.microsoft.com/office/drawing/2014/main" id="{1BA7F075-72DD-4E05-B0C4-AC7DAF33AA3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52675" y="1693863"/>
            <a:ext cx="2943225"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B034F0B9-0ADC-441A-ABA1-37FF750921FD}"/>
              </a:ext>
            </a:extLst>
          </p:cNvPr>
          <p:cNvSpPr>
            <a:spLocks noGrp="1" noChangeArrowheads="1"/>
          </p:cNvSpPr>
          <p:nvPr>
            <p:ph type="title"/>
          </p:nvPr>
        </p:nvSpPr>
        <p:spPr>
          <a:xfrm>
            <a:off x="488950" y="238549"/>
            <a:ext cx="8229600" cy="576262"/>
          </a:xfrm>
        </p:spPr>
        <p:txBody>
          <a:bodyPr/>
          <a:lstStyle/>
          <a:p>
            <a:pPr eaLnBrk="1" hangingPunct="1"/>
            <a:r>
              <a:rPr lang="en-US" altLang="en-US" dirty="0"/>
              <a:t>Paging Hardware With TLB</a:t>
            </a:r>
            <a:endParaRPr lang="en-US" altLang="en-US" sz="2400" dirty="0"/>
          </a:p>
        </p:txBody>
      </p:sp>
      <p:pic>
        <p:nvPicPr>
          <p:cNvPr id="35843" name="Picture 5">
            <a:extLst>
              <a:ext uri="{FF2B5EF4-FFF2-40B4-BE49-F238E27FC236}">
                <a16:creationId xmlns:a16="http://schemas.microsoft.com/office/drawing/2014/main" id="{0D2FCA98-0A3D-46E7-B9FC-5E2B1E8640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1175" y="1284288"/>
            <a:ext cx="5637213" cy="426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5A1C10ED-0838-45BF-9D06-E530E5EF268D}"/>
              </a:ext>
            </a:extLst>
          </p:cNvPr>
          <p:cNvSpPr>
            <a:spLocks noGrp="1" noChangeArrowheads="1"/>
          </p:cNvSpPr>
          <p:nvPr>
            <p:ph type="title"/>
          </p:nvPr>
        </p:nvSpPr>
        <p:spPr>
          <a:xfrm>
            <a:off x="457200" y="236379"/>
            <a:ext cx="8229600" cy="576263"/>
          </a:xfrm>
        </p:spPr>
        <p:txBody>
          <a:bodyPr/>
          <a:lstStyle/>
          <a:p>
            <a:pPr eaLnBrk="1" hangingPunct="1"/>
            <a:r>
              <a:rPr lang="en-US" altLang="en-US" dirty="0"/>
              <a:t>Effective Access Time</a:t>
            </a:r>
          </a:p>
        </p:txBody>
      </p:sp>
      <p:sp>
        <p:nvSpPr>
          <p:cNvPr id="49155" name="Rectangle 3">
            <a:extLst>
              <a:ext uri="{FF2B5EF4-FFF2-40B4-BE49-F238E27FC236}">
                <a16:creationId xmlns:a16="http://schemas.microsoft.com/office/drawing/2014/main" id="{D1905E63-D1E4-48E6-BE3E-4EFB204C389B}"/>
              </a:ext>
            </a:extLst>
          </p:cNvPr>
          <p:cNvSpPr>
            <a:spLocks noGrp="1" noChangeArrowheads="1"/>
          </p:cNvSpPr>
          <p:nvPr>
            <p:ph idx="1"/>
          </p:nvPr>
        </p:nvSpPr>
        <p:spPr>
          <a:xfrm>
            <a:off x="821095" y="1231638"/>
            <a:ext cx="7772400" cy="4835558"/>
          </a:xfrm>
        </p:spPr>
        <p:txBody>
          <a:bodyPr/>
          <a:lstStyle/>
          <a:p>
            <a:pPr marL="342900" lvl="1" indent="-342900">
              <a:lnSpc>
                <a:spcPct val="90000"/>
              </a:lnSpc>
              <a:buClr>
                <a:srgbClr val="993300"/>
              </a:buClr>
              <a:buFont typeface="Wingdings" panose="05000000000000000000" pitchFamily="2" charset="2"/>
              <a:buChar char="§"/>
              <a:tabLst>
                <a:tab pos="2062163" algn="l"/>
                <a:tab pos="2566988" algn="l"/>
              </a:tabLst>
              <a:defRPr/>
            </a:pPr>
            <a:r>
              <a:rPr lang="en-US" altLang="en-US" dirty="0">
                <a:sym typeface="Symbol" pitchFamily="18" charset="2"/>
              </a:rPr>
              <a:t>Hit ratio – percentage of times that a page number is found in the  TLB</a:t>
            </a:r>
          </a:p>
          <a:p>
            <a:pPr>
              <a:lnSpc>
                <a:spcPct val="90000"/>
              </a:lnSpc>
              <a:tabLst>
                <a:tab pos="2062163" algn="l"/>
                <a:tab pos="2566988" algn="l"/>
              </a:tabLst>
              <a:defRPr/>
            </a:pPr>
            <a:r>
              <a:rPr lang="en-US" altLang="en-US" dirty="0"/>
              <a:t>An </a:t>
            </a:r>
            <a:r>
              <a:rPr lang="en-US" altLang="en-US" dirty="0">
                <a:sym typeface="Symbol" pitchFamily="18" charset="2"/>
              </a:rPr>
              <a:t>80% hit ratio means that we find the desired  page number  in the TLB 80% of the time.</a:t>
            </a:r>
            <a:endParaRPr lang="en-US" altLang="en-US" dirty="0"/>
          </a:p>
          <a:p>
            <a:pPr>
              <a:lnSpc>
                <a:spcPct val="90000"/>
              </a:lnSpc>
              <a:tabLst>
                <a:tab pos="2062163" algn="l"/>
                <a:tab pos="2566988" algn="l"/>
              </a:tabLst>
              <a:defRPr/>
            </a:pPr>
            <a:r>
              <a:rPr lang="en-US" altLang="en-US" dirty="0"/>
              <a:t>Suppose that 10 nanoseconds to access memory.  </a:t>
            </a:r>
          </a:p>
          <a:p>
            <a:pPr lvl="1">
              <a:lnSpc>
                <a:spcPct val="90000"/>
              </a:lnSpc>
              <a:tabLst>
                <a:tab pos="2062163" algn="l"/>
                <a:tab pos="2566988" algn="l"/>
              </a:tabLst>
              <a:defRPr/>
            </a:pPr>
            <a:r>
              <a:rPr lang="en-US" altLang="en-US" dirty="0"/>
              <a:t>If we find the desired page in TLB then a mapped-memory access take 10 ns</a:t>
            </a:r>
          </a:p>
          <a:p>
            <a:pPr lvl="1">
              <a:lnSpc>
                <a:spcPct val="90000"/>
              </a:lnSpc>
              <a:tabLst>
                <a:tab pos="2062163" algn="l"/>
                <a:tab pos="2566988" algn="l"/>
              </a:tabLst>
              <a:defRPr/>
            </a:pPr>
            <a:r>
              <a:rPr lang="en-US" altLang="en-US" dirty="0"/>
              <a:t>Otherwise we need two memory access so it is 20 ns</a:t>
            </a:r>
          </a:p>
          <a:p>
            <a:pPr>
              <a:lnSpc>
                <a:spcPct val="90000"/>
              </a:lnSpc>
              <a:tabLst>
                <a:tab pos="2062163" algn="l"/>
                <a:tab pos="2566988" algn="l"/>
              </a:tabLst>
              <a:defRPr/>
            </a:pPr>
            <a:r>
              <a:rPr lang="en-US" altLang="en-US" b="1" dirty="0">
                <a:solidFill>
                  <a:srgbClr val="006699"/>
                </a:solidFill>
                <a:latin typeface="+mj-lt"/>
                <a:sym typeface="Symbol" pitchFamily="18" charset="2"/>
              </a:rPr>
              <a:t>Effective</a:t>
            </a:r>
            <a:r>
              <a:rPr lang="en-US" altLang="en-US" b="1" dirty="0">
                <a:solidFill>
                  <a:srgbClr val="3366FF"/>
                </a:solidFill>
                <a:sym typeface="Symbol" pitchFamily="18" charset="2"/>
              </a:rPr>
              <a:t> </a:t>
            </a:r>
            <a:r>
              <a:rPr lang="en-US" altLang="en-US" b="1" dirty="0">
                <a:solidFill>
                  <a:srgbClr val="006699"/>
                </a:solidFill>
                <a:latin typeface="+mj-lt"/>
                <a:sym typeface="Symbol" pitchFamily="18" charset="2"/>
              </a:rPr>
              <a:t>Access</a:t>
            </a:r>
            <a:r>
              <a:rPr lang="en-US" altLang="en-US" b="1" dirty="0">
                <a:solidFill>
                  <a:srgbClr val="3366FF"/>
                </a:solidFill>
                <a:sym typeface="Symbol" pitchFamily="18" charset="2"/>
              </a:rPr>
              <a:t> </a:t>
            </a:r>
            <a:r>
              <a:rPr lang="en-US" altLang="en-US" b="1" dirty="0">
                <a:solidFill>
                  <a:srgbClr val="006699"/>
                </a:solidFill>
                <a:latin typeface="+mj-lt"/>
                <a:sym typeface="Symbol" pitchFamily="18" charset="2"/>
              </a:rPr>
              <a:t>Time</a:t>
            </a:r>
            <a:r>
              <a:rPr lang="en-US" altLang="en-US" dirty="0">
                <a:solidFill>
                  <a:srgbClr val="3366FF"/>
                </a:solidFill>
                <a:sym typeface="Symbol" pitchFamily="18" charset="2"/>
              </a:rPr>
              <a:t> </a:t>
            </a:r>
            <a:r>
              <a:rPr lang="en-US" altLang="en-US" dirty="0">
                <a:sym typeface="Symbol" pitchFamily="18" charset="2"/>
              </a:rPr>
              <a:t>(</a:t>
            </a:r>
            <a:r>
              <a:rPr lang="en-US" altLang="en-US" b="1" dirty="0">
                <a:solidFill>
                  <a:srgbClr val="006699"/>
                </a:solidFill>
                <a:latin typeface="+mj-lt"/>
                <a:sym typeface="Symbol" pitchFamily="18" charset="2"/>
              </a:rPr>
              <a:t>EAT</a:t>
            </a:r>
            <a:r>
              <a:rPr lang="en-US" altLang="en-US" dirty="0">
                <a:sym typeface="Symbol" pitchFamily="18" charset="2"/>
              </a:rPr>
              <a:t>)</a:t>
            </a:r>
          </a:p>
          <a:p>
            <a:pPr>
              <a:lnSpc>
                <a:spcPct val="90000"/>
              </a:lnSpc>
              <a:buFont typeface="Monotype Sorts" pitchFamily="-84" charset="2"/>
              <a:buNone/>
              <a:tabLst>
                <a:tab pos="2062163" algn="l"/>
                <a:tab pos="2566988" algn="l"/>
              </a:tabLst>
              <a:defRPr/>
            </a:pPr>
            <a:r>
              <a:rPr lang="en-US" altLang="en-US" dirty="0"/>
              <a:t>	               EAT = </a:t>
            </a:r>
            <a:r>
              <a:rPr lang="en-US" altLang="en-US" dirty="0">
                <a:sym typeface="Symbol" pitchFamily="18" charset="2"/>
              </a:rPr>
              <a:t>0.80 x 10 + 0.20 x 20 = 12 </a:t>
            </a:r>
            <a:r>
              <a:rPr lang="en-US" altLang="en-US" dirty="0"/>
              <a:t> nanoseconds</a:t>
            </a:r>
          </a:p>
          <a:p>
            <a:pPr>
              <a:lnSpc>
                <a:spcPct val="90000"/>
              </a:lnSpc>
              <a:buFont typeface="Monotype Sorts" pitchFamily="-84" charset="2"/>
              <a:buNone/>
              <a:tabLst>
                <a:tab pos="2062163" algn="l"/>
                <a:tab pos="2566988" algn="l"/>
              </a:tabLst>
              <a:defRPr/>
            </a:pPr>
            <a:r>
              <a:rPr lang="en-US" altLang="en-US" dirty="0"/>
              <a:t>       implying 20% slowdown in access time</a:t>
            </a:r>
          </a:p>
          <a:p>
            <a:pPr>
              <a:lnSpc>
                <a:spcPct val="90000"/>
              </a:lnSpc>
              <a:tabLst>
                <a:tab pos="2062163" algn="l"/>
                <a:tab pos="2566988" algn="l"/>
              </a:tabLst>
              <a:defRPr/>
            </a:pPr>
            <a:r>
              <a:rPr lang="en-US" altLang="en-US" dirty="0">
                <a:sym typeface="Symbol" pitchFamily="18" charset="2"/>
              </a:rPr>
              <a:t>Consider  amore realistic hit ratio of 99%, </a:t>
            </a:r>
          </a:p>
          <a:p>
            <a:pPr lvl="1">
              <a:lnSpc>
                <a:spcPct val="90000"/>
              </a:lnSpc>
              <a:buFont typeface="Monotype Sorts" pitchFamily="-84" charset="2"/>
              <a:buNone/>
              <a:tabLst>
                <a:tab pos="2062163" algn="l"/>
                <a:tab pos="2566988" algn="l"/>
              </a:tabLst>
              <a:defRPr/>
            </a:pPr>
            <a:r>
              <a:rPr lang="en-US" altLang="en-US" dirty="0">
                <a:sym typeface="Symbol" pitchFamily="18" charset="2"/>
              </a:rPr>
              <a:t>     EAT = 0.99 x 10 + 0.01 x 20 = 10.1ns</a:t>
            </a:r>
          </a:p>
          <a:p>
            <a:pPr>
              <a:lnSpc>
                <a:spcPct val="90000"/>
              </a:lnSpc>
              <a:buFont typeface="Monotype Sorts" pitchFamily="-84" charset="2"/>
              <a:buNone/>
              <a:tabLst>
                <a:tab pos="2062163" algn="l"/>
                <a:tab pos="2566988" algn="l"/>
              </a:tabLst>
              <a:defRPr/>
            </a:pPr>
            <a:r>
              <a:rPr lang="en-US" altLang="en-US" dirty="0"/>
              <a:t>      implying  only 1% slowdown in access time.</a:t>
            </a:r>
          </a:p>
          <a:p>
            <a:pPr>
              <a:lnSpc>
                <a:spcPct val="90000"/>
              </a:lnSpc>
              <a:buFont typeface="Monotype Sorts" pitchFamily="-84" charset="2"/>
              <a:buNone/>
              <a:tabLst>
                <a:tab pos="2062163" algn="l"/>
                <a:tab pos="2566988" algn="l"/>
              </a:tabLst>
              <a:defRPr/>
            </a:pPr>
            <a:endParaRPr lang="en-US" altLang="en-US" dirty="0"/>
          </a:p>
          <a:p>
            <a:pPr lvl="1">
              <a:lnSpc>
                <a:spcPct val="90000"/>
              </a:lnSpc>
              <a:tabLst>
                <a:tab pos="2062163" algn="l"/>
                <a:tab pos="2566988" algn="l"/>
              </a:tabLst>
              <a:defRPr/>
            </a:pPr>
            <a:endParaRPr lang="en-US" altLang="en-US" dirty="0">
              <a:sym typeface="Symbol" pitchFamily="18" charset="2"/>
            </a:endParaRPr>
          </a:p>
          <a:p>
            <a:pPr>
              <a:lnSpc>
                <a:spcPct val="90000"/>
              </a:lnSpc>
              <a:buFont typeface="Monotype Sorts" pitchFamily="-84" charset="2"/>
              <a:buNone/>
              <a:tabLst>
                <a:tab pos="2062163" algn="l"/>
                <a:tab pos="2566988" algn="l"/>
              </a:tabLst>
              <a:defRPr/>
            </a:pPr>
            <a:endParaRPr lang="en-US"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050">
            <a:extLst>
              <a:ext uri="{FF2B5EF4-FFF2-40B4-BE49-F238E27FC236}">
                <a16:creationId xmlns:a16="http://schemas.microsoft.com/office/drawing/2014/main" id="{81EB7566-C4A8-46A0-8405-B237E98989F1}"/>
              </a:ext>
            </a:extLst>
          </p:cNvPr>
          <p:cNvSpPr>
            <a:spLocks noGrp="1" noChangeArrowheads="1"/>
          </p:cNvSpPr>
          <p:nvPr>
            <p:ph type="title"/>
          </p:nvPr>
        </p:nvSpPr>
        <p:spPr>
          <a:xfrm>
            <a:off x="457200" y="247880"/>
            <a:ext cx="8229600" cy="576262"/>
          </a:xfrm>
        </p:spPr>
        <p:txBody>
          <a:bodyPr/>
          <a:lstStyle/>
          <a:p>
            <a:pPr eaLnBrk="1" hangingPunct="1"/>
            <a:r>
              <a:rPr lang="en-US" altLang="en-US" dirty="0"/>
              <a:t>Memory Protection</a:t>
            </a:r>
          </a:p>
        </p:txBody>
      </p:sp>
      <p:sp>
        <p:nvSpPr>
          <p:cNvPr id="37891" name="Rectangle 2051">
            <a:extLst>
              <a:ext uri="{FF2B5EF4-FFF2-40B4-BE49-F238E27FC236}">
                <a16:creationId xmlns:a16="http://schemas.microsoft.com/office/drawing/2014/main" id="{243E4155-B2C5-48A3-9386-D371D820EF99}"/>
              </a:ext>
            </a:extLst>
          </p:cNvPr>
          <p:cNvSpPr>
            <a:spLocks noGrp="1" noChangeArrowheads="1"/>
          </p:cNvSpPr>
          <p:nvPr>
            <p:ph idx="1"/>
          </p:nvPr>
        </p:nvSpPr>
        <p:spPr>
          <a:xfrm>
            <a:off x="830425" y="1157288"/>
            <a:ext cx="7651102" cy="4468812"/>
          </a:xfrm>
        </p:spPr>
        <p:txBody>
          <a:bodyPr/>
          <a:lstStyle/>
          <a:p>
            <a:r>
              <a:rPr lang="en-US" altLang="en-US" dirty="0"/>
              <a:t>Memory protection implemented by associating protection bit with each frame to indicate if read-only or read-write access is allowed</a:t>
            </a:r>
          </a:p>
          <a:p>
            <a:pPr lvl="1"/>
            <a:r>
              <a:rPr lang="en-US" altLang="en-US" dirty="0"/>
              <a:t>Can also add more bits to indicate page execute-only, and so on</a:t>
            </a:r>
          </a:p>
          <a:p>
            <a:r>
              <a:rPr lang="en-US" altLang="en-US" b="1" dirty="0">
                <a:solidFill>
                  <a:srgbClr val="006699"/>
                </a:solidFill>
                <a:latin typeface="+mj-lt"/>
              </a:rPr>
              <a:t>Valid-invalid</a:t>
            </a:r>
            <a:r>
              <a:rPr lang="en-US" altLang="en-US" dirty="0">
                <a:solidFill>
                  <a:srgbClr val="3366FF"/>
                </a:solidFill>
              </a:rPr>
              <a:t> </a:t>
            </a:r>
            <a:r>
              <a:rPr lang="en-US" altLang="en-US" dirty="0"/>
              <a:t>bit attached to each entry in the page table:</a:t>
            </a:r>
          </a:p>
          <a:p>
            <a:pPr lvl="1"/>
            <a:r>
              <a:rPr lang="ja-JP" altLang="en-US" dirty="0"/>
              <a:t>“</a:t>
            </a:r>
            <a:r>
              <a:rPr lang="en-US" altLang="ja-JP" dirty="0"/>
              <a:t>valid</a:t>
            </a:r>
            <a:r>
              <a:rPr lang="ja-JP" altLang="en-US" dirty="0"/>
              <a:t>”</a:t>
            </a:r>
            <a:r>
              <a:rPr lang="en-US" altLang="ja-JP" dirty="0"/>
              <a:t> indicates that the associated page is in the process</a:t>
            </a:r>
            <a:r>
              <a:rPr lang="ja-JP" altLang="en-US" dirty="0"/>
              <a:t>’</a:t>
            </a:r>
            <a:r>
              <a:rPr lang="en-US" altLang="ja-JP" dirty="0"/>
              <a:t> logical address space, and is thus a legal page</a:t>
            </a:r>
          </a:p>
          <a:p>
            <a:pPr lvl="1"/>
            <a:r>
              <a:rPr lang="ja-JP" altLang="en-US" dirty="0"/>
              <a:t>“</a:t>
            </a:r>
            <a:r>
              <a:rPr lang="en-US" altLang="ja-JP" dirty="0"/>
              <a:t>invalid</a:t>
            </a:r>
            <a:r>
              <a:rPr lang="ja-JP" altLang="en-US" dirty="0"/>
              <a:t>”</a:t>
            </a:r>
            <a:r>
              <a:rPr lang="en-US" altLang="ja-JP" dirty="0"/>
              <a:t> indicates that the page is not in the process</a:t>
            </a:r>
            <a:r>
              <a:rPr lang="ja-JP" altLang="en-US" dirty="0"/>
              <a:t>’</a:t>
            </a:r>
            <a:r>
              <a:rPr lang="en-US" altLang="ja-JP" dirty="0"/>
              <a:t> logical address space</a:t>
            </a:r>
          </a:p>
          <a:p>
            <a:pPr lvl="1"/>
            <a:r>
              <a:rPr lang="en-US" altLang="en-US" dirty="0"/>
              <a:t>Or use </a:t>
            </a:r>
            <a:r>
              <a:rPr lang="en-US" altLang="en-US" b="1" dirty="0">
                <a:solidFill>
                  <a:srgbClr val="006699"/>
                </a:solidFill>
                <a:latin typeface="+mj-lt"/>
              </a:rPr>
              <a:t>page-table</a:t>
            </a:r>
            <a:r>
              <a:rPr lang="en-US" altLang="en-US" b="1" dirty="0">
                <a:solidFill>
                  <a:srgbClr val="3366FF"/>
                </a:solidFill>
              </a:rPr>
              <a:t> </a:t>
            </a:r>
            <a:r>
              <a:rPr lang="en-US" altLang="en-US" b="1" dirty="0">
                <a:solidFill>
                  <a:srgbClr val="006699"/>
                </a:solidFill>
                <a:latin typeface="+mj-lt"/>
              </a:rPr>
              <a:t>length</a:t>
            </a:r>
            <a:r>
              <a:rPr lang="en-US" altLang="en-US" b="1" dirty="0">
                <a:solidFill>
                  <a:srgbClr val="3366FF"/>
                </a:solidFill>
              </a:rPr>
              <a:t> </a:t>
            </a:r>
            <a:r>
              <a:rPr lang="en-US" altLang="en-US" b="1" dirty="0">
                <a:solidFill>
                  <a:srgbClr val="006699"/>
                </a:solidFill>
                <a:latin typeface="+mj-lt"/>
              </a:rPr>
              <a:t>register</a:t>
            </a:r>
            <a:r>
              <a:rPr lang="en-US" altLang="en-US" b="1" dirty="0">
                <a:solidFill>
                  <a:srgbClr val="3366FF"/>
                </a:solidFill>
              </a:rPr>
              <a:t> </a:t>
            </a:r>
            <a:r>
              <a:rPr lang="en-US" altLang="en-US" dirty="0"/>
              <a:t>(</a:t>
            </a:r>
            <a:r>
              <a:rPr lang="en-US" altLang="en-US" b="1" dirty="0">
                <a:solidFill>
                  <a:srgbClr val="006699"/>
                </a:solidFill>
                <a:latin typeface="+mj-lt"/>
              </a:rPr>
              <a:t>PTLR</a:t>
            </a:r>
            <a:r>
              <a:rPr lang="en-US" altLang="en-US" dirty="0"/>
              <a:t>)</a:t>
            </a:r>
          </a:p>
          <a:p>
            <a:r>
              <a:rPr lang="en-US" altLang="en-US" dirty="0"/>
              <a:t>Any violations result in a trap to the kernel</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145B4E6-5DED-4B37-B9F1-D64E18F15EDD}"/>
              </a:ext>
            </a:extLst>
          </p:cNvPr>
          <p:cNvSpPr>
            <a:spLocks noGrp="1" noChangeArrowheads="1"/>
          </p:cNvSpPr>
          <p:nvPr>
            <p:ph type="title"/>
          </p:nvPr>
        </p:nvSpPr>
        <p:spPr>
          <a:xfrm>
            <a:off x="709127" y="-95603"/>
            <a:ext cx="8112611" cy="903288"/>
          </a:xfrm>
        </p:spPr>
        <p:txBody>
          <a:bodyPr/>
          <a:lstStyle/>
          <a:p>
            <a:pPr eaLnBrk="1" hangingPunct="1"/>
            <a:r>
              <a:rPr lang="en-US" altLang="en-US" sz="2800" dirty="0"/>
              <a:t>Valid (v) or Invalid (i) Bit In A Page Table</a:t>
            </a:r>
          </a:p>
        </p:txBody>
      </p:sp>
      <p:pic>
        <p:nvPicPr>
          <p:cNvPr id="38915" name="Picture 5">
            <a:extLst>
              <a:ext uri="{FF2B5EF4-FFF2-40B4-BE49-F238E27FC236}">
                <a16:creationId xmlns:a16="http://schemas.microsoft.com/office/drawing/2014/main" id="{51286D0E-48B1-4A77-B77D-2A6859C884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500" y="1252538"/>
            <a:ext cx="5099050" cy="442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B921CA97-CF77-4743-9E98-4A047BEE3367}"/>
              </a:ext>
            </a:extLst>
          </p:cNvPr>
          <p:cNvSpPr>
            <a:spLocks noGrp="1" noChangeArrowheads="1"/>
          </p:cNvSpPr>
          <p:nvPr>
            <p:ph type="title"/>
          </p:nvPr>
        </p:nvSpPr>
        <p:spPr>
          <a:xfrm>
            <a:off x="457200" y="247880"/>
            <a:ext cx="8229600" cy="576262"/>
          </a:xfrm>
        </p:spPr>
        <p:txBody>
          <a:bodyPr/>
          <a:lstStyle/>
          <a:p>
            <a:pPr eaLnBrk="1" hangingPunct="1"/>
            <a:r>
              <a:rPr lang="en-US" altLang="en-US" dirty="0"/>
              <a:t>Shared Pages</a:t>
            </a:r>
          </a:p>
        </p:txBody>
      </p:sp>
      <p:sp>
        <p:nvSpPr>
          <p:cNvPr id="39939" name="Rectangle 3">
            <a:extLst>
              <a:ext uri="{FF2B5EF4-FFF2-40B4-BE49-F238E27FC236}">
                <a16:creationId xmlns:a16="http://schemas.microsoft.com/office/drawing/2014/main" id="{D36A1277-493F-4EAE-9460-2793BEE19806}"/>
              </a:ext>
            </a:extLst>
          </p:cNvPr>
          <p:cNvSpPr>
            <a:spLocks noGrp="1" noChangeArrowheads="1"/>
          </p:cNvSpPr>
          <p:nvPr>
            <p:ph idx="1"/>
          </p:nvPr>
        </p:nvSpPr>
        <p:spPr>
          <a:xfrm>
            <a:off x="802433" y="1113421"/>
            <a:ext cx="7734788" cy="4483100"/>
          </a:xfrm>
        </p:spPr>
        <p:txBody>
          <a:bodyPr/>
          <a:lstStyle/>
          <a:p>
            <a:r>
              <a:rPr lang="en-US" altLang="en-US" b="1" dirty="0">
                <a:solidFill>
                  <a:srgbClr val="006699"/>
                </a:solidFill>
                <a:latin typeface="+mj-lt"/>
              </a:rPr>
              <a:t>Shared</a:t>
            </a:r>
            <a:r>
              <a:rPr lang="en-US" altLang="en-US" b="1" dirty="0">
                <a:solidFill>
                  <a:srgbClr val="3366FF"/>
                </a:solidFill>
              </a:rPr>
              <a:t> </a:t>
            </a:r>
            <a:r>
              <a:rPr lang="en-US" altLang="en-US" b="1" dirty="0">
                <a:solidFill>
                  <a:srgbClr val="006699"/>
                </a:solidFill>
                <a:latin typeface="+mj-lt"/>
              </a:rPr>
              <a:t>code</a:t>
            </a:r>
          </a:p>
          <a:p>
            <a:pPr lvl="1"/>
            <a:r>
              <a:rPr lang="en-US" altLang="en-US" dirty="0"/>
              <a:t>One copy of read-only (</a:t>
            </a:r>
            <a:r>
              <a:rPr lang="en-US" altLang="en-US" b="1" dirty="0">
                <a:solidFill>
                  <a:srgbClr val="006699"/>
                </a:solidFill>
                <a:latin typeface="+mj-lt"/>
              </a:rPr>
              <a:t>reentrant</a:t>
            </a:r>
            <a:r>
              <a:rPr lang="en-US" altLang="en-US" dirty="0"/>
              <a:t>) code shared among processes (i.e., text editors, compilers, window systems)</a:t>
            </a:r>
          </a:p>
          <a:p>
            <a:pPr lvl="1"/>
            <a:r>
              <a:rPr lang="en-US" altLang="en-US" dirty="0"/>
              <a:t>Similar to multiple threads sharing the same process space</a:t>
            </a:r>
          </a:p>
          <a:p>
            <a:pPr lvl="1"/>
            <a:r>
              <a:rPr lang="en-US" altLang="en-US" dirty="0"/>
              <a:t>Also useful for interprocess communication if sharing of read-write pages is allowed</a:t>
            </a:r>
          </a:p>
          <a:p>
            <a:r>
              <a:rPr lang="en-US" altLang="en-US" b="1" dirty="0">
                <a:solidFill>
                  <a:srgbClr val="006699"/>
                </a:solidFill>
                <a:latin typeface="+mj-lt"/>
              </a:rPr>
              <a:t>Private</a:t>
            </a:r>
            <a:r>
              <a:rPr lang="en-US" altLang="en-US" b="1" dirty="0">
                <a:solidFill>
                  <a:srgbClr val="3366FF"/>
                </a:solidFill>
              </a:rPr>
              <a:t> </a:t>
            </a:r>
            <a:r>
              <a:rPr lang="en-US" altLang="en-US" b="1" dirty="0">
                <a:solidFill>
                  <a:srgbClr val="006699"/>
                </a:solidFill>
                <a:latin typeface="+mj-lt"/>
              </a:rPr>
              <a:t>code</a:t>
            </a:r>
            <a:r>
              <a:rPr lang="en-US" altLang="en-US" b="1" dirty="0">
                <a:solidFill>
                  <a:srgbClr val="3366FF"/>
                </a:solidFill>
              </a:rPr>
              <a:t> </a:t>
            </a:r>
            <a:r>
              <a:rPr lang="en-US" altLang="en-US" b="1" dirty="0">
                <a:solidFill>
                  <a:srgbClr val="006699"/>
                </a:solidFill>
                <a:latin typeface="+mj-lt"/>
              </a:rPr>
              <a:t>and</a:t>
            </a:r>
            <a:r>
              <a:rPr lang="en-US" altLang="en-US" b="1" dirty="0">
                <a:solidFill>
                  <a:srgbClr val="3366FF"/>
                </a:solidFill>
              </a:rPr>
              <a:t> </a:t>
            </a:r>
            <a:r>
              <a:rPr lang="en-US" altLang="en-US" b="1" dirty="0">
                <a:solidFill>
                  <a:srgbClr val="006699"/>
                </a:solidFill>
                <a:latin typeface="+mj-lt"/>
              </a:rPr>
              <a:t>data</a:t>
            </a:r>
            <a:r>
              <a:rPr lang="en-US" altLang="en-US" dirty="0">
                <a:solidFill>
                  <a:srgbClr val="3366FF"/>
                </a:solidFill>
              </a:rPr>
              <a:t> </a:t>
            </a:r>
          </a:p>
          <a:p>
            <a:pPr lvl="1"/>
            <a:r>
              <a:rPr lang="en-US" altLang="en-US" dirty="0"/>
              <a:t>Each process keeps a separate copy of the code and data</a:t>
            </a:r>
          </a:p>
          <a:p>
            <a:pPr lvl="1"/>
            <a:r>
              <a:rPr lang="en-US" altLang="en-US" dirty="0"/>
              <a:t>The pages for the private code and data can appear anywhere in the logical address space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5518330E-1EFB-4794-938C-DE2C8EE9418F}"/>
              </a:ext>
            </a:extLst>
          </p:cNvPr>
          <p:cNvSpPr>
            <a:spLocks noGrp="1" noChangeArrowheads="1"/>
          </p:cNvSpPr>
          <p:nvPr>
            <p:ph type="title"/>
          </p:nvPr>
        </p:nvSpPr>
        <p:spPr>
          <a:xfrm>
            <a:off x="982663" y="245093"/>
            <a:ext cx="7704137" cy="576262"/>
          </a:xfrm>
        </p:spPr>
        <p:txBody>
          <a:bodyPr/>
          <a:lstStyle/>
          <a:p>
            <a:pPr eaLnBrk="1" hangingPunct="1"/>
            <a:r>
              <a:rPr lang="en-US" altLang="en-US" dirty="0"/>
              <a:t>Shared Pages Example</a:t>
            </a:r>
            <a:endParaRPr lang="en-US" altLang="en-US" sz="2400" dirty="0"/>
          </a:p>
        </p:txBody>
      </p:sp>
      <p:pic>
        <p:nvPicPr>
          <p:cNvPr id="40963" name="Picture 5" descr="W:\os-book\OS10\slide-dir\os-figures\9_14.jpg">
            <a:extLst>
              <a:ext uri="{FF2B5EF4-FFF2-40B4-BE49-F238E27FC236}">
                <a16:creationId xmlns:a16="http://schemas.microsoft.com/office/drawing/2014/main" id="{8CF5A6BC-36FF-41D3-9A9A-0B6C47B071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313" y="1212850"/>
            <a:ext cx="3973512" cy="433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1523499-02A6-403C-B92E-2686134FCA88}"/>
              </a:ext>
            </a:extLst>
          </p:cNvPr>
          <p:cNvSpPr>
            <a:spLocks noGrp="1" noChangeArrowheads="1"/>
          </p:cNvSpPr>
          <p:nvPr>
            <p:ph type="title"/>
          </p:nvPr>
        </p:nvSpPr>
        <p:spPr>
          <a:xfrm>
            <a:off x="520700" y="247880"/>
            <a:ext cx="8229600" cy="576262"/>
          </a:xfrm>
        </p:spPr>
        <p:txBody>
          <a:bodyPr/>
          <a:lstStyle/>
          <a:p>
            <a:pPr eaLnBrk="1" hangingPunct="1"/>
            <a:r>
              <a:rPr lang="en-US" altLang="en-US" dirty="0"/>
              <a:t>Structure of the Page Table</a:t>
            </a:r>
          </a:p>
        </p:txBody>
      </p:sp>
      <p:sp>
        <p:nvSpPr>
          <p:cNvPr id="41987" name="Rectangle 3">
            <a:extLst>
              <a:ext uri="{FF2B5EF4-FFF2-40B4-BE49-F238E27FC236}">
                <a16:creationId xmlns:a16="http://schemas.microsoft.com/office/drawing/2014/main" id="{861A38E1-D15D-4FD3-BA70-E6E5B690F313}"/>
              </a:ext>
            </a:extLst>
          </p:cNvPr>
          <p:cNvSpPr>
            <a:spLocks noGrp="1" noChangeArrowheads="1"/>
          </p:cNvSpPr>
          <p:nvPr>
            <p:ph idx="1"/>
          </p:nvPr>
        </p:nvSpPr>
        <p:spPr>
          <a:xfrm>
            <a:off x="811763" y="1227138"/>
            <a:ext cx="7697755" cy="4483100"/>
          </a:xfrm>
        </p:spPr>
        <p:txBody>
          <a:bodyPr/>
          <a:lstStyle/>
          <a:p>
            <a:r>
              <a:rPr lang="en-US" altLang="en-US" dirty="0"/>
              <a:t>Memory structures for paging can get huge using straight-forward methods</a:t>
            </a:r>
          </a:p>
          <a:p>
            <a:pPr lvl="1"/>
            <a:r>
              <a:rPr lang="en-US" altLang="en-US" dirty="0"/>
              <a:t>Consider a 32-bit logical address space as on modern computers</a:t>
            </a:r>
          </a:p>
          <a:p>
            <a:pPr lvl="1"/>
            <a:r>
              <a:rPr lang="en-US" altLang="en-US" dirty="0"/>
              <a:t>Page size of 4 KB (2</a:t>
            </a:r>
            <a:r>
              <a:rPr lang="en-US" altLang="en-US" baseline="30000" dirty="0"/>
              <a:t>12</a:t>
            </a:r>
            <a:r>
              <a:rPr lang="en-US" altLang="en-US" dirty="0"/>
              <a:t>)</a:t>
            </a:r>
          </a:p>
          <a:p>
            <a:pPr lvl="1"/>
            <a:r>
              <a:rPr lang="en-US" altLang="en-US" dirty="0"/>
              <a:t>Page table would have 1 million entries (2</a:t>
            </a:r>
            <a:r>
              <a:rPr lang="en-US" altLang="en-US" baseline="30000" dirty="0"/>
              <a:t>32</a:t>
            </a:r>
            <a:r>
              <a:rPr lang="en-US" altLang="en-US" dirty="0"/>
              <a:t> / 2</a:t>
            </a:r>
            <a:r>
              <a:rPr lang="en-US" altLang="en-US" baseline="30000" dirty="0"/>
              <a:t>12</a:t>
            </a:r>
            <a:r>
              <a:rPr lang="en-US" altLang="en-US" dirty="0"/>
              <a:t>)</a:t>
            </a:r>
          </a:p>
          <a:p>
            <a:pPr lvl="1"/>
            <a:r>
              <a:rPr lang="en-US" altLang="en-US" dirty="0"/>
              <a:t>If each entry is 4 bytes </a:t>
            </a:r>
            <a:r>
              <a:rPr lang="en-US" altLang="en-US" dirty="0">
                <a:sym typeface="Wingdings" panose="05000000000000000000" pitchFamily="2" charset="2"/>
              </a:rPr>
              <a:t></a:t>
            </a:r>
            <a:r>
              <a:rPr lang="en-US" altLang="en-US" dirty="0"/>
              <a:t> each process 4 MB of physical address space for the  page table alone</a:t>
            </a:r>
          </a:p>
          <a:p>
            <a:pPr lvl="2"/>
            <a:r>
              <a:rPr lang="en-US" altLang="en-US" dirty="0"/>
              <a:t>Don</a:t>
            </a:r>
            <a:r>
              <a:rPr lang="ja-JP" altLang="en-US" dirty="0"/>
              <a:t>’</a:t>
            </a:r>
            <a:r>
              <a:rPr lang="en-US" altLang="ja-JP" dirty="0"/>
              <a:t>t want to allocate that contiguously in main memory</a:t>
            </a:r>
          </a:p>
          <a:p>
            <a:pPr lvl="1"/>
            <a:r>
              <a:rPr lang="en-US" altLang="en-US" dirty="0"/>
              <a:t>One simple solution is to divide the page table into smaller units</a:t>
            </a:r>
          </a:p>
          <a:p>
            <a:pPr lvl="2"/>
            <a:r>
              <a:rPr lang="en-US" altLang="en-US" dirty="0"/>
              <a:t>Hierarchical Paging</a:t>
            </a:r>
          </a:p>
          <a:p>
            <a:pPr lvl="2"/>
            <a:r>
              <a:rPr lang="en-US" altLang="en-US" dirty="0"/>
              <a:t>Hashed Page Tables</a:t>
            </a:r>
          </a:p>
          <a:p>
            <a:pPr lvl="2"/>
            <a:r>
              <a:rPr lang="en-US" altLang="en-US" dirty="0"/>
              <a:t>Inverted Page Tables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5ECC631-B67D-4C84-91B9-1CB22DA15EDE}"/>
              </a:ext>
            </a:extLst>
          </p:cNvPr>
          <p:cNvSpPr>
            <a:spLocks noGrp="1" noChangeArrowheads="1"/>
          </p:cNvSpPr>
          <p:nvPr>
            <p:ph type="title"/>
          </p:nvPr>
        </p:nvSpPr>
        <p:spPr>
          <a:xfrm>
            <a:off x="473075" y="232005"/>
            <a:ext cx="8229600" cy="576262"/>
          </a:xfrm>
        </p:spPr>
        <p:txBody>
          <a:bodyPr/>
          <a:lstStyle/>
          <a:p>
            <a:pPr eaLnBrk="1" hangingPunct="1"/>
            <a:r>
              <a:rPr lang="en-US" altLang="en-US" dirty="0"/>
              <a:t>Hierarchical Page Tables</a:t>
            </a:r>
          </a:p>
        </p:txBody>
      </p:sp>
      <p:sp>
        <p:nvSpPr>
          <p:cNvPr id="43011" name="Rectangle 3">
            <a:extLst>
              <a:ext uri="{FF2B5EF4-FFF2-40B4-BE49-F238E27FC236}">
                <a16:creationId xmlns:a16="http://schemas.microsoft.com/office/drawing/2014/main" id="{9C6AC61F-C673-44E2-9D0D-2FBC263F8271}"/>
              </a:ext>
            </a:extLst>
          </p:cNvPr>
          <p:cNvSpPr>
            <a:spLocks noGrp="1" noChangeArrowheads="1"/>
          </p:cNvSpPr>
          <p:nvPr>
            <p:ph idx="1"/>
          </p:nvPr>
        </p:nvSpPr>
        <p:spPr>
          <a:xfrm>
            <a:off x="839755" y="1131888"/>
            <a:ext cx="7489858" cy="1096962"/>
          </a:xfrm>
        </p:spPr>
        <p:txBody>
          <a:bodyPr/>
          <a:lstStyle/>
          <a:p>
            <a:r>
              <a:rPr lang="en-US" altLang="en-US" dirty="0"/>
              <a:t>Break up the logical address space into multiple page tables</a:t>
            </a:r>
          </a:p>
          <a:p>
            <a:r>
              <a:rPr lang="en-US" altLang="en-US" dirty="0"/>
              <a:t>A simple technique is a two-level page table</a:t>
            </a:r>
          </a:p>
          <a:p>
            <a:r>
              <a:rPr lang="en-US" altLang="en-US" dirty="0"/>
              <a:t>We then page the page table</a:t>
            </a:r>
          </a:p>
        </p:txBody>
      </p:sp>
      <p:pic>
        <p:nvPicPr>
          <p:cNvPr id="43012" name="Picture 4" descr="8">
            <a:extLst>
              <a:ext uri="{FF2B5EF4-FFF2-40B4-BE49-F238E27FC236}">
                <a16:creationId xmlns:a16="http://schemas.microsoft.com/office/drawing/2014/main" id="{68A9E96F-FF85-481A-9476-DF391FB2B7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2376488"/>
            <a:ext cx="3578225"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1319ECB7-9550-4722-A785-B672C25C6916}"/>
              </a:ext>
            </a:extLst>
          </p:cNvPr>
          <p:cNvSpPr>
            <a:spLocks noGrp="1" noChangeArrowheads="1"/>
          </p:cNvSpPr>
          <p:nvPr>
            <p:ph type="title"/>
          </p:nvPr>
        </p:nvSpPr>
        <p:spPr>
          <a:xfrm>
            <a:off x="955675" y="236379"/>
            <a:ext cx="7762875" cy="576263"/>
          </a:xfrm>
        </p:spPr>
        <p:txBody>
          <a:bodyPr/>
          <a:lstStyle/>
          <a:p>
            <a:pPr eaLnBrk="1" hangingPunct="1"/>
            <a:r>
              <a:rPr lang="en-US" altLang="en-US" dirty="0"/>
              <a:t>Two-Level Paging Example</a:t>
            </a:r>
          </a:p>
        </p:txBody>
      </p:sp>
      <p:sp>
        <p:nvSpPr>
          <p:cNvPr id="44035" name="Rectangle 3">
            <a:extLst>
              <a:ext uri="{FF2B5EF4-FFF2-40B4-BE49-F238E27FC236}">
                <a16:creationId xmlns:a16="http://schemas.microsoft.com/office/drawing/2014/main" id="{1EEF2C6C-3F02-4E7D-8B00-6261CF45E7FD}"/>
              </a:ext>
            </a:extLst>
          </p:cNvPr>
          <p:cNvSpPr>
            <a:spLocks noGrp="1" noChangeArrowheads="1"/>
          </p:cNvSpPr>
          <p:nvPr>
            <p:ph idx="1"/>
          </p:nvPr>
        </p:nvSpPr>
        <p:spPr>
          <a:xfrm>
            <a:off x="849087" y="1085850"/>
            <a:ext cx="7679093" cy="5146675"/>
          </a:xfrm>
        </p:spPr>
        <p:txBody>
          <a:bodyPr/>
          <a:lstStyle/>
          <a:p>
            <a:pPr>
              <a:lnSpc>
                <a:spcPct val="90000"/>
              </a:lnSpc>
            </a:pPr>
            <a:r>
              <a:rPr lang="en-US" altLang="en-US" dirty="0"/>
              <a:t>A logical address (on 32-bit machine with 4K page size) is divided into:</a:t>
            </a:r>
          </a:p>
          <a:p>
            <a:pPr marL="627063" lvl="1">
              <a:lnSpc>
                <a:spcPct val="90000"/>
              </a:lnSpc>
            </a:pPr>
            <a:r>
              <a:rPr lang="en-US" altLang="en-US" dirty="0"/>
              <a:t>a page number consisting of 20 bits</a:t>
            </a:r>
          </a:p>
          <a:p>
            <a:pPr marL="627063" lvl="1">
              <a:lnSpc>
                <a:spcPct val="90000"/>
              </a:lnSpc>
            </a:pPr>
            <a:r>
              <a:rPr lang="en-US" altLang="en-US" dirty="0"/>
              <a:t>a page offset consisting of 12 bits</a:t>
            </a:r>
          </a:p>
          <a:p>
            <a:pPr marL="627063" lvl="1">
              <a:lnSpc>
                <a:spcPct val="90000"/>
              </a:lnSpc>
            </a:pPr>
            <a:endParaRPr lang="en-US" altLang="en-US" sz="800" dirty="0"/>
          </a:p>
          <a:p>
            <a:pPr>
              <a:lnSpc>
                <a:spcPct val="90000"/>
              </a:lnSpc>
            </a:pPr>
            <a:r>
              <a:rPr lang="en-US" altLang="en-US" dirty="0"/>
              <a:t>Since the page table is paged, the page number is further divided into:</a:t>
            </a:r>
          </a:p>
          <a:p>
            <a:pPr marL="627063" lvl="1">
              <a:lnSpc>
                <a:spcPct val="90000"/>
              </a:lnSpc>
            </a:pPr>
            <a:r>
              <a:rPr lang="en-US" altLang="en-US" dirty="0"/>
              <a:t>a 10-bit page number </a:t>
            </a:r>
          </a:p>
          <a:p>
            <a:pPr marL="627063" lvl="1">
              <a:lnSpc>
                <a:spcPct val="90000"/>
              </a:lnSpc>
            </a:pPr>
            <a:r>
              <a:rPr lang="en-US" altLang="en-US"/>
              <a:t>a 10-bit </a:t>
            </a:r>
            <a:r>
              <a:rPr lang="en-US" altLang="en-US" dirty="0"/>
              <a:t>page offset</a:t>
            </a:r>
          </a:p>
          <a:p>
            <a:pPr marL="627063" lvl="1">
              <a:lnSpc>
                <a:spcPct val="90000"/>
              </a:lnSpc>
            </a:pPr>
            <a:endParaRPr lang="en-US" altLang="en-US" sz="800" dirty="0"/>
          </a:p>
          <a:p>
            <a:pPr>
              <a:lnSpc>
                <a:spcPct val="90000"/>
              </a:lnSpc>
            </a:pPr>
            <a:r>
              <a:rPr lang="en-US" altLang="en-US" dirty="0"/>
              <a:t>Thus, a logical address is as follows:</a:t>
            </a:r>
            <a:br>
              <a:rPr lang="en-US" altLang="en-US" dirty="0"/>
            </a:br>
            <a:br>
              <a:rPr lang="en-US" altLang="en-US" sz="1600" dirty="0"/>
            </a:br>
            <a:br>
              <a:rPr lang="en-US" altLang="en-US" sz="1600" dirty="0"/>
            </a:br>
            <a:br>
              <a:rPr lang="en-US" altLang="en-US" sz="1600" dirty="0"/>
            </a:br>
            <a:br>
              <a:rPr lang="en-US" altLang="en-US" sz="1600" dirty="0"/>
            </a:br>
            <a:br>
              <a:rPr lang="en-US" altLang="en-US" sz="1600" dirty="0"/>
            </a:br>
            <a:endParaRPr lang="en-US" altLang="en-US" sz="1600" dirty="0"/>
          </a:p>
          <a:p>
            <a:pPr>
              <a:lnSpc>
                <a:spcPct val="90000"/>
              </a:lnSpc>
            </a:pPr>
            <a:r>
              <a:rPr lang="en-US" altLang="en-US" dirty="0"/>
              <a:t>where</a:t>
            </a:r>
            <a:r>
              <a:rPr lang="en-US" altLang="en-US" i="1" dirty="0"/>
              <a:t> p</a:t>
            </a:r>
            <a:r>
              <a:rPr lang="en-US" altLang="en-US" i="1" baseline="-25000" dirty="0"/>
              <a:t>1</a:t>
            </a:r>
            <a:r>
              <a:rPr lang="en-US" altLang="en-US" dirty="0"/>
              <a:t> is an index into the outer page table, and </a:t>
            </a:r>
            <a:r>
              <a:rPr lang="en-US" altLang="en-US" i="1" dirty="0"/>
              <a:t>p</a:t>
            </a:r>
            <a:r>
              <a:rPr lang="en-US" altLang="en-US" i="1" baseline="-25000" dirty="0"/>
              <a:t>2</a:t>
            </a:r>
            <a:r>
              <a:rPr lang="en-US" altLang="en-US" dirty="0"/>
              <a:t> is the displacement within the page of the inner page table</a:t>
            </a:r>
          </a:p>
          <a:p>
            <a:pPr>
              <a:lnSpc>
                <a:spcPct val="90000"/>
              </a:lnSpc>
            </a:pPr>
            <a:r>
              <a:rPr lang="en-US" altLang="en-US" dirty="0"/>
              <a:t>Known as </a:t>
            </a:r>
            <a:r>
              <a:rPr lang="en-US" altLang="en-US" b="1" dirty="0">
                <a:solidFill>
                  <a:srgbClr val="006699"/>
                </a:solidFill>
                <a:latin typeface="+mj-lt"/>
              </a:rPr>
              <a:t>forward-mapped</a:t>
            </a:r>
            <a:r>
              <a:rPr lang="en-US" altLang="en-US" b="1" dirty="0">
                <a:solidFill>
                  <a:srgbClr val="3366FF"/>
                </a:solidFill>
              </a:rPr>
              <a:t> </a:t>
            </a:r>
            <a:r>
              <a:rPr lang="en-US" altLang="en-US" b="1" dirty="0">
                <a:solidFill>
                  <a:srgbClr val="006699"/>
                </a:solidFill>
                <a:latin typeface="+mj-lt"/>
              </a:rPr>
              <a:t>page</a:t>
            </a:r>
            <a:r>
              <a:rPr lang="en-US" altLang="en-US" b="1" dirty="0">
                <a:solidFill>
                  <a:srgbClr val="3366FF"/>
                </a:solidFill>
              </a:rPr>
              <a:t> </a:t>
            </a:r>
            <a:r>
              <a:rPr lang="en-US" altLang="en-US" b="1" dirty="0">
                <a:solidFill>
                  <a:srgbClr val="006699"/>
                </a:solidFill>
                <a:latin typeface="+mj-lt"/>
              </a:rPr>
              <a:t>table</a:t>
            </a:r>
          </a:p>
        </p:txBody>
      </p:sp>
      <p:pic>
        <p:nvPicPr>
          <p:cNvPr id="44036" name="Picture 5" descr="W:\os-book\OS10\slide-dir\os-figures\in-9_3.jpg">
            <a:extLst>
              <a:ext uri="{FF2B5EF4-FFF2-40B4-BE49-F238E27FC236}">
                <a16:creationId xmlns:a16="http://schemas.microsoft.com/office/drawing/2014/main" id="{E5597039-CFAE-4A07-A550-C966E8BFE7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25" y="4032250"/>
            <a:ext cx="4090988"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26">
            <a:extLst>
              <a:ext uri="{FF2B5EF4-FFF2-40B4-BE49-F238E27FC236}">
                <a16:creationId xmlns:a16="http://schemas.microsoft.com/office/drawing/2014/main" id="{C333A82E-F8D0-4475-A297-B096B84CAA45}"/>
              </a:ext>
            </a:extLst>
          </p:cNvPr>
          <p:cNvSpPr>
            <a:spLocks noGrp="1" noChangeArrowheads="1"/>
          </p:cNvSpPr>
          <p:nvPr>
            <p:ph type="title"/>
          </p:nvPr>
        </p:nvSpPr>
        <p:spPr>
          <a:xfrm>
            <a:off x="1128713" y="236379"/>
            <a:ext cx="7558087" cy="576263"/>
          </a:xfrm>
        </p:spPr>
        <p:txBody>
          <a:bodyPr/>
          <a:lstStyle/>
          <a:p>
            <a:pPr eaLnBrk="1" hangingPunct="1"/>
            <a:r>
              <a:rPr lang="en-US" altLang="en-US" dirty="0"/>
              <a:t>Address-Translation Scheme</a:t>
            </a:r>
            <a:endParaRPr lang="en-US" altLang="en-US" sz="2400" dirty="0"/>
          </a:p>
        </p:txBody>
      </p:sp>
      <p:pic>
        <p:nvPicPr>
          <p:cNvPr id="45059" name="Picture 1035">
            <a:extLst>
              <a:ext uri="{FF2B5EF4-FFF2-40B4-BE49-F238E27FC236}">
                <a16:creationId xmlns:a16="http://schemas.microsoft.com/office/drawing/2014/main" id="{13CF1B26-59FC-4992-8FE3-5FA6738A09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7013" y="1258888"/>
            <a:ext cx="6389687" cy="269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8A0137AD-9BFB-4AF6-88F4-0341356C952B}"/>
              </a:ext>
            </a:extLst>
          </p:cNvPr>
          <p:cNvSpPr>
            <a:spLocks noGrp="1"/>
          </p:cNvSpPr>
          <p:nvPr>
            <p:ph type="title"/>
          </p:nvPr>
        </p:nvSpPr>
        <p:spPr>
          <a:xfrm>
            <a:off x="536575" y="155805"/>
            <a:ext cx="8229600" cy="576262"/>
          </a:xfrm>
        </p:spPr>
        <p:txBody>
          <a:bodyPr/>
          <a:lstStyle/>
          <a:p>
            <a:r>
              <a:rPr lang="en-US" altLang="en-US" dirty="0"/>
              <a:t>64-bit Logical Address Space</a:t>
            </a:r>
          </a:p>
        </p:txBody>
      </p:sp>
      <p:sp>
        <p:nvSpPr>
          <p:cNvPr id="53251" name="Content Placeholder 2">
            <a:extLst>
              <a:ext uri="{FF2B5EF4-FFF2-40B4-BE49-F238E27FC236}">
                <a16:creationId xmlns:a16="http://schemas.microsoft.com/office/drawing/2014/main" id="{6995B49D-2FA5-4651-BAD7-7BD98CB71E8C}"/>
              </a:ext>
            </a:extLst>
          </p:cNvPr>
          <p:cNvSpPr>
            <a:spLocks noGrp="1"/>
          </p:cNvSpPr>
          <p:nvPr>
            <p:ph idx="1"/>
          </p:nvPr>
        </p:nvSpPr>
        <p:spPr>
          <a:xfrm>
            <a:off x="875685" y="1130300"/>
            <a:ext cx="7596512" cy="5087938"/>
          </a:xfrm>
        </p:spPr>
        <p:txBody>
          <a:bodyPr/>
          <a:lstStyle/>
          <a:p>
            <a:pPr>
              <a:defRPr/>
            </a:pPr>
            <a:r>
              <a:rPr lang="en-US" altLang="en-US" dirty="0"/>
              <a:t>Even two-level paging scheme not sufficient</a:t>
            </a:r>
          </a:p>
          <a:p>
            <a:pPr>
              <a:defRPr/>
            </a:pPr>
            <a:r>
              <a:rPr lang="en-US" altLang="en-US" dirty="0"/>
              <a:t>If page size is 4 KB (2</a:t>
            </a:r>
            <a:r>
              <a:rPr lang="en-US" altLang="en-US" baseline="30000" dirty="0"/>
              <a:t>12</a:t>
            </a:r>
            <a:r>
              <a:rPr lang="en-US" altLang="en-US" dirty="0"/>
              <a:t>)</a:t>
            </a:r>
          </a:p>
          <a:p>
            <a:pPr lvl="1">
              <a:defRPr/>
            </a:pPr>
            <a:r>
              <a:rPr lang="en-US" altLang="en-US" dirty="0"/>
              <a:t>Then page table has 2</a:t>
            </a:r>
            <a:r>
              <a:rPr lang="en-US" altLang="en-US" baseline="30000" dirty="0"/>
              <a:t>52</a:t>
            </a:r>
            <a:r>
              <a:rPr lang="en-US" altLang="en-US" dirty="0"/>
              <a:t> entries</a:t>
            </a:r>
          </a:p>
          <a:p>
            <a:pPr lvl="1">
              <a:defRPr/>
            </a:pPr>
            <a:r>
              <a:rPr lang="en-US" altLang="en-US" dirty="0"/>
              <a:t>If two level scheme, inner page tables could be 2</a:t>
            </a:r>
            <a:r>
              <a:rPr lang="en-US" altLang="en-US" baseline="30000" dirty="0"/>
              <a:t>10</a:t>
            </a:r>
            <a:r>
              <a:rPr lang="en-US" altLang="en-US" dirty="0"/>
              <a:t> 4-byte entries</a:t>
            </a:r>
          </a:p>
          <a:p>
            <a:pPr lvl="1">
              <a:defRPr/>
            </a:pPr>
            <a:r>
              <a:rPr lang="en-US" altLang="en-US" dirty="0"/>
              <a:t>Address would look like</a:t>
            </a:r>
          </a:p>
          <a:p>
            <a:pPr lvl="1">
              <a:defRPr/>
            </a:pPr>
            <a:endParaRPr lang="en-US" altLang="en-US" dirty="0"/>
          </a:p>
          <a:p>
            <a:pPr lvl="1">
              <a:defRPr/>
            </a:pPr>
            <a:endParaRPr lang="en-US" altLang="en-US" dirty="0"/>
          </a:p>
          <a:p>
            <a:pPr marL="457200" lvl="1" indent="0">
              <a:buFont typeface="Monotype Sorts" pitchFamily="-84" charset="2"/>
              <a:buNone/>
              <a:defRPr/>
            </a:pPr>
            <a:endParaRPr lang="en-US" altLang="en-US" dirty="0"/>
          </a:p>
          <a:p>
            <a:pPr lvl="1">
              <a:defRPr/>
            </a:pPr>
            <a:r>
              <a:rPr lang="en-US" altLang="en-US" dirty="0"/>
              <a:t>Outer page table has 2</a:t>
            </a:r>
            <a:r>
              <a:rPr lang="en-US" altLang="en-US" baseline="30000" dirty="0"/>
              <a:t>42</a:t>
            </a:r>
            <a:r>
              <a:rPr lang="en-US" altLang="en-US" dirty="0"/>
              <a:t> entries or 2</a:t>
            </a:r>
            <a:r>
              <a:rPr lang="en-US" altLang="en-US" baseline="30000" dirty="0"/>
              <a:t>44</a:t>
            </a:r>
            <a:r>
              <a:rPr lang="en-US" altLang="en-US" dirty="0"/>
              <a:t> bytes</a:t>
            </a:r>
          </a:p>
          <a:p>
            <a:pPr lvl="1">
              <a:defRPr/>
            </a:pPr>
            <a:r>
              <a:rPr lang="en-US" altLang="en-US" dirty="0"/>
              <a:t>One solution is to add a 2</a:t>
            </a:r>
            <a:r>
              <a:rPr lang="en-US" altLang="en-US" baseline="30000" dirty="0"/>
              <a:t>nd</a:t>
            </a:r>
            <a:r>
              <a:rPr lang="en-US" altLang="en-US" dirty="0"/>
              <a:t> outer page table</a:t>
            </a:r>
          </a:p>
          <a:p>
            <a:pPr lvl="1">
              <a:defRPr/>
            </a:pPr>
            <a:r>
              <a:rPr lang="en-US" altLang="en-US" dirty="0"/>
              <a:t>But in the following example the 2</a:t>
            </a:r>
            <a:r>
              <a:rPr lang="en-US" altLang="en-US" baseline="30000" dirty="0"/>
              <a:t>nd</a:t>
            </a:r>
            <a:r>
              <a:rPr lang="en-US" altLang="en-US" dirty="0"/>
              <a:t> outer page table is still 2</a:t>
            </a:r>
            <a:r>
              <a:rPr lang="en-US" altLang="en-US" baseline="30000" dirty="0"/>
              <a:t>34</a:t>
            </a:r>
            <a:r>
              <a:rPr lang="en-US" altLang="en-US" dirty="0"/>
              <a:t> bytes in size</a:t>
            </a:r>
          </a:p>
          <a:p>
            <a:pPr lvl="2">
              <a:defRPr/>
            </a:pPr>
            <a:r>
              <a:rPr lang="en-US" altLang="en-US" dirty="0"/>
              <a:t>And possibly 4 memory access to get to one physical memory location</a:t>
            </a:r>
          </a:p>
          <a:p>
            <a:pPr lvl="1">
              <a:defRPr/>
            </a:pPr>
            <a:endParaRPr lang="en-US" altLang="en-US" dirty="0"/>
          </a:p>
        </p:txBody>
      </p:sp>
      <p:pic>
        <p:nvPicPr>
          <p:cNvPr id="46084" name="Picture 5" descr="W:\os-book\OS10\slide-dir\os-figures\in-9_5.jpg">
            <a:extLst>
              <a:ext uri="{FF2B5EF4-FFF2-40B4-BE49-F238E27FC236}">
                <a16:creationId xmlns:a16="http://schemas.microsoft.com/office/drawing/2014/main" id="{F2F6A35A-E5D7-44DA-A8DD-7A4A4C0408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3188" y="3176588"/>
            <a:ext cx="3719512"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7E72B140-73C1-45D7-A700-AF2CED785759}"/>
              </a:ext>
            </a:extLst>
          </p:cNvPr>
          <p:cNvSpPr>
            <a:spLocks noGrp="1" noChangeArrowheads="1"/>
          </p:cNvSpPr>
          <p:nvPr>
            <p:ph type="title"/>
          </p:nvPr>
        </p:nvSpPr>
        <p:spPr>
          <a:xfrm>
            <a:off x="865188" y="144075"/>
            <a:ext cx="7821612" cy="576262"/>
          </a:xfrm>
        </p:spPr>
        <p:txBody>
          <a:bodyPr/>
          <a:lstStyle/>
          <a:p>
            <a:pPr eaLnBrk="1" hangingPunct="1"/>
            <a:r>
              <a:rPr lang="en-US" altLang="en-US" dirty="0"/>
              <a:t>Three-level Paging Scheme</a:t>
            </a:r>
          </a:p>
        </p:txBody>
      </p:sp>
      <p:pic>
        <p:nvPicPr>
          <p:cNvPr id="47107" name="Picture 6">
            <a:extLst>
              <a:ext uri="{FF2B5EF4-FFF2-40B4-BE49-F238E27FC236}">
                <a16:creationId xmlns:a16="http://schemas.microsoft.com/office/drawing/2014/main" id="{7E3EC9BD-BFCB-4762-8CAD-CDA7B88568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4100" y="1293813"/>
            <a:ext cx="5241925"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8" name="Picture 7">
            <a:extLst>
              <a:ext uri="{FF2B5EF4-FFF2-40B4-BE49-F238E27FC236}">
                <a16:creationId xmlns:a16="http://schemas.microsoft.com/office/drawing/2014/main" id="{0A0D3728-9A51-44F1-B179-28CC3F5523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400" y="3130550"/>
            <a:ext cx="5486400" cy="106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5861803E-D597-4AFE-86BA-0284614A63EB}"/>
              </a:ext>
            </a:extLst>
          </p:cNvPr>
          <p:cNvSpPr>
            <a:spLocks noGrp="1" noChangeArrowheads="1"/>
          </p:cNvSpPr>
          <p:nvPr>
            <p:ph type="title"/>
          </p:nvPr>
        </p:nvSpPr>
        <p:spPr>
          <a:xfrm>
            <a:off x="846138" y="222674"/>
            <a:ext cx="7840662" cy="576262"/>
          </a:xfrm>
        </p:spPr>
        <p:txBody>
          <a:bodyPr/>
          <a:lstStyle/>
          <a:p>
            <a:pPr eaLnBrk="1" hangingPunct="1"/>
            <a:r>
              <a:rPr lang="en-US" altLang="en-US" dirty="0"/>
              <a:t>Hashed Page Tables</a:t>
            </a:r>
          </a:p>
        </p:txBody>
      </p:sp>
      <p:sp>
        <p:nvSpPr>
          <p:cNvPr id="48131" name="Rectangle 3">
            <a:extLst>
              <a:ext uri="{FF2B5EF4-FFF2-40B4-BE49-F238E27FC236}">
                <a16:creationId xmlns:a16="http://schemas.microsoft.com/office/drawing/2014/main" id="{48CD62E4-797E-49CD-97C9-0D732152E634}"/>
              </a:ext>
            </a:extLst>
          </p:cNvPr>
          <p:cNvSpPr>
            <a:spLocks noGrp="1" noChangeArrowheads="1"/>
          </p:cNvSpPr>
          <p:nvPr>
            <p:ph idx="1"/>
          </p:nvPr>
        </p:nvSpPr>
        <p:spPr>
          <a:xfrm>
            <a:off x="903288" y="1141413"/>
            <a:ext cx="7626350" cy="4722812"/>
          </a:xfrm>
        </p:spPr>
        <p:txBody>
          <a:bodyPr/>
          <a:lstStyle/>
          <a:p>
            <a:r>
              <a:rPr lang="en-US" altLang="en-US" dirty="0"/>
              <a:t>Common in address spaces &gt; 32 bits</a:t>
            </a:r>
          </a:p>
          <a:p>
            <a:r>
              <a:rPr lang="en-US" altLang="en-US" dirty="0"/>
              <a:t>The virtual page number is hashed into a page table</a:t>
            </a:r>
          </a:p>
          <a:p>
            <a:pPr lvl="1"/>
            <a:r>
              <a:rPr lang="en-US" altLang="en-US" dirty="0"/>
              <a:t>This page table contains a chain of elements hashing to the same location</a:t>
            </a:r>
          </a:p>
          <a:p>
            <a:r>
              <a:rPr lang="en-US" altLang="en-US" dirty="0"/>
              <a:t>Each element contains (1) the virtual page number (2) the value of the mapped page frame (3) a pointer to the next element</a:t>
            </a:r>
          </a:p>
          <a:p>
            <a:r>
              <a:rPr lang="en-US" altLang="en-US" dirty="0"/>
              <a:t>Virtual page numbers are compared in this chain searching for a match</a:t>
            </a:r>
          </a:p>
          <a:p>
            <a:pPr lvl="1"/>
            <a:r>
              <a:rPr lang="en-US" altLang="en-US" dirty="0"/>
              <a:t>If a match is found, the corresponding physical frame is extracted</a:t>
            </a:r>
          </a:p>
          <a:p>
            <a:r>
              <a:rPr lang="en-US" altLang="en-US" dirty="0"/>
              <a:t>Variation for 64-bit addresses is </a:t>
            </a:r>
            <a:r>
              <a:rPr lang="en-US" altLang="en-US" b="1" dirty="0">
                <a:solidFill>
                  <a:srgbClr val="006699"/>
                </a:solidFill>
                <a:latin typeface="+mj-lt"/>
              </a:rPr>
              <a:t>clustered</a:t>
            </a:r>
            <a:r>
              <a:rPr lang="en-US" altLang="en-US" b="1" dirty="0">
                <a:solidFill>
                  <a:srgbClr val="3366FF"/>
                </a:solidFill>
              </a:rPr>
              <a:t> </a:t>
            </a:r>
            <a:r>
              <a:rPr lang="en-US" altLang="en-US" b="1" dirty="0">
                <a:solidFill>
                  <a:srgbClr val="006699"/>
                </a:solidFill>
                <a:latin typeface="+mj-lt"/>
              </a:rPr>
              <a:t>page</a:t>
            </a:r>
            <a:r>
              <a:rPr lang="en-US" altLang="en-US" b="1" dirty="0">
                <a:solidFill>
                  <a:srgbClr val="3366FF"/>
                </a:solidFill>
              </a:rPr>
              <a:t> </a:t>
            </a:r>
            <a:r>
              <a:rPr lang="en-US" altLang="en-US" b="1" dirty="0">
                <a:solidFill>
                  <a:srgbClr val="006699"/>
                </a:solidFill>
                <a:latin typeface="+mj-lt"/>
              </a:rPr>
              <a:t>tables</a:t>
            </a:r>
          </a:p>
          <a:p>
            <a:pPr lvl="1"/>
            <a:r>
              <a:rPr lang="en-US" altLang="en-US" dirty="0"/>
              <a:t>Similar to hashed but each entry refers to several pages (such as 16) rather than 1</a:t>
            </a:r>
          </a:p>
          <a:p>
            <a:pPr lvl="1"/>
            <a:r>
              <a:rPr lang="en-US" altLang="en-US" dirty="0"/>
              <a:t>Especially useful for </a:t>
            </a:r>
            <a:r>
              <a:rPr lang="en-US" altLang="en-US" b="1" dirty="0">
                <a:solidFill>
                  <a:srgbClr val="006699"/>
                </a:solidFill>
                <a:latin typeface="+mj-lt"/>
              </a:rPr>
              <a:t>sparse</a:t>
            </a:r>
            <a:r>
              <a:rPr lang="en-US" altLang="en-US" dirty="0"/>
              <a:t> address spaces (where memory references are non-contiguous and scattered)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4A6FA55B-1C89-4FAF-8777-9EF53CBB92B5}"/>
              </a:ext>
            </a:extLst>
          </p:cNvPr>
          <p:cNvSpPr>
            <a:spLocks noGrp="1" noChangeArrowheads="1"/>
          </p:cNvSpPr>
          <p:nvPr>
            <p:ph type="title"/>
          </p:nvPr>
        </p:nvSpPr>
        <p:spPr>
          <a:xfrm>
            <a:off x="457200" y="236379"/>
            <a:ext cx="8229600" cy="576263"/>
          </a:xfrm>
        </p:spPr>
        <p:txBody>
          <a:bodyPr/>
          <a:lstStyle/>
          <a:p>
            <a:pPr eaLnBrk="1" hangingPunct="1"/>
            <a:r>
              <a:rPr lang="en-US" altLang="en-US" dirty="0"/>
              <a:t>Hashed Page Table</a:t>
            </a:r>
            <a:endParaRPr lang="en-US" altLang="en-US" sz="2400" dirty="0"/>
          </a:p>
        </p:txBody>
      </p:sp>
      <p:pic>
        <p:nvPicPr>
          <p:cNvPr id="49155" name="Picture 6">
            <a:extLst>
              <a:ext uri="{FF2B5EF4-FFF2-40B4-BE49-F238E27FC236}">
                <a16:creationId xmlns:a16="http://schemas.microsoft.com/office/drawing/2014/main" id="{D2F7DD6F-2A50-4270-B701-86EE15BF79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2888" y="1274763"/>
            <a:ext cx="6616700" cy="381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CC2EE1F7-80AE-4AE9-B1C5-B0DAB9FC6228}"/>
              </a:ext>
            </a:extLst>
          </p:cNvPr>
          <p:cNvSpPr>
            <a:spLocks noGrp="1" noChangeArrowheads="1"/>
          </p:cNvSpPr>
          <p:nvPr>
            <p:ph type="title"/>
          </p:nvPr>
        </p:nvSpPr>
        <p:spPr>
          <a:xfrm>
            <a:off x="457200" y="227048"/>
            <a:ext cx="8229600" cy="576263"/>
          </a:xfrm>
        </p:spPr>
        <p:txBody>
          <a:bodyPr/>
          <a:lstStyle/>
          <a:p>
            <a:pPr eaLnBrk="1" hangingPunct="1"/>
            <a:r>
              <a:rPr lang="en-US" altLang="en-US" dirty="0"/>
              <a:t>Inverted Page Table</a:t>
            </a:r>
          </a:p>
        </p:txBody>
      </p:sp>
      <p:sp>
        <p:nvSpPr>
          <p:cNvPr id="50179" name="Rectangle 3">
            <a:extLst>
              <a:ext uri="{FF2B5EF4-FFF2-40B4-BE49-F238E27FC236}">
                <a16:creationId xmlns:a16="http://schemas.microsoft.com/office/drawing/2014/main" id="{A433C570-E431-49CB-92BC-66AFF909B51E}"/>
              </a:ext>
            </a:extLst>
          </p:cNvPr>
          <p:cNvSpPr>
            <a:spLocks noGrp="1" noChangeArrowheads="1"/>
          </p:cNvSpPr>
          <p:nvPr>
            <p:ph idx="1"/>
          </p:nvPr>
        </p:nvSpPr>
        <p:spPr>
          <a:xfrm>
            <a:off x="839755" y="1152525"/>
            <a:ext cx="7697755" cy="4792663"/>
          </a:xfrm>
        </p:spPr>
        <p:txBody>
          <a:bodyPr/>
          <a:lstStyle/>
          <a:p>
            <a:r>
              <a:rPr lang="en-US" altLang="en-US" dirty="0"/>
              <a:t>Rather than each process having a page table and keeping track of all possible logical pages, track all physical pages</a:t>
            </a:r>
          </a:p>
          <a:p>
            <a:r>
              <a:rPr lang="en-US" altLang="en-US" dirty="0"/>
              <a:t>One entry for each real page of memory</a:t>
            </a:r>
          </a:p>
          <a:p>
            <a:r>
              <a:rPr lang="en-US" altLang="en-US" dirty="0"/>
              <a:t>Entry consists of the virtual address of the page stored in that real memory location, with information about the process that owns that page</a:t>
            </a:r>
          </a:p>
          <a:p>
            <a:r>
              <a:rPr lang="en-US" altLang="en-US" dirty="0"/>
              <a:t>Decreases memory needed to store each page table, but increases time needed to search the table when a page reference occurs</a:t>
            </a:r>
          </a:p>
          <a:p>
            <a:r>
              <a:rPr lang="en-US" altLang="en-US" dirty="0"/>
              <a:t>Use hash table to limit the search to one — or at most a few — page-table entries</a:t>
            </a:r>
          </a:p>
          <a:p>
            <a:pPr lvl="1"/>
            <a:r>
              <a:rPr lang="en-US" altLang="en-US" dirty="0"/>
              <a:t>TLB can accelerate access</a:t>
            </a:r>
          </a:p>
          <a:p>
            <a:r>
              <a:rPr lang="en-US" altLang="en-US" dirty="0"/>
              <a:t>But how to implement shared memory?</a:t>
            </a:r>
          </a:p>
          <a:p>
            <a:pPr lvl="1"/>
            <a:r>
              <a:rPr lang="en-US" altLang="en-US" dirty="0"/>
              <a:t>One mapping of a virtual address to the shared physical address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9CA5047-53DC-42C0-8BA2-9A66CB1D12EB}"/>
              </a:ext>
            </a:extLst>
          </p:cNvPr>
          <p:cNvSpPr>
            <a:spLocks noGrp="1" noChangeArrowheads="1"/>
          </p:cNvSpPr>
          <p:nvPr>
            <p:ph type="title"/>
          </p:nvPr>
        </p:nvSpPr>
        <p:spPr>
          <a:xfrm>
            <a:off x="958850" y="238549"/>
            <a:ext cx="7791450" cy="576262"/>
          </a:xfrm>
        </p:spPr>
        <p:txBody>
          <a:bodyPr/>
          <a:lstStyle/>
          <a:p>
            <a:pPr eaLnBrk="1" hangingPunct="1"/>
            <a:r>
              <a:rPr lang="en-US" altLang="en-US" dirty="0"/>
              <a:t>Inverted Page Table Architecture</a:t>
            </a:r>
            <a:endParaRPr lang="en-US" altLang="en-US" sz="2400" dirty="0"/>
          </a:p>
        </p:txBody>
      </p:sp>
      <p:pic>
        <p:nvPicPr>
          <p:cNvPr id="51203" name="Picture 6">
            <a:extLst>
              <a:ext uri="{FF2B5EF4-FFF2-40B4-BE49-F238E27FC236}">
                <a16:creationId xmlns:a16="http://schemas.microsoft.com/office/drawing/2014/main" id="{CD658555-7800-4FD5-8FAB-B83171CC6E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7675" y="1274763"/>
            <a:ext cx="6057900" cy="418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7B640008-8A0F-4095-A1E5-C46DAA379D9F}"/>
              </a:ext>
            </a:extLst>
          </p:cNvPr>
          <p:cNvSpPr>
            <a:spLocks noGrp="1" noChangeArrowheads="1"/>
          </p:cNvSpPr>
          <p:nvPr>
            <p:ph type="title"/>
          </p:nvPr>
        </p:nvSpPr>
        <p:spPr>
          <a:xfrm>
            <a:off x="730250" y="235762"/>
            <a:ext cx="7956550" cy="576262"/>
          </a:xfrm>
        </p:spPr>
        <p:txBody>
          <a:bodyPr/>
          <a:lstStyle/>
          <a:p>
            <a:pPr eaLnBrk="1" hangingPunct="1"/>
            <a:r>
              <a:rPr lang="en-US" altLang="en-US" dirty="0"/>
              <a:t>Oracle SPARC Solaris</a:t>
            </a:r>
          </a:p>
        </p:txBody>
      </p:sp>
      <p:sp>
        <p:nvSpPr>
          <p:cNvPr id="52227" name="Rectangle 3">
            <a:extLst>
              <a:ext uri="{FF2B5EF4-FFF2-40B4-BE49-F238E27FC236}">
                <a16:creationId xmlns:a16="http://schemas.microsoft.com/office/drawing/2014/main" id="{5135B7B9-6301-4A12-B99C-26450427112F}"/>
              </a:ext>
            </a:extLst>
          </p:cNvPr>
          <p:cNvSpPr>
            <a:spLocks noGrp="1" noChangeArrowheads="1"/>
          </p:cNvSpPr>
          <p:nvPr>
            <p:ph idx="1"/>
          </p:nvPr>
        </p:nvSpPr>
        <p:spPr>
          <a:xfrm>
            <a:off x="802433" y="1035050"/>
            <a:ext cx="7679094" cy="5062538"/>
          </a:xfrm>
        </p:spPr>
        <p:txBody>
          <a:bodyPr/>
          <a:lstStyle/>
          <a:p>
            <a:r>
              <a:rPr lang="en-US" altLang="en-US" dirty="0"/>
              <a:t>Consider modern, 64-bit operating system example with tightly integrated HW</a:t>
            </a:r>
          </a:p>
          <a:p>
            <a:pPr lvl="1"/>
            <a:r>
              <a:rPr lang="en-US" altLang="en-US" dirty="0"/>
              <a:t>Goals are efficiency, low overhead</a:t>
            </a:r>
          </a:p>
          <a:p>
            <a:r>
              <a:rPr lang="en-US" altLang="en-US" dirty="0"/>
              <a:t>Based on hashing, but more complex</a:t>
            </a:r>
          </a:p>
          <a:p>
            <a:r>
              <a:rPr lang="en-US" altLang="en-US" dirty="0"/>
              <a:t>Two hash tables</a:t>
            </a:r>
          </a:p>
          <a:p>
            <a:pPr lvl="1"/>
            <a:r>
              <a:rPr lang="en-US" altLang="en-US" dirty="0"/>
              <a:t>One kernel and one for all user processes</a:t>
            </a:r>
          </a:p>
          <a:p>
            <a:pPr lvl="1"/>
            <a:r>
              <a:rPr lang="en-US" altLang="en-US" dirty="0"/>
              <a:t>Each maps memory addresses from virtual to physical memory</a:t>
            </a:r>
          </a:p>
          <a:p>
            <a:pPr lvl="1"/>
            <a:r>
              <a:rPr lang="en-US" altLang="en-US" dirty="0"/>
              <a:t>Each entry represents a contiguous area of mapped virtual memory,</a:t>
            </a:r>
          </a:p>
          <a:p>
            <a:pPr lvl="2"/>
            <a:r>
              <a:rPr lang="en-US" altLang="en-US" dirty="0"/>
              <a:t>More efficient than having a separate hash-table entry for each page</a:t>
            </a:r>
          </a:p>
          <a:p>
            <a:pPr lvl="1"/>
            <a:r>
              <a:rPr lang="en-US" altLang="en-US" dirty="0"/>
              <a:t>Each entry has  base address and  span (indicating the number of pages the entry represents)</a:t>
            </a:r>
          </a:p>
          <a:p>
            <a:endParaRPr lang="en-US" altLang="en-US" sz="1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7894A6E0-2CAC-4979-BD85-249A83CF4CA1}"/>
              </a:ext>
            </a:extLst>
          </p:cNvPr>
          <p:cNvSpPr>
            <a:spLocks noGrp="1" noChangeArrowheads="1"/>
          </p:cNvSpPr>
          <p:nvPr>
            <p:ph type="title"/>
          </p:nvPr>
        </p:nvSpPr>
        <p:spPr>
          <a:xfrm>
            <a:off x="762000" y="235762"/>
            <a:ext cx="7956550" cy="576262"/>
          </a:xfrm>
        </p:spPr>
        <p:txBody>
          <a:bodyPr/>
          <a:lstStyle/>
          <a:p>
            <a:pPr eaLnBrk="1" hangingPunct="1"/>
            <a:r>
              <a:rPr lang="en-US" altLang="en-US" dirty="0"/>
              <a:t>Oracle SPARC Solaris (Cont.)</a:t>
            </a:r>
          </a:p>
        </p:txBody>
      </p:sp>
      <p:sp>
        <p:nvSpPr>
          <p:cNvPr id="53251" name="Rectangle 3">
            <a:extLst>
              <a:ext uri="{FF2B5EF4-FFF2-40B4-BE49-F238E27FC236}">
                <a16:creationId xmlns:a16="http://schemas.microsoft.com/office/drawing/2014/main" id="{AACE2AFC-0A3F-4D7B-9F31-60AAF284E684}"/>
              </a:ext>
            </a:extLst>
          </p:cNvPr>
          <p:cNvSpPr>
            <a:spLocks noGrp="1" noChangeArrowheads="1"/>
          </p:cNvSpPr>
          <p:nvPr>
            <p:ph idx="1"/>
          </p:nvPr>
        </p:nvSpPr>
        <p:spPr>
          <a:xfrm>
            <a:off x="830425" y="1096963"/>
            <a:ext cx="7665876" cy="5062537"/>
          </a:xfrm>
        </p:spPr>
        <p:txBody>
          <a:bodyPr/>
          <a:lstStyle/>
          <a:p>
            <a:r>
              <a:rPr lang="en-US" altLang="en-US" dirty="0"/>
              <a:t>TLB holds translation table entries (TTEs) for fast hardware lookups</a:t>
            </a:r>
          </a:p>
          <a:p>
            <a:pPr lvl="1"/>
            <a:r>
              <a:rPr lang="en-US" altLang="en-US" dirty="0"/>
              <a:t>A cache of TTEs reside in a translation storage buffer (TSB)</a:t>
            </a:r>
          </a:p>
          <a:p>
            <a:pPr lvl="2"/>
            <a:r>
              <a:rPr lang="en-US" altLang="en-US" dirty="0"/>
              <a:t>Includes an entry per recently accessed page</a:t>
            </a:r>
          </a:p>
          <a:p>
            <a:r>
              <a:rPr lang="en-US" altLang="en-US" dirty="0"/>
              <a:t>Virtual address reference causes TLB search </a:t>
            </a:r>
          </a:p>
          <a:p>
            <a:pPr lvl="1"/>
            <a:r>
              <a:rPr lang="en-US" altLang="en-US" dirty="0"/>
              <a:t>If miss, hardware walks the in-memory TSB looking for the TTE corresponding to the address</a:t>
            </a:r>
          </a:p>
          <a:p>
            <a:pPr lvl="2"/>
            <a:r>
              <a:rPr lang="en-US" altLang="en-US" dirty="0"/>
              <a:t>If match found, the CPU copies the TSB entry into the TLB and translation completes</a:t>
            </a:r>
          </a:p>
          <a:p>
            <a:pPr lvl="2"/>
            <a:r>
              <a:rPr lang="en-US" altLang="en-US" dirty="0"/>
              <a:t>If no match found, kernel interrupted to search the hash table</a:t>
            </a:r>
          </a:p>
          <a:p>
            <a:pPr lvl="3"/>
            <a:r>
              <a:rPr lang="en-US" altLang="en-US" dirty="0"/>
              <a:t>The kernel then creates a TTE from the appropriate hash table and stores it in the TSB, Interrupt handler returns control to the MMU, which completes the address translation. </a:t>
            </a:r>
          </a:p>
          <a:p>
            <a:endParaRPr lang="en-US"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20D2ACB3-978E-4C92-8147-5A9751FD5084}"/>
              </a:ext>
            </a:extLst>
          </p:cNvPr>
          <p:cNvSpPr>
            <a:spLocks noGrp="1" noChangeArrowheads="1"/>
          </p:cNvSpPr>
          <p:nvPr>
            <p:ph type="title"/>
          </p:nvPr>
        </p:nvSpPr>
        <p:spPr>
          <a:xfrm>
            <a:off x="488950" y="231035"/>
            <a:ext cx="8229600" cy="576262"/>
          </a:xfrm>
        </p:spPr>
        <p:txBody>
          <a:bodyPr/>
          <a:lstStyle/>
          <a:p>
            <a:pPr eaLnBrk="1" hangingPunct="1"/>
            <a:r>
              <a:rPr lang="en-US" altLang="en-US" dirty="0"/>
              <a:t>Swapping</a:t>
            </a:r>
          </a:p>
        </p:txBody>
      </p:sp>
      <p:sp>
        <p:nvSpPr>
          <p:cNvPr id="54275" name="Rectangle 3">
            <a:extLst>
              <a:ext uri="{FF2B5EF4-FFF2-40B4-BE49-F238E27FC236}">
                <a16:creationId xmlns:a16="http://schemas.microsoft.com/office/drawing/2014/main" id="{70D0E06F-7484-4112-A8C2-84609CEC1DF6}"/>
              </a:ext>
            </a:extLst>
          </p:cNvPr>
          <p:cNvSpPr>
            <a:spLocks noGrp="1" noChangeArrowheads="1"/>
          </p:cNvSpPr>
          <p:nvPr>
            <p:ph idx="1"/>
          </p:nvPr>
        </p:nvSpPr>
        <p:spPr>
          <a:xfrm>
            <a:off x="849086" y="1122363"/>
            <a:ext cx="7679094" cy="5067300"/>
          </a:xfrm>
        </p:spPr>
        <p:txBody>
          <a:bodyPr/>
          <a:lstStyle/>
          <a:p>
            <a:r>
              <a:rPr lang="en-US" altLang="en-US" dirty="0"/>
              <a:t>A process can be </a:t>
            </a:r>
            <a:r>
              <a:rPr lang="en-US" altLang="en-US" b="1" dirty="0">
                <a:solidFill>
                  <a:srgbClr val="006699"/>
                </a:solidFill>
                <a:latin typeface="+mj-lt"/>
              </a:rPr>
              <a:t>swapped</a:t>
            </a:r>
            <a:r>
              <a:rPr lang="en-US" altLang="en-US" dirty="0"/>
              <a:t> temporarily out of memory to a backing store, and then brought </a:t>
            </a:r>
            <a:r>
              <a:rPr lang="en-US" altLang="en-US" b="1" dirty="0">
                <a:solidFill>
                  <a:srgbClr val="006699"/>
                </a:solidFill>
                <a:latin typeface="+mj-lt"/>
              </a:rPr>
              <a:t>back</a:t>
            </a:r>
            <a:r>
              <a:rPr lang="en-US" altLang="en-US" dirty="0"/>
              <a:t> into memory for continued execution</a:t>
            </a:r>
          </a:p>
          <a:p>
            <a:pPr lvl="1"/>
            <a:r>
              <a:rPr lang="en-US" altLang="en-US" dirty="0"/>
              <a:t>Total physical memory space of processes can exceed physical memory</a:t>
            </a:r>
          </a:p>
          <a:p>
            <a:r>
              <a:rPr lang="en-US" altLang="en-US" b="1" dirty="0">
                <a:solidFill>
                  <a:srgbClr val="006699"/>
                </a:solidFill>
                <a:latin typeface="+mj-lt"/>
              </a:rPr>
              <a:t>Backing</a:t>
            </a:r>
            <a:r>
              <a:rPr lang="en-US" altLang="en-US" b="1" dirty="0">
                <a:solidFill>
                  <a:srgbClr val="3366FF"/>
                </a:solidFill>
              </a:rPr>
              <a:t> </a:t>
            </a:r>
            <a:r>
              <a:rPr lang="en-US" altLang="en-US" b="1" dirty="0">
                <a:solidFill>
                  <a:srgbClr val="006699"/>
                </a:solidFill>
                <a:latin typeface="+mj-lt"/>
              </a:rPr>
              <a:t>store</a:t>
            </a:r>
            <a:r>
              <a:rPr lang="en-US" altLang="en-US" dirty="0">
                <a:solidFill>
                  <a:srgbClr val="3366FF"/>
                </a:solidFill>
              </a:rPr>
              <a:t> </a:t>
            </a:r>
            <a:r>
              <a:rPr lang="en-US" altLang="en-US" dirty="0"/>
              <a:t>– fast disk large enough to accommodate copies of all memory images for all users; must provide direct access to these memory images</a:t>
            </a:r>
          </a:p>
          <a:p>
            <a:r>
              <a:rPr lang="en-US" altLang="en-US" b="1" dirty="0">
                <a:solidFill>
                  <a:srgbClr val="006699"/>
                </a:solidFill>
                <a:latin typeface="+mj-lt"/>
              </a:rPr>
              <a:t>Roll</a:t>
            </a:r>
            <a:r>
              <a:rPr lang="en-US" altLang="en-US" b="1" dirty="0">
                <a:solidFill>
                  <a:srgbClr val="3366FF"/>
                </a:solidFill>
              </a:rPr>
              <a:t> </a:t>
            </a:r>
            <a:r>
              <a:rPr lang="en-US" altLang="en-US" b="1" dirty="0">
                <a:solidFill>
                  <a:srgbClr val="006699"/>
                </a:solidFill>
                <a:latin typeface="+mj-lt"/>
              </a:rPr>
              <a:t>out</a:t>
            </a:r>
            <a:r>
              <a:rPr lang="en-US" altLang="en-US" b="1" dirty="0">
                <a:solidFill>
                  <a:srgbClr val="3366FF"/>
                </a:solidFill>
              </a:rPr>
              <a:t>, </a:t>
            </a:r>
            <a:r>
              <a:rPr lang="en-US" altLang="en-US" b="1" dirty="0">
                <a:solidFill>
                  <a:srgbClr val="006699"/>
                </a:solidFill>
                <a:latin typeface="+mj-lt"/>
              </a:rPr>
              <a:t>roll</a:t>
            </a:r>
            <a:r>
              <a:rPr lang="en-US" altLang="en-US" b="1" dirty="0">
                <a:solidFill>
                  <a:srgbClr val="3366FF"/>
                </a:solidFill>
              </a:rPr>
              <a:t> </a:t>
            </a:r>
            <a:r>
              <a:rPr lang="en-US" altLang="en-US" b="1" dirty="0">
                <a:solidFill>
                  <a:srgbClr val="006699"/>
                </a:solidFill>
                <a:latin typeface="+mj-lt"/>
              </a:rPr>
              <a:t>in</a:t>
            </a:r>
            <a:r>
              <a:rPr lang="en-US" altLang="en-US" dirty="0">
                <a:solidFill>
                  <a:srgbClr val="3366FF"/>
                </a:solidFill>
              </a:rPr>
              <a:t> </a:t>
            </a:r>
            <a:r>
              <a:rPr lang="en-US" altLang="en-US" dirty="0"/>
              <a:t>– swapping variant used for priority-based scheduling algorithms; lower-priority process is swapped out so higher-priority process can be loaded and executed</a:t>
            </a:r>
          </a:p>
          <a:p>
            <a:r>
              <a:rPr lang="en-US" altLang="en-US" dirty="0"/>
              <a:t>Major part of swap time is transfer time; total transfer time is directly proportional to the amount of memory swapped</a:t>
            </a:r>
          </a:p>
          <a:p>
            <a:r>
              <a:rPr lang="en-US" altLang="en-US" dirty="0"/>
              <a:t>System maintains a </a:t>
            </a:r>
            <a:r>
              <a:rPr lang="en-US" altLang="en-US" b="1" dirty="0">
                <a:solidFill>
                  <a:srgbClr val="006699"/>
                </a:solidFill>
                <a:latin typeface="+mj-lt"/>
              </a:rPr>
              <a:t>ready</a:t>
            </a:r>
            <a:r>
              <a:rPr lang="en-US" altLang="en-US" b="1" dirty="0">
                <a:solidFill>
                  <a:srgbClr val="3366FF"/>
                </a:solidFill>
              </a:rPr>
              <a:t> </a:t>
            </a:r>
            <a:r>
              <a:rPr lang="en-US" altLang="en-US" b="1" dirty="0">
                <a:solidFill>
                  <a:srgbClr val="006699"/>
                </a:solidFill>
                <a:latin typeface="+mj-lt"/>
              </a:rPr>
              <a:t>queue</a:t>
            </a:r>
            <a:r>
              <a:rPr lang="en-US" altLang="en-US" dirty="0">
                <a:solidFill>
                  <a:srgbClr val="3366FF"/>
                </a:solidFill>
              </a:rPr>
              <a:t> </a:t>
            </a:r>
            <a:r>
              <a:rPr lang="en-US" altLang="en-US" dirty="0"/>
              <a:t>of ready-to-run processes which have memory images on disk</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4BA59C4B-F6E7-4D32-835B-148AD82608A9}"/>
              </a:ext>
            </a:extLst>
          </p:cNvPr>
          <p:cNvSpPr>
            <a:spLocks noGrp="1" noChangeArrowheads="1"/>
          </p:cNvSpPr>
          <p:nvPr>
            <p:ph type="title"/>
          </p:nvPr>
        </p:nvSpPr>
        <p:spPr>
          <a:xfrm>
            <a:off x="488950" y="238549"/>
            <a:ext cx="8229600" cy="576262"/>
          </a:xfrm>
        </p:spPr>
        <p:txBody>
          <a:bodyPr/>
          <a:lstStyle/>
          <a:p>
            <a:pPr eaLnBrk="1" hangingPunct="1"/>
            <a:r>
              <a:rPr lang="en-US" altLang="en-US" dirty="0"/>
              <a:t>Swapping (Cont.)</a:t>
            </a:r>
          </a:p>
        </p:txBody>
      </p:sp>
      <p:sp>
        <p:nvSpPr>
          <p:cNvPr id="55299" name="Rectangle 3">
            <a:extLst>
              <a:ext uri="{FF2B5EF4-FFF2-40B4-BE49-F238E27FC236}">
                <a16:creationId xmlns:a16="http://schemas.microsoft.com/office/drawing/2014/main" id="{4F0C41DA-0E38-48B2-8F80-9B1CA64B8125}"/>
              </a:ext>
            </a:extLst>
          </p:cNvPr>
          <p:cNvSpPr>
            <a:spLocks noGrp="1" noChangeArrowheads="1"/>
          </p:cNvSpPr>
          <p:nvPr>
            <p:ph idx="1"/>
          </p:nvPr>
        </p:nvSpPr>
        <p:spPr>
          <a:xfrm>
            <a:off x="839754" y="1101725"/>
            <a:ext cx="7697755" cy="5067300"/>
          </a:xfrm>
        </p:spPr>
        <p:txBody>
          <a:bodyPr/>
          <a:lstStyle/>
          <a:p>
            <a:r>
              <a:rPr lang="en-US" altLang="en-US" dirty="0"/>
              <a:t>Does the swapped out process need to swap back in to same physical addresses?</a:t>
            </a:r>
          </a:p>
          <a:p>
            <a:r>
              <a:rPr lang="en-US" altLang="en-US" dirty="0"/>
              <a:t>Depends on address binding method</a:t>
            </a:r>
          </a:p>
          <a:p>
            <a:pPr lvl="1"/>
            <a:r>
              <a:rPr lang="en-US" altLang="en-US" dirty="0"/>
              <a:t>Plus consider pending I/O to / from process memory space</a:t>
            </a:r>
          </a:p>
          <a:p>
            <a:r>
              <a:rPr lang="en-US" altLang="en-US" dirty="0"/>
              <a:t>Modified versions of swapping are found on many systems (i.e., UNIX, Linux, and Windows)</a:t>
            </a:r>
          </a:p>
          <a:p>
            <a:pPr lvl="1"/>
            <a:r>
              <a:rPr lang="en-US" altLang="en-US" dirty="0"/>
              <a:t>Swapping normally disabled</a:t>
            </a:r>
          </a:p>
          <a:p>
            <a:pPr lvl="1"/>
            <a:r>
              <a:rPr lang="en-US" altLang="en-US" dirty="0"/>
              <a:t>Started if more than threshold amount of memory allocated</a:t>
            </a:r>
          </a:p>
          <a:p>
            <a:pPr lvl="1"/>
            <a:r>
              <a:rPr lang="en-US" altLang="en-US" dirty="0"/>
              <a:t>Disabled again once memory demand reduced below threshold</a:t>
            </a:r>
          </a:p>
          <a:p>
            <a:pPr>
              <a:buFont typeface="Monotype Sorts" pitchFamily="-84" charset="2"/>
              <a:buNone/>
            </a:pPr>
            <a:endParaRPr lang="en-US" alt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8421CF3F-82BB-4386-898B-2EEB6506DDD6}"/>
              </a:ext>
            </a:extLst>
          </p:cNvPr>
          <p:cNvSpPr>
            <a:spLocks noGrp="1" noChangeArrowheads="1"/>
          </p:cNvSpPr>
          <p:nvPr>
            <p:ph type="title"/>
          </p:nvPr>
        </p:nvSpPr>
        <p:spPr>
          <a:xfrm>
            <a:off x="817563" y="229218"/>
            <a:ext cx="7869237" cy="576262"/>
          </a:xfrm>
        </p:spPr>
        <p:txBody>
          <a:bodyPr/>
          <a:lstStyle/>
          <a:p>
            <a:pPr eaLnBrk="1" hangingPunct="1"/>
            <a:r>
              <a:rPr lang="en-US" altLang="en-US" dirty="0"/>
              <a:t>Schematic View of Swapping</a:t>
            </a:r>
            <a:endParaRPr lang="en-US" altLang="en-US" sz="2400" dirty="0"/>
          </a:p>
        </p:txBody>
      </p:sp>
      <p:pic>
        <p:nvPicPr>
          <p:cNvPr id="56323" name="Picture 4" descr="8">
            <a:extLst>
              <a:ext uri="{FF2B5EF4-FFF2-40B4-BE49-F238E27FC236}">
                <a16:creationId xmlns:a16="http://schemas.microsoft.com/office/drawing/2014/main" id="{0F3A3C22-04AE-4A1C-8813-C9697C3F0F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1213" y="1400175"/>
            <a:ext cx="5099050" cy="381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82EDC249-C4AD-41C4-880C-E8A3ACCA383F}"/>
              </a:ext>
            </a:extLst>
          </p:cNvPr>
          <p:cNvSpPr>
            <a:spLocks noGrp="1"/>
          </p:cNvSpPr>
          <p:nvPr>
            <p:ph type="title"/>
          </p:nvPr>
        </p:nvSpPr>
        <p:spPr>
          <a:xfrm>
            <a:off x="869950" y="241336"/>
            <a:ext cx="8037513" cy="576262"/>
          </a:xfrm>
        </p:spPr>
        <p:txBody>
          <a:bodyPr/>
          <a:lstStyle/>
          <a:p>
            <a:r>
              <a:rPr lang="en-US" altLang="en-US" sz="3000" dirty="0"/>
              <a:t>Context Switch Time including Swapping</a:t>
            </a:r>
          </a:p>
        </p:txBody>
      </p:sp>
      <p:sp>
        <p:nvSpPr>
          <p:cNvPr id="57347" name="Content Placeholder 2">
            <a:extLst>
              <a:ext uri="{FF2B5EF4-FFF2-40B4-BE49-F238E27FC236}">
                <a16:creationId xmlns:a16="http://schemas.microsoft.com/office/drawing/2014/main" id="{28066BB3-D576-4F4E-8D24-67AEA3D6A5EC}"/>
              </a:ext>
            </a:extLst>
          </p:cNvPr>
          <p:cNvSpPr>
            <a:spLocks noGrp="1"/>
          </p:cNvSpPr>
          <p:nvPr>
            <p:ph idx="1"/>
          </p:nvPr>
        </p:nvSpPr>
        <p:spPr>
          <a:xfrm>
            <a:off x="869950" y="1112838"/>
            <a:ext cx="7686221" cy="4754562"/>
          </a:xfrm>
        </p:spPr>
        <p:txBody>
          <a:bodyPr/>
          <a:lstStyle/>
          <a:p>
            <a:r>
              <a:rPr lang="en-US" altLang="en-US" dirty="0"/>
              <a:t>If next processes to be put on CPU is not in memory, need to swap out a process and swap in target process</a:t>
            </a:r>
          </a:p>
          <a:p>
            <a:r>
              <a:rPr lang="en-US" altLang="en-US" dirty="0"/>
              <a:t>Context switch time can then be very high</a:t>
            </a:r>
          </a:p>
          <a:p>
            <a:r>
              <a:rPr lang="en-US" altLang="en-US" dirty="0"/>
              <a:t>100MB process swapping to hard disk with transfer rate of 50MB/sec</a:t>
            </a:r>
          </a:p>
          <a:p>
            <a:pPr lvl="1"/>
            <a:r>
              <a:rPr lang="en-US" altLang="en-US" dirty="0"/>
              <a:t>Swap out time of 2000 </a:t>
            </a:r>
            <a:r>
              <a:rPr lang="en-US" altLang="en-US" dirty="0" err="1"/>
              <a:t>ms</a:t>
            </a:r>
            <a:endParaRPr lang="en-US" altLang="en-US" dirty="0"/>
          </a:p>
          <a:p>
            <a:pPr lvl="1"/>
            <a:r>
              <a:rPr lang="en-US" altLang="en-US" dirty="0"/>
              <a:t>Plus swap in of same sized process</a:t>
            </a:r>
          </a:p>
          <a:p>
            <a:pPr lvl="1"/>
            <a:r>
              <a:rPr lang="en-US" altLang="en-US" dirty="0"/>
              <a:t>Total context switch swapping component time of 4000ms (4 seconds)</a:t>
            </a:r>
          </a:p>
          <a:p>
            <a:r>
              <a:rPr lang="en-US" altLang="en-US" dirty="0"/>
              <a:t>Can reduce if reduce size of memory swapped – by knowing how much memory really being used</a:t>
            </a:r>
          </a:p>
          <a:p>
            <a:pPr lvl="1"/>
            <a:r>
              <a:rPr lang="en-US" altLang="en-US" dirty="0"/>
              <a:t>System calls to inform OS of memory use via </a:t>
            </a:r>
            <a:r>
              <a:rPr lang="en-US" altLang="en-US" dirty="0" err="1">
                <a:latin typeface="Courier New" panose="02070309020205020404" pitchFamily="49" charset="0"/>
                <a:cs typeface="Courier New" panose="02070309020205020404" pitchFamily="49" charset="0"/>
              </a:rPr>
              <a:t>request_memory</a:t>
            </a:r>
            <a:r>
              <a:rPr lang="en-US" altLang="en-US" dirty="0">
                <a:latin typeface="Courier New" panose="02070309020205020404" pitchFamily="49" charset="0"/>
                <a:cs typeface="Courier New" panose="02070309020205020404" pitchFamily="49" charset="0"/>
              </a:rPr>
              <a:t>() </a:t>
            </a:r>
            <a:r>
              <a:rPr lang="en-US" altLang="en-US" dirty="0"/>
              <a:t>and </a:t>
            </a:r>
            <a:r>
              <a:rPr lang="en-US" altLang="en-US" dirty="0" err="1">
                <a:latin typeface="Courier New" panose="02070309020205020404" pitchFamily="49" charset="0"/>
                <a:cs typeface="Courier New" panose="02070309020205020404" pitchFamily="49" charset="0"/>
              </a:rPr>
              <a:t>release_memory</a:t>
            </a:r>
            <a:r>
              <a:rPr lang="en-US" altLang="en-US" dirty="0">
                <a:latin typeface="Courier New" panose="02070309020205020404" pitchFamily="49" charset="0"/>
                <a:cs typeface="Courier New" panose="02070309020205020404" pitchFamily="49" charset="0"/>
              </a:rPr>
              <a: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BE6FCBF9-24F1-4406-894F-17942C5BC74D}"/>
              </a:ext>
            </a:extLst>
          </p:cNvPr>
          <p:cNvSpPr>
            <a:spLocks noGrp="1"/>
          </p:cNvSpPr>
          <p:nvPr>
            <p:ph type="title"/>
          </p:nvPr>
        </p:nvSpPr>
        <p:spPr>
          <a:xfrm>
            <a:off x="1046809" y="232005"/>
            <a:ext cx="7635875" cy="576262"/>
          </a:xfrm>
        </p:spPr>
        <p:txBody>
          <a:bodyPr/>
          <a:lstStyle/>
          <a:p>
            <a:r>
              <a:rPr lang="en-US" altLang="en-US" sz="2800" dirty="0"/>
              <a:t>Context Switch Time and Swapping (Cont.)</a:t>
            </a:r>
          </a:p>
        </p:txBody>
      </p:sp>
      <p:sp>
        <p:nvSpPr>
          <p:cNvPr id="58371" name="Content Placeholder 2">
            <a:extLst>
              <a:ext uri="{FF2B5EF4-FFF2-40B4-BE49-F238E27FC236}">
                <a16:creationId xmlns:a16="http://schemas.microsoft.com/office/drawing/2014/main" id="{24681AA8-7211-4633-A995-73D1EB5808C8}"/>
              </a:ext>
            </a:extLst>
          </p:cNvPr>
          <p:cNvSpPr>
            <a:spLocks noGrp="1"/>
          </p:cNvSpPr>
          <p:nvPr>
            <p:ph idx="1"/>
          </p:nvPr>
        </p:nvSpPr>
        <p:spPr>
          <a:xfrm>
            <a:off x="821094" y="1160463"/>
            <a:ext cx="7635875" cy="4754562"/>
          </a:xfrm>
        </p:spPr>
        <p:txBody>
          <a:bodyPr/>
          <a:lstStyle/>
          <a:p>
            <a:r>
              <a:rPr lang="en-US" altLang="en-US" dirty="0"/>
              <a:t>Other constraints as well on swapping</a:t>
            </a:r>
          </a:p>
          <a:p>
            <a:pPr lvl="1"/>
            <a:r>
              <a:rPr lang="en-US" altLang="en-US" dirty="0"/>
              <a:t>Pending I/O – can’t swap out as I/O would occur to wrong process</a:t>
            </a:r>
          </a:p>
          <a:p>
            <a:pPr lvl="1"/>
            <a:r>
              <a:rPr lang="en-US" altLang="en-US" dirty="0"/>
              <a:t>Or always transfer I/O to kernel space, then to I/O device</a:t>
            </a:r>
          </a:p>
          <a:p>
            <a:pPr lvl="2"/>
            <a:r>
              <a:rPr lang="en-US" altLang="en-US" dirty="0"/>
              <a:t>Known as </a:t>
            </a:r>
            <a:r>
              <a:rPr lang="en-US" altLang="en-US" b="1" dirty="0">
                <a:solidFill>
                  <a:srgbClr val="006699"/>
                </a:solidFill>
                <a:latin typeface="+mj-lt"/>
              </a:rPr>
              <a:t>double</a:t>
            </a:r>
            <a:r>
              <a:rPr lang="en-US" altLang="en-US" b="1" dirty="0">
                <a:solidFill>
                  <a:srgbClr val="3366FF"/>
                </a:solidFill>
              </a:rPr>
              <a:t> </a:t>
            </a:r>
            <a:r>
              <a:rPr lang="en-US" altLang="en-US" b="1" dirty="0">
                <a:solidFill>
                  <a:srgbClr val="006699"/>
                </a:solidFill>
                <a:latin typeface="+mj-lt"/>
              </a:rPr>
              <a:t>buffering</a:t>
            </a:r>
            <a:r>
              <a:rPr lang="en-US" altLang="en-US" dirty="0"/>
              <a:t>, adds overhead</a:t>
            </a:r>
          </a:p>
          <a:p>
            <a:r>
              <a:rPr lang="en-US" altLang="en-US" dirty="0"/>
              <a:t>Standard swapping not used in modern operating systems</a:t>
            </a:r>
          </a:p>
          <a:p>
            <a:pPr lvl="1"/>
            <a:r>
              <a:rPr lang="en-US" altLang="en-US" dirty="0"/>
              <a:t>But modified version common</a:t>
            </a:r>
          </a:p>
          <a:p>
            <a:pPr lvl="2"/>
            <a:r>
              <a:rPr lang="en-US" altLang="en-US" dirty="0"/>
              <a:t>Swap only when free memory extremely low</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209CE51F-64DD-4B8D-BF31-A2E470ED93E2}"/>
              </a:ext>
            </a:extLst>
          </p:cNvPr>
          <p:cNvSpPr>
            <a:spLocks noGrp="1"/>
          </p:cNvSpPr>
          <p:nvPr>
            <p:ph type="title"/>
          </p:nvPr>
        </p:nvSpPr>
        <p:spPr>
          <a:xfrm>
            <a:off x="488950" y="232005"/>
            <a:ext cx="8229600" cy="576262"/>
          </a:xfrm>
        </p:spPr>
        <p:txBody>
          <a:bodyPr/>
          <a:lstStyle/>
          <a:p>
            <a:r>
              <a:rPr lang="en-US" altLang="en-US" dirty="0"/>
              <a:t>Swapping on Mobile Systems</a:t>
            </a:r>
          </a:p>
        </p:txBody>
      </p:sp>
      <p:sp>
        <p:nvSpPr>
          <p:cNvPr id="59395" name="Content Placeholder 2">
            <a:extLst>
              <a:ext uri="{FF2B5EF4-FFF2-40B4-BE49-F238E27FC236}">
                <a16:creationId xmlns:a16="http://schemas.microsoft.com/office/drawing/2014/main" id="{76533EDA-BAFB-4F4B-AD8D-AB780E3CC378}"/>
              </a:ext>
            </a:extLst>
          </p:cNvPr>
          <p:cNvSpPr>
            <a:spLocks noGrp="1"/>
          </p:cNvSpPr>
          <p:nvPr>
            <p:ph idx="1"/>
          </p:nvPr>
        </p:nvSpPr>
        <p:spPr>
          <a:xfrm>
            <a:off x="845101" y="1060450"/>
            <a:ext cx="7723187" cy="4935538"/>
          </a:xfrm>
        </p:spPr>
        <p:txBody>
          <a:bodyPr/>
          <a:lstStyle/>
          <a:p>
            <a:r>
              <a:rPr lang="en-US" altLang="en-US" dirty="0"/>
              <a:t>Not typically supported</a:t>
            </a:r>
          </a:p>
          <a:p>
            <a:pPr lvl="1"/>
            <a:r>
              <a:rPr lang="en-US" altLang="en-US" dirty="0"/>
              <a:t>Flash memory based</a:t>
            </a:r>
          </a:p>
          <a:p>
            <a:pPr lvl="2"/>
            <a:r>
              <a:rPr lang="en-US" altLang="en-US" dirty="0"/>
              <a:t>Small amount of space</a:t>
            </a:r>
          </a:p>
          <a:p>
            <a:pPr lvl="2"/>
            <a:r>
              <a:rPr lang="en-US" altLang="en-US" dirty="0"/>
              <a:t>Limited number of write cycles</a:t>
            </a:r>
          </a:p>
          <a:p>
            <a:pPr lvl="2"/>
            <a:r>
              <a:rPr lang="en-US" altLang="en-US" dirty="0"/>
              <a:t>Poor throughput between flash memory and CPU on mobile platform</a:t>
            </a:r>
          </a:p>
          <a:p>
            <a:r>
              <a:rPr lang="en-US" altLang="en-US" dirty="0"/>
              <a:t>Instead use other methods to free memory if low</a:t>
            </a:r>
          </a:p>
          <a:p>
            <a:pPr lvl="1"/>
            <a:r>
              <a:rPr lang="en-US" altLang="en-US" dirty="0"/>
              <a:t>iOS </a:t>
            </a:r>
            <a:r>
              <a:rPr lang="en-US" altLang="en-US" b="1" i="1" dirty="0"/>
              <a:t>asks</a:t>
            </a:r>
            <a:r>
              <a:rPr lang="en-US" altLang="en-US" dirty="0"/>
              <a:t> apps to voluntarily relinquish allocated memory</a:t>
            </a:r>
          </a:p>
          <a:p>
            <a:pPr lvl="2"/>
            <a:r>
              <a:rPr lang="en-US" altLang="en-US" dirty="0"/>
              <a:t>Read-only data thrown out and reloaded from flash if needed</a:t>
            </a:r>
          </a:p>
          <a:p>
            <a:pPr lvl="2"/>
            <a:r>
              <a:rPr lang="en-US" altLang="en-US" dirty="0"/>
              <a:t>Failure to free can result in termination</a:t>
            </a:r>
          </a:p>
          <a:p>
            <a:pPr lvl="1"/>
            <a:r>
              <a:rPr lang="en-US" altLang="en-US" dirty="0"/>
              <a:t>Android terminates apps if low free memory, but first writes </a:t>
            </a:r>
            <a:r>
              <a:rPr lang="en-US" altLang="en-US" b="1" dirty="0">
                <a:solidFill>
                  <a:srgbClr val="006699"/>
                </a:solidFill>
                <a:latin typeface="+mj-lt"/>
              </a:rPr>
              <a:t>application</a:t>
            </a:r>
            <a:r>
              <a:rPr lang="en-US" altLang="en-US" b="1" dirty="0">
                <a:solidFill>
                  <a:srgbClr val="3366FF"/>
                </a:solidFill>
              </a:rPr>
              <a:t> </a:t>
            </a:r>
            <a:r>
              <a:rPr lang="en-US" altLang="en-US" b="1" dirty="0">
                <a:solidFill>
                  <a:srgbClr val="006699"/>
                </a:solidFill>
                <a:latin typeface="+mj-lt"/>
              </a:rPr>
              <a:t>state</a:t>
            </a:r>
            <a:r>
              <a:rPr lang="en-US" altLang="en-US" dirty="0"/>
              <a:t> to flash for fast restart</a:t>
            </a:r>
          </a:p>
          <a:p>
            <a:pPr lvl="1"/>
            <a:r>
              <a:rPr lang="en-US" altLang="en-US" dirty="0"/>
              <a:t>Both OSes support paging as discussed below</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924735D7-A004-488D-9911-97DF52D6334B}"/>
              </a:ext>
            </a:extLst>
          </p:cNvPr>
          <p:cNvSpPr>
            <a:spLocks noGrp="1" noChangeArrowheads="1"/>
          </p:cNvSpPr>
          <p:nvPr>
            <p:ph type="title"/>
          </p:nvPr>
        </p:nvSpPr>
        <p:spPr>
          <a:xfrm>
            <a:off x="817563" y="238549"/>
            <a:ext cx="7869237" cy="576262"/>
          </a:xfrm>
        </p:spPr>
        <p:txBody>
          <a:bodyPr/>
          <a:lstStyle/>
          <a:p>
            <a:pPr eaLnBrk="1" hangingPunct="1"/>
            <a:r>
              <a:rPr lang="en-US" altLang="en-US" dirty="0"/>
              <a:t>Swapping with Paging</a:t>
            </a:r>
            <a:endParaRPr lang="en-US" altLang="en-US" sz="2400" dirty="0"/>
          </a:p>
        </p:txBody>
      </p:sp>
      <p:pic>
        <p:nvPicPr>
          <p:cNvPr id="60419" name="Picture 2" descr="W:\os-book\OS10\slide-dir\os-figures\9_20.jpg">
            <a:extLst>
              <a:ext uri="{FF2B5EF4-FFF2-40B4-BE49-F238E27FC236}">
                <a16:creationId xmlns:a16="http://schemas.microsoft.com/office/drawing/2014/main" id="{D7C55644-50F2-4074-8699-2BE71EB4AA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9913" y="1295400"/>
            <a:ext cx="4875212" cy="454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2B652F6E-8935-4E03-8244-BD24D7F2BA81}"/>
              </a:ext>
            </a:extLst>
          </p:cNvPr>
          <p:cNvSpPr>
            <a:spLocks noGrp="1" noChangeArrowheads="1"/>
          </p:cNvSpPr>
          <p:nvPr>
            <p:ph type="title"/>
          </p:nvPr>
        </p:nvSpPr>
        <p:spPr>
          <a:xfrm>
            <a:off x="858416" y="226854"/>
            <a:ext cx="7876009" cy="576263"/>
          </a:xfrm>
        </p:spPr>
        <p:txBody>
          <a:bodyPr/>
          <a:lstStyle/>
          <a:p>
            <a:pPr eaLnBrk="1" hangingPunct="1"/>
            <a:r>
              <a:rPr lang="en-US" altLang="en-US" sz="2600" dirty="0"/>
              <a:t>Example: The Intel 32 and 64-bit Architectures</a:t>
            </a:r>
          </a:p>
        </p:txBody>
      </p:sp>
      <p:sp>
        <p:nvSpPr>
          <p:cNvPr id="61443" name="Rectangle 3">
            <a:extLst>
              <a:ext uri="{FF2B5EF4-FFF2-40B4-BE49-F238E27FC236}">
                <a16:creationId xmlns:a16="http://schemas.microsoft.com/office/drawing/2014/main" id="{241EA058-298F-4E9F-B388-B239FEEFE4A9}"/>
              </a:ext>
            </a:extLst>
          </p:cNvPr>
          <p:cNvSpPr>
            <a:spLocks noGrp="1" noChangeArrowheads="1"/>
          </p:cNvSpPr>
          <p:nvPr>
            <p:ph idx="1"/>
          </p:nvPr>
        </p:nvSpPr>
        <p:spPr>
          <a:xfrm>
            <a:off x="830423" y="1233488"/>
            <a:ext cx="7669765" cy="4530725"/>
          </a:xfrm>
        </p:spPr>
        <p:txBody>
          <a:bodyPr/>
          <a:lstStyle/>
          <a:p>
            <a:r>
              <a:rPr lang="en-US" altLang="en-US" dirty="0"/>
              <a:t>Dominant industry chips</a:t>
            </a:r>
          </a:p>
          <a:p>
            <a:r>
              <a:rPr lang="en-US" altLang="en-US" dirty="0"/>
              <a:t>Pentium CPUs are 32-bit and called IA-32 architecture</a:t>
            </a:r>
          </a:p>
          <a:p>
            <a:r>
              <a:rPr lang="en-US" altLang="en-US" dirty="0"/>
              <a:t>Current Intel CPUs are 64-bit and called IA-64 architecture</a:t>
            </a:r>
          </a:p>
          <a:p>
            <a:r>
              <a:rPr lang="en-US" altLang="en-US" dirty="0"/>
              <a:t>Many variations in the chips, cover the main ideas here</a:t>
            </a:r>
          </a:p>
          <a:p>
            <a:endParaRPr lang="en-US"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FDB4188C-D822-4667-96B6-5A34F27480B0}"/>
              </a:ext>
            </a:extLst>
          </p:cNvPr>
          <p:cNvSpPr>
            <a:spLocks noGrp="1" noChangeArrowheads="1"/>
          </p:cNvSpPr>
          <p:nvPr>
            <p:ph type="title"/>
          </p:nvPr>
        </p:nvSpPr>
        <p:spPr>
          <a:xfrm>
            <a:off x="921721" y="232005"/>
            <a:ext cx="7607300" cy="576262"/>
          </a:xfrm>
        </p:spPr>
        <p:txBody>
          <a:bodyPr/>
          <a:lstStyle/>
          <a:p>
            <a:pPr eaLnBrk="1" hangingPunct="1"/>
            <a:r>
              <a:rPr lang="en-US" altLang="en-US" sz="2800" dirty="0"/>
              <a:t>Example: The Intel IA-32 Architecture</a:t>
            </a:r>
          </a:p>
        </p:txBody>
      </p:sp>
      <p:sp>
        <p:nvSpPr>
          <p:cNvPr id="62467" name="Rectangle 3">
            <a:extLst>
              <a:ext uri="{FF2B5EF4-FFF2-40B4-BE49-F238E27FC236}">
                <a16:creationId xmlns:a16="http://schemas.microsoft.com/office/drawing/2014/main" id="{390E50A7-12CC-4711-932D-A49351A86484}"/>
              </a:ext>
            </a:extLst>
          </p:cNvPr>
          <p:cNvSpPr>
            <a:spLocks noGrp="1" noChangeArrowheads="1"/>
          </p:cNvSpPr>
          <p:nvPr>
            <p:ph idx="1"/>
          </p:nvPr>
        </p:nvSpPr>
        <p:spPr>
          <a:xfrm>
            <a:off x="819080" y="1339361"/>
            <a:ext cx="7735918" cy="4530725"/>
          </a:xfrm>
        </p:spPr>
        <p:txBody>
          <a:bodyPr/>
          <a:lstStyle/>
          <a:p>
            <a:r>
              <a:rPr lang="en-US" altLang="en-US" dirty="0"/>
              <a:t>Supports both segmentation and segmentation with paging</a:t>
            </a:r>
          </a:p>
          <a:p>
            <a:pPr lvl="1"/>
            <a:r>
              <a:rPr lang="en-US" altLang="en-US" dirty="0"/>
              <a:t>Each segment can be 4 GB</a:t>
            </a:r>
          </a:p>
          <a:p>
            <a:pPr lvl="1"/>
            <a:r>
              <a:rPr lang="en-US" altLang="en-US" dirty="0"/>
              <a:t>Up to 16 K segments per process</a:t>
            </a:r>
          </a:p>
          <a:p>
            <a:pPr lvl="1"/>
            <a:r>
              <a:rPr lang="en-US" altLang="en-US" dirty="0"/>
              <a:t>Divided into two partitions</a:t>
            </a:r>
          </a:p>
          <a:p>
            <a:pPr lvl="2"/>
            <a:r>
              <a:rPr lang="en-US" altLang="en-US" dirty="0"/>
              <a:t>First partition of up to 8 K segments are private to process (kept in </a:t>
            </a:r>
            <a:r>
              <a:rPr lang="en-US" altLang="en-US" b="1" dirty="0">
                <a:solidFill>
                  <a:srgbClr val="006699"/>
                </a:solidFill>
                <a:latin typeface="+mj-lt"/>
              </a:rPr>
              <a:t>local</a:t>
            </a:r>
            <a:r>
              <a:rPr lang="en-US" altLang="en-US" b="1" dirty="0">
                <a:solidFill>
                  <a:srgbClr val="3366FF"/>
                </a:solidFill>
              </a:rPr>
              <a:t> </a:t>
            </a:r>
            <a:r>
              <a:rPr lang="en-US" altLang="en-US" b="1" dirty="0">
                <a:solidFill>
                  <a:srgbClr val="006699"/>
                </a:solidFill>
                <a:latin typeface="+mj-lt"/>
              </a:rPr>
              <a:t>descriptor</a:t>
            </a:r>
            <a:r>
              <a:rPr lang="en-US" altLang="en-US" b="1" dirty="0">
                <a:solidFill>
                  <a:srgbClr val="3366FF"/>
                </a:solidFill>
              </a:rPr>
              <a:t> </a:t>
            </a:r>
            <a:r>
              <a:rPr lang="en-US" altLang="en-US" b="1" dirty="0">
                <a:solidFill>
                  <a:srgbClr val="006699"/>
                </a:solidFill>
                <a:latin typeface="+mj-lt"/>
              </a:rPr>
              <a:t>table</a:t>
            </a:r>
            <a:r>
              <a:rPr lang="en-US" altLang="en-US" b="1" dirty="0">
                <a:solidFill>
                  <a:srgbClr val="3366FF"/>
                </a:solidFill>
              </a:rPr>
              <a:t> </a:t>
            </a:r>
            <a:r>
              <a:rPr lang="en-US" altLang="en-US" dirty="0"/>
              <a:t>(</a:t>
            </a:r>
            <a:r>
              <a:rPr lang="en-US" altLang="en-US" b="1" dirty="0">
                <a:solidFill>
                  <a:srgbClr val="006699"/>
                </a:solidFill>
                <a:latin typeface="+mj-lt"/>
              </a:rPr>
              <a:t>LDT</a:t>
            </a:r>
            <a:r>
              <a:rPr lang="en-US" altLang="en-US" dirty="0"/>
              <a:t>))</a:t>
            </a:r>
          </a:p>
          <a:p>
            <a:pPr lvl="2"/>
            <a:r>
              <a:rPr lang="en-US" altLang="en-US" dirty="0"/>
              <a:t>Second partition of up to 8K segments shared among all processes (kept in </a:t>
            </a:r>
            <a:r>
              <a:rPr lang="en-US" altLang="en-US" b="1" dirty="0">
                <a:solidFill>
                  <a:srgbClr val="006699"/>
                </a:solidFill>
                <a:latin typeface="+mj-lt"/>
              </a:rPr>
              <a:t>global</a:t>
            </a:r>
            <a:r>
              <a:rPr lang="en-US" altLang="en-US" b="1" dirty="0">
                <a:solidFill>
                  <a:srgbClr val="3366FF"/>
                </a:solidFill>
              </a:rPr>
              <a:t> </a:t>
            </a:r>
            <a:r>
              <a:rPr lang="en-US" altLang="en-US" b="1" dirty="0">
                <a:solidFill>
                  <a:srgbClr val="006699"/>
                </a:solidFill>
                <a:latin typeface="+mj-lt"/>
              </a:rPr>
              <a:t>descriptor</a:t>
            </a:r>
            <a:r>
              <a:rPr lang="en-US" altLang="en-US" b="1" dirty="0">
                <a:solidFill>
                  <a:srgbClr val="3366FF"/>
                </a:solidFill>
              </a:rPr>
              <a:t> </a:t>
            </a:r>
            <a:r>
              <a:rPr lang="en-US" altLang="en-US" b="1" dirty="0">
                <a:solidFill>
                  <a:srgbClr val="006699"/>
                </a:solidFill>
                <a:latin typeface="+mj-lt"/>
              </a:rPr>
              <a:t>table</a:t>
            </a:r>
            <a:r>
              <a:rPr lang="en-US" altLang="en-US" b="1" dirty="0">
                <a:solidFill>
                  <a:srgbClr val="3366FF"/>
                </a:solidFill>
              </a:rPr>
              <a:t> </a:t>
            </a:r>
            <a:r>
              <a:rPr lang="en-US" altLang="en-US" dirty="0"/>
              <a:t>(</a:t>
            </a:r>
            <a:r>
              <a:rPr lang="en-US" altLang="en-US" b="1" dirty="0">
                <a:solidFill>
                  <a:srgbClr val="006699"/>
                </a:solidFill>
                <a:latin typeface="+mj-lt"/>
              </a:rPr>
              <a:t>GDT</a:t>
            </a:r>
            <a:r>
              <a:rPr lang="en-US" altLang="en-US" dirty="0"/>
              <a:t>))</a:t>
            </a:r>
          </a:p>
          <a:p>
            <a:endParaRPr lang="en-US"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961E1DC-399D-435D-8FAC-1A10240619CE}"/>
              </a:ext>
            </a:extLst>
          </p:cNvPr>
          <p:cNvSpPr>
            <a:spLocks noGrp="1" noChangeArrowheads="1"/>
          </p:cNvSpPr>
          <p:nvPr>
            <p:ph type="title"/>
          </p:nvPr>
        </p:nvSpPr>
        <p:spPr>
          <a:xfrm>
            <a:off x="886408" y="231649"/>
            <a:ext cx="8146467" cy="576263"/>
          </a:xfrm>
        </p:spPr>
        <p:txBody>
          <a:bodyPr/>
          <a:lstStyle/>
          <a:p>
            <a:pPr eaLnBrk="1" hangingPunct="1"/>
            <a:r>
              <a:rPr lang="en-US" altLang="en-US" sz="2800" dirty="0"/>
              <a:t>Example: The Intel IA-32 Architecture (Cont.)</a:t>
            </a:r>
          </a:p>
        </p:txBody>
      </p:sp>
      <p:sp>
        <p:nvSpPr>
          <p:cNvPr id="61443" name="Rectangle 3">
            <a:extLst>
              <a:ext uri="{FF2B5EF4-FFF2-40B4-BE49-F238E27FC236}">
                <a16:creationId xmlns:a16="http://schemas.microsoft.com/office/drawing/2014/main" id="{9606FB1F-38F1-4099-94DE-A7FB2E327AFD}"/>
              </a:ext>
            </a:extLst>
          </p:cNvPr>
          <p:cNvSpPr>
            <a:spLocks noGrp="1" noChangeArrowheads="1"/>
          </p:cNvSpPr>
          <p:nvPr>
            <p:ph idx="1"/>
          </p:nvPr>
        </p:nvSpPr>
        <p:spPr>
          <a:xfrm>
            <a:off x="821095" y="1323452"/>
            <a:ext cx="7679093" cy="4530725"/>
          </a:xfrm>
        </p:spPr>
        <p:txBody>
          <a:bodyPr/>
          <a:lstStyle/>
          <a:p>
            <a:pPr>
              <a:defRPr/>
            </a:pPr>
            <a:r>
              <a:rPr lang="en-US" altLang="en-US" dirty="0"/>
              <a:t>CPU generates logical address</a:t>
            </a:r>
          </a:p>
          <a:p>
            <a:pPr lvl="1">
              <a:defRPr/>
            </a:pPr>
            <a:r>
              <a:rPr lang="en-US" altLang="en-US" dirty="0"/>
              <a:t>Selector given to segmentation unit</a:t>
            </a:r>
          </a:p>
          <a:p>
            <a:pPr lvl="2">
              <a:defRPr/>
            </a:pPr>
            <a:r>
              <a:rPr lang="en-US" altLang="en-US" dirty="0"/>
              <a:t>Which produces linear addresses </a:t>
            </a:r>
          </a:p>
          <a:p>
            <a:pPr marL="857250" lvl="2" indent="0">
              <a:buFont typeface="Webdings" panose="05030102010509060703" pitchFamily="18" charset="2"/>
              <a:buNone/>
              <a:defRPr/>
            </a:pPr>
            <a:endParaRPr lang="en-US" altLang="en-US" dirty="0"/>
          </a:p>
          <a:p>
            <a:pPr lvl="2">
              <a:defRPr/>
            </a:pPr>
            <a:endParaRPr lang="en-US" altLang="en-US" dirty="0"/>
          </a:p>
          <a:p>
            <a:pPr lvl="1">
              <a:defRPr/>
            </a:pPr>
            <a:r>
              <a:rPr lang="en-US" altLang="en-US" dirty="0"/>
              <a:t>Linear address given to paging unit</a:t>
            </a:r>
          </a:p>
          <a:p>
            <a:pPr lvl="2">
              <a:defRPr/>
            </a:pPr>
            <a:r>
              <a:rPr lang="en-US" altLang="en-US" dirty="0"/>
              <a:t>Which generates physical address in main memory</a:t>
            </a:r>
          </a:p>
          <a:p>
            <a:pPr lvl="2">
              <a:defRPr/>
            </a:pPr>
            <a:r>
              <a:rPr lang="en-US" altLang="en-US" dirty="0"/>
              <a:t>Paging units form equivalent of MMU</a:t>
            </a:r>
          </a:p>
          <a:p>
            <a:pPr lvl="2">
              <a:defRPr/>
            </a:pPr>
            <a:r>
              <a:rPr lang="en-US" altLang="en-US" dirty="0"/>
              <a:t>Pages sizes can be 4 KB or 4 MB</a:t>
            </a:r>
          </a:p>
          <a:p>
            <a:pPr>
              <a:defRPr/>
            </a:pPr>
            <a:endParaRPr lang="en-US" altLang="en-US" dirty="0"/>
          </a:p>
        </p:txBody>
      </p:sp>
      <p:pic>
        <p:nvPicPr>
          <p:cNvPr id="63492" name="Picture 1" descr="Screen Shot 2013-01-04 at 12.24.50 PM.png">
            <a:extLst>
              <a:ext uri="{FF2B5EF4-FFF2-40B4-BE49-F238E27FC236}">
                <a16:creationId xmlns:a16="http://schemas.microsoft.com/office/drawing/2014/main" id="{1802C1BC-A147-4105-A498-ACB3034163D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84463" y="2458776"/>
            <a:ext cx="2436812"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0FC880D-958B-4972-B907-A987920BA0AB}"/>
              </a:ext>
            </a:extLst>
          </p:cNvPr>
          <p:cNvSpPr>
            <a:spLocks noGrp="1" noChangeArrowheads="1"/>
          </p:cNvSpPr>
          <p:nvPr>
            <p:ph type="title"/>
          </p:nvPr>
        </p:nvSpPr>
        <p:spPr>
          <a:xfrm>
            <a:off x="905296" y="188588"/>
            <a:ext cx="7670800" cy="619125"/>
          </a:xfrm>
        </p:spPr>
        <p:txBody>
          <a:bodyPr/>
          <a:lstStyle/>
          <a:p>
            <a:pPr eaLnBrk="1" hangingPunct="1"/>
            <a:r>
              <a:rPr lang="en-US" altLang="en-US" sz="2400" dirty="0"/>
              <a:t>Logical to Physical Address Translation in IA-32</a:t>
            </a:r>
          </a:p>
        </p:txBody>
      </p:sp>
      <p:pic>
        <p:nvPicPr>
          <p:cNvPr id="64515" name="Picture 4">
            <a:extLst>
              <a:ext uri="{FF2B5EF4-FFF2-40B4-BE49-F238E27FC236}">
                <a16:creationId xmlns:a16="http://schemas.microsoft.com/office/drawing/2014/main" id="{6B1B5BAA-DC9D-46F7-82BF-E599416FEE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38" t="35571" r="661" b="35571"/>
          <a:stretch>
            <a:fillRect/>
          </a:stretch>
        </p:blipFill>
        <p:spPr bwMode="auto">
          <a:xfrm>
            <a:off x="2049463" y="3084513"/>
            <a:ext cx="4595812"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pic>
        <p:nvPicPr>
          <p:cNvPr id="64516" name="Picture 5">
            <a:extLst>
              <a:ext uri="{FF2B5EF4-FFF2-40B4-BE49-F238E27FC236}">
                <a16:creationId xmlns:a16="http://schemas.microsoft.com/office/drawing/2014/main" id="{79C420AF-26CF-4190-AF70-4350F6539F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4213" y="1524000"/>
            <a:ext cx="6157912"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37E77F2B-0821-46A3-AC64-44DB6C3C6BCA}"/>
              </a:ext>
            </a:extLst>
          </p:cNvPr>
          <p:cNvSpPr>
            <a:spLocks noGrp="1" noChangeArrowheads="1"/>
          </p:cNvSpPr>
          <p:nvPr>
            <p:ph type="title"/>
          </p:nvPr>
        </p:nvSpPr>
        <p:spPr>
          <a:xfrm>
            <a:off x="1195388" y="235762"/>
            <a:ext cx="7491412" cy="576262"/>
          </a:xfrm>
        </p:spPr>
        <p:txBody>
          <a:bodyPr/>
          <a:lstStyle/>
          <a:p>
            <a:pPr eaLnBrk="1" hangingPunct="1"/>
            <a:r>
              <a:rPr lang="en-US" altLang="en-US" dirty="0"/>
              <a:t>Intel IA-32 Segmentation</a:t>
            </a:r>
          </a:p>
        </p:txBody>
      </p:sp>
      <p:pic>
        <p:nvPicPr>
          <p:cNvPr id="65539" name="Picture 4" descr="8">
            <a:extLst>
              <a:ext uri="{FF2B5EF4-FFF2-40B4-BE49-F238E27FC236}">
                <a16:creationId xmlns:a16="http://schemas.microsoft.com/office/drawing/2014/main" id="{7D194F7E-28F0-4FDC-A111-00416AFA23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6425" y="1314450"/>
            <a:ext cx="6034088" cy="370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5A802929-8C9E-4AD9-851A-726A5C7B0E07}"/>
              </a:ext>
            </a:extLst>
          </p:cNvPr>
          <p:cNvSpPr>
            <a:spLocks noGrp="1" noChangeArrowheads="1"/>
          </p:cNvSpPr>
          <p:nvPr>
            <p:ph type="title"/>
          </p:nvPr>
        </p:nvSpPr>
        <p:spPr>
          <a:xfrm>
            <a:off x="817563" y="238549"/>
            <a:ext cx="7869237" cy="576262"/>
          </a:xfrm>
        </p:spPr>
        <p:txBody>
          <a:bodyPr/>
          <a:lstStyle/>
          <a:p>
            <a:pPr eaLnBrk="1" hangingPunct="1"/>
            <a:r>
              <a:rPr lang="en-US" altLang="en-US" dirty="0"/>
              <a:t>Intel IA-32 Paging Architecture</a:t>
            </a:r>
          </a:p>
        </p:txBody>
      </p:sp>
      <p:pic>
        <p:nvPicPr>
          <p:cNvPr id="66563" name="Picture 4">
            <a:extLst>
              <a:ext uri="{FF2B5EF4-FFF2-40B4-BE49-F238E27FC236}">
                <a16:creationId xmlns:a16="http://schemas.microsoft.com/office/drawing/2014/main" id="{EA02C8D5-7EBE-42A0-8DC3-0C75C34F56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9500" y="1220788"/>
            <a:ext cx="4503738" cy="439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7DC08348-F45E-462A-893E-7E31B70ABFF0}"/>
              </a:ext>
            </a:extLst>
          </p:cNvPr>
          <p:cNvSpPr>
            <a:spLocks noGrp="1" noChangeArrowheads="1"/>
          </p:cNvSpPr>
          <p:nvPr>
            <p:ph type="title"/>
          </p:nvPr>
        </p:nvSpPr>
        <p:spPr>
          <a:xfrm>
            <a:off x="853909" y="232975"/>
            <a:ext cx="7869237" cy="576262"/>
          </a:xfrm>
        </p:spPr>
        <p:txBody>
          <a:bodyPr/>
          <a:lstStyle/>
          <a:p>
            <a:pPr eaLnBrk="1" hangingPunct="1"/>
            <a:r>
              <a:rPr lang="en-US" altLang="en-US" dirty="0"/>
              <a:t>Intel IA-32 Page Address Extensions</a:t>
            </a:r>
          </a:p>
        </p:txBody>
      </p:sp>
      <p:pic>
        <p:nvPicPr>
          <p:cNvPr id="67587" name="Picture 1" descr="8_24.pdf">
            <a:extLst>
              <a:ext uri="{FF2B5EF4-FFF2-40B4-BE49-F238E27FC236}">
                <a16:creationId xmlns:a16="http://schemas.microsoft.com/office/drawing/2014/main" id="{6D2F7BE4-39DD-4438-B0C4-831E2E7E697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9603" y="3772613"/>
            <a:ext cx="6157912"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8" name="Rectangle 3">
            <a:extLst>
              <a:ext uri="{FF2B5EF4-FFF2-40B4-BE49-F238E27FC236}">
                <a16:creationId xmlns:a16="http://schemas.microsoft.com/office/drawing/2014/main" id="{D2FBD04E-0AD5-4B90-A5FE-1CCDF58FDC00}"/>
              </a:ext>
            </a:extLst>
          </p:cNvPr>
          <p:cNvSpPr txBox="1">
            <a:spLocks noChangeArrowheads="1"/>
          </p:cNvSpPr>
          <p:nvPr/>
        </p:nvSpPr>
        <p:spPr bwMode="auto">
          <a:xfrm>
            <a:off x="776290" y="1108075"/>
            <a:ext cx="7869236"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lstStyle>
            <a:lvl1pPr marL="488950" indent="-488950">
              <a:defRPr>
                <a:solidFill>
                  <a:schemeClr val="tx1"/>
                </a:solidFill>
                <a:latin typeface="Verdana" panose="020B0604030504040204" pitchFamily="34" charset="0"/>
                <a:ea typeface="MS PGothic" panose="020B0600070205080204" pitchFamily="34" charset="-128"/>
              </a:defRPr>
            </a:lvl1pPr>
            <a:lvl2pPr marL="1060450" indent="-407988">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285750" indent="-285750">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32-bit address limits led Intel to create </a:t>
            </a:r>
            <a:r>
              <a:rPr kumimoji="1" lang="en-US" altLang="en-US" b="1" dirty="0">
                <a:solidFill>
                  <a:srgbClr val="006699"/>
                </a:solidFill>
                <a:latin typeface="+mj-lt"/>
              </a:rPr>
              <a:t>page</a:t>
            </a:r>
            <a:r>
              <a:rPr kumimoji="1" lang="en-US" altLang="en-US" b="1" dirty="0">
                <a:solidFill>
                  <a:srgbClr val="3366FF"/>
                </a:solidFill>
                <a:latin typeface="Helvetica" panose="020B0604020202020204" pitchFamily="34" charset="0"/>
              </a:rPr>
              <a:t> </a:t>
            </a:r>
            <a:r>
              <a:rPr kumimoji="1" lang="en-US" altLang="en-US" b="1" dirty="0">
                <a:solidFill>
                  <a:srgbClr val="006699"/>
                </a:solidFill>
                <a:latin typeface="+mj-lt"/>
              </a:rPr>
              <a:t>address</a:t>
            </a:r>
            <a:r>
              <a:rPr kumimoji="1" lang="en-US" altLang="en-US" b="1" dirty="0">
                <a:solidFill>
                  <a:srgbClr val="3366FF"/>
                </a:solidFill>
                <a:latin typeface="Helvetica" panose="020B0604020202020204" pitchFamily="34" charset="0"/>
              </a:rPr>
              <a:t> </a:t>
            </a:r>
            <a:r>
              <a:rPr kumimoji="1" lang="en-US" altLang="en-US" b="1" dirty="0">
                <a:solidFill>
                  <a:srgbClr val="006699"/>
                </a:solidFill>
                <a:latin typeface="+mj-lt"/>
              </a:rPr>
              <a:t>extension</a:t>
            </a:r>
            <a:r>
              <a:rPr kumimoji="1" lang="en-US" altLang="en-US" b="1" dirty="0">
                <a:solidFill>
                  <a:srgbClr val="3366FF"/>
                </a:solidFill>
                <a:latin typeface="Helvetica" panose="020B0604020202020204" pitchFamily="34" charset="0"/>
              </a:rPr>
              <a:t> </a:t>
            </a:r>
            <a:r>
              <a:rPr kumimoji="1" lang="en-US" altLang="en-US" dirty="0">
                <a:latin typeface="Helvetica" panose="020B0604020202020204" pitchFamily="34" charset="0"/>
              </a:rPr>
              <a:t>(</a:t>
            </a:r>
            <a:r>
              <a:rPr kumimoji="1" lang="en-US" altLang="en-US" b="1" dirty="0">
                <a:solidFill>
                  <a:srgbClr val="006699"/>
                </a:solidFill>
                <a:latin typeface="+mj-lt"/>
              </a:rPr>
              <a:t>PAE</a:t>
            </a:r>
            <a:r>
              <a:rPr kumimoji="1" lang="en-US" altLang="en-US" dirty="0">
                <a:latin typeface="Helvetica" panose="020B0604020202020204" pitchFamily="34" charset="0"/>
              </a:rPr>
              <a:t>), allowing 32-bit apps access to more than 4GB of memory space</a:t>
            </a:r>
          </a:p>
          <a:p>
            <a:pPr lvl="1">
              <a:spcBef>
                <a:spcPct val="35000"/>
              </a:spcBef>
              <a:buClr>
                <a:srgbClr val="CC6600"/>
              </a:buClr>
              <a:buSzPct val="110000"/>
              <a:buFont typeface="Arial" panose="020B0604020202020204" pitchFamily="34" charset="0"/>
              <a:buChar char="•"/>
            </a:pPr>
            <a:r>
              <a:rPr kumimoji="1" lang="en-US" altLang="en-US" dirty="0">
                <a:latin typeface="Helvetica" panose="020B0604020202020204" pitchFamily="34" charset="0"/>
              </a:rPr>
              <a:t>Paging went to a 3-level scheme</a:t>
            </a:r>
          </a:p>
          <a:p>
            <a:pPr lvl="1">
              <a:spcBef>
                <a:spcPct val="35000"/>
              </a:spcBef>
              <a:buClr>
                <a:srgbClr val="CC6600"/>
              </a:buClr>
              <a:buSzPct val="110000"/>
              <a:buFont typeface="Arial" panose="020B0604020202020204" pitchFamily="34" charset="0"/>
              <a:buChar char="•"/>
            </a:pPr>
            <a:r>
              <a:rPr kumimoji="1" lang="en-US" altLang="en-US" dirty="0">
                <a:latin typeface="Helvetica" panose="020B0604020202020204" pitchFamily="34" charset="0"/>
              </a:rPr>
              <a:t>Top two bits refer to a </a:t>
            </a:r>
            <a:r>
              <a:rPr kumimoji="1" lang="en-US" altLang="en-US" b="1" dirty="0">
                <a:solidFill>
                  <a:srgbClr val="006699"/>
                </a:solidFill>
                <a:latin typeface="+mj-lt"/>
              </a:rPr>
              <a:t>page</a:t>
            </a:r>
            <a:r>
              <a:rPr kumimoji="1" lang="en-US" altLang="en-US" b="1" dirty="0">
                <a:solidFill>
                  <a:srgbClr val="3366FF"/>
                </a:solidFill>
                <a:latin typeface="Helvetica" panose="020B0604020202020204" pitchFamily="34" charset="0"/>
              </a:rPr>
              <a:t> </a:t>
            </a:r>
            <a:r>
              <a:rPr kumimoji="1" lang="en-US" altLang="en-US" b="1" dirty="0">
                <a:solidFill>
                  <a:srgbClr val="006699"/>
                </a:solidFill>
                <a:latin typeface="+mj-lt"/>
              </a:rPr>
              <a:t>directory</a:t>
            </a:r>
            <a:r>
              <a:rPr kumimoji="1" lang="en-US" altLang="en-US" b="1" dirty="0">
                <a:solidFill>
                  <a:srgbClr val="3366FF"/>
                </a:solidFill>
                <a:latin typeface="Helvetica" panose="020B0604020202020204" pitchFamily="34" charset="0"/>
              </a:rPr>
              <a:t> </a:t>
            </a:r>
            <a:r>
              <a:rPr kumimoji="1" lang="en-US" altLang="en-US" b="1" dirty="0">
                <a:solidFill>
                  <a:srgbClr val="006699"/>
                </a:solidFill>
                <a:latin typeface="+mj-lt"/>
              </a:rPr>
              <a:t>pointer</a:t>
            </a:r>
            <a:r>
              <a:rPr kumimoji="1" lang="en-US" altLang="en-US" b="1" dirty="0">
                <a:solidFill>
                  <a:srgbClr val="3366FF"/>
                </a:solidFill>
                <a:latin typeface="Helvetica" panose="020B0604020202020204" pitchFamily="34" charset="0"/>
              </a:rPr>
              <a:t> </a:t>
            </a:r>
            <a:r>
              <a:rPr kumimoji="1" lang="en-US" altLang="en-US" b="1" dirty="0">
                <a:solidFill>
                  <a:srgbClr val="006699"/>
                </a:solidFill>
                <a:latin typeface="+mj-lt"/>
              </a:rPr>
              <a:t>table</a:t>
            </a:r>
          </a:p>
          <a:p>
            <a:pPr lvl="1">
              <a:spcBef>
                <a:spcPct val="35000"/>
              </a:spcBef>
              <a:buClr>
                <a:srgbClr val="CC6600"/>
              </a:buClr>
              <a:buSzPct val="110000"/>
              <a:buFont typeface="Arial" panose="020B0604020202020204" pitchFamily="34" charset="0"/>
              <a:buChar char="•"/>
            </a:pPr>
            <a:r>
              <a:rPr kumimoji="1" lang="en-US" altLang="en-US" dirty="0">
                <a:latin typeface="Helvetica" panose="020B0604020202020204" pitchFamily="34" charset="0"/>
              </a:rPr>
              <a:t>Page-directory and page-table entries moved to 64-bits in size</a:t>
            </a:r>
          </a:p>
          <a:p>
            <a:pPr lvl="1">
              <a:spcBef>
                <a:spcPct val="35000"/>
              </a:spcBef>
              <a:buClr>
                <a:srgbClr val="CC6600"/>
              </a:buClr>
              <a:buSzPct val="110000"/>
              <a:buFont typeface="Arial" panose="020B0604020202020204" pitchFamily="34" charset="0"/>
              <a:buChar char="•"/>
            </a:pPr>
            <a:r>
              <a:rPr kumimoji="1" lang="en-US" altLang="en-US" dirty="0">
                <a:latin typeface="Helvetica" panose="020B0604020202020204" pitchFamily="34" charset="0"/>
              </a:rPr>
              <a:t>Net effect is increasing address space to 36 bits – 64GB of physical memory</a:t>
            </a:r>
          </a:p>
          <a:p>
            <a:pPr lvl="1">
              <a:spcBef>
                <a:spcPct val="35000"/>
              </a:spcBef>
              <a:buClr>
                <a:srgbClr val="CC6600"/>
              </a:buClr>
              <a:buSzPct val="80000"/>
              <a:buFont typeface="Monotype Sorts" pitchFamily="-84" charset="2"/>
              <a:buChar char="l"/>
            </a:pPr>
            <a:endParaRPr kumimoji="1" lang="en-US" altLang="en-US" b="1" dirty="0">
              <a:solidFill>
                <a:srgbClr val="3366FF"/>
              </a:solidFill>
              <a:latin typeface="Helvetica" panose="020B0604020202020204" pitchFamily="34" charset="0"/>
            </a:endParaRPr>
          </a:p>
          <a:p>
            <a:pPr>
              <a:spcBef>
                <a:spcPct val="35000"/>
              </a:spcBef>
              <a:buClr>
                <a:srgbClr val="993300"/>
              </a:buClr>
              <a:buSzPct val="90000"/>
              <a:buFont typeface="Monotype Sorts" pitchFamily="-84" charset="2"/>
              <a:buChar char="n"/>
            </a:pPr>
            <a:endParaRPr kumimoji="1" lang="en-US" altLang="en-US" dirty="0">
              <a:latin typeface="Helvetica" panose="020B060402020202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58E4418B-4D1F-4C2F-86CA-BEEA5DC9AFB0}"/>
              </a:ext>
            </a:extLst>
          </p:cNvPr>
          <p:cNvSpPr>
            <a:spLocks noGrp="1" noChangeArrowheads="1"/>
          </p:cNvSpPr>
          <p:nvPr>
            <p:ph type="title"/>
          </p:nvPr>
        </p:nvSpPr>
        <p:spPr>
          <a:xfrm>
            <a:off x="481661" y="245093"/>
            <a:ext cx="7869237" cy="576262"/>
          </a:xfrm>
        </p:spPr>
        <p:txBody>
          <a:bodyPr/>
          <a:lstStyle/>
          <a:p>
            <a:pPr eaLnBrk="1" hangingPunct="1"/>
            <a:r>
              <a:rPr lang="en-US" altLang="en-US" dirty="0"/>
              <a:t>Intel x86-64</a:t>
            </a:r>
          </a:p>
        </p:txBody>
      </p:sp>
      <p:sp>
        <p:nvSpPr>
          <p:cNvPr id="68611" name="Rectangle 3">
            <a:extLst>
              <a:ext uri="{FF2B5EF4-FFF2-40B4-BE49-F238E27FC236}">
                <a16:creationId xmlns:a16="http://schemas.microsoft.com/office/drawing/2014/main" id="{879EF759-8E97-43E4-B675-04E06FE8DCAE}"/>
              </a:ext>
            </a:extLst>
          </p:cNvPr>
          <p:cNvSpPr txBox="1">
            <a:spLocks noChangeArrowheads="1"/>
          </p:cNvSpPr>
          <p:nvPr/>
        </p:nvSpPr>
        <p:spPr bwMode="auto">
          <a:xfrm>
            <a:off x="849086" y="1122363"/>
            <a:ext cx="7632927" cy="275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lstStyle>
            <a:lvl1pPr marL="488950" indent="-488950">
              <a:defRPr>
                <a:solidFill>
                  <a:schemeClr val="tx1"/>
                </a:solidFill>
                <a:latin typeface="Verdana" panose="020B0604030504040204" pitchFamily="34" charset="0"/>
                <a:ea typeface="MS PGothic" panose="020B0600070205080204" pitchFamily="34" charset="-128"/>
              </a:defRPr>
            </a:lvl1pPr>
            <a:lvl2pPr marL="1060450" indent="-407988">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Current generation Intel x86 architecture</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64 bits is ginormous (&gt; 16 exabytes)</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In practice only implement 48 bit addressing</a:t>
            </a:r>
          </a:p>
          <a:p>
            <a:pPr lvl="1">
              <a:spcBef>
                <a:spcPct val="35000"/>
              </a:spcBef>
              <a:buClr>
                <a:srgbClr val="CC6600"/>
              </a:buClr>
              <a:buSzPct val="110000"/>
              <a:buFont typeface="Arial" panose="020B0604020202020204" pitchFamily="34" charset="0"/>
              <a:buChar char="•"/>
            </a:pPr>
            <a:r>
              <a:rPr kumimoji="1" lang="en-US" altLang="en-US" dirty="0">
                <a:latin typeface="Helvetica" panose="020B0604020202020204" pitchFamily="34" charset="0"/>
              </a:rPr>
              <a:t>Page sizes of 4 KB, 2 MB, 1 GB</a:t>
            </a:r>
          </a:p>
          <a:p>
            <a:pPr lvl="1">
              <a:spcBef>
                <a:spcPct val="35000"/>
              </a:spcBef>
              <a:buClr>
                <a:srgbClr val="CC6600"/>
              </a:buClr>
              <a:buSzPct val="110000"/>
              <a:buFont typeface="Arial" panose="020B0604020202020204" pitchFamily="34" charset="0"/>
              <a:buChar char="•"/>
            </a:pPr>
            <a:r>
              <a:rPr kumimoji="1" lang="en-US" altLang="en-US" dirty="0">
                <a:latin typeface="Helvetica" panose="020B0604020202020204" pitchFamily="34" charset="0"/>
              </a:rPr>
              <a:t>Four levels of paging hierarchy</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Can also use PAE so virtual addresses are 48 bits and physical addresses are 52 bits</a:t>
            </a:r>
          </a:p>
        </p:txBody>
      </p:sp>
      <p:pic>
        <p:nvPicPr>
          <p:cNvPr id="68612" name="Picture 2" descr="8_25.pdf">
            <a:extLst>
              <a:ext uri="{FF2B5EF4-FFF2-40B4-BE49-F238E27FC236}">
                <a16:creationId xmlns:a16="http://schemas.microsoft.com/office/drawing/2014/main" id="{BDCE453A-1476-4754-9D6F-16790CEC81B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50938" y="4108450"/>
            <a:ext cx="7283450"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E9E9CEB5-71D0-4017-B08A-E02B75FA0558}"/>
              </a:ext>
            </a:extLst>
          </p:cNvPr>
          <p:cNvSpPr>
            <a:spLocks noGrp="1" noChangeArrowheads="1"/>
          </p:cNvSpPr>
          <p:nvPr>
            <p:ph type="title"/>
          </p:nvPr>
        </p:nvSpPr>
        <p:spPr>
          <a:xfrm>
            <a:off x="833438" y="238549"/>
            <a:ext cx="7869237" cy="576262"/>
          </a:xfrm>
        </p:spPr>
        <p:txBody>
          <a:bodyPr/>
          <a:lstStyle/>
          <a:p>
            <a:pPr eaLnBrk="1" hangingPunct="1"/>
            <a:r>
              <a:rPr lang="en-US" altLang="en-US" dirty="0"/>
              <a:t>Example: ARM Architecture</a:t>
            </a:r>
          </a:p>
        </p:txBody>
      </p:sp>
      <p:sp>
        <p:nvSpPr>
          <p:cNvPr id="69635" name="Rectangle 3">
            <a:extLst>
              <a:ext uri="{FF2B5EF4-FFF2-40B4-BE49-F238E27FC236}">
                <a16:creationId xmlns:a16="http://schemas.microsoft.com/office/drawing/2014/main" id="{50CE6398-8797-4635-8426-2FD70A2B2E23}"/>
              </a:ext>
            </a:extLst>
          </p:cNvPr>
          <p:cNvSpPr txBox="1">
            <a:spLocks noChangeArrowheads="1"/>
          </p:cNvSpPr>
          <p:nvPr/>
        </p:nvSpPr>
        <p:spPr bwMode="auto">
          <a:xfrm>
            <a:off x="765110" y="1169988"/>
            <a:ext cx="3522728" cy="5141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lstStyle>
            <a:lvl1pPr marL="488950" indent="-488950">
              <a:defRPr>
                <a:solidFill>
                  <a:schemeClr val="tx1"/>
                </a:solidFill>
                <a:latin typeface="Verdana" panose="020B0604030504040204" pitchFamily="34" charset="0"/>
                <a:ea typeface="MS PGothic" panose="020B0600070205080204" pitchFamily="34" charset="-128"/>
              </a:defRPr>
            </a:lvl1pPr>
            <a:lvl2pPr marL="1060450" indent="-407988">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35000"/>
              </a:spcBef>
              <a:buClr>
                <a:srgbClr val="993300"/>
              </a:buClr>
              <a:buSzPct val="110000"/>
              <a:buFont typeface="Wingdings" panose="05000000000000000000" pitchFamily="2" charset="2"/>
              <a:buChar char="§"/>
            </a:pPr>
            <a:r>
              <a:rPr kumimoji="1" lang="en-US" altLang="en-US" sz="1600" dirty="0">
                <a:latin typeface="Helvetica" panose="020B0604020202020204" pitchFamily="34" charset="0"/>
              </a:rPr>
              <a:t>Dominant mobile platform chip (Apple iOS and Google Android devices for example)</a:t>
            </a:r>
          </a:p>
          <a:p>
            <a:pPr>
              <a:spcBef>
                <a:spcPct val="35000"/>
              </a:spcBef>
              <a:buClr>
                <a:srgbClr val="993300"/>
              </a:buClr>
              <a:buSzPct val="110000"/>
              <a:buFont typeface="Wingdings" panose="05000000000000000000" pitchFamily="2" charset="2"/>
              <a:buChar char="§"/>
            </a:pPr>
            <a:r>
              <a:rPr kumimoji="1" lang="en-US" altLang="en-US" sz="1600" dirty="0">
                <a:latin typeface="Helvetica" panose="020B0604020202020204" pitchFamily="34" charset="0"/>
              </a:rPr>
              <a:t>Modern, energy efficient, 32-bit CPU</a:t>
            </a:r>
          </a:p>
          <a:p>
            <a:pPr>
              <a:spcBef>
                <a:spcPct val="35000"/>
              </a:spcBef>
              <a:buClr>
                <a:srgbClr val="993300"/>
              </a:buClr>
              <a:buSzPct val="110000"/>
              <a:buFont typeface="Wingdings" panose="05000000000000000000" pitchFamily="2" charset="2"/>
              <a:buChar char="§"/>
            </a:pPr>
            <a:r>
              <a:rPr kumimoji="1" lang="en-US" altLang="en-US" sz="1600" dirty="0">
                <a:latin typeface="Helvetica" panose="020B0604020202020204" pitchFamily="34" charset="0"/>
              </a:rPr>
              <a:t>4 KB and 16 KB pages</a:t>
            </a:r>
          </a:p>
          <a:p>
            <a:pPr>
              <a:spcBef>
                <a:spcPct val="35000"/>
              </a:spcBef>
              <a:buClr>
                <a:srgbClr val="993300"/>
              </a:buClr>
              <a:buSzPct val="110000"/>
              <a:buFont typeface="Wingdings" panose="05000000000000000000" pitchFamily="2" charset="2"/>
              <a:buChar char="§"/>
            </a:pPr>
            <a:r>
              <a:rPr kumimoji="1" lang="en-US" altLang="en-US" sz="1600" dirty="0">
                <a:latin typeface="Helvetica" panose="020B0604020202020204" pitchFamily="34" charset="0"/>
              </a:rPr>
              <a:t>1 MB and 16 MB pages (termed </a:t>
            </a:r>
            <a:r>
              <a:rPr kumimoji="1" lang="en-US" altLang="en-US" b="1" dirty="0">
                <a:solidFill>
                  <a:srgbClr val="006699"/>
                </a:solidFill>
                <a:latin typeface="+mj-lt"/>
              </a:rPr>
              <a:t>sections</a:t>
            </a:r>
            <a:r>
              <a:rPr kumimoji="1" lang="en-US" altLang="en-US" sz="1600" dirty="0">
                <a:latin typeface="Helvetica" panose="020B0604020202020204" pitchFamily="34" charset="0"/>
              </a:rPr>
              <a:t>)</a:t>
            </a:r>
          </a:p>
          <a:p>
            <a:pPr>
              <a:spcBef>
                <a:spcPct val="35000"/>
              </a:spcBef>
              <a:buClr>
                <a:srgbClr val="993300"/>
              </a:buClr>
              <a:buSzPct val="110000"/>
              <a:buFont typeface="Wingdings" panose="05000000000000000000" pitchFamily="2" charset="2"/>
              <a:buChar char="§"/>
            </a:pPr>
            <a:r>
              <a:rPr kumimoji="1" lang="en-US" altLang="en-US" sz="1600" dirty="0">
                <a:latin typeface="Helvetica" panose="020B0604020202020204" pitchFamily="34" charset="0"/>
              </a:rPr>
              <a:t>One-level paging for sections, two-level for smaller pages</a:t>
            </a:r>
          </a:p>
          <a:p>
            <a:pPr>
              <a:spcBef>
                <a:spcPct val="35000"/>
              </a:spcBef>
              <a:buClr>
                <a:srgbClr val="993300"/>
              </a:buClr>
              <a:buSzPct val="110000"/>
              <a:buFont typeface="Wingdings" panose="05000000000000000000" pitchFamily="2" charset="2"/>
              <a:buChar char="§"/>
            </a:pPr>
            <a:r>
              <a:rPr kumimoji="1" lang="en-US" altLang="en-US" sz="1600" dirty="0">
                <a:latin typeface="Helvetica" panose="020B0604020202020204" pitchFamily="34" charset="0"/>
              </a:rPr>
              <a:t>Two levels of TLBs</a:t>
            </a:r>
          </a:p>
          <a:p>
            <a:pPr marL="938212" lvl="1" indent="-285750">
              <a:spcBef>
                <a:spcPct val="35000"/>
              </a:spcBef>
              <a:buClr>
                <a:srgbClr val="CC6600"/>
              </a:buClr>
              <a:buSzPct val="110000"/>
              <a:buFont typeface="Arial" panose="020B0604020202020204" pitchFamily="34" charset="0"/>
              <a:buChar char="•"/>
            </a:pPr>
            <a:r>
              <a:rPr kumimoji="1" lang="en-US" altLang="en-US" sz="1600" dirty="0">
                <a:latin typeface="Helvetica" panose="020B0604020202020204" pitchFamily="34" charset="0"/>
              </a:rPr>
              <a:t>Outer level has two micro TLBs (one data, one instruction)</a:t>
            </a:r>
          </a:p>
          <a:p>
            <a:pPr marL="938212" lvl="1" indent="-285750">
              <a:spcBef>
                <a:spcPct val="35000"/>
              </a:spcBef>
              <a:buClr>
                <a:srgbClr val="CC6600"/>
              </a:buClr>
              <a:buSzPct val="110000"/>
              <a:buFont typeface="Arial" panose="020B0604020202020204" pitchFamily="34" charset="0"/>
              <a:buChar char="•"/>
            </a:pPr>
            <a:r>
              <a:rPr kumimoji="1" lang="en-US" altLang="en-US" sz="1600" dirty="0">
                <a:latin typeface="Helvetica" panose="020B0604020202020204" pitchFamily="34" charset="0"/>
              </a:rPr>
              <a:t>Inner is single main TLB</a:t>
            </a:r>
          </a:p>
          <a:p>
            <a:pPr marL="938212" lvl="1" indent="-285750">
              <a:spcBef>
                <a:spcPct val="35000"/>
              </a:spcBef>
              <a:buClr>
                <a:srgbClr val="CC6600"/>
              </a:buClr>
              <a:buSzPct val="110000"/>
              <a:buFont typeface="Arial" panose="020B0604020202020204" pitchFamily="34" charset="0"/>
              <a:buChar char="•"/>
            </a:pPr>
            <a:r>
              <a:rPr kumimoji="1" lang="en-US" altLang="en-US" sz="1600" dirty="0">
                <a:latin typeface="Helvetica" panose="020B0604020202020204" pitchFamily="34" charset="0"/>
              </a:rPr>
              <a:t>First inner is checked, on miss outers are checked, and on miss page table walk performed by CPU</a:t>
            </a:r>
          </a:p>
          <a:p>
            <a:pPr>
              <a:spcBef>
                <a:spcPct val="35000"/>
              </a:spcBef>
              <a:buClr>
                <a:srgbClr val="993300"/>
              </a:buClr>
              <a:buSzPct val="90000"/>
              <a:buFont typeface="Monotype Sorts" pitchFamily="-84" charset="2"/>
              <a:buChar char="n"/>
            </a:pPr>
            <a:endParaRPr kumimoji="1" lang="en-US" altLang="en-US" sz="1600" dirty="0">
              <a:latin typeface="Helvetica" panose="020B0604020202020204" pitchFamily="34" charset="0"/>
            </a:endParaRPr>
          </a:p>
        </p:txBody>
      </p:sp>
      <p:pic>
        <p:nvPicPr>
          <p:cNvPr id="69636" name="Picture 1" descr="8_26.pdf">
            <a:extLst>
              <a:ext uri="{FF2B5EF4-FFF2-40B4-BE49-F238E27FC236}">
                <a16:creationId xmlns:a16="http://schemas.microsoft.com/office/drawing/2014/main" id="{3DED2F29-124C-4CCE-957C-91AC27FE809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70400" y="1576388"/>
            <a:ext cx="4100513" cy="299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10ABA6F6-3348-45EF-9241-C55F4F2E5F83}"/>
              </a:ext>
            </a:extLst>
          </p:cNvPr>
          <p:cNvSpPr>
            <a:spLocks noGrp="1" noChangeArrowheads="1"/>
          </p:cNvSpPr>
          <p:nvPr>
            <p:ph type="ctrTitle"/>
          </p:nvPr>
        </p:nvSpPr>
        <p:spPr/>
        <p:txBody>
          <a:bodyPr/>
          <a:lstStyle/>
          <a:p>
            <a:pPr eaLnBrk="1" hangingPunct="1"/>
            <a:r>
              <a:rPr lang="en-US" altLang="en-US"/>
              <a:t>End of Chapter 9</a:t>
            </a:r>
          </a:p>
        </p:txBody>
      </p:sp>
    </p:spTree>
  </p:cSld>
  <p:clrMapOvr>
    <a:masterClrMapping/>
  </p:clrMapOvr>
</p:sld>
</file>

<file path=ppt/theme/theme1.xml><?xml version="1.0" encoding="utf-8"?>
<a:theme xmlns:a="http://schemas.openxmlformats.org/drawingml/2006/main" name="1_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13386</TotalTime>
  <Words>7290</Words>
  <Application>Microsoft Office PowerPoint</Application>
  <PresentationFormat>On-screen Show (4:3)</PresentationFormat>
  <Paragraphs>697</Paragraphs>
  <Slides>78</Slides>
  <Notes>69</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78</vt:i4>
      </vt:variant>
    </vt:vector>
  </HeadingPairs>
  <TitlesOfParts>
    <vt:vector size="96" baseType="lpstr">
      <vt:lpstr>Aptos</vt:lpstr>
      <vt:lpstr>Arial</vt:lpstr>
      <vt:lpstr>B Koodak</vt:lpstr>
      <vt:lpstr>B Nazanin</vt:lpstr>
      <vt:lpstr>Calibri</vt:lpstr>
      <vt:lpstr>Cambria Math</vt:lpstr>
      <vt:lpstr>Consolas</vt:lpstr>
      <vt:lpstr>Courier New</vt:lpstr>
      <vt:lpstr>Google Sans</vt:lpstr>
      <vt:lpstr>Helvetica</vt:lpstr>
      <vt:lpstr>Monotype Sorts</vt:lpstr>
      <vt:lpstr>Segoe UI Emoji</vt:lpstr>
      <vt:lpstr>Symbol</vt:lpstr>
      <vt:lpstr>Times New Roman</vt:lpstr>
      <vt:lpstr>Verdana</vt:lpstr>
      <vt:lpstr>Webdings</vt:lpstr>
      <vt:lpstr>Wingdings</vt:lpstr>
      <vt:lpstr>1_os-8</vt:lpstr>
      <vt:lpstr>سیستم‌عامل</vt:lpstr>
      <vt:lpstr>فصل ۹: حافظه اصلی</vt:lpstr>
      <vt:lpstr>فصل ۹: حافظه اصلی</vt:lpstr>
      <vt:lpstr>Objectives اهداف</vt:lpstr>
      <vt:lpstr>پیش زمینه</vt:lpstr>
      <vt:lpstr>محافظت</vt:lpstr>
      <vt:lpstr>محافظت از آدرس سخت‌افزاری</vt:lpstr>
      <vt:lpstr>Address Bindاتصال آدرس</vt:lpstr>
      <vt:lpstr>اتصال دستورالعمل ها در حافظه</vt:lpstr>
      <vt:lpstr>فضای آدرس فیزیکی و منطقی</vt:lpstr>
      <vt:lpstr>واحد مدیریت حافظه (ادامه)</vt:lpstr>
      <vt:lpstr>واحد مدیریت حافظه (ادامه)</vt:lpstr>
      <vt:lpstr>واحد مدیریت حافظه (ادامه)</vt:lpstr>
      <vt:lpstr> بارگزاری پویا Dynamic Loading</vt:lpstr>
      <vt:lpstr> بارگزاری پویا Dynamic Loading</vt:lpstr>
      <vt:lpstr> اتصال پویا Dynamic Linking</vt:lpstr>
      <vt:lpstr>کتابخانه های پیوندپذیر (DLL)</vt:lpstr>
      <vt:lpstr>PowerPoint Presentation</vt:lpstr>
      <vt:lpstr>Contiguous Allocation تخصیص پیوسته  </vt:lpstr>
      <vt:lpstr>تخصیص پیوسته (ادامه)</vt:lpstr>
      <vt:lpstr>Hardware Support for Relocation and Limit Registers</vt:lpstr>
      <vt:lpstr>اندازه پارتیشن متغیر</vt:lpstr>
      <vt:lpstr>اندازه پارتیشن متغیر</vt:lpstr>
      <vt:lpstr>مشکل تخصیص پویا‌ی حافظه Dynamic Storage-Allocation Problem</vt:lpstr>
      <vt:lpstr>پراکندگی Fragmentation</vt:lpstr>
      <vt:lpstr>پراکندگی Fragmentation</vt:lpstr>
      <vt:lpstr>پراکندگی (ادامه)</vt:lpstr>
      <vt:lpstr>پراکندگی (ادامه)</vt:lpstr>
      <vt:lpstr>صفحه بندی</vt:lpstr>
      <vt:lpstr>مراحل صفحه‌بندی</vt:lpstr>
      <vt:lpstr>الگوی ترجمه آدرس</vt:lpstr>
      <vt:lpstr>Paging Hardware</vt:lpstr>
      <vt:lpstr>صفحه‌بندی و نحوه ترجمه آدرس توسط MMU</vt:lpstr>
      <vt:lpstr>مدل صفحه‌بندی Paging Model برای حافظه منطقی و فیزیکی</vt:lpstr>
      <vt:lpstr>مثال صفحه بندی</vt:lpstr>
      <vt:lpstr>مثال صفحه بندی</vt:lpstr>
      <vt:lpstr>صفحه‌بندی – محاسبه پراکندگی داخلی</vt:lpstr>
      <vt:lpstr>صفحه‌بندی – محاسبه پراکندگی داخلی</vt:lpstr>
      <vt:lpstr>فریم‌های آزاد</vt:lpstr>
      <vt:lpstr>End of Essential part</vt:lpstr>
      <vt:lpstr>Implementation of Page Table</vt:lpstr>
      <vt:lpstr>Translation Look-Aside Buffer </vt:lpstr>
      <vt:lpstr>Hardware</vt:lpstr>
      <vt:lpstr>Paging Hardware With TLB</vt:lpstr>
      <vt:lpstr>Effective Access Time</vt:lpstr>
      <vt:lpstr>Memory Protection</vt:lpstr>
      <vt:lpstr>Valid (v) or Invalid (i) Bit In A Page Table</vt:lpstr>
      <vt:lpstr>Shared Pages</vt:lpstr>
      <vt:lpstr>Shared Pages Example</vt:lpstr>
      <vt:lpstr>Structure of the Page Table</vt:lpstr>
      <vt:lpstr>Hierarchical Page Tables</vt:lpstr>
      <vt:lpstr>Two-Level Paging Example</vt:lpstr>
      <vt:lpstr>Address-Translation Scheme</vt:lpstr>
      <vt:lpstr>64-bit Logical Address Space</vt:lpstr>
      <vt:lpstr>Three-level Paging Scheme</vt:lpstr>
      <vt:lpstr>Hashed Page Tables</vt:lpstr>
      <vt:lpstr>Hashed Page Table</vt:lpstr>
      <vt:lpstr>Inverted Page Table</vt:lpstr>
      <vt:lpstr>Inverted Page Table Architecture</vt:lpstr>
      <vt:lpstr>Oracle SPARC Solaris</vt:lpstr>
      <vt:lpstr>Oracle SPARC Solaris (Cont.)</vt:lpstr>
      <vt:lpstr>Swapping</vt:lpstr>
      <vt:lpstr>Swapping (Cont.)</vt:lpstr>
      <vt:lpstr>Schematic View of Swapping</vt:lpstr>
      <vt:lpstr>Context Switch Time including Swapping</vt:lpstr>
      <vt:lpstr>Context Switch Time and Swapping (Cont.)</vt:lpstr>
      <vt:lpstr>Swapping on Mobile Systems</vt:lpstr>
      <vt:lpstr>Swapping with Paging</vt:lpstr>
      <vt:lpstr>Example: The Intel 32 and 64-bit Architectures</vt:lpstr>
      <vt:lpstr>Example: The Intel IA-32 Architecture</vt:lpstr>
      <vt:lpstr>Example: The Intel IA-32 Architecture (Cont.)</vt:lpstr>
      <vt:lpstr>Logical to Physical Address Translation in IA-32</vt:lpstr>
      <vt:lpstr>Intel IA-32 Segmentation</vt:lpstr>
      <vt:lpstr>Intel IA-32 Paging Architecture</vt:lpstr>
      <vt:lpstr>Intel IA-32 Page Address Extensions</vt:lpstr>
      <vt:lpstr>Intel x86-64</vt:lpstr>
      <vt:lpstr>Example: ARM Architecture</vt:lpstr>
      <vt:lpstr>End of Chapter 9</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A Taghinezhad</cp:lastModifiedBy>
  <cp:revision>431</cp:revision>
  <cp:lastPrinted>2013-09-30T19:34:56Z</cp:lastPrinted>
  <dcterms:created xsi:type="dcterms:W3CDTF">2011-01-13T23:43:38Z</dcterms:created>
  <dcterms:modified xsi:type="dcterms:W3CDTF">2026-06-14T11:29:59Z</dcterms:modified>
</cp:coreProperties>
</file>