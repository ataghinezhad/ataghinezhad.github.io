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68"/>
  </p:notesMasterIdLst>
  <p:handoutMasterIdLst>
    <p:handoutMasterId r:id="rId69"/>
  </p:handoutMasterIdLst>
  <p:sldIdLst>
    <p:sldId id="405" r:id="rId2"/>
    <p:sldId id="445" r:id="rId3"/>
    <p:sldId id="446" r:id="rId4"/>
    <p:sldId id="338" r:id="rId5"/>
    <p:sldId id="339" r:id="rId6"/>
    <p:sldId id="340" r:id="rId7"/>
    <p:sldId id="341" r:id="rId8"/>
    <p:sldId id="343" r:id="rId9"/>
    <p:sldId id="440" r:id="rId10"/>
    <p:sldId id="342" r:id="rId11"/>
    <p:sldId id="447" r:id="rId12"/>
    <p:sldId id="448" r:id="rId13"/>
    <p:sldId id="347" r:id="rId14"/>
    <p:sldId id="450" r:id="rId15"/>
    <p:sldId id="453" r:id="rId16"/>
    <p:sldId id="454" r:id="rId17"/>
    <p:sldId id="455" r:id="rId18"/>
    <p:sldId id="352" r:id="rId19"/>
    <p:sldId id="457" r:id="rId20"/>
    <p:sldId id="458" r:id="rId21"/>
    <p:sldId id="460" r:id="rId22"/>
    <p:sldId id="356" r:id="rId23"/>
    <p:sldId id="357" r:id="rId24"/>
    <p:sldId id="358" r:id="rId25"/>
    <p:sldId id="359" r:id="rId26"/>
    <p:sldId id="360" r:id="rId27"/>
    <p:sldId id="470" r:id="rId28"/>
    <p:sldId id="362" r:id="rId29"/>
    <p:sldId id="471" r:id="rId30"/>
    <p:sldId id="363" r:id="rId31"/>
    <p:sldId id="364" r:id="rId32"/>
    <p:sldId id="365" r:id="rId33"/>
    <p:sldId id="366" r:id="rId34"/>
    <p:sldId id="367" r:id="rId35"/>
    <p:sldId id="461" r:id="rId36"/>
    <p:sldId id="369" r:id="rId37"/>
    <p:sldId id="370" r:id="rId38"/>
    <p:sldId id="371" r:id="rId39"/>
    <p:sldId id="372" r:id="rId40"/>
    <p:sldId id="373" r:id="rId41"/>
    <p:sldId id="374" r:id="rId42"/>
    <p:sldId id="375" r:id="rId43"/>
    <p:sldId id="376" r:id="rId44"/>
    <p:sldId id="377" r:id="rId45"/>
    <p:sldId id="378" r:id="rId46"/>
    <p:sldId id="379" r:id="rId47"/>
    <p:sldId id="474" r:id="rId48"/>
    <p:sldId id="475" r:id="rId49"/>
    <p:sldId id="380" r:id="rId50"/>
    <p:sldId id="381" r:id="rId51"/>
    <p:sldId id="382" r:id="rId52"/>
    <p:sldId id="383" r:id="rId53"/>
    <p:sldId id="384" r:id="rId54"/>
    <p:sldId id="385" r:id="rId55"/>
    <p:sldId id="462" r:id="rId56"/>
    <p:sldId id="464" r:id="rId57"/>
    <p:sldId id="465" r:id="rId58"/>
    <p:sldId id="466" r:id="rId59"/>
    <p:sldId id="467" r:id="rId60"/>
    <p:sldId id="468" r:id="rId61"/>
    <p:sldId id="469" r:id="rId62"/>
    <p:sldId id="393" r:id="rId63"/>
    <p:sldId id="394" r:id="rId64"/>
    <p:sldId id="473" r:id="rId65"/>
    <p:sldId id="472" r:id="rId66"/>
    <p:sldId id="395" r:id="rId67"/>
  </p:sldIdLst>
  <p:sldSz cx="9144000" cy="6858000" type="screen4x3"/>
  <p:notesSz cx="6997700" cy="9283700"/>
  <p:custShowLst>
    <p:custShow name="Custom Show 1" id="0">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73" autoAdjust="0"/>
    <p:restoredTop sz="79954" autoAdjust="0"/>
  </p:normalViewPr>
  <p:slideViewPr>
    <p:cSldViewPr snapToGrid="0">
      <p:cViewPr varScale="1">
        <p:scale>
          <a:sx n="93" d="100"/>
          <a:sy n="93" d="100"/>
        </p:scale>
        <p:origin x="1992" y="78"/>
      </p:cViewPr>
      <p:guideLst>
        <p:guide orient="horz" pos="707"/>
        <p:guide pos="576"/>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20204" pitchFamily="34" charset="0"/>
                <a:ea typeface="MS PGothic" panose="020B0600070205080204" pitchFamily="34" charset="-128"/>
              </a:defRPr>
            </a:lvl1pPr>
            <a:lvl2pPr marL="742950" indent="-285750" defTabSz="879475">
              <a:defRPr sz="1600">
                <a:solidFill>
                  <a:schemeClr val="tx1"/>
                </a:solidFill>
                <a:latin typeface="Helvetica" panose="020B0604020202020204" pitchFamily="34" charset="0"/>
                <a:ea typeface="MS PGothic" panose="020B0600070205080204" pitchFamily="34" charset="-128"/>
              </a:defRPr>
            </a:lvl2pPr>
            <a:lvl3pPr marL="1143000" indent="-228600" defTabSz="879475">
              <a:defRPr sz="1600">
                <a:solidFill>
                  <a:schemeClr val="tx1"/>
                </a:solidFill>
                <a:latin typeface="Helvetica" panose="020B0604020202020204" pitchFamily="34" charset="0"/>
                <a:ea typeface="MS PGothic" panose="020B0600070205080204" pitchFamily="34" charset="-128"/>
              </a:defRPr>
            </a:lvl3pPr>
            <a:lvl4pPr marL="1600200" indent="-228600" defTabSz="879475">
              <a:defRPr sz="1600">
                <a:solidFill>
                  <a:schemeClr val="tx1"/>
                </a:solidFill>
                <a:latin typeface="Helvetica" panose="020B0604020202020204" pitchFamily="34" charset="0"/>
                <a:ea typeface="MS PGothic" panose="020B0600070205080204" pitchFamily="34" charset="-128"/>
              </a:defRPr>
            </a:lvl4pPr>
            <a:lvl5pPr marL="2057400" indent="-228600" defTabSz="879475">
              <a:defRPr sz="1600">
                <a:solidFill>
                  <a:schemeClr val="tx1"/>
                </a:solidFill>
                <a:latin typeface="Helvetica" panose="020B060402020202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351C3CC-85E9-4EB0-AE84-86EE2CEAA304}" type="slidenum">
              <a:rPr lang="en-US" altLang="en-US" sz="1200">
                <a:latin typeface="Times New Roman" panose="02020603050405020304" pitchFamily="18" charset="0"/>
              </a:rPr>
              <a:pPr/>
              <a:t>2</a:t>
            </a:fld>
            <a:endParaRPr lang="en-US" altLang="en-US" sz="1200">
              <a:latin typeface="Times New Roman" panose="02020603050405020304" pitchFamily="18" charset="0"/>
            </a:endParaRPr>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xfrm>
            <a:off x="931863" y="4410075"/>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1E56AE75-B906-4BBE-9F19-01C6ABDA8665}" type="slidenum">
              <a:rPr lang="en-US" altLang="en-US" sz="1200"/>
              <a:pPr/>
              <a:t>3</a:t>
            </a:fld>
            <a:endParaRPr lang="en-US" altLang="en-US" sz="1200"/>
          </a:p>
        </p:txBody>
      </p:sp>
      <p:sp>
        <p:nvSpPr>
          <p:cNvPr id="18435" name="Rectangle 2"/>
          <p:cNvSpPr>
            <a:spLocks noChangeArrowheads="1"/>
          </p:cNvSpPr>
          <p:nvPr/>
        </p:nvSpPr>
        <p:spPr bwMode="auto">
          <a:xfrm>
            <a:off x="3965576" y="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6" name="Rectangle 3"/>
          <p:cNvSpPr>
            <a:spLocks noChangeArrowheads="1"/>
          </p:cNvSpPr>
          <p:nvPr/>
        </p:nvSpPr>
        <p:spPr bwMode="auto">
          <a:xfrm>
            <a:off x="3965576" y="882015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2058" tIns="45221" rIns="92058" bIns="45221" anchor="b"/>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r"/>
            <a:r>
              <a:rPr lang="en-US" altLang="en-US" sz="1300">
                <a:latin typeface="Times New Roman" panose="02020603050405020304" pitchFamily="18" charset="0"/>
              </a:rPr>
              <a:t>1</a:t>
            </a:r>
          </a:p>
        </p:txBody>
      </p:sp>
      <p:sp>
        <p:nvSpPr>
          <p:cNvPr id="18437" name="Rectangle 4"/>
          <p:cNvSpPr>
            <a:spLocks noChangeArrowheads="1"/>
          </p:cNvSpPr>
          <p:nvPr/>
        </p:nvSpPr>
        <p:spPr bwMode="auto">
          <a:xfrm>
            <a:off x="1" y="882015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8" name="Rectangle 5"/>
          <p:cNvSpPr>
            <a:spLocks noChangeArrowheads="1"/>
          </p:cNvSpPr>
          <p:nvPr/>
        </p:nvSpPr>
        <p:spPr bwMode="auto">
          <a:xfrm>
            <a:off x="1" y="0"/>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nchor="ct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endParaRPr lang="en-US" altLang="en-US"/>
          </a:p>
        </p:txBody>
      </p:sp>
      <p:sp>
        <p:nvSpPr>
          <p:cNvPr id="18439" name="Rectangle 6"/>
          <p:cNvSpPr>
            <a:spLocks noGrp="1" noRot="1" noChangeAspect="1" noChangeArrowheads="1" noTextEdit="1"/>
          </p:cNvSpPr>
          <p:nvPr>
            <p:ph type="sldImg"/>
          </p:nvPr>
        </p:nvSpPr>
        <p:spPr>
          <a:xfrm>
            <a:off x="1187450" y="703263"/>
            <a:ext cx="4622800" cy="3467100"/>
          </a:xfrm>
          <a:ln w="12700" cap="flat"/>
        </p:spPr>
      </p:sp>
      <p:sp>
        <p:nvSpPr>
          <p:cNvPr id="18440" name="Rectangle 7"/>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58" tIns="45221" rIns="92058" bIns="45221" anchor="ctr"/>
          <a:lstStyle/>
          <a:p>
            <a:endParaRPr lang="en-US" altLang="en-US">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p:spPr>
        <p:txBody>
          <a:bodyPr/>
          <a:lstStyle/>
          <a:p>
            <a:fld id="{73449113-501E-40AA-8204-F51F280D2CC8}" type="slidenum">
              <a:rPr lang="en-US" altLang="en-US" smtClean="0"/>
              <a:pPr/>
              <a:t>4</a:t>
            </a:fld>
            <a:endParaRPr lang="en-US" altLang="en-US"/>
          </a:p>
        </p:txBody>
      </p:sp>
      <p:sp>
        <p:nvSpPr>
          <p:cNvPr id="58371" name="Rectangle 2"/>
          <p:cNvSpPr>
            <a:spLocks noGrp="1" noRot="1" noChangeAspect="1" noChangeArrowheads="1" noTextEdit="1"/>
          </p:cNvSpPr>
          <p:nvPr>
            <p:ph type="sldImg"/>
          </p:nvPr>
        </p:nvSpPr>
        <p:spPr>
          <a:xfrm>
            <a:off x="1187450" y="703263"/>
            <a:ext cx="4622800" cy="3467100"/>
          </a:xfrm>
          <a:ln/>
        </p:spPr>
      </p:sp>
      <p:sp>
        <p:nvSpPr>
          <p:cNvPr id="58372" name="Rectangle 3"/>
          <p:cNvSpPr>
            <a:spLocks noGrp="1" noChangeArrowheads="1"/>
          </p:cNvSpPr>
          <p:nvPr>
            <p:ph type="body" idx="1"/>
          </p:nvPr>
        </p:nvSpPr>
        <p:spPr>
          <a:xfrm>
            <a:off x="932400" y="4410466"/>
            <a:ext cx="5132902" cy="4175934"/>
          </a:xfrm>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5</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6</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endParaRPr lang="en-US" altLang="en-US">
              <a:latin typeface="Times New Roman" pitchFamily="18" charset="0"/>
              <a:ea typeface="ＭＳ Ｐゴシック" pitchFamily="34"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7</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8</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3979B905-280D-44BD-8E31-AB90F5734834}" type="slidenum">
              <a:rPr lang="en-US" altLang="en-US" smtClean="0"/>
              <a:pPr/>
              <a:t>9</a:t>
            </a:fld>
            <a:endParaRPr lang="en-US" alt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p:spPr>
        <p:txBody>
          <a:bodyPr/>
          <a:lstStyle/>
          <a:p>
            <a:r>
              <a:rPr lang="en-US" dirty="0"/>
              <a:t>course(</a:t>
            </a:r>
            <a:r>
              <a:rPr lang="en-US" b="1" i="1" u="sng" dirty="0" err="1"/>
              <a:t>course_id</a:t>
            </a:r>
            <a:r>
              <a:rPr lang="en-US" dirty="0"/>
              <a:t>, title, dept_name, credits)</a:t>
            </a:r>
          </a:p>
          <a:p>
            <a:r>
              <a:rPr lang="en-US" dirty="0"/>
              <a:t>student(</a:t>
            </a:r>
            <a:r>
              <a:rPr lang="en-US" b="1" i="1" u="sng" dirty="0"/>
              <a:t>ID</a:t>
            </a:r>
            <a:r>
              <a:rPr lang="en-US" dirty="0"/>
              <a:t>, name, dept_name,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endParaRPr lang="en-US" dirty="0"/>
          </a:p>
          <a:p>
            <a:r>
              <a:rPr lang="en-US" dirty="0"/>
              <a:t> </a:t>
            </a:r>
            <a:r>
              <a:rPr lang="en-US" sz="1200" b="1" dirty="0"/>
              <a:t> select </a:t>
            </a:r>
            <a:r>
              <a:rPr lang="en-US" sz="1200" i="1" dirty="0"/>
              <a:t>name</a:t>
            </a:r>
            <a:r>
              <a:rPr lang="en-US" sz="1200" dirty="0"/>
              <a:t>, </a:t>
            </a:r>
            <a:r>
              <a:rPr lang="en-US" sz="1200" i="1" dirty="0"/>
              <a:t>title</a:t>
            </a:r>
            <a:br>
              <a:rPr lang="en-US" sz="1200" i="1" dirty="0"/>
            </a:br>
            <a:r>
              <a:rPr lang="en-US" sz="1200" i="1" dirty="0"/>
              <a:t>   </a:t>
            </a:r>
            <a:r>
              <a:rPr lang="en-US" sz="1200" b="1" dirty="0"/>
              <a:t>from </a:t>
            </a:r>
            <a:r>
              <a:rPr lang="en-US" sz="1200" i="1" dirty="0"/>
              <a:t>student </a:t>
            </a:r>
            <a:r>
              <a:rPr lang="en-US" sz="1200" b="1" dirty="0"/>
              <a:t>natural join </a:t>
            </a:r>
            <a:r>
              <a:rPr lang="en-US" sz="1200" i="1" dirty="0"/>
              <a:t>takes </a:t>
            </a:r>
            <a:r>
              <a:rPr lang="en-US" sz="1200" b="1" dirty="0"/>
              <a:t>natural join </a:t>
            </a:r>
            <a:r>
              <a:rPr lang="en-US" sz="1200" i="1" dirty="0"/>
              <a:t>course</a:t>
            </a:r>
            <a:r>
              <a:rPr lang="en-US" sz="1200" dirty="0"/>
              <a:t>; -&gt; </a:t>
            </a:r>
            <a:r>
              <a:rPr lang="en-US" dirty="0"/>
              <a:t>SELECT student.name, </a:t>
            </a:r>
            <a:r>
              <a:rPr lang="en-US" dirty="0" err="1"/>
              <a:t>course.title</a:t>
            </a:r>
            <a:r>
              <a:rPr lang="en-US" dirty="0"/>
              <a:t> FROM student, takes, course WHERE student.ID = takes.ID AND </a:t>
            </a:r>
            <a:r>
              <a:rPr lang="en-US" dirty="0" err="1"/>
              <a:t>takes.course_id</a:t>
            </a:r>
            <a:r>
              <a:rPr lang="en-US" dirty="0"/>
              <a:t> = </a:t>
            </a:r>
            <a:r>
              <a:rPr lang="en-US" dirty="0" err="1"/>
              <a:t>course.course_id</a:t>
            </a:r>
            <a:r>
              <a:rPr lang="en-US" dirty="0"/>
              <a:t>; and </a:t>
            </a:r>
            <a:r>
              <a:rPr lang="en-US" dirty="0" err="1"/>
              <a:t>student.dept_name</a:t>
            </a:r>
            <a:r>
              <a:rPr lang="en-US" dirty="0"/>
              <a:t>=</a:t>
            </a:r>
            <a:r>
              <a:rPr lang="en-US" dirty="0" err="1"/>
              <a:t>course.dempt_name</a:t>
            </a:r>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10</a:t>
            </a:fld>
            <a:endParaRPr lang="en-US" altLang="en-US"/>
          </a:p>
        </p:txBody>
      </p:sp>
    </p:spTree>
    <p:extLst>
      <p:ext uri="{BB962C8B-B14F-4D97-AF65-F5344CB8AC3E}">
        <p14:creationId xmlns:p14="http://schemas.microsoft.com/office/powerpoint/2010/main" val="10005919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787">
              <a:defRPr sz="1600">
                <a:solidFill>
                  <a:schemeClr val="tx1"/>
                </a:solidFill>
                <a:latin typeface="Helvetica" panose="020B0604020202020204" pitchFamily="34" charset="0"/>
                <a:ea typeface="MS PGothic" panose="020B0600070205080204" pitchFamily="34" charset="-128"/>
              </a:defRPr>
            </a:lvl1pPr>
            <a:lvl2pPr marL="741761" indent="-285293" defTabSz="928787">
              <a:defRPr sz="1600">
                <a:solidFill>
                  <a:schemeClr val="tx1"/>
                </a:solidFill>
                <a:latin typeface="Helvetica" panose="020B0604020202020204" pitchFamily="34" charset="0"/>
                <a:ea typeface="MS PGothic" panose="020B0600070205080204" pitchFamily="34" charset="-128"/>
              </a:defRPr>
            </a:lvl2pPr>
            <a:lvl3pPr marL="1141171" indent="-228234" defTabSz="928787">
              <a:defRPr sz="1600">
                <a:solidFill>
                  <a:schemeClr val="tx1"/>
                </a:solidFill>
                <a:latin typeface="Helvetica" panose="020B0604020202020204" pitchFamily="34" charset="0"/>
                <a:ea typeface="MS PGothic" panose="020B0600070205080204" pitchFamily="34" charset="-128"/>
              </a:defRPr>
            </a:lvl3pPr>
            <a:lvl4pPr marL="1597640" indent="-228234" defTabSz="928787">
              <a:defRPr sz="1600">
                <a:solidFill>
                  <a:schemeClr val="tx1"/>
                </a:solidFill>
                <a:latin typeface="Helvetica" panose="020B0604020202020204" pitchFamily="34" charset="0"/>
                <a:ea typeface="MS PGothic" panose="020B0600070205080204" pitchFamily="34" charset="-128"/>
              </a:defRPr>
            </a:lvl4pPr>
            <a:lvl5pPr marL="2054108" indent="-228234" defTabSz="928787">
              <a:defRPr sz="1600">
                <a:solidFill>
                  <a:schemeClr val="tx1"/>
                </a:solidFill>
                <a:latin typeface="Helvetica" panose="020B0604020202020204" pitchFamily="34" charset="0"/>
                <a:ea typeface="MS PGothic" panose="020B0600070205080204" pitchFamily="34" charset="-128"/>
              </a:defRPr>
            </a:lvl5pPr>
            <a:lvl6pPr marL="2510577"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67045"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3514"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79982"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7174961-0CF3-42A6-8222-18520414FAD4}" type="slidenum">
              <a:rPr lang="en-US" altLang="en-US" sz="1200"/>
              <a:pPr/>
              <a:t>11</a:t>
            </a:fld>
            <a:endParaRPr lang="en-US" altLang="en-US" sz="1200" dirty="0"/>
          </a:p>
        </p:txBody>
      </p:sp>
      <p:sp>
        <p:nvSpPr>
          <p:cNvPr id="8194" name="Rectangle 2"/>
          <p:cNvSpPr>
            <a:spLocks noGrp="1" noRot="1" noChangeAspect="1" noChangeArrowheads="1" noTextEdit="1"/>
          </p:cNvSpPr>
          <p:nvPr>
            <p:ph type="sldImg"/>
          </p:nvPr>
        </p:nvSpPr>
        <p:spPr>
          <a:xfrm>
            <a:off x="1177925" y="695325"/>
            <a:ext cx="4641850" cy="3481388"/>
          </a:xfrm>
          <a:ln/>
        </p:spPr>
      </p:sp>
      <p:sp>
        <p:nvSpPr>
          <p:cNvPr id="8195" name="Rectangle 3"/>
          <p:cNvSpPr>
            <a:spLocks noGrp="1" noChangeArrowheads="1"/>
          </p:cNvSpPr>
          <p:nvPr>
            <p:ph type="body" idx="1"/>
          </p:nvPr>
        </p:nvSpPr>
        <p:spPr>
          <a:xfrm>
            <a:off x="931759" y="4410392"/>
            <a:ext cx="5134182"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Explanation:</a:t>
            </a:r>
          </a:p>
          <a:p>
            <a:pPr>
              <a:buFont typeface="Arial" panose="020B0604020202020204" pitchFamily="34" charset="0"/>
              <a:buChar char="•"/>
            </a:pPr>
            <a:r>
              <a:rPr lang="en-US" b="1" dirty="0"/>
              <a:t>NATURAL JOIN (student NATURAL JOIN takes)</a:t>
            </a:r>
            <a:r>
              <a:rPr lang="en-US" dirty="0"/>
              <a:t>: This part combines the student and takes tables based on their common columns, which is typically ID since both tables have that column.</a:t>
            </a:r>
          </a:p>
          <a:p>
            <a:pPr>
              <a:buFont typeface="Arial" panose="020B0604020202020204" pitchFamily="34" charset="0"/>
              <a:buChar char="•"/>
            </a:pPr>
            <a:r>
              <a:rPr lang="en-US" b="1" dirty="0"/>
              <a:t>JOIN course USING (</a:t>
            </a:r>
            <a:r>
              <a:rPr lang="en-US" b="1" dirty="0" err="1"/>
              <a:t>course_id</a:t>
            </a:r>
            <a:r>
              <a:rPr lang="en-US" b="1" dirty="0"/>
              <a:t>)</a:t>
            </a:r>
            <a:r>
              <a:rPr lang="en-US" dirty="0"/>
              <a:t>: This part then joins the result of the natural join with the course table, specifically using the </a:t>
            </a:r>
            <a:r>
              <a:rPr lang="en-US" dirty="0" err="1"/>
              <a:t>course_id</a:t>
            </a:r>
            <a:r>
              <a:rPr lang="en-US" dirty="0"/>
              <a:t> column.</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4151512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787">
              <a:defRPr sz="1600">
                <a:solidFill>
                  <a:schemeClr val="tx1"/>
                </a:solidFill>
                <a:latin typeface="Helvetica" panose="020B0604020202020204" pitchFamily="34" charset="0"/>
                <a:ea typeface="MS PGothic" panose="020B0600070205080204" pitchFamily="34" charset="-128"/>
              </a:defRPr>
            </a:lvl1pPr>
            <a:lvl2pPr marL="741761" indent="-285293" defTabSz="928787">
              <a:defRPr sz="1600">
                <a:solidFill>
                  <a:schemeClr val="tx1"/>
                </a:solidFill>
                <a:latin typeface="Helvetica" panose="020B0604020202020204" pitchFamily="34" charset="0"/>
                <a:ea typeface="MS PGothic" panose="020B0600070205080204" pitchFamily="34" charset="-128"/>
              </a:defRPr>
            </a:lvl2pPr>
            <a:lvl3pPr marL="1141171" indent="-228234" defTabSz="928787">
              <a:defRPr sz="1600">
                <a:solidFill>
                  <a:schemeClr val="tx1"/>
                </a:solidFill>
                <a:latin typeface="Helvetica" panose="020B0604020202020204" pitchFamily="34" charset="0"/>
                <a:ea typeface="MS PGothic" panose="020B0600070205080204" pitchFamily="34" charset="-128"/>
              </a:defRPr>
            </a:lvl3pPr>
            <a:lvl4pPr marL="1597640" indent="-228234" defTabSz="928787">
              <a:defRPr sz="1600">
                <a:solidFill>
                  <a:schemeClr val="tx1"/>
                </a:solidFill>
                <a:latin typeface="Helvetica" panose="020B0604020202020204" pitchFamily="34" charset="0"/>
                <a:ea typeface="MS PGothic" panose="020B0600070205080204" pitchFamily="34" charset="-128"/>
              </a:defRPr>
            </a:lvl4pPr>
            <a:lvl5pPr marL="2054108" indent="-228234" defTabSz="928787">
              <a:defRPr sz="1600">
                <a:solidFill>
                  <a:schemeClr val="tx1"/>
                </a:solidFill>
                <a:latin typeface="Helvetica" panose="020B0604020202020204" pitchFamily="34" charset="0"/>
                <a:ea typeface="MS PGothic" panose="020B0600070205080204" pitchFamily="34" charset="-128"/>
              </a:defRPr>
            </a:lvl5pPr>
            <a:lvl6pPr marL="2510577"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67045"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3514"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79982" indent="-228234" defTabSz="928787"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7174961-0CF3-42A6-8222-18520414FAD4}" type="slidenum">
              <a:rPr lang="en-US" altLang="en-US" sz="1200"/>
              <a:pPr/>
              <a:t>12</a:t>
            </a:fld>
            <a:endParaRPr lang="en-US" altLang="en-US" sz="1200" dirty="0"/>
          </a:p>
        </p:txBody>
      </p:sp>
      <p:sp>
        <p:nvSpPr>
          <p:cNvPr id="8194" name="Rectangle 2"/>
          <p:cNvSpPr>
            <a:spLocks noGrp="1" noRot="1" noChangeAspect="1" noChangeArrowheads="1" noTextEdit="1"/>
          </p:cNvSpPr>
          <p:nvPr>
            <p:ph type="sldImg"/>
          </p:nvPr>
        </p:nvSpPr>
        <p:spPr>
          <a:xfrm>
            <a:off x="1177925" y="695325"/>
            <a:ext cx="4641850" cy="3481388"/>
          </a:xfrm>
          <a:ln/>
        </p:spPr>
      </p:sp>
      <p:sp>
        <p:nvSpPr>
          <p:cNvPr id="8195" name="Rectangle 3"/>
          <p:cNvSpPr>
            <a:spLocks noGrp="1" noChangeArrowheads="1"/>
          </p:cNvSpPr>
          <p:nvPr>
            <p:ph type="body" idx="1"/>
          </p:nvPr>
        </p:nvSpPr>
        <p:spPr>
          <a:xfrm>
            <a:off x="931759" y="4410392"/>
            <a:ext cx="5134182" cy="417734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USING clause is used to specify a column or set of columns that should be used for the join. It is more concise and easier to read when you have columns with the same name in both tables.</a:t>
            </a:r>
          </a:p>
          <a:p>
            <a:r>
              <a:rPr lang="en-US" dirty="0"/>
              <a:t>Automatically ensures that the joined columns have the same name in the resulting dataset. ‘</a:t>
            </a:r>
          </a:p>
          <a:p>
            <a:r>
              <a:rPr lang="en-US" dirty="0"/>
              <a:t>	</a:t>
            </a:r>
            <a:r>
              <a:rPr lang="en-US" b="1" i="1" dirty="0"/>
              <a:t>SELECT name, title FROM (student NATURAL JOIN takes) JOIN course USING (</a:t>
            </a:r>
            <a:r>
              <a:rPr lang="en-US" b="1" i="1" dirty="0" err="1"/>
              <a:t>course_id</a:t>
            </a:r>
            <a:r>
              <a:rPr lang="en-US" b="1" i="1" dirty="0"/>
              <a:t>);</a:t>
            </a:r>
            <a:endParaRPr lang="en-US" altLang="en-US" b="1" i="1" dirty="0">
              <a:latin typeface="Times New Roman" panose="02020603050405020304" pitchFamily="18" charset="0"/>
            </a:endParaRPr>
          </a:p>
          <a:p>
            <a:endParaRPr lang="en-US" altLang="en-US" dirty="0">
              <a:latin typeface="Times New Roman" panose="02020603050405020304" pitchFamily="18" charset="0"/>
            </a:endParaRPr>
          </a:p>
          <a:p>
            <a:r>
              <a:rPr lang="en-US" dirty="0"/>
              <a:t>The ON clause is more flexible and powerful, allowing you to specify complex join conditions.</a:t>
            </a:r>
            <a:endParaRPr lang="en-US" dirty="0">
              <a:latin typeface="Times New Roman" panose="02020603050405020304" pitchFamily="18" charset="0"/>
            </a:endParaRPr>
          </a:p>
          <a:p>
            <a:r>
              <a:rPr lang="en-US" dirty="0"/>
              <a:t>	</a:t>
            </a:r>
            <a:r>
              <a:rPr lang="en-US" b="1" i="1" dirty="0"/>
              <a:t>SELECT student.name, </a:t>
            </a:r>
            <a:r>
              <a:rPr lang="en-US" b="1" i="1" dirty="0" err="1"/>
              <a:t>course.title</a:t>
            </a:r>
            <a:r>
              <a:rPr lang="en-US" b="1" i="1" dirty="0"/>
              <a:t> FROM student JOIN takes ON student.ID = takes.ID JOIN course ON </a:t>
            </a:r>
            <a:r>
              <a:rPr lang="en-US" b="1" i="1" dirty="0" err="1"/>
              <a:t>takes.course_id</a:t>
            </a:r>
            <a:r>
              <a:rPr lang="en-US" b="1" i="1" dirty="0"/>
              <a:t> = </a:t>
            </a:r>
            <a:r>
              <a:rPr lang="en-US" b="1" i="1" dirty="0" err="1"/>
              <a:t>course.course_id</a:t>
            </a:r>
            <a:r>
              <a:rPr lang="en-US" b="1" i="1" dirty="0"/>
              <a:t>;</a:t>
            </a:r>
            <a:endParaRPr lang="en-US" altLang="en-US" b="1" i="1" dirty="0">
              <a:latin typeface="Times New Roman" panose="02020603050405020304" pitchFamily="18" charset="0"/>
            </a:endParaRPr>
          </a:p>
        </p:txBody>
      </p:sp>
    </p:spTree>
    <p:extLst>
      <p:ext uri="{BB962C8B-B14F-4D97-AF65-F5344CB8AC3E}">
        <p14:creationId xmlns:p14="http://schemas.microsoft.com/office/powerpoint/2010/main" val="41515122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13</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14</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15</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16</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17</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EE474B3-6199-4C51-85D8-10EAF40AA925}" type="slidenum">
              <a:rPr lang="en-US" altLang="en-US" sz="1200"/>
              <a:pPr/>
              <a:t>18</a:t>
            </a:fld>
            <a:endParaRPr lang="en-US" altLang="en-US" sz="1200"/>
          </a:p>
        </p:txBody>
      </p:sp>
      <p:sp>
        <p:nvSpPr>
          <p:cNvPr id="32771" name="Rectangle 2"/>
          <p:cNvSpPr>
            <a:spLocks noGrp="1" noRot="1" noChangeAspect="1" noChangeArrowheads="1" noTextEdit="1"/>
          </p:cNvSpPr>
          <p:nvPr>
            <p:ph type="sldImg"/>
          </p:nvPr>
        </p:nvSpPr>
        <p:spPr>
          <a:xfrm>
            <a:off x="1187450" y="703263"/>
            <a:ext cx="4622800" cy="3467100"/>
          </a:xfrm>
          <a:ln/>
        </p:spPr>
      </p:sp>
      <p:sp>
        <p:nvSpPr>
          <p:cNvPr id="32772"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19</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a:t>room</a:t>
            </a:r>
            <a:r>
              <a:rPr lang="en-US" b="1" dirty="0"/>
              <a:t>_number</a:t>
            </a:r>
            <a:r>
              <a:rPr lang="en-US" dirty="0"/>
              <a:t>, capacity)</a:t>
            </a:r>
          </a:p>
          <a:p>
            <a:r>
              <a:rPr lang="en-US" dirty="0"/>
              <a:t>department(</a:t>
            </a:r>
            <a:r>
              <a:rPr lang="en-US" b="1" i="1" u="sng" dirty="0"/>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room_number,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dept_name,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latin typeface="Times New Roman" panose="02020603050405020304" pitchFamily="18"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20</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85DDB2F-C4B9-42E9-A66C-BCA14058EE6E}" type="slidenum">
              <a:rPr lang="en-US" altLang="en-US" sz="1200"/>
              <a:pPr/>
              <a:t>21</a:t>
            </a:fld>
            <a:endParaRPr lang="en-US" altLang="en-US" sz="1200"/>
          </a:p>
        </p:txBody>
      </p:sp>
      <p:sp>
        <p:nvSpPr>
          <p:cNvPr id="24579" name="Rectangle 2"/>
          <p:cNvSpPr>
            <a:spLocks noGrp="1" noRot="1" noChangeAspect="1" noChangeArrowheads="1" noTextEdit="1"/>
          </p:cNvSpPr>
          <p:nvPr>
            <p:ph type="sldImg"/>
          </p:nvPr>
        </p:nvSpPr>
        <p:spPr>
          <a:xfrm>
            <a:off x="1187450" y="703263"/>
            <a:ext cx="4622800" cy="3467100"/>
          </a:xfrm>
          <a:ln/>
        </p:spPr>
      </p:sp>
      <p:sp>
        <p:nvSpPr>
          <p:cNvPr id="24580"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97D0D930-A2D8-469D-B052-FB82FC88E015}" type="slidenum">
              <a:rPr lang="en-US" altLang="en-US" sz="1200"/>
              <a:pPr/>
              <a:t>22</a:t>
            </a:fld>
            <a:endParaRPr lang="en-US" altLang="en-US" sz="1200"/>
          </a:p>
        </p:txBody>
      </p:sp>
      <p:sp>
        <p:nvSpPr>
          <p:cNvPr id="38915" name="Rectangle 2"/>
          <p:cNvSpPr>
            <a:spLocks noGrp="1" noRot="1" noChangeAspect="1" noChangeArrowheads="1" noTextEdit="1"/>
          </p:cNvSpPr>
          <p:nvPr>
            <p:ph type="sldImg"/>
          </p:nvPr>
        </p:nvSpPr>
        <p:spPr>
          <a:xfrm>
            <a:off x="1177925" y="695325"/>
            <a:ext cx="4641850" cy="3481388"/>
          </a:xfrm>
          <a:ln/>
        </p:spPr>
      </p:sp>
      <p:sp>
        <p:nvSpPr>
          <p:cNvPr id="3891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04C8304-CA7E-484A-A59E-D08422FFDCB2}" type="slidenum">
              <a:rPr lang="en-US" altLang="en-US" sz="1200"/>
              <a:pPr/>
              <a:t>23</a:t>
            </a:fld>
            <a:endParaRPr lang="en-US" altLang="en-US" sz="1200"/>
          </a:p>
        </p:txBody>
      </p:sp>
      <p:sp>
        <p:nvSpPr>
          <p:cNvPr id="40963" name="Rectangle 2"/>
          <p:cNvSpPr>
            <a:spLocks noGrp="1" noRot="1" noChangeAspect="1" noChangeArrowheads="1" noTextEdit="1"/>
          </p:cNvSpPr>
          <p:nvPr>
            <p:ph type="sldImg"/>
          </p:nvPr>
        </p:nvSpPr>
        <p:spPr>
          <a:xfrm>
            <a:off x="1177925" y="695325"/>
            <a:ext cx="4641850" cy="3481388"/>
          </a:xfrm>
          <a:ln/>
        </p:spPr>
      </p:sp>
      <p:sp>
        <p:nvSpPr>
          <p:cNvPr id="4096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E7261DA-54B3-4A93-9499-25636D977100}" type="slidenum">
              <a:rPr lang="en-US" altLang="en-US" sz="1200"/>
              <a:pPr/>
              <a:t>24</a:t>
            </a:fld>
            <a:endParaRPr lang="en-US" altLang="en-US" sz="1200"/>
          </a:p>
        </p:txBody>
      </p:sp>
      <p:sp>
        <p:nvSpPr>
          <p:cNvPr id="43011" name="Rectangle 2"/>
          <p:cNvSpPr>
            <a:spLocks noGrp="1" noRot="1" noChangeAspect="1" noChangeArrowheads="1" noTextEdit="1"/>
          </p:cNvSpPr>
          <p:nvPr>
            <p:ph type="sldImg"/>
          </p:nvPr>
        </p:nvSpPr>
        <p:spPr>
          <a:xfrm>
            <a:off x="1177925" y="695325"/>
            <a:ext cx="4641850" cy="3481388"/>
          </a:xfrm>
          <a:ln/>
        </p:spPr>
      </p:sp>
      <p:sp>
        <p:nvSpPr>
          <p:cNvPr id="4301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359C4894-872D-48F9-9264-417C7C9B2EAD}" type="slidenum">
              <a:rPr lang="en-US" altLang="en-US" sz="1200"/>
              <a:pPr/>
              <a:t>25</a:t>
            </a:fld>
            <a:endParaRPr lang="en-US" altLang="en-US" sz="1200"/>
          </a:p>
        </p:txBody>
      </p:sp>
      <p:sp>
        <p:nvSpPr>
          <p:cNvPr id="47107" name="Rectangle 2"/>
          <p:cNvSpPr>
            <a:spLocks noGrp="1" noRot="1" noChangeAspect="1" noChangeArrowheads="1" noTextEdit="1"/>
          </p:cNvSpPr>
          <p:nvPr>
            <p:ph type="sldImg"/>
          </p:nvPr>
        </p:nvSpPr>
        <p:spPr>
          <a:xfrm>
            <a:off x="1177925" y="695325"/>
            <a:ext cx="4641850" cy="3481388"/>
          </a:xfrm>
          <a:ln/>
        </p:spPr>
      </p:sp>
      <p:sp>
        <p:nvSpPr>
          <p:cNvPr id="4710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27</a:t>
            </a:fld>
            <a:endParaRPr lang="en-US" altLang="en-US"/>
          </a:p>
        </p:txBody>
      </p:sp>
    </p:spTree>
    <p:extLst>
      <p:ext uri="{BB962C8B-B14F-4D97-AF65-F5344CB8AC3E}">
        <p14:creationId xmlns:p14="http://schemas.microsoft.com/office/powerpoint/2010/main" val="8684714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52E9D7F-36E5-47CB-BEF4-89802073A499}" type="slidenum">
              <a:rPr lang="en-US" altLang="en-US" sz="1200"/>
              <a:pPr/>
              <a:t>28</a:t>
            </a:fld>
            <a:endParaRPr lang="en-US" altLang="en-US" sz="1200"/>
          </a:p>
        </p:txBody>
      </p:sp>
      <p:sp>
        <p:nvSpPr>
          <p:cNvPr id="49155" name="Rectangle 2"/>
          <p:cNvSpPr>
            <a:spLocks noGrp="1" noRot="1" noChangeAspect="1" noChangeArrowheads="1" noTextEdit="1"/>
          </p:cNvSpPr>
          <p:nvPr>
            <p:ph type="sldImg"/>
          </p:nvPr>
        </p:nvSpPr>
        <p:spPr>
          <a:xfrm>
            <a:off x="1177925" y="695325"/>
            <a:ext cx="4641850" cy="3481388"/>
          </a:xfrm>
          <a:ln/>
        </p:spPr>
      </p:sp>
      <p:sp>
        <p:nvSpPr>
          <p:cNvPr id="491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Understanding View Expansion in SQL</a:t>
            </a:r>
          </a:p>
          <a:p>
            <a:pPr lvl="1"/>
            <a:r>
              <a:rPr lang="en-US" b="1" dirty="0"/>
              <a:t>Views</a:t>
            </a:r>
            <a:r>
              <a:rPr lang="en-US" dirty="0"/>
              <a:t> in SQL are virtual tables created by querying one or more tables. They simplify complex queries and improve readability. When a view references other views, it can create a chain of dependencies. Understanding and expanding these dependencies is crucial to correctly interpreting and optimizing SQL queries.</a:t>
            </a:r>
          </a:p>
          <a:p>
            <a:r>
              <a:rPr lang="en-US" b="1" dirty="0"/>
              <a:t>Concept:</a:t>
            </a:r>
          </a:p>
          <a:p>
            <a:pPr lvl="1"/>
            <a:r>
              <a:rPr lang="en-US" dirty="0"/>
              <a:t>Imagine you have a view v1 defined by an expression e1. This expression might use other views, creating a nested structure. View expansion involves replacing these nested views with their underlying definitions until you get a final expression that no longer contains any view relations.</a:t>
            </a:r>
          </a:p>
          <a:p>
            <a:r>
              <a:rPr lang="en-US" b="1" dirty="0"/>
              <a:t>Steps for View Expansion:</a:t>
            </a:r>
          </a:p>
          <a:p>
            <a:pPr>
              <a:buFont typeface="+mj-lt"/>
              <a:buAutoNum type="arabicPeriod"/>
            </a:pPr>
            <a:r>
              <a:rPr lang="en-US" b="1" dirty="0"/>
              <a:t>Identify View Relation</a:t>
            </a:r>
            <a:r>
              <a:rPr lang="en-US" dirty="0"/>
              <a:t>: Find any view relation vi used in e1.</a:t>
            </a:r>
          </a:p>
          <a:p>
            <a:pPr>
              <a:buFont typeface="+mj-lt"/>
              <a:buAutoNum type="arabicPeriod"/>
            </a:pPr>
            <a:r>
              <a:rPr lang="en-US" b="1" dirty="0"/>
              <a:t>Replace View Relation</a:t>
            </a:r>
            <a:r>
              <a:rPr lang="en-US" dirty="0"/>
              <a:t>: Replace vi with the expression defining vi.</a:t>
            </a:r>
          </a:p>
          <a:p>
            <a:pPr>
              <a:buFont typeface="+mj-lt"/>
              <a:buAutoNum type="arabicPeriod"/>
            </a:pPr>
            <a:r>
              <a:rPr lang="en-US" b="1" dirty="0"/>
              <a:t>Repeat</a:t>
            </a:r>
            <a:r>
              <a:rPr lang="en-US" dirty="0"/>
              <a:t>: Continue this process until no more view relations are present in e1.</a:t>
            </a:r>
          </a:p>
          <a:p>
            <a:r>
              <a:rPr lang="en-US" b="1" dirty="0"/>
              <a:t>Example:</a:t>
            </a:r>
          </a:p>
          <a:p>
            <a:r>
              <a:rPr lang="en-US" dirty="0"/>
              <a:t>Let's take a practical example to illustrate this:</a:t>
            </a:r>
          </a:p>
          <a:p>
            <a:r>
              <a:rPr lang="en-US" b="1" dirty="0"/>
              <a:t>View Definitions:</a:t>
            </a:r>
          </a:p>
          <a:p>
            <a:r>
              <a:rPr lang="en-US" dirty="0" err="1"/>
              <a:t>sql</a:t>
            </a:r>
            <a:endParaRPr lang="en-US" dirty="0"/>
          </a:p>
          <a:p>
            <a:r>
              <a:rPr lang="en-US" dirty="0"/>
              <a:t>CREATE VIEW v1 AS SELECT a, b FROM t1; CREATE VIEW v2 AS SELECT v1.a, t2.c FROM v1, t2 WHERE v1.b = t2.b; </a:t>
            </a:r>
          </a:p>
          <a:p>
            <a:r>
              <a:rPr lang="en-US" b="1" dirty="0"/>
              <a:t>View Expansion Process:</a:t>
            </a:r>
          </a:p>
          <a:p>
            <a:r>
              <a:rPr lang="en-US" b="1" dirty="0"/>
              <a:t>Initial Expression (e1):</a:t>
            </a:r>
          </a:p>
          <a:p>
            <a:r>
              <a:rPr lang="en-US" dirty="0" err="1"/>
              <a:t>sql</a:t>
            </a:r>
            <a:endParaRPr lang="en-US" dirty="0"/>
          </a:p>
          <a:p>
            <a:r>
              <a:rPr lang="en-US" dirty="0"/>
              <a:t>SELECT v1.a, t2.c FROM v1, t2 WHERE v1.b = t2.b; </a:t>
            </a:r>
          </a:p>
          <a:p>
            <a:pPr>
              <a:buFont typeface="Arial" panose="020B0604020202020204" pitchFamily="34" charset="0"/>
              <a:buChar char="•"/>
            </a:pPr>
            <a:r>
              <a:rPr lang="en-US" b="1" dirty="0"/>
              <a:t>Identify</a:t>
            </a:r>
            <a:r>
              <a:rPr lang="en-US" dirty="0"/>
              <a:t>: v1 is a view relation.</a:t>
            </a:r>
          </a:p>
          <a:p>
            <a:r>
              <a:rPr lang="en-US" b="1" dirty="0"/>
              <a:t>Replace v1 with its definition:</a:t>
            </a:r>
          </a:p>
          <a:p>
            <a:r>
              <a:rPr lang="en-US" dirty="0" err="1"/>
              <a:t>sql</a:t>
            </a:r>
            <a:endParaRPr lang="en-US" dirty="0"/>
          </a:p>
          <a:p>
            <a:r>
              <a:rPr lang="en-US" dirty="0"/>
              <a:t>SELECT t1.a, t2.c FROM (SELECT a, b FROM t1) AS v1, t2 WHERE v1.b = t2.b; </a:t>
            </a:r>
          </a:p>
          <a:p>
            <a:pPr>
              <a:buFont typeface="Arial" panose="020B0604020202020204" pitchFamily="34" charset="0"/>
              <a:buChar char="•"/>
            </a:pPr>
            <a:r>
              <a:rPr lang="en-US" b="1" dirty="0"/>
              <a:t>Replace</a:t>
            </a:r>
            <a:r>
              <a:rPr lang="en-US" dirty="0"/>
              <a:t>: Substitute v1 with (SELECT a, b FROM t1) AS v1.</a:t>
            </a:r>
          </a:p>
          <a:p>
            <a:r>
              <a:rPr lang="en-US" b="1" dirty="0"/>
              <a:t>Simplify Expression:</a:t>
            </a:r>
          </a:p>
          <a:p>
            <a:r>
              <a:rPr lang="en-US" dirty="0" err="1"/>
              <a:t>sql</a:t>
            </a:r>
            <a:endParaRPr lang="en-US" dirty="0"/>
          </a:p>
          <a:p>
            <a:r>
              <a:rPr lang="en-US" dirty="0"/>
              <a:t>SELECT t1.a, t2.c FROM t1, t2 WHERE t1.b = t2.b; </a:t>
            </a:r>
          </a:p>
          <a:p>
            <a:pPr>
              <a:buFont typeface="Arial" panose="020B0604020202020204" pitchFamily="34" charset="0"/>
              <a:buChar char="•"/>
            </a:pPr>
            <a:r>
              <a:rPr lang="en-US" b="1" dirty="0"/>
              <a:t>Simplify</a:t>
            </a:r>
            <a:r>
              <a:rPr lang="en-US" dirty="0"/>
              <a:t>: The intermediate step simplifies to remove the AS v1.</a:t>
            </a:r>
          </a:p>
          <a:p>
            <a:r>
              <a:rPr lang="en-US" b="1" dirty="0"/>
              <a:t>Final Expression:</a:t>
            </a:r>
          </a:p>
          <a:p>
            <a:r>
              <a:rPr lang="en-US" dirty="0"/>
              <a:t>The expanded view expression no longer contains any view relations.</a:t>
            </a:r>
          </a:p>
          <a:p>
            <a:r>
              <a:rPr lang="en-US" b="1" dirty="0"/>
              <a:t>Key Points:</a:t>
            </a:r>
          </a:p>
          <a:p>
            <a:pPr>
              <a:buFont typeface="Arial" panose="020B0604020202020204" pitchFamily="34" charset="0"/>
              <a:buChar char="•"/>
            </a:pPr>
            <a:r>
              <a:rPr lang="en-US" b="1" dirty="0"/>
              <a:t>Non-recursive Definitions</a:t>
            </a:r>
            <a:r>
              <a:rPr lang="en-US" dirty="0"/>
              <a:t>: The process works as long as the view definitions are not recursive. Recursive definitions would create an infinite loop.</a:t>
            </a:r>
          </a:p>
          <a:p>
            <a:pPr>
              <a:buFont typeface="Arial" panose="020B0604020202020204" pitchFamily="34" charset="0"/>
              <a:buChar char="•"/>
            </a:pPr>
            <a:r>
              <a:rPr lang="en-US" b="1" dirty="0"/>
              <a:t>Efficiency</a:t>
            </a:r>
            <a:r>
              <a:rPr lang="en-US" dirty="0"/>
              <a:t>: This expansion helps understand and optimize queries, ensuring correct and efficient execution.</a:t>
            </a:r>
          </a:p>
          <a:p>
            <a:r>
              <a:rPr lang="en-US" dirty="0"/>
              <a:t>By using view expansion, you break down complex nested view definitions into their fundamental components, making the overall query more transparent and manageable. Any questions about view expansion or SQL in general?</a:t>
            </a:r>
          </a:p>
          <a:p>
            <a:endParaRPr lang="en-US" altLang="en-US" dirty="0">
              <a:latin typeface="Times New Roman" panose="02020603050405020304" pitchFamily="18"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52E9D7F-36E5-47CB-BEF4-89802073A499}" type="slidenum">
              <a:rPr lang="en-US" altLang="en-US" sz="1200"/>
              <a:pPr/>
              <a:t>29</a:t>
            </a:fld>
            <a:endParaRPr lang="en-US" altLang="en-US" sz="1200"/>
          </a:p>
        </p:txBody>
      </p:sp>
      <p:sp>
        <p:nvSpPr>
          <p:cNvPr id="49155" name="Rectangle 2"/>
          <p:cNvSpPr>
            <a:spLocks noGrp="1" noRot="1" noChangeAspect="1" noChangeArrowheads="1" noTextEdit="1"/>
          </p:cNvSpPr>
          <p:nvPr>
            <p:ph type="sldImg"/>
          </p:nvPr>
        </p:nvSpPr>
        <p:spPr>
          <a:xfrm>
            <a:off x="1177925" y="695325"/>
            <a:ext cx="4641850" cy="3481388"/>
          </a:xfrm>
          <a:ln/>
        </p:spPr>
      </p:sp>
      <p:sp>
        <p:nvSpPr>
          <p:cNvPr id="491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Understanding View Expansion in SQL</a:t>
            </a:r>
          </a:p>
          <a:p>
            <a:pPr lvl="1"/>
            <a:r>
              <a:rPr lang="en-US" b="1" dirty="0"/>
              <a:t>Views</a:t>
            </a:r>
            <a:r>
              <a:rPr lang="en-US" dirty="0"/>
              <a:t> in SQL are virtual tables created by querying one or more tables. They simplify complex queries and improve readability. When a view references other views, it can create a chain of dependencies. Understanding and expanding these dependencies is crucial to correctly interpreting and optimizing SQL queries.</a:t>
            </a:r>
          </a:p>
          <a:p>
            <a:r>
              <a:rPr lang="en-US" b="1" dirty="0"/>
              <a:t>Concept:</a:t>
            </a:r>
          </a:p>
          <a:p>
            <a:pPr lvl="1"/>
            <a:r>
              <a:rPr lang="en-US" dirty="0"/>
              <a:t>Imagine you have a view v1 defined by an expression e1. This expression might use other views, creating a nested structure. View expansion involves replacing these nested views with their underlying definitions until you get a final expression that no longer contains any view relations.</a:t>
            </a:r>
          </a:p>
          <a:p>
            <a:r>
              <a:rPr lang="en-US" b="1" dirty="0"/>
              <a:t>Steps for View Expansion:</a:t>
            </a:r>
          </a:p>
          <a:p>
            <a:pPr>
              <a:buFont typeface="+mj-lt"/>
              <a:buAutoNum type="arabicPeriod"/>
            </a:pPr>
            <a:r>
              <a:rPr lang="en-US" b="1" dirty="0"/>
              <a:t>Identify View Relation</a:t>
            </a:r>
            <a:r>
              <a:rPr lang="en-US" dirty="0"/>
              <a:t>: Find any view relation vi used in e1.</a:t>
            </a:r>
          </a:p>
          <a:p>
            <a:pPr>
              <a:buFont typeface="+mj-lt"/>
              <a:buAutoNum type="arabicPeriod"/>
            </a:pPr>
            <a:r>
              <a:rPr lang="en-US" b="1" dirty="0"/>
              <a:t>Replace View Relation</a:t>
            </a:r>
            <a:r>
              <a:rPr lang="en-US" dirty="0"/>
              <a:t>: Replace vi with the expression defining vi.</a:t>
            </a:r>
          </a:p>
          <a:p>
            <a:pPr>
              <a:buFont typeface="+mj-lt"/>
              <a:buAutoNum type="arabicPeriod"/>
            </a:pPr>
            <a:r>
              <a:rPr lang="en-US" b="1" dirty="0"/>
              <a:t>Repeat</a:t>
            </a:r>
            <a:r>
              <a:rPr lang="en-US" dirty="0"/>
              <a:t>: Continue this process until no more view relations are present in e1.</a:t>
            </a:r>
          </a:p>
          <a:p>
            <a:r>
              <a:rPr lang="en-US" b="1" dirty="0"/>
              <a:t>Example:</a:t>
            </a:r>
          </a:p>
          <a:p>
            <a:r>
              <a:rPr lang="en-US" dirty="0"/>
              <a:t>Let's take a practical example to illustrate this:</a:t>
            </a:r>
          </a:p>
          <a:p>
            <a:r>
              <a:rPr lang="en-US" b="1" dirty="0"/>
              <a:t>View Definitions:</a:t>
            </a:r>
          </a:p>
          <a:p>
            <a:r>
              <a:rPr lang="en-US" dirty="0" err="1"/>
              <a:t>sql</a:t>
            </a:r>
            <a:endParaRPr lang="en-US" dirty="0"/>
          </a:p>
          <a:p>
            <a:r>
              <a:rPr lang="en-US" dirty="0"/>
              <a:t>CREATE VIEW v1 AS SELECT a, b FROM t1; CREATE VIEW v2 AS SELECT v1.a, t2.c FROM v1, t2 WHERE v1.b = t2.b; </a:t>
            </a:r>
          </a:p>
          <a:p>
            <a:r>
              <a:rPr lang="en-US" b="1" dirty="0"/>
              <a:t>View Expansion Process:</a:t>
            </a:r>
          </a:p>
          <a:p>
            <a:r>
              <a:rPr lang="en-US" b="1" dirty="0"/>
              <a:t>Initial Expression (e1):</a:t>
            </a:r>
          </a:p>
          <a:p>
            <a:r>
              <a:rPr lang="en-US" dirty="0" err="1"/>
              <a:t>sql</a:t>
            </a:r>
            <a:endParaRPr lang="en-US" dirty="0"/>
          </a:p>
          <a:p>
            <a:r>
              <a:rPr lang="en-US" dirty="0"/>
              <a:t>SELECT v1.a, t2.c FROM v1, t2 WHERE v1.b = t2.b; </a:t>
            </a:r>
          </a:p>
          <a:p>
            <a:pPr>
              <a:buFont typeface="Arial" panose="020B0604020202020204" pitchFamily="34" charset="0"/>
              <a:buChar char="•"/>
            </a:pPr>
            <a:r>
              <a:rPr lang="en-US" b="1" dirty="0"/>
              <a:t>Identify</a:t>
            </a:r>
            <a:r>
              <a:rPr lang="en-US" dirty="0"/>
              <a:t>: v1 is a view relation.</a:t>
            </a:r>
          </a:p>
          <a:p>
            <a:r>
              <a:rPr lang="en-US" b="1" dirty="0"/>
              <a:t>Replace v1 with its definition:</a:t>
            </a:r>
          </a:p>
          <a:p>
            <a:r>
              <a:rPr lang="en-US" dirty="0" err="1"/>
              <a:t>sql</a:t>
            </a:r>
            <a:endParaRPr lang="en-US" dirty="0"/>
          </a:p>
          <a:p>
            <a:r>
              <a:rPr lang="en-US" dirty="0"/>
              <a:t>SELECT t1.a, t2.c FROM (SELECT a, b FROM t1) AS v1, t2 WHERE v1.b = t2.b; </a:t>
            </a:r>
          </a:p>
          <a:p>
            <a:pPr>
              <a:buFont typeface="Arial" panose="020B0604020202020204" pitchFamily="34" charset="0"/>
              <a:buChar char="•"/>
            </a:pPr>
            <a:r>
              <a:rPr lang="en-US" b="1" dirty="0"/>
              <a:t>Replace</a:t>
            </a:r>
            <a:r>
              <a:rPr lang="en-US" dirty="0"/>
              <a:t>: Substitute v1 with (SELECT a, b FROM t1) AS v1.</a:t>
            </a:r>
          </a:p>
          <a:p>
            <a:r>
              <a:rPr lang="en-US" b="1" dirty="0"/>
              <a:t>Simplify Expression:</a:t>
            </a:r>
          </a:p>
          <a:p>
            <a:r>
              <a:rPr lang="en-US" dirty="0" err="1"/>
              <a:t>sql</a:t>
            </a:r>
            <a:endParaRPr lang="en-US" dirty="0"/>
          </a:p>
          <a:p>
            <a:r>
              <a:rPr lang="en-US" dirty="0"/>
              <a:t>SELECT t1.a, t2.c FROM t1, t2 WHERE t1.b = t2.b; </a:t>
            </a:r>
          </a:p>
          <a:p>
            <a:pPr>
              <a:buFont typeface="Arial" panose="020B0604020202020204" pitchFamily="34" charset="0"/>
              <a:buChar char="•"/>
            </a:pPr>
            <a:r>
              <a:rPr lang="en-US" b="1" dirty="0"/>
              <a:t>Simplify</a:t>
            </a:r>
            <a:r>
              <a:rPr lang="en-US" dirty="0"/>
              <a:t>: The intermediate step simplifies to remove the AS v1.</a:t>
            </a:r>
          </a:p>
          <a:p>
            <a:r>
              <a:rPr lang="en-US" b="1" dirty="0"/>
              <a:t>Final Expression:</a:t>
            </a:r>
          </a:p>
          <a:p>
            <a:r>
              <a:rPr lang="en-US" dirty="0"/>
              <a:t>The expanded view expression no longer contains any view relations.</a:t>
            </a:r>
          </a:p>
          <a:p>
            <a:r>
              <a:rPr lang="en-US" b="1" dirty="0"/>
              <a:t>Key Points:</a:t>
            </a:r>
          </a:p>
          <a:p>
            <a:pPr>
              <a:buFont typeface="Arial" panose="020B0604020202020204" pitchFamily="34" charset="0"/>
              <a:buChar char="•"/>
            </a:pPr>
            <a:r>
              <a:rPr lang="en-US" b="1" dirty="0"/>
              <a:t>Non-recursive Definitions</a:t>
            </a:r>
            <a:r>
              <a:rPr lang="en-US" dirty="0"/>
              <a:t>: The process works as long as the view definitions are not recursive. Recursive definitions would create an infinite loop.</a:t>
            </a:r>
          </a:p>
          <a:p>
            <a:pPr>
              <a:buFont typeface="Arial" panose="020B0604020202020204" pitchFamily="34" charset="0"/>
              <a:buChar char="•"/>
            </a:pPr>
            <a:r>
              <a:rPr lang="en-US" b="1" dirty="0"/>
              <a:t>Efficiency</a:t>
            </a:r>
            <a:r>
              <a:rPr lang="en-US" dirty="0"/>
              <a:t>: This expansion helps understand and optimize queries, ensuring correct and efficient execution.</a:t>
            </a:r>
          </a:p>
          <a:p>
            <a:r>
              <a:rPr lang="en-US" dirty="0"/>
              <a:t>By using view expansion, you break down complex nested view definitions into their fundamental components, making the overall query more transparent and manageable. Any questions about view expansion or SQL in general?</a:t>
            </a:r>
          </a:p>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385398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Materialized Views </a:t>
            </a:r>
            <a:r>
              <a:rPr lang="fa-IR" b="1" dirty="0"/>
              <a:t>نمای مادی</a:t>
            </a:r>
            <a:r>
              <a:rPr lang="en-US" dirty="0"/>
              <a:t>:</a:t>
            </a:r>
          </a:p>
          <a:p>
            <a:pPr>
              <a:buFont typeface="Arial" panose="020B0604020202020204" pitchFamily="34" charset="0"/>
              <a:buChar char="•"/>
            </a:pPr>
            <a:r>
              <a:rPr lang="en-US" dirty="0"/>
              <a:t>A materialized view is a database object that contains the results of a query.</a:t>
            </a:r>
          </a:p>
          <a:p>
            <a:pPr>
              <a:buFont typeface="Arial" panose="020B0604020202020204" pitchFamily="34" charset="0"/>
              <a:buChar char="•"/>
            </a:pPr>
            <a:r>
              <a:rPr lang="en-US" dirty="0"/>
              <a:t>Unlike regular views, which are virtual tables calculated on-the-fly when queried, a materialized view stores the query results physically in the database.</a:t>
            </a:r>
          </a:p>
          <a:p>
            <a:pPr>
              <a:buFont typeface="Arial" panose="020B0604020202020204" pitchFamily="34" charset="0"/>
              <a:buChar char="•"/>
            </a:pPr>
            <a:r>
              <a:rPr lang="en-US" dirty="0"/>
              <a:t>This can significantly improve query performance, especially for complex queries that are expensive to compute each time.</a:t>
            </a:r>
          </a:p>
          <a:p>
            <a:endParaRPr lang="fa-IR" dirty="0"/>
          </a:p>
          <a:p>
            <a:r>
              <a:rPr lang="en-US" dirty="0"/>
              <a:t>Since the data in materialized views is physically stored, it can become outdated if the underlying data changes.</a:t>
            </a:r>
          </a:p>
          <a:p>
            <a:r>
              <a:rPr lang="en-US" dirty="0"/>
              <a:t>To keep the materialized view up to date, it needs to be refreshed periodically. This can be done manually or automatically.</a:t>
            </a:r>
          </a:p>
          <a:p>
            <a:endParaRPr lang="fa-IR"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30</a:t>
            </a:fld>
            <a:endParaRPr lang="en-US" altLang="en-US"/>
          </a:p>
        </p:txBody>
      </p:sp>
    </p:spTree>
    <p:extLst>
      <p:ext uri="{BB962C8B-B14F-4D97-AF65-F5344CB8AC3E}">
        <p14:creationId xmlns:p14="http://schemas.microsoft.com/office/powerpoint/2010/main" val="2887963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25C1F8B-BDD5-4D70-8389-7FD988212B04}" type="slidenum">
              <a:rPr lang="en-US" altLang="en-US" sz="1200"/>
              <a:pPr/>
              <a:t>31</a:t>
            </a:fld>
            <a:endParaRPr lang="en-US" altLang="en-US" sz="1200"/>
          </a:p>
        </p:txBody>
      </p:sp>
      <p:sp>
        <p:nvSpPr>
          <p:cNvPr id="51203" name="Rectangle 2"/>
          <p:cNvSpPr>
            <a:spLocks noGrp="1" noRot="1" noChangeAspect="1" noChangeArrowheads="1" noTextEdit="1"/>
          </p:cNvSpPr>
          <p:nvPr>
            <p:ph type="sldImg"/>
          </p:nvPr>
        </p:nvSpPr>
        <p:spPr>
          <a:xfrm>
            <a:off x="1177925" y="695325"/>
            <a:ext cx="4641850" cy="3481388"/>
          </a:xfrm>
          <a:ln/>
        </p:spPr>
      </p:sp>
      <p:sp>
        <p:nvSpPr>
          <p:cNvPr id="5120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32</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department(</a:t>
            </a:r>
            <a:r>
              <a:rPr lang="en-US" b="1" i="1" u="sng" dirty="0"/>
              <a:t>dept_name</a:t>
            </a:r>
            <a:r>
              <a:rPr lang="en-US" dirty="0"/>
              <a:t>, building, budget)</a:t>
            </a:r>
          </a:p>
          <a:p>
            <a:r>
              <a:rPr lang="en-US" dirty="0"/>
              <a:t>instructor(</a:t>
            </a:r>
            <a:r>
              <a:rPr lang="en-US" b="1" i="1" u="sng" dirty="0"/>
              <a:t>ID</a:t>
            </a:r>
            <a:r>
              <a:rPr lang="en-US" dirty="0"/>
              <a:t>, name, dept name, salary)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department(</a:t>
            </a:r>
            <a:r>
              <a:rPr lang="en-US" b="1" i="1" u="sng" dirty="0"/>
              <a:t>dept_name</a:t>
            </a:r>
            <a:r>
              <a:rPr lang="en-US" dirty="0"/>
              <a:t>, building, budget)</a:t>
            </a:r>
          </a:p>
          <a:p>
            <a:r>
              <a:rPr lang="en-US" dirty="0"/>
              <a:t>instructor(</a:t>
            </a:r>
            <a:r>
              <a:rPr lang="en-US" b="1" i="1" u="sng" dirty="0"/>
              <a:t>ID</a:t>
            </a:r>
            <a:r>
              <a:rPr lang="en-US" dirty="0"/>
              <a:t>, name, dept name, salary)</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33</a:t>
            </a:fld>
            <a:endParaRPr lang="en-US" altLang="en-US"/>
          </a:p>
        </p:txBody>
      </p:sp>
    </p:spTree>
    <p:extLst>
      <p:ext uri="{BB962C8B-B14F-4D97-AF65-F5344CB8AC3E}">
        <p14:creationId xmlns:p14="http://schemas.microsoft.com/office/powerpoint/2010/main" val="41257625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34</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701FBBFF-88DD-4104-93D5-9ABA9DECF1D5}" type="slidenum">
              <a:rPr lang="en-US" altLang="en-US" sz="1200"/>
              <a:pPr/>
              <a:t>35</a:t>
            </a:fld>
            <a:endParaRPr lang="en-US" altLang="en-US" sz="1200"/>
          </a:p>
        </p:txBody>
      </p:sp>
      <p:sp>
        <p:nvSpPr>
          <p:cNvPr id="53251" name="Rectangle 2"/>
          <p:cNvSpPr>
            <a:spLocks noGrp="1" noRot="1" noChangeAspect="1" noChangeArrowheads="1" noTextEdit="1"/>
          </p:cNvSpPr>
          <p:nvPr>
            <p:ph type="sldImg"/>
          </p:nvPr>
        </p:nvSpPr>
        <p:spPr>
          <a:xfrm>
            <a:off x="1177925" y="695325"/>
            <a:ext cx="4641850" cy="3481388"/>
          </a:xfrm>
          <a:ln/>
        </p:spPr>
      </p:sp>
      <p:sp>
        <p:nvSpPr>
          <p:cNvPr id="5325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altLang="en-US" dirty="0">
                <a:latin typeface="Times New Roman" panose="02020603050405020304" pitchFamily="18" charset="0"/>
              </a:rPr>
              <a:t>استاندارد </a:t>
            </a:r>
            <a:r>
              <a:rPr lang="en-US" altLang="en-US" dirty="0">
                <a:latin typeface="Times New Roman" panose="02020603050405020304" pitchFamily="18" charset="0"/>
              </a:rPr>
              <a:t>SQL </a:t>
            </a:r>
            <a:r>
              <a:rPr lang="fa-IR" altLang="en-US" dirty="0">
                <a:latin typeface="Times New Roman" panose="02020603050405020304" pitchFamily="18" charset="0"/>
              </a:rPr>
              <a:t>مشخص می‌کند که یک تراکنش به‌طور ضمنی زمانی که یک دستور </a:t>
            </a:r>
            <a:r>
              <a:rPr lang="en-US" altLang="en-US" dirty="0">
                <a:latin typeface="Times New Roman" panose="02020603050405020304" pitchFamily="18" charset="0"/>
              </a:rPr>
              <a:t>SQL </a:t>
            </a:r>
            <a:r>
              <a:rPr lang="fa-IR" altLang="en-US" dirty="0">
                <a:latin typeface="Times New Roman" panose="02020603050405020304" pitchFamily="18" charset="0"/>
              </a:rPr>
              <a:t>اجرا می‌شود، آغاز می‌شود.  </a:t>
            </a:r>
          </a:p>
          <a:p>
            <a:pPr algn="r" rtl="1"/>
            <a:r>
              <a:rPr lang="fa-IR" altLang="en-US" dirty="0">
                <a:latin typeface="Times New Roman" panose="02020603050405020304" pitchFamily="18" charset="0"/>
              </a:rPr>
              <a:t>تراکنش باید با یکی از دستورات زیر پایان یابد:</a:t>
            </a:r>
          </a:p>
          <a:p>
            <a:pPr algn="r" rtl="1"/>
            <a:r>
              <a:rPr lang="en-US" altLang="en-US" dirty="0">
                <a:latin typeface="Times New Roman" panose="02020603050405020304" pitchFamily="18" charset="0"/>
              </a:rPr>
              <a:t>Commit work. </a:t>
            </a:r>
            <a:r>
              <a:rPr lang="fa-IR" altLang="en-US" dirty="0">
                <a:latin typeface="Times New Roman" panose="02020603050405020304" pitchFamily="18" charset="0"/>
              </a:rPr>
              <a:t>به‌روزرسانی‌های انجام‌شده توسط تراکنش به‌طور دائمی در پایگاه داده ثبت می‌شوند.</a:t>
            </a:r>
          </a:p>
          <a:p>
            <a:pPr algn="r" rtl="1"/>
            <a:r>
              <a:rPr lang="en-US" altLang="en-US" dirty="0">
                <a:latin typeface="Times New Roman" panose="02020603050405020304" pitchFamily="18" charset="0"/>
              </a:rPr>
              <a:t>Rollback work. </a:t>
            </a:r>
            <a:r>
              <a:rPr lang="fa-IR" altLang="en-US" dirty="0">
                <a:latin typeface="Times New Roman" panose="02020603050405020304" pitchFamily="18" charset="0"/>
              </a:rPr>
              <a:t>تمام به‌روزرسانی‌های انجام‌شده توسط دستورات </a:t>
            </a:r>
            <a:r>
              <a:rPr lang="en-US" altLang="en-US" dirty="0">
                <a:latin typeface="Times New Roman" panose="02020603050405020304" pitchFamily="18" charset="0"/>
              </a:rPr>
              <a:t>SQL </a:t>
            </a:r>
            <a:r>
              <a:rPr lang="fa-IR" altLang="en-US" dirty="0">
                <a:latin typeface="Times New Roman" panose="02020603050405020304" pitchFamily="18" charset="0"/>
              </a:rPr>
              <a:t>در تراکنش لغو می‌شوند.</a:t>
            </a:r>
          </a:p>
          <a:p>
            <a:pPr algn="r" rtl="1"/>
            <a:r>
              <a:rPr lang="fa-IR" altLang="en-US" dirty="0">
                <a:latin typeface="Times New Roman" panose="02020603050405020304" pitchFamily="18" charset="0"/>
              </a:rPr>
              <a:t>تراکنش اتمی</a:t>
            </a:r>
          </a:p>
          <a:p>
            <a:pPr algn="r" rtl="1"/>
            <a:r>
              <a:rPr lang="fa-IR" altLang="en-US" dirty="0">
                <a:latin typeface="Times New Roman" panose="02020603050405020304" pitchFamily="18" charset="0"/>
              </a:rPr>
              <a:t>یا به‌طور کامل اجرا می‌شود یا به‌طور کامل لغو می‌شود به‌طوری که انگار هرگز رخ نداده است.</a:t>
            </a:r>
          </a:p>
          <a:p>
            <a:pPr algn="r" rtl="1"/>
            <a:r>
              <a:rPr lang="fa-IR" altLang="en-US" dirty="0">
                <a:latin typeface="Times New Roman" panose="02020603050405020304" pitchFamily="18" charset="0"/>
              </a:rPr>
              <a:t>جداسازی از تراکنش‌های همزمان</a:t>
            </a:r>
          </a:p>
          <a:p>
            <a:pPr algn="r" rtl="1"/>
            <a:endParaRPr lang="fa-IR" altLang="en-US" dirty="0">
              <a:latin typeface="Times New Roman" panose="02020603050405020304" pitchFamily="18" charset="0"/>
            </a:endParaRPr>
          </a:p>
          <a:p>
            <a:pPr algn="r" rtl="1"/>
            <a:r>
              <a:rPr lang="fa-IR" altLang="en-US" dirty="0">
                <a:latin typeface="Times New Roman" panose="02020603050405020304" pitchFamily="18" charset="0"/>
              </a:rPr>
              <a:t>امیدوارم این ترجمه کمک کند! اگر سوال دیگری دارید، بفرمایید.</a:t>
            </a:r>
            <a:endParaRPr lang="en-US" altLang="en-US" dirty="0">
              <a:latin typeface="Times New Roman" panose="02020603050405020304" pitchFamily="18"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830243F-8686-4433-9701-9F34E8AC8773}" type="slidenum">
              <a:rPr lang="en-US" altLang="en-US" sz="1200"/>
              <a:pPr/>
              <a:t>36</a:t>
            </a:fld>
            <a:endParaRPr lang="en-US" altLang="en-US" sz="1200"/>
          </a:p>
        </p:txBody>
      </p:sp>
      <p:sp>
        <p:nvSpPr>
          <p:cNvPr id="57347" name="Rectangle 2"/>
          <p:cNvSpPr>
            <a:spLocks noGrp="1" noRot="1" noChangeAspect="1" noChangeArrowheads="1" noTextEdit="1"/>
          </p:cNvSpPr>
          <p:nvPr>
            <p:ph type="sldImg"/>
          </p:nvPr>
        </p:nvSpPr>
        <p:spPr>
          <a:xfrm>
            <a:off x="1177925" y="695325"/>
            <a:ext cx="4641850" cy="3481388"/>
          </a:xfrm>
          <a:ln/>
        </p:spPr>
      </p:sp>
      <p:sp>
        <p:nvSpPr>
          <p:cNvPr id="5734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45649CE-6E1F-4A66-818C-4E7F6898A7A7}" type="slidenum">
              <a:rPr lang="en-US" altLang="en-US" sz="1200"/>
              <a:pPr/>
              <a:t>37</a:t>
            </a:fld>
            <a:endParaRPr lang="en-US" altLang="en-US" sz="1200"/>
          </a:p>
        </p:txBody>
      </p:sp>
      <p:sp>
        <p:nvSpPr>
          <p:cNvPr id="59395" name="Rectangle 2"/>
          <p:cNvSpPr>
            <a:spLocks noGrp="1" noRot="1" noChangeAspect="1" noChangeArrowheads="1" noTextEdit="1"/>
          </p:cNvSpPr>
          <p:nvPr>
            <p:ph type="sldImg"/>
          </p:nvPr>
        </p:nvSpPr>
        <p:spPr>
          <a:xfrm>
            <a:off x="1177925" y="695325"/>
            <a:ext cx="4641850" cy="3481388"/>
          </a:xfrm>
          <a:ln/>
        </p:spPr>
      </p:sp>
      <p:sp>
        <p:nvSpPr>
          <p:cNvPr id="5939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FA9640E-5C10-4629-8988-A9A2CA4B65CD}" type="slidenum">
              <a:rPr lang="en-US" altLang="en-US" sz="1200"/>
              <a:pPr/>
              <a:t>38</a:t>
            </a:fld>
            <a:endParaRPr lang="en-US" altLang="en-US" sz="1200"/>
          </a:p>
        </p:txBody>
      </p:sp>
      <p:sp>
        <p:nvSpPr>
          <p:cNvPr id="61443" name="Rectangle 2"/>
          <p:cNvSpPr>
            <a:spLocks noGrp="1" noRot="1" noChangeAspect="1" noChangeArrowheads="1" noTextEdit="1"/>
          </p:cNvSpPr>
          <p:nvPr>
            <p:ph type="sldImg"/>
          </p:nvPr>
        </p:nvSpPr>
        <p:spPr>
          <a:xfrm>
            <a:off x="1177925" y="695325"/>
            <a:ext cx="4641850" cy="3481388"/>
          </a:xfrm>
          <a:ln/>
        </p:spPr>
      </p:sp>
      <p:sp>
        <p:nvSpPr>
          <p:cNvPr id="6144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6FA9640E-5C10-4629-8988-A9A2CA4B65CD}" type="slidenum">
              <a:rPr lang="en-US" altLang="en-US" sz="1200"/>
              <a:pPr/>
              <a:t>39</a:t>
            </a:fld>
            <a:endParaRPr lang="en-US" altLang="en-US" sz="1200"/>
          </a:p>
        </p:txBody>
      </p:sp>
      <p:sp>
        <p:nvSpPr>
          <p:cNvPr id="61443" name="Rectangle 2"/>
          <p:cNvSpPr>
            <a:spLocks noGrp="1" noRot="1" noChangeAspect="1" noChangeArrowheads="1" noTextEdit="1"/>
          </p:cNvSpPr>
          <p:nvPr>
            <p:ph type="sldImg"/>
          </p:nvPr>
        </p:nvSpPr>
        <p:spPr>
          <a:xfrm>
            <a:off x="1177925" y="695325"/>
            <a:ext cx="4641850" cy="3481388"/>
          </a:xfrm>
          <a:ln/>
        </p:spPr>
      </p:sp>
      <p:sp>
        <p:nvSpPr>
          <p:cNvPr id="61444"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76C4670-485C-41B4-B6C8-2F72766EE515}" type="slidenum">
              <a:rPr lang="en-US" altLang="en-US" sz="1200"/>
              <a:pPr/>
              <a:t>40</a:t>
            </a:fld>
            <a:endParaRPr lang="en-US" altLang="en-US" sz="1200"/>
          </a:p>
        </p:txBody>
      </p:sp>
      <p:sp>
        <p:nvSpPr>
          <p:cNvPr id="63491" name="Rectangle 2"/>
          <p:cNvSpPr>
            <a:spLocks noGrp="1" noRot="1" noChangeAspect="1" noChangeArrowheads="1" noTextEdit="1"/>
          </p:cNvSpPr>
          <p:nvPr>
            <p:ph type="sldImg"/>
          </p:nvPr>
        </p:nvSpPr>
        <p:spPr>
          <a:xfrm>
            <a:off x="1177925" y="695325"/>
            <a:ext cx="4641850" cy="3481388"/>
          </a:xfrm>
          <a:ln/>
        </p:spPr>
      </p:sp>
      <p:sp>
        <p:nvSpPr>
          <p:cNvPr id="63492"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CREATE TABLE [section] (</a:t>
            </a:r>
          </a:p>
          <a:p>
            <a:r>
              <a:rPr lang="en-US" altLang="en-US" dirty="0">
                <a:latin typeface="Times New Roman" panose="02020603050405020304" pitchFamily="18" charset="0"/>
              </a:rPr>
              <a:t>    </a:t>
            </a:r>
            <a:r>
              <a:rPr lang="en-US" altLang="en-US" dirty="0" err="1">
                <a:latin typeface="Times New Roman" panose="02020603050405020304" pitchFamily="18" charset="0"/>
              </a:rPr>
              <a:t>course_id</a:t>
            </a:r>
            <a:r>
              <a:rPr lang="en-US" altLang="en-US" dirty="0">
                <a:latin typeface="Times New Roman" panose="02020603050405020304" pitchFamily="18" charset="0"/>
              </a:rPr>
              <a:t>     VARCHAR(8)  NOT NULL,</a:t>
            </a:r>
          </a:p>
          <a:p>
            <a:r>
              <a:rPr lang="en-US" altLang="en-US" dirty="0">
                <a:latin typeface="Times New Roman" panose="02020603050405020304" pitchFamily="18" charset="0"/>
              </a:rPr>
              <a:t>    </a:t>
            </a:r>
            <a:r>
              <a:rPr lang="en-US" altLang="en-US" dirty="0" err="1">
                <a:latin typeface="Times New Roman" panose="02020603050405020304" pitchFamily="18" charset="0"/>
              </a:rPr>
              <a:t>sec_id</a:t>
            </a:r>
            <a:r>
              <a:rPr lang="en-US" altLang="en-US" dirty="0">
                <a:latin typeface="Times New Roman" panose="02020603050405020304" pitchFamily="18" charset="0"/>
              </a:rPr>
              <a:t>        VARCHAR(8)  NOT NULL,</a:t>
            </a:r>
          </a:p>
          <a:p>
            <a:r>
              <a:rPr lang="en-US" altLang="en-US" dirty="0">
                <a:latin typeface="Times New Roman" panose="02020603050405020304" pitchFamily="18" charset="0"/>
              </a:rPr>
              <a:t>    semester      VARCHAR(6)  NOT NULL,</a:t>
            </a:r>
          </a:p>
          <a:p>
            <a:r>
              <a:rPr lang="en-US" altLang="en-US" dirty="0">
                <a:latin typeface="Times New Roman" panose="02020603050405020304" pitchFamily="18" charset="0"/>
              </a:rPr>
              <a:t>    [year]        NUMERIC(4, 0) NOT NULL,</a:t>
            </a:r>
          </a:p>
          <a:p>
            <a:r>
              <a:rPr lang="en-US" altLang="en-US" dirty="0">
                <a:latin typeface="Times New Roman" panose="02020603050405020304" pitchFamily="18" charset="0"/>
              </a:rPr>
              <a:t>    building      VARCHAR(15),</a:t>
            </a:r>
          </a:p>
          <a:p>
            <a:r>
              <a:rPr lang="en-US" altLang="en-US" dirty="0">
                <a:latin typeface="Times New Roman" panose="02020603050405020304" pitchFamily="18" charset="0"/>
              </a:rPr>
              <a:t>    </a:t>
            </a:r>
            <a:r>
              <a:rPr lang="en-US" altLang="en-US" dirty="0" err="1">
                <a:latin typeface="Times New Roman" panose="02020603050405020304" pitchFamily="18" charset="0"/>
              </a:rPr>
              <a:t>room_number</a:t>
            </a:r>
            <a:r>
              <a:rPr lang="en-US" altLang="en-US" dirty="0">
                <a:latin typeface="Times New Roman" panose="02020603050405020304" pitchFamily="18" charset="0"/>
              </a:rPr>
              <a:t>   VARCHAR(7),</a:t>
            </a:r>
          </a:p>
          <a:p>
            <a:r>
              <a:rPr lang="en-US" altLang="en-US" dirty="0">
                <a:latin typeface="Times New Roman" panose="02020603050405020304" pitchFamily="18" charset="0"/>
              </a:rPr>
              <a:t>    </a:t>
            </a:r>
            <a:r>
              <a:rPr lang="en-US" altLang="en-US" dirty="0" err="1">
                <a:latin typeface="Times New Roman" panose="02020603050405020304" pitchFamily="18" charset="0"/>
              </a:rPr>
              <a:t>time_slot_id</a:t>
            </a:r>
            <a:r>
              <a:rPr lang="en-US" altLang="en-US" dirty="0">
                <a:latin typeface="Times New Roman" panose="02020603050405020304" pitchFamily="18" charset="0"/>
              </a:rPr>
              <a:t>  VARCHAR(4),</a:t>
            </a:r>
          </a:p>
          <a:p>
            <a:r>
              <a:rPr lang="en-US" altLang="en-US" dirty="0">
                <a:latin typeface="Times New Roman" panose="02020603050405020304" pitchFamily="18" charset="0"/>
              </a:rPr>
              <a:t>    CONSTRAINT </a:t>
            </a:r>
            <a:r>
              <a:rPr lang="en-US" altLang="en-US" dirty="0" err="1">
                <a:latin typeface="Times New Roman" panose="02020603050405020304" pitchFamily="18" charset="0"/>
              </a:rPr>
              <a:t>PK_section</a:t>
            </a:r>
            <a:r>
              <a:rPr lang="en-US" altLang="en-US" dirty="0">
                <a:latin typeface="Times New Roman" panose="02020603050405020304" pitchFamily="18" charset="0"/>
              </a:rPr>
              <a:t> </a:t>
            </a:r>
          </a:p>
          <a:p>
            <a:r>
              <a:rPr lang="en-US" altLang="en-US" dirty="0">
                <a:latin typeface="Times New Roman" panose="02020603050405020304" pitchFamily="18" charset="0"/>
              </a:rPr>
              <a:t>        PRIMARY KEY (</a:t>
            </a:r>
            <a:r>
              <a:rPr lang="en-US" altLang="en-US" dirty="0" err="1">
                <a:latin typeface="Times New Roman" panose="02020603050405020304" pitchFamily="18" charset="0"/>
              </a:rPr>
              <a:t>course_id</a:t>
            </a:r>
            <a:r>
              <a:rPr lang="en-US" altLang="en-US" dirty="0">
                <a:latin typeface="Times New Roman" panose="02020603050405020304" pitchFamily="18" charset="0"/>
              </a:rPr>
              <a:t>, </a:t>
            </a:r>
            <a:r>
              <a:rPr lang="en-US" altLang="en-US" dirty="0" err="1">
                <a:latin typeface="Times New Roman" panose="02020603050405020304" pitchFamily="18" charset="0"/>
              </a:rPr>
              <a:t>sec_id</a:t>
            </a:r>
            <a:r>
              <a:rPr lang="en-US" altLang="en-US" dirty="0">
                <a:latin typeface="Times New Roman" panose="02020603050405020304" pitchFamily="18" charset="0"/>
              </a:rPr>
              <a:t>, semester, [year]),</a:t>
            </a:r>
          </a:p>
          <a:p>
            <a:r>
              <a:rPr lang="en-US" altLang="en-US" dirty="0">
                <a:latin typeface="Times New Roman" panose="02020603050405020304" pitchFamily="18" charset="0"/>
              </a:rPr>
              <a:t>    CONSTRAINT </a:t>
            </a:r>
            <a:r>
              <a:rPr lang="en-US" altLang="en-US" dirty="0" err="1">
                <a:latin typeface="Times New Roman" panose="02020603050405020304" pitchFamily="18" charset="0"/>
              </a:rPr>
              <a:t>CK_section_semester</a:t>
            </a:r>
            <a:endParaRPr lang="en-US" altLang="en-US" dirty="0">
              <a:latin typeface="Times New Roman" panose="02020603050405020304" pitchFamily="18" charset="0"/>
            </a:endParaRPr>
          </a:p>
          <a:p>
            <a:r>
              <a:rPr lang="en-US" altLang="en-US" dirty="0">
                <a:latin typeface="Times New Roman" panose="02020603050405020304" pitchFamily="18" charset="0"/>
              </a:rPr>
              <a:t>        CHECK (semester IN ('Fall', 'Winter', 'Spring', 'Summer'))</a:t>
            </a:r>
          </a:p>
          <a:p>
            <a:r>
              <a:rPr lang="en-US" altLang="en-US" dirty="0">
                <a:latin typeface="Times New Roman" panose="02020603050405020304" pitchFamily="18" charset="0"/>
              </a:rPr>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DEFD3E4-E538-49EF-A1BC-D85549A485CA}" type="slidenum">
              <a:rPr lang="en-US" altLang="en-US" sz="1200"/>
              <a:pPr/>
              <a:t>41</a:t>
            </a:fld>
            <a:endParaRPr lang="en-US" altLang="en-US" sz="1200"/>
          </a:p>
        </p:txBody>
      </p:sp>
      <p:sp>
        <p:nvSpPr>
          <p:cNvPr id="65539" name="Rectangle 2"/>
          <p:cNvSpPr>
            <a:spLocks noGrp="1" noRot="1" noChangeAspect="1" noChangeArrowheads="1" noTextEdit="1"/>
          </p:cNvSpPr>
          <p:nvPr>
            <p:ph type="sldImg"/>
          </p:nvPr>
        </p:nvSpPr>
        <p:spPr>
          <a:xfrm>
            <a:off x="1177925" y="695325"/>
            <a:ext cx="4641850" cy="3481388"/>
          </a:xfrm>
          <a:ln/>
        </p:spPr>
      </p:sp>
      <p:sp>
        <p:nvSpPr>
          <p:cNvPr id="655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CDEFD3E4-E538-49EF-A1BC-D85549A485CA}" type="slidenum">
              <a:rPr lang="en-US" altLang="en-US" sz="1200"/>
              <a:pPr/>
              <a:t>42</a:t>
            </a:fld>
            <a:endParaRPr lang="en-US" altLang="en-US" sz="1200"/>
          </a:p>
        </p:txBody>
      </p:sp>
      <p:sp>
        <p:nvSpPr>
          <p:cNvPr id="65539" name="Rectangle 2"/>
          <p:cNvSpPr>
            <a:spLocks noGrp="1" noRot="1" noChangeAspect="1" noChangeArrowheads="1" noTextEdit="1"/>
          </p:cNvSpPr>
          <p:nvPr>
            <p:ph type="sldImg"/>
          </p:nvPr>
        </p:nvSpPr>
        <p:spPr>
          <a:xfrm>
            <a:off x="1177925" y="695325"/>
            <a:ext cx="4641850" cy="3481388"/>
          </a:xfrm>
          <a:ln/>
        </p:spPr>
      </p:sp>
      <p:sp>
        <p:nvSpPr>
          <p:cNvPr id="655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9819F5B-7A32-4D84-A65B-6246CABB1E02}" type="slidenum">
              <a:rPr lang="en-US" altLang="en-US" sz="1200"/>
              <a:pPr/>
              <a:t>43</a:t>
            </a:fld>
            <a:endParaRPr lang="en-US" altLang="en-US" sz="1200"/>
          </a:p>
        </p:txBody>
      </p:sp>
      <p:sp>
        <p:nvSpPr>
          <p:cNvPr id="67587" name="Rectangle 2"/>
          <p:cNvSpPr>
            <a:spLocks noGrp="1" noRot="1" noChangeAspect="1" noChangeArrowheads="1" noTextEdit="1"/>
          </p:cNvSpPr>
          <p:nvPr>
            <p:ph type="sldImg"/>
          </p:nvPr>
        </p:nvSpPr>
        <p:spPr>
          <a:xfrm>
            <a:off x="1177925" y="695325"/>
            <a:ext cx="4641850" cy="3481388"/>
          </a:xfrm>
          <a:ln/>
        </p:spPr>
      </p:sp>
      <p:sp>
        <p:nvSpPr>
          <p:cNvPr id="6758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(Assertion)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گزاره‌ای است که شرطی را بیان می‌کند که می‌خواهیم پایگاه داده همیشه آن را برآورده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محدودیت‌های زیر را می‌توان با استفاده از ادعاها بیان کرد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هر ردیف در رابطه دانشجو</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(student)</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مقدار ویژگی </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tot_cred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باید برابر با مجموع واحدهای درسی باشد که دانشجو با موفقیت گذرانده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استاد نمی‌تواند در یک نیم‌سال در دو کلاس مختلف و در یک بازه زمانی مشابه تدریس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 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SQL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 صورت زیر نوشته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46</a:t>
            </a:fld>
            <a:endParaRPr lang="en-US" altLang="en-US"/>
          </a:p>
        </p:txBody>
      </p:sp>
    </p:spTree>
    <p:extLst>
      <p:ext uri="{BB962C8B-B14F-4D97-AF65-F5344CB8AC3E}">
        <p14:creationId xmlns:p14="http://schemas.microsoft.com/office/powerpoint/2010/main" val="30932591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E4319-0E5C-6175-9699-E000A788E2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CF3037-C577-EF0B-86E1-0DDB839F2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621A7-2A9D-FEC2-D729-57AD91F437B2}"/>
              </a:ext>
            </a:extLst>
          </p:cNvPr>
          <p:cNvSpPr>
            <a:spLocks noGrp="1"/>
          </p:cNvSpPr>
          <p:nvPr>
            <p:ph type="body" idx="1"/>
          </p:nvPr>
        </p:nvSpPr>
        <p:spPr/>
        <p:txBody>
          <a:bodyPr/>
          <a:lstStyle/>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(Assertion)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گزاره‌ای است که شرطی را بیان می‌کند که می‌خواهیم پایگاه داده همیشه آن را برآورده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br>
              <a:rPr lang="en-US" sz="1800" dirty="0">
                <a:effectLst/>
                <a:latin typeface="Times New Roman" panose="02020603050405020304" pitchFamily="18" charset="0"/>
                <a:ea typeface="Times New Roman" panose="02020603050405020304" pitchFamily="18" charset="0"/>
                <a:cs typeface="Arial" panose="020B0604020202020204" pitchFamily="34" charset="0"/>
              </a:rPr>
            </a:b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محدودیت‌های زیر را می‌توان با استفاده از ادعاها بیان کرد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برای هر ردیف در رابطه دانشجو</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(student)</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مقدار ویژگی </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tot_cred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باید برابر با مجموع واحدهای درسی باشد که دانشجو با موفقیت گذرانده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استاد نمی‌تواند در یک نیم‌سال در دو کلاس مختلف و در یک بازه زمانی مشابه تدریس 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یک ادعا در</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SQL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به صورت زیر نوشته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dirty="0"/>
          </a:p>
        </p:txBody>
      </p:sp>
      <p:sp>
        <p:nvSpPr>
          <p:cNvPr id="4" name="Slide Number Placeholder 3">
            <a:extLst>
              <a:ext uri="{FF2B5EF4-FFF2-40B4-BE49-F238E27FC236}">
                <a16:creationId xmlns:a16="http://schemas.microsoft.com/office/drawing/2014/main" id="{CBF1BAD6-6915-3DE2-D4DB-AB738DC0BD88}"/>
              </a:ext>
            </a:extLst>
          </p:cNvPr>
          <p:cNvSpPr>
            <a:spLocks noGrp="1"/>
          </p:cNvSpPr>
          <p:nvPr>
            <p:ph type="sldNum" sz="quarter" idx="5"/>
          </p:nvPr>
        </p:nvSpPr>
        <p:spPr/>
        <p:txBody>
          <a:bodyPr/>
          <a:lstStyle/>
          <a:p>
            <a:pPr>
              <a:defRPr/>
            </a:pPr>
            <a:fld id="{AE66C03C-4B0E-4149-8287-A3B340EB818D}" type="slidenum">
              <a:rPr lang="en-US" altLang="en-US" smtClean="0"/>
              <a:pPr>
                <a:defRPr/>
              </a:pPr>
              <a:t>47</a:t>
            </a:fld>
            <a:endParaRPr lang="en-US" altLang="en-US"/>
          </a:p>
        </p:txBody>
      </p:sp>
    </p:spTree>
    <p:extLst>
      <p:ext uri="{BB962C8B-B14F-4D97-AF65-F5344CB8AC3E}">
        <p14:creationId xmlns:p14="http://schemas.microsoft.com/office/powerpoint/2010/main" val="3092957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2370A-355C-5290-C883-5DB54E158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535E3F-7203-9445-744E-A6A1FFF5D2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E8CDC-B7FB-4782-E834-8E1F87B032B8}"/>
              </a:ext>
            </a:extLst>
          </p:cNvPr>
          <p:cNvSpPr>
            <a:spLocks noGrp="1"/>
          </p:cNvSpPr>
          <p:nvPr>
            <p:ph type="body" idx="1"/>
          </p:nvPr>
        </p:nvSpPr>
        <p:spPr/>
        <p:txBody>
          <a:bodyPr/>
          <a:lstStyle/>
          <a:p>
            <a:pPr algn="r" rtl="1"/>
            <a:r>
              <a:rPr lang="fa-IR" sz="1800" b="1" dirty="0"/>
              <a:t>جمع‌بندی مفهومی</a:t>
            </a:r>
          </a:p>
          <a:p>
            <a:pPr algn="r" rtl="1"/>
            <a:r>
              <a:rPr lang="en-US" sz="1800" b="1" dirty="0"/>
              <a:t>ASSERTION</a:t>
            </a:r>
            <a:r>
              <a:rPr lang="en-US" sz="1800" dirty="0"/>
              <a:t>: </a:t>
            </a:r>
            <a:r>
              <a:rPr lang="fa-IR" sz="1800" dirty="0"/>
              <a:t>ایده‌آل تئوریک در طراحی پایگاه داده</a:t>
            </a:r>
          </a:p>
          <a:p>
            <a:pPr algn="r" rtl="1"/>
            <a:r>
              <a:rPr lang="en-US" sz="1800" b="1" dirty="0"/>
              <a:t>Constraint</a:t>
            </a:r>
            <a:r>
              <a:rPr lang="en-US" sz="1800" dirty="0"/>
              <a:t>: </a:t>
            </a:r>
            <a:r>
              <a:rPr lang="fa-IR" sz="1800" dirty="0"/>
              <a:t>بهترین انتخاب برای قیود ساده و محلی</a:t>
            </a:r>
          </a:p>
          <a:p>
            <a:pPr algn="r" rtl="1"/>
            <a:r>
              <a:rPr lang="en-US" sz="1800" b="1" dirty="0"/>
              <a:t>Trigger</a:t>
            </a:r>
            <a:r>
              <a:rPr lang="en-US" sz="1800" dirty="0"/>
              <a:t>: </a:t>
            </a:r>
            <a:r>
              <a:rPr lang="fa-IR" sz="1800" dirty="0"/>
              <a:t>راه‌حل عملی برای قیود سراسری</a:t>
            </a:r>
          </a:p>
          <a:p>
            <a:pPr algn="r" rtl="1"/>
            <a:r>
              <a:rPr lang="en-US" sz="1800" b="1" dirty="0"/>
              <a:t>Application-level checks</a:t>
            </a:r>
            <a:r>
              <a:rPr lang="en-US" sz="1800" dirty="0"/>
              <a:t>: </a:t>
            </a:r>
            <a:r>
              <a:rPr lang="fa-IR" sz="1800" dirty="0"/>
              <a:t>مناسب قوانین تجاری پیچیده</a:t>
            </a:r>
          </a:p>
          <a:p>
            <a:pPr algn="r" rtl="1"/>
            <a:r>
              <a:rPr lang="fa-IR" sz="1800" dirty="0"/>
              <a:t>اگر بخواهید، می‌توانم همین موضوع را:</a:t>
            </a:r>
          </a:p>
          <a:p>
            <a:pPr algn="r" rtl="1"/>
            <a:r>
              <a:rPr lang="fa-IR" sz="1800" dirty="0"/>
              <a:t>به زبان امتحانی (سؤالات پایگاه داده)</a:t>
            </a:r>
          </a:p>
          <a:p>
            <a:pPr algn="r" rtl="1"/>
            <a:r>
              <a:rPr lang="fa-IR" sz="1800" dirty="0"/>
              <a:t>با نمودار مفهومی</a:t>
            </a:r>
          </a:p>
          <a:p>
            <a:pPr algn="r" rtl="1"/>
            <a:r>
              <a:rPr lang="fa-IR" sz="1800" dirty="0"/>
              <a:t>یا مقایسه </a:t>
            </a:r>
            <a:r>
              <a:rPr lang="en-US" sz="1800" dirty="0"/>
              <a:t>Oracle vs PostgreSQL</a:t>
            </a:r>
            <a:br>
              <a:rPr lang="en-US" sz="1800" dirty="0"/>
            </a:br>
            <a:r>
              <a:rPr lang="fa-IR" sz="1800" dirty="0"/>
              <a:t>ارائه دهم.</a:t>
            </a:r>
          </a:p>
        </p:txBody>
      </p:sp>
      <p:sp>
        <p:nvSpPr>
          <p:cNvPr id="4" name="Slide Number Placeholder 3">
            <a:extLst>
              <a:ext uri="{FF2B5EF4-FFF2-40B4-BE49-F238E27FC236}">
                <a16:creationId xmlns:a16="http://schemas.microsoft.com/office/drawing/2014/main" id="{9DF198E4-866B-FC88-FE69-7F5B865DAF79}"/>
              </a:ext>
            </a:extLst>
          </p:cNvPr>
          <p:cNvSpPr>
            <a:spLocks noGrp="1"/>
          </p:cNvSpPr>
          <p:nvPr>
            <p:ph type="sldNum" sz="quarter" idx="5"/>
          </p:nvPr>
        </p:nvSpPr>
        <p:spPr/>
        <p:txBody>
          <a:bodyPr/>
          <a:lstStyle/>
          <a:p>
            <a:pPr>
              <a:defRPr/>
            </a:pPr>
            <a:fld id="{AE66C03C-4B0E-4149-8287-A3B340EB818D}" type="slidenum">
              <a:rPr lang="en-US" altLang="en-US" smtClean="0"/>
              <a:pPr>
                <a:defRPr/>
              </a:pPr>
              <a:t>48</a:t>
            </a:fld>
            <a:endParaRPr lang="en-US" altLang="en-US"/>
          </a:p>
        </p:txBody>
      </p:sp>
    </p:spTree>
    <p:extLst>
      <p:ext uri="{BB962C8B-B14F-4D97-AF65-F5344CB8AC3E}">
        <p14:creationId xmlns:p14="http://schemas.microsoft.com/office/powerpoint/2010/main" val="4705741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4921C35E-7DD2-43A4-B0B3-DF6655FBBF3E}" type="slidenum">
              <a:rPr lang="en-US" altLang="en-US" sz="1200"/>
              <a:pPr/>
              <a:t>49</a:t>
            </a:fld>
            <a:endParaRPr lang="en-US" altLang="en-US" sz="1200"/>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xfrm>
            <a:off x="931864" y="4410076"/>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FC5AA873-0E0F-4E9D-B9D0-F99186FE665C}" type="slidenum">
              <a:rPr lang="en-US" altLang="en-US" sz="1200"/>
              <a:pPr/>
              <a:t>50</a:t>
            </a:fld>
            <a:endParaRPr lang="en-US" altLang="en-US" sz="1200"/>
          </a:p>
        </p:txBody>
      </p:sp>
      <p:sp>
        <p:nvSpPr>
          <p:cNvPr id="77827" name="Rectangle 2"/>
          <p:cNvSpPr>
            <a:spLocks noGrp="1" noRot="1" noChangeAspect="1" noChangeArrowheads="1" noTextEdit="1"/>
          </p:cNvSpPr>
          <p:nvPr>
            <p:ph type="sldImg"/>
          </p:nvPr>
        </p:nvSpPr>
        <p:spPr>
          <a:xfrm>
            <a:off x="1177925" y="695325"/>
            <a:ext cx="4641850" cy="3481388"/>
          </a:xfrm>
          <a:ln/>
        </p:spPr>
      </p:sp>
      <p:sp>
        <p:nvSpPr>
          <p:cNvPr id="77828"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altLang="en-US" sz="1400" dirty="0">
                <a:latin typeface="Times New Roman" panose="02020603050405020304" pitchFamily="18" charset="0"/>
              </a:rPr>
              <a:t>اشیاء بزرگ (عکس‌ها، ویدئوها، فایل‌های </a:t>
            </a:r>
            <a:r>
              <a:rPr lang="en-US" altLang="en-US" sz="1400" dirty="0">
                <a:latin typeface="Times New Roman" panose="02020603050405020304" pitchFamily="18" charset="0"/>
              </a:rPr>
              <a:t>CAD </a:t>
            </a:r>
            <a:r>
              <a:rPr lang="fa-IR" altLang="en-US" sz="1400" dirty="0">
                <a:latin typeface="Times New Roman" panose="02020603050405020304" pitchFamily="18" charset="0"/>
              </a:rPr>
              <a:t>و غیره) به عنوان یک شیء بزرگ ذخیره می‌شوند:</a:t>
            </a:r>
          </a:p>
          <a:p>
            <a:pPr algn="r" rtl="1"/>
            <a:r>
              <a:rPr lang="fa-IR" altLang="en-US" sz="1400" dirty="0">
                <a:latin typeface="Times New Roman" panose="02020603050405020304" pitchFamily="18" charset="0"/>
              </a:rPr>
              <a:t>- </a:t>
            </a:r>
            <a:r>
              <a:rPr lang="en-US" altLang="en-US" sz="1400" dirty="0">
                <a:latin typeface="Times New Roman" panose="02020603050405020304" pitchFamily="18" charset="0"/>
              </a:rPr>
              <a:t>blob: </a:t>
            </a:r>
            <a:r>
              <a:rPr lang="fa-IR" altLang="en-US" sz="1400" dirty="0">
                <a:latin typeface="Times New Roman" panose="02020603050405020304" pitchFamily="18" charset="0"/>
              </a:rPr>
              <a:t>شیء بزرگ باینری -- شیء یک مجموعه بزرگ از داده‌های باینری تفسیر نشده است (که تفسیر آن به یک برنامه خارج از سیستم پایگاه داده واگذار شده است)</a:t>
            </a:r>
          </a:p>
          <a:p>
            <a:pPr algn="r" rtl="1"/>
            <a:r>
              <a:rPr lang="fa-IR" altLang="en-US" sz="1400" dirty="0">
                <a:latin typeface="Times New Roman" panose="02020603050405020304" pitchFamily="18" charset="0"/>
              </a:rPr>
              <a:t>- </a:t>
            </a:r>
            <a:r>
              <a:rPr lang="en-US" altLang="en-US" sz="1400" dirty="0" err="1">
                <a:latin typeface="Times New Roman" panose="02020603050405020304" pitchFamily="18" charset="0"/>
              </a:rPr>
              <a:t>clob</a:t>
            </a:r>
            <a:r>
              <a:rPr lang="en-US" altLang="en-US" sz="1400" dirty="0">
                <a:latin typeface="Times New Roman" panose="02020603050405020304" pitchFamily="18" charset="0"/>
              </a:rPr>
              <a:t>: </a:t>
            </a:r>
            <a:r>
              <a:rPr lang="fa-IR" altLang="en-US" sz="1400" dirty="0">
                <a:latin typeface="Times New Roman" panose="02020603050405020304" pitchFamily="18" charset="0"/>
              </a:rPr>
              <a:t>شیء بزرگ کاراکتری -- شیء یک مجموعه بزرگ از داده‌های کاراکتری است</a:t>
            </a:r>
          </a:p>
          <a:p>
            <a:pPr algn="r" rtl="1"/>
            <a:r>
              <a:rPr lang="fa-IR" altLang="en-US" sz="1400" dirty="0">
                <a:latin typeface="Times New Roman" panose="02020603050405020304" pitchFamily="18" charset="0"/>
              </a:rPr>
              <a:t>هنگامی که یک پرس و جو یک شیء بزرگ را برمی‌گرداند، به جای خود شیء بزرگ، یک اشاره‌گر برگردانده می‌شود.</a:t>
            </a:r>
            <a:endParaRPr lang="en-US" altLang="en-US" sz="1400" dirty="0">
              <a:latin typeface="Times New Roman" panose="02020603050405020304" pitchFamily="18" charset="0"/>
            </a:endParaRPr>
          </a:p>
          <a:p>
            <a:pPr algn="r" rtl="1"/>
            <a:endParaRPr lang="en-US" altLang="en-US" sz="1400" dirty="0">
              <a:latin typeface="Times New Roman" panose="02020603050405020304" pitchFamily="18" charset="0"/>
            </a:endParaRPr>
          </a:p>
          <a:p>
            <a:r>
              <a:rPr lang="en-US" b="1" dirty="0"/>
              <a:t>Types of Large Objects</a:t>
            </a:r>
          </a:p>
          <a:p>
            <a:pPr>
              <a:buFont typeface="+mj-lt"/>
              <a:buAutoNum type="arabicPeriod"/>
            </a:pPr>
            <a:r>
              <a:rPr lang="en-US" b="1" dirty="0"/>
              <a:t>BLOB (Binary Large Object):</a:t>
            </a:r>
            <a:endParaRPr lang="en-US" dirty="0"/>
          </a:p>
          <a:p>
            <a:pPr marL="742950" lvl="1" indent="-285750">
              <a:buFont typeface="+mj-lt"/>
              <a:buAutoNum type="arabicPeriod"/>
            </a:pPr>
            <a:r>
              <a:rPr lang="en-US" dirty="0"/>
              <a:t>A </a:t>
            </a:r>
            <a:r>
              <a:rPr lang="en-US" b="1" dirty="0"/>
              <a:t>BLOB</a:t>
            </a:r>
            <a:r>
              <a:rPr lang="en-US" dirty="0"/>
              <a:t> is a large collection of </a:t>
            </a:r>
            <a:r>
              <a:rPr lang="en-US" b="1" dirty="0"/>
              <a:t>binary data</a:t>
            </a:r>
            <a:r>
              <a:rPr lang="en-US" dirty="0"/>
              <a:t> that the database does not interpret.</a:t>
            </a:r>
          </a:p>
          <a:p>
            <a:pPr marL="742950" lvl="1" indent="-285750">
              <a:buFont typeface="+mj-lt"/>
              <a:buAutoNum type="arabicPeriod"/>
            </a:pPr>
            <a:r>
              <a:rPr lang="en-US" dirty="0"/>
              <a:t>Commonly used for storing files such as:</a:t>
            </a:r>
          </a:p>
          <a:p>
            <a:pPr marL="1143000" lvl="2" indent="-228600">
              <a:buFont typeface="+mj-lt"/>
              <a:buAutoNum type="arabicPeriod"/>
            </a:pPr>
            <a:r>
              <a:rPr lang="en-US" dirty="0"/>
              <a:t>Images (e.g., .</a:t>
            </a:r>
            <a:r>
              <a:rPr lang="en-US" dirty="0" err="1"/>
              <a:t>png</a:t>
            </a:r>
            <a:r>
              <a:rPr lang="en-US" dirty="0"/>
              <a:t>, .jpg)</a:t>
            </a:r>
          </a:p>
          <a:p>
            <a:pPr marL="1143000" lvl="2" indent="-228600">
              <a:buFont typeface="+mj-lt"/>
              <a:buAutoNum type="arabicPeriod"/>
            </a:pPr>
            <a:r>
              <a:rPr lang="en-US" dirty="0"/>
              <a:t>Videos (e.g., .mp4, .mov)</a:t>
            </a:r>
          </a:p>
          <a:p>
            <a:pPr marL="1143000" lvl="2" indent="-228600">
              <a:buFont typeface="+mj-lt"/>
              <a:buAutoNum type="arabicPeriod"/>
            </a:pPr>
            <a:r>
              <a:rPr lang="en-US" dirty="0"/>
              <a:t>Executables</a:t>
            </a:r>
          </a:p>
          <a:p>
            <a:pPr marL="1143000" lvl="2" indent="-228600">
              <a:buFont typeface="+mj-lt"/>
              <a:buAutoNum type="arabicPeriod"/>
            </a:pPr>
            <a:r>
              <a:rPr lang="en-US" dirty="0"/>
              <a:t>Any other type of binary data.</a:t>
            </a:r>
          </a:p>
          <a:p>
            <a:pPr marL="742950" lvl="1" indent="-285750">
              <a:buFont typeface="+mj-lt"/>
              <a:buAutoNum type="arabicPeriod"/>
            </a:pPr>
            <a:r>
              <a:rPr lang="en-US" dirty="0"/>
              <a:t>The data is treated as raw bytes, and its </a:t>
            </a:r>
            <a:r>
              <a:rPr lang="en-US" b="1" dirty="0"/>
              <a:t>interpretation</a:t>
            </a:r>
            <a:r>
              <a:rPr lang="en-US" dirty="0"/>
              <a:t> is left entirely to the application or user interacting with the database.</a:t>
            </a:r>
          </a:p>
          <a:p>
            <a:pPr>
              <a:buFont typeface="+mj-lt"/>
              <a:buAutoNum type="arabicPeriod"/>
            </a:pPr>
            <a:r>
              <a:rPr lang="en-US" b="1" dirty="0"/>
              <a:t>CLOB (Character Large Object):</a:t>
            </a:r>
            <a:endParaRPr lang="en-US" dirty="0"/>
          </a:p>
          <a:p>
            <a:pPr marL="742950" lvl="1" indent="-285750">
              <a:buFont typeface="+mj-lt"/>
              <a:buAutoNum type="arabicPeriod"/>
            </a:pPr>
            <a:r>
              <a:rPr lang="en-US" dirty="0"/>
              <a:t>A </a:t>
            </a:r>
            <a:r>
              <a:rPr lang="en-US" b="1" dirty="0"/>
              <a:t>CLOB</a:t>
            </a:r>
            <a:r>
              <a:rPr lang="en-US" dirty="0"/>
              <a:t> is a large collection of </a:t>
            </a:r>
            <a:r>
              <a:rPr lang="en-US" b="1" dirty="0"/>
              <a:t>character data</a:t>
            </a:r>
            <a:r>
              <a:rPr lang="en-US" dirty="0"/>
              <a:t>, typically </a:t>
            </a:r>
            <a:r>
              <a:rPr lang="en-US" b="1" dirty="0"/>
              <a:t>textual content.</a:t>
            </a:r>
          </a:p>
          <a:p>
            <a:pPr marL="742950" lvl="1" indent="-285750">
              <a:buFont typeface="+mj-lt"/>
              <a:buAutoNum type="arabicPeriod"/>
            </a:pPr>
            <a:r>
              <a:rPr lang="en-US" dirty="0"/>
              <a:t>Commonly used for storing:</a:t>
            </a:r>
          </a:p>
          <a:p>
            <a:pPr marL="1143000" lvl="2" indent="-228600">
              <a:buFont typeface="+mj-lt"/>
              <a:buAutoNum type="arabicPeriod"/>
            </a:pPr>
            <a:r>
              <a:rPr lang="en-US" dirty="0"/>
              <a:t>Documents (e.g., .txt, .docx)</a:t>
            </a:r>
          </a:p>
          <a:p>
            <a:pPr marL="1143000" lvl="2" indent="-228600">
              <a:buFont typeface="+mj-lt"/>
              <a:buAutoNum type="arabicPeriod"/>
            </a:pPr>
            <a:r>
              <a:rPr lang="en-US" dirty="0"/>
              <a:t>Articles</a:t>
            </a:r>
          </a:p>
          <a:p>
            <a:pPr marL="1143000" lvl="2" indent="-228600">
              <a:buFont typeface="+mj-lt"/>
              <a:buAutoNum type="arabicPeriod"/>
            </a:pPr>
            <a:r>
              <a:rPr lang="en-US" dirty="0"/>
              <a:t>Logs or extensive descriptions.</a:t>
            </a:r>
          </a:p>
          <a:p>
            <a:pPr marL="742950" lvl="1" indent="-285750">
              <a:buFont typeface="+mj-lt"/>
              <a:buAutoNum type="arabicPeriod"/>
            </a:pPr>
            <a:r>
              <a:rPr lang="en-US" dirty="0"/>
              <a:t>Unlike a BLOB, the database can handle the content as character data (e.g., encoding, searching).</a:t>
            </a:r>
          </a:p>
          <a:p>
            <a:pPr marL="742950" lvl="1" indent="-285750">
              <a:buFont typeface="+mj-lt"/>
              <a:buAutoNum type="arabicPeriod"/>
            </a:pPr>
            <a:endParaRPr lang="en-US" dirty="0"/>
          </a:p>
          <a:p>
            <a:r>
              <a:rPr lang="en-US" b="1" dirty="0"/>
              <a:t>Storage:</a:t>
            </a:r>
          </a:p>
          <a:p>
            <a:pPr>
              <a:buFont typeface="Arial" panose="020B0604020202020204" pitchFamily="34" charset="0"/>
              <a:buChar char="•"/>
            </a:pPr>
            <a:r>
              <a:rPr lang="en-US" dirty="0"/>
              <a:t>Large objects are usually stored </a:t>
            </a:r>
            <a:r>
              <a:rPr lang="en-US" b="1" dirty="0"/>
              <a:t>outside the main table</a:t>
            </a:r>
            <a:r>
              <a:rPr lang="en-US" dirty="0"/>
              <a:t> where other structured data resides. Instead of placing the entire content within a table's row:</a:t>
            </a:r>
          </a:p>
          <a:p>
            <a:pPr marL="742950" lvl="1" indent="-285750">
              <a:buFont typeface="Arial" panose="020B0604020202020204" pitchFamily="34" charset="0"/>
              <a:buChar char="•"/>
            </a:pPr>
            <a:r>
              <a:rPr lang="en-US" dirty="0"/>
              <a:t>A </a:t>
            </a:r>
            <a:r>
              <a:rPr lang="en-US" b="1" dirty="0"/>
              <a:t>pointer/reference</a:t>
            </a:r>
            <a:r>
              <a:rPr lang="en-US" dirty="0"/>
              <a:t> to the large object's location in storage is kept in the table.</a:t>
            </a:r>
          </a:p>
          <a:p>
            <a:pPr marL="742950" lvl="1" indent="-285750">
              <a:buFont typeface="Arial" panose="020B0604020202020204" pitchFamily="34" charset="0"/>
              <a:buChar char="•"/>
            </a:pPr>
            <a:r>
              <a:rPr lang="en-US" dirty="0"/>
              <a:t>The actual object is stored in a specialized storage area optimized for handling large files.</a:t>
            </a:r>
          </a:p>
          <a:p>
            <a:pPr marL="742950" lvl="1" indent="-285750">
              <a:buFont typeface="Arial" panose="020B0604020202020204" pitchFamily="34" charset="0"/>
              <a:buChar char="•"/>
            </a:pPr>
            <a:endParaRPr lang="en-US" dirty="0"/>
          </a:p>
          <a:p>
            <a:r>
              <a:rPr lang="en-US" b="1" dirty="0"/>
              <a:t>Why Use a Pointer?</a:t>
            </a:r>
          </a:p>
          <a:p>
            <a:pPr lvl="1">
              <a:buFont typeface="Arial" panose="020B0604020202020204" pitchFamily="34" charset="0"/>
              <a:buChar char="•"/>
            </a:pPr>
            <a:r>
              <a:rPr lang="en-US" b="1" dirty="0"/>
              <a:t>Efficiency</a:t>
            </a:r>
            <a:r>
              <a:rPr lang="en-US" dirty="0"/>
              <a:t>:</a:t>
            </a:r>
            <a:br>
              <a:rPr lang="en-US" dirty="0"/>
            </a:br>
            <a:r>
              <a:rPr lang="en-US" dirty="0"/>
              <a:t>	Large objects can be extremely resource-intensive to handle, transfer, and process. Returning the actual object with a query could slow down performance significantly.</a:t>
            </a:r>
          </a:p>
          <a:p>
            <a:pPr lvl="1">
              <a:buFont typeface="Arial" panose="020B0604020202020204" pitchFamily="34" charset="0"/>
              <a:buChar char="•"/>
            </a:pPr>
            <a:r>
              <a:rPr lang="en-US" b="1" dirty="0"/>
              <a:t>Memory Usage</a:t>
            </a:r>
            <a:r>
              <a:rPr lang="en-US" dirty="0"/>
              <a:t>:</a:t>
            </a:r>
            <a:br>
              <a:rPr lang="en-US" dirty="0"/>
            </a:br>
            <a:r>
              <a:rPr lang="en-US" dirty="0"/>
              <a:t>	Storing and transferring pointers (small references) instead of the actual data reduces memory consumption and network load.</a:t>
            </a:r>
          </a:p>
          <a:p>
            <a:pPr lvl="1">
              <a:buFont typeface="Arial" panose="020B0604020202020204" pitchFamily="34" charset="0"/>
              <a:buChar char="•"/>
            </a:pPr>
            <a:r>
              <a:rPr lang="en-US" b="1" dirty="0"/>
              <a:t>Flexibility</a:t>
            </a:r>
            <a:r>
              <a:rPr lang="en-US" dirty="0"/>
              <a:t>:</a:t>
            </a:r>
            <a:br>
              <a:rPr lang="en-US" dirty="0"/>
            </a:br>
            <a:r>
              <a:rPr lang="en-US" dirty="0"/>
              <a:t>	Applications can fetch the large object when needed, avoiding unnecessary data transfer.</a:t>
            </a:r>
          </a:p>
          <a:p>
            <a:pPr lvl="1"/>
            <a:r>
              <a:rPr lang="en-US" b="1" dirty="0"/>
              <a:t>Query Behavior:</a:t>
            </a:r>
          </a:p>
          <a:p>
            <a:pPr lvl="2">
              <a:buFont typeface="Arial" panose="020B0604020202020204" pitchFamily="34" charset="0"/>
              <a:buChar char="•"/>
            </a:pPr>
            <a:r>
              <a:rPr lang="en-US" dirty="0"/>
              <a:t>When a query involving a large object is executed:</a:t>
            </a:r>
          </a:p>
          <a:p>
            <a:pPr marL="1200150" lvl="2" indent="-285750">
              <a:buFont typeface="Arial" panose="020B0604020202020204" pitchFamily="34" charset="0"/>
              <a:buChar char="•"/>
            </a:pPr>
            <a:r>
              <a:rPr lang="en-US" dirty="0"/>
              <a:t>The query retrieves and returns a </a:t>
            </a:r>
            <a:r>
              <a:rPr lang="en-US" b="1" dirty="0"/>
              <a:t>pointer</a:t>
            </a:r>
            <a:r>
              <a:rPr lang="en-US" dirty="0"/>
              <a:t> (or reference) to the large object rather than the object itself.</a:t>
            </a:r>
          </a:p>
          <a:p>
            <a:pPr marL="1200150" lvl="2" indent="-285750">
              <a:buFont typeface="Arial" panose="020B0604020202020204" pitchFamily="34" charset="0"/>
              <a:buChar char="•"/>
            </a:pPr>
            <a:r>
              <a:rPr lang="en-US" dirty="0"/>
              <a:t>The application accessing the database uses this pointer to fetch the object only when required.</a:t>
            </a:r>
          </a:p>
          <a:p>
            <a:pPr marL="742950" lvl="1" indent="-285750">
              <a:buFont typeface="+mj-lt"/>
              <a:buAutoNum type="arabicPeriod"/>
            </a:pPr>
            <a:endParaRPr lang="en-US" dirty="0"/>
          </a:p>
          <a:p>
            <a:pPr algn="l" rtl="0"/>
            <a:endParaRPr lang="fa-IR" altLang="en-US" sz="1400" dirty="0">
              <a:latin typeface="Times New Roman" panose="02020603050405020304" pitchFamily="18"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A9F710CF-2C3A-4019-8007-D8C75860C40C}" type="slidenum">
              <a:rPr lang="en-US" altLang="en-US" sz="1200"/>
              <a:pPr/>
              <a:t>51</a:t>
            </a:fld>
            <a:endParaRPr lang="en-US" altLang="en-US" sz="1200"/>
          </a:p>
        </p:txBody>
      </p:sp>
      <p:sp>
        <p:nvSpPr>
          <p:cNvPr id="74755" name="Rectangle 2"/>
          <p:cNvSpPr>
            <a:spLocks noGrp="1" noRot="1" noChangeAspect="1" noChangeArrowheads="1" noTextEdit="1"/>
          </p:cNvSpPr>
          <p:nvPr>
            <p:ph type="sldImg"/>
          </p:nvPr>
        </p:nvSpPr>
        <p:spPr>
          <a:xfrm>
            <a:off x="1177925" y="695325"/>
            <a:ext cx="4641850" cy="3481388"/>
          </a:xfrm>
          <a:ln/>
        </p:spPr>
      </p:sp>
      <p:sp>
        <p:nvSpPr>
          <p:cNvPr id="74756"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شاخص‌ها در پایگاه داده از الگوریتم‌های مختلفی برای یافتن مقادیر خاص به صورت کارآمد استفاده می‌کنند. رایج‌ترین الگوریتم‌ها شامل موارد زیر می‌شوند:</a:t>
            </a:r>
          </a:p>
          <a:p>
            <a:pPr algn="r" rtl="1"/>
            <a:r>
              <a:rPr lang="fa-IR" b="1" dirty="0"/>
              <a:t>1. شاخص‌های </a:t>
            </a:r>
            <a:r>
              <a:rPr lang="en-US" b="1" dirty="0"/>
              <a:t>B-Tree (</a:t>
            </a:r>
            <a:r>
              <a:rPr lang="fa-IR" b="1" dirty="0"/>
              <a:t>درخت متوازن):</a:t>
            </a:r>
          </a:p>
          <a:p>
            <a:pPr algn="r" rtl="1">
              <a:buFont typeface="Arial" panose="020B0604020202020204" pitchFamily="34" charset="0"/>
              <a:buChar char="•"/>
            </a:pPr>
            <a:r>
              <a:rPr lang="fa-IR" b="1" dirty="0"/>
              <a:t>نحوه کار</a:t>
            </a:r>
            <a:r>
              <a:rPr lang="fa-IR" dirty="0"/>
              <a:t>: </a:t>
            </a:r>
            <a:r>
              <a:rPr lang="en-US" dirty="0"/>
              <a:t>B-Tree </a:t>
            </a:r>
            <a:r>
              <a:rPr lang="fa-IR" dirty="0"/>
              <a:t>یک ساختار داده‌ای درختی خود متوازن است که داده‌ها را مرتب نگه می‌دارد و جستجوها، دسترسی ترتیبی، درج‌ها و حذف‌ها را در زمان لگاریتمی امکان‌پذیر می‌کند.</a:t>
            </a:r>
          </a:p>
          <a:p>
            <a:pPr algn="r" rtl="1">
              <a:buFont typeface="Arial" panose="020B0604020202020204" pitchFamily="34" charset="0"/>
              <a:buChar char="•"/>
            </a:pPr>
            <a:r>
              <a:rPr lang="fa-IR" b="1" dirty="0"/>
              <a:t>استفاده</a:t>
            </a:r>
            <a:r>
              <a:rPr lang="fa-IR" dirty="0"/>
              <a:t>: بیشتر پایگاه‌های داده رابطه‌ای (مانند </a:t>
            </a:r>
            <a:r>
              <a:rPr lang="en-US" dirty="0"/>
              <a:t>MySQL، PostgreSQL) </a:t>
            </a:r>
            <a:r>
              <a:rPr lang="fa-IR" dirty="0"/>
              <a:t>از </a:t>
            </a:r>
            <a:r>
              <a:rPr lang="en-US" dirty="0"/>
              <a:t>B-Tree </a:t>
            </a:r>
            <a:r>
              <a:rPr lang="fa-IR" dirty="0"/>
              <a:t>یا تغییرات آن مانند </a:t>
            </a:r>
            <a:r>
              <a:rPr lang="en-US" dirty="0"/>
              <a:t>B+ Tree </a:t>
            </a:r>
            <a:r>
              <a:rPr lang="fa-IR" dirty="0"/>
              <a:t>استفاده می‌کنند.</a:t>
            </a:r>
          </a:p>
          <a:p>
            <a:pPr algn="r" rtl="1">
              <a:buFont typeface="Arial" panose="020B0604020202020204" pitchFamily="34" charset="0"/>
              <a:buChar char="•"/>
            </a:pPr>
            <a:r>
              <a:rPr lang="fa-IR" b="1" dirty="0"/>
              <a:t>مزایا</a:t>
            </a:r>
            <a:r>
              <a:rPr lang="fa-IR" dirty="0"/>
              <a:t>: کارآمد برای دامنه گسترده‌ای از پرس و جوها، شامل پرس و جوهای برابری و دامنه.</a:t>
            </a:r>
          </a:p>
          <a:p>
            <a:pPr algn="r" rtl="1"/>
            <a:r>
              <a:rPr lang="fa-IR" b="1" dirty="0"/>
              <a:t>2. شاخص‌های </a:t>
            </a:r>
            <a:r>
              <a:rPr lang="en-US" b="1" dirty="0"/>
              <a:t>Hash:</a:t>
            </a:r>
          </a:p>
          <a:p>
            <a:pPr algn="r" rtl="1">
              <a:buFont typeface="Arial" panose="020B0604020202020204" pitchFamily="34" charset="0"/>
              <a:buChar char="•"/>
            </a:pPr>
            <a:r>
              <a:rPr lang="fa-IR" b="1" dirty="0"/>
              <a:t>نحوه کار</a:t>
            </a:r>
            <a:r>
              <a:rPr lang="fa-IR" dirty="0"/>
              <a:t>: شاخص‌های </a:t>
            </a:r>
            <a:r>
              <a:rPr lang="en-US" dirty="0"/>
              <a:t>Hash </a:t>
            </a:r>
            <a:r>
              <a:rPr lang="fa-IR" dirty="0"/>
              <a:t>از یک تابع </a:t>
            </a:r>
            <a:r>
              <a:rPr lang="en-US" dirty="0"/>
              <a:t>Hash </a:t>
            </a:r>
            <a:r>
              <a:rPr lang="fa-IR" dirty="0"/>
              <a:t>برای تبدیل کلید جستجو به یک مکان در شاخص استفاده می‌کنند. تابع </a:t>
            </a:r>
            <a:r>
              <a:rPr lang="en-US" dirty="0"/>
              <a:t>Hash </a:t>
            </a:r>
            <a:r>
              <a:rPr lang="fa-IR" dirty="0"/>
              <a:t>تضمین می‌کند که داده‌ها به طور یکنواخت در سراسر شاخص توزیع شوند.</a:t>
            </a:r>
          </a:p>
          <a:p>
            <a:pPr algn="r" rtl="1">
              <a:buFont typeface="Arial" panose="020B0604020202020204" pitchFamily="34" charset="0"/>
              <a:buChar char="•"/>
            </a:pPr>
            <a:r>
              <a:rPr lang="fa-IR" b="1" dirty="0"/>
              <a:t>استفاده</a:t>
            </a:r>
            <a:r>
              <a:rPr lang="fa-IR" dirty="0"/>
              <a:t>: بهترین برای مقایسه‌های برابری اما مناسب برای پرس و جوهای دامنه نیست.</a:t>
            </a:r>
          </a:p>
          <a:p>
            <a:pPr algn="r" rtl="1">
              <a:buFont typeface="Arial" panose="020B0604020202020204" pitchFamily="34" charset="0"/>
              <a:buChar char="•"/>
            </a:pPr>
            <a:r>
              <a:rPr lang="fa-IR" b="1" dirty="0"/>
              <a:t>مزایا</a:t>
            </a:r>
            <a:r>
              <a:rPr lang="fa-IR" dirty="0"/>
              <a:t>: جستجوی بسیار سریع برای تطابقات دقیق.</a:t>
            </a:r>
          </a:p>
          <a:p>
            <a:pPr algn="r" rtl="1"/>
            <a:r>
              <a:rPr lang="fa-IR" b="1" dirty="0"/>
              <a:t>3. شاخص‌های </a:t>
            </a:r>
            <a:r>
              <a:rPr lang="en-US" b="1" dirty="0"/>
              <a:t>Bitmap:</a:t>
            </a:r>
          </a:p>
          <a:p>
            <a:pPr algn="r" rtl="1">
              <a:buFont typeface="Arial" panose="020B0604020202020204" pitchFamily="34" charset="0"/>
              <a:buChar char="•"/>
            </a:pPr>
            <a:r>
              <a:rPr lang="fa-IR" b="1" dirty="0"/>
              <a:t>نحوه کار</a:t>
            </a:r>
            <a:r>
              <a:rPr lang="fa-IR" dirty="0"/>
              <a:t>: شاخص‌های </a:t>
            </a:r>
            <a:r>
              <a:rPr lang="en-US" dirty="0"/>
              <a:t>Bitmap </a:t>
            </a:r>
            <a:r>
              <a:rPr lang="fa-IR" dirty="0"/>
              <a:t>از </a:t>
            </a:r>
            <a:r>
              <a:rPr lang="en-US" dirty="0"/>
              <a:t>Bitmap</a:t>
            </a:r>
            <a:r>
              <a:rPr lang="fa-IR" dirty="0"/>
              <a:t>ها (آرایه‌های بیت) برای نشان دادن وجود یک مقدار در مجموعه‌ای از رکوردها استفاده می‌کنند. هر بیت به یک سطر در جدول اشاره دارد.</a:t>
            </a:r>
          </a:p>
          <a:p>
            <a:pPr algn="r" rtl="1">
              <a:buFont typeface="Arial" panose="020B0604020202020204" pitchFamily="34" charset="0"/>
              <a:buChar char="•"/>
            </a:pPr>
            <a:r>
              <a:rPr lang="fa-IR" b="1" dirty="0"/>
              <a:t>استفاده</a:t>
            </a:r>
            <a:r>
              <a:rPr lang="fa-IR" dirty="0"/>
              <a:t>: معمول در انبارهای داده برای ستون‌هایی با تعداد کم مقادیر منحصربه‌فرد (کم کاردینالی).</a:t>
            </a:r>
          </a:p>
          <a:p>
            <a:pPr algn="r" rtl="1">
              <a:buFont typeface="Arial" panose="020B0604020202020204" pitchFamily="34" charset="0"/>
              <a:buChar char="•"/>
            </a:pPr>
            <a:r>
              <a:rPr lang="fa-IR" b="1" dirty="0"/>
              <a:t>مزایا</a:t>
            </a:r>
            <a:r>
              <a:rPr lang="fa-IR" dirty="0"/>
              <a:t>: کارآمد برای عملیات منطقی پیچیده و پرس و جوهای تجمیعی.</a:t>
            </a:r>
          </a:p>
          <a:p>
            <a:pPr algn="r" rtl="1"/>
            <a:r>
              <a:rPr lang="fa-IR" b="1" dirty="0"/>
              <a:t>4. </a:t>
            </a:r>
            <a:r>
              <a:rPr lang="en-US" b="1" dirty="0" err="1"/>
              <a:t>GiST</a:t>
            </a:r>
            <a:r>
              <a:rPr lang="en-US" b="1" dirty="0"/>
              <a:t> (</a:t>
            </a:r>
            <a:r>
              <a:rPr lang="fa-IR" b="1" dirty="0"/>
              <a:t>درخت جستجوی عمومی):</a:t>
            </a:r>
          </a:p>
          <a:p>
            <a:pPr algn="r" rtl="1">
              <a:buFont typeface="Arial" panose="020B0604020202020204" pitchFamily="34" charset="0"/>
              <a:buChar char="•"/>
            </a:pPr>
            <a:r>
              <a:rPr lang="fa-IR" b="1" dirty="0"/>
              <a:t>نحوه کار</a:t>
            </a:r>
            <a:r>
              <a:rPr lang="fa-IR" dirty="0"/>
              <a:t>: </a:t>
            </a:r>
            <a:r>
              <a:rPr lang="en-US" dirty="0" err="1"/>
              <a:t>GiST</a:t>
            </a:r>
            <a:r>
              <a:rPr lang="en-US" dirty="0"/>
              <a:t> </a:t>
            </a:r>
            <a:r>
              <a:rPr lang="fa-IR" dirty="0"/>
              <a:t>یک ساختار درختی متوازن است که می‌تواند برای انواع مختلفی از پرس و جوها، شامل پرس و جوهای فضایی و دامنه، استفاده شود.</a:t>
            </a:r>
          </a:p>
          <a:p>
            <a:pPr algn="r" rtl="1">
              <a:buFont typeface="Arial" panose="020B0604020202020204" pitchFamily="34" charset="0"/>
              <a:buChar char="•"/>
            </a:pPr>
            <a:r>
              <a:rPr lang="fa-IR" b="1" dirty="0"/>
              <a:t>استفاده</a:t>
            </a:r>
            <a:r>
              <a:rPr lang="fa-IR" dirty="0"/>
              <a:t>: به طور گسترده در پایگاه‌های داده مانند </a:t>
            </a:r>
            <a:r>
              <a:rPr lang="en-US" dirty="0"/>
              <a:t>PostgreSQL </a:t>
            </a:r>
            <a:r>
              <a:rPr lang="fa-IR" dirty="0"/>
              <a:t>برای شاخص‌گذاری تخصصی، مانند داده‌های جغرافیایی، استفاده می‌شود.</a:t>
            </a:r>
          </a:p>
          <a:p>
            <a:pPr algn="r" rtl="1">
              <a:buFont typeface="Arial" panose="020B0604020202020204" pitchFamily="34" charset="0"/>
              <a:buChar char="•"/>
            </a:pPr>
            <a:r>
              <a:rPr lang="fa-IR" b="1" dirty="0"/>
              <a:t>مزایا</a:t>
            </a:r>
            <a:r>
              <a:rPr lang="fa-IR" dirty="0"/>
              <a:t>: انعطاف‌پذیر و پشتیبانی از دامنه گسترده‌ای از پرس و جوها.</a:t>
            </a:r>
          </a:p>
          <a:p>
            <a:pPr algn="r" rtl="1"/>
            <a:r>
              <a:rPr lang="fa-IR" b="1" dirty="0"/>
              <a:t>5. </a:t>
            </a:r>
            <a:r>
              <a:rPr lang="en-US" b="1" dirty="0"/>
              <a:t>R-Tree:</a:t>
            </a:r>
          </a:p>
          <a:p>
            <a:pPr algn="r" rtl="1">
              <a:buFont typeface="Arial" panose="020B0604020202020204" pitchFamily="34" charset="0"/>
              <a:buChar char="•"/>
            </a:pPr>
            <a:r>
              <a:rPr lang="fa-IR" b="1" dirty="0"/>
              <a:t>نحوه کار</a:t>
            </a:r>
            <a:r>
              <a:rPr lang="fa-IR" dirty="0"/>
              <a:t>: </a:t>
            </a:r>
            <a:r>
              <a:rPr lang="en-US" dirty="0"/>
              <a:t>R-Tree </a:t>
            </a:r>
            <a:r>
              <a:rPr lang="fa-IR" dirty="0"/>
              <a:t>برای شاخص‌گذاری اطلاعات چند بعدی مانند مختصات جغرافیایی، مستطیل‌ها و غیره استفاده می‌شود.</a:t>
            </a:r>
          </a:p>
          <a:p>
            <a:pPr algn="r" rtl="1">
              <a:buFont typeface="Arial" panose="020B0604020202020204" pitchFamily="34" charset="0"/>
              <a:buChar char="•"/>
            </a:pPr>
            <a:r>
              <a:rPr lang="fa-IR" b="1" dirty="0"/>
              <a:t>استفاده</a:t>
            </a:r>
            <a:r>
              <a:rPr lang="fa-IR" dirty="0"/>
              <a:t>: اغلب در پایگاه‌های داده فضایی استفاده می‌شود.</a:t>
            </a:r>
          </a:p>
          <a:p>
            <a:pPr algn="r" rtl="1">
              <a:buFont typeface="Arial" panose="020B0604020202020204" pitchFamily="34" charset="0"/>
              <a:buChar char="•"/>
            </a:pPr>
            <a:r>
              <a:rPr lang="fa-IR" b="1" dirty="0"/>
              <a:t>مزایا</a:t>
            </a:r>
            <a:r>
              <a:rPr lang="fa-IR" dirty="0"/>
              <a:t>: کارآمد برای پرس و جوهای فضایی مانند یافتن تمام اشیاء در یک منطقه معین.</a:t>
            </a:r>
          </a:p>
          <a:p>
            <a:pPr algn="r" rtl="1"/>
            <a:r>
              <a:rPr lang="fa-IR" b="1" dirty="0"/>
              <a:t>خلاصه:</a:t>
            </a:r>
          </a:p>
          <a:p>
            <a:endParaRPr lang="en-US" dirty="0"/>
          </a:p>
          <a:p>
            <a:endParaRPr lang="en-US" dirty="0"/>
          </a:p>
          <a:p>
            <a:endParaRPr lang="en-US" dirty="0"/>
          </a:p>
          <a:p>
            <a:r>
              <a:rPr lang="en-US" dirty="0"/>
              <a:t>Indexes in databases use various search algorithms to efficiently locate specific values. The most common algorithms include:</a:t>
            </a:r>
          </a:p>
          <a:p>
            <a:r>
              <a:rPr lang="en-US" b="1" dirty="0"/>
              <a:t>1. B-Tree (Balanced Tree) Indexes:</a:t>
            </a:r>
          </a:p>
          <a:p>
            <a:pPr>
              <a:buFont typeface="Arial" panose="020B0604020202020204" pitchFamily="34" charset="0"/>
              <a:buChar char="•"/>
            </a:pPr>
            <a:r>
              <a:rPr lang="en-US" b="1" dirty="0"/>
              <a:t>How it works</a:t>
            </a:r>
            <a:r>
              <a:rPr lang="en-US" dirty="0"/>
              <a:t>: A B-Tree is a self-balancing tree data structure that maintains sorted data and allows searches, sequential access, insertions, and deletions in logarithmic time.</a:t>
            </a:r>
          </a:p>
          <a:p>
            <a:pPr>
              <a:buFont typeface="Arial" panose="020B0604020202020204" pitchFamily="34" charset="0"/>
              <a:buChar char="•"/>
            </a:pPr>
            <a:r>
              <a:rPr lang="en-US" b="1" dirty="0"/>
              <a:t>Usage</a:t>
            </a:r>
            <a:r>
              <a:rPr lang="en-US" dirty="0"/>
              <a:t>: Most relational databases (like MySQL, PostgreSQL) use B-Trees or variations like B+ Trees.</a:t>
            </a:r>
          </a:p>
          <a:p>
            <a:pPr>
              <a:buFont typeface="Arial" panose="020B0604020202020204" pitchFamily="34" charset="0"/>
              <a:buChar char="•"/>
            </a:pPr>
            <a:r>
              <a:rPr lang="en-US" b="1" dirty="0"/>
              <a:t>Advantages</a:t>
            </a:r>
            <a:r>
              <a:rPr lang="en-US" dirty="0"/>
              <a:t>: Efficient for a wide range of queries, including equality and range queries.</a:t>
            </a:r>
          </a:p>
          <a:p>
            <a:pPr>
              <a:buFont typeface="Arial" panose="020B0604020202020204" pitchFamily="34" charset="0"/>
              <a:buChar char="•"/>
            </a:pPr>
            <a:endParaRPr lang="en-US" dirty="0"/>
          </a:p>
          <a:p>
            <a:r>
              <a:rPr lang="en-US" b="1" dirty="0"/>
              <a:t>2. Hash Indexes:</a:t>
            </a:r>
          </a:p>
          <a:p>
            <a:pPr>
              <a:buFont typeface="Arial" panose="020B0604020202020204" pitchFamily="34" charset="0"/>
              <a:buChar char="•"/>
            </a:pPr>
            <a:r>
              <a:rPr lang="en-US" b="1" dirty="0"/>
              <a:t>How it works</a:t>
            </a:r>
            <a:r>
              <a:rPr lang="en-US" dirty="0"/>
              <a:t>: Hash indexes use a hash function to convert the search key into a location in the index. The hash function ensures that data is evenly distributed across the index.</a:t>
            </a:r>
          </a:p>
          <a:p>
            <a:pPr>
              <a:buFont typeface="Arial" panose="020B0604020202020204" pitchFamily="34" charset="0"/>
              <a:buChar char="•"/>
            </a:pPr>
            <a:r>
              <a:rPr lang="en-US" b="1" dirty="0"/>
              <a:t>Usage</a:t>
            </a:r>
            <a:r>
              <a:rPr lang="en-US" dirty="0"/>
              <a:t>: Best for equality comparisons but not suitable for range queries.</a:t>
            </a:r>
          </a:p>
          <a:p>
            <a:pPr>
              <a:buFont typeface="Arial" panose="020B0604020202020204" pitchFamily="34" charset="0"/>
              <a:buChar char="•"/>
            </a:pPr>
            <a:r>
              <a:rPr lang="en-US" b="1" dirty="0"/>
              <a:t>Advantages</a:t>
            </a:r>
            <a:r>
              <a:rPr lang="en-US" dirty="0"/>
              <a:t>: Very fast lookup for exact matches.</a:t>
            </a:r>
          </a:p>
          <a:p>
            <a:r>
              <a:rPr lang="en-US" b="1" dirty="0"/>
              <a:t>3. Bitmap Indexes:</a:t>
            </a:r>
          </a:p>
          <a:p>
            <a:pPr>
              <a:buFont typeface="Arial" panose="020B0604020202020204" pitchFamily="34" charset="0"/>
              <a:buChar char="•"/>
            </a:pPr>
            <a:r>
              <a:rPr lang="en-US" b="1" dirty="0"/>
              <a:t>How it works</a:t>
            </a:r>
            <a:r>
              <a:rPr lang="en-US" dirty="0"/>
              <a:t>: Bitmap indexes use bitmaps (arrays of bits) to represent the existence of a value in a set of records. Each bit corresponds to a row in the table.</a:t>
            </a:r>
          </a:p>
          <a:p>
            <a:pPr>
              <a:buFont typeface="Arial" panose="020B0604020202020204" pitchFamily="34" charset="0"/>
              <a:buChar char="•"/>
            </a:pPr>
            <a:r>
              <a:rPr lang="en-US" b="1" dirty="0"/>
              <a:t>Usage</a:t>
            </a:r>
            <a:r>
              <a:rPr lang="en-US" dirty="0"/>
              <a:t>: Common in data warehousing for columns with low cardinality (few unique values).</a:t>
            </a:r>
          </a:p>
          <a:p>
            <a:pPr>
              <a:buFont typeface="Arial" panose="020B0604020202020204" pitchFamily="34" charset="0"/>
              <a:buChar char="•"/>
            </a:pPr>
            <a:r>
              <a:rPr lang="en-US" b="1" dirty="0"/>
              <a:t>Advantages</a:t>
            </a:r>
            <a:r>
              <a:rPr lang="en-US" dirty="0"/>
              <a:t>: Efficient for complex logical operations and aggregate queries.</a:t>
            </a:r>
          </a:p>
          <a:p>
            <a:r>
              <a:rPr lang="en-US" b="1" dirty="0"/>
              <a:t>4. </a:t>
            </a:r>
            <a:r>
              <a:rPr lang="en-US" b="1" dirty="0" err="1"/>
              <a:t>GiST</a:t>
            </a:r>
            <a:r>
              <a:rPr lang="en-US" b="1" dirty="0"/>
              <a:t> (Generalized Search Tree):</a:t>
            </a:r>
          </a:p>
          <a:p>
            <a:pPr>
              <a:buFont typeface="Arial" panose="020B0604020202020204" pitchFamily="34" charset="0"/>
              <a:buChar char="•"/>
            </a:pPr>
            <a:r>
              <a:rPr lang="en-US" b="1" dirty="0"/>
              <a:t>How it works</a:t>
            </a:r>
            <a:r>
              <a:rPr lang="en-US" dirty="0"/>
              <a:t>: </a:t>
            </a:r>
            <a:r>
              <a:rPr lang="en-US" dirty="0" err="1"/>
              <a:t>GiST</a:t>
            </a:r>
            <a:r>
              <a:rPr lang="en-US" dirty="0"/>
              <a:t> is a balanced tree structure that can be used for various types of queries, including spatial and range queries.</a:t>
            </a:r>
          </a:p>
          <a:p>
            <a:pPr>
              <a:buFont typeface="Arial" panose="020B0604020202020204" pitchFamily="34" charset="0"/>
              <a:buChar char="•"/>
            </a:pPr>
            <a:r>
              <a:rPr lang="en-US" b="1" dirty="0"/>
              <a:t>Usage</a:t>
            </a:r>
            <a:r>
              <a:rPr lang="en-US" dirty="0"/>
              <a:t>: Widely used in databases like PostgreSQL for specialized indexing, such as geographic data.</a:t>
            </a:r>
          </a:p>
          <a:p>
            <a:pPr>
              <a:buFont typeface="Arial" panose="020B0604020202020204" pitchFamily="34" charset="0"/>
              <a:buChar char="•"/>
            </a:pPr>
            <a:r>
              <a:rPr lang="en-US" b="1" dirty="0"/>
              <a:t>Advantages</a:t>
            </a:r>
            <a:r>
              <a:rPr lang="en-US" dirty="0"/>
              <a:t>: Flexible and supports a wide range of queries.</a:t>
            </a:r>
          </a:p>
          <a:p>
            <a:r>
              <a:rPr lang="en-US" b="1" dirty="0"/>
              <a:t>5. R-Tree:</a:t>
            </a:r>
          </a:p>
          <a:p>
            <a:pPr>
              <a:buFont typeface="Arial" panose="020B0604020202020204" pitchFamily="34" charset="0"/>
              <a:buChar char="•"/>
            </a:pPr>
            <a:r>
              <a:rPr lang="en-US" b="1" dirty="0"/>
              <a:t>How it works</a:t>
            </a:r>
            <a:r>
              <a:rPr lang="en-US" dirty="0"/>
              <a:t>: R-Tree is used for indexing multi-dimensional information such as geographical coordinates, rectangles, etc.</a:t>
            </a:r>
          </a:p>
          <a:p>
            <a:pPr>
              <a:buFont typeface="Arial" panose="020B0604020202020204" pitchFamily="34" charset="0"/>
              <a:buChar char="•"/>
            </a:pPr>
            <a:r>
              <a:rPr lang="en-US" b="1" dirty="0"/>
              <a:t>Usage</a:t>
            </a:r>
            <a:r>
              <a:rPr lang="en-US" dirty="0"/>
              <a:t>: Often used in spatial databases.</a:t>
            </a:r>
          </a:p>
          <a:p>
            <a:pPr>
              <a:buFont typeface="Arial" panose="020B0604020202020204" pitchFamily="34" charset="0"/>
              <a:buChar char="•"/>
            </a:pPr>
            <a:r>
              <a:rPr lang="en-US" b="1" dirty="0"/>
              <a:t>Advantages</a:t>
            </a:r>
            <a:r>
              <a:rPr lang="en-US" dirty="0"/>
              <a:t>: Efficient for spatial queries like finding all objects within a given area.</a:t>
            </a:r>
          </a:p>
          <a:p>
            <a:r>
              <a:rPr lang="en-US" b="1" dirty="0"/>
              <a:t>Summary</a:t>
            </a:r>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53</a:t>
            </a:fld>
            <a:endParaRPr lang="en-US" altLang="en-US"/>
          </a:p>
        </p:txBody>
      </p:sp>
    </p:spTree>
    <p:extLst>
      <p:ext uri="{BB962C8B-B14F-4D97-AF65-F5344CB8AC3E}">
        <p14:creationId xmlns:p14="http://schemas.microsoft.com/office/powerpoint/2010/main" val="5819183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55</a:t>
            </a:fld>
            <a:endParaRPr lang="en-US" altLang="en-US"/>
          </a:p>
        </p:txBody>
      </p:sp>
    </p:spTree>
    <p:extLst>
      <p:ext uri="{BB962C8B-B14F-4D97-AF65-F5344CB8AC3E}">
        <p14:creationId xmlns:p14="http://schemas.microsoft.com/office/powerpoint/2010/main" val="7785566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بیانیه </a:t>
            </a:r>
            <a:r>
              <a:rPr lang="en-US" dirty="0"/>
              <a:t>grant </a:t>
            </a:r>
            <a:r>
              <a:rPr lang="fa-IR" dirty="0"/>
              <a:t>برای اعطای مجوز استفاده می‌شود</a:t>
            </a:r>
          </a:p>
          <a:p>
            <a:pPr algn="r" rtl="1"/>
            <a:r>
              <a:rPr lang="fa-IR" dirty="0"/>
              <a:t>```</a:t>
            </a:r>
            <a:r>
              <a:rPr lang="en-US" dirty="0" err="1"/>
              <a:t>sql</a:t>
            </a:r>
            <a:endParaRPr lang="en-US" dirty="0"/>
          </a:p>
          <a:p>
            <a:pPr algn="r" rtl="1"/>
            <a:r>
              <a:rPr lang="en-US" dirty="0"/>
              <a:t>GRANT &lt;</a:t>
            </a:r>
            <a:r>
              <a:rPr lang="fa-IR" dirty="0"/>
              <a:t>لیست امتیازات&gt; </a:t>
            </a:r>
            <a:r>
              <a:rPr lang="en-US" dirty="0"/>
              <a:t>ON &lt;</a:t>
            </a:r>
            <a:r>
              <a:rPr lang="fa-IR" dirty="0"/>
              <a:t>رابطه یا نما&gt; </a:t>
            </a:r>
            <a:r>
              <a:rPr lang="en-US" dirty="0"/>
              <a:t>TO &lt;</a:t>
            </a:r>
            <a:r>
              <a:rPr lang="fa-IR" dirty="0"/>
              <a:t>لیست کاربران&gt;</a:t>
            </a:r>
          </a:p>
          <a:p>
            <a:pPr algn="r" rtl="1"/>
            <a:r>
              <a:rPr lang="fa-IR" dirty="0"/>
              <a:t>```</a:t>
            </a:r>
          </a:p>
          <a:p>
            <a:pPr algn="r" rtl="1"/>
            <a:endParaRPr lang="fa-IR" dirty="0"/>
          </a:p>
          <a:p>
            <a:pPr algn="r" rtl="1"/>
            <a:r>
              <a:rPr lang="fa-IR" dirty="0"/>
              <a:t>**لیست کاربران** شامل:</a:t>
            </a:r>
          </a:p>
          <a:p>
            <a:pPr algn="r" rtl="1"/>
            <a:r>
              <a:rPr lang="fa-IR" dirty="0"/>
              <a:t>- یک </a:t>
            </a:r>
            <a:r>
              <a:rPr lang="en-US" dirty="0"/>
              <a:t>user-id</a:t>
            </a:r>
          </a:p>
          <a:p>
            <a:pPr algn="r" rtl="1"/>
            <a:r>
              <a:rPr lang="en-US" dirty="0"/>
              <a:t>- `public`، </a:t>
            </a:r>
            <a:r>
              <a:rPr lang="fa-IR" dirty="0"/>
              <a:t>که به همه کاربران معتبر امتیاز اعطا شده را می‌دهد</a:t>
            </a:r>
          </a:p>
          <a:p>
            <a:pPr algn="r" rtl="1"/>
            <a:r>
              <a:rPr lang="fa-IR" dirty="0"/>
              <a:t>- یک نقش (بیشتر در مورد این بعداً)</a:t>
            </a:r>
          </a:p>
          <a:p>
            <a:pPr algn="r" rtl="1"/>
            <a:endParaRPr lang="fa-IR" dirty="0"/>
          </a:p>
          <a:p>
            <a:pPr algn="r" rtl="1"/>
            <a:r>
              <a:rPr lang="fa-IR" dirty="0"/>
              <a:t>**مثال**:</a:t>
            </a:r>
          </a:p>
          <a:p>
            <a:pPr algn="r" rtl="1"/>
            <a:r>
              <a:rPr lang="fa-IR" dirty="0"/>
              <a:t>```</a:t>
            </a:r>
            <a:r>
              <a:rPr lang="en-US" dirty="0" err="1"/>
              <a:t>sql</a:t>
            </a:r>
            <a:endParaRPr lang="en-US" dirty="0"/>
          </a:p>
          <a:p>
            <a:pPr algn="r" rtl="1"/>
            <a:r>
              <a:rPr lang="en-US" dirty="0"/>
              <a:t>GRANT SELECT ON department TO Amit, Satoshi;</a:t>
            </a:r>
          </a:p>
          <a:p>
            <a:pPr algn="r" rtl="1"/>
            <a:r>
              <a:rPr lang="en-US" dirty="0"/>
              <a:t>```</a:t>
            </a:r>
          </a:p>
          <a:p>
            <a:pPr algn="r" rtl="1"/>
            <a:r>
              <a:rPr lang="fa-IR" dirty="0"/>
              <a:t>اعطای امتیاز بر روی یک نما به معنی اعطای هرگونه امتیاز بر روی روابط زیری نیست. </a:t>
            </a:r>
          </a:p>
          <a:p>
            <a:pPr algn="r" rtl="1"/>
            <a:r>
              <a:rPr lang="fa-IR" dirty="0"/>
              <a:t>اعطا کننده امتیاز باید قبلاً امتیاز را بر روی آیتم مشخص شده داشته باشد (یا مدیر پایگاه داده باشد).</a:t>
            </a:r>
          </a:p>
          <a:p>
            <a:pPr algn="r" rtl="1"/>
            <a:endParaRPr lang="fa-IR" dirty="0"/>
          </a:p>
          <a:p>
            <a:pPr algn="r" rtl="1"/>
            <a:r>
              <a:rPr lang="fa-IR" dirty="0"/>
              <a:t>امیدوارم این ترجمه برای شما مفید باشد! اگر سوال دیگری دارید، بفرمایید.</a:t>
            </a:r>
          </a:p>
          <a:p>
            <a:pPr algn="r" rtl="1"/>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57</a:t>
            </a:fld>
            <a:endParaRPr lang="en-US" altLang="en-US"/>
          </a:p>
        </p:txBody>
      </p:sp>
    </p:spTree>
    <p:extLst>
      <p:ext uri="{BB962C8B-B14F-4D97-AF65-F5344CB8AC3E}">
        <p14:creationId xmlns:p14="http://schemas.microsoft.com/office/powerpoint/2010/main" val="41197388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fa-IR" dirty="0"/>
              <a:t>بیانیه </a:t>
            </a:r>
            <a:r>
              <a:rPr lang="en-US" dirty="0"/>
              <a:t>REVOKE </a:t>
            </a:r>
            <a:r>
              <a:rPr lang="fa-IR" dirty="0"/>
              <a:t>برای لغو مجوز استفاده می‌شود.</a:t>
            </a:r>
          </a:p>
          <a:p>
            <a:pPr algn="r" rtl="1"/>
            <a:r>
              <a:rPr lang="en-US" dirty="0" err="1"/>
              <a:t>sql</a:t>
            </a:r>
            <a:endParaRPr lang="en-US" dirty="0"/>
          </a:p>
          <a:p>
            <a:pPr algn="r" rtl="1"/>
            <a:r>
              <a:rPr lang="en-US" dirty="0"/>
              <a:t>REVOKE &lt;</a:t>
            </a:r>
            <a:r>
              <a:rPr lang="fa-IR" dirty="0"/>
              <a:t>فهرست امتیازات&gt; </a:t>
            </a:r>
            <a:r>
              <a:rPr lang="en-US" dirty="0"/>
              <a:t>ON &lt;</a:t>
            </a:r>
            <a:r>
              <a:rPr lang="fa-IR" dirty="0"/>
              <a:t>رابطه یا نما&gt; </a:t>
            </a:r>
            <a:r>
              <a:rPr lang="en-US" dirty="0"/>
              <a:t>FROM &lt;</a:t>
            </a:r>
            <a:r>
              <a:rPr lang="fa-IR" dirty="0"/>
              <a:t>فهرست کاربران&gt; </a:t>
            </a:r>
          </a:p>
          <a:p>
            <a:pPr algn="r" rtl="1"/>
            <a:r>
              <a:rPr lang="fa-IR" b="1" dirty="0"/>
              <a:t>مثال</a:t>
            </a:r>
            <a:r>
              <a:rPr lang="fa-IR" dirty="0"/>
              <a:t>:</a:t>
            </a:r>
          </a:p>
          <a:p>
            <a:pPr algn="r" rtl="1"/>
            <a:r>
              <a:rPr lang="en-US" dirty="0" err="1"/>
              <a:t>sql</a:t>
            </a:r>
            <a:endParaRPr lang="en-US" dirty="0"/>
          </a:p>
          <a:p>
            <a:pPr algn="r" rtl="1"/>
            <a:r>
              <a:rPr lang="en-US" dirty="0"/>
              <a:t>REVOKE SELECT ON student FROM U1, U2, U3; </a:t>
            </a:r>
          </a:p>
          <a:p>
            <a:pPr algn="r" rtl="1"/>
            <a:r>
              <a:rPr lang="fa-IR" b="1" dirty="0"/>
              <a:t>توضیحات</a:t>
            </a:r>
            <a:r>
              <a:rPr lang="fa-IR" dirty="0"/>
              <a:t>:</a:t>
            </a:r>
          </a:p>
          <a:p>
            <a:pPr algn="r" rtl="1">
              <a:buFont typeface="Arial" panose="020B0604020202020204" pitchFamily="34" charset="0"/>
              <a:buChar char="•"/>
            </a:pPr>
            <a:r>
              <a:rPr lang="fa-IR" b="1" dirty="0"/>
              <a:t>فهرست امتیازات</a:t>
            </a:r>
            <a:r>
              <a:rPr lang="fa-IR" dirty="0"/>
              <a:t> می‌تواند شامل </a:t>
            </a:r>
            <a:r>
              <a:rPr lang="en-US" dirty="0"/>
              <a:t>ALL </a:t>
            </a:r>
            <a:r>
              <a:rPr lang="fa-IR" dirty="0"/>
              <a:t>باشد تا تمام امتیازاتی که کاربر لغوشونده ممکن است داشته باشد، لغو شوند.</a:t>
            </a:r>
          </a:p>
          <a:p>
            <a:pPr algn="r" rtl="1">
              <a:buFont typeface="Arial" panose="020B0604020202020204" pitchFamily="34" charset="0"/>
              <a:buChar char="•"/>
            </a:pPr>
            <a:r>
              <a:rPr lang="fa-IR" dirty="0"/>
              <a:t>اگر </a:t>
            </a:r>
            <a:r>
              <a:rPr lang="fa-IR" b="1" dirty="0"/>
              <a:t>فهرست لغوشونده</a:t>
            </a:r>
            <a:r>
              <a:rPr lang="fa-IR" dirty="0"/>
              <a:t> شامل </a:t>
            </a:r>
            <a:r>
              <a:rPr lang="en-US" dirty="0"/>
              <a:t>PUBLIC </a:t>
            </a:r>
            <a:r>
              <a:rPr lang="fa-IR" dirty="0"/>
              <a:t>باشد، همه کاربران امتیاز را از دست می‌دهند به جز کسانی که به طور صریح آن را دریافت کرده‌اند.</a:t>
            </a:r>
          </a:p>
          <a:p>
            <a:pPr algn="r" rtl="1">
              <a:buFont typeface="Arial" panose="020B0604020202020204" pitchFamily="34" charset="0"/>
              <a:buChar char="•"/>
            </a:pPr>
            <a:r>
              <a:rPr lang="fa-IR" dirty="0"/>
              <a:t>اگر همان امتیاز دو بار به همان کاربر توسط اعطاکنندگان مختلف اعطا شده باشد، کاربر ممکن است پس از لغو امتیاز را حفظ کند.</a:t>
            </a:r>
          </a:p>
          <a:p>
            <a:pPr algn="r" rtl="1">
              <a:buFont typeface="Arial" panose="020B0604020202020204" pitchFamily="34" charset="0"/>
              <a:buChar char="•"/>
            </a:pPr>
            <a:r>
              <a:rPr lang="fa-IR" dirty="0"/>
              <a:t>همه امتیازاتی که به امتیاز لغوشده وابسته هستند نیز لغو می‌شوند.</a:t>
            </a:r>
          </a:p>
          <a:p>
            <a:pPr algn="r" rtl="1"/>
            <a:r>
              <a:rPr lang="fa-IR" dirty="0"/>
              <a:t>اگر سوال یا موضوع دیگری در ذهن دارید، بفرمایید!</a:t>
            </a:r>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59</a:t>
            </a:fld>
            <a:endParaRPr lang="en-US" altLang="en-US"/>
          </a:p>
        </p:txBody>
      </p:sp>
    </p:spTree>
    <p:extLst>
      <p:ext uri="{BB962C8B-B14F-4D97-AF65-F5344CB8AC3E}">
        <p14:creationId xmlns:p14="http://schemas.microsoft.com/office/powerpoint/2010/main" val="327858183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b="1" dirty="0" err="1"/>
              <a:t>geo_staff</a:t>
            </a:r>
            <a:r>
              <a:rPr lang="en-US" b="1" dirty="0"/>
              <a:t> Does Not Have Permissions on instructor</a:t>
            </a:r>
          </a:p>
          <a:p>
            <a:pPr lvl="1">
              <a:buFont typeface="Arial" panose="020B0604020202020204" pitchFamily="34" charset="0"/>
              <a:buChar char="•"/>
            </a:pPr>
            <a:r>
              <a:rPr lang="en-US" dirty="0"/>
              <a:t>When </a:t>
            </a:r>
            <a:r>
              <a:rPr lang="en-US" dirty="0" err="1"/>
              <a:t>geo_staff</a:t>
            </a:r>
            <a:r>
              <a:rPr lang="en-US" dirty="0"/>
              <a:t> queries </a:t>
            </a:r>
            <a:r>
              <a:rPr lang="en-US" dirty="0" err="1"/>
              <a:t>geo_instructor</a:t>
            </a:r>
            <a:r>
              <a:rPr lang="en-US" dirty="0"/>
              <a:t>, the </a:t>
            </a:r>
            <a:r>
              <a:rPr lang="en-US" b="1" dirty="0"/>
              <a:t>database checks the permissions of the view’s creator</a:t>
            </a:r>
            <a:r>
              <a:rPr lang="en-US" dirty="0"/>
              <a:t>, not the </a:t>
            </a:r>
            <a:r>
              <a:rPr lang="en-US" dirty="0" err="1"/>
              <a:t>geo_staff</a:t>
            </a:r>
            <a:r>
              <a:rPr lang="en-US" dirty="0"/>
              <a:t> user, to access the instructor table.</a:t>
            </a:r>
          </a:p>
          <a:p>
            <a:pPr lvl="1">
              <a:buFont typeface="Arial" panose="020B0604020202020204" pitchFamily="34" charset="0"/>
              <a:buChar char="•"/>
            </a:pPr>
            <a:endParaRPr lang="en-US" dirty="0"/>
          </a:p>
          <a:p>
            <a:pPr lvl="1">
              <a:buFont typeface="Arial" panose="020B0604020202020204" pitchFamily="34" charset="0"/>
              <a:buChar char="•"/>
            </a:pPr>
            <a:r>
              <a:rPr lang="en-US" b="1" dirty="0"/>
              <a:t>If the creator of the view has SELECT permissions on instructor</a:t>
            </a:r>
            <a:r>
              <a:rPr lang="en-US" dirty="0"/>
              <a:t>:</a:t>
            </a:r>
            <a:br>
              <a:rPr lang="en-US" dirty="0"/>
            </a:br>
            <a:r>
              <a:rPr lang="en-US" dirty="0"/>
              <a:t>	The query will </a:t>
            </a:r>
            <a:r>
              <a:rPr lang="en-US" b="1" dirty="0"/>
              <a:t>succeed</a:t>
            </a:r>
            <a:r>
              <a:rPr lang="en-US" dirty="0"/>
              <a:t>. The </a:t>
            </a:r>
            <a:r>
              <a:rPr lang="en-US" dirty="0" err="1"/>
              <a:t>geo_staff</a:t>
            </a:r>
            <a:r>
              <a:rPr lang="en-US" dirty="0"/>
              <a:t> member will see the rows of the view (</a:t>
            </a:r>
            <a:r>
              <a:rPr lang="en-US" dirty="0" err="1"/>
              <a:t>geo_instructor</a:t>
            </a:r>
            <a:r>
              <a:rPr lang="en-US" dirty="0"/>
              <a:t>) without requiring direct access to the instructor table.</a:t>
            </a:r>
          </a:p>
          <a:p>
            <a:pPr lvl="1">
              <a:buFont typeface="Arial" panose="020B0604020202020204" pitchFamily="34" charset="0"/>
              <a:buChar char="•"/>
            </a:pPr>
            <a:endParaRPr lang="en-US" dirty="0"/>
          </a:p>
          <a:p>
            <a:pPr lvl="1">
              <a:buFont typeface="Arial" panose="020B0604020202020204" pitchFamily="34" charset="0"/>
              <a:buChar char="•"/>
            </a:pPr>
            <a:r>
              <a:rPr lang="en-US" b="1" dirty="0"/>
              <a:t>If the creator of the view does not have SELECT permissions on instructor</a:t>
            </a:r>
            <a:r>
              <a:rPr lang="en-US" dirty="0"/>
              <a:t>:</a:t>
            </a:r>
            <a:br>
              <a:rPr lang="en-US" dirty="0"/>
            </a:br>
            <a:r>
              <a:rPr lang="en-US" dirty="0"/>
              <a:t>The query will fail, even if </a:t>
            </a:r>
            <a:r>
              <a:rPr lang="en-US" dirty="0" err="1"/>
              <a:t>geo_staff</a:t>
            </a:r>
            <a:r>
              <a:rPr lang="en-US" dirty="0"/>
              <a:t> has access to the view, because the underlying data access is blocked</a:t>
            </a:r>
          </a:p>
          <a:p>
            <a:pPr lvl="1">
              <a:buFont typeface="Arial" panose="020B0604020202020204" pitchFamily="34" charset="0"/>
              <a:buChar char="•"/>
            </a:pPr>
            <a:endParaRPr lang="en-US" dirty="0"/>
          </a:p>
          <a:p>
            <a:pPr>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62</a:t>
            </a:fld>
            <a:endParaRPr lang="en-US" altLang="en-US"/>
          </a:p>
        </p:txBody>
      </p:sp>
    </p:spTree>
    <p:extLst>
      <p:ext uri="{BB962C8B-B14F-4D97-AF65-F5344CB8AC3E}">
        <p14:creationId xmlns:p14="http://schemas.microsoft.com/office/powerpoint/2010/main" val="187288807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 REFERENCES (</a:t>
            </a:r>
            <a:r>
              <a:rPr lang="en-US" dirty="0" err="1"/>
              <a:t>dept_name</a:t>
            </a:r>
            <a:r>
              <a:rPr lang="en-US" dirty="0"/>
              <a:t>) ON department TO Mariano;</a:t>
            </a:r>
            <a:endParaRPr lang="en-US" b="1" dirty="0"/>
          </a:p>
          <a:p>
            <a:pPr lvl="1"/>
            <a:r>
              <a:rPr lang="en-US" b="1" dirty="0"/>
              <a:t>Purpose</a:t>
            </a:r>
            <a:r>
              <a:rPr lang="en-US" dirty="0"/>
              <a:t>:</a:t>
            </a:r>
          </a:p>
          <a:p>
            <a:pPr lvl="1">
              <a:buFont typeface="Arial" panose="020B0604020202020204" pitchFamily="34" charset="0"/>
              <a:buChar char="•"/>
            </a:pPr>
            <a:r>
              <a:rPr lang="en-US" dirty="0"/>
              <a:t>The REFERENCES privilege allows a user (in this case, Mariano) to create a </a:t>
            </a:r>
            <a:r>
              <a:rPr lang="en-US" b="1" dirty="0"/>
              <a:t>foreign key</a:t>
            </a:r>
            <a:r>
              <a:rPr lang="en-US" dirty="0"/>
              <a:t> that references the specified column (</a:t>
            </a:r>
            <a:r>
              <a:rPr lang="en-US" dirty="0" err="1"/>
              <a:t>dept_name</a:t>
            </a:r>
            <a:r>
              <a:rPr lang="en-US" dirty="0"/>
              <a:t>) in the department table.</a:t>
            </a:r>
          </a:p>
          <a:p>
            <a:pPr lvl="1">
              <a:buFont typeface="Arial" panose="020B0604020202020204" pitchFamily="34" charset="0"/>
              <a:buChar char="•"/>
            </a:pPr>
            <a:r>
              <a:rPr lang="en-US" dirty="0"/>
              <a:t>Without this privilege, Mariano cannot define a foreign key constraint referencing the </a:t>
            </a:r>
            <a:r>
              <a:rPr lang="en-US" dirty="0" err="1"/>
              <a:t>dept_name</a:t>
            </a:r>
            <a:r>
              <a:rPr lang="en-US" dirty="0"/>
              <a:t> column.</a:t>
            </a:r>
          </a:p>
          <a:p>
            <a:endParaRPr lang="en-US" dirty="0"/>
          </a:p>
          <a:p>
            <a:r>
              <a:rPr lang="en-US" dirty="0"/>
              <a:t>REVOKE SELECT ON department FROM Amit, Satoshi CASCADE;</a:t>
            </a:r>
          </a:p>
          <a:p>
            <a:r>
              <a:rPr lang="en-US" dirty="0"/>
              <a:t>	Revokes the SELECT privilege from Amit and Satoshi </a:t>
            </a:r>
            <a:r>
              <a:rPr lang="en-US" b="1" dirty="0"/>
              <a:t>and any users who received the privilege from them</a:t>
            </a:r>
            <a:r>
              <a:rPr lang="en-US" dirty="0"/>
              <a:t>.</a:t>
            </a:r>
          </a:p>
          <a:p>
            <a:r>
              <a:rPr lang="en-US" b="1" dirty="0"/>
              <a:t>	CASCADE</a:t>
            </a:r>
            <a:r>
              <a:rPr lang="en-US" dirty="0"/>
              <a:t> ensures that the revocation propagates, removing permissions for all indirect recipients of the privilege.</a:t>
            </a:r>
          </a:p>
          <a:p>
            <a:endParaRPr lang="en-US" dirty="0"/>
          </a:p>
          <a:p>
            <a:r>
              <a:rPr lang="en-US" dirty="0"/>
              <a:t>REVOKE SELECT ON department FROM Amit, Satoshi RESTRICT;</a:t>
            </a:r>
          </a:p>
          <a:p>
            <a:r>
              <a:rPr lang="en-US" dirty="0"/>
              <a:t>	Attempts to revoke the SELECT privilege from Amit and Satoshi.</a:t>
            </a:r>
          </a:p>
          <a:p>
            <a:r>
              <a:rPr lang="en-US" b="1" dirty="0"/>
              <a:t>	RESTRICT</a:t>
            </a:r>
            <a:r>
              <a:rPr lang="en-US" dirty="0"/>
              <a:t> prevents the revocation if there are users who have received the privilege from Amit or Satoshi. This maintains the hierarchy of granted privileges.</a:t>
            </a:r>
          </a:p>
          <a:p>
            <a:endParaRPr lang="en-US" altLang="en-US" sz="1200" b="1" dirty="0"/>
          </a:p>
          <a:p>
            <a:r>
              <a:rPr lang="en-US" altLang="en-US" sz="1200" b="1" dirty="0"/>
              <a:t>grant select on </a:t>
            </a:r>
            <a:r>
              <a:rPr lang="en-US" altLang="en-US" sz="1200" i="1" dirty="0"/>
              <a:t>department </a:t>
            </a:r>
            <a:r>
              <a:rPr lang="en-US" altLang="en-US" sz="1200" b="1" dirty="0"/>
              <a:t>to </a:t>
            </a:r>
            <a:r>
              <a:rPr lang="en-US" altLang="en-US" sz="1200" dirty="0"/>
              <a:t>Amit </a:t>
            </a:r>
            <a:r>
              <a:rPr lang="en-US" altLang="en-US" sz="1200" b="1" dirty="0"/>
              <a:t>with grant option</a:t>
            </a:r>
            <a:r>
              <a:rPr lang="en-US" altLang="en-US" sz="1200" dirty="0"/>
              <a:t>; </a:t>
            </a:r>
          </a:p>
          <a:p>
            <a:pPr lvl="1"/>
            <a:r>
              <a:rPr lang="en-US" altLang="en-US" sz="1200" dirty="0"/>
              <a:t>Means that Amit can transfer his grant to other users</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63</a:t>
            </a:fld>
            <a:endParaRPr lang="en-US" altLang="en-US"/>
          </a:p>
        </p:txBody>
      </p:sp>
    </p:spTree>
    <p:extLst>
      <p:ext uri="{BB962C8B-B14F-4D97-AF65-F5344CB8AC3E}">
        <p14:creationId xmlns:p14="http://schemas.microsoft.com/office/powerpoint/2010/main" val="42302773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64</a:t>
            </a:fld>
            <a:endParaRPr lang="en-US" altLang="en-US"/>
          </a:p>
        </p:txBody>
      </p:sp>
    </p:spTree>
    <p:extLst>
      <p:ext uri="{BB962C8B-B14F-4D97-AF65-F5344CB8AC3E}">
        <p14:creationId xmlns:p14="http://schemas.microsoft.com/office/powerpoint/2010/main" val="35491950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37931725" indent="-37474525" defTabSz="93027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2ACED373-63CE-4F43-BE90-54DF58F8F5BB}" type="slidenum">
              <a:rPr lang="en-US" altLang="en-US" sz="1200"/>
              <a:pPr/>
              <a:t>66</a:t>
            </a:fld>
            <a:endParaRPr lang="en-US" altLang="en-US" sz="1200"/>
          </a:p>
        </p:txBody>
      </p:sp>
      <p:sp>
        <p:nvSpPr>
          <p:cNvPr id="91139" name="Rectangle 2"/>
          <p:cNvSpPr>
            <a:spLocks noGrp="1" noRot="1" noChangeAspect="1" noChangeArrowheads="1" noTextEdit="1"/>
          </p:cNvSpPr>
          <p:nvPr>
            <p:ph type="sldImg"/>
          </p:nvPr>
        </p:nvSpPr>
        <p:spPr>
          <a:xfrm>
            <a:off x="1177925" y="695325"/>
            <a:ext cx="4641850" cy="3481388"/>
          </a:xfrm>
          <a:ln/>
        </p:spPr>
      </p:sp>
      <p:sp>
        <p:nvSpPr>
          <p:cNvPr id="91140" name="Rectangle 3"/>
          <p:cNvSpPr>
            <a:spLocks noGrp="1" noChangeArrowheads="1"/>
          </p:cNvSpPr>
          <p:nvPr>
            <p:ph type="body" idx="1"/>
          </p:nvPr>
        </p:nvSpPr>
        <p:spPr>
          <a:xfrm>
            <a:off x="931864" y="4410075"/>
            <a:ext cx="5133975" cy="41783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770256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556334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3266541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3801359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3557670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653711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369539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749460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254786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23652889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1191450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1214679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458961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73345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1694455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61" r:id="rId15"/>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1.sv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8.jpe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22.jpeg"/><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23.jpeg"/></Relationships>
</file>

<file path=ppt/slides/_rels/slide21.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8.jpeg"/><Relationship Id="rId7"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20.png"/><Relationship Id="rId4" Type="http://schemas.openxmlformats.org/officeDocument/2006/relationships/image" Target="../media/image19.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ctrTitle"/>
          </p:nvPr>
        </p:nvSpPr>
        <p:spPr/>
        <p:txBody>
          <a:bodyPr/>
          <a:lstStyle/>
          <a:p>
            <a:pPr>
              <a:defRPr/>
            </a:pPr>
            <a:r>
              <a:rPr lang="en-US" dirty="0">
                <a:effectLst>
                  <a:outerShdw blurRad="38100" dist="38100" dir="2700000" algn="tl">
                    <a:srgbClr val="C0C0C0"/>
                  </a:outerShdw>
                </a:effectLst>
              </a:rPr>
              <a:t>Chapter 4 : </a:t>
            </a:r>
            <a:r>
              <a:rPr lang="en-US" dirty="0"/>
              <a:t>Intermediate SQL</a:t>
            </a:r>
            <a:endParaRPr lang="en-US" dirty="0">
              <a:effectLst>
                <a:outerShdw blurRad="38100" dist="38100" dir="2700000" algn="tl">
                  <a:srgbClr val="C0C0C0"/>
                </a:outerShdw>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8" name="Rectangle 2"/>
          <p:cNvSpPr>
            <a:spLocks noGrp="1" noChangeArrowheads="1"/>
          </p:cNvSpPr>
          <p:nvPr>
            <p:ph type="title"/>
          </p:nvPr>
        </p:nvSpPr>
        <p:spPr/>
        <p:txBody>
          <a:bodyPr lIns="90488" tIns="44450" rIns="90488" bIns="44450" anchor="ctr"/>
          <a:lstStyle/>
          <a:p>
            <a:pPr>
              <a:defRPr/>
            </a:pPr>
            <a:r>
              <a:rPr lang="en-US" sz="2800" dirty="0">
                <a:ea typeface="+mj-ea"/>
              </a:rPr>
              <a:t>Outline</a:t>
            </a:r>
          </a:p>
        </p:txBody>
      </p:sp>
      <p:sp>
        <p:nvSpPr>
          <p:cNvPr id="17411" name="Rectangle 3"/>
          <p:cNvSpPr>
            <a:spLocks noGrp="1" noChangeArrowheads="1"/>
          </p:cNvSpPr>
          <p:nvPr>
            <p:ph idx="1"/>
          </p:nvPr>
        </p:nvSpPr>
        <p:spPr>
          <a:xfrm>
            <a:off x="768351" y="1104900"/>
            <a:ext cx="6587800" cy="4135840"/>
          </a:xfrm>
          <a:noFill/>
        </p:spPr>
        <p:txBody>
          <a:bodyPr lIns="90488" tIns="44450" rIns="90488" bIns="44450"/>
          <a:lstStyle/>
          <a:p>
            <a:pPr algn="r" rtl="1"/>
            <a:r>
              <a:rPr lang="fa-IR" altLang="en-US" sz="1700" dirty="0"/>
              <a:t> (</a:t>
            </a:r>
            <a:r>
              <a:rPr lang="fa-IR" sz="1800" dirty="0"/>
              <a:t>عبارات پیوند) </a:t>
            </a:r>
            <a:r>
              <a:rPr lang="en-US" altLang="en-US" sz="1700" dirty="0"/>
              <a:t>Join  Expressions</a:t>
            </a:r>
          </a:p>
          <a:p>
            <a:pPr algn="r" rtl="1"/>
            <a:r>
              <a:rPr lang="fa-IR" altLang="en-US" sz="1700" dirty="0"/>
              <a:t>(</a:t>
            </a:r>
            <a:r>
              <a:rPr lang="fa-IR" sz="1800" dirty="0"/>
              <a:t>نماها</a:t>
            </a:r>
            <a:r>
              <a:rPr lang="fa-IR" altLang="en-US" sz="1700" dirty="0"/>
              <a:t>) </a:t>
            </a:r>
            <a:r>
              <a:rPr lang="en-US" altLang="en-US" sz="1700" dirty="0"/>
              <a:t>Views</a:t>
            </a:r>
            <a:r>
              <a:rPr lang="fa-IR" altLang="en-US" sz="1700" dirty="0"/>
              <a:t> </a:t>
            </a:r>
            <a:endParaRPr lang="en-US" altLang="en-US" sz="1700" dirty="0"/>
          </a:p>
          <a:p>
            <a:pPr algn="r" rtl="1"/>
            <a:r>
              <a:rPr lang="fa-IR" altLang="en-US" sz="1700" dirty="0"/>
              <a:t>(</a:t>
            </a:r>
            <a:r>
              <a:rPr lang="fa-IR" sz="1800" dirty="0"/>
              <a:t>تراکنش‌ها) </a:t>
            </a:r>
            <a:r>
              <a:rPr lang="en-US" altLang="en-US" sz="1700" dirty="0"/>
              <a:t>Transactions</a:t>
            </a:r>
          </a:p>
          <a:p>
            <a:pPr algn="r" rtl="1"/>
            <a:r>
              <a:rPr lang="fa-IR" altLang="en-US" sz="1700" dirty="0"/>
              <a:t>(</a:t>
            </a:r>
            <a:r>
              <a:rPr lang="fa-IR" sz="1800" dirty="0"/>
              <a:t>قیود یکپارچگی) </a:t>
            </a:r>
            <a:r>
              <a:rPr lang="en-US" altLang="en-US" sz="1700" dirty="0"/>
              <a:t>Integrity Constraints</a:t>
            </a:r>
          </a:p>
          <a:p>
            <a:pPr algn="r" rtl="1"/>
            <a:r>
              <a:rPr lang="fa-IR" altLang="en-US" sz="1700" dirty="0"/>
              <a:t>(</a:t>
            </a:r>
            <a:r>
              <a:rPr lang="fa-IR" sz="1800" dirty="0"/>
              <a:t>نواع داده و طرح‌ها</a:t>
            </a:r>
            <a:r>
              <a:rPr lang="fa-IR" altLang="en-US" sz="1700" dirty="0"/>
              <a:t>) </a:t>
            </a:r>
            <a:r>
              <a:rPr lang="en-US" altLang="en-US" sz="1700" dirty="0"/>
              <a:t>SQL Data Types and Schemas</a:t>
            </a:r>
          </a:p>
          <a:p>
            <a:pPr algn="r" rtl="1"/>
            <a:r>
              <a:rPr lang="fa-IR" altLang="en-US" sz="1700" dirty="0"/>
              <a:t>(</a:t>
            </a:r>
            <a:r>
              <a:rPr lang="fa-IR" sz="1800" dirty="0"/>
              <a:t>تعریف شاخص) </a:t>
            </a:r>
            <a:r>
              <a:rPr lang="en-US" altLang="en-US" sz="1700" dirty="0"/>
              <a:t>Index Definition in SQL</a:t>
            </a:r>
          </a:p>
          <a:p>
            <a:pPr algn="r" rtl="1"/>
            <a:r>
              <a:rPr lang="fa-IR" altLang="en-US" sz="1700" dirty="0"/>
              <a:t>(</a:t>
            </a:r>
            <a:r>
              <a:rPr lang="fa-IR" sz="1800" dirty="0"/>
              <a:t>مجوزدهی) </a:t>
            </a:r>
            <a:r>
              <a:rPr lang="en-US" altLang="en-US" sz="1700" dirty="0"/>
              <a:t>Authorization</a:t>
            </a:r>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p:txBody>
          <a:bodyPr/>
          <a:lstStyle/>
          <a:p>
            <a:pPr rtl="1">
              <a:defRPr/>
            </a:pPr>
            <a:r>
              <a:rPr lang="fa-IR" sz="2800" dirty="0">
                <a:ea typeface="+mj-ea"/>
              </a:rPr>
              <a:t>(</a:t>
            </a:r>
            <a:r>
              <a:rPr lang="fa-IR" dirty="0"/>
              <a:t>پیوندهای رابطه‌ای</a:t>
            </a:r>
            <a:r>
              <a:rPr lang="fa-IR" sz="2800" dirty="0">
                <a:ea typeface="+mj-ea"/>
              </a:rPr>
              <a:t>) </a:t>
            </a:r>
            <a:r>
              <a:rPr lang="en-US" sz="2800" dirty="0">
                <a:ea typeface="+mj-ea"/>
              </a:rPr>
              <a:t>Joined Relations</a:t>
            </a:r>
          </a:p>
        </p:txBody>
      </p:sp>
      <p:sp>
        <p:nvSpPr>
          <p:cNvPr id="6147" name="Rectangle 3"/>
          <p:cNvSpPr>
            <a:spLocks noGrp="1" noChangeArrowheads="1"/>
          </p:cNvSpPr>
          <p:nvPr>
            <p:ph idx="1"/>
          </p:nvPr>
        </p:nvSpPr>
        <p:spPr>
          <a:xfrm>
            <a:off x="768349" y="1194843"/>
            <a:ext cx="7585537" cy="4548187"/>
          </a:xfrm>
        </p:spPr>
        <p:txBody>
          <a:bodyPr/>
          <a:lstStyle/>
          <a:p>
            <a:pPr algn="r" rtl="1">
              <a:lnSpc>
                <a:spcPct val="150000"/>
              </a:lnSpc>
            </a:pPr>
            <a:r>
              <a:rPr lang="fa-IR" sz="1800" b="1" dirty="0"/>
              <a:t>عملگرهای پیوند</a:t>
            </a:r>
            <a:r>
              <a:rPr lang="fa-IR" sz="1800" dirty="0"/>
              <a:t> دو </a:t>
            </a:r>
            <a:r>
              <a:rPr lang="fa-IR" sz="1800" b="1" dirty="0"/>
              <a:t>رابطه</a:t>
            </a:r>
            <a:r>
              <a:rPr lang="fa-IR" sz="1800" dirty="0"/>
              <a:t> را به عنوان ورودی دریافت کرده و یک رابطه دیگر را به عنوان نتیجه بازمی‌گردانند.</a:t>
            </a:r>
          </a:p>
          <a:p>
            <a:pPr algn="r" rtl="1">
              <a:lnSpc>
                <a:spcPct val="150000"/>
              </a:lnSpc>
            </a:pPr>
            <a:r>
              <a:rPr lang="fa-IR" sz="1800" dirty="0"/>
              <a:t>یک عملگر پیوند در واقع یک </a:t>
            </a:r>
            <a:r>
              <a:rPr lang="fa-IR" sz="1800" b="1" dirty="0"/>
              <a:t>حاصل‌ضرب دکارتی</a:t>
            </a:r>
            <a:r>
              <a:rPr lang="fa-IR" sz="1800" dirty="0"/>
              <a:t> </a:t>
            </a:r>
            <a:r>
              <a:rPr lang="en-US" sz="1800" dirty="0"/>
              <a:t> (Cartesian product) </a:t>
            </a:r>
            <a:r>
              <a:rPr lang="fa-IR" sz="1800" dirty="0"/>
              <a:t>است که مستلزم آن است که </a:t>
            </a:r>
            <a:r>
              <a:rPr lang="fa-IR" sz="1800" b="1" dirty="0"/>
              <a:t>تاپل</a:t>
            </a:r>
            <a:r>
              <a:rPr lang="fa-IR" sz="1800" dirty="0"/>
              <a:t> در دو رابطه، تحت یک شرط مشخص، با یکدیگر </a:t>
            </a:r>
            <a:r>
              <a:rPr lang="fa-IR" sz="1800" b="1" dirty="0"/>
              <a:t>تطابق</a:t>
            </a:r>
            <a:r>
              <a:rPr lang="fa-IR" sz="1800" dirty="0"/>
              <a:t> داشته باشند. همچنین این عملگر، </a:t>
            </a:r>
            <a:r>
              <a:rPr lang="fa-IR" sz="1800" b="1" dirty="0"/>
              <a:t>صفاتی</a:t>
            </a:r>
            <a:r>
              <a:rPr lang="fa-IR" sz="1800" dirty="0"/>
              <a:t> را که در نتیجه نهایی پیوند حضور خواهند داشت، مشخص می‌کند.</a:t>
            </a:r>
          </a:p>
          <a:p>
            <a:pPr algn="r" rtl="1">
              <a:lnSpc>
                <a:spcPct val="150000"/>
              </a:lnSpc>
            </a:pPr>
            <a:r>
              <a:rPr lang="fa-IR" altLang="en-US" sz="1800" dirty="0"/>
              <a:t>عملگرهای پیوند معمولاً به عنوان عبارت‌های زیرپرس‌وجو در بند </a:t>
            </a:r>
            <a:r>
              <a:rPr lang="en-US" altLang="en-US" sz="1800" dirty="0"/>
              <a:t> FROM</a:t>
            </a:r>
            <a:r>
              <a:rPr lang="fa-IR" altLang="en-US" sz="1800" dirty="0"/>
              <a:t> </a:t>
            </a:r>
            <a:r>
              <a:rPr lang="en-US" altLang="en-US" sz="1800" dirty="0"/>
              <a:t> </a:t>
            </a:r>
            <a:r>
              <a:rPr lang="fa-IR" altLang="en-US" sz="1800" dirty="0"/>
              <a:t>استفاده می‌شوند.</a:t>
            </a:r>
          </a:p>
          <a:p>
            <a:pPr algn="just" rtl="1">
              <a:lnSpc>
                <a:spcPct val="150000"/>
              </a:lnSpc>
            </a:pPr>
            <a:r>
              <a:rPr lang="fa-IR" sz="1800" dirty="0"/>
              <a:t>سه نوع اصلی پیوند وجود دارد:</a:t>
            </a:r>
          </a:p>
          <a:p>
            <a:pPr lvl="1" algn="just" rtl="1">
              <a:lnSpc>
                <a:spcPct val="150000"/>
              </a:lnSpc>
            </a:pPr>
            <a:r>
              <a:rPr lang="fa-IR" altLang="en-US" sz="1800" dirty="0"/>
              <a:t> (پیوند طبیعی) </a:t>
            </a:r>
            <a:r>
              <a:rPr lang="en-US" altLang="en-US" sz="1800" dirty="0"/>
              <a:t>Natural join</a:t>
            </a:r>
          </a:p>
          <a:p>
            <a:pPr lvl="1" algn="r" rtl="1">
              <a:lnSpc>
                <a:spcPct val="150000"/>
              </a:lnSpc>
            </a:pPr>
            <a:r>
              <a:rPr lang="fa-IR" altLang="en-US" sz="1800" dirty="0"/>
              <a:t>(پیوند درونی) </a:t>
            </a:r>
            <a:r>
              <a:rPr lang="en-US" altLang="en-US" sz="1800" dirty="0"/>
              <a:t>Inner join</a:t>
            </a:r>
          </a:p>
          <a:p>
            <a:pPr lvl="1" algn="r" rtl="1">
              <a:lnSpc>
                <a:spcPct val="150000"/>
              </a:lnSpc>
            </a:pPr>
            <a:r>
              <a:rPr lang="fa-IR" altLang="en-US" sz="1800" dirty="0"/>
              <a:t>(</a:t>
            </a:r>
            <a:r>
              <a:rPr lang="fa-IR" sz="1800" dirty="0"/>
              <a:t>پیوند بیرونی</a:t>
            </a:r>
            <a:r>
              <a:rPr lang="fa-IR" altLang="en-US" sz="1800" dirty="0"/>
              <a:t>) </a:t>
            </a:r>
            <a:r>
              <a:rPr lang="en-US" altLang="en-US" sz="1800" dirty="0"/>
              <a:t>Outer join</a:t>
            </a:r>
          </a:p>
          <a:p>
            <a:pPr lvl="1" algn="r" rtl="1">
              <a:lnSpc>
                <a:spcPct val="150000"/>
              </a:lnSpc>
              <a:buFont typeface="Monotype Sorts" charset="2"/>
              <a:buNone/>
            </a:pPr>
            <a:endParaRPr lang="en-US" altLang="en-US" sz="2400" dirty="0">
              <a:ea typeface="ＭＳ Ｐゴシック" pitchFamily="34" charset="-128"/>
            </a:endParaRPr>
          </a:p>
          <a:p>
            <a:pPr algn="r" rtl="1">
              <a:lnSpc>
                <a:spcPct val="150000"/>
              </a:lnSpc>
            </a:pPr>
            <a:endParaRPr lang="en-US" altLang="en-US" sz="2400" dirty="0">
              <a:ea typeface="ＭＳ Ｐゴシック" pitchFamily="34"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a:defRPr/>
            </a:pPr>
            <a:r>
              <a:rPr lang="en-US" sz="2800" dirty="0"/>
              <a:t>Natural Join</a:t>
            </a:r>
            <a:r>
              <a:rPr lang="fa-IR" dirty="0"/>
              <a:t>(پیوند طبیعی) </a:t>
            </a:r>
            <a:endParaRPr lang="en-US" sz="2800" dirty="0"/>
          </a:p>
        </p:txBody>
      </p:sp>
      <p:sp>
        <p:nvSpPr>
          <p:cNvPr id="7171" name="Rectangle 3"/>
          <p:cNvSpPr>
            <a:spLocks noGrp="1" noChangeArrowheads="1"/>
          </p:cNvSpPr>
          <p:nvPr>
            <p:ph idx="1"/>
          </p:nvPr>
        </p:nvSpPr>
        <p:spPr>
          <a:xfrm>
            <a:off x="768350" y="1078992"/>
            <a:ext cx="7647681" cy="4983163"/>
          </a:xfrm>
        </p:spPr>
        <p:txBody>
          <a:bodyPr/>
          <a:lstStyle/>
          <a:p>
            <a:pPr algn="r" rtl="1"/>
            <a:r>
              <a:rPr lang="fa-IR" altLang="en-US" dirty="0"/>
              <a:t>پیوند طبیعی تاپل‌هایی را که دارای مقادیر یکسان در تمام صفات مشترک</a:t>
            </a:r>
            <a:r>
              <a:rPr lang="en-US" altLang="en-US" dirty="0"/>
              <a:t> </a:t>
            </a:r>
            <a:r>
              <a:rPr lang="fa-IR" altLang="en-US" dirty="0"/>
              <a:t>هستند، با هم تطبیق می‌دهد و تنها یک نسخه از هر ستون مشترک را در خروجی حفظ می‌کند.</a:t>
            </a:r>
          </a:p>
          <a:p>
            <a:pPr algn="r" rtl="1"/>
            <a:r>
              <a:rPr lang="fa-IR" altLang="en-US" dirty="0"/>
              <a:t>لیست نام مدرسین به همراه شناسه درس</a:t>
            </a:r>
            <a:r>
              <a:rPr lang="en-US" altLang="en-US" dirty="0"/>
              <a:t> (Course ID) </a:t>
            </a:r>
            <a:r>
              <a:rPr lang="fa-IR" altLang="en-US" dirty="0"/>
              <a:t>دروسی که تدریس کرده‌اند:</a:t>
            </a:r>
            <a:endParaRPr lang="en-US" altLang="en-US" dirty="0">
              <a:ea typeface="ＭＳ Ｐゴシック" pitchFamily="34" charset="-128"/>
            </a:endParaRPr>
          </a:p>
          <a:p>
            <a:pPr lvl="1"/>
            <a:r>
              <a:rPr lang="en-US" altLang="en-US" b="1" dirty="0">
                <a:ea typeface="ＭＳ Ｐゴシック" pitchFamily="34" charset="-128"/>
              </a:rPr>
              <a:t>select </a:t>
            </a:r>
            <a:r>
              <a:rPr lang="en-US" altLang="en-US" i="1" dirty="0">
                <a:ea typeface="ＭＳ Ｐゴシック" pitchFamily="34" charset="-128"/>
              </a:rPr>
              <a:t>name</a:t>
            </a:r>
            <a:r>
              <a:rPr lang="en-US" altLang="en-US" dirty="0">
                <a:ea typeface="ＭＳ Ｐゴシック" pitchFamily="34" charset="-128"/>
              </a:rPr>
              <a:t>, </a:t>
            </a:r>
            <a:r>
              <a:rPr lang="en-US" altLang="en-US" i="1" dirty="0" err="1">
                <a:ea typeface="ＭＳ Ｐゴシック" pitchFamily="34" charset="-128"/>
              </a:rPr>
              <a:t>course_id</a:t>
            </a:r>
            <a:br>
              <a:rPr lang="en-US" altLang="en-US" i="1" dirty="0">
                <a:ea typeface="ＭＳ Ｐゴシック" pitchFamily="34" charset="-128"/>
              </a:rPr>
            </a:br>
            <a:r>
              <a:rPr lang="en-US" altLang="en-US" b="1" dirty="0">
                <a:ea typeface="ＭＳ Ｐゴシック" pitchFamily="34" charset="-128"/>
              </a:rPr>
              <a:t>from </a:t>
            </a:r>
            <a:r>
              <a:rPr lang="en-US" altLang="en-US" i="1" dirty="0">
                <a:ea typeface="ＭＳ Ｐゴシック" pitchFamily="34" charset="-128"/>
              </a:rPr>
              <a:t> students, takes</a:t>
            </a:r>
            <a:br>
              <a:rPr lang="en-US" altLang="en-US" i="1" dirty="0">
                <a:ea typeface="ＭＳ Ｐゴシック" pitchFamily="34" charset="-128"/>
              </a:rPr>
            </a:br>
            <a:r>
              <a:rPr lang="en-US" altLang="en-US" b="1" dirty="0">
                <a:ea typeface="ＭＳ Ｐゴシック" pitchFamily="34" charset="-128"/>
              </a:rPr>
              <a:t>where </a:t>
            </a:r>
            <a:r>
              <a:rPr lang="en-US" altLang="en-US" i="1" dirty="0">
                <a:ea typeface="ＭＳ Ｐゴシック" pitchFamily="34" charset="-128"/>
              </a:rPr>
              <a:t>student.ID </a:t>
            </a:r>
            <a:r>
              <a:rPr lang="en-US" altLang="en-US" dirty="0">
                <a:ea typeface="ＭＳ Ｐゴシック" pitchFamily="34" charset="-128"/>
              </a:rPr>
              <a:t>= </a:t>
            </a:r>
            <a:r>
              <a:rPr lang="en-US" altLang="en-US" i="1" dirty="0">
                <a:ea typeface="ＭＳ Ｐゴシック" pitchFamily="34" charset="-128"/>
              </a:rPr>
              <a:t>takes.ID</a:t>
            </a:r>
            <a:r>
              <a:rPr lang="en-US" altLang="en-US" dirty="0">
                <a:ea typeface="ＭＳ Ｐゴシック" pitchFamily="34" charset="-128"/>
              </a:rPr>
              <a:t>;</a:t>
            </a:r>
            <a:endParaRPr lang="fa-IR" altLang="en-US" dirty="0">
              <a:ea typeface="ＭＳ Ｐゴシック" pitchFamily="34" charset="-128"/>
            </a:endParaRPr>
          </a:p>
          <a:p>
            <a:pPr lvl="1"/>
            <a:endParaRPr lang="en-US" altLang="en-US" dirty="0">
              <a:ea typeface="ＭＳ Ｐゴシック" pitchFamily="34" charset="-128"/>
            </a:endParaRPr>
          </a:p>
          <a:p>
            <a:pPr algn="r" rtl="1"/>
            <a:r>
              <a:rPr lang="fa-IR" altLang="en-US" dirty="0"/>
              <a:t>همین پرس‌وجو با ساختار </a:t>
            </a:r>
            <a:r>
              <a:rPr lang="en-US" altLang="en-US" dirty="0"/>
              <a:t>NATURAL JOIN</a:t>
            </a:r>
            <a:r>
              <a:rPr lang="fa-IR" altLang="en-US" dirty="0"/>
              <a:t> </a:t>
            </a:r>
            <a:r>
              <a:rPr lang="en-US" altLang="en-US" dirty="0"/>
              <a:t> </a:t>
            </a:r>
            <a:r>
              <a:rPr lang="fa-IR" altLang="en-US" dirty="0"/>
              <a:t>در </a:t>
            </a:r>
            <a:r>
              <a:rPr lang="en-US" altLang="en-US" dirty="0"/>
              <a:t>SQL</a:t>
            </a:r>
            <a:r>
              <a:rPr lang="fa-IR" altLang="en-US" dirty="0"/>
              <a:t> :</a:t>
            </a:r>
          </a:p>
          <a:p>
            <a:pPr algn="r" rtl="1"/>
            <a:endParaRPr lang="en-US" altLang="en-US" dirty="0">
              <a:ea typeface="ＭＳ Ｐゴシック" pitchFamily="34" charset="-128"/>
            </a:endParaRPr>
          </a:p>
          <a:p>
            <a:pPr lvl="1"/>
            <a:r>
              <a:rPr lang="en-US" altLang="en-US" b="1" dirty="0">
                <a:ea typeface="ＭＳ Ｐゴシック" pitchFamily="34" charset="-128"/>
              </a:rPr>
              <a:t>select </a:t>
            </a:r>
            <a:r>
              <a:rPr lang="en-US" altLang="en-US" i="1" dirty="0">
                <a:ea typeface="ＭＳ Ｐゴシック" pitchFamily="34" charset="-128"/>
              </a:rPr>
              <a:t>name</a:t>
            </a:r>
            <a:r>
              <a:rPr lang="en-US" altLang="en-US" dirty="0">
                <a:ea typeface="ＭＳ Ｐゴシック" pitchFamily="34" charset="-128"/>
              </a:rPr>
              <a:t>,</a:t>
            </a:r>
            <a:r>
              <a:rPr lang="en-US" altLang="en-US" i="1" dirty="0">
                <a:ea typeface="ＭＳ Ｐゴシック" pitchFamily="34" charset="-128"/>
              </a:rPr>
              <a:t> </a:t>
            </a:r>
            <a:r>
              <a:rPr lang="en-US" altLang="en-US" i="1" dirty="0" err="1">
                <a:ea typeface="ＭＳ Ｐゴシック" pitchFamily="34" charset="-128"/>
              </a:rPr>
              <a:t>course_id</a:t>
            </a:r>
            <a:br>
              <a:rPr lang="en-US" altLang="en-US" i="1" dirty="0">
                <a:ea typeface="ＭＳ Ｐゴシック" pitchFamily="34" charset="-128"/>
              </a:rPr>
            </a:br>
            <a:r>
              <a:rPr lang="en-US" altLang="en-US" b="1" dirty="0">
                <a:ea typeface="ＭＳ Ｐゴシック" pitchFamily="34" charset="-128"/>
              </a:rPr>
              <a:t>from </a:t>
            </a:r>
            <a:r>
              <a:rPr lang="en-US" altLang="en-US" i="1" dirty="0">
                <a:ea typeface="ＭＳ Ｐゴシック" pitchFamily="34" charset="-128"/>
              </a:rPr>
              <a:t>student </a:t>
            </a:r>
            <a:r>
              <a:rPr lang="en-US" altLang="en-US" b="1" dirty="0">
                <a:ea typeface="ＭＳ Ｐゴシック" pitchFamily="34" charset="-128"/>
              </a:rPr>
              <a:t>natural join </a:t>
            </a:r>
            <a:r>
              <a:rPr lang="en-US" altLang="en-US" i="1" dirty="0">
                <a:ea typeface="ＭＳ Ｐゴシック" pitchFamily="34" charset="-128"/>
              </a:rPr>
              <a:t>takes</a:t>
            </a:r>
            <a:r>
              <a:rPr lang="en-US" altLang="en-US" dirty="0">
                <a:ea typeface="ＭＳ Ｐゴシック" pitchFamily="34" charset="-128"/>
              </a:rPr>
              <a:t>;</a:t>
            </a:r>
          </a:p>
          <a:p>
            <a:pPr>
              <a:buFont typeface="Monotype Sorts" charset="2"/>
              <a:buNone/>
            </a:pPr>
            <a:endParaRPr lang="en-US" altLang="en-US" sz="2800" dirty="0">
              <a:ea typeface="ＭＳ Ｐゴシック" pitchFamily="34"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a:defRPr/>
            </a:pPr>
            <a:r>
              <a:rPr lang="en-US" dirty="0"/>
              <a:t>Natural Join</a:t>
            </a:r>
            <a:r>
              <a:rPr lang="fa-IR" dirty="0"/>
              <a:t>(پیوند طبیعی) </a:t>
            </a:r>
            <a:endParaRPr lang="en-US" sz="2800" dirty="0"/>
          </a:p>
        </p:txBody>
      </p:sp>
      <p:sp>
        <p:nvSpPr>
          <p:cNvPr id="7171" name="Rectangle 3"/>
          <p:cNvSpPr>
            <a:spLocks noGrp="1" noChangeArrowheads="1"/>
          </p:cNvSpPr>
          <p:nvPr>
            <p:ph idx="1"/>
          </p:nvPr>
        </p:nvSpPr>
        <p:spPr>
          <a:xfrm>
            <a:off x="768351" y="1225297"/>
            <a:ext cx="7638802" cy="3541776"/>
          </a:xfrm>
        </p:spPr>
        <p:txBody>
          <a:bodyPr/>
          <a:lstStyle/>
          <a:p>
            <a:pPr algn="r" rtl="1"/>
            <a:r>
              <a:rPr lang="fa-IR" altLang="en-US" sz="2400" dirty="0"/>
              <a:t>بند </a:t>
            </a:r>
            <a:r>
              <a:rPr lang="en-US" altLang="en-US" sz="2400" dirty="0"/>
              <a:t> FROM </a:t>
            </a:r>
            <a:r>
              <a:rPr lang="fa-IR" altLang="en-US" sz="2400" dirty="0"/>
              <a:t>می‌تواند چندین رابطه </a:t>
            </a:r>
            <a:r>
              <a:rPr lang="en-US" altLang="en-US" sz="2400" dirty="0"/>
              <a:t> (Relation) </a:t>
            </a:r>
            <a:r>
              <a:rPr lang="fa-IR" altLang="en-US" sz="2400" dirty="0"/>
              <a:t>را با استفاده از پیوند طبیعی </a:t>
            </a:r>
            <a:r>
              <a:rPr lang="en-US" altLang="en-US" sz="2400" dirty="0"/>
              <a:t> (Natural Join) </a:t>
            </a:r>
            <a:r>
              <a:rPr lang="fa-IR" altLang="en-US" sz="2400" dirty="0"/>
              <a:t>ترکیب کند.</a:t>
            </a:r>
            <a:endParaRPr lang="en-US" altLang="en-US" sz="2400" dirty="0">
              <a:ea typeface="ＭＳ Ｐゴシック" pitchFamily="34" charset="-128"/>
            </a:endParaRPr>
          </a:p>
          <a:p>
            <a:pPr lvl="1">
              <a:buNone/>
            </a:pPr>
            <a:r>
              <a:rPr lang="en-US" altLang="en-US" sz="2400" b="1" dirty="0">
                <a:ea typeface="ＭＳ Ｐゴシック" pitchFamily="34" charset="-128"/>
              </a:rPr>
              <a:t>     select </a:t>
            </a:r>
            <a:r>
              <a:rPr lang="en-US" altLang="en-US" sz="2400" i="1" dirty="0">
                <a:ea typeface="ＭＳ Ｐゴシック" pitchFamily="34" charset="-128"/>
              </a:rPr>
              <a:t> A</a:t>
            </a:r>
            <a:r>
              <a:rPr lang="en-US" altLang="en-US" sz="2400" i="1" baseline="-25000" dirty="0">
                <a:ea typeface="ＭＳ Ｐゴシック" pitchFamily="34" charset="-128"/>
              </a:rPr>
              <a:t>1</a:t>
            </a:r>
            <a:r>
              <a:rPr lang="en-US" altLang="en-US" sz="2400" i="1" dirty="0">
                <a:ea typeface="ＭＳ Ｐゴシック" pitchFamily="34" charset="-128"/>
              </a:rPr>
              <a:t>, A</a:t>
            </a:r>
            <a:r>
              <a:rPr lang="en-US" altLang="en-US" sz="2400" i="1" baseline="-25000" dirty="0">
                <a:ea typeface="ＭＳ Ｐゴシック" pitchFamily="34" charset="-128"/>
              </a:rPr>
              <a:t>2</a:t>
            </a:r>
            <a:r>
              <a:rPr lang="en-US" altLang="en-US" sz="2400" i="1" dirty="0">
                <a:ea typeface="ＭＳ Ｐゴシック" pitchFamily="34" charset="-128"/>
              </a:rPr>
              <a:t>, … A</a:t>
            </a:r>
            <a:r>
              <a:rPr lang="en-US" altLang="en-US" sz="2400" i="1" baseline="-25000" dirty="0">
                <a:ea typeface="ＭＳ Ｐゴシック" pitchFamily="34" charset="-128"/>
              </a:rPr>
              <a:t>n</a:t>
            </a:r>
            <a:br>
              <a:rPr lang="en-US" altLang="en-US" sz="2400" i="1" dirty="0">
                <a:ea typeface="ＭＳ Ｐゴシック" pitchFamily="34" charset="-128"/>
              </a:rPr>
            </a:br>
            <a:r>
              <a:rPr lang="en-US" altLang="en-US" sz="2400" b="1" dirty="0">
                <a:ea typeface="ＭＳ Ｐゴシック" pitchFamily="34" charset="-128"/>
              </a:rPr>
              <a:t>from </a:t>
            </a:r>
            <a:r>
              <a:rPr lang="en-US" altLang="en-US" sz="2400" i="1" dirty="0">
                <a:ea typeface="ＭＳ Ｐゴシック" pitchFamily="34" charset="-128"/>
              </a:rPr>
              <a:t> r</a:t>
            </a:r>
            <a:r>
              <a:rPr lang="en-US" altLang="en-US" sz="2400" i="1" baseline="-25000" dirty="0">
                <a:ea typeface="ＭＳ Ｐゴシック" pitchFamily="34" charset="-128"/>
              </a:rPr>
              <a:t>1</a:t>
            </a:r>
            <a:r>
              <a:rPr lang="en-US" altLang="en-US" sz="2400" i="1" dirty="0">
                <a:ea typeface="ＭＳ Ｐゴシック" pitchFamily="34" charset="-128"/>
              </a:rPr>
              <a:t>  </a:t>
            </a:r>
            <a:r>
              <a:rPr lang="en-US" altLang="en-US" sz="2400" b="1" dirty="0">
                <a:ea typeface="ＭＳ Ｐゴシック" pitchFamily="34" charset="-128"/>
              </a:rPr>
              <a:t>natural join </a:t>
            </a:r>
            <a:r>
              <a:rPr lang="en-US" altLang="en-US" sz="2400" i="1" dirty="0">
                <a:ea typeface="ＭＳ Ｐゴシック" pitchFamily="34" charset="-128"/>
              </a:rPr>
              <a:t>r</a:t>
            </a:r>
            <a:r>
              <a:rPr lang="en-US" altLang="en-US" sz="2400" i="1" baseline="-25000" dirty="0">
                <a:ea typeface="ＭＳ Ｐゴシック" pitchFamily="34" charset="-128"/>
              </a:rPr>
              <a:t>2</a:t>
            </a:r>
            <a:r>
              <a:rPr lang="en-US" altLang="en-US" sz="2400" i="1" dirty="0">
                <a:ea typeface="ＭＳ Ｐゴシック" pitchFamily="34" charset="-128"/>
              </a:rPr>
              <a:t> </a:t>
            </a:r>
            <a:r>
              <a:rPr lang="en-US" altLang="en-US" sz="2400" b="1" dirty="0">
                <a:ea typeface="ＭＳ Ｐゴシック" pitchFamily="34" charset="-128"/>
              </a:rPr>
              <a:t>natural join </a:t>
            </a:r>
            <a:r>
              <a:rPr lang="en-US" altLang="en-US" sz="2400" b="1" i="1" dirty="0">
                <a:ea typeface="ＭＳ Ｐゴシック" pitchFamily="34" charset="-128"/>
              </a:rPr>
              <a:t>.. </a:t>
            </a:r>
            <a:r>
              <a:rPr lang="en-US" altLang="en-US" sz="2400" b="1" dirty="0">
                <a:ea typeface="ＭＳ Ｐゴシック" pitchFamily="34" charset="-128"/>
              </a:rPr>
              <a:t>natural join </a:t>
            </a:r>
            <a:r>
              <a:rPr lang="en-US" altLang="en-US" sz="2400" dirty="0" err="1">
                <a:ea typeface="ＭＳ Ｐゴシック" pitchFamily="34" charset="-128"/>
              </a:rPr>
              <a:t>r</a:t>
            </a:r>
            <a:r>
              <a:rPr lang="en-US" altLang="en-US" sz="2400" baseline="-25000" dirty="0" err="1">
                <a:ea typeface="ＭＳ Ｐゴシック" pitchFamily="34" charset="-128"/>
              </a:rPr>
              <a:t>n</a:t>
            </a:r>
            <a:br>
              <a:rPr lang="en-US" altLang="en-US" sz="2400" i="1" dirty="0">
                <a:ea typeface="ＭＳ Ｐゴシック" pitchFamily="34" charset="-128"/>
              </a:rPr>
            </a:br>
            <a:r>
              <a:rPr lang="en-US" altLang="en-US" sz="2400" b="1" dirty="0">
                <a:ea typeface="ＭＳ Ｐゴシック" pitchFamily="34" charset="-128"/>
              </a:rPr>
              <a:t>where  </a:t>
            </a:r>
            <a:r>
              <a:rPr lang="en-US" altLang="en-US" sz="2400" i="1" dirty="0">
                <a:ea typeface="ＭＳ Ｐゴシック" pitchFamily="34" charset="-128"/>
              </a:rPr>
              <a:t>P </a:t>
            </a:r>
            <a:r>
              <a:rPr lang="en-US" altLang="en-US" sz="2400" dirty="0">
                <a:ea typeface="ＭＳ Ｐゴシック" pitchFamily="34" charset="-128"/>
              </a:rPr>
              <a:t>;</a:t>
            </a:r>
          </a:p>
          <a:p>
            <a:pPr>
              <a:buNone/>
            </a:pPr>
            <a:endParaRPr lang="en-US" altLang="en-US" sz="2400" dirty="0">
              <a:ea typeface="ＭＳ Ｐゴシック" pitchFamily="34" charset="-128"/>
            </a:endParaRPr>
          </a:p>
          <a:p>
            <a:pPr>
              <a:buFont typeface="Monotype Sorts" charset="2"/>
              <a:buNone/>
            </a:pPr>
            <a:endParaRPr lang="en-US" altLang="en-US" sz="2400" dirty="0">
              <a:ea typeface="ＭＳ Ｐゴシック" pitchFamily="34"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dirty="0">
                <a:ea typeface="+mj-ea"/>
              </a:rPr>
              <a:t>جداول </a:t>
            </a:r>
            <a:r>
              <a:rPr lang="en-US" dirty="0">
                <a:ea typeface="+mj-ea"/>
              </a:rPr>
              <a:t>STUDENT </a:t>
            </a:r>
            <a:r>
              <a:rPr lang="fa-IR" dirty="0">
                <a:ea typeface="+mj-ea"/>
              </a:rPr>
              <a:t> و </a:t>
            </a:r>
            <a:r>
              <a:rPr lang="en-US" dirty="0">
                <a:ea typeface="+mj-ea"/>
              </a:rPr>
              <a:t> TAKES</a:t>
            </a:r>
            <a:endParaRPr lang="en-US" sz="2800" dirty="0">
              <a:ea typeface="+mj-ea"/>
            </a:endParaRPr>
          </a:p>
        </p:txBody>
      </p:sp>
      <p:pic>
        <p:nvPicPr>
          <p:cNvPr id="1029" name="Picture 5" descr="W:\db-book\db7\slide-dir\Tables-Figures\EPS-PDF-JPG-dir\tables\student.jpg"/>
          <p:cNvPicPr>
            <a:picLocks noChangeAspect="1" noChangeArrowheads="1"/>
          </p:cNvPicPr>
          <p:nvPr/>
        </p:nvPicPr>
        <p:blipFill>
          <a:blip r:embed="rId3"/>
          <a:srcRect/>
          <a:stretch>
            <a:fillRect/>
          </a:stretch>
        </p:blipFill>
        <p:spPr bwMode="auto">
          <a:xfrm>
            <a:off x="-36815" y="1338348"/>
            <a:ext cx="4843765" cy="4310581"/>
          </a:xfrm>
          <a:prstGeom prst="rect">
            <a:avLst/>
          </a:prstGeom>
          <a:noFill/>
        </p:spPr>
      </p:pic>
      <p:pic>
        <p:nvPicPr>
          <p:cNvPr id="4" name="Picture 2" descr="C:\Users\as668\Desktop\Judi-Done\4_02.jpg">
            <a:extLst>
              <a:ext uri="{FF2B5EF4-FFF2-40B4-BE49-F238E27FC236}">
                <a16:creationId xmlns:a16="http://schemas.microsoft.com/office/drawing/2014/main" id="{5595333C-9827-4D99-9D66-EF4DF5F3F22C}"/>
              </a:ext>
            </a:extLst>
          </p:cNvPr>
          <p:cNvPicPr>
            <a:picLocks noChangeAspect="1" noChangeArrowheads="1"/>
          </p:cNvPicPr>
          <p:nvPr/>
        </p:nvPicPr>
        <p:blipFill>
          <a:blip r:embed="rId4"/>
          <a:srcRect/>
          <a:stretch>
            <a:fillRect/>
          </a:stretch>
        </p:blipFill>
        <p:spPr bwMode="auto">
          <a:xfrm>
            <a:off x="4856152" y="1138844"/>
            <a:ext cx="4547697" cy="5471741"/>
          </a:xfrm>
          <a:prstGeom prst="rect">
            <a:avLst/>
          </a:prstGeom>
          <a:noFill/>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b="0" i="1" dirty="0">
                <a:ea typeface="+mj-ea"/>
              </a:rPr>
              <a:t>student</a:t>
            </a:r>
            <a:r>
              <a:rPr lang="en-US" sz="2800" dirty="0">
                <a:ea typeface="+mj-ea"/>
              </a:rPr>
              <a:t> natural join </a:t>
            </a:r>
            <a:r>
              <a:rPr lang="en-US" sz="2800" b="0" i="1" dirty="0">
                <a:ea typeface="+mj-ea"/>
              </a:rPr>
              <a:t>takes</a:t>
            </a:r>
          </a:p>
        </p:txBody>
      </p:sp>
      <p:pic>
        <p:nvPicPr>
          <p:cNvPr id="2" name="Picture 2" descr="C:\Users\as668\Desktop\Judi-Done\4_03.jpg"/>
          <p:cNvPicPr>
            <a:picLocks noChangeAspect="1" noChangeArrowheads="1"/>
          </p:cNvPicPr>
          <p:nvPr/>
        </p:nvPicPr>
        <p:blipFill>
          <a:blip r:embed="rId3"/>
          <a:srcRect/>
          <a:stretch>
            <a:fillRect/>
          </a:stretch>
        </p:blipFill>
        <p:spPr bwMode="auto">
          <a:xfrm>
            <a:off x="1030778" y="858111"/>
            <a:ext cx="7221743" cy="5999889"/>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0" name="Rectangle 2"/>
          <p:cNvSpPr>
            <a:spLocks noGrp="1" noChangeArrowheads="1"/>
          </p:cNvSpPr>
          <p:nvPr>
            <p:ph type="title"/>
          </p:nvPr>
        </p:nvSpPr>
        <p:spPr/>
        <p:txBody>
          <a:bodyPr/>
          <a:lstStyle/>
          <a:p>
            <a:pPr rtl="1">
              <a:defRPr/>
            </a:pPr>
            <a:r>
              <a:rPr lang="fa-IR" dirty="0"/>
              <a:t>خطرات پیوند طبیعی</a:t>
            </a:r>
            <a:endParaRPr lang="en-US" sz="2800" dirty="0"/>
          </a:p>
        </p:txBody>
      </p:sp>
      <p:sp>
        <p:nvSpPr>
          <p:cNvPr id="7171" name="Rectangle 3"/>
          <p:cNvSpPr>
            <a:spLocks noGrp="1" noChangeArrowheads="1"/>
          </p:cNvSpPr>
          <p:nvPr>
            <p:ph idx="1"/>
          </p:nvPr>
        </p:nvSpPr>
        <p:spPr>
          <a:xfrm>
            <a:off x="185057" y="957943"/>
            <a:ext cx="8251808" cy="5089290"/>
          </a:xfrm>
        </p:spPr>
        <p:txBody>
          <a:bodyPr/>
          <a:lstStyle/>
          <a:p>
            <a:pPr algn="r" rtl="1"/>
            <a:r>
              <a:rPr lang="fa-IR" dirty="0"/>
              <a:t>مراقب صفات نامرتبط </a:t>
            </a:r>
            <a:r>
              <a:rPr lang="en-US" dirty="0"/>
              <a:t> (Unrelated Attributes) </a:t>
            </a:r>
            <a:r>
              <a:rPr lang="fa-IR" dirty="0"/>
              <a:t>با نام یکسان باشید که به‌اشتباه توسط عملگر پیوند طبیعی با هم معادل‌سازی</a:t>
            </a:r>
            <a:r>
              <a:rPr lang="en-US" dirty="0"/>
              <a:t> (equated) </a:t>
            </a:r>
            <a:r>
              <a:rPr lang="fa-IR" dirty="0"/>
              <a:t>می‌شوند.</a:t>
            </a:r>
            <a:endParaRPr lang="en-US" dirty="0"/>
          </a:p>
          <a:p>
            <a:pPr algn="r" rtl="1"/>
            <a:r>
              <a:rPr lang="en-US" altLang="en-US" dirty="0">
                <a:ea typeface="ＭＳ Ｐゴシック" pitchFamily="34" charset="-128"/>
              </a:rPr>
              <a:t> </a:t>
            </a:r>
            <a:r>
              <a:rPr lang="fa-IR" dirty="0"/>
              <a:t>مثال: لیست نام دانشجویان به همراه عنوان دروسی که اخذ کرده‌اند.</a:t>
            </a:r>
            <a:endParaRPr lang="en-US" dirty="0"/>
          </a:p>
          <a:p>
            <a:pPr lvl="1" algn="r" rtl="1"/>
            <a:r>
              <a:rPr lang="fa-IR" dirty="0"/>
              <a:t>نسخه صحیح:</a:t>
            </a:r>
            <a:endParaRPr lang="en-US" dirty="0"/>
          </a:p>
          <a:p>
            <a:pPr lvl="1">
              <a:buNone/>
            </a:pPr>
            <a:r>
              <a:rPr lang="en-US" b="1" dirty="0"/>
              <a:t>           select </a:t>
            </a:r>
            <a:r>
              <a:rPr lang="en-US" i="1" dirty="0"/>
              <a:t>name</a:t>
            </a:r>
            <a:r>
              <a:rPr lang="en-US" dirty="0"/>
              <a:t>, </a:t>
            </a:r>
            <a:r>
              <a:rPr lang="en-US" i="1" dirty="0"/>
              <a:t>title</a:t>
            </a:r>
            <a:br>
              <a:rPr lang="en-US" i="1" dirty="0"/>
            </a:br>
            <a:r>
              <a:rPr lang="en-US" i="1" dirty="0"/>
              <a:t>       </a:t>
            </a:r>
            <a:r>
              <a:rPr lang="en-US" b="1" dirty="0"/>
              <a:t>from </a:t>
            </a:r>
            <a:r>
              <a:rPr lang="en-US" i="1" dirty="0"/>
              <a:t>student </a:t>
            </a:r>
            <a:r>
              <a:rPr lang="en-US" b="1" dirty="0"/>
              <a:t>natural join </a:t>
            </a:r>
            <a:r>
              <a:rPr lang="en-US" i="1" dirty="0"/>
              <a:t>takes</a:t>
            </a:r>
            <a:r>
              <a:rPr lang="en-US" dirty="0"/>
              <a:t>, </a:t>
            </a:r>
            <a:r>
              <a:rPr lang="en-US" i="1" dirty="0"/>
              <a:t>course</a:t>
            </a:r>
            <a:br>
              <a:rPr lang="en-US" i="1" dirty="0"/>
            </a:br>
            <a:r>
              <a:rPr lang="en-US" i="1" dirty="0"/>
              <a:t>       </a:t>
            </a:r>
            <a:r>
              <a:rPr lang="en-US" b="1" dirty="0"/>
              <a:t>where </a:t>
            </a:r>
            <a:r>
              <a:rPr lang="en-US" i="1" dirty="0" err="1"/>
              <a:t>takes</a:t>
            </a:r>
            <a:r>
              <a:rPr lang="en-US" dirty="0" err="1"/>
              <a:t>.</a:t>
            </a:r>
            <a:r>
              <a:rPr lang="en-US" i="1" dirty="0" err="1"/>
              <a:t>course_id</a:t>
            </a:r>
            <a:r>
              <a:rPr lang="en-US" i="1" dirty="0"/>
              <a:t> </a:t>
            </a:r>
            <a:r>
              <a:rPr lang="en-US" dirty="0"/>
              <a:t>= </a:t>
            </a:r>
            <a:r>
              <a:rPr lang="en-US" i="1" dirty="0" err="1"/>
              <a:t>course</a:t>
            </a:r>
            <a:r>
              <a:rPr lang="en-US" dirty="0" err="1"/>
              <a:t>.</a:t>
            </a:r>
            <a:r>
              <a:rPr lang="en-US" i="1" dirty="0" err="1"/>
              <a:t>course_id</a:t>
            </a:r>
            <a:r>
              <a:rPr lang="en-US" dirty="0"/>
              <a:t>;</a:t>
            </a:r>
          </a:p>
          <a:p>
            <a:pPr lvl="1" algn="r" rtl="1"/>
            <a:r>
              <a:rPr lang="fa-IR" dirty="0"/>
              <a:t>نسخه نادرست: </a:t>
            </a:r>
            <a:endParaRPr lang="en-US" dirty="0"/>
          </a:p>
          <a:p>
            <a:pPr lvl="2">
              <a:buFont typeface="Webdings" pitchFamily="18" charset="2"/>
              <a:buNone/>
              <a:defRPr/>
            </a:pPr>
            <a:r>
              <a:rPr lang="en-US" b="1" dirty="0"/>
              <a:t>       select </a:t>
            </a:r>
            <a:r>
              <a:rPr lang="en-US" i="1" dirty="0"/>
              <a:t>name</a:t>
            </a:r>
            <a:r>
              <a:rPr lang="en-US" dirty="0"/>
              <a:t>, </a:t>
            </a:r>
            <a:r>
              <a:rPr lang="en-US" i="1" dirty="0"/>
              <a:t>title</a:t>
            </a:r>
            <a:br>
              <a:rPr lang="en-US" i="1" dirty="0"/>
            </a:br>
            <a:r>
              <a:rPr lang="en-US" i="1" dirty="0"/>
              <a:t>   </a:t>
            </a:r>
            <a:r>
              <a:rPr lang="en-US" b="1" dirty="0"/>
              <a:t>from </a:t>
            </a:r>
            <a:r>
              <a:rPr lang="en-US" i="1" dirty="0"/>
              <a:t>student </a:t>
            </a:r>
            <a:r>
              <a:rPr lang="en-US" b="1" dirty="0"/>
              <a:t>natural join </a:t>
            </a:r>
            <a:r>
              <a:rPr lang="en-US" i="1" dirty="0"/>
              <a:t>takes </a:t>
            </a:r>
            <a:r>
              <a:rPr lang="en-US" b="1" dirty="0"/>
              <a:t>natural join </a:t>
            </a:r>
            <a:r>
              <a:rPr lang="en-US" i="1" dirty="0"/>
              <a:t>course</a:t>
            </a:r>
            <a:r>
              <a:rPr lang="en-US" dirty="0"/>
              <a:t>;</a:t>
            </a:r>
            <a:endParaRPr lang="fa-IR" dirty="0"/>
          </a:p>
          <a:p>
            <a:pPr lvl="2">
              <a:buFont typeface="Webdings" pitchFamily="18" charset="2"/>
              <a:buNone/>
              <a:defRPr/>
            </a:pPr>
            <a:endParaRPr lang="en-US" dirty="0"/>
          </a:p>
          <a:p>
            <a:pPr lvl="2" algn="r" rtl="1">
              <a:defRPr/>
            </a:pPr>
            <a:r>
              <a:rPr lang="fa-IR" dirty="0"/>
              <a:t>این پرس‌وجو تمامی جفت‌های (نام دانشجو، عنوان درس) را که در آن‌ها دانشجو درسی را از دپارتمانی غیر از دپارتمان خودش اخذ کرده است، حذف می‌کند</a:t>
            </a:r>
          </a:p>
          <a:p>
            <a:pPr lvl="2" algn="r" rtl="1">
              <a:defRPr/>
            </a:pPr>
            <a:r>
              <a:rPr lang="fa-IR" dirty="0"/>
              <a:t>نسخه صحیح، تاپل‌هایی را که در آن‌ها دپارتمان دانشجو و درس یکسان نیست، به‌درستی خروجی می‌دهد.</a:t>
            </a:r>
            <a:endParaRPr lang="en-US" dirty="0"/>
          </a:p>
          <a:p>
            <a:pPr lvl="1"/>
            <a:endParaRPr lang="en-US" altLang="en-US" sz="2800" dirty="0">
              <a:ea typeface="ＭＳ Ｐゴシック" pitchFamily="34"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ChangeArrowheads="1"/>
          </p:cNvSpPr>
          <p:nvPr>
            <p:ph type="title"/>
          </p:nvPr>
        </p:nvSpPr>
        <p:spPr/>
        <p:txBody>
          <a:bodyPr/>
          <a:lstStyle/>
          <a:p>
            <a:pPr rtl="1"/>
            <a:r>
              <a:rPr lang="fa-IR" altLang="en-US" sz="2800" dirty="0">
                <a:effectLst>
                  <a:outerShdw blurRad="38100" dist="38100" dir="2700000" algn="tl">
                    <a:srgbClr val="C0C0C0"/>
                  </a:outerShdw>
                </a:effectLst>
              </a:rPr>
              <a:t>طرح و دیاگرام پایگاه‌داده دانشگاه</a:t>
            </a:r>
            <a:endParaRPr lang="en-US" altLang="en-US" sz="2800" dirty="0">
              <a:effectLst>
                <a:outerShdw blurRad="38100" dist="38100" dir="2700000" algn="tl">
                  <a:srgbClr val="C0C0C0"/>
                </a:outerShdw>
              </a:effectLst>
            </a:endParaRPr>
          </a:p>
        </p:txBody>
      </p:sp>
      <p:pic>
        <p:nvPicPr>
          <p:cNvPr id="4" name="Picture 3">
            <a:extLst>
              <a:ext uri="{FF2B5EF4-FFF2-40B4-BE49-F238E27FC236}">
                <a16:creationId xmlns:a16="http://schemas.microsoft.com/office/drawing/2014/main" id="{C05D2B26-2B37-4196-91A3-8EF006429FFB}"/>
              </a:ext>
            </a:extLst>
          </p:cNvPr>
          <p:cNvPicPr>
            <a:picLocks noChangeAspect="1"/>
          </p:cNvPicPr>
          <p:nvPr/>
        </p:nvPicPr>
        <p:blipFill>
          <a:blip r:embed="rId3"/>
          <a:stretch>
            <a:fillRect/>
          </a:stretch>
        </p:blipFill>
        <p:spPr>
          <a:xfrm>
            <a:off x="84815" y="826341"/>
            <a:ext cx="4877481" cy="2362530"/>
          </a:xfrm>
          <a:prstGeom prst="rect">
            <a:avLst/>
          </a:prstGeom>
        </p:spPr>
      </p:pic>
      <p:pic>
        <p:nvPicPr>
          <p:cNvPr id="3" name="Graphic 2">
            <a:extLst>
              <a:ext uri="{FF2B5EF4-FFF2-40B4-BE49-F238E27FC236}">
                <a16:creationId xmlns:a16="http://schemas.microsoft.com/office/drawing/2014/main" id="{D6B8FF63-5393-4696-8B56-06CDA84E94A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0733" y="2498946"/>
            <a:ext cx="7079810" cy="424157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p:txBody>
          <a:bodyPr/>
          <a:lstStyle/>
          <a:p>
            <a:pPr rtl="1"/>
            <a:r>
              <a:rPr lang="fa-IR" dirty="0"/>
              <a:t>پیوند طبیعی با استفاده از </a:t>
            </a:r>
            <a:r>
              <a:rPr lang="en-US" dirty="0"/>
              <a:t>using</a:t>
            </a:r>
            <a:endParaRPr lang="en-US" altLang="en-US" sz="2800" dirty="0">
              <a:effectLst>
                <a:outerShdw blurRad="38100" dist="38100" dir="2700000" algn="tl">
                  <a:srgbClr val="C0C0C0"/>
                </a:outerShdw>
              </a:effectLst>
            </a:endParaRPr>
          </a:p>
        </p:txBody>
      </p:sp>
      <p:sp>
        <p:nvSpPr>
          <p:cNvPr id="7170" name="Rectangle 3"/>
          <p:cNvSpPr>
            <a:spLocks noGrp="1" noChangeArrowheads="1"/>
          </p:cNvSpPr>
          <p:nvPr>
            <p:ph idx="1"/>
          </p:nvPr>
        </p:nvSpPr>
        <p:spPr>
          <a:xfrm>
            <a:off x="768351" y="1118175"/>
            <a:ext cx="7745334" cy="3014913"/>
          </a:xfrm>
        </p:spPr>
        <p:txBody>
          <a:bodyPr lIns="91440"/>
          <a:lstStyle/>
          <a:p>
            <a:pPr indent="-365760" algn="r" rtl="1"/>
            <a:r>
              <a:rPr lang="fa-IR" dirty="0"/>
              <a:t>برای پرهیز از معادل‌سازی اشتباه صفات، می‌توانیم از ساختار </a:t>
            </a:r>
            <a:r>
              <a:rPr lang="en-US" dirty="0"/>
              <a:t>using" </a:t>
            </a:r>
            <a:r>
              <a:rPr lang="fa-IR" dirty="0"/>
              <a:t>" استفاده کنیم که به ما اجازه می‌دهد دقیقاً مشخص کنیم کدام ستون‌ها باید معادل‌سازی شوند.</a:t>
            </a:r>
            <a:endParaRPr lang="en-US" dirty="0"/>
          </a:p>
          <a:p>
            <a:pPr indent="-365760" algn="r" rtl="1"/>
            <a:r>
              <a:rPr lang="fa-IR" dirty="0"/>
              <a:t>مثال:</a:t>
            </a:r>
            <a:endParaRPr lang="en-US" i="1" dirty="0"/>
          </a:p>
          <a:p>
            <a:pPr>
              <a:buNone/>
              <a:defRPr/>
            </a:pPr>
            <a:r>
              <a:rPr lang="en-US" i="1" dirty="0"/>
              <a:t>        </a:t>
            </a:r>
            <a:r>
              <a:rPr lang="en-US" b="1" dirty="0"/>
              <a:t>select </a:t>
            </a:r>
            <a:r>
              <a:rPr lang="en-US" i="1" dirty="0"/>
              <a:t>name</a:t>
            </a:r>
            <a:r>
              <a:rPr lang="en-US" dirty="0"/>
              <a:t>, </a:t>
            </a:r>
            <a:r>
              <a:rPr lang="en-US" i="1" dirty="0"/>
              <a:t>title</a:t>
            </a:r>
            <a:br>
              <a:rPr lang="en-US" i="1" dirty="0"/>
            </a:br>
            <a:r>
              <a:rPr lang="en-US" i="1" dirty="0"/>
              <a:t>   </a:t>
            </a:r>
            <a:r>
              <a:rPr lang="en-US" b="1" dirty="0"/>
              <a:t>from  </a:t>
            </a:r>
            <a:r>
              <a:rPr lang="en-US" dirty="0"/>
              <a:t>(</a:t>
            </a:r>
            <a:r>
              <a:rPr lang="en-US" i="1" dirty="0"/>
              <a:t>student </a:t>
            </a:r>
            <a:r>
              <a:rPr lang="en-US" b="1" dirty="0"/>
              <a:t>natural join </a:t>
            </a:r>
            <a:r>
              <a:rPr lang="en-US" i="1" dirty="0"/>
              <a:t>takes</a:t>
            </a:r>
            <a:r>
              <a:rPr lang="en-US" dirty="0"/>
              <a:t>) </a:t>
            </a:r>
            <a:r>
              <a:rPr lang="en-US" b="1" dirty="0"/>
              <a:t> join </a:t>
            </a:r>
            <a:r>
              <a:rPr lang="en-US" i="1" dirty="0"/>
              <a:t>course</a:t>
            </a:r>
            <a:r>
              <a:rPr lang="en-US" dirty="0"/>
              <a:t> </a:t>
            </a:r>
            <a:r>
              <a:rPr lang="en-US" b="1" dirty="0"/>
              <a:t>using </a:t>
            </a:r>
            <a:r>
              <a:rPr lang="en-US" dirty="0"/>
              <a:t>(</a:t>
            </a:r>
            <a:r>
              <a:rPr lang="en-US" i="1" dirty="0" err="1"/>
              <a:t>course_id</a:t>
            </a:r>
            <a:r>
              <a:rPr lang="en-US" dirty="0"/>
              <a:t>)</a:t>
            </a:r>
          </a:p>
          <a:p>
            <a:pPr indent="-365760"/>
            <a:endParaRPr lang="en-US" altLang="en-US" sz="2800" dirty="0"/>
          </a:p>
        </p:txBody>
      </p:sp>
    </p:spTree>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194" name="Rectangle 2"/>
          <p:cNvSpPr>
            <a:spLocks noGrp="1" noChangeArrowheads="1"/>
          </p:cNvSpPr>
          <p:nvPr>
            <p:ph type="title"/>
          </p:nvPr>
        </p:nvSpPr>
        <p:spPr/>
        <p:txBody>
          <a:bodyPr/>
          <a:lstStyle/>
          <a:p>
            <a:r>
              <a:rPr lang="fa-IR" dirty="0"/>
              <a:t>شرط پیوند</a:t>
            </a:r>
            <a:endParaRPr lang="en-US" altLang="en-US" sz="2800" dirty="0">
              <a:effectLst>
                <a:outerShdw blurRad="38100" dist="38100" dir="2700000" algn="tl">
                  <a:srgbClr val="C0C0C0"/>
                </a:outerShdw>
              </a:effectLst>
            </a:endParaRPr>
          </a:p>
        </p:txBody>
      </p:sp>
      <p:sp>
        <p:nvSpPr>
          <p:cNvPr id="7170" name="Rectangle 3"/>
          <p:cNvSpPr>
            <a:spLocks noGrp="1" noChangeArrowheads="1"/>
          </p:cNvSpPr>
          <p:nvPr>
            <p:ph idx="1"/>
          </p:nvPr>
        </p:nvSpPr>
        <p:spPr>
          <a:xfrm>
            <a:off x="768351" y="1093790"/>
            <a:ext cx="7621047" cy="4903787"/>
          </a:xfrm>
        </p:spPr>
        <p:txBody>
          <a:bodyPr lIns="91440"/>
          <a:lstStyle/>
          <a:p>
            <a:pPr indent="-365760" algn="r" rtl="1"/>
            <a:r>
              <a:rPr lang="fa-IR" dirty="0"/>
              <a:t>شرط </a:t>
            </a:r>
            <a:r>
              <a:rPr lang="en-US" dirty="0"/>
              <a:t> ON </a:t>
            </a:r>
            <a:r>
              <a:rPr lang="fa-IR" dirty="0"/>
              <a:t>امکان تعریف یک گزاره کلی </a:t>
            </a:r>
            <a:r>
              <a:rPr lang="en-US" dirty="0"/>
              <a:t> (General Predicate) </a:t>
            </a:r>
            <a:r>
              <a:rPr lang="fa-IR" dirty="0"/>
              <a:t>بر روی رابطه‌هایی که در حال پیوند هستند را فراهم می‌آورد.</a:t>
            </a:r>
          </a:p>
          <a:p>
            <a:pPr indent="-365760" algn="r" rtl="1"/>
            <a:r>
              <a:rPr lang="fa-IR" dirty="0"/>
              <a:t>این گزاره مانند محمول بند </a:t>
            </a:r>
            <a:r>
              <a:rPr lang="en-US" dirty="0"/>
              <a:t> WHERE </a:t>
            </a:r>
            <a:r>
              <a:rPr lang="fa-IR" dirty="0"/>
              <a:t>نوشته می‌شود، با این تفاوت که از کلمه کلیدی </a:t>
            </a:r>
            <a:r>
              <a:rPr lang="en-US" dirty="0"/>
              <a:t>  ON </a:t>
            </a:r>
            <a:r>
              <a:rPr lang="fa-IR" dirty="0"/>
              <a:t>استفاده می‌کند.</a:t>
            </a:r>
            <a:endParaRPr lang="en-US" dirty="0"/>
          </a:p>
          <a:p>
            <a:pPr indent="-365760" algn="r" rtl="1"/>
            <a:r>
              <a:rPr lang="fa-IR" dirty="0"/>
              <a:t>مثال:</a:t>
            </a:r>
            <a:endParaRPr lang="en-US" i="1" dirty="0"/>
          </a:p>
          <a:p>
            <a:pPr>
              <a:buNone/>
              <a:defRPr/>
            </a:pPr>
            <a:r>
              <a:rPr lang="en-US" b="1" dirty="0"/>
              <a:t>          select *</a:t>
            </a:r>
            <a:br>
              <a:rPr lang="en-US" i="1" dirty="0"/>
            </a:br>
            <a:r>
              <a:rPr lang="en-US" i="1" dirty="0"/>
              <a:t>     </a:t>
            </a:r>
            <a:r>
              <a:rPr lang="en-US" b="1" dirty="0"/>
              <a:t>from  </a:t>
            </a:r>
            <a:r>
              <a:rPr lang="en-US" i="1" dirty="0"/>
              <a:t>student </a:t>
            </a:r>
            <a:r>
              <a:rPr lang="en-US" b="1" dirty="0"/>
              <a:t>join </a:t>
            </a:r>
            <a:r>
              <a:rPr lang="en-US" i="1" dirty="0"/>
              <a:t>takes</a:t>
            </a:r>
            <a:r>
              <a:rPr lang="en-US" dirty="0"/>
              <a:t> </a:t>
            </a:r>
            <a:r>
              <a:rPr lang="en-US" b="1" dirty="0"/>
              <a:t>on </a:t>
            </a:r>
            <a:r>
              <a:rPr lang="en-US" i="1" dirty="0" err="1"/>
              <a:t>student_ID</a:t>
            </a:r>
            <a:r>
              <a:rPr lang="en-US" b="1" dirty="0"/>
              <a:t>  </a:t>
            </a:r>
            <a:r>
              <a:rPr lang="en-US" dirty="0"/>
              <a:t>=</a:t>
            </a:r>
            <a:r>
              <a:rPr lang="en-US" b="1" dirty="0"/>
              <a:t> </a:t>
            </a:r>
            <a:r>
              <a:rPr lang="en-US" i="1" dirty="0" err="1"/>
              <a:t>takes_ID</a:t>
            </a:r>
            <a:endParaRPr lang="fa-IR" i="1" dirty="0"/>
          </a:p>
          <a:p>
            <a:pPr>
              <a:buNone/>
              <a:defRPr/>
            </a:pPr>
            <a:endParaRPr lang="en-US" i="1" dirty="0"/>
          </a:p>
          <a:p>
            <a:pPr lvl="1" algn="r" rtl="1">
              <a:defRPr/>
            </a:pPr>
            <a:r>
              <a:rPr lang="fa-IR" dirty="0"/>
              <a:t>شرط </a:t>
            </a:r>
            <a:r>
              <a:rPr lang="en-US" dirty="0"/>
              <a:t>ON</a:t>
            </a:r>
            <a:r>
              <a:rPr lang="fa-IR" dirty="0"/>
              <a:t> </a:t>
            </a:r>
            <a:r>
              <a:rPr lang="en-US" dirty="0"/>
              <a:t> </a:t>
            </a:r>
            <a:r>
              <a:rPr lang="fa-IR" dirty="0"/>
              <a:t>بالا مشخص می‌کند که یک تاپل از رابطه </a:t>
            </a:r>
            <a:r>
              <a:rPr lang="en-US" dirty="0"/>
              <a:t>student</a:t>
            </a:r>
            <a:r>
              <a:rPr lang="fa-IR" dirty="0"/>
              <a:t> </a:t>
            </a:r>
            <a:r>
              <a:rPr lang="en-US" dirty="0"/>
              <a:t> </a:t>
            </a:r>
            <a:r>
              <a:rPr lang="fa-IR" dirty="0"/>
              <a:t>با یک تاپل از رابطه </a:t>
            </a:r>
            <a:r>
              <a:rPr lang="en-US" dirty="0"/>
              <a:t>takes</a:t>
            </a:r>
            <a:r>
              <a:rPr lang="fa-IR" dirty="0"/>
              <a:t> </a:t>
            </a:r>
            <a:r>
              <a:rPr lang="en-US" dirty="0"/>
              <a:t> </a:t>
            </a:r>
            <a:r>
              <a:rPr lang="fa-IR" dirty="0"/>
              <a:t>تطابق دارد، اگر مقادیر </a:t>
            </a:r>
            <a:r>
              <a:rPr lang="en-US" dirty="0"/>
              <a:t>ID</a:t>
            </a:r>
            <a:r>
              <a:rPr lang="fa-IR" dirty="0"/>
              <a:t> </a:t>
            </a:r>
            <a:r>
              <a:rPr lang="en-US" dirty="0"/>
              <a:t> </a:t>
            </a:r>
            <a:r>
              <a:rPr lang="fa-IR" dirty="0"/>
              <a:t>آن‌ها برابر باشد.</a:t>
            </a:r>
          </a:p>
          <a:p>
            <a:pPr lvl="1" algn="r" rtl="1">
              <a:defRPr/>
            </a:pPr>
            <a:r>
              <a:rPr lang="fa-IR" dirty="0"/>
              <a:t>معادل است با:</a:t>
            </a:r>
            <a:endParaRPr lang="en-US" dirty="0"/>
          </a:p>
          <a:p>
            <a:pPr>
              <a:buNone/>
              <a:defRPr/>
            </a:pPr>
            <a:r>
              <a:rPr lang="en-US" b="1" dirty="0"/>
              <a:t>             select *</a:t>
            </a:r>
            <a:br>
              <a:rPr lang="en-US" i="1" dirty="0"/>
            </a:br>
            <a:r>
              <a:rPr lang="en-US" i="1" dirty="0"/>
              <a:t>        </a:t>
            </a:r>
            <a:r>
              <a:rPr lang="en-US" b="1" dirty="0"/>
              <a:t>from  </a:t>
            </a:r>
            <a:r>
              <a:rPr lang="en-US" i="1" dirty="0"/>
              <a:t>student , takes</a:t>
            </a:r>
            <a:r>
              <a:rPr lang="en-US" dirty="0"/>
              <a:t> </a:t>
            </a:r>
            <a:br>
              <a:rPr lang="en-US" i="1" dirty="0"/>
            </a:br>
            <a:r>
              <a:rPr lang="en-US" i="1" dirty="0"/>
              <a:t>        </a:t>
            </a:r>
            <a:r>
              <a:rPr lang="en-US" b="1" dirty="0"/>
              <a:t>where  </a:t>
            </a:r>
            <a:r>
              <a:rPr lang="en-US" i="1" dirty="0" err="1"/>
              <a:t>student_ID</a:t>
            </a:r>
            <a:r>
              <a:rPr lang="en-US" b="1" dirty="0"/>
              <a:t>  </a:t>
            </a:r>
            <a:r>
              <a:rPr lang="en-US" dirty="0"/>
              <a:t>=</a:t>
            </a:r>
            <a:r>
              <a:rPr lang="en-US" b="1" dirty="0"/>
              <a:t> </a:t>
            </a:r>
            <a:r>
              <a:rPr lang="en-US" i="1" dirty="0" err="1"/>
              <a:t>takes_ID</a:t>
            </a:r>
            <a:endParaRPr lang="en-US" dirty="0"/>
          </a:p>
          <a:p>
            <a:pPr>
              <a:defRPr/>
            </a:pPr>
            <a:endParaRPr lang="en-US" sz="2800" i="1" dirty="0"/>
          </a:p>
          <a:p>
            <a:pPr indent="-365760"/>
            <a:endParaRPr lang="en-US" altLang="en-US" sz="2800" dirty="0"/>
          </a:p>
        </p:txBody>
      </p:sp>
    </p:spTree>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sz="2800" dirty="0">
                <a:ea typeface="+mj-ea"/>
              </a:rPr>
              <a:t>(</a:t>
            </a:r>
            <a:r>
              <a:rPr lang="fa-IR" dirty="0"/>
              <a:t>پیوند بیرونی</a:t>
            </a:r>
            <a:r>
              <a:rPr lang="fa-IR" sz="2800" dirty="0">
                <a:ea typeface="+mj-ea"/>
              </a:rPr>
              <a:t>) </a:t>
            </a:r>
            <a:r>
              <a:rPr lang="en-US" sz="2800" dirty="0">
                <a:ea typeface="+mj-ea"/>
              </a:rPr>
              <a:t>Outer Join</a:t>
            </a:r>
          </a:p>
        </p:txBody>
      </p:sp>
      <p:sp>
        <p:nvSpPr>
          <p:cNvPr id="23555" name="Rectangle 3"/>
          <p:cNvSpPr>
            <a:spLocks noGrp="1" noChangeArrowheads="1"/>
          </p:cNvSpPr>
          <p:nvPr>
            <p:ph idx="1"/>
          </p:nvPr>
        </p:nvSpPr>
        <p:spPr>
          <a:xfrm>
            <a:off x="768350" y="1170533"/>
            <a:ext cx="7570979" cy="3779419"/>
          </a:xfrm>
        </p:spPr>
        <p:txBody>
          <a:bodyPr/>
          <a:lstStyle/>
          <a:p>
            <a:pPr algn="r" rtl="1"/>
            <a:r>
              <a:rPr lang="fa-IR" altLang="en-US" sz="2400" dirty="0"/>
              <a:t>تعمیمی</a:t>
            </a:r>
            <a:r>
              <a:rPr lang="en-US" altLang="en-US" sz="2400" dirty="0"/>
              <a:t> (Extension) </a:t>
            </a:r>
            <a:r>
              <a:rPr lang="fa-IR" altLang="en-US" sz="2400" dirty="0"/>
              <a:t>از عملگر پیوند است که از از دست رفتن اطلاعات جلوگیری می‌کند.</a:t>
            </a:r>
          </a:p>
          <a:p>
            <a:pPr algn="r" rtl="1"/>
            <a:r>
              <a:rPr lang="fa-IR" altLang="en-US" sz="2400" dirty="0"/>
              <a:t>این عملگر ابتدا پیوند را محاسبه می‌کند و سپس تاپل‌هایی </a:t>
            </a:r>
            <a:r>
              <a:rPr lang="en-US" altLang="en-US" sz="2400" dirty="0"/>
              <a:t> (Tuples) </a:t>
            </a:r>
            <a:r>
              <a:rPr lang="fa-IR" altLang="en-US" sz="2400" dirty="0"/>
              <a:t>را از یک رابطه که با تاپل‌های رابطه دیگر تطابق ندارند، به نتیجه پیوند اضافه می‌کند.</a:t>
            </a:r>
          </a:p>
          <a:p>
            <a:pPr algn="r" rtl="1"/>
            <a:r>
              <a:rPr lang="fa-IR" altLang="en-US" sz="2400" dirty="0"/>
              <a:t>از مقادیر نال </a:t>
            </a:r>
            <a:r>
              <a:rPr lang="en-US" altLang="en-US" sz="2400" dirty="0"/>
              <a:t> (Null) </a:t>
            </a:r>
            <a:r>
              <a:rPr lang="fa-IR" altLang="en-US" sz="2400" dirty="0"/>
              <a:t>استفاده می‌کند.</a:t>
            </a:r>
            <a:endParaRPr lang="en-US" altLang="en-US" sz="2400" dirty="0"/>
          </a:p>
          <a:p>
            <a:pPr algn="r" rtl="1"/>
            <a:r>
              <a:rPr lang="fa-IR" altLang="en-US" sz="2400" dirty="0"/>
              <a:t>سه نوع پیوند بیرونی وجود دارد:</a:t>
            </a:r>
            <a:endParaRPr lang="en-US" altLang="en-US" sz="2400" dirty="0"/>
          </a:p>
          <a:p>
            <a:pPr lvl="1" algn="r" rtl="1"/>
            <a:r>
              <a:rPr lang="en-US" altLang="en-US" sz="2400" dirty="0"/>
              <a:t>left outer join</a:t>
            </a:r>
            <a:r>
              <a:rPr lang="fa-IR" altLang="en-US" sz="2400" dirty="0"/>
              <a:t> (</a:t>
            </a:r>
            <a:r>
              <a:rPr lang="fa-IR" sz="2400" dirty="0"/>
              <a:t>پیوند بیرونی چپ)</a:t>
            </a:r>
            <a:endParaRPr lang="en-US" altLang="en-US" sz="2400" dirty="0"/>
          </a:p>
          <a:p>
            <a:pPr lvl="1" algn="r" rtl="1"/>
            <a:r>
              <a:rPr lang="en-US" altLang="en-US" sz="2400" dirty="0"/>
              <a:t>right outer join</a:t>
            </a:r>
            <a:r>
              <a:rPr lang="fa-IR" altLang="en-US" sz="2400" dirty="0"/>
              <a:t> (</a:t>
            </a:r>
            <a:r>
              <a:rPr lang="fa-IR" sz="2400" dirty="0"/>
              <a:t>پیوند بیرونی راست)</a:t>
            </a:r>
            <a:endParaRPr lang="en-US" altLang="en-US" sz="2400" dirty="0"/>
          </a:p>
          <a:p>
            <a:pPr lvl="1" algn="r" rtl="1"/>
            <a:r>
              <a:rPr lang="en-US" altLang="en-US" sz="2400" dirty="0"/>
              <a:t>full outer join</a:t>
            </a:r>
            <a:r>
              <a:rPr lang="fa-IR" altLang="en-US" sz="2400" dirty="0"/>
              <a:t> (</a:t>
            </a:r>
            <a:r>
              <a:rPr lang="fa-IR" sz="2400" dirty="0"/>
              <a:t>پیوند بیرونی کامل)</a:t>
            </a:r>
            <a:endParaRPr lang="en-US" alt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ea typeface="+mj-ea"/>
              </a:rPr>
              <a:t>Outer Join </a:t>
            </a:r>
            <a:r>
              <a:rPr lang="fa-IR" dirty="0">
                <a:ea typeface="+mj-ea"/>
              </a:rPr>
              <a:t>مثال‌های</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pPr algn="r" rtl="1"/>
            <a:r>
              <a:rPr lang="fa-IR" altLang="en-US" sz="1700" dirty="0"/>
              <a:t>جدول</a:t>
            </a:r>
            <a:r>
              <a:rPr lang="en-US" altLang="en-US" sz="1700" dirty="0"/>
              <a:t> </a:t>
            </a:r>
            <a:r>
              <a:rPr lang="en-US" altLang="en-US" sz="1700" i="1" dirty="0"/>
              <a:t>course</a:t>
            </a:r>
          </a:p>
          <a:p>
            <a:pPr algn="r" rtl="1"/>
            <a:endParaRPr lang="en-US" altLang="en-US" sz="1700" i="1" dirty="0"/>
          </a:p>
          <a:p>
            <a:pPr algn="r" rtl="1"/>
            <a:endParaRPr lang="en-US" altLang="en-US" sz="1700" i="1" dirty="0"/>
          </a:p>
          <a:p>
            <a:pPr algn="r" rtl="1">
              <a:buNone/>
            </a:pPr>
            <a:endParaRPr lang="en-US" altLang="en-US" sz="1700" i="1" dirty="0"/>
          </a:p>
          <a:p>
            <a:pPr algn="r" rtl="1">
              <a:buNone/>
            </a:pPr>
            <a:endParaRPr lang="en-US" altLang="en-US" sz="1700" i="1" dirty="0"/>
          </a:p>
          <a:p>
            <a:pPr algn="r" rtl="1"/>
            <a:r>
              <a:rPr lang="fa-IR" altLang="en-US" sz="1700" dirty="0"/>
              <a:t>جدول</a:t>
            </a:r>
            <a:r>
              <a:rPr lang="en-US" altLang="en-US" sz="1700" dirty="0"/>
              <a:t> </a:t>
            </a:r>
            <a:r>
              <a:rPr lang="en-US" altLang="en-US" sz="1700" i="1" dirty="0" err="1"/>
              <a:t>prereq</a:t>
            </a:r>
            <a:endParaRPr lang="en-US" altLang="en-US" sz="1700" dirty="0"/>
          </a:p>
          <a:p>
            <a:pPr algn="r" rtl="1"/>
            <a:endParaRPr lang="en-US" altLang="en-US" sz="1700" i="1" dirty="0"/>
          </a:p>
          <a:p>
            <a:pPr algn="r" rtl="1"/>
            <a:endParaRPr lang="en-US" altLang="en-US" sz="1700" i="1" dirty="0"/>
          </a:p>
          <a:p>
            <a:pPr algn="r" rtl="1"/>
            <a:endParaRPr lang="en-US" altLang="en-US" sz="1700" i="1" dirty="0"/>
          </a:p>
          <a:p>
            <a:pPr algn="r" rtl="1"/>
            <a:endParaRPr lang="en-US" altLang="en-US" sz="1700" i="1" dirty="0"/>
          </a:p>
          <a:p>
            <a:pPr algn="r" rtl="1"/>
            <a:r>
              <a:rPr lang="fa-IR" altLang="en-US" sz="1700" dirty="0"/>
              <a:t>دقت کنید که: </a:t>
            </a:r>
            <a:endParaRPr lang="en-US" altLang="en-US" sz="1700" dirty="0"/>
          </a:p>
          <a:p>
            <a:pPr algn="r" rtl="1">
              <a:buClr>
                <a:schemeClr val="tx2"/>
              </a:buClr>
              <a:buNone/>
            </a:pPr>
            <a:r>
              <a:rPr lang="en-US" altLang="en-US" sz="1700" i="1" dirty="0"/>
              <a:t>     </a:t>
            </a:r>
            <a:r>
              <a:rPr lang="fa-IR" altLang="en-US" sz="1700" dirty="0"/>
              <a:t>اطلاعات</a:t>
            </a:r>
            <a:r>
              <a:rPr lang="fa-IR" altLang="en-US" sz="1700" i="1" dirty="0"/>
              <a:t> </a:t>
            </a:r>
            <a:r>
              <a:rPr lang="en-US" altLang="en-US" sz="1700" dirty="0"/>
              <a:t>CS-347</a:t>
            </a:r>
            <a:r>
              <a:rPr lang="fa-IR" altLang="en-US" sz="1700" dirty="0"/>
              <a:t> در جدول </a:t>
            </a:r>
            <a:r>
              <a:rPr lang="en-US" altLang="en-US" sz="1700" dirty="0"/>
              <a:t>course</a:t>
            </a:r>
            <a:r>
              <a:rPr lang="fa-IR" altLang="en-US" sz="1700" dirty="0"/>
              <a:t> گم شده است.</a:t>
            </a:r>
            <a:endParaRPr lang="en-US" altLang="en-US" sz="1700" dirty="0"/>
          </a:p>
          <a:p>
            <a:pPr algn="r" rtl="1">
              <a:buClr>
                <a:schemeClr val="tx2"/>
              </a:buClr>
              <a:buNone/>
            </a:pPr>
            <a:r>
              <a:rPr lang="fa-IR" altLang="en-US" sz="1700" i="1" dirty="0"/>
              <a:t>	</a:t>
            </a:r>
            <a:r>
              <a:rPr lang="en-US" altLang="en-US" sz="1700" i="1" dirty="0"/>
              <a:t> </a:t>
            </a:r>
            <a:r>
              <a:rPr lang="fa-IR" altLang="en-US" sz="1700" dirty="0"/>
              <a:t>اطلاعات</a:t>
            </a:r>
            <a:r>
              <a:rPr lang="fa-IR" altLang="en-US" sz="1700" i="1" dirty="0"/>
              <a:t> </a:t>
            </a:r>
            <a:r>
              <a:rPr lang="en-US" altLang="en-US" sz="1700" dirty="0"/>
              <a:t>CS-315</a:t>
            </a:r>
            <a:r>
              <a:rPr lang="fa-IR" altLang="en-US" sz="1700" dirty="0"/>
              <a:t> در جدول </a:t>
            </a:r>
            <a:r>
              <a:rPr lang="en-US" altLang="en-US" sz="1700" i="1" dirty="0" err="1"/>
              <a:t>prereq</a:t>
            </a:r>
            <a:r>
              <a:rPr lang="fa-IR" altLang="en-US" sz="1700" dirty="0"/>
              <a:t> گم شده است.</a:t>
            </a:r>
            <a:r>
              <a:rPr lang="en-US" altLang="en-US" sz="800" dirty="0"/>
              <a:t> </a:t>
            </a:r>
            <a:endParaRPr lang="en-US" altLang="en-US" sz="2000" dirty="0"/>
          </a:p>
          <a:p>
            <a:pPr algn="r" rtl="1"/>
            <a:endParaRPr lang="en-US" altLang="en-US" sz="2000" dirty="0"/>
          </a:p>
        </p:txBody>
      </p:sp>
      <p:pic>
        <p:nvPicPr>
          <p:cNvPr id="4"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23744" y="1658112"/>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18816" y="3401568"/>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Left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left outer join</a:t>
            </a:r>
            <a:r>
              <a:rPr lang="en-US" altLang="en-US" sz="1700" dirty="0">
                <a:solidFill>
                  <a:srgbClr val="000099"/>
                </a:solidFill>
              </a:rPr>
              <a:t> </a:t>
            </a:r>
            <a:r>
              <a:rPr lang="en-US" altLang="en-US" sz="1700" i="1" dirty="0" err="1"/>
              <a:t>prereq</a:t>
            </a: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342900" lvl="1" indent="-342900" algn="r" rtl="1">
              <a:buClr>
                <a:srgbClr val="002060"/>
              </a:buClr>
              <a:buFont typeface="Wingdings" panose="05000000000000000000" pitchFamily="2" charset="2"/>
              <a:buChar char="§"/>
            </a:pPr>
            <a:r>
              <a:rPr lang="fa-IR" altLang="en-US" sz="1700" dirty="0"/>
              <a:t> در جبر رابطه‌ای: </a:t>
            </a:r>
            <a:r>
              <a:rPr lang="en-US" altLang="en-US" sz="1700" i="1" dirty="0"/>
              <a:t>course </a:t>
            </a:r>
            <a:r>
              <a:rPr lang="en-US" altLang="en-US" sz="1700" b="1" dirty="0"/>
              <a:t>⟕</a:t>
            </a:r>
            <a:r>
              <a:rPr lang="en-US" altLang="en-US" sz="1700" dirty="0"/>
              <a:t> </a:t>
            </a:r>
            <a:r>
              <a:rPr lang="en-US" altLang="en-US" sz="1700" i="1" dirty="0" err="1"/>
              <a:t>prereq</a:t>
            </a:r>
            <a:endParaRPr lang="en-US" altLang="en-US" sz="1700" dirty="0"/>
          </a:p>
          <a:p>
            <a:pPr>
              <a:buNone/>
            </a:pPr>
            <a:endParaRPr lang="en-US" altLang="en-US" sz="1700" dirty="0"/>
          </a:p>
        </p:txBody>
      </p:sp>
      <p:pic>
        <p:nvPicPr>
          <p:cNvPr id="4" name="Picture 3"/>
          <p:cNvPicPr>
            <a:picLocks noChangeAspect="1"/>
          </p:cNvPicPr>
          <p:nvPr/>
        </p:nvPicPr>
        <p:blipFill>
          <a:blip r:embed="rId3"/>
          <a:stretch>
            <a:fillRect/>
          </a:stretch>
        </p:blipFill>
        <p:spPr>
          <a:xfrm>
            <a:off x="1901952" y="1802616"/>
            <a:ext cx="5316318" cy="120712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Right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right outer join</a:t>
            </a:r>
            <a:r>
              <a:rPr lang="en-US" altLang="en-US" sz="1700" dirty="0">
                <a:solidFill>
                  <a:srgbClr val="000099"/>
                </a:solidFill>
              </a:rPr>
              <a:t> </a:t>
            </a:r>
            <a:r>
              <a:rPr lang="en-US" altLang="en-US" sz="1700" i="1" dirty="0" err="1"/>
              <a:t>prereq</a:t>
            </a:r>
            <a:endParaRPr lang="en-US" altLang="en-US" sz="1700" dirty="0"/>
          </a:p>
          <a:p>
            <a:endParaRPr lang="en-US" altLang="en-US" sz="1700" dirty="0"/>
          </a:p>
          <a:p>
            <a:endParaRPr lang="en-US" altLang="en-US" sz="1700" dirty="0"/>
          </a:p>
          <a:p>
            <a:endParaRPr lang="en-US" altLang="en-US" sz="1700" dirty="0"/>
          </a:p>
          <a:p>
            <a:endParaRPr lang="en-US" altLang="en-US" sz="1700" dirty="0"/>
          </a:p>
          <a:p>
            <a:endParaRPr lang="en-US" altLang="en-US" sz="1700" dirty="0"/>
          </a:p>
          <a:p>
            <a:pPr marL="342900" lvl="1" indent="-342900" algn="r" rtl="1">
              <a:buClr>
                <a:srgbClr val="002060"/>
              </a:buClr>
              <a:buFont typeface="Wingdings" panose="05000000000000000000" pitchFamily="2" charset="2"/>
              <a:buChar char="§"/>
            </a:pPr>
            <a:r>
              <a:rPr lang="fa-IR" altLang="en-US" sz="1700" dirty="0"/>
              <a:t>در جبر رابطه‌ای: </a:t>
            </a:r>
            <a:r>
              <a:rPr lang="en-US" altLang="en-US" sz="1700" i="1" dirty="0"/>
              <a:t>course </a:t>
            </a:r>
            <a:r>
              <a:rPr lang="en-IN" sz="1700" b="1" dirty="0">
                <a:cs typeface="Times New Roman" panose="02020603050405020304" pitchFamily="18" charset="0"/>
              </a:rPr>
              <a:t>⟖</a:t>
            </a:r>
            <a:r>
              <a:rPr lang="en-IN" sz="1700" dirty="0"/>
              <a:t> </a:t>
            </a:r>
            <a:r>
              <a:rPr lang="en-US" altLang="en-US" sz="1700" i="1" dirty="0" err="1"/>
              <a:t>prereq</a:t>
            </a:r>
            <a:endParaRPr lang="en-US" altLang="en-US" sz="1700" dirty="0"/>
          </a:p>
          <a:p>
            <a:pPr>
              <a:buNone/>
            </a:pPr>
            <a:endParaRPr lang="en-US" altLang="en-US" sz="1700" dirty="0"/>
          </a:p>
        </p:txBody>
      </p:sp>
      <p:pic>
        <p:nvPicPr>
          <p:cNvPr id="4" name="Picture 3"/>
          <p:cNvPicPr>
            <a:picLocks noChangeAspect="1"/>
          </p:cNvPicPr>
          <p:nvPr/>
        </p:nvPicPr>
        <p:blipFill>
          <a:blip r:embed="rId3"/>
          <a:stretch>
            <a:fillRect/>
          </a:stretch>
        </p:blipFill>
        <p:spPr>
          <a:xfrm>
            <a:off x="1638343" y="1785905"/>
            <a:ext cx="5444073" cy="123613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en-US" sz="2800" dirty="0"/>
              <a:t>Full Outer Join</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dirty="0"/>
              <a:t> </a:t>
            </a:r>
            <a:r>
              <a:rPr lang="en-US" altLang="en-US" sz="1700" b="1" dirty="0">
                <a:solidFill>
                  <a:srgbClr val="000099"/>
                </a:solidFill>
              </a:rPr>
              <a:t>natural full outer join</a:t>
            </a:r>
            <a:r>
              <a:rPr lang="en-US" altLang="en-US" sz="1700" dirty="0">
                <a:solidFill>
                  <a:srgbClr val="000099"/>
                </a:solidFill>
              </a:rPr>
              <a:t> </a:t>
            </a:r>
            <a:r>
              <a:rPr lang="en-US" altLang="en-US" sz="1700" i="1" dirty="0" err="1"/>
              <a:t>prereq</a:t>
            </a:r>
            <a:endParaRPr lang="en-US" altLang="en-US" sz="1700" i="1" dirty="0"/>
          </a:p>
          <a:p>
            <a:endParaRPr lang="en-US" altLang="en-US" sz="1700" dirty="0"/>
          </a:p>
          <a:p>
            <a:endParaRPr lang="en-US" altLang="en-US" sz="1700" dirty="0"/>
          </a:p>
          <a:p>
            <a:endParaRPr lang="en-US" altLang="en-US" sz="1700" dirty="0"/>
          </a:p>
          <a:p>
            <a:endParaRPr lang="en-US" altLang="en-US" sz="1700" dirty="0"/>
          </a:p>
          <a:p>
            <a:pPr>
              <a:buNone/>
            </a:pPr>
            <a:endParaRPr lang="en-US" altLang="en-US" sz="1700" dirty="0"/>
          </a:p>
          <a:p>
            <a:pPr algn="r" rtl="1"/>
            <a:r>
              <a:rPr lang="fa-IR" altLang="en-US" sz="1700" dirty="0"/>
              <a:t>در جبر رابطه‌ای:  </a:t>
            </a:r>
            <a:r>
              <a:rPr lang="en-US" altLang="en-US" sz="1700" i="1" dirty="0"/>
              <a:t>course </a:t>
            </a:r>
            <a:r>
              <a:rPr lang="en-IN" sz="1700" b="1" dirty="0"/>
              <a:t>⟗</a:t>
            </a:r>
            <a:r>
              <a:rPr lang="en-US" altLang="en-US" sz="1700" dirty="0"/>
              <a:t> </a:t>
            </a:r>
            <a:r>
              <a:rPr lang="en-US" altLang="en-US" sz="1700" i="1" dirty="0" err="1"/>
              <a:t>prereq</a:t>
            </a:r>
            <a:endParaRPr lang="en-US" altLang="en-US" sz="1700" i="1" dirty="0"/>
          </a:p>
          <a:p>
            <a:endParaRPr lang="en-US" altLang="en-US" sz="1700" dirty="0"/>
          </a:p>
        </p:txBody>
      </p:sp>
      <p:pic>
        <p:nvPicPr>
          <p:cNvPr id="4" name="Picture 3"/>
          <p:cNvPicPr>
            <a:picLocks noChangeAspect="1"/>
          </p:cNvPicPr>
          <p:nvPr/>
        </p:nvPicPr>
        <p:blipFill>
          <a:blip r:embed="rId3"/>
          <a:stretch>
            <a:fillRect/>
          </a:stretch>
        </p:blipFill>
        <p:spPr>
          <a:xfrm>
            <a:off x="1710550" y="1698292"/>
            <a:ext cx="5046366" cy="138127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634" name="Rectangle 2"/>
          <p:cNvSpPr>
            <a:spLocks noGrp="1" noChangeArrowheads="1"/>
          </p:cNvSpPr>
          <p:nvPr>
            <p:ph type="title"/>
          </p:nvPr>
        </p:nvSpPr>
        <p:spPr/>
        <p:txBody>
          <a:bodyPr/>
          <a:lstStyle/>
          <a:p>
            <a:pPr>
              <a:defRPr/>
            </a:pPr>
            <a:r>
              <a:rPr lang="fa-IR" dirty="0"/>
              <a:t>انواع و شروط پیوند</a:t>
            </a:r>
            <a:endParaRPr lang="en-US" sz="2800" dirty="0">
              <a:ea typeface="+mj-ea"/>
            </a:endParaRPr>
          </a:p>
        </p:txBody>
      </p:sp>
      <p:sp>
        <p:nvSpPr>
          <p:cNvPr id="31747" name="Rectangle 3"/>
          <p:cNvSpPr>
            <a:spLocks noGrp="1" noChangeArrowheads="1"/>
          </p:cNvSpPr>
          <p:nvPr>
            <p:ph idx="1"/>
          </p:nvPr>
        </p:nvSpPr>
        <p:spPr>
          <a:xfrm>
            <a:off x="128017" y="1106488"/>
            <a:ext cx="8077200" cy="2246312"/>
          </a:xfrm>
        </p:spPr>
        <p:txBody>
          <a:bodyPr/>
          <a:lstStyle/>
          <a:p>
            <a:pPr algn="r" rtl="1">
              <a:lnSpc>
                <a:spcPct val="150000"/>
              </a:lnSpc>
            </a:pPr>
            <a:r>
              <a:rPr lang="fa-IR" b="1" dirty="0">
                <a:solidFill>
                  <a:srgbClr val="000099"/>
                </a:solidFill>
              </a:rPr>
              <a:t>عملگرهای پیوند</a:t>
            </a:r>
            <a:r>
              <a:rPr lang="fa-IR" dirty="0"/>
              <a:t>، دو رابطه را به عنوان ورودی دریافت کرده و یک رابطه دیگر را به عنوان نتیجه باز می‌گردانند.</a:t>
            </a:r>
          </a:p>
          <a:p>
            <a:pPr algn="r" rtl="1">
              <a:lnSpc>
                <a:spcPct val="150000"/>
              </a:lnSpc>
            </a:pPr>
            <a:r>
              <a:rPr lang="fa-IR" altLang="en-US" dirty="0"/>
              <a:t>این عملگرهای تکمیلی معمولاً به عنوان عبارت‌های زیرپرس‌وجو (</a:t>
            </a:r>
            <a:r>
              <a:rPr lang="en-US" altLang="en-US" dirty="0"/>
              <a:t>subquery (expressions </a:t>
            </a:r>
            <a:r>
              <a:rPr lang="fa-IR" altLang="en-US" dirty="0"/>
              <a:t>در بند </a:t>
            </a:r>
            <a:r>
              <a:rPr lang="en-US" altLang="en-US" b="1" dirty="0"/>
              <a:t>FROM</a:t>
            </a:r>
            <a:r>
              <a:rPr lang="fa-IR" altLang="en-US" dirty="0"/>
              <a:t> </a:t>
            </a:r>
            <a:r>
              <a:rPr lang="en-US" altLang="en-US" dirty="0"/>
              <a:t> </a:t>
            </a:r>
            <a:r>
              <a:rPr lang="fa-IR" altLang="en-US" dirty="0"/>
              <a:t>استفاده می‌شوند.</a:t>
            </a:r>
          </a:p>
          <a:p>
            <a:pPr algn="r" rtl="1">
              <a:lnSpc>
                <a:spcPct val="150000"/>
              </a:lnSpc>
            </a:pPr>
            <a:r>
              <a:rPr lang="fa-IR" b="1" dirty="0">
                <a:solidFill>
                  <a:srgbClr val="000099"/>
                </a:solidFill>
              </a:rPr>
              <a:t>شرط پیوند</a:t>
            </a:r>
            <a:r>
              <a:rPr lang="fa-IR" dirty="0">
                <a:solidFill>
                  <a:srgbClr val="000099"/>
                </a:solidFill>
              </a:rPr>
              <a:t> </a:t>
            </a:r>
            <a:r>
              <a:rPr lang="fa-IR" dirty="0"/>
              <a:t>– تعریف می‌کند که کدام </a:t>
            </a:r>
            <a:r>
              <a:rPr lang="fa-IR" b="1" dirty="0"/>
              <a:t>تاپل‌ها</a:t>
            </a:r>
            <a:r>
              <a:rPr lang="fa-IR" dirty="0"/>
              <a:t> در دو رابطه با یکدیگر تطابق دارند.</a:t>
            </a:r>
            <a:endParaRPr lang="en-US" dirty="0"/>
          </a:p>
          <a:p>
            <a:pPr algn="r" rtl="1">
              <a:lnSpc>
                <a:spcPct val="150000"/>
              </a:lnSpc>
            </a:pPr>
            <a:r>
              <a:rPr lang="fa-IR" b="1" dirty="0">
                <a:solidFill>
                  <a:srgbClr val="000099"/>
                </a:solidFill>
              </a:rPr>
              <a:t>نوع پیوند</a:t>
            </a:r>
            <a:r>
              <a:rPr lang="fa-IR" dirty="0">
                <a:solidFill>
                  <a:srgbClr val="000099"/>
                </a:solidFill>
              </a:rPr>
              <a:t> </a:t>
            </a:r>
            <a:r>
              <a:rPr lang="fa-IR" dirty="0"/>
              <a:t>– تعریف می‌کند که با </a:t>
            </a:r>
            <a:r>
              <a:rPr lang="fa-IR" b="1" dirty="0"/>
              <a:t>تاپل‌هایی</a:t>
            </a:r>
            <a:r>
              <a:rPr lang="fa-IR" dirty="0"/>
              <a:t> در هر رابطه که (بر اساس شرط پیوند) با هیچ تاپلی در رابطه دیگر تطابق ندارند، چگونه رفتار می‌شود.</a:t>
            </a:r>
            <a:endParaRPr lang="en-US" altLang="en-US" dirty="0"/>
          </a:p>
        </p:txBody>
      </p:sp>
      <p:pic>
        <p:nvPicPr>
          <p:cNvPr id="1026" name="Picture 2" descr="C:\Users\as668\Desktop\4_07.jpg"/>
          <p:cNvPicPr>
            <a:picLocks noChangeAspect="1" noChangeArrowheads="1"/>
          </p:cNvPicPr>
          <p:nvPr/>
        </p:nvPicPr>
        <p:blipFill>
          <a:blip r:embed="rId3"/>
          <a:srcRect/>
          <a:stretch>
            <a:fillRect/>
          </a:stretch>
        </p:blipFill>
        <p:spPr bwMode="auto">
          <a:xfrm>
            <a:off x="2026425" y="5090881"/>
            <a:ext cx="4840315" cy="1366784"/>
          </a:xfrm>
          <a:prstGeom prst="rect">
            <a:avLst/>
          </a:prstGeom>
          <a:no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rtl="1">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b="1" dirty="0"/>
              <a:t> natural right outer join </a:t>
            </a:r>
            <a:r>
              <a:rPr lang="en-US" altLang="en-US" sz="1700" i="1" dirty="0" err="1"/>
              <a:t>prereq</a:t>
            </a:r>
            <a:endParaRPr lang="en-US" altLang="en-US" sz="1700" b="1" dirty="0"/>
          </a:p>
          <a:p>
            <a:endParaRPr lang="en-US" altLang="en-US" sz="1700" dirty="0"/>
          </a:p>
          <a:p>
            <a:endParaRPr lang="en-US" altLang="en-US" sz="1700" dirty="0"/>
          </a:p>
          <a:p>
            <a:endParaRPr lang="en-US" altLang="en-US" sz="1700" dirty="0"/>
          </a:p>
          <a:p>
            <a:pPr>
              <a:buNone/>
            </a:pPr>
            <a:endParaRPr lang="en-US" altLang="en-US" sz="1700" dirty="0"/>
          </a:p>
          <a:p>
            <a:r>
              <a:rPr lang="en-US" altLang="en-US" sz="1700" i="1" dirty="0"/>
              <a:t>course</a:t>
            </a:r>
            <a:r>
              <a:rPr lang="en-US" altLang="en-US" sz="1700" b="1" dirty="0"/>
              <a:t> full outer join </a:t>
            </a:r>
            <a:r>
              <a:rPr lang="en-US" altLang="en-US" sz="1700" i="1" dirty="0" err="1"/>
              <a:t>prereq</a:t>
            </a:r>
            <a:r>
              <a:rPr lang="en-US" altLang="en-US" sz="1700" i="1" dirty="0"/>
              <a:t> </a:t>
            </a:r>
            <a:r>
              <a:rPr lang="en-US" altLang="en-US" sz="1700" b="1" dirty="0"/>
              <a:t>using </a:t>
            </a:r>
            <a:r>
              <a:rPr lang="en-US" altLang="en-US" sz="1700" dirty="0"/>
              <a:t>(</a:t>
            </a:r>
            <a:r>
              <a:rPr lang="en-US" altLang="en-US" sz="1700" i="1" dirty="0" err="1"/>
              <a:t>course_id</a:t>
            </a:r>
            <a:r>
              <a:rPr lang="en-US" altLang="en-US" sz="1700" dirty="0"/>
              <a:t>)</a:t>
            </a:r>
          </a:p>
          <a:p>
            <a:endParaRPr lang="en-US" altLang="en-US" sz="1700" dirty="0"/>
          </a:p>
          <a:p>
            <a:endParaRPr lang="en-US" altLang="en-US" sz="1700" dirty="0"/>
          </a:p>
          <a:p>
            <a:endParaRPr lang="en-US" altLang="en-US" sz="1700" dirty="0"/>
          </a:p>
        </p:txBody>
      </p:sp>
      <p:pic>
        <p:nvPicPr>
          <p:cNvPr id="4" name="Picture 3"/>
          <p:cNvPicPr>
            <a:picLocks noChangeAspect="1"/>
          </p:cNvPicPr>
          <p:nvPr/>
        </p:nvPicPr>
        <p:blipFill>
          <a:blip r:embed="rId3"/>
          <a:stretch>
            <a:fillRect/>
          </a:stretch>
        </p:blipFill>
        <p:spPr>
          <a:xfrm>
            <a:off x="2499360" y="1653927"/>
            <a:ext cx="4739672" cy="1135162"/>
          </a:xfrm>
          <a:prstGeom prst="rect">
            <a:avLst/>
          </a:prstGeom>
        </p:spPr>
      </p:pic>
      <p:pic>
        <p:nvPicPr>
          <p:cNvPr id="5" name="Picture 4"/>
          <p:cNvPicPr>
            <a:picLocks noChangeAspect="1"/>
          </p:cNvPicPr>
          <p:nvPr/>
        </p:nvPicPr>
        <p:blipFill>
          <a:blip r:embed="rId4"/>
          <a:stretch>
            <a:fillRect/>
          </a:stretch>
        </p:blipFill>
        <p:spPr>
          <a:xfrm>
            <a:off x="2584704" y="3448857"/>
            <a:ext cx="4464092" cy="1289318"/>
          </a:xfrm>
          <a:prstGeom prst="rect">
            <a:avLst/>
          </a:prstGeom>
        </p:spPr>
      </p:pic>
      <p:pic>
        <p:nvPicPr>
          <p:cNvPr id="6" name="Picture 6">
            <a:extLst>
              <a:ext uri="{FF2B5EF4-FFF2-40B4-BE49-F238E27FC236}">
                <a16:creationId xmlns:a16="http://schemas.microsoft.com/office/drawing/2014/main" id="{480E15F8-04C6-4D5E-B42F-1EBF55F0B75B}"/>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7">
            <a:extLst>
              <a:ext uri="{FF2B5EF4-FFF2-40B4-BE49-F238E27FC236}">
                <a16:creationId xmlns:a16="http://schemas.microsoft.com/office/drawing/2014/main" id="{1CC3A80A-CD3D-4C4A-AF36-122CC62AE991}"/>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 </a:t>
            </a:r>
            <a:r>
              <a:rPr lang="en-US" altLang="en-US" sz="1700" b="1" dirty="0"/>
              <a:t>inner join </a:t>
            </a:r>
            <a:r>
              <a:rPr lang="en-US" altLang="en-US" sz="1700" i="1" dirty="0" err="1"/>
              <a:t>prereq</a:t>
            </a:r>
            <a:r>
              <a:rPr lang="en-US" altLang="en-US" sz="1700" i="1" dirty="0"/>
              <a:t> </a:t>
            </a:r>
            <a:r>
              <a:rPr lang="en-US" altLang="en-US" sz="1700" b="1" dirty="0"/>
              <a:t>on</a:t>
            </a:r>
            <a:br>
              <a:rPr lang="en-US" altLang="en-US" sz="1700" b="1" dirty="0"/>
            </a:br>
            <a:r>
              <a:rPr lang="en-US" altLang="en-US" sz="1700" i="1" dirty="0" err="1"/>
              <a:t>course.course_id</a:t>
            </a:r>
            <a:r>
              <a:rPr lang="en-US" altLang="en-US" sz="1700" i="1" dirty="0"/>
              <a:t> = </a:t>
            </a:r>
            <a:r>
              <a:rPr lang="en-US" altLang="en-US" sz="1700" i="1" dirty="0" err="1"/>
              <a:t>prereq.course_id</a:t>
            </a:r>
            <a:endParaRPr lang="en-US" altLang="en-US" sz="1700" i="1" dirty="0"/>
          </a:p>
          <a:p>
            <a:endParaRPr lang="en-US" altLang="en-US" sz="1700" dirty="0"/>
          </a:p>
          <a:p>
            <a:endParaRPr lang="en-US" altLang="en-US" sz="1700" dirty="0"/>
          </a:p>
          <a:p>
            <a:pPr>
              <a:buNone/>
            </a:pPr>
            <a:endParaRPr lang="en-US" altLang="en-US" sz="1700" dirty="0"/>
          </a:p>
          <a:p>
            <a:pPr algn="r" rtl="1"/>
            <a:r>
              <a:rPr lang="fa-IR" altLang="en-US" sz="1700" dirty="0"/>
              <a:t>تفاوت پیوند بالا با پیوند طبیعی چیست؟</a:t>
            </a:r>
            <a:endParaRPr lang="en-US" altLang="en-US" sz="1700" dirty="0"/>
          </a:p>
          <a:p>
            <a:r>
              <a:rPr lang="en-US" altLang="en-US" sz="1700" i="1" dirty="0"/>
              <a:t>course </a:t>
            </a:r>
            <a:r>
              <a:rPr lang="en-US" altLang="en-US" sz="1700" b="1" dirty="0"/>
              <a:t>left outer join</a:t>
            </a:r>
            <a:r>
              <a:rPr lang="en-US" altLang="en-US" sz="1700" i="1" dirty="0"/>
              <a:t> </a:t>
            </a:r>
            <a:r>
              <a:rPr lang="en-US" altLang="en-US" sz="1700" i="1" dirty="0" err="1"/>
              <a:t>prereq</a:t>
            </a:r>
            <a:r>
              <a:rPr lang="en-US" altLang="en-US" sz="1700" i="1" dirty="0"/>
              <a:t> </a:t>
            </a:r>
            <a:r>
              <a:rPr lang="en-US" altLang="en-US" sz="1700" b="1" dirty="0"/>
              <a:t>on</a:t>
            </a:r>
            <a:br>
              <a:rPr lang="en-US" altLang="en-US" sz="1700" i="1" dirty="0"/>
            </a:br>
            <a:r>
              <a:rPr lang="en-US" altLang="en-US" sz="1700" i="1" dirty="0" err="1"/>
              <a:t>course.course_id</a:t>
            </a:r>
            <a:r>
              <a:rPr lang="en-US" altLang="en-US" sz="1700" i="1" dirty="0"/>
              <a:t> = </a:t>
            </a:r>
            <a:r>
              <a:rPr lang="en-US" altLang="en-US" sz="1700" i="1" dirty="0" err="1"/>
              <a:t>prereq.course_id</a:t>
            </a:r>
            <a:endParaRPr lang="en-US" altLang="en-US" sz="1700" i="1" dirty="0"/>
          </a:p>
          <a:p>
            <a:pPr>
              <a:buNone/>
            </a:pPr>
            <a:r>
              <a:rPr lang="en-US" altLang="en-US" sz="1700" dirty="0"/>
              <a:t> </a:t>
            </a:r>
          </a:p>
        </p:txBody>
      </p:sp>
      <p:pic>
        <p:nvPicPr>
          <p:cNvPr id="5" name="Picture 4"/>
          <p:cNvPicPr>
            <a:picLocks noChangeAspect="1"/>
          </p:cNvPicPr>
          <p:nvPr/>
        </p:nvPicPr>
        <p:blipFill>
          <a:blip r:embed="rId3"/>
          <a:stretch>
            <a:fillRect/>
          </a:stretch>
        </p:blipFill>
        <p:spPr>
          <a:xfrm>
            <a:off x="2034062" y="1922405"/>
            <a:ext cx="5524216" cy="828990"/>
          </a:xfrm>
          <a:prstGeom prst="rect">
            <a:avLst/>
          </a:prstGeom>
        </p:spPr>
      </p:pic>
      <p:pic>
        <p:nvPicPr>
          <p:cNvPr id="6" name="Picture 5"/>
          <p:cNvPicPr>
            <a:picLocks noChangeAspect="1"/>
          </p:cNvPicPr>
          <p:nvPr/>
        </p:nvPicPr>
        <p:blipFill>
          <a:blip r:embed="rId4"/>
          <a:stretch>
            <a:fillRect/>
          </a:stretch>
        </p:blipFill>
        <p:spPr>
          <a:xfrm>
            <a:off x="2133600" y="4093625"/>
            <a:ext cx="5483156" cy="1028535"/>
          </a:xfrm>
          <a:prstGeom prst="rect">
            <a:avLst/>
          </a:prstGeom>
        </p:spPr>
      </p:pic>
      <p:pic>
        <p:nvPicPr>
          <p:cNvPr id="7" name="Picture 6">
            <a:extLst>
              <a:ext uri="{FF2B5EF4-FFF2-40B4-BE49-F238E27FC236}">
                <a16:creationId xmlns:a16="http://schemas.microsoft.com/office/drawing/2014/main" id="{136BFA9E-7347-435D-9145-5B5C91BC0468}"/>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CB45658D-551E-4158-8842-338730940B27}"/>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Rectangle 2"/>
          <p:cNvSpPr>
            <a:spLocks noGrp="1" noChangeArrowheads="1"/>
          </p:cNvSpPr>
          <p:nvPr>
            <p:ph type="title"/>
          </p:nvPr>
        </p:nvSpPr>
        <p:spPr/>
        <p:txBody>
          <a:bodyPr/>
          <a:lstStyle/>
          <a:p>
            <a:pPr>
              <a:defRPr/>
            </a:pPr>
            <a:r>
              <a:rPr lang="fa-IR" dirty="0">
                <a:effectLst>
                  <a:outerShdw blurRad="38100" dist="38100" dir="2700000" algn="tl">
                    <a:srgbClr val="C0C0C0"/>
                  </a:outerShdw>
                </a:effectLst>
              </a:rPr>
              <a:t>مثال‌ها</a:t>
            </a:r>
            <a:endParaRPr lang="en-US" sz="2800" dirty="0">
              <a:ea typeface="+mj-ea"/>
            </a:endParaRPr>
          </a:p>
        </p:txBody>
      </p:sp>
      <p:sp>
        <p:nvSpPr>
          <p:cNvPr id="23555" name="Rectangle 3"/>
          <p:cNvSpPr>
            <a:spLocks noGrp="1" noChangeArrowheads="1"/>
          </p:cNvSpPr>
          <p:nvPr>
            <p:ph idx="1"/>
          </p:nvPr>
        </p:nvSpPr>
        <p:spPr>
          <a:xfrm>
            <a:off x="768350" y="1170533"/>
            <a:ext cx="7750843" cy="4876800"/>
          </a:xfrm>
        </p:spPr>
        <p:txBody>
          <a:bodyPr/>
          <a:lstStyle/>
          <a:p>
            <a:r>
              <a:rPr lang="en-US" altLang="en-US" sz="1700" i="1" dirty="0"/>
              <a:t>course</a:t>
            </a:r>
            <a:r>
              <a:rPr lang="en-US" altLang="en-US" sz="1700" b="1" dirty="0"/>
              <a:t> natural right outer join </a:t>
            </a:r>
            <a:r>
              <a:rPr lang="en-US" altLang="en-US" sz="1700" i="1" dirty="0" err="1"/>
              <a:t>prereq</a:t>
            </a:r>
            <a:endParaRPr lang="en-US" altLang="en-US" sz="1700" b="1" dirty="0"/>
          </a:p>
          <a:p>
            <a:endParaRPr lang="en-US" altLang="en-US" sz="1700" dirty="0"/>
          </a:p>
          <a:p>
            <a:endParaRPr lang="en-US" altLang="en-US" sz="1700" dirty="0"/>
          </a:p>
          <a:p>
            <a:endParaRPr lang="en-US" altLang="en-US" sz="1700" dirty="0"/>
          </a:p>
          <a:p>
            <a:pPr>
              <a:buNone/>
            </a:pPr>
            <a:endParaRPr lang="en-US" altLang="en-US" sz="1700" dirty="0"/>
          </a:p>
          <a:p>
            <a:r>
              <a:rPr lang="en-US" altLang="en-US" sz="1700" i="1" dirty="0"/>
              <a:t>course</a:t>
            </a:r>
            <a:r>
              <a:rPr lang="en-US" altLang="en-US" sz="1700" b="1" dirty="0"/>
              <a:t> full outer join </a:t>
            </a:r>
            <a:r>
              <a:rPr lang="en-US" altLang="en-US" sz="1700" i="1" dirty="0" err="1"/>
              <a:t>prereq</a:t>
            </a:r>
            <a:r>
              <a:rPr lang="en-US" altLang="en-US" sz="1700" i="1" dirty="0"/>
              <a:t> </a:t>
            </a:r>
            <a:r>
              <a:rPr lang="en-US" altLang="en-US" sz="1700" b="1" dirty="0"/>
              <a:t>using </a:t>
            </a:r>
            <a:r>
              <a:rPr lang="en-US" altLang="en-US" sz="1700" dirty="0"/>
              <a:t>(</a:t>
            </a:r>
            <a:r>
              <a:rPr lang="en-US" altLang="en-US" sz="1700" i="1" dirty="0" err="1"/>
              <a:t>course_id</a:t>
            </a:r>
            <a:r>
              <a:rPr lang="en-US" altLang="en-US" sz="1700" dirty="0"/>
              <a:t>)</a:t>
            </a:r>
          </a:p>
          <a:p>
            <a:endParaRPr lang="en-US" altLang="en-US" sz="1700" dirty="0"/>
          </a:p>
        </p:txBody>
      </p:sp>
      <p:pic>
        <p:nvPicPr>
          <p:cNvPr id="4" name="Picture 3"/>
          <p:cNvPicPr>
            <a:picLocks noChangeAspect="1"/>
          </p:cNvPicPr>
          <p:nvPr/>
        </p:nvPicPr>
        <p:blipFill>
          <a:blip r:embed="rId3"/>
          <a:stretch>
            <a:fillRect/>
          </a:stretch>
        </p:blipFill>
        <p:spPr>
          <a:xfrm>
            <a:off x="2462784" y="1656430"/>
            <a:ext cx="4761572" cy="1140408"/>
          </a:xfrm>
          <a:prstGeom prst="rect">
            <a:avLst/>
          </a:prstGeom>
        </p:spPr>
      </p:pic>
      <p:pic>
        <p:nvPicPr>
          <p:cNvPr id="5" name="Picture 4"/>
          <p:cNvPicPr>
            <a:picLocks noChangeAspect="1"/>
          </p:cNvPicPr>
          <p:nvPr/>
        </p:nvPicPr>
        <p:blipFill>
          <a:blip r:embed="rId4"/>
          <a:stretch>
            <a:fillRect/>
          </a:stretch>
        </p:blipFill>
        <p:spPr>
          <a:xfrm>
            <a:off x="2584704" y="3533026"/>
            <a:ext cx="4531990" cy="1308929"/>
          </a:xfrm>
          <a:prstGeom prst="rect">
            <a:avLst/>
          </a:prstGeom>
        </p:spPr>
      </p:pic>
      <p:pic>
        <p:nvPicPr>
          <p:cNvPr id="6" name="Picture 6">
            <a:extLst>
              <a:ext uri="{FF2B5EF4-FFF2-40B4-BE49-F238E27FC236}">
                <a16:creationId xmlns:a16="http://schemas.microsoft.com/office/drawing/2014/main" id="{1873FA2F-8A57-4B45-A40D-58F2D2D82677}"/>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768350" y="5517063"/>
            <a:ext cx="3745294" cy="1060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7">
            <a:extLst>
              <a:ext uri="{FF2B5EF4-FFF2-40B4-BE49-F238E27FC236}">
                <a16:creationId xmlns:a16="http://schemas.microsoft.com/office/drawing/2014/main" id="{428E55C6-E115-4C57-AD92-092D70AC3CB5}"/>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4572000" y="5497064"/>
            <a:ext cx="1929043" cy="1069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Rectangle 2"/>
          <p:cNvSpPr>
            <a:spLocks noGrp="1" noChangeArrowheads="1"/>
          </p:cNvSpPr>
          <p:nvPr>
            <p:ph type="title"/>
          </p:nvPr>
        </p:nvSpPr>
        <p:spPr/>
        <p:txBody>
          <a:bodyPr/>
          <a:lstStyle/>
          <a:p>
            <a:pPr rtl="1">
              <a:defRPr/>
            </a:pPr>
            <a:r>
              <a:rPr lang="fa-IR" sz="2800" dirty="0">
                <a:ea typeface="+mj-ea"/>
              </a:rPr>
              <a:t>(</a:t>
            </a:r>
            <a:r>
              <a:rPr lang="fa-IR" dirty="0"/>
              <a:t>نماها ) </a:t>
            </a:r>
            <a:r>
              <a:rPr lang="en-US" sz="2800" dirty="0">
                <a:ea typeface="+mj-ea"/>
              </a:rPr>
              <a:t>Views</a:t>
            </a:r>
          </a:p>
        </p:txBody>
      </p:sp>
      <p:sp>
        <p:nvSpPr>
          <p:cNvPr id="37891" name="Rectangle 3"/>
          <p:cNvSpPr>
            <a:spLocks noGrp="1" noChangeArrowheads="1"/>
          </p:cNvSpPr>
          <p:nvPr>
            <p:ph idx="1"/>
          </p:nvPr>
        </p:nvSpPr>
        <p:spPr>
          <a:xfrm>
            <a:off x="768351" y="1106488"/>
            <a:ext cx="7583170" cy="4937125"/>
          </a:xfrm>
        </p:spPr>
        <p:txBody>
          <a:bodyPr/>
          <a:lstStyle/>
          <a:p>
            <a:pPr algn="r" rtl="1">
              <a:lnSpc>
                <a:spcPct val="150000"/>
              </a:lnSpc>
              <a:tabLst>
                <a:tab pos="3205163" algn="ctr"/>
              </a:tabLst>
            </a:pPr>
            <a:r>
              <a:rPr lang="fa-IR" altLang="en-US" sz="1600" dirty="0"/>
              <a:t>در برخی موارد، مطلوب نیست که تمام کاربران، کل مدل منطقی (یعنی تمام رابطه‌های واقعی ذخیره‌شده در پایگاه داده) را ببینند.</a:t>
            </a:r>
          </a:p>
          <a:p>
            <a:pPr algn="r" rtl="1">
              <a:lnSpc>
                <a:spcPct val="150000"/>
              </a:lnSpc>
              <a:tabLst>
                <a:tab pos="3205163" algn="ctr"/>
              </a:tabLst>
            </a:pPr>
            <a:r>
              <a:rPr lang="fa-IR" sz="1600" dirty="0"/>
              <a:t>فردی را در نظر بگیرید که نیاز به دانستن نام و دپارتمان یک مدرس دارد، اما نیازی به اطلاع از حقوق او نیست. این فرد باید رابطه‌ای را ببیند که در </a:t>
            </a:r>
            <a:r>
              <a:rPr lang="en-US" sz="1600" dirty="0"/>
              <a:t>SQL</a:t>
            </a:r>
            <a:r>
              <a:rPr lang="fa-IR" sz="1600" dirty="0"/>
              <a:t> </a:t>
            </a:r>
            <a:r>
              <a:rPr lang="en-US" sz="1600" dirty="0"/>
              <a:t> </a:t>
            </a:r>
            <a:r>
              <a:rPr lang="fa-IR" sz="1600" dirty="0"/>
              <a:t>به صورت زیر تعریف شده است:</a:t>
            </a:r>
            <a:br>
              <a:rPr lang="en-US" altLang="en-US" sz="1600" dirty="0"/>
            </a:br>
            <a:r>
              <a:rPr lang="en-US" altLang="en-US" sz="1600" dirty="0"/>
              <a:t>		</a:t>
            </a:r>
            <a:br>
              <a:rPr kumimoji="0" lang="en-US" altLang="en-US" sz="1600" b="1" dirty="0"/>
            </a:br>
            <a:r>
              <a:rPr kumimoji="0" lang="en-US" altLang="en-US" sz="1600" b="1" dirty="0"/>
              <a:t>             select </a:t>
            </a:r>
            <a:r>
              <a:rPr kumimoji="0" lang="en-US" altLang="en-US" sz="1600" i="1" dirty="0"/>
              <a:t>ID</a:t>
            </a:r>
            <a:r>
              <a:rPr kumimoji="0" lang="en-US" altLang="en-US" sz="1600" dirty="0"/>
              <a:t>, </a:t>
            </a:r>
            <a:r>
              <a:rPr kumimoji="0" lang="en-US" altLang="en-US" sz="1600" i="1" dirty="0"/>
              <a:t>name</a:t>
            </a:r>
            <a:r>
              <a:rPr kumimoji="0" lang="en-US" altLang="en-US" sz="1600" dirty="0"/>
              <a:t>, </a:t>
            </a:r>
            <a:r>
              <a:rPr kumimoji="0" lang="en-US" altLang="en-US" sz="1600" i="1" dirty="0" err="1"/>
              <a:t>dept_name</a:t>
            </a:r>
            <a:br>
              <a:rPr kumimoji="0" lang="en-US" altLang="en-US" sz="1600" i="1" dirty="0"/>
            </a:br>
            <a:r>
              <a:rPr kumimoji="0" lang="en-US" altLang="en-US" sz="1600" i="1" dirty="0"/>
              <a:t>             </a:t>
            </a:r>
            <a:r>
              <a:rPr kumimoji="0" lang="en-US" altLang="en-US" sz="1600" b="1" dirty="0"/>
              <a:t>from </a:t>
            </a:r>
            <a:r>
              <a:rPr kumimoji="0" lang="en-US" altLang="en-US" sz="1600" i="1" dirty="0"/>
              <a:t>instructor</a:t>
            </a:r>
            <a:endParaRPr kumimoji="0" lang="en-US" altLang="en-US" sz="1600" dirty="0"/>
          </a:p>
          <a:p>
            <a:pPr>
              <a:lnSpc>
                <a:spcPct val="150000"/>
              </a:lnSpc>
              <a:buFont typeface="Monotype Sorts" charset="2"/>
              <a:buNone/>
              <a:tabLst>
                <a:tab pos="3205163" algn="ctr"/>
              </a:tabLst>
            </a:pPr>
            <a:r>
              <a:rPr lang="en-US" altLang="en-US" sz="700" dirty="0">
                <a:sym typeface="Symbol" panose="05050102010706020507" pitchFamily="18" charset="2"/>
              </a:rPr>
              <a:t> </a:t>
            </a:r>
          </a:p>
          <a:p>
            <a:pPr algn="r" rtl="1">
              <a:lnSpc>
                <a:spcPct val="150000"/>
              </a:lnSpc>
              <a:tabLst>
                <a:tab pos="3205163" algn="ctr"/>
              </a:tabLst>
            </a:pPr>
            <a:r>
              <a:rPr lang="fa-IR" sz="1600" dirty="0"/>
              <a:t>یک </a:t>
            </a:r>
            <a:r>
              <a:rPr lang="en-US" sz="1600" b="1" dirty="0">
                <a:solidFill>
                  <a:srgbClr val="000099"/>
                </a:solidFill>
              </a:rPr>
              <a:t>view</a:t>
            </a:r>
            <a:r>
              <a:rPr lang="fa-IR" sz="1600" dirty="0"/>
              <a:t>، سازوکاری را برای پنهان‌سازی داده‌های مشخص از دید کاربران خاص فراهم می‌کند.</a:t>
            </a:r>
          </a:p>
          <a:p>
            <a:pPr algn="r" rtl="1">
              <a:lnSpc>
                <a:spcPct val="150000"/>
              </a:lnSpc>
              <a:tabLst>
                <a:tab pos="3205163" algn="ctr"/>
              </a:tabLst>
            </a:pPr>
            <a:r>
              <a:rPr lang="fa-IR" altLang="en-US" sz="1600" dirty="0"/>
              <a:t>هر رابطه‌ای که بخشی از مدل مفهومی </a:t>
            </a:r>
            <a:r>
              <a:rPr lang="en-US" altLang="en-US" sz="1600" dirty="0"/>
              <a:t> (Conceptual Model) </a:t>
            </a:r>
            <a:r>
              <a:rPr lang="fa-IR" altLang="en-US" sz="1600" dirty="0"/>
              <a:t>نباشد، اما به عنوان یک "رابطه مجازی" </a:t>
            </a:r>
            <a:r>
              <a:rPr lang="en-US" altLang="en-US" sz="1600" dirty="0"/>
              <a:t> (Virtual Relation) </a:t>
            </a:r>
            <a:r>
              <a:rPr lang="fa-IR" altLang="en-US" sz="1600" dirty="0"/>
              <a:t>برای کاربر قابل مشاهده باشد، </a:t>
            </a:r>
            <a:r>
              <a:rPr lang="fa-IR" altLang="en-US" sz="1600" b="1" dirty="0">
                <a:solidFill>
                  <a:srgbClr val="000099"/>
                </a:solidFill>
              </a:rPr>
              <a:t>نما</a:t>
            </a:r>
            <a:r>
              <a:rPr lang="en-US" altLang="en-US" sz="1600" b="1" dirty="0">
                <a:solidFill>
                  <a:srgbClr val="000099"/>
                </a:solidFill>
              </a:rPr>
              <a:t>(view) </a:t>
            </a:r>
            <a:r>
              <a:rPr lang="fa-IR" altLang="en-US" sz="1600" dirty="0"/>
              <a:t> نامیده می‌شود.</a:t>
            </a:r>
            <a:endParaRPr lang="en-US" altLang="en-US" sz="1600" dirty="0"/>
          </a:p>
          <a:p>
            <a:pPr algn="r" rtl="1">
              <a:lnSpc>
                <a:spcPct val="150000"/>
              </a:lnSpc>
              <a:tabLst>
                <a:tab pos="3205163" algn="ctr"/>
              </a:tabLst>
            </a:pPr>
            <a:endParaRPr lang="en-US" alt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3826" name="Rectangle 2"/>
          <p:cNvSpPr>
            <a:spLocks noGrp="1" noChangeArrowheads="1"/>
          </p:cNvSpPr>
          <p:nvPr>
            <p:ph type="title"/>
          </p:nvPr>
        </p:nvSpPr>
        <p:spPr/>
        <p:txBody>
          <a:bodyPr/>
          <a:lstStyle/>
          <a:p>
            <a:pPr>
              <a:defRPr/>
            </a:pPr>
            <a:r>
              <a:rPr lang="en-US" sz="2800" dirty="0">
                <a:ea typeface="+mj-ea"/>
              </a:rPr>
              <a:t>View </a:t>
            </a:r>
            <a:r>
              <a:rPr lang="fa-IR" sz="2800" dirty="0">
                <a:ea typeface="+mj-ea"/>
              </a:rPr>
              <a:t>تعریف</a:t>
            </a:r>
            <a:endParaRPr lang="en-US" sz="2800" dirty="0">
              <a:ea typeface="+mj-ea"/>
            </a:endParaRPr>
          </a:p>
        </p:txBody>
      </p:sp>
      <p:sp>
        <p:nvSpPr>
          <p:cNvPr id="39939" name="Rectangle 3"/>
          <p:cNvSpPr>
            <a:spLocks noGrp="1" noChangeArrowheads="1"/>
          </p:cNvSpPr>
          <p:nvPr>
            <p:ph idx="1"/>
          </p:nvPr>
        </p:nvSpPr>
        <p:spPr>
          <a:xfrm>
            <a:off x="768350" y="1069405"/>
            <a:ext cx="7497827" cy="4307268"/>
          </a:xfrm>
        </p:spPr>
        <p:txBody>
          <a:bodyPr/>
          <a:lstStyle/>
          <a:p>
            <a:pPr algn="r" rtl="1">
              <a:tabLst>
                <a:tab pos="3432175" algn="ctr"/>
              </a:tabLst>
            </a:pPr>
            <a:r>
              <a:rPr lang="fa-IR" altLang="en-US" sz="1700" dirty="0"/>
              <a:t>یک نما با استفاده از دستور </a:t>
            </a:r>
            <a:r>
              <a:rPr lang="en-US" altLang="en-US" sz="1700" dirty="0"/>
              <a:t>CREATE VIEW</a:t>
            </a:r>
            <a:r>
              <a:rPr lang="fa-IR" altLang="en-US" sz="1700" dirty="0"/>
              <a:t> </a:t>
            </a:r>
            <a:r>
              <a:rPr lang="en-US" altLang="en-US" sz="1700" dirty="0"/>
              <a:t> </a:t>
            </a:r>
            <a:r>
              <a:rPr lang="fa-IR" altLang="en-US" sz="1700" dirty="0"/>
              <a:t>تعریف می‌شود که دارای ساختار زیر است</a:t>
            </a:r>
          </a:p>
          <a:p>
            <a:pPr algn="r" rtl="1">
              <a:tabLst>
                <a:tab pos="3432175" algn="ctr"/>
              </a:tabLst>
            </a:pPr>
            <a:endParaRPr lang="en-US" altLang="en-US" sz="1700" dirty="0"/>
          </a:p>
          <a:p>
            <a:pPr>
              <a:lnSpc>
                <a:spcPct val="40000"/>
              </a:lnSpc>
              <a:buFont typeface="Monotype Sorts" charset="2"/>
              <a:buNone/>
              <a:tabLst>
                <a:tab pos="3432175" algn="ctr"/>
              </a:tabLst>
            </a:pPr>
            <a:r>
              <a:rPr lang="en-US" altLang="en-US" sz="1700" dirty="0"/>
              <a:t>		</a:t>
            </a:r>
            <a:r>
              <a:rPr lang="en-US" altLang="en-US" sz="1700" b="1" dirty="0"/>
              <a:t>create view </a:t>
            </a:r>
            <a:r>
              <a:rPr lang="en-US" altLang="en-US" sz="1700" i="1" dirty="0">
                <a:solidFill>
                  <a:srgbClr val="002060"/>
                </a:solidFill>
              </a:rPr>
              <a:t>v</a:t>
            </a:r>
            <a:r>
              <a:rPr lang="en-US" altLang="en-US" sz="1700" i="1" dirty="0">
                <a:solidFill>
                  <a:srgbClr val="000099"/>
                </a:solidFill>
              </a:rPr>
              <a:t> </a:t>
            </a:r>
            <a:r>
              <a:rPr lang="en-US" altLang="en-US" sz="1700" b="1" dirty="0"/>
              <a:t>as </a:t>
            </a:r>
            <a:r>
              <a:rPr lang="en-US" altLang="en-US" sz="1700" i="1" dirty="0"/>
              <a:t>&lt; </a:t>
            </a:r>
            <a:r>
              <a:rPr lang="en-US" altLang="en-US" sz="1700" dirty="0"/>
              <a:t>query expression &gt;</a:t>
            </a:r>
          </a:p>
          <a:p>
            <a:pPr>
              <a:lnSpc>
                <a:spcPct val="20000"/>
              </a:lnSpc>
              <a:buFont typeface="Monotype Sorts" charset="2"/>
              <a:buNone/>
              <a:tabLst>
                <a:tab pos="3432175" algn="ctr"/>
              </a:tabLst>
            </a:pPr>
            <a:endParaRPr lang="en-US" altLang="en-US" sz="1700" dirty="0"/>
          </a:p>
          <a:p>
            <a:pPr lvl="1" algn="r" rtl="1">
              <a:tabLst>
                <a:tab pos="3432175" algn="ctr"/>
              </a:tabLst>
            </a:pPr>
            <a:r>
              <a:rPr lang="en-US" altLang="en-US" sz="1700" dirty="0"/>
              <a:t>	</a:t>
            </a:r>
            <a:r>
              <a:rPr lang="fa-IR" altLang="en-US" sz="1700" dirty="0"/>
              <a:t>در این ساختار، </a:t>
            </a:r>
            <a:r>
              <a:rPr lang="en-US" altLang="en-US" sz="1700" dirty="0"/>
              <a:t> &lt;query expression&gt; </a:t>
            </a:r>
            <a:r>
              <a:rPr lang="fa-IR" altLang="en-US" sz="1700" dirty="0"/>
              <a:t>هر عبارت معتبر </a:t>
            </a:r>
            <a:r>
              <a:rPr lang="en-US" altLang="en-US" sz="1700" dirty="0"/>
              <a:t>SQL</a:t>
            </a:r>
            <a:r>
              <a:rPr lang="fa-IR" altLang="en-US" sz="1700" dirty="0"/>
              <a:t> </a:t>
            </a:r>
            <a:r>
              <a:rPr lang="en-US" altLang="en-US" sz="1700" dirty="0"/>
              <a:t> </a:t>
            </a:r>
            <a:r>
              <a:rPr lang="fa-IR" altLang="en-US" sz="1700" dirty="0"/>
              <a:t>است. نام نما با </a:t>
            </a:r>
            <a:r>
              <a:rPr lang="en-US" altLang="en-US" sz="1700" dirty="0"/>
              <a:t>v</a:t>
            </a:r>
            <a:r>
              <a:rPr lang="fa-IR" altLang="en-US" sz="1700" dirty="0"/>
              <a:t> </a:t>
            </a:r>
            <a:r>
              <a:rPr lang="en-US" altLang="en-US" sz="1700" dirty="0"/>
              <a:t> </a:t>
            </a:r>
            <a:r>
              <a:rPr lang="fa-IR" altLang="en-US" sz="1700" dirty="0"/>
              <a:t>نمایش داده می‌شود.</a:t>
            </a:r>
            <a:endParaRPr lang="en-US" altLang="en-US" sz="1700" dirty="0"/>
          </a:p>
          <a:p>
            <a:pPr algn="r" rtl="1">
              <a:tabLst>
                <a:tab pos="3432175" algn="ctr"/>
              </a:tabLst>
            </a:pPr>
            <a:r>
              <a:rPr lang="fa-IR" altLang="en-US" sz="1700" dirty="0"/>
              <a:t>به محض تعریف یک نما، می‌توان از نام آن برای ارجاع دادن به رابطه مجازی </a:t>
            </a:r>
            <a:r>
              <a:rPr lang="en-US" altLang="en-US" sz="1700" dirty="0"/>
              <a:t> (Virtual Relation) </a:t>
            </a:r>
            <a:r>
              <a:rPr lang="fa-IR" altLang="en-US" sz="1700" dirty="0"/>
              <a:t>که آن نما ایجاد می‌کند، استفاده کرد.</a:t>
            </a:r>
            <a:endParaRPr lang="en-US" altLang="en-US" sz="1700" dirty="0"/>
          </a:p>
          <a:p>
            <a:pPr algn="r" rtl="1">
              <a:tabLst>
                <a:tab pos="3432175" algn="ctr"/>
              </a:tabLst>
            </a:pPr>
            <a:endParaRPr lang="fa-IR" altLang="en-US" sz="1700" dirty="0"/>
          </a:p>
          <a:p>
            <a:pPr algn="r" rtl="1">
              <a:tabLst>
                <a:tab pos="3432175" algn="ctr"/>
              </a:tabLst>
            </a:pPr>
            <a:r>
              <a:rPr lang="fa-IR" sz="1800" b="1" dirty="0"/>
              <a:t>تعریف نما</a:t>
            </a:r>
            <a:r>
              <a:rPr lang="fa-IR" sz="1800" dirty="0"/>
              <a:t> با ایجاد یک رابطه جدید از طریق </a:t>
            </a:r>
            <a:r>
              <a:rPr lang="fa-IR" sz="1800" b="1" dirty="0"/>
              <a:t>ارزیابی عبارت پرس‌وجو</a:t>
            </a:r>
            <a:r>
              <a:rPr lang="fa-IR" sz="1800" dirty="0"/>
              <a:t>، </a:t>
            </a:r>
            <a:r>
              <a:rPr lang="fa-IR" sz="1800" b="1" dirty="0"/>
              <a:t>متفاوت است</a:t>
            </a:r>
            <a:r>
              <a:rPr lang="fa-IR" sz="1800" dirty="0"/>
              <a:t>.</a:t>
            </a:r>
            <a:endParaRPr lang="en-US" altLang="en-US" sz="1800" dirty="0"/>
          </a:p>
          <a:p>
            <a:pPr lvl="1" algn="r" rtl="1">
              <a:tabLst>
                <a:tab pos="3432175" algn="ctr"/>
              </a:tabLst>
            </a:pPr>
            <a:r>
              <a:rPr lang="fa-IR" altLang="en-US" sz="1700" dirty="0"/>
              <a:t>در عوض، تعریف نما باعث ذخیره شدن یک عبارت می‌شود؛ این عبارت در پرس‌وجوهایی که از نما استفاده می‌کنند، جایگزین می‌گردد.</a:t>
            </a:r>
            <a:endParaRPr lang="en-US" alt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pPr>
              <a:defRPr/>
            </a:pPr>
            <a:r>
              <a:rPr lang="en-US" sz="2800" dirty="0">
                <a:ea typeface="+mj-ea"/>
              </a:rPr>
              <a:t>View </a:t>
            </a:r>
            <a:r>
              <a:rPr lang="fa-IR" sz="2800" dirty="0">
                <a:ea typeface="+mj-ea"/>
              </a:rPr>
              <a:t>تعریف و استفاده</a:t>
            </a:r>
            <a:endParaRPr lang="en-US" sz="2800" dirty="0">
              <a:ea typeface="+mj-ea"/>
            </a:endParaRPr>
          </a:p>
        </p:txBody>
      </p:sp>
      <p:sp>
        <p:nvSpPr>
          <p:cNvPr id="41987" name="Rectangle 3"/>
          <p:cNvSpPr>
            <a:spLocks noGrp="1" noChangeArrowheads="1"/>
          </p:cNvSpPr>
          <p:nvPr>
            <p:ph idx="1"/>
          </p:nvPr>
        </p:nvSpPr>
        <p:spPr>
          <a:xfrm>
            <a:off x="768351" y="1106489"/>
            <a:ext cx="7550150" cy="4806632"/>
          </a:xfrm>
        </p:spPr>
        <p:txBody>
          <a:bodyPr/>
          <a:lstStyle/>
          <a:p>
            <a:pPr algn="r" rtl="1">
              <a:tabLst>
                <a:tab pos="1370013" algn="l"/>
              </a:tabLst>
            </a:pPr>
            <a:r>
              <a:rPr lang="fa-IR" sz="1800" dirty="0"/>
              <a:t>نمای مدرسین بدون حقوق آن‌ها:</a:t>
            </a:r>
            <a:endParaRPr lang="en-US" altLang="en-US" sz="1700" dirty="0"/>
          </a:p>
          <a:p>
            <a:pPr>
              <a:buNone/>
              <a:tabLst>
                <a:tab pos="1370013" algn="l"/>
              </a:tabLst>
            </a:pPr>
            <a:r>
              <a:rPr lang="en-US" altLang="en-US" sz="800" dirty="0"/>
              <a:t> </a:t>
            </a:r>
            <a:br>
              <a:rPr lang="en-US" altLang="en-US" sz="1700" dirty="0"/>
            </a:br>
            <a:r>
              <a:rPr lang="en-US" altLang="en-US" sz="1700" dirty="0"/>
              <a:t>              </a:t>
            </a:r>
            <a:r>
              <a:rPr kumimoji="0" lang="en-US" altLang="en-US" sz="1700" b="1" dirty="0"/>
              <a:t>create view </a:t>
            </a:r>
            <a:r>
              <a:rPr lang="en-US" altLang="en-US" sz="1700" b="1" i="1" dirty="0">
                <a:solidFill>
                  <a:srgbClr val="002060"/>
                </a:solidFill>
              </a:rPr>
              <a:t>faculty</a:t>
            </a:r>
            <a:r>
              <a:rPr kumimoji="0" lang="en-US" altLang="en-US" sz="1700" i="1" dirty="0"/>
              <a:t> </a:t>
            </a:r>
            <a:r>
              <a:rPr kumimoji="0" lang="en-US" altLang="en-US" sz="1700" b="1" dirty="0"/>
              <a:t>as</a:t>
            </a:r>
            <a:r>
              <a:rPr lang="en-US" altLang="en-US" sz="1700" b="1" dirty="0"/>
              <a:t> </a:t>
            </a:r>
            <a:br>
              <a:rPr lang="en-US" altLang="en-US" sz="1700" b="1" dirty="0"/>
            </a:br>
            <a:r>
              <a:rPr lang="en-US" altLang="en-US" sz="1700" b="1" dirty="0"/>
              <a:t>                      </a:t>
            </a:r>
            <a:r>
              <a:rPr kumimoji="0" lang="en-US" altLang="en-US" sz="1700" b="1" dirty="0"/>
              <a:t>select </a:t>
            </a:r>
            <a:r>
              <a:rPr kumimoji="0" lang="en-US" altLang="en-US" sz="1700" i="1" dirty="0"/>
              <a:t>ID</a:t>
            </a:r>
            <a:r>
              <a:rPr kumimoji="0" lang="en-US" altLang="en-US" sz="1700" dirty="0"/>
              <a:t>, </a:t>
            </a:r>
            <a:r>
              <a:rPr kumimoji="0" lang="en-US" altLang="en-US" sz="1700" i="1" dirty="0"/>
              <a:t>name</a:t>
            </a:r>
            <a:r>
              <a:rPr kumimoji="0" lang="en-US" altLang="en-US" sz="1700" dirty="0"/>
              <a:t>, </a:t>
            </a:r>
            <a:r>
              <a:rPr kumimoji="0" lang="en-US" altLang="en-US" sz="1700" i="1" dirty="0" err="1"/>
              <a:t>dept_name</a:t>
            </a:r>
            <a:br>
              <a:rPr kumimoji="0" lang="en-US" altLang="en-US" sz="1700" i="1" dirty="0"/>
            </a:br>
            <a:r>
              <a:rPr kumimoji="0" lang="en-US" altLang="en-US" sz="1700" i="1" dirty="0"/>
              <a:t>                      </a:t>
            </a:r>
            <a:r>
              <a:rPr kumimoji="0" lang="en-US" altLang="en-US" sz="1700" b="1" dirty="0"/>
              <a:t>from </a:t>
            </a:r>
            <a:r>
              <a:rPr kumimoji="0" lang="en-US" altLang="en-US" sz="1700" i="1" dirty="0"/>
              <a:t>instructor</a:t>
            </a:r>
            <a:endParaRPr kumimoji="0" lang="en-US" altLang="en-US" sz="1700" dirty="0"/>
          </a:p>
          <a:p>
            <a:pPr algn="r" rtl="1">
              <a:tabLst>
                <a:tab pos="1370013" algn="l"/>
              </a:tabLst>
            </a:pPr>
            <a:r>
              <a:rPr lang="fa-IR" sz="1800" dirty="0"/>
              <a:t>یافتن تمامی مدرسین در دپارتمان زیست‌شناسی: </a:t>
            </a:r>
            <a:endParaRPr lang="en-US" altLang="en-US" sz="1700" dirty="0"/>
          </a:p>
          <a:p>
            <a:pPr>
              <a:buNone/>
              <a:tabLst>
                <a:tab pos="1370013" algn="l"/>
              </a:tabLst>
            </a:pPr>
            <a:r>
              <a:rPr lang="en-US" altLang="en-US" sz="800" dirty="0"/>
              <a:t> </a:t>
            </a:r>
            <a:br>
              <a:rPr lang="en-US" altLang="en-US" sz="1700" dirty="0"/>
            </a:br>
            <a:r>
              <a:rPr lang="en-US" altLang="en-US" sz="1700" dirty="0"/>
              <a:t>                </a:t>
            </a:r>
            <a:r>
              <a:rPr lang="en-US" altLang="en-US" sz="1700" b="1" dirty="0"/>
              <a:t>select </a:t>
            </a:r>
            <a:r>
              <a:rPr lang="en-US" altLang="en-US" sz="1700" i="1" dirty="0"/>
              <a:t>name</a:t>
            </a:r>
            <a:br>
              <a:rPr lang="en-US" altLang="en-US" sz="1700" i="1" dirty="0"/>
            </a:br>
            <a:r>
              <a:rPr lang="en-US" altLang="en-US" sz="1700" i="1" dirty="0"/>
              <a:t>                </a:t>
            </a:r>
            <a:r>
              <a:rPr lang="en-US" altLang="en-US" sz="1700" b="1" dirty="0"/>
              <a:t>from </a:t>
            </a:r>
            <a:r>
              <a:rPr lang="en-US" altLang="en-US" sz="1700" b="1" i="1" dirty="0">
                <a:solidFill>
                  <a:srgbClr val="002060"/>
                </a:solidFill>
              </a:rPr>
              <a:t>faculty</a:t>
            </a:r>
            <a:br>
              <a:rPr lang="en-US" altLang="en-US" sz="1700" i="1" dirty="0"/>
            </a:br>
            <a:r>
              <a:rPr lang="en-US" altLang="en-US" sz="1700" i="1" dirty="0"/>
              <a:t>                </a:t>
            </a:r>
            <a:r>
              <a:rPr lang="en-US" altLang="en-US" sz="1700" b="1" dirty="0"/>
              <a:t>where </a:t>
            </a:r>
            <a:r>
              <a:rPr lang="en-US" altLang="en-US" sz="1700" i="1" dirty="0"/>
              <a:t>dept_name = </a:t>
            </a:r>
            <a:r>
              <a:rPr lang="en-US" altLang="en-US" sz="1700" dirty="0"/>
              <a:t>'Biology'</a:t>
            </a:r>
          </a:p>
          <a:p>
            <a:pPr algn="r" rtl="1">
              <a:tabLst>
                <a:tab pos="1370013" algn="l"/>
              </a:tabLst>
            </a:pPr>
            <a:r>
              <a:rPr lang="fa-IR" sz="1800" dirty="0"/>
              <a:t>ایجاد نمای مجموع حقوق دپارتمان‌ها:</a:t>
            </a:r>
            <a:endParaRPr lang="en-US" altLang="en-US" sz="1700" dirty="0"/>
          </a:p>
          <a:p>
            <a:pPr>
              <a:buNone/>
              <a:tabLst>
                <a:tab pos="1370013" algn="l"/>
              </a:tabLst>
            </a:pPr>
            <a:r>
              <a:rPr lang="en-US" altLang="en-US" sz="800" dirty="0"/>
              <a:t> </a:t>
            </a:r>
            <a:br>
              <a:rPr lang="en-US" altLang="en-US" sz="1700" dirty="0"/>
            </a:br>
            <a:r>
              <a:rPr lang="en-US" altLang="en-US" sz="1700" dirty="0"/>
              <a:t>  </a:t>
            </a:r>
            <a:r>
              <a:rPr lang="en-US" altLang="en-US" sz="1700" b="1" dirty="0"/>
              <a:t>create view </a:t>
            </a:r>
            <a:r>
              <a:rPr lang="en-US" altLang="en-US" sz="1700" b="1" i="1" dirty="0" err="1">
                <a:solidFill>
                  <a:srgbClr val="002060"/>
                </a:solidFill>
              </a:rPr>
              <a:t>departments_total_salary</a:t>
            </a:r>
            <a:r>
              <a:rPr lang="en-US" altLang="en-US" sz="1700" b="1" i="1" dirty="0">
                <a:solidFill>
                  <a:srgbClr val="002060"/>
                </a:solidFill>
              </a:rPr>
              <a:t>(dept_name, </a:t>
            </a:r>
            <a:r>
              <a:rPr lang="en-US" altLang="en-US" sz="1700" b="1" i="1" dirty="0" err="1">
                <a:solidFill>
                  <a:srgbClr val="002060"/>
                </a:solidFill>
              </a:rPr>
              <a:t>total_salary</a:t>
            </a:r>
            <a:r>
              <a:rPr lang="en-US" altLang="en-US" sz="1700" b="1" i="1" dirty="0">
                <a:solidFill>
                  <a:srgbClr val="000099"/>
                </a:solidFill>
              </a:rPr>
              <a:t>)</a:t>
            </a:r>
            <a:r>
              <a:rPr lang="en-US" altLang="en-US" sz="1700" i="1" dirty="0">
                <a:solidFill>
                  <a:srgbClr val="000099"/>
                </a:solidFill>
              </a:rPr>
              <a:t> </a:t>
            </a:r>
            <a:r>
              <a:rPr lang="en-US" altLang="en-US" sz="1700" b="1" dirty="0"/>
              <a:t>as</a:t>
            </a:r>
            <a:br>
              <a:rPr lang="en-US" altLang="en-US" sz="1700" b="1" dirty="0"/>
            </a:br>
            <a:r>
              <a:rPr lang="en-US" altLang="en-US" sz="1700" b="1" dirty="0"/>
              <a:t>       select </a:t>
            </a:r>
            <a:r>
              <a:rPr lang="en-US" altLang="en-US" sz="1700" i="1" dirty="0"/>
              <a:t>dept_name</a:t>
            </a:r>
            <a:r>
              <a:rPr lang="en-US" altLang="en-US" sz="1700" dirty="0"/>
              <a:t>, </a:t>
            </a:r>
            <a:r>
              <a:rPr lang="en-US" altLang="en-US" sz="1700" b="1" dirty="0"/>
              <a:t>sum </a:t>
            </a:r>
            <a:r>
              <a:rPr lang="en-US" altLang="en-US" sz="1700" dirty="0"/>
              <a:t>(</a:t>
            </a:r>
            <a:r>
              <a:rPr lang="en-US" altLang="en-US" sz="1700" i="1" dirty="0"/>
              <a:t>salary</a:t>
            </a:r>
            <a:r>
              <a:rPr lang="en-US" altLang="en-US" sz="1700" dirty="0"/>
              <a:t>)</a:t>
            </a:r>
            <a:br>
              <a:rPr lang="en-US" altLang="en-US" sz="1700" dirty="0"/>
            </a:br>
            <a:r>
              <a:rPr lang="en-US" altLang="en-US" sz="1700" dirty="0"/>
              <a:t>       </a:t>
            </a:r>
            <a:r>
              <a:rPr lang="en-US" altLang="en-US" sz="1700" b="1" dirty="0"/>
              <a:t>from </a:t>
            </a:r>
            <a:r>
              <a:rPr lang="en-US" altLang="en-US" sz="1700" i="1" dirty="0"/>
              <a:t>instructor</a:t>
            </a:r>
            <a:br>
              <a:rPr lang="en-US" altLang="en-US" sz="1700" i="1" dirty="0"/>
            </a:br>
            <a:r>
              <a:rPr lang="en-US" altLang="en-US" sz="1700" i="1" dirty="0"/>
              <a:t>      </a:t>
            </a:r>
            <a:r>
              <a:rPr lang="en-US" altLang="en-US" sz="1700" b="1" dirty="0"/>
              <a:t>group by </a:t>
            </a:r>
            <a:r>
              <a:rPr lang="en-US" altLang="en-US" sz="1700" i="1" dirty="0"/>
              <a:t>dept_name</a:t>
            </a:r>
            <a:r>
              <a:rPr lang="en-US" altLang="en-US" sz="1700" dirty="0"/>
              <a:t>;</a:t>
            </a:r>
          </a:p>
          <a:p>
            <a:pPr>
              <a:tabLst>
                <a:tab pos="1370013" algn="l"/>
              </a:tabLst>
            </a:pPr>
            <a:endParaRPr lang="en-US" altLang="en-US" sz="2000" dirty="0"/>
          </a:p>
          <a:p>
            <a:pPr>
              <a:buNone/>
              <a:tabLst>
                <a:tab pos="1370013" algn="l"/>
              </a:tabLst>
            </a:pPr>
            <a:endParaRPr lang="en-US" altLang="en-US" sz="2400" dirty="0"/>
          </a:p>
          <a:p>
            <a:pPr>
              <a:tabLst>
                <a:tab pos="1370013" algn="l"/>
              </a:tabLst>
            </a:pPr>
            <a:endParaRPr lang="en-US" altLang="en-US" sz="2000" dirty="0"/>
          </a:p>
          <a:p>
            <a:pPr>
              <a:tabLst>
                <a:tab pos="1370013" algn="l"/>
              </a:tabLst>
            </a:pPr>
            <a:endParaRPr lang="en-US" altLang="en-US" sz="2000" dirty="0"/>
          </a:p>
        </p:txBody>
      </p:sp>
      <p:sp>
        <p:nvSpPr>
          <p:cNvPr id="335877" name="Text Box 5"/>
          <p:cNvSpPr txBox="1">
            <a:spLocks noChangeArrowheads="1"/>
          </p:cNvSpPr>
          <p:nvPr/>
        </p:nvSpPr>
        <p:spPr bwMode="auto">
          <a:xfrm>
            <a:off x="1060450" y="5232400"/>
            <a:ext cx="7550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buClr>
                <a:schemeClr val="tx2"/>
              </a:buClr>
              <a:buSzPct val="90000"/>
              <a:buFont typeface="Monotype Sorts" charset="2"/>
              <a:buNone/>
            </a:pPr>
            <a:r>
              <a:rPr kumimoji="1" lang="en-US" altLang="en-US" sz="2400" b="1"/>
              <a:t>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22" name="Rectangle 2"/>
          <p:cNvSpPr>
            <a:spLocks noGrp="1" noChangeArrowheads="1"/>
          </p:cNvSpPr>
          <p:nvPr>
            <p:ph type="title"/>
          </p:nvPr>
        </p:nvSpPr>
        <p:spPr/>
        <p:txBody>
          <a:bodyPr/>
          <a:lstStyle/>
          <a:p>
            <a:pPr>
              <a:defRPr/>
            </a:pPr>
            <a:r>
              <a:rPr lang="fa-IR" dirty="0"/>
              <a:t>تعریف نماها با استفاده از نماهای دیگر</a:t>
            </a:r>
            <a:endParaRPr lang="en-US" sz="2800" dirty="0">
              <a:ea typeface="+mj-ea"/>
            </a:endParaRPr>
          </a:p>
        </p:txBody>
      </p:sp>
      <p:sp>
        <p:nvSpPr>
          <p:cNvPr id="46083" name="Rectangle 3"/>
          <p:cNvSpPr>
            <a:spLocks noGrp="1" noChangeArrowheads="1"/>
          </p:cNvSpPr>
          <p:nvPr>
            <p:ph idx="1"/>
          </p:nvPr>
        </p:nvSpPr>
        <p:spPr>
          <a:xfrm>
            <a:off x="316592" y="1106488"/>
            <a:ext cx="8528958" cy="4864326"/>
          </a:xfrm>
        </p:spPr>
        <p:txBody>
          <a:bodyPr/>
          <a:lstStyle/>
          <a:p>
            <a:pPr algn="r" rtl="1">
              <a:lnSpc>
                <a:spcPct val="150000"/>
              </a:lnSpc>
            </a:pPr>
            <a:r>
              <a:rPr lang="fa-IR" dirty="0"/>
              <a:t>می‌توان از یک </a:t>
            </a:r>
            <a:r>
              <a:rPr lang="fa-IR" b="1" dirty="0"/>
              <a:t>نما</a:t>
            </a:r>
            <a:r>
              <a:rPr lang="fa-IR" dirty="0"/>
              <a:t> در عبارت تعریف‌کننده </a:t>
            </a:r>
            <a:r>
              <a:rPr lang="fa-IR" b="1" dirty="0"/>
              <a:t>نمای دیگر</a:t>
            </a:r>
            <a:r>
              <a:rPr lang="fa-IR" dirty="0"/>
              <a:t> استفاده کرد.</a:t>
            </a:r>
          </a:p>
          <a:p>
            <a:pPr algn="r" rtl="1">
              <a:lnSpc>
                <a:spcPct val="150000"/>
              </a:lnSpc>
            </a:pPr>
            <a:r>
              <a:rPr lang="fa-IR" altLang="en-US" dirty="0"/>
              <a:t>گفته می‌شود که یک رابطه نما </a:t>
            </a:r>
            <a:r>
              <a:rPr lang="en-US" altLang="en-US" dirty="0"/>
              <a:t> (v1​) </a:t>
            </a:r>
            <a:r>
              <a:rPr lang="fa-IR" altLang="en-US" dirty="0"/>
              <a:t>دارای </a:t>
            </a:r>
            <a:r>
              <a:rPr lang="fa-IR" altLang="en-US" dirty="0">
                <a:solidFill>
                  <a:srgbClr val="000099"/>
                </a:solidFill>
              </a:rPr>
              <a:t>وابستگی مستقیم </a:t>
            </a:r>
            <a:r>
              <a:rPr lang="fa-IR" altLang="en-US" dirty="0"/>
              <a:t>به یک رابطه نما </a:t>
            </a:r>
            <a:r>
              <a:rPr lang="en-US" altLang="en-US" dirty="0"/>
              <a:t>  (v2​) </a:t>
            </a:r>
            <a:r>
              <a:rPr lang="fa-IR" altLang="en-US" dirty="0"/>
              <a:t>است، اگر </a:t>
            </a:r>
            <a:r>
              <a:rPr lang="en-US" altLang="en-US" dirty="0"/>
              <a:t> v2​ </a:t>
            </a:r>
            <a:r>
              <a:rPr lang="fa-IR" altLang="en-US" dirty="0"/>
              <a:t>در عبارت تعریف‌کننده </a:t>
            </a:r>
            <a:r>
              <a:rPr lang="en-US" altLang="en-US" dirty="0"/>
              <a:t> v1​ </a:t>
            </a:r>
            <a:r>
              <a:rPr lang="fa-IR" altLang="en-US" dirty="0"/>
              <a:t>استفاده شود.</a:t>
            </a:r>
          </a:p>
          <a:p>
            <a:pPr algn="r" rtl="1">
              <a:lnSpc>
                <a:spcPct val="150000"/>
              </a:lnSpc>
            </a:pPr>
            <a:r>
              <a:rPr lang="fa-IR" altLang="en-US" dirty="0"/>
              <a:t>گفته می‌شود که یک رابطه نما </a:t>
            </a:r>
            <a:r>
              <a:rPr lang="en-US" altLang="en-US" dirty="0"/>
              <a:t> (v1​) </a:t>
            </a:r>
            <a:r>
              <a:rPr lang="fa-IR" altLang="en-US" dirty="0"/>
              <a:t>دارای </a:t>
            </a:r>
            <a:r>
              <a:rPr lang="fa-IR" altLang="en-US" dirty="0">
                <a:solidFill>
                  <a:srgbClr val="000099"/>
                </a:solidFill>
              </a:rPr>
              <a:t>وابستگی</a:t>
            </a:r>
            <a:r>
              <a:rPr lang="fa-IR" altLang="en-US" dirty="0"/>
              <a:t> به رابطه نما </a:t>
            </a:r>
            <a:r>
              <a:rPr lang="en-US" altLang="en-US" dirty="0"/>
              <a:t>(v2​) </a:t>
            </a:r>
            <a:r>
              <a:rPr lang="fa-IR" altLang="en-US" dirty="0"/>
              <a:t>است، اگر یا </a:t>
            </a:r>
            <a:r>
              <a:rPr lang="en-US" altLang="en-US" dirty="0"/>
              <a:t>v1​ </a:t>
            </a:r>
            <a:r>
              <a:rPr lang="fa-IR" altLang="en-US" dirty="0"/>
              <a:t>دارای وابستگی مستقیم به </a:t>
            </a:r>
            <a:r>
              <a:rPr lang="en-US" altLang="en-US" dirty="0"/>
              <a:t> v2​ </a:t>
            </a:r>
            <a:r>
              <a:rPr lang="fa-IR" altLang="en-US" dirty="0"/>
              <a:t>باشد یا یک مسیر از وابستگی‌ها از </a:t>
            </a:r>
            <a:r>
              <a:rPr lang="en-US" altLang="en-US" dirty="0"/>
              <a:t> v1​ </a:t>
            </a:r>
            <a:r>
              <a:rPr lang="fa-IR" altLang="en-US" dirty="0"/>
              <a:t>به </a:t>
            </a:r>
            <a:r>
              <a:rPr lang="en-US" altLang="en-US" dirty="0"/>
              <a:t>v2​ </a:t>
            </a:r>
            <a:r>
              <a:rPr lang="fa-IR" altLang="en-US" dirty="0"/>
              <a:t>وجود داشته باشد.</a:t>
            </a:r>
            <a:endParaRPr lang="en-US" altLang="en-US" dirty="0"/>
          </a:p>
          <a:p>
            <a:pPr algn="r" rtl="1">
              <a:lnSpc>
                <a:spcPct val="150000"/>
              </a:lnSpc>
            </a:pPr>
            <a:r>
              <a:rPr lang="fa-IR" altLang="en-US" dirty="0"/>
              <a:t>گفته می‌شود که یک رابطه نما </a:t>
            </a:r>
            <a:r>
              <a:rPr lang="en-US" altLang="en-US" dirty="0"/>
              <a:t> V</a:t>
            </a:r>
            <a:r>
              <a:rPr lang="fa-IR" altLang="en-US" dirty="0">
                <a:solidFill>
                  <a:srgbClr val="000099"/>
                </a:solidFill>
              </a:rPr>
              <a:t>بازگشتی </a:t>
            </a:r>
            <a:r>
              <a:rPr lang="en-US" altLang="en-US" dirty="0">
                <a:solidFill>
                  <a:srgbClr val="000099"/>
                </a:solidFill>
              </a:rPr>
              <a:t> (Recursive) </a:t>
            </a:r>
            <a:r>
              <a:rPr lang="fa-IR" altLang="en-US" dirty="0"/>
              <a:t>است، اگر به خودش وابسته باشد.</a:t>
            </a:r>
            <a:endParaRPr lang="en-US" alt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a:lstStyle/>
          <a:p>
            <a:pPr>
              <a:defRPr/>
            </a:pPr>
            <a:r>
              <a:rPr lang="fa-IR" dirty="0"/>
              <a:t>تعریف نماها با استفاده از نماهای دیگر</a:t>
            </a:r>
            <a:endParaRPr lang="en-US" sz="2800" dirty="0">
              <a:ea typeface="+mj-ea"/>
            </a:endParaRPr>
          </a:p>
        </p:txBody>
      </p:sp>
      <p:sp>
        <p:nvSpPr>
          <p:cNvPr id="44035" name="Rectangle 3"/>
          <p:cNvSpPr>
            <a:spLocks noGrp="1" noChangeArrowheads="1"/>
          </p:cNvSpPr>
          <p:nvPr>
            <p:ph idx="1"/>
          </p:nvPr>
        </p:nvSpPr>
        <p:spPr>
          <a:xfrm>
            <a:off x="768350" y="1118173"/>
            <a:ext cx="7570979" cy="4282884"/>
          </a:xfrm>
        </p:spPr>
        <p:txBody>
          <a:bodyPr/>
          <a:lstStyle/>
          <a:p>
            <a:r>
              <a:rPr lang="en-US" altLang="en-US" sz="2400" b="1" dirty="0"/>
              <a:t>create view </a:t>
            </a:r>
            <a:r>
              <a:rPr lang="en-US" altLang="en-US" sz="2400" b="1" i="1" dirty="0">
                <a:solidFill>
                  <a:srgbClr val="002060"/>
                </a:solidFill>
              </a:rPr>
              <a:t>physics_fall_2017</a:t>
            </a:r>
            <a:r>
              <a:rPr lang="en-US" altLang="en-US" sz="2400" b="1" i="1" dirty="0"/>
              <a:t> </a:t>
            </a:r>
            <a:r>
              <a:rPr lang="en-US" altLang="en-US" sz="2400" b="1" dirty="0"/>
              <a:t>as</a:t>
            </a:r>
            <a:br>
              <a:rPr lang="en-US" altLang="en-US" sz="2400" b="1" dirty="0"/>
            </a:br>
            <a:r>
              <a:rPr lang="en-US" altLang="en-US" sz="2400" b="1" dirty="0"/>
              <a:t>   select </a:t>
            </a:r>
            <a:r>
              <a:rPr lang="en-US" altLang="en-US" sz="2400" i="1" dirty="0" err="1"/>
              <a:t>course</a:t>
            </a:r>
            <a:r>
              <a:rPr lang="en-US" altLang="en-US" sz="2400" dirty="0" err="1"/>
              <a:t>.</a:t>
            </a:r>
            <a:r>
              <a:rPr lang="en-US" altLang="en-US" sz="2400" i="1" dirty="0" err="1"/>
              <a:t>course_id</a:t>
            </a:r>
            <a:r>
              <a:rPr lang="en-US" altLang="en-US" sz="2400" dirty="0"/>
              <a:t>, </a:t>
            </a:r>
            <a:r>
              <a:rPr lang="en-US" altLang="en-US" sz="2400" i="1" dirty="0" err="1"/>
              <a:t>sec_id</a:t>
            </a:r>
            <a:r>
              <a:rPr lang="en-US" altLang="en-US" sz="2400" dirty="0"/>
              <a:t>, </a:t>
            </a:r>
            <a:r>
              <a:rPr lang="en-US" altLang="en-US" sz="2400" i="1" dirty="0"/>
              <a:t>building</a:t>
            </a:r>
            <a:r>
              <a:rPr lang="en-US" altLang="en-US" sz="2400" dirty="0"/>
              <a:t>, </a:t>
            </a:r>
            <a:r>
              <a:rPr lang="en-US" altLang="en-US" sz="2400" i="1" dirty="0" err="1"/>
              <a:t>room_number</a:t>
            </a:r>
            <a:br>
              <a:rPr lang="en-US" altLang="en-US" sz="2400" i="1" dirty="0"/>
            </a:br>
            <a:r>
              <a:rPr lang="en-US" altLang="en-US" sz="2400" i="1" dirty="0"/>
              <a:t>   </a:t>
            </a:r>
            <a:r>
              <a:rPr lang="en-US" altLang="en-US" sz="2400" b="1" dirty="0"/>
              <a:t>from </a:t>
            </a:r>
            <a:r>
              <a:rPr lang="en-US" altLang="en-US" sz="2400" i="1" dirty="0"/>
              <a:t>course</a:t>
            </a:r>
            <a:r>
              <a:rPr lang="en-US" altLang="en-US" sz="2400" dirty="0"/>
              <a:t>, </a:t>
            </a:r>
            <a:r>
              <a:rPr lang="en-US" altLang="en-US" sz="2400" i="1" dirty="0"/>
              <a:t>section</a:t>
            </a:r>
            <a:br>
              <a:rPr lang="en-US" altLang="en-US" sz="2400" i="1" dirty="0"/>
            </a:br>
            <a:r>
              <a:rPr lang="en-US" altLang="en-US" sz="2400" i="1" dirty="0"/>
              <a:t>   </a:t>
            </a:r>
            <a:r>
              <a:rPr lang="en-US" altLang="en-US" sz="2400" b="1" dirty="0"/>
              <a:t>where </a:t>
            </a:r>
            <a:r>
              <a:rPr lang="en-US" altLang="en-US" sz="2400" i="1" dirty="0" err="1"/>
              <a:t>course</a:t>
            </a:r>
            <a:r>
              <a:rPr lang="en-US" altLang="en-US" sz="2400" dirty="0" err="1"/>
              <a:t>.</a:t>
            </a:r>
            <a:r>
              <a:rPr lang="en-US" altLang="en-US" sz="2400" i="1" dirty="0" err="1"/>
              <a:t>course_id</a:t>
            </a:r>
            <a:r>
              <a:rPr lang="en-US" altLang="en-US" sz="2400" i="1" dirty="0"/>
              <a:t> </a:t>
            </a:r>
            <a:r>
              <a:rPr lang="en-US" altLang="en-US" sz="2400" dirty="0"/>
              <a:t>= </a:t>
            </a:r>
            <a:r>
              <a:rPr lang="en-US" altLang="en-US" sz="2400" i="1" dirty="0" err="1"/>
              <a:t>section</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and </a:t>
            </a:r>
            <a:r>
              <a:rPr lang="en-US" altLang="en-US" sz="2400" i="1" dirty="0" err="1"/>
              <a:t>course</a:t>
            </a:r>
            <a:r>
              <a:rPr lang="en-US" altLang="en-US" sz="2400" dirty="0" err="1"/>
              <a:t>.</a:t>
            </a:r>
            <a:r>
              <a:rPr lang="en-US" altLang="en-US" sz="2400" i="1" dirty="0" err="1"/>
              <a:t>dept_name</a:t>
            </a:r>
            <a:r>
              <a:rPr lang="en-US" altLang="en-US" sz="2400" i="1" dirty="0"/>
              <a:t> </a:t>
            </a:r>
            <a:r>
              <a:rPr lang="en-US" altLang="en-US" sz="2400" dirty="0"/>
              <a:t>= 'Physics'</a:t>
            </a:r>
            <a:br>
              <a:rPr lang="en-US" altLang="en-US" sz="2400" dirty="0"/>
            </a:br>
            <a:r>
              <a:rPr lang="en-US" altLang="en-US" sz="2400" dirty="0"/>
              <a:t>              </a:t>
            </a:r>
            <a:r>
              <a:rPr lang="en-US" altLang="en-US" sz="2400" b="1" dirty="0"/>
              <a:t>and </a:t>
            </a:r>
            <a:r>
              <a:rPr lang="en-US" altLang="en-US" sz="2400" i="1" dirty="0" err="1"/>
              <a:t>section</a:t>
            </a:r>
            <a:r>
              <a:rPr lang="en-US" altLang="en-US" sz="2400" dirty="0" err="1"/>
              <a:t>.</a:t>
            </a:r>
            <a:r>
              <a:rPr lang="en-US" altLang="en-US" sz="2400" i="1" dirty="0" err="1"/>
              <a:t>semester</a:t>
            </a:r>
            <a:r>
              <a:rPr lang="en-US" altLang="en-US" sz="2400" i="1" dirty="0"/>
              <a:t> </a:t>
            </a:r>
            <a:r>
              <a:rPr lang="en-US" altLang="en-US" sz="2400" dirty="0"/>
              <a:t>= 'Fall'</a:t>
            </a:r>
            <a:br>
              <a:rPr lang="en-US" altLang="en-US" sz="2400" dirty="0"/>
            </a:br>
            <a:r>
              <a:rPr lang="en-US" altLang="en-US" sz="2400" dirty="0"/>
              <a:t>              </a:t>
            </a:r>
            <a:r>
              <a:rPr lang="en-US" altLang="en-US" sz="2400" b="1" dirty="0"/>
              <a:t>and </a:t>
            </a:r>
            <a:r>
              <a:rPr lang="en-US" altLang="en-US" sz="2400" i="1" dirty="0" err="1"/>
              <a:t>section</a:t>
            </a:r>
            <a:r>
              <a:rPr lang="en-US" altLang="en-US" sz="2400" dirty="0" err="1"/>
              <a:t>.</a:t>
            </a:r>
            <a:r>
              <a:rPr lang="en-US" altLang="en-US" sz="2400" i="1" dirty="0" err="1"/>
              <a:t>year</a:t>
            </a:r>
            <a:r>
              <a:rPr lang="en-US" altLang="en-US" sz="2400" i="1" dirty="0"/>
              <a:t> </a:t>
            </a:r>
            <a:r>
              <a:rPr lang="en-US" altLang="en-US" sz="2400" dirty="0"/>
              <a:t>= '2017’;</a:t>
            </a:r>
          </a:p>
          <a:p>
            <a:pPr>
              <a:buNone/>
            </a:pPr>
            <a:r>
              <a:rPr lang="en-US" altLang="en-US" sz="1050" dirty="0"/>
              <a:t> </a:t>
            </a:r>
          </a:p>
          <a:p>
            <a:r>
              <a:rPr lang="en-US" altLang="en-US" sz="2400" b="1" dirty="0"/>
              <a:t>create view </a:t>
            </a:r>
            <a:r>
              <a:rPr lang="en-US" altLang="en-US" sz="2400" b="1" i="1" dirty="0">
                <a:solidFill>
                  <a:srgbClr val="002060"/>
                </a:solidFill>
              </a:rPr>
              <a:t>physics_fall_2017</a:t>
            </a:r>
            <a:r>
              <a:rPr lang="en-US" altLang="en-US" sz="2400" b="1" i="1" dirty="0"/>
              <a:t>_</a:t>
            </a:r>
            <a:r>
              <a:rPr lang="en-US" altLang="en-US" sz="2400" i="1" dirty="0"/>
              <a:t>watson </a:t>
            </a:r>
            <a:r>
              <a:rPr lang="en-US" altLang="en-US" sz="2400" b="1" dirty="0"/>
              <a:t>as</a:t>
            </a:r>
            <a:br>
              <a:rPr lang="en-US" altLang="en-US" sz="2400" b="1" dirty="0"/>
            </a:br>
            <a:r>
              <a:rPr lang="en-US" altLang="en-US" sz="2400" b="1" dirty="0"/>
              <a:t>    select </a:t>
            </a:r>
            <a:r>
              <a:rPr lang="en-US" altLang="en-US" sz="2400" i="1" dirty="0" err="1"/>
              <a:t>course_id</a:t>
            </a:r>
            <a:r>
              <a:rPr lang="en-US" altLang="en-US" sz="2400" dirty="0"/>
              <a:t>, </a:t>
            </a:r>
            <a:r>
              <a:rPr lang="en-US" altLang="en-US" sz="2400" i="1" dirty="0" err="1"/>
              <a:t>room_number</a:t>
            </a:r>
            <a:br>
              <a:rPr lang="en-US" altLang="en-US" sz="2400" i="1" dirty="0"/>
            </a:br>
            <a:r>
              <a:rPr lang="en-US" altLang="en-US" sz="2400" i="1" dirty="0"/>
              <a:t>    </a:t>
            </a:r>
            <a:r>
              <a:rPr lang="en-US" altLang="en-US" sz="2400" b="1" dirty="0"/>
              <a:t>from </a:t>
            </a:r>
            <a:r>
              <a:rPr lang="en-US" altLang="en-US" sz="2400" b="1" i="1" dirty="0">
                <a:solidFill>
                  <a:srgbClr val="002060"/>
                </a:solidFill>
              </a:rPr>
              <a:t>physics_fall_2017</a:t>
            </a:r>
            <a:br>
              <a:rPr lang="en-US" altLang="en-US" sz="2400" i="1" dirty="0"/>
            </a:br>
            <a:r>
              <a:rPr lang="en-US" altLang="en-US" sz="2400" i="1" dirty="0"/>
              <a:t>    </a:t>
            </a:r>
            <a:r>
              <a:rPr lang="en-US" altLang="en-US" sz="2400" b="1" dirty="0"/>
              <a:t>where </a:t>
            </a:r>
            <a:r>
              <a:rPr lang="en-US" altLang="en-US" sz="2400" i="1" dirty="0"/>
              <a:t>building</a:t>
            </a:r>
            <a:r>
              <a:rPr lang="en-US" altLang="en-US" sz="2400" dirty="0"/>
              <a:t>= 'Watson';</a:t>
            </a:r>
          </a:p>
          <a:p>
            <a:endParaRPr lang="en-US" altLang="en-US" sz="3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530" name="Rectangle 2"/>
          <p:cNvSpPr>
            <a:spLocks noGrp="1" noChangeArrowheads="1"/>
          </p:cNvSpPr>
          <p:nvPr>
            <p:ph type="title"/>
          </p:nvPr>
        </p:nvSpPr>
        <p:spPr/>
        <p:txBody>
          <a:bodyPr/>
          <a:lstStyle/>
          <a:p>
            <a:pPr>
              <a:defRPr/>
            </a:pPr>
            <a:r>
              <a:rPr lang="en-US" sz="2800" dirty="0">
                <a:ea typeface="+mj-ea"/>
              </a:rPr>
              <a:t>View </a:t>
            </a:r>
            <a:r>
              <a:rPr lang="fa-IR" dirty="0">
                <a:ea typeface="+mj-ea"/>
              </a:rPr>
              <a:t>بسط</a:t>
            </a:r>
            <a:endParaRPr lang="en-US" sz="2800" dirty="0">
              <a:ea typeface="+mj-ea"/>
            </a:endParaRPr>
          </a:p>
        </p:txBody>
      </p:sp>
      <p:sp>
        <p:nvSpPr>
          <p:cNvPr id="45059" name="Rectangle 3"/>
          <p:cNvSpPr>
            <a:spLocks noGrp="1" noChangeArrowheads="1"/>
          </p:cNvSpPr>
          <p:nvPr>
            <p:ph idx="1"/>
          </p:nvPr>
        </p:nvSpPr>
        <p:spPr/>
        <p:txBody>
          <a:bodyPr/>
          <a:lstStyle/>
          <a:p>
            <a:pPr algn="r" rtl="1"/>
            <a:r>
              <a:rPr lang="fa-IR" altLang="en-US" dirty="0"/>
              <a:t>بسط</a:t>
            </a:r>
            <a:r>
              <a:rPr lang="en-US" altLang="en-US" dirty="0"/>
              <a:t>view</a:t>
            </a:r>
            <a:r>
              <a:rPr lang="fa-IR" altLang="en-US" dirty="0"/>
              <a:t> : </a:t>
            </a:r>
            <a:endParaRPr lang="en-US" altLang="en-US" dirty="0"/>
          </a:p>
          <a:p>
            <a:pPr>
              <a:buNone/>
            </a:pPr>
            <a:r>
              <a:rPr lang="en-US" altLang="en-US" b="1" dirty="0"/>
              <a:t>          create view </a:t>
            </a:r>
            <a:r>
              <a:rPr lang="en-US" altLang="en-US" b="1" i="1" dirty="0">
                <a:solidFill>
                  <a:srgbClr val="002060"/>
                </a:solidFill>
              </a:rPr>
              <a:t>physics_fall_2017_watson</a:t>
            </a:r>
            <a:r>
              <a:rPr lang="en-US" altLang="en-US" b="1" i="1" dirty="0"/>
              <a:t>  </a:t>
            </a:r>
            <a:r>
              <a:rPr lang="en-US" altLang="en-US" b="1" dirty="0"/>
              <a:t>as</a:t>
            </a:r>
            <a:br>
              <a:rPr lang="en-US" altLang="en-US" b="1" dirty="0"/>
            </a:br>
            <a:r>
              <a:rPr lang="en-US" altLang="en-US" b="1" dirty="0"/>
              <a:t>        select </a:t>
            </a:r>
            <a:r>
              <a:rPr lang="en-US" altLang="en-US" i="1" dirty="0" err="1"/>
              <a:t>course_id</a:t>
            </a:r>
            <a:r>
              <a:rPr lang="en-US" altLang="en-US" dirty="0"/>
              <a:t>, </a:t>
            </a:r>
            <a:r>
              <a:rPr lang="en-US" altLang="en-US" i="1" dirty="0" err="1"/>
              <a:t>room_number</a:t>
            </a:r>
            <a:br>
              <a:rPr lang="en-US" altLang="en-US" i="1" dirty="0"/>
            </a:br>
            <a:r>
              <a:rPr lang="en-US" altLang="en-US" i="1" dirty="0"/>
              <a:t>        </a:t>
            </a:r>
            <a:r>
              <a:rPr lang="en-US" altLang="en-US" b="1" dirty="0"/>
              <a:t>from </a:t>
            </a:r>
            <a:r>
              <a:rPr lang="en-US" altLang="en-US" b="1" i="1" dirty="0">
                <a:solidFill>
                  <a:srgbClr val="002060"/>
                </a:solidFill>
              </a:rPr>
              <a:t>physics_fall_2017</a:t>
            </a:r>
            <a:br>
              <a:rPr lang="en-US" altLang="en-US" i="1" dirty="0"/>
            </a:br>
            <a:r>
              <a:rPr lang="en-US" altLang="en-US" i="1" dirty="0"/>
              <a:t>        </a:t>
            </a:r>
            <a:r>
              <a:rPr lang="en-US" altLang="en-US" b="1" dirty="0"/>
              <a:t>where </a:t>
            </a:r>
            <a:r>
              <a:rPr lang="en-US" altLang="en-US" i="1" dirty="0"/>
              <a:t>building</a:t>
            </a:r>
            <a:r>
              <a:rPr lang="en-US" altLang="en-US" dirty="0"/>
              <a:t>= 'Watson</a:t>
            </a:r>
            <a:r>
              <a:rPr lang="en-US" altLang="ja-JP" dirty="0"/>
              <a:t>'</a:t>
            </a:r>
            <a:endParaRPr lang="en-US" altLang="en-US" dirty="0"/>
          </a:p>
          <a:p>
            <a:pPr algn="r" rtl="1"/>
            <a:r>
              <a:rPr lang="fa-IR" altLang="en-US" dirty="0"/>
              <a:t>به : </a:t>
            </a:r>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a:p>
            <a:endParaRPr lang="en-US" altLang="en-US" dirty="0"/>
          </a:p>
        </p:txBody>
      </p:sp>
      <p:sp>
        <p:nvSpPr>
          <p:cNvPr id="45060" name="Text Box 4"/>
          <p:cNvSpPr txBox="1">
            <a:spLocks noChangeArrowheads="1"/>
          </p:cNvSpPr>
          <p:nvPr/>
        </p:nvSpPr>
        <p:spPr bwMode="auto">
          <a:xfrm>
            <a:off x="1156834" y="3320040"/>
            <a:ext cx="7192962" cy="33547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r>
              <a:rPr lang="en-US" altLang="en-US" sz="2000" b="1" dirty="0"/>
              <a:t>create view </a:t>
            </a:r>
            <a:r>
              <a:rPr kumimoji="1" lang="en-US" altLang="en-US" sz="2000" b="1" i="1" dirty="0">
                <a:solidFill>
                  <a:srgbClr val="002060"/>
                </a:solidFill>
                <a:latin typeface="+mn-lt"/>
              </a:rPr>
              <a:t>physics_fall_2017_watson</a:t>
            </a:r>
            <a:r>
              <a:rPr lang="en-US" altLang="en-US" sz="2000" b="1" i="1" dirty="0">
                <a:solidFill>
                  <a:srgbClr val="002060"/>
                </a:solidFill>
              </a:rPr>
              <a:t> </a:t>
            </a:r>
            <a:r>
              <a:rPr lang="en-US" altLang="en-US" sz="2000" b="1" dirty="0"/>
              <a:t>as</a:t>
            </a:r>
          </a:p>
          <a:p>
            <a:r>
              <a:rPr lang="en-US" altLang="en-US" sz="2000" dirty="0"/>
              <a:t>    </a:t>
            </a:r>
            <a:r>
              <a:rPr lang="en-US" altLang="en-US" sz="2000" b="1" dirty="0"/>
              <a:t>select </a:t>
            </a:r>
            <a:r>
              <a:rPr lang="en-US" altLang="en-US" sz="2000" i="1" dirty="0" err="1"/>
              <a:t>course_id</a:t>
            </a:r>
            <a:r>
              <a:rPr lang="en-US" altLang="en-US" sz="2000" dirty="0"/>
              <a:t>, </a:t>
            </a:r>
            <a:r>
              <a:rPr lang="en-US" altLang="en-US" sz="2000" i="1" dirty="0" err="1"/>
              <a:t>room_number</a:t>
            </a:r>
            <a:endParaRPr lang="en-US" altLang="en-US" sz="2000" i="1" dirty="0"/>
          </a:p>
          <a:p>
            <a:r>
              <a:rPr lang="en-US" altLang="en-US" sz="2000" b="1" dirty="0"/>
              <a:t>    from </a:t>
            </a:r>
            <a:r>
              <a:rPr lang="en-US" altLang="en-US" sz="2000" dirty="0"/>
              <a:t>(</a:t>
            </a:r>
            <a:r>
              <a:rPr lang="en-US" altLang="en-US" sz="2000" b="1" dirty="0"/>
              <a:t>select </a:t>
            </a:r>
            <a:r>
              <a:rPr lang="en-US" altLang="en-US" sz="2000" i="1" dirty="0" err="1"/>
              <a:t>course</a:t>
            </a:r>
            <a:r>
              <a:rPr lang="en-US" altLang="en-US" sz="2000" dirty="0" err="1"/>
              <a:t>.</a:t>
            </a:r>
            <a:r>
              <a:rPr lang="en-US" altLang="en-US" sz="2000" i="1" dirty="0" err="1"/>
              <a:t>course_id</a:t>
            </a:r>
            <a:r>
              <a:rPr lang="en-US" altLang="en-US" sz="2000" dirty="0"/>
              <a:t>, </a:t>
            </a:r>
            <a:r>
              <a:rPr lang="en-US" altLang="en-US" sz="2000" i="1" dirty="0"/>
              <a:t>building</a:t>
            </a:r>
            <a:r>
              <a:rPr lang="en-US" altLang="en-US" sz="2000" dirty="0"/>
              <a:t>, </a:t>
            </a:r>
            <a:r>
              <a:rPr lang="en-US" altLang="en-US" sz="2000" i="1" dirty="0" err="1"/>
              <a:t>room_number</a:t>
            </a:r>
            <a:endParaRPr lang="en-US" altLang="en-US" sz="2000" i="1" dirty="0"/>
          </a:p>
          <a:p>
            <a:r>
              <a:rPr lang="en-US" altLang="en-US" sz="2000" b="1" dirty="0"/>
              <a:t>          from </a:t>
            </a:r>
            <a:r>
              <a:rPr lang="en-US" altLang="en-US" sz="2000" i="1" dirty="0"/>
              <a:t>course</a:t>
            </a:r>
            <a:r>
              <a:rPr lang="en-US" altLang="en-US" sz="2000" dirty="0"/>
              <a:t>, </a:t>
            </a:r>
            <a:r>
              <a:rPr lang="en-US" altLang="en-US" sz="2000" i="1" dirty="0"/>
              <a:t>section</a:t>
            </a:r>
          </a:p>
          <a:p>
            <a:r>
              <a:rPr lang="en-US" altLang="en-US" sz="2000" b="1" dirty="0"/>
              <a:t>          where </a:t>
            </a:r>
            <a:r>
              <a:rPr lang="en-US" altLang="en-US" sz="2000" i="1" dirty="0" err="1"/>
              <a:t>course</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section</a:t>
            </a:r>
            <a:r>
              <a:rPr lang="en-US" altLang="en-US" sz="2000" dirty="0" err="1"/>
              <a:t>.</a:t>
            </a:r>
            <a:r>
              <a:rPr lang="en-US" altLang="en-US" sz="2000" i="1" dirty="0" err="1"/>
              <a:t>course_id</a:t>
            </a:r>
            <a:endParaRPr lang="en-US" altLang="en-US" sz="2000" i="1" dirty="0"/>
          </a:p>
          <a:p>
            <a:r>
              <a:rPr lang="en-US" altLang="en-US" sz="2000" b="1" dirty="0"/>
              <a:t>               and </a:t>
            </a:r>
            <a:r>
              <a:rPr lang="en-US" altLang="en-US" sz="2000" i="1" dirty="0" err="1"/>
              <a:t>course</a:t>
            </a:r>
            <a:r>
              <a:rPr lang="en-US" altLang="en-US" sz="2000" dirty="0" err="1"/>
              <a:t>.</a:t>
            </a:r>
            <a:r>
              <a:rPr lang="en-US" altLang="en-US" sz="2000" i="1" dirty="0" err="1"/>
              <a:t>dept_name</a:t>
            </a:r>
            <a:r>
              <a:rPr lang="en-US" altLang="en-US" sz="2000" i="1" dirty="0"/>
              <a:t> </a:t>
            </a:r>
            <a:r>
              <a:rPr lang="en-US" altLang="en-US" sz="2000" dirty="0"/>
              <a:t>= 'Physics'</a:t>
            </a:r>
          </a:p>
          <a:p>
            <a:r>
              <a:rPr lang="en-US" altLang="en-US" sz="2000" b="1" dirty="0"/>
              <a:t>               and </a:t>
            </a:r>
            <a:r>
              <a:rPr lang="en-US" altLang="en-US" sz="2000" i="1" dirty="0" err="1"/>
              <a:t>section</a:t>
            </a:r>
            <a:r>
              <a:rPr lang="en-US" altLang="en-US" sz="2000" dirty="0" err="1"/>
              <a:t>.</a:t>
            </a:r>
            <a:r>
              <a:rPr lang="en-US" altLang="en-US" sz="2000" i="1" dirty="0" err="1"/>
              <a:t>semester</a:t>
            </a:r>
            <a:r>
              <a:rPr lang="en-US" altLang="en-US" sz="2000" i="1" dirty="0"/>
              <a:t> </a:t>
            </a:r>
            <a:r>
              <a:rPr lang="en-US" altLang="en-US" sz="2000" dirty="0"/>
              <a:t>= 'Fall'</a:t>
            </a:r>
          </a:p>
          <a:p>
            <a:r>
              <a:rPr lang="en-US" altLang="en-US" sz="2000" b="1" dirty="0"/>
              <a:t>               and </a:t>
            </a:r>
            <a:r>
              <a:rPr lang="en-US" altLang="en-US" sz="2000" i="1" dirty="0" err="1"/>
              <a:t>section</a:t>
            </a:r>
            <a:r>
              <a:rPr lang="en-US" altLang="en-US" sz="2000" dirty="0" err="1"/>
              <a:t>.</a:t>
            </a:r>
            <a:r>
              <a:rPr lang="en-US" altLang="en-US" sz="2000" i="1" dirty="0" err="1"/>
              <a:t>year</a:t>
            </a:r>
            <a:r>
              <a:rPr lang="en-US" altLang="en-US" sz="2000" i="1" dirty="0"/>
              <a:t> </a:t>
            </a:r>
            <a:r>
              <a:rPr lang="en-US" altLang="en-US" sz="2000" dirty="0"/>
              <a:t>= '2017')</a:t>
            </a:r>
          </a:p>
          <a:p>
            <a:r>
              <a:rPr lang="en-US" altLang="en-US" sz="2000" b="1" dirty="0"/>
              <a:t>     where </a:t>
            </a:r>
            <a:r>
              <a:rPr lang="en-US" altLang="en-US" sz="2000" i="1" dirty="0"/>
              <a:t>building</a:t>
            </a:r>
            <a:r>
              <a:rPr lang="en-US" altLang="en-US" sz="2000" dirty="0"/>
              <a:t>= 'Watson';</a:t>
            </a:r>
          </a:p>
          <a:p>
            <a:endParaRPr lang="en-US" altLang="en-US" sz="2800" dirty="0"/>
          </a:p>
        </p:txBody>
      </p:sp>
    </p:spTree>
    <p:extLst>
      <p:ext uri="{BB962C8B-B14F-4D97-AF65-F5344CB8AC3E}">
        <p14:creationId xmlns:p14="http://schemas.microsoft.com/office/powerpoint/2010/main" val="6435878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ChangeArrowheads="1"/>
          </p:cNvSpPr>
          <p:nvPr>
            <p:ph type="title"/>
          </p:nvPr>
        </p:nvSpPr>
        <p:spPr/>
        <p:txBody>
          <a:bodyPr/>
          <a:lstStyle/>
          <a:p>
            <a:pPr>
              <a:defRPr/>
            </a:pPr>
            <a:r>
              <a:rPr lang="en-US" dirty="0"/>
              <a:t>View </a:t>
            </a:r>
            <a:r>
              <a:rPr lang="fa-IR" dirty="0"/>
              <a:t>بسط</a:t>
            </a:r>
            <a:endParaRPr lang="en-US" sz="2800" dirty="0">
              <a:ea typeface="+mj-ea"/>
            </a:endParaRPr>
          </a:p>
        </p:txBody>
      </p:sp>
      <p:sp>
        <p:nvSpPr>
          <p:cNvPr id="48131" name="Rectangle 3"/>
          <p:cNvSpPr>
            <a:spLocks noGrp="1" noChangeArrowheads="1"/>
          </p:cNvSpPr>
          <p:nvPr>
            <p:ph idx="1"/>
          </p:nvPr>
        </p:nvSpPr>
        <p:spPr>
          <a:xfrm>
            <a:off x="451758" y="819468"/>
            <a:ext cx="8393792" cy="5448525"/>
          </a:xfrm>
        </p:spPr>
        <p:txBody>
          <a:bodyPr/>
          <a:lstStyle/>
          <a:p>
            <a:pPr algn="r" rtl="1">
              <a:lnSpc>
                <a:spcPct val="150000"/>
              </a:lnSpc>
              <a:tabLst>
                <a:tab pos="681038" algn="l"/>
              </a:tabLst>
            </a:pPr>
            <a:r>
              <a:rPr lang="fa-IR" dirty="0"/>
              <a:t>روشی برای تعریف </a:t>
            </a:r>
            <a:r>
              <a:rPr lang="fa-IR" b="1" dirty="0"/>
              <a:t>مفهوم نماهایی</a:t>
            </a:r>
            <a:r>
              <a:rPr lang="fa-IR" dirty="0"/>
              <a:t> است که بر اساس </a:t>
            </a:r>
            <a:r>
              <a:rPr lang="fa-IR" b="1" dirty="0"/>
              <a:t>نماهای دیگر</a:t>
            </a:r>
            <a:r>
              <a:rPr lang="fa-IR" dirty="0"/>
              <a:t> تعریف شده‌اند.</a:t>
            </a:r>
          </a:p>
          <a:p>
            <a:pPr algn="r" rtl="1">
              <a:lnSpc>
                <a:spcPct val="150000"/>
              </a:lnSpc>
              <a:tabLst>
                <a:tab pos="681038" algn="l"/>
              </a:tabLst>
            </a:pPr>
            <a:r>
              <a:rPr lang="fa-IR" altLang="en-US" dirty="0"/>
              <a:t>فرض کنید نمای </a:t>
            </a:r>
            <a:r>
              <a:rPr lang="en-US" altLang="en-US" dirty="0"/>
              <a:t>v1​</a:t>
            </a:r>
            <a:r>
              <a:rPr lang="fa-IR" altLang="en-US" dirty="0"/>
              <a:t> </a:t>
            </a:r>
            <a:r>
              <a:rPr lang="en-US" altLang="en-US" dirty="0"/>
              <a:t> </a:t>
            </a:r>
            <a:r>
              <a:rPr lang="fa-IR" altLang="en-US" dirty="0"/>
              <a:t>با عبارت </a:t>
            </a:r>
            <a:r>
              <a:rPr lang="en-US" altLang="en-US" dirty="0"/>
              <a:t>e1</a:t>
            </a:r>
            <a:r>
              <a:rPr lang="fa-IR" altLang="en-US" dirty="0"/>
              <a:t> </a:t>
            </a:r>
            <a:r>
              <a:rPr lang="en-US" altLang="en-US" dirty="0"/>
              <a:t>​ </a:t>
            </a:r>
            <a:r>
              <a:rPr lang="fa-IR" altLang="en-US" dirty="0"/>
              <a:t>تعریف شده باشد که ممکن است خود حاوی استفاده از رابطه‌های نما باشد.</a:t>
            </a:r>
          </a:p>
          <a:p>
            <a:pPr algn="r" rtl="1">
              <a:lnSpc>
                <a:spcPct val="150000"/>
              </a:lnSpc>
              <a:tabLst>
                <a:tab pos="681038" algn="l"/>
              </a:tabLst>
            </a:pPr>
            <a:r>
              <a:rPr lang="fa-IR" altLang="en-US" dirty="0"/>
              <a:t>بسط </a:t>
            </a:r>
            <a:r>
              <a:rPr lang="en-US" altLang="en-US" dirty="0"/>
              <a:t>view</a:t>
            </a:r>
            <a:r>
              <a:rPr lang="fa-IR" altLang="en-US" dirty="0"/>
              <a:t> در یک عبارت، حلقه جایگزینی زیر را تکرار می‌کند:</a:t>
            </a:r>
            <a:endParaRPr lang="en-US" altLang="en-US" dirty="0"/>
          </a:p>
          <a:p>
            <a:pPr>
              <a:lnSpc>
                <a:spcPct val="150000"/>
              </a:lnSpc>
              <a:buNone/>
              <a:tabLst>
                <a:tab pos="681038" algn="l"/>
              </a:tabLst>
            </a:pPr>
            <a:r>
              <a:rPr lang="en-US" altLang="en-US" dirty="0"/>
              <a:t>		</a:t>
            </a:r>
            <a:r>
              <a:rPr lang="en-US" altLang="en-US" b="1" dirty="0"/>
              <a:t>repeat</a:t>
            </a:r>
            <a:br>
              <a:rPr lang="en-US" altLang="en-US" b="1" dirty="0"/>
            </a:br>
            <a:r>
              <a:rPr lang="en-US" altLang="en-US" b="1" dirty="0"/>
              <a:t>		</a:t>
            </a:r>
            <a:r>
              <a:rPr lang="en-US" altLang="en-US" dirty="0"/>
              <a:t>Find any view relation </a:t>
            </a:r>
            <a:r>
              <a:rPr lang="en-US" altLang="en-US" i="1" dirty="0"/>
              <a:t>v</a:t>
            </a:r>
            <a:r>
              <a:rPr lang="en-US" altLang="en-US" i="1" baseline="-25000" dirty="0"/>
              <a:t>i</a:t>
            </a:r>
            <a:r>
              <a:rPr lang="en-US" altLang="en-US" dirty="0"/>
              <a:t> in </a:t>
            </a:r>
            <a:r>
              <a:rPr lang="en-US" altLang="en-US" i="1" dirty="0"/>
              <a:t>e</a:t>
            </a:r>
            <a:r>
              <a:rPr lang="en-US" altLang="en-US" baseline="-25000" dirty="0"/>
              <a:t>1</a:t>
            </a:r>
            <a:br>
              <a:rPr lang="en-US" altLang="en-US" dirty="0"/>
            </a:br>
            <a:r>
              <a:rPr lang="en-US" altLang="en-US" dirty="0"/>
              <a:t>		Replace the view relation </a:t>
            </a:r>
            <a:r>
              <a:rPr lang="en-US" altLang="en-US" i="1" dirty="0"/>
              <a:t>v</a:t>
            </a:r>
            <a:r>
              <a:rPr lang="en-US" altLang="en-US" i="1" baseline="-25000" dirty="0"/>
              <a:t>i</a:t>
            </a:r>
            <a:r>
              <a:rPr lang="en-US" altLang="en-US" dirty="0"/>
              <a:t> by the expression </a:t>
            </a:r>
            <a:r>
              <a:rPr lang="fa-IR" altLang="en-US" dirty="0"/>
              <a:t>			</a:t>
            </a:r>
            <a:r>
              <a:rPr lang="en-US" altLang="en-US" dirty="0"/>
              <a:t>defining </a:t>
            </a:r>
            <a:r>
              <a:rPr lang="en-US" altLang="en-US" i="1" dirty="0"/>
              <a:t>v</a:t>
            </a:r>
            <a:r>
              <a:rPr lang="en-US" altLang="en-US" i="1" baseline="-25000" dirty="0"/>
              <a:t>i</a:t>
            </a:r>
            <a:r>
              <a:rPr lang="en-US" altLang="en-US" dirty="0"/>
              <a:t>             </a:t>
            </a:r>
            <a:br>
              <a:rPr lang="en-US" altLang="en-US" dirty="0"/>
            </a:br>
            <a:r>
              <a:rPr lang="en-US" altLang="en-US" dirty="0"/>
              <a:t>	</a:t>
            </a:r>
            <a:r>
              <a:rPr lang="en-US" altLang="en-US" b="1" dirty="0"/>
              <a:t>until</a:t>
            </a:r>
            <a:r>
              <a:rPr lang="en-US" altLang="en-US" dirty="0"/>
              <a:t> no more view relations are present in </a:t>
            </a:r>
            <a:r>
              <a:rPr lang="en-US" altLang="en-US" i="1" dirty="0"/>
              <a:t>e</a:t>
            </a:r>
            <a:r>
              <a:rPr lang="en-US" altLang="en-US" baseline="-25000" dirty="0"/>
              <a:t>1</a:t>
            </a:r>
            <a:endParaRPr lang="fa-IR" altLang="en-US" baseline="-25000" dirty="0"/>
          </a:p>
          <a:p>
            <a:pPr>
              <a:lnSpc>
                <a:spcPct val="150000"/>
              </a:lnSpc>
              <a:buNone/>
              <a:tabLst>
                <a:tab pos="681038" algn="l"/>
              </a:tabLst>
            </a:pPr>
            <a:endParaRPr lang="en-US" altLang="en-US" dirty="0"/>
          </a:p>
          <a:p>
            <a:pPr algn="r" rtl="1">
              <a:lnSpc>
                <a:spcPct val="150000"/>
              </a:lnSpc>
              <a:tabLst>
                <a:tab pos="681038" algn="l"/>
              </a:tabLst>
            </a:pPr>
            <a:r>
              <a:rPr lang="fa-IR" altLang="en-US" dirty="0"/>
              <a:t>تا زمانی که تعاریف نماها بازگشتی </a:t>
            </a:r>
            <a:r>
              <a:rPr lang="en-US" altLang="en-US" dirty="0"/>
              <a:t>(Recursive) </a:t>
            </a:r>
            <a:r>
              <a:rPr lang="fa-IR" altLang="en-US" dirty="0"/>
              <a:t>نباشند، این حلقه خاتمه خواهد یافت.</a:t>
            </a:r>
            <a:endParaRPr lang="en-US"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970" name="Rectangle 2"/>
          <p:cNvSpPr>
            <a:spLocks noGrp="1" noChangeArrowheads="1"/>
          </p:cNvSpPr>
          <p:nvPr>
            <p:ph type="title"/>
          </p:nvPr>
        </p:nvSpPr>
        <p:spPr/>
        <p:txBody>
          <a:bodyPr/>
          <a:lstStyle/>
          <a:p>
            <a:pPr>
              <a:defRPr/>
            </a:pPr>
            <a:r>
              <a:rPr lang="en-US" dirty="0"/>
              <a:t>View </a:t>
            </a:r>
            <a:r>
              <a:rPr lang="fa-IR" dirty="0"/>
              <a:t>بسط</a:t>
            </a:r>
            <a:endParaRPr lang="en-US" sz="2800" dirty="0">
              <a:ea typeface="+mj-ea"/>
            </a:endParaRPr>
          </a:p>
        </p:txBody>
      </p:sp>
      <p:sp>
        <p:nvSpPr>
          <p:cNvPr id="48131" name="Rectangle 3"/>
          <p:cNvSpPr>
            <a:spLocks noGrp="1" noChangeArrowheads="1"/>
          </p:cNvSpPr>
          <p:nvPr>
            <p:ph idx="1"/>
          </p:nvPr>
        </p:nvSpPr>
        <p:spPr>
          <a:xfrm>
            <a:off x="451758" y="1093788"/>
            <a:ext cx="8393792" cy="5448525"/>
          </a:xfrm>
        </p:spPr>
        <p:txBody>
          <a:bodyPr/>
          <a:lstStyle/>
          <a:p>
            <a:pPr algn="r" rtl="1"/>
            <a:r>
              <a:rPr lang="fa-IR" sz="1600" b="1" dirty="0"/>
              <a:t>تعریف </a:t>
            </a:r>
            <a:r>
              <a:rPr lang="en-US" sz="1600" b="1" dirty="0"/>
              <a:t>view</a:t>
            </a:r>
            <a:r>
              <a:rPr lang="fa-IR" sz="1600" b="1" dirty="0"/>
              <a:t>:</a:t>
            </a:r>
            <a:endParaRPr lang="en-US" sz="1600" dirty="0"/>
          </a:p>
          <a:p>
            <a:pPr lvl="1"/>
            <a:r>
              <a:rPr lang="en-US" sz="1600" dirty="0"/>
              <a:t>CREATE VIEW v1 AS SELECT a, b FROM t1; </a:t>
            </a:r>
          </a:p>
          <a:p>
            <a:pPr lvl="1"/>
            <a:r>
              <a:rPr lang="en-US" sz="1600" dirty="0"/>
              <a:t>CREATE VIEW v2 AS SELECT v1.a, t2.c FROM v1, t2 WHERE v1.b = t2.b; </a:t>
            </a:r>
          </a:p>
          <a:p>
            <a:pPr algn="r" rtl="1"/>
            <a:r>
              <a:rPr lang="fa-IR" sz="1600" b="1" dirty="0"/>
              <a:t>فرآیند بسط </a:t>
            </a:r>
            <a:r>
              <a:rPr lang="en-US" sz="1600" b="1" dirty="0"/>
              <a:t>view</a:t>
            </a:r>
            <a:r>
              <a:rPr lang="fa-IR" sz="1600" b="1" dirty="0"/>
              <a:t>:</a:t>
            </a:r>
            <a:endParaRPr lang="en-US" sz="1600" dirty="0"/>
          </a:p>
          <a:p>
            <a:pPr lvl="1" algn="r" rtl="1"/>
            <a:r>
              <a:rPr lang="fa-IR" sz="1600" b="1" dirty="0"/>
              <a:t>شناسایی:</a:t>
            </a:r>
            <a:r>
              <a:rPr lang="fa-IR" sz="1600" dirty="0"/>
              <a:t> </a:t>
            </a:r>
            <a:r>
              <a:rPr lang="en-US" sz="1600" dirty="0"/>
              <a:t>v1</a:t>
            </a:r>
            <a:r>
              <a:rPr lang="fa-IR" sz="1600" dirty="0"/>
              <a:t> </a:t>
            </a:r>
            <a:r>
              <a:rPr lang="en-US" sz="1600" dirty="0"/>
              <a:t>​ </a:t>
            </a:r>
            <a:r>
              <a:rPr lang="fa-IR" sz="1600" dirty="0"/>
              <a:t>یک رابطه نما است.</a:t>
            </a:r>
            <a:endParaRPr lang="en-US" sz="1600" dirty="0"/>
          </a:p>
          <a:p>
            <a:pPr algn="r" rtl="1"/>
            <a:r>
              <a:rPr lang="fa-IR" sz="1600" b="1" dirty="0"/>
              <a:t>جایگزینی </a:t>
            </a:r>
            <a:r>
              <a:rPr lang="en-US" sz="1600" b="1" dirty="0"/>
              <a:t>v1</a:t>
            </a:r>
            <a:r>
              <a:rPr lang="fa-IR" sz="1600" b="1" dirty="0"/>
              <a:t> </a:t>
            </a:r>
            <a:r>
              <a:rPr lang="en-US" sz="1600" b="1" dirty="0"/>
              <a:t>​ </a:t>
            </a:r>
            <a:r>
              <a:rPr lang="fa-IR" sz="1600" b="1" dirty="0"/>
              <a:t>با تعریف آن:</a:t>
            </a:r>
            <a:endParaRPr lang="en-US" sz="1600" b="1" dirty="0"/>
          </a:p>
          <a:p>
            <a:pPr lvl="1"/>
            <a:r>
              <a:rPr lang="en-US" sz="1600" dirty="0"/>
              <a:t>SELECT t1.a, t2.c FROM </a:t>
            </a:r>
            <a:r>
              <a:rPr lang="en-US" sz="1600" i="1" u="sng" dirty="0"/>
              <a:t>(SELECT a, b FROM t1) AS v1</a:t>
            </a:r>
            <a:r>
              <a:rPr lang="en-US" sz="1600" dirty="0"/>
              <a:t>, t2 WHERE v1.b = t2.b; </a:t>
            </a:r>
          </a:p>
          <a:p>
            <a:pPr algn="r" rtl="1"/>
            <a:r>
              <a:rPr lang="fa-IR" sz="1600" b="1" dirty="0"/>
              <a:t>عبارت نهایی:</a:t>
            </a:r>
            <a:endParaRPr lang="en-US" sz="1600" b="1" dirty="0"/>
          </a:p>
          <a:p>
            <a:pPr lvl="1" algn="r" rtl="1"/>
            <a:r>
              <a:rPr lang="fa-IR" sz="1600" dirty="0"/>
              <a:t>عبارت نمای بسط‌یافته دیگر حاوی هیچ رابطه نمایی نیست.</a:t>
            </a:r>
            <a:endParaRPr lang="en-US" sz="1600" dirty="0"/>
          </a:p>
          <a:p>
            <a:pPr algn="r" rtl="1"/>
            <a:r>
              <a:rPr lang="fa-IR" sz="1600" b="1" dirty="0"/>
              <a:t>نکات کلیدی:</a:t>
            </a:r>
            <a:endParaRPr lang="en-US" sz="1600" b="1" dirty="0"/>
          </a:p>
          <a:p>
            <a:pPr lvl="1" algn="r" rtl="1"/>
            <a:r>
              <a:rPr lang="fa-IR" sz="1600" b="1" dirty="0"/>
              <a:t>تعاریف غیربازگشتی:</a:t>
            </a:r>
            <a:r>
              <a:rPr lang="fa-IR" sz="1600" dirty="0"/>
              <a:t> این فرآیند تا زمانی کار می‌کند که تعاریف نما بازگشتی نباشند. تعاریف بازگشتی باعث ایجاد حلقه</a:t>
            </a:r>
            <a:r>
              <a:rPr lang="fa-IR" sz="1600" b="1" dirty="0"/>
              <a:t> </a:t>
            </a:r>
            <a:r>
              <a:rPr lang="fa-IR" sz="1600" dirty="0"/>
              <a:t>بی‌نهایت می‌شوند.</a:t>
            </a:r>
          </a:p>
          <a:p>
            <a:pPr lvl="1" algn="r" rtl="1"/>
            <a:r>
              <a:rPr lang="fa-IR" sz="1600" b="1" dirty="0"/>
              <a:t>کارایی: </a:t>
            </a:r>
            <a:r>
              <a:rPr lang="fa-IR" sz="1600" dirty="0"/>
              <a:t>این بسط به درک و بهینه‌سازی پرس‌وجوها کمک کرده و اجرای صحیح و کارآمد را تضمین می‌کند.</a:t>
            </a:r>
          </a:p>
          <a:p>
            <a:pPr algn="r" rtl="1"/>
            <a:endParaRPr lang="fa-IR" sz="1600" b="1" dirty="0"/>
          </a:p>
          <a:p>
            <a:pPr algn="r" rtl="1"/>
            <a:r>
              <a:rPr lang="fa-IR" sz="1600" dirty="0"/>
              <a:t>با استفاده از بسط نما، تعاریف نمای تودرتوی پیچیده به </a:t>
            </a:r>
            <a:r>
              <a:rPr lang="fa-IR" sz="1600" b="1" dirty="0"/>
              <a:t>مؤلفه‌های بنیادی</a:t>
            </a:r>
            <a:r>
              <a:rPr lang="fa-IR" sz="1600" dirty="0"/>
              <a:t> آن‌ها تجزیه میشود و پرس‌وجوی کلی را </a:t>
            </a:r>
            <a:r>
              <a:rPr lang="fa-IR" sz="1600" b="1" dirty="0"/>
              <a:t>شفاف‌تر</a:t>
            </a:r>
            <a:r>
              <a:rPr lang="fa-IR" sz="1600" dirty="0"/>
              <a:t> و </a:t>
            </a:r>
            <a:r>
              <a:rPr lang="fa-IR" sz="1600" b="1" dirty="0"/>
              <a:t>قابل مدیریت‌تر</a:t>
            </a:r>
            <a:r>
              <a:rPr lang="fa-IR" sz="1600" dirty="0"/>
              <a:t> می‌سازد</a:t>
            </a:r>
            <a:endParaRPr lang="en-US" sz="1600" dirty="0"/>
          </a:p>
        </p:txBody>
      </p:sp>
    </p:spTree>
    <p:extLst>
      <p:ext uri="{BB962C8B-B14F-4D97-AF65-F5344CB8AC3E}">
        <p14:creationId xmlns:p14="http://schemas.microsoft.com/office/powerpoint/2010/main" val="13393085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ChangeArrowheads="1"/>
          </p:cNvSpPr>
          <p:nvPr>
            <p:ph type="title"/>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2800" dirty="0">
                <a:effectLst/>
              </a:rPr>
              <a:t>Materialized Views</a:t>
            </a:r>
          </a:p>
        </p:txBody>
      </p:sp>
      <p:sp>
        <p:nvSpPr>
          <p:cNvPr id="109571" name="Rectangle 3"/>
          <p:cNvSpPr>
            <a:spLocks noGrp="1" noChangeArrowheads="1"/>
          </p:cNvSpPr>
          <p:nvPr>
            <p:ph idx="1"/>
          </p:nvPr>
        </p:nvSpPr>
        <p:spPr>
          <a:xfrm>
            <a:off x="293914" y="1262743"/>
            <a:ext cx="8327572" cy="5246914"/>
          </a:xfrm>
        </p:spPr>
        <p:txBody>
          <a:bodyPr/>
          <a:lstStyle/>
          <a:p>
            <a:pPr algn="r" rtl="1"/>
            <a:r>
              <a:rPr lang="fa-IR" altLang="en-US" sz="2800" dirty="0"/>
              <a:t>برخی از سیستم‌های پایگاه داده اجازه می‌دهند که رابطه‌های نما به‌صورت </a:t>
            </a:r>
            <a:r>
              <a:rPr lang="fa-IR" altLang="en-US" sz="2800" b="1" dirty="0"/>
              <a:t>فیزیکی</a:t>
            </a:r>
            <a:r>
              <a:rPr lang="fa-IR" altLang="en-US" sz="2800" dirty="0"/>
              <a:t> ذخیره شوند.</a:t>
            </a:r>
            <a:endParaRPr lang="en-US" altLang="en-US" sz="2800" dirty="0"/>
          </a:p>
          <a:p>
            <a:pPr lvl="1" algn="r" rtl="1"/>
            <a:r>
              <a:rPr lang="en-US" altLang="en-US" sz="2800" dirty="0"/>
              <a:t> </a:t>
            </a:r>
            <a:r>
              <a:rPr lang="fa-IR" altLang="en-US" sz="2800" dirty="0"/>
              <a:t>نسخه فیزیکی هنگام تعریف نما ایجاد می‌شود.</a:t>
            </a:r>
            <a:endParaRPr lang="en-US" altLang="en-US" sz="2800" dirty="0"/>
          </a:p>
          <a:p>
            <a:pPr lvl="1" algn="r" rtl="1"/>
            <a:r>
              <a:rPr lang="fa-IR" altLang="en-US" sz="2800" dirty="0"/>
              <a:t>این نماها، </a:t>
            </a:r>
            <a:r>
              <a:rPr lang="en-US" altLang="en-US" sz="2800" dirty="0"/>
              <a:t> </a:t>
            </a:r>
            <a:r>
              <a:rPr lang="en-US" altLang="en-US" sz="2800" dirty="0">
                <a:solidFill>
                  <a:srgbClr val="002060"/>
                </a:solidFill>
              </a:rPr>
              <a:t>Materialized View </a:t>
            </a:r>
            <a:r>
              <a:rPr lang="fa-IR" altLang="en-US" sz="2800" dirty="0"/>
              <a:t>نامیده می‌شوند.</a:t>
            </a:r>
            <a:endParaRPr lang="en-US" altLang="en-US" sz="2800" dirty="0"/>
          </a:p>
        </p:txBody>
      </p:sp>
      <p:sp>
        <p:nvSpPr>
          <p:cNvPr id="5" name="TextBox 4">
            <a:extLst>
              <a:ext uri="{FF2B5EF4-FFF2-40B4-BE49-F238E27FC236}">
                <a16:creationId xmlns:a16="http://schemas.microsoft.com/office/drawing/2014/main" id="{56586D7B-0F81-4261-AEAD-888FF67700C7}"/>
              </a:ext>
            </a:extLst>
          </p:cNvPr>
          <p:cNvSpPr txBox="1"/>
          <p:nvPr/>
        </p:nvSpPr>
        <p:spPr>
          <a:xfrm>
            <a:off x="293914" y="3799114"/>
            <a:ext cx="8501743" cy="2246769"/>
          </a:xfrm>
          <a:prstGeom prst="rect">
            <a:avLst/>
          </a:prstGeom>
          <a:noFill/>
        </p:spPr>
        <p:txBody>
          <a:bodyPr wrap="square">
            <a:spAutoFit/>
          </a:bodyPr>
          <a:lstStyle/>
          <a:p>
            <a:pPr algn="r" rtl="1"/>
            <a:r>
              <a:rPr lang="fa-IR" altLang="en-US" sz="2800" dirty="0">
                <a:cs typeface="B Nazanin" panose="00000400000000000000" pitchFamily="50" charset="-78"/>
              </a:rPr>
              <a:t>چالش: اگر رابطه‌های زیرین مورد استفاده در پرس‌وجو به‌روزرسانی شوند، نتیجه </a:t>
            </a:r>
            <a:r>
              <a:rPr lang="en-US" altLang="en-US" sz="2800" dirty="0">
                <a:solidFill>
                  <a:srgbClr val="002060"/>
                </a:solidFill>
                <a:cs typeface="B Nazanin" panose="00000400000000000000" pitchFamily="50" charset="-78"/>
              </a:rPr>
              <a:t>Materialized View </a:t>
            </a:r>
            <a:r>
              <a:rPr lang="fa-IR" altLang="en-US" sz="2800" dirty="0">
                <a:solidFill>
                  <a:srgbClr val="002060"/>
                </a:solidFill>
                <a:cs typeface="B Nazanin" panose="00000400000000000000" pitchFamily="50" charset="-78"/>
              </a:rPr>
              <a:t> </a:t>
            </a:r>
            <a:r>
              <a:rPr lang="fa-IR" altLang="en-US" sz="2800" dirty="0">
                <a:cs typeface="B Nazanin" panose="00000400000000000000" pitchFamily="50" charset="-78"/>
              </a:rPr>
              <a:t>قدیمی می‌شود.</a:t>
            </a:r>
          </a:p>
          <a:p>
            <a:pPr algn="r" rtl="1"/>
            <a:endParaRPr lang="fa-IR" altLang="en-US" sz="2800" dirty="0">
              <a:cs typeface="B Nazanin" panose="00000400000000000000" pitchFamily="50" charset="-78"/>
            </a:endParaRPr>
          </a:p>
          <a:p>
            <a:pPr algn="r" rtl="1"/>
            <a:r>
              <a:rPr lang="fa-IR" altLang="en-US" sz="2800" dirty="0">
                <a:cs typeface="B Nazanin" panose="00000400000000000000" pitchFamily="50" charset="-78"/>
              </a:rPr>
              <a:t>نیاز است با به‌روزرسانی نما در هر زمان که رابطه‌های زیرین به‌روزرسانی می‌شوند، نما حفظ و نگهداری شود.</a:t>
            </a:r>
            <a:endParaRPr lang="en-US" altLang="en-US" sz="2800" dirty="0">
              <a:cs typeface="B Nazanin" panose="00000400000000000000" pitchFamily="50" charset="-7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8" name="Rectangle 2"/>
          <p:cNvSpPr>
            <a:spLocks noGrp="1" noChangeArrowheads="1"/>
          </p:cNvSpPr>
          <p:nvPr>
            <p:ph type="title"/>
          </p:nvPr>
        </p:nvSpPr>
        <p:spPr/>
        <p:txBody>
          <a:bodyPr/>
          <a:lstStyle/>
          <a:p>
            <a:pPr rtl="1">
              <a:defRPr/>
            </a:pPr>
            <a:r>
              <a:rPr lang="fa-IR" dirty="0">
                <a:ea typeface="+mj-ea"/>
              </a:rPr>
              <a:t>بروزرسانی </a:t>
            </a:r>
            <a:r>
              <a:rPr lang="en-US" sz="2800" dirty="0">
                <a:ea typeface="+mj-ea"/>
              </a:rPr>
              <a:t>View</a:t>
            </a:r>
          </a:p>
        </p:txBody>
      </p:sp>
      <p:sp>
        <p:nvSpPr>
          <p:cNvPr id="50179" name="Rectangle 3"/>
          <p:cNvSpPr>
            <a:spLocks noGrp="1" noChangeArrowheads="1"/>
          </p:cNvSpPr>
          <p:nvPr>
            <p:ph idx="1"/>
          </p:nvPr>
        </p:nvSpPr>
        <p:spPr>
          <a:xfrm>
            <a:off x="141514" y="1099457"/>
            <a:ext cx="8926286" cy="5257800"/>
          </a:xfrm>
        </p:spPr>
        <p:txBody>
          <a:bodyPr/>
          <a:lstStyle/>
          <a:p>
            <a:pPr algn="r" rtl="1">
              <a:tabLst>
                <a:tab pos="1085850" algn="l"/>
              </a:tabLst>
            </a:pPr>
            <a:r>
              <a:rPr lang="fa-IR" altLang="en-US" sz="2400" dirty="0"/>
              <a:t>افزودن تاپل جدید به نمای </a:t>
            </a:r>
            <a:r>
              <a:rPr lang="en-US" altLang="en-US" sz="2400" dirty="0"/>
              <a:t>faculty</a:t>
            </a:r>
            <a:r>
              <a:rPr lang="fa-IR" altLang="en-US" sz="2400" dirty="0"/>
              <a:t>:</a:t>
            </a:r>
            <a:endParaRPr lang="en-US" altLang="en-US" sz="2400" b="1" dirty="0"/>
          </a:p>
          <a:p>
            <a:pPr>
              <a:buFont typeface="Monotype Sorts" charset="2"/>
              <a:buNone/>
              <a:tabLst>
                <a:tab pos="1085850" algn="l"/>
              </a:tabLst>
            </a:pPr>
            <a:r>
              <a:rPr lang="en-US" altLang="en-US" sz="2400" dirty="0"/>
              <a:t>		</a:t>
            </a:r>
            <a:r>
              <a:rPr lang="en-US" altLang="en-US" sz="2400" b="1" dirty="0"/>
              <a:t>insert into </a:t>
            </a:r>
            <a:r>
              <a:rPr lang="en-US" altLang="en-US" sz="2400" i="1" dirty="0"/>
              <a:t>faculty </a:t>
            </a:r>
          </a:p>
          <a:p>
            <a:pPr>
              <a:buFont typeface="Monotype Sorts" charset="2"/>
              <a:buNone/>
              <a:tabLst>
                <a:tab pos="1085850" algn="l"/>
              </a:tabLst>
            </a:pPr>
            <a:r>
              <a:rPr lang="en-US" altLang="en-US" sz="2400" b="1" i="1" dirty="0"/>
              <a:t>                       </a:t>
            </a:r>
            <a:r>
              <a:rPr lang="en-US" altLang="en-US" sz="2400" b="1" dirty="0"/>
              <a:t>values </a:t>
            </a:r>
            <a:r>
              <a:rPr lang="en-US" altLang="en-US" sz="2400" dirty="0"/>
              <a:t>('30765', 'Green', 'Music');</a:t>
            </a:r>
          </a:p>
          <a:p>
            <a:pPr algn="r" rtl="1">
              <a:tabLst>
                <a:tab pos="1085850" algn="l"/>
              </a:tabLst>
            </a:pPr>
            <a:r>
              <a:rPr lang="fa-IR" altLang="en-US" sz="2400" dirty="0"/>
              <a:t>این درج باید توسط یک درج در رابطه زیرین </a:t>
            </a:r>
            <a:r>
              <a:rPr lang="en-US" altLang="en-US" sz="2400" dirty="0"/>
              <a:t>instructor</a:t>
            </a:r>
            <a:r>
              <a:rPr lang="fa-IR" altLang="en-US" sz="2400" dirty="0"/>
              <a:t> </a:t>
            </a:r>
            <a:r>
              <a:rPr lang="en-US" altLang="en-US" sz="2400" dirty="0"/>
              <a:t> </a:t>
            </a:r>
            <a:r>
              <a:rPr lang="fa-IR" altLang="en-US" sz="2400" dirty="0"/>
              <a:t>نمایش داده شود.</a:t>
            </a:r>
            <a:endParaRPr lang="en-US" altLang="en-US" sz="2400" dirty="0"/>
          </a:p>
          <a:p>
            <a:pPr lvl="1" algn="r" rtl="1">
              <a:tabLst>
                <a:tab pos="1085850" algn="l"/>
              </a:tabLst>
            </a:pPr>
            <a:r>
              <a:rPr lang="fa-IR" altLang="en-US" sz="2400" dirty="0">
                <a:cs typeface="+mn-cs"/>
              </a:rPr>
              <a:t>باید دارای مقداری برای صفت حقوق </a:t>
            </a:r>
            <a:r>
              <a:rPr lang="en-US" altLang="en-US" sz="2400" dirty="0">
                <a:cs typeface="+mn-cs"/>
              </a:rPr>
              <a:t>(salary attribute) </a:t>
            </a:r>
            <a:r>
              <a:rPr lang="fa-IR" altLang="en-US" sz="2400" dirty="0">
                <a:cs typeface="+mn-cs"/>
              </a:rPr>
              <a:t>در جدول باشد.</a:t>
            </a:r>
            <a:endParaRPr lang="en-US" altLang="en-US" sz="2400" dirty="0">
              <a:cs typeface="+mn-cs"/>
            </a:endParaRPr>
          </a:p>
          <a:p>
            <a:pPr lvl="1" algn="r" rtl="1">
              <a:tabLst>
                <a:tab pos="1085850" algn="l"/>
              </a:tabLst>
            </a:pPr>
            <a:endParaRPr lang="en-US" altLang="en-US" sz="2400" dirty="0">
              <a:cs typeface="+mn-cs"/>
            </a:endParaRPr>
          </a:p>
          <a:p>
            <a:pPr algn="r" rtl="1">
              <a:tabLst>
                <a:tab pos="1085850" algn="l"/>
              </a:tabLst>
            </a:pPr>
            <a:r>
              <a:rPr lang="fa-IR" altLang="en-US" sz="2400" dirty="0">
                <a:cs typeface="+mn-cs"/>
              </a:rPr>
              <a:t>دو رویکرد:</a:t>
            </a:r>
            <a:endParaRPr lang="en-US" altLang="en-US" sz="2400" dirty="0">
              <a:cs typeface="+mn-cs"/>
            </a:endParaRPr>
          </a:p>
          <a:p>
            <a:pPr lvl="1">
              <a:tabLst>
                <a:tab pos="1085850" algn="l"/>
              </a:tabLst>
            </a:pPr>
            <a:r>
              <a:rPr lang="en-US" altLang="en-US" sz="2400" b="1" dirty="0">
                <a:cs typeface="+mn-cs"/>
              </a:rPr>
              <a:t>Reject the insert</a:t>
            </a:r>
          </a:p>
          <a:p>
            <a:pPr lvl="1">
              <a:tabLst>
                <a:tab pos="1085850" algn="l"/>
              </a:tabLst>
            </a:pPr>
            <a:r>
              <a:rPr lang="en-US" altLang="en-US" sz="2400" b="1" dirty="0">
                <a:cs typeface="+mn-cs"/>
              </a:rPr>
              <a:t>Insert the tuple</a:t>
            </a:r>
          </a:p>
          <a:p>
            <a:pPr>
              <a:buFont typeface="Monotype Sorts" charset="2"/>
              <a:buNone/>
              <a:tabLst>
                <a:tab pos="1085850" algn="l"/>
              </a:tabLst>
            </a:pPr>
            <a:r>
              <a:rPr lang="en-US" altLang="en-US" sz="2400" b="1" dirty="0"/>
              <a:t>			('30765', 'Green', 'Music', null)</a:t>
            </a:r>
          </a:p>
          <a:p>
            <a:pPr>
              <a:buFont typeface="Monotype Sorts" charset="2"/>
              <a:buNone/>
              <a:tabLst>
                <a:tab pos="1085850" algn="l"/>
              </a:tabLst>
            </a:pPr>
            <a:r>
              <a:rPr lang="en-US" altLang="en-US" sz="2400" dirty="0"/>
              <a:t>	      </a:t>
            </a:r>
            <a:r>
              <a:rPr lang="en-US" altLang="en-US" sz="2400" b="1" dirty="0"/>
              <a:t>into the </a:t>
            </a:r>
            <a:r>
              <a:rPr lang="en-US" altLang="en-US" sz="2400" b="1" i="1" dirty="0"/>
              <a:t>instructor</a:t>
            </a:r>
            <a:r>
              <a:rPr lang="en-US" altLang="en-US" sz="2400" b="1" dirty="0"/>
              <a:t> relation</a:t>
            </a:r>
          </a:p>
          <a:p>
            <a:pPr>
              <a:buFont typeface="Monotype Sorts" charset="2"/>
              <a:buNone/>
              <a:tabLst>
                <a:tab pos="1085850" algn="l"/>
              </a:tabLst>
            </a:pPr>
            <a:endParaRPr lang="en-US" altLang="en-US" sz="3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a:xfrm>
            <a:off x="890270" y="117475"/>
            <a:ext cx="8077200" cy="609600"/>
          </a:xfrm>
        </p:spPr>
        <p:txBody>
          <a:bodyPr/>
          <a:lstStyle/>
          <a:p>
            <a:pPr>
              <a:defRPr/>
            </a:pPr>
            <a:r>
              <a:rPr lang="fa-IR" dirty="0"/>
              <a:t>برخی از به‌روزرسانی‌ها را نمی‌توان به‌طور یکتا ترجمه کرد</a:t>
            </a:r>
            <a:endParaRPr lang="en-US" sz="2800" dirty="0">
              <a:ea typeface="+mj-ea"/>
            </a:endParaRPr>
          </a:p>
        </p:txBody>
      </p:sp>
      <p:sp>
        <p:nvSpPr>
          <p:cNvPr id="52227" name="Rectangle 3"/>
          <p:cNvSpPr>
            <a:spLocks noGrp="1" noChangeArrowheads="1"/>
          </p:cNvSpPr>
          <p:nvPr>
            <p:ph idx="1"/>
          </p:nvPr>
        </p:nvSpPr>
        <p:spPr>
          <a:xfrm>
            <a:off x="108857" y="1223689"/>
            <a:ext cx="8858613" cy="4162563"/>
          </a:xfrm>
        </p:spPr>
        <p:txBody>
          <a:bodyPr/>
          <a:lstStyle/>
          <a:p>
            <a:r>
              <a:rPr lang="en-US" altLang="en-US" sz="2400" b="1" dirty="0"/>
              <a:t>create view </a:t>
            </a:r>
            <a:r>
              <a:rPr lang="en-US" altLang="en-US" sz="2400" i="1" dirty="0" err="1"/>
              <a:t>instructor_info</a:t>
            </a:r>
            <a:r>
              <a:rPr lang="en-US" altLang="en-US" sz="2400" i="1" dirty="0"/>
              <a:t> </a:t>
            </a:r>
            <a:r>
              <a:rPr lang="en-US" altLang="en-US" sz="2400" b="1" dirty="0"/>
              <a:t>as</a:t>
            </a:r>
            <a:br>
              <a:rPr lang="en-US" altLang="en-US" sz="2400" b="1" dirty="0"/>
            </a:br>
            <a:r>
              <a:rPr lang="en-US" altLang="en-US" sz="2400" b="1" dirty="0"/>
              <a:t>      select </a:t>
            </a:r>
            <a:r>
              <a:rPr lang="en-US" altLang="en-US" sz="2400" i="1" dirty="0"/>
              <a:t>ID</a:t>
            </a:r>
            <a:r>
              <a:rPr lang="en-US" altLang="en-US" sz="2400" dirty="0"/>
              <a:t>, </a:t>
            </a:r>
            <a:r>
              <a:rPr lang="en-US" altLang="en-US" sz="2400" i="1" dirty="0"/>
              <a:t>name</a:t>
            </a:r>
            <a:r>
              <a:rPr lang="en-US" altLang="en-US" sz="2400" dirty="0"/>
              <a:t>, </a:t>
            </a:r>
            <a:r>
              <a:rPr lang="en-US" altLang="en-US" sz="2400" i="1" dirty="0"/>
              <a:t>building</a:t>
            </a:r>
            <a:br>
              <a:rPr lang="en-US" altLang="en-US" sz="2400" i="1" dirty="0"/>
            </a:br>
            <a:r>
              <a:rPr lang="en-US" altLang="en-US" sz="2400" i="1" dirty="0"/>
              <a:t>       </a:t>
            </a:r>
            <a:r>
              <a:rPr lang="en-US" altLang="en-US" sz="2400" b="1" dirty="0"/>
              <a:t>from </a:t>
            </a:r>
            <a:r>
              <a:rPr lang="en-US" altLang="en-US" sz="2400" i="1" dirty="0"/>
              <a:t>instructor</a:t>
            </a:r>
            <a:r>
              <a:rPr lang="en-US" altLang="en-US" sz="2400" dirty="0"/>
              <a:t>, </a:t>
            </a:r>
            <a:r>
              <a:rPr lang="en-US" altLang="en-US" sz="2400" i="1" dirty="0"/>
              <a:t>department</a:t>
            </a:r>
            <a:br>
              <a:rPr lang="en-US" altLang="en-US" sz="2400" i="1" dirty="0"/>
            </a:br>
            <a:r>
              <a:rPr lang="en-US" altLang="en-US" sz="2400" i="1" dirty="0"/>
              <a:t>       </a:t>
            </a:r>
            <a:r>
              <a:rPr lang="en-US" altLang="en-US" sz="2400" b="1" dirty="0"/>
              <a:t>where </a:t>
            </a:r>
            <a:r>
              <a:rPr lang="en-US" altLang="en-US" sz="2400" i="1" dirty="0" err="1"/>
              <a:t>instructor</a:t>
            </a:r>
            <a:r>
              <a:rPr lang="en-US" altLang="en-US" sz="2400" dirty="0" err="1"/>
              <a:t>.</a:t>
            </a:r>
            <a:r>
              <a:rPr lang="en-US" altLang="en-US" sz="2400" i="1" dirty="0" err="1"/>
              <a:t>dept_name</a:t>
            </a:r>
            <a:r>
              <a:rPr lang="en-US" altLang="en-US" sz="2400" i="1" dirty="0"/>
              <a:t> </a:t>
            </a:r>
            <a:r>
              <a:rPr lang="en-US" altLang="en-US" sz="2400" dirty="0"/>
              <a:t>= </a:t>
            </a:r>
            <a:r>
              <a:rPr lang="en-US" altLang="en-US" sz="2400" i="1" dirty="0" err="1"/>
              <a:t>department</a:t>
            </a:r>
            <a:r>
              <a:rPr lang="en-US" altLang="en-US" sz="2400" dirty="0" err="1"/>
              <a:t>.</a:t>
            </a:r>
            <a:r>
              <a:rPr lang="en-US" altLang="en-US" sz="2400" i="1" dirty="0" err="1"/>
              <a:t>dept_name</a:t>
            </a:r>
            <a:r>
              <a:rPr lang="en-US" altLang="en-US" sz="2400" dirty="0"/>
              <a:t>;</a:t>
            </a:r>
          </a:p>
          <a:p>
            <a:r>
              <a:rPr lang="en-US" altLang="en-US" sz="2400" b="1" dirty="0">
                <a:sym typeface="Symbol" panose="05050102010706020507" pitchFamily="18" charset="2"/>
              </a:rPr>
              <a:t>insert into </a:t>
            </a:r>
            <a:r>
              <a:rPr lang="en-US" altLang="en-US" sz="2400" i="1" dirty="0" err="1">
                <a:sym typeface="Symbol" panose="05050102010706020507" pitchFamily="18" charset="2"/>
              </a:rPr>
              <a:t>instructor_info</a:t>
            </a:r>
            <a:r>
              <a:rPr lang="en-US" altLang="en-US" sz="2400" i="1" dirty="0">
                <a:sym typeface="Symbol" panose="05050102010706020507" pitchFamily="18" charset="2"/>
              </a:rPr>
              <a:t> </a:t>
            </a:r>
          </a:p>
          <a:p>
            <a:pPr>
              <a:buNone/>
            </a:pPr>
            <a:r>
              <a:rPr lang="en-US" altLang="en-US" sz="2400" b="1" i="1" dirty="0">
                <a:sym typeface="Symbol" panose="05050102010706020507" pitchFamily="18" charset="2"/>
              </a:rPr>
              <a:t>             </a:t>
            </a:r>
            <a:r>
              <a:rPr lang="en-US" altLang="en-US" sz="2400" b="1" dirty="0">
                <a:sym typeface="Symbol" panose="05050102010706020507" pitchFamily="18" charset="2"/>
              </a:rPr>
              <a:t>values </a:t>
            </a:r>
            <a:r>
              <a:rPr lang="en-US" altLang="en-US" sz="2400" dirty="0">
                <a:sym typeface="Symbol" panose="05050102010706020507" pitchFamily="18" charset="2"/>
              </a:rPr>
              <a:t>('69987', 'White', 'Taylor');</a:t>
            </a:r>
          </a:p>
          <a:p>
            <a:pPr algn="r" rtl="1"/>
            <a:r>
              <a:rPr lang="fa-IR" sz="2400" dirty="0"/>
              <a:t>سوال:</a:t>
            </a:r>
            <a:endParaRPr lang="en-US" altLang="en-US" sz="2400" dirty="0">
              <a:sym typeface="Symbol" panose="05050102010706020507" pitchFamily="18" charset="2"/>
            </a:endParaRPr>
          </a:p>
          <a:p>
            <a:pPr lvl="1" algn="r" rtl="1"/>
            <a:r>
              <a:rPr lang="fa-IR" altLang="en-US" sz="2400" dirty="0"/>
              <a:t>کدام دپارتمان، اگر چندین دپارتمان در </a:t>
            </a:r>
            <a:r>
              <a:rPr lang="en-US" altLang="en-US" sz="2400" dirty="0"/>
              <a:t>Taylor</a:t>
            </a:r>
            <a:r>
              <a:rPr lang="fa-IR" altLang="en-US" sz="2400" dirty="0"/>
              <a:t> </a:t>
            </a:r>
            <a:r>
              <a:rPr lang="en-US" altLang="en-US" sz="2400" dirty="0"/>
              <a:t> </a:t>
            </a:r>
            <a:r>
              <a:rPr lang="fa-IR" altLang="en-US" sz="2400" dirty="0"/>
              <a:t>وجود داشته باشد؟</a:t>
            </a:r>
          </a:p>
          <a:p>
            <a:pPr lvl="1" algn="r" rtl="1"/>
            <a:r>
              <a:rPr lang="fa-IR" altLang="en-US" sz="2400" dirty="0"/>
              <a:t>چه می‌شود اگر هیچ دپارتمانی در </a:t>
            </a:r>
            <a:r>
              <a:rPr lang="en-US" altLang="en-US" sz="2400" dirty="0"/>
              <a:t>Taylor</a:t>
            </a:r>
            <a:r>
              <a:rPr lang="fa-IR" altLang="en-US" sz="2400" dirty="0"/>
              <a:t> </a:t>
            </a:r>
            <a:r>
              <a:rPr lang="en-US" altLang="en-US" sz="2400" dirty="0"/>
              <a:t> </a:t>
            </a:r>
            <a:r>
              <a:rPr lang="fa-IR" altLang="en-US" sz="2400" dirty="0"/>
              <a:t>وجود نداشته باشد؟</a:t>
            </a:r>
            <a:endParaRPr lang="en-US" altLang="en-US" sz="2400" b="1"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554" name="Rectangle 2"/>
          <p:cNvSpPr>
            <a:spLocks noGrp="1" noChangeArrowheads="1"/>
          </p:cNvSpPr>
          <p:nvPr>
            <p:ph type="title"/>
          </p:nvPr>
        </p:nvSpPr>
        <p:spPr/>
        <p:txBody>
          <a:bodyPr/>
          <a:lstStyle/>
          <a:p>
            <a:pPr>
              <a:defRPr/>
            </a:pPr>
            <a:r>
              <a:rPr lang="fa-IR" dirty="0"/>
              <a:t>و برخی دیگر اصلاً امکان‌پذیر نیستند</a:t>
            </a:r>
            <a:endParaRPr lang="en-US" sz="2800" dirty="0">
              <a:ea typeface="+mj-ea"/>
            </a:endParaRPr>
          </a:p>
        </p:txBody>
      </p:sp>
      <p:sp>
        <p:nvSpPr>
          <p:cNvPr id="54275" name="Rectangle 3"/>
          <p:cNvSpPr>
            <a:spLocks noGrp="1" noChangeArrowheads="1"/>
          </p:cNvSpPr>
          <p:nvPr>
            <p:ph idx="1"/>
          </p:nvPr>
        </p:nvSpPr>
        <p:spPr>
          <a:xfrm>
            <a:off x="768350" y="1093788"/>
            <a:ext cx="8622538" cy="4602923"/>
          </a:xfrm>
        </p:spPr>
        <p:txBody>
          <a:bodyPr/>
          <a:lstStyle/>
          <a:p>
            <a:r>
              <a:rPr lang="en-US" altLang="en-US" sz="2800" b="1" dirty="0"/>
              <a:t>create view </a:t>
            </a:r>
            <a:r>
              <a:rPr lang="en-US" altLang="en-US" sz="2800" i="1" dirty="0" err="1"/>
              <a:t>history_instructors</a:t>
            </a:r>
            <a:r>
              <a:rPr lang="en-US" altLang="en-US" sz="2800" i="1" dirty="0"/>
              <a:t> </a:t>
            </a:r>
            <a:r>
              <a:rPr lang="en-US" altLang="en-US" sz="2800" b="1" dirty="0"/>
              <a:t>as</a:t>
            </a:r>
            <a:br>
              <a:rPr lang="en-US" altLang="en-US" sz="2800" b="1" dirty="0"/>
            </a:br>
            <a:r>
              <a:rPr lang="en-US" altLang="en-US" sz="2800" b="1" dirty="0"/>
              <a:t>   select </a:t>
            </a:r>
            <a:r>
              <a:rPr lang="en-US" altLang="en-US" sz="2800" dirty="0"/>
              <a:t>*</a:t>
            </a:r>
            <a:br>
              <a:rPr lang="en-US" altLang="en-US" sz="2800" dirty="0"/>
            </a:br>
            <a:r>
              <a:rPr lang="en-US" altLang="en-US" sz="2800"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b="1" dirty="0"/>
              <a:t>where </a:t>
            </a:r>
            <a:r>
              <a:rPr lang="en-US" altLang="en-US" sz="2800" i="1" dirty="0"/>
              <a:t>dept_name</a:t>
            </a:r>
            <a:r>
              <a:rPr lang="en-US" altLang="en-US" sz="2800" dirty="0"/>
              <a:t>= 'History';</a:t>
            </a:r>
            <a:endParaRPr lang="fa-IR" altLang="en-US" sz="2800" dirty="0"/>
          </a:p>
          <a:p>
            <a:endParaRPr lang="en-US" altLang="en-US" sz="2800" dirty="0"/>
          </a:p>
          <a:p>
            <a:pPr algn="r" rtl="1"/>
            <a:r>
              <a:rPr lang="fa-IR" altLang="en-US" sz="2800" dirty="0"/>
              <a:t>چه اتفاقی می‌افتد اگر تاپل زیر را در </a:t>
            </a:r>
            <a:r>
              <a:rPr lang="en-US" altLang="en-US" sz="2800" dirty="0" err="1"/>
              <a:t>history_instructors</a:t>
            </a:r>
            <a:r>
              <a:rPr lang="fa-IR" altLang="en-US" sz="2800" dirty="0"/>
              <a:t> </a:t>
            </a:r>
            <a:r>
              <a:rPr lang="en-US" altLang="en-US" sz="2800" dirty="0"/>
              <a:t> </a:t>
            </a:r>
            <a:r>
              <a:rPr lang="fa-IR" altLang="en-US" sz="2800" dirty="0"/>
              <a:t>درج کنیم؟</a:t>
            </a:r>
            <a:r>
              <a:rPr lang="en-US" altLang="en-US" sz="2800" dirty="0"/>
              <a:t> </a:t>
            </a:r>
          </a:p>
          <a:p>
            <a:pPr>
              <a:buNone/>
            </a:pPr>
            <a:r>
              <a:rPr lang="en-US" altLang="en-US" sz="2800" dirty="0"/>
              <a:t>           ('25566', 'Brown', 'Biology', 100000)</a:t>
            </a:r>
          </a:p>
          <a:p>
            <a:pPr>
              <a:buNone/>
            </a:pPr>
            <a:r>
              <a:rPr lang="en-US" altLang="en-US" sz="2800" dirty="0"/>
              <a:t>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p:txBody>
          <a:bodyPr/>
          <a:lstStyle/>
          <a:p>
            <a:pPr rtl="1">
              <a:defRPr/>
            </a:pPr>
            <a:r>
              <a:rPr lang="fa-IR" dirty="0"/>
              <a:t>به‌روزرسانی نماها در </a:t>
            </a:r>
            <a:r>
              <a:rPr lang="en-US" dirty="0"/>
              <a:t>SQL</a:t>
            </a:r>
            <a:endParaRPr lang="en-US" sz="2800" dirty="0">
              <a:ea typeface="+mj-ea"/>
            </a:endParaRPr>
          </a:p>
        </p:txBody>
      </p:sp>
      <p:sp>
        <p:nvSpPr>
          <p:cNvPr id="52227" name="Rectangle 3"/>
          <p:cNvSpPr>
            <a:spLocks noGrp="1" noChangeArrowheads="1"/>
          </p:cNvSpPr>
          <p:nvPr>
            <p:ph idx="1"/>
          </p:nvPr>
        </p:nvSpPr>
        <p:spPr>
          <a:xfrm>
            <a:off x="195944" y="1229275"/>
            <a:ext cx="8730342" cy="5133425"/>
          </a:xfrm>
        </p:spPr>
        <p:txBody>
          <a:bodyPr/>
          <a:lstStyle/>
          <a:p>
            <a:pPr algn="r" rtl="1">
              <a:lnSpc>
                <a:spcPct val="150000"/>
              </a:lnSpc>
            </a:pPr>
            <a:r>
              <a:rPr lang="fa-IR" altLang="en-US" dirty="0"/>
              <a:t>اغلب پیاده‌سازی‌های </a:t>
            </a:r>
            <a:r>
              <a:rPr lang="en-US" altLang="en-US" dirty="0"/>
              <a:t>SQL، </a:t>
            </a:r>
            <a:r>
              <a:rPr lang="fa-IR" altLang="en-US" dirty="0"/>
              <a:t>به‌روزرسانی‌ها را تنها بر روی نماهای ساده مجاز می‌دانند:</a:t>
            </a:r>
            <a:endParaRPr lang="en-US" altLang="en-US" b="1" dirty="0"/>
          </a:p>
          <a:p>
            <a:pPr lvl="1" algn="r" rtl="1">
              <a:lnSpc>
                <a:spcPct val="150000"/>
              </a:lnSpc>
            </a:pPr>
            <a:r>
              <a:rPr lang="fa-IR" altLang="en-US" dirty="0"/>
              <a:t>بند </a:t>
            </a:r>
            <a:r>
              <a:rPr lang="en-US" altLang="en-US" dirty="0"/>
              <a:t>FROM</a:t>
            </a:r>
            <a:r>
              <a:rPr lang="fa-IR" altLang="en-US" dirty="0"/>
              <a:t> </a:t>
            </a:r>
            <a:r>
              <a:rPr lang="en-US" altLang="en-US" dirty="0"/>
              <a:t> </a:t>
            </a:r>
            <a:r>
              <a:rPr lang="fa-IR" altLang="en-US" dirty="0"/>
              <a:t>تنها یک رابطه پایگاه داده داشته باشد.</a:t>
            </a:r>
            <a:endParaRPr lang="en-US" altLang="en-US" dirty="0"/>
          </a:p>
          <a:p>
            <a:pPr lvl="1" algn="r" rtl="1">
              <a:lnSpc>
                <a:spcPct val="150000"/>
              </a:lnSpc>
            </a:pPr>
            <a:r>
              <a:rPr lang="fa-IR" altLang="en-US" dirty="0"/>
              <a:t>بند </a:t>
            </a:r>
            <a:r>
              <a:rPr lang="en-US" altLang="en-US" dirty="0"/>
              <a:t>SELECT</a:t>
            </a:r>
            <a:r>
              <a:rPr lang="fa-IR" altLang="en-US" dirty="0"/>
              <a:t> </a:t>
            </a:r>
            <a:r>
              <a:rPr lang="en-US" altLang="en-US" dirty="0"/>
              <a:t> </a:t>
            </a:r>
            <a:r>
              <a:rPr lang="fa-IR" altLang="en-US" dirty="0"/>
              <a:t>تنها حاوی نام صفات رابطه باشد و فاقد هرگونه عبارت، توابع تجمیعی </a:t>
            </a:r>
            <a:r>
              <a:rPr lang="en-US" altLang="en-US" dirty="0"/>
              <a:t>(aggregates)، </a:t>
            </a:r>
            <a:r>
              <a:rPr lang="fa-IR" altLang="en-US" dirty="0"/>
              <a:t>یا مشخصه </a:t>
            </a:r>
            <a:r>
              <a:rPr lang="en-US" altLang="en-US" dirty="0"/>
              <a:t>DISTINCT</a:t>
            </a:r>
            <a:r>
              <a:rPr lang="fa-IR" altLang="en-US" dirty="0"/>
              <a:t> </a:t>
            </a:r>
            <a:r>
              <a:rPr lang="en-US" altLang="en-US" dirty="0"/>
              <a:t> </a:t>
            </a:r>
            <a:r>
              <a:rPr lang="fa-IR" altLang="en-US" dirty="0"/>
              <a:t>باشد.</a:t>
            </a:r>
          </a:p>
          <a:p>
            <a:pPr lvl="1" algn="r" rtl="1">
              <a:lnSpc>
                <a:spcPct val="150000"/>
              </a:lnSpc>
            </a:pPr>
            <a:r>
              <a:rPr lang="fa-IR" altLang="en-US" dirty="0"/>
              <a:t>هر صفتی که در بند </a:t>
            </a:r>
            <a:r>
              <a:rPr lang="en-US" altLang="en-US" dirty="0"/>
              <a:t>SELECT</a:t>
            </a:r>
            <a:r>
              <a:rPr lang="fa-IR" altLang="en-US" dirty="0"/>
              <a:t> </a:t>
            </a:r>
            <a:r>
              <a:rPr lang="en-US" altLang="en-US" dirty="0"/>
              <a:t> </a:t>
            </a:r>
            <a:r>
              <a:rPr lang="fa-IR" altLang="en-US" dirty="0"/>
              <a:t>لیست نشده باشد، بتواند بر روی </a:t>
            </a:r>
            <a:r>
              <a:rPr lang="en-US" altLang="en-US" dirty="0"/>
              <a:t>NULL</a:t>
            </a:r>
            <a:r>
              <a:rPr lang="fa-IR" altLang="en-US" dirty="0"/>
              <a:t> </a:t>
            </a:r>
            <a:r>
              <a:rPr lang="en-US" altLang="en-US" dirty="0"/>
              <a:t> </a:t>
            </a:r>
            <a:r>
              <a:rPr lang="fa-IR" altLang="en-US" dirty="0"/>
              <a:t>تنظیم شود.</a:t>
            </a:r>
          </a:p>
          <a:p>
            <a:pPr lvl="1" algn="r" rtl="1">
              <a:lnSpc>
                <a:spcPct val="150000"/>
              </a:lnSpc>
            </a:pPr>
            <a:r>
              <a:rPr lang="fa-IR" altLang="en-US" dirty="0"/>
              <a:t>پرس‌وجو فاقد بندهای </a:t>
            </a:r>
            <a:r>
              <a:rPr lang="en-US" altLang="en-US" dirty="0"/>
              <a:t>GROUP BY</a:t>
            </a:r>
            <a:r>
              <a:rPr lang="fa-IR" altLang="en-US" dirty="0"/>
              <a:t> </a:t>
            </a:r>
            <a:r>
              <a:rPr lang="en-US" altLang="en-US" dirty="0"/>
              <a:t> </a:t>
            </a:r>
            <a:r>
              <a:rPr lang="fa-IR" altLang="en-US" dirty="0"/>
              <a:t>یا </a:t>
            </a:r>
            <a:r>
              <a:rPr lang="en-US" altLang="en-US" dirty="0"/>
              <a:t>HAVING</a:t>
            </a:r>
            <a:r>
              <a:rPr lang="fa-IR" altLang="en-US" dirty="0"/>
              <a:t> </a:t>
            </a:r>
            <a:r>
              <a:rPr lang="en-US" altLang="en-US" dirty="0"/>
              <a:t> </a:t>
            </a:r>
            <a:r>
              <a:rPr lang="fa-IR" altLang="en-US" dirty="0"/>
              <a:t>باشد.</a:t>
            </a:r>
            <a:endParaRPr lang="en-US" alt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p:txBody>
          <a:bodyPr/>
          <a:lstStyle/>
          <a:p>
            <a:pPr rtl="1">
              <a:defRPr/>
            </a:pPr>
            <a:r>
              <a:rPr lang="fa-IR" dirty="0"/>
              <a:t>تراکنش‌ها </a:t>
            </a:r>
            <a:r>
              <a:rPr lang="en-US" dirty="0"/>
              <a:t>(</a:t>
            </a:r>
            <a:r>
              <a:rPr lang="en-US" altLang="en-US" sz="2800" dirty="0">
                <a:effectLst/>
              </a:rPr>
              <a:t>Transactions)</a:t>
            </a:r>
            <a:endParaRPr lang="en-US" sz="2800" dirty="0">
              <a:ea typeface="+mj-ea"/>
            </a:endParaRPr>
          </a:p>
        </p:txBody>
      </p:sp>
      <p:sp>
        <p:nvSpPr>
          <p:cNvPr id="52227" name="Rectangle 3"/>
          <p:cNvSpPr>
            <a:spLocks noGrp="1" noChangeArrowheads="1"/>
          </p:cNvSpPr>
          <p:nvPr>
            <p:ph idx="1"/>
          </p:nvPr>
        </p:nvSpPr>
        <p:spPr>
          <a:xfrm>
            <a:off x="0" y="957942"/>
            <a:ext cx="8937171" cy="5453743"/>
          </a:xfrm>
        </p:spPr>
        <p:txBody>
          <a:bodyPr/>
          <a:lstStyle/>
          <a:p>
            <a:pPr algn="r" rtl="1"/>
            <a:r>
              <a:rPr lang="fa-IR" sz="2400" dirty="0"/>
              <a:t>یک </a:t>
            </a:r>
            <a:r>
              <a:rPr lang="fa-IR" sz="2400" b="1" dirty="0">
                <a:solidFill>
                  <a:srgbClr val="002060"/>
                </a:solidFill>
              </a:rPr>
              <a:t>تراکنش</a:t>
            </a:r>
            <a:r>
              <a:rPr lang="fa-IR" sz="2400" dirty="0"/>
              <a:t> شامل دنباله‌ای از دستورات پرس‌وجو و/یا به‌روزرسانی است و یک "</a:t>
            </a:r>
            <a:r>
              <a:rPr lang="fa-IR" sz="2400" b="1" dirty="0"/>
              <a:t>واحد</a:t>
            </a:r>
            <a:r>
              <a:rPr lang="fa-IR" sz="2400" dirty="0"/>
              <a:t>" کار محسوب می‌شود.</a:t>
            </a:r>
            <a:endParaRPr lang="en-US" sz="2400" dirty="0"/>
          </a:p>
          <a:p>
            <a:pPr algn="r" rtl="1"/>
            <a:r>
              <a:rPr lang="fa-IR" altLang="en-US" sz="2400" dirty="0"/>
              <a:t>استاندارد </a:t>
            </a:r>
            <a:r>
              <a:rPr lang="en-US" altLang="en-US" sz="2400" dirty="0"/>
              <a:t>SQL</a:t>
            </a:r>
            <a:r>
              <a:rPr lang="fa-IR" altLang="en-US" sz="2400" dirty="0"/>
              <a:t> </a:t>
            </a:r>
            <a:r>
              <a:rPr lang="en-US" altLang="en-US" sz="2400" dirty="0"/>
              <a:t> </a:t>
            </a:r>
            <a:r>
              <a:rPr lang="fa-IR" altLang="en-US" sz="2400" dirty="0"/>
              <a:t>مشخص می‌کند که یک تراکنش به‌طور ضمنی </a:t>
            </a:r>
            <a:r>
              <a:rPr lang="en-US" altLang="en-US" sz="2400" dirty="0"/>
              <a:t>(implicitly) </a:t>
            </a:r>
            <a:r>
              <a:rPr lang="fa-IR" altLang="en-US" sz="2400" dirty="0"/>
              <a:t> هنگامی که یک دستور </a:t>
            </a:r>
            <a:r>
              <a:rPr lang="en-US" altLang="en-US" sz="2400" dirty="0"/>
              <a:t>SQL</a:t>
            </a:r>
            <a:r>
              <a:rPr lang="fa-IR" altLang="en-US" sz="2400" dirty="0"/>
              <a:t> </a:t>
            </a:r>
            <a:r>
              <a:rPr lang="en-US" altLang="en-US" sz="2400" dirty="0"/>
              <a:t> </a:t>
            </a:r>
            <a:r>
              <a:rPr lang="fa-IR" altLang="en-US" sz="2400" dirty="0"/>
              <a:t>اجرا می‌شود، آغاز می‌گردد.</a:t>
            </a:r>
            <a:endParaRPr lang="en-US" altLang="en-US" sz="2400" dirty="0"/>
          </a:p>
          <a:p>
            <a:pPr algn="r" rtl="1"/>
            <a:r>
              <a:rPr lang="fa-IR" sz="2400" dirty="0"/>
              <a:t>تراکنش باید با یکی از دستورات زیر خاتمه یابد:</a:t>
            </a:r>
            <a:endParaRPr lang="en-US" altLang="en-US" sz="2400" dirty="0"/>
          </a:p>
          <a:p>
            <a:pPr lvl="1" algn="r" rtl="1"/>
            <a:r>
              <a:rPr lang="en-US" altLang="en-US" b="1" dirty="0">
                <a:solidFill>
                  <a:srgbClr val="002060"/>
                </a:solidFill>
              </a:rPr>
              <a:t>COMMIT WORK </a:t>
            </a:r>
            <a:r>
              <a:rPr lang="fa-IR" altLang="en-US" sz="2400" b="1" dirty="0">
                <a:solidFill>
                  <a:srgbClr val="002060"/>
                </a:solidFill>
              </a:rPr>
              <a:t>: </a:t>
            </a:r>
            <a:r>
              <a:rPr lang="fa-IR" altLang="en-US" sz="2400" dirty="0"/>
              <a:t>به‌روزرسانی‌های انجام شده توسط تراکنش در پایگاه داده دائمی می‌شوند.</a:t>
            </a:r>
            <a:endParaRPr lang="en-US" altLang="en-US" sz="2400" dirty="0"/>
          </a:p>
          <a:p>
            <a:pPr lvl="1" algn="r" rtl="1"/>
            <a:r>
              <a:rPr lang="en-US" altLang="en-US" b="1" dirty="0">
                <a:solidFill>
                  <a:srgbClr val="002060"/>
                </a:solidFill>
              </a:rPr>
              <a:t>ROLLBACK WORK: </a:t>
            </a:r>
            <a:r>
              <a:rPr lang="fa-IR" altLang="en-US" sz="2400" b="1" dirty="0">
                <a:solidFill>
                  <a:srgbClr val="002060"/>
                </a:solidFill>
              </a:rPr>
              <a:t>: </a:t>
            </a:r>
            <a:r>
              <a:rPr lang="fa-IR" altLang="en-US" sz="2400" dirty="0"/>
              <a:t>تمام به‌روزرسانی‌های انجام شده توسط دستورات </a:t>
            </a:r>
            <a:r>
              <a:rPr lang="en-US" altLang="en-US" sz="2400" dirty="0"/>
              <a:t>SQL</a:t>
            </a:r>
            <a:r>
              <a:rPr lang="fa-IR" altLang="en-US" sz="2400" dirty="0"/>
              <a:t> </a:t>
            </a:r>
            <a:r>
              <a:rPr lang="en-US" altLang="en-US" sz="2400" dirty="0"/>
              <a:t> </a:t>
            </a:r>
            <a:r>
              <a:rPr lang="fa-IR" altLang="en-US" sz="2400" dirty="0"/>
              <a:t>در تراکنش، خنثی </a:t>
            </a:r>
            <a:r>
              <a:rPr lang="en-US" altLang="en-US" sz="2400" dirty="0"/>
              <a:t> (undone) </a:t>
            </a:r>
            <a:r>
              <a:rPr lang="fa-IR" altLang="en-US" sz="2400" dirty="0"/>
              <a:t>می‌شوند.</a:t>
            </a:r>
          </a:p>
          <a:p>
            <a:pPr algn="r" rtl="1"/>
            <a:r>
              <a:rPr lang="fa-IR" altLang="en-US" sz="2400" dirty="0"/>
              <a:t>تراکنش</a:t>
            </a:r>
            <a:r>
              <a:rPr lang="en-US" altLang="en-US" sz="2400" dirty="0">
                <a:solidFill>
                  <a:srgbClr val="002060"/>
                </a:solidFill>
              </a:rPr>
              <a:t>Atomic</a:t>
            </a:r>
            <a:r>
              <a:rPr lang="en-US" altLang="en-US" sz="2400" dirty="0"/>
              <a:t> </a:t>
            </a:r>
            <a:r>
              <a:rPr lang="fa-IR" altLang="en-US" sz="2400" dirty="0"/>
              <a:t> :</a:t>
            </a:r>
            <a:endParaRPr lang="en-US" altLang="en-US" sz="2400" dirty="0"/>
          </a:p>
          <a:p>
            <a:pPr lvl="1" algn="r" rtl="1"/>
            <a:r>
              <a:rPr lang="fa-IR" altLang="en-US" sz="2400" dirty="0"/>
              <a:t>یا به‌طور کامل اجرا می‌شود یا به‌گونه‌ای بازگردانی می‌شود که گویی هرگز رخ نداده است.</a:t>
            </a:r>
            <a:endParaRPr lang="en-US" altLang="en-US" sz="2400" dirty="0"/>
          </a:p>
          <a:p>
            <a:pPr lvl="1" algn="r" rtl="1"/>
            <a:r>
              <a:rPr lang="fa-IR" altLang="en-US" sz="2400" dirty="0"/>
              <a:t>جداسازی </a:t>
            </a:r>
            <a:r>
              <a:rPr lang="en-US" altLang="en-US" sz="2400" dirty="0"/>
              <a:t> (Isolation) </a:t>
            </a:r>
            <a:r>
              <a:rPr lang="fa-IR" altLang="en-US" sz="2400" dirty="0"/>
              <a:t>از تراکنش‌های هم‌زمان</a:t>
            </a:r>
            <a:endParaRPr lang="en-US" alt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258" name="Rectangle 2"/>
          <p:cNvSpPr>
            <a:spLocks noGrp="1" noChangeArrowheads="1"/>
          </p:cNvSpPr>
          <p:nvPr>
            <p:ph type="title"/>
          </p:nvPr>
        </p:nvSpPr>
        <p:spPr/>
        <p:txBody>
          <a:bodyPr/>
          <a:lstStyle/>
          <a:p>
            <a:pPr>
              <a:defRPr/>
            </a:pPr>
            <a:r>
              <a:rPr lang="fa-IR" dirty="0"/>
              <a:t>قیود(محدودیت‌های) یکپارچگی</a:t>
            </a:r>
            <a:endParaRPr lang="en-US" sz="2800" dirty="0">
              <a:ea typeface="+mj-ea"/>
            </a:endParaRPr>
          </a:p>
        </p:txBody>
      </p:sp>
      <p:sp>
        <p:nvSpPr>
          <p:cNvPr id="56323" name="Rectangle 3"/>
          <p:cNvSpPr>
            <a:spLocks noGrp="1" noChangeArrowheads="1"/>
          </p:cNvSpPr>
          <p:nvPr>
            <p:ph idx="1"/>
          </p:nvPr>
        </p:nvSpPr>
        <p:spPr>
          <a:xfrm>
            <a:off x="768350" y="1135063"/>
            <a:ext cx="7505638" cy="4302569"/>
          </a:xfrm>
        </p:spPr>
        <p:txBody>
          <a:bodyPr/>
          <a:lstStyle/>
          <a:p>
            <a:pPr algn="r" rtl="1">
              <a:lnSpc>
                <a:spcPct val="150000"/>
              </a:lnSpc>
            </a:pPr>
            <a:r>
              <a:rPr lang="fa-IR" altLang="en-US" sz="2400" dirty="0"/>
              <a:t>قیود یکپارچگی با تضمین این‌که تغییرات مجاز در پایگاه داده منجر به از دست رفتن سازگاری داده‌ها نشود، در برابر آسیب‌های تصادفی از پایگاه داده محافظت می‌کنند.</a:t>
            </a:r>
            <a:endParaRPr lang="en-US" altLang="en-US" sz="2400" dirty="0"/>
          </a:p>
          <a:p>
            <a:pPr lvl="1" algn="r" rtl="1">
              <a:lnSpc>
                <a:spcPct val="150000"/>
              </a:lnSpc>
            </a:pPr>
            <a:r>
              <a:rPr lang="fa-IR" altLang="en-US" sz="2400" dirty="0"/>
              <a:t>موجودی یک حساب جاری باید بیشتر از 10,000.00 دلار باشد.</a:t>
            </a:r>
            <a:endParaRPr lang="en-US" altLang="en-US" sz="2400" dirty="0"/>
          </a:p>
          <a:p>
            <a:pPr lvl="1" algn="r" rtl="1">
              <a:lnSpc>
                <a:spcPct val="150000"/>
              </a:lnSpc>
            </a:pPr>
            <a:r>
              <a:rPr lang="fa-IR" altLang="en-US" sz="2400" dirty="0"/>
              <a:t>حقوق یک کارمند بانک باید حداقل 4.00 دلار در ساعت باشد.</a:t>
            </a:r>
          </a:p>
          <a:p>
            <a:pPr lvl="1" algn="r" rtl="1">
              <a:lnSpc>
                <a:spcPct val="150000"/>
              </a:lnSpc>
            </a:pPr>
            <a:r>
              <a:rPr lang="fa-IR" altLang="en-US" sz="2400" dirty="0"/>
              <a:t>یک مشتری باید دارای شماره تلفن (غیر</a:t>
            </a:r>
            <a:r>
              <a:rPr lang="en-US" altLang="en-US" sz="2400" dirty="0"/>
              <a:t>null </a:t>
            </a:r>
            <a:r>
              <a:rPr lang="fa-IR" altLang="en-US" sz="2400" dirty="0"/>
              <a:t>) باشد.</a:t>
            </a:r>
            <a:endParaRPr lang="en-US" altLang="en-US" sz="2400" dirty="0"/>
          </a:p>
          <a:p>
            <a:pPr algn="r" rtl="1">
              <a:lnSpc>
                <a:spcPct val="150000"/>
              </a:lnSpc>
            </a:pPr>
            <a:endParaRPr lang="en-US" alt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306" name="Rectangle 2"/>
          <p:cNvSpPr>
            <a:spLocks noGrp="1" noChangeArrowheads="1"/>
          </p:cNvSpPr>
          <p:nvPr>
            <p:ph type="title"/>
          </p:nvPr>
        </p:nvSpPr>
        <p:spPr>
          <a:xfrm>
            <a:off x="738188" y="109538"/>
            <a:ext cx="8077200" cy="609600"/>
          </a:xfrm>
        </p:spPr>
        <p:txBody>
          <a:bodyPr/>
          <a:lstStyle/>
          <a:p>
            <a:r>
              <a:rPr lang="fa-IR" altLang="en-US" dirty="0">
                <a:effectLst>
                  <a:outerShdw blurRad="38100" dist="38100" dir="2700000" algn="tl">
                    <a:srgbClr val="C0C0C0"/>
                  </a:outerShdw>
                </a:effectLst>
              </a:rPr>
              <a:t>قیود بر روی یک رابطه</a:t>
            </a:r>
            <a:endParaRPr lang="en-US" altLang="en-US" dirty="0">
              <a:effectLst>
                <a:outerShdw blurRad="38100" dist="38100" dir="2700000" algn="tl">
                  <a:srgbClr val="C0C0C0"/>
                </a:outerShdw>
              </a:effectLst>
            </a:endParaRPr>
          </a:p>
        </p:txBody>
      </p:sp>
      <p:sp>
        <p:nvSpPr>
          <p:cNvPr id="58371" name="Rectangle 3"/>
          <p:cNvSpPr>
            <a:spLocks noGrp="1" noChangeArrowheads="1"/>
          </p:cNvSpPr>
          <p:nvPr>
            <p:ph idx="1"/>
          </p:nvPr>
        </p:nvSpPr>
        <p:spPr>
          <a:xfrm>
            <a:off x="804863" y="1177925"/>
            <a:ext cx="7136765" cy="2640013"/>
          </a:xfrm>
        </p:spPr>
        <p:txBody>
          <a:bodyPr/>
          <a:lstStyle/>
          <a:p>
            <a:r>
              <a:rPr lang="en-US" altLang="en-US" sz="2800" b="1" dirty="0"/>
              <a:t>not null</a:t>
            </a:r>
          </a:p>
          <a:p>
            <a:r>
              <a:rPr lang="en-US" altLang="en-US" sz="2800" b="1" dirty="0"/>
              <a:t>primary key</a:t>
            </a:r>
          </a:p>
          <a:p>
            <a:r>
              <a:rPr lang="en-US" altLang="en-US" sz="2800" b="1" dirty="0"/>
              <a:t>unique</a:t>
            </a:r>
            <a:endParaRPr lang="en-US" altLang="en-US" sz="2800" dirty="0"/>
          </a:p>
          <a:p>
            <a:r>
              <a:rPr lang="en-US" altLang="en-US" sz="2800" b="1" dirty="0"/>
              <a:t>check </a:t>
            </a:r>
            <a:r>
              <a:rPr lang="en-US" altLang="en-US" sz="2800" dirty="0"/>
              <a:t>(P), where P is a predicate</a:t>
            </a:r>
          </a:p>
        </p:txBody>
      </p:sp>
      <p:sp>
        <p:nvSpPr>
          <p:cNvPr id="58372"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ChangeArrowheads="1"/>
          </p:cNvSpPr>
          <p:nvPr>
            <p:ph type="title"/>
          </p:nvPr>
        </p:nvSpPr>
        <p:spPr>
          <a:xfrm>
            <a:off x="786316" y="153909"/>
            <a:ext cx="8077200" cy="609600"/>
          </a:xfrm>
        </p:spPr>
        <p:txBody>
          <a:bodyPr/>
          <a:lstStyle/>
          <a:p>
            <a:pPr>
              <a:defRPr/>
            </a:pPr>
            <a:r>
              <a:rPr lang="en-US" sz="2800" dirty="0">
                <a:ea typeface="+mj-ea"/>
              </a:rPr>
              <a:t>Not Null </a:t>
            </a:r>
            <a:r>
              <a:rPr lang="fa-IR" dirty="0">
                <a:ea typeface="+mj-ea"/>
              </a:rPr>
              <a:t>قیود</a:t>
            </a:r>
            <a:r>
              <a:rPr lang="en-US" sz="2800" dirty="0">
                <a:ea typeface="+mj-ea"/>
              </a:rPr>
              <a:t> </a:t>
            </a:r>
          </a:p>
        </p:txBody>
      </p:sp>
      <p:sp>
        <p:nvSpPr>
          <p:cNvPr id="60419" name="Rectangle 3"/>
          <p:cNvSpPr>
            <a:spLocks noGrp="1" noChangeArrowheads="1"/>
          </p:cNvSpPr>
          <p:nvPr>
            <p:ph idx="1"/>
          </p:nvPr>
        </p:nvSpPr>
        <p:spPr>
          <a:xfrm>
            <a:off x="804863" y="1135063"/>
            <a:ext cx="7144321" cy="2656649"/>
          </a:xfrm>
        </p:spPr>
        <p:txBody>
          <a:bodyPr/>
          <a:lstStyle/>
          <a:p>
            <a:pPr algn="r" rtl="1"/>
            <a:r>
              <a:rPr kumimoji="0" lang="en-US" altLang="en-US" sz="2800" b="1" dirty="0"/>
              <a:t>not null</a:t>
            </a:r>
          </a:p>
          <a:p>
            <a:pPr lvl="1" algn="r" rtl="1"/>
            <a:r>
              <a:rPr kumimoji="0" lang="fa-IR" altLang="en-US" sz="2800" dirty="0"/>
              <a:t>مشخص‌کردن نام و بودجه به صورت </a:t>
            </a:r>
            <a:r>
              <a:rPr kumimoji="0" lang="en-US" altLang="en-US" sz="2800" dirty="0"/>
              <a:t>not null</a:t>
            </a:r>
            <a:endParaRPr kumimoji="0" lang="fa-IR" altLang="en-US" sz="2800" dirty="0"/>
          </a:p>
          <a:p>
            <a:pPr lvl="1" algn="r" rtl="1"/>
            <a:endParaRPr kumimoji="0" lang="fa-IR" altLang="en-US" sz="2800" dirty="0"/>
          </a:p>
          <a:p>
            <a:pPr marL="457200" lvl="1" indent="0" algn="l">
              <a:buNone/>
            </a:pPr>
            <a:r>
              <a:rPr kumimoji="0" lang="en-US" altLang="en-US" sz="2800" i="1" dirty="0"/>
              <a:t>name </a:t>
            </a:r>
            <a:r>
              <a:rPr kumimoji="0" lang="en-US" altLang="en-US" sz="2800" b="1" dirty="0"/>
              <a:t>varchar</a:t>
            </a:r>
            <a:r>
              <a:rPr kumimoji="0" lang="en-US" altLang="en-US" sz="2800" dirty="0"/>
              <a:t>(20) </a:t>
            </a:r>
            <a:r>
              <a:rPr kumimoji="0" lang="en-US" altLang="en-US" sz="2800" b="1" dirty="0"/>
              <a:t>not null</a:t>
            </a:r>
            <a:br>
              <a:rPr kumimoji="0" lang="en-US" altLang="en-US" sz="2800" b="1" dirty="0"/>
            </a:br>
            <a:r>
              <a:rPr kumimoji="0" lang="en-US" altLang="en-US" sz="2800" i="1" dirty="0"/>
              <a:t>budget </a:t>
            </a:r>
            <a:r>
              <a:rPr kumimoji="0" lang="en-US" altLang="en-US" sz="2800" b="1" dirty="0"/>
              <a:t>numeric</a:t>
            </a:r>
            <a:r>
              <a:rPr kumimoji="0" lang="en-US" altLang="en-US" sz="2800" dirty="0"/>
              <a:t>(12,2) </a:t>
            </a:r>
            <a:r>
              <a:rPr kumimoji="0" lang="en-US" altLang="en-US" sz="2800" b="1" dirty="0"/>
              <a:t>not null</a:t>
            </a:r>
          </a:p>
          <a:p>
            <a:endParaRPr kumimoji="0" lang="en-US" altLang="en-US" sz="2800" dirty="0"/>
          </a:p>
          <a:p>
            <a:endParaRPr lang="en-US" altLang="en-US" sz="3600" b="1" dirty="0"/>
          </a:p>
          <a:p>
            <a:pPr>
              <a:buFont typeface="Monotype Sorts" charset="2"/>
              <a:buNone/>
            </a:pPr>
            <a:endParaRPr lang="en-US" altLang="en-US" sz="3600" dirty="0"/>
          </a:p>
        </p:txBody>
      </p:sp>
      <p:sp>
        <p:nvSpPr>
          <p:cNvPr id="60420"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ChangeArrowheads="1"/>
          </p:cNvSpPr>
          <p:nvPr>
            <p:ph type="title"/>
          </p:nvPr>
        </p:nvSpPr>
        <p:spPr>
          <a:xfrm>
            <a:off x="738188" y="129845"/>
            <a:ext cx="8077200" cy="609600"/>
          </a:xfrm>
        </p:spPr>
        <p:txBody>
          <a:bodyPr/>
          <a:lstStyle/>
          <a:p>
            <a:pPr>
              <a:defRPr/>
            </a:pPr>
            <a:r>
              <a:rPr lang="en-US" sz="2800" dirty="0">
                <a:ea typeface="+mj-ea"/>
              </a:rPr>
              <a:t>Unique </a:t>
            </a:r>
            <a:r>
              <a:rPr lang="fa-IR" dirty="0">
                <a:ea typeface="+mj-ea"/>
              </a:rPr>
              <a:t>قیود</a:t>
            </a:r>
            <a:r>
              <a:rPr lang="en-US" sz="2800" dirty="0">
                <a:ea typeface="+mj-ea"/>
              </a:rPr>
              <a:t> </a:t>
            </a:r>
          </a:p>
        </p:txBody>
      </p:sp>
      <p:sp>
        <p:nvSpPr>
          <p:cNvPr id="60419" name="Rectangle 3"/>
          <p:cNvSpPr>
            <a:spLocks noGrp="1" noChangeArrowheads="1"/>
          </p:cNvSpPr>
          <p:nvPr>
            <p:ph idx="1"/>
          </p:nvPr>
        </p:nvSpPr>
        <p:spPr>
          <a:xfrm>
            <a:off x="804863" y="1135063"/>
            <a:ext cx="7044690" cy="2583497"/>
          </a:xfrm>
        </p:spPr>
        <p:txBody>
          <a:bodyPr/>
          <a:lstStyle/>
          <a:p>
            <a:r>
              <a:rPr lang="en-US" altLang="en-US" sz="2400" b="1" dirty="0"/>
              <a:t>unique</a:t>
            </a:r>
            <a:r>
              <a:rPr kumimoji="0" lang="en-US" altLang="en-US" sz="2400" dirty="0"/>
              <a:t> ( </a:t>
            </a:r>
            <a:r>
              <a:rPr kumimoji="0" lang="en-US" altLang="en-US" sz="2400" i="1" dirty="0"/>
              <a:t>A</a:t>
            </a:r>
            <a:r>
              <a:rPr kumimoji="0" lang="en-US" altLang="en-US" sz="2400" baseline="-25000" dirty="0"/>
              <a:t>1</a:t>
            </a:r>
            <a:r>
              <a:rPr kumimoji="0" lang="en-US" altLang="en-US" sz="2400" dirty="0"/>
              <a:t>, </a:t>
            </a:r>
            <a:r>
              <a:rPr kumimoji="0" lang="en-US" altLang="en-US" sz="2400" i="1" dirty="0"/>
              <a:t>A</a:t>
            </a:r>
            <a:r>
              <a:rPr kumimoji="0" lang="en-US" altLang="en-US" sz="2400" baseline="-25000" dirty="0"/>
              <a:t>2</a:t>
            </a:r>
            <a:r>
              <a:rPr kumimoji="0" lang="en-US" altLang="en-US" sz="2400" dirty="0"/>
              <a:t>, …, </a:t>
            </a:r>
            <a:r>
              <a:rPr kumimoji="0" lang="en-US" altLang="en-US" sz="2400" i="1" dirty="0"/>
              <a:t>A</a:t>
            </a:r>
            <a:r>
              <a:rPr kumimoji="0" lang="en-US" altLang="en-US" sz="2400" baseline="-25000" dirty="0"/>
              <a:t>m</a:t>
            </a:r>
            <a:r>
              <a:rPr kumimoji="0" lang="en-US" altLang="en-US" sz="2400" dirty="0"/>
              <a:t>)</a:t>
            </a:r>
          </a:p>
          <a:p>
            <a:pPr lvl="1" algn="r" rtl="1">
              <a:lnSpc>
                <a:spcPct val="150000"/>
              </a:lnSpc>
            </a:pPr>
            <a:r>
              <a:rPr kumimoji="0" lang="fa-IR" altLang="en-US" dirty="0"/>
              <a:t>مشخصه </a:t>
            </a:r>
            <a:r>
              <a:rPr kumimoji="0" lang="en-US" altLang="en-US" dirty="0"/>
              <a:t>UNIQUE</a:t>
            </a:r>
            <a:r>
              <a:rPr kumimoji="0" lang="fa-IR" altLang="en-US" dirty="0"/>
              <a:t> </a:t>
            </a:r>
            <a:r>
              <a:rPr kumimoji="0" lang="en-US" altLang="en-US" dirty="0"/>
              <a:t> </a:t>
            </a:r>
            <a:r>
              <a:rPr kumimoji="0" lang="fa-IR" altLang="en-US" dirty="0"/>
              <a:t>بیان می‌کند که صفات </a:t>
            </a:r>
            <a:r>
              <a:rPr kumimoji="0" lang="en-US" altLang="en-US" dirty="0"/>
              <a:t>A1​,A2​,…,Am​ </a:t>
            </a:r>
            <a:r>
              <a:rPr kumimoji="0" lang="fa-IR" altLang="en-US" dirty="0"/>
              <a:t>یک کلید کاندید </a:t>
            </a:r>
            <a:r>
              <a:rPr kumimoji="0" lang="en-US" altLang="en-US" dirty="0"/>
              <a:t> (Candidate Key) </a:t>
            </a:r>
            <a:r>
              <a:rPr kumimoji="0" lang="fa-IR" altLang="en-US" dirty="0"/>
              <a:t>را تشکیل می‌دهند.</a:t>
            </a:r>
          </a:p>
          <a:p>
            <a:pPr lvl="1" algn="r" rtl="1">
              <a:lnSpc>
                <a:spcPct val="150000"/>
              </a:lnSpc>
            </a:pPr>
            <a:r>
              <a:rPr kumimoji="0" lang="fa-IR" altLang="en-US" dirty="0"/>
              <a:t>کلیدهای کاندید (برخلاف کلیدهای اصلی) مجاز به </a:t>
            </a:r>
            <a:r>
              <a:rPr kumimoji="0" lang="en-US" altLang="en-US" dirty="0"/>
              <a:t>null</a:t>
            </a:r>
            <a:r>
              <a:rPr kumimoji="0" lang="fa-IR" altLang="en-US" dirty="0"/>
              <a:t> بودن هستند.</a:t>
            </a:r>
            <a:endParaRPr kumimoji="0" lang="en-US" altLang="en-US" dirty="0"/>
          </a:p>
          <a:p>
            <a:endParaRPr lang="en-US" altLang="en-US" sz="3200" b="1" dirty="0"/>
          </a:p>
          <a:p>
            <a:pPr>
              <a:buFont typeface="Monotype Sorts" charset="2"/>
              <a:buNone/>
            </a:pPr>
            <a:endParaRPr lang="en-US" altLang="en-US" sz="3200" dirty="0"/>
          </a:p>
        </p:txBody>
      </p:sp>
      <p:sp>
        <p:nvSpPr>
          <p:cNvPr id="60420" name="Rectangle 4"/>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p:cNvSpPr>
            <a:spLocks noGrp="1" noChangeArrowheads="1"/>
          </p:cNvSpPr>
          <p:nvPr>
            <p:ph type="title"/>
          </p:nvPr>
        </p:nvSpPr>
        <p:spPr>
          <a:xfrm>
            <a:off x="738188" y="141877"/>
            <a:ext cx="8077200" cy="609600"/>
          </a:xfrm>
        </p:spPr>
        <p:txBody>
          <a:bodyPr/>
          <a:lstStyle/>
          <a:p>
            <a:pPr>
              <a:defRPr/>
            </a:pPr>
            <a:r>
              <a:rPr lang="en-US" sz="2800" dirty="0">
                <a:ea typeface="+mj-ea"/>
              </a:rPr>
              <a:t>check </a:t>
            </a:r>
            <a:r>
              <a:rPr lang="fa-IR" dirty="0">
                <a:ea typeface="+mj-ea"/>
              </a:rPr>
              <a:t>بند</a:t>
            </a:r>
            <a:endParaRPr lang="en-US" sz="2800" dirty="0">
              <a:ea typeface="+mj-ea"/>
            </a:endParaRPr>
          </a:p>
        </p:txBody>
      </p:sp>
      <p:sp>
        <p:nvSpPr>
          <p:cNvPr id="62467" name="Rectangle 3"/>
          <p:cNvSpPr>
            <a:spLocks noGrp="1" noChangeArrowheads="1"/>
          </p:cNvSpPr>
          <p:nvPr>
            <p:ph idx="1"/>
          </p:nvPr>
        </p:nvSpPr>
        <p:spPr>
          <a:xfrm>
            <a:off x="146957" y="1086358"/>
            <a:ext cx="8518071" cy="5238242"/>
          </a:xfrm>
        </p:spPr>
        <p:txBody>
          <a:bodyPr/>
          <a:lstStyle/>
          <a:p>
            <a:pPr algn="r" rtl="1"/>
            <a:r>
              <a:rPr lang="fa-IR" altLang="en-US" dirty="0"/>
              <a:t>بند </a:t>
            </a:r>
            <a:r>
              <a:rPr lang="en-US" altLang="en-US" dirty="0"/>
              <a:t>CHECK (P) </a:t>
            </a:r>
            <a:r>
              <a:rPr lang="fa-IR" altLang="en-US" dirty="0"/>
              <a:t>یک گزاره </a:t>
            </a:r>
            <a:r>
              <a:rPr lang="en-US" altLang="en-US" dirty="0"/>
              <a:t> P </a:t>
            </a:r>
            <a:r>
              <a:rPr lang="fa-IR" altLang="en-US" dirty="0"/>
              <a:t>را مشخص می‌کند که باید توسط هر </a:t>
            </a:r>
            <a:r>
              <a:rPr lang="fa-IR" altLang="en-US" b="1" dirty="0"/>
              <a:t>تاپل</a:t>
            </a:r>
            <a:r>
              <a:rPr lang="fa-IR" altLang="en-US" dirty="0"/>
              <a:t> در یک </a:t>
            </a:r>
            <a:r>
              <a:rPr lang="fa-IR" altLang="en-US" b="1" dirty="0"/>
              <a:t>رابطه برآورده شود.</a:t>
            </a:r>
            <a:endParaRPr lang="en-US" altLang="en-US" b="1" dirty="0"/>
          </a:p>
          <a:p>
            <a:pPr algn="r" rtl="1"/>
            <a:r>
              <a:rPr lang="fa-IR" altLang="en-US" dirty="0"/>
              <a:t>تضمین این‌که ترم </a:t>
            </a:r>
            <a:r>
              <a:rPr lang="en-US" altLang="en-US" dirty="0"/>
              <a:t> (semester) </a:t>
            </a:r>
            <a:r>
              <a:rPr lang="fa-IR" altLang="en-US" dirty="0"/>
              <a:t>یکی از مقادیر پاییز، زمستان، بهار یا تابستان باشد:</a:t>
            </a:r>
            <a:endParaRPr lang="en-US" altLang="en-US" dirty="0"/>
          </a:p>
          <a:p>
            <a:pPr>
              <a:spcBef>
                <a:spcPts val="0"/>
              </a:spcBef>
              <a:buNone/>
            </a:pPr>
            <a:r>
              <a:rPr lang="en-US" altLang="en-US" b="1" dirty="0"/>
              <a:t>     </a:t>
            </a:r>
          </a:p>
          <a:p>
            <a:pPr>
              <a:spcBef>
                <a:spcPts val="0"/>
              </a:spcBef>
              <a:buNone/>
            </a:pPr>
            <a:r>
              <a:rPr lang="en-US" altLang="en-US" b="1" dirty="0"/>
              <a:t>              create table </a:t>
            </a:r>
            <a:r>
              <a:rPr lang="en-US" altLang="en-US" i="1" dirty="0"/>
              <a:t>section </a:t>
            </a:r>
          </a:p>
          <a:p>
            <a:pPr>
              <a:spcBef>
                <a:spcPts val="0"/>
              </a:spcBef>
              <a:buNone/>
            </a:pPr>
            <a:r>
              <a:rPr lang="en-US" altLang="en-US" i="1" dirty="0"/>
              <a:t>                   </a:t>
            </a:r>
            <a:r>
              <a:rPr lang="en-US" altLang="en-US" dirty="0"/>
              <a:t>(</a:t>
            </a:r>
            <a:r>
              <a:rPr lang="en-US" altLang="en-US" i="1" dirty="0" err="1"/>
              <a:t>course_id</a:t>
            </a:r>
            <a:r>
              <a:rPr lang="en-US" altLang="en-US" i="1" dirty="0"/>
              <a:t> </a:t>
            </a:r>
            <a:r>
              <a:rPr lang="en-US" altLang="en-US" b="1" dirty="0"/>
              <a:t>varchar </a:t>
            </a:r>
            <a:r>
              <a:rPr lang="en-US" altLang="en-US" dirty="0"/>
              <a:t>(8),</a:t>
            </a:r>
          </a:p>
          <a:p>
            <a:pPr>
              <a:spcBef>
                <a:spcPts val="0"/>
              </a:spcBef>
              <a:buNone/>
            </a:pPr>
            <a:r>
              <a:rPr lang="en-US" altLang="en-US" i="1" dirty="0"/>
              <a:t>                    </a:t>
            </a:r>
            <a:r>
              <a:rPr lang="en-US" altLang="en-US" i="1" dirty="0" err="1"/>
              <a:t>sec_id</a:t>
            </a:r>
            <a:r>
              <a:rPr lang="en-US" altLang="en-US" i="1" dirty="0"/>
              <a:t> </a:t>
            </a:r>
            <a:r>
              <a:rPr lang="en-US" altLang="en-US" b="1" dirty="0"/>
              <a:t>varchar </a:t>
            </a:r>
            <a:r>
              <a:rPr lang="en-US" altLang="en-US" dirty="0"/>
              <a:t>(8),</a:t>
            </a:r>
          </a:p>
          <a:p>
            <a:pPr>
              <a:spcBef>
                <a:spcPts val="0"/>
              </a:spcBef>
              <a:buNone/>
            </a:pPr>
            <a:r>
              <a:rPr lang="en-US" altLang="en-US" i="1" dirty="0"/>
              <a:t>                    semester </a:t>
            </a:r>
            <a:r>
              <a:rPr lang="en-US" altLang="en-US" b="1" dirty="0"/>
              <a:t>varchar </a:t>
            </a:r>
            <a:r>
              <a:rPr lang="en-US" altLang="en-US" dirty="0"/>
              <a:t>(6),</a:t>
            </a:r>
          </a:p>
          <a:p>
            <a:pPr>
              <a:spcBef>
                <a:spcPts val="0"/>
              </a:spcBef>
              <a:buNone/>
            </a:pPr>
            <a:r>
              <a:rPr lang="en-US" altLang="en-US" i="1" dirty="0"/>
              <a:t>                    year </a:t>
            </a:r>
            <a:r>
              <a:rPr lang="en-US" altLang="en-US" b="1" dirty="0"/>
              <a:t>numeric </a:t>
            </a:r>
            <a:r>
              <a:rPr lang="en-US" altLang="en-US" dirty="0"/>
              <a:t>(4,0),</a:t>
            </a:r>
          </a:p>
          <a:p>
            <a:pPr>
              <a:spcBef>
                <a:spcPts val="0"/>
              </a:spcBef>
              <a:buNone/>
            </a:pPr>
            <a:r>
              <a:rPr lang="en-US" altLang="en-US" i="1" dirty="0"/>
              <a:t>                    building </a:t>
            </a:r>
            <a:r>
              <a:rPr lang="en-US" altLang="en-US" b="1" dirty="0"/>
              <a:t>varchar </a:t>
            </a:r>
            <a:r>
              <a:rPr lang="en-US" altLang="en-US" dirty="0"/>
              <a:t>(15),</a:t>
            </a:r>
          </a:p>
          <a:p>
            <a:pPr>
              <a:spcBef>
                <a:spcPts val="0"/>
              </a:spcBef>
              <a:buNone/>
            </a:pPr>
            <a:r>
              <a:rPr lang="en-US" altLang="en-US" i="1" dirty="0"/>
              <a:t>                    </a:t>
            </a:r>
            <a:r>
              <a:rPr lang="en-US" altLang="en-US" i="1" dirty="0" err="1"/>
              <a:t>room_number</a:t>
            </a:r>
            <a:r>
              <a:rPr lang="en-US" altLang="en-US" i="1" dirty="0"/>
              <a:t> </a:t>
            </a:r>
            <a:r>
              <a:rPr lang="en-US" altLang="en-US" b="1" dirty="0"/>
              <a:t>varchar </a:t>
            </a:r>
            <a:r>
              <a:rPr lang="en-US" altLang="en-US" dirty="0"/>
              <a:t>(7),</a:t>
            </a:r>
          </a:p>
          <a:p>
            <a:pPr>
              <a:spcBef>
                <a:spcPts val="0"/>
              </a:spcBef>
              <a:buNone/>
            </a:pPr>
            <a:r>
              <a:rPr lang="en-US" altLang="en-US" i="1" dirty="0"/>
              <a:t>                    time slot id </a:t>
            </a:r>
            <a:r>
              <a:rPr lang="en-US" altLang="en-US" b="1" dirty="0"/>
              <a:t>varchar </a:t>
            </a:r>
            <a:r>
              <a:rPr lang="en-US" altLang="en-US" dirty="0"/>
              <a:t>(4), </a:t>
            </a:r>
          </a:p>
          <a:p>
            <a:pPr>
              <a:spcBef>
                <a:spcPts val="0"/>
              </a:spcBef>
              <a:buNone/>
            </a:pPr>
            <a:r>
              <a:rPr lang="en-US" altLang="en-US" b="1" dirty="0"/>
              <a:t>                    primary key </a:t>
            </a:r>
            <a:r>
              <a:rPr lang="en-US" altLang="en-US" dirty="0"/>
              <a:t>(</a:t>
            </a:r>
            <a:r>
              <a:rPr lang="en-US" altLang="en-US" i="1" dirty="0" err="1"/>
              <a:t>course_id</a:t>
            </a:r>
            <a:r>
              <a:rPr lang="en-US" altLang="en-US" dirty="0"/>
              <a:t>, </a:t>
            </a:r>
            <a:r>
              <a:rPr lang="en-US" altLang="en-US" i="1" dirty="0" err="1"/>
              <a:t>sec_id</a:t>
            </a:r>
            <a:r>
              <a:rPr lang="en-US" altLang="en-US" dirty="0"/>
              <a:t>, </a:t>
            </a:r>
            <a:r>
              <a:rPr lang="en-US" altLang="en-US" i="1" dirty="0"/>
              <a:t>semester</a:t>
            </a:r>
            <a:r>
              <a:rPr lang="en-US" altLang="en-US" dirty="0"/>
              <a:t>, </a:t>
            </a:r>
            <a:r>
              <a:rPr lang="en-US" altLang="en-US" i="1" dirty="0"/>
              <a:t>year</a:t>
            </a:r>
            <a:r>
              <a:rPr lang="en-US" altLang="en-US" dirty="0"/>
              <a:t>),</a:t>
            </a:r>
          </a:p>
          <a:p>
            <a:pPr>
              <a:spcBef>
                <a:spcPts val="0"/>
              </a:spcBef>
              <a:buNone/>
            </a:pPr>
            <a:r>
              <a:rPr lang="en-US" altLang="en-US" b="1" dirty="0"/>
              <a:t>                    </a:t>
            </a:r>
            <a:r>
              <a:rPr lang="en-US" altLang="en-US" b="1" dirty="0">
                <a:solidFill>
                  <a:srgbClr val="002060"/>
                </a:solidFill>
              </a:rPr>
              <a:t>check</a:t>
            </a:r>
            <a:r>
              <a:rPr lang="en-US" altLang="en-US" b="1" dirty="0"/>
              <a:t> </a:t>
            </a:r>
            <a:r>
              <a:rPr lang="en-US" altLang="en-US" dirty="0"/>
              <a:t>(</a:t>
            </a:r>
            <a:r>
              <a:rPr lang="en-US" altLang="en-US" i="1" dirty="0"/>
              <a:t>semester </a:t>
            </a:r>
            <a:r>
              <a:rPr lang="en-US" altLang="en-US" b="1" dirty="0"/>
              <a:t>in </a:t>
            </a:r>
            <a:r>
              <a:rPr lang="en-US" altLang="en-US" dirty="0"/>
              <a:t>('Fall', 'Winter', 'Spring', 'Summer')))</a:t>
            </a:r>
          </a:p>
        </p:txBody>
      </p:sp>
      <p:sp>
        <p:nvSpPr>
          <p:cNvPr id="62469" name="Rectangle 5"/>
          <p:cNvSpPr>
            <a:spLocks noChangeArrowheads="1"/>
          </p:cNvSpPr>
          <p:nvPr/>
        </p:nvSpPr>
        <p:spPr bwMode="auto">
          <a:xfrm>
            <a:off x="804863" y="5229225"/>
            <a:ext cx="680085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1600">
                <a:solidFill>
                  <a:schemeClr val="tx1"/>
                </a:solidFill>
                <a:latin typeface="Helvetica" panose="020B0604020202020204" pitchFamily="34" charset="0"/>
                <a:ea typeface="MS PGothic" panose="020B0600070205080204" pitchFamily="34" charset="-128"/>
              </a:defRPr>
            </a:lvl1pPr>
            <a:lvl2pPr marL="37931725" indent="-37474525">
              <a:defRPr sz="1600">
                <a:solidFill>
                  <a:schemeClr val="tx1"/>
                </a:solidFill>
                <a:latin typeface="Helvetica" panose="020B0604020202020204" pitchFamily="34" charset="0"/>
                <a:ea typeface="MS PGothic" panose="020B0600070205080204" pitchFamily="34" charset="-128"/>
              </a:defRPr>
            </a:lvl2pPr>
            <a:lvl3pPr>
              <a:defRPr sz="1600">
                <a:solidFill>
                  <a:schemeClr val="tx1"/>
                </a:solidFill>
                <a:latin typeface="Helvetica" panose="020B0604020202020204" pitchFamily="34" charset="0"/>
                <a:ea typeface="MS PGothic" panose="020B0600070205080204" pitchFamily="34" charset="-128"/>
              </a:defRPr>
            </a:lvl3pPr>
            <a:lvl4pPr>
              <a:defRPr sz="1600">
                <a:solidFill>
                  <a:schemeClr val="tx1"/>
                </a:solidFill>
                <a:latin typeface="Helvetica" panose="020B0604020202020204" pitchFamily="34" charset="0"/>
                <a:ea typeface="MS PGothic" panose="020B0600070205080204" pitchFamily="34" charset="-128"/>
              </a:defRPr>
            </a:lvl4pPr>
            <a:lvl5pPr>
              <a:defRPr sz="1600">
                <a:solidFill>
                  <a:schemeClr val="tx1"/>
                </a:solidFill>
                <a:latin typeface="Helvetica" panose="020B0604020202020204" pitchFamily="34" charset="0"/>
                <a:ea typeface="MS PGothic" panose="020B0600070205080204" pitchFamily="34" charset="-128"/>
              </a:defRPr>
            </a:lvl5pPr>
            <a:lvl6pPr marL="4572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9144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1371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18288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spcBef>
                <a:spcPct val="35000"/>
              </a:spcBef>
              <a:buClr>
                <a:schemeClr val="tx2"/>
              </a:buClr>
              <a:buFont typeface="Monotype Sorts" charset="2"/>
              <a:buNone/>
            </a:pPr>
            <a:endParaRPr kumimoji="1" lang="en-US" altLang="en-US" sz="2000" b="1"/>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ChangeArrowheads="1"/>
          </p:cNvSpPr>
          <p:nvPr>
            <p:ph type="title"/>
          </p:nvPr>
        </p:nvSpPr>
        <p:spPr/>
        <p:txBody>
          <a:bodyPr/>
          <a:lstStyle/>
          <a:p>
            <a:pPr rtl="1">
              <a:defRPr/>
            </a:pPr>
            <a:r>
              <a:rPr lang="fa-IR" dirty="0"/>
              <a:t>جامعیت ارجاعی</a:t>
            </a:r>
            <a:r>
              <a:rPr lang="en-US" dirty="0"/>
              <a:t> (</a:t>
            </a:r>
            <a:r>
              <a:rPr lang="en-US" sz="2800" dirty="0">
                <a:ea typeface="+mj-ea"/>
              </a:rPr>
              <a:t>Referential Integrity)</a:t>
            </a:r>
          </a:p>
        </p:txBody>
      </p:sp>
      <p:sp>
        <p:nvSpPr>
          <p:cNvPr id="64515" name="Rectangle 3"/>
          <p:cNvSpPr>
            <a:spLocks noGrp="1" noChangeArrowheads="1"/>
          </p:cNvSpPr>
          <p:nvPr>
            <p:ph idx="1"/>
          </p:nvPr>
        </p:nvSpPr>
        <p:spPr>
          <a:xfrm>
            <a:off x="768350" y="1135063"/>
            <a:ext cx="7523394" cy="4943475"/>
          </a:xfrm>
        </p:spPr>
        <p:txBody>
          <a:bodyPr/>
          <a:lstStyle/>
          <a:p>
            <a:pPr algn="r" rtl="1">
              <a:lnSpc>
                <a:spcPct val="150000"/>
              </a:lnSpc>
            </a:pPr>
            <a:r>
              <a:rPr lang="fa-IR" b="1" dirty="0"/>
              <a:t>جامعیت ارجاعی</a:t>
            </a:r>
            <a:r>
              <a:rPr lang="fa-IR" dirty="0"/>
              <a:t> تضمین می‌کند که مقداری که برای یک مجموعه صفت مشخص در یک </a:t>
            </a:r>
            <a:r>
              <a:rPr lang="fa-IR" b="1" dirty="0"/>
              <a:t>رابطه</a:t>
            </a:r>
            <a:r>
              <a:rPr lang="fa-IR" dirty="0"/>
              <a:t> ظاهر می‌شود، برای مجموعه صفت مشخصی در </a:t>
            </a:r>
            <a:r>
              <a:rPr lang="fa-IR" b="1" dirty="0"/>
              <a:t>رابطه دیگر</a:t>
            </a:r>
            <a:r>
              <a:rPr lang="fa-IR" dirty="0"/>
              <a:t> نیز وجود داشته باشد.</a:t>
            </a:r>
            <a:endParaRPr lang="en-US" altLang="en-US" dirty="0"/>
          </a:p>
          <a:p>
            <a:pPr lvl="1" algn="r" rtl="1">
              <a:lnSpc>
                <a:spcPct val="150000"/>
              </a:lnSpc>
            </a:pPr>
            <a:r>
              <a:rPr lang="fa-IR" altLang="en-US" dirty="0"/>
              <a:t>مثال: اگر </a:t>
            </a:r>
            <a:r>
              <a:rPr lang="en-US" altLang="en-US" dirty="0"/>
              <a:t>Biology"</a:t>
            </a:r>
            <a:r>
              <a:rPr lang="fa-IR" altLang="en-US" dirty="0"/>
              <a:t>"</a:t>
            </a:r>
            <a:r>
              <a:rPr lang="en-US" altLang="en-US" dirty="0"/>
              <a:t> </a:t>
            </a:r>
            <a:r>
              <a:rPr lang="fa-IR" altLang="en-US" dirty="0"/>
              <a:t>نام دپارتمانی باشد که در یکی از تاپل‌های رابطه </a:t>
            </a:r>
            <a:r>
              <a:rPr lang="en-US" altLang="en-US" dirty="0"/>
              <a:t>instructor</a:t>
            </a:r>
            <a:r>
              <a:rPr lang="fa-IR" altLang="en-US" dirty="0"/>
              <a:t> </a:t>
            </a:r>
            <a:r>
              <a:rPr lang="en-US" altLang="en-US" dirty="0"/>
              <a:t> </a:t>
            </a:r>
            <a:r>
              <a:rPr lang="fa-IR" altLang="en-US" dirty="0"/>
              <a:t>ظاهر می‌شود، آنگاه باید یک تاپل برای </a:t>
            </a:r>
            <a:r>
              <a:rPr lang="en-US" altLang="en-US" dirty="0"/>
              <a:t>Biology"</a:t>
            </a:r>
            <a:r>
              <a:rPr lang="fa-IR" altLang="en-US" dirty="0"/>
              <a:t>"</a:t>
            </a:r>
            <a:r>
              <a:rPr lang="en-US" altLang="en-US" dirty="0"/>
              <a:t> </a:t>
            </a:r>
            <a:r>
              <a:rPr lang="fa-IR" altLang="en-US" dirty="0"/>
              <a:t>در رابطه </a:t>
            </a:r>
            <a:r>
              <a:rPr lang="en-US" altLang="en-US" dirty="0"/>
              <a:t>department</a:t>
            </a:r>
            <a:r>
              <a:rPr lang="fa-IR" altLang="en-US" dirty="0"/>
              <a:t> </a:t>
            </a:r>
            <a:r>
              <a:rPr lang="en-US" altLang="en-US" dirty="0"/>
              <a:t> </a:t>
            </a:r>
            <a:r>
              <a:rPr lang="fa-IR" altLang="en-US" dirty="0"/>
              <a:t>نیز وجود داشته باشد.</a:t>
            </a:r>
            <a:endParaRPr lang="en-US" altLang="en-US" dirty="0"/>
          </a:p>
          <a:p>
            <a:pPr algn="r" rtl="1">
              <a:lnSpc>
                <a:spcPct val="150000"/>
              </a:lnSpc>
            </a:pPr>
            <a:r>
              <a:rPr lang="fa-IR" altLang="en-US" b="1" dirty="0">
                <a:solidFill>
                  <a:srgbClr val="002060"/>
                </a:solidFill>
              </a:rPr>
              <a:t>کلید خارجی</a:t>
            </a:r>
            <a:r>
              <a:rPr lang="en-US" altLang="en-US" b="1" dirty="0">
                <a:solidFill>
                  <a:srgbClr val="002060"/>
                </a:solidFill>
              </a:rPr>
              <a:t>(Foreign Key)</a:t>
            </a:r>
            <a:r>
              <a:rPr lang="fa-IR" altLang="en-US" dirty="0"/>
              <a:t>: </a:t>
            </a:r>
            <a:r>
              <a:rPr lang="en-US" altLang="en-US" dirty="0"/>
              <a:t> </a:t>
            </a:r>
            <a:r>
              <a:rPr lang="fa-IR" altLang="en-US" dirty="0"/>
              <a:t>فرض کنید </a:t>
            </a:r>
            <a:r>
              <a:rPr lang="en-US" altLang="en-US" dirty="0"/>
              <a:t>A</a:t>
            </a:r>
            <a:r>
              <a:rPr lang="fa-IR" altLang="en-US" dirty="0"/>
              <a:t> </a:t>
            </a:r>
            <a:r>
              <a:rPr lang="en-US" altLang="en-US" dirty="0"/>
              <a:t> </a:t>
            </a:r>
            <a:r>
              <a:rPr lang="fa-IR" altLang="en-US" dirty="0"/>
              <a:t>مجموعه‌ای از صفات باشد. فرض کنید </a:t>
            </a:r>
            <a:r>
              <a:rPr lang="en-US" altLang="en-US" dirty="0"/>
              <a:t>R</a:t>
            </a:r>
            <a:r>
              <a:rPr lang="fa-IR" altLang="en-US" dirty="0"/>
              <a:t> </a:t>
            </a:r>
            <a:r>
              <a:rPr lang="en-US" altLang="en-US" dirty="0"/>
              <a:t> </a:t>
            </a:r>
            <a:r>
              <a:rPr lang="fa-IR" altLang="en-US" dirty="0"/>
              <a:t>و </a:t>
            </a:r>
            <a:r>
              <a:rPr lang="en-US" altLang="en-US" dirty="0"/>
              <a:t>S</a:t>
            </a:r>
            <a:r>
              <a:rPr lang="fa-IR" altLang="en-US" dirty="0"/>
              <a:t> </a:t>
            </a:r>
            <a:r>
              <a:rPr lang="en-US" altLang="en-US" dirty="0"/>
              <a:t> </a:t>
            </a:r>
            <a:r>
              <a:rPr lang="fa-IR" altLang="en-US" dirty="0"/>
              <a:t>دو رابطه‌ای باشند که صفات </a:t>
            </a:r>
            <a:r>
              <a:rPr lang="en-US" altLang="en-US" dirty="0"/>
              <a:t>A</a:t>
            </a:r>
            <a:r>
              <a:rPr lang="fa-IR" altLang="en-US" dirty="0"/>
              <a:t> </a:t>
            </a:r>
            <a:r>
              <a:rPr lang="en-US" altLang="en-US" dirty="0"/>
              <a:t> </a:t>
            </a:r>
            <a:r>
              <a:rPr lang="fa-IR" altLang="en-US" dirty="0"/>
              <a:t>را دربردارند و </a:t>
            </a:r>
            <a:r>
              <a:rPr lang="en-US" altLang="en-US" dirty="0"/>
              <a:t>A </a:t>
            </a:r>
            <a:r>
              <a:rPr lang="fa-IR" altLang="en-US" dirty="0"/>
              <a:t> کلید اصلی </a:t>
            </a:r>
            <a:r>
              <a:rPr lang="en-US" altLang="en-US" dirty="0"/>
              <a:t>S</a:t>
            </a:r>
            <a:r>
              <a:rPr lang="fa-IR" altLang="en-US" dirty="0"/>
              <a:t> </a:t>
            </a:r>
            <a:r>
              <a:rPr lang="en-US" altLang="en-US" dirty="0"/>
              <a:t> </a:t>
            </a:r>
            <a:r>
              <a:rPr lang="fa-IR" altLang="en-US" dirty="0"/>
              <a:t>باشد.</a:t>
            </a:r>
          </a:p>
          <a:p>
            <a:pPr lvl="1" algn="r" rtl="1">
              <a:lnSpc>
                <a:spcPct val="150000"/>
              </a:lnSpc>
            </a:pPr>
            <a:r>
              <a:rPr lang="fa-IR" altLang="en-US" dirty="0"/>
              <a:t>گفته می‌شود که </a:t>
            </a:r>
            <a:r>
              <a:rPr lang="en-US" altLang="en-US" dirty="0"/>
              <a:t>A</a:t>
            </a:r>
            <a:r>
              <a:rPr lang="fa-IR" altLang="en-US" dirty="0"/>
              <a:t> </a:t>
            </a:r>
            <a:r>
              <a:rPr lang="en-US" altLang="en-US" dirty="0"/>
              <a:t> </a:t>
            </a:r>
            <a:r>
              <a:rPr lang="fa-IR" altLang="en-US" dirty="0">
                <a:solidFill>
                  <a:srgbClr val="002060"/>
                </a:solidFill>
              </a:rPr>
              <a:t>کلید خارجی </a:t>
            </a:r>
            <a:r>
              <a:rPr lang="en-US" altLang="en-US" dirty="0"/>
              <a:t>R</a:t>
            </a:r>
            <a:r>
              <a:rPr lang="fa-IR" altLang="en-US" dirty="0"/>
              <a:t> </a:t>
            </a:r>
            <a:r>
              <a:rPr lang="en-US" altLang="en-US" dirty="0"/>
              <a:t> </a:t>
            </a:r>
            <a:r>
              <a:rPr lang="fa-IR" altLang="en-US" dirty="0"/>
              <a:t>است، اگر به ازای هر مقداری از </a:t>
            </a:r>
            <a:r>
              <a:rPr lang="en-US" altLang="en-US" dirty="0"/>
              <a:t>A</a:t>
            </a:r>
            <a:r>
              <a:rPr lang="fa-IR" altLang="en-US" dirty="0"/>
              <a:t> </a:t>
            </a:r>
            <a:r>
              <a:rPr lang="en-US" altLang="en-US" dirty="0"/>
              <a:t> </a:t>
            </a:r>
            <a:r>
              <a:rPr lang="fa-IR" altLang="en-US" dirty="0"/>
              <a:t>که در </a:t>
            </a:r>
            <a:r>
              <a:rPr lang="en-US" altLang="en-US" dirty="0"/>
              <a:t>R</a:t>
            </a:r>
            <a:r>
              <a:rPr lang="fa-IR" altLang="en-US" dirty="0"/>
              <a:t> </a:t>
            </a:r>
            <a:r>
              <a:rPr lang="en-US" altLang="en-US" dirty="0"/>
              <a:t> </a:t>
            </a:r>
            <a:r>
              <a:rPr lang="fa-IR" altLang="en-US" dirty="0"/>
              <a:t>ظاهر می‌شود، این مقادیر در </a:t>
            </a:r>
            <a:r>
              <a:rPr lang="en-US" altLang="en-US" dirty="0"/>
              <a:t>S</a:t>
            </a:r>
            <a:r>
              <a:rPr lang="fa-IR" altLang="en-US" dirty="0"/>
              <a:t> </a:t>
            </a:r>
            <a:r>
              <a:rPr lang="en-US" altLang="en-US" dirty="0"/>
              <a:t> </a:t>
            </a:r>
            <a:r>
              <a:rPr lang="fa-IR" altLang="en-US" dirty="0"/>
              <a:t>نیز ظاهر شوند.</a:t>
            </a:r>
            <a:endParaRPr lang="en-US" alt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546" name="Rectangle 2"/>
          <p:cNvSpPr>
            <a:spLocks noGrp="1" noChangeArrowheads="1"/>
          </p:cNvSpPr>
          <p:nvPr>
            <p:ph type="title"/>
          </p:nvPr>
        </p:nvSpPr>
        <p:spPr/>
        <p:txBody>
          <a:bodyPr/>
          <a:lstStyle/>
          <a:p>
            <a:pPr rtl="1">
              <a:defRPr/>
            </a:pPr>
            <a:r>
              <a:rPr lang="fa-IR" dirty="0"/>
              <a:t>جامعیت ارجاعی</a:t>
            </a:r>
            <a:r>
              <a:rPr lang="en-US" dirty="0"/>
              <a:t> (Referential Integrity)</a:t>
            </a:r>
            <a:endParaRPr lang="en-US" sz="2800" dirty="0">
              <a:ea typeface="+mj-ea"/>
            </a:endParaRPr>
          </a:p>
        </p:txBody>
      </p:sp>
      <p:sp>
        <p:nvSpPr>
          <p:cNvPr id="64515" name="Rectangle 3"/>
          <p:cNvSpPr>
            <a:spLocks noGrp="1" noChangeArrowheads="1"/>
          </p:cNvSpPr>
          <p:nvPr>
            <p:ph idx="1"/>
          </p:nvPr>
        </p:nvSpPr>
        <p:spPr>
          <a:xfrm>
            <a:off x="768351" y="1135063"/>
            <a:ext cx="7787820" cy="4607151"/>
          </a:xfrm>
        </p:spPr>
        <p:txBody>
          <a:bodyPr/>
          <a:lstStyle/>
          <a:p>
            <a:pPr algn="r" rtl="1"/>
            <a:r>
              <a:rPr lang="fa-IR" altLang="en-US" sz="2400" dirty="0"/>
              <a:t>کلیدهای خارجی می‌توانند به عنوان بخشی از دستور </a:t>
            </a:r>
            <a:r>
              <a:rPr lang="en-US" altLang="en-US" sz="2400" dirty="0"/>
              <a:t>CREATE TABLE</a:t>
            </a:r>
            <a:r>
              <a:rPr lang="fa-IR" altLang="en-US" sz="2400" dirty="0"/>
              <a:t> </a:t>
            </a:r>
            <a:r>
              <a:rPr lang="en-US" altLang="en-US" sz="2400" dirty="0"/>
              <a:t> </a:t>
            </a:r>
            <a:r>
              <a:rPr lang="fa-IR" altLang="en-US" sz="2400" dirty="0"/>
              <a:t>در </a:t>
            </a:r>
            <a:r>
              <a:rPr lang="en-US" altLang="en-US" sz="2400" dirty="0"/>
              <a:t>SQL</a:t>
            </a:r>
            <a:r>
              <a:rPr lang="fa-IR" altLang="en-US" sz="2400" dirty="0"/>
              <a:t> </a:t>
            </a:r>
            <a:r>
              <a:rPr lang="en-US" altLang="en-US" sz="2400" dirty="0"/>
              <a:t> </a:t>
            </a:r>
            <a:r>
              <a:rPr lang="fa-IR" altLang="en-US" sz="2400" dirty="0"/>
              <a:t>مشخص شوند</a:t>
            </a:r>
            <a:endParaRPr lang="en-US" altLang="en-US" sz="2400" dirty="0"/>
          </a:p>
          <a:p>
            <a:pPr>
              <a:buNone/>
            </a:pPr>
            <a:r>
              <a:rPr lang="en-US" altLang="en-US" sz="2400" b="1" dirty="0"/>
              <a:t>foreign key </a:t>
            </a:r>
            <a:r>
              <a:rPr lang="en-US" altLang="en-US" sz="2400" dirty="0"/>
              <a:t>(</a:t>
            </a:r>
            <a:r>
              <a:rPr lang="en-US" altLang="en-US" sz="2400" i="1" dirty="0"/>
              <a:t>dept_name</a:t>
            </a:r>
            <a:r>
              <a:rPr lang="en-US" altLang="en-US" sz="2400" dirty="0"/>
              <a:t>) </a:t>
            </a:r>
            <a:r>
              <a:rPr lang="en-US" altLang="en-US" sz="2400" b="1" dirty="0"/>
              <a:t>references </a:t>
            </a:r>
            <a:r>
              <a:rPr lang="en-US" altLang="en-US" sz="2400" i="1" dirty="0"/>
              <a:t>department</a:t>
            </a:r>
          </a:p>
          <a:p>
            <a:pPr algn="r" rtl="1"/>
            <a:r>
              <a:rPr lang="fa-IR" altLang="en-US" sz="2400" dirty="0"/>
              <a:t>به‌طور پیش‌فرض، یک کلید خارجی به صفات کلید اصلی رابطه مرجع، ارجاع می‌دهد.</a:t>
            </a:r>
          </a:p>
          <a:p>
            <a:pPr algn="r" rtl="1"/>
            <a:r>
              <a:rPr lang="en-US" altLang="en-US" sz="2400" dirty="0"/>
              <a:t> </a:t>
            </a:r>
            <a:r>
              <a:rPr lang="en-US" altLang="en-US" sz="2400" dirty="0" err="1"/>
              <a:t>sql</a:t>
            </a:r>
            <a:r>
              <a:rPr lang="fa-IR" altLang="en-US" sz="2400" dirty="0"/>
              <a:t>اجازه می‌دهد لیستی از صفات رابطه مرجع به‌طور صریح </a:t>
            </a:r>
            <a:r>
              <a:rPr lang="en-US" altLang="en-US" sz="2400" dirty="0"/>
              <a:t>(explicitly) </a:t>
            </a:r>
            <a:r>
              <a:rPr lang="fa-IR" altLang="en-US" sz="2400" dirty="0"/>
              <a:t>مشخص شود:</a:t>
            </a:r>
          </a:p>
          <a:p>
            <a:pPr marL="0" indent="0" rtl="1">
              <a:buNone/>
            </a:pPr>
            <a:r>
              <a:rPr lang="en-US" altLang="en-US" sz="2400" b="1" dirty="0"/>
              <a:t>foreign key </a:t>
            </a:r>
            <a:r>
              <a:rPr lang="en-US" altLang="en-US" sz="2400" dirty="0"/>
              <a:t>(</a:t>
            </a:r>
            <a:r>
              <a:rPr lang="en-US" altLang="en-US" sz="2400" i="1" dirty="0"/>
              <a:t>dept_name</a:t>
            </a:r>
            <a:r>
              <a:rPr lang="en-US" altLang="en-US" sz="2400" dirty="0"/>
              <a:t>) </a:t>
            </a:r>
            <a:r>
              <a:rPr lang="en-US" altLang="en-US" sz="2400" b="1" dirty="0"/>
              <a:t>references </a:t>
            </a:r>
            <a:r>
              <a:rPr lang="en-US" altLang="en-US" sz="2400" i="1" dirty="0"/>
              <a:t>department </a:t>
            </a:r>
            <a:r>
              <a:rPr lang="en-US" altLang="en-US" sz="2400" dirty="0"/>
              <a:t>(</a:t>
            </a:r>
            <a:r>
              <a:rPr lang="en-US" altLang="en-US" sz="2400" i="1" dirty="0"/>
              <a:t>dept_name</a:t>
            </a:r>
            <a:r>
              <a:rPr lang="en-US" altLang="en-US" sz="2400" dirty="0"/>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690" name="Rectangle 2"/>
          <p:cNvSpPr>
            <a:spLocks noGrp="1" noChangeArrowheads="1"/>
          </p:cNvSpPr>
          <p:nvPr>
            <p:ph type="title"/>
          </p:nvPr>
        </p:nvSpPr>
        <p:spPr>
          <a:xfrm>
            <a:off x="800100" y="228600"/>
            <a:ext cx="8539163" cy="427038"/>
          </a:xfrm>
        </p:spPr>
        <p:txBody>
          <a:bodyPr/>
          <a:lstStyle/>
          <a:p>
            <a:pPr rtl="1">
              <a:defRPr/>
            </a:pPr>
            <a:r>
              <a:rPr lang="fa-IR" dirty="0"/>
              <a:t>اقدامات آبشاری</a:t>
            </a:r>
            <a:r>
              <a:rPr lang="en-US" dirty="0"/>
              <a:t>(Cascading )</a:t>
            </a:r>
            <a:r>
              <a:rPr lang="fa-IR" dirty="0"/>
              <a:t>در جامعیت ارجاعی</a:t>
            </a:r>
            <a:endParaRPr lang="en-US" sz="2800" dirty="0">
              <a:ea typeface="+mj-ea"/>
            </a:endParaRPr>
          </a:p>
        </p:txBody>
      </p:sp>
      <p:sp>
        <p:nvSpPr>
          <p:cNvPr id="66563" name="Rectangle 3"/>
          <p:cNvSpPr>
            <a:spLocks noGrp="1" noChangeArrowheads="1"/>
          </p:cNvSpPr>
          <p:nvPr>
            <p:ph idx="1"/>
          </p:nvPr>
        </p:nvSpPr>
        <p:spPr>
          <a:xfrm>
            <a:off x="772359" y="1123279"/>
            <a:ext cx="7806431" cy="4447401"/>
          </a:xfrm>
        </p:spPr>
        <p:txBody>
          <a:bodyPr/>
          <a:lstStyle/>
          <a:p>
            <a:pPr algn="r" rtl="1">
              <a:tabLst>
                <a:tab pos="2173288" algn="l"/>
              </a:tabLst>
            </a:pPr>
            <a:r>
              <a:rPr lang="fa-IR" altLang="en-US" dirty="0"/>
              <a:t>هنگامی که یک قید جامعیت ارجاعی نقض می‌شود، روال معمول این است که عملی را که باعث نقض شده است، رد </a:t>
            </a:r>
            <a:r>
              <a:rPr lang="en-US" altLang="en-US" dirty="0"/>
              <a:t> (Reject) </a:t>
            </a:r>
            <a:r>
              <a:rPr lang="fa-IR" altLang="en-US" dirty="0"/>
              <a:t>کنیم.</a:t>
            </a:r>
            <a:endParaRPr lang="en-US" altLang="en-US" dirty="0"/>
          </a:p>
          <a:p>
            <a:pPr algn="r" rtl="1">
              <a:tabLst>
                <a:tab pos="2173288" algn="l"/>
              </a:tabLst>
            </a:pPr>
            <a:r>
              <a:rPr lang="fa-IR" altLang="en-US" dirty="0"/>
              <a:t>یک گزینه جایگزین، در مورد عملیات حذف </a:t>
            </a:r>
            <a:r>
              <a:rPr lang="en-US" altLang="en-US" dirty="0"/>
              <a:t> (Delete) </a:t>
            </a:r>
            <a:r>
              <a:rPr lang="fa-IR" altLang="en-US" dirty="0"/>
              <a:t>یا به‌روزرسانی </a:t>
            </a:r>
            <a:r>
              <a:rPr lang="en-US" altLang="en-US" dirty="0"/>
              <a:t> (Update)، </a:t>
            </a:r>
            <a:r>
              <a:rPr lang="fa-IR" altLang="en-US" dirty="0"/>
              <a:t>استفاده از </a:t>
            </a:r>
            <a:r>
              <a:rPr lang="en-US" altLang="en-US" dirty="0"/>
              <a:t>Cascade</a:t>
            </a:r>
            <a:r>
              <a:rPr lang="fa-IR" altLang="en-US" dirty="0"/>
              <a:t> </a:t>
            </a:r>
            <a:r>
              <a:rPr lang="en-US" altLang="en-US" dirty="0"/>
              <a:t> </a:t>
            </a:r>
            <a:r>
              <a:rPr lang="fa-IR" altLang="en-US" dirty="0"/>
              <a:t>است</a:t>
            </a:r>
            <a:endParaRPr lang="en-US" altLang="en-US" dirty="0"/>
          </a:p>
          <a:p>
            <a:pPr>
              <a:buNone/>
              <a:tabLst>
                <a:tab pos="2173288" algn="l"/>
              </a:tabLst>
            </a:pPr>
            <a:r>
              <a:rPr lang="en-US" altLang="en-US" b="1" dirty="0"/>
              <a:t>create table </a:t>
            </a:r>
            <a:r>
              <a:rPr lang="en-US" altLang="en-US" i="1" dirty="0"/>
              <a:t>course </a:t>
            </a:r>
            <a:r>
              <a:rPr lang="en-US" altLang="en-US" dirty="0"/>
              <a:t>(</a:t>
            </a:r>
            <a:br>
              <a:rPr lang="en-US" altLang="en-US" dirty="0"/>
            </a:br>
            <a:r>
              <a:rPr lang="en-US" altLang="en-US" dirty="0"/>
              <a:t> (…</a:t>
            </a:r>
            <a:br>
              <a:rPr lang="en-US" altLang="en-US" dirty="0"/>
            </a:br>
            <a:r>
              <a:rPr lang="en-US" altLang="en-US" dirty="0"/>
              <a:t>   </a:t>
            </a:r>
            <a:r>
              <a:rPr lang="en-US" altLang="en-US" i="1" dirty="0" err="1"/>
              <a:t>dept_name</a:t>
            </a:r>
            <a:r>
              <a:rPr lang="en-US" altLang="en-US" i="1" dirty="0"/>
              <a:t> </a:t>
            </a:r>
            <a:r>
              <a:rPr lang="en-US" altLang="en-US" b="1" dirty="0"/>
              <a:t>varchar</a:t>
            </a:r>
            <a:r>
              <a:rPr lang="en-US" altLang="en-US" dirty="0"/>
              <a:t>(20),</a:t>
            </a:r>
            <a:br>
              <a:rPr lang="en-US" altLang="en-US" dirty="0"/>
            </a:br>
            <a:r>
              <a:rPr lang="en-US" altLang="en-US" dirty="0"/>
              <a:t>   </a:t>
            </a:r>
            <a:r>
              <a:rPr lang="en-US" altLang="en-US" b="1" dirty="0"/>
              <a:t>foreign key </a:t>
            </a:r>
            <a:r>
              <a:rPr lang="en-US" altLang="en-US" dirty="0"/>
              <a:t>(</a:t>
            </a:r>
            <a:r>
              <a:rPr lang="en-US" altLang="en-US" i="1" dirty="0"/>
              <a:t>dept_name</a:t>
            </a:r>
            <a:r>
              <a:rPr lang="en-US" altLang="en-US" dirty="0"/>
              <a:t>) </a:t>
            </a:r>
            <a:r>
              <a:rPr lang="en-US" altLang="en-US" b="1" dirty="0"/>
              <a:t>references </a:t>
            </a:r>
            <a:r>
              <a:rPr lang="en-US" altLang="en-US" i="1" dirty="0"/>
              <a:t>department</a:t>
            </a:r>
            <a:br>
              <a:rPr lang="en-US" altLang="en-US" i="1" dirty="0"/>
            </a:br>
            <a:r>
              <a:rPr lang="en-US" altLang="en-US" i="1" dirty="0"/>
              <a:t>         </a:t>
            </a:r>
            <a:r>
              <a:rPr lang="en-US" altLang="en-US" b="1" dirty="0"/>
              <a:t>on delete cascade</a:t>
            </a:r>
            <a:br>
              <a:rPr lang="en-US" altLang="en-US" b="1" dirty="0"/>
            </a:br>
            <a:r>
              <a:rPr lang="en-US" altLang="en-US" b="1" dirty="0"/>
              <a:t>         on update cascade</a:t>
            </a:r>
            <a:r>
              <a:rPr lang="en-US" altLang="en-US" dirty="0"/>
              <a:t>,</a:t>
            </a:r>
            <a:br>
              <a:rPr lang="en-US" altLang="en-US" dirty="0"/>
            </a:br>
            <a:r>
              <a:rPr lang="en-US" altLang="en-US" dirty="0"/>
              <a:t>                . . .) </a:t>
            </a:r>
          </a:p>
          <a:p>
            <a:pPr algn="r" rtl="1">
              <a:tabLst>
                <a:tab pos="2173288" algn="l"/>
              </a:tabLst>
            </a:pPr>
            <a:r>
              <a:rPr lang="fa-IR" altLang="en-US" dirty="0"/>
              <a:t>به جای </a:t>
            </a:r>
            <a:r>
              <a:rPr lang="en-US" altLang="en-US" dirty="0"/>
              <a:t>Cascade</a:t>
            </a:r>
            <a:r>
              <a:rPr lang="fa-IR" altLang="en-US" dirty="0"/>
              <a:t> می‌توانیم از موارد زیر استفاده کنیم</a:t>
            </a:r>
            <a:endParaRPr lang="en-US" altLang="en-US" dirty="0"/>
          </a:p>
          <a:p>
            <a:pPr lvl="1">
              <a:tabLst>
                <a:tab pos="2173288" algn="l"/>
              </a:tabLst>
            </a:pPr>
            <a:r>
              <a:rPr lang="en-US" altLang="en-US" b="1" dirty="0"/>
              <a:t>set null</a:t>
            </a:r>
            <a:r>
              <a:rPr lang="en-US" altLang="en-US" dirty="0"/>
              <a:t>,</a:t>
            </a:r>
          </a:p>
          <a:p>
            <a:pPr lvl="1">
              <a:tabLst>
                <a:tab pos="2173288" algn="l"/>
              </a:tabLst>
            </a:pPr>
            <a:r>
              <a:rPr lang="en-US" altLang="en-US" b="1" dirty="0"/>
              <a:t>set default</a:t>
            </a:r>
            <a:endParaRPr lang="en-US" altLang="en-US" dirty="0"/>
          </a:p>
          <a:p>
            <a:pPr>
              <a:buFont typeface="Monotype Sorts" charset="2"/>
              <a:buNone/>
              <a:tabLst>
                <a:tab pos="2173288" algn="l"/>
              </a:tabLst>
            </a:pPr>
            <a:endParaRPr lang="en-US" altLang="en-US" sz="2800" i="1"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746" name="Rectangle 2"/>
          <p:cNvSpPr>
            <a:spLocks noGrp="1" noChangeArrowheads="1"/>
          </p:cNvSpPr>
          <p:nvPr>
            <p:ph type="title"/>
          </p:nvPr>
        </p:nvSpPr>
        <p:spPr>
          <a:xfrm>
            <a:off x="918666" y="148585"/>
            <a:ext cx="8077200" cy="609600"/>
          </a:xfrm>
        </p:spPr>
        <p:txBody>
          <a:bodyPr/>
          <a:lstStyle/>
          <a:p>
            <a:pPr rtl="1">
              <a:defRPr/>
            </a:pPr>
            <a:r>
              <a:rPr lang="fa-IR" sz="2400" dirty="0"/>
              <a:t>نقض قید یکپارچگی در طول تراکنش‌ها</a:t>
            </a:r>
            <a:endParaRPr lang="en-US" sz="2600" dirty="0">
              <a:ea typeface="+mj-ea"/>
            </a:endParaRPr>
          </a:p>
        </p:txBody>
      </p:sp>
      <p:sp>
        <p:nvSpPr>
          <p:cNvPr id="68611" name="Rectangle 3"/>
          <p:cNvSpPr>
            <a:spLocks noGrp="1" noChangeArrowheads="1"/>
          </p:cNvSpPr>
          <p:nvPr>
            <p:ph idx="1"/>
          </p:nvPr>
        </p:nvSpPr>
        <p:spPr>
          <a:xfrm>
            <a:off x="283030" y="1001486"/>
            <a:ext cx="8195976" cy="4972595"/>
          </a:xfrm>
        </p:spPr>
        <p:txBody>
          <a:bodyPr/>
          <a:lstStyle/>
          <a:p>
            <a:pPr algn="r" rtl="1"/>
            <a:r>
              <a:rPr lang="fa-IR" altLang="en-US" dirty="0"/>
              <a:t>در نظر بگیرید:</a:t>
            </a:r>
            <a:endParaRPr lang="en-US" altLang="en-US" dirty="0"/>
          </a:p>
          <a:p>
            <a:pPr lvl="1">
              <a:buFont typeface="Monotype Sorts" charset="2"/>
              <a:buNone/>
            </a:pPr>
            <a:r>
              <a:rPr lang="en-US" altLang="en-US" b="1" dirty="0"/>
              <a:t>      create table </a:t>
            </a:r>
            <a:r>
              <a:rPr lang="en-US" altLang="en-US" i="1" dirty="0"/>
              <a:t>person </a:t>
            </a:r>
            <a:r>
              <a:rPr lang="en-US" altLang="en-US" dirty="0"/>
              <a:t>(</a:t>
            </a:r>
            <a:br>
              <a:rPr lang="en-US" altLang="en-US" dirty="0"/>
            </a:br>
            <a:r>
              <a:rPr lang="en-US" altLang="en-US" dirty="0"/>
              <a:t>	     </a:t>
            </a:r>
            <a:r>
              <a:rPr lang="en-US" altLang="en-US" i="1" dirty="0"/>
              <a:t>ID</a:t>
            </a:r>
            <a:r>
              <a:rPr lang="en-US" altLang="en-US" dirty="0"/>
              <a:t>  </a:t>
            </a:r>
            <a:r>
              <a:rPr lang="en-US" altLang="en-US" b="1" dirty="0"/>
              <a:t>char</a:t>
            </a:r>
            <a:r>
              <a:rPr lang="en-US" altLang="en-US" dirty="0"/>
              <a:t>(10),</a:t>
            </a:r>
            <a:br>
              <a:rPr lang="en-US" altLang="en-US" dirty="0"/>
            </a:br>
            <a:r>
              <a:rPr lang="en-US" altLang="en-US" dirty="0"/>
              <a:t>        </a:t>
            </a:r>
            <a:r>
              <a:rPr lang="en-US" altLang="en-US" i="1" dirty="0"/>
              <a:t>name </a:t>
            </a:r>
            <a:r>
              <a:rPr lang="en-US" altLang="en-US" b="1" dirty="0"/>
              <a:t>char</a:t>
            </a:r>
            <a:r>
              <a:rPr lang="en-US" altLang="en-US" dirty="0"/>
              <a:t>(40),</a:t>
            </a:r>
            <a:br>
              <a:rPr lang="en-US" altLang="en-US" dirty="0"/>
            </a:br>
            <a:r>
              <a:rPr lang="en-US" altLang="en-US" dirty="0"/>
              <a:t>        </a:t>
            </a:r>
            <a:r>
              <a:rPr lang="en-US" altLang="en-US" i="1" dirty="0"/>
              <a:t>mother</a:t>
            </a:r>
            <a:r>
              <a:rPr lang="en-US" altLang="en-US" dirty="0"/>
              <a:t> </a:t>
            </a:r>
            <a:r>
              <a:rPr lang="en-US" altLang="en-US" b="1" dirty="0"/>
              <a:t>char</a:t>
            </a:r>
            <a:r>
              <a:rPr lang="en-US" altLang="en-US" dirty="0"/>
              <a:t>(10),</a:t>
            </a:r>
            <a:br>
              <a:rPr lang="en-US" altLang="en-US" dirty="0"/>
            </a:br>
            <a:r>
              <a:rPr lang="en-US" altLang="en-US" dirty="0"/>
              <a:t>        </a:t>
            </a:r>
            <a:r>
              <a:rPr lang="en-US" altLang="en-US" i="1" dirty="0"/>
              <a:t>father </a:t>
            </a:r>
            <a:r>
              <a:rPr lang="en-US" altLang="en-US" b="1" dirty="0"/>
              <a:t> char</a:t>
            </a:r>
            <a:r>
              <a:rPr lang="en-US" altLang="en-US" dirty="0"/>
              <a:t>(10),</a:t>
            </a:r>
            <a:br>
              <a:rPr lang="en-US" altLang="en-US" dirty="0"/>
            </a:br>
            <a:r>
              <a:rPr lang="en-US" altLang="en-US" dirty="0"/>
              <a:t>        </a:t>
            </a:r>
            <a:r>
              <a:rPr lang="en-US" altLang="en-US" b="1" dirty="0"/>
              <a:t>primary key</a:t>
            </a:r>
            <a:r>
              <a:rPr lang="en-US" altLang="en-US" i="1" dirty="0"/>
              <a:t> ID,</a:t>
            </a:r>
            <a:br>
              <a:rPr lang="en-US" altLang="en-US" i="1" dirty="0"/>
            </a:br>
            <a:r>
              <a:rPr lang="en-US" altLang="en-US" i="1" dirty="0"/>
              <a:t>        </a:t>
            </a:r>
            <a:r>
              <a:rPr lang="en-US" altLang="en-US" b="1" dirty="0"/>
              <a:t>foreign key </a:t>
            </a:r>
            <a:r>
              <a:rPr lang="en-US" altLang="en-US" i="1" dirty="0"/>
              <a:t>father</a:t>
            </a:r>
            <a:r>
              <a:rPr lang="en-US" altLang="en-US" b="1" dirty="0"/>
              <a:t> references </a:t>
            </a:r>
            <a:r>
              <a:rPr lang="en-US" altLang="en-US" i="1" dirty="0"/>
              <a:t>person,</a:t>
            </a:r>
            <a:br>
              <a:rPr lang="en-US" altLang="en-US" dirty="0"/>
            </a:br>
            <a:r>
              <a:rPr lang="en-US" altLang="en-US" dirty="0"/>
              <a:t>        </a:t>
            </a:r>
            <a:r>
              <a:rPr lang="en-US" altLang="en-US" b="1" dirty="0"/>
              <a:t>foreign key </a:t>
            </a:r>
            <a:r>
              <a:rPr lang="en-US" altLang="en-US" i="1" dirty="0"/>
              <a:t>mother</a:t>
            </a:r>
            <a:r>
              <a:rPr lang="en-US" altLang="en-US" dirty="0"/>
              <a:t> </a:t>
            </a:r>
            <a:r>
              <a:rPr lang="en-US" altLang="en-US" b="1" dirty="0"/>
              <a:t>references </a:t>
            </a:r>
            <a:r>
              <a:rPr lang="en-US" altLang="en-US" i="1" dirty="0"/>
              <a:t> person</a:t>
            </a:r>
            <a:r>
              <a:rPr lang="en-US" altLang="en-US" dirty="0"/>
              <a:t>)</a:t>
            </a:r>
          </a:p>
          <a:p>
            <a:pPr algn="r" rtl="1"/>
            <a:r>
              <a:rPr lang="fa-IR" altLang="en-US" dirty="0"/>
              <a:t>چگونه یک </a:t>
            </a:r>
            <a:r>
              <a:rPr lang="en-US" altLang="en-US" dirty="0"/>
              <a:t>tuple</a:t>
            </a:r>
            <a:r>
              <a:rPr lang="fa-IR" altLang="en-US" dirty="0"/>
              <a:t> را بدون ایجاد نقض قید یکپارچگی درج کنیم؟</a:t>
            </a:r>
            <a:endParaRPr lang="en-US" altLang="en-US" dirty="0"/>
          </a:p>
          <a:p>
            <a:pPr algn="r" rtl="1"/>
            <a:endParaRPr lang="en-US" altLang="en-US" sz="2800" dirty="0"/>
          </a:p>
        </p:txBody>
      </p:sp>
      <p:sp>
        <p:nvSpPr>
          <p:cNvPr id="5" name="TextBox 4">
            <a:extLst>
              <a:ext uri="{FF2B5EF4-FFF2-40B4-BE49-F238E27FC236}">
                <a16:creationId xmlns:a16="http://schemas.microsoft.com/office/drawing/2014/main" id="{20EDF9F5-2756-4156-BB36-A660E69E559B}"/>
              </a:ext>
            </a:extLst>
          </p:cNvPr>
          <p:cNvSpPr txBox="1"/>
          <p:nvPr/>
        </p:nvSpPr>
        <p:spPr>
          <a:xfrm>
            <a:off x="559649" y="4459021"/>
            <a:ext cx="7919357" cy="1938992"/>
          </a:xfrm>
          <a:prstGeom prst="rect">
            <a:avLst/>
          </a:prstGeom>
          <a:noFill/>
        </p:spPr>
        <p:txBody>
          <a:bodyPr wrap="square">
            <a:spAutoFit/>
          </a:bodyPr>
          <a:lstStyle/>
          <a:p>
            <a:pPr marL="342900" indent="-342900" algn="r" rtl="1">
              <a:buFont typeface="Wingdings" panose="05000000000000000000" pitchFamily="2" charset="2"/>
              <a:buChar char="§"/>
            </a:pPr>
            <a:r>
              <a:rPr lang="fa-IR" sz="2000" dirty="0">
                <a:cs typeface="B Nazanin" panose="00000400000000000000" pitchFamily="50" charset="-78"/>
              </a:rPr>
              <a:t>راه‌حل‌ها:</a:t>
            </a:r>
            <a:endParaRPr lang="en-US" altLang="en-US" sz="2000" dirty="0">
              <a:cs typeface="B Nazanin" panose="00000400000000000000" pitchFamily="50" charset="-78"/>
            </a:endParaRPr>
          </a:p>
          <a:p>
            <a:pPr marL="800100" lvl="1" indent="-342900" algn="r" rtl="1">
              <a:buFont typeface="Wingdings" panose="05000000000000000000" pitchFamily="2" charset="2"/>
              <a:buChar char="§"/>
            </a:pPr>
            <a:r>
              <a:rPr lang="fa-IR" altLang="en-US" sz="2000" dirty="0">
                <a:cs typeface="B Nazanin" panose="00000400000000000000" pitchFamily="50" charset="-78"/>
              </a:rPr>
              <a:t>پدر و مادر یک شخص را قبل از درج شخص، درج کنید.</a:t>
            </a:r>
            <a:endParaRPr lang="en-US" altLang="en-US" sz="2000" dirty="0">
              <a:cs typeface="B Nazanin" panose="00000400000000000000" pitchFamily="50" charset="-78"/>
            </a:endParaRPr>
          </a:p>
          <a:p>
            <a:pPr marL="800100" lvl="1" indent="-342900" algn="r" rtl="1">
              <a:buFont typeface="Wingdings" panose="05000000000000000000" pitchFamily="2" charset="2"/>
              <a:buChar char="§"/>
            </a:pPr>
            <a:r>
              <a:rPr lang="fa-IR" sz="2000" b="1" dirty="0">
                <a:cs typeface="B Nazanin" panose="00000400000000000000" pitchFamily="50" charset="-78"/>
              </a:rPr>
              <a:t>یا،</a:t>
            </a:r>
            <a:r>
              <a:rPr lang="fa-IR" sz="2000" dirty="0">
                <a:cs typeface="B Nazanin" panose="00000400000000000000" pitchFamily="50" charset="-78"/>
              </a:rPr>
              <a:t> پدر و مادر را در ابتدا </a:t>
            </a:r>
            <a:r>
              <a:rPr lang="en-US" sz="2000" b="1" dirty="0">
                <a:cs typeface="B Nazanin" panose="00000400000000000000" pitchFamily="50" charset="-78"/>
              </a:rPr>
              <a:t>Null</a:t>
            </a:r>
            <a:r>
              <a:rPr lang="fa-IR" sz="2000" b="1" dirty="0">
                <a:cs typeface="B Nazanin" panose="00000400000000000000" pitchFamily="50" charset="-78"/>
              </a:rPr>
              <a:t> </a:t>
            </a:r>
            <a:r>
              <a:rPr lang="en-US" sz="2000" b="1" dirty="0">
                <a:cs typeface="B Nazanin" panose="00000400000000000000" pitchFamily="50" charset="-78"/>
              </a:rPr>
              <a:t> </a:t>
            </a:r>
            <a:r>
              <a:rPr lang="fa-IR" sz="2000" dirty="0">
                <a:cs typeface="B Nazanin" panose="00000400000000000000" pitchFamily="50" charset="-78"/>
              </a:rPr>
              <a:t>تنظیم کنید، و پس از درج تمام اشخاص، </a:t>
            </a:r>
            <a:r>
              <a:rPr lang="fa-IR" sz="2000" b="1" dirty="0">
                <a:cs typeface="B Nazanin" panose="00000400000000000000" pitchFamily="50" charset="-78"/>
              </a:rPr>
              <a:t>به‌روزرسانی</a:t>
            </a:r>
            <a:r>
              <a:rPr lang="fa-IR" sz="2000" dirty="0">
                <a:cs typeface="B Nazanin" panose="00000400000000000000" pitchFamily="50" charset="-78"/>
              </a:rPr>
              <a:t> کنید (در صورتی که صفات پدر و مادر به صورت </a:t>
            </a:r>
            <a:r>
              <a:rPr lang="en-US" sz="2000" dirty="0">
                <a:cs typeface="B Nazanin" panose="00000400000000000000" pitchFamily="50" charset="-78"/>
              </a:rPr>
              <a:t>not null</a:t>
            </a:r>
            <a:r>
              <a:rPr lang="fa-IR" sz="2000" dirty="0">
                <a:cs typeface="B Nazanin" panose="00000400000000000000" pitchFamily="50" charset="-78"/>
              </a:rPr>
              <a:t> اعلام نشده باشند، این روش امکان‌پذیر نیست). </a:t>
            </a:r>
            <a:endParaRPr lang="en-US" sz="2000" dirty="0">
              <a:cs typeface="B Nazanin" panose="00000400000000000000" pitchFamily="50" charset="-78"/>
            </a:endParaRPr>
          </a:p>
          <a:p>
            <a:pPr marL="800100" lvl="1" indent="-342900" algn="r" rtl="1">
              <a:buFont typeface="Wingdings" panose="05000000000000000000" pitchFamily="2" charset="2"/>
              <a:buChar char="§"/>
            </a:pPr>
            <a:r>
              <a:rPr lang="fa-IR" altLang="en-US" sz="2000" dirty="0">
                <a:cs typeface="B Nazanin" panose="00000400000000000000" pitchFamily="50" charset="-78"/>
              </a:rPr>
              <a:t>یا، بررسی قید را به تعویق اندازید.</a:t>
            </a:r>
            <a:endParaRPr lang="en-US" altLang="en-US" sz="2000" dirty="0">
              <a:cs typeface="B Nazanin" panose="00000400000000000000" pitchFamily="50" charset="-78"/>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770" name="Rectangle 2"/>
          <p:cNvSpPr>
            <a:spLocks noGrp="1" noChangeArrowheads="1"/>
          </p:cNvSpPr>
          <p:nvPr>
            <p:ph type="title"/>
          </p:nvPr>
        </p:nvSpPr>
        <p:spPr/>
        <p:txBody>
          <a:bodyPr/>
          <a:lstStyle/>
          <a:p>
            <a:pPr rtl="1">
              <a:defRPr/>
            </a:pPr>
            <a:r>
              <a:rPr lang="fa-IR" dirty="0">
                <a:ea typeface="+mj-ea"/>
              </a:rPr>
              <a:t>شروط </a:t>
            </a:r>
            <a:r>
              <a:rPr lang="en-US" dirty="0">
                <a:ea typeface="+mj-ea"/>
              </a:rPr>
              <a:t>CHECK</a:t>
            </a:r>
            <a:r>
              <a:rPr lang="fa-IR" dirty="0">
                <a:ea typeface="+mj-ea"/>
              </a:rPr>
              <a:t> </a:t>
            </a:r>
            <a:r>
              <a:rPr lang="en-US" dirty="0">
                <a:ea typeface="+mj-ea"/>
              </a:rPr>
              <a:t> </a:t>
            </a:r>
            <a:r>
              <a:rPr lang="fa-IR" dirty="0">
                <a:ea typeface="+mj-ea"/>
              </a:rPr>
              <a:t>پیچیده</a:t>
            </a:r>
            <a:endParaRPr lang="en-US" sz="2800" dirty="0">
              <a:ea typeface="+mj-ea"/>
            </a:endParaRPr>
          </a:p>
        </p:txBody>
      </p:sp>
      <p:sp>
        <p:nvSpPr>
          <p:cNvPr id="69635" name="Rectangle 3"/>
          <p:cNvSpPr>
            <a:spLocks noGrp="1" noChangeArrowheads="1"/>
          </p:cNvSpPr>
          <p:nvPr>
            <p:ph idx="1"/>
          </p:nvPr>
        </p:nvSpPr>
        <p:spPr>
          <a:xfrm>
            <a:off x="451757" y="1093789"/>
            <a:ext cx="7850995" cy="4173156"/>
          </a:xfrm>
        </p:spPr>
        <p:txBody>
          <a:bodyPr/>
          <a:lstStyle/>
          <a:p>
            <a:pPr algn="r" rtl="1"/>
            <a:r>
              <a:rPr lang="fa-IR" altLang="en-US" sz="2400" dirty="0"/>
              <a:t>گزاره </a:t>
            </a:r>
            <a:r>
              <a:rPr lang="en-US" altLang="en-US" sz="2400" dirty="0"/>
              <a:t> (Predicate) </a:t>
            </a:r>
            <a:r>
              <a:rPr lang="fa-IR" altLang="en-US" sz="2400" dirty="0"/>
              <a:t>در بند </a:t>
            </a:r>
            <a:r>
              <a:rPr lang="en-US" altLang="en-US" sz="2400" dirty="0"/>
              <a:t>CHECK</a:t>
            </a:r>
            <a:r>
              <a:rPr lang="fa-IR" altLang="en-US" sz="2400" dirty="0"/>
              <a:t> </a:t>
            </a:r>
            <a:r>
              <a:rPr lang="en-US" altLang="en-US" sz="2400" dirty="0"/>
              <a:t> </a:t>
            </a:r>
            <a:r>
              <a:rPr lang="fa-IR" altLang="en-US" sz="2400" dirty="0"/>
              <a:t>می‌تواند یک گزاره دلخواه باشد که می‌تواند شامل یک زیرپرس‌وجو </a:t>
            </a:r>
            <a:r>
              <a:rPr lang="en-US" altLang="en-US" sz="2400" dirty="0"/>
              <a:t>(Subquery) </a:t>
            </a:r>
            <a:r>
              <a:rPr lang="fa-IR" altLang="en-US" sz="2400" dirty="0"/>
              <a:t>باشد.</a:t>
            </a:r>
            <a:endParaRPr lang="en-US" altLang="en-US" sz="2400" dirty="0"/>
          </a:p>
          <a:p>
            <a:pPr marL="0" indent="0" algn="l">
              <a:buNone/>
            </a:pPr>
            <a:r>
              <a:rPr lang="en-US" altLang="en-US" sz="2400" b="1" dirty="0"/>
              <a:t>check </a:t>
            </a:r>
            <a:r>
              <a:rPr lang="en-US" altLang="en-US" sz="2400" dirty="0"/>
              <a:t>(</a:t>
            </a:r>
            <a:r>
              <a:rPr lang="en-US" altLang="en-US" sz="2400" i="1" dirty="0" err="1"/>
              <a:t>time_slot_id</a:t>
            </a:r>
            <a:r>
              <a:rPr lang="en-US" altLang="en-US" sz="2400" i="1" dirty="0"/>
              <a:t>  </a:t>
            </a:r>
            <a:r>
              <a:rPr lang="en-US" altLang="en-US" sz="2400" b="1" dirty="0"/>
              <a:t>in </a:t>
            </a:r>
            <a:r>
              <a:rPr lang="en-US" altLang="en-US" sz="2400" dirty="0"/>
              <a:t>(</a:t>
            </a:r>
            <a:r>
              <a:rPr lang="en-US" altLang="en-US" sz="2400" b="1" dirty="0"/>
              <a:t>select </a:t>
            </a:r>
            <a:r>
              <a:rPr lang="en-US" altLang="en-US" sz="2400" i="1" dirty="0" err="1"/>
              <a:t>time_slot_id</a:t>
            </a:r>
            <a:r>
              <a:rPr lang="en-US" altLang="en-US" sz="2400" i="1" dirty="0"/>
              <a:t> </a:t>
            </a:r>
            <a:r>
              <a:rPr lang="en-US" altLang="en-US" sz="2400" b="1" dirty="0"/>
              <a:t>from 	</a:t>
            </a:r>
            <a:r>
              <a:rPr lang="en-US" altLang="en-US" sz="2400" i="1" dirty="0" err="1"/>
              <a:t>time_slot</a:t>
            </a:r>
            <a:r>
              <a:rPr lang="en-US" altLang="en-US" sz="2400" dirty="0"/>
              <a:t>))</a:t>
            </a:r>
          </a:p>
          <a:p>
            <a:pPr marL="0" indent="0" algn="l">
              <a:buNone/>
            </a:pPr>
            <a:endParaRPr lang="en-US" altLang="en-US" sz="2400" dirty="0"/>
          </a:p>
          <a:p>
            <a:pPr algn="r" rtl="1"/>
            <a:r>
              <a:rPr lang="fa-IR" altLang="en-US" sz="2400" dirty="0"/>
              <a:t>شرط </a:t>
            </a:r>
            <a:r>
              <a:rPr lang="en-US" altLang="en-US" sz="2400" dirty="0"/>
              <a:t>CHECK</a:t>
            </a:r>
            <a:r>
              <a:rPr lang="fa-IR" altLang="en-US" sz="2400" dirty="0"/>
              <a:t> بیان می‌کند که شناسه بازه زمانی </a:t>
            </a:r>
            <a:r>
              <a:rPr lang="en-US" altLang="en-US" sz="2400" dirty="0"/>
              <a:t> (</a:t>
            </a:r>
            <a:r>
              <a:rPr lang="en-US" altLang="en-US" sz="2400" dirty="0" err="1"/>
              <a:t>time_slot_id</a:t>
            </a:r>
            <a:r>
              <a:rPr lang="en-US" altLang="en-US" sz="2400" dirty="0"/>
              <a:t>) </a:t>
            </a:r>
            <a:r>
              <a:rPr lang="fa-IR" altLang="en-US" sz="2400" dirty="0"/>
              <a:t>در هر تاپل از رابطه </a:t>
            </a:r>
            <a:r>
              <a:rPr lang="en-US" altLang="en-US" sz="2400" dirty="0"/>
              <a:t>section</a:t>
            </a:r>
            <a:r>
              <a:rPr lang="fa-IR" altLang="en-US" sz="2400" dirty="0"/>
              <a:t> </a:t>
            </a:r>
            <a:r>
              <a:rPr lang="en-US" altLang="en-US" sz="2400" dirty="0"/>
              <a:t> </a:t>
            </a:r>
            <a:r>
              <a:rPr lang="fa-IR" altLang="en-US" sz="2400" dirty="0"/>
              <a:t>در واقع شناسه یک بازه زمانی در رابطه </a:t>
            </a:r>
            <a:r>
              <a:rPr lang="en-US" altLang="en-US" sz="2400" dirty="0" err="1"/>
              <a:t>time_slot</a:t>
            </a:r>
            <a:r>
              <a:rPr lang="fa-IR" altLang="en-US" sz="2400" dirty="0"/>
              <a:t> </a:t>
            </a:r>
            <a:r>
              <a:rPr lang="en-US" altLang="en-US" sz="2400" dirty="0"/>
              <a:t> </a:t>
            </a:r>
            <a:r>
              <a:rPr lang="fa-IR" altLang="en-US" sz="2400" dirty="0"/>
              <a:t>است.</a:t>
            </a:r>
            <a:endParaRPr lang="en-US" altLang="en-US" sz="2400" dirty="0"/>
          </a:p>
          <a:p>
            <a:pPr>
              <a:buNone/>
            </a:pPr>
            <a:endParaRPr lang="en-US" altLang="en-US" sz="3200" dirty="0"/>
          </a:p>
        </p:txBody>
      </p:sp>
      <p:sp>
        <p:nvSpPr>
          <p:cNvPr id="5" name="TextBox 4">
            <a:extLst>
              <a:ext uri="{FF2B5EF4-FFF2-40B4-BE49-F238E27FC236}">
                <a16:creationId xmlns:a16="http://schemas.microsoft.com/office/drawing/2014/main" id="{C4C9DA79-AC6D-4607-A37C-52AF6DC23846}"/>
              </a:ext>
            </a:extLst>
          </p:cNvPr>
          <p:cNvSpPr txBox="1"/>
          <p:nvPr/>
        </p:nvSpPr>
        <p:spPr>
          <a:xfrm>
            <a:off x="768350" y="4666780"/>
            <a:ext cx="7535636" cy="830997"/>
          </a:xfrm>
          <a:prstGeom prst="rect">
            <a:avLst/>
          </a:prstGeom>
          <a:noFill/>
        </p:spPr>
        <p:txBody>
          <a:bodyPr wrap="square">
            <a:spAutoFit/>
          </a:bodyPr>
          <a:lstStyle/>
          <a:p>
            <a:pPr marL="342900" indent="-342900" algn="r" rtl="1">
              <a:buFont typeface="Arial" panose="020B0604020202020204" pitchFamily="34" charset="0"/>
              <a:buChar char="•"/>
            </a:pPr>
            <a:r>
              <a:rPr lang="fa-IR" altLang="en-US" sz="2400" dirty="0">
                <a:cs typeface="B Nazanin" panose="00000400000000000000" pitchFamily="50" charset="-78"/>
              </a:rPr>
              <a:t>این شرط نه تنها زمانی که تاپلی در </a:t>
            </a:r>
            <a:r>
              <a:rPr lang="en-US" altLang="en-US" sz="2400" dirty="0">
                <a:cs typeface="B Nazanin" panose="00000400000000000000" pitchFamily="50" charset="-78"/>
              </a:rPr>
              <a:t>section</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درج یا اصلاح می‌شود، بلکه هنگامی که رابطه </a:t>
            </a:r>
            <a:r>
              <a:rPr lang="en-US" altLang="en-US" sz="2400" dirty="0" err="1">
                <a:cs typeface="B Nazanin" panose="00000400000000000000" pitchFamily="50" charset="-78"/>
              </a:rPr>
              <a:t>time_slot</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تغییر می‌کند نیز باید بررسی شود.</a:t>
            </a:r>
            <a:endParaRPr lang="en-US" sz="2400" dirty="0">
              <a:cs typeface="B Nazanin" panose="00000400000000000000" pitchFamily="50" charset="-78"/>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770" name="Rectangle 2"/>
          <p:cNvSpPr>
            <a:spLocks noGrp="1" noChangeArrowheads="1"/>
          </p:cNvSpPr>
          <p:nvPr>
            <p:ph type="title"/>
          </p:nvPr>
        </p:nvSpPr>
        <p:spPr/>
        <p:txBody>
          <a:bodyPr/>
          <a:lstStyle/>
          <a:p>
            <a:pPr>
              <a:defRPr/>
            </a:pPr>
            <a:r>
              <a:rPr lang="en-US" sz="2800" dirty="0">
                <a:ea typeface="+mj-ea"/>
              </a:rPr>
              <a:t>Assertions</a:t>
            </a:r>
          </a:p>
        </p:txBody>
      </p:sp>
      <p:sp>
        <p:nvSpPr>
          <p:cNvPr id="69635" name="Rectangle 3"/>
          <p:cNvSpPr>
            <a:spLocks noGrp="1" noChangeArrowheads="1"/>
          </p:cNvSpPr>
          <p:nvPr>
            <p:ph idx="1"/>
          </p:nvPr>
        </p:nvSpPr>
        <p:spPr>
          <a:xfrm>
            <a:off x="0" y="1138227"/>
            <a:ext cx="8868428" cy="5393201"/>
          </a:xfrm>
        </p:spPr>
        <p:txBody>
          <a:bodyPr/>
          <a:lstStyle/>
          <a:p>
            <a:pPr algn="r" rtl="1"/>
            <a:r>
              <a:rPr lang="fa-IR" altLang="en-US" sz="2400" dirty="0"/>
              <a:t>یک </a:t>
            </a:r>
            <a:r>
              <a:rPr lang="en-US" sz="2400" dirty="0">
                <a:solidFill>
                  <a:srgbClr val="002060"/>
                </a:solidFill>
              </a:rPr>
              <a:t>Assertion</a:t>
            </a:r>
            <a:r>
              <a:rPr lang="fa-IR" altLang="en-US" sz="2400" dirty="0"/>
              <a:t>، یک گزاره </a:t>
            </a:r>
            <a:r>
              <a:rPr lang="en-US" altLang="en-US" sz="2400" dirty="0"/>
              <a:t> (Predicate) </a:t>
            </a:r>
            <a:r>
              <a:rPr lang="fa-IR" altLang="en-US" sz="2400" dirty="0"/>
              <a:t>است که بیانگر شرطی است که می‌خواهیم پایگاه داده همیشه آن را برآورده سازد.</a:t>
            </a:r>
            <a:endParaRPr lang="en-US" altLang="en-US" sz="2400" dirty="0"/>
          </a:p>
          <a:p>
            <a:pPr algn="r" rtl="1"/>
            <a:r>
              <a:rPr lang="fa-IR" altLang="en-US" sz="2400" dirty="0"/>
              <a:t>قیود زیر، می‌توانند با استفاده از </a:t>
            </a:r>
            <a:r>
              <a:rPr lang="en-US" sz="2400" dirty="0">
                <a:solidFill>
                  <a:srgbClr val="002060"/>
                </a:solidFill>
              </a:rPr>
              <a:t>Assertion</a:t>
            </a:r>
            <a:r>
              <a:rPr lang="fa-IR" altLang="en-US" sz="2400" dirty="0"/>
              <a:t> بیان شوند:</a:t>
            </a:r>
            <a:endParaRPr lang="en-US" altLang="en-US" sz="2400" dirty="0"/>
          </a:p>
          <a:p>
            <a:pPr algn="r" rtl="1"/>
            <a:r>
              <a:rPr lang="fa-IR" altLang="en-US" sz="2400" dirty="0"/>
              <a:t>به ازای هر تاپل در رابطه </a:t>
            </a:r>
            <a:r>
              <a:rPr lang="en-US" altLang="en-US" sz="2400" dirty="0"/>
              <a:t>student، </a:t>
            </a:r>
            <a:r>
              <a:rPr lang="fa-IR" altLang="en-US" sz="2400" dirty="0"/>
              <a:t>مقدار صفت مجموع واحدها </a:t>
            </a:r>
            <a:r>
              <a:rPr lang="en-US" altLang="en-US" sz="2400" dirty="0"/>
              <a:t> (</a:t>
            </a:r>
            <a:r>
              <a:rPr lang="en-US" altLang="en-US" sz="2400" dirty="0" err="1"/>
              <a:t>tot_cred</a:t>
            </a:r>
            <a:r>
              <a:rPr lang="en-US" altLang="en-US" sz="2400" dirty="0"/>
              <a:t>) </a:t>
            </a:r>
            <a:r>
              <a:rPr lang="fa-IR" altLang="en-US" sz="2400" dirty="0"/>
              <a:t>باید برابر با مجموع واحدهای دروسی باشد که دانشجو با موفقیت گذرانده است.</a:t>
            </a:r>
            <a:endParaRPr lang="en-US" altLang="en-US" sz="2400" dirty="0"/>
          </a:p>
          <a:p>
            <a:pPr algn="r" rtl="1"/>
            <a:r>
              <a:rPr lang="fa-IR" sz="2400" dirty="0"/>
              <a:t>یک </a:t>
            </a:r>
            <a:r>
              <a:rPr lang="fa-IR" sz="2400" b="1" dirty="0"/>
              <a:t>مدرس</a:t>
            </a:r>
            <a:r>
              <a:rPr lang="fa-IR" sz="2400" dirty="0"/>
              <a:t> نمی‌تواند در یک ترم، در </a:t>
            </a:r>
            <a:r>
              <a:rPr lang="fa-IR" sz="2400" b="1" dirty="0"/>
              <a:t>بازه زمانی یکسان</a:t>
            </a:r>
            <a:r>
              <a:rPr lang="fa-IR" sz="2400" dirty="0"/>
              <a:t> در </a:t>
            </a:r>
            <a:r>
              <a:rPr lang="fa-IR" sz="2400" b="1" dirty="0"/>
              <a:t>دو کلاس درس متفاوت</a:t>
            </a:r>
            <a:r>
              <a:rPr lang="fa-IR" sz="2400" dirty="0"/>
              <a:t> تدریس کند. </a:t>
            </a:r>
            <a:endParaRPr lang="en-US" sz="2400" dirty="0"/>
          </a:p>
          <a:p>
            <a:pPr algn="r" rtl="1"/>
            <a:r>
              <a:rPr lang="fa-IR" altLang="en-US" sz="2400" dirty="0"/>
              <a:t>یک </a:t>
            </a:r>
            <a:r>
              <a:rPr lang="en-US" sz="2400" dirty="0">
                <a:solidFill>
                  <a:srgbClr val="002060"/>
                </a:solidFill>
              </a:rPr>
              <a:t>Assertion</a:t>
            </a:r>
            <a:r>
              <a:rPr lang="fa-IR" altLang="en-US" sz="2400" dirty="0"/>
              <a:t> در </a:t>
            </a:r>
            <a:r>
              <a:rPr lang="en-US" altLang="en-US" sz="2400" dirty="0"/>
              <a:t>SQL</a:t>
            </a:r>
            <a:r>
              <a:rPr lang="fa-IR" altLang="en-US" sz="2400" dirty="0"/>
              <a:t> </a:t>
            </a:r>
            <a:r>
              <a:rPr lang="en-US" altLang="en-US" sz="2400" dirty="0"/>
              <a:t> </a:t>
            </a:r>
            <a:r>
              <a:rPr lang="fa-IR" altLang="en-US" sz="2400" dirty="0"/>
              <a:t>به صورت زیر است:</a:t>
            </a:r>
          </a:p>
          <a:p>
            <a:pPr algn="r" rtl="1"/>
            <a:endParaRPr lang="en-US" altLang="en-US" sz="2400" dirty="0"/>
          </a:p>
          <a:p>
            <a:pPr marL="0" indent="0" algn="l">
              <a:buNone/>
            </a:pPr>
            <a:r>
              <a:rPr lang="en-US" altLang="en-US" sz="2400" dirty="0"/>
              <a:t>        </a:t>
            </a:r>
            <a:r>
              <a:rPr lang="en-US" altLang="en-US" sz="2400" b="1" dirty="0">
                <a:solidFill>
                  <a:srgbClr val="002060"/>
                </a:solidFill>
              </a:rPr>
              <a:t>create assertion</a:t>
            </a:r>
            <a:r>
              <a:rPr lang="en-US" altLang="en-US" sz="2400" dirty="0"/>
              <a:t> &lt;assertion-name&gt; </a:t>
            </a:r>
            <a:r>
              <a:rPr lang="en-US" altLang="en-US" sz="2400" b="1" dirty="0">
                <a:solidFill>
                  <a:srgbClr val="002060"/>
                </a:solidFill>
              </a:rPr>
              <a:t>check</a:t>
            </a:r>
            <a:r>
              <a:rPr lang="en-US" altLang="en-US" sz="2400" b="1" dirty="0"/>
              <a:t> </a:t>
            </a:r>
            <a:r>
              <a:rPr lang="en-US" altLang="en-US" sz="2400" dirty="0"/>
              <a:t>(&lt;predicate&gt;);</a:t>
            </a:r>
          </a:p>
          <a:p>
            <a:pPr algn="r" rtl="1"/>
            <a:endParaRPr lang="en-US" altLang="en-US" sz="3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C4993-6B7C-8274-B04D-4DE5EA24A7EA}"/>
            </a:ext>
          </a:extLst>
        </p:cNvPr>
        <p:cNvGrpSpPr/>
        <p:nvPr/>
      </p:nvGrpSpPr>
      <p:grpSpPr>
        <a:xfrm>
          <a:off x="0" y="0"/>
          <a:ext cx="0" cy="0"/>
          <a:chOff x="0" y="0"/>
          <a:chExt cx="0" cy="0"/>
        </a:xfrm>
      </p:grpSpPr>
      <p:sp>
        <p:nvSpPr>
          <p:cNvPr id="416770" name="Rectangle 2">
            <a:extLst>
              <a:ext uri="{FF2B5EF4-FFF2-40B4-BE49-F238E27FC236}">
                <a16:creationId xmlns:a16="http://schemas.microsoft.com/office/drawing/2014/main" id="{918F1516-5FA3-EF15-A2A4-D2E74A5C0108}"/>
              </a:ext>
            </a:extLst>
          </p:cNvPr>
          <p:cNvSpPr>
            <a:spLocks noGrp="1" noChangeArrowheads="1"/>
          </p:cNvSpPr>
          <p:nvPr>
            <p:ph type="title"/>
          </p:nvPr>
        </p:nvSpPr>
        <p:spPr/>
        <p:txBody>
          <a:bodyPr/>
          <a:lstStyle/>
          <a:p>
            <a:pPr>
              <a:defRPr/>
            </a:pPr>
            <a:r>
              <a:rPr lang="fa-IR" sz="2800" dirty="0">
                <a:ea typeface="+mj-ea"/>
              </a:rPr>
              <a:t>مقایسه محدودیت و ادعا</a:t>
            </a:r>
            <a:endParaRPr lang="en-US" sz="2800" dirty="0">
              <a:ea typeface="+mj-ea"/>
            </a:endParaRPr>
          </a:p>
        </p:txBody>
      </p:sp>
      <p:sp>
        <p:nvSpPr>
          <p:cNvPr id="69635" name="Rectangle 3">
            <a:extLst>
              <a:ext uri="{FF2B5EF4-FFF2-40B4-BE49-F238E27FC236}">
                <a16:creationId xmlns:a16="http://schemas.microsoft.com/office/drawing/2014/main" id="{0DD4B141-C3C8-7AC8-8CD2-1DEC5C1D7D45}"/>
              </a:ext>
            </a:extLst>
          </p:cNvPr>
          <p:cNvSpPr>
            <a:spLocks noGrp="1" noChangeArrowheads="1"/>
          </p:cNvSpPr>
          <p:nvPr>
            <p:ph idx="1"/>
          </p:nvPr>
        </p:nvSpPr>
        <p:spPr>
          <a:xfrm>
            <a:off x="137786" y="732399"/>
            <a:ext cx="8868428" cy="5393201"/>
          </a:xfrm>
        </p:spPr>
        <p:txBody>
          <a:bodyPr/>
          <a:lstStyle/>
          <a:p>
            <a:pPr algn="r" rtl="1"/>
            <a:r>
              <a:rPr lang="en-US" b="1" dirty="0"/>
              <a:t>Constraint </a:t>
            </a:r>
            <a:r>
              <a:rPr lang="ar-SA" b="1" dirty="0"/>
              <a:t>محدودیت</a:t>
            </a:r>
            <a:endParaRPr lang="en-US" dirty="0"/>
          </a:p>
          <a:p>
            <a:pPr algn="r" rtl="1"/>
            <a:r>
              <a:rPr lang="ar-SA" dirty="0"/>
              <a:t>قانونی است که روی </a:t>
            </a:r>
            <a:r>
              <a:rPr lang="ar-SA" b="1" dirty="0"/>
              <a:t>یک جدول</a:t>
            </a:r>
            <a:r>
              <a:rPr lang="ar-SA" dirty="0"/>
              <a:t> اعمال می‌شود و صحت داده‌ها را به‌صورت محلی بررسی می‌کند</a:t>
            </a:r>
            <a:r>
              <a:rPr lang="en-US" dirty="0"/>
              <a:t>.</a:t>
            </a:r>
          </a:p>
          <a:p>
            <a:pPr algn="r" rtl="1"/>
            <a:r>
              <a:rPr lang="ar-SA" b="1" dirty="0"/>
              <a:t>مثال</a:t>
            </a:r>
            <a:r>
              <a:rPr lang="en-US" b="1" dirty="0"/>
              <a:t>:</a:t>
            </a:r>
            <a:endParaRPr lang="en-US" dirty="0"/>
          </a:p>
          <a:p>
            <a:r>
              <a:rPr lang="en-US" dirty="0"/>
              <a:t>CHECK (semester IN ('</a:t>
            </a:r>
            <a:r>
              <a:rPr lang="en-US" dirty="0" err="1"/>
              <a:t>Fall','Spring</a:t>
            </a:r>
            <a:r>
              <a:rPr lang="en-US" dirty="0"/>
              <a:t>'))</a:t>
            </a:r>
          </a:p>
          <a:p>
            <a:pPr marL="0" indent="0" algn="r" rtl="1">
              <a:buNone/>
            </a:pPr>
            <a:r>
              <a:rPr lang="ar-SA" dirty="0"/>
              <a:t>این محدودیت تضمین می‌کند مقدار </a:t>
            </a:r>
            <a:r>
              <a:rPr lang="en-US" dirty="0"/>
              <a:t>semester </a:t>
            </a:r>
            <a:r>
              <a:rPr lang="ar-SA" dirty="0"/>
              <a:t>فقط از مقادیر مجاز باشد</a:t>
            </a:r>
            <a:r>
              <a:rPr lang="en-US" dirty="0"/>
              <a:t>.</a:t>
            </a:r>
          </a:p>
          <a:p>
            <a:pPr marL="0" indent="0" algn="r" rtl="1">
              <a:buNone/>
            </a:pPr>
            <a:endParaRPr lang="en-US" dirty="0"/>
          </a:p>
          <a:p>
            <a:pPr algn="r" rtl="1"/>
            <a:r>
              <a:rPr lang="en-US" b="1" dirty="0"/>
              <a:t>Assertion </a:t>
            </a:r>
            <a:r>
              <a:rPr lang="ar-SA" b="1" dirty="0"/>
              <a:t>ادعا</a:t>
            </a:r>
            <a:endParaRPr lang="en-US" dirty="0"/>
          </a:p>
          <a:p>
            <a:pPr marL="0" indent="0" algn="r" rtl="1">
              <a:buNone/>
            </a:pPr>
            <a:r>
              <a:rPr lang="ar-SA" dirty="0"/>
              <a:t>قانونی </a:t>
            </a:r>
            <a:r>
              <a:rPr lang="ar-SA" b="1" dirty="0"/>
              <a:t>سراسری</a:t>
            </a:r>
            <a:r>
              <a:rPr lang="ar-SA" dirty="0"/>
              <a:t> است که می‌تواند </a:t>
            </a:r>
            <a:r>
              <a:rPr lang="ar-SA" b="1" dirty="0"/>
              <a:t>چند جدول</a:t>
            </a:r>
            <a:r>
              <a:rPr lang="ar-SA" dirty="0"/>
              <a:t> و شروط پیچیده را دربر بگیرد</a:t>
            </a:r>
            <a:r>
              <a:rPr lang="en-US" dirty="0"/>
              <a:t>.</a:t>
            </a:r>
          </a:p>
          <a:p>
            <a:pPr marL="0" indent="0" algn="r" rtl="1">
              <a:buNone/>
            </a:pPr>
            <a:r>
              <a:rPr lang="ar-SA" b="1" dirty="0"/>
              <a:t>مثال مفهومی</a:t>
            </a:r>
            <a:r>
              <a:rPr lang="en-US" b="1" dirty="0"/>
              <a:t>:</a:t>
            </a:r>
            <a:endParaRPr lang="en-US" dirty="0"/>
          </a:p>
          <a:p>
            <a:pPr marL="0" indent="0" algn="r" rtl="1">
              <a:buNone/>
            </a:pPr>
            <a:r>
              <a:rPr lang="ar-SA" dirty="0"/>
              <a:t>تعداد دانشجویان هر درس نباید بیشتر از 50 نفر باشد</a:t>
            </a:r>
            <a:r>
              <a:rPr lang="en-US" dirty="0"/>
              <a:t>.</a:t>
            </a:r>
          </a:p>
          <a:p>
            <a:pPr algn="r" rtl="1"/>
            <a:r>
              <a:rPr lang="ar-SA" dirty="0"/>
              <a:t>در عمل با </a:t>
            </a:r>
            <a:r>
              <a:rPr lang="en-US" b="1" dirty="0"/>
              <a:t>Trigger</a:t>
            </a:r>
            <a:r>
              <a:rPr lang="en-US" dirty="0"/>
              <a:t> </a:t>
            </a:r>
            <a:r>
              <a:rPr lang="ar-SA" dirty="0"/>
              <a:t>پیاده‌سازی می‌شود، چون</a:t>
            </a:r>
            <a:r>
              <a:rPr lang="en-US" dirty="0"/>
              <a:t> DBMS</a:t>
            </a:r>
            <a:r>
              <a:rPr lang="ar-SA" dirty="0"/>
              <a:t>ها از</a:t>
            </a:r>
            <a:r>
              <a:rPr lang="en-US" dirty="0"/>
              <a:t> ASSERTION </a:t>
            </a:r>
            <a:r>
              <a:rPr lang="ar-SA" dirty="0"/>
              <a:t>پشتیبانی نمی‌کنند</a:t>
            </a:r>
            <a:r>
              <a:rPr lang="en-US" dirty="0"/>
              <a:t>.</a:t>
            </a:r>
          </a:p>
          <a:p>
            <a:pPr algn="r" rtl="1"/>
            <a:r>
              <a:rPr lang="ar-SA" b="1" dirty="0"/>
              <a:t>جمع‌بندی کوتاه</a:t>
            </a:r>
            <a:endParaRPr lang="en-US" dirty="0"/>
          </a:p>
          <a:p>
            <a:pPr lvl="0" algn="r" rtl="1"/>
            <a:r>
              <a:rPr lang="en-US" b="1" dirty="0"/>
              <a:t>Constraint</a:t>
            </a:r>
            <a:r>
              <a:rPr lang="en-US" dirty="0"/>
              <a:t>: </a:t>
            </a:r>
            <a:r>
              <a:rPr lang="ar-SA" dirty="0"/>
              <a:t>ساده، محلی، پشتیبانی‌شده</a:t>
            </a:r>
            <a:endParaRPr lang="en-US" dirty="0"/>
          </a:p>
          <a:p>
            <a:pPr lvl="0" algn="r" rtl="1"/>
            <a:r>
              <a:rPr lang="en-US" b="1" dirty="0"/>
              <a:t>Assertion</a:t>
            </a:r>
            <a:r>
              <a:rPr lang="en-US" dirty="0"/>
              <a:t>: </a:t>
            </a:r>
            <a:r>
              <a:rPr lang="ar-SA" dirty="0"/>
              <a:t>کلی، مفهومی، معمولاً با</a:t>
            </a:r>
            <a:r>
              <a:rPr lang="en-US" dirty="0"/>
              <a:t> Trigger </a:t>
            </a:r>
            <a:r>
              <a:rPr lang="ar-SA" dirty="0"/>
              <a:t>جایگزین می‌شود</a:t>
            </a:r>
            <a:endParaRPr lang="en-US" dirty="0"/>
          </a:p>
          <a:p>
            <a:pPr algn="r" rtl="1"/>
            <a:endParaRPr lang="en-US" dirty="0"/>
          </a:p>
        </p:txBody>
      </p:sp>
    </p:spTree>
    <p:extLst>
      <p:ext uri="{BB962C8B-B14F-4D97-AF65-F5344CB8AC3E}">
        <p14:creationId xmlns:p14="http://schemas.microsoft.com/office/powerpoint/2010/main" val="19001256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1DDA2-0A2D-703C-45FC-2A388F30DF3C}"/>
            </a:ext>
          </a:extLst>
        </p:cNvPr>
        <p:cNvGrpSpPr/>
        <p:nvPr/>
      </p:nvGrpSpPr>
      <p:grpSpPr>
        <a:xfrm>
          <a:off x="0" y="0"/>
          <a:ext cx="0" cy="0"/>
          <a:chOff x="0" y="0"/>
          <a:chExt cx="0" cy="0"/>
        </a:xfrm>
      </p:grpSpPr>
      <p:sp>
        <p:nvSpPr>
          <p:cNvPr id="416770" name="Rectangle 2">
            <a:extLst>
              <a:ext uri="{FF2B5EF4-FFF2-40B4-BE49-F238E27FC236}">
                <a16:creationId xmlns:a16="http://schemas.microsoft.com/office/drawing/2014/main" id="{FE536B08-BD40-D72B-7EDD-7B6552591B6C}"/>
              </a:ext>
            </a:extLst>
          </p:cNvPr>
          <p:cNvSpPr>
            <a:spLocks noGrp="1" noChangeArrowheads="1"/>
          </p:cNvSpPr>
          <p:nvPr>
            <p:ph type="title"/>
          </p:nvPr>
        </p:nvSpPr>
        <p:spPr/>
        <p:txBody>
          <a:bodyPr/>
          <a:lstStyle/>
          <a:p>
            <a:pPr>
              <a:defRPr/>
            </a:pPr>
            <a:r>
              <a:rPr lang="fa-IR" sz="2800" dirty="0">
                <a:ea typeface="+mj-ea"/>
              </a:rPr>
              <a:t>مقایسه محدودیت و ادعا</a:t>
            </a:r>
            <a:endParaRPr lang="en-US" sz="2800" dirty="0">
              <a:ea typeface="+mj-ea"/>
            </a:endParaRPr>
          </a:p>
        </p:txBody>
      </p:sp>
      <p:sp>
        <p:nvSpPr>
          <p:cNvPr id="69635" name="Rectangle 3">
            <a:extLst>
              <a:ext uri="{FF2B5EF4-FFF2-40B4-BE49-F238E27FC236}">
                <a16:creationId xmlns:a16="http://schemas.microsoft.com/office/drawing/2014/main" id="{D02B6861-5BE6-0DCD-BBC4-312B8E87469C}"/>
              </a:ext>
            </a:extLst>
          </p:cNvPr>
          <p:cNvSpPr>
            <a:spLocks noGrp="1" noChangeArrowheads="1"/>
          </p:cNvSpPr>
          <p:nvPr>
            <p:ph idx="1"/>
          </p:nvPr>
        </p:nvSpPr>
        <p:spPr>
          <a:xfrm>
            <a:off x="137786" y="1112543"/>
            <a:ext cx="8868428" cy="5393201"/>
          </a:xfrm>
        </p:spPr>
        <p:txBody>
          <a:bodyPr/>
          <a:lstStyle/>
          <a:p>
            <a:pPr algn="r" rtl="1"/>
            <a:r>
              <a:rPr lang="fa-IR" sz="1800" dirty="0"/>
              <a:t>در استاندارد </a:t>
            </a:r>
            <a:r>
              <a:rPr lang="en-US" sz="1800" dirty="0"/>
              <a:t>SQL، </a:t>
            </a:r>
            <a:r>
              <a:rPr lang="en-US" sz="1800" b="1" dirty="0"/>
              <a:t>ASSERTION</a:t>
            </a:r>
            <a:r>
              <a:rPr lang="en-US" sz="1800" dirty="0"/>
              <a:t> </a:t>
            </a:r>
            <a:r>
              <a:rPr lang="fa-IR" sz="1800" dirty="0"/>
              <a:t>برای بیان «قیود سراسری» </a:t>
            </a:r>
            <a:r>
              <a:rPr lang="en-US" sz="1800" dirty="0"/>
              <a:t>Global Integrity Constraints </a:t>
            </a:r>
            <a:r>
              <a:rPr lang="fa-IR" sz="1800" dirty="0"/>
              <a:t>تعریف شده است؛ اما در عمل هیچ </a:t>
            </a:r>
            <a:r>
              <a:rPr lang="en-US" sz="1800" dirty="0"/>
              <a:t>DBMS </a:t>
            </a:r>
            <a:r>
              <a:rPr lang="fa-IR" sz="1800" dirty="0"/>
              <a:t>تجاری مهمی دستور</a:t>
            </a:r>
            <a:r>
              <a:rPr lang="en-US" sz="1800" dirty="0"/>
              <a:t>CREATE ASSERTION </a:t>
            </a:r>
            <a:r>
              <a:rPr lang="fa-IR" sz="1800" dirty="0"/>
              <a:t>را پیاده‌سازی نکرده است. دلیل اصلی، </a:t>
            </a:r>
            <a:r>
              <a:rPr lang="fa-IR" sz="1800" b="1" dirty="0"/>
              <a:t>هزینه محاسباتی بالا</a:t>
            </a:r>
            <a:r>
              <a:rPr lang="fa-IR" sz="1800" dirty="0"/>
              <a:t> و </a:t>
            </a:r>
            <a:r>
              <a:rPr lang="fa-IR" sz="1800" b="1" dirty="0"/>
              <a:t>پیچیدگی بررسی مداوم قیود بین‌جدولی</a:t>
            </a:r>
            <a:r>
              <a:rPr lang="fa-IR" sz="1800" dirty="0"/>
              <a:t> است. به همین علت، سیستم‌های واقعی از جایگزین‌ها استفاده می‌کنند.</a:t>
            </a:r>
            <a:endParaRPr lang="en-US" sz="1800" dirty="0"/>
          </a:p>
          <a:p>
            <a:pPr algn="r" rtl="1"/>
            <a:r>
              <a:rPr lang="en-US" sz="1800" b="1" dirty="0"/>
              <a:t>Triggers </a:t>
            </a:r>
            <a:r>
              <a:rPr lang="fa-IR" sz="1800" b="1" dirty="0"/>
              <a:t>شبیه‌سازی </a:t>
            </a:r>
            <a:r>
              <a:rPr lang="en-US" sz="1800" b="1" dirty="0"/>
              <a:t>ASSERTION</a:t>
            </a:r>
          </a:p>
          <a:p>
            <a:pPr algn="r" rtl="1"/>
            <a:r>
              <a:rPr lang="fa-IR" sz="1800" dirty="0"/>
              <a:t>وقتی قانون </a:t>
            </a:r>
            <a:r>
              <a:rPr lang="fa-IR" sz="1800" b="1" dirty="0"/>
              <a:t>چند جدول</a:t>
            </a:r>
            <a:r>
              <a:rPr lang="fa-IR" sz="1800" dirty="0"/>
              <a:t> یا </a:t>
            </a:r>
            <a:r>
              <a:rPr lang="fa-IR" sz="1800" b="1" dirty="0"/>
              <a:t>شرط کلی</a:t>
            </a:r>
            <a:r>
              <a:rPr lang="fa-IR" sz="1800" dirty="0"/>
              <a:t> داشته باشد، از </a:t>
            </a:r>
            <a:r>
              <a:rPr lang="en-US" sz="1800" b="1" dirty="0"/>
              <a:t>Trigger</a:t>
            </a:r>
            <a:r>
              <a:rPr lang="en-US" sz="1800" dirty="0"/>
              <a:t> </a:t>
            </a:r>
            <a:r>
              <a:rPr lang="fa-IR" sz="1800" dirty="0"/>
              <a:t>استفاده می‌شود.</a:t>
            </a:r>
          </a:p>
          <a:p>
            <a:pPr algn="r" rtl="1"/>
            <a:r>
              <a:rPr lang="fa-IR" sz="1800" b="1" dirty="0"/>
              <a:t>قانون (</a:t>
            </a:r>
            <a:r>
              <a:rPr lang="en-US" sz="1800" b="1" dirty="0"/>
              <a:t>Assertion </a:t>
            </a:r>
            <a:r>
              <a:rPr lang="fa-IR" sz="1800" b="1" dirty="0"/>
              <a:t>مفهومی)</a:t>
            </a:r>
          </a:p>
          <a:p>
            <a:pPr algn="r" rtl="1"/>
            <a:r>
              <a:rPr lang="fa-IR" sz="1800" dirty="0"/>
              <a:t>تعداد دانشجویان ثبت‌نام‌شده در هر درس نباید بیشتر از 50 نفر باشد.</a:t>
            </a:r>
          </a:p>
          <a:p>
            <a:pPr algn="r" rtl="1"/>
            <a:r>
              <a:rPr lang="fa-IR" sz="1800" b="1" dirty="0"/>
              <a:t>پیاده‌سازی در </a:t>
            </a:r>
            <a:r>
              <a:rPr lang="en-US" sz="1800" b="1" dirty="0"/>
              <a:t>Oracle </a:t>
            </a:r>
            <a:r>
              <a:rPr lang="fa-IR" sz="1800" b="1" dirty="0"/>
              <a:t>با </a:t>
            </a:r>
            <a:r>
              <a:rPr lang="en-US" sz="1800" b="1" dirty="0"/>
              <a:t>Trigger</a:t>
            </a:r>
          </a:p>
          <a:p>
            <a:pPr algn="r" rtl="1"/>
            <a:endParaRPr lang="fa-IR" sz="1800" dirty="0"/>
          </a:p>
        </p:txBody>
      </p:sp>
      <p:sp>
        <p:nvSpPr>
          <p:cNvPr id="3" name="TextBox 2">
            <a:extLst>
              <a:ext uri="{FF2B5EF4-FFF2-40B4-BE49-F238E27FC236}">
                <a16:creationId xmlns:a16="http://schemas.microsoft.com/office/drawing/2014/main" id="{2F78790B-ACD4-E56A-A9C9-EDA3E3C751AE}"/>
              </a:ext>
            </a:extLst>
          </p:cNvPr>
          <p:cNvSpPr txBox="1"/>
          <p:nvPr/>
        </p:nvSpPr>
        <p:spPr>
          <a:xfrm>
            <a:off x="137786" y="3089424"/>
            <a:ext cx="4572000" cy="3416320"/>
          </a:xfrm>
          <a:prstGeom prst="rect">
            <a:avLst/>
          </a:prstGeom>
          <a:noFill/>
        </p:spPr>
        <p:txBody>
          <a:bodyPr wrap="square">
            <a:spAutoFit/>
          </a:bodyPr>
          <a:lstStyle/>
          <a:p>
            <a:r>
              <a:rPr lang="en-US" sz="1200" b="1" i="1" dirty="0"/>
              <a:t>CREATE OR REPLACE TRIGGER </a:t>
            </a:r>
            <a:r>
              <a:rPr lang="en-US" sz="1200" b="1" i="1" dirty="0" err="1"/>
              <a:t>trg_max_enrollment</a:t>
            </a:r>
            <a:endParaRPr lang="en-US" sz="1200" b="1" i="1" dirty="0"/>
          </a:p>
          <a:p>
            <a:r>
              <a:rPr lang="en-US" sz="1200" b="1" i="1" dirty="0"/>
              <a:t>AFTER INSERT OR UPDATE ON takes</a:t>
            </a:r>
          </a:p>
          <a:p>
            <a:r>
              <a:rPr lang="en-US" sz="1200" b="1" i="1" dirty="0"/>
              <a:t>FOR EACH ROW</a:t>
            </a:r>
          </a:p>
          <a:p>
            <a:r>
              <a:rPr lang="en-US" sz="1200" b="1" i="1" dirty="0"/>
              <a:t>DECLARE</a:t>
            </a:r>
          </a:p>
          <a:p>
            <a:r>
              <a:rPr lang="en-US" sz="1200" b="1" i="1" dirty="0"/>
              <a:t>    </a:t>
            </a:r>
            <a:r>
              <a:rPr lang="en-US" sz="1200" b="1" i="1" dirty="0" err="1"/>
              <a:t>v_count</a:t>
            </a:r>
            <a:r>
              <a:rPr lang="en-US" sz="1200" b="1" i="1" dirty="0"/>
              <a:t> NUMBER;</a:t>
            </a:r>
          </a:p>
          <a:p>
            <a:r>
              <a:rPr lang="en-US" sz="1200" b="1" i="1" dirty="0"/>
              <a:t>BEGIN</a:t>
            </a:r>
          </a:p>
          <a:p>
            <a:r>
              <a:rPr lang="en-US" sz="1200" b="1" i="1" dirty="0"/>
              <a:t>    SELECT COUNT(*)</a:t>
            </a:r>
          </a:p>
          <a:p>
            <a:r>
              <a:rPr lang="en-US" sz="1200" b="1" i="1" dirty="0"/>
              <a:t>    INTO </a:t>
            </a:r>
            <a:r>
              <a:rPr lang="en-US" sz="1200" b="1" i="1" dirty="0" err="1"/>
              <a:t>v_count</a:t>
            </a:r>
            <a:endParaRPr lang="en-US" sz="1200" b="1" i="1" dirty="0"/>
          </a:p>
          <a:p>
            <a:r>
              <a:rPr lang="en-US" sz="1200" b="1" i="1" dirty="0"/>
              <a:t>    FROM takes</a:t>
            </a:r>
          </a:p>
          <a:p>
            <a:r>
              <a:rPr lang="en-US" sz="1200" b="1" i="1" dirty="0"/>
              <a:t>    WHERE </a:t>
            </a:r>
            <a:r>
              <a:rPr lang="en-US" sz="1200" b="1" i="1" dirty="0" err="1"/>
              <a:t>course_id</a:t>
            </a:r>
            <a:r>
              <a:rPr lang="en-US" sz="1200" b="1" i="1" dirty="0"/>
              <a:t> = :</a:t>
            </a:r>
            <a:r>
              <a:rPr lang="en-US" sz="1200" b="1" i="1" dirty="0" err="1"/>
              <a:t>NEW.course_id</a:t>
            </a:r>
            <a:r>
              <a:rPr lang="en-US" sz="1200" b="1" i="1" dirty="0"/>
              <a:t>;</a:t>
            </a:r>
          </a:p>
          <a:p>
            <a:endParaRPr lang="en-US" sz="1200" b="1" i="1" dirty="0"/>
          </a:p>
          <a:p>
            <a:r>
              <a:rPr lang="en-US" sz="1200" b="1" i="1" dirty="0"/>
              <a:t>    IF </a:t>
            </a:r>
            <a:r>
              <a:rPr lang="en-US" sz="1200" b="1" i="1" dirty="0" err="1"/>
              <a:t>v_count</a:t>
            </a:r>
            <a:r>
              <a:rPr lang="en-US" sz="1200" b="1" i="1" dirty="0"/>
              <a:t> &gt; 50 THEN</a:t>
            </a:r>
          </a:p>
          <a:p>
            <a:r>
              <a:rPr lang="en-US" sz="1200" b="1" i="1" dirty="0"/>
              <a:t>        RAISE_APPLICATION_ERROR(</a:t>
            </a:r>
          </a:p>
          <a:p>
            <a:r>
              <a:rPr lang="en-US" sz="1200" b="1" i="1" dirty="0"/>
              <a:t>            -20001,</a:t>
            </a:r>
          </a:p>
          <a:p>
            <a:r>
              <a:rPr lang="en-US" sz="1200" b="1" i="1" dirty="0"/>
              <a:t>            '</a:t>
            </a:r>
            <a:r>
              <a:rPr lang="en-US" sz="1200" b="1" i="1" dirty="0" err="1"/>
              <a:t>حداکثر</a:t>
            </a:r>
            <a:r>
              <a:rPr lang="en-US" sz="1200" b="1" i="1" dirty="0"/>
              <a:t> </a:t>
            </a:r>
            <a:r>
              <a:rPr lang="en-US" sz="1200" b="1" i="1" dirty="0" err="1"/>
              <a:t>ظرفیت</a:t>
            </a:r>
            <a:r>
              <a:rPr lang="en-US" sz="1200" b="1" i="1" dirty="0"/>
              <a:t> </a:t>
            </a:r>
            <a:r>
              <a:rPr lang="en-US" sz="1200" b="1" i="1" dirty="0" err="1"/>
              <a:t>درس</a:t>
            </a:r>
            <a:r>
              <a:rPr lang="en-US" sz="1200" b="1" i="1" dirty="0"/>
              <a:t> </a:t>
            </a:r>
            <a:r>
              <a:rPr lang="en-US" sz="1200" b="1" i="1" dirty="0" err="1"/>
              <a:t>پر</a:t>
            </a:r>
            <a:r>
              <a:rPr lang="en-US" sz="1200" b="1" i="1" dirty="0"/>
              <a:t> </a:t>
            </a:r>
            <a:r>
              <a:rPr lang="en-US" sz="1200" b="1" i="1" dirty="0" err="1"/>
              <a:t>شده</a:t>
            </a:r>
            <a:r>
              <a:rPr lang="en-US" sz="1200" b="1" i="1" dirty="0"/>
              <a:t> </a:t>
            </a:r>
            <a:r>
              <a:rPr lang="en-US" sz="1200" b="1" i="1" dirty="0" err="1"/>
              <a:t>است</a:t>
            </a:r>
            <a:r>
              <a:rPr lang="en-US" sz="1200" b="1" i="1" dirty="0"/>
              <a:t>'</a:t>
            </a:r>
          </a:p>
          <a:p>
            <a:r>
              <a:rPr lang="en-US" sz="1200" b="1" i="1" dirty="0"/>
              <a:t>        );</a:t>
            </a:r>
          </a:p>
          <a:p>
            <a:r>
              <a:rPr lang="en-US" sz="1200" b="1" i="1" dirty="0"/>
              <a:t>    END IF;</a:t>
            </a:r>
          </a:p>
          <a:p>
            <a:r>
              <a:rPr lang="en-US" sz="1200" b="1" i="1" dirty="0"/>
              <a:t>END;</a:t>
            </a:r>
          </a:p>
        </p:txBody>
      </p:sp>
    </p:spTree>
    <p:extLst>
      <p:ext uri="{BB962C8B-B14F-4D97-AF65-F5344CB8AC3E}">
        <p14:creationId xmlns:p14="http://schemas.microsoft.com/office/powerpoint/2010/main" val="1092484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578" name="Rectangle 2"/>
          <p:cNvSpPr>
            <a:spLocks noGrp="1" noChangeArrowheads="1"/>
          </p:cNvSpPr>
          <p:nvPr>
            <p:ph type="title"/>
          </p:nvPr>
        </p:nvSpPr>
        <p:spPr>
          <a:xfrm>
            <a:off x="1217613" y="163513"/>
            <a:ext cx="7264400" cy="552450"/>
          </a:xfrm>
        </p:spPr>
        <p:txBody>
          <a:bodyPr/>
          <a:lstStyle/>
          <a:p>
            <a:pPr>
              <a:defRPr/>
            </a:pPr>
            <a:r>
              <a:rPr lang="en-US" sz="2800" dirty="0">
                <a:ea typeface="+mj-ea"/>
              </a:rPr>
              <a:t>Built-in Data Types in SQL </a:t>
            </a:r>
          </a:p>
        </p:txBody>
      </p:sp>
      <p:sp>
        <p:nvSpPr>
          <p:cNvPr id="70659" name="Rectangle 3"/>
          <p:cNvSpPr>
            <a:spLocks noGrp="1" noChangeArrowheads="1"/>
          </p:cNvSpPr>
          <p:nvPr>
            <p:ph idx="1"/>
          </p:nvPr>
        </p:nvSpPr>
        <p:spPr>
          <a:xfrm>
            <a:off x="237995" y="1102059"/>
            <a:ext cx="8720948" cy="5592427"/>
          </a:xfrm>
        </p:spPr>
        <p:txBody>
          <a:bodyPr/>
          <a:lstStyle/>
          <a:p>
            <a:pPr>
              <a:tabLst>
                <a:tab pos="1250950" algn="l"/>
              </a:tabLst>
            </a:pPr>
            <a:r>
              <a:rPr lang="en-US" altLang="en-US" sz="2400" b="1" dirty="0">
                <a:solidFill>
                  <a:srgbClr val="002060"/>
                </a:solidFill>
              </a:rPr>
              <a:t>date:</a:t>
            </a:r>
            <a:r>
              <a:rPr lang="en-US" altLang="en-US" sz="2400" dirty="0"/>
              <a:t>  </a:t>
            </a:r>
            <a:r>
              <a:rPr lang="fa-IR" altLang="en-US" sz="2400" dirty="0"/>
              <a:t>تاریخ، حاوی سال (۴ رقمی)، ماه و روز.</a:t>
            </a:r>
          </a:p>
          <a:p>
            <a:pPr lvl="1">
              <a:tabLst>
                <a:tab pos="1250950" algn="l"/>
              </a:tabLst>
            </a:pPr>
            <a:r>
              <a:rPr lang="en-US" altLang="en-US" sz="2400" dirty="0"/>
              <a:t>Example:  </a:t>
            </a:r>
            <a:r>
              <a:rPr lang="en-US" altLang="en-US" sz="2400" b="1" dirty="0"/>
              <a:t>date</a:t>
            </a:r>
            <a:r>
              <a:rPr lang="en-US" altLang="en-US" sz="2400" dirty="0"/>
              <a:t> '2005-7-27'</a:t>
            </a:r>
          </a:p>
          <a:p>
            <a:pPr>
              <a:tabLst>
                <a:tab pos="1250950" algn="l"/>
              </a:tabLst>
            </a:pPr>
            <a:r>
              <a:rPr lang="en-US" altLang="en-US" sz="2400" b="1" dirty="0">
                <a:solidFill>
                  <a:srgbClr val="002060"/>
                </a:solidFill>
              </a:rPr>
              <a:t>time:</a:t>
            </a:r>
            <a:r>
              <a:rPr lang="en-US" altLang="en-US" sz="2400" b="1" dirty="0"/>
              <a:t> </a:t>
            </a:r>
            <a:r>
              <a:rPr lang="en-US" altLang="en-US" sz="2400" dirty="0"/>
              <a:t> </a:t>
            </a:r>
            <a:r>
              <a:rPr lang="fa-IR" sz="2400" b="1" dirty="0"/>
              <a:t>زمان</a:t>
            </a:r>
            <a:r>
              <a:rPr lang="fa-IR" sz="2400" dirty="0"/>
              <a:t> روز، بر حسب ساعت، دقیقه و ثانیه.</a:t>
            </a:r>
          </a:p>
          <a:p>
            <a:pPr lvl="1">
              <a:tabLst>
                <a:tab pos="1250950" algn="l"/>
              </a:tabLst>
            </a:pPr>
            <a:r>
              <a:rPr lang="en-US" altLang="en-US" sz="2400" dirty="0"/>
              <a:t>Example: </a:t>
            </a:r>
            <a:r>
              <a:rPr lang="en-US" altLang="en-US" sz="2400" b="1" dirty="0"/>
              <a:t> time</a:t>
            </a:r>
            <a:r>
              <a:rPr lang="en-US" altLang="en-US" sz="2400" dirty="0"/>
              <a:t> '09:00:30'        </a:t>
            </a:r>
            <a:r>
              <a:rPr lang="en-US" altLang="en-US" sz="2400" b="1" dirty="0"/>
              <a:t> time</a:t>
            </a:r>
            <a:r>
              <a:rPr lang="en-US" altLang="en-US" sz="2400" dirty="0"/>
              <a:t> '09:00:30.75'</a:t>
            </a:r>
          </a:p>
          <a:p>
            <a:pPr>
              <a:tabLst>
                <a:tab pos="1250950" algn="l"/>
              </a:tabLst>
            </a:pPr>
            <a:r>
              <a:rPr lang="en-US" altLang="en-US" sz="2400" b="1" dirty="0">
                <a:solidFill>
                  <a:srgbClr val="002060"/>
                </a:solidFill>
              </a:rPr>
              <a:t>timestamp:</a:t>
            </a:r>
            <a:r>
              <a:rPr lang="en-US" altLang="en-US" sz="2400" dirty="0"/>
              <a:t> </a:t>
            </a:r>
            <a:r>
              <a:rPr lang="fa-IR" altLang="en-US" sz="2400" dirty="0"/>
              <a:t>تاریخ به‌علاوه زمان روز.</a:t>
            </a:r>
          </a:p>
          <a:p>
            <a:pPr lvl="1">
              <a:tabLst>
                <a:tab pos="1250950" algn="l"/>
              </a:tabLst>
            </a:pPr>
            <a:r>
              <a:rPr lang="en-US" altLang="en-US" sz="2400" dirty="0"/>
              <a:t>Example:  </a:t>
            </a:r>
            <a:r>
              <a:rPr lang="en-US" altLang="en-US" sz="2400" b="1" dirty="0"/>
              <a:t>timestamp</a:t>
            </a:r>
            <a:r>
              <a:rPr lang="en-US" altLang="en-US" sz="2400" dirty="0"/>
              <a:t>  '2005-7-27 09:00:30.75'</a:t>
            </a:r>
          </a:p>
          <a:p>
            <a:pPr>
              <a:tabLst>
                <a:tab pos="1250950" algn="l"/>
              </a:tabLst>
            </a:pPr>
            <a:r>
              <a:rPr lang="en-US" altLang="en-US" sz="2400" b="1" dirty="0">
                <a:solidFill>
                  <a:srgbClr val="002060"/>
                </a:solidFill>
              </a:rPr>
              <a:t>interval:</a:t>
            </a:r>
            <a:r>
              <a:rPr lang="en-US" altLang="en-US" sz="2400" dirty="0"/>
              <a:t>  </a:t>
            </a:r>
            <a:r>
              <a:rPr lang="fa-IR" sz="2400" dirty="0"/>
              <a:t>یک دوره زمانی.</a:t>
            </a:r>
          </a:p>
          <a:p>
            <a:pPr lvl="1">
              <a:tabLst>
                <a:tab pos="1250950" algn="l"/>
              </a:tabLst>
            </a:pPr>
            <a:r>
              <a:rPr lang="en-US" altLang="en-US" sz="2400" dirty="0"/>
              <a:t>Example:   interval  '1' day</a:t>
            </a:r>
          </a:p>
          <a:p>
            <a:pPr algn="r" rtl="1">
              <a:tabLst>
                <a:tab pos="1250950" algn="l"/>
              </a:tabLst>
            </a:pPr>
            <a:r>
              <a:rPr lang="fa-IR" altLang="en-US" sz="2400" b="1" dirty="0"/>
              <a:t>تفریق یک مقدار تاریخ/زمان/برچسب زمانی از دیگری، یک مقدار بازه زمانی به دست می‌دهد.</a:t>
            </a:r>
          </a:p>
          <a:p>
            <a:pPr algn="r" rtl="1">
              <a:tabLst>
                <a:tab pos="1250950" algn="l"/>
              </a:tabLst>
            </a:pPr>
            <a:r>
              <a:rPr lang="fa-IR" altLang="en-US" sz="2400" b="1" dirty="0"/>
              <a:t>مقادیر بازه زمانی را می‌توان به مقادیر تاریخ/زمان/برچسب زمانی اضافه کرد.</a:t>
            </a:r>
            <a:endParaRPr lang="en-US" alt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674" name="Rectangle 2"/>
          <p:cNvSpPr>
            <a:spLocks noGrp="1" noChangeArrowheads="1"/>
          </p:cNvSpPr>
          <p:nvPr>
            <p:ph type="title"/>
          </p:nvPr>
        </p:nvSpPr>
        <p:spPr/>
        <p:txBody>
          <a:bodyPr/>
          <a:lstStyle/>
          <a:p>
            <a:pPr rtl="1">
              <a:defRPr/>
            </a:pPr>
            <a:r>
              <a:rPr lang="fa-IR" dirty="0"/>
              <a:t>نوع داده‌ای اشیاء بزرگ</a:t>
            </a:r>
            <a:r>
              <a:rPr lang="en-US" dirty="0"/>
              <a:t>(Large-Object)</a:t>
            </a:r>
            <a:endParaRPr lang="en-US" sz="2800" dirty="0">
              <a:ea typeface="+mj-ea"/>
            </a:endParaRPr>
          </a:p>
        </p:txBody>
      </p:sp>
      <p:sp>
        <p:nvSpPr>
          <p:cNvPr id="76803" name="Rectangle 3"/>
          <p:cNvSpPr>
            <a:spLocks noGrp="1" noChangeArrowheads="1"/>
          </p:cNvSpPr>
          <p:nvPr>
            <p:ph idx="1"/>
          </p:nvPr>
        </p:nvSpPr>
        <p:spPr>
          <a:xfrm>
            <a:off x="0" y="1121229"/>
            <a:ext cx="8845550" cy="4931228"/>
          </a:xfrm>
        </p:spPr>
        <p:txBody>
          <a:bodyPr/>
          <a:lstStyle/>
          <a:p>
            <a:pPr algn="r" rtl="1"/>
            <a:r>
              <a:rPr lang="fa-IR" altLang="en-US" sz="2400" dirty="0"/>
              <a:t>اشیاء بزرگ (مانند عکس‌ها، ویدئوها، فایل‌های </a:t>
            </a:r>
            <a:r>
              <a:rPr lang="en-US" altLang="en-US" sz="2400" dirty="0"/>
              <a:t>CAD </a:t>
            </a:r>
            <a:r>
              <a:rPr lang="fa-IR" altLang="en-US" sz="2400" dirty="0"/>
              <a:t>و غیره) به صورت یک شیء بزرگ ذخیره می‌شوند:</a:t>
            </a:r>
            <a:endParaRPr lang="en-US" altLang="en-US" sz="2400" dirty="0"/>
          </a:p>
          <a:p>
            <a:pPr algn="r" rtl="1"/>
            <a:endParaRPr lang="fa-IR" altLang="en-US" sz="2400" dirty="0"/>
          </a:p>
          <a:p>
            <a:pPr lvl="1" algn="r" rtl="1"/>
            <a:r>
              <a:rPr lang="en-US" altLang="en-US" sz="2400" b="1" dirty="0"/>
              <a:t> - </a:t>
            </a:r>
            <a:r>
              <a:rPr lang="en-US" altLang="en-US" sz="2400" dirty="0"/>
              <a:t>Binary Large Object </a:t>
            </a:r>
            <a:r>
              <a:rPr lang="en-US" altLang="en-US" sz="2400" b="1" dirty="0"/>
              <a:t>)</a:t>
            </a:r>
            <a:r>
              <a:rPr lang="en-US" altLang="en-US" sz="2400" b="1" dirty="0">
                <a:solidFill>
                  <a:srgbClr val="002060"/>
                </a:solidFill>
              </a:rPr>
              <a:t>BLOB</a:t>
            </a:r>
            <a:r>
              <a:rPr lang="en-US" altLang="en-US" sz="2400" dirty="0"/>
              <a:t> </a:t>
            </a:r>
            <a:r>
              <a:rPr lang="fa-IR" altLang="en-US" sz="2400" dirty="0"/>
              <a:t>شیء بزرگ دودویی</a:t>
            </a:r>
            <a:r>
              <a:rPr lang="en-US" altLang="en-US" sz="2400" b="1" dirty="0"/>
              <a:t>(</a:t>
            </a:r>
            <a:r>
              <a:rPr lang="fa-IR" altLang="en-US" sz="2400" dirty="0"/>
              <a:t>: شیء عبارت است از یک مجموعه بزرگ از داده‌های دودویی تفسیرنشده (که تفسیر آن به یک برنامه کاربردی خارج از سیستم پایگاه داده سپرده می‌شود).</a:t>
            </a:r>
          </a:p>
          <a:p>
            <a:pPr lvl="1" algn="r" rtl="1"/>
            <a:r>
              <a:rPr lang="en-US" altLang="en-US" sz="2400" b="1" dirty="0"/>
              <a:t> - </a:t>
            </a:r>
            <a:r>
              <a:rPr lang="en-US" altLang="en-US" sz="2400" dirty="0"/>
              <a:t>Character Large Object </a:t>
            </a:r>
            <a:r>
              <a:rPr lang="en-US" altLang="en-US" sz="2400" b="1" dirty="0"/>
              <a:t>)</a:t>
            </a:r>
            <a:r>
              <a:rPr lang="en-US" altLang="en-US" sz="2400" b="1" dirty="0">
                <a:solidFill>
                  <a:srgbClr val="002060"/>
                </a:solidFill>
              </a:rPr>
              <a:t> CLOB</a:t>
            </a:r>
            <a:r>
              <a:rPr lang="en-US" altLang="en-US" sz="2400" dirty="0"/>
              <a:t> </a:t>
            </a:r>
            <a:r>
              <a:rPr lang="fa-IR" altLang="en-US" sz="2400" dirty="0"/>
              <a:t>شیء بزرگ کاراکتری </a:t>
            </a:r>
            <a:r>
              <a:rPr lang="en-US" altLang="en-US" sz="2400" b="1" dirty="0"/>
              <a:t>(</a:t>
            </a:r>
            <a:r>
              <a:rPr lang="fa-IR" altLang="en-US" sz="2400" dirty="0"/>
              <a:t>: شیء عبارت است از یک مجموعه بزرگ از داده‌های کاراکتری.</a:t>
            </a:r>
            <a:endParaRPr lang="en-US" altLang="en-US" sz="2400" dirty="0"/>
          </a:p>
          <a:p>
            <a:pPr lvl="1" algn="r" rtl="1"/>
            <a:endParaRPr lang="en-US" altLang="en-US" sz="2400" dirty="0"/>
          </a:p>
          <a:p>
            <a:pPr algn="r" rtl="1"/>
            <a:r>
              <a:rPr lang="fa-IR" sz="2400" dirty="0"/>
              <a:t>هنگامی که یک پرس‌وجو یک شیء بزرگ را باز می‌گرداند، به جای خود شیء بزرگ، یک </a:t>
            </a:r>
            <a:r>
              <a:rPr lang="fa-IR" sz="2400" b="1" dirty="0"/>
              <a:t>اشاره‌گر</a:t>
            </a:r>
            <a:r>
              <a:rPr lang="fa-IR" sz="2400" dirty="0"/>
              <a:t> </a:t>
            </a:r>
            <a:r>
              <a:rPr lang="en-US" sz="2400" dirty="0"/>
              <a:t> (Pointer) </a:t>
            </a:r>
            <a:r>
              <a:rPr lang="fa-IR" sz="2400" dirty="0"/>
              <a:t>بازگردانده می‌شود.</a:t>
            </a:r>
            <a:endParaRPr lang="en-US" alt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626" name="Rectangle 2"/>
          <p:cNvSpPr>
            <a:spLocks noGrp="1" noChangeArrowheads="1"/>
          </p:cNvSpPr>
          <p:nvPr>
            <p:ph type="title"/>
          </p:nvPr>
        </p:nvSpPr>
        <p:spPr/>
        <p:txBody>
          <a:bodyPr/>
          <a:lstStyle/>
          <a:p>
            <a:pPr>
              <a:defRPr/>
            </a:pPr>
            <a:r>
              <a:rPr lang="en-US" sz="2800" dirty="0">
                <a:ea typeface="+mj-ea"/>
              </a:rPr>
              <a:t>(User-Defined) </a:t>
            </a:r>
            <a:r>
              <a:rPr lang="fa-IR" sz="2800" dirty="0">
                <a:ea typeface="+mj-ea"/>
              </a:rPr>
              <a:t>نوع داده‌ای تعریف شده توسط کاربر</a:t>
            </a:r>
            <a:endParaRPr lang="en-US" sz="2800" dirty="0">
              <a:ea typeface="+mj-ea"/>
            </a:endParaRPr>
          </a:p>
        </p:txBody>
      </p:sp>
      <p:sp>
        <p:nvSpPr>
          <p:cNvPr id="73731" name="Rectangle 3"/>
          <p:cNvSpPr>
            <a:spLocks noGrp="1" noChangeArrowheads="1"/>
          </p:cNvSpPr>
          <p:nvPr>
            <p:ph idx="1"/>
          </p:nvPr>
        </p:nvSpPr>
        <p:spPr>
          <a:xfrm>
            <a:off x="438411" y="1135063"/>
            <a:ext cx="7949686" cy="4476597"/>
          </a:xfrm>
        </p:spPr>
        <p:txBody>
          <a:bodyPr/>
          <a:lstStyle/>
          <a:p>
            <a:pPr lvl="1" algn="r" rtl="1">
              <a:buFont typeface="Wingdings" panose="05000000000000000000" pitchFamily="2" charset="2"/>
              <a:buChar char="§"/>
              <a:tabLst>
                <a:tab pos="1146175" algn="l"/>
                <a:tab pos="1890713" algn="l"/>
              </a:tabLst>
            </a:pPr>
            <a:r>
              <a:rPr lang="fa-IR" altLang="en-US" sz="2400" dirty="0">
                <a:cs typeface="B Nazanin" panose="00000400000000000000" pitchFamily="50" charset="-78"/>
              </a:rPr>
              <a:t>ساختار </a:t>
            </a:r>
            <a:r>
              <a:rPr lang="en-US" altLang="en-US" sz="2400" dirty="0">
                <a:cs typeface="B Nazanin" panose="00000400000000000000" pitchFamily="50" charset="-78"/>
              </a:rPr>
              <a:t>CREATE TYPE</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در </a:t>
            </a:r>
            <a:r>
              <a:rPr lang="en-US" altLang="en-US" sz="2400" dirty="0">
                <a:cs typeface="B Nazanin" panose="00000400000000000000" pitchFamily="50" charset="-78"/>
              </a:rPr>
              <a:t>SQL</a:t>
            </a:r>
            <a:r>
              <a:rPr lang="fa-IR" altLang="en-US" sz="2400" dirty="0">
                <a:cs typeface="B Nazanin" panose="00000400000000000000" pitchFamily="50" charset="-78"/>
              </a:rPr>
              <a:t> </a:t>
            </a:r>
            <a:r>
              <a:rPr lang="en-US" altLang="en-US" sz="2400" dirty="0">
                <a:cs typeface="B Nazanin" panose="00000400000000000000" pitchFamily="50" charset="-78"/>
              </a:rPr>
              <a:t>، </a:t>
            </a:r>
            <a:r>
              <a:rPr lang="fa-IR" altLang="en-US" sz="2400" dirty="0">
                <a:cs typeface="B Nazanin" panose="00000400000000000000" pitchFamily="50" charset="-78"/>
              </a:rPr>
              <a:t>انواع تعریف‌شده توسط کاربر را ایجاد می‌کند</a:t>
            </a:r>
            <a:endParaRPr lang="en-US" altLang="en-US" sz="2400" b="1" dirty="0"/>
          </a:p>
          <a:p>
            <a:pPr lvl="1">
              <a:buFont typeface="Monotype Sorts" charset="2"/>
              <a:buNone/>
              <a:tabLst>
                <a:tab pos="1146175" algn="l"/>
                <a:tab pos="1890713" algn="l"/>
              </a:tabLst>
            </a:pPr>
            <a:r>
              <a:rPr lang="en-US" altLang="en-US" sz="2400" b="1" dirty="0"/>
              <a:t>create type </a:t>
            </a:r>
            <a:r>
              <a:rPr lang="en-US" altLang="en-US" sz="2400" i="1" dirty="0"/>
              <a:t>Dollars</a:t>
            </a:r>
            <a:r>
              <a:rPr lang="en-US" altLang="en-US" sz="2400" b="1" dirty="0"/>
              <a:t> as numeric (12,2) final </a:t>
            </a:r>
            <a:br>
              <a:rPr lang="en-US" altLang="en-US" sz="2400" b="1" dirty="0"/>
            </a:br>
            <a:r>
              <a:rPr lang="en-US" altLang="en-US" sz="1050" b="1" dirty="0"/>
              <a:t> </a:t>
            </a:r>
            <a:endParaRPr lang="en-US" altLang="en-US" sz="1050" dirty="0"/>
          </a:p>
          <a:p>
            <a:pPr algn="r" rtl="1">
              <a:tabLst>
                <a:tab pos="1146175" algn="l"/>
                <a:tab pos="1890713" algn="l"/>
              </a:tabLst>
            </a:pPr>
            <a:r>
              <a:rPr lang="fa-IR" altLang="en-US" sz="2400" dirty="0"/>
              <a:t>مثال:</a:t>
            </a:r>
            <a:endParaRPr lang="en-US" altLang="en-US" sz="2400" dirty="0"/>
          </a:p>
          <a:p>
            <a:pPr>
              <a:buNone/>
              <a:tabLst>
                <a:tab pos="1146175" algn="l"/>
                <a:tab pos="1890713" algn="l"/>
              </a:tabLst>
            </a:pPr>
            <a:r>
              <a:rPr lang="en-US" altLang="en-US" sz="2400" b="1" dirty="0"/>
              <a:t>create table </a:t>
            </a:r>
            <a:r>
              <a:rPr lang="en-US" altLang="en-US" sz="2400" i="1" dirty="0"/>
              <a:t>department</a:t>
            </a:r>
            <a:br>
              <a:rPr lang="en-US" altLang="en-US" sz="2400" i="1" dirty="0"/>
            </a:br>
            <a:r>
              <a:rPr lang="en-US" altLang="en-US" sz="2400" i="1" dirty="0"/>
              <a:t>     </a:t>
            </a:r>
            <a:r>
              <a:rPr lang="en-US" altLang="en-US" sz="2400" dirty="0"/>
              <a:t>(</a:t>
            </a:r>
            <a:r>
              <a:rPr lang="en-US" altLang="en-US" sz="2400" i="1" dirty="0"/>
              <a:t>dept_name </a:t>
            </a:r>
            <a:r>
              <a:rPr lang="en-US" altLang="en-US" sz="2400" b="1" dirty="0"/>
              <a:t>varchar </a:t>
            </a:r>
            <a:r>
              <a:rPr lang="en-US" altLang="en-US" sz="2400" dirty="0"/>
              <a:t>(20),</a:t>
            </a:r>
            <a:br>
              <a:rPr lang="en-US" altLang="en-US" sz="2400" dirty="0"/>
            </a:br>
            <a:r>
              <a:rPr lang="fa-IR" altLang="en-US" sz="2400" dirty="0"/>
              <a:t>       </a:t>
            </a:r>
            <a:r>
              <a:rPr lang="en-US" altLang="en-US" sz="2400" i="1" dirty="0"/>
              <a:t>building </a:t>
            </a:r>
            <a:r>
              <a:rPr lang="en-US" altLang="en-US" sz="2400" b="1" dirty="0"/>
              <a:t>varchar </a:t>
            </a:r>
            <a:r>
              <a:rPr lang="en-US" altLang="en-US" sz="2400" dirty="0"/>
              <a:t>(15),</a:t>
            </a:r>
            <a:br>
              <a:rPr lang="en-US" altLang="en-US" sz="2400" dirty="0"/>
            </a:br>
            <a:r>
              <a:rPr lang="fa-IR" altLang="en-US" sz="2400" dirty="0"/>
              <a:t>       </a:t>
            </a:r>
            <a:r>
              <a:rPr lang="en-US" altLang="en-US" sz="2400" i="1" dirty="0"/>
              <a:t>budget Dollars</a:t>
            </a:r>
            <a:r>
              <a:rPr lang="en-US" altLang="en-US" sz="2400" dirty="0"/>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818" name="Rectangle 2"/>
          <p:cNvSpPr>
            <a:spLocks noGrp="1" noChangeArrowheads="1"/>
          </p:cNvSpPr>
          <p:nvPr>
            <p:ph type="title"/>
          </p:nvPr>
        </p:nvSpPr>
        <p:spPr>
          <a:xfrm>
            <a:off x="768350" y="177635"/>
            <a:ext cx="8077200" cy="609600"/>
          </a:xfrm>
        </p:spPr>
        <p:txBody>
          <a:bodyPr/>
          <a:lstStyle/>
          <a:p>
            <a:pPr rtl="1">
              <a:defRPr/>
            </a:pPr>
            <a:r>
              <a:rPr lang="fa-IR" dirty="0">
                <a:ea typeface="+mj-ea"/>
              </a:rPr>
              <a:t>دامنه‌ها - </a:t>
            </a:r>
            <a:r>
              <a:rPr lang="en-US" sz="2800" dirty="0">
                <a:ea typeface="+mj-ea"/>
              </a:rPr>
              <a:t>Domains</a:t>
            </a:r>
            <a:r>
              <a:rPr lang="fa-IR" sz="2800" dirty="0">
                <a:ea typeface="+mj-ea"/>
              </a:rPr>
              <a:t> </a:t>
            </a:r>
            <a:endParaRPr lang="en-US" sz="2800" dirty="0">
              <a:ea typeface="+mj-ea"/>
            </a:endParaRPr>
          </a:p>
        </p:txBody>
      </p:sp>
      <p:sp>
        <p:nvSpPr>
          <p:cNvPr id="75779" name="Rectangle 3"/>
          <p:cNvSpPr>
            <a:spLocks noGrp="1" noChangeArrowheads="1"/>
          </p:cNvSpPr>
          <p:nvPr>
            <p:ph idx="1"/>
          </p:nvPr>
        </p:nvSpPr>
        <p:spPr>
          <a:xfrm>
            <a:off x="97971" y="1132113"/>
            <a:ext cx="9046029" cy="5464629"/>
          </a:xfrm>
        </p:spPr>
        <p:txBody>
          <a:bodyPr/>
          <a:lstStyle/>
          <a:p>
            <a:pPr algn="r" rtl="1"/>
            <a:r>
              <a:rPr lang="fa-IR" altLang="en-US" sz="2400" dirty="0"/>
              <a:t>ساختار </a:t>
            </a:r>
            <a:r>
              <a:rPr lang="en-US" altLang="en-US" sz="2400" dirty="0"/>
              <a:t>CREATE DOMAIN</a:t>
            </a:r>
            <a:r>
              <a:rPr lang="fa-IR" altLang="en-US" sz="2400" dirty="0"/>
              <a:t> </a:t>
            </a:r>
            <a:r>
              <a:rPr lang="en-US" altLang="en-US" sz="2400" dirty="0"/>
              <a:t> </a:t>
            </a:r>
            <a:r>
              <a:rPr lang="fa-IR" altLang="en-US" sz="2400" dirty="0"/>
              <a:t>در </a:t>
            </a:r>
            <a:r>
              <a:rPr lang="en-US" altLang="en-US" sz="2400" dirty="0"/>
              <a:t>SQL-92</a:t>
            </a:r>
            <a:r>
              <a:rPr lang="fa-IR" altLang="en-US" sz="2400" dirty="0"/>
              <a:t> </a:t>
            </a:r>
            <a:r>
              <a:rPr lang="en-US" altLang="en-US" sz="2400" dirty="0"/>
              <a:t>، </a:t>
            </a:r>
            <a:r>
              <a:rPr lang="fa-IR" altLang="en-US" sz="2400" dirty="0"/>
              <a:t>انواع دامنه تعریف‌شده توسط کاربر را ایجاد می‌کند</a:t>
            </a:r>
            <a:r>
              <a:rPr lang="en-US" altLang="en-US" sz="1050" dirty="0"/>
              <a:t> </a:t>
            </a:r>
          </a:p>
          <a:p>
            <a:pPr lvl="1">
              <a:buFont typeface="Monotype Sorts" charset="2"/>
              <a:buNone/>
            </a:pPr>
            <a:r>
              <a:rPr lang="en-US" altLang="en-US" sz="2400" b="1" dirty="0"/>
              <a:t>create domain </a:t>
            </a:r>
            <a:r>
              <a:rPr lang="en-US" altLang="en-US" sz="2400" i="1" dirty="0" err="1"/>
              <a:t>person_name</a:t>
            </a:r>
            <a:r>
              <a:rPr lang="en-US" altLang="en-US" sz="2400" i="1" dirty="0"/>
              <a:t> </a:t>
            </a:r>
            <a:r>
              <a:rPr lang="en-US" altLang="en-US" sz="2400" b="1" dirty="0"/>
              <a:t>char</a:t>
            </a:r>
            <a:r>
              <a:rPr lang="en-US" altLang="en-US" sz="2400" dirty="0"/>
              <a:t>(20) </a:t>
            </a:r>
            <a:r>
              <a:rPr lang="en-US" altLang="en-US" sz="2400" b="1" dirty="0"/>
              <a:t>not null</a:t>
            </a:r>
          </a:p>
          <a:p>
            <a:pPr lvl="1">
              <a:buFont typeface="Monotype Sorts" charset="2"/>
              <a:buNone/>
            </a:pPr>
            <a:r>
              <a:rPr lang="en-US" altLang="en-US" sz="1050" dirty="0"/>
              <a:t> </a:t>
            </a:r>
          </a:p>
          <a:p>
            <a:pPr algn="r" rtl="1"/>
            <a:r>
              <a:rPr lang="fa-IR" altLang="en-US" sz="2400" dirty="0"/>
              <a:t>انواع و دامنه‌ها مشابه هستند. می‌توان برای دامنه‌ها، قیودی مانند </a:t>
            </a:r>
            <a:r>
              <a:rPr lang="en-US" altLang="en-US" sz="2400" dirty="0"/>
              <a:t>null</a:t>
            </a:r>
            <a:r>
              <a:rPr lang="fa-IR" altLang="en-US" sz="2400" dirty="0"/>
              <a:t> نبودن را بر روی آن‌ها مشخص کرد.</a:t>
            </a:r>
            <a:endParaRPr lang="en-US" altLang="en-US" sz="2400" dirty="0"/>
          </a:p>
          <a:p>
            <a:pPr algn="r" rtl="1"/>
            <a:r>
              <a:rPr lang="fa-IR" altLang="en-US" sz="2400" dirty="0"/>
              <a:t>مثال: </a:t>
            </a:r>
            <a:endParaRPr lang="en-US" altLang="en-US" sz="2400" b="1" dirty="0"/>
          </a:p>
          <a:p>
            <a:pPr>
              <a:buNone/>
            </a:pPr>
            <a:r>
              <a:rPr lang="en-US" altLang="en-US" sz="2400" b="1" dirty="0"/>
              <a:t>create domain </a:t>
            </a:r>
            <a:r>
              <a:rPr lang="en-US" altLang="en-US" sz="2400" i="1" dirty="0" err="1"/>
              <a:t>degree_level</a:t>
            </a:r>
            <a:r>
              <a:rPr lang="en-US" altLang="en-US" sz="2400" i="1" dirty="0"/>
              <a:t> </a:t>
            </a:r>
            <a:r>
              <a:rPr lang="en-US" altLang="en-US" sz="2400" b="1" dirty="0"/>
              <a:t>varchar</a:t>
            </a:r>
            <a:r>
              <a:rPr lang="en-US" altLang="en-US" sz="2400" dirty="0"/>
              <a:t>(10)</a:t>
            </a:r>
            <a:br>
              <a:rPr lang="en-US" altLang="en-US" sz="2400" dirty="0"/>
            </a:br>
            <a:r>
              <a:rPr lang="en-US" altLang="en-US" sz="2400" b="1" dirty="0"/>
              <a:t>constraint </a:t>
            </a:r>
            <a:r>
              <a:rPr lang="en-US" altLang="en-US" sz="2400" i="1" dirty="0" err="1"/>
              <a:t>degree_level_test</a:t>
            </a:r>
            <a:br>
              <a:rPr lang="en-US" altLang="en-US" sz="2400" i="1" dirty="0"/>
            </a:br>
            <a:r>
              <a:rPr lang="en-US" altLang="en-US" sz="2400" b="1" dirty="0"/>
              <a:t>check </a:t>
            </a:r>
            <a:r>
              <a:rPr lang="en-US" altLang="en-US" sz="2400" dirty="0"/>
              <a:t>(</a:t>
            </a:r>
            <a:r>
              <a:rPr lang="en-US" altLang="en-US" sz="2400" b="1" dirty="0"/>
              <a:t>value in </a:t>
            </a:r>
            <a:r>
              <a:rPr lang="en-US" altLang="en-US" sz="2400" dirty="0"/>
              <a:t>('Bachelors', 'Masters', 'Doctorate'));</a:t>
            </a:r>
          </a:p>
          <a:p>
            <a:endParaRPr lang="en-US" alt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ایجاد شاخص </a:t>
            </a:r>
            <a:r>
              <a:rPr lang="en-US" dirty="0"/>
              <a:t>(Index)</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81419" y="1093789"/>
            <a:ext cx="8918532" cy="4956282"/>
          </a:xfrm>
        </p:spPr>
        <p:txBody>
          <a:bodyPr/>
          <a:lstStyle/>
          <a:p>
            <a:pPr algn="r" rtl="1">
              <a:lnSpc>
                <a:spcPct val="150000"/>
              </a:lnSpc>
            </a:pPr>
            <a:r>
              <a:rPr lang="fa-IR" altLang="en-US" sz="2400" dirty="0"/>
              <a:t>بسیاری از پرس‌وجوها تنها به بخش کوچکی از رکوردهای یک جدول ارجاع می‌دهند.</a:t>
            </a:r>
            <a:endParaRPr lang="en-US" altLang="en-US" sz="2400" dirty="0"/>
          </a:p>
          <a:p>
            <a:pPr algn="r" rtl="1">
              <a:lnSpc>
                <a:spcPct val="150000"/>
              </a:lnSpc>
            </a:pPr>
            <a:r>
              <a:rPr lang="fa-IR" sz="2400" dirty="0"/>
              <a:t>خواندن هر رکورد برای یافتن یک رکورد با مقدار مشخص، برای سیستم </a:t>
            </a:r>
            <a:r>
              <a:rPr lang="fa-IR" sz="2400" b="1" dirty="0"/>
              <a:t>ناکارآمد</a:t>
            </a:r>
            <a:r>
              <a:rPr lang="fa-IR" sz="2400" dirty="0"/>
              <a:t> است.</a:t>
            </a:r>
            <a:endParaRPr lang="en-US" sz="2400" dirty="0"/>
          </a:p>
          <a:p>
            <a:pPr algn="r" rtl="1">
              <a:lnSpc>
                <a:spcPct val="150000"/>
              </a:lnSpc>
            </a:pPr>
            <a:r>
              <a:rPr lang="fa-IR" altLang="en-US" sz="2400" b="1" dirty="0">
                <a:solidFill>
                  <a:srgbClr val="002060"/>
                </a:solidFill>
              </a:rPr>
              <a:t>شاخص</a:t>
            </a:r>
            <a:r>
              <a:rPr lang="fa-IR" altLang="en-US" sz="2400" dirty="0"/>
              <a:t> بر روی یک صفت از یک رابطه، یک ساختار داده است که به سیستم پایگاه داده اجازه می‌دهد تاپل‌هایی را در آن رابطه که دارای یک مقدار مشخص برای آن صفت هستند، به‌طور کارآمد و بدون پیمایش تمامی تاپل‌های رابطه، بیابد.</a:t>
            </a:r>
            <a:endParaRPr lang="en-US" altLang="en-US" sz="2400" dirty="0"/>
          </a:p>
          <a:p>
            <a:pPr algn="r" rtl="1">
              <a:lnSpc>
                <a:spcPct val="150000"/>
              </a:lnSpc>
            </a:pPr>
            <a:r>
              <a:rPr lang="fa-IR" altLang="en-US" sz="2400" dirty="0"/>
              <a:t>ما یک شاخص را با استفاده از دستور </a:t>
            </a:r>
            <a:r>
              <a:rPr lang="en-US" altLang="en-US" sz="2400" dirty="0"/>
              <a:t> CREATE INDEX </a:t>
            </a:r>
            <a:r>
              <a:rPr lang="fa-IR" altLang="en-US" sz="2400" dirty="0"/>
              <a:t>ایجاد می‌کنیم:</a:t>
            </a:r>
            <a:endParaRPr lang="en-US" altLang="en-US" sz="2400" dirty="0"/>
          </a:p>
          <a:p>
            <a:pPr marL="0" indent="0" algn="l">
              <a:lnSpc>
                <a:spcPct val="150000"/>
              </a:lnSpc>
              <a:buNone/>
            </a:pPr>
            <a:r>
              <a:rPr lang="en-US" altLang="en-US" sz="2400" dirty="0"/>
              <a:t>         </a:t>
            </a:r>
            <a:r>
              <a:rPr lang="en-US" altLang="en-US" sz="2400" b="1" dirty="0"/>
              <a:t>create index </a:t>
            </a:r>
            <a:r>
              <a:rPr lang="en-US" altLang="en-US" sz="2400" dirty="0"/>
              <a:t>&lt;name&gt; </a:t>
            </a:r>
            <a:r>
              <a:rPr lang="en-US" altLang="en-US" sz="2400" b="1" dirty="0"/>
              <a:t>on </a:t>
            </a:r>
            <a:r>
              <a:rPr lang="en-US" altLang="en-US" sz="2400" dirty="0"/>
              <a:t>&lt;relation-name&gt; (attribute);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fa-IR" altLang="en-US" dirty="0">
                <a:effectLst>
                  <a:outerShdw blurRad="38100" dist="38100" dir="2700000" algn="tl">
                    <a:srgbClr val="C0C0C0"/>
                  </a:outerShdw>
                </a:effectLst>
              </a:rPr>
              <a:t>مثال ساخت شاخص</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424543" y="951978"/>
            <a:ext cx="8421007" cy="5492365"/>
          </a:xfrm>
        </p:spPr>
        <p:txBody>
          <a:bodyPr/>
          <a:lstStyle/>
          <a:p>
            <a:r>
              <a:rPr lang="en-US" altLang="en-US" sz="2400" b="1" dirty="0"/>
              <a:t>create table </a:t>
            </a:r>
            <a:r>
              <a:rPr lang="en-US" altLang="en-US" sz="2400" i="1" dirty="0"/>
              <a:t>student	</a:t>
            </a:r>
            <a:br>
              <a:rPr lang="en-US" altLang="en-US" sz="2400" i="1" dirty="0"/>
            </a:br>
            <a:r>
              <a:rPr lang="en-US" altLang="en-US" sz="2400" dirty="0"/>
              <a:t>(</a:t>
            </a:r>
            <a:r>
              <a:rPr lang="en-US" altLang="en-US" sz="2400" i="1" dirty="0"/>
              <a:t>ID </a:t>
            </a:r>
            <a:r>
              <a:rPr lang="en-US" altLang="en-US" sz="2400" b="1" dirty="0" err="1"/>
              <a:t>varchar</a:t>
            </a:r>
            <a:r>
              <a:rPr lang="en-US" altLang="en-US" sz="2400" b="1" dirty="0"/>
              <a:t> </a:t>
            </a:r>
            <a:r>
              <a:rPr lang="en-US" altLang="en-US" sz="2400" dirty="0"/>
              <a:t>(5),</a:t>
            </a:r>
            <a:br>
              <a:rPr lang="en-US" altLang="en-US" sz="2400" dirty="0"/>
            </a:br>
            <a:r>
              <a:rPr lang="en-US" altLang="en-US" sz="2400" i="1" dirty="0"/>
              <a:t>name </a:t>
            </a:r>
            <a:r>
              <a:rPr lang="en-US" altLang="en-US" sz="2400" b="1" dirty="0" err="1"/>
              <a:t>varchar</a:t>
            </a:r>
            <a:r>
              <a:rPr lang="en-US" altLang="en-US" sz="2400" b="1" dirty="0"/>
              <a:t> </a:t>
            </a:r>
            <a:r>
              <a:rPr lang="en-US" altLang="en-US" sz="2400" dirty="0"/>
              <a:t>(20) </a:t>
            </a:r>
            <a:r>
              <a:rPr lang="en-US" altLang="en-US" sz="2400" b="1" dirty="0"/>
              <a:t>not null</a:t>
            </a:r>
            <a:r>
              <a:rPr lang="en-US" altLang="en-US" sz="2400" dirty="0"/>
              <a:t>,</a:t>
            </a:r>
            <a:br>
              <a:rPr lang="en-US" altLang="en-US" sz="2400" dirty="0"/>
            </a:br>
            <a:r>
              <a:rPr lang="en-US" altLang="en-US" sz="2400" i="1" dirty="0"/>
              <a:t>dept_name </a:t>
            </a:r>
            <a:r>
              <a:rPr lang="en-US" altLang="en-US" sz="2400" b="1" dirty="0" err="1"/>
              <a:t>varchar</a:t>
            </a:r>
            <a:r>
              <a:rPr lang="en-US" altLang="en-US" sz="2400" b="1" dirty="0"/>
              <a:t> </a:t>
            </a:r>
            <a:r>
              <a:rPr lang="en-US" altLang="en-US" sz="2400" dirty="0"/>
              <a:t>(20),</a:t>
            </a:r>
            <a:br>
              <a:rPr lang="en-US" altLang="en-US" sz="2400" dirty="0"/>
            </a:br>
            <a:r>
              <a:rPr lang="en-US" altLang="en-US" sz="2400" i="1" dirty="0"/>
              <a:t>tot_cred </a:t>
            </a:r>
            <a:r>
              <a:rPr lang="en-US" altLang="en-US" sz="2400" b="1" dirty="0"/>
              <a:t>numeric </a:t>
            </a:r>
            <a:r>
              <a:rPr lang="en-US" altLang="en-US" sz="2400" dirty="0"/>
              <a:t>(3,0) </a:t>
            </a:r>
            <a:r>
              <a:rPr lang="en-US" altLang="en-US" sz="2400" b="1" dirty="0"/>
              <a:t>default </a:t>
            </a:r>
            <a:r>
              <a:rPr lang="en-US" altLang="en-US" sz="2400" dirty="0"/>
              <a:t>0,</a:t>
            </a:r>
            <a:br>
              <a:rPr lang="en-US" altLang="en-US" sz="2400" dirty="0"/>
            </a:br>
            <a:r>
              <a:rPr lang="en-US" altLang="en-US" sz="2400" b="1" dirty="0"/>
              <a:t>primary key </a:t>
            </a:r>
            <a:r>
              <a:rPr lang="en-US" altLang="en-US" sz="2400" dirty="0"/>
              <a:t>(</a:t>
            </a:r>
            <a:r>
              <a:rPr lang="en-US" altLang="en-US" sz="2400" i="1" dirty="0"/>
              <a:t>ID</a:t>
            </a:r>
            <a:r>
              <a:rPr lang="en-US" altLang="en-US" sz="2400" dirty="0"/>
              <a:t>))</a:t>
            </a:r>
          </a:p>
          <a:p>
            <a:r>
              <a:rPr lang="en-US" altLang="en-US" sz="2400" b="1" dirty="0"/>
              <a:t>create index </a:t>
            </a:r>
            <a:r>
              <a:rPr lang="en-US" altLang="en-US" sz="2400" i="1" dirty="0" err="1"/>
              <a:t>studentID_index</a:t>
            </a:r>
            <a:r>
              <a:rPr lang="en-US" altLang="en-US" sz="2400" i="1" dirty="0"/>
              <a:t> </a:t>
            </a:r>
            <a:r>
              <a:rPr lang="en-US" altLang="en-US" sz="2400" b="1" dirty="0"/>
              <a:t>on </a:t>
            </a:r>
            <a:r>
              <a:rPr lang="en-US" altLang="en-US" sz="2400" i="1" dirty="0"/>
              <a:t>student</a:t>
            </a:r>
            <a:r>
              <a:rPr lang="en-US" altLang="en-US" sz="2400" dirty="0"/>
              <a:t>(</a:t>
            </a:r>
            <a:r>
              <a:rPr lang="en-US" altLang="en-US" sz="2400" i="1" dirty="0"/>
              <a:t>ID</a:t>
            </a:r>
            <a:r>
              <a:rPr lang="en-US" altLang="en-US" sz="2400" dirty="0"/>
              <a:t>)</a:t>
            </a:r>
          </a:p>
          <a:p>
            <a:pPr algn="r" rtl="1"/>
            <a:r>
              <a:rPr lang="fa-IR" altLang="en-US" sz="2400" dirty="0"/>
              <a:t>پرس‌وجو:</a:t>
            </a:r>
            <a:endParaRPr lang="en-US" altLang="en-US" sz="2400" dirty="0"/>
          </a:p>
          <a:p>
            <a:r>
              <a:rPr lang="en-US" altLang="en-US" sz="2400" b="1" dirty="0"/>
              <a:t>select * </a:t>
            </a:r>
            <a:br>
              <a:rPr lang="en-US" altLang="en-US" sz="2400" b="1" dirty="0"/>
            </a:br>
            <a:r>
              <a:rPr lang="fa-IR" altLang="en-US" sz="2400" b="1" dirty="0"/>
              <a:t>  </a:t>
            </a:r>
            <a:r>
              <a:rPr lang="en-US" altLang="en-US" sz="2400" b="1" dirty="0"/>
              <a:t>from </a:t>
            </a:r>
            <a:r>
              <a:rPr lang="en-US" altLang="en-US" sz="2400" dirty="0"/>
              <a:t> </a:t>
            </a:r>
            <a:r>
              <a:rPr lang="en-US" altLang="en-US" sz="2400" i="1" dirty="0"/>
              <a:t>student</a:t>
            </a:r>
            <a:br>
              <a:rPr lang="en-US" altLang="en-US" sz="2400" i="1" dirty="0"/>
            </a:br>
            <a:r>
              <a:rPr lang="fa-IR" altLang="en-US" sz="2400" i="1" dirty="0"/>
              <a:t>  </a:t>
            </a:r>
            <a:r>
              <a:rPr lang="en-US" altLang="en-US" sz="2400" b="1" dirty="0"/>
              <a:t>where </a:t>
            </a:r>
            <a:r>
              <a:rPr lang="en-US" altLang="en-US" sz="2400" i="1" dirty="0"/>
              <a:t> ID = </a:t>
            </a:r>
            <a:r>
              <a:rPr lang="en-US" altLang="en-US" sz="2400" dirty="0"/>
              <a:t>'12345'</a:t>
            </a:r>
          </a:p>
          <a:p>
            <a:pPr algn="r" rtl="1">
              <a:buNone/>
            </a:pPr>
            <a:r>
              <a:rPr lang="en-US" altLang="en-US" sz="2400" dirty="0"/>
              <a:t>     </a:t>
            </a:r>
            <a:r>
              <a:rPr lang="fa-IR" altLang="en-US" sz="2400" dirty="0"/>
              <a:t>می‌تواند با استفاده از شاخص برای یافتن رکورد مورد نیاز، بدون بررسی تمام رکوردهای دانشجو، اجرا شود.</a:t>
            </a:r>
            <a:endParaRPr lang="en-US" alt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مجوزدهی </a:t>
            </a:r>
            <a:r>
              <a:rPr lang="en-US" dirty="0"/>
              <a:t>(</a:t>
            </a:r>
            <a:r>
              <a:rPr lang="en-US" sz="2800" dirty="0"/>
              <a:t>Authorization)</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303320" y="1102289"/>
            <a:ext cx="8077199" cy="4749871"/>
          </a:xfrm>
        </p:spPr>
        <p:txBody>
          <a:bodyPr/>
          <a:lstStyle/>
          <a:p>
            <a:pPr algn="r" rtl="1">
              <a:lnSpc>
                <a:spcPct val="150000"/>
              </a:lnSpc>
            </a:pPr>
            <a:r>
              <a:rPr lang="fa-IR" altLang="en-US" dirty="0"/>
              <a:t>ما می‌توانیم چندین نوع مجوزدهی را بر روی بخش‌هایی از پایگاه داده به یک کاربر تخصیص دهیم</a:t>
            </a:r>
            <a:endParaRPr lang="en-US" altLang="en-US" dirty="0"/>
          </a:p>
          <a:p>
            <a:pPr lvl="1" algn="r" rtl="1">
              <a:lnSpc>
                <a:spcPct val="150000"/>
              </a:lnSpc>
            </a:pPr>
            <a:r>
              <a:rPr lang="fa-IR" altLang="en-US" b="1" dirty="0">
                <a:solidFill>
                  <a:srgbClr val="002060"/>
                </a:solidFill>
              </a:rPr>
              <a:t>خواندن</a:t>
            </a:r>
            <a:r>
              <a:rPr lang="en-US" altLang="en-US" b="1" dirty="0">
                <a:solidFill>
                  <a:srgbClr val="002060"/>
                </a:solidFill>
              </a:rPr>
              <a:t>(Read)</a:t>
            </a:r>
            <a:r>
              <a:rPr lang="fa-IR" altLang="en-US" b="1" dirty="0"/>
              <a:t>:</a:t>
            </a:r>
            <a:r>
              <a:rPr lang="en-US" altLang="en-US" b="1" dirty="0"/>
              <a:t> </a:t>
            </a:r>
            <a:r>
              <a:rPr lang="fa-IR" altLang="en-US" dirty="0"/>
              <a:t>اجازه خواندن را می‌دهد، اما اجازه اصلاح داده‌ها را نمی‌دهد.</a:t>
            </a:r>
            <a:endParaRPr lang="en-US" altLang="en-US" dirty="0"/>
          </a:p>
          <a:p>
            <a:pPr lvl="1" algn="r" rtl="1">
              <a:lnSpc>
                <a:spcPct val="150000"/>
              </a:lnSpc>
            </a:pPr>
            <a:r>
              <a:rPr lang="fa-IR" b="1" dirty="0">
                <a:solidFill>
                  <a:srgbClr val="002060"/>
                </a:solidFill>
              </a:rPr>
              <a:t>درج </a:t>
            </a:r>
            <a:r>
              <a:rPr lang="en-US" b="1" dirty="0">
                <a:solidFill>
                  <a:srgbClr val="002060"/>
                </a:solidFill>
              </a:rPr>
              <a:t>(Insert)</a:t>
            </a:r>
            <a:r>
              <a:rPr lang="fa-IR" b="1" dirty="0">
                <a:solidFill>
                  <a:srgbClr val="002060"/>
                </a:solidFill>
              </a:rPr>
              <a:t> </a:t>
            </a:r>
            <a:r>
              <a:rPr lang="fa-IR" b="1" dirty="0"/>
              <a:t>: </a:t>
            </a:r>
            <a:r>
              <a:rPr lang="fa-IR" dirty="0"/>
              <a:t>پ</a:t>
            </a:r>
            <a:r>
              <a:rPr lang="en-US" dirty="0"/>
              <a:t> </a:t>
            </a:r>
            <a:r>
              <a:rPr lang="fa-IR" dirty="0"/>
              <a:t>اجازه درج داده‌های جدید را می‌دهد، اما اجازه اصلاح داده‌های موجود را نمی‌دهد.</a:t>
            </a:r>
          </a:p>
          <a:p>
            <a:pPr lvl="1" algn="r" rtl="1">
              <a:lnSpc>
                <a:spcPct val="150000"/>
              </a:lnSpc>
            </a:pPr>
            <a:r>
              <a:rPr lang="fa-IR" b="1" dirty="0">
                <a:solidFill>
                  <a:srgbClr val="002060"/>
                </a:solidFill>
              </a:rPr>
              <a:t>به‌روزرسانی </a:t>
            </a:r>
            <a:r>
              <a:rPr lang="en-US" b="1" dirty="0">
                <a:solidFill>
                  <a:srgbClr val="002060"/>
                </a:solidFill>
              </a:rPr>
              <a:t> (Update)</a:t>
            </a:r>
            <a:r>
              <a:rPr lang="fa-IR" b="1" dirty="0"/>
              <a:t>: </a:t>
            </a:r>
            <a:r>
              <a:rPr lang="en-US" dirty="0"/>
              <a:t> </a:t>
            </a:r>
            <a:r>
              <a:rPr lang="fa-IR" dirty="0"/>
              <a:t>اجازه اصلاح </a:t>
            </a:r>
            <a:r>
              <a:rPr lang="en-US" dirty="0"/>
              <a:t> (Modification) </a:t>
            </a:r>
            <a:r>
              <a:rPr lang="fa-IR" dirty="0"/>
              <a:t>را می‌دهد، اما اجازه حذف داده‌ها را نمی‌دهد.</a:t>
            </a:r>
          </a:p>
          <a:p>
            <a:pPr lvl="1" algn="r" rtl="1">
              <a:lnSpc>
                <a:spcPct val="150000"/>
              </a:lnSpc>
            </a:pPr>
            <a:r>
              <a:rPr lang="fa-IR" b="1" dirty="0">
                <a:solidFill>
                  <a:srgbClr val="002060"/>
                </a:solidFill>
              </a:rPr>
              <a:t>حذف </a:t>
            </a:r>
            <a:r>
              <a:rPr lang="en-US" b="1" dirty="0">
                <a:solidFill>
                  <a:srgbClr val="002060"/>
                </a:solidFill>
              </a:rPr>
              <a:t>(Delete)</a:t>
            </a:r>
            <a:r>
              <a:rPr lang="en-US" dirty="0">
                <a:solidFill>
                  <a:srgbClr val="002060"/>
                </a:solidFill>
              </a:rPr>
              <a:t> </a:t>
            </a:r>
            <a:r>
              <a:rPr lang="fa-IR" dirty="0"/>
              <a:t>: اجازه حذف داده‌ها را می‌دهد.</a:t>
            </a:r>
          </a:p>
          <a:p>
            <a:pPr algn="r" rtl="1">
              <a:lnSpc>
                <a:spcPct val="150000"/>
              </a:lnSpc>
            </a:pPr>
            <a:r>
              <a:rPr lang="fa-IR" altLang="en-US" dirty="0"/>
              <a:t>هر یک از این انواع مجوزدهی، </a:t>
            </a:r>
            <a:r>
              <a:rPr lang="fa-IR" altLang="en-US" dirty="0">
                <a:solidFill>
                  <a:srgbClr val="002060"/>
                </a:solidFill>
              </a:rPr>
              <a:t>یک امتیاز </a:t>
            </a:r>
            <a:r>
              <a:rPr lang="en-US" altLang="en-US" dirty="0">
                <a:solidFill>
                  <a:srgbClr val="002060"/>
                </a:solidFill>
              </a:rPr>
              <a:t> (Privilege) </a:t>
            </a:r>
            <a:r>
              <a:rPr lang="fa-IR" altLang="en-US" dirty="0"/>
              <a:t>نامیده می‌شود. می‌توانیم تمامی، هیچ‌کدام یا ترکیبی از این امتیازات را بر روی بخش‌های مشخصی از پایگاه داده، مانند یک رابطه یا یک نما، به کاربر اعطا کنیم.</a:t>
            </a:r>
            <a:endParaRPr lang="en-US" altLang="en-US" sz="2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مجوزدهی </a:t>
            </a:r>
            <a:r>
              <a:rPr lang="en-US" dirty="0"/>
              <a:t>(Authorization)</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768350" y="1093788"/>
            <a:ext cx="8137655" cy="4200587"/>
          </a:xfrm>
        </p:spPr>
        <p:txBody>
          <a:bodyPr/>
          <a:lstStyle/>
          <a:p>
            <a:pPr algn="r" rtl="1">
              <a:lnSpc>
                <a:spcPct val="150000"/>
              </a:lnSpc>
            </a:pPr>
            <a:r>
              <a:rPr lang="fa-IR" sz="2400" dirty="0"/>
              <a:t>اشکال مجوزدهی برای اصلاح طرح‌واره پایگاه داده</a:t>
            </a:r>
            <a:endParaRPr lang="en-US" altLang="en-US" sz="2400" b="1" dirty="0">
              <a:solidFill>
                <a:srgbClr val="002060"/>
              </a:solidFill>
            </a:endParaRPr>
          </a:p>
          <a:p>
            <a:pPr lvl="1" algn="r" rtl="1">
              <a:lnSpc>
                <a:spcPct val="150000"/>
              </a:lnSpc>
            </a:pPr>
            <a:r>
              <a:rPr lang="fa-IR" sz="2400" b="1" dirty="0">
                <a:solidFill>
                  <a:srgbClr val="002060"/>
                </a:solidFill>
              </a:rPr>
              <a:t>شاخص </a:t>
            </a:r>
            <a:r>
              <a:rPr lang="en-US" sz="2400" b="1" dirty="0">
                <a:solidFill>
                  <a:srgbClr val="002060"/>
                </a:solidFill>
              </a:rPr>
              <a:t>(Index)</a:t>
            </a:r>
            <a:r>
              <a:rPr lang="fa-IR" sz="2400" b="1" dirty="0">
                <a:solidFill>
                  <a:srgbClr val="002060"/>
                </a:solidFill>
              </a:rPr>
              <a:t> :</a:t>
            </a:r>
            <a:r>
              <a:rPr lang="en-US" sz="2400" dirty="0"/>
              <a:t> </a:t>
            </a:r>
            <a:r>
              <a:rPr lang="fa-IR" sz="2400" dirty="0"/>
              <a:t>اجازه ایجاد و حذف شاخص‌ها را می‌دهد.</a:t>
            </a:r>
            <a:endParaRPr lang="en-US" sz="2400" dirty="0"/>
          </a:p>
          <a:p>
            <a:pPr lvl="1" algn="r" rtl="1">
              <a:lnSpc>
                <a:spcPct val="150000"/>
              </a:lnSpc>
            </a:pPr>
            <a:r>
              <a:rPr lang="fa-IR" sz="2400" b="1" dirty="0">
                <a:solidFill>
                  <a:srgbClr val="002060"/>
                </a:solidFill>
              </a:rPr>
              <a:t>منابع </a:t>
            </a:r>
            <a:r>
              <a:rPr lang="en-US" sz="2400" b="1" dirty="0">
                <a:solidFill>
                  <a:srgbClr val="002060"/>
                </a:solidFill>
              </a:rPr>
              <a:t>(Resources)</a:t>
            </a:r>
            <a:r>
              <a:rPr lang="fa-IR" sz="2400" b="1" dirty="0">
                <a:solidFill>
                  <a:srgbClr val="002060"/>
                </a:solidFill>
              </a:rPr>
              <a:t> :</a:t>
            </a:r>
            <a:r>
              <a:rPr lang="en-US" sz="2400" dirty="0">
                <a:solidFill>
                  <a:srgbClr val="002060"/>
                </a:solidFill>
              </a:rPr>
              <a:t> </a:t>
            </a:r>
            <a:r>
              <a:rPr lang="fa-IR" sz="2400" dirty="0"/>
              <a:t>اجازه ایجاد رابطه‌های جدید را می‌دهد.</a:t>
            </a:r>
            <a:endParaRPr lang="en-US" sz="2400" dirty="0"/>
          </a:p>
          <a:p>
            <a:pPr lvl="1" algn="r" rtl="1">
              <a:lnSpc>
                <a:spcPct val="150000"/>
              </a:lnSpc>
            </a:pPr>
            <a:r>
              <a:rPr lang="fa-IR" sz="2400" b="1" dirty="0">
                <a:solidFill>
                  <a:srgbClr val="002060"/>
                </a:solidFill>
              </a:rPr>
              <a:t>تغییر </a:t>
            </a:r>
            <a:r>
              <a:rPr lang="en-US" sz="2400" b="1" dirty="0">
                <a:solidFill>
                  <a:srgbClr val="002060"/>
                </a:solidFill>
              </a:rPr>
              <a:t> (Alteration)</a:t>
            </a:r>
            <a:r>
              <a:rPr lang="fa-IR" sz="2400" b="1" dirty="0">
                <a:solidFill>
                  <a:srgbClr val="002060"/>
                </a:solidFill>
              </a:rPr>
              <a:t>:</a:t>
            </a:r>
            <a:r>
              <a:rPr lang="en-US" sz="2400" dirty="0"/>
              <a:t> </a:t>
            </a:r>
            <a:r>
              <a:rPr lang="fa-IR" sz="2400" dirty="0"/>
              <a:t>اجازه افزودن یا حذف صفات در یک رابطه را می‌دهد.</a:t>
            </a:r>
            <a:endParaRPr lang="en-US" sz="2400" dirty="0"/>
          </a:p>
          <a:p>
            <a:pPr lvl="1" algn="r" rtl="1">
              <a:lnSpc>
                <a:spcPct val="150000"/>
              </a:lnSpc>
            </a:pPr>
            <a:r>
              <a:rPr lang="fa-IR" sz="2400" b="1" dirty="0">
                <a:solidFill>
                  <a:srgbClr val="002060"/>
                </a:solidFill>
              </a:rPr>
              <a:t>حذف </a:t>
            </a:r>
            <a:r>
              <a:rPr lang="en-US" sz="2400" b="1" dirty="0">
                <a:solidFill>
                  <a:srgbClr val="002060"/>
                </a:solidFill>
              </a:rPr>
              <a:t>(Drop)</a:t>
            </a:r>
            <a:r>
              <a:rPr lang="fa-IR" sz="2400" b="1" dirty="0">
                <a:solidFill>
                  <a:srgbClr val="002060"/>
                </a:solidFill>
              </a:rPr>
              <a:t> :</a:t>
            </a:r>
            <a:r>
              <a:rPr lang="en-US" sz="2400" dirty="0">
                <a:solidFill>
                  <a:srgbClr val="002060"/>
                </a:solidFill>
              </a:rPr>
              <a:t> </a:t>
            </a:r>
            <a:r>
              <a:rPr lang="fa-IR" sz="2400" dirty="0"/>
              <a:t>اجازه حذف رابطه‌ها را می‌دهد.</a:t>
            </a:r>
            <a:endParaRPr lang="en-US" altLang="en-US" sz="3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مشخص کردن مجوزدهی در</a:t>
            </a:r>
            <a:r>
              <a:rPr lang="en-US" dirty="0"/>
              <a:t> 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236438" y="930075"/>
            <a:ext cx="8682264" cy="5573485"/>
          </a:xfrm>
        </p:spPr>
        <p:txBody>
          <a:bodyPr/>
          <a:lstStyle/>
          <a:p>
            <a:pPr algn="r" rtl="1">
              <a:lnSpc>
                <a:spcPct val="150000"/>
              </a:lnSpc>
            </a:pPr>
            <a:r>
              <a:rPr lang="fa-IR" altLang="en-US" sz="1800" dirty="0"/>
              <a:t>دستور </a:t>
            </a:r>
            <a:r>
              <a:rPr lang="en-US" altLang="en-US" sz="1800" dirty="0">
                <a:solidFill>
                  <a:srgbClr val="002060"/>
                </a:solidFill>
              </a:rPr>
              <a:t>GRANT</a:t>
            </a:r>
            <a:r>
              <a:rPr lang="fa-IR" altLang="en-US" sz="1800" dirty="0"/>
              <a:t> </a:t>
            </a:r>
            <a:r>
              <a:rPr lang="en-US" altLang="en-US" sz="1800" dirty="0"/>
              <a:t>  </a:t>
            </a:r>
            <a:r>
              <a:rPr lang="fa-IR" altLang="en-US" sz="1800" dirty="0"/>
              <a:t>برای اعطای مجوزدهی استفاده می‌شود</a:t>
            </a:r>
            <a:endParaRPr lang="en-US" altLang="en-US" sz="1800" dirty="0"/>
          </a:p>
          <a:p>
            <a:pPr algn="l">
              <a:lnSpc>
                <a:spcPct val="150000"/>
              </a:lnSpc>
              <a:buFont typeface="Monotype Sorts" charset="2"/>
              <a:buNone/>
            </a:pPr>
            <a:r>
              <a:rPr lang="en-US" altLang="en-US" sz="1800" b="1" dirty="0"/>
              <a:t>grant</a:t>
            </a:r>
            <a:r>
              <a:rPr lang="en-US" altLang="en-US" sz="1800" dirty="0"/>
              <a:t> &lt;privilege list&gt; </a:t>
            </a:r>
            <a:r>
              <a:rPr lang="en-US" altLang="en-US" sz="1800" b="1" dirty="0"/>
              <a:t>on </a:t>
            </a:r>
            <a:r>
              <a:rPr lang="en-US" altLang="en-US" sz="1800" dirty="0"/>
              <a:t>&lt;relation or view &gt; </a:t>
            </a:r>
            <a:r>
              <a:rPr lang="en-US" altLang="en-US" sz="1800" b="1" dirty="0"/>
              <a:t>to</a:t>
            </a:r>
            <a:r>
              <a:rPr lang="en-US" altLang="en-US" sz="1800" dirty="0"/>
              <a:t> &lt;user list&gt;</a:t>
            </a:r>
          </a:p>
          <a:p>
            <a:pPr algn="r" rtl="1">
              <a:lnSpc>
                <a:spcPct val="150000"/>
              </a:lnSpc>
            </a:pPr>
            <a:r>
              <a:rPr lang="en-US" altLang="en-US" sz="1800" dirty="0"/>
              <a:t>&lt;user list&gt; </a:t>
            </a:r>
            <a:r>
              <a:rPr lang="fa-IR" altLang="en-US" sz="1800" dirty="0"/>
              <a:t> عبارت است از: </a:t>
            </a:r>
            <a:endParaRPr lang="en-US" altLang="en-US" sz="1800" dirty="0"/>
          </a:p>
          <a:p>
            <a:pPr lvl="1" algn="r" rtl="1">
              <a:lnSpc>
                <a:spcPct val="150000"/>
              </a:lnSpc>
            </a:pPr>
            <a:r>
              <a:rPr lang="fa-IR" sz="1800" dirty="0"/>
              <a:t>یک </a:t>
            </a:r>
            <a:r>
              <a:rPr lang="fa-IR" sz="1800" b="1" dirty="0"/>
              <a:t>شناسه کاربر</a:t>
            </a:r>
          </a:p>
          <a:p>
            <a:pPr lvl="1" algn="r" rtl="1">
              <a:lnSpc>
                <a:spcPct val="150000"/>
              </a:lnSpc>
            </a:pPr>
            <a:r>
              <a:rPr lang="fa-IR" altLang="en-US" sz="1800" dirty="0"/>
              <a:t>که به تمام کاربران معتبر اجازه می‌دهد امتیاز اعطا شده را داشته باشند.</a:t>
            </a:r>
          </a:p>
          <a:p>
            <a:pPr lvl="1" algn="r" rtl="1">
              <a:lnSpc>
                <a:spcPct val="150000"/>
              </a:lnSpc>
            </a:pPr>
            <a:r>
              <a:rPr lang="fa-IR" altLang="en-US" sz="1800" dirty="0"/>
              <a:t>یک نقش </a:t>
            </a:r>
            <a:r>
              <a:rPr lang="en-US" altLang="en-US" sz="1800" dirty="0"/>
              <a:t>(Role)</a:t>
            </a:r>
            <a:endParaRPr lang="fa-IR" altLang="en-US" sz="1800" dirty="0"/>
          </a:p>
          <a:p>
            <a:pPr algn="r" rtl="1">
              <a:lnSpc>
                <a:spcPct val="150000"/>
              </a:lnSpc>
            </a:pPr>
            <a:r>
              <a:rPr lang="fa-IR" altLang="en-US" sz="1800" dirty="0"/>
              <a:t>مثال: </a:t>
            </a:r>
            <a:endParaRPr lang="en-US" altLang="en-US" sz="1800" dirty="0"/>
          </a:p>
          <a:p>
            <a:pPr marL="457200" lvl="1" indent="0" rtl="1">
              <a:lnSpc>
                <a:spcPct val="150000"/>
              </a:lnSpc>
              <a:buNone/>
            </a:pPr>
            <a:r>
              <a:rPr lang="en-US" altLang="en-US" sz="1800" b="1" dirty="0"/>
              <a:t>grant</a:t>
            </a:r>
            <a:r>
              <a:rPr lang="en-US" altLang="en-US" sz="1800" dirty="0"/>
              <a:t>  </a:t>
            </a:r>
            <a:r>
              <a:rPr lang="en-US" altLang="en-US" sz="1800" b="1" dirty="0"/>
              <a:t>select on  </a:t>
            </a:r>
            <a:r>
              <a:rPr lang="en-US" altLang="en-US" sz="1800" i="1" dirty="0"/>
              <a:t>department</a:t>
            </a:r>
            <a:r>
              <a:rPr lang="en-US" altLang="en-US" sz="1800" b="1" dirty="0"/>
              <a:t> to</a:t>
            </a:r>
            <a:r>
              <a:rPr lang="en-US" altLang="en-US" sz="1800" dirty="0"/>
              <a:t> Akbar,  </a:t>
            </a:r>
            <a:r>
              <a:rPr lang="en-US" altLang="en-US" sz="1800" dirty="0" err="1"/>
              <a:t>Asghar</a:t>
            </a:r>
            <a:endParaRPr lang="en-US" altLang="en-US" sz="1800" dirty="0"/>
          </a:p>
          <a:p>
            <a:pPr algn="r" rtl="1">
              <a:lnSpc>
                <a:spcPct val="150000"/>
              </a:lnSpc>
            </a:pPr>
            <a:r>
              <a:rPr lang="fa-IR" altLang="en-US" sz="1800" dirty="0"/>
              <a:t>اعطای یک امتیاز بر روی یک نما به معنای اعطای هیچ امتیازی بر روی رابطه‌های زیرین آن نیست.</a:t>
            </a:r>
          </a:p>
          <a:p>
            <a:pPr algn="r" rtl="1">
              <a:lnSpc>
                <a:spcPct val="150000"/>
              </a:lnSpc>
            </a:pPr>
            <a:r>
              <a:rPr lang="fa-IR" altLang="en-US" sz="1800" dirty="0"/>
              <a:t>اعطا کننده امتیاز باید قبلاً امتیاز را بر روی آیتم مشخص شده دارا باشد (یا مدیر پایگاه داده باشد).</a:t>
            </a:r>
            <a:endParaRPr lang="en-US" alt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امتیازات </a:t>
            </a:r>
            <a:r>
              <a:rPr lang="en-US" sz="2800" dirty="0"/>
              <a:t> </a:t>
            </a:r>
            <a:r>
              <a:rPr lang="fa-IR" dirty="0"/>
              <a:t>در </a:t>
            </a:r>
            <a:r>
              <a:rPr lang="en-US" sz="2800" dirty="0"/>
              <a:t> 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338203" y="1093788"/>
            <a:ext cx="7757286" cy="4903787"/>
          </a:xfrm>
        </p:spPr>
        <p:txBody>
          <a:bodyPr/>
          <a:lstStyle/>
          <a:p>
            <a:pPr algn="r" rtl="1">
              <a:lnSpc>
                <a:spcPct val="150000"/>
              </a:lnSpc>
            </a:pPr>
            <a:r>
              <a:rPr lang="en-US" altLang="en-US" b="1" dirty="0">
                <a:solidFill>
                  <a:srgbClr val="002060"/>
                </a:solidFill>
              </a:rPr>
              <a:t>SELECT</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(انتخاب): </a:t>
            </a:r>
            <a:r>
              <a:rPr lang="fa-IR" altLang="en-US" dirty="0"/>
              <a:t>اجازه دسترسی خواندن به رابطه، یا توانایی پرس‌وجو با استفاده از نما.</a:t>
            </a:r>
          </a:p>
          <a:p>
            <a:pPr algn="r" rtl="1">
              <a:lnSpc>
                <a:spcPct val="150000"/>
              </a:lnSpc>
            </a:pPr>
            <a:r>
              <a:rPr lang="fa-IR" altLang="en-US" dirty="0"/>
              <a:t>مثال: </a:t>
            </a:r>
            <a:r>
              <a:rPr lang="en-US" altLang="en-US" dirty="0"/>
              <a:t> </a:t>
            </a:r>
            <a:r>
              <a:rPr lang="fa-IR" altLang="en-US" dirty="0"/>
              <a:t>اعطای مجوز </a:t>
            </a:r>
            <a:r>
              <a:rPr lang="en-US" altLang="en-US" dirty="0"/>
              <a:t>SELECT</a:t>
            </a:r>
            <a:r>
              <a:rPr lang="fa-IR" altLang="en-US" dirty="0"/>
              <a:t> </a:t>
            </a:r>
            <a:r>
              <a:rPr lang="en-US" altLang="en-US" dirty="0"/>
              <a:t> </a:t>
            </a:r>
            <a:r>
              <a:rPr lang="fa-IR" altLang="en-US" dirty="0"/>
              <a:t>بر روی رابطه </a:t>
            </a:r>
            <a:r>
              <a:rPr lang="en-US" altLang="en-US" dirty="0"/>
              <a:t>instructor</a:t>
            </a:r>
            <a:r>
              <a:rPr lang="fa-IR" altLang="en-US" dirty="0"/>
              <a:t> </a:t>
            </a:r>
            <a:r>
              <a:rPr lang="en-US" altLang="en-US" dirty="0"/>
              <a:t> </a:t>
            </a:r>
            <a:r>
              <a:rPr lang="fa-IR" altLang="en-US" dirty="0"/>
              <a:t>به کاربران </a:t>
            </a:r>
            <a:r>
              <a:rPr lang="en-US" altLang="en-US" dirty="0"/>
              <a:t>U1، U2 </a:t>
            </a:r>
            <a:r>
              <a:rPr lang="fa-IR" altLang="en-US" dirty="0"/>
              <a:t>و </a:t>
            </a:r>
            <a:r>
              <a:rPr lang="en-US" altLang="en-US" dirty="0"/>
              <a:t>U3</a:t>
            </a:r>
            <a:r>
              <a:rPr lang="fa-IR" altLang="en-US" dirty="0"/>
              <a:t> : </a:t>
            </a:r>
            <a:endParaRPr lang="en-US" altLang="en-US" dirty="0"/>
          </a:p>
          <a:p>
            <a:pPr rtl="1">
              <a:lnSpc>
                <a:spcPct val="150000"/>
              </a:lnSpc>
              <a:buFont typeface="Monotype Sorts" charset="2"/>
              <a:buNone/>
            </a:pPr>
            <a:r>
              <a:rPr lang="en-US" altLang="en-US" dirty="0"/>
              <a:t>			</a:t>
            </a:r>
            <a:r>
              <a:rPr lang="en-US" altLang="en-US" b="1" dirty="0"/>
              <a:t>grant select on </a:t>
            </a:r>
            <a:r>
              <a:rPr lang="en-US" altLang="en-US" i="1" dirty="0"/>
              <a:t>instructor </a:t>
            </a:r>
            <a:r>
              <a:rPr lang="en-US" altLang="en-US" b="1" dirty="0"/>
              <a:t>to </a:t>
            </a:r>
            <a:r>
              <a:rPr lang="en-US" altLang="en-US" i="1" dirty="0"/>
              <a:t>U</a:t>
            </a:r>
            <a:r>
              <a:rPr lang="en-US" altLang="en-US" baseline="-25000" dirty="0"/>
              <a:t>1</a:t>
            </a:r>
            <a:r>
              <a:rPr lang="en-US" altLang="en-US" i="1" dirty="0"/>
              <a:t>, U</a:t>
            </a:r>
            <a:r>
              <a:rPr lang="en-US" altLang="en-US" baseline="-25000" dirty="0"/>
              <a:t>2</a:t>
            </a:r>
            <a:r>
              <a:rPr lang="en-US" altLang="en-US" i="1" dirty="0"/>
              <a:t>, U</a:t>
            </a:r>
            <a:r>
              <a:rPr lang="en-US" altLang="en-US" baseline="-25000" dirty="0"/>
              <a:t>3</a:t>
            </a:r>
            <a:endParaRPr lang="en-US" altLang="en-US" dirty="0"/>
          </a:p>
          <a:p>
            <a:pPr algn="r" rtl="1">
              <a:lnSpc>
                <a:spcPct val="150000"/>
              </a:lnSpc>
            </a:pPr>
            <a:r>
              <a:rPr lang="en-US" altLang="en-US" b="1" dirty="0">
                <a:solidFill>
                  <a:srgbClr val="002060"/>
                </a:solidFill>
              </a:rPr>
              <a:t>INSERT</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(درج): </a:t>
            </a:r>
            <a:r>
              <a:rPr lang="fa-IR" altLang="en-US" dirty="0"/>
              <a:t>توانایی درج تاپل‌ها.</a:t>
            </a:r>
            <a:endParaRPr lang="en-US" altLang="en-US" dirty="0"/>
          </a:p>
          <a:p>
            <a:pPr algn="r" rtl="1">
              <a:lnSpc>
                <a:spcPct val="150000"/>
              </a:lnSpc>
            </a:pPr>
            <a:r>
              <a:rPr lang="en-US" altLang="en-US" b="1" dirty="0">
                <a:solidFill>
                  <a:srgbClr val="002060"/>
                </a:solidFill>
              </a:rPr>
              <a:t>UPDATE</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(به‌روزرسانی): </a:t>
            </a:r>
            <a:r>
              <a:rPr lang="fa-IR" altLang="en-US" dirty="0"/>
              <a:t>توانایی به‌روزرسانی با استفاده از دستور </a:t>
            </a:r>
            <a:r>
              <a:rPr lang="en-US" altLang="en-US" dirty="0"/>
              <a:t>UPDATE </a:t>
            </a:r>
            <a:r>
              <a:rPr lang="fa-IR" altLang="en-US" dirty="0"/>
              <a:t>در </a:t>
            </a:r>
            <a:r>
              <a:rPr lang="en-US" altLang="en-US" dirty="0"/>
              <a:t>SQL</a:t>
            </a:r>
            <a:endParaRPr lang="fa-IR" altLang="en-US" dirty="0"/>
          </a:p>
          <a:p>
            <a:pPr algn="r" rtl="1">
              <a:lnSpc>
                <a:spcPct val="150000"/>
              </a:lnSpc>
            </a:pPr>
            <a:r>
              <a:rPr lang="en-US" altLang="en-US" b="1" dirty="0">
                <a:solidFill>
                  <a:srgbClr val="002060"/>
                </a:solidFill>
              </a:rPr>
              <a:t>DELETE</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(حذف): </a:t>
            </a:r>
            <a:r>
              <a:rPr lang="fa-IR" altLang="en-US" dirty="0"/>
              <a:t>توانایی حذف تاپل‌ها.</a:t>
            </a:r>
          </a:p>
          <a:p>
            <a:pPr algn="r" rtl="1">
              <a:lnSpc>
                <a:spcPct val="150000"/>
              </a:lnSpc>
            </a:pPr>
            <a:r>
              <a:rPr lang="en-US" altLang="en-US" b="1" dirty="0">
                <a:solidFill>
                  <a:srgbClr val="002060"/>
                </a:solidFill>
              </a:rPr>
              <a:t>ALL PRIVILEGES</a:t>
            </a:r>
            <a:r>
              <a:rPr lang="fa-IR" altLang="en-US" b="1" dirty="0">
                <a:solidFill>
                  <a:srgbClr val="002060"/>
                </a:solidFill>
              </a:rPr>
              <a:t> </a:t>
            </a:r>
            <a:r>
              <a:rPr lang="en-US" altLang="en-US" b="1" dirty="0">
                <a:solidFill>
                  <a:srgbClr val="002060"/>
                </a:solidFill>
              </a:rPr>
              <a:t> </a:t>
            </a:r>
            <a:r>
              <a:rPr lang="fa-IR" altLang="en-US" b="1" dirty="0">
                <a:solidFill>
                  <a:srgbClr val="002060"/>
                </a:solidFill>
              </a:rPr>
              <a:t>(تمامی امتیازات): </a:t>
            </a:r>
            <a:r>
              <a:rPr lang="fa-IR" altLang="en-US" dirty="0"/>
              <a:t>به عنوان شکل کوتاه برای تمامی امتیازات مجاز استفاده می‌شود.</a:t>
            </a:r>
            <a:endParaRPr lang="en-US" alt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pPr rtl="1"/>
            <a:r>
              <a:rPr lang="fa-IR" dirty="0"/>
              <a:t>لغو مجوزدهی در </a:t>
            </a:r>
            <a:r>
              <a:rPr lang="en-US" dirty="0" err="1"/>
              <a:t>Sql</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10599" y="727075"/>
            <a:ext cx="8893627" cy="5508172"/>
          </a:xfrm>
        </p:spPr>
        <p:txBody>
          <a:bodyPr/>
          <a:lstStyle/>
          <a:p>
            <a:pPr algn="r" rtl="1">
              <a:lnSpc>
                <a:spcPct val="150000"/>
              </a:lnSpc>
            </a:pPr>
            <a:r>
              <a:rPr lang="fa-IR" altLang="en-US" dirty="0"/>
              <a:t>دستور </a:t>
            </a:r>
            <a:r>
              <a:rPr lang="en-US" altLang="en-US" dirty="0"/>
              <a:t> </a:t>
            </a:r>
            <a:r>
              <a:rPr lang="en-US" altLang="en-US" dirty="0">
                <a:solidFill>
                  <a:srgbClr val="002060"/>
                </a:solidFill>
              </a:rPr>
              <a:t>REVOKE</a:t>
            </a:r>
            <a:r>
              <a:rPr lang="en-US" altLang="en-US" dirty="0"/>
              <a:t> </a:t>
            </a:r>
            <a:r>
              <a:rPr lang="fa-IR" altLang="en-US" dirty="0"/>
              <a:t>برای لغو مجوزدهی استفاده می‌شود:</a:t>
            </a:r>
            <a:endParaRPr lang="en-US" altLang="en-US" dirty="0"/>
          </a:p>
          <a:p>
            <a:pPr algn="r" rtl="1">
              <a:lnSpc>
                <a:spcPct val="150000"/>
              </a:lnSpc>
            </a:pPr>
            <a:r>
              <a:rPr lang="en-US" altLang="en-US" b="1" dirty="0"/>
              <a:t>revoke </a:t>
            </a:r>
            <a:r>
              <a:rPr lang="en-US" altLang="en-US" dirty="0"/>
              <a:t>&lt;privilege list&gt; </a:t>
            </a:r>
            <a:r>
              <a:rPr lang="en-US" altLang="en-US" b="1" dirty="0"/>
              <a:t>on </a:t>
            </a:r>
            <a:r>
              <a:rPr lang="en-US" altLang="en-US" dirty="0"/>
              <a:t>&lt;relation or view&gt; </a:t>
            </a:r>
            <a:r>
              <a:rPr lang="en-US" altLang="en-US" b="1" dirty="0"/>
              <a:t>from </a:t>
            </a:r>
            <a:r>
              <a:rPr lang="en-US" altLang="en-US" dirty="0"/>
              <a:t>&lt;user list&gt;</a:t>
            </a:r>
          </a:p>
          <a:p>
            <a:pPr algn="r" rtl="1">
              <a:lnSpc>
                <a:spcPct val="150000"/>
              </a:lnSpc>
            </a:pPr>
            <a:r>
              <a:rPr lang="fa-IR" altLang="en-US" dirty="0"/>
              <a:t>مثال: </a:t>
            </a:r>
            <a:endParaRPr lang="en-US" altLang="en-US" dirty="0"/>
          </a:p>
          <a:p>
            <a:pPr lvl="1" algn="l">
              <a:lnSpc>
                <a:spcPct val="150000"/>
              </a:lnSpc>
              <a:buFont typeface="Monotype Sorts" charset="2"/>
              <a:buNone/>
            </a:pPr>
            <a:r>
              <a:rPr lang="en-US" altLang="en-US" b="1" dirty="0"/>
              <a:t>revoke select on </a:t>
            </a:r>
            <a:r>
              <a:rPr lang="en-US" altLang="en-US" i="1" dirty="0"/>
              <a:t>student  </a:t>
            </a:r>
            <a:r>
              <a:rPr lang="en-US" altLang="en-US" b="1" dirty="0"/>
              <a:t>from </a:t>
            </a:r>
            <a:r>
              <a:rPr lang="en-US" altLang="en-US" i="1" dirty="0"/>
              <a:t>U</a:t>
            </a:r>
            <a:r>
              <a:rPr lang="en-US" altLang="en-US" i="1" baseline="-25000" dirty="0"/>
              <a:t>1</a:t>
            </a:r>
            <a:r>
              <a:rPr lang="en-US" altLang="en-US" i="1" dirty="0"/>
              <a:t>, U</a:t>
            </a:r>
            <a:r>
              <a:rPr lang="en-US" altLang="en-US" i="1" baseline="-25000" dirty="0"/>
              <a:t>2</a:t>
            </a:r>
            <a:r>
              <a:rPr lang="en-US" altLang="en-US" i="1" dirty="0"/>
              <a:t>, U</a:t>
            </a:r>
            <a:r>
              <a:rPr lang="en-US" altLang="en-US" i="1" baseline="-25000" dirty="0"/>
              <a:t>3</a:t>
            </a:r>
          </a:p>
          <a:p>
            <a:pPr algn="r" rtl="1">
              <a:lnSpc>
                <a:spcPct val="150000"/>
              </a:lnSpc>
            </a:pPr>
            <a:r>
              <a:rPr lang="en-US" altLang="en-US" dirty="0"/>
              <a:t>&lt;privilege-list&gt;</a:t>
            </a:r>
            <a:r>
              <a:rPr lang="fa-IR" altLang="en-US" dirty="0"/>
              <a:t> می‌تواند </a:t>
            </a:r>
            <a:r>
              <a:rPr lang="en-US" altLang="en-US" dirty="0"/>
              <a:t>ALL</a:t>
            </a:r>
            <a:r>
              <a:rPr lang="fa-IR" altLang="en-US" dirty="0"/>
              <a:t> </a:t>
            </a:r>
            <a:r>
              <a:rPr lang="en-US" altLang="en-US" dirty="0"/>
              <a:t> </a:t>
            </a:r>
            <a:r>
              <a:rPr lang="fa-IR" altLang="en-US" dirty="0"/>
              <a:t>باشد تا تمامی امتیازاتی را که سلب شونده ممکن است دارا باشد، لغو کند.</a:t>
            </a:r>
            <a:endParaRPr lang="en-US" altLang="en-US" dirty="0"/>
          </a:p>
          <a:p>
            <a:pPr algn="r" rtl="1">
              <a:lnSpc>
                <a:spcPct val="150000"/>
              </a:lnSpc>
            </a:pPr>
            <a:r>
              <a:rPr lang="fa-IR" altLang="en-US" dirty="0"/>
              <a:t>اگر</a:t>
            </a:r>
            <a:r>
              <a:rPr lang="en-US" altLang="en-US" dirty="0"/>
              <a:t> &lt;</a:t>
            </a:r>
            <a:r>
              <a:rPr lang="en-US" altLang="en-US" dirty="0" err="1"/>
              <a:t>revokee</a:t>
            </a:r>
            <a:r>
              <a:rPr lang="en-US" altLang="en-US" dirty="0"/>
              <a:t>-list&gt; </a:t>
            </a:r>
            <a:r>
              <a:rPr lang="fa-IR" altLang="en-US" dirty="0"/>
              <a:t>شامل </a:t>
            </a:r>
            <a:r>
              <a:rPr lang="en-US" altLang="en-US" dirty="0">
                <a:solidFill>
                  <a:srgbClr val="002060"/>
                </a:solidFill>
              </a:rPr>
              <a:t>PUBLIC</a:t>
            </a:r>
            <a:r>
              <a:rPr lang="fa-IR" altLang="en-US" dirty="0">
                <a:solidFill>
                  <a:srgbClr val="002060"/>
                </a:solidFill>
              </a:rPr>
              <a:t> </a:t>
            </a:r>
            <a:r>
              <a:rPr lang="en-US" altLang="en-US" dirty="0"/>
              <a:t> </a:t>
            </a:r>
            <a:r>
              <a:rPr lang="fa-IR" altLang="en-US" dirty="0"/>
              <a:t>باشد، تمامی کاربران امتیاز را از دست می‌دهند، به‌جز کسانی که به‌طور صریح </a:t>
            </a:r>
            <a:r>
              <a:rPr lang="en-US" altLang="en-US" dirty="0"/>
              <a:t>(explicitly)</a:t>
            </a:r>
            <a:r>
              <a:rPr lang="fa-IR" altLang="en-US" dirty="0"/>
              <a:t> </a:t>
            </a:r>
            <a:r>
              <a:rPr lang="en-US" altLang="en-US" dirty="0"/>
              <a:t> </a:t>
            </a:r>
            <a:r>
              <a:rPr lang="fa-IR" altLang="en-US" dirty="0"/>
              <a:t>آن را دریافت کرده‌اند.</a:t>
            </a:r>
          </a:p>
          <a:p>
            <a:pPr algn="r" rtl="1">
              <a:lnSpc>
                <a:spcPct val="150000"/>
              </a:lnSpc>
            </a:pPr>
            <a:r>
              <a:rPr lang="fa-IR" altLang="en-US" dirty="0"/>
              <a:t>اگر همان امتیاز دو بار توسط اعطا کنندگان </a:t>
            </a:r>
            <a:r>
              <a:rPr lang="en-US" altLang="en-US" dirty="0"/>
              <a:t> (grantees) </a:t>
            </a:r>
            <a:r>
              <a:rPr lang="fa-IR" altLang="en-US" dirty="0"/>
              <a:t>متفاوت به یک کاربر اعطا شده باشد، ممکن است کاربر پس از لغو، همچنان آن امتیاز را حفظ کند.</a:t>
            </a:r>
            <a:endParaRPr lang="en-US" altLang="en-US" dirty="0"/>
          </a:p>
          <a:p>
            <a:pPr algn="r" rtl="1">
              <a:lnSpc>
                <a:spcPct val="150000"/>
              </a:lnSpc>
            </a:pPr>
            <a:r>
              <a:rPr lang="fa-IR" altLang="en-US" dirty="0"/>
              <a:t>تمامی امتیازاتی که به امتیاز در حال لغو وابسته هستند، نیز لغو می‌شوند.</a:t>
            </a:r>
            <a:endParaRPr lang="en-US" altLang="en-US" sz="2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fa-IR" altLang="en-US" sz="2800" dirty="0">
                <a:effectLst/>
              </a:rPr>
              <a:t>نقش‌ها</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95944" y="1118172"/>
            <a:ext cx="8202332" cy="5043141"/>
          </a:xfrm>
        </p:spPr>
        <p:txBody>
          <a:bodyPr/>
          <a:lstStyle/>
          <a:p>
            <a:pPr algn="r" rtl="1"/>
            <a:r>
              <a:rPr lang="fa-IR" sz="2400" b="1" dirty="0"/>
              <a:t>نقش</a:t>
            </a:r>
            <a:r>
              <a:rPr lang="fa-IR" sz="2400" dirty="0"/>
              <a:t> روشی است برای </a:t>
            </a:r>
            <a:r>
              <a:rPr lang="fa-IR" sz="2400" b="1" dirty="0"/>
              <a:t>تمایز قائل شدن</a:t>
            </a:r>
            <a:r>
              <a:rPr lang="fa-IR" sz="2400" dirty="0"/>
              <a:t> بین کاربران مختلف، از نظر این‌که این کاربران به چه چیزهایی در پایگاه داده می‌توانند </a:t>
            </a:r>
            <a:r>
              <a:rPr lang="fa-IR" sz="2400" b="1" dirty="0"/>
              <a:t>دسترسی/به‌روزرسانی</a:t>
            </a:r>
            <a:r>
              <a:rPr lang="fa-IR" sz="2400" dirty="0"/>
              <a:t> داشته باشند.</a:t>
            </a:r>
            <a:endParaRPr lang="en-US" altLang="en-US" sz="2400" dirty="0"/>
          </a:p>
          <a:p>
            <a:pPr algn="r" rtl="1"/>
            <a:r>
              <a:rPr lang="fa-IR" sz="2400" dirty="0"/>
              <a:t>برای ایجاد نقش از دستور زیر استفاده می‌کنیم:</a:t>
            </a:r>
            <a:endParaRPr lang="en-US" altLang="en-US" sz="2400" dirty="0"/>
          </a:p>
          <a:p>
            <a:pPr lvl="1"/>
            <a:r>
              <a:rPr lang="fa-IR" altLang="en-US" sz="2400" b="1" dirty="0"/>
              <a:t>   </a:t>
            </a:r>
            <a:r>
              <a:rPr lang="en-US" altLang="en-US" sz="2400" b="1" dirty="0"/>
              <a:t>create role </a:t>
            </a:r>
            <a:r>
              <a:rPr lang="en-US" altLang="en-US" sz="2400" dirty="0"/>
              <a:t>&lt;name&gt;</a:t>
            </a:r>
          </a:p>
          <a:p>
            <a:pPr algn="r" rtl="1"/>
            <a:r>
              <a:rPr lang="fa-IR" altLang="en-US" sz="2400" dirty="0"/>
              <a:t>مثال: </a:t>
            </a:r>
            <a:endParaRPr lang="en-US" altLang="en-US" sz="2400" dirty="0"/>
          </a:p>
          <a:p>
            <a:pPr lvl="1"/>
            <a:r>
              <a:rPr lang="en-US" altLang="en-US" sz="2400" dirty="0"/>
              <a:t>  </a:t>
            </a:r>
            <a:r>
              <a:rPr lang="en-US" altLang="en-US" sz="2400" b="1" dirty="0"/>
              <a:t>create role</a:t>
            </a:r>
            <a:r>
              <a:rPr lang="en-US" altLang="en-US" sz="2400" dirty="0"/>
              <a:t> instructor</a:t>
            </a:r>
          </a:p>
          <a:p>
            <a:pPr algn="r" rtl="1"/>
            <a:r>
              <a:rPr lang="fa-IR" altLang="en-US" sz="2400" dirty="0"/>
              <a:t>پس از ایجاد نقش، می‌توانیم "کاربران" را با استفاده از دستور زیر به آن نقش تخصیص دهیم:</a:t>
            </a:r>
          </a:p>
          <a:p>
            <a:pPr lvl="1"/>
            <a:r>
              <a:rPr lang="en-US" altLang="en-US" sz="2400" b="1" dirty="0"/>
              <a:t>grant</a:t>
            </a:r>
            <a:r>
              <a:rPr lang="en-US" altLang="en-US" sz="2400" dirty="0"/>
              <a:t>  &lt;role&gt; </a:t>
            </a:r>
            <a:r>
              <a:rPr lang="en-US" altLang="en-US" sz="2400" b="1" dirty="0"/>
              <a:t>to </a:t>
            </a:r>
            <a:r>
              <a:rPr lang="en-US" altLang="en-US" sz="2400" dirty="0"/>
              <a:t>&lt;users&gt;</a:t>
            </a:r>
          </a:p>
          <a:p>
            <a:endParaRPr lang="en-US" altLang="en-US" sz="3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794" name="Rectangle 2"/>
          <p:cNvSpPr>
            <a:spLocks noGrp="1" noChangeArrowheads="1"/>
          </p:cNvSpPr>
          <p:nvPr>
            <p:ph type="title"/>
          </p:nvPr>
        </p:nvSpPr>
        <p:spPr/>
        <p:txBody>
          <a:bodyPr/>
          <a:lstStyle/>
          <a:p>
            <a:r>
              <a:rPr lang="en-US" altLang="en-US" sz="2800" dirty="0">
                <a:effectLst/>
              </a:rPr>
              <a:t>Roles </a:t>
            </a:r>
            <a:r>
              <a:rPr lang="fa-IR" altLang="en-US" sz="2800" dirty="0">
                <a:effectLst/>
              </a:rPr>
              <a:t>مثال</a:t>
            </a:r>
            <a:endParaRPr lang="en-US" altLang="en-US" sz="2800" dirty="0">
              <a:effectLst>
                <a:outerShdw blurRad="38100" dist="38100" dir="2700000" algn="tl">
                  <a:srgbClr val="C0C0C0"/>
                </a:outerShdw>
              </a:effectLst>
            </a:endParaRPr>
          </a:p>
        </p:txBody>
      </p:sp>
      <p:sp>
        <p:nvSpPr>
          <p:cNvPr id="72707" name="Rectangle 3"/>
          <p:cNvSpPr>
            <a:spLocks noGrp="1" noChangeArrowheads="1"/>
          </p:cNvSpPr>
          <p:nvPr>
            <p:ph idx="1"/>
          </p:nvPr>
        </p:nvSpPr>
        <p:spPr>
          <a:xfrm>
            <a:off x="195942" y="816430"/>
            <a:ext cx="8784771" cy="5704114"/>
          </a:xfrm>
        </p:spPr>
        <p:txBody>
          <a:bodyPr/>
          <a:lstStyle/>
          <a:p>
            <a:pPr marL="0" indent="0">
              <a:buNone/>
            </a:pPr>
            <a:r>
              <a:rPr lang="en-US" altLang="en-US" sz="2400" b="1" dirty="0"/>
              <a:t>create role</a:t>
            </a:r>
            <a:r>
              <a:rPr lang="en-US" altLang="en-US" sz="2400" dirty="0"/>
              <a:t> instructor;</a:t>
            </a:r>
          </a:p>
          <a:p>
            <a:pPr marL="0" indent="0">
              <a:buNone/>
            </a:pPr>
            <a:r>
              <a:rPr lang="en-US" altLang="en-US" sz="2400" b="1" dirty="0"/>
              <a:t>grant</a:t>
            </a:r>
            <a:r>
              <a:rPr lang="en-US" altLang="en-US" sz="2400" dirty="0"/>
              <a:t> </a:t>
            </a:r>
            <a:r>
              <a:rPr lang="en-US" altLang="en-US" sz="2400" i="1" dirty="0"/>
              <a:t>instructor</a:t>
            </a:r>
            <a:r>
              <a:rPr lang="en-US" altLang="en-US" sz="2400" b="1" dirty="0"/>
              <a:t> to </a:t>
            </a:r>
            <a:r>
              <a:rPr lang="en-US" altLang="en-US" sz="2400" dirty="0" err="1"/>
              <a:t>Amit</a:t>
            </a:r>
            <a:r>
              <a:rPr lang="en-US" altLang="en-US" sz="2400" b="1" dirty="0"/>
              <a:t>;</a:t>
            </a:r>
            <a:endParaRPr lang="en-US" altLang="en-US" sz="2400" dirty="0"/>
          </a:p>
          <a:p>
            <a:pPr algn="r" rtl="1"/>
            <a:r>
              <a:rPr lang="fa-IR" altLang="en-US" sz="2400" dirty="0"/>
              <a:t>امتیازات می‌توانند به نقش‌ها اعطا شوند:</a:t>
            </a:r>
            <a:endParaRPr lang="en-US" altLang="en-US" sz="2400" dirty="0"/>
          </a:p>
          <a:p>
            <a:pPr lvl="1"/>
            <a:r>
              <a:rPr lang="en-US" altLang="en-US" sz="2400" b="1" dirty="0"/>
              <a:t>grant</a:t>
            </a:r>
            <a:r>
              <a:rPr lang="en-US" altLang="en-US" sz="2400" dirty="0"/>
              <a:t> </a:t>
            </a:r>
            <a:r>
              <a:rPr lang="en-US" altLang="en-US" sz="2400" b="1" dirty="0"/>
              <a:t>select</a:t>
            </a:r>
            <a:r>
              <a:rPr lang="en-US" altLang="en-US" sz="2400" dirty="0"/>
              <a:t> </a:t>
            </a:r>
            <a:r>
              <a:rPr lang="en-US" altLang="en-US" sz="2400" b="1" dirty="0"/>
              <a:t>on</a:t>
            </a:r>
            <a:r>
              <a:rPr lang="en-US" altLang="en-US" sz="2400" dirty="0"/>
              <a:t> </a:t>
            </a:r>
            <a:r>
              <a:rPr lang="en-US" altLang="en-US" sz="2400" i="1" dirty="0"/>
              <a:t>takes</a:t>
            </a:r>
            <a:r>
              <a:rPr lang="en-US" altLang="en-US" sz="2400" dirty="0"/>
              <a:t> </a:t>
            </a:r>
            <a:r>
              <a:rPr lang="en-US" altLang="en-US" sz="2400" b="1" dirty="0"/>
              <a:t>to</a:t>
            </a:r>
            <a:r>
              <a:rPr lang="en-US" altLang="en-US" sz="2400" dirty="0"/>
              <a:t> </a:t>
            </a:r>
            <a:r>
              <a:rPr lang="en-US" altLang="en-US" sz="2400" i="1" dirty="0"/>
              <a:t>instructor</a:t>
            </a:r>
            <a:r>
              <a:rPr lang="en-US" altLang="en-US" sz="2400" dirty="0"/>
              <a:t>;</a:t>
            </a:r>
          </a:p>
          <a:p>
            <a:pPr algn="r" rtl="1"/>
            <a:r>
              <a:rPr lang="fa-IR" altLang="en-US" sz="2400" dirty="0"/>
              <a:t>نقش‌ها می‌توانند هم به کاربران و هم به نقش‌های دیگر اعطا شوند:</a:t>
            </a:r>
            <a:endParaRPr lang="fa-IR" altLang="en-US" sz="2400" b="1" dirty="0"/>
          </a:p>
          <a:p>
            <a:pPr lvl="1"/>
            <a:r>
              <a:rPr lang="en-US" altLang="en-US" sz="2400" b="1" dirty="0"/>
              <a:t>create</a:t>
            </a:r>
            <a:r>
              <a:rPr lang="en-US" altLang="en-US" sz="2400" dirty="0"/>
              <a:t> </a:t>
            </a:r>
            <a:r>
              <a:rPr lang="en-US" altLang="en-US" sz="2400" b="1" dirty="0"/>
              <a:t>role</a:t>
            </a:r>
            <a:r>
              <a:rPr lang="en-US" altLang="en-US" sz="2400" dirty="0"/>
              <a:t> </a:t>
            </a:r>
            <a:r>
              <a:rPr lang="en-US" altLang="en-US" sz="2400" i="1" dirty="0" err="1"/>
              <a:t>teaching_assistant</a:t>
            </a:r>
            <a:endParaRPr lang="en-US" altLang="en-US" sz="2400" i="1" dirty="0"/>
          </a:p>
          <a:p>
            <a:pPr lvl="1"/>
            <a:r>
              <a:rPr lang="en-US" altLang="en-US" sz="2400" b="1" dirty="0"/>
              <a:t>grant</a:t>
            </a:r>
            <a:r>
              <a:rPr lang="en-US" altLang="en-US" sz="2400" dirty="0"/>
              <a:t> </a:t>
            </a:r>
            <a:r>
              <a:rPr lang="en-US" altLang="en-US" sz="2400" i="1" dirty="0" err="1"/>
              <a:t>teaching_assistant</a:t>
            </a:r>
            <a:r>
              <a:rPr lang="en-US" altLang="en-US" sz="2400" dirty="0"/>
              <a:t> </a:t>
            </a:r>
            <a:r>
              <a:rPr lang="en-US" altLang="en-US" sz="2400" b="1" dirty="0"/>
              <a:t>to</a:t>
            </a:r>
            <a:r>
              <a:rPr lang="en-US" altLang="en-US" sz="2400" dirty="0"/>
              <a:t> </a:t>
            </a:r>
            <a:r>
              <a:rPr lang="en-US" altLang="en-US" sz="2400" i="1" dirty="0"/>
              <a:t>instructor</a:t>
            </a:r>
            <a:r>
              <a:rPr lang="en-US" altLang="en-US" sz="2400" dirty="0"/>
              <a:t>;</a:t>
            </a:r>
          </a:p>
          <a:p>
            <a:pPr lvl="2" algn="r" rtl="1"/>
            <a:r>
              <a:rPr lang="en-US" altLang="en-US" sz="2400" dirty="0"/>
              <a:t>Instructor</a:t>
            </a:r>
            <a:r>
              <a:rPr lang="fa-IR" altLang="en-US" sz="2400" dirty="0"/>
              <a:t> </a:t>
            </a:r>
            <a:r>
              <a:rPr lang="en-US" altLang="en-US" sz="2400" dirty="0"/>
              <a:t> </a:t>
            </a:r>
            <a:r>
              <a:rPr lang="fa-IR" altLang="en-US" sz="2400" dirty="0"/>
              <a:t>تمامی امتیازات </a:t>
            </a:r>
            <a:r>
              <a:rPr lang="en-US" altLang="en-US" sz="2400" dirty="0" err="1"/>
              <a:t>teaching_assistant</a:t>
            </a:r>
            <a:r>
              <a:rPr lang="fa-IR" altLang="en-US" sz="2400" dirty="0"/>
              <a:t> </a:t>
            </a:r>
            <a:r>
              <a:rPr lang="en-US" altLang="en-US" sz="2400" dirty="0"/>
              <a:t> </a:t>
            </a:r>
            <a:r>
              <a:rPr lang="fa-IR" altLang="en-US" sz="2400" dirty="0"/>
              <a:t>را به ارث می‌برد.</a:t>
            </a:r>
            <a:endParaRPr lang="en-US" altLang="en-US" sz="2400" i="1" dirty="0"/>
          </a:p>
          <a:p>
            <a:pPr algn="r" rtl="1"/>
            <a:r>
              <a:rPr lang="fa-IR" sz="2400" dirty="0"/>
              <a:t>زنجیره نقش‌ها:</a:t>
            </a:r>
          </a:p>
          <a:p>
            <a:pPr lvl="1" algn="r" rtl="1"/>
            <a:r>
              <a:rPr lang="en-US" altLang="en-US" sz="2400" b="1" dirty="0"/>
              <a:t>create</a:t>
            </a:r>
            <a:r>
              <a:rPr lang="en-US" altLang="en-US" sz="2400" dirty="0"/>
              <a:t> </a:t>
            </a:r>
            <a:r>
              <a:rPr lang="en-US" altLang="en-US" sz="2400" b="1" dirty="0"/>
              <a:t>role</a:t>
            </a:r>
            <a:r>
              <a:rPr lang="en-US" altLang="en-US" sz="2400" dirty="0"/>
              <a:t> </a:t>
            </a:r>
            <a:r>
              <a:rPr lang="en-US" altLang="en-US" sz="2400" i="1" dirty="0"/>
              <a:t>dean</a:t>
            </a:r>
            <a:r>
              <a:rPr lang="en-US" altLang="en-US" sz="2400" dirty="0"/>
              <a:t>;</a:t>
            </a:r>
          </a:p>
          <a:p>
            <a:pPr lvl="1" algn="r" rtl="1"/>
            <a:r>
              <a:rPr lang="en-US" altLang="en-US" sz="2400" b="1" dirty="0"/>
              <a:t>grant</a:t>
            </a:r>
            <a:r>
              <a:rPr lang="en-US" altLang="en-US" sz="2400" dirty="0"/>
              <a:t> </a:t>
            </a:r>
            <a:r>
              <a:rPr lang="en-US" altLang="en-US" sz="2400" i="1" dirty="0"/>
              <a:t>instructor</a:t>
            </a:r>
            <a:r>
              <a:rPr lang="en-US" altLang="en-US" sz="2400" dirty="0"/>
              <a:t> </a:t>
            </a:r>
            <a:r>
              <a:rPr lang="en-US" altLang="en-US" sz="2400" b="1" dirty="0"/>
              <a:t>to</a:t>
            </a:r>
            <a:r>
              <a:rPr lang="en-US" altLang="en-US" sz="2400" dirty="0"/>
              <a:t> </a:t>
            </a:r>
            <a:r>
              <a:rPr lang="en-US" altLang="en-US" sz="2400" i="1" dirty="0"/>
              <a:t>dean</a:t>
            </a:r>
            <a:r>
              <a:rPr lang="en-US" altLang="en-US" sz="2400" dirty="0"/>
              <a:t>;</a:t>
            </a:r>
          </a:p>
          <a:p>
            <a:pPr lvl="1" algn="r" rtl="1"/>
            <a:r>
              <a:rPr lang="en-US" altLang="en-US" sz="2400" b="1" dirty="0"/>
              <a:t>grant</a:t>
            </a:r>
            <a:r>
              <a:rPr lang="en-US" altLang="en-US" sz="2400" dirty="0"/>
              <a:t> </a:t>
            </a:r>
            <a:r>
              <a:rPr lang="en-US" altLang="en-US" sz="2400" i="1" dirty="0"/>
              <a:t>dean</a:t>
            </a:r>
            <a:r>
              <a:rPr lang="en-US" altLang="en-US" sz="2400" dirty="0"/>
              <a:t> </a:t>
            </a:r>
            <a:r>
              <a:rPr lang="en-US" altLang="en-US" sz="2400" b="1" dirty="0"/>
              <a:t>to</a:t>
            </a:r>
            <a:r>
              <a:rPr lang="en-US" altLang="en-US" sz="2400" dirty="0"/>
              <a:t> Satoshi;</a:t>
            </a:r>
          </a:p>
          <a:p>
            <a:endParaRPr lang="en-US" altLang="en-US" sz="3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866" name="Rectangle 2"/>
          <p:cNvSpPr>
            <a:spLocks noGrp="1" noChangeArrowheads="1"/>
          </p:cNvSpPr>
          <p:nvPr>
            <p:ph type="title"/>
          </p:nvPr>
        </p:nvSpPr>
        <p:spPr/>
        <p:txBody>
          <a:bodyPr/>
          <a:lstStyle/>
          <a:p>
            <a:pPr>
              <a:defRPr/>
            </a:pPr>
            <a:r>
              <a:rPr lang="fa-IR" dirty="0"/>
              <a:t>مجوزدهی بر روی نماها </a:t>
            </a:r>
            <a:endParaRPr lang="en-US" sz="2800" dirty="0">
              <a:ea typeface="+mj-ea"/>
            </a:endParaRPr>
          </a:p>
        </p:txBody>
      </p:sp>
      <p:sp>
        <p:nvSpPr>
          <p:cNvPr id="88067" name="Rectangle 3"/>
          <p:cNvSpPr>
            <a:spLocks noGrp="1" noChangeArrowheads="1"/>
          </p:cNvSpPr>
          <p:nvPr>
            <p:ph idx="1"/>
          </p:nvPr>
        </p:nvSpPr>
        <p:spPr>
          <a:xfrm>
            <a:off x="231732" y="1133606"/>
            <a:ext cx="8787008" cy="3775746"/>
          </a:xfrm>
        </p:spPr>
        <p:txBody>
          <a:bodyPr/>
          <a:lstStyle/>
          <a:p>
            <a:r>
              <a:rPr lang="en-US" altLang="en-US" sz="2400" b="1" dirty="0"/>
              <a:t>create view  </a:t>
            </a:r>
            <a:r>
              <a:rPr lang="en-US" altLang="en-US" sz="2400" i="1" dirty="0" err="1"/>
              <a:t>geo_instructor</a:t>
            </a:r>
            <a:r>
              <a:rPr lang="en-US" altLang="en-US" sz="2400" i="1" dirty="0"/>
              <a:t> </a:t>
            </a:r>
            <a:r>
              <a:rPr lang="en-US" altLang="en-US" sz="2400" b="1" dirty="0"/>
              <a:t>as</a:t>
            </a:r>
            <a:br>
              <a:rPr lang="en-US" altLang="en-US" sz="2400" b="1" dirty="0"/>
            </a:br>
            <a:r>
              <a:rPr lang="en-US" altLang="en-US" sz="2400" dirty="0"/>
              <a:t>(</a:t>
            </a:r>
            <a:r>
              <a:rPr lang="en-US" altLang="en-US" sz="2400" b="1" dirty="0"/>
              <a:t>select </a:t>
            </a:r>
            <a:r>
              <a:rPr lang="en-US" altLang="en-US" sz="2400" dirty="0"/>
              <a:t>*</a:t>
            </a:r>
            <a:br>
              <a:rPr lang="en-US" altLang="en-US" sz="2400" dirty="0"/>
            </a:br>
            <a:r>
              <a:rPr lang="en-US" altLang="en-US" sz="2400" b="1" dirty="0"/>
              <a:t>from </a:t>
            </a:r>
            <a:r>
              <a:rPr lang="en-US" altLang="en-US" sz="2400" i="1" dirty="0"/>
              <a:t>instructor</a:t>
            </a:r>
            <a:br>
              <a:rPr lang="en-US" altLang="en-US" sz="2400" i="1" dirty="0"/>
            </a:br>
            <a:r>
              <a:rPr lang="en-US" altLang="en-US" sz="2400" b="1" dirty="0"/>
              <a:t>where </a:t>
            </a:r>
            <a:r>
              <a:rPr lang="en-US" altLang="en-US" sz="2400" i="1" dirty="0"/>
              <a:t>dept_name </a:t>
            </a:r>
            <a:r>
              <a:rPr lang="en-US" altLang="en-US" sz="2400" dirty="0"/>
              <a:t>= 'Geology');</a:t>
            </a:r>
          </a:p>
          <a:p>
            <a:r>
              <a:rPr lang="en-US" altLang="en-US" sz="2400" b="1" dirty="0"/>
              <a:t>grant select on </a:t>
            </a:r>
            <a:r>
              <a:rPr lang="en-US" altLang="en-US" sz="2400" i="1" dirty="0" err="1"/>
              <a:t>geo_instructor</a:t>
            </a:r>
            <a:r>
              <a:rPr lang="en-US" altLang="en-US" sz="2400" i="1" dirty="0"/>
              <a:t> </a:t>
            </a:r>
            <a:r>
              <a:rPr lang="en-US" altLang="en-US" sz="2400" b="1" dirty="0"/>
              <a:t>to </a:t>
            </a:r>
            <a:r>
              <a:rPr lang="en-US" altLang="en-US" sz="2400" i="1" dirty="0"/>
              <a:t> </a:t>
            </a:r>
            <a:r>
              <a:rPr lang="en-US" altLang="en-US" sz="2400" i="1" dirty="0" err="1"/>
              <a:t>geo_staff</a:t>
            </a:r>
            <a:endParaRPr lang="en-US" altLang="en-US" sz="2400" i="1" dirty="0"/>
          </a:p>
          <a:p>
            <a:pPr algn="r" rtl="1"/>
            <a:r>
              <a:rPr lang="fa-IR" altLang="en-US" sz="2400" dirty="0"/>
              <a:t>فرض کنید یک عضو </a:t>
            </a:r>
            <a:r>
              <a:rPr lang="en-US" altLang="en-US" sz="2400" dirty="0" err="1"/>
              <a:t>geo_staff</a:t>
            </a:r>
            <a:r>
              <a:rPr lang="fa-IR" altLang="en-US" sz="2400" dirty="0"/>
              <a:t> </a:t>
            </a:r>
            <a:r>
              <a:rPr lang="en-US" altLang="en-US" sz="2400" dirty="0"/>
              <a:t> </a:t>
            </a:r>
            <a:r>
              <a:rPr lang="fa-IR" altLang="en-US" sz="2400" dirty="0"/>
              <a:t>دستور زیر را اجرا می‌کند:</a:t>
            </a:r>
            <a:endParaRPr lang="fa-IR" altLang="en-US" sz="2400" b="1" dirty="0"/>
          </a:p>
          <a:p>
            <a:pPr lvl="1"/>
            <a:r>
              <a:rPr lang="en-US" altLang="en-US" sz="2400" b="1" dirty="0"/>
              <a:t>select </a:t>
            </a:r>
            <a:r>
              <a:rPr lang="en-US" altLang="en-US" sz="2400" dirty="0"/>
              <a:t>*</a:t>
            </a:r>
            <a:br>
              <a:rPr lang="en-US" altLang="en-US" sz="2400" dirty="0"/>
            </a:br>
            <a:r>
              <a:rPr lang="en-US" altLang="en-US" sz="2400" b="1" dirty="0"/>
              <a:t>from </a:t>
            </a:r>
            <a:r>
              <a:rPr lang="en-US" altLang="en-US" sz="2400" i="1" dirty="0" err="1"/>
              <a:t>geo_instructor</a:t>
            </a:r>
            <a:r>
              <a:rPr lang="en-US" altLang="en-US" sz="2400" dirty="0"/>
              <a:t>;</a:t>
            </a:r>
          </a:p>
          <a:p>
            <a:pPr algn="r" rtl="1"/>
            <a:r>
              <a:rPr lang="fa-IR" altLang="en-US" sz="2400" dirty="0"/>
              <a:t>چه می‌شود اگر:</a:t>
            </a:r>
            <a:endParaRPr lang="en-US" altLang="en-US" sz="2400" dirty="0"/>
          </a:p>
          <a:p>
            <a:pPr lvl="1" algn="r" rtl="1"/>
            <a:r>
              <a:rPr lang="en-US" altLang="en-US" sz="2400" dirty="0" err="1"/>
              <a:t>geo_staff</a:t>
            </a:r>
            <a:r>
              <a:rPr lang="fa-IR" altLang="en-US" sz="2400" dirty="0"/>
              <a:t> </a:t>
            </a:r>
            <a:r>
              <a:rPr lang="en-US" altLang="en-US" sz="2400" dirty="0"/>
              <a:t> </a:t>
            </a:r>
            <a:r>
              <a:rPr lang="fa-IR" altLang="en-US" sz="2400" dirty="0"/>
              <a:t>مجوزهایی بر روی </a:t>
            </a:r>
            <a:r>
              <a:rPr lang="en-US" altLang="en-US" sz="2400" dirty="0"/>
              <a:t>instructor</a:t>
            </a:r>
            <a:r>
              <a:rPr lang="fa-IR" altLang="en-US" sz="2400" dirty="0"/>
              <a:t> </a:t>
            </a:r>
            <a:r>
              <a:rPr lang="en-US" altLang="en-US" sz="2400" dirty="0"/>
              <a:t> </a:t>
            </a:r>
            <a:r>
              <a:rPr lang="fa-IR" altLang="en-US" sz="2400" dirty="0"/>
              <a:t>نداشته باشد؟</a:t>
            </a:r>
          </a:p>
          <a:p>
            <a:pPr lvl="1" algn="r" rtl="1"/>
            <a:r>
              <a:rPr lang="fa-IR" altLang="en-US" sz="2400" dirty="0"/>
              <a:t>ایجادکننده نما، مجوزهایی بر روی </a:t>
            </a:r>
            <a:r>
              <a:rPr lang="en-US" altLang="en-US" sz="2400" dirty="0"/>
              <a:t>instructor</a:t>
            </a:r>
            <a:r>
              <a:rPr lang="fa-IR" altLang="en-US" sz="2400" dirty="0"/>
              <a:t> </a:t>
            </a:r>
            <a:r>
              <a:rPr lang="en-US" altLang="en-US" sz="2400" dirty="0"/>
              <a:t> </a:t>
            </a:r>
            <a:r>
              <a:rPr lang="fa-IR" altLang="en-US" sz="2400" dirty="0"/>
              <a:t>نداشته باشد؟</a:t>
            </a:r>
            <a:endParaRPr lang="en-US" altLang="en-US" sz="3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a:defRPr/>
            </a:pPr>
            <a:r>
              <a:rPr lang="fa-IR" sz="2800" dirty="0">
                <a:ea typeface="+mj-ea"/>
              </a:rPr>
              <a:t>ویژگی های دیگر مجوز‌ها</a:t>
            </a:r>
            <a:endParaRPr lang="en-US" sz="2800" dirty="0">
              <a:ea typeface="+mj-ea"/>
            </a:endParaRPr>
          </a:p>
        </p:txBody>
      </p:sp>
      <p:sp>
        <p:nvSpPr>
          <p:cNvPr id="89091" name="Rectangle 3"/>
          <p:cNvSpPr>
            <a:spLocks noGrp="1" noChangeArrowheads="1"/>
          </p:cNvSpPr>
          <p:nvPr>
            <p:ph idx="1"/>
          </p:nvPr>
        </p:nvSpPr>
        <p:spPr>
          <a:xfrm>
            <a:off x="162838" y="1093788"/>
            <a:ext cx="8868428" cy="4392611"/>
          </a:xfrm>
        </p:spPr>
        <p:txBody>
          <a:bodyPr/>
          <a:lstStyle/>
          <a:p>
            <a:pPr algn="r" rtl="1"/>
            <a:r>
              <a:rPr lang="fa-IR" altLang="en-US" sz="2400" dirty="0"/>
              <a:t>مجوز </a:t>
            </a:r>
            <a:r>
              <a:rPr lang="en-US" altLang="en-US" sz="2400" dirty="0"/>
              <a:t>References</a:t>
            </a:r>
            <a:r>
              <a:rPr lang="fa-IR" altLang="en-US" sz="2400" dirty="0"/>
              <a:t> </a:t>
            </a:r>
            <a:r>
              <a:rPr lang="en-US" altLang="en-US" sz="2400" dirty="0"/>
              <a:t> </a:t>
            </a:r>
            <a:r>
              <a:rPr lang="fa-IR" altLang="en-US" sz="2400" dirty="0"/>
              <a:t>برای ایجاد کلید خارجی:</a:t>
            </a:r>
          </a:p>
          <a:p>
            <a:pPr lvl="1" algn="l"/>
            <a:r>
              <a:rPr lang="en-US" altLang="en-US" sz="2400" b="1" dirty="0">
                <a:solidFill>
                  <a:srgbClr val="002060"/>
                </a:solidFill>
              </a:rPr>
              <a:t>grant reference </a:t>
            </a:r>
            <a:r>
              <a:rPr lang="en-US" altLang="en-US" sz="2400" dirty="0"/>
              <a:t>(</a:t>
            </a:r>
            <a:r>
              <a:rPr lang="en-US" altLang="en-US" sz="2400" i="1" dirty="0" err="1">
                <a:solidFill>
                  <a:srgbClr val="002060"/>
                </a:solidFill>
              </a:rPr>
              <a:t>dept_name</a:t>
            </a:r>
            <a:r>
              <a:rPr lang="en-US" altLang="en-US" sz="2400" dirty="0">
                <a:solidFill>
                  <a:srgbClr val="002060"/>
                </a:solidFill>
              </a:rPr>
              <a:t>) </a:t>
            </a:r>
            <a:r>
              <a:rPr lang="en-US" altLang="en-US" sz="2400" b="1" dirty="0">
                <a:solidFill>
                  <a:srgbClr val="002060"/>
                </a:solidFill>
              </a:rPr>
              <a:t>on </a:t>
            </a:r>
            <a:r>
              <a:rPr lang="en-US" altLang="en-US" sz="2400" i="1" dirty="0">
                <a:solidFill>
                  <a:srgbClr val="002060"/>
                </a:solidFill>
              </a:rPr>
              <a:t>department </a:t>
            </a:r>
            <a:r>
              <a:rPr lang="en-US" altLang="en-US" sz="2400" b="1" dirty="0">
                <a:solidFill>
                  <a:srgbClr val="002060"/>
                </a:solidFill>
              </a:rPr>
              <a:t>to </a:t>
            </a:r>
            <a:r>
              <a:rPr lang="en-US" altLang="en-US" sz="2400" dirty="0">
                <a:solidFill>
                  <a:srgbClr val="002060"/>
                </a:solidFill>
              </a:rPr>
              <a:t>Mariano;</a:t>
            </a:r>
          </a:p>
          <a:p>
            <a:pPr lvl="1" algn="r" rtl="1"/>
            <a:r>
              <a:rPr lang="fa-IR" altLang="en-US" sz="2400" dirty="0"/>
              <a:t>چرا نیاز داریم؟</a:t>
            </a:r>
            <a:endParaRPr lang="en-US" altLang="en-US" sz="2400" dirty="0"/>
          </a:p>
          <a:p>
            <a:pPr algn="r" rtl="1"/>
            <a:r>
              <a:rPr lang="fa-IR" sz="2400" dirty="0"/>
              <a:t>انتقال مجوز‌ها:</a:t>
            </a:r>
            <a:endParaRPr lang="en-US" altLang="en-US" sz="2400" dirty="0"/>
          </a:p>
          <a:p>
            <a:pPr lvl="1"/>
            <a:r>
              <a:rPr lang="en-US" altLang="en-US" sz="2400" b="1" dirty="0"/>
              <a:t>grant select on </a:t>
            </a:r>
            <a:r>
              <a:rPr lang="en-US" altLang="en-US" sz="2400" i="1" dirty="0"/>
              <a:t>department </a:t>
            </a:r>
            <a:r>
              <a:rPr lang="en-US" altLang="en-US" sz="2400" b="1" dirty="0"/>
              <a:t>to </a:t>
            </a:r>
            <a:r>
              <a:rPr lang="en-US" altLang="en-US" sz="2400" dirty="0" err="1"/>
              <a:t>Amit</a:t>
            </a:r>
            <a:r>
              <a:rPr lang="en-US" altLang="en-US" sz="2400" dirty="0"/>
              <a:t> </a:t>
            </a:r>
            <a:r>
              <a:rPr lang="en-US" altLang="en-US" sz="2400" b="1" dirty="0"/>
              <a:t>with grant option</a:t>
            </a:r>
            <a:r>
              <a:rPr lang="en-US" altLang="en-US" sz="2400" dirty="0"/>
              <a:t>;</a:t>
            </a:r>
          </a:p>
          <a:p>
            <a:pPr lvl="1"/>
            <a:r>
              <a:rPr lang="en-US" altLang="en-US" sz="2400" b="1" dirty="0"/>
              <a:t>revoke select on </a:t>
            </a:r>
            <a:r>
              <a:rPr lang="en-US" altLang="en-US" sz="2400" i="1" dirty="0"/>
              <a:t>department </a:t>
            </a:r>
            <a:r>
              <a:rPr lang="en-US" altLang="en-US" sz="2400" b="1" dirty="0"/>
              <a:t>from </a:t>
            </a:r>
            <a:r>
              <a:rPr lang="en-US" altLang="en-US" sz="2400" dirty="0" err="1"/>
              <a:t>Amit</a:t>
            </a:r>
            <a:r>
              <a:rPr lang="en-US" altLang="en-US" sz="2400" dirty="0"/>
              <a:t>, Satoshi </a:t>
            </a:r>
            <a:r>
              <a:rPr lang="en-US" altLang="en-US" sz="2400" b="1" dirty="0"/>
              <a:t>cascade</a:t>
            </a:r>
            <a:r>
              <a:rPr lang="en-US" altLang="en-US" sz="2400" dirty="0"/>
              <a:t>;</a:t>
            </a:r>
          </a:p>
          <a:p>
            <a:pPr lvl="1"/>
            <a:r>
              <a:rPr lang="en-US" altLang="en-US" sz="2400" b="1" dirty="0"/>
              <a:t>revoke select on </a:t>
            </a:r>
            <a:r>
              <a:rPr lang="en-US" altLang="en-US" sz="2400" i="1" dirty="0"/>
              <a:t>department </a:t>
            </a:r>
            <a:r>
              <a:rPr lang="en-US" altLang="en-US" sz="2400" b="1" dirty="0"/>
              <a:t>from </a:t>
            </a:r>
            <a:r>
              <a:rPr lang="en-US" altLang="en-US" sz="2400" dirty="0" err="1"/>
              <a:t>Amit</a:t>
            </a:r>
            <a:r>
              <a:rPr lang="en-US" altLang="en-US" sz="2400" dirty="0"/>
              <a:t>, Satoshi </a:t>
            </a:r>
            <a:r>
              <a:rPr lang="en-US" altLang="en-US" sz="2400" b="1" dirty="0"/>
              <a:t>restrict</a:t>
            </a:r>
            <a:r>
              <a:rPr lang="en-US" altLang="en-US" sz="2400" dirty="0"/>
              <a:t>;</a:t>
            </a:r>
          </a:p>
          <a:p>
            <a:pPr marL="457200" lvl="1" indent="0" algn="r" rtl="1">
              <a:buNone/>
            </a:pPr>
            <a:r>
              <a:rPr lang="fa-IR" altLang="en-US" sz="2400" dirty="0"/>
              <a:t>و موارد دیگر...</a:t>
            </a:r>
            <a:endParaRPr lang="en-US" alt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a:defRPr/>
            </a:pPr>
            <a:r>
              <a:rPr lang="fa-IR" dirty="0"/>
              <a:t>سایر ویژگی‌های مجوزدهی</a:t>
            </a:r>
            <a:endParaRPr lang="en-US" sz="2800" dirty="0">
              <a:ea typeface="+mj-ea"/>
            </a:endParaRPr>
          </a:p>
        </p:txBody>
      </p:sp>
      <p:sp>
        <p:nvSpPr>
          <p:cNvPr id="89091" name="Rectangle 3"/>
          <p:cNvSpPr>
            <a:spLocks noGrp="1" noChangeArrowheads="1"/>
          </p:cNvSpPr>
          <p:nvPr>
            <p:ph idx="1"/>
          </p:nvPr>
        </p:nvSpPr>
        <p:spPr>
          <a:xfrm>
            <a:off x="201634" y="1177925"/>
            <a:ext cx="8942366" cy="5562600"/>
          </a:xfrm>
        </p:spPr>
        <p:txBody>
          <a:bodyPr/>
          <a:lstStyle/>
          <a:p>
            <a:r>
              <a:rPr lang="en-US" sz="1600" b="1" dirty="0">
                <a:latin typeface="Helvetica (Body)"/>
              </a:rPr>
              <a:t>GRANT REFERENCES (</a:t>
            </a:r>
            <a:r>
              <a:rPr lang="en-US" sz="1600" b="1" dirty="0" err="1">
                <a:latin typeface="Helvetica (Body)"/>
              </a:rPr>
              <a:t>dept_name</a:t>
            </a:r>
            <a:r>
              <a:rPr lang="en-US" sz="1600" b="1" dirty="0">
                <a:latin typeface="Helvetica (Body)"/>
              </a:rPr>
              <a:t>) ON department TO Mariano;</a:t>
            </a:r>
            <a:endParaRPr lang="fa-IR" sz="1600" b="1" dirty="0">
              <a:latin typeface="Helvetica (Body)"/>
            </a:endParaRPr>
          </a:p>
          <a:p>
            <a:pPr lvl="1"/>
            <a:endParaRPr lang="en-US" sz="1600" b="1" dirty="0">
              <a:latin typeface="Helvetica (Body)"/>
            </a:endParaRPr>
          </a:p>
          <a:p>
            <a:pPr lvl="1" algn="r" rtl="1"/>
            <a:r>
              <a:rPr lang="fa-IR" sz="1600" dirty="0">
                <a:latin typeface="Helvetica (Body)"/>
              </a:rPr>
              <a:t>مجوز </a:t>
            </a:r>
            <a:r>
              <a:rPr lang="en-US" sz="1600" b="1" dirty="0">
                <a:latin typeface="Helvetica (Body)"/>
              </a:rPr>
              <a:t>REFERENCES</a:t>
            </a:r>
            <a:r>
              <a:rPr lang="fa-IR" sz="1600" dirty="0">
                <a:latin typeface="Helvetica (Body)"/>
              </a:rPr>
              <a:t> </a:t>
            </a:r>
            <a:r>
              <a:rPr lang="en-US" sz="1600" dirty="0">
                <a:latin typeface="Helvetica (Body)"/>
              </a:rPr>
              <a:t> </a:t>
            </a:r>
            <a:r>
              <a:rPr lang="fa-IR" sz="1600" dirty="0">
                <a:latin typeface="Helvetica (Body)"/>
              </a:rPr>
              <a:t>به یک کاربر (در این حالت، </a:t>
            </a:r>
            <a:r>
              <a:rPr lang="en-US" sz="1600" dirty="0">
                <a:latin typeface="Helvetica (Body)"/>
              </a:rPr>
              <a:t>Mariano</a:t>
            </a:r>
            <a:r>
              <a:rPr lang="fa-IR" sz="1600" dirty="0">
                <a:latin typeface="Helvetica (Body)"/>
              </a:rPr>
              <a:t>) </a:t>
            </a:r>
            <a:r>
              <a:rPr lang="en-US" sz="1600" dirty="0">
                <a:latin typeface="Helvetica (Body)"/>
              </a:rPr>
              <a:t> </a:t>
            </a:r>
            <a:r>
              <a:rPr lang="fa-IR" sz="1600" dirty="0">
                <a:latin typeface="Helvetica (Body)"/>
              </a:rPr>
              <a:t>اجازه می‌دهد یک کلید خارجی ایجاد کند که به ستون مشخص شده </a:t>
            </a:r>
            <a:r>
              <a:rPr lang="en-US" sz="1600" dirty="0">
                <a:latin typeface="Helvetica (Body)"/>
              </a:rPr>
              <a:t> (</a:t>
            </a:r>
            <a:r>
              <a:rPr lang="en-US" sz="1600" dirty="0" err="1">
                <a:latin typeface="Helvetica (Body)"/>
              </a:rPr>
              <a:t>dept_name</a:t>
            </a:r>
            <a:r>
              <a:rPr lang="en-US" sz="1600" dirty="0">
                <a:latin typeface="Helvetica (Body)"/>
              </a:rPr>
              <a:t>) </a:t>
            </a:r>
            <a:r>
              <a:rPr lang="fa-IR" sz="1600" dirty="0">
                <a:latin typeface="Helvetica (Body)"/>
              </a:rPr>
              <a:t>در جدول </a:t>
            </a:r>
            <a:r>
              <a:rPr lang="en-US" sz="1600" dirty="0">
                <a:latin typeface="Helvetica (Body)"/>
              </a:rPr>
              <a:t> department </a:t>
            </a:r>
            <a:r>
              <a:rPr lang="fa-IR" sz="1600" dirty="0">
                <a:latin typeface="Helvetica (Body)"/>
              </a:rPr>
              <a:t>ارجاع می‌دهد.</a:t>
            </a:r>
          </a:p>
          <a:p>
            <a:pPr lvl="1" algn="r" rtl="1"/>
            <a:endParaRPr lang="en-US" sz="1600" dirty="0">
              <a:latin typeface="Helvetica (Body)"/>
            </a:endParaRPr>
          </a:p>
          <a:p>
            <a:r>
              <a:rPr lang="en-US" sz="1600" b="1" dirty="0">
                <a:latin typeface="Helvetica (Body)"/>
              </a:rPr>
              <a:t>REVOKE SELECT ON department FROM Amit, Satoshi CASCADE;</a:t>
            </a:r>
            <a:endParaRPr lang="fa-IR" sz="1600" b="1" dirty="0">
              <a:latin typeface="Helvetica (Body)"/>
            </a:endParaRPr>
          </a:p>
          <a:p>
            <a:endParaRPr lang="en-US" sz="1600" dirty="0">
              <a:latin typeface="Helvetica (Body)"/>
            </a:endParaRPr>
          </a:p>
          <a:p>
            <a:pPr lvl="1" algn="r" rtl="1"/>
            <a:endParaRPr lang="en-US" sz="1600" b="1" dirty="0">
              <a:latin typeface="Helvetica (Body)"/>
            </a:endParaRPr>
          </a:p>
          <a:p>
            <a:r>
              <a:rPr lang="en-US" sz="1600" b="1" dirty="0">
                <a:latin typeface="Helvetica (Body)"/>
              </a:rPr>
              <a:t>REVOKE SELECT ON department FROM Amit, Satoshi RESTRICT;</a:t>
            </a:r>
            <a:endParaRPr lang="fa-IR" sz="1600" b="1" dirty="0">
              <a:latin typeface="Helvetica (Body)"/>
            </a:endParaRPr>
          </a:p>
          <a:p>
            <a:pPr marL="457200" lvl="1" indent="0" algn="r" rtl="1">
              <a:buNone/>
            </a:pPr>
            <a:endParaRPr lang="en-US" sz="1600" dirty="0">
              <a:latin typeface="Helvetica (Body)"/>
            </a:endParaRPr>
          </a:p>
          <a:p>
            <a:pPr algn="r" rtl="1"/>
            <a:r>
              <a:rPr lang="en-US" sz="1600" b="1" dirty="0">
                <a:latin typeface="Helvetica (Body)"/>
              </a:rPr>
              <a:t>RESTRICT</a:t>
            </a:r>
            <a:r>
              <a:rPr lang="fa-IR" sz="1600" b="1" dirty="0">
                <a:latin typeface="Helvetica (Body)"/>
              </a:rPr>
              <a:t> </a:t>
            </a:r>
            <a:r>
              <a:rPr lang="en-US" sz="1600" b="1" dirty="0">
                <a:latin typeface="Helvetica (Body)"/>
              </a:rPr>
              <a:t> </a:t>
            </a:r>
            <a:r>
              <a:rPr lang="fa-IR" sz="1600" dirty="0">
                <a:latin typeface="Helvetica (Body)"/>
              </a:rPr>
              <a:t>در صورتی که کاربرانی امتیاز را از </a:t>
            </a:r>
            <a:r>
              <a:rPr lang="en-US" sz="1600" dirty="0">
                <a:latin typeface="Helvetica (Body)"/>
              </a:rPr>
              <a:t>Amit</a:t>
            </a:r>
            <a:r>
              <a:rPr lang="fa-IR" sz="1600" dirty="0">
                <a:latin typeface="Helvetica (Body)"/>
              </a:rPr>
              <a:t> </a:t>
            </a:r>
            <a:r>
              <a:rPr lang="en-US" sz="1600" dirty="0">
                <a:latin typeface="Helvetica (Body)"/>
              </a:rPr>
              <a:t> </a:t>
            </a:r>
            <a:r>
              <a:rPr lang="fa-IR" sz="1600" dirty="0">
                <a:latin typeface="Helvetica (Body)"/>
              </a:rPr>
              <a:t>یا </a:t>
            </a:r>
            <a:r>
              <a:rPr lang="en-US" sz="1600" dirty="0">
                <a:latin typeface="Helvetica (Body)"/>
              </a:rPr>
              <a:t>Satoshi </a:t>
            </a:r>
            <a:r>
              <a:rPr lang="fa-IR" sz="1600" dirty="0">
                <a:latin typeface="Helvetica (Body)"/>
              </a:rPr>
              <a:t> دریافت کرده باشند، جلوی لغو را می‌گیرد. این امر سلسله مراتب امتیازات اعطا شده را حفظ می‌کند.</a:t>
            </a:r>
          </a:p>
          <a:p>
            <a:endParaRPr lang="en-US" altLang="en-US" sz="1600" b="1" dirty="0">
              <a:latin typeface="Helvetica (Body)"/>
            </a:endParaRPr>
          </a:p>
          <a:p>
            <a:r>
              <a:rPr lang="en-US" altLang="en-US" sz="1800" b="1" dirty="0">
                <a:latin typeface="Helvetica (Body)"/>
              </a:rPr>
              <a:t>grant select on department to Amit with grant option; </a:t>
            </a:r>
          </a:p>
          <a:p>
            <a:pPr lvl="1" algn="r" rtl="1"/>
            <a:r>
              <a:rPr lang="fa-IR" altLang="en-US" sz="1800" dirty="0">
                <a:latin typeface="Helvetica (Body)"/>
              </a:rPr>
              <a:t>به این معنی است که </a:t>
            </a:r>
            <a:r>
              <a:rPr lang="en-US" altLang="en-US" sz="1800" dirty="0">
                <a:latin typeface="Helvetica (Body)"/>
              </a:rPr>
              <a:t>Amit</a:t>
            </a:r>
            <a:r>
              <a:rPr lang="fa-IR" altLang="en-US" sz="1800" dirty="0">
                <a:latin typeface="Helvetica (Body)"/>
              </a:rPr>
              <a:t> </a:t>
            </a:r>
            <a:r>
              <a:rPr lang="en-US" altLang="en-US" sz="1800" dirty="0">
                <a:latin typeface="Helvetica (Body)"/>
              </a:rPr>
              <a:t> </a:t>
            </a:r>
            <a:r>
              <a:rPr lang="fa-IR" altLang="en-US" sz="1800" dirty="0">
                <a:latin typeface="Helvetica (Body)"/>
              </a:rPr>
              <a:t>می‌تواند امتیاز خود را به کاربران دیگر انتقال دهد.</a:t>
            </a:r>
            <a:endParaRPr lang="en-US" sz="1600" dirty="0">
              <a:latin typeface="Helvetica (Body)"/>
            </a:endParaRPr>
          </a:p>
          <a:p>
            <a:endParaRPr lang="en-US" sz="1600" dirty="0">
              <a:latin typeface="Helvetica (Body)"/>
            </a:endParaRPr>
          </a:p>
        </p:txBody>
      </p:sp>
      <p:sp>
        <p:nvSpPr>
          <p:cNvPr id="3" name="TextBox 2">
            <a:extLst>
              <a:ext uri="{FF2B5EF4-FFF2-40B4-BE49-F238E27FC236}">
                <a16:creationId xmlns:a16="http://schemas.microsoft.com/office/drawing/2014/main" id="{4F33B489-DDAD-2E63-CC8A-7AF5D60BCA73}"/>
              </a:ext>
            </a:extLst>
          </p:cNvPr>
          <p:cNvSpPr txBox="1"/>
          <p:nvPr/>
        </p:nvSpPr>
        <p:spPr>
          <a:xfrm>
            <a:off x="350859" y="3136612"/>
            <a:ext cx="8643916" cy="584775"/>
          </a:xfrm>
          <a:prstGeom prst="rect">
            <a:avLst/>
          </a:prstGeom>
          <a:noFill/>
        </p:spPr>
        <p:txBody>
          <a:bodyPr wrap="square">
            <a:spAutoFit/>
          </a:bodyPr>
          <a:lstStyle/>
          <a:p>
            <a:pPr lvl="1" algn="r" rtl="1"/>
            <a:r>
              <a:rPr lang="en-US" sz="1600" b="1" dirty="0">
                <a:latin typeface="Helvetica (Body)"/>
              </a:rPr>
              <a:t>CASCADE</a:t>
            </a:r>
            <a:r>
              <a:rPr lang="fa-IR" sz="1600" b="1" dirty="0">
                <a:latin typeface="Helvetica (Body)"/>
              </a:rPr>
              <a:t> </a:t>
            </a:r>
            <a:r>
              <a:rPr lang="en-US" sz="1600" b="1" dirty="0">
                <a:latin typeface="Helvetica (Body)"/>
              </a:rPr>
              <a:t> </a:t>
            </a:r>
            <a:r>
              <a:rPr lang="fa-IR" sz="1600" dirty="0">
                <a:latin typeface="Helvetica (Body)"/>
              </a:rPr>
              <a:t>تضمین می‌کند که لغو امتیاز گسترش یابد و امتیازات را از تمامی دریافت‌کنندگان غیرمستقیم آن امتیاز حذف کند.</a:t>
            </a:r>
          </a:p>
        </p:txBody>
      </p:sp>
    </p:spTree>
    <p:extLst>
      <p:ext uri="{BB962C8B-B14F-4D97-AF65-F5344CB8AC3E}">
        <p14:creationId xmlns:p14="http://schemas.microsoft.com/office/powerpoint/2010/main" val="14435058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F8F74-4D58-4163-B182-68D3DFED5D9A}"/>
              </a:ext>
            </a:extLst>
          </p:cNvPr>
          <p:cNvSpPr>
            <a:spLocks noGrp="1"/>
          </p:cNvSpPr>
          <p:nvPr>
            <p:ph type="title"/>
          </p:nvPr>
        </p:nvSpPr>
        <p:spPr>
          <a:xfrm>
            <a:off x="768350" y="369786"/>
            <a:ext cx="8077200" cy="609600"/>
          </a:xfrm>
        </p:spPr>
        <p:txBody>
          <a:bodyPr/>
          <a:lstStyle/>
          <a:p>
            <a:pPr rtl="1"/>
            <a:r>
              <a:rPr lang="fa-IR" dirty="0"/>
              <a:t>مقایسه </a:t>
            </a:r>
            <a:r>
              <a:rPr lang="en-US" dirty="0"/>
              <a:t>CASCADE</a:t>
            </a:r>
            <a:r>
              <a:rPr lang="fa-IR" dirty="0"/>
              <a:t> </a:t>
            </a:r>
            <a:r>
              <a:rPr lang="en-US" dirty="0"/>
              <a:t> </a:t>
            </a:r>
            <a:r>
              <a:rPr lang="fa-IR" dirty="0"/>
              <a:t>و </a:t>
            </a:r>
            <a:r>
              <a:rPr lang="en-US" dirty="0"/>
              <a:t>RESTRICT</a:t>
            </a:r>
            <a:r>
              <a:rPr lang="fa-IR" dirty="0"/>
              <a:t> </a:t>
            </a:r>
            <a:r>
              <a:rPr lang="en-US" dirty="0"/>
              <a:t> </a:t>
            </a:r>
            <a:r>
              <a:rPr lang="fa-IR" dirty="0"/>
              <a:t>در لغو امتیاز</a:t>
            </a:r>
            <a:endParaRPr lang="en-US" dirty="0"/>
          </a:p>
        </p:txBody>
      </p:sp>
      <p:graphicFrame>
        <p:nvGraphicFramePr>
          <p:cNvPr id="8" name="Content Placeholder 7">
            <a:extLst>
              <a:ext uri="{FF2B5EF4-FFF2-40B4-BE49-F238E27FC236}">
                <a16:creationId xmlns:a16="http://schemas.microsoft.com/office/drawing/2014/main" id="{D6F901BC-2A94-4A6B-B914-C73C176AA8B2}"/>
              </a:ext>
            </a:extLst>
          </p:cNvPr>
          <p:cNvGraphicFramePr>
            <a:graphicFrameLocks noGrp="1"/>
          </p:cNvGraphicFramePr>
          <p:nvPr>
            <p:ph idx="1"/>
            <p:extLst>
              <p:ext uri="{D42A27DB-BD31-4B8C-83A1-F6EECF244321}">
                <p14:modId xmlns:p14="http://schemas.microsoft.com/office/powerpoint/2010/main" val="4103601064"/>
              </p:ext>
            </p:extLst>
          </p:nvPr>
        </p:nvGraphicFramePr>
        <p:xfrm>
          <a:off x="565150" y="1507516"/>
          <a:ext cx="8483600" cy="4258606"/>
        </p:xfrm>
        <a:graphic>
          <a:graphicData uri="http://schemas.openxmlformats.org/drawingml/2006/table">
            <a:tbl>
              <a:tblPr firstRow="1" firstCol="1" bandRow="1">
                <a:tableStyleId>{616DA210-FB5B-4158-B5E0-FEB733F419BA}</a:tableStyleId>
              </a:tblPr>
              <a:tblGrid>
                <a:gridCol w="1752600">
                  <a:extLst>
                    <a:ext uri="{9D8B030D-6E8A-4147-A177-3AD203B41FA5}">
                      <a16:colId xmlns:a16="http://schemas.microsoft.com/office/drawing/2014/main" val="351180474"/>
                    </a:ext>
                  </a:extLst>
                </a:gridCol>
                <a:gridCol w="3902831">
                  <a:extLst>
                    <a:ext uri="{9D8B030D-6E8A-4147-A177-3AD203B41FA5}">
                      <a16:colId xmlns:a16="http://schemas.microsoft.com/office/drawing/2014/main" val="1448023061"/>
                    </a:ext>
                  </a:extLst>
                </a:gridCol>
                <a:gridCol w="2828169">
                  <a:extLst>
                    <a:ext uri="{9D8B030D-6E8A-4147-A177-3AD203B41FA5}">
                      <a16:colId xmlns:a16="http://schemas.microsoft.com/office/drawing/2014/main" val="426098040"/>
                    </a:ext>
                  </a:extLst>
                </a:gridCol>
              </a:tblGrid>
              <a:tr h="727684">
                <a:tc>
                  <a:txBody>
                    <a:bodyPr/>
                    <a:lstStyle/>
                    <a:p>
                      <a:pPr algn="ctr"/>
                      <a:r>
                        <a:rPr lang="fa-IR" sz="2400" b="1" dirty="0">
                          <a:cs typeface="B Nazanin" panose="00000400000000000000" pitchFamily="50" charset="-78"/>
                        </a:rPr>
                        <a:t>جنبه</a:t>
                      </a:r>
                      <a:endParaRPr lang="en-US" sz="2400" dirty="0">
                        <a:cs typeface="B Nazanin" panose="00000400000000000000" pitchFamily="50" charset="-78"/>
                      </a:endParaRPr>
                    </a:p>
                  </a:txBody>
                  <a:tcPr anchor="ctr"/>
                </a:tc>
                <a:tc>
                  <a:txBody>
                    <a:bodyPr/>
                    <a:lstStyle/>
                    <a:p>
                      <a:pPr algn="ctr"/>
                      <a:r>
                        <a:rPr lang="en-US" sz="2400" dirty="0">
                          <a:cs typeface="B Nazanin" panose="00000400000000000000" pitchFamily="50" charset="-78"/>
                        </a:rPr>
                        <a:t>CASCADE</a:t>
                      </a:r>
                    </a:p>
                  </a:txBody>
                  <a:tcPr anchor="ctr"/>
                </a:tc>
                <a:tc>
                  <a:txBody>
                    <a:bodyPr/>
                    <a:lstStyle/>
                    <a:p>
                      <a:pPr algn="ctr"/>
                      <a:r>
                        <a:rPr lang="en-US" sz="2400" dirty="0">
                          <a:cs typeface="B Nazanin" panose="00000400000000000000" pitchFamily="50" charset="-78"/>
                        </a:rPr>
                        <a:t>RESTRICT</a:t>
                      </a:r>
                    </a:p>
                  </a:txBody>
                  <a:tcPr anchor="ctr"/>
                </a:tc>
                <a:extLst>
                  <a:ext uri="{0D108BD9-81ED-4DB2-BD59-A6C34878D82A}">
                    <a16:rowId xmlns:a16="http://schemas.microsoft.com/office/drawing/2014/main" val="3001954092"/>
                  </a:ext>
                </a:extLst>
              </a:tr>
              <a:tr h="1393354">
                <a:tc>
                  <a:txBody>
                    <a:bodyPr/>
                    <a:lstStyle/>
                    <a:p>
                      <a:pPr marL="0" marR="0" algn="ctr">
                        <a:lnSpc>
                          <a:spcPct val="107000"/>
                        </a:lnSpc>
                        <a:spcBef>
                          <a:spcPts val="0"/>
                        </a:spcBef>
                        <a:spcAft>
                          <a:spcPts val="0"/>
                        </a:spcAft>
                      </a:pPr>
                      <a:r>
                        <a:rPr lang="fa-IR" sz="2000" dirty="0">
                          <a:cs typeface="B Nazanin" panose="00000400000000000000" pitchFamily="50" charset="-78"/>
                        </a:rPr>
                        <a:t>نحوه عملکرد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a:lnSpc>
                          <a:spcPct val="107000"/>
                        </a:lnSpc>
                        <a:spcBef>
                          <a:spcPts val="0"/>
                        </a:spcBef>
                        <a:spcAft>
                          <a:spcPts val="0"/>
                        </a:spcAft>
                      </a:pPr>
                      <a:r>
                        <a:rPr lang="fa-IR" sz="2000" dirty="0">
                          <a:effectLst/>
                          <a:cs typeface="B Nazanin" panose="00000400000000000000" pitchFamily="50" charset="-78"/>
                        </a:rPr>
                        <a:t>امتیاز را از کاربران مشخص شده و تمامی کسانی که امتیاز توسط آن‌ها به آن‌ها اعطا شده بود، لغو می‌کند.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امتیاز را تنها در صورتی لغو می‌کند که هیچ کاربر وابسته‌ای وجود نداشته باشد. در غیر این صورت، خطا ایجاد می‌کند.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4187943036"/>
                  </a:ext>
                </a:extLst>
              </a:tr>
              <a:tr h="690772">
                <a:tc>
                  <a:txBody>
                    <a:bodyPr/>
                    <a:lstStyle/>
                    <a:p>
                      <a:pPr marL="0" marR="0" algn="ctr">
                        <a:lnSpc>
                          <a:spcPct val="107000"/>
                        </a:lnSpc>
                        <a:spcBef>
                          <a:spcPts val="0"/>
                        </a:spcBef>
                        <a:spcAft>
                          <a:spcPts val="0"/>
                        </a:spcAft>
                      </a:pPr>
                      <a:r>
                        <a:rPr lang="fa-IR" sz="2000" dirty="0">
                          <a:cs typeface="B Nazanin" panose="00000400000000000000" pitchFamily="50" charset="-78"/>
                        </a:rPr>
                        <a:t>مورد استفاده</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a:lnSpc>
                          <a:spcPct val="107000"/>
                        </a:lnSpc>
                        <a:spcBef>
                          <a:spcPts val="0"/>
                        </a:spcBef>
                        <a:spcAft>
                          <a:spcPts val="0"/>
                        </a:spcAft>
                      </a:pPr>
                      <a:r>
                        <a:rPr lang="fa-IR" sz="2000" dirty="0">
                          <a:effectLst/>
                          <a:cs typeface="B Nazanin" panose="00000400000000000000" pitchFamily="50" charset="-78"/>
                        </a:rPr>
                        <a:t>زمانی استفاده می‌شود که بخواهید تمامی وابستگی‌ها را از بین ببرید.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زمانی استفاده می‌شود که بخواهید اطمینان حاصل کنید که هیچ کاربر دیگری تحت تأثیر قرار نگیرد.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3277563539"/>
                  </a:ext>
                </a:extLst>
              </a:tr>
              <a:tr h="1159160">
                <a:tc>
                  <a:txBody>
                    <a:bodyPr/>
                    <a:lstStyle/>
                    <a:p>
                      <a:pPr marL="0" marR="0" algn="ctr">
                        <a:lnSpc>
                          <a:spcPct val="107000"/>
                        </a:lnSpc>
                        <a:spcBef>
                          <a:spcPts val="0"/>
                        </a:spcBef>
                        <a:spcAft>
                          <a:spcPts val="0"/>
                        </a:spcAft>
                      </a:pPr>
                      <a:r>
                        <a:rPr lang="fa-IR" sz="2000" dirty="0">
                          <a:cs typeface="B Nazanin" panose="00000400000000000000" pitchFamily="50" charset="-78"/>
                        </a:rPr>
                        <a:t>مثال</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اگر </a:t>
                      </a:r>
                      <a:r>
                        <a:rPr lang="en-US" sz="2000" dirty="0">
                          <a:effectLst/>
                          <a:cs typeface="B Nazanin" panose="00000400000000000000" pitchFamily="50" charset="-78"/>
                        </a:rPr>
                        <a:t>Amit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امتیاز </a:t>
                      </a:r>
                      <a:r>
                        <a:rPr lang="en-US" sz="2000" dirty="0">
                          <a:effectLst/>
                          <a:cs typeface="B Nazanin" panose="00000400000000000000" pitchFamily="50" charset="-78"/>
                        </a:rPr>
                        <a:t>SELECT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را به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اعطا کرده باشد، با لغو امتیاز </a:t>
                      </a:r>
                      <a:r>
                        <a:rPr lang="en-US" sz="2000" dirty="0">
                          <a:effectLst/>
                          <a:cs typeface="B Nazanin" panose="00000400000000000000" pitchFamily="50" charset="-78"/>
                        </a:rPr>
                        <a:t>Amit، </a:t>
                      </a:r>
                      <a:r>
                        <a:rPr lang="fa-IR" sz="2000" dirty="0">
                          <a:effectLst/>
                          <a:cs typeface="B Nazanin" panose="00000400000000000000" pitchFamily="50" charset="-78"/>
                        </a:rPr>
                        <a:t>امتیاز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نیز سلب می‌شود.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tc>
                  <a:txBody>
                    <a:bodyPr/>
                    <a:lstStyle/>
                    <a:p>
                      <a:pPr marL="0" marR="0" algn="r" rtl="1">
                        <a:lnSpc>
                          <a:spcPct val="107000"/>
                        </a:lnSpc>
                        <a:spcBef>
                          <a:spcPts val="0"/>
                        </a:spcBef>
                        <a:spcAft>
                          <a:spcPts val="0"/>
                        </a:spcAft>
                      </a:pPr>
                      <a:r>
                        <a:rPr lang="fa-IR" sz="2000" dirty="0">
                          <a:effectLst/>
                          <a:cs typeface="B Nazanin" panose="00000400000000000000" pitchFamily="50" charset="-78"/>
                        </a:rPr>
                        <a:t>امتیاز </a:t>
                      </a:r>
                      <a:r>
                        <a:rPr lang="en-US" sz="2000" dirty="0">
                          <a:effectLst/>
                          <a:cs typeface="B Nazanin" panose="00000400000000000000" pitchFamily="50" charset="-78"/>
                        </a:rPr>
                        <a:t>Amit</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قابل لغو نخواهد بود اگر </a:t>
                      </a:r>
                      <a:r>
                        <a:rPr lang="en-US" sz="2000" dirty="0">
                          <a:effectLst/>
                          <a:cs typeface="B Nazanin" panose="00000400000000000000" pitchFamily="50" charset="-78"/>
                        </a:rPr>
                        <a:t>Bob</a:t>
                      </a:r>
                      <a:r>
                        <a:rPr lang="fa-IR" sz="2000" dirty="0">
                          <a:effectLst/>
                          <a:cs typeface="B Nazanin" panose="00000400000000000000" pitchFamily="50" charset="-78"/>
                        </a:rPr>
                        <a:t> </a:t>
                      </a:r>
                      <a:r>
                        <a:rPr lang="en-US" sz="2000" dirty="0">
                          <a:effectLst/>
                          <a:cs typeface="B Nazanin" panose="00000400000000000000" pitchFamily="50" charset="-78"/>
                        </a:rPr>
                        <a:t> </a:t>
                      </a:r>
                      <a:r>
                        <a:rPr lang="fa-IR" sz="2000" dirty="0">
                          <a:effectLst/>
                          <a:cs typeface="B Nazanin" panose="00000400000000000000" pitchFamily="50" charset="-78"/>
                        </a:rPr>
                        <a:t>امتیاز را از </a:t>
                      </a:r>
                      <a:r>
                        <a:rPr lang="en-US" sz="2000" dirty="0">
                          <a:effectLst/>
                          <a:cs typeface="B Nazanin" panose="00000400000000000000" pitchFamily="50" charset="-78"/>
                        </a:rPr>
                        <a:t>Amit </a:t>
                      </a:r>
                      <a:r>
                        <a:rPr lang="fa-IR" sz="2000" dirty="0">
                          <a:effectLst/>
                          <a:cs typeface="B Nazanin" panose="00000400000000000000" pitchFamily="50" charset="-78"/>
                        </a:rPr>
                        <a:t>دریافت کرده باشد</a:t>
                      </a:r>
                      <a:endParaRPr lang="en-US" sz="1800" dirty="0">
                        <a:effectLst/>
                        <a:latin typeface="Calibri" panose="020F0502020204030204" pitchFamily="34" charset="0"/>
                        <a:ea typeface="Calibri" panose="020F0502020204030204" pitchFamily="34" charset="0"/>
                        <a:cs typeface="B Nazanin" panose="00000400000000000000" pitchFamily="50" charset="-78"/>
                      </a:endParaRPr>
                    </a:p>
                  </a:txBody>
                  <a:tcPr marL="68580" marR="68580" marT="0" marB="0"/>
                </a:tc>
                <a:extLst>
                  <a:ext uri="{0D108BD9-81ED-4DB2-BD59-A6C34878D82A}">
                    <a16:rowId xmlns:a16="http://schemas.microsoft.com/office/drawing/2014/main" val="1771253848"/>
                  </a:ext>
                </a:extLst>
              </a:tr>
            </a:tbl>
          </a:graphicData>
        </a:graphic>
      </p:graphicFrame>
    </p:spTree>
    <p:extLst>
      <p:ext uri="{BB962C8B-B14F-4D97-AF65-F5344CB8AC3E}">
        <p14:creationId xmlns:p14="http://schemas.microsoft.com/office/powerpoint/2010/main" val="17316599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22" name="Rectangle 2"/>
          <p:cNvSpPr>
            <a:spLocks noGrp="1" noChangeArrowheads="1"/>
          </p:cNvSpPr>
          <p:nvPr>
            <p:ph type="ctrTitle"/>
          </p:nvPr>
        </p:nvSpPr>
        <p:spPr/>
        <p:txBody>
          <a:bodyPr/>
          <a:lstStyle/>
          <a:p>
            <a:pPr>
              <a:defRPr/>
            </a:pPr>
            <a:r>
              <a:rPr lang="en-US">
                <a:ea typeface="+mj-ea"/>
              </a:rPr>
              <a:t>End of Chapter 4</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93828</TotalTime>
  <Words>9304</Words>
  <Application>Microsoft Office PowerPoint</Application>
  <PresentationFormat>On-screen Show (4:3)</PresentationFormat>
  <Paragraphs>866</Paragraphs>
  <Slides>66</Slides>
  <Notes>56</Notes>
  <HiddenSlides>0</HiddenSlides>
  <MMClips>0</MMClips>
  <ScaleCrop>false</ScaleCrop>
  <HeadingPairs>
    <vt:vector size="8" baseType="variant">
      <vt:variant>
        <vt:lpstr>Fonts Used</vt:lpstr>
      </vt:variant>
      <vt:variant>
        <vt:i4>14</vt:i4>
      </vt:variant>
      <vt:variant>
        <vt:lpstr>Theme</vt:lpstr>
      </vt:variant>
      <vt:variant>
        <vt:i4>1</vt:i4>
      </vt:variant>
      <vt:variant>
        <vt:lpstr>Slide Titles</vt:lpstr>
      </vt:variant>
      <vt:variant>
        <vt:i4>66</vt:i4>
      </vt:variant>
      <vt:variant>
        <vt:lpstr>Custom Shows</vt:lpstr>
      </vt:variant>
      <vt:variant>
        <vt:i4>1</vt:i4>
      </vt:variant>
    </vt:vector>
  </HeadingPairs>
  <TitlesOfParts>
    <vt:vector size="82" baseType="lpstr">
      <vt:lpstr>ＭＳ Ｐゴシック</vt:lpstr>
      <vt:lpstr>Arial</vt:lpstr>
      <vt:lpstr>B Nazanin</vt:lpstr>
      <vt:lpstr>Calibri</vt:lpstr>
      <vt:lpstr>Comic Sans MS</vt:lpstr>
      <vt:lpstr>Consolas</vt:lpstr>
      <vt:lpstr>Helvetica</vt:lpstr>
      <vt:lpstr>Helvetica (Body)</vt:lpstr>
      <vt:lpstr>Monotype Sorts</vt:lpstr>
      <vt:lpstr>Söhne</vt:lpstr>
      <vt:lpstr>Symbol</vt:lpstr>
      <vt:lpstr>Times New Roman</vt:lpstr>
      <vt:lpstr>Webdings</vt:lpstr>
      <vt:lpstr>Wingdings</vt:lpstr>
      <vt:lpstr>3_db-5-grey</vt:lpstr>
      <vt:lpstr>اصول طراحی پایگاه داده </vt:lpstr>
      <vt:lpstr>Chapter 4 : Intermediate SQL</vt:lpstr>
      <vt:lpstr>Outline</vt:lpstr>
      <vt:lpstr>(پیوندهای رابطه‌ای) Joined Relations</vt:lpstr>
      <vt:lpstr>Natural Join(پیوند طبیعی) </vt:lpstr>
      <vt:lpstr>Natural Join(پیوند طبیعی) </vt:lpstr>
      <vt:lpstr>جداول STUDENT  و  TAKES</vt:lpstr>
      <vt:lpstr>student natural join takes</vt:lpstr>
      <vt:lpstr>خطرات پیوند طبیعی</vt:lpstr>
      <vt:lpstr>طرح و دیاگرام پایگاه‌داده دانشگاه</vt:lpstr>
      <vt:lpstr>پیوند طبیعی با استفاده از using</vt:lpstr>
      <vt:lpstr>شرط پیوند</vt:lpstr>
      <vt:lpstr>(پیوند بیرونی) Outer Join</vt:lpstr>
      <vt:lpstr>Outer Join مثال‌های</vt:lpstr>
      <vt:lpstr>Left Outer Join</vt:lpstr>
      <vt:lpstr>Right Outer Join</vt:lpstr>
      <vt:lpstr>Full Outer Join</vt:lpstr>
      <vt:lpstr>انواع و شروط پیوند</vt:lpstr>
      <vt:lpstr>مثال‌ها</vt:lpstr>
      <vt:lpstr>مثال‌ها</vt:lpstr>
      <vt:lpstr>مثال‌ها</vt:lpstr>
      <vt:lpstr>(نماها ) Views</vt:lpstr>
      <vt:lpstr>View تعریف</vt:lpstr>
      <vt:lpstr>View تعریف و استفاده</vt:lpstr>
      <vt:lpstr>تعریف نماها با استفاده از نماهای دیگر</vt:lpstr>
      <vt:lpstr>تعریف نماها با استفاده از نماهای دیگر</vt:lpstr>
      <vt:lpstr>View بسط</vt:lpstr>
      <vt:lpstr>View بسط</vt:lpstr>
      <vt:lpstr>View بسط</vt:lpstr>
      <vt:lpstr>Materialized Views</vt:lpstr>
      <vt:lpstr>بروزرسانی View</vt:lpstr>
      <vt:lpstr>برخی از به‌روزرسانی‌ها را نمی‌توان به‌طور یکتا ترجمه کرد</vt:lpstr>
      <vt:lpstr>و برخی دیگر اصلاً امکان‌پذیر نیستند</vt:lpstr>
      <vt:lpstr>به‌روزرسانی نماها در SQL</vt:lpstr>
      <vt:lpstr>تراکنش‌ها (Transactions)</vt:lpstr>
      <vt:lpstr>قیود(محدودیت‌های) یکپارچگی</vt:lpstr>
      <vt:lpstr>قیود بر روی یک رابطه</vt:lpstr>
      <vt:lpstr>Not Null قیود </vt:lpstr>
      <vt:lpstr>Unique قیود </vt:lpstr>
      <vt:lpstr>check بند</vt:lpstr>
      <vt:lpstr>جامعیت ارجاعی (Referential Integrity)</vt:lpstr>
      <vt:lpstr>جامعیت ارجاعی (Referential Integrity)</vt:lpstr>
      <vt:lpstr>اقدامات آبشاری(Cascading )در جامعیت ارجاعی</vt:lpstr>
      <vt:lpstr>نقض قید یکپارچگی در طول تراکنش‌ها</vt:lpstr>
      <vt:lpstr>شروط CHECK  پیچیده</vt:lpstr>
      <vt:lpstr>Assertions</vt:lpstr>
      <vt:lpstr>مقایسه محدودیت و ادعا</vt:lpstr>
      <vt:lpstr>مقایسه محدودیت و ادعا</vt:lpstr>
      <vt:lpstr>Built-in Data Types in SQL </vt:lpstr>
      <vt:lpstr>نوع داده‌ای اشیاء بزرگ(Large-Object)</vt:lpstr>
      <vt:lpstr>(User-Defined) نوع داده‌ای تعریف شده توسط کاربر</vt:lpstr>
      <vt:lpstr>دامنه‌ها - Domains </vt:lpstr>
      <vt:lpstr>ایجاد شاخص (Index)</vt:lpstr>
      <vt:lpstr>مثال ساخت شاخص</vt:lpstr>
      <vt:lpstr>مجوزدهی (Authorization)</vt:lpstr>
      <vt:lpstr>مجوزدهی (Authorization)</vt:lpstr>
      <vt:lpstr>مشخص کردن مجوزدهی در SQL</vt:lpstr>
      <vt:lpstr>امتیازات  در  SQL</vt:lpstr>
      <vt:lpstr>لغو مجوزدهی در Sql</vt:lpstr>
      <vt:lpstr>نقش‌ها</vt:lpstr>
      <vt:lpstr>Roles مثال</vt:lpstr>
      <vt:lpstr>مجوزدهی بر روی نماها </vt:lpstr>
      <vt:lpstr>ویژگی های دیگر مجوز‌ها</vt:lpstr>
      <vt:lpstr>سایر ویژگی‌های مجوزدهی</vt:lpstr>
      <vt:lpstr>مقایسه CASCADE  و RESTRICT  در لغو امتیاز</vt:lpstr>
      <vt:lpstr>End of Chapter 4</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Ahmad Taghinezhad</cp:lastModifiedBy>
  <cp:revision>565</cp:revision>
  <cp:lastPrinted>1999-06-28T19:27:31Z</cp:lastPrinted>
  <dcterms:created xsi:type="dcterms:W3CDTF">2009-12-21T15:40:22Z</dcterms:created>
  <dcterms:modified xsi:type="dcterms:W3CDTF">2025-12-15T12:26:29Z</dcterms:modified>
</cp:coreProperties>
</file>