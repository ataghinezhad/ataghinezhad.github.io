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3" r:id="rId1"/>
  </p:sldMasterIdLst>
  <p:notesMasterIdLst>
    <p:notesMasterId r:id="rId88"/>
  </p:notesMasterIdLst>
  <p:handoutMasterIdLst>
    <p:handoutMasterId r:id="rId89"/>
  </p:handoutMasterIdLst>
  <p:sldIdLst>
    <p:sldId id="370" r:id="rId2"/>
    <p:sldId id="256" r:id="rId3"/>
    <p:sldId id="344" r:id="rId4"/>
    <p:sldId id="319" r:id="rId5"/>
    <p:sldId id="343" r:id="rId6"/>
    <p:sldId id="465" r:id="rId7"/>
    <p:sldId id="476" r:id="rId8"/>
    <p:sldId id="363" r:id="rId9"/>
    <p:sldId id="309" r:id="rId10"/>
    <p:sldId id="310" r:id="rId11"/>
    <p:sldId id="388" r:id="rId12"/>
    <p:sldId id="311" r:id="rId13"/>
    <p:sldId id="312" r:id="rId14"/>
    <p:sldId id="313" r:id="rId15"/>
    <p:sldId id="461" r:id="rId16"/>
    <p:sldId id="462" r:id="rId17"/>
    <p:sldId id="463" r:id="rId18"/>
    <p:sldId id="455" r:id="rId19"/>
    <p:sldId id="456" r:id="rId20"/>
    <p:sldId id="342" r:id="rId21"/>
    <p:sldId id="457" r:id="rId22"/>
    <p:sldId id="317" r:id="rId23"/>
    <p:sldId id="318" r:id="rId24"/>
    <p:sldId id="364" r:id="rId25"/>
    <p:sldId id="439" r:id="rId26"/>
    <p:sldId id="425" r:id="rId27"/>
    <p:sldId id="320" r:id="rId28"/>
    <p:sldId id="321" r:id="rId29"/>
    <p:sldId id="323" r:id="rId30"/>
    <p:sldId id="346" r:id="rId31"/>
    <p:sldId id="464" r:id="rId32"/>
    <p:sldId id="322" r:id="rId33"/>
    <p:sldId id="365" r:id="rId34"/>
    <p:sldId id="324" r:id="rId35"/>
    <p:sldId id="459" r:id="rId36"/>
    <p:sldId id="325" r:id="rId37"/>
    <p:sldId id="327" r:id="rId38"/>
    <p:sldId id="328" r:id="rId39"/>
    <p:sldId id="477" r:id="rId40"/>
    <p:sldId id="426" r:id="rId41"/>
    <p:sldId id="427" r:id="rId42"/>
    <p:sldId id="466" r:id="rId43"/>
    <p:sldId id="428" r:id="rId44"/>
    <p:sldId id="429" r:id="rId45"/>
    <p:sldId id="430" r:id="rId46"/>
    <p:sldId id="431" r:id="rId47"/>
    <p:sldId id="432" r:id="rId48"/>
    <p:sldId id="433" r:id="rId49"/>
    <p:sldId id="434" r:id="rId50"/>
    <p:sldId id="435" r:id="rId51"/>
    <p:sldId id="436" r:id="rId52"/>
    <p:sldId id="437" r:id="rId53"/>
    <p:sldId id="471" r:id="rId54"/>
    <p:sldId id="470" r:id="rId55"/>
    <p:sldId id="347" r:id="rId56"/>
    <p:sldId id="366" r:id="rId57"/>
    <p:sldId id="467" r:id="rId58"/>
    <p:sldId id="350" r:id="rId59"/>
    <p:sldId id="349" r:id="rId60"/>
    <p:sldId id="468" r:id="rId61"/>
    <p:sldId id="351" r:id="rId62"/>
    <p:sldId id="352" r:id="rId63"/>
    <p:sldId id="353" r:id="rId64"/>
    <p:sldId id="354" r:id="rId65"/>
    <p:sldId id="355" r:id="rId66"/>
    <p:sldId id="356" r:id="rId67"/>
    <p:sldId id="367" r:id="rId68"/>
    <p:sldId id="357" r:id="rId69"/>
    <p:sldId id="358" r:id="rId70"/>
    <p:sldId id="359" r:id="rId71"/>
    <p:sldId id="368" r:id="rId72"/>
    <p:sldId id="442" r:id="rId73"/>
    <p:sldId id="445" r:id="rId74"/>
    <p:sldId id="446" r:id="rId75"/>
    <p:sldId id="447" r:id="rId76"/>
    <p:sldId id="458" r:id="rId77"/>
    <p:sldId id="444" r:id="rId78"/>
    <p:sldId id="460" r:id="rId79"/>
    <p:sldId id="469" r:id="rId80"/>
    <p:sldId id="478" r:id="rId81"/>
    <p:sldId id="449" r:id="rId82"/>
    <p:sldId id="450" r:id="rId83"/>
    <p:sldId id="451" r:id="rId84"/>
    <p:sldId id="452" r:id="rId85"/>
    <p:sldId id="453" r:id="rId86"/>
    <p:sldId id="454" r:id="rId87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FF9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86924" autoAdjust="0"/>
  </p:normalViewPr>
  <p:slideViewPr>
    <p:cSldViewPr snapToGrid="0">
      <p:cViewPr varScale="1">
        <p:scale>
          <a:sx n="96" d="100"/>
          <a:sy n="96" d="100"/>
        </p:scale>
        <p:origin x="2070" y="84"/>
      </p:cViewPr>
      <p:guideLst>
        <p:guide orient="horz" pos="70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2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>
            <a:extLst>
              <a:ext uri="{FF2B5EF4-FFF2-40B4-BE49-F238E27FC236}">
                <a16:creationId xmlns:a16="http://schemas.microsoft.com/office/drawing/2014/main" id="{A1F08303-2CD9-4788-958C-65C4BFDD754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161BF148-0A15-46B7-8DD7-02C13C8EF90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0" name="Rectangle 4">
            <a:extLst>
              <a:ext uri="{FF2B5EF4-FFF2-40B4-BE49-F238E27FC236}">
                <a16:creationId xmlns:a16="http://schemas.microsoft.com/office/drawing/2014/main" id="{7238AF6D-AA32-4C88-BB92-27E791452A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0788"/>
            <a:ext cx="305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3221" name="Rectangle 5">
            <a:extLst>
              <a:ext uri="{FF2B5EF4-FFF2-40B4-BE49-F238E27FC236}">
                <a16:creationId xmlns:a16="http://schemas.microsoft.com/office/drawing/2014/main" id="{91141A00-8B0B-40AA-9BDC-71C79084B68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40788"/>
            <a:ext cx="304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78" tIns="45739" rIns="91478" bIns="45739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36E825B-D795-474E-A44E-EE0311DDC1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BFD82A-7DBF-496D-8A34-58AC026337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1F4BD03-B568-40D5-86DC-D2326AF695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>
            <a:lvl1pPr algn="r"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7E6A977-6667-44CC-9695-7786EF5BC62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0263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7351312-129D-4F3F-81CB-22BFA61745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3397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9839329-0D0E-4440-AF95-A5CC0C4458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defTabSz="938213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E5359F0-274A-4408-8973-E5AB57445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920" tIns="46960" rIns="93920" bIns="46960" numCol="1" anchor="b" anchorCtr="0" compatLnSpc="1">
            <a:prstTxWarp prst="textNoShape">
              <a:avLst/>
            </a:prstTxWarp>
          </a:bodyPr>
          <a:lstStyle>
            <a:lvl1pPr algn="r" defTabSz="938213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E737BEB-9250-4702-B43C-3A636F0CD6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1A0E380-F0EE-40D0-AFCE-90433E95E2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0C9F46-EEC1-44E1-AADF-0C5DFAC157F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EE72DA4-8AA8-4864-8EDE-1781EF2B1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7925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3BAE36-8C0B-40D0-862F-F5862FDA8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6321B667-9A45-42B8-9A88-05CCA7CE4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219423-C9AB-4B43-A997-58F863D1912F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3F8EC89-E9A1-405D-981C-52FF1AF249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27EED68-434D-49BF-B488-F849812758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737C83C-5231-400C-ABAC-E802D5725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6960B5-CD0D-4E77-9549-F0BE319614AF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C02F081-F3E5-4E82-A506-8249FCC7E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01E14C4-E8D3-4EF2-AE91-C909FDE03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E0B70E7C-6BD0-4B47-846B-BDFA05BE3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1FFDD60-6F1F-41F9-AE11-E0C93AB48046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9056EE3-D9C5-4A86-BC14-5FA042746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C850731-90E0-4872-BC7B-AD10870C1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32DA4FD-03E3-4ADF-B51F-ED6C5C47E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F12D1A-C6EE-4D7C-AC44-7E505EC7AF9A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DF77218-C772-4D7B-9568-C8F8165B99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D40D1FB1-38D3-4CD0-9B4F-E6C096821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737BEB-9250-4702-B43C-3A636F0CD61C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570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27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152DB3B-E3D4-4EB9-891D-3AFF2DD1D4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217FA94-1851-4A4F-882F-690D434D5664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AF0C87B-A3AD-4535-996D-565146AFE9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C7946C1-AA22-4D30-A389-86F48E798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8A60A3C-83B9-4899-851B-E58271EE25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F2A6619-26FC-4C2B-BBB5-BE9514BF1391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9CE9E0F-6018-43CB-B763-D2A60ACCC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E9F0D31-793C-457E-82A5-88A01D82B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8C1544A-10C5-41D5-BE9F-0F5FFAC90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58AEBB-0155-4B61-8D5B-283345223885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6171361-ED55-4304-B92D-1B39E353D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31805C8-25FE-4591-82A9-583FCE3F7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15551B6-F202-41C7-9919-C9D7CFDD0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C98B507-36CD-452D-B3F8-31AD42CE15FF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97D8762-D09A-4267-9D70-BE56B46690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64E75D3-B753-40E5-8669-F958D69C7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FCF47F-4348-498B-B820-B9B73C6D5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EF0E0E8-D17B-41A3-B753-2245199CBB30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6EC2138-3D91-405A-B29F-B1C527799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77519BCB-959F-4CA7-86A5-A3590C17A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BC8D124-B136-42BA-B33A-1DF2378A5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3A896A-CD88-45BB-883A-A5A6ACCFC261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0E5C191-44C7-4313-85F7-8BD71D8C9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12ECE34-0B14-4777-B117-F516895DED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56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375F6E7-BF43-423E-9E8D-8524F7B1F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8B0E96-3F79-4205-B0CE-221B7F97329C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61EE5A8-966A-41BB-B726-B2C48308DB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1EC76AA-7316-448A-A891-5E3CEF933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How about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s) ⟕ t  vs </a:t>
            </a:r>
            <a:r>
              <a:rPr lang="en-US" altLang="en-US" dirty="0">
                <a:sym typeface="Greek Symbols" pitchFamily="18" charset="2"/>
              </a:rPr>
              <a:t>(r </a:t>
            </a:r>
            <a:r>
              <a:rPr lang="en-IN" dirty="0"/>
              <a:t>⟕ t) ⟕ s assuming r has common attributes with s and t?  Hint: consider 2 cases where s and t have common attributes and those where they have no common attribute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484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FFE2C0B-1E00-41D0-8A11-C4E72548B5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C713CF-9607-4470-A273-AC494A38B95B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19EB798-4276-4EB1-BA14-2883766AD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ECD4996-047F-43DA-BBDD-D548EFF47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9047973B-0933-4747-BC7D-DC93B515F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076AEA-D4D8-443A-B94D-3E3B52B66C93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094E1CE2-39F3-415A-A9D3-7A1485FAB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618E90F-7E5F-432A-A700-F2B7700B1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71AD5BA-2A20-45B1-B5ED-8C53DA2EC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7A7E811-F856-4583-9950-8E1234DCF49C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294988F5-3980-4401-8BEA-49271D3F2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1081064C-90F0-4D6B-84C2-C2B908F48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C3B6426-DEBD-439A-B825-EAF23D531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591014-7458-4460-9DFD-89B1944A3F9E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6B845D5-6C90-4896-8EFD-B2EEDA235B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ADE95A0-2975-4AFA-9BF4-3B9DD6F09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704F009-3D51-4C12-ADD5-A92556FDEB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4F0F59-CA50-4DDE-B670-499E64C342ED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02C35DC-9644-47A0-A511-5C011EF6CF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8EA22417-65CB-4CAA-9F03-4A2CC240A4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8640E601-E447-4EA9-8E5B-261D289D72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BC6F3F-3101-443A-9932-59D410DB72C2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B6B35C0-D563-464E-8DD0-1467C17E1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9CA3D8A-3E47-403D-9CF5-59912AA4E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03C188B3-A46D-44EC-BBED-E180A2EEEA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6DDAB6A-6145-44B6-8CC9-B34BECF16AE0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8C02448-FBA7-4F1D-93CC-8D33FFE4CB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EEE7383-E30A-4C27-985A-259DE8AF3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7F7AA2A1-A200-485E-94E0-DF5E184626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3D95FDE-07CC-4A10-B7F5-32DEE8BA7590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C1245F7-63F5-4598-8B60-BFF2F30A0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4D4994E5-3B48-4092-B80F-C37B76685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99DAD2C2-02CA-410F-9747-535A391D1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F631D1-8BF0-4D43-A038-0CCB2780AD80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8D9A3CC-B793-4BD1-92A4-0520D4E33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2880CCD-EC1F-44F1-A82B-9B6F2E4CD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99DAD2C2-02CA-410F-9747-535A391D1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F631D1-8BF0-4D43-A038-0CCB2780AD80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8D9A3CC-B793-4BD1-92A4-0520D4E33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2880CCD-EC1F-44F1-A82B-9B6F2E4CD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528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44337F7-50FA-4021-BC54-20BEE3F6C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C7E9C3-BD75-46A3-867E-65FA35FE9943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58E696C-C7BE-499B-8D32-37876C7BD1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18E99F0-F35A-4648-A298-134C44B1E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845C5F54-67E0-4E9C-8378-CB080DBF1B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05660C-6BD5-4182-AFBC-BBA57AF2224E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41A240B9-B0AF-425D-881F-231B8A53E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5B47539-C71B-4EA3-9DFF-12DFCB7EB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E44DF81E-872F-4CD0-AFBD-47B6CCE5D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7A2061F-9093-42ED-A4F3-987491992B71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ED39568-5F8D-4E78-88C7-1975CE027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C45C962-0B5D-4F26-9A10-61DE452D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4207BE2E-CD49-4007-A746-9E7BC97E9A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E2F11D3-C453-4FDA-9D45-787E30EAB8E3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48AD38A-DA1E-4E9E-B746-D9DC296EF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FBAAC0F-5BDD-45F4-AAE7-FD45B13CE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19FEE978-6044-4D2E-8F9F-32A6AE15B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CB2606-DECF-45B3-A0F6-8771E5D1B393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94E872E-7942-443C-ADE8-42F93E345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6B2C401-F648-4E44-981B-48E8A3DD4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2D39EA6C-42C4-49FA-A04B-E724C5272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AE1339-B637-4260-8C8B-8BD687B29C9D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4F4CFF6-94AC-4A55-8E7A-B46A95728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6080C2F-B19D-4F75-8687-069C24ED2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629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3559CD3-DE10-4005-9316-DA78585EA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DC10EE-63E0-4227-A36A-67C2F043110C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7D3DFD0-427F-437C-952B-2FFAA5FBD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C53DDDB-BBE4-4830-A772-48EB4E456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89C2380-DD83-417E-8993-3E83E876F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93E869-9D40-4B88-8E40-B0ACF785DB22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6891FF3-6310-4B2B-9BBA-3BD705C15E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EE2D25C5-071E-46E9-AB50-21CB67614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16C5B21-E863-445D-9DA4-2B041C1CE8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9D611E8-E558-46B3-9611-D02AC771076E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A9B3F4B0-0CA9-477B-9D07-09B144085F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623B7D8A-A03D-4DC1-809E-381D45FDF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249BD36-102A-4631-857E-2CB6D1FD6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73CA7CE-698A-4263-91A8-AF3B66C5F188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CFF2B0C-4A73-436F-8BB6-A68FABA644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1D40C941-A8A7-46CD-8549-B48D8C174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769BAA2-2A96-482B-9A16-1B73B0B0B1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3A2678-797E-458D-9724-43E4EADCB2CF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5B9357E7-CAC8-4067-A91E-3CA75C7C4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9E2AD840-3FC3-4E62-B93E-1D8ECB872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B753B3D-93BF-48AC-B514-D4380ADE61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B727037-B529-4C02-BD94-50107701C26A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A76DBD9-2BEC-4572-8890-59DABD8FFC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C09F81-0457-478C-B646-7E42FE87C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57D5C350-4B93-45DA-8FAE-CF897A458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C4DD776-AE23-45CC-9BBA-2D74E0D5318D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D7110030-7440-4274-8719-3C8343B4D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CA91128D-0776-48A8-81EC-82862AE40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8E01CAD0-5F23-4D28-BEEA-0FDA9633A0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280E10-4A51-4D35-803F-1548401E0AC8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6B66C5B2-DFE5-45A7-9841-48F9A016A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D7B10E24-38E2-4E3E-AB4B-88693277D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3417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096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382A1B1B-F105-4542-8C84-F3577F839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0AE584F-BE77-4CB7-BA8C-A68D1227213D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850431C6-2CED-448B-86D5-66F5582BB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623CF82B-25A6-4AEA-B852-622167DB5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EDCD3A8-8CE4-4EDB-864A-4C21897A5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10B5C1-7C2C-4F20-A729-16D6CB13CEC5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B15ED7A-4E38-4E80-9C71-3F15BF94B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2CE105D2-8B2B-433C-B339-E151778D8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EDCD3A8-8CE4-4EDB-864A-4C21897A5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10B5C1-7C2C-4F20-A729-16D6CB13CEC5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B15ED7A-4E38-4E80-9C71-3F15BF94B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2CE105D2-8B2B-433C-B339-E151778D8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6619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8388A9BE-CAEE-40C7-A9AC-A6A2AFA686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967966D-D241-441D-8A98-B44F3BCDA90B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A73D03FA-2A61-43B5-9CAC-FB54DF93DE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D62D1324-E1FC-4253-B012-6A729B1667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92B87CB8-9DD2-4BE0-98B5-BA889B46E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269A15-F8FA-4B14-9339-75723294DD04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8E7D9A2B-1067-4164-98DA-EE39329FE4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200B00AE-D509-49B5-9EF3-0E257B5B8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FBA35C56-5884-418A-A710-C72DAA06D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98DFC3-B04D-4D7B-AE3F-771854D17957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BDB88FD2-6EF2-4C57-A062-4F7247E369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44B1F0EB-B6D9-404E-9105-6F144A0A0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82815B4D-17A1-4892-AD9B-42A8E2641C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E2403F1-BA73-4A79-BA61-8EB38B83C072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5DCFC0F7-3A69-436D-84EB-7E77E50D43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23F0CA09-EBA2-40C5-BA79-8F26EF430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A128C53-CB30-47FE-AB93-A75A3D501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0AB2FA-44E6-4D45-9718-797B2D10A34F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9A2BEED-4A75-4E08-8612-8A659850C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21855F94-8969-4C8D-A9E0-1A63BB9BB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EE50B942-6273-48FB-A317-908B5BA8C7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C71C6D7-81FB-46D5-957D-BAB0DCCBA01D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F2EBAB9B-E20F-45BE-BB5E-E099B77D6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22BF91D5-3852-4FF5-BE9E-8CACA6086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A7D7EF1D-4A8E-47C1-B8E7-7F73C891DD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BFB42BA-7338-4141-B8FF-85A813300A34}" type="slidenum">
              <a:rPr lang="en-US" altLang="en-US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ED9EE40-3702-4C7B-885F-3EB93EA06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149F8FC-43A5-4562-8659-6BBDADB13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79FB86F-30AC-486C-8D7A-697BCDF6A0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139DCB2-C52A-43BA-BE87-2C9958BA8626}" type="slidenum">
              <a:rPr lang="en-US" altLang="en-US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98C7413E-12B3-4D53-B685-DA769D0F9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02D52E34-2B69-4546-95F6-1532EF87D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8729101F-97AD-4600-B540-6772C12C97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B4AC00-ADD9-4E7A-A3A6-6FA547D0AE66}" type="slidenum">
              <a:rPr lang="en-US" altLang="en-US"/>
              <a:pPr>
                <a:spcBef>
                  <a:spcPct val="0"/>
                </a:spcBef>
              </a:pPr>
              <a:t>67</a:t>
            </a:fld>
            <a:endParaRPr lang="en-US" altLang="en-US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FCD76CE0-DC89-4250-915F-CE8F6775B5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C4177D3-F655-482A-8099-C7CA55853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B784A94-3858-48E8-86A5-D6180D020C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593C74-5895-4E3B-865F-BF6B0B15EA7A}" type="slidenum">
              <a:rPr lang="en-US" altLang="en-US"/>
              <a:pPr>
                <a:spcBef>
                  <a:spcPct val="0"/>
                </a:spcBef>
              </a:pPr>
              <a:t>68</a:t>
            </a:fld>
            <a:endParaRPr lang="en-US" altLang="en-US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A4B130F0-A87F-4759-B721-2EEF39CF3D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B001DAF7-978A-43C4-B585-FD51F4072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7B7D854C-7019-4B4F-81A5-34CB019A0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57B825-C2F0-4497-AA07-1D07C7913FD2}" type="slidenum">
              <a:rPr lang="en-US" altLang="en-US"/>
              <a:pPr>
                <a:spcBef>
                  <a:spcPct val="0"/>
                </a:spcBef>
              </a:pPr>
              <a:t>69</a:t>
            </a:fld>
            <a:endParaRPr lang="en-US" altLang="en-US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D5222F24-C070-44FA-8A8F-D089716400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44E79C1A-1E45-4A9C-A1E9-B0A1A653D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E288FAC4-4038-46A2-A12A-7A88395647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8E3653-64ED-4D8A-A0DD-2DF026C78E72}" type="slidenum">
              <a:rPr lang="en-US" altLang="en-US"/>
              <a:pPr>
                <a:spcBef>
                  <a:spcPct val="0"/>
                </a:spcBef>
              </a:pPr>
              <a:t>70</a:t>
            </a:fld>
            <a:endParaRPr lang="en-US" altLang="en-US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15CF936A-C5DA-4982-ACDC-E1FF21660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5F153B0-EB6B-41C6-A9F2-A3802207F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B5D7CD0E-03B2-435D-8ABE-5EC3B2BBBD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33C407-B021-4004-BEFB-2930E33D2AE7}" type="slidenum">
              <a:rPr lang="en-US" altLang="en-US"/>
              <a:pPr>
                <a:spcBef>
                  <a:spcPct val="0"/>
                </a:spcBef>
              </a:pPr>
              <a:t>71</a:t>
            </a:fld>
            <a:endParaRPr lang="en-US" altLang="en-US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E79ADFA5-7781-480A-87AF-AA0BA997AD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7E916BB3-9301-4BEC-86C7-6F3494D6A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1C024034-FEF3-40B7-AC81-16E0C9A26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3A813AF-61DB-4225-8327-C5D43E49192F}" type="slidenum">
              <a:rPr lang="en-US" altLang="en-US"/>
              <a:pPr>
                <a:spcBef>
                  <a:spcPct val="0"/>
                </a:spcBef>
              </a:pPr>
              <a:t>72</a:t>
            </a:fld>
            <a:endParaRPr lang="en-US" altLang="en-US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9A404278-F99F-4841-899C-7EF3FDEAB0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5D2AAA75-F51F-41FD-9D5B-B9235EF7E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98E73383-F835-476A-B19A-4E38BE2C4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6CB9E8D-5277-4EBF-9920-496D057AF186}" type="slidenum">
              <a:rPr lang="en-US" altLang="en-US"/>
              <a:pPr>
                <a:spcBef>
                  <a:spcPct val="0"/>
                </a:spcBef>
              </a:pPr>
              <a:t>73</a:t>
            </a:fld>
            <a:endParaRPr lang="en-US" altLang="en-US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89033FE-49EE-4AA5-8427-655A5F88A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C6C78F76-F845-42FD-92D4-5C789B0822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14A6BA56-4EBB-409B-BA07-485C44045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9943186-389B-48BE-B772-8FC666B1B4A4}" type="slidenum">
              <a:rPr lang="en-US" altLang="en-US"/>
              <a:pPr>
                <a:spcBef>
                  <a:spcPct val="0"/>
                </a:spcBef>
              </a:pPr>
              <a:t>74</a:t>
            </a:fld>
            <a:endParaRPr lang="en-US" altLang="en-US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6708636D-EEA4-40D7-B8E6-20EC89159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535E657-491E-4178-AF8D-2DEEBD37F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C4CB9F3B-7097-4D9B-A0CC-C9A19543E1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D910C1C-9B68-4964-8816-B48DEF4567E5}" type="slidenum">
              <a:rPr lang="en-US" altLang="en-US"/>
              <a:pPr>
                <a:spcBef>
                  <a:spcPct val="0"/>
                </a:spcBef>
              </a:pPr>
              <a:t>75</a:t>
            </a:fld>
            <a:endParaRPr lang="en-US" altLang="en-US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8EE1013D-C394-418F-B045-97FCFBE1C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5A741CBA-D06C-4824-AEDE-7F6DFC75E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CD4D5D04-50D0-4DB8-8CDA-A17F1E5C18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20" tIns="46960" rIns="93920" bIns="46960" anchor="b"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98450238-5616-4D92-9D1B-D7FF94A6CF05}" type="slidenum">
              <a:rPr lang="en-US" altLang="en-US"/>
              <a:pPr algn="r">
                <a:spcBef>
                  <a:spcPct val="0"/>
                </a:spcBef>
              </a:pPr>
              <a:t>76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DE7A286-C5C9-4466-90C9-D77B5A037E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2AC6789-8E55-480F-8B75-71D3E4E99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8FA3785B-BC96-4292-A7D7-3490BBAC9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EDE018D-3132-477A-A792-7CFDAD3B58BC}" type="slidenum">
              <a:rPr lang="en-US" altLang="en-US"/>
              <a:pPr>
                <a:spcBef>
                  <a:spcPct val="0"/>
                </a:spcBef>
              </a:pPr>
              <a:t>77</a:t>
            </a:fld>
            <a:endParaRPr lang="en-US" altLang="en-US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7FD8AC91-B35C-4516-87D5-C868B4FA3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B964DA40-7F35-438E-811E-E2F7C2A78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03F6759-721F-432F-A734-55E1C5F22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  <a:pPr>
                <a:spcBef>
                  <a:spcPct val="0"/>
                </a:spcBef>
              </a:pPr>
              <a:t>80</a:t>
            </a:fld>
            <a:endParaRPr lang="en-US" altLang="en-U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FCA8C569-269B-4964-A6C4-E112A1C17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A955F6C-4161-4C7D-96F2-9FF5E5C91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1132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6CF650C2-80E3-4CAE-B402-F5D65ADB88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748F81-99FD-43AF-9238-630E5FAF0BB1}" type="slidenum">
              <a:rPr lang="en-US" altLang="en-US"/>
              <a:pPr>
                <a:spcBef>
                  <a:spcPct val="0"/>
                </a:spcBef>
              </a:pPr>
              <a:t>81</a:t>
            </a:fld>
            <a:endParaRPr lang="en-US" altLang="en-US"/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FFB6153E-9C76-4B1D-93BF-420016151D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65F741D8-9CB0-4C0A-A804-C6285A7D1D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E4F09F3E-6E8F-4B86-BC1D-780E006D76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C25B7F2-3196-4B6B-A397-E0814A77837E}" type="slidenum">
              <a:rPr lang="en-US" altLang="en-US"/>
              <a:pPr>
                <a:spcBef>
                  <a:spcPct val="0"/>
                </a:spcBef>
              </a:pPr>
              <a:t>82</a:t>
            </a:fld>
            <a:endParaRPr lang="en-US" altLang="en-US"/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BE9E19F4-950B-4370-B2DF-840D71F244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02C2A723-E80B-4D34-BD41-92A55428F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F76E8F01-50DB-4DAC-A14E-7725196B5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473C88F-C442-4107-BFCF-6A552A371D3E}" type="slidenum">
              <a:rPr lang="en-US" altLang="en-US"/>
              <a:pPr>
                <a:spcBef>
                  <a:spcPct val="0"/>
                </a:spcBef>
              </a:pPr>
              <a:t>83</a:t>
            </a:fld>
            <a:endParaRPr lang="en-US" altLang="en-US"/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5BE766EE-2959-4F58-88A9-26FCB27C10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85F43BDE-3010-447B-871C-6397D09C11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DD270E9E-20F3-4BAD-8F33-615151C284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2EE6C2-5042-41D6-8DC4-7849D078CBD2}" type="slidenum">
              <a:rPr lang="en-US" altLang="en-US"/>
              <a:pPr>
                <a:spcBef>
                  <a:spcPct val="0"/>
                </a:spcBef>
              </a:pPr>
              <a:t>84</a:t>
            </a:fld>
            <a:endParaRPr lang="en-US" altLang="en-US"/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9D491853-AD1D-43AE-ACBC-483FE51F9E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86A00DE3-3A90-4962-9557-92CF95D37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C09B93E8-2058-4A4D-BCB2-1A82F3A34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7808BA-38A7-4311-A7C3-9D654572C264}" type="slidenum">
              <a:rPr lang="en-US" altLang="en-US"/>
              <a:pPr>
                <a:spcBef>
                  <a:spcPct val="0"/>
                </a:spcBef>
              </a:pPr>
              <a:t>85</a:t>
            </a:fld>
            <a:endParaRPr lang="en-US" altLang="en-US"/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BC55B19-D5BA-4F06-9FDB-710361D818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78154A94-573A-445D-BFA8-345EFE59E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14ED7219-148C-4D56-8786-BED4323FAB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21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2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716CAA-1AFC-4B77-8BC2-B16F79A2CC37}" type="slidenum">
              <a:rPr lang="en-US" altLang="en-US"/>
              <a:pPr>
                <a:spcBef>
                  <a:spcPct val="0"/>
                </a:spcBef>
              </a:pPr>
              <a:t>86</a:t>
            </a:fld>
            <a:endParaRPr lang="en-US" altLang="en-US"/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6430DB70-9D49-4F65-9101-289B8C000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A4111C1E-706F-4518-81CA-4B7EBBA37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17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02497"/>
            <a:ext cx="7772400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68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  <a:prstGeom prst="rect">
            <a:avLst/>
          </a:prstGeo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02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  <a:prstGeom prst="rect">
            <a:avLst/>
          </a:prstGeo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406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33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17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74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9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81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931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229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8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77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0876" y="1093788"/>
            <a:ext cx="782478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3251494-9320-46DB-9561-B10814EE66F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16.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096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62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B Nazanin" panose="00000400000000000000" pitchFamily="2" charset="-7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4BB7257D-8AAC-402C-AE83-4064ED60F5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rtl="1">
              <a:defRPr/>
            </a:pPr>
            <a:r>
              <a:rPr lang="fa-IR" sz="440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فصل ۱۶: </a:t>
            </a:r>
            <a:r>
              <a:rPr lang="fa-IR" sz="4400" dirty="0" err="1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بهینه‌سازی</a:t>
            </a:r>
            <a:r>
              <a:rPr lang="fa-IR" sz="4400" dirty="0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 </a:t>
            </a:r>
            <a:r>
              <a:rPr lang="fa-IR" sz="4400" dirty="0" err="1">
                <a:effectLst/>
                <a:latin typeface="Microsoft Uighur" panose="02000000000000000000" pitchFamily="2" charset="-78"/>
                <a:cs typeface="Microsoft Uighur" panose="02000000000000000000" pitchFamily="2" charset="-78"/>
              </a:rPr>
              <a:t>پرس‌وجو</a:t>
            </a:r>
            <a:endParaRPr lang="en-US" altLang="en-US" sz="4400" dirty="0">
              <a:effectLst/>
              <a:latin typeface="Microsoft Uighur" panose="02000000000000000000" pitchFamily="2" charset="-78"/>
              <a:cs typeface="Microsoft Uighur" panose="020000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28584A3-E588-472A-9A73-1615951D4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سرفصل‌ها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7941-2EFC-9DBC-8EB8-99177C3BCB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7408" y="851585"/>
            <a:ext cx="785285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مقدمه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تبدیل عبارات جبر رابطه‌ای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اطلاعات کاتالوگ برای تخمین هزینه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اطلاعات آماری برای تخمین هزینه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بهینه‌سازی مبتنی بر هزینه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برنامه‌نویسی پویا برای انتخاب طرح‌های اجرایی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نماهای مادی‌شده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6" name="Rectangle 6">
            <a:extLst>
              <a:ext uri="{FF2B5EF4-FFF2-40B4-BE49-F238E27FC236}">
                <a16:creationId xmlns:a16="http://schemas.microsoft.com/office/drawing/2014/main" id="{3598BEF7-BBDB-45DA-88AB-4873FD9E5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مقدمه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39E27B-873D-4551-A927-6DFB7A85D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5478" y="2360977"/>
            <a:ext cx="7388619" cy="3496400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1F69E8-ACCA-F782-6CF9-0224AED33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8705" y="1021467"/>
            <a:ext cx="64059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روش‌های مختلفی برای اجرای یک پرس‌وجوی مشخص وجود دارد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عبارات هم‌ارز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الگوریتم‌های متفاوت برای هر عملیات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>
            <a:extLst>
              <a:ext uri="{FF2B5EF4-FFF2-40B4-BE49-F238E27FC236}">
                <a16:creationId xmlns:a16="http://schemas.microsoft.com/office/drawing/2014/main" id="{75832F87-A2B9-47F7-BB53-DF9BAE7241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B55794D-DFAA-4CF0-981A-C7BE83AF0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986566"/>
            <a:ext cx="7816402" cy="4494724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طرح اجرایی دقیقاً مشخص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برای هر عملیات از 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اجرای عملیات چگونه با هم هماهنگ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یاد بگیرید چگونه طرح اجرای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مورد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علاقهٔ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خود مشاهده کنید.</a:t>
            </a: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8164316-923D-4EC2-A0F7-CE5F6F3F2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2045" y="1868075"/>
            <a:ext cx="5407032" cy="3393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286EDAB9-31F0-445E-9936-BCF7095F2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2FD3551-130F-449A-9742-57CFBE1678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2269" y="1121747"/>
            <a:ext cx="7806088" cy="4220272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تفاوت هزینه بین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اجرایی مختلف برای یک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بسیار زیاد باشد.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مثال، در بعضی موارد تفاوت بین چند ثانیه و چند روز است.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مراحل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مبتنی بر هزینه: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تولید عبارات منطقی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استفاده از قواعد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حاشیه‌نویسی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عبارات حاصل برای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به‌دست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آوردن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اجرایی مختلف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کم‌هزینه‌ترین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طرح بر اساس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طرح بر اساس موارد زیر انجام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اطلاعات آماری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دربارهٔ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روابط، مانند تعداد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تعداد مقادیر متمایز یک ویژگی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 آمار نتایج میانی برای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عبارات پیچیده</a:t>
            </a: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فرمول‌های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با استفاده از آمار محاسبه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E00F-E685-47A5-84F9-E60D4C1A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مشاهدهٔ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طرح اجرای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پرس‌وجو</a:t>
            </a:r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C1549-6E63-4CF8-ADF8-9777B7E5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69" y="1092872"/>
            <a:ext cx="7895283" cy="4954360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بیشتر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دستور توضیح طرح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پشتیبانی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دستور، طرحی را که توسط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انتخاب شده است، به همراه تخمین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نمایش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مختلف،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تفاوت‌هایی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نحو (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Syntax)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وجود دارد.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اوراکل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ابتدا دستور توضیح طرح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سپس با اجرای یک دستور انتخاب،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نتیجهٔ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طرح نمایش داده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Server،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امکان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فعال‌سازی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نمایش متنی طرح اجرا وجود دارد.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مانند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PostgreSQL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دستور توضیح همراه با تحلیل پشتیبانی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حالت، علاوه بر نمایش طرح اجرا، آمار واقعی زمان اجرای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که از اجرای واقعی آن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به‌دست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آمده است نیز نشان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بعضی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پایگاه‌داده‌ها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هزینه به صورت یک بازه نمایش داده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lvl="1"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تولید اولین رکورد</a:t>
            </a:r>
          </a:p>
          <a:p>
            <a:pPr lvl="1"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هزینهٔ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تولید کل نتایج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پرس‌وجو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IN" sz="2000" i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4862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3351" y="3035137"/>
            <a:ext cx="7194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تولید عبارات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</a:t>
            </a:r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2036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C3630E94-546B-44A3-9C2A-A6A0EA10D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2887" y="827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تبدیل عبارات جبر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رابطه‌ای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0D6D61-4BDF-F3E1-69B4-05062BDD6B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892" y="1621970"/>
            <a:ext cx="818021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دو عبارت جبر رابطه‌ای زمانی هم‌ارز هستند که روی هر نمونهٔ مجاز پایگاه‌داده، مجموعهٔ یکسانی از رکوردها تولید کنند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ترتیب رکوردها اهمیتی ندارد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تفاوت نتایج روی پایگاه‌داده‌هایی که قیود یکپارچگی را نقض می‌کنند، مهم نیست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در زبان پرس‌وجوی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SQL،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ورودی‌ها و خروجی‌ها چندمجموعه‌ای از رکوردها هستند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دو عبارت در نسخهٔ چندمجموعه‌ای جبر رابطه‌ای هم‌ارز هستند اگر روی هر نمونهٔ مجاز، همان چندمجموعه را تولید کنند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قاعدهٔ هم‌ارزی بیان می‌کند که دو شکل از عبارات، هم‌ارز هستند و می‌توان یکی را با دیگری جایگزین کرد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95081A04-D8E9-4687-B8DF-F240A7F2C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5F88891E-6FB7-4A93-A7DD-19CC40EB4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822081"/>
            <a:ext cx="7777212" cy="3729385"/>
          </a:xfrm>
        </p:spPr>
        <p:txBody>
          <a:bodyPr/>
          <a:lstStyle/>
          <a:p>
            <a:pPr algn="r" rtl="1"/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۱.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انتخابِ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ترکیبی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یک دنباله از عملیات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انتخابِ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مجزا تجزیه شوند.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 ∧ θ2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E) ≡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 (σθ2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E))</a:t>
            </a:r>
            <a:endParaRPr lang="fa-IR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۲.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انتخاب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جابجاپذیر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هستند.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 (σθ2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E)) ≡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σθ2 (σθ1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E))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۳.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یک دنباله از عملیات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فرافکنی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تنها آخرین عملیات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فرافکنی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مورد نیاز است و بقیه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حذف شوند.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π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L1 (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π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L2 (…(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π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Ln (E))…)) ≡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π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L1 (E)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در آن: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L1 ⊆ L2 ⊆ … ⊆ Ln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۴.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انتخاب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ضرب دکارتی و پیوند شرطی ترکیب شوند.</a:t>
            </a:r>
          </a:p>
          <a:p>
            <a:pPr algn="r" rtl="1"/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× E2) ≡ E1 ⨝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</a:t>
            </a:r>
          </a:p>
          <a:p>
            <a:pPr algn="r" rtl="1"/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θ2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E2) ≡ E1 ⨝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θ1 ∧ θ2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</a:t>
            </a:r>
          </a:p>
          <a:p>
            <a:pPr marL="381000" indent="-381000" algn="r" rtl="1">
              <a:buFont typeface="Monotype Sorts" pitchFamily="-65" charset="2"/>
              <a:buNone/>
            </a:pPr>
            <a:endParaRPr lang="en-US" alt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8091ABB1-6B13-4524-B9B6-6B007212F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96C4720A-18C3-455E-B064-C93B8601E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780422" cy="4335135"/>
          </a:xfrm>
        </p:spPr>
        <p:txBody>
          <a:bodyPr/>
          <a:lstStyle/>
          <a:p>
            <a:pPr marL="0" indent="0" algn="r" rtl="1">
              <a:buNone/>
            </a:pP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۵.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پیوند شرطی (و همچنین پیوندهای طبیعی) جابجاپذیر هستند.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 E2 ≡ E2 ⨝ E1</a:t>
            </a:r>
            <a:b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۶.</a:t>
            </a:r>
            <a:endParaRPr lang="fa-IR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(الف)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پیوند طبیعی خاصیت شرکت‌پذیری دارد.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 E2) ⨝ E3 ≡ E1 ⨝ (E2 ⨝ E3)</a:t>
            </a:r>
          </a:p>
          <a:p>
            <a:pPr marL="0" indent="0" algn="r" rtl="1">
              <a:buNone/>
            </a:pP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(ب)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پیوندهای شرطی به شکل زیر خاصیت شرکت‌پذیری دارند.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</a:t>
            </a:r>
            <a:r>
              <a:rPr lang="el-G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θ1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E2) ⨝</a:t>
            </a:r>
            <a:r>
              <a:rPr lang="el-G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θ2 ∧ θ3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E3 ≡ E1 ⨝</a:t>
            </a:r>
            <a:r>
              <a:rPr lang="el-G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θ1 ∧ θ3 (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 ⨝</a:t>
            </a:r>
            <a:r>
              <a:rPr lang="el-G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θ2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E3)</a:t>
            </a:r>
          </a:p>
          <a:p>
            <a:pPr marL="0" indent="0" algn="r" rtl="1">
              <a:buNone/>
            </a:pP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در آن </a:t>
            </a:r>
            <a:r>
              <a:rPr lang="el-G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فقط شامل ویژگی‌هایی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E3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است.</a:t>
            </a:r>
          </a:p>
          <a:p>
            <a:pPr marL="0" indent="0" algn="r" rtl="1">
              <a:buNone/>
              <a:tabLst>
                <a:tab pos="3376613" algn="ctr"/>
              </a:tabLst>
            </a:pPr>
            <a:endParaRPr lang="en-US" altLang="en-US" sz="2400" i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Greek Symbols" pitchFamily="18" charset="2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84B99422-6334-4E45-9086-F1F2684CA3D1}"/>
              </a:ext>
            </a:extLst>
          </p:cNvPr>
          <p:cNvSpPr txBox="1"/>
          <p:nvPr/>
        </p:nvSpPr>
        <p:spPr bwMode="auto">
          <a:xfrm>
            <a:off x="1647612" y="5188653"/>
            <a:ext cx="27924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13BE5181-BC0D-4E3C-B803-BDBB6753C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6788" y="555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تصویری از قوانین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BF349FB-4CB9-462F-A282-31330CD91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627" y="1065978"/>
            <a:ext cx="6917843" cy="5133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>
            <a:extLst>
              <a:ext uri="{FF2B5EF4-FFF2-40B4-BE49-F238E27FC236}">
                <a16:creationId xmlns:a16="http://schemas.microsoft.com/office/drawing/2014/main" id="{6B49CD74-8487-4512-88D7-665692A99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03" name="Rectangle 3">
                <a:extLst>
                  <a:ext uri="{FF2B5EF4-FFF2-40B4-BE49-F238E27FC236}">
                    <a16:creationId xmlns:a16="http://schemas.microsoft.com/office/drawing/2014/main" id="{D1631F66-0C00-49F9-97DF-D953852A7E86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73768" y="1102497"/>
                <a:ext cx="7700211" cy="5367972"/>
              </a:xfrm>
            </p:spPr>
            <p:txBody>
              <a:bodyPr/>
              <a:lstStyle/>
              <a:p>
                <a:pPr marL="0" indent="0" algn="r" rtl="1">
                  <a:buNone/>
                </a:pP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7.عملیات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اتصال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تتا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l-G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θ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join)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)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تحت دو شرط قابل توزیع است:</a:t>
                </a:r>
              </a:p>
              <a:p>
                <a:pPr marL="0" indent="0" algn="r" rtl="1">
                  <a:buNone/>
                </a:pP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۱.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وقتی تمام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شرط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یکی از عبارات (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E1)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fa-IR" sz="24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a-IR" sz="24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240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fa-IR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fa-IR" sz="24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fa-IR" sz="24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r>
                        <a:rPr lang="fa-IR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240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a-IR" sz="24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۲.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وقتی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E1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E2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fa-IR" sz="24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a-IR" sz="24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240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fa-IR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fa-IR" sz="24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40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fa-IR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fa-IR" sz="24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d>
                        <m:dPr>
                          <m:ctrlPr>
                            <a:rPr lang="fa-I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a-IR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fa-IR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fa-I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a-IR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a-IR" sz="2400" dirty="0">
                  <a:latin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>
                  <a:buNone/>
                </a:pPr>
                <a:endParaRPr lang="en-US" altLang="en-US" sz="24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25603" name="Rectangle 3">
                <a:extLst>
                  <a:ext uri="{FF2B5EF4-FFF2-40B4-BE49-F238E27FC236}">
                    <a16:creationId xmlns:a16="http://schemas.microsoft.com/office/drawing/2014/main" id="{D1631F66-0C00-49F9-97DF-D953852A7E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768" y="1102497"/>
                <a:ext cx="7700211" cy="5367972"/>
              </a:xfrm>
              <a:blipFill>
                <a:blip r:embed="rId3"/>
                <a:stretch>
                  <a:fillRect t="-1705" r="-1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651" name="Rectangle 3">
                <a:extLst>
                  <a:ext uri="{FF2B5EF4-FFF2-40B4-BE49-F238E27FC236}">
                    <a16:creationId xmlns:a16="http://schemas.microsoft.com/office/drawing/2014/main" id="{B646A50B-011F-454A-8351-8C638211E95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3394" y="1102497"/>
                <a:ext cx="7757962" cy="5367972"/>
              </a:xfrm>
            </p:spPr>
            <p:txBody>
              <a:bodyPr/>
              <a:lstStyle/>
              <a:p>
                <a:pPr marL="0" indent="0" algn="r" rtl="1">
                  <a:buNone/>
                </a:pP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8.عملیات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پروجکشن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اتصال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تتا</a:t>
                </a:r>
                <a:r>
                  <a:rPr lang="el-G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θ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join)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صورت زیر قابل توزیع است:</a:t>
                </a:r>
              </a:p>
              <a:p>
                <a:pPr marL="0" indent="0" algn="r" rtl="1">
                  <a:buNone/>
                </a:pP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۱.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اگر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∪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fa-IR" sz="20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sSub>
                            <m:sSubPr>
                              <m:ctrlPr>
                                <a:rPr lang="fa-I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00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a-IR" sz="20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200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fa-IR" sz="20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fa-IR" sz="20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۲.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به طور کلی، فرض کنید یک اتصال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    </m:t>
                    </m:r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    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داریم.</a:t>
                </a:r>
                <a:b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</a:b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فرض کنید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E1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E2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ترتیب باشند.</a:t>
                </a:r>
                <a:b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</a:b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فرض کنید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شامل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E1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 که در شرط اتصال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دخیل هستند ولی در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∪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نیستند، و</a:t>
                </a:r>
                <a:b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</a:b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شامل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E2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 که در شرط اتصال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دخیل هستند ولی در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∪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نیستند.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fa-IR" sz="20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sSub>
                            <m:sSubPr>
                              <m:ctrlPr>
                                <a:rPr lang="fa-I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000">
                                  <a:latin typeface="Cambria Math" panose="02040503050406030204" pitchFamily="18" charset="0"/>
                                </a:rPr>
                                <m:t>⋈</m:t>
                              </m:r>
                            </m:e>
                            <m:sub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a-IR" sz="2000" i="1">
                              <a:latin typeface="Microsoft Sans Serif" panose="020B0604020202020204" pitchFamily="34" charset="0"/>
                              <a:ea typeface="Microsoft Sans Serif" panose="020B0604020202020204" pitchFamily="34" charset="0"/>
                              <a:cs typeface="B Nazanin" panose="00000400000000000000" pitchFamily="2" charset="-78"/>
                            </a:rPr>
                            <m:t>    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200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a-IR" sz="20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m:rPr>
                          <m:nor/>
                        </m:rPr>
                        <a:rPr lang="fa-IR" sz="20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m:rPr>
                          <m:nor/>
                        </m:rPr>
                        <a:rPr lang="fa-IR" sz="20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    </m:t>
                      </m:r>
                      <m:sSub>
                        <m:sSub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2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20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مساوات‌های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مشابه برای عملیات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outer 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نیز صادق هستند: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a-IR" sz="2000" b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m:rPr>
                        <m:nor/>
                      </m:rPr>
                      <a:rPr lang="fa-IR" sz="2000" b="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  ⟕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  ⟖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  ⟗</m:t>
                    </m:r>
                  </m:oMath>
                </a14:m>
                <a:endParaRPr lang="fa-IR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  <a:tabLst>
                    <a:tab pos="3087688" algn="ctr"/>
                  </a:tabLst>
                </a:pPr>
                <a:endParaRPr lang="en-US" altLang="en-US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27651" name="Rectangle 3">
                <a:extLst>
                  <a:ext uri="{FF2B5EF4-FFF2-40B4-BE49-F238E27FC236}">
                    <a16:creationId xmlns:a16="http://schemas.microsoft.com/office/drawing/2014/main" id="{B646A50B-011F-454A-8351-8C638211E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394" y="1102497"/>
                <a:ext cx="7757962" cy="5367972"/>
              </a:xfrm>
              <a:blipFill>
                <a:blip r:embed="rId3"/>
                <a:stretch>
                  <a:fillRect t="-1364" r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474" name="Rectangle 2">
            <a:extLst>
              <a:ext uri="{FF2B5EF4-FFF2-40B4-BE49-F238E27FC236}">
                <a16:creationId xmlns:a16="http://schemas.microsoft.com/office/drawing/2014/main" id="{CC6BF4E4-7BA6-4F5E-9757-648842B6E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06036" y="852319"/>
                <a:ext cx="7401828" cy="4659747"/>
              </a:xfrm>
            </p:spPr>
            <p:txBody>
              <a:bodyPr/>
              <a:lstStyle/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۹. عملیات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اتحاد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union)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)و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اشتراک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intersection)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جابجایی‌پذیر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هستند: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(تفاوت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مجموعه‌ها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جابجایی‌پذیر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نیست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۱۰.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اتحاد و اشتراک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ترکیبی‌پذیر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هستند: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180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fa-IR" sz="1800" i="1" dirty="0"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180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a-IR" sz="180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fa-IR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۱۱. عملیات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selection)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)روی </a:t>
                </a:r>
                <a14:m>
                  <m:oMath xmlns:m="http://schemas.openxmlformats.org/officeDocument/2006/math">
                    <m:r>
                      <a:rPr lang="fa-IR" sz="180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</a:t>
                </a:r>
                <a14:m>
                  <m:oMath xmlns:m="http://schemas.openxmlformats.org/officeDocument/2006/math">
                    <m:r>
                      <a:rPr lang="fa-IR" sz="180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14:m>
                  <m:oMath xmlns:m="http://schemas.openxmlformats.org/officeDocument/2006/math">
                    <m:r>
                      <a:rPr lang="fa-IR" sz="18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قابل توزیع است:</a:t>
                </a:r>
              </a:p>
              <a:p>
                <a:pPr marL="0" indent="0" algn="r" rtl="1">
                  <a:buNone/>
                </a:pP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الف.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∩</m:t>
                    </m:r>
                    <m:r>
                      <a:rPr lang="fa-IR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fa-IR" sz="18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a-IR" sz="180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80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(توجه: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معادل‌های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د و ه برای اتحاد </a:t>
                </a:r>
                <a14:m>
                  <m:oMath xmlns:m="http://schemas.openxmlformats.org/officeDocument/2006/math">
                    <m:r>
                      <a:rPr lang="fa-IR" sz="180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صادق نیستند).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۱۲. عملیات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پروجکشن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projection)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)روی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اتحاد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قابل توزیع است: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800"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fa-IR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fa-IR" sz="1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a-IR" sz="180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fa-IR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fa-I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a-IR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fa-IR" sz="180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fa-I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8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fa-IR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fa-I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1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fa-IR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404813" indent="-404813" algn="r" rtl="1">
                  <a:buFont typeface="Monotype Sorts" pitchFamily="-65" charset="2"/>
                  <a:buNone/>
                  <a:tabLst>
                    <a:tab pos="2279650" algn="l"/>
                  </a:tabLst>
                </a:pPr>
                <a:endParaRPr lang="en-US" alt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6036" y="852319"/>
                <a:ext cx="7401828" cy="4659747"/>
              </a:xfrm>
              <a:blipFill>
                <a:blip r:embed="rId3"/>
                <a:stretch>
                  <a:fillRect t="-1309" r="-741" b="-16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C9F2-F1F2-4A58-B4AD-918290CD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E51B6-D34B-4233-AA00-768E2D4F9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43" y="1102497"/>
            <a:ext cx="7796464" cy="4691911"/>
          </a:xfrm>
        </p:spPr>
        <p:txBody>
          <a:bodyPr/>
          <a:lstStyle/>
          <a:p>
            <a:pPr marL="457200" lvl="1" indent="0" algn="r" rtl="1">
              <a:buNone/>
              <a:defRPr/>
            </a:pP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قوانین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مربوط به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گروه‌بندی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/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GROUP BY / aggregation)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  <a:b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عملیات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اتصال خارجی چپ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Left Outer Join)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457200" lvl="1" indent="0" algn="r" rtl="1">
              <a:buFont typeface="Monotype Sorts" charset="0"/>
              <a:buNone/>
              <a:defRPr/>
            </a:pP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ایجاد کنید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-463296" y="727075"/>
                <a:ext cx="9412224" cy="5407306"/>
              </a:xfrm>
            </p:spPr>
            <p:txBody>
              <a:bodyPr/>
              <a:lstStyle/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۱۳. عملیات 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 (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Selection)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روی </a:t>
                </a:r>
                <a:r>
                  <a:rPr lang="fa-IR" sz="16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تجمیع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/</a:t>
                </a:r>
                <a:r>
                  <a:rPr lang="fa-IR" sz="16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گروه‌بندی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(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Aggregation / GROUP BY)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صورت زیر قابل توزیع است: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16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fa-IR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a-IR" sz="1600" i="1">
                              <a:latin typeface="Cambria Math" panose="02040503050406030204" pitchFamily="18" charset="0"/>
                            </a:rPr>
                            <m:t>𝐺</m:t>
                          </m:r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d>
                            <m:d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  <m:r>
                        <a:rPr lang="fa-IR" sz="16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a-IR" sz="16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fa-IR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fa-I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fa-I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a-IR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a-IR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شرطی که </a:t>
                </a:r>
                <a14:m>
                  <m:oMath xmlns:m="http://schemas.openxmlformats.org/officeDocument/2006/math">
                    <m:r>
                      <a:rPr lang="fa-IR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16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16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باشد.</a:t>
                </a:r>
                <a:b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</a:br>
                <a:endParaRPr lang="fa-IR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۱۴. الف.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Full Outer Join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جابجایی‌پذیر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است: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fa-IR" sz="16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  ⟗  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fa-IR" sz="16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  ⟗  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a-IR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ب.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Left 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Right Outer Join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جابجایی‌پذیر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نیستند، اما: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fa-IR" sz="16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  ⟕  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fa-IR" sz="1600" i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B Nazanin" panose="00000400000000000000" pitchFamily="2" charset="-78"/>
                        </a:rPr>
                        <m:t>  ⟖  </m:t>
                      </m:r>
                      <m:r>
                        <a:rPr lang="fa-IR" sz="16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a-IR" sz="16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a-IR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۱۵. 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Left 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Right Outer Join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صورت زیر قابل توزیع است، به شرطی که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فقط شامل </a:t>
                </a:r>
                <a:r>
                  <a:rPr lang="fa-IR" sz="16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6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باشد:</a:t>
                </a: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الف.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fa-IR" sz="16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⟕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60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fa-I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a-I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a-IR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fa-IR" sz="16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⟕</m:t>
                        </m:r>
                      </m:e>
                      <m:sub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nor/>
                      </m:rPr>
                      <a:rPr lang="fa-IR" sz="16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6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fa-IR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fa-IR" sz="16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⟖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600">
                        <a:latin typeface="Cambria Math" panose="02040503050406030204" pitchFamily="18" charset="0"/>
                      </a:rPr>
                      <m:t>≡</m:t>
                    </m:r>
                    <m:r>
                      <a:rPr lang="fa-IR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6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fa-IR" sz="16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⟕</m:t>
                        </m:r>
                      </m:e>
                      <m:sub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nor/>
                      </m:rPr>
                      <a:rPr lang="fa-IR" sz="16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fa-I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a-IR" sz="16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fa-IR" sz="16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fa-IR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endParaRPr lang="fa-IR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۱۶.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Outer Join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ها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تحت برخی شرایط </a:t>
                </a:r>
                <a:r>
                  <a:rPr lang="fa-IR" sz="16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می‌توانند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Inner Join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جایگزین شوند:</a:t>
                </a: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الف.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fa-IR" sz="16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⟕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6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fa-IR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fa-IR" sz="16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⟖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fa-IR" sz="1600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600">
                                <a:latin typeface="Cambria Math" panose="02040503050406030204" pitchFamily="18" charset="0"/>
                              </a:rPr>
                              <m:t>⋈</m:t>
                            </m:r>
                          </m:e>
                          <m:sub>
                            <m:r>
                              <a:rPr lang="fa-IR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fa-IR" sz="16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fa-IR" sz="16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fa-IR" sz="16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</a:pP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شرطی که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مقدار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null </a:t>
                </a:r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 در </a:t>
                </a:r>
                <a14:m>
                  <m:oMath xmlns:m="http://schemas.openxmlformats.org/officeDocument/2006/math">
                    <m:r>
                      <a:rPr lang="fa-IR" sz="16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6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رد کند </a:t>
                </a:r>
                <a:r>
                  <a:rPr lang="en-US" sz="16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null rejecting)</a:t>
                </a:r>
                <a:r>
                  <a:rPr lang="en-US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  <a:r>
                  <a:rPr lang="fa-IR" sz="16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endParaRPr 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marL="0" indent="0" algn="r" rtl="1">
                  <a:buNone/>
                  <a:tabLst>
                    <a:tab pos="2279650" algn="l"/>
                  </a:tabLst>
                </a:pPr>
                <a:endParaRPr lang="en-US" altLang="en-US" sz="16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62499" name="Rectangle 3">
                <a:extLst>
                  <a:ext uri="{FF2B5EF4-FFF2-40B4-BE49-F238E27FC236}">
                    <a16:creationId xmlns:a16="http://schemas.microsoft.com/office/drawing/2014/main" id="{CD34A2FB-3E13-4F06-8207-CFF2D7389F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63296" y="727075"/>
                <a:ext cx="9412224" cy="5407306"/>
              </a:xfrm>
              <a:blipFill>
                <a:blip r:embed="rId3"/>
                <a:stretch>
                  <a:fillRect t="-789" r="-389" b="-3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10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A280E042-4593-4F00-8739-31BAD978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altLang="en-US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ر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قواعد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62499" name="Rectangle 3">
            <a:extLst>
              <a:ext uri="{FF2B5EF4-FFF2-40B4-BE49-F238E27FC236}">
                <a16:creationId xmlns:a16="http://schemas.microsoft.com/office/drawing/2014/main" id="{CD34A2FB-3E13-4F06-8207-CFF2D7389F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932534"/>
            <a:ext cx="7796463" cy="5642002"/>
          </a:xfrm>
        </p:spPr>
        <p:txBody>
          <a:bodyPr/>
          <a:lstStyle/>
          <a:p>
            <a:pPr marL="0" indent="0" algn="r" rtl="1">
              <a:buNone/>
              <a:tabLst>
                <a:tab pos="2279650" algn="l"/>
              </a:tabLst>
            </a:pP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توجه داشته باشید که چندین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برای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صادق هستند، برای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Outer Join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صادق نیستند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indent="0" algn="r" rtl="1">
              <a:buNone/>
              <a:tabLst>
                <a:tab pos="2279650" algn="l"/>
              </a:tabLst>
            </a:pP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year=2017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(</a:t>
            </a: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instructor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</a:t>
            </a:r>
            <a:r>
              <a:rPr lang="en-IN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⟕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</a:t>
            </a: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teaches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)  </a:t>
            </a:r>
            <a:r>
              <a:rPr lang="en-IN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≢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</a:t>
            </a: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year=2017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(</a:t>
            </a: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instructor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</a:t>
            </a:r>
            <a:r>
              <a:rPr lang="en-IN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⨝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</a:t>
            </a:r>
            <a:r>
              <a:rPr lang="en-US" altLang="en-US" sz="2000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teaches</a:t>
            </a: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)</a:t>
            </a:r>
          </a:p>
          <a:p>
            <a:pPr algn="r" rtl="1">
              <a:tabLst>
                <a:tab pos="2279650" algn="l"/>
              </a:tabLst>
            </a:pP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Outer Join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ترکیبی‌پذیر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associative)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)نیستند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</a:br>
            <a:r>
              <a:rPr lang="en-US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               (r </a:t>
            </a:r>
            <a:r>
              <a:rPr lang="en-IN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⟕ s) ⟕ t     ≢     r ⟕ (s ⟕ t)</a:t>
            </a:r>
          </a:p>
          <a:p>
            <a:pPr lvl="1" algn="r" rtl="1">
              <a:tabLst>
                <a:tab pos="2279650" algn="l"/>
              </a:tabLst>
            </a:pPr>
            <a:r>
              <a:rPr lang="en-IN" alt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Greek Symbols" pitchFamily="18" charset="2"/>
              </a:rPr>
              <a:t>e.g. with r(A,B) = {(1,1),    s(B,C) = { (1,1)},   t(A,C) = { }</a:t>
            </a: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Greek Symbols" pitchFamily="18" charset="2"/>
            </a:endParaRPr>
          </a:p>
          <a:p>
            <a:pPr marL="457200" indent="-457200" algn="r" rtl="1">
              <a:buFont typeface="Monotype Sorts" pitchFamily="-65" charset="2"/>
              <a:buAutoNum type="arabicPeriod" startAt="16"/>
              <a:tabLst>
                <a:tab pos="2279650" algn="l"/>
              </a:tabLst>
            </a:pP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Greek Symbols" pitchFamily="18" charset="2"/>
            </a:endParaRPr>
          </a:p>
          <a:p>
            <a:pPr marL="404813" indent="-404813" algn="r" rtl="1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  <a:p>
            <a:pPr marL="404813" indent="-404813" algn="r" rtl="1">
              <a:buFont typeface="Monotype Sorts" pitchFamily="-65" charset="2"/>
              <a:buNone/>
              <a:tabLst>
                <a:tab pos="2279650" algn="l"/>
              </a:tabLst>
            </a:pPr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2321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C9AB4C80-3C53-4A22-A0BA-9A1ABBED1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مثال تبدیل: اعمال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انتخاب‌ها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به جلو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Pushing Selections)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771" name="Rectangle 3">
                <a:extLst>
                  <a:ext uri="{FF2B5EF4-FFF2-40B4-BE49-F238E27FC236}">
                    <a16:creationId xmlns:a16="http://schemas.microsoft.com/office/drawing/2014/main" id="{F387F6FF-70A9-4D77-9B93-3363D0FBA89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70826" y="1065921"/>
                <a:ext cx="8499108" cy="5367972"/>
              </a:xfrm>
            </p:spPr>
            <p:txBody>
              <a:bodyPr/>
              <a:lstStyle/>
              <a:p>
                <a:pPr algn="r" rtl="1"/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پیدا کردن نام تمام اساتید دپارتمان موسیقی به همراه عنوان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درس‌هایی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که تدریس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می‌کنند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sSup>
                          <m:sSup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  <m:sup>
                            <m:r>
                              <a:rPr lang="fa-IR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𝑀𝑢𝑠𝑖</m:t>
                        </m:r>
                        <m:sSup>
                          <m:sSup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fa-IR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fa-IR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instructor</m:t>
                    </m:r>
                    <m:r>
                      <m:rPr>
                        <m:nor/>
                      </m:rPr>
                      <a:rPr lang="en-US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en-US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teaches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id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title</m:t>
                            </m:r>
                          </m:sub>
                        </m:sSub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</m:e>
                        </m:d>
                      </m:e>
                    </m:d>
                    <m:r>
                      <a:rPr lang="fa-IR" sz="200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تبدیل با استفاده از قانون ۷الف (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Selection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توزیع‌پذیر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وقتی شرط فقط شامل یک رابطه باشد):</a:t>
                </a:r>
                <a:endParaRPr lang="fa-IR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 sz="200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dept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name</m:t>
                            </m:r>
                            <m:sSup>
                              <m:sSupPr>
                                <m:ctrlPr>
                                  <a:rPr lang="fa-I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a-IR" sz="20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e>
                              <m:sup>
                                <m:r>
                                  <a:rPr lang="fa-IR" sz="20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𝑀𝑢𝑠𝑖</m:t>
                            </m:r>
                            <m:sSup>
                              <m:sSupPr>
                                <m:ctrlPr>
                                  <a:rPr lang="fa-IR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a-IR" sz="20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fa-IR" sz="200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instructor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teaches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id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title</m:t>
                            </m:r>
                          </m:sub>
                        </m:sSub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</m:e>
                        </m:d>
                      </m:e>
                    </m:d>
                    <m:r>
                      <a:rPr lang="fa-IR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مزیت: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اجرای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در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ابتدای عملیات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باعث کاهش اندازه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رابطه‌ای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که باید به آن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زده شود و در نتیجه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کارایی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افزایش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می‌یابد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endParaRPr lang="en-US" altLang="en-US" sz="2000" baseline="-25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2771" name="Rectangle 3">
                <a:extLst>
                  <a:ext uri="{FF2B5EF4-FFF2-40B4-BE49-F238E27FC236}">
                    <a16:creationId xmlns:a16="http://schemas.microsoft.com/office/drawing/2014/main" id="{F387F6FF-70A9-4D77-9B93-3363D0FBA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826" y="1065921"/>
                <a:ext cx="8499108" cy="5367972"/>
              </a:xfrm>
              <a:blipFill>
                <a:blip r:embed="rId2"/>
                <a:stretch>
                  <a:fillRect t="-1591" r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0C250CDD-B570-4445-BF3F-3A786F80E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مثال با چندین تبدیل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Multiple Transformations)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95" name="Rectangle 3">
                <a:extLst>
                  <a:ext uri="{FF2B5EF4-FFF2-40B4-BE49-F238E27FC236}">
                    <a16:creationId xmlns:a16="http://schemas.microsoft.com/office/drawing/2014/main" id="{AE12142C-2886-40EF-8A6F-FA29A95487B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87946" y="1017153"/>
                <a:ext cx="8657604" cy="5367972"/>
              </a:xfrm>
            </p:spPr>
            <p:txBody>
              <a:bodyPr/>
              <a:lstStyle/>
              <a:p>
                <a:pPr algn="r" rtl="1"/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پیدا کردن نام تمام اساتید دپارتمان موسیقی که در سال ۲۰۱۷ درس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داده‌اند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همراه با عنوان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درس‌هایی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که تدریس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کرده‌اند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"∧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year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2017</m:t>
                        </m:r>
                      </m:sub>
                    </m:sSub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𝑖𝑛𝑠𝑡𝑟𝑢𝑐𝑡𝑜𝑟</m:t>
                        </m:r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𝑡𝑒𝑎𝑐</m:t>
                            </m:r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𝑒𝑠</m:t>
                            </m:r>
                            <m:r>
                              <m:rPr>
                                <m:nor/>
                              </m:rPr>
                              <a:rPr lang="fa-IR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r>
                              <a:rPr lang="fa-IR" sz="2000">
                                <a:latin typeface="Cambria Math" panose="02040503050406030204" pitchFamily="18" charset="0"/>
                              </a:rPr>
                              <m:t>⋈</m:t>
                            </m:r>
                            <m:r>
                              <m:rPr>
                                <m:nor/>
                              </m:rPr>
                              <a:rPr lang="fa-IR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sSub>
                              <m:sSubPr>
                                <m:ctrlPr>
                                  <a:rPr lang="fa-I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000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sz="2000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course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US" sz="2000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sz="2000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id</m:t>
                                </m:r>
                                <m:r>
                                  <m:rPr>
                                    <m:nor/>
                                  </m:rPr>
                                  <a:rPr lang="en-US" sz="2000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sz="2000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title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a-I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a-IR" sz="2000" i="1">
                                    <a:latin typeface="Cambria Math" panose="02040503050406030204" pitchFamily="18" charset="0"/>
                                  </a:rPr>
                                  <m:t>𝑐𝑜𝑢𝑟𝑠𝑒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fa-IR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تبدیل با استفاده از قانون ترکیبی بودن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(Rule 6a):</a:t>
                </a:r>
                <a:endParaRPr lang="en-US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 sz="20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"∧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year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2017</m:t>
                        </m:r>
                      </m:sub>
                    </m:sSub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𝑖𝑛𝑠𝑡𝑟𝑢𝑐𝑡𝑜𝑟</m:t>
                            </m:r>
                            <m:r>
                              <m:rPr>
                                <m:nor/>
                              </m:rPr>
                              <a:rPr lang="fa-IR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r>
                              <a:rPr lang="fa-IR" sz="2000">
                                <a:latin typeface="Cambria Math" panose="02040503050406030204" pitchFamily="18" charset="0"/>
                              </a:rPr>
                              <m:t>⋈</m:t>
                            </m:r>
                            <m:r>
                              <m:rPr>
                                <m:nor/>
                              </m:rPr>
                              <a:rPr lang="fa-IR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𝑡𝑒𝑎𝑐</m:t>
                            </m:r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𝑒𝑠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sSub>
                          <m:sSub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00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id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sz="2000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title</m:t>
                            </m:r>
                          </m:sub>
                        </m:sSub>
                        <m:d>
                          <m:dPr>
                            <m:ctrlPr>
                              <a:rPr lang="fa-I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2000" i="1">
                                <a:latin typeface="Cambria Math" panose="02040503050406030204" pitchFamily="18" charset="0"/>
                              </a:rPr>
                              <m:t>𝑐𝑜𝑢𝑟𝑠𝑒</m:t>
                            </m:r>
                          </m:e>
                        </m:d>
                      </m:e>
                    </m:d>
                    <m:r>
                      <a:rPr lang="fa-IR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مزیت فرم دوم: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امکان اعمال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 زودهنگام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وجود دارد و به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زیرعبارت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زیر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می‌رسیم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𝑖𝑛𝑠𝑡𝑟𝑢𝑐𝑡𝑜𝑟</m:t>
                        </m:r>
                      </m:e>
                    </m:d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year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2017</m:t>
                        </m:r>
                      </m:sub>
                    </m:sSub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𝑡𝑒𝑎𝑐</m:t>
                        </m:r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𝑒𝑠</m:t>
                        </m:r>
                      </m:e>
                    </m:d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باعث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کاهش اندازه روابط قبل از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افزایش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کارایی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>
                  <a:buFont typeface="Monotype Sorts" pitchFamily="-65" charset="2"/>
                  <a:buNone/>
                </a:pPr>
                <a:endParaRPr lang="en-US" altLang="en-US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33795" name="Rectangle 3">
                <a:extLst>
                  <a:ext uri="{FF2B5EF4-FFF2-40B4-BE49-F238E27FC236}">
                    <a16:creationId xmlns:a16="http://schemas.microsoft.com/office/drawing/2014/main" id="{AE12142C-2886-40EF-8A6F-FA29A95487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946" y="1017153"/>
                <a:ext cx="8657604" cy="5367972"/>
              </a:xfrm>
              <a:blipFill>
                <a:blip r:embed="rId2"/>
                <a:stretch>
                  <a:fillRect t="-1591" r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4E491A4A-3C0A-4D6B-A8E6-DAADB455E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چندین تبدیل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3E806A7-61B5-4CE6-B8A7-DDF13E6D6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393" y="1301164"/>
            <a:ext cx="8227213" cy="361025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DA5B014-9A7D-4BC3-B609-3F8C59E67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مثال تبدیل: اعمال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پروژه‌ها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به جلو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Pushing Projections)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FFF184D8-343D-426D-8603-75BB32384BE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64142" y="1102497"/>
                <a:ext cx="8394513" cy="5367972"/>
              </a:xfrm>
            </p:spPr>
            <p:txBody>
              <a:bodyPr/>
              <a:lstStyle/>
              <a:p>
                <a:pPr algn="r" rtl="1"/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dept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name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𝑀𝑢𝑠𝑖𝑐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  <m:d>
                          <m:d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𝑖𝑛𝑠𝑡𝑟𝑢𝑐𝑡𝑜𝑟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𝑡𝑒𝑎𝑐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𝑒𝑠</m:t>
                        </m:r>
                      </m:e>
                    </m:d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course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𝑐𝑜𝑢𝑟𝑠𝑒</m:t>
                        </m:r>
                      </m:e>
                    </m:d>
                    <m:r>
                      <a:rPr lang="fa-I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وقتی محاسبه کنیم: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𝑖𝑛𝑠𝑡𝑟𝑢𝑐𝑡𝑜𝑟</m:t>
                        </m:r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𝑡𝑒𝑎𝑐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𝑒𝑠</m:t>
                        </m:r>
                      </m:e>
                    </m:d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رابطه‌ای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شمای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زیر به دست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می‌آید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b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salary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course</m:t>
                        </m:r>
                        <m:r>
                          <m:rPr>
                            <m:lit/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sec</m:t>
                        </m:r>
                        <m:r>
                          <m:rPr>
                            <m:lit/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semester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b="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year</m:t>
                        </m:r>
                      </m:e>
                    </m:d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استفاده از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قوانین </a:t>
                </a:r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هم‌ارزی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۸الف و ۸ب (</a:t>
                </a:r>
                <a:r>
                  <a:rPr lang="en-US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Pushing Projections)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پروژه‌ها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را جلو برد و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صفت‌های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اضافی را از نتایج میانی حذف کرد تا به صورت زیر برسیم: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name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, 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course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id</m:t>
                            </m:r>
                          </m:sub>
                        </m:sSub>
                        <m:d>
                          <m:d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a-I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a-IR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dept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US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Microsoft Sans Serif" panose="020B0604020202020204" pitchFamily="34" charset="0"/>
                                    <a:ea typeface="Microsoft Sans Serif" panose="020B0604020202020204" pitchFamily="34" charset="0"/>
                                    <a:cs typeface="B Nazanin" panose="00000400000000000000" pitchFamily="2" charset="-78"/>
                                  </a:rPr>
                                  <m:t>name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="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𝑀𝑢𝑠𝑖𝑐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"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fa-I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a-IR" i="1">
                                    <a:latin typeface="Cambria Math" panose="02040503050406030204" pitchFamily="18" charset="0"/>
                                  </a:rPr>
                                  <m:t>𝑖𝑛𝑠𝑡𝑟𝑢𝑐𝑡𝑜𝑟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fa-IR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r>
                              <a:rPr lang="fa-IR">
                                <a:latin typeface="Cambria Math" panose="02040503050406030204" pitchFamily="18" charset="0"/>
                              </a:rPr>
                              <m:t>⋈</m:t>
                            </m:r>
                            <m:r>
                              <m:rPr>
                                <m:nor/>
                              </m:rPr>
                              <a:rPr lang="fa-IR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  </m:t>
                            </m:r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𝑡𝑒𝑎𝑐</m:t>
                            </m:r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𝑒𝑠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course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𝑐𝑜𝑢𝑟𝑠𝑒</m:t>
                        </m:r>
                      </m:e>
                    </m:d>
                    <m:r>
                      <a:rPr lang="fa-I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مزیت: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اجرای </a:t>
                </a:r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پروژه‌ها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زودهنگام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باعث کاهش اندازه روابط برای 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افزایش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کارایی </a:t>
                </a:r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>
                  <a:lnSpc>
                    <a:spcPct val="90000"/>
                  </a:lnSpc>
                </a:pPr>
                <a:endParaRPr lang="en-US" altLang="en-US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FFF184D8-343D-426D-8603-75BB32384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142" y="1102497"/>
                <a:ext cx="8394513" cy="5367972"/>
              </a:xfrm>
              <a:blipFill>
                <a:blip r:embed="rId2"/>
                <a:stretch>
                  <a:fillRect t="-1250" r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C6E47C56-A0BE-493D-99C6-FE63BED90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مثال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(Join Ordering Example)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1" name="Rectangle 3">
                <a:extLst>
                  <a:ext uri="{FF2B5EF4-FFF2-40B4-BE49-F238E27FC236}">
                    <a16:creationId xmlns:a16="http://schemas.microsoft.com/office/drawing/2014/main" id="{7C1CF120-E4F7-4429-B2DB-787B5E5C06E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64144" y="1073622"/>
                <a:ext cx="7594332" cy="5367972"/>
              </a:xfrm>
            </p:spPr>
            <p:txBody>
              <a:bodyPr/>
              <a:lstStyle/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تمام روابط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d>
                      <m:d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3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d>
                      <m:d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fa-IR" sz="24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قابلیت ترکیبی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– Join Associativity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endParaRPr lang="en-US" sz="24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بسیار بزرگ باشد و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کوچک باشد، بهتر است انتخاب کنیم:</a:t>
                </a:r>
              </a:p>
              <a:p>
                <a:pPr algn="r" rtl="1"/>
                <a14:m>
                  <m:oMath xmlns:m="http://schemas.openxmlformats.org/officeDocument/2006/math">
                    <m:d>
                      <m:d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4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fa-IR" sz="24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تا بتوانیم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رابطه موقت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کوچک‌تر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را محاسبه و ذخیره کنیم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در نتیجه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کارایی پردازش افزایش یابد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>
                  <a:tabLst>
                    <a:tab pos="1947863" algn="l"/>
                  </a:tabLst>
                </a:pPr>
                <a:endParaRPr lang="en-US" altLang="en-US" sz="2400" baseline="-25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37891" name="Rectangle 3">
                <a:extLst>
                  <a:ext uri="{FF2B5EF4-FFF2-40B4-BE49-F238E27FC236}">
                    <a16:creationId xmlns:a16="http://schemas.microsoft.com/office/drawing/2014/main" id="{7C1CF120-E4F7-4429-B2DB-787B5E5C06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144" y="1073622"/>
                <a:ext cx="7594332" cy="5367972"/>
              </a:xfrm>
              <a:blipFill>
                <a:blip r:embed="rId3"/>
                <a:stretch>
                  <a:fillRect t="-1703" r="-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A7DFCF53-4E54-4048-AC08-C5BD5617B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مثال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(Join Ordering Example)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FC58C06D-6BC1-4E20-A3A3-6AFD666C4DA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81296" y="1073622"/>
                <a:ext cx="8540783" cy="5367972"/>
              </a:xfrm>
            </p:spPr>
            <p:txBody>
              <a:bodyPr/>
              <a:lstStyle/>
              <a:p>
                <a:pPr algn="r" rtl="1"/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r>
                      <a:rPr lang="fa-IR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dept</m:t>
                            </m:r>
                            <m:r>
                              <m:rPr>
                                <m:lit/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_</m:t>
                            </m:r>
                            <m:r>
                              <m:rPr>
                                <m:nor/>
                              </m:rPr>
                              <a:rPr lang="en-US" i="1">
                                <a:latin typeface="Microsoft Sans Serif" panose="020B0604020202020204" pitchFamily="34" charset="0"/>
                                <a:ea typeface="Microsoft Sans Serif" panose="020B0604020202020204" pitchFamily="34" charset="0"/>
                                <a:cs typeface="B Nazanin" panose="00000400000000000000" pitchFamily="2" charset="-78"/>
                              </a:rPr>
                              <m:t>name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="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𝑀𝑢𝑠𝑖𝑐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"</m:t>
                            </m:r>
                          </m:sub>
                        </m:sSub>
                        <m:d>
                          <m:dPr>
                            <m:ctrlPr>
                              <a:rPr lang="fa-I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i="1">
                                <a:latin typeface="Cambria Math" panose="02040503050406030204" pitchFamily="18" charset="0"/>
                              </a:rPr>
                              <m:t>𝑖𝑛𝑠𝑡𝑟𝑢𝑐𝑡𝑜𝑟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𝑡𝑒𝑎𝑐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a-IR" i="1">
                            <a:latin typeface="Cambria Math" panose="02040503050406030204" pitchFamily="18" charset="0"/>
                          </a:rPr>
                          <m:t>𝑒𝑠</m:t>
                        </m:r>
                      </m:e>
                    </m:d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course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𝑐𝑜𝑢𝑟𝑠𝑒</m:t>
                        </m:r>
                      </m:e>
                    </m:d>
                    <m:r>
                      <a:rPr lang="fa-I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می‌توانستیم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ابتدا </a:t>
                </a:r>
                <a14:m>
                  <m:oMath xmlns:m="http://schemas.openxmlformats.org/officeDocument/2006/math">
                    <m:r>
                      <a:rPr lang="fa-IR" i="1">
                        <a:latin typeface="Cambria Math" panose="02040503050406030204" pitchFamily="18" charset="0"/>
                      </a:rPr>
                      <m:t>𝑡𝑒𝑎𝑐</m:t>
                    </m:r>
                    <m:r>
                      <a:rPr lang="fa-I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fa-IR" i="1">
                        <a:latin typeface="Cambria Math" panose="02040503050406030204" pitchFamily="18" charset="0"/>
                      </a:rPr>
                      <m:t>𝑒𝑠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course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id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title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𝑐𝑜𝑢𝑟𝑠𝑒</m:t>
                        </m:r>
                      </m:e>
                    </m:d>
                  </m:oMath>
                </a14:m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 محاسبه کنیم و سپس نتیجه را با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𝑖𝑛𝑠𝑡𝑟𝑢𝑐𝑡𝑜𝑟</m:t>
                        </m:r>
                      </m:e>
                    </m:d>
                  </m:oMath>
                </a14:m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کنیم، اما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نتیجه‌ی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اولین 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احتمالاً یک رابطه بزرگ خواهد بود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چون فقط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بخش کوچک از اساتید دانشگاه احتمالاً از دپارتمان موسیقی هستند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بهتر است ابتدا محاسبه کنیم:</a:t>
                </a: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dept</m:t>
                        </m:r>
                        <m:r>
                          <m:rPr>
                            <m:lit/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en-US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name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="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𝑀𝑢𝑠𝑖𝑐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"</m:t>
                        </m:r>
                      </m:sub>
                    </m:sSub>
                    <m:d>
                      <m:dPr>
                        <m:ctrlPr>
                          <a:rPr lang="fa-I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i="1">
                            <a:latin typeface="Cambria Math" panose="02040503050406030204" pitchFamily="18" charset="0"/>
                          </a:rPr>
                          <m:t>𝑖𝑛𝑠𝑡𝑟𝑢𝑐𝑡𝑜𝑟</m:t>
                        </m:r>
                      </m:e>
                    </m:d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i="1">
                        <a:latin typeface="Cambria Math" panose="02040503050406030204" pitchFamily="18" charset="0"/>
                      </a:rPr>
                      <m:t>𝑡𝑒𝑎𝑐</m:t>
                    </m:r>
                    <m:r>
                      <a:rPr lang="fa-IR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fa-IR" i="1">
                        <a:latin typeface="Cambria Math" panose="02040503050406030204" pitchFamily="18" charset="0"/>
                      </a:rPr>
                      <m:t>𝑒𝑠</m:t>
                    </m:r>
                  </m:oMath>
                </a14:m>
                <a:endParaRPr lang="fa-IR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کار باعث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اندازه روابط میانی </a:t>
                </a:r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کوچک‌تر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شود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کارایی </a:t>
                </a:r>
                <a:r>
                  <a:rPr lang="fa-IR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افزایش یابد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>
                  <a:buFont typeface="Monotype Sorts" pitchFamily="-65" charset="2"/>
                  <a:buNone/>
                  <a:tabLst>
                    <a:tab pos="1198563" algn="l"/>
                  </a:tabLst>
                </a:pPr>
                <a:endParaRPr lang="en-US" altLang="en-US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FC58C06D-6BC1-4E20-A3A3-6AFD666C4D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1296" y="1073622"/>
                <a:ext cx="8540783" cy="5367972"/>
              </a:xfrm>
              <a:blipFill>
                <a:blip r:embed="rId3"/>
                <a:stretch>
                  <a:fillRect t="-1249" r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A6C3F11C-A25B-4E42-A39E-BB138AAD9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12" y="375339"/>
            <a:ext cx="9009888" cy="609600"/>
          </a:xfrm>
        </p:spPr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شمارش یا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فهرست‌بندی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عبارات معادل (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Enumeration of Equivalent Expressions)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6C31D7E-F789-4652-9488-B1AEE7EED4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6109" y="1114689"/>
            <a:ext cx="8171782" cy="5367972"/>
          </a:xfrm>
        </p:spPr>
        <p:txBody>
          <a:bodyPr/>
          <a:lstStyle/>
          <a:p>
            <a:pPr algn="r" rtl="1"/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بهینه‌سازهای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قوانین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تولید سیستماتیک عبارات معادل با عبارت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داده‌شده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تمام عبارات معادل را به صورت زیر تولید کنند: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تکرار: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تمام قوانین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قابل اعمال را روی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عبارت معادل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تاکنون پیدا شده، اعمال کنید.</a:t>
            </a: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عبارات جدید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تولیدشده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به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 عبارات معادل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اضافه کنید.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توقف: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تا زمانی که هیچ عبارت معادل جدیدی تولید نشود، ادامه دهید.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نکته: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این روش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نظر حافظه و زمان بسیار پرهزینه است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دو رویکرد برای مدیریت هزینه: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تولید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 اساس قوانین تبدیل (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Transformation Rules).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رویکرد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مورد خاص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فقط شامل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Selection، Projection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هستند.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>
            <a:extLst>
              <a:ext uri="{FF2B5EF4-FFF2-40B4-BE49-F238E27FC236}">
                <a16:creationId xmlns:a16="http://schemas.microsoft.com/office/drawing/2014/main" id="{A841BFC6-44BE-4C9F-A1AF-2D2B70137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689" y="117407"/>
            <a:ext cx="8693702" cy="697094"/>
          </a:xfrm>
        </p:spPr>
        <p:txBody>
          <a:bodyPr/>
          <a:lstStyle/>
          <a:p>
            <a:pPr rtl="1">
              <a:defRPr/>
            </a:pP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پیاده‌سازی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مبتنی بر تبدیل (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Transformation-Based Optimization)</a:t>
            </a:r>
            <a:endParaRPr lang="en-US" altLang="en-US" sz="2600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5EC7FF5E-BA26-4F49-881B-EBC2A8B4FA4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3394" y="814502"/>
                <a:ext cx="8192381" cy="5655968"/>
              </a:xfrm>
            </p:spPr>
            <p:txBody>
              <a:bodyPr/>
              <a:lstStyle/>
              <a:p>
                <a:pPr algn="r" rtl="1"/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نیازمندی‌های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حافظه با به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اشتراک‌گذاری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زیرعبارات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مشترک کاهش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می‌یابد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وقتی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استفاده از یک قانون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هم‌ارزی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تولید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معمولاً تنها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سطح بالای دو عبارت متفاوت است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زیردرخت‌های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زیرین یکسان هستند و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 استفاده از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اشاره‌گرها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pointers)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آن‌ها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را به اشتراک گذاشت.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مثال: هنگام اعمال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جابجایی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(Join Commutativity)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زیرعبارات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یکسان ممکن است چندین بار تولید شوند: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شناسایی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زیرعبارات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تکراری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یک نسخه را به اشتراک گذاشت.</a:t>
                </a:r>
              </a:p>
              <a:p>
                <a:pPr algn="r" rtl="1"/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نیازمندی‌های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زمان با عدم تولید همه عبارات کاهش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می‌یابد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استفاده از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برنامه‌ریزی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پویا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Dynamic Programming)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اینجا فقط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مورد خاص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برنامه‌ریزی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پویا برای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بهینه‌سازی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ترتیب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مورد بررسی قرار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می‌گیرد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</p:txBody>
          </p:sp>
        </mc:Choice>
        <mc:Fallback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5EC7FF5E-BA26-4F49-881B-EBC2A8B4F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394" y="814502"/>
                <a:ext cx="8192381" cy="5655968"/>
              </a:xfrm>
              <a:blipFill>
                <a:blip r:embed="rId3"/>
                <a:stretch>
                  <a:fillRect t="-1402" r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555" y="2868878"/>
            <a:ext cx="2622067" cy="13050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>
            <a:extLst>
              <a:ext uri="{FF2B5EF4-FFF2-40B4-BE49-F238E27FC236}">
                <a16:creationId xmlns:a16="http://schemas.microsoft.com/office/drawing/2014/main" id="{CD7419F5-FE92-4159-9AAF-687033F90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تخمین هزینه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Cost Estimation)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F513389-B461-4AFD-8659-5598A25B63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8171782" cy="5367972"/>
          </a:xfrm>
        </p:spPr>
        <p:txBody>
          <a:bodyPr/>
          <a:lstStyle/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 هر عملگر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همان‌طور که در فصل ۱۵ توضیح داده شده است محاسبه می‌شود.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نیاز به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آمار ورودی روابط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داریم، مانند:</a:t>
            </a: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رکوردها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tuples)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  <a:endPara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 هر رکورد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tuple size)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  <a:endPara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ورودی‌ها می‌توانند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نتایج زیرعبارات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نیز باشند.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این‌که بتوان آمار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نتایج 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تخمین زد، نیاز به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آمار اضافی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داریم، مانند:</a:t>
            </a: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مقادیر متمایز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distinct values)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)برای هر صفت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جزئیات بیشتر در مورد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 هزینه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cost estimation)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)بعداً ارائه خواهد شد.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id="{64326744-9FBF-4DBD-9453-5D70A30DD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انتخاب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پلن‌های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ارزیابی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FE03035-031F-48FD-B68D-7BF85E78C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999744"/>
            <a:ext cx="8077200" cy="5470725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باید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تعامل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تکنیک‌های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ارزیابی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هنگام انتخاب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ارزیابی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نظر گرفت.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ارزان‌ترین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هر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عملگر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مستقل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بهترین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کل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ارائه ندهد.</a:t>
            </a:r>
            <a:b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</a:p>
          <a:p>
            <a:pPr lvl="1" algn="r" rtl="1"/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Merge-Join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گران‌تر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Hash-Join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اما خروجی مرتب تولید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سطح بالاتر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کاهش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algn="r" rtl="1"/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Nested-Loop Join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فرصت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پایپلاین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فراهم کند.</a:t>
            </a:r>
          </a:p>
          <a:p>
            <a:pPr algn="r" rtl="1"/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عملی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معمولاً ترکیبی از دو رویکرد زیر را به کار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می‌برند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جستجوی همه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انتخاب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بهترین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مبتنی بر هزینه (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cost-based)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استفاده از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انتخاب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145B-71D6-6132-E5B8-0DB1576CE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324" y="0"/>
            <a:ext cx="8470233" cy="5847348"/>
          </a:xfrm>
        </p:spPr>
        <p:txBody>
          <a:bodyPr/>
          <a:lstStyle/>
          <a:p>
            <a:pPr algn="r" rtl="1"/>
            <a:br>
              <a:rPr lang="en-US" dirty="0">
                <a:latin typeface="Bahnschrift SemiBold" panose="020B0502040204020203" pitchFamily="34" charset="0"/>
              </a:rPr>
            </a:br>
            <a:br>
              <a:rPr lang="en-US" dirty="0">
                <a:latin typeface="Bahnschrift SemiBold" panose="020B0502040204020203" pitchFamily="34" charset="0"/>
              </a:rPr>
            </a:br>
            <a:r>
              <a:rPr lang="fa-IR" sz="4400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sz="4400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مبتنی بر هزینه</a:t>
            </a:r>
            <a:br>
              <a:rPr lang="en-US" dirty="0"/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در نظر بگیرید یافتن بهترین ترتیب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join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برای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r1 ⨝ r2 ⨝ … ⨝ </a:t>
            </a:r>
            <a:r>
              <a:rPr lang="en-US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rn</a:t>
            </a:r>
            <a:b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برای این عبارت،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pt-B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(2(n - 1))! / (n - 1)!</a:t>
            </a:r>
            <a:b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ترتیب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join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متفاوت وجود دارد.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برای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n = 7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این تعداد برابر با 665280 است و برای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n = 10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این عدد بیشتر از 176 میلیارد است!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نیازی به تولید تمام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ترتیب‌های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join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نیست.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با استفاده از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برنامه‌نویسی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پویا (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dynamic programming)،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کم‌هزینه‌ترین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ترتیب 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join 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برای هر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زیرمجموعه‌ای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از</a:t>
            </a:r>
            <a:b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{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r1, r2, …, </a:t>
            </a:r>
            <a:r>
              <a:rPr lang="en-US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rn</a:t>
            </a:r>
            <a: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}</a:t>
            </a:r>
            <a:br>
              <a:rPr lang="en-US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</a:b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فقط یک بار محاسبه شده و برای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استفاده‌های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 بعدی ذخیره </a:t>
            </a:r>
            <a:r>
              <a:rPr lang="fa-IR" sz="2400" dirty="0" err="1">
                <a:solidFill>
                  <a:schemeClr val="tx1"/>
                </a:solidFill>
                <a:latin typeface="Bahnschrift SemiBold" panose="020B0502040204020203" pitchFamily="34" charset="0"/>
              </a:rPr>
              <a:t>می‌شود</a:t>
            </a:r>
            <a:r>
              <a:rPr lang="fa-IR" sz="2400" dirty="0">
                <a:solidFill>
                  <a:schemeClr val="tx1"/>
                </a:solidFill>
                <a:latin typeface="Bahnschrift SemiBold" panose="020B0502040204020203" pitchFamily="34" charset="0"/>
              </a:rPr>
              <a:t>.</a:t>
            </a:r>
            <a:br>
              <a:rPr lang="fa-IR" sz="2400" dirty="0">
                <a:latin typeface="Bahnschrift SemiBold" panose="020B0502040204020203" pitchFamily="34" charset="0"/>
              </a:rPr>
            </a:br>
            <a:endParaRPr lang="en-US" sz="2400" dirty="0">
              <a:latin typeface="Bahnschrift SemiBold" panose="020B0502040204020203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BC8B51C9-7C46-4DF8-945C-4452B6099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برنامه‌ریزی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پویا در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227" name="Rectangle 3">
                <a:extLst>
                  <a:ext uri="{FF2B5EF4-FFF2-40B4-BE49-F238E27FC236}">
                    <a16:creationId xmlns:a16="http://schemas.microsoft.com/office/drawing/2014/main" id="{B3FBD68B-D02C-4BB9-BD9F-29683E87A55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02643" y="992769"/>
                <a:ext cx="7738713" cy="5367972"/>
              </a:xfrm>
            </p:spPr>
            <p:txBody>
              <a:bodyPr/>
              <a:lstStyle/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یافتن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بهترین درخت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رابطه: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یافتن بهترین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پلن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برای یک مجموعه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از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رابطه، همه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پلن‌های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ممکن به شکل زیر را در نظر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می‌گیریم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fa-IR" sz="20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که در آن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هر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غیرخالی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است.</a:t>
                </a:r>
              </a:p>
              <a:p>
                <a:pPr algn="r" rtl="1"/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هزینه‌های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زیرمجموعه‌های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صورت بازگشتی محاسبه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تا هزینه هر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پلن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مشخص شود.</a:t>
                </a:r>
              </a:p>
              <a:p>
                <a:pPr algn="r" rtl="1"/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ارزان‌ترین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گزینه از میان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a-IR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fa-IR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جایگزین انتخاب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مورد پایه بازگشت: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پلن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دسترسی به یک رابطه تنها.</a:t>
                </a:r>
              </a:p>
              <a:p>
                <a:pPr lvl="1"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تمام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انتخاب‌ها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Selections)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)روی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بهترین انتخاب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ایندکس‌ها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اعمال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وقتی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پلن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برای هر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محاسبه شد، آن را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ذخیره و دوباره استفاده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می‌کنیم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تا نیازی به محاسبه مجدد نباشد.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روش همان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برنامه‌ریزی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پویا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Dynamic Programming)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)است.</a:t>
                </a:r>
              </a:p>
              <a:p>
                <a:pPr algn="r" rtl="1"/>
                <a:endParaRPr lang="en-US" altLang="en-US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52227" name="Rectangle 3">
                <a:extLst>
                  <a:ext uri="{FF2B5EF4-FFF2-40B4-BE49-F238E27FC236}">
                    <a16:creationId xmlns:a16="http://schemas.microsoft.com/office/drawing/2014/main" id="{B3FBD68B-D02C-4BB9-BD9F-29683E87A5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643" y="992769"/>
                <a:ext cx="7738713" cy="5367972"/>
              </a:xfrm>
              <a:blipFill>
                <a:blip r:embed="rId3"/>
                <a:stretch>
                  <a:fillRect l="-787" t="-1364" r="-866" b="-1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70AC9EB8-145F-44FE-83DE-591A653E7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الگوریتم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ترتیب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Join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EF63D08-E132-4508-BDD9-45B4691EB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20775"/>
            <a:ext cx="8321007" cy="4876800"/>
          </a:xfrm>
          <a:prstGeom prst="rect">
            <a:avLst/>
          </a:prstGeo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b="1" dirty="0"/>
              <a:t>procedure</a:t>
            </a:r>
            <a:r>
              <a:rPr lang="en-US" altLang="en-US" dirty="0"/>
              <a:t> </a:t>
            </a:r>
            <a:r>
              <a:rPr lang="en-US" altLang="en-US" dirty="0" err="1"/>
              <a:t>findbestplan</a:t>
            </a:r>
            <a:r>
              <a:rPr lang="en-US" altLang="en-US" dirty="0"/>
              <a:t>(</a:t>
            </a:r>
            <a:r>
              <a:rPr lang="en-US" altLang="en-US" i="1" dirty="0"/>
              <a:t>S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b="1" dirty="0"/>
              <a:t>if</a:t>
            </a:r>
            <a:r>
              <a:rPr lang="en-US" altLang="en-US" dirty="0"/>
              <a:t> (</a:t>
            </a:r>
            <a:r>
              <a:rPr lang="en-US" altLang="en-US" i="1" dirty="0" err="1"/>
              <a:t>bestplan</a:t>
            </a:r>
            <a:r>
              <a:rPr lang="en-US" altLang="en-US" dirty="0"/>
              <a:t>[</a:t>
            </a:r>
            <a:r>
              <a:rPr lang="en-US" altLang="en-US" i="1" dirty="0"/>
              <a:t>S</a:t>
            </a:r>
            <a:r>
              <a:rPr lang="en-US" altLang="en-US" dirty="0"/>
              <a:t>].</a:t>
            </a:r>
            <a:r>
              <a:rPr lang="en-US" altLang="en-US" i="1" dirty="0"/>
              <a:t>cost </a:t>
            </a:r>
            <a:r>
              <a:rPr lang="en-US" altLang="en-US" dirty="0">
                <a:sym typeface="Symbol" panose="05050102010706020507" pitchFamily="18" charset="2"/>
              </a:rPr>
              <a:t> )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return 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// else 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 has not been computed earlier, compute it now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if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contains only 1 relation)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set 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].</a:t>
            </a:r>
            <a:r>
              <a:rPr lang="en-US" altLang="en-US" i="1" dirty="0">
                <a:sym typeface="Symbol" panose="05050102010706020507" pitchFamily="18" charset="2"/>
              </a:rPr>
              <a:t>plan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].</a:t>
            </a:r>
            <a:r>
              <a:rPr lang="en-US" altLang="en-US" i="1" dirty="0">
                <a:sym typeface="Symbol" panose="05050102010706020507" pitchFamily="18" charset="2"/>
              </a:rPr>
              <a:t>cost</a:t>
            </a:r>
            <a:r>
              <a:rPr lang="en-US" altLang="en-US" dirty="0">
                <a:sym typeface="Symbol" panose="05050102010706020507" pitchFamily="18" charset="2"/>
              </a:rPr>
              <a:t> based on the best way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of accessing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 using selections on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and indices (if any) on S </a:t>
            </a:r>
            <a:r>
              <a:rPr lang="en-US" altLang="en-US" b="1" dirty="0">
                <a:sym typeface="Symbol" panose="05050102010706020507" pitchFamily="18" charset="2"/>
              </a:rPr>
              <a:t>else for each </a:t>
            </a:r>
            <a:r>
              <a:rPr lang="en-US" altLang="en-US" dirty="0">
                <a:sym typeface="Symbol" panose="05050102010706020507" pitchFamily="18" charset="2"/>
              </a:rPr>
              <a:t>non-empty subset </a:t>
            </a:r>
            <a:r>
              <a:rPr lang="en-US" altLang="en-US" i="1" dirty="0">
                <a:sym typeface="Symbol" panose="05050102010706020507" pitchFamily="18" charset="2"/>
              </a:rPr>
              <a:t>S1</a:t>
            </a:r>
            <a:r>
              <a:rPr lang="en-US" altLang="en-US" dirty="0">
                <a:sym typeface="Symbol" panose="05050102010706020507" pitchFamily="18" charset="2"/>
              </a:rPr>
              <a:t> of </a:t>
            </a:r>
            <a:r>
              <a:rPr lang="en-US" altLang="en-US" i="1" dirty="0">
                <a:sym typeface="Symbol" panose="05050102010706020507" pitchFamily="18" charset="2"/>
              </a:rPr>
              <a:t>S </a:t>
            </a:r>
            <a:r>
              <a:rPr lang="en-US" altLang="en-US" dirty="0">
                <a:sym typeface="Symbol" panose="05050102010706020507" pitchFamily="18" charset="2"/>
              </a:rPr>
              <a:t>such that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1 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	</a:t>
            </a:r>
            <a:r>
              <a:rPr lang="en-US" altLang="en-US" dirty="0">
                <a:sym typeface="Symbol" panose="05050102010706020507" pitchFamily="18" charset="2"/>
              </a:rPr>
              <a:t>P1= </a:t>
            </a:r>
            <a:r>
              <a:rPr lang="en-US" altLang="en-US" dirty="0" err="1">
                <a:sym typeface="Symbol" panose="05050102010706020507" pitchFamily="18" charset="2"/>
              </a:rPr>
              <a:t>findbestplan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1)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P2= </a:t>
            </a:r>
            <a:r>
              <a:rPr lang="en-US" altLang="en-US" dirty="0" err="1">
                <a:sym typeface="Symbol" panose="05050102010706020507" pitchFamily="18" charset="2"/>
              </a:rPr>
              <a:t>findbestplan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 -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1)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b="1" dirty="0">
                <a:sym typeface="Symbol" panose="05050102010706020507" pitchFamily="18" charset="2"/>
              </a:rPr>
              <a:t>for each </a:t>
            </a:r>
            <a:r>
              <a:rPr lang="en-IN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algorithm A for joining results </a:t>
            </a:r>
            <a:r>
              <a:rPr lang="en-US" altLang="en-US" dirty="0">
                <a:sym typeface="Symbol" panose="05050102010706020507" pitchFamily="18" charset="2"/>
              </a:rPr>
              <a:t>of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1 and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2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</a:t>
            </a:r>
            <a:r>
              <a:rPr lang="en-US" altLang="en-US" b="1" i="1" dirty="0">
                <a:sym typeface="Symbol" panose="05050102010706020507" pitchFamily="18" charset="2"/>
              </a:rPr>
              <a:t>… compute plan and cost of using A (see next page) ..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	     </a:t>
            </a:r>
            <a:r>
              <a:rPr lang="en-US" altLang="en-US" b="1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cost </a:t>
            </a:r>
            <a:r>
              <a:rPr lang="en-US" altLang="en-US" dirty="0">
                <a:sym typeface="Symbol" panose="05050102010706020507" pitchFamily="18" charset="2"/>
              </a:rPr>
              <a:t>&lt; 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].</a:t>
            </a:r>
            <a:r>
              <a:rPr lang="en-US" altLang="en-US" i="1" dirty="0">
                <a:sym typeface="Symbol" panose="05050102010706020507" pitchFamily="18" charset="2"/>
              </a:rPr>
              <a:t>cost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].</a:t>
            </a:r>
            <a:r>
              <a:rPr lang="en-US" altLang="en-US" i="1" dirty="0">
                <a:sym typeface="Symbol" panose="05050102010706020507" pitchFamily="18" charset="2"/>
              </a:rPr>
              <a:t>cost </a:t>
            </a:r>
            <a:r>
              <a:rPr lang="en-US" altLang="en-US" dirty="0">
                <a:sym typeface="Symbol" panose="05050102010706020507" pitchFamily="18" charset="2"/>
              </a:rPr>
              <a:t>= cost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i="1" dirty="0" err="1">
                <a:sym typeface="Symbol" panose="05050102010706020507" pitchFamily="18" charset="2"/>
              </a:rPr>
              <a:t>bestplan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en-US" altLang="en-US" dirty="0">
                <a:sym typeface="Symbol" panose="05050102010706020507" pitchFamily="18" charset="2"/>
              </a:rPr>
              <a:t>].</a:t>
            </a:r>
            <a:r>
              <a:rPr lang="en-US" altLang="en-US" i="1" dirty="0">
                <a:sym typeface="Symbol" panose="05050102010706020507" pitchFamily="18" charset="2"/>
              </a:rPr>
              <a:t>plan </a:t>
            </a:r>
            <a:r>
              <a:rPr lang="en-US" altLang="en-US" dirty="0">
                <a:sym typeface="Symbol" panose="05050102010706020507" pitchFamily="18" charset="2"/>
              </a:rPr>
              <a:t>= </a:t>
            </a:r>
            <a:r>
              <a:rPr lang="en-US" altLang="ja-JP" i="1" dirty="0">
                <a:sym typeface="Symbol" panose="05050102010706020507" pitchFamily="18" charset="2"/>
              </a:rPr>
              <a:t>plan</a:t>
            </a:r>
            <a:r>
              <a:rPr lang="en-US" altLang="ja-JP" dirty="0">
                <a:sym typeface="Symbol" panose="05050102010706020507" pitchFamily="18" charset="2"/>
              </a:rPr>
              <a:t>;</a:t>
            </a:r>
            <a:br>
              <a:rPr lang="en-US" altLang="ja-JP" dirty="0">
                <a:sym typeface="Symbol" panose="05050102010706020507" pitchFamily="18" charset="2"/>
              </a:rPr>
            </a:br>
            <a:r>
              <a:rPr lang="en-US" altLang="ja-JP" b="1" dirty="0">
                <a:sym typeface="Symbol" panose="05050102010706020507" pitchFamily="18" charset="2"/>
              </a:rPr>
              <a:t>return</a:t>
            </a:r>
            <a:r>
              <a:rPr lang="en-US" altLang="ja-JP" dirty="0">
                <a:sym typeface="Symbol" panose="05050102010706020507" pitchFamily="18" charset="2"/>
              </a:rPr>
              <a:t> </a:t>
            </a:r>
            <a:r>
              <a:rPr lang="en-US" altLang="ja-JP" i="1" dirty="0" err="1">
                <a:sym typeface="Symbol" panose="05050102010706020507" pitchFamily="18" charset="2"/>
              </a:rPr>
              <a:t>bestplan</a:t>
            </a:r>
            <a:r>
              <a:rPr lang="en-US" altLang="ja-JP" dirty="0">
                <a:sym typeface="Symbol" panose="05050102010706020507" pitchFamily="18" charset="2"/>
              </a:rPr>
              <a:t>[</a:t>
            </a:r>
            <a:r>
              <a:rPr lang="en-US" altLang="ja-JP" i="1" dirty="0">
                <a:sym typeface="Symbol" panose="05050102010706020507" pitchFamily="18" charset="2"/>
              </a:rPr>
              <a:t>S</a:t>
            </a:r>
            <a:r>
              <a:rPr lang="en-US" altLang="ja-JP" dirty="0">
                <a:sym typeface="Symbol" panose="05050102010706020507" pitchFamily="18" charset="2"/>
              </a:rPr>
              <a:t>]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70AC9EB8-145F-44FE-83DE-591A653E7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117474"/>
            <a:ext cx="8226426" cy="634087"/>
          </a:xfrm>
        </p:spPr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الگوریتم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ترتیب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Join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9EF63D08-E132-4508-BDD9-45B4691EBB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2" y="1020567"/>
            <a:ext cx="7632835" cy="4876800"/>
          </a:xfrm>
          <a:prstGeom prst="rect">
            <a:avLst/>
          </a:prstGeo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b="1" dirty="0">
                <a:sym typeface="Symbol" panose="05050102010706020507" pitchFamily="18" charset="2"/>
              </a:rPr>
              <a:t>for each </a:t>
            </a:r>
            <a:r>
              <a:rPr lang="en-IN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algorithm A for joining results </a:t>
            </a:r>
            <a:r>
              <a:rPr lang="en-US" altLang="en-US" dirty="0">
                <a:sym typeface="Symbol" panose="05050102010706020507" pitchFamily="18" charset="2"/>
              </a:rPr>
              <a:t>of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1 and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2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// For indexed-nested loops join, the outer could be </a:t>
            </a:r>
            <a:r>
              <a:rPr lang="en-US" altLang="en-US" i="1" dirty="0">
                <a:sym typeface="Symbol" panose="05050102010706020507" pitchFamily="18" charset="2"/>
              </a:rPr>
              <a:t>P1</a:t>
            </a:r>
            <a:r>
              <a:rPr lang="en-US" altLang="en-US" dirty="0">
                <a:sym typeface="Symbol" panose="05050102010706020507" pitchFamily="18" charset="2"/>
              </a:rPr>
              <a:t> or </a:t>
            </a:r>
            <a:r>
              <a:rPr lang="en-US" altLang="en-US" i="1" dirty="0">
                <a:sym typeface="Symbol" panose="05050102010706020507" pitchFamily="18" charset="2"/>
              </a:rPr>
              <a:t>P2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// Similarly for hash-join, the build relation could be</a:t>
            </a:r>
            <a:r>
              <a:rPr lang="en-US" altLang="en-US" i="1" dirty="0">
                <a:sym typeface="Symbol" panose="05050102010706020507" pitchFamily="18" charset="2"/>
              </a:rPr>
              <a:t> P1 </a:t>
            </a:r>
            <a:r>
              <a:rPr lang="en-US" altLang="en-US" dirty="0">
                <a:sym typeface="Symbol" panose="05050102010706020507" pitchFamily="18" charset="2"/>
              </a:rPr>
              <a:t>or</a:t>
            </a:r>
            <a:r>
              <a:rPr lang="en-US" altLang="en-US" i="1" dirty="0">
                <a:sym typeface="Symbol" panose="05050102010706020507" pitchFamily="18" charset="2"/>
              </a:rPr>
              <a:t> P2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//</a:t>
            </a:r>
            <a:r>
              <a:rPr lang="en-US" altLang="en-US" i="1" dirty="0">
                <a:sym typeface="Symbol" panose="05050102010706020507" pitchFamily="18" charset="2"/>
              </a:rPr>
              <a:t>  </a:t>
            </a:r>
            <a:r>
              <a:rPr lang="en-US" altLang="en-US" dirty="0">
                <a:sym typeface="Symbol" panose="05050102010706020507" pitchFamily="18" charset="2"/>
              </a:rPr>
              <a:t>We assume the alternatives are considered as separate algorithms</a:t>
            </a:r>
            <a:r>
              <a:rPr lang="en-US" altLang="en-US" i="1" dirty="0">
                <a:sym typeface="Symbol" panose="05050102010706020507" pitchFamily="18" charset="2"/>
              </a:rPr>
              <a:t>     </a:t>
            </a:r>
            <a:r>
              <a:rPr lang="en-US" altLang="en-US" b="1" i="1" dirty="0">
                <a:sym typeface="Symbol" panose="05050102010706020507" pitchFamily="18" charset="2"/>
              </a:rPr>
              <a:t>      </a:t>
            </a:r>
          </a:p>
          <a:p>
            <a:pPr>
              <a:buFont typeface="Monotype Sorts" pitchFamily="-65" charset="2"/>
              <a:buNone/>
            </a:pPr>
            <a:r>
              <a:rPr lang="en-US" altLang="en-US" b="1" i="1" dirty="0">
                <a:sym typeface="Symbol" panose="05050102010706020507" pitchFamily="18" charset="2"/>
              </a:rPr>
              <a:t>      </a:t>
            </a:r>
            <a:r>
              <a:rPr lang="en-US" altLang="en-US" b="1" dirty="0">
                <a:sym typeface="Symbol" panose="05050102010706020507" pitchFamily="18" charset="2"/>
              </a:rPr>
              <a:t>if </a:t>
            </a:r>
            <a:r>
              <a:rPr lang="en-US" altLang="en-US" dirty="0">
                <a:sym typeface="Symbol" panose="05050102010706020507" pitchFamily="18" charset="2"/>
              </a:rPr>
              <a:t>algorithm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is indexed nested loops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Let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o</a:t>
            </a:r>
            <a:r>
              <a:rPr lang="en-US" altLang="en-US" dirty="0">
                <a:sym typeface="Symbol" panose="05050102010706020507" pitchFamily="18" charset="2"/>
              </a:rPr>
              <a:t> denote inner and outer inputs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</a:t>
            </a:r>
            <a:r>
              <a:rPr lang="en-US" altLang="en-US" b="1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has a single relation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has an index on the join attribute</a:t>
            </a:r>
          </a:p>
          <a:p>
            <a:pPr>
              <a:buFont typeface="Monotype Sorts" pitchFamily="-65" charset="2"/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           plan = “</a:t>
            </a:r>
            <a:r>
              <a:rPr lang="en-US" altLang="en-US" dirty="0">
                <a:sym typeface="Symbol" panose="05050102010706020507" pitchFamily="18" charset="2"/>
              </a:rPr>
              <a:t>execute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o</a:t>
            </a:r>
            <a:r>
              <a:rPr lang="en-US" altLang="en-US" i="1" dirty="0" err="1">
                <a:sym typeface="Symbol" panose="05050102010706020507" pitchFamily="18" charset="2"/>
              </a:rPr>
              <a:t>.plan</a:t>
            </a:r>
            <a:r>
              <a:rPr lang="en-US" altLang="en-US" dirty="0">
                <a:sym typeface="Symbol" panose="05050102010706020507" pitchFamily="18" charset="2"/>
              </a:rPr>
              <a:t>; join results of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o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using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”,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with any selection conditions on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performed as part of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the join condition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cost =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o</a:t>
            </a:r>
            <a:r>
              <a:rPr lang="en-US" altLang="en-US" i="1" dirty="0" err="1">
                <a:sym typeface="Symbol" panose="05050102010706020507" pitchFamily="18" charset="2"/>
              </a:rPr>
              <a:t>.cost</a:t>
            </a:r>
            <a:r>
              <a:rPr lang="en-US" altLang="en-US" dirty="0">
                <a:sym typeface="Symbol" panose="05050102010706020507" pitchFamily="18" charset="2"/>
              </a:rPr>
              <a:t> + cost of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</a:t>
            </a:r>
            <a:r>
              <a:rPr lang="en-US" altLang="en-US" b="1" dirty="0">
                <a:sym typeface="Symbol" panose="05050102010706020507" pitchFamily="18" charset="2"/>
              </a:rPr>
              <a:t>else</a:t>
            </a:r>
            <a:r>
              <a:rPr lang="en-US" altLang="en-US" b="1" i="1" dirty="0">
                <a:sym typeface="Symbol" panose="05050102010706020507" pitchFamily="18" charset="2"/>
              </a:rPr>
              <a:t>  </a:t>
            </a:r>
            <a:r>
              <a:rPr lang="en-US" altLang="en-US" i="1" dirty="0">
                <a:sym typeface="Symbol" panose="05050102010706020507" pitchFamily="18" charset="2"/>
              </a:rPr>
              <a:t>cost = </a:t>
            </a:r>
            <a:r>
              <a:rPr lang="en-US" altLang="en-US" dirty="0">
                <a:sym typeface="Symbol" panose="05050102010706020507" pitchFamily="18" charset="2"/>
              </a:rPr>
              <a:t>; /* cannot use indexed nested loops join */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else 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b="1" dirty="0">
                <a:sym typeface="Symbol" panose="05050102010706020507" pitchFamily="18" charset="2"/>
              </a:rPr>
              <a:t>      </a:t>
            </a:r>
            <a:r>
              <a:rPr lang="en-US" altLang="en-US" dirty="0">
                <a:sym typeface="Symbol" panose="05050102010706020507" pitchFamily="18" charset="2"/>
              </a:rPr>
              <a:t>plan = “execute </a:t>
            </a:r>
            <a:r>
              <a:rPr lang="en-US" altLang="en-US" i="1" dirty="0">
                <a:sym typeface="Symbol" panose="05050102010706020507" pitchFamily="18" charset="2"/>
              </a:rPr>
              <a:t>P1.plan</a:t>
            </a:r>
            <a:r>
              <a:rPr lang="en-US" altLang="en-US" dirty="0">
                <a:sym typeface="Symbol" panose="05050102010706020507" pitchFamily="18" charset="2"/>
              </a:rPr>
              <a:t>; execute </a:t>
            </a:r>
            <a:r>
              <a:rPr lang="en-US" altLang="en-US" i="1" dirty="0">
                <a:sym typeface="Symbol" panose="05050102010706020507" pitchFamily="18" charset="2"/>
              </a:rPr>
              <a:t>P2.plan</a:t>
            </a:r>
            <a:r>
              <a:rPr lang="en-US" altLang="en-US" dirty="0">
                <a:sym typeface="Symbol" panose="05050102010706020507" pitchFamily="18" charset="2"/>
              </a:rPr>
              <a:t>;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                     join results of </a:t>
            </a:r>
            <a:r>
              <a:rPr lang="en-US" altLang="en-US" i="1" dirty="0">
                <a:sym typeface="Symbol" panose="05050102010706020507" pitchFamily="18" charset="2"/>
              </a:rPr>
              <a:t>P1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P2</a:t>
            </a:r>
            <a:r>
              <a:rPr lang="en-US" altLang="en-US" dirty="0">
                <a:sym typeface="Symbol" panose="05050102010706020507" pitchFamily="18" charset="2"/>
              </a:rPr>
              <a:t> using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;”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cost = </a:t>
            </a:r>
            <a:r>
              <a:rPr lang="en-US" altLang="en-US" i="1" dirty="0">
                <a:sym typeface="Symbol" panose="05050102010706020507" pitchFamily="18" charset="2"/>
              </a:rPr>
              <a:t>P1.cost</a:t>
            </a:r>
            <a:r>
              <a:rPr lang="en-US" altLang="en-US" dirty="0">
                <a:sym typeface="Symbol" panose="05050102010706020507" pitchFamily="18" charset="2"/>
              </a:rPr>
              <a:t> + </a:t>
            </a:r>
            <a:r>
              <a:rPr lang="en-US" altLang="en-US" i="1" dirty="0">
                <a:sym typeface="Symbol" panose="05050102010706020507" pitchFamily="18" charset="2"/>
              </a:rPr>
              <a:t>P2.cost</a:t>
            </a:r>
            <a:r>
              <a:rPr lang="en-US" altLang="en-US" dirty="0">
                <a:sym typeface="Symbol" panose="05050102010706020507" pitchFamily="18" charset="2"/>
              </a:rPr>
              <a:t> + cost of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</a:p>
          <a:p>
            <a:pPr>
              <a:buFont typeface="Monotype Sorts" pitchFamily="-65" charset="2"/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…. See previous page</a:t>
            </a:r>
          </a:p>
        </p:txBody>
      </p:sp>
    </p:spTree>
    <p:extLst>
      <p:ext uri="{BB962C8B-B14F-4D97-AF65-F5344CB8AC3E}">
        <p14:creationId xmlns:p14="http://schemas.microsoft.com/office/powerpoint/2010/main" val="494879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>
            <a:extLst>
              <a:ext uri="{FF2B5EF4-FFF2-40B4-BE49-F238E27FC236}">
                <a16:creationId xmlns:a16="http://schemas.microsoft.com/office/drawing/2014/main" id="{787CC2D0-0C7D-42A9-AF22-7CDDC87AC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درخت‌های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با عمق چپ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1EB365F-100D-4A52-810C-9B26E5642F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963168"/>
            <a:ext cx="7824056" cy="1792732"/>
          </a:xfrm>
          <a:prstGeom prst="rect">
            <a:avLst/>
          </a:prstGeo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درخت‌های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عمق چپ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Left-Deep Join Trees)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ورودی سمت راست هر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رابطه مستقل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 و نه نتیجه یک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میانی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56324" name="Picture 6">
            <a:extLst>
              <a:ext uri="{FF2B5EF4-FFF2-40B4-BE49-F238E27FC236}">
                <a16:creationId xmlns:a16="http://schemas.microsoft.com/office/drawing/2014/main" id="{3896FDEC-5956-484B-BEFE-47EA3B835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2160588"/>
            <a:ext cx="6805613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8465E70E-8B69-46D1-8581-70D77D4AC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هزینه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71" name="Rectangle 3">
                <a:extLst>
                  <a:ext uri="{FF2B5EF4-FFF2-40B4-BE49-F238E27FC236}">
                    <a16:creationId xmlns:a16="http://schemas.microsoft.com/office/drawing/2014/main" id="{F745172A-CB6D-4146-B75D-9049D184543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8224" y="745014"/>
                <a:ext cx="8729472" cy="5367972"/>
              </a:xfrm>
            </p:spPr>
            <p:txBody>
              <a:bodyPr/>
              <a:lstStyle/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برنامه‌ریزی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پویا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پیچیدگی زمانی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بهینه‌سازی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درخت‌های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Bushy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برابر است با:</a:t>
                </a:r>
              </a:p>
              <a:p>
                <a:pPr algn="r" rtl="1"/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مثال: اگر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این عدد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59,000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است، نه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176 میلیارد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!</a:t>
                </a: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پیچیدگی فضایی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برابر است با: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یافتن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بهترین درخت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عمق چپ (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Left-Deep Join Tree)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مجموعه‌ای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رابطه:</a:t>
                </a:r>
              </a:p>
              <a:p>
                <a:pPr algn="r" rtl="1"/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جایگزین را در نظر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می‌گیریم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به طوری که یک رابطه به عنوان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ورودی سمت راست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بقیه روابط به عنوان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ورودی سمت چپ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باشند.</a:t>
                </a: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تغییر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الگوریتم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بهینه‌سازی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lvl="1"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جای «برای هر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غیرخالی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از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که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≠</m:t>
                    </m:r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باشد»،</a:t>
                </a:r>
              </a:p>
              <a:p>
                <a:pPr lvl="1"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استفاده کنید از: «برای هر رابطه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بگذارید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1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fa-IR" sz="1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fa-IR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».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فقط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درخت‌های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Left-Deep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نظر گرفته شوند:</a:t>
                </a:r>
              </a:p>
              <a:p>
                <a:pPr lvl="1"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پیچیدگی زمانی پیدا کردن بهترین ترتیب 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برابر است با: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a-IR" sz="180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lvl="1"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پیچیدگی فضایی همچنان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باقی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می‌ماند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جمع‌بندی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بهینه‌سازی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مبتنی بر هزینه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گران است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اما برای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روی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داده‌های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بزرگ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ارزشمند است.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معمولاً تعداد روابط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کوئری‌های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واقعی کوچک است (عموماً &lt; 10).</a:t>
                </a:r>
              </a:p>
              <a:p>
                <a:pPr algn="r" rtl="1">
                  <a:lnSpc>
                    <a:spcPct val="90000"/>
                  </a:lnSpc>
                </a:pPr>
                <a:endParaRPr lang="en-US" alt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58371" name="Rectangle 3">
                <a:extLst>
                  <a:ext uri="{FF2B5EF4-FFF2-40B4-BE49-F238E27FC236}">
                    <a16:creationId xmlns:a16="http://schemas.microsoft.com/office/drawing/2014/main" id="{F745172A-CB6D-4146-B75D-9049D18454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8224" y="745014"/>
                <a:ext cx="8729472" cy="5367972"/>
              </a:xfrm>
              <a:blipFill>
                <a:blip r:embed="rId3"/>
                <a:stretch>
                  <a:fillRect t="-1022" r="-628" b="-1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>
            <a:extLst>
              <a:ext uri="{FF2B5EF4-FFF2-40B4-BE49-F238E27FC236}">
                <a16:creationId xmlns:a16="http://schemas.microsoft.com/office/drawing/2014/main" id="{18EDC6BD-A90C-4ACB-BC65-90CEA4E90B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sz="3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ترتیب‌های</a:t>
            </a:r>
            <a:r>
              <a:rPr lang="fa-IR" sz="3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sz="3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مرتب‌سازی</a:t>
            </a:r>
            <a:r>
              <a:rPr lang="fa-IR" sz="3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جالب</a:t>
            </a:r>
            <a:endParaRPr lang="en-US" altLang="en-US" sz="3000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419" name="Rectangle 3">
                <a:extLst>
                  <a:ext uri="{FF2B5EF4-FFF2-40B4-BE49-F238E27FC236}">
                    <a16:creationId xmlns:a16="http://schemas.microsoft.com/office/drawing/2014/main" id="{87527546-FD20-4BC7-BA53-B7AA465F641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68350" y="745014"/>
                <a:ext cx="7796464" cy="5367972"/>
              </a:xfrm>
            </p:spPr>
            <p:txBody>
              <a:bodyPr/>
              <a:lstStyle/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نظر بگیرید عبارت: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a-I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⋈</m:t>
                        </m:r>
                        <m:r>
                          <m:rPr>
                            <m:nor/>
                          </m:rPr>
                          <a:rPr lang="fa-IR" sz="20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  </m:t>
                        </m:r>
                        <m:r>
                          <a:rPr lang="fa-IR" sz="20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2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(با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عنوان صفت مشترک)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ترتیب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مرتب‌سازی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جالب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interesting sort order)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ترتیب خاصی از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است که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عملیات بعدی مانند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/ Group By / Order By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ارزان‌تر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کند.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استفاده از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Merge-Join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محاسبه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0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ممکن است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گران‌تر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Hash-Join</a:t>
                </a:r>
                <a:r>
                  <a:rPr lang="en-US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باشد، اما خروجی را بر اساس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مرتب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می‌کند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مرتب‌سازی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Merge-Join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ارزان‌تر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کند و در نتیجه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هزینه کلی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</a:t>
                </a:r>
                <a14:m>
                  <m:oMath xmlns:m="http://schemas.openxmlformats.org/officeDocument/2006/math">
                    <m:r>
                      <a:rPr lang="fa-IR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00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کاهش یابد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هزینه کل را به حداقل برساند.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نکته مهم: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کافی نیست که فقط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بهترین ترتیب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هر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رابطه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داده‌شده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پیدا شود.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باید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بهترین ترتیب </a:t>
                </a:r>
                <a:r>
                  <a:rPr lang="en-US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هر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زیرمجموعه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برای هر ترتیب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مرتب‌سازی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جالب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پیدا شود.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روش،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توسعه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ساده‌ای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از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الگوریتم‌های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برنامه‌ریزی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پویا قبلی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است.</a:t>
                </a:r>
              </a:p>
              <a:p>
                <a:pPr algn="r" rtl="1"/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معمولاً تعداد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ترتیب‌های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0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مرتب‌سازی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جالب کم است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و تأثیر قابل توجهی بر </a:t>
                </a:r>
                <a:r>
                  <a:rPr lang="fa-IR" sz="20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پیچیدگی زمان/فضا</a:t>
                </a:r>
                <a:r>
                  <a:rPr lang="fa-IR" sz="2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ندارد.</a:t>
                </a:r>
              </a:p>
              <a:p>
                <a:pPr algn="r" rtl="1"/>
                <a:endParaRPr lang="en-US" altLang="en-US" sz="20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</p:txBody>
          </p:sp>
        </mc:Choice>
        <mc:Fallback>
          <p:sp>
            <p:nvSpPr>
              <p:cNvPr id="60419" name="Rectangle 3">
                <a:extLst>
                  <a:ext uri="{FF2B5EF4-FFF2-40B4-BE49-F238E27FC236}">
                    <a16:creationId xmlns:a16="http://schemas.microsoft.com/office/drawing/2014/main" id="{87527546-FD20-4BC7-BA53-B7AA465F64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8350" y="745014"/>
                <a:ext cx="7796464" cy="5367972"/>
              </a:xfrm>
              <a:blipFill>
                <a:blip r:embed="rId3"/>
                <a:stretch>
                  <a:fillRect l="-704" t="-1362" r="-938" b="-4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6C33A86-0E87-40A0-BB64-63FE7EDCD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2986" y="117474"/>
            <a:ext cx="8500910" cy="6841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مبتنی بر هزینه با استفاده از قوانین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هم‌ارزی</a:t>
            </a:r>
            <a:endParaRPr lang="en-US" altLang="en-US" sz="2800" dirty="0">
              <a:effectLst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7F3FC48-150E-4702-BC63-9E104CADB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1486" y="1073622"/>
            <a:ext cx="7800243" cy="5367972"/>
          </a:xfrm>
        </p:spPr>
        <p:txBody>
          <a:bodyPr/>
          <a:lstStyle/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قوانین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فیزیکی (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Physical Equivalence Rules)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اجازه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منطقی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فیزیکی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تبدیل شود و مشخص کند که برای هر عملیات از 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شود.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کارآمد مبتنی بر قوانین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هم‌ارزی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موارد زیر وابسته است: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نمایش فضای کارآمد 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از ساخت چندین نسخه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جلوگیری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روش‌های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کارآمد برای شناسایی تولیدات تکراری 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نوع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برنامه‌ریزی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پویا مبتنی بر </a:t>
            </a:r>
            <a:r>
              <a:rPr lang="en-US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Memoization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بهترین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یک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بار محاسبه و ذخیره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فراخوانی‌های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بعدی همان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دوباره استفاده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تکنیک‌های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حذف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مبتنی بر هزینه (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Cost-Based Pruning)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از تولید همه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جلوگیری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روش توسط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پروژه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Volcano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معرفی شد و در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Server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پیاده‌سازی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 است.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>
            <a:extLst>
              <a:ext uri="{FF2B5EF4-FFF2-40B4-BE49-F238E27FC236}">
                <a16:creationId xmlns:a16="http://schemas.microsoft.com/office/drawing/2014/main" id="{82ED439D-5E84-4683-953D-387E702F7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هیوریستیک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3FE8240-83B1-4C08-8204-3A38A6B7C4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5267" y="1073622"/>
            <a:ext cx="8210283" cy="5367972"/>
          </a:xfrm>
        </p:spPr>
        <p:txBody>
          <a:bodyPr/>
          <a:lstStyle/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مبتنی بر هزینه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حتی با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برنامه‌ریزی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پویا نیز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گران است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از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کاهش تعداد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گزینه‌هایی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باید به صورت مبتنی بر هزینه بررسی شوند، استفاده کنند.</a:t>
            </a:r>
          </a:p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استفاده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قوانین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درخت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تبدیل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معمولاً (اما نه همیشه) باعث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بهبود عملکرد اجرا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اجرای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زودهنگام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(تعداد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کاهش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می‌یابد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).</a:t>
            </a:r>
          </a:p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اجرای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پروژه‌ها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زودهنگام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(تعداد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صفت‌ها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کاهش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می‌یابد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).</a:t>
            </a:r>
          </a:p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اجرای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محدودکننده‌تر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(یعنی با اندازه نتیجه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کوچک‌تر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قبل از سایر عملیات مشابه.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فقط از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و برخی دیگر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با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جزئی مبتنی بر هزینه ترکیب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marL="0" indent="0" algn="r" rtl="1">
              <a:buNone/>
            </a:pPr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>
            <a:extLst>
              <a:ext uri="{FF2B5EF4-FFF2-40B4-BE49-F238E27FC236}">
                <a16:creationId xmlns:a16="http://schemas.microsoft.com/office/drawing/2014/main" id="{1160E76A-7C72-4325-B3D5-146F069D4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ساختار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کوئری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666527D1-471A-42D8-BD11-CBBE0266AB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6992" y="841974"/>
            <a:ext cx="8528557" cy="5367972"/>
          </a:xfr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بسیاری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فقط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ترتیب‌های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عمق چپ (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Left-Deep Join Orders)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در نظر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علاوه بر آن،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هیوریستیک‌هایی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اعمال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پروژه‌ها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پایین درخت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کار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می‌رود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کار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پیچیدگی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کاهش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پلن‌هایی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تولید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امکان ارزیابی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پایپلاین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 (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Pipelined Evaluation)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فراهم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برخی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نسخه‌های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:Oracle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صورت مکرر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“بهترین” رابطه برای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بعدی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انتخاب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کار از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یک از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نقطه شروع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انجام شده و بهترین گزینه بین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آن‌ها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انتخاب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جزئیات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پیچیدگی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اضافه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مانند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(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Nested Subqueries)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>
            <a:extLst>
              <a:ext uri="{FF2B5EF4-FFF2-40B4-BE49-F238E27FC236}">
                <a16:creationId xmlns:a16="http://schemas.microsoft.com/office/drawing/2014/main" id="{70984037-126D-4816-9FDF-2766D9086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ساختار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بهینه‌سازهای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A973CE15-B33B-4C04-AFE3-28A348190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642" y="943276"/>
            <a:ext cx="8219908" cy="5527193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تولید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دسترسی جایگزین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با هم ادغام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روش رایج: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بازنویسی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ساختار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بلوک‌های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و عملیات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سپس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ترتیب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مبتنی بر هزینه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هر بلوک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(مثل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Server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تبدیل‌ها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روی کل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اعمال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به ساختار بلوک وابسته نیستند.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بودجه هزینه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Optimization Cost Budget)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توقف زودهنگام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اگر هزینه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کمتر از هزینه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باشد.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ذخیره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پلن‌ها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Plan Caching)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استفاده مجدد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پلن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قبلی حتی اگر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مقادیر ثابت متفاوت دوباره ارسال شود.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حتی با استفاده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مبتنی بر هزینه بار قابل توجهی دارد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اما برای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پرهزینه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ارزشمند است.</a:t>
            </a: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معمولاً برای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بسیار ارزان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هیوریستیک‌های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ساده استفاده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برای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پرهزینه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شمارش کامل (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Exhaustive Enumeration)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انجام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7952" y="2770453"/>
            <a:ext cx="8697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b="1" dirty="0">
                <a:cs typeface="B Nazanin" panose="00000400000000000000" pitchFamily="2" charset="-78"/>
              </a:rPr>
              <a:t>آمار برای تخمین هزینه </a:t>
            </a:r>
            <a:r>
              <a:rPr lang="en-US" sz="2800" b="1" dirty="0">
                <a:cs typeface="B Nazanin" panose="00000400000000000000" pitchFamily="2" charset="-78"/>
              </a:rPr>
              <a:t>Statistics for Cost Estimation)</a:t>
            </a:r>
            <a:r>
              <a:rPr lang="fa-IR" sz="2800" b="1" dirty="0">
                <a:cs typeface="B Nazanin" panose="00000400000000000000" pitchFamily="2" charset="-78"/>
              </a:rPr>
              <a:t>)</a:t>
            </a:r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60261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C30E0B-C517-6886-A7AA-FBB95D81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اطلاعات آماری برای تخمین هزینه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B225-F393-F4ED-5668-F52AFF10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:nr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تعداد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رکوردها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در رابطه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r.</a:t>
            </a:r>
            <a:b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:</a:t>
            </a:r>
            <a:r>
              <a:rPr lang="en-US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br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تعداد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بلاک‌هایی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که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رکوردهای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را در بر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می‌گیرند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.</a:t>
            </a:r>
            <a:b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:</a:t>
            </a:r>
            <a:r>
              <a:rPr lang="en-US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lr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اندازه یک رکورد از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r.</a:t>
            </a:r>
            <a:b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:</a:t>
            </a:r>
            <a:r>
              <a:rPr lang="en-US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fr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ضریب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بلوک‌بندی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r،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یعنی تعداد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رکوردهای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که در یک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بلاک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جا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.</a:t>
            </a:r>
            <a:b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:V(A, r)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تعداد مقادیر متمایز ویژگی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A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در رابطه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r؛ 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برابر با اندازه </a:t>
            </a:r>
            <a:r>
              <a:rPr lang="en-US" altLang="en-US" sz="2400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sz="2400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cs typeface="B Nazanin" panose="00000400000000000000" pitchFamily="2" charset="-78"/>
                <a:sym typeface="Symbol" panose="05050102010706020507" pitchFamily="18" charset="2"/>
              </a:rPr>
              <a:t>)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اگر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رکوردهای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r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به‌صورت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فیزیکی و </a:t>
            </a:r>
            <a:r>
              <a:rPr lang="fa-IR" sz="2400" dirty="0" err="1">
                <a:latin typeface="Bahnschrift SemiBold" panose="020B0502040204020203" pitchFamily="34" charset="0"/>
                <a:cs typeface="B Nazanin" panose="00000400000000000000" pitchFamily="2" charset="-78"/>
              </a:rPr>
              <a:t>پشت‌سرهم</a:t>
            </a:r>
            <a:r>
              <a:rPr lang="fa-IR" sz="2400" dirty="0">
                <a:latin typeface="Bahnschrift SemiBold" panose="020B0502040204020203" pitchFamily="34" charset="0"/>
                <a:cs typeface="B Nazanin" panose="00000400000000000000" pitchFamily="2" charset="-78"/>
              </a:rPr>
              <a:t> در یک فایل ذخیره شده باشند، آنگاه:</a:t>
            </a:r>
          </a:p>
          <a:p>
            <a:pPr algn="r" rtl="1"/>
            <a:endParaRPr lang="en-US" sz="2400" dirty="0">
              <a:latin typeface="Bahnschrift SemiBold" panose="020B0502040204020203" pitchFamily="34" charset="0"/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C55E0-D74B-2841-D45D-A49783ED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420" y="4633763"/>
            <a:ext cx="899160" cy="6705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31A3E-0EDB-5C8E-3831-BA49FE4B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هیستوگرام‌ها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BE7CB-05B6-B75F-8329-2B42F4491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813" y="952771"/>
            <a:ext cx="7772400" cy="5367972"/>
          </a:xfrm>
        </p:spPr>
        <p:txBody>
          <a:bodyPr/>
          <a:lstStyle/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ویژگی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age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رابطه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person</a:t>
            </a:r>
            <a:endParaRPr lang="fa-IR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fa-IR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fa-IR" sz="2400" b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fa-IR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:Equi-width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بازه‌ها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طول مساوی تقسیم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:Equi-depth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بازه‌ها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طوری تقسیم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هر بازه تقریباً همان تعداد رکورد را داشته باشد.</a:t>
            </a:r>
          </a:p>
          <a:p>
            <a:pPr lvl="1"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(4, 8, 14, 19)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بسیاری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داده همچنین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مقدار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پرتکرار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تعداد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آن‌ها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ذخیره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مقادیر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باقی‌مانده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ساخته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DC917-0056-3332-BF7B-5E607D5C4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8" y="753099"/>
            <a:ext cx="4090771" cy="288365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0F08-A4D6-4755-A428-3ABB81B5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هیستوگرام‌ها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(Histograms)</a:t>
            </a:r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BEAC6-9925-40BC-B05B-1DDF59AB9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1648" y="1041537"/>
            <a:ext cx="9265920" cy="5367972"/>
          </a:xfrm>
        </p:spPr>
        <p:txBody>
          <a:bodyPr/>
          <a:lstStyle/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سایر آمارها معمولاً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 اساس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نمونه‌ای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تصادفی (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Random Sample)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آمار ممکن است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قدیمی یا منسوخ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شوند.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داده نیاز دارند که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دستور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analyze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اجرا شود تا آمار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شود.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دیگر به صورت خودکار آمار را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دوباره محاسبه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</a:t>
            </a:r>
          </a:p>
          <a:p>
            <a:pPr lvl="1"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مثلاً وقتی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یک رابطه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میزان مشخصی تغییر کند.</a:t>
            </a:r>
          </a:p>
          <a:p>
            <a:pPr algn="r" rtl="1"/>
            <a:endParaRPr lang="en-IN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7861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C7D77E-8C77-3629-C469-B066B103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برآورد اندازه انتخاب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(Selection Size Estimation)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25940-ECE3-0758-53E8-A005B339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A=v(r)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nr / V(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شرط انتخاب را برآورده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شرط بر روی ویژگی کلیدی باشد، برآورد اندازه = 1</a:t>
            </a:r>
          </a:p>
          <a:p>
            <a:pPr algn="r" rtl="1"/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≤ v(r) (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حالت </a:t>
            </a:r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≥ v(r)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متقارن است)</a:t>
            </a: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برآورد شده که شرط را برآورده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باشد.</a:t>
            </a: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min(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max(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کاتالوگ موجود باشند:</a:t>
            </a:r>
          </a:p>
          <a:p>
            <a:pPr lvl="1"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 = 0 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&lt; min(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</a:t>
            </a:r>
          </a:p>
          <a:p>
            <a:pPr lvl="1"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=c</a:t>
            </a:r>
          </a:p>
          <a:p>
            <a:pPr lvl="1" algn="r" rtl="1"/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موجود باشد،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برآورد را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دقیق‌تر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کرد.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غیاب اطلاعات آماری، فرض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 = nr / 2</a:t>
            </a:r>
          </a:p>
          <a:p>
            <a:pPr algn="r" rtl="1"/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8A039-C020-6C86-1ED6-6E663CCF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22" y="3485493"/>
            <a:ext cx="2171700" cy="6019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>
            <a:extLst>
              <a:ext uri="{FF2B5EF4-FFF2-40B4-BE49-F238E27FC236}">
                <a16:creationId xmlns:a16="http://schemas.microsoft.com/office/drawing/2014/main" id="{25B34E41-68A0-4111-B5A3-5964468F8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انتخاب‌های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پیچیده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827" name="Rectangle 3">
                <a:extLst>
                  <a:ext uri="{FF2B5EF4-FFF2-40B4-BE49-F238E27FC236}">
                    <a16:creationId xmlns:a16="http://schemas.microsoft.com/office/drawing/2014/main" id="{2F37CA3D-1CFA-4DD3-8583-A2203BB9D12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957136" y="745014"/>
                <a:ext cx="7719461" cy="5367972"/>
              </a:xfrm>
            </p:spPr>
            <p:txBody>
              <a:bodyPr/>
              <a:lstStyle/>
              <a:p>
                <a:pPr algn="r" rtl="1"/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انتخاب‌پذیری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(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Selectivity)</a:t>
                </a:r>
                <a:r>
                  <a:rPr lang="en-US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شرط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برابر است با 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احتمال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این‌که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یک رکورد در رابطه </a:t>
                </a:r>
                <a14:m>
                  <m:oMath xmlns:m="http://schemas.openxmlformats.org/officeDocument/2006/math">
                    <m:r>
                      <a:rPr lang="fa-IR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شرط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را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ارضا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کند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تعداد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باشد که شرط را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ارضا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می‌کنند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انتخاب‌پذیری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صورت زیر است:</a:t>
                </a:r>
              </a:p>
              <a:p>
                <a:pPr algn="r" rt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selectivity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a-IR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برای ترکیب </a:t>
                </a:r>
                <a:r>
                  <a:rPr lang="fa-IR" sz="18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شرط‌ها</a:t>
                </a:r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ترکیب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AND (Conjunction):</a:t>
                </a:r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a-IR" sz="180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a-IR" sz="1800">
                            <a:latin typeface="Cambria Math" panose="02040503050406030204" pitchFamily="18" charset="0"/>
                          </a:rPr>
                          <m:t>∧⋯∧</m:t>
                        </m:r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 فرض استقلال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شرط‌ها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تعداد تقریبی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نتیجه:</a:t>
                </a:r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ترکیب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OR (Disjunction):</a:t>
                </a:r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a-IR" sz="180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a-IR" sz="1800">
                            <a:latin typeface="Cambria Math" panose="02040503050406030204" pitchFamily="18" charset="0"/>
                          </a:rPr>
                          <m:t>∨⋯∨</m:t>
                        </m:r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تعداد تقریبی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نتیجه با روش جمع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احتمال‌ها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(و اصلاح برای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تداخل‌ها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 تخمین زده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نفی </a:t>
                </a:r>
                <a:r>
                  <a:rPr lang="en-US" sz="18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(Negation)</a:t>
                </a:r>
                <a:endParaRPr lang="en-US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a-IR" sz="180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fa-IR" sz="18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/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تعداد تقریبی </a:t>
                </a:r>
                <a:r>
                  <a:rPr lang="fa-IR" sz="18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18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نتیجه: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a-IR" sz="18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a-IR" sz="180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18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size</m:t>
                    </m:r>
                    <m:d>
                      <m:dPr>
                        <m:ctrlPr>
                          <a:rPr lang="fa-I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fa-IR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a-IR" sz="1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</m:oMath>
                </a14:m>
                <a:endParaRPr lang="fa-IR" sz="1800" b="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 algn="r" rtl="1">
                  <a:tabLst>
                    <a:tab pos="2338388" algn="l"/>
                  </a:tabLst>
                </a:pPr>
                <a:endParaRPr lang="en-US" altLang="en-US" sz="1800" i="1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77827" name="Rectangle 3">
                <a:extLst>
                  <a:ext uri="{FF2B5EF4-FFF2-40B4-BE49-F238E27FC236}">
                    <a16:creationId xmlns:a16="http://schemas.microsoft.com/office/drawing/2014/main" id="{2F37CA3D-1CFA-4DD3-8583-A2203BB9D1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7136" y="745014"/>
                <a:ext cx="7719461" cy="5367972"/>
              </a:xfrm>
              <a:blipFill>
                <a:blip r:embed="rId3"/>
                <a:stretch>
                  <a:fillRect t="-1022" r="-790" b="-8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828" name="Object 2">
            <a:extLst>
              <a:ext uri="{FF2B5EF4-FFF2-40B4-BE49-F238E27FC236}">
                <a16:creationId xmlns:a16="http://schemas.microsoft.com/office/drawing/2014/main" id="{63B73BDC-F3BD-4665-84D2-AF3E2262D8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307162"/>
              </p:ext>
            </p:extLst>
          </p:nvPr>
        </p:nvGraphicFramePr>
        <p:xfrm>
          <a:off x="1505776" y="3331962"/>
          <a:ext cx="22860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700" imgH="431800" progId="Equation.3">
                  <p:embed/>
                </p:oleObj>
              </mc:Choice>
              <mc:Fallback>
                <p:oleObj name="Equation" r:id="rId4" imgW="11557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776" y="3331962"/>
                        <a:ext cx="22860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3">
            <a:extLst>
              <a:ext uri="{FF2B5EF4-FFF2-40B4-BE49-F238E27FC236}">
                <a16:creationId xmlns:a16="http://schemas.microsoft.com/office/drawing/2014/main" id="{DB4B5B34-2CC2-46E0-ADA1-80DC084DA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834768"/>
              </p:ext>
            </p:extLst>
          </p:nvPr>
        </p:nvGraphicFramePr>
        <p:xfrm>
          <a:off x="957136" y="4186037"/>
          <a:ext cx="41306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74900" imgH="482600" progId="Equation.3">
                  <p:embed/>
                </p:oleObj>
              </mc:Choice>
              <mc:Fallback>
                <p:oleObj name="Equation" r:id="rId6" imgW="2374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136" y="4186037"/>
                        <a:ext cx="413067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46D867-606C-34DC-0F04-1B52E7D9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>
                <a:latin typeface="Bahnschrift SemiBold" panose="020B0502040204020203" pitchFamily="34" charset="0"/>
              </a:rPr>
              <a:t>عملیات </a:t>
            </a:r>
            <a:r>
              <a:rPr lang="en-US" dirty="0">
                <a:latin typeface="Bahnschrift SemiBold" panose="020B0502040204020203" pitchFamily="34" charset="0"/>
              </a:rPr>
              <a:t>Join: </a:t>
            </a:r>
            <a:r>
              <a:rPr lang="fa-IR" dirty="0">
                <a:latin typeface="Bahnschrift SemiBold" panose="020B0502040204020203" pitchFamily="34" charset="0"/>
              </a:rPr>
              <a:t>مثال در حال اجرا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F3ADB-D865-6E29-1D9F-95DCBCCEC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 در حال اجرا: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student ⨝ takes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اطلاعات کاتالوگ برای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مثال‌های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join: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nstudent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5000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fstudent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50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bstudent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5000 / 50 = 100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ntakes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10000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ftakes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25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btakes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10000 / 25 = 400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V(ID, takes) = 2500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نشان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طور متوسط، هر دانشجویی که درس گرفته است، 4 درس اخذ کرده است.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ID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takes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کلید خارجی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 که به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student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اشاره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V(ID, student) = 5000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کلید اصلی)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314F7A57-1A86-4D79-8FA6-C690DD6D6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Join‌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ها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23" name="Rectangle 3">
                <a:extLst>
                  <a:ext uri="{FF2B5EF4-FFF2-40B4-BE49-F238E27FC236}">
                    <a16:creationId xmlns:a16="http://schemas.microsoft.com/office/drawing/2014/main" id="{033E0BC4-167E-4CFA-AE98-7AD901C33D22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0" y="1025430"/>
                <a:ext cx="8924638" cy="5367972"/>
              </a:xfrm>
            </p:spPr>
            <p:txBody>
              <a:bodyPr/>
              <a:lstStyle/>
              <a:p>
                <a:pPr algn="r" rtl="1"/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ضرب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کارتزینی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(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Cartesian Product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)شامل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a-IR" sz="24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 است و هر رکورد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a-IR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بایت فضا اشغال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می‌کند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.</a:t>
                </a: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∩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آنگاه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همان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است.</a:t>
                </a: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∩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کلید برای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R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باشد، هر رکورد از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حداکثر با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رکورد از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r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Join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می‌شود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، بنابراین تعداد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هیچ‌گاه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بیشتر از تعداد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نیست.</a:t>
                </a: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اگر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∩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یک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کلید خارجی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(foreign key)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باشد، تعداد </a:t>
                </a:r>
                <a:r>
                  <a:rPr lang="fa-IR" sz="24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fa-IR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fa-IR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fa-I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دقیقاً برابر با تعداد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رکوردهای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است.</a:t>
                </a:r>
              </a:p>
              <a:p>
                <a:pPr lvl="1"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حالت معکوس (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foreign key  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به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(S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متقارن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است.</a:t>
                </a:r>
              </a:p>
              <a:p>
                <a:pPr algn="r" rtl="1"/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مثال </a:t>
                </a:r>
                <a:r>
                  <a:rPr lang="fa-IR" sz="2400" b="1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student</m:t>
                    </m:r>
                    <m:r>
                      <m:rPr>
                        <m:nor/>
                      </m:rPr>
                      <a:rPr lang="en-US" sz="2400" b="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⋈</m:t>
                    </m:r>
                    <m:r>
                      <m:rPr>
                        <m:nor/>
                      </m:rPr>
                      <a:rPr lang="en-US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  </m:t>
                    </m:r>
                    <m:r>
                      <m:rPr>
                        <m:nor/>
                      </m:rPr>
                      <a:rPr lang="en-US" sz="2400" i="1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takes</m:t>
                    </m:r>
                  </m:oMath>
                </a14:m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</a:p>
              <a:p>
                <a:pPr algn="r" rtl="1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𝐼𝐷</m:t>
                    </m:r>
                  </m:oMath>
                </a14:m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در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B Nazanin" panose="00000400000000000000" pitchFamily="2" charset="-78"/>
                      </a:rPr>
                      <m:t>takes</m:t>
                    </m:r>
                  </m:oMath>
                </a14:m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کلید خارجی به </a:t>
                </a:r>
                <a:r>
                  <a:rPr lang="en-US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student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است.</a:t>
                </a:r>
              </a:p>
              <a:p>
                <a:pPr algn="r" rtl="1"/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بنابراین، نتیجه </a:t>
                </a:r>
                <a:r>
                  <a:rPr lang="en-US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 </a:t>
                </a:r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دقیقاً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a-I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takes</m:t>
                        </m:r>
                      </m:sub>
                    </m:sSub>
                    <m:r>
                      <a:rPr lang="fa-IR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10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fa-IR" sz="240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fa-IR" sz="2400" b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رکورد</a:t>
                </a:r>
                <a:r>
                  <a:rPr lang="fa-IR" sz="24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دارد.</a:t>
                </a:r>
              </a:p>
              <a:p>
                <a:pPr algn="r" rtl="1"/>
                <a:endParaRPr lang="en-US" altLang="en-US" sz="2400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81923" name="Rectangle 3">
                <a:extLst>
                  <a:ext uri="{FF2B5EF4-FFF2-40B4-BE49-F238E27FC236}">
                    <a16:creationId xmlns:a16="http://schemas.microsoft.com/office/drawing/2014/main" id="{033E0BC4-167E-4CFA-AE98-7AD901C33D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25430"/>
                <a:ext cx="8924638" cy="5367972"/>
              </a:xfrm>
              <a:blipFill>
                <a:blip r:embed="rId3"/>
                <a:stretch>
                  <a:fillRect l="-410" t="-1703" r="-1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B9F764-44B7-03B1-443D-7C65A60A8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Join‌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ها (ادامه)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8BE0D-6561-3BA6-1BE9-88A25A0C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∩ S = {A}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کلید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نباشد.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فرض کنیم هر رکورد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تولید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تعداد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صورت زیر تخمین زده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عکس این حالت برقرار باشد، تخمین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به‌دست‌آمده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زیر خواهد بود: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کمترِ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این دو تخمین احتمالاً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دقیق‌تر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صورت در دسترس بودن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این تخمین را بهبود داد.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هر سلول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هیستوگرام‌های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دو رابطه،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فرمولی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مشابه فرمول بالا استفاده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EC03D5-9991-13F0-E1DA-9F474C84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" y="1833011"/>
            <a:ext cx="731520" cy="617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6DE56F-A13E-C418-8FA8-BD6C2511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975" y="2811780"/>
            <a:ext cx="716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>
            <a:extLst>
              <a:ext uri="{FF2B5EF4-FFF2-40B4-BE49-F238E27FC236}">
                <a16:creationId xmlns:a16="http://schemas.microsoft.com/office/drawing/2014/main" id="{8F2D20B7-60A0-4B85-91B1-82F9610E7F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Join‌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ها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11DFF1FD-CE11-4E85-AD10-1BC936EE5A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09835" cy="5367972"/>
          </a:xfrm>
        </p:spPr>
        <p:txBody>
          <a:bodyPr/>
          <a:lstStyle/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نتیجهٔ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عمل پیوند بین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depositor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customer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بدون استفاده از اطلاعات مربوط به کلیدهای خارجی محاسبه کنید:</a:t>
            </a:r>
          </a:p>
          <a:p>
            <a:pPr algn="r" rtl="1"/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ID,depositor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= 2500</a:t>
            </a:r>
            <a:b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ID,customer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= 5000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دو تخمین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به‌دست‌آمده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زیر هستند: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5000 × 10000 ÷ 2500 = 20000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5000 × 10000 ÷ 5000 = 10000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 تخمین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کوچک‌تر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انتخاب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در این مثال برابر با 10000 است، و این مقدار با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محاسبه‌ای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قبلاً با استفاده از اطلاعات کلید خارجی انجام داده بودیم، یکسان است.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>
            <a:extLst>
              <a:ext uri="{FF2B5EF4-FFF2-40B4-BE49-F238E27FC236}">
                <a16:creationId xmlns:a16="http://schemas.microsoft.com/office/drawing/2014/main" id="{0EF026D3-1C62-4F9B-83DF-E48C514F7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برای سایر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عملیات‌ها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35D04BD-25AA-4350-AEBE-DCE43ACCA9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7594" y="549942"/>
            <a:ext cx="7738712" cy="5367972"/>
          </a:xfrm>
        </p:spPr>
        <p:txBody>
          <a:bodyPr/>
          <a:lstStyle/>
          <a:p>
            <a:pPr algn="r" rtl="1"/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Projection</a:t>
            </a:r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π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A(r)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V(A, r)</a:t>
            </a:r>
            <a:endParaRPr lang="fa-IR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(Aggregation)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γ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A(r)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V(G, r)</a:t>
            </a:r>
          </a:p>
          <a:p>
            <a:pPr marL="0" indent="0" algn="r" rtl="1">
              <a:buNone/>
            </a:pPr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</a:t>
            </a:r>
            <a:r>
              <a:rPr lang="fa-IR" sz="18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(Set operations)</a:t>
            </a:r>
            <a:endParaRPr 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اجتماع یا اشتراک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انتخاب‌ها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یک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رابطهٔ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یکسان: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ابتدا عبارت را بازنویسی کرده و سپس از تخمین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عملیات انتخاب استفاده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مثال: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 ∪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σθ2(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زیر بازنویسی شود: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σθ1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θ2 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عملیات روی روابط متفاوت:</a:t>
            </a:r>
          </a:p>
          <a:p>
            <a:pPr lvl="1" algn="r" rtl="1"/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∪ s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به‌علاوهٔ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</a:t>
            </a:r>
          </a:p>
          <a:p>
            <a:pPr lvl="1" algn="r" rtl="1"/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∩ s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حداقل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</a:t>
            </a:r>
          </a:p>
          <a:p>
            <a:pPr lvl="1" algn="r" rtl="1"/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− s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سه تخمین ممکن است تا حد زیادی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نادقیق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باشند، اما کران بالایی برای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نتایج فراهم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>
            <a:extLst>
              <a:ext uri="{FF2B5EF4-FFF2-40B4-BE49-F238E27FC236}">
                <a16:creationId xmlns:a16="http://schemas.microsoft.com/office/drawing/2014/main" id="{862FACA3-B16F-43DF-99D3-DB232E1C5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اندازه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524F5F84-A0A9-4A8E-AFC0-3007A07C45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680960" cy="5367972"/>
          </a:xfrm>
        </p:spPr>
        <p:txBody>
          <a:bodyPr/>
          <a:lstStyle/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پیوند بیرونی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:(Outer Join)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⟕ 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به‌علاوهٔ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</a:t>
            </a:r>
          </a:p>
          <a:p>
            <a:pPr marL="0" indent="0" algn="r" rtl="1">
              <a:buNone/>
            </a:pP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        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حالت پیوند بیرونی راست متقارن با این حالت است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تخمینی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⟗ 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برابر است با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به‌علاوهٔ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>
            <a:extLst>
              <a:ext uri="{FF2B5EF4-FFF2-40B4-BE49-F238E27FC236}">
                <a16:creationId xmlns:a16="http://schemas.microsoft.com/office/drawing/2014/main" id="{D516DDD0-DE63-4F3C-BEFA-9B101841D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تعداد مقادیر متمایز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C5E932D-74EA-41E3-9F61-F880C3211C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3" y="1102497"/>
            <a:ext cx="7642460" cy="5367972"/>
          </a:xfrm>
        </p:spPr>
        <p:txBody>
          <a:bodyPr/>
          <a:lstStyle/>
          <a:p>
            <a:pPr algn="r" rtl="1"/>
            <a:r>
              <a:rPr lang="fa-IR" sz="18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انتخاب‌ها</a:t>
            </a:r>
            <a:r>
              <a:rPr lang="fa-IR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:(Selections)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شرط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باعث شود که ویژگی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فقط یک مقدار مشخص بگیرد، آنگاه: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V(A,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r)) = 1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مثال: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= 3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شرط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باعث شود که ویژگی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یکی از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مقادیر مشخص را بگیرد، آنگاه: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مقادیر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مشخص‌شده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V(A,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r)) = 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مثال: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 = 1 ∨ A = 3 ∨ A = 4)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شرط انتخاب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شکل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عملگر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آنگاه مقدار تخمینی به صورت زیر است: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V(A, 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r)) = V(A, r) × s</a:t>
            </a:r>
            <a:b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در آن 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میزان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انتخاب‌پذیری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(selectivity) 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شرط انتخاب است.</a:t>
            </a:r>
          </a:p>
          <a:p>
            <a:pPr algn="r" rtl="1"/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سایر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حالت‌ها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از تخمین تقریبی زیر استفاده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min(V(A, r),n</a:t>
            </a:r>
            <a:r>
              <a:rPr lang="el-G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r))</a:t>
            </a:r>
          </a:p>
          <a:p>
            <a:pPr algn="r" rtl="1"/>
            <a:r>
              <a:rPr lang="en-US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)،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استفاده از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نظریهٔ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احتمال به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تخمین‌های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دقیق‌تری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دست یافت، اما این روش در عمل معمولاً به </a:t>
            </a:r>
            <a:r>
              <a:rPr lang="fa-IR" sz="1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اندازهٔ</a:t>
            </a:r>
            <a:r>
              <a:rPr lang="fa-IR" sz="1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کافی دقیق است.</a:t>
            </a:r>
          </a:p>
          <a:p>
            <a:pPr algn="r" rtl="1">
              <a:buFont typeface="Monotype Sorts" pitchFamily="-65" charset="2"/>
              <a:buNone/>
            </a:pPr>
            <a:endParaRPr lang="en-US" altLang="en-US" sz="18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681476E5-D2C5-46F8-A5E4-EA8AF76133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تعداد مقادیر متمایز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68FBE0A-31A4-4CE5-8A63-275B25AA3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2516" y="1102497"/>
            <a:ext cx="8831484" cy="5367972"/>
          </a:xfrm>
        </p:spPr>
        <p:txBody>
          <a:bodyPr/>
          <a:lstStyle/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ادغام‌ها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تمام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جدول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باشند، تخمین زده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V(A, r ⨝ s) = min(V(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), n r ⨝ s)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شامل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A1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آنگاه تخمین زده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s) = min(V(A1,r)*V(A2 – A1,s), V(A1 – A2,r)*V(A2,s), n r ⨝ s)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دقیق‌تر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استفاده از نظریه احتمال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به‌دست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آورد، اما این روش به طور کلی خوب عمل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>
            <a:extLst>
              <a:ext uri="{FF2B5EF4-FFF2-40B4-BE49-F238E27FC236}">
                <a16:creationId xmlns:a16="http://schemas.microsoft.com/office/drawing/2014/main" id="{4374E549-F62A-4DAD-BF85-1D8E4F3CF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تخمین تعداد مقادیر متمایز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E3FBD48-F23E-4D78-BDD5-74C7E1FB91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02497"/>
            <a:ext cx="8845549" cy="5367972"/>
          </a:xfr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تخمین تعداد مقادیر متمایز برای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پروجکشن‌ها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ساده است.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آن‌ها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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(r)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همانند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هستند.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همین موضوع برای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گروه‌بندی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نیز صدق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مقادیر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شده: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min(A)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max(A)،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مقادیر متمایز را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min(V(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A,r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), 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G,r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))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تخمین زد، که در آن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نشان‌دهنده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گروه‌بندی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سایر توابع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فرض کنید همه مقادیر متمایز هستند و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V(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G,r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استفاده کنید.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048958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1782" y="2455821"/>
            <a:ext cx="7184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200" dirty="0" err="1">
                <a:cs typeface="B Nazanin" panose="00000400000000000000" pitchFamily="2" charset="-78"/>
              </a:rPr>
              <a:t>تکنیک‌های</a:t>
            </a:r>
            <a:r>
              <a:rPr lang="fa-IR" sz="3200" dirty="0">
                <a:cs typeface="B Nazanin" panose="00000400000000000000" pitchFamily="2" charset="-78"/>
              </a:rPr>
              <a:t> </a:t>
            </a:r>
            <a:r>
              <a:rPr lang="fa-IR" sz="3200" dirty="0" err="1">
                <a:cs typeface="B Nazanin" panose="00000400000000000000" pitchFamily="2" charset="-78"/>
              </a:rPr>
              <a:t>بهینه‌سازی</a:t>
            </a:r>
            <a:r>
              <a:rPr lang="fa-IR" sz="3200" dirty="0">
                <a:cs typeface="B Nazanin" panose="00000400000000000000" pitchFamily="2" charset="-78"/>
              </a:rPr>
              <a:t> دیگر</a:t>
            </a:r>
            <a:endParaRPr lang="en-US" sz="32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98586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26ACB2C3-8064-4B72-9C77-0C17C0912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تو در تو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DFA7B72B-947C-4CE3-8E0E-51EF8FD38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4518" y="962526"/>
            <a:ext cx="8156541" cy="5488692"/>
          </a:xfrm>
        </p:spPr>
        <p:txBody>
          <a:bodyPr/>
          <a:lstStyle/>
          <a:p>
            <a:pPr algn="r" rtl="1"/>
            <a:r>
              <a:rPr lang="fa-IR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 </a:t>
            </a:r>
            <a:r>
              <a:rPr lang="fa-IR" alt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تو:</a:t>
            </a:r>
          </a:p>
          <a:p>
            <a:pPr marL="0" indent="0" algn="l">
              <a:buNone/>
            </a:pPr>
            <a:r>
              <a:rPr lang="fa-IR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br>
              <a:rPr lang="en-US" altLang="en-US" dirty="0">
                <a:cs typeface="B Nazanin" panose="00000400000000000000" pitchFamily="2" charset="-78"/>
              </a:rPr>
            </a:br>
            <a:r>
              <a:rPr lang="fa-IR" altLang="en-US" dirty="0">
                <a:cs typeface="B Nazanin" panose="00000400000000000000" pitchFamily="2" charset="-78"/>
              </a:rPr>
              <a:t>    </a:t>
            </a:r>
            <a:r>
              <a:rPr lang="en-US" altLang="en-US" sz="1800" b="1" dirty="0">
                <a:cs typeface="B Nazanin" panose="00000400000000000000" pitchFamily="2" charset="-78"/>
              </a:rPr>
              <a:t>select</a:t>
            </a:r>
            <a:r>
              <a:rPr lang="en-US" altLang="en-US" sz="1800" dirty="0">
                <a:cs typeface="B Nazanin" panose="00000400000000000000" pitchFamily="2" charset="-78"/>
              </a:rPr>
              <a:t> </a:t>
            </a:r>
            <a:r>
              <a:rPr lang="en-US" altLang="en-US" sz="1800" i="1" dirty="0">
                <a:cs typeface="B Nazanin" panose="00000400000000000000" pitchFamily="2" charset="-78"/>
              </a:rPr>
              <a:t>name</a:t>
            </a:r>
            <a:r>
              <a:rPr lang="en-US" altLang="en-US" sz="2400" i="1" dirty="0">
                <a:cs typeface="B Nazanin" panose="00000400000000000000" pitchFamily="2" charset="-78"/>
              </a:rPr>
              <a:t> </a:t>
            </a:r>
            <a:br>
              <a:rPr lang="en-US" altLang="en-US" sz="1800" i="1" dirty="0">
                <a:cs typeface="B Nazanin" panose="00000400000000000000" pitchFamily="2" charset="-78"/>
              </a:rPr>
            </a:br>
            <a:r>
              <a:rPr lang="fa-IR" altLang="en-US" sz="1800" i="1" dirty="0">
                <a:cs typeface="B Nazanin" panose="00000400000000000000" pitchFamily="2" charset="-78"/>
              </a:rPr>
              <a:t>      </a:t>
            </a:r>
            <a:r>
              <a:rPr lang="en-US" altLang="en-US" sz="1800" b="1" dirty="0">
                <a:cs typeface="B Nazanin" panose="00000400000000000000" pitchFamily="2" charset="-78"/>
              </a:rPr>
              <a:t>from </a:t>
            </a:r>
            <a:r>
              <a:rPr lang="en-US" altLang="en-US" sz="1800" i="1" dirty="0">
                <a:cs typeface="B Nazanin" panose="00000400000000000000" pitchFamily="2" charset="-78"/>
              </a:rPr>
              <a:t>instructor</a:t>
            </a:r>
            <a:br>
              <a:rPr lang="en-US" altLang="en-US" sz="1800" i="1" dirty="0">
                <a:cs typeface="B Nazanin" panose="00000400000000000000" pitchFamily="2" charset="-78"/>
              </a:rPr>
            </a:br>
            <a:r>
              <a:rPr lang="fa-IR" altLang="en-US" sz="1800" i="1" dirty="0">
                <a:cs typeface="B Nazanin" panose="00000400000000000000" pitchFamily="2" charset="-78"/>
              </a:rPr>
              <a:t>       </a:t>
            </a:r>
            <a:r>
              <a:rPr lang="en-US" altLang="en-US" sz="1800" b="1" dirty="0">
                <a:cs typeface="B Nazanin" panose="00000400000000000000" pitchFamily="2" charset="-78"/>
              </a:rPr>
              <a:t>where exists </a:t>
            </a:r>
            <a:r>
              <a:rPr lang="en-US" altLang="en-US" sz="1800" dirty="0">
                <a:cs typeface="B Nazanin" panose="00000400000000000000" pitchFamily="2" charset="-78"/>
              </a:rPr>
              <a:t>(</a:t>
            </a:r>
            <a:r>
              <a:rPr lang="en-US" altLang="en-US" sz="1800" b="1" dirty="0">
                <a:cs typeface="B Nazanin" panose="00000400000000000000" pitchFamily="2" charset="-78"/>
              </a:rPr>
              <a:t>select </a:t>
            </a:r>
            <a:r>
              <a:rPr lang="en-US" altLang="en-US" sz="1800" dirty="0">
                <a:cs typeface="B Nazanin" panose="00000400000000000000" pitchFamily="2" charset="-78"/>
              </a:rPr>
              <a:t>*</a:t>
            </a:r>
            <a:br>
              <a:rPr lang="en-US" altLang="en-US" sz="1800" dirty="0">
                <a:cs typeface="B Nazanin" panose="00000400000000000000" pitchFamily="2" charset="-78"/>
              </a:rPr>
            </a:br>
            <a:r>
              <a:rPr lang="en-US" altLang="en-US" sz="1800" dirty="0">
                <a:cs typeface="B Nazanin" panose="00000400000000000000" pitchFamily="2" charset="-78"/>
              </a:rPr>
              <a:t>	                </a:t>
            </a:r>
            <a:r>
              <a:rPr lang="en-US" altLang="en-US" sz="1800" b="1" dirty="0">
                <a:cs typeface="B Nazanin" panose="00000400000000000000" pitchFamily="2" charset="-78"/>
              </a:rPr>
              <a:t>from </a:t>
            </a:r>
            <a:r>
              <a:rPr lang="en-US" altLang="en-US" sz="1800" i="1" dirty="0">
                <a:cs typeface="B Nazanin" panose="00000400000000000000" pitchFamily="2" charset="-78"/>
              </a:rPr>
              <a:t>teaches</a:t>
            </a:r>
            <a:br>
              <a:rPr lang="en-US" altLang="en-US" sz="1800" dirty="0">
                <a:cs typeface="B Nazanin" panose="00000400000000000000" pitchFamily="2" charset="-78"/>
              </a:rPr>
            </a:br>
            <a:r>
              <a:rPr lang="en-US" altLang="en-US" sz="1800" dirty="0">
                <a:cs typeface="B Nazanin" panose="00000400000000000000" pitchFamily="2" charset="-78"/>
              </a:rPr>
              <a:t>	                </a:t>
            </a:r>
            <a:r>
              <a:rPr lang="en-US" altLang="en-US" sz="1800" b="1" dirty="0">
                <a:cs typeface="B Nazanin" panose="00000400000000000000" pitchFamily="2" charset="-78"/>
              </a:rPr>
              <a:t>where </a:t>
            </a:r>
            <a:r>
              <a:rPr lang="en-US" altLang="en-US" sz="1800" i="1" dirty="0">
                <a:cs typeface="B Nazanin" panose="00000400000000000000" pitchFamily="2" charset="-78"/>
              </a:rPr>
              <a:t>instructor.ID = teaches.ID </a:t>
            </a:r>
            <a:r>
              <a:rPr lang="en-US" altLang="en-US" sz="1800" b="1" dirty="0">
                <a:cs typeface="B Nazanin" panose="00000400000000000000" pitchFamily="2" charset="-78"/>
              </a:rPr>
              <a:t>and</a:t>
            </a:r>
            <a:r>
              <a:rPr lang="en-US" altLang="en-US" sz="1800" i="1" dirty="0">
                <a:cs typeface="B Nazanin" panose="00000400000000000000" pitchFamily="2" charset="-78"/>
              </a:rPr>
              <a:t> </a:t>
            </a:r>
            <a:r>
              <a:rPr lang="en-US" altLang="en-US" sz="1800" i="1" dirty="0" err="1">
                <a:cs typeface="B Nazanin" panose="00000400000000000000" pitchFamily="2" charset="-78"/>
              </a:rPr>
              <a:t>teaches.year</a:t>
            </a:r>
            <a:r>
              <a:rPr lang="en-US" altLang="en-US" sz="1800" i="1" dirty="0">
                <a:cs typeface="B Nazanin" panose="00000400000000000000" pitchFamily="2" charset="-78"/>
              </a:rPr>
              <a:t> = 2019</a:t>
            </a:r>
            <a:r>
              <a:rPr lang="en-US" altLang="en-US" sz="1800" dirty="0">
                <a:cs typeface="B Nazanin" panose="00000400000000000000" pitchFamily="2" charset="-78"/>
              </a:rPr>
              <a:t>)</a:t>
            </a:r>
            <a:endParaRPr lang="en-US" altLang="en-US" dirty="0">
              <a:cs typeface="B Nazanin" panose="00000400000000000000" pitchFamily="2" charset="-78"/>
            </a:endParaRP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به‌صورت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مفهومی،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های تو در تو در قسمت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به عنوان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توابعی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نظر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پارامتر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یک مقدار یا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مقادیر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برمی‌گردانند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پارامترها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متغیرهایی از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سطح بیرونی هستند که در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استفاده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؛ این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متغیرها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متغیرهای همبسته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(correlation variables)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می‌نامند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به‌صورت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مفهومی،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یک بار برای هر رکورد در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حاصل‌ضرب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کارتزین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تولید شده توسط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سطح بیرونی اجرا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نوع ارزیابی را «ارزیابی همبسته»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(correlated evaluation)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می‌نامند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نکته: سایر شرایط در قسمت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برای محاسبه یک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(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جای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حاصل‌ضرب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کارتزین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قبل از اجرای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زیرپرس‌وجوی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استفاده شوند</a:t>
            </a:r>
            <a:r>
              <a:rPr lang="fa-IR" dirty="0"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7A672B98-14FC-411C-AB01-D1C725123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تو در تو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EF74BD83-425E-4E21-9AE9-6E0F41D9FE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652085" cy="5367972"/>
          </a:xfrm>
        </p:spPr>
        <p:txBody>
          <a:bodyPr/>
          <a:lstStyle/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ارزیابی همبسته ممکن است بسیار ناکارآمد باشد، زیرا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تعداد زیادی فراخوانی به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انجام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ورودی/خروجی تصادفی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غیرضروری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ایجاد شود.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سعی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را تا جای ممکن به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تبدیل کنند تا بتوان از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تکنیک‌های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کارآمد استفاده کرد.</a:t>
            </a:r>
          </a:p>
          <a:p>
            <a:endParaRPr lang="fa-IR" alt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قبلی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بازنویسی شود به:</a:t>
            </a:r>
          </a:p>
          <a:p>
            <a:br>
              <a:rPr lang="en-US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IN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 </a:t>
            </a:r>
            <a:r>
              <a:rPr lang="en-IN" i="1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name</a:t>
            </a:r>
            <a:r>
              <a:rPr lang="en-IN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en-US" alt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instructor</a:t>
            </a:r>
            <a:r>
              <a:rPr lang="en-IN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</a:t>
            </a:r>
            <a:r>
              <a:rPr lang="en-US" altLang="en-US" i="1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instructor.ID=teaches.ID </a:t>
            </a:r>
            <a:r>
              <a:rPr lang="en-US" altLang="en-US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</a:t>
            </a:r>
            <a:r>
              <a:rPr lang="en-US" altLang="en-US" i="1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i="1" baseline="-25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teaches.year</a:t>
            </a:r>
            <a:r>
              <a:rPr lang="en-US" altLang="en-US" i="1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=2019</a:t>
            </a:r>
            <a:r>
              <a:rPr lang="en-US" alt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altLang="en-US" baseline="-25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teaches</a:t>
            </a:r>
            <a:r>
              <a:rPr lang="en-US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نکته: این دو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تعداد متفاوتی رکورد تکراری تولید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(چرا؟)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مدیریت درست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تکراری از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semijoin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استفاده کرد.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7A672B98-14FC-411C-AB01-D1C725123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تو در تو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EF74BD83-425E-4E21-9AE9-6E0F41D9FE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9" y="1102497"/>
            <a:ext cx="7796464" cy="5367972"/>
          </a:xfrm>
        </p:spPr>
        <p:txBody>
          <a:bodyPr/>
          <a:lstStyle/>
          <a:p>
            <a:pPr algn="r" rtl="1"/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اپراتور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Semijoin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(⋉)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صورت زیر تعریف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رکورد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ri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تعداد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بار 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⋉ </a:t>
            </a:r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θ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ظاهر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بار 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وجود داشته باشد و حداقل یک رکورد مطابق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si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وجود داشته باشد.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قبلی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بازنویسی شود به:</a:t>
            </a:r>
          </a:p>
          <a:p>
            <a:pPr algn="r" rtl="1"/>
            <a:r>
              <a:rPr lang="en-US" altLang="en-US" dirty="0">
                <a:ea typeface="MS PGothic" panose="020B0600070205080204" pitchFamily="34" charset="-128"/>
                <a:cs typeface="B Nazanin" panose="00000400000000000000" pitchFamily="2" charset="-78"/>
                <a:sym typeface="Symbol" panose="05050102010706020507" pitchFamily="18" charset="2"/>
              </a:rPr>
              <a:t> </a:t>
            </a:r>
            <a:r>
              <a:rPr lang="en-IN" baseline="-25000" dirty="0">
                <a:cs typeface="B Nazanin" panose="00000400000000000000" pitchFamily="2" charset="-78"/>
              </a:rPr>
              <a:t>name</a:t>
            </a:r>
            <a:r>
              <a:rPr lang="en-IN" dirty="0">
                <a:cs typeface="B Nazanin" panose="00000400000000000000" pitchFamily="2" charset="-78"/>
              </a:rPr>
              <a:t>(</a:t>
            </a:r>
            <a:r>
              <a:rPr lang="en-US" altLang="en-US" dirty="0">
                <a:cs typeface="B Nazanin" panose="00000400000000000000" pitchFamily="2" charset="-78"/>
              </a:rPr>
              <a:t>instructor</a:t>
            </a:r>
            <a:r>
              <a:rPr lang="en-IN" altLang="en-US" dirty="0">
                <a:cs typeface="B Nazanin" panose="00000400000000000000" pitchFamily="2" charset="-78"/>
              </a:rPr>
              <a:t> </a:t>
            </a:r>
            <a:r>
              <a:rPr lang="en-IN" dirty="0">
                <a:cs typeface="B Nazanin" panose="00000400000000000000" pitchFamily="2" charset="-78"/>
              </a:rPr>
              <a:t>⋉ 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instructor.ID=teaches.ID  </a:t>
            </a:r>
            <a:r>
              <a:rPr lang="en-US" altLang="en-US" baseline="-25000" dirty="0" err="1">
                <a:cs typeface="B Nazanin" panose="00000400000000000000" pitchFamily="2" charset="-78"/>
                <a:sym typeface="Symbol" panose="05050102010706020507" pitchFamily="18" charset="2"/>
              </a:rPr>
              <a:t>teaches.year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=2019</a:t>
            </a:r>
            <a:r>
              <a:rPr lang="en-US" altLang="en-US" dirty="0">
                <a:cs typeface="B Nazanin" panose="00000400000000000000" pitchFamily="2" charset="-78"/>
              </a:rPr>
              <a:t> 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teaches) 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حتی به صورت:</a:t>
            </a:r>
          </a:p>
          <a:p>
            <a:pPr algn="r" rtl="1"/>
            <a:r>
              <a:rPr lang="en-IN" altLang="en-US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IN" baseline="-25000" dirty="0">
                <a:cs typeface="B Nazanin" panose="00000400000000000000" pitchFamily="2" charset="-78"/>
              </a:rPr>
              <a:t>name</a:t>
            </a:r>
            <a:r>
              <a:rPr lang="en-IN" dirty="0">
                <a:cs typeface="B Nazanin" panose="00000400000000000000" pitchFamily="2" charset="-78"/>
              </a:rPr>
              <a:t>(</a:t>
            </a:r>
            <a:r>
              <a:rPr lang="en-US" altLang="en-US" dirty="0">
                <a:cs typeface="B Nazanin" panose="00000400000000000000" pitchFamily="2" charset="-78"/>
              </a:rPr>
              <a:t>instructor</a:t>
            </a:r>
            <a:r>
              <a:rPr lang="en-IN" altLang="en-US" dirty="0">
                <a:cs typeface="B Nazanin" panose="00000400000000000000" pitchFamily="2" charset="-78"/>
              </a:rPr>
              <a:t> </a:t>
            </a:r>
            <a:r>
              <a:rPr lang="en-IN" dirty="0">
                <a:cs typeface="B Nazanin" panose="00000400000000000000" pitchFamily="2" charset="-78"/>
              </a:rPr>
              <a:t>⋉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instructor.ID=teaches.ID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(</a:t>
            </a:r>
            <a:r>
              <a:rPr lang="en-US" altLang="en-US" baseline="-25000" dirty="0" err="1">
                <a:cs typeface="B Nazanin" panose="00000400000000000000" pitchFamily="2" charset="-78"/>
                <a:sym typeface="Symbol" panose="05050102010706020507" pitchFamily="18" charset="2"/>
              </a:rPr>
              <a:t>teaches.year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=2019</a:t>
            </a:r>
            <a:r>
              <a:rPr lang="en-US" altLang="en-US" dirty="0">
                <a:cs typeface="B Nazanin" panose="00000400000000000000" pitchFamily="2" charset="-78"/>
              </a:rPr>
              <a:t> teaches))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اکنون تعداد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تکراری‌ها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درست است.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جبر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رابطه‌ای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همچنین معادل است با: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instructor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ID in (select teaches.ID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            from teaches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            where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teaches.year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2019)</a:t>
            </a:r>
          </a:p>
          <a:p>
            <a:pPr algn="r" rtl="1"/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308242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>
            <a:extLst>
              <a:ext uri="{FF2B5EF4-FFF2-40B4-BE49-F238E27FC236}">
                <a16:creationId xmlns:a16="http://schemas.microsoft.com/office/drawing/2014/main" id="{3CE1EAD6-DB5C-4834-8A41-B91AB1BF1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تو در تو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499" name="Rectangle 3">
                <a:extLst>
                  <a:ext uri="{FF2B5EF4-FFF2-40B4-BE49-F238E27FC236}">
                    <a16:creationId xmlns:a16="http://schemas.microsoft.com/office/drawing/2014/main" id="{13C4CD1F-0D87-4F2A-85A1-F98440113CD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93020" y="1102497"/>
                <a:ext cx="7844588" cy="5367972"/>
              </a:xfrm>
            </p:spPr>
            <p:txBody>
              <a:bodyPr/>
              <a:lstStyle/>
              <a:p>
                <a:pPr algn="r" rtl="1">
                  <a:lnSpc>
                    <a:spcPct val="90000"/>
                  </a:lnSpc>
                </a:pP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این نیز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فقط با استفاده از 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join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ها (در 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(SQL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نوشته شود:</a:t>
                </a:r>
              </a:p>
              <a:p>
                <a:pPr>
                  <a:lnSpc>
                    <a:spcPct val="90000"/>
                  </a:lnSpc>
                </a:pP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with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t</a:t>
                </a:r>
                <a:r>
                  <a:rPr lang="en-US" altLang="en-US" baseline="-25000" dirty="0">
                    <a:cs typeface="B Nazanin" panose="00000400000000000000" pitchFamily="2" charset="-78"/>
                  </a:rPr>
                  <a:t>1</a:t>
                </a:r>
                <a:r>
                  <a:rPr lang="en-US" altLang="en-US" dirty="0">
                    <a:cs typeface="B Nazanin" panose="00000400000000000000" pitchFamily="2" charset="-78"/>
                  </a:rPr>
                  <a:t>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as</a:t>
                </a:r>
                <a:r>
                  <a:rPr lang="en-US" altLang="en-US" dirty="0">
                    <a:cs typeface="B Nazanin" panose="00000400000000000000" pitchFamily="2" charset="-78"/>
                  </a:rPr>
                  <a:t> 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     (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select distinct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ID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 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from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teaches</a:t>
                </a:r>
                <a:br>
                  <a:rPr lang="en-US" altLang="en-US" i="1" dirty="0">
                    <a:cs typeface="B Nazanin" panose="00000400000000000000" pitchFamily="2" charset="-78"/>
                  </a:rPr>
                </a:br>
                <a:r>
                  <a:rPr lang="en-US" altLang="en-US" i="1" dirty="0">
                    <a:cs typeface="B Nazanin" panose="00000400000000000000" pitchFamily="2" charset="-78"/>
                  </a:rPr>
                  <a:t>     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where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year = 2019)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select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name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from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instructor</a:t>
                </a:r>
                <a:r>
                  <a:rPr lang="en-US" altLang="en-US" dirty="0">
                    <a:cs typeface="B Nazanin" panose="00000400000000000000" pitchFamily="2" charset="-78"/>
                  </a:rPr>
                  <a:t>,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t</a:t>
                </a:r>
                <a:r>
                  <a:rPr lang="en-US" altLang="en-US" baseline="-25000" dirty="0">
                    <a:cs typeface="B Nazanin" panose="00000400000000000000" pitchFamily="2" charset="-78"/>
                  </a:rPr>
                  <a:t>1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 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where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t</a:t>
                </a:r>
                <a:r>
                  <a:rPr lang="en-US" altLang="en-US" baseline="-25000" dirty="0">
                    <a:cs typeface="B Nazanin" panose="00000400000000000000" pitchFamily="2" charset="-78"/>
                  </a:rPr>
                  <a:t>1</a:t>
                </a:r>
                <a:r>
                  <a:rPr lang="en-US" altLang="en-US" dirty="0">
                    <a:cs typeface="B Nazanin" panose="00000400000000000000" pitchFamily="2" charset="-78"/>
                  </a:rPr>
                  <a:t>.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ID = instructor.ID</a:t>
                </a:r>
              </a:p>
              <a:p>
                <a:pPr algn="r" rtl="1">
                  <a:lnSpc>
                    <a:spcPct val="90000"/>
                  </a:lnSpc>
                </a:pPr>
                <a:r>
                  <a:rPr lang="fa-IR" altLang="en-US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کوئری</a:t>
                </a:r>
                <a:r>
                  <a:rPr lang="fa-IR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:</a:t>
                </a:r>
                <a:endParaRPr lang="en-US" altLang="en-US" b="1" dirty="0">
                  <a:latin typeface="Microsoft Sans Serif" panose="020B0604020202020204" pitchFamily="34" charset="0"/>
                  <a:ea typeface="Microsoft Sans Serif" panose="020B0604020202020204" pitchFamily="34" charset="0"/>
                  <a:cs typeface="B Nazanin" panose="00000400000000000000" pitchFamily="2" charset="-78"/>
                </a:endParaRPr>
              </a:p>
              <a:p>
                <a:pPr>
                  <a:lnSpc>
                    <a:spcPct val="90000"/>
                  </a:lnSpc>
                </a:pPr>
                <a:br>
                  <a:rPr lang="en-US" altLang="en-US" b="1" dirty="0">
                    <a:cs typeface="B Nazanin" panose="00000400000000000000" pitchFamily="2" charset="-78"/>
                  </a:rPr>
                </a:br>
                <a:r>
                  <a:rPr lang="en-US" altLang="en-US" b="1" dirty="0">
                    <a:cs typeface="B Nazanin" panose="00000400000000000000" pitchFamily="2" charset="-78"/>
                  </a:rPr>
                  <a:t>select</a:t>
                </a:r>
                <a:r>
                  <a:rPr lang="en-US" altLang="en-US" dirty="0">
                    <a:cs typeface="B Nazanin" panose="00000400000000000000" pitchFamily="2" charset="-78"/>
                  </a:rPr>
                  <a:t>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name </a:t>
                </a:r>
                <a:br>
                  <a:rPr lang="en-US" altLang="en-US" i="1" dirty="0">
                    <a:cs typeface="B Nazanin" panose="00000400000000000000" pitchFamily="2" charset="-78"/>
                  </a:rPr>
                </a:br>
                <a:r>
                  <a:rPr lang="en-US" altLang="en-US" b="1" dirty="0">
                    <a:cs typeface="B Nazanin" panose="00000400000000000000" pitchFamily="2" charset="-78"/>
                  </a:rPr>
                  <a:t>from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instructor</a:t>
                </a:r>
                <a:br>
                  <a:rPr lang="en-US" altLang="en-US" i="1" dirty="0">
                    <a:cs typeface="B Nazanin" panose="00000400000000000000" pitchFamily="2" charset="-78"/>
                  </a:rPr>
                </a:br>
                <a:r>
                  <a:rPr lang="en-US" altLang="en-US" b="1" dirty="0">
                    <a:cs typeface="B Nazanin" panose="00000400000000000000" pitchFamily="2" charset="-78"/>
                  </a:rPr>
                  <a:t>where not exists </a:t>
                </a:r>
                <a:r>
                  <a:rPr lang="en-US" altLang="en-US" dirty="0">
                    <a:cs typeface="B Nazanin" panose="00000400000000000000" pitchFamily="2" charset="-78"/>
                  </a:rPr>
                  <a:t>(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select </a:t>
                </a:r>
                <a:r>
                  <a:rPr lang="en-US" altLang="en-US" dirty="0">
                    <a:cs typeface="B Nazanin" panose="00000400000000000000" pitchFamily="2" charset="-78"/>
                  </a:rPr>
                  <a:t>*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	            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from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teaches</a:t>
                </a:r>
                <a:br>
                  <a:rPr lang="en-US" altLang="en-US" dirty="0">
                    <a:cs typeface="B Nazanin" panose="00000400000000000000" pitchFamily="2" charset="-78"/>
                  </a:rPr>
                </a:br>
                <a:r>
                  <a:rPr lang="en-US" altLang="en-US" dirty="0">
                    <a:cs typeface="B Nazanin" panose="00000400000000000000" pitchFamily="2" charset="-78"/>
                  </a:rPr>
                  <a:t>	               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where 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instructor.ID = teaches.ID </a:t>
                </a:r>
                <a:r>
                  <a:rPr lang="en-US" altLang="en-US" b="1" dirty="0">
                    <a:cs typeface="B Nazanin" panose="00000400000000000000" pitchFamily="2" charset="-78"/>
                  </a:rPr>
                  <a:t>and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 </a:t>
                </a:r>
                <a:r>
                  <a:rPr lang="en-US" altLang="en-US" i="1" dirty="0" err="1">
                    <a:cs typeface="B Nazanin" panose="00000400000000000000" pitchFamily="2" charset="-78"/>
                  </a:rPr>
                  <a:t>teaches.year</a:t>
                </a:r>
                <a:r>
                  <a:rPr lang="en-US" altLang="en-US" i="1" dirty="0">
                    <a:cs typeface="B Nazanin" panose="00000400000000000000" pitchFamily="2" charset="-78"/>
                  </a:rPr>
                  <a:t> = 2019</a:t>
                </a:r>
                <a:r>
                  <a:rPr lang="en-US" altLang="en-US" dirty="0">
                    <a:cs typeface="B Nazanin" panose="00000400000000000000" pitchFamily="2" charset="-78"/>
                  </a:rPr>
                  <a:t>)</a:t>
                </a:r>
              </a:p>
              <a:p>
                <a:pPr marL="0" indent="0" algn="r" rtl="1">
                  <a:lnSpc>
                    <a:spcPct val="90000"/>
                  </a:lnSpc>
                  <a:buNone/>
                </a:pPr>
                <a:r>
                  <a:rPr lang="en-US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   </a:t>
                </a:r>
                <a:r>
                  <a:rPr lang="fa-IR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می‌تواند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با استفاده از عملیات 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anti-</a:t>
                </a:r>
                <a:r>
                  <a:rPr lang="en-US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semijoin</a:t>
                </a:r>
                <a:r>
                  <a:rPr 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fa-IR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بازنویسی شود به: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br>
                  <a:rPr lang="en-US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</a:br>
                <a:r>
                  <a:rPr lang="en-US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           </a:t>
                </a:r>
                <a:r>
                  <a:rPr lang="en-IN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 </a:t>
                </a:r>
                <a:r>
                  <a:rPr lang="en-US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 </a:t>
                </a:r>
                <a:r>
                  <a:rPr lang="en-IN" i="1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name</a:t>
                </a:r>
                <a:r>
                  <a:rPr lang="en-IN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(</a:t>
                </a:r>
                <a:r>
                  <a:rPr lang="en-US" altLang="en-US" i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instructor</a:t>
                </a:r>
                <a:r>
                  <a:rPr lang="en-IN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IN" dirty="0">
                            <a:latin typeface="Microsoft Sans Serif" panose="020B0604020202020204" pitchFamily="34" charset="0"/>
                            <a:ea typeface="Microsoft Sans Serif" panose="020B0604020202020204" pitchFamily="34" charset="0"/>
                            <a:cs typeface="B Nazanin" panose="00000400000000000000" pitchFamily="2" charset="-78"/>
                          </a:rPr>
                          <m:t>⋉</m:t>
                        </m:r>
                      </m:e>
                    </m:acc>
                  </m:oMath>
                </a14:m>
                <a:r>
                  <a:rPr lang="en-US" altLang="en-US" i="1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instructor.ID=teaches.ID </a:t>
                </a:r>
                <a:r>
                  <a:rPr lang="en-US" altLang="en-US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</a:t>
                </a:r>
                <a:r>
                  <a:rPr lang="en-US" altLang="en-US" i="1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 </a:t>
                </a:r>
                <a:r>
                  <a:rPr lang="en-US" altLang="en-US" i="1" baseline="-25000" dirty="0" err="1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teaches.year</a:t>
                </a:r>
                <a:r>
                  <a:rPr lang="en-US" altLang="en-US" i="1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=2019</a:t>
                </a:r>
                <a:r>
                  <a:rPr lang="en-US" altLang="en-US" i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 </a:t>
                </a:r>
                <a:r>
                  <a:rPr lang="en-US" altLang="en-US" baseline="-25000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teaches</a:t>
                </a:r>
                <a:r>
                  <a:rPr lang="en-US" altLang="en-US" dirty="0">
                    <a:latin typeface="Microsoft Sans Serif" panose="020B0604020202020204" pitchFamily="34" charset="0"/>
                    <a:ea typeface="Microsoft Sans Serif" panose="020B0604020202020204" pitchFamily="34" charset="0"/>
                    <a:cs typeface="B Nazanin" panose="00000400000000000000" pitchFamily="2" charset="-78"/>
                  </a:rPr>
                  <a:t>) </a:t>
                </a:r>
              </a:p>
            </p:txBody>
          </p:sp>
        </mc:Choice>
        <mc:Fallback>
          <p:sp>
            <p:nvSpPr>
              <p:cNvPr id="106499" name="Rectangle 3">
                <a:extLst>
                  <a:ext uri="{FF2B5EF4-FFF2-40B4-BE49-F238E27FC236}">
                    <a16:creationId xmlns:a16="http://schemas.microsoft.com/office/drawing/2014/main" id="{13C4CD1F-0D87-4F2A-85A1-F98440113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3020" y="1102497"/>
                <a:ext cx="7844588" cy="5367972"/>
              </a:xfrm>
              <a:blipFill>
                <a:blip r:embed="rId3"/>
                <a:stretch>
                  <a:fillRect l="-544" t="-1364" r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>
            <a:extLst>
              <a:ext uri="{FF2B5EF4-FFF2-40B4-BE49-F238E27FC236}">
                <a16:creationId xmlns:a16="http://schemas.microsoft.com/office/drawing/2014/main" id="{44E71600-EAEB-4445-9FE7-51CF8BC596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تو در تو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A5D2FC05-4587-4642-8988-4937CFE8C9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45014"/>
            <a:ext cx="7613584" cy="5367972"/>
          </a:xfrm>
        </p:spPr>
        <p:txBody>
          <a:bodyPr/>
          <a:lstStyle/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طور کلی،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شکل زیر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صورت نشان داده شده بازنویسی شوند: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بازنویسی:</a:t>
            </a:r>
          </a:p>
          <a:p>
            <a:pPr rtl="1"/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 A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r1, r2, …,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rn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P1 and exists (select *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       from s1, s2, …,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sm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       where P21 and P22)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به: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cs typeface="B Nazanin" panose="00000400000000000000" pitchFamily="2" charset="-78"/>
                <a:sym typeface="Symbol" panose="05050102010706020507" pitchFamily="18" charset="2"/>
              </a:rPr>
              <a:t> </a:t>
            </a:r>
            <a:r>
              <a:rPr lang="en-IN" i="1" baseline="-25000" dirty="0">
                <a:cs typeface="B Nazanin" panose="00000400000000000000" pitchFamily="2" charset="-78"/>
              </a:rPr>
              <a:t>A</a:t>
            </a:r>
            <a:r>
              <a:rPr lang="en-IN" dirty="0">
                <a:cs typeface="B Nazanin" panose="00000400000000000000" pitchFamily="2" charset="-78"/>
              </a:rPr>
              <a:t>(</a:t>
            </a:r>
            <a:r>
              <a:rPr lang="el-GR" altLang="en-US" dirty="0">
                <a:cs typeface="B Nazanin" panose="00000400000000000000" pitchFamily="2" charset="-78"/>
              </a:rPr>
              <a:t>σ</a:t>
            </a:r>
            <a:r>
              <a:rPr lang="en-US" altLang="en-US" baseline="-25000" dirty="0">
                <a:cs typeface="B Nazanin" panose="00000400000000000000" pitchFamily="2" charset="-78"/>
              </a:rPr>
              <a:t> P1 </a:t>
            </a:r>
            <a:r>
              <a:rPr lang="en-US" altLang="en-US" dirty="0">
                <a:cs typeface="B Nazanin" panose="00000400000000000000" pitchFamily="2" charset="-78"/>
              </a:rPr>
              <a:t>(</a:t>
            </a:r>
            <a:r>
              <a:rPr lang="en-US" altLang="en-US" i="1" dirty="0">
                <a:cs typeface="B Nazanin" panose="00000400000000000000" pitchFamily="2" charset="-78"/>
              </a:rPr>
              <a:t>r</a:t>
            </a:r>
            <a:r>
              <a:rPr lang="en-US" altLang="en-US" baseline="-25000" dirty="0">
                <a:cs typeface="B Nazanin" panose="00000400000000000000" pitchFamily="2" charset="-78"/>
              </a:rPr>
              <a:t>1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x</a:t>
            </a:r>
            <a:r>
              <a:rPr lang="en-US" altLang="en-US" i="1" dirty="0">
                <a:cs typeface="B Nazanin" panose="00000400000000000000" pitchFamily="2" charset="-78"/>
              </a:rPr>
              <a:t> r</a:t>
            </a:r>
            <a:r>
              <a:rPr lang="en-US" altLang="en-US" baseline="-25000" dirty="0">
                <a:cs typeface="B Nazanin" panose="00000400000000000000" pitchFamily="2" charset="-78"/>
              </a:rPr>
              <a:t>2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x </a:t>
            </a:r>
            <a:r>
              <a:rPr lang="en-US" altLang="en-US" i="1" dirty="0">
                <a:cs typeface="B Nazanin" panose="00000400000000000000" pitchFamily="2" charset="-78"/>
              </a:rPr>
              <a:t>…</a:t>
            </a:r>
            <a:r>
              <a:rPr lang="en-US" altLang="en-US" dirty="0">
                <a:cs typeface="B Nazanin" panose="00000400000000000000" pitchFamily="2" charset="-78"/>
              </a:rPr>
              <a:t> x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i="1" dirty="0" err="1">
                <a:cs typeface="B Nazanin" panose="00000400000000000000" pitchFamily="2" charset="-78"/>
              </a:rPr>
              <a:t>r</a:t>
            </a:r>
            <a:r>
              <a:rPr lang="en-US" altLang="en-US" baseline="-25000" dirty="0" err="1">
                <a:cs typeface="B Nazanin" panose="00000400000000000000" pitchFamily="2" charset="-78"/>
              </a:rPr>
              <a:t>n</a:t>
            </a:r>
            <a:r>
              <a:rPr lang="en-US" altLang="en-US" baseline="-25000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) </a:t>
            </a:r>
            <a:r>
              <a:rPr lang="en-IN" dirty="0">
                <a:cs typeface="B Nazanin" panose="00000400000000000000" pitchFamily="2" charset="-78"/>
              </a:rPr>
              <a:t>⋉ 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P</a:t>
            </a:r>
            <a:r>
              <a:rPr lang="en-US" altLang="en-US" i="1" baseline="-34000" dirty="0">
                <a:cs typeface="B Nazanin" panose="00000400000000000000" pitchFamily="2" charset="-78"/>
                <a:sym typeface="Symbol" panose="05050102010706020507" pitchFamily="18" charset="2"/>
              </a:rPr>
              <a:t>2</a:t>
            </a:r>
            <a:r>
              <a:rPr lang="en-US" altLang="en-US" i="1" baseline="-10000" dirty="0">
                <a:cs typeface="B Nazanin" panose="00000400000000000000" pitchFamily="2" charset="-78"/>
                <a:sym typeface="Symbol" panose="05050102010706020507" pitchFamily="18" charset="2"/>
              </a:rPr>
              <a:t>2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l-GR" altLang="en-US" dirty="0">
                <a:cs typeface="B Nazanin" panose="00000400000000000000" pitchFamily="2" charset="-78"/>
              </a:rPr>
              <a:t>σ</a:t>
            </a:r>
            <a:r>
              <a:rPr lang="en-US" altLang="en-US" baseline="-25000" dirty="0">
                <a:cs typeface="B Nazanin" panose="00000400000000000000" pitchFamily="2" charset="-78"/>
              </a:rPr>
              <a:t> 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P</a:t>
            </a:r>
            <a:r>
              <a:rPr lang="en-US" altLang="en-US" i="1" baseline="-34000" dirty="0">
                <a:cs typeface="B Nazanin" panose="00000400000000000000" pitchFamily="2" charset="-78"/>
                <a:sym typeface="Symbol" panose="05050102010706020507" pitchFamily="18" charset="2"/>
              </a:rPr>
              <a:t>2</a:t>
            </a:r>
            <a:r>
              <a:rPr lang="en-US" altLang="en-US" i="1" baseline="-10000" dirty="0">
                <a:cs typeface="B Nazanin" panose="00000400000000000000" pitchFamily="2" charset="-78"/>
                <a:sym typeface="Symbol" panose="05050102010706020507" pitchFamily="18" charset="2"/>
              </a:rPr>
              <a:t>1</a:t>
            </a:r>
            <a:r>
              <a:rPr lang="en-US" altLang="en-US" baseline="-25000" dirty="0">
                <a:cs typeface="B Nazanin" panose="00000400000000000000" pitchFamily="2" charset="-78"/>
              </a:rPr>
              <a:t> </a:t>
            </a:r>
            <a:r>
              <a:rPr lang="en-US" altLang="en-US" i="1" dirty="0">
                <a:cs typeface="B Nazanin" panose="00000400000000000000" pitchFamily="2" charset="-78"/>
              </a:rPr>
              <a:t>(s</a:t>
            </a:r>
            <a:r>
              <a:rPr lang="en-US" altLang="en-US" baseline="-25000" dirty="0">
                <a:cs typeface="B Nazanin" panose="00000400000000000000" pitchFamily="2" charset="-78"/>
              </a:rPr>
              <a:t>1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x</a:t>
            </a:r>
            <a:r>
              <a:rPr lang="en-US" altLang="en-US" i="1" dirty="0">
                <a:cs typeface="B Nazanin" panose="00000400000000000000" pitchFamily="2" charset="-78"/>
              </a:rPr>
              <a:t> s</a:t>
            </a:r>
            <a:r>
              <a:rPr lang="en-US" altLang="en-US" baseline="-25000" dirty="0">
                <a:cs typeface="B Nazanin" panose="00000400000000000000" pitchFamily="2" charset="-78"/>
              </a:rPr>
              <a:t>2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x </a:t>
            </a:r>
            <a:r>
              <a:rPr lang="en-US" altLang="en-US" i="1" dirty="0">
                <a:cs typeface="B Nazanin" panose="00000400000000000000" pitchFamily="2" charset="-78"/>
              </a:rPr>
              <a:t>…</a:t>
            </a:r>
            <a:r>
              <a:rPr lang="en-US" altLang="en-US" dirty="0">
                <a:cs typeface="B Nazanin" panose="00000400000000000000" pitchFamily="2" charset="-78"/>
              </a:rPr>
              <a:t> x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i="1" dirty="0" err="1">
                <a:cs typeface="B Nazanin" panose="00000400000000000000" pitchFamily="2" charset="-78"/>
              </a:rPr>
              <a:t>s</a:t>
            </a:r>
            <a:r>
              <a:rPr lang="en-US" altLang="en-US" baseline="-25000" dirty="0" err="1">
                <a:cs typeface="B Nazanin" panose="00000400000000000000" pitchFamily="2" charset="-78"/>
              </a:rPr>
              <a:t>m</a:t>
            </a:r>
            <a:r>
              <a:rPr lang="en-US" altLang="en-US" baseline="-25000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)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P21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شامل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شروطی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 که هیچ متغیر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همبسته‌ای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در بر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نمی‌گیرند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P22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شامل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شروطی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 که متغیرهای همبسته را در بر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فرآیند جایگزینی یک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از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semijoin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شاید با یک رابطه موقت) استفاده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decorrelation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نامیده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چندین مورد،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decorrelation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پیچیده‌تر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است، مثلاً: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از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یا</a:t>
            </a: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 در تو یک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اسکالر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این موارد، از ارزیابی همبسته استفاده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lnSpc>
                <a:spcPct val="90000"/>
              </a:lnSpc>
            </a:pPr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65E7A-4CE6-47C9-A956-33A6A29C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ادغام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زیرکوئری‌ها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(ادامه)</a:t>
            </a:r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B5AE5-D832-4D58-9ABC-DC849F09C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18" y="1102497"/>
            <a:ext cx="8152531" cy="5367972"/>
          </a:xfrm>
        </p:spPr>
        <p:txBody>
          <a:bodyPr/>
          <a:lstStyle/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برخی موارد،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decorrelation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زیرکوئری‌های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اسکالر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تجمیعی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استفاده از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groupby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/aggregation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انجام شود:</a:t>
            </a:r>
          </a:p>
          <a:p>
            <a:endParaRPr lang="fa-IR" altLang="en-US" b="1" dirty="0">
              <a:cs typeface="B Nazanin" panose="00000400000000000000" pitchFamily="2" charset="-78"/>
            </a:endParaRPr>
          </a:p>
          <a:p>
            <a:r>
              <a:rPr lang="en-US" altLang="en-US" b="1" dirty="0">
                <a:cs typeface="B Nazanin" panose="00000400000000000000" pitchFamily="2" charset="-78"/>
              </a:rPr>
              <a:t>select </a:t>
            </a:r>
            <a:r>
              <a:rPr lang="en-US" altLang="en-US" i="1" dirty="0">
                <a:cs typeface="B Nazanin" panose="00000400000000000000" pitchFamily="2" charset="-78"/>
              </a:rPr>
              <a:t>name</a:t>
            </a:r>
            <a:br>
              <a:rPr lang="en-US" altLang="en-US" b="1" dirty="0">
                <a:cs typeface="B Nazanin" panose="00000400000000000000" pitchFamily="2" charset="-78"/>
              </a:rPr>
            </a:br>
            <a:r>
              <a:rPr lang="en-US" altLang="en-US" b="1" dirty="0">
                <a:cs typeface="B Nazanin" panose="00000400000000000000" pitchFamily="2" charset="-78"/>
              </a:rPr>
              <a:t>from </a:t>
            </a:r>
            <a:r>
              <a:rPr lang="en-US" altLang="en-US" i="1" dirty="0">
                <a:cs typeface="B Nazanin" panose="00000400000000000000" pitchFamily="2" charset="-78"/>
              </a:rPr>
              <a:t>instructor</a:t>
            </a:r>
            <a:br>
              <a:rPr lang="en-US" altLang="en-US" i="1" dirty="0">
                <a:cs typeface="B Nazanin" panose="00000400000000000000" pitchFamily="2" charset="-78"/>
              </a:rPr>
            </a:br>
            <a:r>
              <a:rPr lang="en-US" altLang="en-US" b="1" dirty="0">
                <a:cs typeface="B Nazanin" panose="00000400000000000000" pitchFamily="2" charset="-78"/>
              </a:rPr>
              <a:t>where </a:t>
            </a:r>
            <a:r>
              <a:rPr lang="en-US" altLang="en-US" b="1" i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1 &lt;</a:t>
            </a:r>
            <a:r>
              <a:rPr lang="en-US" altLang="en-US" b="1" dirty="0">
                <a:cs typeface="B Nazanin" panose="00000400000000000000" pitchFamily="2" charset="-78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(</a:t>
            </a:r>
            <a:r>
              <a:rPr lang="en-US" altLang="en-US" b="1" dirty="0">
                <a:cs typeface="B Nazanin" panose="00000400000000000000" pitchFamily="2" charset="-78"/>
              </a:rPr>
              <a:t>select count</a:t>
            </a:r>
            <a:r>
              <a:rPr lang="en-US" altLang="en-US" dirty="0">
                <a:cs typeface="B Nazanin" panose="00000400000000000000" pitchFamily="2" charset="-78"/>
              </a:rPr>
              <a:t>(*)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br>
              <a:rPr lang="en-US" altLang="en-US" dirty="0">
                <a:cs typeface="B Nazanin" panose="00000400000000000000" pitchFamily="2" charset="-78"/>
              </a:rPr>
            </a:br>
            <a:r>
              <a:rPr lang="en-US" altLang="en-US" dirty="0">
                <a:cs typeface="B Nazanin" panose="00000400000000000000" pitchFamily="2" charset="-78"/>
              </a:rPr>
              <a:t>	                </a:t>
            </a:r>
            <a:r>
              <a:rPr lang="en-US" altLang="en-US" b="1" dirty="0">
                <a:cs typeface="B Nazanin" panose="00000400000000000000" pitchFamily="2" charset="-78"/>
              </a:rPr>
              <a:t>from </a:t>
            </a:r>
            <a:r>
              <a:rPr lang="en-US" altLang="en-US" i="1" dirty="0">
                <a:cs typeface="B Nazanin" panose="00000400000000000000" pitchFamily="2" charset="-78"/>
              </a:rPr>
              <a:t>teaches</a:t>
            </a:r>
            <a:br>
              <a:rPr lang="en-US" altLang="en-US" dirty="0">
                <a:cs typeface="B Nazanin" panose="00000400000000000000" pitchFamily="2" charset="-78"/>
              </a:rPr>
            </a:br>
            <a:r>
              <a:rPr lang="en-US" altLang="en-US" dirty="0">
                <a:cs typeface="B Nazanin" panose="00000400000000000000" pitchFamily="2" charset="-78"/>
              </a:rPr>
              <a:t>	                </a:t>
            </a:r>
            <a:r>
              <a:rPr lang="en-US" altLang="en-US" b="1" dirty="0">
                <a:cs typeface="B Nazanin" panose="00000400000000000000" pitchFamily="2" charset="-78"/>
              </a:rPr>
              <a:t>where </a:t>
            </a:r>
            <a:r>
              <a:rPr lang="en-US" altLang="en-US" i="1" dirty="0">
                <a:cs typeface="B Nazanin" panose="00000400000000000000" pitchFamily="2" charset="-78"/>
              </a:rPr>
              <a:t>instructor.ID = teaches.ID </a:t>
            </a:r>
            <a:br>
              <a:rPr lang="en-US" altLang="en-US" i="1" dirty="0">
                <a:cs typeface="B Nazanin" panose="00000400000000000000" pitchFamily="2" charset="-78"/>
              </a:rPr>
            </a:br>
            <a:r>
              <a:rPr lang="en-US" altLang="en-US" i="1" dirty="0">
                <a:cs typeface="B Nazanin" panose="00000400000000000000" pitchFamily="2" charset="-78"/>
              </a:rPr>
              <a:t>                                    </a:t>
            </a:r>
            <a:r>
              <a:rPr lang="en-US" altLang="en-US" b="1" dirty="0">
                <a:cs typeface="B Nazanin" panose="00000400000000000000" pitchFamily="2" charset="-78"/>
              </a:rPr>
              <a:t>and </a:t>
            </a:r>
            <a:r>
              <a:rPr lang="en-US" altLang="en-US" i="1" dirty="0" err="1">
                <a:cs typeface="B Nazanin" panose="00000400000000000000" pitchFamily="2" charset="-78"/>
              </a:rPr>
              <a:t>teaches.year</a:t>
            </a:r>
            <a:r>
              <a:rPr lang="en-US" altLang="en-US" i="1" dirty="0">
                <a:cs typeface="B Nazanin" panose="00000400000000000000" pitchFamily="2" charset="-78"/>
              </a:rPr>
              <a:t> = 2019</a:t>
            </a:r>
            <a:r>
              <a:rPr lang="en-US" altLang="en-US" dirty="0">
                <a:cs typeface="B Nazanin" panose="00000400000000000000" pitchFamily="2" charset="-78"/>
              </a:rPr>
              <a:t>)</a:t>
            </a:r>
          </a:p>
          <a:p>
            <a:r>
              <a:rPr lang="en-IN" altLang="en-US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ea typeface="MS PGothic" panose="020B0600070205080204" pitchFamily="34" charset="-128"/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dirty="0">
                <a:ea typeface="MS PGothic" panose="020B0600070205080204" pitchFamily="34" charset="-128"/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IN" i="1" baseline="-25000" dirty="0">
                <a:cs typeface="B Nazanin" panose="00000400000000000000" pitchFamily="2" charset="-78"/>
              </a:rPr>
              <a:t>name</a:t>
            </a:r>
            <a:r>
              <a:rPr lang="en-IN" dirty="0">
                <a:cs typeface="B Nazanin" panose="00000400000000000000" pitchFamily="2" charset="-78"/>
              </a:rPr>
              <a:t>(</a:t>
            </a:r>
            <a:r>
              <a:rPr lang="en-US" altLang="en-US" i="1" dirty="0">
                <a:cs typeface="B Nazanin" panose="00000400000000000000" pitchFamily="2" charset="-78"/>
              </a:rPr>
              <a:t>instructor</a:t>
            </a:r>
            <a:r>
              <a:rPr lang="en-IN" altLang="en-US" dirty="0">
                <a:cs typeface="B Nazanin" panose="00000400000000000000" pitchFamily="2" charset="-78"/>
              </a:rPr>
              <a:t> </a:t>
            </a:r>
            <a:r>
              <a:rPr lang="en-IN" dirty="0">
                <a:cs typeface="B Nazanin" panose="00000400000000000000" pitchFamily="2" charset="-78"/>
              </a:rPr>
              <a:t>⋉ 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instructor.ID=TID 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 1 &lt; </a:t>
            </a:r>
            <a:r>
              <a:rPr lang="en-US" altLang="en-US" i="1" baseline="-25000" dirty="0" err="1">
                <a:cs typeface="B Nazanin" panose="00000400000000000000" pitchFamily="2" charset="-78"/>
                <a:sym typeface="Symbol" panose="05050102010706020507" pitchFamily="18" charset="2"/>
              </a:rPr>
              <a:t>cnt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( </a:t>
            </a:r>
            <a:br>
              <a:rPr lang="en-US" altLang="en-US" dirty="0">
                <a:cs typeface="B Nazanin" panose="00000400000000000000" pitchFamily="2" charset="-78"/>
              </a:rPr>
            </a:br>
            <a:r>
              <a:rPr lang="en-US" altLang="en-US" dirty="0">
                <a:cs typeface="B Nazanin" panose="00000400000000000000" pitchFamily="2" charset="-78"/>
              </a:rPr>
              <a:t>        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ID as TID </a:t>
            </a:r>
            <a:r>
              <a:rPr lang="en-IN" dirty="0">
                <a:cs typeface="B Nazanin" panose="00000400000000000000" pitchFamily="2" charset="-78"/>
              </a:rPr>
              <a:t>𝛾</a:t>
            </a:r>
            <a:r>
              <a:rPr lang="en-US" altLang="en-US" b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count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(*) as </a:t>
            </a:r>
            <a:r>
              <a:rPr lang="en-US" altLang="en-US" i="1" baseline="-25000" dirty="0" err="1">
                <a:cs typeface="B Nazanin" panose="00000400000000000000" pitchFamily="2" charset="-78"/>
                <a:sym typeface="Symbol" panose="05050102010706020507" pitchFamily="18" charset="2"/>
              </a:rPr>
              <a:t>cnt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IN" dirty="0">
                <a:cs typeface="B Nazanin" panose="00000400000000000000" pitchFamily="2" charset="-78"/>
              </a:rPr>
              <a:t>(</a:t>
            </a:r>
            <a:r>
              <a:rPr lang="el-GR" altLang="en-US" dirty="0">
                <a:cs typeface="B Nazanin" panose="00000400000000000000" pitchFamily="2" charset="-78"/>
              </a:rPr>
              <a:t>σ </a:t>
            </a:r>
            <a:r>
              <a:rPr lang="en-US" altLang="en-US" i="1" baseline="-25000" dirty="0" err="1">
                <a:cs typeface="B Nazanin" panose="00000400000000000000" pitchFamily="2" charset="-78"/>
                <a:sym typeface="Symbol" panose="05050102010706020507" pitchFamily="18" charset="2"/>
              </a:rPr>
              <a:t>teaches.year</a:t>
            </a:r>
            <a:r>
              <a:rPr lang="en-US" altLang="en-US" i="1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=2019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 </a:t>
            </a:r>
            <a:r>
              <a:rPr lang="en-US" altLang="en-US" dirty="0">
                <a:cs typeface="B Nazanin" panose="00000400000000000000" pitchFamily="2" charset="-78"/>
              </a:rPr>
              <a:t>(</a:t>
            </a:r>
            <a:r>
              <a:rPr lang="en-US" altLang="en-US" i="1" dirty="0">
                <a:cs typeface="B Nazanin" panose="00000400000000000000" pitchFamily="2" charset="-78"/>
              </a:rPr>
              <a:t>teaches</a:t>
            </a:r>
            <a:r>
              <a:rPr lang="en-US" altLang="en-US" dirty="0">
                <a:cs typeface="B Nazanin" panose="00000400000000000000" pitchFamily="2" charset="-78"/>
              </a:rPr>
              <a:t>)))) </a:t>
            </a:r>
            <a:endParaRPr lang="en-IN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127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501B20E9-8980-4D77-B0B2-349448CAF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نماهای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مادی‌سازی‌شده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20D77A7-F821-461F-88B7-16FA2645DE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19461" cy="5367972"/>
          </a:xfrm>
        </p:spPr>
        <p:txBody>
          <a:bodyPr/>
          <a:lstStyle/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نمایه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(materialized view)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نمایی است که محتوای آن محاسبه و ذخیره شده است.</a:t>
            </a:r>
          </a:p>
          <a:p>
            <a:pPr algn="r" rtl="1"/>
            <a:r>
              <a:rPr lang="fa-IR" alt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عنوان مثال</a:t>
            </a:r>
          </a:p>
          <a:p>
            <a:pPr rtl="1"/>
            <a:br>
              <a:rPr lang="en-US" altLang="en-US" dirty="0">
                <a:cs typeface="B Nazanin" panose="00000400000000000000" pitchFamily="2" charset="-78"/>
              </a:rPr>
            </a:br>
            <a:r>
              <a:rPr lang="en-US" altLang="en-US" dirty="0">
                <a:cs typeface="B Nazanin" panose="00000400000000000000" pitchFamily="2" charset="-78"/>
              </a:rPr>
              <a:t>c</a:t>
            </a:r>
            <a:r>
              <a:rPr lang="en-US" altLang="en-US" b="1" dirty="0">
                <a:cs typeface="B Nazanin" panose="00000400000000000000" pitchFamily="2" charset="-78"/>
              </a:rPr>
              <a:t>reate view </a:t>
            </a:r>
            <a:r>
              <a:rPr lang="en-US" altLang="en-US" i="1" dirty="0" err="1">
                <a:cs typeface="B Nazanin" panose="00000400000000000000" pitchFamily="2" charset="-78"/>
              </a:rPr>
              <a:t>department_total_salary</a:t>
            </a:r>
            <a:r>
              <a:rPr lang="en-US" altLang="en-US" dirty="0">
                <a:cs typeface="B Nazanin" panose="00000400000000000000" pitchFamily="2" charset="-78"/>
              </a:rPr>
              <a:t>(</a:t>
            </a:r>
            <a:r>
              <a:rPr lang="en-US" altLang="en-US" i="1" dirty="0" err="1">
                <a:cs typeface="B Nazanin" panose="00000400000000000000" pitchFamily="2" charset="-78"/>
              </a:rPr>
              <a:t>dept_name</a:t>
            </a:r>
            <a:r>
              <a:rPr lang="en-US" altLang="en-US" i="1" dirty="0">
                <a:cs typeface="B Nazanin" panose="00000400000000000000" pitchFamily="2" charset="-78"/>
              </a:rPr>
              <a:t>, </a:t>
            </a:r>
            <a:r>
              <a:rPr lang="en-US" altLang="en-US" i="1" dirty="0" err="1">
                <a:cs typeface="B Nazanin" panose="00000400000000000000" pitchFamily="2" charset="-78"/>
              </a:rPr>
              <a:t>total_salary</a:t>
            </a:r>
            <a:r>
              <a:rPr lang="en-US" altLang="en-US" dirty="0">
                <a:cs typeface="B Nazanin" panose="00000400000000000000" pitchFamily="2" charset="-78"/>
              </a:rPr>
              <a:t>)</a:t>
            </a:r>
            <a:r>
              <a:rPr lang="en-US" altLang="en-US" i="1" dirty="0">
                <a:cs typeface="B Nazanin" panose="00000400000000000000" pitchFamily="2" charset="-78"/>
              </a:rPr>
              <a:t> </a:t>
            </a:r>
            <a:r>
              <a:rPr lang="en-US" altLang="en-US" b="1" dirty="0">
                <a:cs typeface="B Nazanin" panose="00000400000000000000" pitchFamily="2" charset="-78"/>
              </a:rPr>
              <a:t>as</a:t>
            </a:r>
            <a:br>
              <a:rPr lang="en-US" altLang="en-US" b="1" dirty="0">
                <a:cs typeface="B Nazanin" panose="00000400000000000000" pitchFamily="2" charset="-78"/>
              </a:rPr>
            </a:br>
            <a:r>
              <a:rPr lang="en-US" altLang="en-US" b="1" dirty="0">
                <a:cs typeface="B Nazanin" panose="00000400000000000000" pitchFamily="2" charset="-78"/>
              </a:rPr>
              <a:t>select </a:t>
            </a:r>
            <a:r>
              <a:rPr lang="en-US" altLang="en-US" i="1" dirty="0" err="1">
                <a:cs typeface="B Nazanin" panose="00000400000000000000" pitchFamily="2" charset="-78"/>
              </a:rPr>
              <a:t>dept_name</a:t>
            </a:r>
            <a:r>
              <a:rPr lang="en-US" altLang="en-US" dirty="0">
                <a:cs typeface="B Nazanin" panose="00000400000000000000" pitchFamily="2" charset="-78"/>
              </a:rPr>
              <a:t>, </a:t>
            </a:r>
            <a:r>
              <a:rPr lang="en-US" altLang="en-US" b="1" dirty="0">
                <a:cs typeface="B Nazanin" panose="00000400000000000000" pitchFamily="2" charset="-78"/>
              </a:rPr>
              <a:t>sum</a:t>
            </a:r>
            <a:r>
              <a:rPr lang="en-US" altLang="en-US" dirty="0">
                <a:cs typeface="B Nazanin" panose="00000400000000000000" pitchFamily="2" charset="-78"/>
              </a:rPr>
              <a:t>(</a:t>
            </a:r>
            <a:r>
              <a:rPr lang="en-US" altLang="en-US" i="1" dirty="0">
                <a:cs typeface="B Nazanin" panose="00000400000000000000" pitchFamily="2" charset="-78"/>
              </a:rPr>
              <a:t>salary</a:t>
            </a:r>
            <a:r>
              <a:rPr lang="en-US" altLang="en-US" dirty="0">
                <a:cs typeface="B Nazanin" panose="00000400000000000000" pitchFamily="2" charset="-78"/>
              </a:rPr>
              <a:t>)</a:t>
            </a:r>
            <a:br>
              <a:rPr lang="en-US" altLang="en-US" dirty="0">
                <a:cs typeface="B Nazanin" panose="00000400000000000000" pitchFamily="2" charset="-78"/>
              </a:rPr>
            </a:br>
            <a:r>
              <a:rPr lang="en-US" altLang="en-US" b="1" dirty="0">
                <a:cs typeface="B Nazanin" panose="00000400000000000000" pitchFamily="2" charset="-78"/>
              </a:rPr>
              <a:t>from </a:t>
            </a:r>
            <a:r>
              <a:rPr lang="en-US" altLang="en-US" i="1" dirty="0">
                <a:cs typeface="B Nazanin" panose="00000400000000000000" pitchFamily="2" charset="-78"/>
              </a:rPr>
              <a:t>instructor</a:t>
            </a:r>
            <a:br>
              <a:rPr lang="en-US" altLang="en-US" i="1" dirty="0">
                <a:cs typeface="B Nazanin" panose="00000400000000000000" pitchFamily="2" charset="-78"/>
              </a:rPr>
            </a:br>
            <a:r>
              <a:rPr lang="en-US" altLang="en-US" b="1" dirty="0">
                <a:cs typeface="B Nazanin" panose="00000400000000000000" pitchFamily="2" charset="-78"/>
              </a:rPr>
              <a:t>group by </a:t>
            </a:r>
            <a:r>
              <a:rPr lang="en-US" altLang="en-US" i="1" dirty="0" err="1">
                <a:cs typeface="B Nazanin" panose="00000400000000000000" pitchFamily="2" charset="-78"/>
              </a:rPr>
              <a:t>dept_name</a:t>
            </a:r>
            <a:endParaRPr lang="en-US" altLang="en-US" i="1" dirty="0">
              <a:cs typeface="B Nazanin" panose="00000400000000000000" pitchFamily="2" charset="-78"/>
            </a:endParaRPr>
          </a:p>
          <a:p>
            <a:pPr algn="r" rtl="1"/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این نما بسیار مفید است اگر مجموع حقوق هر بخش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به‌طور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مکرر مورد نیاز باشد،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چرا که تلاش برای پیدا کردن چندین رکورد و جمع کردن مقادیر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آن‌ها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صرفه‌جویی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7AB9AFF3-8680-436A-84F5-B4BE25FEC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نگهداری نمای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مادی‌سازی‌شده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73008DF-1222-4200-ADB7-10BDBF2D6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709836" cy="5367972"/>
          </a:xfrm>
        </p:spPr>
        <p:txBody>
          <a:bodyPr/>
          <a:lstStyle/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وظیفه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نگه داشتن یک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نمای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داده‌های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زیرین، به عنوان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نمای </a:t>
            </a:r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شناخته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نماهای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 مجدد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هر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نگهداری شوند.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گزینه بهتر، استفاده از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افزایشی نما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است، که در آن تغییرات روابط پایگاه داده برای محاسبه تغییرات در نمای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شده و سپس نما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نما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روش‌های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زیر انجام شود: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تعریف دستی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trigger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روی عملیات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insert، delete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update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هر رابطه در تعریف نما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نوشتن کد دستی برای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نما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هرگاه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روابط پایگاه داده تغییر کنند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محاسبه مجدد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دوره‌ای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(مثلاً شبانه)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استفاده از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افزایشی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توسط بسیاری از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پایگاه داده پشتیبانی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روش‌ها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تلاش دستی و مشکلات مربوط به صحت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داده‌ها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جلوگیری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1E98A813-9EA3-4922-B69B-431B2E921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نگهداری افزایشی نما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85C02D90-25A8-48A2-9670-FF7033B0F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700211" cy="5367972"/>
          </a:xfr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تغییرات (درج و حذف) در یک رابطه یا عبارات آن به عنوان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تفاوت‌ها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(differential)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شناخته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درج شده و حذف شده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نشان داده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ساده‌سازی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توضیحات، تنها درج و حذف را در نظر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یک رکورد را با حذف رکورد و سپس درج رکورد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به‌روزشده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جایگزین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نحوه محاسبه تغییر در نتیجه هر عملیات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رابطه‌ای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با توجه به تغییرات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ورودی‌های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آن، توضیح داده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سپس روش برخورد با عبارات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جبر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رابطه‌ای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بیان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D59B7C17-0432-472C-A93F-A02FA88A7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عملیات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Join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6D791D9-CCB8-4BBB-8A41-DB97FCD5B8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8162156" cy="5367972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نظر بگیرید نمای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r ⨝ s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یک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rnew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ترتیب حالت قدیمی و جدید رابطه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 نشان دهند.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حالت درج 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r: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نوشت: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rnew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 = (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∪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⨝ s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آن را بازنویسی کرد به: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s) ∪ (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s)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اما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همان مقدار قدیمی نمای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است، بنابراین تغییر افزایشی در نما فقط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بنابراین، برای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درج‌ها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vnew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∪ (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⨝ s)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به طور مشابه، برای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vnew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vold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– (dr ⨝ s)</a:t>
            </a:r>
          </a:p>
          <a:p>
            <a:pPr algn="r" rtl="1"/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  <p:sp>
        <p:nvSpPr>
          <p:cNvPr id="114701" name="Text Box 13">
            <a:extLst>
              <a:ext uri="{FF2B5EF4-FFF2-40B4-BE49-F238E27FC236}">
                <a16:creationId xmlns:a16="http://schemas.microsoft.com/office/drawing/2014/main" id="{F50D1270-E2D2-4A14-84AE-CECC7A5DD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375" y="4811713"/>
            <a:ext cx="546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cs typeface="B Nazanin" panose="00000400000000000000" pitchFamily="2" charset="-78"/>
              </a:rPr>
              <a:t>A, 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cs typeface="B Nazanin" panose="00000400000000000000" pitchFamily="2" charset="-78"/>
              </a:rPr>
              <a:t>B, 2</a:t>
            </a:r>
          </a:p>
        </p:txBody>
      </p:sp>
      <p:sp>
        <p:nvSpPr>
          <p:cNvPr id="114702" name="Text Box 14">
            <a:extLst>
              <a:ext uri="{FF2B5EF4-FFF2-40B4-BE49-F238E27FC236}">
                <a16:creationId xmlns:a16="http://schemas.microsoft.com/office/drawing/2014/main" id="{90163634-D561-419D-852F-E4429655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3" y="4778375"/>
            <a:ext cx="5238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cs typeface="B Nazanin" panose="00000400000000000000" pitchFamily="2" charset="-78"/>
              </a:rPr>
              <a:t>1, 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cs typeface="B Nazanin" panose="00000400000000000000" pitchFamily="2" charset="-78"/>
              </a:rPr>
              <a:t>2, 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cs typeface="B Nazanin" panose="00000400000000000000" pitchFamily="2" charset="-78"/>
              </a:rPr>
              <a:t>2, s</a:t>
            </a:r>
          </a:p>
        </p:txBody>
      </p:sp>
      <p:sp>
        <p:nvSpPr>
          <p:cNvPr id="114703" name="Text Box 17">
            <a:extLst>
              <a:ext uri="{FF2B5EF4-FFF2-40B4-BE49-F238E27FC236}">
                <a16:creationId xmlns:a16="http://schemas.microsoft.com/office/drawing/2014/main" id="{83ECDFD6-C423-4732-91FD-4B12BB6D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350" y="4727575"/>
            <a:ext cx="77311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cs typeface="B Nazanin" panose="00000400000000000000" pitchFamily="2" charset="-78"/>
              </a:rPr>
              <a:t>A, 1, 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cs typeface="B Nazanin" panose="00000400000000000000" pitchFamily="2" charset="-78"/>
              </a:rPr>
              <a:t>B, 2, 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cs typeface="B Nazanin" panose="00000400000000000000" pitchFamily="2" charset="-78"/>
              </a:rPr>
              <a:t>B, 2, s</a:t>
            </a:r>
          </a:p>
        </p:txBody>
      </p:sp>
      <p:sp>
        <p:nvSpPr>
          <p:cNvPr id="114704" name="AutoShape 20">
            <a:extLst>
              <a:ext uri="{FF2B5EF4-FFF2-40B4-BE49-F238E27FC236}">
                <a16:creationId xmlns:a16="http://schemas.microsoft.com/office/drawing/2014/main" id="{A75AEFF1-BB65-40D6-8347-358928A05C6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352676" y="4829175"/>
            <a:ext cx="290512" cy="465137"/>
          </a:xfrm>
          <a:prstGeom prst="flowChartCollat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cs typeface="B Nazanin" panose="00000400000000000000" pitchFamily="2" charset="-78"/>
            </a:endParaRPr>
          </a:p>
        </p:txBody>
      </p:sp>
      <p:sp>
        <p:nvSpPr>
          <p:cNvPr id="114705" name="Rectangle 21">
            <a:extLst>
              <a:ext uri="{FF2B5EF4-FFF2-40B4-BE49-F238E27FC236}">
                <a16:creationId xmlns:a16="http://schemas.microsoft.com/office/drawing/2014/main" id="{FBCA5EF0-4268-44ED-901C-4BF64EBF4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975" y="4821238"/>
            <a:ext cx="549275" cy="549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cs typeface="B Nazanin" panose="00000400000000000000" pitchFamily="2" charset="-78"/>
            </a:endParaRPr>
          </a:p>
        </p:txBody>
      </p:sp>
      <p:sp>
        <p:nvSpPr>
          <p:cNvPr id="114706" name="Rectangle 22">
            <a:extLst>
              <a:ext uri="{FF2B5EF4-FFF2-40B4-BE49-F238E27FC236}">
                <a16:creationId xmlns:a16="http://schemas.microsoft.com/office/drawing/2014/main" id="{70608476-9DAD-4D8E-8E84-1F23AFF36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100" y="4805363"/>
            <a:ext cx="531813" cy="8302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cs typeface="B Nazanin" panose="00000400000000000000" pitchFamily="2" charset="-78"/>
            </a:endParaRPr>
          </a:p>
        </p:txBody>
      </p:sp>
      <p:sp>
        <p:nvSpPr>
          <p:cNvPr id="114707" name="Rectangle 24">
            <a:extLst>
              <a:ext uri="{FF2B5EF4-FFF2-40B4-BE49-F238E27FC236}">
                <a16:creationId xmlns:a16="http://schemas.microsoft.com/office/drawing/2014/main" id="{DC8ED764-BD1C-4095-8733-05D587A4F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75" y="4738688"/>
            <a:ext cx="831850" cy="84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cs typeface="B Nazanin" panose="00000400000000000000" pitchFamily="2" charset="-78"/>
            </a:endParaRP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CB00AC51-BD0D-43CA-9FF8-09681BE36413}"/>
              </a:ext>
            </a:extLst>
          </p:cNvPr>
          <p:cNvGrpSpPr>
            <a:grpSpLocks/>
          </p:cNvGrpSpPr>
          <p:nvPr/>
        </p:nvGrpSpPr>
        <p:grpSpPr bwMode="auto">
          <a:xfrm>
            <a:off x="1562100" y="5392738"/>
            <a:ext cx="582613" cy="336550"/>
            <a:chOff x="984" y="3397"/>
            <a:chExt cx="367" cy="212"/>
          </a:xfrm>
        </p:grpSpPr>
        <p:sp>
          <p:nvSpPr>
            <p:cNvPr id="114712" name="Text Box 16">
              <a:extLst>
                <a:ext uri="{FF2B5EF4-FFF2-40B4-BE49-F238E27FC236}">
                  <a16:creationId xmlns:a16="http://schemas.microsoft.com/office/drawing/2014/main" id="{58EF3FBE-1A8D-4BBA-92B6-C5D113D2D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" y="3397"/>
              <a:ext cx="3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cs typeface="B Nazanin" panose="00000400000000000000" pitchFamily="2" charset="-78"/>
                </a:rPr>
                <a:t>C,2</a:t>
              </a:r>
            </a:p>
          </p:txBody>
        </p:sp>
        <p:sp>
          <p:nvSpPr>
            <p:cNvPr id="114713" name="Rectangle 25">
              <a:extLst>
                <a:ext uri="{FF2B5EF4-FFF2-40B4-BE49-F238E27FC236}">
                  <a16:creationId xmlns:a16="http://schemas.microsoft.com/office/drawing/2014/main" id="{49E7EB85-5684-4268-BB52-A16362171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" y="3425"/>
              <a:ext cx="367" cy="17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cs typeface="B Nazanin" panose="00000400000000000000" pitchFamily="2" charset="-78"/>
              </a:endParaRPr>
            </a:p>
          </p:txBody>
        </p:sp>
      </p:grpSp>
      <p:grpSp>
        <p:nvGrpSpPr>
          <p:cNvPr id="3" name="Group 30">
            <a:extLst>
              <a:ext uri="{FF2B5EF4-FFF2-40B4-BE49-F238E27FC236}">
                <a16:creationId xmlns:a16="http://schemas.microsoft.com/office/drawing/2014/main" id="{8CA396E6-168A-45FD-BA7F-6D077BCC25E5}"/>
              </a:ext>
            </a:extLst>
          </p:cNvPr>
          <p:cNvGrpSpPr>
            <a:grpSpLocks/>
          </p:cNvGrpSpPr>
          <p:nvPr/>
        </p:nvGrpSpPr>
        <p:grpSpPr bwMode="auto">
          <a:xfrm>
            <a:off x="5553075" y="5626100"/>
            <a:ext cx="863600" cy="581025"/>
            <a:chOff x="3498" y="3544"/>
            <a:chExt cx="544" cy="366"/>
          </a:xfrm>
        </p:grpSpPr>
        <p:sp>
          <p:nvSpPr>
            <p:cNvPr id="114710" name="Text Box 18">
              <a:extLst>
                <a:ext uri="{FF2B5EF4-FFF2-40B4-BE49-F238E27FC236}">
                  <a16:creationId xmlns:a16="http://schemas.microsoft.com/office/drawing/2014/main" id="{C576B1D0-3320-4344-9F69-EB0898057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3" y="3544"/>
              <a:ext cx="48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cs typeface="B Nazanin" panose="00000400000000000000" pitchFamily="2" charset="-78"/>
                </a:rPr>
                <a:t>C, 2, 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cs typeface="B Nazanin" panose="00000400000000000000" pitchFamily="2" charset="-78"/>
                </a:rPr>
                <a:t>C, 2, s</a:t>
              </a:r>
            </a:p>
          </p:txBody>
        </p:sp>
        <p:sp>
          <p:nvSpPr>
            <p:cNvPr id="114711" name="Rectangle 26">
              <a:extLst>
                <a:ext uri="{FF2B5EF4-FFF2-40B4-BE49-F238E27FC236}">
                  <a16:creationId xmlns:a16="http://schemas.microsoft.com/office/drawing/2014/main" id="{B9776667-DCF5-437F-8B0A-62D79FEB0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3562"/>
              <a:ext cx="544" cy="3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chemeClr val="folHlink"/>
                </a:buClr>
                <a:buSzPct val="80000"/>
                <a:buFont typeface="Monotype Sorts" pitchFamily="-65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33CC33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Font typeface="Times New Roman" panose="02020603050405020304" pitchFamily="18" charset="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2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cs typeface="B Nazanin" panose="00000400000000000000" pitchFamily="2" charset="-78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020D1003-A76A-4712-AC93-D37FD984D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عملیات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Selection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Projection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28BCB661-FBEF-4FBD-B855-FDA9563D53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3394" y="1102497"/>
            <a:ext cx="7738711" cy="5367972"/>
          </a:xfrm>
        </p:spPr>
        <p:txBody>
          <a:bodyPr/>
          <a:lstStyle/>
          <a:p>
            <a:pPr algn="r" rtl="1"/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Selection: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نظر بگیرید نمای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</a:t>
            </a:r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r).</a:t>
            </a: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vnew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vold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∪ </a:t>
            </a:r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  //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درج‌ها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vnew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vold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– </a:t>
            </a:r>
            <a:r>
              <a:rPr lang="el-G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σθ(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dr)   //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حذف‌ها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Projection: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عملیات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Projection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پیچیده‌تر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  <a:b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= (A,B)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r(R) = { (a,2), (a,3) }</a:t>
            </a:r>
            <a:b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رکورد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دارد.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رکورد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(a,2)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شود، نباید رکورد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شود.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اما اگر بعداً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(a,3)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نیز حذف شود، باید رکورد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شود.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هر رکورد در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شمارش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تعداد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دفعاتی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از آن حاصل شده نگهداری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درج یک رکورد به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r،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رکورد حاصل قبلاً در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شمارش آن افزایش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می‌یابد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در غیر این صورت رکورد جدید با شمارش = 1 اضافه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حذف یک رکورد از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r،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شمارش رکورد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متناظر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کاهش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می‌یابد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شمارش به 0 برسد، رکورد از 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</a:t>
            </a:r>
            <a:r>
              <a:rPr lang="en-US" altLang="en-US" baseline="-25000" dirty="0">
                <a:cs typeface="B Nazanin" panose="00000400000000000000" pitchFamily="2" charset="-78"/>
                <a:sym typeface="Symbol" panose="05050102010706020507" pitchFamily="18" charset="2"/>
              </a:rPr>
              <a:t>A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cs typeface="B Nazanin" panose="00000400000000000000" pitchFamily="2" charset="-78"/>
                <a:sym typeface="Symbol" panose="05050102010706020507" pitchFamily="18" charset="2"/>
              </a:rPr>
              <a:t>r</a:t>
            </a:r>
            <a:r>
              <a:rPr lang="en-US" altLang="en-US" dirty="0">
                <a:cs typeface="B Nazanin" panose="00000400000000000000" pitchFamily="2" charset="-78"/>
                <a:sym typeface="Symbol" panose="05050102010706020507" pitchFamily="18" charset="2"/>
              </a:rPr>
              <a:t>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>
              <a:lnSpc>
                <a:spcPct val="90000"/>
              </a:lnSpc>
            </a:pPr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>
            <a:extLst>
              <a:ext uri="{FF2B5EF4-FFF2-40B4-BE49-F238E27FC236}">
                <a16:creationId xmlns:a16="http://schemas.microsoft.com/office/drawing/2014/main" id="{DDAB46FC-E8E0-48E4-80B7-931246E93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عملیات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تجمیع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(Aggregation)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0E0807D7-9E63-4269-AA38-F3547D47C2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27075"/>
            <a:ext cx="7911967" cy="5359798"/>
          </a:xfrm>
        </p:spPr>
        <p:txBody>
          <a:bodyPr/>
          <a:lstStyle/>
          <a:p>
            <a:pPr algn="r" rtl="1"/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Count: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A 𝛾 count(B)(r)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درج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هر رکورد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ir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گروه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متناظر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وجود دارد، شمارش آن افزایش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می‌یابد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در غیر این صورت یک رکورد جدید با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count = 1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حذف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dr: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هر رکورد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dr،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گروه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t.A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پیدا شده و 1 از شمارش گروه کسر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b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شمارش به 0 برسد، رکورد گروه </a:t>
            </a:r>
            <a:r>
              <a:rPr lang="en-US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t.A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از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Sum:</a:t>
            </a:r>
            <a:b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A 𝛾 sum(B)(r)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 را مشابه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Count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با این تفاوت که به جای افزودن/کسر 1، مقدار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B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اضافه یا کم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علاوه بر این، شمارش نیز نگهداری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تا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گروه‌هایی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هیچ رکوردی ندارند شناسایی و حذف شوند.</a:t>
            </a: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نمی‌توان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صرفاً بررسی کرد که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sum = 0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است، زیرا ممکن است مجموع صفر باشد ولی گروه هنوز رکورد داشته باشد (مثلاً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B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های مثبت و منفی جمع شوند).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151571D9-41CB-4596-A996-938FAA3BA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عملیات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تجمیعی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(ادامه)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9B7B3AC-1ABF-49DF-AF01-F691EB2FBB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4142" y="1102497"/>
            <a:ext cx="7815715" cy="5367972"/>
          </a:xfrm>
        </p:spPr>
        <p:txBody>
          <a:bodyPr/>
          <a:lstStyle/>
          <a:p>
            <a:pPr algn="r" rtl="1"/>
            <a:r>
              <a:rPr lang="en-US" sz="2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:Avg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چگونه میانگین را مدیریت کنیم؟</a:t>
            </a:r>
          </a:p>
          <a:p>
            <a:pPr algn="r" rtl="1"/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 و شمارش را جداگانه نگهداری کرده و در انتها تقسیم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en-US" sz="28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:min, max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A 𝛾 min(B)(r)</a:t>
            </a:r>
          </a:p>
          <a:p>
            <a:pPr algn="r" rtl="1"/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مدیریت درج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ساده است.</a:t>
            </a:r>
          </a:p>
          <a:p>
            <a:pPr algn="r" rtl="1"/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نگهداری مقادیر 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min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max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حذف‌ها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پرهزینه‌تر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باشد، زیرا باید سایر </a:t>
            </a:r>
            <a:r>
              <a:rPr lang="fa-IR" sz="28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8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که در همان گروه هستند را بررسی کنیم تا مقدار حداقل جدید پیدا شود.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>
            <a:extLst>
              <a:ext uri="{FF2B5EF4-FFF2-40B4-BE49-F238E27FC236}">
                <a16:creationId xmlns:a16="http://schemas.microsoft.com/office/drawing/2014/main" id="{88A5C79D-2980-4933-B999-0C1CB063B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سایر عملیات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B15AE1A-2B34-49F7-8827-48B36731FD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9" y="1102497"/>
            <a:ext cx="7777214" cy="5367972"/>
          </a:xfrm>
        </p:spPr>
        <p:txBody>
          <a:bodyPr/>
          <a:lstStyle/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اشتراک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مجموعه‌ها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:(Set Intersection)</a:t>
            </a:r>
            <a:b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r ∩ s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هنگام درج یک رکورد 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r،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بررسی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آیا 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موجود است؛ اگر موجود بود، به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رکورد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شود، در صورتی که در اشتراک باشد،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حذف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صورت متقارن انجام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سایر عملیات مجموعه، مانند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union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set difference،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شکل مشابه مدیریت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Outer join‌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مشابه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مدیریت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اما با مقداری کار اضافی؛ جزئیات به عهده شما گذاشته شده است.</a:t>
            </a:r>
          </a:p>
          <a:p>
            <a:pPr algn="r" rtl="1"/>
            <a:endParaRPr lang="en-US" altLang="en-US" sz="2400" i="1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8C24792D-347C-4000-8A81-BE5079874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مدیریت عبارات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02A46EB9-5790-4CEB-9911-9C57E67C4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3768" y="1102497"/>
            <a:ext cx="7738712" cy="5367972"/>
          </a:xfr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مدیریت یک عبارت کامل، ابتدا عبارات لازم برای محاسبه تغییرات افزایشی در نتیجه هر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استخراج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شروع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کوچک‌ترین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فرض کنید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 E2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 که هر یک از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یک عبارت پیچیده باشند.</a:t>
            </a:r>
            <a:b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</a:b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مجموعه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باید به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درج شوند با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D1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مشخص شده باشد (که قبلاً محاسبه شده است، زیرا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کوچک‌تر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ابتدا پردازش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سپس مجموعه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باید به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E1 ⨝ E2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درج شوند به صورت زیر است:</a:t>
            </a:r>
          </a:p>
          <a:p>
            <a:pPr algn="r" rtl="1"/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D1 ⨝ E2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همان روش معمول نگهداری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است.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>
            <a:extLst>
              <a:ext uri="{FF2B5EF4-FFF2-40B4-BE49-F238E27FC236}">
                <a16:creationId xmlns:a16="http://schemas.microsoft.com/office/drawing/2014/main" id="{D41360BC-8943-4AAA-98E8-F926231F0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6104" y="117475"/>
            <a:ext cx="8507896" cy="687595"/>
          </a:xfrm>
        </p:spPr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و نماهای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مادی‌سازی‌شده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BB96845-D085-4AD5-B5DE-88E616B848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5000" y="805070"/>
            <a:ext cx="7891879" cy="5367972"/>
          </a:xfrm>
        </p:spPr>
        <p:txBody>
          <a:bodyPr/>
          <a:lstStyle/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بازنویسی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استفاده از نماهای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یک نمای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r ⨝ s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موجود باشد.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کاربر یک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ارسال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⨝ t</a:t>
            </a: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بازنویسی کرد به: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⨝ t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تصمیم برای انجام این کار به برآورد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هزینه‌های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دو حالت جایگزین بستگی دارد.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جایگزینی استفاده از نما با تعریف نما: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نمای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= r ⨝ s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موجود است، اما هیچ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آن وجود ندارد.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کاربر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l-G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A=10(v)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ارسال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فرض کنید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ویژگی مشترک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B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ویژگی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دارد.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بهترین طرح برای این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جایگزینی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v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⨝ s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که منجر به طرح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l-G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σ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A=10(r) ⨝ s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باید گسترش یابد تا تمام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جایگزین‌های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فوق را در نظر گرفته و بهترین طرح کلی را انتخاب کند.</a:t>
            </a:r>
          </a:p>
          <a:p>
            <a:pPr algn="r" rtl="1"/>
            <a:endParaRPr lang="en-US" altLang="en-US" sz="2000" baseline="30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6F57FFC9-13C8-49FB-AD66-B06F70AF6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انتخاب نماهای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مادی‌سازی‌شده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EF061E1-B61C-49C7-AD3C-4E6E657AB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5779" y="892204"/>
            <a:ext cx="7902341" cy="5367972"/>
          </a:xfrm>
        </p:spPr>
        <p:txBody>
          <a:bodyPr/>
          <a:lstStyle/>
          <a:p>
            <a:pPr algn="r" rtl="1"/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نماهای </a:t>
            </a:r>
            <a:r>
              <a:rPr lang="fa-IR" sz="22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«بهترین مجموعه نماها برای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کدام است؟»</a:t>
            </a:r>
          </a:p>
          <a:p>
            <a:pPr algn="r" rtl="1"/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</a:t>
            </a:r>
            <a:r>
              <a:rPr lang="fa-IR" sz="22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ایندکس‌ها</a:t>
            </a:r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«بهترین مجموعه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برای ایجاد کدام است؟»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موضوع ارتباط نزدیکی با انتخاب نماهای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دارد، اما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ساده‌تر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انتخاب نماهای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بر اساس </a:t>
            </a:r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بار کاری معمول سیستم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انجام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هدف معمول: </a:t>
            </a:r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حداقل رساندن زمان اجرای بار کاری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با توجه به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محدودیت‌ها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فضا و زمان لازم برای برخی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/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به‌روزرسانی‌های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حیاتی.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یکی از مراحل </a:t>
            </a:r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تنظیم پایگاه داده (</a:t>
            </a:r>
            <a:r>
              <a:rPr lang="en-US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database tuning)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جزئیات بیشتر درباره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tuning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فصل‌های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بعد ارائه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پایگاه داده تجاری ابزارهایی (به نام </a:t>
            </a:r>
            <a:r>
              <a:rPr lang="en-US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tuning assistants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</a:t>
            </a:r>
            <a:r>
              <a:rPr lang="en-US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wizards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ارائه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می‌دهند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تا مدیر پایگاه داده را در انتخاب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نماهای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راهنمایی کنند.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>
            <a:extLst>
              <a:ext uri="{FF2B5EF4-FFF2-40B4-BE49-F238E27FC236}">
                <a16:creationId xmlns:a16="http://schemas.microsoft.com/office/drawing/2014/main" id="{2554C05B-86BE-43CA-B75F-20E38231C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Top-K Queries		</a:t>
            </a:r>
          </a:p>
        </p:txBody>
      </p:sp>
      <p:sp>
        <p:nvSpPr>
          <p:cNvPr id="580611" name="Rectangle 3">
            <a:extLst>
              <a:ext uri="{FF2B5EF4-FFF2-40B4-BE49-F238E27FC236}">
                <a16:creationId xmlns:a16="http://schemas.microsoft.com/office/drawing/2014/main" id="{63947A30-1241-46C8-AEFC-48B69E9EA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8152531" cy="5367972"/>
          </a:xfrm>
        </p:spPr>
        <p:txBody>
          <a:bodyPr/>
          <a:lstStyle/>
          <a:p>
            <a:pPr algn="r" rtl="1"/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کوئری‌های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Top-K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 * 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r, s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s.B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order by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ascending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limit 10</a:t>
            </a:r>
          </a:p>
          <a:p>
            <a:pPr algn="r" rtl="1"/>
            <a:r>
              <a:rPr lang="fa-IR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گزینه‌های</a:t>
            </a:r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جایگزین:</a:t>
            </a:r>
            <a:endParaRPr lang="fa-IR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Indexed nested loops join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عنوان جدول بیرونی</a:t>
            </a:r>
          </a:p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برآورد بالاترین مقدار </a:t>
            </a:r>
            <a:r>
              <a:rPr lang="en-US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نتیجه و افزودن شرط انتخاب 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&lt;= H)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قسمت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</a:t>
            </a:r>
          </a:p>
          <a:p>
            <a:pPr lvl="1"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کمتر از 10 نتیجه به دست آمد، دوباره با مقدار بزرگتر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H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اجرا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>
            <a:extLst>
              <a:ext uri="{FF2B5EF4-FFF2-40B4-BE49-F238E27FC236}">
                <a16:creationId xmlns:a16="http://schemas.microsoft.com/office/drawing/2014/main" id="{DE261D62-D3DC-4120-986F-F48814F86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به‌روزرسانی‌ها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584707" name="Rectangle 3">
            <a:extLst>
              <a:ext uri="{FF2B5EF4-FFF2-40B4-BE49-F238E27FC236}">
                <a16:creationId xmlns:a16="http://schemas.microsoft.com/office/drawing/2014/main" id="{5DA8610A-A3F6-4053-8481-25583B0B1B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616360"/>
            <a:ext cx="7806088" cy="5367972"/>
          </a:xfrm>
        </p:spPr>
        <p:txBody>
          <a:bodyPr/>
          <a:lstStyle/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مسئله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Halloween</a:t>
            </a:r>
            <a:endPara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</a:p>
          <a:p>
            <a:pPr algn="r" rtl="1"/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update R set A = 5 * A</a:t>
            </a:r>
          </a:p>
          <a:p>
            <a:pPr algn="r" rtl="1"/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A &gt; 10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A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پیدا کردن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satisfying A &gt; 10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استفاده شود 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فوراً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شوند، ممکن است همان رکورد چندین بار پیدا 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شود.</a:t>
            </a:r>
          </a:p>
          <a:p>
            <a:pPr algn="r" rtl="1"/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راه‌حل‌ها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همیشه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به تعویق بیندازید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تغییرات (مقادیر قدیمی و جدید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)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جمع‌آوری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 و در گذر دوم جدول 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ایندکس‌ها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عیب: سربار اضافی حتی اگر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فقط روی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 و نه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شرط انتخاب.</a:t>
            </a:r>
          </a:p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فقط در صورت نیاز به تعویق بیندازید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به‌روزرسانی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ویژگی‌های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شرط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تأثیری ندارد،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فوراً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 شود و در غیر این صورت به تعویق بیفتد.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>
            <a:extLst>
              <a:ext uri="{FF2B5EF4-FFF2-40B4-BE49-F238E27FC236}">
                <a16:creationId xmlns:a16="http://schemas.microsoft.com/office/drawing/2014/main" id="{E58A9BE0-C2AD-415E-9C5E-4D7A7105E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کاهش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Join (Join Minimization)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585731" name="Rectangle 3">
            <a:extLst>
              <a:ext uri="{FF2B5EF4-FFF2-40B4-BE49-F238E27FC236}">
                <a16:creationId xmlns:a16="http://schemas.microsoft.com/office/drawing/2014/main" id="{9D9708BD-6A98-4F13-A1C2-4ADCEB2C6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806089" cy="5367972"/>
          </a:xfrm>
        </p:spPr>
        <p:txBody>
          <a:bodyPr/>
          <a:lstStyle/>
          <a:p>
            <a:pPr algn="r" rtl="1"/>
            <a:r>
              <a:rPr lang="fa-IR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کاهش </a:t>
            </a:r>
            <a:r>
              <a:rPr lang="en-US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(Join Minimization)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,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r, s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s.B</a:t>
            </a:r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بررسی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آیا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اضافی است و در صورت امکان حذف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می‌کنیم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اگر شرط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روی کلید خارجی از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باشد،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 عنوان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NOT NULL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تعریف شده باشد و هیچ شرط انتخابی روی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وجود نداشته باشد،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اضافی است.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شرایط کافی دیگر نیز ممکن است وجود داشته باشد.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پیچیده‌تر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, s2.B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r, s as s1, s as s2</a:t>
            </a:r>
          </a:p>
          <a:p>
            <a:pPr marL="0" indent="0" rtl="1">
              <a:buNone/>
            </a:pP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s1.B and 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r.B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= s2.B and s1.A &lt; 20 and s2.A &lt; 10</a:t>
            </a:r>
          </a:p>
          <a:p>
            <a:pPr algn="r" rtl="1"/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join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s1 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اضافی است و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آن را حذف کرد (همراه با شرط انتخاب روی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s1).</a:t>
            </a:r>
          </a:p>
          <a:p>
            <a:pPr algn="r"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حوزه تحقیق زیادی از دهه 70 و 80 میلادی داشته است.</a:t>
            </a:r>
          </a:p>
          <a:p>
            <a:pPr algn="r" rtl="1"/>
            <a:endParaRPr lang="en-US" alt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>
            <a:extLst>
              <a:ext uri="{FF2B5EF4-FFF2-40B4-BE49-F238E27FC236}">
                <a16:creationId xmlns:a16="http://schemas.microsoft.com/office/drawing/2014/main" id="{EB6996E5-15DA-452E-9ACC-FDFE84030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چندکوئری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Multiquery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Optimization)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F292F5C0-6E68-4B75-91C7-B7029DB98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3018" y="1102497"/>
            <a:ext cx="7786839" cy="5367972"/>
          </a:xfrm>
        </p:spPr>
        <p:txBody>
          <a:bodyPr/>
          <a:lstStyle/>
          <a:p>
            <a:pPr algn="r" rtl="1"/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  <a:endParaRPr lang="fa-IR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rtl="1">
              <a:buNone/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Q1: select * from (r natural join t) natural join s</a:t>
            </a:r>
          </a:p>
          <a:p>
            <a:pPr marL="0" indent="0" rtl="1">
              <a:buNone/>
            </a:pP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Q2: select * from (r natural join u) natural join s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دو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یک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زیرعبارت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دارند: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(r natural join s)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مفید باشد که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(r natural join s)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بار محاسبه شود و در هر دو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استفاده شود.</a:t>
            </a: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اما در برخی موارد، این ممکن است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پرهزینه‌تر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باشد، مثلاً اگر 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(r natural join s) 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خود گران باشد و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نشان‌داده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 در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ارزان‌تر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باشند.</a:t>
            </a:r>
          </a:p>
          <a:p>
            <a:pPr algn="r" rtl="1"/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چندکوئری</a:t>
            </a:r>
            <a:r>
              <a:rPr lang="fa-IR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:(</a:t>
            </a:r>
            <a:r>
              <a:rPr lang="en-US" sz="20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Multiquery</a:t>
            </a:r>
            <a:r>
              <a:rPr lang="en-US" sz="20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Optimization)</a:t>
            </a:r>
            <a:endParaRPr 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یافتن بهترین طرح کلی برای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بهره‌گیری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اشتراک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 بین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در صورتی که مفید باشد.</a:t>
            </a:r>
          </a:p>
          <a:p>
            <a:pPr algn="r" rtl="1"/>
            <a:endParaRPr lang="en-US" altLang="en-US" sz="20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>
            <a:extLst>
              <a:ext uri="{FF2B5EF4-FFF2-40B4-BE49-F238E27FC236}">
                <a16:creationId xmlns:a16="http://schemas.microsoft.com/office/drawing/2014/main" id="{A09BD3B2-8A31-4283-B98B-4C2804804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چندکوئری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</a:t>
            </a:r>
            <a:r>
              <a:rPr lang="en-US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Multiquery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Optimization)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87779" name="Rectangle 3">
            <a:extLst>
              <a:ext uri="{FF2B5EF4-FFF2-40B4-BE49-F238E27FC236}">
                <a16:creationId xmlns:a16="http://schemas.microsoft.com/office/drawing/2014/main" id="{C04C51B4-5ABE-4B37-B882-66901A2F03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7212" y="727075"/>
            <a:ext cx="7748338" cy="5367972"/>
          </a:xfrm>
        </p:spPr>
        <p:txBody>
          <a:bodyPr/>
          <a:lstStyle/>
          <a:p>
            <a:pPr algn="r" rtl="1"/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روش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ساده‌ای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در برخی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پایگاه داده استفاده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endParaRPr lang="fa-IR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به‌طور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جداگانه بهینه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 در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 هر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شناسایی و مورد استفاده قرار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می‌گیرند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همیشه بهترین طرح را ندهد، اما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پیاده‌سازی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کم‌هزینه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اسکن‌های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 (Shared Scans)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 حالت خاص و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پرکاربرد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چندکوئری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است.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نماهای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مادی‌سازی‌شده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 داشته باشند.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نتیجه،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نگهداری نما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زیرعبارات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مشترک را استفاده کنند.</a:t>
            </a:r>
          </a:p>
          <a:p>
            <a:pPr algn="r" rtl="1"/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چندکوئری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چنین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مواردی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مفید باشد.</a:t>
            </a:r>
          </a:p>
          <a:p>
            <a:pPr algn="r" rtl="1"/>
            <a:endParaRPr lang="en-US" alt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>
            <a:extLst>
              <a:ext uri="{FF2B5EF4-FFF2-40B4-BE49-F238E27FC236}">
                <a16:creationId xmlns:a16="http://schemas.microsoft.com/office/drawing/2014/main" id="{8C061276-EE61-4681-9D81-597190E6E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915" y="-218190"/>
            <a:ext cx="8989108" cy="912672"/>
          </a:xfrm>
        </p:spPr>
        <p:txBody>
          <a:bodyPr/>
          <a:lstStyle/>
          <a:p>
            <a:pPr rtl="1">
              <a:defRPr/>
            </a:pP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پارامتریک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(Parametric Query Optimization)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A7BBF060-5EFF-48AA-B7ED-A3C9827CEB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235" y="694482"/>
            <a:ext cx="7950468" cy="5527193"/>
          </a:xfrm>
        </p:spPr>
        <p:txBody>
          <a:bodyPr/>
          <a:lstStyle/>
          <a:p>
            <a:pPr algn="r" rtl="1"/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</a:t>
            </a:r>
            <a:endParaRPr lang="fa-IR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marL="0" indent="0" algn="l">
              <a:buNone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select * </a:t>
            </a:r>
          </a:p>
          <a:p>
            <a:pPr marL="0" indent="0" algn="l">
              <a:buNone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from r natural join s</a:t>
            </a:r>
          </a:p>
          <a:p>
            <a:pPr marL="0" indent="0" algn="l">
              <a:buNone/>
            </a:pP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where </a:t>
            </a:r>
            <a:r>
              <a:rPr lang="en-US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r.a</a:t>
            </a:r>
            <a:r>
              <a:rPr lang="en-US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&lt; $1</a:t>
            </a:r>
          </a:p>
          <a:p>
            <a:pPr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مقدار پارامتر $1 در زمان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کامپایل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مشخص نیست و تنها در زمان اجرا معلوم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برای مقادیر مختلف $1،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 متفاوت ممکن است باشند.</a:t>
            </a:r>
          </a:p>
          <a:p>
            <a:pPr algn="r" rtl="1"/>
            <a:r>
              <a:rPr lang="fa-IR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راه‌حل‌ها</a:t>
            </a:r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:</a:t>
            </a:r>
            <a:endParaRPr lang="fa-IR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زمان اجرا:</a:t>
            </a:r>
            <a:endParaRPr lang="fa-IR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هر بار که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ارسال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انجام شود.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ممکن است پرهزینه باشد.</a:t>
            </a:r>
          </a:p>
          <a:p>
            <a:pPr algn="r" rtl="1"/>
            <a:r>
              <a:rPr lang="fa-IR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پارامتریک</a:t>
            </a:r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</a:t>
            </a:r>
            <a:r>
              <a:rPr lang="en-US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Parametric Query Optimization):</a:t>
            </a:r>
            <a:endPara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مجموعه‌ای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تولید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برای مقادیر مختلف $1 بهینه هستند.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مجموعه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 معمولاً کوچک است (برای ۱ تا ۳ پارامتر).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مسئله کلیدی: چگونه این مجموعه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 را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به‌صورت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کارآمد پیدا کنیم.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بهترین طرح از این مجموعه در زمان اجرا انتخاب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وقتی مقدار $1 مشخص شود.</a:t>
            </a:r>
          </a:p>
          <a:p>
            <a:pPr algn="r" rtl="1"/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کش کردن طرح </a:t>
            </a:r>
            <a:r>
              <a:rPr lang="fa-IR" sz="1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(</a:t>
            </a:r>
            <a:r>
              <a:rPr lang="en-US" sz="1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Query Plan Caching):</a:t>
            </a:r>
            <a:endParaRPr 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تشخیص دهد که یک طرح برای تمام مقادیر پارامتر بهینه است، آن را ذخیره کرده و دوباره استفاده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غیر این صورت، هر بار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مجدداً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بهینه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می‌شود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algn="r" rtl="1"/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این روش در بسیاری از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پایگاه داده </a:t>
            </a:r>
            <a:r>
              <a:rPr lang="fa-IR" sz="1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پیاده‌سازی</a:t>
            </a:r>
            <a:r>
              <a:rPr lang="fa-IR" sz="1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شده است.</a:t>
            </a:r>
          </a:p>
          <a:p>
            <a:pPr algn="r" rtl="1">
              <a:lnSpc>
                <a:spcPct val="90000"/>
              </a:lnSpc>
            </a:pPr>
            <a:endParaRPr lang="en-US" altLang="en-US" sz="1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5546-9A3B-47C7-96BE-60F4DE77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47934" y="249829"/>
            <a:ext cx="9984532" cy="609600"/>
          </a:xfrm>
        </p:spPr>
        <p:txBody>
          <a:bodyPr/>
          <a:lstStyle/>
          <a:p>
            <a:pPr algn="r" rtl="1">
              <a:defRPr/>
            </a:pP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پایداری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طرح‌ها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در تغییرات </a:t>
            </a:r>
            <a:r>
              <a:rPr lang="fa-IR" sz="2000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بهینه‌ساز</a:t>
            </a:r>
            <a:r>
              <a:rPr lang="fa-IR" sz="2000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(</a:t>
            </a:r>
            <a:r>
              <a:rPr lang="en-US" sz="2000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Plan Stability Across Optimizer Changes)</a:t>
            </a:r>
            <a:endParaRPr lang="en-US" alt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145411" name="Content Placeholder 2">
            <a:extLst>
              <a:ext uri="{FF2B5EF4-FFF2-40B4-BE49-F238E27FC236}">
                <a16:creationId xmlns:a16="http://schemas.microsoft.com/office/drawing/2014/main" id="{C0437DCE-58E9-4A06-B03F-9D3FAD7B7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7457" y="859429"/>
            <a:ext cx="7729086" cy="5367972"/>
          </a:xfrm>
        </p:spPr>
        <p:txBody>
          <a:bodyPr/>
          <a:lstStyle/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اگر ۹۵٪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نسخه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N+1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پایگاه داده/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سریع‌تر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نسخه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باشند، اما ۵٪ کندتر باشند، چرا برخی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جدید کندتر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می‌شوند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؟</a:t>
            </a:r>
          </a:p>
          <a:p>
            <a:pPr algn="r" rtl="1"/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پاسخ: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دو خطا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می‌توانند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نتیجه درست بدهند، اما اصلاح یکی از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آن‌ها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ممکن است وضعیت را بدتر کند!</a:t>
            </a:r>
          </a:p>
          <a:p>
            <a:pPr algn="r" rtl="1"/>
            <a:r>
              <a:rPr lang="fa-IR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راهکارها:</a:t>
            </a:r>
            <a:endParaRPr lang="fa-IR" sz="22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اجازه دادن به </a:t>
            </a:r>
            <a:r>
              <a:rPr lang="en-US" sz="22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hint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ها برای تنظیم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lvl="1"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عملی نیست برای مهاجرت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بزرگ بدون دسترسی به کد منبع.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تعیین سطح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، به صورت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پیش‌فرض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روی نسخه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(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مثلاً در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Oracle).</a:t>
            </a:r>
          </a:p>
          <a:p>
            <a:pPr lvl="1"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مهاجرت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یکی‌یکی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پس از تست هر دو طرح روی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جدید.</a:t>
            </a:r>
          </a:p>
          <a:p>
            <a:pPr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ذخیره طرح از نسخه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و ارائه آن به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نسخه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N+1.</a:t>
            </a:r>
          </a:p>
          <a:p>
            <a:pPr lvl="1" algn="r" rtl="1"/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Sybase، 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نمایش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XML </a:t>
            </a:r>
            <a:r>
              <a:rPr lang="fa-IR" sz="22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طرح‌ها</a:t>
            </a:r>
            <a:r>
              <a:rPr lang="fa-IR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</a:t>
            </a:r>
            <a:r>
              <a:rPr lang="en-US" sz="22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SQL Server.</a:t>
            </a:r>
          </a:p>
          <a:p>
            <a:pPr algn="r" rtl="1"/>
            <a:endParaRPr lang="en-US" altLang="en-US" sz="22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D4EE-4B72-451A-A76E-369397AC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پردازش تطبیقی </a:t>
            </a:r>
            <a:r>
              <a:rPr lang="fa-IR" dirty="0" err="1">
                <a:latin typeface="Microsoft Sans Serif" panose="020B0604020202020204" pitchFamily="34" charset="0"/>
                <a:ea typeface="Microsoft Sans Serif" panose="020B0604020202020204" pitchFamily="34" charset="0"/>
              </a:rPr>
              <a:t>کوئری</a:t>
            </a:r>
            <a:r>
              <a:rPr lang="fa-IR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 </a:t>
            </a:r>
            <a:r>
              <a:rPr lang="en-US" dirty="0">
                <a:latin typeface="Microsoft Sans Serif" panose="020B0604020202020204" pitchFamily="34" charset="0"/>
                <a:ea typeface="Microsoft Sans Serif" panose="020B0604020202020204" pitchFamily="34" charset="0"/>
              </a:rPr>
              <a:t>(Adaptive Query Processing)</a:t>
            </a:r>
            <a:endParaRPr lang="en-IN" dirty="0">
              <a:latin typeface="Microsoft Sans Serif" panose="020B0604020202020204" pitchFamily="34" charset="0"/>
              <a:ea typeface="Microsoft Sans Serif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6C6B-5EA6-4200-86E1-2EB71F0DF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8" y="1102497"/>
            <a:ext cx="7767588" cy="5367972"/>
          </a:xfrm>
        </p:spPr>
        <p:txBody>
          <a:bodyPr/>
          <a:lstStyle/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از </a:t>
            </a:r>
            <a:r>
              <a:rPr lang="fa-IR" sz="2400" b="1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اپراتورهای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تطبیقی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(adaptive operators)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پشتیبانی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می‌کنند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که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الگوریتم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به صورت پویا تغییر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انتخاب بین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nested loops join(indexed) 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یا </a:t>
            </a:r>
            <a:r>
              <a:rPr lang="en-US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hash join</a:t>
            </a:r>
            <a:r>
              <a:rPr lang="en-US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در زمان اجرا، بسته به اندازه ورودی خارجی.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برخی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سیستم‌های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دیگر اجازه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می‌دهند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رفتار </a:t>
            </a:r>
            <a:r>
              <a:rPr lang="fa-IR" sz="2400" b="1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طرح اجرا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در زمان اجرا مانیتور شود و طرح تطبیق یابد.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مثال: اگر آمار واقعی مانند تعداد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رکوردها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با برآورد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بهینه‌ساز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تفاوت زیادی داشته باشد،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می‌توان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اجرای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کوئری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را متوقف، طرح جدید محاسبه و اجرا را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مجدداً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آغاز کرد.</a:t>
            </a:r>
          </a:p>
          <a:p>
            <a:pPr algn="r" rtl="1"/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با این حال، باید از تعداد زیاد چنین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توقف‌ها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و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راه‌اندازی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</a:t>
            </a:r>
            <a:r>
              <a:rPr lang="fa-IR" sz="2400" dirty="0" err="1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مجددها</a:t>
            </a:r>
            <a:r>
              <a:rPr lang="fa-IR" sz="2400" dirty="0">
                <a:latin typeface="Microsoft Sans Serif" panose="020B0604020202020204" pitchFamily="34" charset="0"/>
                <a:ea typeface="Microsoft Sans Serif" panose="020B0604020202020204" pitchFamily="34" charset="0"/>
                <a:cs typeface="B Nazanin" panose="00000400000000000000" pitchFamily="2" charset="-78"/>
              </a:rPr>
              <a:t> اجتناب شود.</a:t>
            </a:r>
          </a:p>
          <a:p>
            <a:pPr algn="r" rtl="1"/>
            <a:endParaRPr lang="en-IN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95118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976" y="3015003"/>
            <a:ext cx="4169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charset="0"/>
              </a:rPr>
              <a:t>End of Chapter</a:t>
            </a:r>
          </a:p>
        </p:txBody>
      </p:sp>
    </p:spTree>
    <p:extLst>
      <p:ext uri="{BB962C8B-B14F-4D97-AF65-F5344CB8AC3E}">
        <p14:creationId xmlns:p14="http://schemas.microsoft.com/office/powerpoint/2010/main" val="40312729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>
            <a:extLst>
              <a:ext uri="{FF2B5EF4-FFF2-40B4-BE49-F238E27FC236}">
                <a16:creationId xmlns:a16="http://schemas.microsoft.com/office/drawing/2014/main" id="{7A49F457-8B7F-406D-AEEE-8FBBD3FB4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13.01</a:t>
            </a:r>
          </a:p>
        </p:txBody>
      </p:sp>
      <p:pic>
        <p:nvPicPr>
          <p:cNvPr id="148483" name="Picture 5">
            <a:extLst>
              <a:ext uri="{FF2B5EF4-FFF2-40B4-BE49-F238E27FC236}">
                <a16:creationId xmlns:a16="http://schemas.microsoft.com/office/drawing/2014/main" id="{3B6B5FF1-FFC4-40A3-8D0F-0340B8D37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917575"/>
            <a:ext cx="8470900" cy="412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>
            <a:extLst>
              <a:ext uri="{FF2B5EF4-FFF2-40B4-BE49-F238E27FC236}">
                <a16:creationId xmlns:a16="http://schemas.microsoft.com/office/drawing/2014/main" id="{DC67F1A1-F855-4F04-A112-646B0F5EB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13.02</a:t>
            </a:r>
          </a:p>
        </p:txBody>
      </p:sp>
      <p:pic>
        <p:nvPicPr>
          <p:cNvPr id="150531" name="Picture 5">
            <a:extLst>
              <a:ext uri="{FF2B5EF4-FFF2-40B4-BE49-F238E27FC236}">
                <a16:creationId xmlns:a16="http://schemas.microsoft.com/office/drawing/2014/main" id="{82C920D4-6B5D-4EAC-B14D-A03FDA48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862013"/>
            <a:ext cx="7669213" cy="561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>
            <a:extLst>
              <a:ext uri="{FF2B5EF4-FFF2-40B4-BE49-F238E27FC236}">
                <a16:creationId xmlns:a16="http://schemas.microsoft.com/office/drawing/2014/main" id="{32AF4A59-481D-41A5-91EE-61680CEA2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13.03</a:t>
            </a:r>
          </a:p>
        </p:txBody>
      </p:sp>
      <p:pic>
        <p:nvPicPr>
          <p:cNvPr id="152579" name="Picture 5">
            <a:extLst>
              <a:ext uri="{FF2B5EF4-FFF2-40B4-BE49-F238E27FC236}">
                <a16:creationId xmlns:a16="http://schemas.microsoft.com/office/drawing/2014/main" id="{D0989958-BAE7-440C-A6F0-295081404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827088"/>
            <a:ext cx="7694613" cy="573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>
            <a:extLst>
              <a:ext uri="{FF2B5EF4-FFF2-40B4-BE49-F238E27FC236}">
                <a16:creationId xmlns:a16="http://schemas.microsoft.com/office/drawing/2014/main" id="{E32A1396-1D3E-43EF-B1F7-E61929450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13.04</a:t>
            </a:r>
          </a:p>
        </p:txBody>
      </p:sp>
      <p:pic>
        <p:nvPicPr>
          <p:cNvPr id="154627" name="Picture 5">
            <a:extLst>
              <a:ext uri="{FF2B5EF4-FFF2-40B4-BE49-F238E27FC236}">
                <a16:creationId xmlns:a16="http://schemas.microsoft.com/office/drawing/2014/main" id="{5F38408B-64A6-4882-8893-7912FE2B7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928688"/>
            <a:ext cx="8753475" cy="383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>
            <a:extLst>
              <a:ext uri="{FF2B5EF4-FFF2-40B4-BE49-F238E27FC236}">
                <a16:creationId xmlns:a16="http://schemas.microsoft.com/office/drawing/2014/main" id="{62EE0589-8671-40D2-9537-E2E6080B1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13.06</a:t>
            </a:r>
          </a:p>
        </p:txBody>
      </p:sp>
      <p:pic>
        <p:nvPicPr>
          <p:cNvPr id="156675" name="Picture 5">
            <a:extLst>
              <a:ext uri="{FF2B5EF4-FFF2-40B4-BE49-F238E27FC236}">
                <a16:creationId xmlns:a16="http://schemas.microsoft.com/office/drawing/2014/main" id="{F65C49E8-9306-499A-B77F-F42FD02DB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881063"/>
            <a:ext cx="7721600" cy="544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>
            <a:extLst>
              <a:ext uri="{FF2B5EF4-FFF2-40B4-BE49-F238E27FC236}">
                <a16:creationId xmlns:a16="http://schemas.microsoft.com/office/drawing/2014/main" id="{B15D7F7B-1A7D-4359-963D-F9EFF0331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Figure 13.08</a:t>
            </a:r>
          </a:p>
        </p:txBody>
      </p:sp>
      <p:pic>
        <p:nvPicPr>
          <p:cNvPr id="158723" name="Picture 5">
            <a:extLst>
              <a:ext uri="{FF2B5EF4-FFF2-40B4-BE49-F238E27FC236}">
                <a16:creationId xmlns:a16="http://schemas.microsoft.com/office/drawing/2014/main" id="{467239E3-44A3-4338-8B79-23A9C5253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990600"/>
            <a:ext cx="8531225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1B40F190-8F0E-46FA-A03B-CD59DA3B9BE7}" vid="{5BEDA3C5-9F17-4237-A302-9E1B73B082A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133097</TotalTime>
  <Words>9104</Words>
  <Application>Microsoft Office PowerPoint</Application>
  <PresentationFormat>On-screen Show (4:3)</PresentationFormat>
  <Paragraphs>728</Paragraphs>
  <Slides>86</Slides>
  <Notes>71</Notes>
  <HiddenSlides>2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102" baseType="lpstr">
      <vt:lpstr>MS PGothic</vt:lpstr>
      <vt:lpstr>Arial</vt:lpstr>
      <vt:lpstr>B Nazanin</vt:lpstr>
      <vt:lpstr>Bahnschrift SemiBold</vt:lpstr>
      <vt:lpstr>Cambria Math</vt:lpstr>
      <vt:lpstr>Greek Symbols</vt:lpstr>
      <vt:lpstr>Helvetica</vt:lpstr>
      <vt:lpstr>Microsoft Sans Serif</vt:lpstr>
      <vt:lpstr>Microsoft Uighur</vt:lpstr>
      <vt:lpstr>Monotype Sorts</vt:lpstr>
      <vt:lpstr>Symbol</vt:lpstr>
      <vt:lpstr>Times New Roman</vt:lpstr>
      <vt:lpstr>Webdings</vt:lpstr>
      <vt:lpstr>Wingdings</vt:lpstr>
      <vt:lpstr>db</vt:lpstr>
      <vt:lpstr>Equation</vt:lpstr>
      <vt:lpstr>فصل ۱۶: بهینه‌سازی پرس‌وجو</vt:lpstr>
      <vt:lpstr>سرفصل‌ها</vt:lpstr>
      <vt:lpstr>مقدمه</vt:lpstr>
      <vt:lpstr>Introduction (Cont.)</vt:lpstr>
      <vt:lpstr>Introduction (Cont.)</vt:lpstr>
      <vt:lpstr>مشاهدهٔ طرح اجرای پرس‌وجو</vt:lpstr>
      <vt:lpstr>PowerPoint Presentation</vt:lpstr>
      <vt:lpstr>تبدیل عبارات جبر رابطه‌ای</vt:lpstr>
      <vt:lpstr>قواعد هم‌ارزی</vt:lpstr>
      <vt:lpstr>قواعد هم‌ارزی</vt:lpstr>
      <vt:lpstr>تصویری از قوانین هم‌ارزی</vt:lpstr>
      <vt:lpstr>قواعد هم‌ارزی</vt:lpstr>
      <vt:lpstr>قواعد هم‌ارزی</vt:lpstr>
      <vt:lpstr>قواعد هم‌ارزی</vt:lpstr>
      <vt:lpstr>Exercise</vt:lpstr>
      <vt:lpstr>قواعد هم‌ارزی</vt:lpstr>
      <vt:lpstr>رقواعد هم‌ارزی</vt:lpstr>
      <vt:lpstr>مثال تبدیل: اعمال انتخاب‌ها به جلو Pushing Selections))</vt:lpstr>
      <vt:lpstr>مثال با چندین تبدیل Multiple Transformations))</vt:lpstr>
      <vt:lpstr>چندین تبدیل (ادامه)</vt:lpstr>
      <vt:lpstr>مثال تبدیل: اعمال پروژه‌ها به جلو Pushing Projections))</vt:lpstr>
      <vt:lpstr>مثال (Join Ordering Example)</vt:lpstr>
      <vt:lpstr>مثال (Join Ordering Example)</vt:lpstr>
      <vt:lpstr>شمارش یا فهرست‌بندی عبارات معادل (Enumeration of Equivalent Expressions)</vt:lpstr>
      <vt:lpstr>پیاده‌سازی بهینه‌سازی مبتنی بر تبدیل (Transformation-Based Optimization)</vt:lpstr>
      <vt:lpstr>تخمین هزینه Cost Estimation))</vt:lpstr>
      <vt:lpstr>انتخاب پلن‌های ارزیابی</vt:lpstr>
      <vt:lpstr>  بهینه‌سازی مبتنی بر هزینه در نظر بگیرید یافتن بهترین ترتیب join برای r1 ⨝ r2 ⨝ … ⨝ rn برای این عبارت، (2(n - 1))! / (n - 1)! ترتیب join متفاوت وجود دارد. برای n = 7 این تعداد برابر با 665280 است و برای n = 10 این عدد بیشتر از 176 میلیارد است! نیازی به تولید تمام ترتیب‌های join نیست. با استفاده از برنامه‌نویسی پویا (dynamic programming)، کم‌هزینه‌ترین ترتیب join برای هر زیرمجموعه‌ای از {r1, r2, …, rn} فقط یک بار محاسبه شده و برای استفاده‌های بعدی ذخیره می‌شود. </vt:lpstr>
      <vt:lpstr>برنامه‌ریزی پویا در بهینه‌سازی</vt:lpstr>
      <vt:lpstr>الگوریتم بهینه‌سازی ترتیب Join</vt:lpstr>
      <vt:lpstr>الگوریتم بهینه‌سازی ترتیب Join</vt:lpstr>
      <vt:lpstr>درخت‌های Join با عمق چپ </vt:lpstr>
      <vt:lpstr>هزینه بهینه‌سازی</vt:lpstr>
      <vt:lpstr>ترتیب‌های مرتب‌سازی جالب</vt:lpstr>
      <vt:lpstr>بهینه‌سازی مبتنی بر هزینه با استفاده از قوانین هم‌ارزی</vt:lpstr>
      <vt:lpstr>بهینه‌سازی هیوریستیک </vt:lpstr>
      <vt:lpstr>ساختار بهینه‌سازهای کوئری</vt:lpstr>
      <vt:lpstr>ساختار بهینه‌سازهای کوئری (ادامه)</vt:lpstr>
      <vt:lpstr>PowerPoint Presentation</vt:lpstr>
      <vt:lpstr>اطلاعات آماری برای تخمین هزینه</vt:lpstr>
      <vt:lpstr>هیستوگرام‌ها</vt:lpstr>
      <vt:lpstr>هیستوگرام‌ها (Histograms)</vt:lpstr>
      <vt:lpstr>برآورد اندازه انتخاب (Selection Size Estimation)</vt:lpstr>
      <vt:lpstr>تخمین اندازه انتخاب‌های پیچیده</vt:lpstr>
      <vt:lpstr>عملیات Join: مثال در حال اجرا</vt:lpstr>
      <vt:lpstr>تخمین اندازه Join‌ها </vt:lpstr>
      <vt:lpstr>تخمین اندازه Join‌ها (ادامه)</vt:lpstr>
      <vt:lpstr>تخمین اندازه Join‌ها</vt:lpstr>
      <vt:lpstr>تخمین اندازه برای سایر عملیات‌ها</vt:lpstr>
      <vt:lpstr>تخمین اندازه (ادامه)</vt:lpstr>
      <vt:lpstr>تخمین تعداد مقادیر متمایز</vt:lpstr>
      <vt:lpstr>تخمین تعداد مقادیر متمایز (ادامه)</vt:lpstr>
      <vt:lpstr>تخمین تعداد مقادیر متمایز (ادامه)</vt:lpstr>
      <vt:lpstr>PowerPoint Presentation</vt:lpstr>
      <vt:lpstr>بهینه‌سازی زیرکوئری‌های تو در تو</vt:lpstr>
      <vt:lpstr>بهینه‌سازی زیرکوئری‌های تو در تو</vt:lpstr>
      <vt:lpstr>بهینه‌سازی زیرکوئری‌های تو در تو</vt:lpstr>
      <vt:lpstr>بهینه‌سازی زیرکوئری‌های تو در تو</vt:lpstr>
      <vt:lpstr>بهینه‌سازی زیرکوئری‌های تو در تو</vt:lpstr>
      <vt:lpstr>ادغام زیرکوئری‌ها (ادامه)</vt:lpstr>
      <vt:lpstr>نماهای مادی‌سازی‌شده</vt:lpstr>
      <vt:lpstr>نگهداری نمای مادی‌سازی‌شده</vt:lpstr>
      <vt:lpstr>نگهداری افزایشی نما</vt:lpstr>
      <vt:lpstr>عملیات Join</vt:lpstr>
      <vt:lpstr>عملیات Selection و Projection</vt:lpstr>
      <vt:lpstr>عملیات تجمیع (Aggregation)</vt:lpstr>
      <vt:lpstr>عملیات تجمیعی (ادامه)</vt:lpstr>
      <vt:lpstr>سایر عملیات</vt:lpstr>
      <vt:lpstr>مدیریت عبارات</vt:lpstr>
      <vt:lpstr>بهینه‌سازی کوئری و نماهای مادی‌سازی‌شده</vt:lpstr>
      <vt:lpstr>انتخاب نماهای مادی‌سازی‌شده</vt:lpstr>
      <vt:lpstr>Top-K Queries  </vt:lpstr>
      <vt:lpstr>بهینه‌سازی به‌روزرسانی‌ها</vt:lpstr>
      <vt:lpstr>کاهش Join (Join Minimization)</vt:lpstr>
      <vt:lpstr>بهینه‌سازی چندکوئری (Multiquery Optimization)</vt:lpstr>
      <vt:lpstr>بهینه‌سازی چندکوئری (Multiquery Optimization)</vt:lpstr>
      <vt:lpstr>بهینه‌سازی پارامتریک کوئری (Parametric Query Optimization)</vt:lpstr>
      <vt:lpstr>پایداری طرح‌ها در تغییرات بهینه‌ساز (Plan Stability Across Optimizer Changes)</vt:lpstr>
      <vt:lpstr>پردازش تطبیقی کوئری (Adaptive Query Processing)</vt:lpstr>
      <vt:lpstr>PowerPoint Presentation</vt:lpstr>
      <vt:lpstr>Figure 13.01</vt:lpstr>
      <vt:lpstr>Figure 13.02</vt:lpstr>
      <vt:lpstr>Figure 13.03</vt:lpstr>
      <vt:lpstr>Figure 13.04</vt:lpstr>
      <vt:lpstr>Figure 13.06</vt:lpstr>
      <vt:lpstr>Figure 13.08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16: Query Optimization</dc:title>
  <dc:creator>Silberschatz;Korth;Sudarshan</dc:creator>
  <cp:lastModifiedBy>A Taghinezhad</cp:lastModifiedBy>
  <cp:revision>716</cp:revision>
  <cp:lastPrinted>2001-02-16T16:44:23Z</cp:lastPrinted>
  <dcterms:created xsi:type="dcterms:W3CDTF">2000-02-23T18:58:38Z</dcterms:created>
  <dcterms:modified xsi:type="dcterms:W3CDTF">2025-12-28T12:08:07Z</dcterms:modified>
</cp:coreProperties>
</file>