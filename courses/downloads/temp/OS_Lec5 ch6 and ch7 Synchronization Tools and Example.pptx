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78"/>
  </p:notesMasterIdLst>
  <p:handoutMasterIdLst>
    <p:handoutMasterId r:id="rId79"/>
  </p:handoutMasterIdLst>
  <p:sldIdLst>
    <p:sldId id="331" r:id="rId2"/>
    <p:sldId id="332" r:id="rId3"/>
    <p:sldId id="333" r:id="rId4"/>
    <p:sldId id="420" r:id="rId5"/>
    <p:sldId id="424" r:id="rId6"/>
    <p:sldId id="338" r:id="rId7"/>
    <p:sldId id="339" r:id="rId8"/>
    <p:sldId id="480" r:id="rId9"/>
    <p:sldId id="446" r:id="rId10"/>
    <p:sldId id="453" r:id="rId11"/>
    <p:sldId id="459" r:id="rId12"/>
    <p:sldId id="482" r:id="rId13"/>
    <p:sldId id="460" r:id="rId14"/>
    <p:sldId id="458" r:id="rId15"/>
    <p:sldId id="457" r:id="rId16"/>
    <p:sldId id="483" r:id="rId17"/>
    <p:sldId id="407" r:id="rId18"/>
    <p:sldId id="427" r:id="rId19"/>
    <p:sldId id="447" r:id="rId20"/>
    <p:sldId id="429" r:id="rId21"/>
    <p:sldId id="456" r:id="rId22"/>
    <p:sldId id="462" r:id="rId23"/>
    <p:sldId id="463" r:id="rId24"/>
    <p:sldId id="495" r:id="rId25"/>
    <p:sldId id="464" r:id="rId26"/>
    <p:sldId id="343" r:id="rId27"/>
    <p:sldId id="433" r:id="rId28"/>
    <p:sldId id="448" r:id="rId29"/>
    <p:sldId id="346" r:id="rId30"/>
    <p:sldId id="449" r:id="rId31"/>
    <p:sldId id="348" r:id="rId32"/>
    <p:sldId id="349" r:id="rId33"/>
    <p:sldId id="484" r:id="rId34"/>
    <p:sldId id="434" r:id="rId35"/>
    <p:sldId id="435" r:id="rId36"/>
    <p:sldId id="450" r:id="rId37"/>
    <p:sldId id="432" r:id="rId38"/>
    <p:sldId id="352" r:id="rId39"/>
    <p:sldId id="451" r:id="rId40"/>
    <p:sldId id="472" r:id="rId41"/>
    <p:sldId id="354" r:id="rId42"/>
    <p:sldId id="355" r:id="rId43"/>
    <p:sldId id="452" r:id="rId44"/>
    <p:sldId id="356" r:id="rId45"/>
    <p:sldId id="418" r:id="rId46"/>
    <p:sldId id="369" r:id="rId47"/>
    <p:sldId id="496" r:id="rId48"/>
    <p:sldId id="370" r:id="rId49"/>
    <p:sldId id="476" r:id="rId50"/>
    <p:sldId id="371" r:id="rId51"/>
    <p:sldId id="372" r:id="rId52"/>
    <p:sldId id="481" r:id="rId53"/>
    <p:sldId id="485" r:id="rId54"/>
    <p:sldId id="479" r:id="rId55"/>
    <p:sldId id="381" r:id="rId56"/>
    <p:sldId id="475" r:id="rId57"/>
    <p:sldId id="438" r:id="rId58"/>
    <p:sldId id="437" r:id="rId59"/>
    <p:sldId id="439" r:id="rId60"/>
    <p:sldId id="493" r:id="rId61"/>
    <p:sldId id="358" r:id="rId62"/>
    <p:sldId id="359" r:id="rId63"/>
    <p:sldId id="360" r:id="rId64"/>
    <p:sldId id="361" r:id="rId65"/>
    <p:sldId id="486" r:id="rId66"/>
    <p:sldId id="487" r:id="rId67"/>
    <p:sldId id="363" r:id="rId68"/>
    <p:sldId id="364" r:id="rId69"/>
    <p:sldId id="365" r:id="rId70"/>
    <p:sldId id="494" r:id="rId71"/>
    <p:sldId id="490" r:id="rId72"/>
    <p:sldId id="491" r:id="rId73"/>
    <p:sldId id="367" r:id="rId74"/>
    <p:sldId id="374" r:id="rId75"/>
    <p:sldId id="376" r:id="rId76"/>
    <p:sldId id="404" r:id="rId77"/>
  </p:sldIdLst>
  <p:sldSz cx="9144000" cy="6858000" type="screen4x3"/>
  <p:notesSz cx="7102475" cy="9388475"/>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6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28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0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213" indent="1588"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66CC"/>
    <a:srgbClr val="006699"/>
    <a:srgbClr val="336699"/>
    <a:srgbClr val="CC6600"/>
    <a:srgbClr val="993300"/>
    <a:srgbClr val="CCECFF"/>
    <a:srgbClr val="66CCFF"/>
    <a:srgbClr val="CC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5"/>
    <p:restoredTop sz="79747" autoAdjust="0"/>
  </p:normalViewPr>
  <p:slideViewPr>
    <p:cSldViewPr snapToGrid="0">
      <p:cViewPr varScale="1">
        <p:scale>
          <a:sx n="92" d="100"/>
          <a:sy n="92" d="100"/>
        </p:scale>
        <p:origin x="2058" y="84"/>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99BB9D20-1A90-4A9F-AC31-CAE3CC12B0C1}"/>
              </a:ext>
            </a:extLst>
          </p:cNvPr>
          <p:cNvSpPr>
            <a:spLocks noGrp="1" noChangeArrowheads="1"/>
          </p:cNvSpPr>
          <p:nvPr>
            <p:ph type="hdr" sz="quarter"/>
          </p:nvPr>
        </p:nvSpPr>
        <p:spPr bwMode="auto">
          <a:xfrm>
            <a:off x="0" y="0"/>
            <a:ext cx="3113766"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F4296A01-89DA-4C44-BA5C-CEB7EB69E050}"/>
              </a:ext>
            </a:extLst>
          </p:cNvPr>
          <p:cNvSpPr>
            <a:spLocks noGrp="1" noChangeArrowheads="1"/>
          </p:cNvSpPr>
          <p:nvPr>
            <p:ph type="dt" sz="quarter" idx="1"/>
          </p:nvPr>
        </p:nvSpPr>
        <p:spPr bwMode="auto">
          <a:xfrm>
            <a:off x="4003185" y="0"/>
            <a:ext cx="3112157" cy="447300"/>
          </a:xfrm>
          <a:prstGeom prst="rect">
            <a:avLst/>
          </a:prstGeom>
          <a:noFill/>
          <a:ln w="9525">
            <a:noFill/>
            <a:miter lim="800000"/>
            <a:headEnd/>
            <a:tailEnd/>
          </a:ln>
        </p:spPr>
        <p:txBody>
          <a:bodyPr vert="horz" wrap="none" lIns="89250" tIns="44626" rIns="89250" bIns="44626" numCol="1" anchor="ctr" anchorCtr="0" compatLnSpc="1">
            <a:prstTxWarp prst="textNoShape">
              <a:avLst/>
            </a:prstTxWarp>
          </a:bodyPr>
          <a:lstStyle>
            <a:lvl1pPr algn="r" defTabSz="892536">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3CF4E157-594E-4AE6-92E3-BEB09A7772DB}"/>
              </a:ext>
            </a:extLst>
          </p:cNvPr>
          <p:cNvSpPr>
            <a:spLocks noGrp="1" noChangeArrowheads="1"/>
          </p:cNvSpPr>
          <p:nvPr>
            <p:ph type="ftr" sz="quarter" idx="2"/>
          </p:nvPr>
        </p:nvSpPr>
        <p:spPr bwMode="auto">
          <a:xfrm>
            <a:off x="0" y="8954002"/>
            <a:ext cx="3113766"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defTabSz="892536">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E2E27B97-18A3-4634-BA57-DE82D332581E}"/>
              </a:ext>
            </a:extLst>
          </p:cNvPr>
          <p:cNvSpPr>
            <a:spLocks noGrp="1" noChangeArrowheads="1"/>
          </p:cNvSpPr>
          <p:nvPr>
            <p:ph type="sldNum" sz="quarter" idx="3"/>
          </p:nvPr>
        </p:nvSpPr>
        <p:spPr bwMode="auto">
          <a:xfrm>
            <a:off x="4003185" y="8954002"/>
            <a:ext cx="3112157" cy="447299"/>
          </a:xfrm>
          <a:prstGeom prst="rect">
            <a:avLst/>
          </a:prstGeom>
          <a:noFill/>
          <a:ln w="9525">
            <a:noFill/>
            <a:miter lim="800000"/>
            <a:headEnd/>
            <a:tailEnd/>
          </a:ln>
        </p:spPr>
        <p:txBody>
          <a:bodyPr vert="horz" wrap="none" lIns="89250" tIns="44626" rIns="89250" bIns="44626" numCol="1" anchor="b" anchorCtr="0" compatLnSpc="1">
            <a:prstTxWarp prst="textNoShape">
              <a:avLst/>
            </a:prstTxWarp>
          </a:bodyPr>
          <a:lstStyle>
            <a:lvl1pPr algn="r" defTabSz="892536">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2:00.092"/>
    </inkml:context>
    <inkml:brush xml:id="br0">
      <inkml:brushProperty name="width" value="0.035" units="cm"/>
      <inkml:brushProperty name="height" value="0.035" units="cm"/>
      <inkml:brushProperty name="color" value="#E71224"/>
    </inkml:brush>
  </inkml:definitions>
  <inkml:trace contextRef="#ctx0" brushRef="#br0">0 282 24575,'979'2'-691,"1047"-4"-302,-1008-60 998,-17-61 2,-895 109-7,-44 5-95,750-65 1792,-565 83-1621,-204-4-77,0 2-1,0 2 1,69 23-1,-44-11 2,2-4 0,0-3 0,95 7 0,-36-5 0,8-1 0,81 15 0,-167-17 0,-34-8 0,1 0 0,0-2 0,0 0 0,20 1 0,382-5-1365,-396 1-5461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2:00.882"/>
    </inkml:context>
    <inkml:brush xml:id="br0">
      <inkml:brushProperty name="width" value="0.035" units="cm"/>
      <inkml:brushProperty name="height" value="0.035" units="cm"/>
      <inkml:brushProperty name="color" value="#E71224"/>
    </inkml:brush>
  </inkml:definitions>
  <inkml:trace contextRef="#ctx0" brushRef="#br0">0 0 24575,'10'2'0,"-1"1"0,0-1 0,0 1 0,0 1 0,-1 0 0,1 0 0,-1 1 0,0 0 0,15 12 0,8 3 0,-16-12 0,0-1 0,1-1 0,-1-1 0,1 0 0,0-1 0,18 2 0,43 11 0,-74-16 0,0 1 0,1-1 0,-1 0 0,0 1 0,0-1 0,0 1 0,0 0 0,-1 0 0,1 0 0,0 1 0,-1-1 0,1 1 0,-1-1 0,0 1 0,0 0 0,0 0 0,0-1 0,0 2 0,-1-1 0,1 0 0,-1 0 0,0 0 0,0 1 0,0-1 0,-1 0 0,1 1 0,-1-1 0,1 1 0,-1-1 0,0 1 0,-1-1 0,0 4 0,0 0 0,0-1 0,0 1 0,-1 0 0,0-1 0,-1 0 0,1 1 0,-1-1 0,-1 0 0,1 0 0,-1-1 0,0 1 0,0-1 0,0 0 0,-1 0 0,-7 6 0,-45 23 70,28-19-1505,14-6-5391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2:23.662"/>
    </inkml:context>
    <inkml:brush xml:id="br0">
      <inkml:brushProperty name="width" value="0.035" units="cm"/>
      <inkml:brushProperty name="height" value="0.035" units="cm"/>
      <inkml:brushProperty name="color" value="#E71224"/>
    </inkml:brush>
  </inkml:definitions>
  <inkml:trace contextRef="#ctx0" brushRef="#br0">1 447 24575,'72'-1'0,"0"-4"0,124-23 0,524-73 0,-479 74 0,422-8 0,-586 33 0,834-97 0,-583 50 0,-195 31 0,714-64 0,382 104 0,-1070-16 0,50 1 0,262 42 0,-154 34 0,-19-3 0,-152-51 0,216 75 0,-284-75 0,0 4 0,-2 3 0,-2 4 0,87 61 0,-152-95 0,124 90 0,229 122 0,-179-130 0,-172-82 0,0 1 0,0 0 0,0 0 0,-1 1 0,14 15 0,5 2 0,-10-10 0,1-2 0,0 0 0,1-1 0,1-1 0,-1-1 0,29 8 0,141 31 0,-48-15 0,-68-16-1,-46-12-453,-1 1-1,54 21 0,-66-20-6371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3:21.171"/>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2:42.283"/>
    </inkml:context>
    <inkml:brush xml:id="br0">
      <inkml:brushProperty name="width" value="0.035" units="cm"/>
      <inkml:brushProperty name="height" value="0.035" units="cm"/>
      <inkml:brushProperty name="color" value="#E71224"/>
    </inkml:brush>
  </inkml:definitions>
  <inkml:trace contextRef="#ctx0" brushRef="#br0">1 3 24575,'318'-3'0,"342"7"0,-587 0 0,-1 4 0,0 4 0,-1 2 0,73 26 0,163 33 0,-200-51 0,165 55 0,-245-67 0,0 2 0,-2 0 0,1 2 0,-1 1 0,-1 1 0,-1 1 0,0 1 0,-1 1 0,-1 1 0,29 35 0,57 86 0,-94-123 0,2-1 0,20 19 0,-20-23 0,-1 2 0,-1 0 0,13 18 0,-8-3 0,-1 1 0,-2 0 0,-1 1 0,15 50 0,24 136 0,-52-213 0,1 9 0,1-1 0,0 1 0,1-1 0,0 1 0,1-1 0,0-1 0,1 1 0,1-1 0,0 0 0,1 0 0,0-1 0,11 12 0,-11-13 0,1 0 0,-2 0 0,12 20 0,6 9 0,-16-25 0,-1 0 0,-1 0 0,0 1 0,-1 0 0,-1 1 0,8 30 0,-10-30 0,0-2 0,2 1 0,0 0 0,1-1 0,0 0 0,1 0 0,16 24 0,8-10 0,-27-25 0,0 0 0,1 1 0,-1 0 0,-1-1 0,1 1 0,0 1 0,-1-1 0,4 7 0,-2-2-118,-3-3-7,1-1 0,0 0 1,0 0-1,0 0 0,1 0 1,-1-1-1,1 1 0,0-1 1,8 7-1,3-2-6701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2:43.121"/>
    </inkml:context>
    <inkml:brush xml:id="br0">
      <inkml:brushProperty name="width" value="0.035" units="cm"/>
      <inkml:brushProperty name="height" value="0.035" units="cm"/>
      <inkml:brushProperty name="color" value="#E71224"/>
    </inkml:brush>
  </inkml:definitions>
  <inkml:trace contextRef="#ctx0" brushRef="#br0">242 0 24575,'2'20'0,"1"-1"0,1 0 0,1-1 0,0 1 0,1-1 0,1 0 0,1-1 0,15 28 0,6 14 0,37 77 0,-66-136 0,1 1 0,-1 0 0,1 0 0,-1-1 0,1 1 0,-1 0 0,1 0 0,-1 0 0,0 0 0,1 0 0,-1 0 0,0-1 0,0 1 0,1 0 0,-1 0 0,0 0 0,0 0 0,0 0 0,0 0 0,-1 0 0,1 0 0,0 0 0,0 0 0,0 0 0,-1 0 0,1 0 0,-1-1 0,1 1 0,0 0 0,-1 0 0,0 0 0,1 0 0,-1-1 0,1 1 0,-1 0 0,0-1 0,1 1 0,-1 0 0,0-1 0,0 1 0,1-1 0,-1 1 0,0-1 0,0 0 0,0 1 0,0-1 0,0 0 0,0 0 0,0 1 0,0-1 0,1 0 0,-1 0 0,-2 0 0,-9 1 0,0 0 0,0-1 0,-19-2 0,13 1 0,-244-4-1365,227 5-5461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2:44.357"/>
    </inkml:context>
    <inkml:brush xml:id="br0">
      <inkml:brushProperty name="width" value="0.035" units="cm"/>
      <inkml:brushProperty name="height" value="0.035" units="cm"/>
      <inkml:brushProperty name="color" value="#E71224"/>
    </inkml:brush>
  </inkml:definitions>
  <inkml:trace contextRef="#ctx0" brushRef="#br0">1 0 24575,'0'10'0,"2"1"0,-1-1 0,1 0 0,1 0 0,0 0 0,0-1 0,1 1 0,0-1 0,1 0 0,0 0 0,8 10 0,9 13 0,41 42 0,-60-70 0,36 34 0,-29-29 0,1 1 0,-1 1 0,13 17 0,-23-28 0,1 1 0,-1-1 0,0 1 0,1-1 0,-1 1 0,0-1 0,1 1 0,-1-1 0,0 1 0,0 0 0,1-1 0,-1 1 0,0-1 0,0 1 0,0 0 0,0-1 0,0 1 0,0 0 0,0-1 0,0 1 0,0-1 0,0 1 0,-1 0 0,1-1 0,0 1 0,0-1 0,0 1 0,-1 0 0,1-1 0,0 1 0,-1-1 0,0 2 0,-21 8 0,-35-6 0,53-4 0,-53-1-1365,32 1-5461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2:47.459"/>
    </inkml:context>
    <inkml:brush xml:id="br0">
      <inkml:brushProperty name="width" value="0.035" units="cm"/>
      <inkml:brushProperty name="height" value="0.035" units="cm"/>
      <inkml:brushProperty name="color" value="#E71224"/>
    </inkml:brush>
  </inkml:definitions>
  <inkml:trace contextRef="#ctx0" brushRef="#br0">836 0 24575,'-5'0'0,"-6"0"0,-5 0 0,-6 0 0,-12 0 0,-15 5 0,-7 1 0,-10 0 0,-6 4 0,-10 0 0,-5-2 0,4-2 0,5-2 0,13-2 0,16-6 0,13-2 0,11 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2:48.235"/>
    </inkml:context>
    <inkml:brush xml:id="br0">
      <inkml:brushProperty name="width" value="0.035" units="cm"/>
      <inkml:brushProperty name="height" value="0.035" units="cm"/>
      <inkml:brushProperty name="color" value="#E71224"/>
    </inkml:brush>
  </inkml:definitions>
  <inkml:trace contextRef="#ctx0" brushRef="#br0">1 0 24575,'2'1'0,"1"0"0,-1 1 0,1-1 0,-1 0 0,0 1 0,1 0 0,-1-1 0,0 1 0,0 0 0,0 0 0,0 0 0,-1 0 0,1 1 0,0-1 0,-1 0 0,2 4 0,5 5 0,453 617 0,-26 17 0,-357-528 0,195 347 0,-224-376 0,-33-62-227,1-1-1,0-1 1,2-1-1,1 0 1,41 36-1,-49-48-6598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2:48.998"/>
    </inkml:context>
    <inkml:brush xml:id="br0">
      <inkml:brushProperty name="width" value="0.035" units="cm"/>
      <inkml:brushProperty name="height" value="0.035" units="cm"/>
      <inkml:brushProperty name="color" value="#E71224"/>
    </inkml:brush>
  </inkml:definitions>
  <inkml:trace contextRef="#ctx0" brushRef="#br0">702 78 24575,'-14'-1'0,"-34"4"0,47-3 0,-1 0 0,1 0 0,0 1 0,0-1 0,0 0 0,0 1 0,0-1 0,0 1 0,0 0 0,0-1 0,0 1 0,0 0 0,0-1 0,1 1 0,-1 0 0,0 0 0,0 0 0,1 0 0,-1 0 0,0 0 0,1 0 0,-1 0 0,1 0 0,-1 0 0,1 0 0,0 0 0,-1 0 0,1 0 0,0 1 0,0-1 0,0 0 0,0 0 0,0 0 0,0 0 0,0 2 0,1 2 0,0 0 0,-1-1 0,1 1 0,-1 0 0,0 0 0,-1-1 0,1 1 0,-1 0 0,-2 7 0,2-10 0,0 0 0,0 0 0,-1-1 0,1 1 0,-1 0 0,0-1 0,1 1 0,-1-1 0,0 0 0,0 0 0,0 1 0,0-1 0,0 0 0,0-1 0,0 1 0,0 0 0,0 0 0,0-1 0,-1 0 0,1 1 0,0-1 0,0 0 0,-3 0 0,-6 0 0,-1-1 0,0-1 0,1 0 0,-1 0 0,1-1 0,0 0 0,0-1 0,0-1 0,-11-6 0,-17-5 0,-60-22-65,-168-56-1235,229 84-5526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3:01.849"/>
    </inkml:context>
    <inkml:brush xml:id="br0">
      <inkml:brushProperty name="width" value="0.035" units="cm"/>
      <inkml:brushProperty name="height" value="0.035" units="cm"/>
      <inkml:brushProperty name="color" value="#E71224"/>
    </inkml:brush>
  </inkml:definitions>
  <inkml:trace contextRef="#ctx0" brushRef="#br0">0 56 24575,'237'-20'0,"-176"12"0,-20 3 0,241-18 0,-200 24 0,0 4 0,-1 4 0,0 3 0,0 4 0,-1 3 0,78 31 0,81 56 0,-16-7 0,36-17 0,-190-59 0,0 3 0,-2 3 0,-1 3 0,75 50 0,-81-41 0,103 91 0,-11-7 0,-112-98 0,2-2 0,74 32 0,37 21 0,-135-66 0,0 0 0,0 2 0,-1 0 0,-1 1 0,-1 0 0,0 1 0,-1 1 0,0 1 0,-2 0 0,0 1 0,14 29 0,4 18 0,3-1 0,48 68 0,94 115 0,-117-170 0,218 280 0,-90-121 0,-40-14 0,-107-157 0,3-1 0,95 111 0,-60-92 0,-4 3 0,-4 4 0,-4 2 0,-3 4 0,48 104 0,-104-190 0,1 0 0,0 0 0,1 0 0,0-1 0,0 0 0,1-1 0,0 0 0,1-1 0,0 0 0,0 0 0,1-1 0,0 0 0,23 10 0,-15-6 0,0 1 0,19 16 0,32 19 0,-37-25 0,0 1 0,-1 1 0,-2 2 0,30 31 0,0 0 0,-45-44 0,0-1 0,1 0 0,0-1 0,1-1 0,0-1 0,0 0 0,1-1 0,0-1 0,1-1 0,24 5 0,-27-8 0,-1 1 0,1 0 0,-1 1 0,0 1 0,-1 0 0,1 1 0,-1 0 0,-1 2 0,1-1 0,-1 2 0,-1 0 0,17 17 0,-25-24-124,-1 0 0,1 1 0,0-1 0,0-1 0,0 1 0,0-1-1,0 1 1,1-1 0,-1 0 0,7 1 0,8 2-6702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3:02.866"/>
    </inkml:context>
    <inkml:brush xml:id="br0">
      <inkml:brushProperty name="width" value="0.035" units="cm"/>
      <inkml:brushProperty name="height" value="0.035" units="cm"/>
      <inkml:brushProperty name="color" value="#E71224"/>
    </inkml:brush>
  </inkml:definitions>
  <inkml:trace contextRef="#ctx0" brushRef="#br0">338 0 24575,'1'12'0,"0"0"0,1 0 0,0 0 0,1-1 0,0 1 0,1-1 0,0 0 0,0 0 0,1 0 0,1 0 0,0-1 0,12 16 0,7 19 0,-22-36 0,1-1 0,1 1 0,0-1 0,0 0 0,0 0 0,1-1 0,0 1 0,1-1 0,8 7 0,-14-14 0,-1 0 0,1 1 0,-1-1 0,1 0 0,-1 1 0,1-1 0,-1 0 0,1 1 0,-1-1 0,0 0 0,1 1 0,-1-1 0,0 1 0,1-1 0,-1 1 0,0-1 0,1 1 0,-1-1 0,0 1 0,0-1 0,1 1 0,-1-1 0,0 1 0,0 0 0,0-1 0,0 1 0,0 0 0,-14 5 0,-39-7 0,39 0 0,-73-2 0,9 0 0,-79 7 0,152-4-85,0 1 0,0 0-1,0 0 1,0 0 0,1 1-1,-1 0 1,0 0 0,1 0-1,0 0 1,-1 1 0,1 0-1,0-1 1,0 2 0,1-1-1,-5 5 1,-6 7-6741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3:41.691"/>
    </inkml:context>
    <inkml:brush xml:id="br0">
      <inkml:brushProperty name="width" value="0.035" units="cm"/>
      <inkml:brushProperty name="height" value="0.035" units="cm"/>
      <inkml:brushProperty name="color" value="#E71224"/>
    </inkml:brush>
  </inkml:definitions>
  <inkml:trace contextRef="#ctx0" brushRef="#br0">254 2 24575,'-60'-1'0,"-69"2"0,126 0 0,0-1 0,0 1 0,0-1 0,1 1 0,-1 0 0,0 0 0,1 0 0,-1 0 0,1 1 0,-1-1 0,1 1 0,0-1 0,-1 1 0,1 0 0,0 0 0,0 0 0,0 0 0,0 0 0,1 0 0,-1 1 0,1-1 0,-1 1 0,1-1 0,0 1 0,0 0 0,0-1 0,0 1 0,0 0 0,0 5 0,-1 8 0,0 0 0,1 1 0,1-1 0,3 21 0,-1-6 0,4 52 0,34 162 0,-1-14 0,-14-77 0,3 41 0,-24-145 0,2-1 0,2 1 0,3-2 0,26 78 0,-29-97 0,0 1 0,5 41 0,-10-47 0,1-1 0,1 1 0,1-1 0,1-1 0,12 27 0,-6-18 0,0-1 0,-2 2 0,13 55 0,-19-72 0,0 0 0,1-1 0,0 0 0,1 0 0,16 22 0,-13-21 0,-1 1 0,-1 0 0,12 29 0,-16-34 0,1 0 0,1-1 0,-1 0 0,2 1 0,-1-2 0,1 1 0,14 13 0,19 29 0,-33-44 0,-1 0 0,1 0 0,1 0 0,-1-1 0,12 8 0,-10-8 0,0 0 0,-1 0 0,-1 1 0,12 13 0,-9-10 0,0-1 0,0 0 0,1-1 0,1 0 0,0-1 0,0 0 0,0-1 0,19 8 0,-18-8 0,17 6 0,0-1 0,0-1 0,1-2 0,1-1 0,-1-2 0,1-1 0,0-1 0,0-2 0,45-2 0,1586-3 0,-890 5 0,-752-1 0,-1 1 0,0 1 0,0 1 0,-1 1 0,36 13 0,-24-7 0,15-1-1365,-25-8-5461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3:44.283"/>
    </inkml:context>
    <inkml:brush xml:id="br0">
      <inkml:brushProperty name="width" value="0.035" units="cm"/>
      <inkml:brushProperty name="height" value="0.035" units="cm"/>
      <inkml:brushProperty name="color" value="#E71224"/>
    </inkml:brush>
  </inkml:definitions>
  <inkml:trace contextRef="#ctx0" brushRef="#br0">0 61 24575,'0'-1'0,"1"0"0,-1 0 0,0 0 0,0 1 0,1-1 0,-1 0 0,1 0 0,-1 0 0,1 0 0,-1 1 0,1-1 0,-1 0 0,1 1 0,-1-1 0,1 0 0,0 1 0,0-1 0,-1 1 0,1-1 0,0 1 0,0-1 0,-1 1 0,1-1 0,0 1 0,0 0 0,0 0 0,1-1 0,30-5 0,-23 5 0,119-17 0,1 6 0,1 6 0,130 11 0,-98 9 0,47 1 0,-171-14 0,45-2 0,-1 4 0,1 3 0,130 29 0,-45-1 0,31 9 0,77 21 0,3 1 0,212 82 0,-286-73 0,-135-46 0,1-3 0,80 17 0,-48-21 0,-1 6 0,-1 4 0,-2 4 0,146 75 0,-172-74 0,126 41 0,85 6 0,55 19 0,293 106 0,-186-62 0,-34-12 0,108 5 0,-282-83 0,-100-19 0,111 25 0,-187-50 0,0-3 0,70 1 0,-121-10 0,-1 1 0,1 0 0,-1 1 0,1 0 0,-1 0 0,0 1 0,1 1 0,-2-1 0,1 2 0,15 8 0,-14-8 0,0-1 0,0-1 0,0 0 0,0 0 0,1-1 0,19 1 0,-16-2 0,0 1 0,-1 1 0,26 7 0,214 101 0,-58-22 0,-20-15 0,-110-57-1365,-50-10-5461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3:44.867"/>
    </inkml:context>
    <inkml:brush xml:id="br0">
      <inkml:brushProperty name="width" value="0.035" units="cm"/>
      <inkml:brushProperty name="height" value="0.035" units="cm"/>
      <inkml:brushProperty name="color" value="#E71224"/>
    </inkml:brush>
  </inkml:definitions>
  <inkml:trace contextRef="#ctx0" brushRef="#br0">253 1 24575,'2'7'0,"0"1"0,0-1 0,1 0 0,-1 0 0,1 0 0,1 0 0,0-1 0,0 1 0,0-1 0,0 0 0,1 0 0,0 0 0,6 5 0,0 1 0,4 6 0,11 14 0,1-1 0,1-1 0,1-2 0,49 37 0,-46-52 0,-28-12 0,0 0 0,0 0 0,-1 1 0,1-1 0,-1 1 0,1 0 0,-1 0 0,0 0 0,0 1 0,4 2 0,-7-5 0,0 0 0,0 1 0,0-1 0,0 0 0,0 1 0,0-1 0,0 0 0,0 1 0,-1-1 0,1 0 0,0 0 0,0 1 0,0-1 0,0 0 0,0 0 0,0 1 0,-1-1 0,1 0 0,0 0 0,0 1 0,0-1 0,-1 0 0,1 0 0,0 0 0,0 1 0,-1-1 0,1 0 0,0 0 0,0 0 0,-1 0 0,1 0 0,0 0 0,-1 1 0,1-1 0,0 0 0,0 0 0,-1 0 0,-370 223 0,300-178 0,58-37-110,-9 7-309,-2-1 1,-38 17 0,37-22-6408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5:49.116"/>
    </inkml:context>
    <inkml:brush xml:id="br0">
      <inkml:brushProperty name="width" value="0.035" units="cm"/>
      <inkml:brushProperty name="height" value="0.035" units="cm"/>
      <inkml:brushProperty name="color" value="#E71224"/>
    </inkml:brush>
  </inkml:definitions>
  <inkml:trace contextRef="#ctx0" brushRef="#br0">1 1 24575,'39'42'0,"-2"2"0,43 64 0,-23-29 0,6 7 0,67 123 0,-100-154 0,-3 2 0,-3 1 0,27 98 0,-10-24 0,-24-83 0,-2 1 0,-3 0 0,8 59 0,-19-106 0,-1 1 0,1 0 0,-1-1 0,0 1 0,0-1 0,0 1 0,-1-1 0,1 1 0,-1 0 0,0-1 0,0 0 0,0 1 0,0-1 0,-1 1 0,1-1 0,-1 0 0,0 0 0,0 0 0,0 0 0,0 0 0,0-1 0,-1 1 0,1-1 0,-1 1 0,0-1 0,0 0 0,0 0 0,0 0 0,0 0 0,0-1 0,0 1 0,-1-1 0,1 0 0,0 0 0,-8 2 0,10-3-3,0 0 0,0 1 0,0-1 0,-1 0 0,1 0 0,0 0 0,0 0 0,0 0 0,-1 0 0,1 0 0,0-1 0,0 1 0,0 0 0,0 0 0,0-1 0,-1 1 0,1-1 0,0 1 0,0-1 0,0 0 0,0 1 0,0-1 0,1 0 0,-1 0 0,-1 0 0,0-2 21,1 1-1,-1-1 1,1 1 0,0-1 0,0 1-1,0-1 1,0 0 0,0 0-1,0 1 1,0-5 0,0-6-389,1 0 1,-1 0-1,4-19 1,2-7-6456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5:50.210"/>
    </inkml:context>
    <inkml:brush xml:id="br0">
      <inkml:brushProperty name="width" value="0.035" units="cm"/>
      <inkml:brushProperty name="height" value="0.035" units="cm"/>
      <inkml:brushProperty name="color" value="#E71224"/>
    </inkml:brush>
  </inkml:definitions>
  <inkml:trace contextRef="#ctx0" brushRef="#br0">0 2 24575,'519'-2'0,"560"4"0,-1010-1 0,124 6 0,-168-4 0,-1 1 0,0 1 0,0 1 0,-1 2 0,44 18 0,145 96 0,-43-22 0,901 442 0,-251-130 0,-763-382 0,7 4 0,-1 3 0,62 49 0,81 83 0,114 88 0,-238-199 0,2-3 0,103 50 0,-104-64 0,2-4 0,98 29 0,-63-32 0,417 107 0,-491-134 0,1-2 0,85-2 0,-8-1 0,-118-1-91,1 0 0,0 0 0,-1 0 0,1 1 0,0 0 0,-1 0 0,0 1 0,0-1 0,1 1 0,-2 0 0,1 1 0,0-1 0,-1 1 0,5 5 0,5 5-6735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5:50.840"/>
    </inkml:context>
    <inkml:brush xml:id="br0">
      <inkml:brushProperty name="width" value="0.035" units="cm"/>
      <inkml:brushProperty name="height" value="0.035" units="cm"/>
      <inkml:brushProperty name="color" value="#E71224"/>
    </inkml:brush>
  </inkml:definitions>
  <inkml:trace contextRef="#ctx0" brushRef="#br0">264 1 24575,'6'1'0,"0"0"0,0 1 0,0 0 0,0 0 0,-1 0 0,1 1 0,-1 0 0,1 0 0,-1 0 0,0 1 0,0 0 0,8 7 0,17 12 0,-17-15 0,0-1 0,0-1 0,1 0 0,0-1 0,0 0 0,0-1 0,0-1 0,1 0 0,-1-1 0,17 0 0,-29-2 0,0 0 0,1 1 0,-1-1 0,0 0 0,0 1 0,1-1 0,-1 1 0,0 0 0,0-1 0,0 1 0,0 0 0,0 1 0,0-1 0,0 0 0,0 0 0,0 1 0,-1-1 0,1 1 0,0 0 0,-1-1 0,0 1 0,1 0 0,-1 0 0,0 0 0,0 0 0,0 0 0,0 0 0,0 0 0,0 0 0,0 4 0,0-1 0,-1-1 0,0 1 0,-1 0 0,1-1 0,-1 1 0,0-1 0,0 1 0,0-1 0,0 0 0,-1 1 0,0-1 0,0 0 0,0 0 0,-4 6 0,-9 10 0,-1 0 0,-1-2 0,0 0 0,-1-1 0,-1 0 0,-1-2 0,-27 18 0,-163 80 0,123-70 0,25-12-1365,13-8-5461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5:52.012"/>
    </inkml:context>
    <inkml:brush xml:id="br0">
      <inkml:brushProperty name="width" value="0.035" units="cm"/>
      <inkml:brushProperty name="height" value="0.035" units="cm"/>
      <inkml:brushProperty name="color" value="#E71224"/>
    </inkml:brush>
  </inkml:definitions>
  <inkml:trace contextRef="#ctx0" brushRef="#br0">192 0 24575,'-5'0'0,"-6"0"0,-6 0 0,-5 0 0,-3 0 0,-2 0 0,-2 0 0,0 0 0,9 0 0,13 0 0,13 0 0,4 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5:53.011"/>
    </inkml:context>
    <inkml:brush xml:id="br0">
      <inkml:brushProperty name="width" value="0.035" units="cm"/>
      <inkml:brushProperty name="height" value="0.035" units="cm"/>
      <inkml:brushProperty name="color" value="#E71224"/>
    </inkml:brush>
  </inkml:definitions>
  <inkml:trace contextRef="#ctx0" brushRef="#br0">1 1 24575,'307'17'0,"-160"6"0,-1 6 0,-2 7 0,-2 6 0,178 78 0,-242-88 0,-3 4 0,0 4 0,96 68 0,-142-82 0,-1 1 0,-1 1 0,44 60 0,11 12 0,24 7 0,142 108 0,57 55 0,-265-229 0,85 80 0,-105-104 0,2 0 0,0-2 0,0 0 0,36 16 0,55 14 0,200 51 0,-81-29 0,-116-35 0,1-5 0,224 21 0,-313-48-1365,-8-3-5461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05:53.563"/>
    </inkml:context>
    <inkml:brush xml:id="br0">
      <inkml:brushProperty name="width" value="0.035" units="cm"/>
      <inkml:brushProperty name="height" value="0.035" units="cm"/>
      <inkml:brushProperty name="color" value="#E71224"/>
    </inkml:brush>
  </inkml:definitions>
  <inkml:trace contextRef="#ctx0" brushRef="#br0">167 1 24575,'4'1'0,"1"1"0,-1 0 0,1 0 0,-1 1 0,0-1 0,0 1 0,0 0 0,0 0 0,0 0 0,-1 1 0,4 3 0,6 5 0,19 15 0,-12-9 0,1-1 0,1-1 0,0 0 0,1-2 0,0-1 0,33 14 0,-36-21 0,-10-4 0,0 1 0,0 1 0,19 8 0,-28-11 0,0-1 0,0 1 0,0-1 0,0 1 0,0 0 0,0 0 0,0-1 0,0 1 0,0 0 0,0 0 0,0 0 0,0 0 0,0 0 0,-1 0 0,1 0 0,0 0 0,-1 0 0,1 1 0,-1-1 0,0 0 0,1 0 0,-1 0 0,0 1 0,1-1 0,-1 0 0,0 0 0,0 1 0,0-1 0,0 0 0,0 1 0,-1-1 0,1 0 0,0 0 0,-1 0 0,1 1 0,0-1 0,-1 0 0,1 0 0,-2 2 0,-5 7 0,-1 0 0,0 0 0,0 0 0,-1-1 0,-1 0 0,-18 13 0,-76 46 0,60-40 0,-32 20-455,3 3 0,-73 67 0,124-96-6371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36:27.174"/>
    </inkml:context>
    <inkml:brush xml:id="br0">
      <inkml:brushProperty name="width" value="0.035" units="cm"/>
      <inkml:brushProperty name="height" value="0.035" units="cm"/>
    </inkml:brush>
  </inkml:definitions>
  <inkml:trace contextRef="#ctx0" brushRef="#br0">64 1 24575,'1'3'0,"0"1"0,0-1 0,1 1 0,0-1 0,0 0 0,0 0 0,0 0 0,0 0 0,0 0 0,1 0 0,4 4 0,3 4 0,83 123 0,-57-79 0,-2-12 0,-29-37 0,1 0 0,0 1 0,-1 0 0,-1 0 0,1 0 0,-1 1 0,0 0 0,-1-1 0,0 1 0,4 15 0,4 32 0,-2 0 0,-3 1 0,-2 0 0,-7 99 0,3-147 0,-1-1 0,-1 0 0,1 1 0,-1-1 0,0 0 0,-1 0 0,1 0 0,-2 0 0,1-1 0,-1 1 0,0-1 0,0 0 0,0 0 0,-1 0 0,0-1 0,0 1 0,-9 6 0,-5 0 0,0 0 0,0-1 0,-1-1 0,-30 11 0,19-8 0,-66 35-1365,75-35-5461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36:28.064"/>
    </inkml:context>
    <inkml:brush xml:id="br0">
      <inkml:brushProperty name="width" value="0.035" units="cm"/>
      <inkml:brushProperty name="height" value="0.035" units="cm"/>
    </inkml:brush>
  </inkml:definitions>
  <inkml:trace contextRef="#ctx0" brushRef="#br0">78 0 24575,'-1'7'0,"1"0"0,-1 0 0,0 0 0,-1 0 0,0 0 0,0-1 0,0 1 0,-1-1 0,0 1 0,0-1 0,0 0 0,-1 0 0,-8 9 0,-18 36 0,28-49 0,1-1 0,1 1 0,-1-1 0,0 1 0,0-1 0,1 1 0,-1 0 0,1 0 0,-1-1 0,1 1 0,-1 0 0,1 0 0,0-1 0,0 1 0,0 0 0,0 0 0,1 0 0,-1-1 0,0 1 0,1 0 0,-1-1 0,1 1 0,-1 0 0,1-1 0,0 1 0,0 0 0,0-1 0,0 1 0,0-1 0,0 0 0,0 1 0,0-1 0,1 0 0,1 2 0,4 1 0,1-1 0,-1 1 0,1-2 0,0 1 0,0-1 0,12 2 0,34 12 0,-36-6-1365,-2-1-5461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36:30.931"/>
    </inkml:context>
    <inkml:brush xml:id="br0">
      <inkml:brushProperty name="width" value="0.035" units="cm"/>
      <inkml:brushProperty name="height" value="0.035" units="cm"/>
    </inkml:brush>
  </inkml:definitions>
  <inkml:trace contextRef="#ctx0" brushRef="#br0">69 6 24575,'-1'4'0,"0"-1"0,0 1 0,-1 0 0,1-1 0,-1 0 0,0 1 0,0-1 0,0 0 0,-4 5 0,-7 12 0,-14 26 0,19-37 0,18-32 0,-5 13 0,1 1 0,-1 0 0,2 0 0,-1 0 0,9-7 0,-12 13 0,1-1 0,-1 1 0,1 0 0,0 0 0,0 1 0,0-1 0,0 1 0,0 0 0,0 0 0,1 0 0,-1 1 0,1-1 0,8 0 0,-12 2 0,1 0 0,0 0 0,-1 1 0,1-1 0,-1 1 0,1 0 0,-1-1 0,1 1 0,-1 0 0,0 0 0,1 0 0,-1 0 0,0 0 0,1 0 0,-1 0 0,0 0 0,0 1 0,0-1 0,0 0 0,0 1 0,-1-1 0,1 1 0,0-1 0,-1 1 0,1-1 0,0 1 0,-1-1 0,0 1 0,1 0 0,-1-1 0,0 1 0,0 2 0,4 64 0,-4-59 0,4 65 0,16 79 0,-12-122 0,1 11 0,-9-40 0,0 0 0,0-1 0,-1 1 0,1-1 0,-1 1 0,1-1 0,-1 1 0,1-1 0,-1 1 0,0-1 0,1 1 0,-1-1 0,0 0 0,0 1 0,0-1 0,0 0 0,0 0 0,-1 0 0,1 0 0,0 0 0,0 0 0,-1 0 0,1 0 0,-3 1 0,-39 11 0,37-12 0,0 1 0,0-1 0,0 1 0,0 0 0,1 0 0,-1 1 0,1-1 0,0 1 0,-10 7 0,15-10 0,0 1 0,0-1 0,0 0 0,0 0 0,-1 0 0,1 0 0,0 1 0,0-1 0,0 0 0,0 0 0,0 0 0,0 1 0,0-1 0,0 0 0,0 0 0,-1 0 0,1 1 0,0-1 0,0 0 0,0 0 0,0 0 0,0 1 0,0-1 0,0 0 0,1 0 0,-1 1 0,0-1 0,0 0 0,0 0 0,0 0 0,0 1 0,0-1 0,0 0 0,0 0 0,0 0 0,1 0 0,-1 1 0,0-1 0,0 0 0,0 0 0,0 0 0,1 0 0,-1 0 0,0 1 0,0-1 0,1 0 0,15 5 0,16-1 0,-8-4 0,0-2 0,0 0 0,44-11 0,-13 1 0,-49 11-1365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36:35.304"/>
    </inkml:context>
    <inkml:brush xml:id="br0">
      <inkml:brushProperty name="width" value="0.035" units="cm"/>
      <inkml:brushProperty name="height" value="0.035" units="cm"/>
    </inkml:brush>
  </inkml:definitions>
  <inkml:trace contextRef="#ctx0" brushRef="#br0">923 60 24575,'-20'-1'0,"0"-2"0,-38-7 0,-28-4 0,76 13 0,-28 0 0,0-3 0,-40-8 0,60 8 0,0 1 0,1 0 0,-1 1 0,0 1 0,0 1 0,0 1 0,0 0 0,0 1 0,0 1 0,1 1 0,-1 0 0,1 1 0,0 1 0,-19 10 0,31-13 0,1 1 0,-1 0 0,1 0 0,0 0 0,0 1 0,1-1 0,-1 1 0,1 0 0,0 0 0,1 0 0,-1 1 0,1-1 0,0 1 0,0-1 0,-1 8 0,-1 6 0,0 1 0,1-1 0,0 24 0,3-25 0,-2 0 0,0 0 0,0-1 0,-10 33 0,9-43 0,0 0 0,0 0 0,0-1 0,-1 1 0,0-1 0,0 0 0,0 0 0,-1 0 0,0 0 0,0-1 0,-1 0 0,1 0 0,-1 0 0,-9 4 0,-18 17 0,28-21 0,0 0 0,0-1 0,0 0 0,-1 0 0,1-1 0,-1 0 0,0 1 0,0-2 0,-7 4 0,12-6 0,0 0 0,0 0 0,0 0 0,0 0 0,0 0 0,0 0 0,0-1 0,0 1 0,0 0 0,0 0 0,0-1 0,0 1 0,0-1 0,0 1 0,1 0 0,-1-1 0,0 0 0,0 1 0,1-1 0,-1 1 0,0-1 0,0 0 0,1 0 0,-1 1 0,0-2 0,-10-30 0,9-32 0,2 62 0,1 0 0,-1-1 0,0 1 0,1 0 0,-1 0 0,1-1 0,0 1 0,-1 0 0,1 0 0,0 0 0,0 0 0,1 0 0,1-3 0,-3 5 0,0 0 0,1 0 0,-1 0 0,0 0 0,0 0 0,0-1 0,1 1 0,-1 0 0,0 0 0,0 0 0,1 0 0,-1 0 0,0 0 0,0 0 0,0 0 0,1 0 0,-1 0 0,0 0 0,0 0 0,1 0 0,-1 0 0,0 0 0,0 0 0,0 0 0,1 0 0,-1 0 0,0 1 0,0-1 0,0 0 0,1 0 0,-1 0 0,0 0 0,0 0 0,0 0 0,0 1 0,1-1 0,-1 0 0,0 0 0,0 0 0,0 1 0,7 20 0,-6 28 0,-1-38 0,0 1 0,1 0 0,0 0 0,4 19 0,-4-29 0,0 1 0,-1 0 0,2-1 0,-1 1 0,0-1 0,0 0 0,1 1 0,-1-1 0,1 0 0,0 0 0,0 0 0,0 0 0,0 0 0,0 0 0,0-1 0,0 1 0,0 0 0,1-1 0,-1 0 0,1 0 0,-1 0 0,1 0 0,0 0 0,4 1 0,9 0 25,0 0 0,1-2 0,-1 0 0,19-2 1,-18 1-399,0 0 0,1 1 1,25 4-1,-18 1-6453</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36:37.138"/>
    </inkml:context>
    <inkml:brush xml:id="br0">
      <inkml:brushProperty name="width" value="0.035" units="cm"/>
      <inkml:brushProperty name="height" value="0.035" units="cm"/>
    </inkml:brush>
  </inkml:definitions>
  <inkml:trace contextRef="#ctx0" brushRef="#br0">56 252 24575,'-21'-59'0,"18"43"0,1 0 0,1 0 0,1 0 0,0 0 0,1 0 0,4-20 0,-5 32 0,1 1 0,0-1 0,0 1 0,1-1 0,-1 0 0,1 1 0,-1 0 0,1-1 0,0 1 0,0 0 0,1 0 0,-1 0 0,1 1 0,2-4 0,-2 5 0,-1 0 0,0-1 0,1 1 0,-1 1 0,1-1 0,0 0 0,-1 0 0,1 1 0,-1 0 0,1-1 0,0 1 0,-1 0 0,1 0 0,0 0 0,-1 1 0,1-1 0,0 1 0,-1-1 0,1 1 0,-1 0 0,1 0 0,3 2 0,-2-1 0,-1 1 0,1 0 0,-1 0 0,0 0 0,0 0 0,0 0 0,0 0 0,0 1 0,-1-1 0,1 1 0,-1 0 0,0 0 0,0 0 0,-1 0 0,1 0 0,-1 0 0,0 1 0,0-1 0,0 0 0,0 1 0,-1-1 0,0 9 0,0-1 0,0 0 0,0 0 0,-1 0 0,-1 0 0,0 0 0,0 0 0,-7 16 0,-103 198 0,72-151 0,39-74 0,0 0 0,1 0 0,-1 0 0,1 0 0,-1 1 0,1-1 0,-1 0 0,1 0 0,0 0 0,-1 0 0,1 0 0,0 1 0,0-1 0,0 0 0,0 0 0,0 0 0,0 0 0,0 1 0,1-1 0,-1 0 0,0 0 0,1 0 0,-1 0 0,0 0 0,1 0 0,-1 0 0,1 0 0,0 0 0,1 2 0,0-1 0,0-1 0,1 1 0,-1-1 0,1 1 0,0-1 0,-1 0 0,1 0 0,0-1 0,-1 1 0,1 0 0,0-1 0,3 1 0,7-1 0,-1 1 0,1-2 0,-1 1 0,25-6 0,-4-2-273,0 1 0,1 2 0,-1 1 0,39 1 0,-48 3-6553</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19T15:36:39.073"/>
    </inkml:context>
    <inkml:brush xml:id="br0">
      <inkml:brushProperty name="width" value="0.035" units="cm"/>
      <inkml:brushProperty name="height" value="0.03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BD11CEAF-4ACE-425B-9299-B448630D790A}"/>
              </a:ext>
            </a:extLst>
          </p:cNvPr>
          <p:cNvSpPr>
            <a:spLocks noGrp="1" noChangeArrowheads="1"/>
          </p:cNvSpPr>
          <p:nvPr>
            <p:ph type="hdr" sz="quarter"/>
          </p:nvPr>
        </p:nvSpPr>
        <p:spPr bwMode="auto">
          <a:xfrm>
            <a:off x="0" y="0"/>
            <a:ext cx="3076775"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2D4B00DE-F358-4549-B75C-012C98E4231B}"/>
              </a:ext>
            </a:extLst>
          </p:cNvPr>
          <p:cNvSpPr>
            <a:spLocks noGrp="1" noChangeArrowheads="1"/>
          </p:cNvSpPr>
          <p:nvPr>
            <p:ph type="dt" idx="1"/>
          </p:nvPr>
        </p:nvSpPr>
        <p:spPr bwMode="auto">
          <a:xfrm>
            <a:off x="4025702" y="0"/>
            <a:ext cx="3076774" cy="468141"/>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lvl1pPr algn="r" defTabSz="940694">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C14FE0F0-1774-492C-8406-AF15195F9295}"/>
              </a:ext>
            </a:extLst>
          </p:cNvPr>
          <p:cNvSpPr>
            <a:spLocks noGrp="1" noRot="1" noChangeAspect="1" noChangeArrowheads="1" noTextEdit="1"/>
          </p:cNvSpPr>
          <p:nvPr>
            <p:ph type="sldImg" idx="2"/>
          </p:nvPr>
        </p:nvSpPr>
        <p:spPr bwMode="auto">
          <a:xfrm>
            <a:off x="1204913" y="704850"/>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8A7FA788-195B-4044-BEB0-4CFF18BC4A11}"/>
              </a:ext>
            </a:extLst>
          </p:cNvPr>
          <p:cNvSpPr>
            <a:spLocks noGrp="1" noChangeArrowheads="1"/>
          </p:cNvSpPr>
          <p:nvPr>
            <p:ph type="body" sz="quarter" idx="3"/>
          </p:nvPr>
        </p:nvSpPr>
        <p:spPr bwMode="auto">
          <a:xfrm>
            <a:off x="947320" y="4460167"/>
            <a:ext cx="5207838" cy="4222890"/>
          </a:xfrm>
          <a:prstGeom prst="rect">
            <a:avLst/>
          </a:prstGeom>
          <a:noFill/>
          <a:ln w="9525">
            <a:noFill/>
            <a:miter lim="800000"/>
            <a:headEnd/>
            <a:tailEnd/>
          </a:ln>
        </p:spPr>
        <p:txBody>
          <a:bodyPr vert="horz" wrap="none" lIns="94203" tIns="47102" rIns="94203" bIns="4710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7E00ECD-7CEA-44E6-96BC-1C7D77F329E3}"/>
              </a:ext>
            </a:extLst>
          </p:cNvPr>
          <p:cNvSpPr>
            <a:spLocks noGrp="1" noChangeArrowheads="1"/>
          </p:cNvSpPr>
          <p:nvPr>
            <p:ph type="ftr" sz="quarter" idx="4"/>
          </p:nvPr>
        </p:nvSpPr>
        <p:spPr bwMode="auto">
          <a:xfrm>
            <a:off x="0" y="8920334"/>
            <a:ext cx="3076775"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defTabSz="940694">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C1C60DC8-8CE3-4439-A7A8-7E7948200B96}"/>
              </a:ext>
            </a:extLst>
          </p:cNvPr>
          <p:cNvSpPr>
            <a:spLocks noGrp="1" noChangeArrowheads="1"/>
          </p:cNvSpPr>
          <p:nvPr>
            <p:ph type="sldNum" sz="quarter" idx="5"/>
          </p:nvPr>
        </p:nvSpPr>
        <p:spPr bwMode="auto">
          <a:xfrm>
            <a:off x="4025702" y="8920334"/>
            <a:ext cx="3076774" cy="468141"/>
          </a:xfrm>
          <a:prstGeom prst="rect">
            <a:avLst/>
          </a:prstGeom>
          <a:noFill/>
          <a:ln w="9525">
            <a:noFill/>
            <a:miter lim="800000"/>
            <a:headEnd/>
            <a:tailEnd/>
          </a:ln>
        </p:spPr>
        <p:txBody>
          <a:bodyPr vert="horz" wrap="none" lIns="94203" tIns="47102" rIns="94203" bIns="47102" numCol="1" anchor="b" anchorCtr="0" compatLnSpc="1">
            <a:prstTxWarp prst="textNoShape">
              <a:avLst/>
            </a:prstTxWarp>
          </a:bodyPr>
          <a:lstStyle>
            <a:lvl1pPr algn="r" defTabSz="940694">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1pPr>
    <a:lvl2pPr marL="4556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2pPr>
    <a:lvl3pPr marL="9128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3pPr>
    <a:lvl4pPr marL="13700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4pPr>
    <a:lvl5pPr marL="1827213"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charset="0"/>
      </a:defRPr>
    </a:lvl5pPr>
    <a:lvl6pPr marL="2285886" algn="l" defTabSz="457177" rtl="0" eaLnBrk="1" latinLnBrk="0" hangingPunct="1">
      <a:defRPr sz="1200" kern="1200">
        <a:solidFill>
          <a:schemeClr val="tx1"/>
        </a:solidFill>
        <a:latin typeface="+mn-lt"/>
        <a:ea typeface="+mn-ea"/>
        <a:cs typeface="+mn-cs"/>
      </a:defRPr>
    </a:lvl6pPr>
    <a:lvl7pPr marL="2743063" algn="l" defTabSz="457177" rtl="0" eaLnBrk="1" latinLnBrk="0" hangingPunct="1">
      <a:defRPr sz="1200" kern="1200">
        <a:solidFill>
          <a:schemeClr val="tx1"/>
        </a:solidFill>
        <a:latin typeface="+mn-lt"/>
        <a:ea typeface="+mn-ea"/>
        <a:cs typeface="+mn-cs"/>
      </a:defRPr>
    </a:lvl7pPr>
    <a:lvl8pPr marL="3200240" algn="l" defTabSz="457177" rtl="0" eaLnBrk="1" latinLnBrk="0" hangingPunct="1">
      <a:defRPr sz="1200" kern="1200">
        <a:solidFill>
          <a:schemeClr val="tx1"/>
        </a:solidFill>
        <a:latin typeface="+mn-lt"/>
        <a:ea typeface="+mn-ea"/>
        <a:cs typeface="+mn-cs"/>
      </a:defRPr>
    </a:lvl8pPr>
    <a:lvl9pPr marL="3657417" algn="l" defTabSz="4571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8261A532-F5D8-4423-97D9-51A759C325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5D5FC33A-937F-4E68-B2B3-4B4BD24C084F}"/>
              </a:ext>
            </a:extLst>
          </p:cNvPr>
          <p:cNvSpPr>
            <a:spLocks noGrp="1" noRot="1" noChangeAspect="1" noChangeArrowheads="1" noTextEdit="1"/>
          </p:cNvSpPr>
          <p:nvPr>
            <p:ph type="sldImg"/>
          </p:nvPr>
        </p:nvSpPr>
        <p:spPr>
          <a:ln/>
        </p:spPr>
      </p:sp>
      <p:sp>
        <p:nvSpPr>
          <p:cNvPr id="6147" name="Rectangle 3">
            <a:extLst>
              <a:ext uri="{FF2B5EF4-FFF2-40B4-BE49-F238E27FC236}">
                <a16:creationId xmlns:a16="http://schemas.microsoft.com/office/drawing/2014/main" id="{5B2D7686-5433-4194-B42C-CF112404FAE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85061A96-4F51-4A9E-BE13-85C62B2776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4F57E28D-F7F1-4D40-A519-7E31B6AFBDED}"/>
              </a:ext>
            </a:extLst>
          </p:cNvPr>
          <p:cNvSpPr>
            <a:spLocks noGrp="1" noRot="1" noChangeAspect="1" noChangeArrowheads="1" noTextEdit="1"/>
          </p:cNvSpPr>
          <p:nvPr>
            <p:ph type="sldImg"/>
          </p:nvPr>
        </p:nvSpPr>
        <p:spPr>
          <a:ln/>
        </p:spPr>
      </p:sp>
      <p:sp>
        <p:nvSpPr>
          <p:cNvPr id="8195" name="Rectangle 3">
            <a:extLst>
              <a:ext uri="{FF2B5EF4-FFF2-40B4-BE49-F238E27FC236}">
                <a16:creationId xmlns:a16="http://schemas.microsoft.com/office/drawing/2014/main" id="{23B54E91-0B5C-4471-80C0-E8D510A3FA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A017037F-EFD5-48E7-B42F-8143C1E4CC14}"/>
              </a:ext>
            </a:extLst>
          </p:cNvPr>
          <p:cNvSpPr>
            <a:spLocks noGrp="1" noRot="1" noChangeAspect="1" noChangeArrowheads="1" noTextEdit="1"/>
          </p:cNvSpPr>
          <p:nvPr>
            <p:ph type="sldImg"/>
          </p:nvPr>
        </p:nvSpPr>
        <p:spPr>
          <a:ln/>
        </p:spPr>
      </p:sp>
      <p:sp>
        <p:nvSpPr>
          <p:cNvPr id="10242" name="Rectangle 3">
            <a:extLst>
              <a:ext uri="{FF2B5EF4-FFF2-40B4-BE49-F238E27FC236}">
                <a16:creationId xmlns:a16="http://schemas.microsoft.com/office/drawing/2014/main" id="{FC2A32F7-3F5B-4ACF-A855-30A05CCF5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99320A21-45B3-4D4F-B9F5-FC693444B4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2803AA6F-012E-4DAD-92CC-4E73922564C7}"/>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E5ACDDC3-7FDA-4C42-9ED7-C404396608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effectLst/>
                <a:latin typeface="Times New Roman" panose="02020603050405020304" pitchFamily="18" charset="0"/>
                <a:ea typeface="Times New Roman" panose="02020603050405020304" pitchFamily="18" charset="0"/>
                <a:cs typeface="B Nazanin" panose="00000400000000000000" pitchFamily="2" charset="-78"/>
              </a:rPr>
              <a:t>next_available_pid</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1200" dirty="0">
                <a:effectLst/>
                <a:latin typeface="Times New Roman" panose="02020603050405020304" pitchFamily="18" charset="0"/>
                <a:ea typeface="Times New Roman" panose="02020603050405020304" pitchFamily="18" charset="0"/>
                <a:cs typeface="B Nazanin" panose="00000400000000000000" pitchFamily="2" charset="-78"/>
              </a:rPr>
              <a:t> برای نگه‌داری شناسه فرایند بعدی دردسترس استفاده می‌شود.</a:t>
            </a:r>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5</a:t>
            </a:fld>
            <a:endParaRPr lang="en-US" altLang="en-US"/>
          </a:p>
        </p:txBody>
      </p:sp>
    </p:spTree>
    <p:extLst>
      <p:ext uri="{BB962C8B-B14F-4D97-AF65-F5344CB8AC3E}">
        <p14:creationId xmlns:p14="http://schemas.microsoft.com/office/powerpoint/2010/main" val="38618598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هر فرايندی برای ورود به بخش حیاتی خود نیاز به درخواست مجوز دارد. بخش کد مسئول پياده‌سازی اين درخواست، بخش ورود است. بخش حیاتی ممکن است به دنبال يک بخش خروج باشد.</a:t>
            </a:r>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7</a:t>
            </a:fld>
            <a:endParaRPr lang="en-US" altLang="en-US"/>
          </a:p>
        </p:txBody>
      </p:sp>
    </p:spTree>
    <p:extLst>
      <p:ext uri="{BB962C8B-B14F-4D97-AF65-F5344CB8AC3E}">
        <p14:creationId xmlns:p14="http://schemas.microsoft.com/office/powerpoint/2010/main" val="2846872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9AD83C5C-EFF0-4CBC-AB6B-8147CA9BED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A681B6BB-30EB-45AC-93F0-9ECF7F7644EB}"/>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4BB4423B-A623-4913-ABDD-D216A1D6EF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00050" lvl="1" algn="r" rtl="1">
              <a:lnSpc>
                <a:spcPct val="107000"/>
              </a:lnSpc>
              <a:spcBef>
                <a:spcPts val="0"/>
              </a:spcBef>
              <a:spcAft>
                <a:spcPts val="800"/>
              </a:spcAf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پیشرفت</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 (Progress)</a:t>
            </a:r>
            <a:endParaRPr lang="fa-IR" sz="2000" dirty="0">
              <a:latin typeface="Calibri" panose="020F0502020204030204" pitchFamily="34" charset="0"/>
              <a:ea typeface="Times New Roman" panose="02020603050405020304" pitchFamily="18" charset="0"/>
              <a:cs typeface="Arial" panose="020B0604020202020204" pitchFamily="34" charset="0"/>
            </a:endParaRPr>
          </a:p>
          <a:p>
            <a:pPr marL="742950" lvl="2" algn="r" rtl="1">
              <a:lnSpc>
                <a:spcPct val="107000"/>
              </a:lnSpc>
              <a:spcBef>
                <a:spcPts val="0"/>
              </a:spcBef>
              <a:spcAft>
                <a:spcPts val="800"/>
              </a:spcAft>
            </a:pPr>
            <a:r>
              <a:rPr lang="fa-IR" sz="2000" dirty="0">
                <a:latin typeface="Times New Roman" panose="02020603050405020304" pitchFamily="18" charset="0"/>
                <a:cs typeface="B Nazanin" panose="00000400000000000000" pitchFamily="2" charset="-78"/>
              </a:rPr>
              <a:t>هنگامی که هیچ پردازشی در قسمت بحرانی در حال اجرا نباشد و تقاضاهایی برای ورود به بخش بحرانی وجود دارد، فقط پردازش هایی در تصمیم گیری برای ورود دخالت میکنند که هنوز به ناحیه بحرانی‌شان نرسیده باشند. یعنی </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309567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0779462F-49C5-470C-A817-7DEB12F2B4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BE36FB94-316E-4486-9139-DC5DC314D912}"/>
              </a:ext>
            </a:extLst>
          </p:cNvPr>
          <p:cNvSpPr>
            <a:spLocks noGrp="1" noRot="1" noChangeAspect="1" noChangeArrowheads="1" noTextEdit="1"/>
          </p:cNvSpPr>
          <p:nvPr>
            <p:ph type="sldImg"/>
          </p:nvPr>
        </p:nvSpPr>
        <p:spPr>
          <a:ln/>
        </p:spPr>
      </p:sp>
      <p:sp>
        <p:nvSpPr>
          <p:cNvPr id="24579" name="Rectangle 3">
            <a:extLst>
              <a:ext uri="{FF2B5EF4-FFF2-40B4-BE49-F238E27FC236}">
                <a16:creationId xmlns:a16="http://schemas.microsoft.com/office/drawing/2014/main" id="{04D6D5C0-4B5F-4ADF-A7EC-4DF1ED3AA7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436885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56631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r" rtl="1">
              <a:lnSpc>
                <a:spcPct val="107000"/>
              </a:lnSpc>
              <a:spcBef>
                <a:spcPts val="0"/>
              </a:spcBef>
              <a:spcAft>
                <a:spcPts val="800"/>
              </a:spcAft>
            </a:pP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انحصار</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 متقابل حفظ می‌شود</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فرآیند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Pi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فقط در صورتی وارد بخش بحرانی می‌شود که</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turn = </a:t>
            </a:r>
            <a:r>
              <a:rPr lang="en-US" sz="3200" dirty="0" err="1">
                <a:effectLst/>
                <a:latin typeface="Times New Roman" panose="02020603050405020304" pitchFamily="18" charset="0"/>
                <a:ea typeface="Times New Roman" panose="02020603050405020304" pitchFamily="18" charset="0"/>
                <a:cs typeface="B Nazanin" panose="00000400000000000000" pitchFamily="2" charset="-78"/>
              </a:rPr>
              <a:t>i</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turn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نمی‌تواند همزمان 0 و 1 باشد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lnSpc>
                <a:spcPct val="107000"/>
              </a:lnSpc>
              <a:spcBef>
                <a:spcPts val="0"/>
              </a:spcBef>
              <a:spcAft>
                <a:spcPts val="800"/>
              </a:spcAf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اما در مورد الزام پیشرفت</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(Progress)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و انتظار محدود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(Bounded-Waiting) </a:t>
            </a: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چه؟</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11</a:t>
            </a:fld>
            <a:endParaRPr lang="en-US" altLang="en-US"/>
          </a:p>
        </p:txBody>
      </p:sp>
    </p:spTree>
    <p:extLst>
      <p:ext uri="{BB962C8B-B14F-4D97-AF65-F5344CB8AC3E}">
        <p14:creationId xmlns:p14="http://schemas.microsoft.com/office/powerpoint/2010/main" val="31583457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r" rtl="1">
              <a:lnSpc>
                <a:spcPct val="107000"/>
              </a:lnSpc>
              <a:spcBef>
                <a:spcPts val="0"/>
              </a:spcBef>
              <a:spcAft>
                <a:spcPts val="800"/>
              </a:spcAft>
            </a:pP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انحصار</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 متقابل حفظ می‌شود</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فرآیند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Pi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فقط در صورتی وارد بخش بحرانی می‌شود که</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turn = </a:t>
            </a:r>
            <a:r>
              <a:rPr lang="en-US" sz="3200" dirty="0" err="1">
                <a:effectLst/>
                <a:latin typeface="Times New Roman" panose="02020603050405020304" pitchFamily="18" charset="0"/>
                <a:ea typeface="Times New Roman" panose="02020603050405020304" pitchFamily="18" charset="0"/>
                <a:cs typeface="B Nazanin" panose="00000400000000000000" pitchFamily="2" charset="-78"/>
              </a:rPr>
              <a:t>i</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turn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نمی‌تواند همزمان 0 و 1 باشد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lnSpc>
                <a:spcPct val="107000"/>
              </a:lnSpc>
              <a:spcBef>
                <a:spcPts val="0"/>
              </a:spcBef>
              <a:spcAft>
                <a:spcPts val="800"/>
              </a:spcAf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اما در مورد الزام پیشرفت</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(Progress)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و انتظار محدود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(Bounded-Waiting) </a:t>
            </a: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چه؟</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12</a:t>
            </a:fld>
            <a:endParaRPr lang="en-US" altLang="en-US"/>
          </a:p>
        </p:txBody>
      </p:sp>
    </p:spTree>
    <p:extLst>
      <p:ext uri="{BB962C8B-B14F-4D97-AF65-F5344CB8AC3E}">
        <p14:creationId xmlns:p14="http://schemas.microsoft.com/office/powerpoint/2010/main" val="977343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a-IR" altLang="en-US" dirty="0">
                <a:latin typeface="Times New Roman" panose="02020603050405020304" pitchFamily="18" charset="0"/>
              </a:rPr>
              <a:t>پیشرفت می‌تواند نقض شود. </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965961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C8351EF0-502A-4220-8C84-DC476F6201B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F8E8D0F5-7364-497C-9A4D-1F404B4B18E2}"/>
              </a:ext>
            </a:extLst>
          </p:cNvPr>
          <p:cNvSpPr>
            <a:spLocks noGrp="1" noRot="1" noChangeAspect="1" noChangeArrowheads="1" noTextEdit="1"/>
          </p:cNvSpPr>
          <p:nvPr>
            <p:ph type="sldImg"/>
          </p:nvPr>
        </p:nvSpPr>
        <p:spPr>
          <a:ln/>
        </p:spPr>
      </p:sp>
      <p:sp>
        <p:nvSpPr>
          <p:cNvPr id="26627" name="Rectangle 3">
            <a:extLst>
              <a:ext uri="{FF2B5EF4-FFF2-40B4-BE49-F238E27FC236}">
                <a16:creationId xmlns:a16="http://schemas.microsoft.com/office/drawing/2014/main" id="{0F9A3C00-155E-4AA0-A21E-FB29778A7C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r>
              <a:rPr lang="fa-IR" altLang="en-US" dirty="0">
                <a:latin typeface="Times New Roman" panose="02020603050405020304" pitchFamily="18" charset="0"/>
              </a:rPr>
              <a:t>سال ۱۹۸۱ پترسون راه حل ساده را برای رسیدن به دو به دو ناسازگاری ارائه کرد. </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4163488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الگوریتم پیترسون شروط ۴ گانه مطرح شده را با فرض اینکه دستور </a:t>
            </a:r>
            <a:r>
              <a:rPr lang="en-US" dirty="0"/>
              <a:t>while</a:t>
            </a:r>
            <a:r>
              <a:rPr lang="fa-IR" dirty="0"/>
              <a:t> به صورت اتمیک اجرا شده و قابل وقفه دادن نباشد را دارد </a:t>
            </a:r>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16</a:t>
            </a:fld>
            <a:endParaRPr lang="en-US" altLang="en-US"/>
          </a:p>
        </p:txBody>
      </p:sp>
    </p:spTree>
    <p:extLst>
      <p:ext uri="{BB962C8B-B14F-4D97-AF65-F5344CB8AC3E}">
        <p14:creationId xmlns:p14="http://schemas.microsoft.com/office/powerpoint/2010/main" val="1844233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E250ECC2-FC4B-46DB-89D7-55DF85A330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1F67B4AE-F5A0-4856-997C-FCCD44F4D0EA}"/>
              </a:ext>
            </a:extLst>
          </p:cNvPr>
          <p:cNvSpPr>
            <a:spLocks noGrp="1" noRot="1" noChangeAspect="1" noChangeArrowheads="1" noTextEdit="1"/>
          </p:cNvSpPr>
          <p:nvPr>
            <p:ph type="sldImg"/>
          </p:nvPr>
        </p:nvSpPr>
        <p:spPr>
          <a:ln/>
        </p:spPr>
      </p:sp>
      <p:sp>
        <p:nvSpPr>
          <p:cNvPr id="28675" name="Rectangle 3">
            <a:extLst>
              <a:ext uri="{FF2B5EF4-FFF2-40B4-BE49-F238E27FC236}">
                <a16:creationId xmlns:a16="http://schemas.microsoft.com/office/drawing/2014/main" id="{1E57E25D-FDCC-4715-B327-4C4A03791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مرتب سازی مجدد شرایطی است که دستورات یک پردازش برای افزایش کارایی توسط پردازنده یا کامپایلر جابجا می‌شوند. </a:t>
            </a:r>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18</a:t>
            </a:fld>
            <a:endParaRPr lang="en-US" altLang="en-US"/>
          </a:p>
        </p:txBody>
      </p:sp>
    </p:spTree>
    <p:extLst>
      <p:ext uri="{BB962C8B-B14F-4D97-AF65-F5344CB8AC3E}">
        <p14:creationId xmlns:p14="http://schemas.microsoft.com/office/powerpoint/2010/main" val="3137986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1200" dirty="0">
                <a:effectLst/>
                <a:latin typeface="Calibri" panose="020F0502020204030204" pitchFamily="34" charset="0"/>
                <a:ea typeface="Calibri" panose="020F0502020204030204" pitchFamily="34" charset="0"/>
                <a:cs typeface="B Nazanin" panose="00000400000000000000" pitchFamily="2" charset="-78"/>
              </a:rPr>
              <a:t>با این حال، از آنجایی که متغیرهای</a:t>
            </a:r>
            <a:r>
              <a:rPr lang="en-US" sz="1200" dirty="0">
                <a:effectLst/>
                <a:latin typeface="Calibri" panose="020F0502020204030204" pitchFamily="34" charset="0"/>
                <a:ea typeface="Calibri" panose="020F0502020204030204" pitchFamily="34" charset="0"/>
                <a:cs typeface="B Nazanin" panose="00000400000000000000" pitchFamily="2" charset="-78"/>
              </a:rPr>
              <a:t> flag </a:t>
            </a:r>
            <a:r>
              <a:rPr lang="ar-SA" sz="1200" dirty="0">
                <a:effectLst/>
                <a:latin typeface="Calibri" panose="020F0502020204030204" pitchFamily="34" charset="0"/>
                <a:ea typeface="Calibri" panose="020F0502020204030204" pitchFamily="34" charset="0"/>
                <a:cs typeface="B Nazanin" panose="00000400000000000000" pitchFamily="2" charset="-78"/>
              </a:rPr>
              <a:t>و</a:t>
            </a:r>
            <a:r>
              <a:rPr lang="en-US" sz="1200" dirty="0">
                <a:effectLst/>
                <a:latin typeface="Calibri" panose="020F0502020204030204" pitchFamily="34" charset="0"/>
                <a:ea typeface="Calibri" panose="020F0502020204030204" pitchFamily="34" charset="0"/>
                <a:cs typeface="B Nazanin" panose="00000400000000000000" pitchFamily="2" charset="-78"/>
              </a:rPr>
              <a:t> x </a:t>
            </a:r>
            <a:r>
              <a:rPr lang="ar-SA" sz="1200" dirty="0">
                <a:effectLst/>
                <a:latin typeface="Calibri" panose="020F0502020204030204" pitchFamily="34" charset="0"/>
                <a:ea typeface="Calibri" panose="020F0502020204030204" pitchFamily="34" charset="0"/>
                <a:cs typeface="B Nazanin" panose="00000400000000000000" pitchFamily="2" charset="-78"/>
              </a:rPr>
              <a:t>مستقل از یکدیگر هستند، دستورالعمل‌های زیر</a:t>
            </a:r>
            <a:r>
              <a:rPr lang="en-US" sz="1200" dirty="0">
                <a:effectLst/>
                <a:latin typeface="Calibri" panose="020F0502020204030204" pitchFamily="34" charset="0"/>
                <a:ea typeface="Calibri" panose="020F0502020204030204" pitchFamily="34" charset="0"/>
                <a:cs typeface="B Nazanin" panose="00000400000000000000" pitchFamily="2" charset="-78"/>
              </a:rPr>
              <a:t>:</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flag = true;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x = 100;</a:t>
            </a:r>
          </a:p>
          <a:p>
            <a:pPr marL="0" indent="0">
              <a:buNone/>
            </a:pPr>
            <a:endParaRPr lang="en-US" altLang="en-US" dirty="0">
              <a:latin typeface="Courier New" panose="02070309020205020404" pitchFamily="49" charset="0"/>
              <a:cs typeface="Courier New" panose="02070309020205020404" pitchFamily="49"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en-US" altLang="en-US" dirty="0">
                <a:latin typeface="Courier New" panose="02070309020205020404" pitchFamily="49" charset="0"/>
                <a:cs typeface="Courier New" panose="02070309020205020404" pitchFamily="49" charset="0"/>
              </a:rPr>
              <a:t>   </a:t>
            </a:r>
            <a:r>
              <a:rPr lang="ar-SA" sz="1200" dirty="0">
                <a:effectLst/>
                <a:latin typeface="Calibri" panose="020F0502020204030204" pitchFamily="34" charset="0"/>
                <a:ea typeface="Calibri" panose="020F0502020204030204" pitchFamily="34" charset="0"/>
                <a:cs typeface="B Nazanin" panose="00000400000000000000" pitchFamily="2" charset="-78"/>
              </a:rPr>
              <a:t>ممکن است برای رشته </a:t>
            </a:r>
            <a:r>
              <a:rPr lang="fa-IR" sz="1200" dirty="0">
                <a:effectLst/>
                <a:latin typeface="Calibri" panose="020F0502020204030204" pitchFamily="34" charset="0"/>
                <a:ea typeface="Calibri" panose="020F0502020204030204" pitchFamily="34" charset="0"/>
                <a:cs typeface="B Nazanin" panose="00000400000000000000" pitchFamily="2" charset="-78"/>
              </a:rPr>
              <a:t>۲</a:t>
            </a:r>
            <a:r>
              <a:rPr lang="ar-SA" sz="1200" dirty="0">
                <a:effectLst/>
                <a:latin typeface="Calibri" panose="020F0502020204030204" pitchFamily="34" charset="0"/>
                <a:ea typeface="Calibri" panose="020F0502020204030204" pitchFamily="34" charset="0"/>
                <a:cs typeface="B Nazanin" panose="00000400000000000000" pitchFamily="2" charset="-78"/>
              </a:rPr>
              <a:t> مرتب‌سازی مجدد شوند</a:t>
            </a:r>
            <a:r>
              <a:rPr lang="en-US" sz="1200" dirty="0">
                <a:effectLst/>
                <a:latin typeface="Calibri" panose="020F0502020204030204" pitchFamily="34" charset="0"/>
                <a:ea typeface="Calibri" panose="020F0502020204030204" pitchFamily="34" charset="0"/>
                <a:cs typeface="B Nazanin" panose="00000400000000000000" pitchFamily="2" charset="-78"/>
              </a:rPr>
              <a:t>. </a:t>
            </a:r>
            <a:r>
              <a:rPr lang="fa-IR" sz="1200" dirty="0">
                <a:effectLst/>
                <a:latin typeface="Calibri" panose="020F0502020204030204" pitchFamily="34" charset="0"/>
                <a:ea typeface="Calibri" panose="020F0502020204030204" pitchFamily="34" charset="0"/>
                <a:cs typeface="B Nazanin" panose="00000400000000000000" pitchFamily="2" charset="-78"/>
              </a:rPr>
              <a:t> و ابتدا </a:t>
            </a:r>
            <a:r>
              <a:rPr lang="en-US" sz="1200" dirty="0">
                <a:effectLst/>
                <a:latin typeface="Calibri" panose="020F0502020204030204" pitchFamily="34" charset="0"/>
                <a:ea typeface="Calibri" panose="020F0502020204030204" pitchFamily="34" charset="0"/>
                <a:cs typeface="B Nazanin" panose="00000400000000000000" pitchFamily="2" charset="-78"/>
              </a:rPr>
              <a:t>flag=true</a:t>
            </a:r>
            <a:r>
              <a:rPr lang="fa-IR" sz="1200" dirty="0">
                <a:effectLst/>
                <a:latin typeface="Calibri" panose="020F0502020204030204" pitchFamily="34" charset="0"/>
                <a:ea typeface="Calibri" panose="020F0502020204030204" pitchFamily="34" charset="0"/>
                <a:cs typeface="B Nazanin" panose="00000400000000000000" pitchFamily="2" charset="-78"/>
              </a:rPr>
              <a:t> شود که در این صورت </a:t>
            </a:r>
            <a:r>
              <a:rPr lang="en-US" sz="1200" dirty="0">
                <a:effectLst/>
                <a:latin typeface="Calibri" panose="020F0502020204030204" pitchFamily="34" charset="0"/>
                <a:ea typeface="Calibri" panose="020F0502020204030204" pitchFamily="34" charset="0"/>
                <a:cs typeface="B Nazanin" panose="00000400000000000000" pitchFamily="2" charset="-78"/>
              </a:rPr>
              <a:t>thread1</a:t>
            </a:r>
            <a:r>
              <a:rPr lang="fa-IR" sz="1200" dirty="0">
                <a:effectLst/>
                <a:latin typeface="Calibri" panose="020F0502020204030204" pitchFamily="34" charset="0"/>
                <a:ea typeface="Calibri" panose="020F0502020204030204" pitchFamily="34" charset="0"/>
                <a:cs typeface="B Nazanin" panose="00000400000000000000" pitchFamily="2" charset="-78"/>
              </a:rPr>
              <a:t> اجرا می‌شود و خروجی ۰ چاپ می شود. و سپس </a:t>
            </a:r>
            <a:r>
              <a:rPr lang="en-US" sz="1200" dirty="0">
                <a:effectLst/>
                <a:latin typeface="Calibri" panose="020F0502020204030204" pitchFamily="34" charset="0"/>
                <a:ea typeface="Calibri" panose="020F0502020204030204" pitchFamily="34" charset="0"/>
                <a:cs typeface="B Nazanin" panose="00000400000000000000" pitchFamily="2" charset="-78"/>
              </a:rPr>
              <a:t>x=100</a:t>
            </a:r>
            <a:r>
              <a:rPr lang="fa-IR" sz="1200" dirty="0">
                <a:effectLst/>
                <a:latin typeface="Calibri" panose="020F0502020204030204" pitchFamily="34" charset="0"/>
                <a:ea typeface="Calibri" panose="020F0502020204030204" pitchFamily="34" charset="0"/>
                <a:cs typeface="B Nazanin" panose="00000400000000000000" pitchFamily="2" charset="-78"/>
              </a:rPr>
              <a:t> قرار می‌گرد. </a:t>
            </a:r>
            <a:r>
              <a:rPr lang="ar-SA" sz="1200" dirty="0">
                <a:effectLst/>
                <a:latin typeface="Calibri" panose="020F0502020204030204" pitchFamily="34" charset="0"/>
                <a:ea typeface="Calibri" panose="020F0502020204030204" pitchFamily="34" charset="0"/>
                <a:cs typeface="B Nazanin" panose="00000400000000000000" pitchFamily="2" charset="-78"/>
              </a:rPr>
              <a:t>اگر این اتفاق بیفتد، خروجی ممکن است 0 شود</a:t>
            </a:r>
            <a:r>
              <a:rPr lang="en-US" sz="1200" dirty="0">
                <a:effectLst/>
                <a:latin typeface="Calibri" panose="020F0502020204030204" pitchFamily="34" charset="0"/>
                <a:ea typeface="Calibri" panose="020F0502020204030204" pitchFamily="34" charset="0"/>
                <a:cs typeface="B Nazanin" panose="00000400000000000000" pitchFamily="2" charset="-78"/>
              </a:rPr>
              <a:t>!</a:t>
            </a:r>
            <a:endParaRPr lang="en-US" sz="12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br>
              <a:rPr lang="en-US" altLang="en-US" dirty="0"/>
            </a:br>
            <a:br>
              <a:rPr lang="en-US" altLang="en-US" dirty="0"/>
            </a:br>
            <a:br>
              <a:rPr lang="en-US" altLang="en-US" dirty="0"/>
            </a:br>
            <a:endParaRPr lang="en-US" altLang="en-US" dirty="0"/>
          </a:p>
          <a:p>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19</a:t>
            </a:fld>
            <a:endParaRPr lang="en-US" altLang="en-US"/>
          </a:p>
        </p:txBody>
      </p:sp>
    </p:spTree>
    <p:extLst>
      <p:ext uri="{BB962C8B-B14F-4D97-AF65-F5344CB8AC3E}">
        <p14:creationId xmlns:p14="http://schemas.microsoft.com/office/powerpoint/2010/main" val="31363409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20</a:t>
            </a:fld>
            <a:endParaRPr lang="en-US" altLang="en-US"/>
          </a:p>
        </p:txBody>
      </p:sp>
    </p:spTree>
    <p:extLst>
      <p:ext uri="{BB962C8B-B14F-4D97-AF65-F5344CB8AC3E}">
        <p14:creationId xmlns:p14="http://schemas.microsoft.com/office/powerpoint/2010/main" val="36140874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err="1">
                <a:effectLst/>
              </a:rPr>
              <a:t>در</a:t>
            </a:r>
            <a:r>
              <a:rPr lang="en-US" dirty="0">
                <a:effectLst/>
              </a:rPr>
              <a:t> </a:t>
            </a:r>
            <a:r>
              <a:rPr lang="en-US" dirty="0" err="1">
                <a:effectLst/>
              </a:rPr>
              <a:t>سمت</a:t>
            </a:r>
            <a:r>
              <a:rPr lang="en-US" dirty="0">
                <a:effectLst/>
              </a:rPr>
              <a:t> </a:t>
            </a:r>
            <a:r>
              <a:rPr lang="en-US" dirty="0" err="1">
                <a:effectLst/>
              </a:rPr>
              <a:t>راست</a:t>
            </a:r>
            <a:r>
              <a:rPr lang="en-US" dirty="0">
                <a:effectLst/>
              </a:rPr>
              <a:t>، </a:t>
            </a:r>
            <a:r>
              <a:rPr lang="en-US" b="1" dirty="0" err="1">
                <a:effectLst/>
              </a:rPr>
              <a:t>پردازنده</a:t>
            </a:r>
            <a:r>
              <a:rPr lang="en-US" b="1" dirty="0">
                <a:effectLst/>
              </a:rPr>
              <a:t> ۱</a:t>
            </a:r>
            <a:r>
              <a:rPr lang="en-US" dirty="0">
                <a:effectLst/>
              </a:rPr>
              <a:t> </a:t>
            </a:r>
            <a:r>
              <a:rPr lang="en-US" dirty="0" err="1">
                <a:effectLst/>
              </a:rPr>
              <a:t>دو</a:t>
            </a:r>
            <a:r>
              <a:rPr lang="en-US" dirty="0">
                <a:effectLst/>
              </a:rPr>
              <a:t> </a:t>
            </a:r>
            <a:r>
              <a:rPr lang="en-US" dirty="0" err="1">
                <a:effectLst/>
              </a:rPr>
              <a:t>عملیات</a:t>
            </a:r>
            <a:r>
              <a:rPr lang="en-US" dirty="0">
                <a:effectLst/>
              </a:rPr>
              <a:t> </a:t>
            </a:r>
            <a:r>
              <a:rPr lang="en-US" dirty="0" err="1">
                <a:effectLst/>
              </a:rPr>
              <a:t>نوشتن</a:t>
            </a:r>
            <a:r>
              <a:rPr lang="en-US" dirty="0">
                <a:effectLst/>
              </a:rPr>
              <a:t> </a:t>
            </a:r>
            <a:r>
              <a:rPr lang="en-US" dirty="0" err="1">
                <a:effectLst/>
              </a:rPr>
              <a:t>انجام</a:t>
            </a:r>
            <a:r>
              <a:rPr lang="en-US" dirty="0">
                <a:effectLst/>
              </a:rPr>
              <a:t> </a:t>
            </a:r>
            <a:r>
              <a:rPr lang="en-US" dirty="0" err="1">
                <a:effectLst/>
              </a:rPr>
              <a:t>می‌دهد</a:t>
            </a:r>
            <a:r>
              <a:rPr lang="en-US" dirty="0">
                <a:effectLst/>
              </a:rPr>
              <a:t>: </a:t>
            </a:r>
            <a:r>
              <a:rPr lang="en-US" dirty="0" err="1">
                <a:effectLst/>
              </a:rPr>
              <a:t>ابتدا</a:t>
            </a:r>
            <a:r>
              <a:rPr lang="en-US" dirty="0">
                <a:effectLst/>
              </a:rPr>
              <a:t> </a:t>
            </a:r>
            <a:r>
              <a:rPr lang="en-US" sz="1200" kern="1200" dirty="0">
                <a:solidFill>
                  <a:schemeClr val="tx1"/>
                </a:solidFill>
                <a:effectLst/>
                <a:latin typeface="Times New Roman" charset="0"/>
                <a:ea typeface="MS PGothic" pitchFamily="34" charset="-128"/>
                <a:cs typeface="MS PGothic" charset="0"/>
              </a:rPr>
              <a:t>x = 1</a:t>
            </a:r>
            <a:r>
              <a:rPr lang="en-US" dirty="0">
                <a:effectLst/>
              </a:rPr>
              <a:t> و </a:t>
            </a:r>
            <a:r>
              <a:rPr lang="en-US" dirty="0" err="1">
                <a:effectLst/>
              </a:rPr>
              <a:t>سپس</a:t>
            </a:r>
            <a:r>
              <a:rPr lang="en-US" dirty="0">
                <a:effectLst/>
              </a:rPr>
              <a:t> </a:t>
            </a:r>
            <a:r>
              <a:rPr lang="en-US" sz="1200" kern="1200" dirty="0">
                <a:solidFill>
                  <a:schemeClr val="tx1"/>
                </a:solidFill>
                <a:effectLst/>
                <a:latin typeface="Times New Roman" charset="0"/>
                <a:ea typeface="MS PGothic" pitchFamily="34" charset="-128"/>
                <a:cs typeface="MS PGothic" charset="0"/>
              </a:rPr>
              <a:t>flag = 1</a:t>
            </a:r>
            <a:r>
              <a:rPr lang="en-US" dirty="0">
                <a:effectLst/>
              </a:rPr>
              <a:t>. </a:t>
            </a:r>
            <a:r>
              <a:rPr lang="en-US" dirty="0" err="1">
                <a:effectLst/>
              </a:rPr>
              <a:t>بدون</a:t>
            </a:r>
            <a:r>
              <a:rPr lang="en-US" dirty="0">
                <a:effectLst/>
              </a:rPr>
              <a:t> </a:t>
            </a:r>
            <a:r>
              <a:rPr lang="en-US" dirty="0" err="1">
                <a:effectLst/>
              </a:rPr>
              <a:t>سد</a:t>
            </a:r>
            <a:r>
              <a:rPr lang="en-US" dirty="0">
                <a:effectLst/>
              </a:rPr>
              <a:t> </a:t>
            </a:r>
            <a:r>
              <a:rPr lang="en-US" dirty="0" err="1">
                <a:effectLst/>
              </a:rPr>
              <a:t>حافظه</a:t>
            </a:r>
            <a:r>
              <a:rPr lang="en-US" dirty="0">
                <a:effectLst/>
              </a:rPr>
              <a:t>، </a:t>
            </a:r>
            <a:r>
              <a:rPr lang="en-US" dirty="0" err="1">
                <a:effectLst/>
              </a:rPr>
              <a:t>پردازنده</a:t>
            </a:r>
            <a:r>
              <a:rPr lang="en-US" dirty="0">
                <a:effectLst/>
              </a:rPr>
              <a:t> </a:t>
            </a:r>
            <a:r>
              <a:rPr lang="en-US" dirty="0" err="1">
                <a:effectLst/>
              </a:rPr>
              <a:t>می‌توانست</a:t>
            </a:r>
            <a:r>
              <a:rPr lang="en-US" dirty="0">
                <a:effectLst/>
              </a:rPr>
              <a:t> </a:t>
            </a:r>
            <a:r>
              <a:rPr lang="en-US" dirty="0" err="1">
                <a:effectLst/>
              </a:rPr>
              <a:t>این</a:t>
            </a:r>
            <a:r>
              <a:rPr lang="en-US" dirty="0">
                <a:effectLst/>
              </a:rPr>
              <a:t> </a:t>
            </a:r>
            <a:r>
              <a:rPr lang="en-US" dirty="0" err="1">
                <a:effectLst/>
              </a:rPr>
              <a:t>دو</a:t>
            </a:r>
            <a:r>
              <a:rPr lang="en-US" dirty="0">
                <a:effectLst/>
              </a:rPr>
              <a:t> </a:t>
            </a:r>
            <a:r>
              <a:rPr lang="en-US" dirty="0" err="1">
                <a:effectLst/>
              </a:rPr>
              <a:t>دستورالعمل</a:t>
            </a:r>
            <a:r>
              <a:rPr lang="en-US" dirty="0">
                <a:effectLst/>
              </a:rPr>
              <a:t> </a:t>
            </a:r>
            <a:r>
              <a:rPr lang="en-US" dirty="0" err="1">
                <a:effectLst/>
              </a:rPr>
              <a:t>را</a:t>
            </a:r>
            <a:r>
              <a:rPr lang="en-US" dirty="0">
                <a:effectLst/>
              </a:rPr>
              <a:t> </a:t>
            </a:r>
            <a:r>
              <a:rPr lang="en-US" dirty="0" err="1">
                <a:effectLst/>
              </a:rPr>
              <a:t>جابجا</a:t>
            </a:r>
            <a:r>
              <a:rPr lang="en-US" dirty="0">
                <a:effectLst/>
              </a:rPr>
              <a:t> </a:t>
            </a:r>
            <a:r>
              <a:rPr lang="en-US" dirty="0" err="1">
                <a:effectLst/>
              </a:rPr>
              <a:t>کند</a:t>
            </a:r>
            <a:r>
              <a:rPr lang="en-US" dirty="0">
                <a:effectLst/>
              </a:rPr>
              <a:t>.</a:t>
            </a:r>
          </a:p>
          <a:p>
            <a:pPr algn="r" rtl="1"/>
            <a:r>
              <a:rPr lang="en-US" b="1" dirty="0" err="1">
                <a:effectLst/>
              </a:rPr>
              <a:t>سد</a:t>
            </a:r>
            <a:r>
              <a:rPr lang="en-US" b="1" dirty="0">
                <a:effectLst/>
              </a:rPr>
              <a:t> </a:t>
            </a:r>
            <a:r>
              <a:rPr lang="en-US" b="1" dirty="0" err="1">
                <a:effectLst/>
              </a:rPr>
              <a:t>حافظه</a:t>
            </a:r>
            <a:r>
              <a:rPr lang="en-US" dirty="0">
                <a:effectLst/>
              </a:rPr>
              <a:t> (</a:t>
            </a:r>
            <a:r>
              <a:rPr lang="en-US" dirty="0" err="1">
                <a:effectLst/>
              </a:rPr>
              <a:t>وسط</a:t>
            </a:r>
            <a:r>
              <a:rPr lang="en-US" dirty="0">
                <a:effectLst/>
              </a:rPr>
              <a:t>، </a:t>
            </a:r>
            <a:r>
              <a:rPr lang="en-US" dirty="0" err="1">
                <a:effectLst/>
              </a:rPr>
              <a:t>به</a:t>
            </a:r>
            <a:r>
              <a:rPr lang="en-US" dirty="0">
                <a:effectLst/>
              </a:rPr>
              <a:t> </a:t>
            </a:r>
            <a:r>
              <a:rPr lang="en-US" dirty="0" err="1">
                <a:effectLst/>
              </a:rPr>
              <a:t>رنگ</a:t>
            </a:r>
            <a:r>
              <a:rPr lang="en-US" dirty="0">
                <a:effectLst/>
              </a:rPr>
              <a:t> </a:t>
            </a:r>
            <a:r>
              <a:rPr lang="en-US" dirty="0" err="1">
                <a:effectLst/>
              </a:rPr>
              <a:t>زرد</a:t>
            </a:r>
            <a:r>
              <a:rPr lang="en-US" dirty="0">
                <a:effectLst/>
              </a:rPr>
              <a:t>) </a:t>
            </a:r>
            <a:r>
              <a:rPr lang="en-US" dirty="0" err="1">
                <a:effectLst/>
              </a:rPr>
              <a:t>تضمین</a:t>
            </a:r>
            <a:r>
              <a:rPr lang="en-US" dirty="0">
                <a:effectLst/>
              </a:rPr>
              <a:t> </a:t>
            </a:r>
            <a:r>
              <a:rPr lang="en-US" dirty="0" err="1">
                <a:effectLst/>
              </a:rPr>
              <a:t>می‌کند</a:t>
            </a:r>
            <a:r>
              <a:rPr lang="en-US" dirty="0">
                <a:effectLst/>
              </a:rPr>
              <a:t>:</a:t>
            </a:r>
          </a:p>
          <a:p>
            <a:pPr algn="r" rtl="1"/>
            <a:r>
              <a:rPr lang="en-US" dirty="0" err="1">
                <a:effectLst/>
              </a:rPr>
              <a:t>هر</a:t>
            </a:r>
            <a:r>
              <a:rPr lang="en-US" dirty="0">
                <a:effectLst/>
              </a:rPr>
              <a:t> </a:t>
            </a:r>
            <a:r>
              <a:rPr lang="en-US" dirty="0" err="1">
                <a:effectLst/>
              </a:rPr>
              <a:t>دو</a:t>
            </a:r>
            <a:r>
              <a:rPr lang="en-US" dirty="0">
                <a:effectLst/>
              </a:rPr>
              <a:t> </a:t>
            </a:r>
            <a:r>
              <a:rPr lang="en-US" dirty="0" err="1">
                <a:effectLst/>
              </a:rPr>
              <a:t>عملیات</a:t>
            </a:r>
            <a:r>
              <a:rPr lang="en-US" dirty="0">
                <a:effectLst/>
              </a:rPr>
              <a:t> STORE </a:t>
            </a:r>
            <a:r>
              <a:rPr lang="en-US" b="1" dirty="0" err="1">
                <a:effectLst/>
              </a:rPr>
              <a:t>قبل</a:t>
            </a:r>
            <a:r>
              <a:rPr lang="en-US" b="1" dirty="0">
                <a:effectLst/>
              </a:rPr>
              <a:t> </a:t>
            </a:r>
            <a:r>
              <a:rPr lang="en-US" b="1" dirty="0" err="1">
                <a:effectLst/>
              </a:rPr>
              <a:t>از</a:t>
            </a:r>
            <a:r>
              <a:rPr lang="en-US" b="1" dirty="0">
                <a:effectLst/>
              </a:rPr>
              <a:t> </a:t>
            </a:r>
            <a:r>
              <a:rPr lang="en-US" b="1" dirty="0" err="1">
                <a:effectLst/>
              </a:rPr>
              <a:t>عبور</a:t>
            </a:r>
            <a:r>
              <a:rPr lang="en-US" b="1" dirty="0">
                <a:effectLst/>
              </a:rPr>
              <a:t> </a:t>
            </a:r>
            <a:r>
              <a:rPr lang="en-US" b="1" dirty="0" err="1">
                <a:effectLst/>
              </a:rPr>
              <a:t>از</a:t>
            </a:r>
            <a:r>
              <a:rPr lang="en-US" b="1" dirty="0">
                <a:effectLst/>
              </a:rPr>
              <a:t> </a:t>
            </a:r>
            <a:r>
              <a:rPr lang="en-US" b="1" dirty="0" err="1">
                <a:effectLst/>
              </a:rPr>
              <a:t>سد</a:t>
            </a:r>
            <a:r>
              <a:rPr lang="en-US" dirty="0">
                <a:effectLst/>
              </a:rPr>
              <a:t> </a:t>
            </a:r>
            <a:r>
              <a:rPr lang="en-US" dirty="0" err="1">
                <a:effectLst/>
              </a:rPr>
              <a:t>در</a:t>
            </a:r>
            <a:r>
              <a:rPr lang="en-US" dirty="0">
                <a:effectLst/>
              </a:rPr>
              <a:t> </a:t>
            </a:r>
            <a:r>
              <a:rPr lang="en-US" dirty="0" err="1">
                <a:effectLst/>
              </a:rPr>
              <a:t>حافظه</a:t>
            </a:r>
            <a:r>
              <a:rPr lang="en-US" dirty="0">
                <a:effectLst/>
              </a:rPr>
              <a:t> </a:t>
            </a:r>
            <a:r>
              <a:rPr lang="en-US" dirty="0" err="1">
                <a:effectLst/>
              </a:rPr>
              <a:t>مشترک</a:t>
            </a:r>
            <a:r>
              <a:rPr lang="en-US" dirty="0">
                <a:effectLst/>
              </a:rPr>
              <a:t> </a:t>
            </a:r>
            <a:r>
              <a:rPr lang="en-US" dirty="0" err="1">
                <a:effectLst/>
              </a:rPr>
              <a:t>نوشته</a:t>
            </a:r>
            <a:r>
              <a:rPr lang="en-US" dirty="0">
                <a:effectLst/>
              </a:rPr>
              <a:t> </a:t>
            </a:r>
            <a:r>
              <a:rPr lang="en-US" dirty="0" err="1">
                <a:effectLst/>
              </a:rPr>
              <a:t>شوند</a:t>
            </a:r>
            <a:endParaRPr lang="en-US" dirty="0">
              <a:effectLst/>
            </a:endParaRPr>
          </a:p>
          <a:p>
            <a:pPr algn="r" rtl="1"/>
            <a:r>
              <a:rPr lang="en-US" dirty="0" err="1">
                <a:effectLst/>
              </a:rPr>
              <a:t>نتیجه</a:t>
            </a:r>
            <a:r>
              <a:rPr lang="en-US" dirty="0">
                <a:effectLst/>
              </a:rPr>
              <a:t> </a:t>
            </a:r>
            <a:r>
              <a:rPr lang="en-US" dirty="0" err="1">
                <a:effectLst/>
              </a:rPr>
              <a:t>برای</a:t>
            </a:r>
            <a:r>
              <a:rPr lang="en-US" dirty="0">
                <a:effectLst/>
              </a:rPr>
              <a:t> </a:t>
            </a:r>
            <a:r>
              <a:rPr lang="en-US" b="1" dirty="0" err="1">
                <a:effectLst/>
              </a:rPr>
              <a:t>تمام</a:t>
            </a:r>
            <a:r>
              <a:rPr lang="en-US" b="1" dirty="0">
                <a:effectLst/>
              </a:rPr>
              <a:t> </a:t>
            </a:r>
            <a:r>
              <a:rPr lang="en-US" b="1" dirty="0" err="1">
                <a:effectLst/>
              </a:rPr>
              <a:t>پردازنده‌های</a:t>
            </a:r>
            <a:r>
              <a:rPr lang="en-US" b="1" dirty="0">
                <a:effectLst/>
              </a:rPr>
              <a:t> </a:t>
            </a:r>
            <a:r>
              <a:rPr lang="en-US" b="1" dirty="0" err="1">
                <a:effectLst/>
              </a:rPr>
              <a:t>دیگر</a:t>
            </a:r>
            <a:r>
              <a:rPr lang="en-US" b="1" dirty="0">
                <a:effectLst/>
              </a:rPr>
              <a:t> </a:t>
            </a:r>
            <a:r>
              <a:rPr lang="en-US" b="1" dirty="0" err="1">
                <a:effectLst/>
              </a:rPr>
              <a:t>قابل</a:t>
            </a:r>
            <a:r>
              <a:rPr lang="en-US" b="1" dirty="0">
                <a:effectLst/>
              </a:rPr>
              <a:t> </a:t>
            </a:r>
            <a:r>
              <a:rPr lang="en-US" b="1" dirty="0" err="1">
                <a:effectLst/>
              </a:rPr>
              <a:t>مشاهده</a:t>
            </a:r>
            <a:r>
              <a:rPr lang="en-US" dirty="0">
                <a:effectLst/>
              </a:rPr>
              <a:t> </a:t>
            </a:r>
            <a:r>
              <a:rPr lang="en-US" dirty="0" err="1">
                <a:effectLst/>
              </a:rPr>
              <a:t>باشد</a:t>
            </a:r>
            <a:endParaRPr lang="en-US" dirty="0">
              <a:effectLst/>
            </a:endParaRPr>
          </a:p>
          <a:p>
            <a:pPr algn="r" rtl="1"/>
            <a:r>
              <a:rPr lang="en-US" dirty="0" err="1">
                <a:effectLst/>
              </a:rPr>
              <a:t>در</a:t>
            </a:r>
            <a:r>
              <a:rPr lang="en-US" dirty="0">
                <a:effectLst/>
              </a:rPr>
              <a:t> </a:t>
            </a:r>
            <a:r>
              <a:rPr lang="en-US" dirty="0" err="1">
                <a:effectLst/>
              </a:rPr>
              <a:t>سمت</a:t>
            </a:r>
            <a:r>
              <a:rPr lang="en-US" dirty="0">
                <a:effectLst/>
              </a:rPr>
              <a:t> </a:t>
            </a:r>
            <a:r>
              <a:rPr lang="en-US" dirty="0" err="1">
                <a:effectLst/>
              </a:rPr>
              <a:t>چپ</a:t>
            </a:r>
            <a:r>
              <a:rPr lang="en-US" dirty="0">
                <a:effectLst/>
              </a:rPr>
              <a:t>، </a:t>
            </a:r>
            <a:r>
              <a:rPr lang="en-US" b="1" dirty="0" err="1">
                <a:effectLst/>
              </a:rPr>
              <a:t>پردازنده</a:t>
            </a:r>
            <a:r>
              <a:rPr lang="en-US" b="1" dirty="0">
                <a:effectLst/>
              </a:rPr>
              <a:t> ۲</a:t>
            </a:r>
            <a:r>
              <a:rPr lang="en-US" dirty="0">
                <a:effectLst/>
              </a:rPr>
              <a:t> </a:t>
            </a:r>
            <a:r>
              <a:rPr lang="en-US" dirty="0" err="1">
                <a:effectLst/>
              </a:rPr>
              <a:t>که</a:t>
            </a:r>
            <a:r>
              <a:rPr lang="en-US" dirty="0">
                <a:effectLst/>
              </a:rPr>
              <a:t> </a:t>
            </a:r>
            <a:r>
              <a:rPr lang="en-US" sz="1200" kern="1200" dirty="0">
                <a:solidFill>
                  <a:schemeClr val="tx1"/>
                </a:solidFill>
                <a:effectLst/>
                <a:latin typeface="Times New Roman" charset="0"/>
                <a:ea typeface="MS PGothic" pitchFamily="34" charset="-128"/>
                <a:cs typeface="MS PGothic" charset="0"/>
              </a:rPr>
              <a:t>flag</a:t>
            </a:r>
            <a:r>
              <a:rPr lang="en-US" dirty="0">
                <a:effectLst/>
              </a:rPr>
              <a:t> </a:t>
            </a:r>
            <a:r>
              <a:rPr lang="en-US" dirty="0" err="1">
                <a:effectLst/>
              </a:rPr>
              <a:t>را</a:t>
            </a:r>
            <a:r>
              <a:rPr lang="en-US" dirty="0">
                <a:effectLst/>
              </a:rPr>
              <a:t> </a:t>
            </a:r>
            <a:r>
              <a:rPr lang="en-US" dirty="0" err="1">
                <a:effectLst/>
              </a:rPr>
              <a:t>می‌خواند</a:t>
            </a:r>
            <a:r>
              <a:rPr lang="en-US" dirty="0">
                <a:effectLst/>
              </a:rPr>
              <a:t>، </a:t>
            </a:r>
            <a:r>
              <a:rPr lang="en-US" dirty="0" err="1">
                <a:effectLst/>
              </a:rPr>
              <a:t>مطمئن</a:t>
            </a:r>
            <a:r>
              <a:rPr lang="en-US" dirty="0">
                <a:effectLst/>
              </a:rPr>
              <a:t> </a:t>
            </a:r>
            <a:r>
              <a:rPr lang="en-US" dirty="0" err="1">
                <a:effectLst/>
              </a:rPr>
              <a:t>است</a:t>
            </a:r>
            <a:r>
              <a:rPr lang="en-US" dirty="0">
                <a:effectLst/>
              </a:rPr>
              <a:t> </a:t>
            </a:r>
            <a:r>
              <a:rPr lang="en-US" dirty="0" err="1">
                <a:effectLst/>
              </a:rPr>
              <a:t>که</a:t>
            </a:r>
            <a:r>
              <a:rPr lang="en-US" dirty="0">
                <a:effectLst/>
              </a:rPr>
              <a:t> </a:t>
            </a:r>
            <a:r>
              <a:rPr lang="en-US" dirty="0" err="1">
                <a:effectLst/>
              </a:rPr>
              <a:t>اگر</a:t>
            </a:r>
            <a:r>
              <a:rPr lang="en-US" dirty="0">
                <a:effectLst/>
              </a:rPr>
              <a:t> </a:t>
            </a:r>
            <a:r>
              <a:rPr lang="en-US" sz="1200" kern="1200" dirty="0">
                <a:solidFill>
                  <a:schemeClr val="tx1"/>
                </a:solidFill>
                <a:effectLst/>
                <a:latin typeface="Times New Roman" charset="0"/>
                <a:ea typeface="MS PGothic" pitchFamily="34" charset="-128"/>
                <a:cs typeface="MS PGothic" charset="0"/>
              </a:rPr>
              <a:t>flag == 1</a:t>
            </a:r>
            <a:r>
              <a:rPr lang="en-US" dirty="0">
                <a:effectLst/>
              </a:rPr>
              <a:t> </a:t>
            </a:r>
            <a:r>
              <a:rPr lang="en-US" dirty="0" err="1">
                <a:effectLst/>
              </a:rPr>
              <a:t>دید</a:t>
            </a:r>
            <a:r>
              <a:rPr lang="en-US" dirty="0">
                <a:effectLst/>
              </a:rPr>
              <a:t>، </a:t>
            </a:r>
            <a:r>
              <a:rPr lang="en-US" dirty="0" err="1">
                <a:effectLst/>
              </a:rPr>
              <a:t>حتماً</a:t>
            </a:r>
            <a:r>
              <a:rPr lang="en-US" dirty="0">
                <a:effectLst/>
              </a:rPr>
              <a:t> </a:t>
            </a:r>
            <a:r>
              <a:rPr lang="en-US" dirty="0" err="1">
                <a:effectLst/>
              </a:rPr>
              <a:t>مقدار</a:t>
            </a:r>
            <a:r>
              <a:rPr lang="en-US" dirty="0">
                <a:effectLst/>
              </a:rPr>
              <a:t> </a:t>
            </a:r>
            <a:r>
              <a:rPr lang="en-US" sz="1200" kern="1200" dirty="0">
                <a:solidFill>
                  <a:schemeClr val="tx1"/>
                </a:solidFill>
                <a:effectLst/>
                <a:latin typeface="Times New Roman" charset="0"/>
                <a:ea typeface="MS PGothic" pitchFamily="34" charset="-128"/>
                <a:cs typeface="MS PGothic" charset="0"/>
              </a:rPr>
              <a:t>x == 1</a:t>
            </a:r>
            <a:r>
              <a:rPr lang="en-US" dirty="0">
                <a:effectLst/>
              </a:rPr>
              <a:t> </a:t>
            </a:r>
            <a:r>
              <a:rPr lang="en-US" dirty="0" err="1">
                <a:effectLst/>
              </a:rPr>
              <a:t>نیز</a:t>
            </a:r>
            <a:r>
              <a:rPr lang="en-US" dirty="0">
                <a:effectLst/>
              </a:rPr>
              <a:t> </a:t>
            </a:r>
            <a:r>
              <a:rPr lang="en-US" dirty="0" err="1">
                <a:effectLst/>
              </a:rPr>
              <a:t>در</a:t>
            </a:r>
            <a:r>
              <a:rPr lang="en-US" dirty="0">
                <a:effectLst/>
              </a:rPr>
              <a:t> </a:t>
            </a:r>
            <a:r>
              <a:rPr lang="en-US" dirty="0" err="1">
                <a:effectLst/>
              </a:rPr>
              <a:t>حافظه</a:t>
            </a:r>
            <a:r>
              <a:rPr lang="en-US" dirty="0">
                <a:effectLst/>
              </a:rPr>
              <a:t> </a:t>
            </a:r>
            <a:r>
              <a:rPr lang="en-US" dirty="0" err="1">
                <a:effectLst/>
              </a:rPr>
              <a:t>وجود</a:t>
            </a:r>
            <a:r>
              <a:rPr lang="en-US" dirty="0">
                <a:effectLst/>
              </a:rPr>
              <a:t> </a:t>
            </a:r>
            <a:r>
              <a:rPr lang="en-US" dirty="0" err="1">
                <a:effectLst/>
              </a:rPr>
              <a:t>دارد</a:t>
            </a:r>
            <a:r>
              <a:rPr lang="en-US" dirty="0">
                <a:effectLst/>
              </a:rPr>
              <a:t> — </a:t>
            </a:r>
            <a:r>
              <a:rPr lang="en-US" dirty="0" err="1">
                <a:effectLst/>
              </a:rPr>
              <a:t>چون</a:t>
            </a:r>
            <a:r>
              <a:rPr lang="en-US" dirty="0">
                <a:effectLst/>
              </a:rPr>
              <a:t> </a:t>
            </a:r>
            <a:r>
              <a:rPr lang="en-US" dirty="0" err="1">
                <a:effectLst/>
              </a:rPr>
              <a:t>سد</a:t>
            </a:r>
            <a:r>
              <a:rPr lang="en-US" dirty="0">
                <a:effectLst/>
              </a:rPr>
              <a:t> </a:t>
            </a:r>
            <a:r>
              <a:rPr lang="en-US" dirty="0" err="1">
                <a:effectLst/>
              </a:rPr>
              <a:t>حافظه</a:t>
            </a:r>
            <a:r>
              <a:rPr lang="en-US" dirty="0">
                <a:effectLst/>
              </a:rPr>
              <a:t> </a:t>
            </a:r>
            <a:r>
              <a:rPr lang="en-US" dirty="0" err="1">
                <a:effectLst/>
              </a:rPr>
              <a:t>این</a:t>
            </a:r>
            <a:r>
              <a:rPr lang="en-US" dirty="0">
                <a:effectLst/>
              </a:rPr>
              <a:t> </a:t>
            </a:r>
            <a:r>
              <a:rPr lang="en-US" dirty="0" err="1">
                <a:effectLst/>
              </a:rPr>
              <a:t>ترتیب</a:t>
            </a:r>
            <a:r>
              <a:rPr lang="en-US" dirty="0">
                <a:effectLst/>
              </a:rPr>
              <a:t> </a:t>
            </a:r>
            <a:r>
              <a:rPr lang="en-US" dirty="0" err="1">
                <a:effectLst/>
              </a:rPr>
              <a:t>را</a:t>
            </a:r>
            <a:r>
              <a:rPr lang="en-US" dirty="0">
                <a:effectLst/>
              </a:rPr>
              <a:t> </a:t>
            </a:r>
            <a:r>
              <a:rPr lang="en-US" dirty="0" err="1">
                <a:effectLst/>
              </a:rPr>
              <a:t>تضمین</a:t>
            </a:r>
            <a:r>
              <a:rPr lang="en-US" dirty="0">
                <a:effectLst/>
              </a:rPr>
              <a:t> </a:t>
            </a:r>
            <a:r>
              <a:rPr lang="en-US" dirty="0" err="1">
                <a:effectLst/>
              </a:rPr>
              <a:t>کرده</a:t>
            </a:r>
            <a:r>
              <a:rPr lang="en-US" dirty="0">
                <a:effectLst/>
              </a:rPr>
              <a:t> </a:t>
            </a:r>
            <a:r>
              <a:rPr lang="en-US" dirty="0" err="1">
                <a:effectLst/>
              </a:rPr>
              <a:t>است</a:t>
            </a:r>
            <a:r>
              <a:rPr lang="en-US" dirty="0">
                <a:effectLst/>
              </a:rPr>
              <a:t>.</a:t>
            </a:r>
          </a:p>
          <a:p>
            <a:pPr algn="r" rtl="1"/>
            <a:r>
              <a:rPr lang="en-US" dirty="0" err="1">
                <a:effectLst/>
              </a:rPr>
              <a:t>کادر</a:t>
            </a:r>
            <a:r>
              <a:rPr lang="en-US" dirty="0">
                <a:effectLst/>
              </a:rPr>
              <a:t> </a:t>
            </a:r>
            <a:r>
              <a:rPr lang="en-US" dirty="0" err="1">
                <a:effectLst/>
              </a:rPr>
              <a:t>قرمز</a:t>
            </a:r>
            <a:r>
              <a:rPr lang="en-US" dirty="0">
                <a:effectLst/>
              </a:rPr>
              <a:t> </a:t>
            </a:r>
            <a:r>
              <a:rPr lang="en-US" dirty="0" err="1">
                <a:effectLst/>
              </a:rPr>
              <a:t>پایین</a:t>
            </a:r>
            <a:r>
              <a:rPr lang="en-US" dirty="0">
                <a:effectLst/>
              </a:rPr>
              <a:t> </a:t>
            </a:r>
            <a:r>
              <a:rPr lang="en-US" dirty="0" err="1">
                <a:effectLst/>
              </a:rPr>
              <a:t>حالت</a:t>
            </a:r>
            <a:r>
              <a:rPr lang="en-US" dirty="0">
                <a:effectLst/>
              </a:rPr>
              <a:t> </a:t>
            </a:r>
            <a:r>
              <a:rPr lang="en-US" dirty="0" err="1">
                <a:effectLst/>
              </a:rPr>
              <a:t>خطرناک</a:t>
            </a:r>
            <a:r>
              <a:rPr lang="en-US" dirty="0">
                <a:effectLst/>
              </a:rPr>
              <a:t> </a:t>
            </a:r>
            <a:r>
              <a:rPr lang="en-US" dirty="0" err="1">
                <a:effectLst/>
              </a:rPr>
              <a:t>را</a:t>
            </a:r>
            <a:r>
              <a:rPr lang="en-US" dirty="0">
                <a:effectLst/>
              </a:rPr>
              <a:t> </a:t>
            </a:r>
            <a:r>
              <a:rPr lang="en-US" dirty="0" err="1">
                <a:effectLst/>
              </a:rPr>
              <a:t>نشان</a:t>
            </a:r>
            <a:r>
              <a:rPr lang="en-US" dirty="0">
                <a:effectLst/>
              </a:rPr>
              <a:t> </a:t>
            </a:r>
            <a:r>
              <a:rPr lang="en-US" dirty="0" err="1">
                <a:effectLst/>
              </a:rPr>
              <a:t>می‌دهد</a:t>
            </a:r>
            <a:r>
              <a:rPr lang="en-US" dirty="0">
                <a:effectLst/>
              </a:rPr>
              <a:t>: </a:t>
            </a:r>
            <a:r>
              <a:rPr lang="en-US" b="1" dirty="0" err="1">
                <a:effectLst/>
              </a:rPr>
              <a:t>بدون</a:t>
            </a:r>
            <a:r>
              <a:rPr lang="en-US" b="1" dirty="0">
                <a:effectLst/>
              </a:rPr>
              <a:t> </a:t>
            </a:r>
            <a:r>
              <a:rPr lang="en-US" b="1" dirty="0" err="1">
                <a:effectLst/>
              </a:rPr>
              <a:t>سد</a:t>
            </a:r>
            <a:r>
              <a:rPr lang="en-US" b="1" dirty="0">
                <a:effectLst/>
              </a:rPr>
              <a:t> </a:t>
            </a:r>
            <a:r>
              <a:rPr lang="en-US" b="1" dirty="0" err="1">
                <a:effectLst/>
              </a:rPr>
              <a:t>حافظه</a:t>
            </a:r>
            <a:r>
              <a:rPr lang="en-US" dirty="0">
                <a:effectLst/>
              </a:rPr>
              <a:t>، </a:t>
            </a:r>
            <a:r>
              <a:rPr lang="en-US" dirty="0" err="1">
                <a:effectLst/>
              </a:rPr>
              <a:t>پردازنده</a:t>
            </a:r>
            <a:r>
              <a:rPr lang="en-US" dirty="0">
                <a:effectLst/>
              </a:rPr>
              <a:t> ۲ </a:t>
            </a:r>
            <a:r>
              <a:rPr lang="en-US" dirty="0" err="1">
                <a:effectLst/>
              </a:rPr>
              <a:t>ممکن</a:t>
            </a:r>
            <a:r>
              <a:rPr lang="en-US" dirty="0">
                <a:effectLst/>
              </a:rPr>
              <a:t> </a:t>
            </a:r>
            <a:r>
              <a:rPr lang="en-US" dirty="0" err="1">
                <a:effectLst/>
              </a:rPr>
              <a:t>است</a:t>
            </a:r>
            <a:r>
              <a:rPr lang="en-US" dirty="0">
                <a:effectLst/>
              </a:rPr>
              <a:t> </a:t>
            </a:r>
            <a:r>
              <a:rPr lang="en-US" sz="1200" kern="1200" dirty="0">
                <a:solidFill>
                  <a:schemeClr val="tx1"/>
                </a:solidFill>
                <a:effectLst/>
                <a:latin typeface="Times New Roman" charset="0"/>
                <a:ea typeface="MS PGothic" pitchFamily="34" charset="-128"/>
                <a:cs typeface="MS PGothic" charset="0"/>
              </a:rPr>
              <a:t>flag=1</a:t>
            </a:r>
            <a:r>
              <a:rPr lang="en-US" dirty="0">
                <a:effectLst/>
              </a:rPr>
              <a:t> </a:t>
            </a:r>
            <a:r>
              <a:rPr lang="en-US" dirty="0" err="1">
                <a:effectLst/>
              </a:rPr>
              <a:t>را</a:t>
            </a:r>
            <a:r>
              <a:rPr lang="en-US" dirty="0">
                <a:effectLst/>
              </a:rPr>
              <a:t> </a:t>
            </a:r>
            <a:r>
              <a:rPr lang="en-US" dirty="0" err="1">
                <a:effectLst/>
              </a:rPr>
              <a:t>ببیند</a:t>
            </a:r>
            <a:r>
              <a:rPr lang="en-US" dirty="0">
                <a:effectLst/>
              </a:rPr>
              <a:t> </a:t>
            </a:r>
            <a:r>
              <a:rPr lang="en-US" dirty="0" err="1">
                <a:effectLst/>
              </a:rPr>
              <a:t>اما</a:t>
            </a:r>
            <a:r>
              <a:rPr lang="en-US" dirty="0">
                <a:effectLst/>
              </a:rPr>
              <a:t> </a:t>
            </a:r>
            <a:r>
              <a:rPr lang="en-US" dirty="0" err="1">
                <a:effectLst/>
              </a:rPr>
              <a:t>هنوز</a:t>
            </a:r>
            <a:r>
              <a:rPr lang="en-US" dirty="0">
                <a:effectLst/>
              </a:rPr>
              <a:t> </a:t>
            </a:r>
            <a:r>
              <a:rPr lang="en-US" sz="1200" kern="1200" dirty="0">
                <a:solidFill>
                  <a:schemeClr val="tx1"/>
                </a:solidFill>
                <a:effectLst/>
                <a:latin typeface="Times New Roman" charset="0"/>
                <a:ea typeface="MS PGothic" pitchFamily="34" charset="-128"/>
                <a:cs typeface="MS PGothic" charset="0"/>
              </a:rPr>
              <a:t>x=0</a:t>
            </a:r>
            <a:r>
              <a:rPr lang="en-US" dirty="0">
                <a:effectLst/>
              </a:rPr>
              <a:t> </a:t>
            </a:r>
            <a:r>
              <a:rPr lang="en-US" dirty="0" err="1">
                <a:effectLst/>
              </a:rPr>
              <a:t>باشد</a:t>
            </a:r>
            <a:r>
              <a:rPr lang="en-US" dirty="0">
                <a:effectLst/>
              </a:rPr>
              <a:t> — </a:t>
            </a:r>
            <a:r>
              <a:rPr lang="en-US" dirty="0" err="1">
                <a:effectLst/>
              </a:rPr>
              <a:t>که</a:t>
            </a:r>
            <a:r>
              <a:rPr lang="en-US" dirty="0">
                <a:effectLst/>
              </a:rPr>
              <a:t> </a:t>
            </a:r>
            <a:r>
              <a:rPr lang="en-US" dirty="0" err="1">
                <a:effectLst/>
              </a:rPr>
              <a:t>یک</a:t>
            </a:r>
            <a:r>
              <a:rPr lang="en-US" dirty="0">
                <a:effectLst/>
              </a:rPr>
              <a:t> </a:t>
            </a:r>
            <a:r>
              <a:rPr lang="en-US" dirty="0" err="1">
                <a:effectLst/>
              </a:rPr>
              <a:t>باگ</a:t>
            </a:r>
            <a:r>
              <a:rPr lang="en-US" dirty="0">
                <a:effectLst/>
              </a:rPr>
              <a:t> </a:t>
            </a:r>
            <a:r>
              <a:rPr lang="en-US" dirty="0" err="1">
                <a:effectLst/>
              </a:rPr>
              <a:t>رقابتی</a:t>
            </a:r>
            <a:r>
              <a:rPr lang="en-US" dirty="0">
                <a:effectLst/>
              </a:rPr>
              <a:t> (race condition) </a:t>
            </a:r>
            <a:r>
              <a:rPr lang="en-US" dirty="0" err="1">
                <a:effectLst/>
              </a:rPr>
              <a:t>جدی</a:t>
            </a:r>
            <a:r>
              <a:rPr lang="en-US" dirty="0">
                <a:effectLst/>
              </a:rPr>
              <a:t> </a:t>
            </a:r>
            <a:r>
              <a:rPr lang="en-US" dirty="0" err="1">
                <a:effectLst/>
              </a:rPr>
              <a:t>در</a:t>
            </a:r>
            <a:r>
              <a:rPr lang="en-US" dirty="0">
                <a:effectLst/>
              </a:rPr>
              <a:t> </a:t>
            </a:r>
            <a:r>
              <a:rPr lang="en-US" dirty="0" err="1">
                <a:effectLst/>
              </a:rPr>
              <a:t>سیستم‌های</a:t>
            </a:r>
            <a:r>
              <a:rPr lang="en-US" dirty="0">
                <a:effectLst/>
              </a:rPr>
              <a:t> </a:t>
            </a:r>
            <a:r>
              <a:rPr lang="en-US" dirty="0" err="1">
                <a:effectLst/>
              </a:rPr>
              <a:t>موازی</a:t>
            </a:r>
            <a:r>
              <a:rPr lang="en-US" dirty="0">
                <a:effectLst/>
              </a:rPr>
              <a:t> </a:t>
            </a:r>
            <a:r>
              <a:rPr lang="en-US" dirty="0" err="1">
                <a:effectLst/>
              </a:rPr>
              <a:t>است</a:t>
            </a:r>
            <a:r>
              <a:rPr lang="en-US" dirty="0">
                <a:effectLst/>
              </a:rPr>
              <a:t>.</a:t>
            </a:r>
          </a:p>
          <a:p>
            <a:pPr algn="r" rtl="1"/>
            <a:r>
              <a:rPr lang="en-US" sz="1200" b="1" i="0" kern="1200" dirty="0">
                <a:solidFill>
                  <a:schemeClr val="tx1"/>
                </a:solidFill>
                <a:effectLst/>
                <a:latin typeface="Times New Roman" charset="0"/>
                <a:ea typeface="MS PGothic" pitchFamily="34" charset="-128"/>
                <a:cs typeface="MS PGothic" charset="0"/>
              </a:rPr>
              <a:t></a:t>
            </a:r>
            <a:endParaRPr lang="en-US" dirty="0">
              <a:effectLst/>
            </a:endParaRPr>
          </a:p>
          <a:p>
            <a:pPr algn="r" rtl="1"/>
            <a:r>
              <a:rPr lang="en-US" sz="1200" b="1" i="0" kern="1200" dirty="0">
                <a:solidFill>
                  <a:schemeClr val="tx1"/>
                </a:solidFill>
                <a:effectLst/>
                <a:latin typeface="Times New Roman" charset="0"/>
                <a:ea typeface="MS PGothic" pitchFamily="34" charset="-128"/>
                <a:cs typeface="MS PGothic" charset="0"/>
              </a:rPr>
              <a:t></a:t>
            </a:r>
            <a:endParaRPr lang="en-US" dirty="0">
              <a:effectLst/>
            </a:endParaRPr>
          </a:p>
          <a:p>
            <a:pPr algn="r" rtl="1"/>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24</a:t>
            </a:fld>
            <a:endParaRPr lang="en-US" altLang="en-US"/>
          </a:p>
        </p:txBody>
      </p:sp>
    </p:spTree>
    <p:extLst>
      <p:ext uri="{BB962C8B-B14F-4D97-AF65-F5344CB8AC3E}">
        <p14:creationId xmlns:p14="http://schemas.microsoft.com/office/powerpoint/2010/main" val="36795957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0" fontAlgn="base" latinLnBrk="0" hangingPunct="0">
              <a:lnSpc>
                <a:spcPct val="100000"/>
              </a:lnSpc>
              <a:spcBef>
                <a:spcPct val="30000"/>
              </a:spcBef>
              <a:spcAft>
                <a:spcPct val="0"/>
              </a:spcAft>
              <a:buClrTx/>
              <a:buSzTx/>
              <a:buFontTx/>
              <a:buNone/>
              <a:tabLst/>
              <a:defRPr/>
            </a:pPr>
            <a:r>
              <a:rPr lang="fa-IR" dirty="0">
                <a:solidFill>
                  <a:srgbClr val="1F1F1F"/>
                </a:solidFill>
                <a:effectLst/>
                <a:latin typeface="Google Sans"/>
              </a:rPr>
              <a:t>در رابطه با راه‌حل پترسون، می‌توانیم یک سد حافظه بین دو دستور تخصیص اول در بخش ورود قرار دهیم تا از بازتنظیم عملیات نشان داده شده در شکل ۶.۴ جلوگیری کنیم. توجه داشته باشید که موانع حافظه عملیات سطح بسیار پایینی در نظر گرفته می شوند و به طور معمول تنها زمانی توسط توسعه دهندگان هسته هنگام نوشتن کد تخصصی که انحصار متقابل را تضمین می کند استفاده می شود.</a:t>
            </a:r>
          </a:p>
          <a:p>
            <a:pPr algn="r" rtl="1"/>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25</a:t>
            </a:fld>
            <a:endParaRPr lang="en-US" altLang="en-US"/>
          </a:p>
        </p:txBody>
      </p:sp>
    </p:spTree>
    <p:extLst>
      <p:ext uri="{BB962C8B-B14F-4D97-AF65-F5344CB8AC3E}">
        <p14:creationId xmlns:p14="http://schemas.microsoft.com/office/powerpoint/2010/main" val="3941227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33A719F1-3A87-46F3-9526-322E36B5BD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7F8BFD78-3377-4EA4-A48D-F69CC41A378F}"/>
              </a:ext>
            </a:extLst>
          </p:cNvPr>
          <p:cNvSpPr>
            <a:spLocks noGrp="1" noRot="1" noChangeAspect="1" noChangeArrowheads="1" noTextEdit="1"/>
          </p:cNvSpPr>
          <p:nvPr>
            <p:ph type="sldImg"/>
          </p:nvPr>
        </p:nvSpPr>
        <p:spPr>
          <a:ln/>
        </p:spPr>
      </p:sp>
      <p:sp>
        <p:nvSpPr>
          <p:cNvPr id="30723" name="Rectangle 3">
            <a:extLst>
              <a:ext uri="{FF2B5EF4-FFF2-40B4-BE49-F238E27FC236}">
                <a16:creationId xmlns:a16="http://schemas.microsoft.com/office/drawing/2014/main" id="{A503B85D-87D4-4A59-99BA-1FB057B63F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یک متغیر جدید ایجاد میکند به نام </a:t>
            </a:r>
            <a:r>
              <a:rPr lang="en-US" dirty="0" err="1"/>
              <a:t>rv</a:t>
            </a:r>
            <a:r>
              <a:rPr lang="fa-IR" dirty="0"/>
              <a:t> حالا مقدار آن </a:t>
            </a:r>
            <a:r>
              <a:rPr lang="en-US" dirty="0"/>
              <a:t>false</a:t>
            </a:r>
            <a:r>
              <a:rPr lang="fa-IR" dirty="0"/>
              <a:t> است ولی متغیر </a:t>
            </a:r>
            <a:r>
              <a:rPr lang="en-US" dirty="0"/>
              <a:t>target</a:t>
            </a:r>
            <a:r>
              <a:rPr lang="fa-IR" dirty="0"/>
              <a:t> که آدرس محل </a:t>
            </a:r>
            <a:r>
              <a:rPr lang="en-US" dirty="0"/>
              <a:t>lock</a:t>
            </a:r>
            <a:r>
              <a:rPr lang="fa-IR" dirty="0"/>
              <a:t> را دارد </a:t>
            </a:r>
            <a:r>
              <a:rPr lang="en-US" dirty="0"/>
              <a:t>false </a:t>
            </a:r>
            <a:r>
              <a:rPr lang="fa-IR" dirty="0"/>
              <a:t>است.</a:t>
            </a:r>
          </a:p>
          <a:p>
            <a:pPr marL="0" marR="0" algn="r" rtl="1">
              <a:lnSpc>
                <a:spcPts val="2625"/>
              </a:lnSpc>
              <a:spcBef>
                <a:spcPts val="0"/>
              </a:spcBef>
              <a:spcAft>
                <a:spcPts val="0"/>
              </a:spcAft>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متغیر منطقی (</a:t>
            </a:r>
            <a:r>
              <a:rPr lang="en-US" sz="1800" dirty="0" err="1">
                <a:solidFill>
                  <a:srgbClr val="1F1F1F"/>
                </a:solidFill>
                <a:effectLst/>
                <a:latin typeface="Arial" panose="020B0604020202020204" pitchFamily="34" charset="0"/>
                <a:ea typeface="Times New Roman" panose="02020603050405020304" pitchFamily="18" charset="0"/>
              </a:rPr>
              <a:t>boolean</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قفل، که مقدار اولیه آن </a:t>
            </a:r>
            <a:r>
              <a:rPr lang="en-US" sz="1800" dirty="0">
                <a:solidFill>
                  <a:srgbClr val="1F1F1F"/>
                </a:solidFill>
                <a:effectLst/>
                <a:latin typeface="Arial" panose="020B0604020202020204" pitchFamily="34" charset="0"/>
                <a:ea typeface="Times New Roman" panose="02020603050405020304" pitchFamily="18" charset="0"/>
              </a:rPr>
              <a:t>false</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است، خروج از حالت تعارض را اجرا کنیم.</a:t>
            </a:r>
            <a:endParaRPr lang="en-US" sz="1800" dirty="0">
              <a:effectLst/>
              <a:latin typeface="Times New Roman" panose="02020603050405020304" pitchFamily="18" charset="0"/>
              <a:ea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a:p>
            <a:pPr algn="r" rtl="1"/>
            <a:endParaRPr lang="en-US" dirty="0"/>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28</a:t>
            </a:fld>
            <a:endParaRPr lang="en-US" altLang="en-US"/>
          </a:p>
        </p:txBody>
      </p:sp>
    </p:spTree>
    <p:extLst>
      <p:ext uri="{BB962C8B-B14F-4D97-AF65-F5344CB8AC3E}">
        <p14:creationId xmlns:p14="http://schemas.microsoft.com/office/powerpoint/2010/main" val="9300153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70731A8B-03EB-4ACF-BF35-BC1548BBCD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EF83B533-C2A6-4CC5-9674-9CD0B1C066A9}"/>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4312973F-C114-466D-AA99-69C818835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r>
              <a:rPr lang="ar-SA" sz="12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ویژگی مهم این دستور این است که به صورت اتمی اجرا می شود.</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بنابراین</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اگر</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دو</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دستور</a:t>
            </a:r>
            <a:r>
              <a:rPr lang="en-US" sz="1200" dirty="0">
                <a:effectLst/>
                <a:latin typeface="Times New Roman" panose="02020603050405020304" pitchFamily="18" charset="0"/>
                <a:ea typeface="Times New Roman" panose="02020603050405020304" pitchFamily="18" charset="0"/>
              </a:rPr>
              <a:t> </a:t>
            </a:r>
            <a:r>
              <a:rPr lang="en-US" sz="1200" dirty="0">
                <a:solidFill>
                  <a:srgbClr val="1F1F1F"/>
                </a:solidFill>
                <a:effectLst/>
                <a:latin typeface="Arial" panose="020B0604020202020204" pitchFamily="34" charset="0"/>
                <a:ea typeface="Times New Roman" panose="02020603050405020304" pitchFamily="18" charset="0"/>
              </a:rPr>
              <a:t>test and set</a:t>
            </a:r>
            <a:r>
              <a:rPr lang="ar-SA" sz="12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به طور همزمان اجرا شوند (هر کدام روی یک هسته متفاوت)، آنها به ترتیب دلخواه به صورت متوالی اجرا خواهند شد.</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اگر</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ماشین</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از</a:t>
            </a:r>
            <a:r>
              <a:rPr lang="en-US"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دستور</a:t>
            </a:r>
            <a:r>
              <a:rPr lang="en-US" sz="1200" dirty="0">
                <a:effectLst/>
                <a:latin typeface="Times New Roman" panose="02020603050405020304" pitchFamily="18" charset="0"/>
                <a:ea typeface="Times New Roman" panose="02020603050405020304" pitchFamily="18" charset="0"/>
              </a:rPr>
              <a:t> </a:t>
            </a:r>
            <a:r>
              <a:rPr lang="en-US" sz="1200" dirty="0">
                <a:solidFill>
                  <a:srgbClr val="1F1F1F"/>
                </a:solidFill>
                <a:effectLst/>
                <a:latin typeface="Arial" panose="020B0604020202020204" pitchFamily="34" charset="0"/>
                <a:ea typeface="Times New Roman" panose="02020603050405020304" pitchFamily="18" charset="0"/>
              </a:rPr>
              <a:t>test and set</a:t>
            </a:r>
            <a:r>
              <a:rPr lang="ar-SA" sz="12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پشتیبانی کند، در آن صورت می توانیم با اعلام یک </a:t>
            </a:r>
            <a:endParaRPr lang="en-US" altLang="en-US" dirty="0">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r" rtl="1">
              <a:lnSpc>
                <a:spcPts val="2625"/>
              </a:lnSpc>
              <a:spcBef>
                <a:spcPts val="0"/>
              </a:spcBef>
              <a:spcAft>
                <a:spcPts val="1500"/>
              </a:spcAft>
            </a:pP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دستور «مقایسه و تعویض» (</a:t>
            </a:r>
            <a:r>
              <a:rPr lang="en-US" sz="1800" dirty="0">
                <a:solidFill>
                  <a:srgbClr val="1F1F1F"/>
                </a:solidFill>
                <a:effectLst/>
                <a:latin typeface="Arial" panose="020B0604020202020204" pitchFamily="34" charset="0"/>
                <a:ea typeface="Times New Roman" panose="02020603050405020304" pitchFamily="18" charset="0"/>
              </a:rPr>
              <a:t>CAS</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درست مانند دستور «تنظیم و تست» (</a:t>
            </a:r>
            <a:r>
              <a:rPr lang="en-US" sz="1800" dirty="0">
                <a:solidFill>
                  <a:srgbClr val="1F1F1F"/>
                </a:solidFill>
                <a:effectLst/>
                <a:latin typeface="Arial" panose="020B0604020202020204" pitchFamily="34" charset="0"/>
                <a:ea typeface="Times New Roman" panose="02020603050405020304" pitchFamily="18" charset="0"/>
              </a:rPr>
              <a:t>test and set</a:t>
            </a:r>
            <a:r>
              <a:rPr lang="ar-SA" sz="1800" dirty="0">
                <a:solidFill>
                  <a:srgbClr val="1F1F1F"/>
                </a:solidFill>
                <a:effectLst/>
                <a:latin typeface="Times New Roman" panose="02020603050405020304" pitchFamily="18" charset="0"/>
                <a:ea typeface="Times New Roman" panose="02020603050405020304" pitchFamily="18" charset="0"/>
                <a:cs typeface="Arial" panose="020B0604020202020204" pitchFamily="34" charset="0"/>
              </a:rPr>
              <a:t>)، به صورت اتمی روی دو کلمه عمل می‌کند، اما از یک مکانیزم متفاوت که بر اساس جایگزینی محتوای دو کلمه است، استفاده می‌ کند.</a:t>
            </a:r>
            <a:endParaRPr lang="en-US" sz="1800" dirty="0">
              <a:effectLst/>
              <a:latin typeface="Times New Roman" panose="02020603050405020304" pitchFamily="18" charset="0"/>
              <a:ea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Arial" panose="020B0604020202020204" pitchFamily="34" charset="0"/>
              </a:rPr>
              <a:t> </a:t>
            </a:r>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30</a:t>
            </a:fld>
            <a:endParaRPr lang="en-US" altLang="en-US"/>
          </a:p>
        </p:txBody>
      </p:sp>
    </p:spTree>
    <p:extLst>
      <p:ext uri="{BB962C8B-B14F-4D97-AF65-F5344CB8AC3E}">
        <p14:creationId xmlns:p14="http://schemas.microsoft.com/office/powerpoint/2010/main" val="26513810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C93DAB3F-20BE-4D1C-9815-F2ABC58A5F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pPr/>
              <a:t>31</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09F55319-88CA-4D98-878B-70A33C7A46C1}"/>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141E9C05-4D38-4782-A42B-6284D73AED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15000"/>
              </a:lnSpc>
              <a:spcAft>
                <a:spcPts val="800"/>
              </a:spcAft>
              <a:buNone/>
            </a:pPr>
            <a:r>
              <a:rPr lang="ar-SA" sz="1800" kern="100" dirty="0">
                <a:effectLst/>
                <a:latin typeface="Aptos" panose="020B0004020202020204" pitchFamily="34" charset="0"/>
                <a:ea typeface="Aptos" panose="020B0004020202020204" pitchFamily="34" charset="0"/>
                <a:cs typeface="B Nazanin" panose="00000400000000000000" pitchFamily="2" charset="-78"/>
              </a:rPr>
              <a:t>بله، کد ارائه‌شده </a:t>
            </a:r>
            <a:r>
              <a:rPr lang="ar-SA" sz="1800" b="1" kern="100" dirty="0">
                <a:effectLst/>
                <a:latin typeface="Aptos" panose="020B0004020202020204" pitchFamily="34" charset="0"/>
                <a:ea typeface="Aptos" panose="020B0004020202020204" pitchFamily="34" charset="0"/>
                <a:cs typeface="B Nazanin" panose="00000400000000000000" pitchFamily="2" charset="-78"/>
              </a:rPr>
              <a:t>مسئله بخش بحرانی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(Critical Section Problem)</a:t>
            </a:r>
            <a:r>
              <a:rPr lang="en-US" sz="1800" kern="100" dirty="0">
                <a:effectLst/>
                <a:latin typeface="Aptos" panose="020B0004020202020204" pitchFamily="34" charset="0"/>
                <a:ea typeface="Aptos" panose="020B0004020202020204" pitchFamily="34" charset="0"/>
                <a:cs typeface="B Nazanin" panose="00000400000000000000" pitchFamily="2" charset="-78"/>
              </a:rPr>
              <a:t> </a:t>
            </a:r>
            <a:r>
              <a:rPr lang="ar-SA" sz="1800" kern="100" dirty="0">
                <a:effectLst/>
                <a:latin typeface="Aptos" panose="020B0004020202020204" pitchFamily="34" charset="0"/>
                <a:ea typeface="Aptos" panose="020B0004020202020204" pitchFamily="34" charset="0"/>
                <a:cs typeface="B Nazanin" panose="00000400000000000000" pitchFamily="2" charset="-78"/>
              </a:rPr>
              <a:t>را </a:t>
            </a:r>
            <a:r>
              <a:rPr lang="ar-SA" sz="1800" b="1" kern="100" dirty="0">
                <a:effectLst/>
                <a:latin typeface="Aptos" panose="020B0004020202020204" pitchFamily="34" charset="0"/>
                <a:ea typeface="Aptos" panose="020B0004020202020204" pitchFamily="34" charset="0"/>
                <a:cs typeface="B Nazanin" panose="00000400000000000000" pitchFamily="2" charset="-78"/>
              </a:rPr>
              <a:t>حل می‌کند</a:t>
            </a:r>
            <a:r>
              <a:rPr lang="ar-SA" sz="1800" kern="100" dirty="0">
                <a:effectLst/>
                <a:latin typeface="Aptos" panose="020B0004020202020204" pitchFamily="34" charset="0"/>
                <a:ea typeface="Aptos" panose="020B0004020202020204" pitchFamily="34" charset="0"/>
                <a:cs typeface="B Nazanin" panose="00000400000000000000" pitchFamily="2" charset="-78"/>
              </a:rPr>
              <a:t>، مشروط بر اینکه</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kern="100" dirty="0">
                <a:effectLst/>
                <a:latin typeface="Aptos" panose="020B0004020202020204" pitchFamily="34" charset="0"/>
                <a:ea typeface="Aptos" panose="020B0004020202020204" pitchFamily="34" charset="0"/>
                <a:cs typeface="B Nazanin" panose="00000400000000000000" pitchFamily="2" charset="-78"/>
              </a:rPr>
              <a:t>متغیر </a:t>
            </a:r>
            <a:r>
              <a:rPr lang="en-US" sz="1800" kern="100" dirty="0">
                <a:effectLst/>
                <a:latin typeface="Aptos" panose="020B0004020202020204" pitchFamily="34" charset="0"/>
                <a:ea typeface="Aptos" panose="020B0004020202020204" pitchFamily="34" charset="0"/>
                <a:cs typeface="B Nazanin" panose="00000400000000000000" pitchFamily="2" charset="-78"/>
              </a:rPr>
              <a:t>lock </a:t>
            </a:r>
            <a:r>
              <a:rPr lang="ar-SA" sz="1800" kern="100" dirty="0">
                <a:effectLst/>
                <a:latin typeface="Aptos" panose="020B0004020202020204" pitchFamily="34" charset="0"/>
                <a:ea typeface="Aptos" panose="020B0004020202020204" pitchFamily="34" charset="0"/>
                <a:cs typeface="B Nazanin" panose="00000400000000000000" pitchFamily="2" charset="-78"/>
              </a:rPr>
              <a:t>یک متغیر اشتراکی بین نخ‌ها یا فرآیندها باشد (معمولاً به‌صورت </a:t>
            </a:r>
            <a:r>
              <a:rPr lang="en-US" sz="1800" kern="100" dirty="0">
                <a:effectLst/>
                <a:latin typeface="Aptos" panose="020B0004020202020204" pitchFamily="34" charset="0"/>
                <a:ea typeface="Aptos" panose="020B0004020202020204" pitchFamily="34" charset="0"/>
                <a:cs typeface="B Nazanin" panose="00000400000000000000" pitchFamily="2" charset="-78"/>
              </a:rPr>
              <a:t>volatile int lock = 0; </a:t>
            </a:r>
            <a:r>
              <a:rPr lang="ar-SA" sz="1800" kern="100" dirty="0">
                <a:effectLst/>
                <a:latin typeface="Aptos" panose="020B0004020202020204" pitchFamily="34" charset="0"/>
                <a:ea typeface="Aptos" panose="020B0004020202020204" pitchFamily="34" charset="0"/>
                <a:cs typeface="B Nazanin" panose="00000400000000000000" pitchFamily="2" charset="-78"/>
              </a:rPr>
              <a:t>تعریف می‌شود</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r>
              <a:rPr lang="ar-SA" sz="1800"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kern="100" dirty="0">
                <a:effectLst/>
                <a:latin typeface="Aptos" panose="020B0004020202020204" pitchFamily="34" charset="0"/>
                <a:ea typeface="Aptos" panose="020B0004020202020204" pitchFamily="34" charset="0"/>
                <a:cs typeface="B Nazanin" panose="00000400000000000000" pitchFamily="2" charset="-78"/>
              </a:rPr>
              <a:t>تابع </a:t>
            </a:r>
            <a:r>
              <a:rPr lang="en-US" sz="1800" kern="100" dirty="0" err="1">
                <a:effectLst/>
                <a:latin typeface="Aptos" panose="020B0004020202020204" pitchFamily="34" charset="0"/>
                <a:ea typeface="Aptos" panose="020B0004020202020204" pitchFamily="34" charset="0"/>
                <a:cs typeface="B Nazanin" panose="00000400000000000000" pitchFamily="2" charset="-78"/>
              </a:rPr>
              <a:t>compare_and_swap</a:t>
            </a:r>
            <a:r>
              <a:rPr lang="en-US" sz="1800" kern="100" dirty="0">
                <a:effectLst/>
                <a:latin typeface="Aptos" panose="020B0004020202020204" pitchFamily="34" charset="0"/>
                <a:ea typeface="Aptos" panose="020B0004020202020204" pitchFamily="34" charset="0"/>
                <a:cs typeface="B Nazanin" panose="00000400000000000000" pitchFamily="2" charset="-78"/>
              </a:rPr>
              <a:t>() </a:t>
            </a:r>
            <a:r>
              <a:rPr lang="ar-SA" sz="1800" kern="100" dirty="0">
                <a:effectLst/>
                <a:latin typeface="Aptos" panose="020B0004020202020204" pitchFamily="34" charset="0"/>
                <a:ea typeface="Aptos" panose="020B0004020202020204" pitchFamily="34" charset="0"/>
                <a:cs typeface="B Nazanin" panose="00000400000000000000" pitchFamily="2" charset="-78"/>
              </a:rPr>
              <a:t>به‌صورت </a:t>
            </a:r>
            <a:r>
              <a:rPr lang="ar-SA" sz="1800" b="1" kern="100" dirty="0">
                <a:effectLst/>
                <a:latin typeface="Aptos" panose="020B0004020202020204" pitchFamily="34" charset="0"/>
                <a:ea typeface="Aptos" panose="020B0004020202020204" pitchFamily="34" charset="0"/>
                <a:cs typeface="B Nazanin" panose="00000400000000000000" pitchFamily="2" charset="-78"/>
              </a:rPr>
              <a:t>اتمی</a:t>
            </a:r>
            <a:r>
              <a:rPr lang="en-US" sz="1800" b="1" kern="100" dirty="0">
                <a:effectLst/>
                <a:latin typeface="Aptos" panose="020B0004020202020204" pitchFamily="34" charset="0"/>
                <a:ea typeface="Aptos" panose="020B0004020202020204" pitchFamily="34" charset="0"/>
                <a:cs typeface="B Nazanin" panose="00000400000000000000" pitchFamily="2" charset="-78"/>
              </a:rPr>
              <a:t> (atomic)</a:t>
            </a:r>
            <a:r>
              <a:rPr lang="en-US" sz="1800" kern="100" dirty="0">
                <a:effectLst/>
                <a:latin typeface="Aptos" panose="020B0004020202020204" pitchFamily="34" charset="0"/>
                <a:ea typeface="Aptos" panose="020B0004020202020204" pitchFamily="34" charset="0"/>
                <a:cs typeface="B Nazanin" panose="00000400000000000000" pitchFamily="2" charset="-78"/>
              </a:rPr>
              <a:t> </a:t>
            </a:r>
            <a:r>
              <a:rPr lang="ar-SA" sz="1800" kern="100" dirty="0">
                <a:effectLst/>
                <a:latin typeface="Aptos" panose="020B0004020202020204" pitchFamily="34" charset="0"/>
                <a:ea typeface="Aptos" panose="020B0004020202020204" pitchFamily="34" charset="0"/>
                <a:cs typeface="B Nazanin" panose="00000400000000000000" pitchFamily="2" charset="-78"/>
              </a:rPr>
              <a:t>پیاده‌سازی شده باشد</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0" dirty="0">
                <a:effectLst/>
                <a:latin typeface="Segoe UI Emoji" panose="020B0502040204020203" pitchFamily="34" charset="0"/>
                <a:ea typeface="Times New Roman" panose="02020603050405020304" pitchFamily="18" charset="0"/>
                <a:cs typeface="B Nazanin" panose="00000400000000000000" pitchFamily="2" charset="-78"/>
              </a:rPr>
              <a:t>⚠️</a:t>
            </a:r>
            <a:r>
              <a:rPr lang="en-US" sz="1800" b="1" kern="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b="1" kern="0" dirty="0">
                <a:effectLst/>
                <a:latin typeface="Times New Roman" panose="02020603050405020304" pitchFamily="18" charset="0"/>
                <a:ea typeface="Times New Roman" panose="02020603050405020304" pitchFamily="18" charset="0"/>
                <a:cs typeface="B Nazanin" panose="00000400000000000000" pitchFamily="2" charset="-78"/>
              </a:rPr>
              <a:t>محدودیت‌ها</a:t>
            </a:r>
            <a:r>
              <a:rPr lang="en-US" sz="1800" b="1" kern="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0" dirty="0">
                <a:effectLst/>
                <a:latin typeface="Times New Roman" panose="02020603050405020304" pitchFamily="18" charset="0"/>
                <a:ea typeface="Times New Roman" panose="02020603050405020304" pitchFamily="18" charset="0"/>
                <a:cs typeface="B Nazanin" panose="00000400000000000000" pitchFamily="2" charset="-78"/>
              </a:rPr>
              <a:t>انتظار مشغولانه</a:t>
            </a:r>
            <a:r>
              <a:rPr lang="en-US" sz="1800" kern="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kern="0" dirty="0">
                <a:effectLst/>
                <a:latin typeface="Times New Roman" panose="02020603050405020304" pitchFamily="18" charset="0"/>
                <a:ea typeface="Times New Roman" panose="02020603050405020304" pitchFamily="18" charset="0"/>
                <a:cs typeface="B Nazanin" panose="00000400000000000000" pitchFamily="2" charset="-78"/>
              </a:rPr>
              <a:t>این راهکار از قفل چرخشی</a:t>
            </a:r>
            <a:r>
              <a:rPr lang="en-US" sz="1800" kern="0" dirty="0">
                <a:effectLst/>
                <a:latin typeface="Times New Roman" panose="02020603050405020304" pitchFamily="18" charset="0"/>
                <a:ea typeface="Times New Roman" panose="02020603050405020304" pitchFamily="18" charset="0"/>
                <a:cs typeface="B Nazanin" panose="00000400000000000000" pitchFamily="2" charset="-78"/>
              </a:rPr>
              <a:t> (spinlock) </a:t>
            </a:r>
            <a:r>
              <a:rPr lang="ar-SA" sz="1800" kern="0" dirty="0">
                <a:effectLst/>
                <a:latin typeface="Times New Roman" panose="02020603050405020304" pitchFamily="18" charset="0"/>
                <a:ea typeface="Times New Roman" panose="02020603050405020304" pitchFamily="18" charset="0"/>
                <a:cs typeface="B Nazanin" panose="00000400000000000000" pitchFamily="2" charset="-78"/>
              </a:rPr>
              <a:t>استفاده می‌کند، که موجب مصرف بیهوده چرخه‌های</a:t>
            </a:r>
            <a:r>
              <a:rPr lang="en-US" sz="1800" kern="0" dirty="0">
                <a:effectLst/>
                <a:latin typeface="Times New Roman" panose="02020603050405020304" pitchFamily="18" charset="0"/>
                <a:ea typeface="Times New Roman" panose="02020603050405020304" pitchFamily="18" charset="0"/>
                <a:cs typeface="B Nazanin" panose="00000400000000000000" pitchFamily="2" charset="-78"/>
              </a:rPr>
              <a:t> CPU </a:t>
            </a:r>
            <a:r>
              <a:rPr lang="ar-SA" sz="1800" kern="0" dirty="0">
                <a:effectLst/>
                <a:latin typeface="Times New Roman" panose="02020603050405020304" pitchFamily="18" charset="0"/>
                <a:ea typeface="Times New Roman" panose="02020603050405020304" pitchFamily="18" charset="0"/>
                <a:cs typeface="B Nazanin" panose="00000400000000000000" pitchFamily="2" charset="-78"/>
              </a:rPr>
              <a:t>در حلقه انتظار می‌شود. این روش در سیستم‌های تک‌پردازنده‌ای ناکارآمد است</a:t>
            </a:r>
            <a:r>
              <a:rPr lang="en-US" sz="1800" kern="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0" dirty="0">
                <a:effectLst/>
                <a:latin typeface="Times New Roman" panose="02020603050405020304" pitchFamily="18" charset="0"/>
                <a:ea typeface="Times New Roman" panose="02020603050405020304" pitchFamily="18" charset="0"/>
                <a:cs typeface="B Nazanin" panose="00000400000000000000" pitchFamily="2" charset="-78"/>
              </a:rPr>
              <a:t>عدم عدالت</a:t>
            </a:r>
            <a:r>
              <a:rPr lang="en-US" sz="1800" b="1" kern="0" dirty="0">
                <a:effectLst/>
                <a:latin typeface="Times New Roman" panose="02020603050405020304" pitchFamily="18" charset="0"/>
                <a:ea typeface="Times New Roman" panose="02020603050405020304" pitchFamily="18" charset="0"/>
                <a:cs typeface="B Nazanin" panose="00000400000000000000" pitchFamily="2" charset="-78"/>
              </a:rPr>
              <a:t> (Fairness)</a:t>
            </a:r>
            <a:r>
              <a:rPr lang="en-US" sz="1800" kern="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kern="0" dirty="0">
                <a:effectLst/>
                <a:latin typeface="Times New Roman" panose="02020603050405020304" pitchFamily="18" charset="0"/>
                <a:ea typeface="Times New Roman" panose="02020603050405020304" pitchFamily="18" charset="0"/>
                <a:cs typeface="B Nazanin" panose="00000400000000000000" pitchFamily="2" charset="-78"/>
              </a:rPr>
              <a:t>هیچ تضمینی برای رعایت ترتیب ورود نیست؛ بنابراین احتمال </a:t>
            </a:r>
            <a:r>
              <a:rPr lang="ar-SA" sz="1800" b="1" kern="0" dirty="0">
                <a:effectLst/>
                <a:latin typeface="Times New Roman" panose="02020603050405020304" pitchFamily="18" charset="0"/>
                <a:ea typeface="Times New Roman" panose="02020603050405020304" pitchFamily="18" charset="0"/>
                <a:cs typeface="B Nazanin" panose="00000400000000000000" pitchFamily="2" charset="-78"/>
              </a:rPr>
              <a:t>گرسنگی</a:t>
            </a:r>
            <a:r>
              <a:rPr lang="en-US" sz="1800" b="1" kern="0" dirty="0">
                <a:effectLst/>
                <a:latin typeface="Times New Roman" panose="02020603050405020304" pitchFamily="18" charset="0"/>
                <a:ea typeface="Times New Roman" panose="02020603050405020304" pitchFamily="18" charset="0"/>
                <a:cs typeface="B Nazanin" panose="00000400000000000000" pitchFamily="2" charset="-78"/>
              </a:rPr>
              <a:t> (starvation)</a:t>
            </a:r>
            <a:r>
              <a:rPr lang="en-US" sz="1800" kern="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kern="0" dirty="0">
                <a:effectLst/>
                <a:latin typeface="Times New Roman" panose="02020603050405020304" pitchFamily="18" charset="0"/>
                <a:ea typeface="Times New Roman" panose="02020603050405020304" pitchFamily="18" charset="0"/>
                <a:cs typeface="B Nazanin" panose="00000400000000000000" pitchFamily="2" charset="-78"/>
              </a:rPr>
              <a:t>وجود دارد</a:t>
            </a:r>
            <a:r>
              <a:rPr lang="en-US" sz="1800" kern="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0" dirty="0">
                <a:effectLst/>
                <a:latin typeface="Times New Roman" panose="02020603050405020304" pitchFamily="18" charset="0"/>
                <a:ea typeface="Times New Roman" panose="02020603050405020304" pitchFamily="18" charset="0"/>
                <a:cs typeface="B Nazanin" panose="00000400000000000000" pitchFamily="2" charset="-78"/>
              </a:rPr>
              <a:t>عدم تضمین انتظار محدود</a:t>
            </a:r>
            <a:r>
              <a:rPr lang="en-US" sz="1800" kern="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800" kern="0" dirty="0">
                <a:effectLst/>
                <a:latin typeface="Times New Roman" panose="02020603050405020304" pitchFamily="18" charset="0"/>
                <a:ea typeface="Times New Roman" panose="02020603050405020304" pitchFamily="18" charset="0"/>
                <a:cs typeface="B Nazanin" panose="00000400000000000000" pitchFamily="2" charset="-78"/>
              </a:rPr>
              <a:t>ممکن است یک نخ یا فرآیند برای همیشه منتظر بماند</a:t>
            </a:r>
            <a:r>
              <a:rPr lang="en-US" sz="1800" kern="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en-US" sz="1800" kern="100" dirty="0">
                <a:effectLst/>
                <a:latin typeface="Aptos" panose="020B0004020202020204" pitchFamily="34" charset="0"/>
                <a:ea typeface="Aptos" panose="020B0004020202020204" pitchFamily="34" charset="0"/>
                <a:cs typeface="B Nazanin" panose="00000400000000000000" pitchFamily="2" charset="-78"/>
              </a:rPr>
              <a:t>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en-US" sz="1800" kern="100" dirty="0">
                <a:effectLst/>
                <a:latin typeface="Aptos" panose="020B0004020202020204" pitchFamily="34" charset="0"/>
                <a:ea typeface="Aptos" panose="020B0004020202020204" pitchFamily="34" charset="0"/>
                <a:cs typeface="B Nazanin" panose="00000400000000000000" pitchFamily="2" charset="-78"/>
              </a:rPr>
              <a:t>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E99EAA0C-F8C4-402D-A03E-AF8DA4F53968}"/>
              </a:ext>
            </a:extLst>
          </p:cNvPr>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جمع‌بندی</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kern="100" dirty="0">
                    <a:effectLst/>
                    <a:latin typeface="Segoe UI Emoji" panose="020B0502040204020203" pitchFamily="34" charset="0"/>
                    <a:ea typeface="Aptos" panose="020B0004020202020204" pitchFamily="34" charset="0"/>
                    <a:cs typeface="B Nazanin" panose="00000400000000000000" pitchFamily="2" charset="-78"/>
                  </a:rPr>
                  <a:t>این الگوریتم، ترکیبی از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قفل چرخشی با مقادیر انتظار منطقی و منصفانه</a:t>
                </a:r>
                <a:r>
                  <a:rPr lang="ar-SA" sz="1800" kern="100" dirty="0">
                    <a:effectLst/>
                    <a:latin typeface="Segoe UI Emoji" panose="020B0502040204020203" pitchFamily="34" charset="0"/>
                    <a:ea typeface="Aptos" panose="020B0004020202020204" pitchFamily="34" charset="0"/>
                    <a:cs typeface="B Nazanin" panose="00000400000000000000" pitchFamily="2" charset="-78"/>
                  </a:rPr>
                  <a:t> است</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a:t>
                </a:r>
                <a:br>
                  <a:rPr lang="en-US" sz="1800" kern="100" dirty="0">
                    <a:effectLst/>
                    <a:latin typeface="Segoe UI Emoji" panose="020B0502040204020203" pitchFamily="34" charset="0"/>
                    <a:ea typeface="Aptos" panose="020B0004020202020204" pitchFamily="34" charset="0"/>
                    <a:cs typeface="B Nazanin" panose="00000400000000000000" pitchFamily="2" charset="-78"/>
                  </a:rPr>
                </a:br>
                <a:r>
                  <a:rPr lang="en-US" sz="180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kern="100" dirty="0">
                    <a:effectLst/>
                    <a:latin typeface="Segoe UI Emoji" panose="020B0502040204020203" pitchFamily="34" charset="0"/>
                    <a:ea typeface="Aptos" panose="020B0004020202020204" pitchFamily="34" charset="0"/>
                    <a:cs typeface="B Nazanin" panose="00000400000000000000" pitchFamily="2" charset="-78"/>
                  </a:rPr>
                  <a:t>از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مقداری اشتراکی به نام </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lock</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kern="100" dirty="0">
                    <a:effectLst/>
                    <a:latin typeface="Segoe UI Emoji" panose="020B0502040204020203" pitchFamily="34" charset="0"/>
                    <a:ea typeface="Aptos" panose="020B0004020202020204" pitchFamily="34" charset="0"/>
                    <a:cs typeface="B Nazanin" panose="00000400000000000000" pitchFamily="2" charset="-78"/>
                  </a:rPr>
                  <a:t>استفاده می‌شود که از طریق </a:t>
                </a:r>
                <a:r>
                  <a:rPr lang="en-US" sz="1800" kern="100" dirty="0" err="1">
                    <a:effectLst/>
                    <a:latin typeface="Segoe UI Emoji" panose="020B0502040204020203" pitchFamily="34" charset="0"/>
                    <a:ea typeface="Aptos" panose="020B0004020202020204" pitchFamily="34" charset="0"/>
                    <a:cs typeface="B Nazanin" panose="00000400000000000000" pitchFamily="2" charset="-78"/>
                  </a:rPr>
                  <a:t>compare_and_swap</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kern="100" dirty="0">
                    <a:effectLst/>
                    <a:latin typeface="Segoe UI Emoji" panose="020B0502040204020203" pitchFamily="34" charset="0"/>
                    <a:ea typeface="Aptos" panose="020B0004020202020204" pitchFamily="34" charset="0"/>
                    <a:cs typeface="B Nazanin" panose="00000400000000000000" pitchFamily="2" charset="-78"/>
                  </a:rPr>
                  <a:t>قفل می‌شود</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a:t>
                </a:r>
                <a:br>
                  <a:rPr lang="en-US" sz="1800" kern="100" dirty="0">
                    <a:effectLst/>
                    <a:latin typeface="Segoe UI Emoji" panose="020B0502040204020203" pitchFamily="34" charset="0"/>
                    <a:ea typeface="Aptos" panose="020B0004020202020204" pitchFamily="34" charset="0"/>
                    <a:cs typeface="B Nazanin" panose="00000400000000000000" pitchFamily="2" charset="-78"/>
                  </a:rPr>
                </a:br>
                <a:r>
                  <a:rPr lang="en-US" sz="180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kern="100" dirty="0">
                    <a:effectLst/>
                    <a:latin typeface="Segoe UI Emoji" panose="020B0502040204020203" pitchFamily="34" charset="0"/>
                    <a:ea typeface="Aptos" panose="020B0004020202020204" pitchFamily="34" charset="0"/>
                    <a:cs typeface="B Nazanin" panose="00000400000000000000" pitchFamily="2" charset="-78"/>
                  </a:rPr>
                  <a:t>آرایه‌ی </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waiting[] </a:t>
                </a:r>
                <a:r>
                  <a:rPr lang="ar-SA" sz="1800" kern="100" dirty="0">
                    <a:effectLst/>
                    <a:latin typeface="Segoe UI Emoji" panose="020B0502040204020203" pitchFamily="34" charset="0"/>
                    <a:ea typeface="Aptos" panose="020B0004020202020204" pitchFamily="34" charset="0"/>
                    <a:cs typeface="B Nazanin" panose="00000400000000000000" pitchFamily="2" charset="-78"/>
                  </a:rPr>
                  <a:t>نشان می‌دهد که کدام نخ‌ها مایل به ورود به بخش بحرانی هستند</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a:t>
                </a:r>
                <a:br>
                  <a:rPr lang="en-US" sz="1800" kern="100" dirty="0">
                    <a:effectLst/>
                    <a:latin typeface="Segoe UI Emoji" panose="020B0502040204020203" pitchFamily="34" charset="0"/>
                    <a:ea typeface="Aptos" panose="020B0004020202020204" pitchFamily="34" charset="0"/>
                    <a:cs typeface="B Nazanin" panose="00000400000000000000" pitchFamily="2" charset="-78"/>
                  </a:rPr>
                </a:br>
                <a:r>
                  <a:rPr lang="en-US" sz="180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kern="100" dirty="0">
                    <a:effectLst/>
                    <a:latin typeface="Segoe UI Emoji" panose="020B0502040204020203" pitchFamily="34" charset="0"/>
                    <a:ea typeface="Aptos" panose="020B0004020202020204" pitchFamily="34" charset="0"/>
                    <a:cs typeface="B Nazanin" panose="00000400000000000000" pitchFamily="2" charset="-78"/>
                  </a:rPr>
                  <a:t>در زمان آزاد کردن قفل، نخ جاری بررسی می‌کند که کدام نخ منتظر است و نوبت را به آن می‌دهد</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مزایا</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kern="100" dirty="0">
                    <a:effectLst/>
                    <a:latin typeface="Segoe UI Emoji" panose="020B0502040204020203" pitchFamily="34" charset="0"/>
                    <a:ea typeface="Aptos" panose="020B0004020202020204" pitchFamily="34" charset="0"/>
                    <a:cs typeface="B Nazanin" panose="00000400000000000000" pitchFamily="2" charset="-78"/>
                  </a:rPr>
                  <a:t>تضمین </a:t>
                </a:r>
                <a:r>
                  <a:rPr lang="fa-IR" sz="1800" b="1" kern="100" dirty="0">
                    <a:effectLst/>
                    <a:latin typeface="Segoe UI Emoji" panose="020B0502040204020203" pitchFamily="34" charset="0"/>
                    <a:ea typeface="Aptos" panose="020B0004020202020204" pitchFamily="34" charset="0"/>
                    <a:cs typeface="B Nazanin" panose="00000400000000000000" pitchFamily="2" charset="-78"/>
                  </a:rPr>
                  <a:t>انحصار</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 متقابل</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(Mutual Exclusion)</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kern="100" dirty="0">
                    <a:effectLst/>
                    <a:latin typeface="Segoe UI Emoji" panose="020B0502040204020203" pitchFamily="34" charset="0"/>
                    <a:ea typeface="Aptos" panose="020B0004020202020204" pitchFamily="34" charset="0"/>
                    <a:cs typeface="B Nazanin" panose="00000400000000000000" pitchFamily="2" charset="-78"/>
                  </a:rPr>
                  <a:t>جلوگیری از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گرسنگی</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(starvation)</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kern="100" dirty="0">
                    <a:effectLst/>
                    <a:latin typeface="Segoe UI Emoji" panose="020B0502040204020203" pitchFamily="34" charset="0"/>
                    <a:ea typeface="Aptos" panose="020B0004020202020204" pitchFamily="34" charset="0"/>
                    <a:cs typeface="B Nazanin" panose="00000400000000000000" pitchFamily="2" charset="-78"/>
                  </a:rPr>
                  <a:t>رفتار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عادلانه</a:t>
                </a:r>
                <a:r>
                  <a:rPr lang="ar-SA" sz="1800" kern="100" dirty="0">
                    <a:effectLst/>
                    <a:latin typeface="Segoe UI Emoji" panose="020B0502040204020203" pitchFamily="34" charset="0"/>
                    <a:ea typeface="Aptos" panose="020B0004020202020204" pitchFamily="34" charset="0"/>
                    <a:cs typeface="B Nazanin" panose="00000400000000000000" pitchFamily="2" charset="-78"/>
                  </a:rPr>
                  <a:t> </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a:t>
                </a:r>
                <a:r>
                  <a:rPr lang="ar-SA" sz="1800" kern="100" dirty="0">
                    <a:effectLst/>
                    <a:latin typeface="Segoe UI Emoji" panose="020B0502040204020203" pitchFamily="34" charset="0"/>
                    <a:ea typeface="Aptos" panose="020B0004020202020204" pitchFamily="34" charset="0"/>
                    <a:cs typeface="B Nazanin" panose="00000400000000000000" pitchFamily="2" charset="-78"/>
                  </a:rPr>
                  <a:t>هر نخ منتظر، بالاخره نوبت خود را می‌گیرد</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kern="100" dirty="0">
                    <a:effectLst/>
                    <a:latin typeface="Segoe UI Emoji" panose="020B0502040204020203" pitchFamily="34" charset="0"/>
                    <a:ea typeface="Aptos" panose="020B0004020202020204" pitchFamily="34" charset="0"/>
                    <a:cs typeface="B Nazanin" panose="00000400000000000000" pitchFamily="2" charset="-78"/>
                  </a:rPr>
                  <a:t>مناسب برای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چندپردازنده‌ای با حافظه مشترک</a:t>
                </a:r>
                <a:r>
                  <a:rPr lang="en-US" sz="1800"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 </a:t>
                </a:r>
              </a:p>
              <a:p>
                <a:pPr marL="171450" indent="-171450">
                  <a:buFont typeface="Wingdings" panose="05000000000000000000" pitchFamily="2" charset="2"/>
                  <a:buChar char="Ø"/>
                </a:pPr>
                <a:endParaRPr lang="en-US" dirty="0"/>
              </a:p>
              <a:p>
                <a:pPr marL="171450" indent="-171450">
                  <a:buFont typeface="Wingdings" panose="05000000000000000000" pitchFamily="2" charset="2"/>
                  <a:buChar char="Ø"/>
                </a:pPr>
                <a:r>
                  <a:rPr lang="en-US" dirty="0"/>
                  <a:t>The elements in the waiting array are initialized to false, and lock is initialized to 0. To prove that the mutual-exclusion requirement is met, we note that process Pi can enter its critical section only if either waiting[</a:t>
                </a:r>
                <a:r>
                  <a:rPr lang="en-US" dirty="0" err="1"/>
                  <a:t>i</a:t>
                </a:r>
                <a:r>
                  <a:rPr lang="en-US" dirty="0"/>
                  <a:t>] == false or key == 0.</a:t>
                </a:r>
              </a:p>
              <a:p>
                <a:pPr marL="171450" indent="-171450">
                  <a:buFont typeface="Wingdings" panose="05000000000000000000" pitchFamily="2" charset="2"/>
                  <a:buChar char="Ø"/>
                </a:pPr>
                <a:r>
                  <a:rPr lang="en-US" dirty="0"/>
                  <a:t>process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𝑃</m:t>
                        </m:r>
                      </m:e>
                      <m:sub>
                        <m:r>
                          <a:rPr lang="en-US" i="1" dirty="0" smtClean="0">
                            <a:latin typeface="Cambria Math" panose="02040503050406030204" pitchFamily="18" charset="0"/>
                          </a:rPr>
                          <m:t>𝑖</m:t>
                        </m:r>
                      </m:sub>
                    </m:sSub>
                  </m:oMath>
                </a14:m>
                <a:r>
                  <a:rPr lang="en-US" dirty="0"/>
                  <a:t> can enter its critical section only if either waiting[</a:t>
                </a:r>
                <a:r>
                  <a:rPr lang="en-US" dirty="0" err="1"/>
                  <a:t>i</a:t>
                </a:r>
                <a:r>
                  <a:rPr lang="en-US" dirty="0"/>
                  <a:t>] == false or key == 0.</a:t>
                </a:r>
                <a:endParaRPr lang="en-US" altLang="en-US" dirty="0">
                  <a:latin typeface="Times New Roman" panose="02020603050405020304" pitchFamily="18" charset="0"/>
                </a:endParaRPr>
              </a:p>
            </p:txBody>
          </p:sp>
        </mc:Choice>
        <mc:Fallback xmlns="">
          <p:sp>
            <p:nvSpPr>
              <p:cNvPr id="40962" name="Rectangle 3">
                <a:extLst>
                  <a:ext uri="{FF2B5EF4-FFF2-40B4-BE49-F238E27FC236}">
                    <a16:creationId xmlns:a16="http://schemas.microsoft.com/office/drawing/2014/main" id="{FF8B66CD-DC4E-415D-A1C3-7BA86D98A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Wingdings" panose="05000000000000000000" pitchFamily="2" charset="2"/>
                  <a:buChar char="Ø"/>
                </a:pPr>
                <a:r>
                  <a:rPr lang="en-US" dirty="0"/>
                  <a:t>The elements in the waiting array are initialized to false, and lock is initialized to 0. To prove that the mutual-exclusion requirement is met, we note that process Pi can enter its critical section only if either waiting[</a:t>
                </a:r>
                <a:r>
                  <a:rPr lang="en-US" dirty="0" err="1"/>
                  <a:t>i</a:t>
                </a:r>
                <a:r>
                  <a:rPr lang="en-US" dirty="0"/>
                  <a:t>] == false or key == 0.</a:t>
                </a:r>
              </a:p>
              <a:p>
                <a:pPr marL="171450" indent="-171450">
                  <a:buFont typeface="Wingdings" panose="05000000000000000000" pitchFamily="2" charset="2"/>
                  <a:buChar char="Ø"/>
                </a:pPr>
                <a:r>
                  <a:rPr lang="en-US" dirty="0"/>
                  <a:t>process </a:t>
                </a:r>
                <a:r>
                  <a:rPr lang="en-US" i="0" dirty="0">
                    <a:latin typeface="Cambria Math" panose="02040503050406030204" pitchFamily="18" charset="0"/>
                  </a:rPr>
                  <a:t>𝑃_𝑖</a:t>
                </a:r>
                <a:r>
                  <a:rPr lang="en-US" dirty="0"/>
                  <a:t> can enter its critical section only if either waiting[</a:t>
                </a:r>
                <a:r>
                  <a:rPr lang="en-US" dirty="0" err="1"/>
                  <a:t>i</a:t>
                </a:r>
                <a:r>
                  <a:rPr lang="en-US" dirty="0"/>
                  <a:t>] == false or key == 0.</a:t>
                </a:r>
                <a:endParaRPr lang="en-US" altLang="en-US" dirty="0">
                  <a:latin typeface="Times New Roman" panose="02020603050405020304" pitchFamily="18" charset="0"/>
                </a:endParaRPr>
              </a:p>
            </p:txBody>
          </p:sp>
        </mc:Fallback>
      </mc:AlternateContent>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r" rtl="1">
              <a:lnSpc>
                <a:spcPct val="115000"/>
              </a:lnSpc>
              <a:spcAft>
                <a:spcPts val="800"/>
              </a:spcAft>
              <a:buNone/>
            </a:pPr>
            <a:r>
              <a:rPr lang="en-US" sz="1800" b="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0" kern="100" dirty="0">
                <a:effectLst/>
                <a:latin typeface="Segoe UI Emoji" panose="020B0502040204020203" pitchFamily="34" charset="0"/>
                <a:ea typeface="Aptos" panose="020B0004020202020204" pitchFamily="34" charset="0"/>
                <a:cs typeface="B Nazanin" panose="00000400000000000000" pitchFamily="2" charset="-78"/>
              </a:rPr>
              <a:t>ویژگی‌های این تابع</a:t>
            </a:r>
            <a:r>
              <a:rPr lang="en-US" sz="1800" b="0"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b="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0" kern="100" dirty="0">
                <a:effectLst/>
                <a:latin typeface="Segoe UI Emoji" panose="020B0502040204020203" pitchFamily="34" charset="0"/>
                <a:ea typeface="Aptos" panose="020B0004020202020204" pitchFamily="34" charset="0"/>
                <a:cs typeface="B Nazanin" panose="00000400000000000000" pitchFamily="2" charset="-78"/>
              </a:rPr>
              <a:t>اتمی</a:t>
            </a:r>
            <a:r>
              <a:rPr lang="en-US" sz="1800" b="0" kern="100" dirty="0">
                <a:effectLst/>
                <a:latin typeface="Segoe UI Emoji" panose="020B0502040204020203" pitchFamily="34" charset="0"/>
                <a:ea typeface="Aptos" panose="020B0004020202020204" pitchFamily="34" charset="0"/>
                <a:cs typeface="B Nazanin" panose="00000400000000000000" pitchFamily="2" charset="-78"/>
              </a:rPr>
              <a:t> (atomic): </a:t>
            </a:r>
            <a:r>
              <a:rPr lang="ar-SA" sz="1800" b="0" kern="100" dirty="0">
                <a:effectLst/>
                <a:latin typeface="Segoe UI Emoji" panose="020B0502040204020203" pitchFamily="34" charset="0"/>
                <a:ea typeface="Aptos" panose="020B0004020202020204" pitchFamily="34" charset="0"/>
                <a:cs typeface="B Nazanin" panose="00000400000000000000" pitchFamily="2" charset="-78"/>
              </a:rPr>
              <a:t>همزمانی در دسترسی چند نخ را بدون استفاده از قفل</a:t>
            </a:r>
            <a:r>
              <a:rPr lang="en-US" sz="1800" b="0" kern="100" dirty="0">
                <a:effectLst/>
                <a:latin typeface="Segoe UI Emoji" panose="020B0502040204020203" pitchFamily="34" charset="0"/>
                <a:ea typeface="Aptos" panose="020B0004020202020204" pitchFamily="34" charset="0"/>
                <a:cs typeface="B Nazanin" panose="00000400000000000000" pitchFamily="2" charset="-78"/>
              </a:rPr>
              <a:t> (lock-free) </a:t>
            </a:r>
            <a:r>
              <a:rPr lang="ar-SA" sz="1800" b="0" kern="100" dirty="0">
                <a:effectLst/>
                <a:latin typeface="Segoe UI Emoji" panose="020B0502040204020203" pitchFamily="34" charset="0"/>
                <a:ea typeface="Aptos" panose="020B0004020202020204" pitchFamily="34" charset="0"/>
                <a:cs typeface="B Nazanin" panose="00000400000000000000" pitchFamily="2" charset="-78"/>
              </a:rPr>
              <a:t>مدیریت می‌کند</a:t>
            </a:r>
            <a:r>
              <a:rPr lang="en-US" sz="1800" b="0"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b="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0" kern="100" dirty="0">
                <a:effectLst/>
                <a:latin typeface="Segoe UI Emoji" panose="020B0502040204020203" pitchFamily="34" charset="0"/>
                <a:ea typeface="Aptos" panose="020B0004020202020204" pitchFamily="34" charset="0"/>
                <a:cs typeface="B Nazanin" panose="00000400000000000000" pitchFamily="2" charset="-78"/>
              </a:rPr>
              <a:t>قابل اطمینان در سیستم‌های چندنخی</a:t>
            </a:r>
            <a:r>
              <a:rPr lang="en-US" sz="1800" b="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0" kern="100" dirty="0">
                <a:effectLst/>
                <a:latin typeface="Segoe UI Emoji" panose="020B0502040204020203" pitchFamily="34" charset="0"/>
                <a:ea typeface="Aptos" panose="020B0004020202020204" pitchFamily="34" charset="0"/>
                <a:cs typeface="B Nazanin" panose="00000400000000000000" pitchFamily="2" charset="-78"/>
              </a:rPr>
              <a:t>زیرا حتی اگر چند نخ همزمان این تابع را فراخوانی کنند، تنها یکی از آن‌ها موفق به اعمال تغییر خواهد شد</a:t>
            </a:r>
            <a:r>
              <a:rPr lang="en-US" sz="1800" b="0"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b="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0" kern="100" dirty="0">
                <a:effectLst/>
                <a:latin typeface="Segoe UI Emoji" panose="020B0502040204020203" pitchFamily="34" charset="0"/>
                <a:ea typeface="Aptos" panose="020B0004020202020204" pitchFamily="34" charset="0"/>
                <a:cs typeface="B Nazanin" panose="00000400000000000000" pitchFamily="2" charset="-78"/>
              </a:rPr>
              <a:t>عدم استفاده از قفل</a:t>
            </a:r>
            <a:r>
              <a:rPr lang="en-US" sz="1800" b="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0" kern="100" dirty="0">
                <a:effectLst/>
                <a:latin typeface="Segoe UI Emoji" panose="020B0502040204020203" pitchFamily="34" charset="0"/>
                <a:ea typeface="Aptos" panose="020B0004020202020204" pitchFamily="34" charset="0"/>
                <a:cs typeface="B Nazanin" panose="00000400000000000000" pitchFamily="2" charset="-78"/>
              </a:rPr>
              <a:t>این روش بهینه‌تر از قفل سنتی است</a:t>
            </a:r>
            <a:r>
              <a:rPr lang="en-US" sz="1800" b="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0" kern="100" dirty="0">
                <a:effectLst/>
                <a:latin typeface="Segoe UI Emoji" panose="020B0502040204020203" pitchFamily="34" charset="0"/>
                <a:ea typeface="Aptos" panose="020B0004020202020204" pitchFamily="34" charset="0"/>
                <a:cs typeface="B Nazanin" panose="00000400000000000000" pitchFamily="2" charset="-78"/>
              </a:rPr>
              <a:t>مثل</a:t>
            </a:r>
            <a:r>
              <a:rPr lang="en-US" sz="1800" b="0" kern="100" dirty="0">
                <a:effectLst/>
                <a:latin typeface="Segoe UI Emoji" panose="020B0502040204020203" pitchFamily="34" charset="0"/>
                <a:ea typeface="Aptos" panose="020B0004020202020204" pitchFamily="34" charset="0"/>
                <a:cs typeface="B Nazanin" panose="00000400000000000000" pitchFamily="2" charset="-78"/>
              </a:rPr>
              <a:t> mutex) </a:t>
            </a:r>
            <a:r>
              <a:rPr lang="ar-SA" sz="1800" b="0" kern="100" dirty="0">
                <a:effectLst/>
                <a:latin typeface="Segoe UI Emoji" panose="020B0502040204020203" pitchFamily="34" charset="0"/>
                <a:ea typeface="Aptos" panose="020B0004020202020204" pitchFamily="34" charset="0"/>
                <a:cs typeface="B Nazanin" panose="00000400000000000000" pitchFamily="2" charset="-78"/>
              </a:rPr>
              <a:t>در شرایط بار بالا یا در سخت‌افزارهای چندپردازنده‌ای</a:t>
            </a:r>
            <a:r>
              <a:rPr lang="en-US" sz="1800" b="0"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b="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en-US" sz="1800" b="0" kern="100" dirty="0">
                <a:effectLst/>
                <a:latin typeface="Aptos" panose="020B0004020202020204" pitchFamily="34" charset="0"/>
                <a:ea typeface="Aptos" panose="020B0004020202020204" pitchFamily="34" charset="0"/>
                <a:cs typeface="Arial" panose="020B0604020202020204" pitchFamily="34" charset="0"/>
              </a:rPr>
              <a:t> </a:t>
            </a:r>
          </a:p>
        </p:txBody>
      </p:sp>
      <p:sp>
        <p:nvSpPr>
          <p:cNvPr id="4" name="Slide Number Placeholder 3"/>
          <p:cNvSpPr>
            <a:spLocks noGrp="1"/>
          </p:cNvSpPr>
          <p:nvPr>
            <p:ph type="sldNum" sz="quarter" idx="5"/>
          </p:nvPr>
        </p:nvSpPr>
        <p:spPr/>
        <p:txBody>
          <a:bodyPr/>
          <a:lstStyle/>
          <a:p>
            <a:pPr>
              <a:defRPr/>
            </a:pPr>
            <a:fld id="{50E8F071-5978-475C-87F0-5ED336049DF7}" type="slidenum">
              <a:rPr lang="en-US" altLang="en-US" smtClean="0"/>
              <a:pPr>
                <a:defRPr/>
              </a:pPr>
              <a:t>35</a:t>
            </a:fld>
            <a:endParaRPr lang="en-US" altLang="en-US"/>
          </a:p>
        </p:txBody>
      </p:sp>
    </p:spTree>
    <p:extLst>
      <p:ext uri="{BB962C8B-B14F-4D97-AF65-F5344CB8AC3E}">
        <p14:creationId xmlns:p14="http://schemas.microsoft.com/office/powerpoint/2010/main" val="21174680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B560AA2B-36C3-4BA6-B8E4-C12D92E832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5B8E00CE-665B-4062-A0E9-D7E2A062E2BD}"/>
              </a:ext>
            </a:extLst>
          </p:cNvPr>
          <p:cNvSpPr>
            <a:spLocks noGrp="1" noRot="1" noChangeAspect="1" noChangeArrowheads="1" noTextEdit="1"/>
          </p:cNvSpPr>
          <p:nvPr>
            <p:ph type="sldImg"/>
          </p:nvPr>
        </p:nvSpPr>
        <p:spPr>
          <a:ln/>
        </p:spPr>
      </p:sp>
      <p:sp>
        <p:nvSpPr>
          <p:cNvPr id="43011" name="Rectangle 3">
            <a:extLst>
              <a:ext uri="{FF2B5EF4-FFF2-40B4-BE49-F238E27FC236}">
                <a16:creationId xmlns:a16="http://schemas.microsoft.com/office/drawing/2014/main" id="{D6256441-E288-4701-842D-EC0C5A77B3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term mutex is short for mutual exclusion</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3735747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CA63045E-DAF8-419C-BAC4-59387995B2BB}"/>
              </a:ext>
            </a:extLst>
          </p:cNvPr>
          <p:cNvSpPr>
            <a:spLocks noGrp="1" noRot="1" noChangeAspect="1" noChangeArrowheads="1" noTextEdit="1"/>
          </p:cNvSpPr>
          <p:nvPr>
            <p:ph type="sldImg"/>
          </p:nvPr>
        </p:nvSpPr>
        <p:spPr>
          <a:ln/>
        </p:spPr>
      </p:sp>
      <p:sp>
        <p:nvSpPr>
          <p:cNvPr id="45058" name="Rectangle 3">
            <a:extLst>
              <a:ext uri="{FF2B5EF4-FFF2-40B4-BE49-F238E27FC236}">
                <a16:creationId xmlns:a16="http://schemas.microsoft.com/office/drawing/2014/main" id="{DA20102A-E63B-4A1D-A0E2-5467FB1F38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4664DBD3-534A-4B4D-BF47-52F463A37F3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pPr/>
              <a:t>38</a:t>
            </a:fld>
            <a:endParaRPr lang="en-US" altLang="en-US">
              <a:latin typeface="Times New Roman" panose="02020603050405020304" pitchFamily="18" charset="0"/>
            </a:endParaRPr>
          </a:p>
        </p:txBody>
      </p:sp>
      <p:sp>
        <p:nvSpPr>
          <p:cNvPr id="48130" name="Rectangle 2">
            <a:extLst>
              <a:ext uri="{FF2B5EF4-FFF2-40B4-BE49-F238E27FC236}">
                <a16:creationId xmlns:a16="http://schemas.microsoft.com/office/drawing/2014/main" id="{1AD73C50-0CBB-468F-A510-12A97463D4C6}"/>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11D7A7D2-8FCA-4322-AE19-B43B815569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were introduced by the Dutch computer scientist </a:t>
            </a:r>
            <a:r>
              <a:rPr lang="en-US" dirty="0" err="1"/>
              <a:t>Edsger</a:t>
            </a:r>
            <a:r>
              <a:rPr lang="en-US" dirty="0"/>
              <a:t> Dijkstra, and such, the wait() operation was originally termed P (from the</a:t>
            </a:r>
            <a:r>
              <a:rPr lang="fa-IR" dirty="0"/>
              <a:t> </a:t>
            </a:r>
            <a:r>
              <a:rPr lang="en-US" dirty="0" err="1"/>
              <a:t>proberen</a:t>
            </a:r>
            <a:r>
              <a:rPr lang="en-US" dirty="0"/>
              <a:t>, “to test”); signal() was originally called V (from </a:t>
            </a:r>
            <a:r>
              <a:rPr lang="en-US" dirty="0" err="1"/>
              <a:t>verhogen</a:t>
            </a:r>
            <a:r>
              <a:rPr lang="en-US" dirty="0"/>
              <a:t>, “to increment”). </a:t>
            </a:r>
            <a:endParaRPr lang="en-US" altLang="en-US" dirty="0">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472379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40</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456961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EB7522A-FE31-415F-9CF8-429B45DCCD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pPr/>
              <a:t>41</a:t>
            </a:fld>
            <a:endParaRPr lang="en-US" altLang="en-US">
              <a:latin typeface="Times New Roman" panose="02020603050405020304" pitchFamily="18" charset="0"/>
            </a:endParaRPr>
          </a:p>
        </p:txBody>
      </p:sp>
      <p:sp>
        <p:nvSpPr>
          <p:cNvPr id="52226" name="Rectangle 2">
            <a:extLst>
              <a:ext uri="{FF2B5EF4-FFF2-40B4-BE49-F238E27FC236}">
                <a16:creationId xmlns:a16="http://schemas.microsoft.com/office/drawing/2014/main" id="{98DCF709-12EF-4B6C-B939-039D830D92F8}"/>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52CEF15-E440-4ED3-B2DD-9E05E6E1BE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9FDA0858-E9C4-4DC2-9826-F92D87258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54274" name="Rectangle 2">
            <a:extLst>
              <a:ext uri="{FF2B5EF4-FFF2-40B4-BE49-F238E27FC236}">
                <a16:creationId xmlns:a16="http://schemas.microsoft.com/office/drawing/2014/main" id="{4D8923D2-A2C3-46C7-9836-D36B1C9F64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6F36617B-142F-4377-AE4D-6B921EFEFE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rtl="1"/>
            <a:r>
              <a:rPr lang="fa-IR" altLang="en-US" dirty="0">
                <a:latin typeface="Times New Roman" panose="02020603050405020304" pitchFamily="18" charset="0"/>
              </a:rPr>
              <a:t>یک کلاس سمافور با یک متغیر و لیستی از فرآیند‌ها را مشاهده می کنید. </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26576408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BC3FEF9-C8F7-4699-8523-4135C0D582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pPr/>
              <a:t>44</a:t>
            </a:fld>
            <a:endParaRPr lang="en-US" altLang="en-US">
              <a:latin typeface="Times New Roman" panose="02020603050405020304" pitchFamily="18" charset="0"/>
            </a:endParaRPr>
          </a:p>
        </p:txBody>
      </p:sp>
      <p:sp>
        <p:nvSpPr>
          <p:cNvPr id="56322" name="Rectangle 2">
            <a:extLst>
              <a:ext uri="{FF2B5EF4-FFF2-40B4-BE49-F238E27FC236}">
                <a16:creationId xmlns:a16="http://schemas.microsoft.com/office/drawing/2014/main" id="{99D82252-23EB-4A7A-BAFD-57F96077D9B3}"/>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2985C9D0-DDF5-4203-A2BB-0A86572CA87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200" b="1" dirty="0">
                <a:latin typeface="Courier New" panose="02070309020205020404" pitchFamily="49" charset="0"/>
              </a:rPr>
              <a:t>S-&gt;value== </a:t>
            </a:r>
            <a:r>
              <a:rPr lang="en-US" altLang="en-US" sz="1200" b="1" dirty="0" err="1">
                <a:latin typeface="Courier New" panose="02070309020205020404" pitchFamily="49" charset="0"/>
              </a:rPr>
              <a:t>s.value</a:t>
            </a:r>
            <a:endParaRPr lang="en-US" altLang="en-US" sz="1200" b="1" dirty="0">
              <a:latin typeface="Courier New" panose="02070309020205020404" pitchFamily="49" charset="0"/>
            </a:endParaRPr>
          </a:p>
          <a:p>
            <a:r>
              <a:rPr lang="en-US" dirty="0"/>
              <a:t>The sleep() operation suspends the process that invokes it. The wakeup(P) operation resumes the execution of a suspended process P. These two operations are provided by the operating system as basic system call</a:t>
            </a:r>
            <a:endParaRPr lang="en-US" altLang="en-US" dirty="0">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Each process must execute wait(mutex) before entering the critical section and signal(mutex) afterward. If this sequence is not observed, two processes may be in their critical sections simultaneously</a:t>
            </a:r>
            <a:endParaRPr lang="en-US" altLang="en-US" dirty="0">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B8F2FBEB-02A4-4584-8264-A9584D0E16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46</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A02EF62C-439E-41F2-B592-539CA3CFE488}"/>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CBFD4124-805F-46D0-9DC2-2E8BE0FE29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latin typeface="Times New Roman" panose="02020603050405020304" pitchFamily="18" charset="0"/>
                <a:ea typeface="Times New Roman" panose="02020603050405020304" pitchFamily="18" charset="0"/>
                <a:cs typeface="B Nazanin" panose="00000400000000000000" pitchFamily="2" charset="-78"/>
              </a:rPr>
              <a:t>ADT: Abstract Data Type</a:t>
            </a:r>
            <a:endParaRPr lang="en-US" altLang="en-US" dirty="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2A2FC-4341-6055-5509-BF96C7817D06}"/>
            </a:ext>
          </a:extLst>
        </p:cNvPr>
        <p:cNvGrpSpPr/>
        <p:nvPr/>
      </p:nvGrpSpPr>
      <p:grpSpPr>
        <a:xfrm>
          <a:off x="0" y="0"/>
          <a:ext cx="0" cy="0"/>
          <a:chOff x="0" y="0"/>
          <a:chExt cx="0" cy="0"/>
        </a:xfrm>
      </p:grpSpPr>
      <p:sp>
        <p:nvSpPr>
          <p:cNvPr id="60417" name="Rectangle 7">
            <a:extLst>
              <a:ext uri="{FF2B5EF4-FFF2-40B4-BE49-F238E27FC236}">
                <a16:creationId xmlns:a16="http://schemas.microsoft.com/office/drawing/2014/main" id="{C868E93A-19D5-1553-5A40-20178F252E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pPr/>
              <a:t>47</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5E06437C-0EE7-03B6-4ACA-91D50FEBCF4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F609CB0D-B863-4932-38E0-08960DC392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dirty="0">
                <a:latin typeface="Times New Roman" panose="02020603050405020304" pitchFamily="18" charset="0"/>
                <a:ea typeface="Times New Roman" panose="02020603050405020304" pitchFamily="18" charset="0"/>
                <a:cs typeface="B Nazanin" panose="00000400000000000000" pitchFamily="2" charset="-78"/>
              </a:rPr>
              <a:t>ADT: Abstract Data Type</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9266187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0982E958-BD71-4DFE-9268-C0E01DBF5A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pPr/>
              <a:t>48</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E853B1F9-D193-48F9-B084-B9AB1C769853}"/>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5100B38F-1388-4B80-A799-CE251DF2D7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r" defTabSz="914400" rtl="1" eaLnBrk="0" fontAlgn="base" latinLnBrk="0" hangingPunct="0">
              <a:lnSpc>
                <a:spcPts val="2625"/>
              </a:lnSpc>
              <a:spcBef>
                <a:spcPts val="0"/>
              </a:spcBef>
              <a:spcAft>
                <a:spcPts val="0"/>
              </a:spcAft>
              <a:buClrTx/>
              <a:buSzTx/>
              <a:buFontTx/>
              <a:buNone/>
              <a:tabLst/>
              <a:defRPr/>
            </a:pPr>
            <a:r>
              <a:rPr lang="ar-SA" sz="1800" dirty="0">
                <a:solidFill>
                  <a:srgbClr val="1F1F1F"/>
                </a:solidFill>
                <a:effectLst/>
                <a:latin typeface="Google Sans"/>
                <a:ea typeface="Times New Roman" panose="02020603050405020304" pitchFamily="18" charset="0"/>
              </a:rPr>
              <a:t>عبارت "مانیتور" (</a:t>
            </a:r>
            <a:r>
              <a:rPr lang="en-US" sz="1800" dirty="0">
                <a:solidFill>
                  <a:srgbClr val="1F1F1F"/>
                </a:solidFill>
                <a:effectLst/>
                <a:latin typeface="Google Sans"/>
                <a:ea typeface="Times New Roman" panose="02020603050405020304" pitchFamily="18" charset="0"/>
              </a:rPr>
              <a:t>monitor</a:t>
            </a:r>
            <a:r>
              <a:rPr lang="ar-SA" sz="1800" dirty="0">
                <a:solidFill>
                  <a:srgbClr val="1F1F1F"/>
                </a:solidFill>
                <a:effectLst/>
                <a:latin typeface="Google Sans"/>
                <a:ea typeface="Times New Roman" panose="02020603050405020304" pitchFamily="18" charset="0"/>
              </a:rPr>
              <a:t>) تضمین می کند که تنها یک فرآیند در یک زمان درون مانیتور فعال باشد. در نتیجه، برنامه نویس نیازی به کدگذاری صریح این محدودیت همگام سازی ندارد </a:t>
            </a:r>
            <a:r>
              <a:rPr lang="fa-IR" sz="1800" dirty="0">
                <a:solidFill>
                  <a:srgbClr val="1F1F1F"/>
                </a:solidFill>
                <a:effectLst/>
                <a:latin typeface="Google Sans"/>
                <a:ea typeface="Times New Roman" panose="02020603050405020304" pitchFamily="18" charset="0"/>
              </a:rPr>
              <a:t>(شکل)</a:t>
            </a:r>
            <a:endParaRPr lang="en-US" sz="1800" dirty="0">
              <a:effectLst/>
              <a:latin typeface="Times New Roman" panose="02020603050405020304" pitchFamily="18" charset="0"/>
              <a:ea typeface="Times New Roman" panose="02020603050405020304" pitchFamily="18" charset="0"/>
            </a:endParaRPr>
          </a:p>
          <a:p>
            <a:pPr marL="0" marR="0" algn="r" rtl="1">
              <a:lnSpc>
                <a:spcPts val="2625"/>
              </a:lnSpc>
              <a:spcBef>
                <a:spcPts val="0"/>
              </a:spcBef>
              <a:spcAft>
                <a:spcPts val="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6AD0BD55-6A92-4F88-90ED-359CE2D3E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pPr/>
              <a:t>49</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E643181C-F470-46AF-A2B4-3EA6410E14E2}"/>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2E497F62-F187-4326-884D-04AE9539DB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251330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519C0DD0-7768-4606-AA45-3637BF83A99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pPr/>
              <a:t>50</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A6DC1BB6-9B39-4275-B20C-1BB155364C94}"/>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8FA965D6-E750-46A5-90AA-01EAA6CC77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The </a:t>
            </a:r>
            <a:r>
              <a:rPr lang="en-US" dirty="0" err="1"/>
              <a:t>x.signal</a:t>
            </a:r>
            <a:r>
              <a:rPr lang="en-US" dirty="0"/>
              <a:t>() operation resumes exactly one suspended process. If no process is suspended, then the signal() operation has no effect; t</a:t>
            </a:r>
            <a:endParaRPr lang="en-US" altLang="en-US" dirty="0">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CA416605-5709-44CD-83EA-5BDECB8FF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pPr/>
              <a:t>51</a:t>
            </a:fld>
            <a:endParaRPr lang="en-US" altLang="en-US">
              <a:latin typeface="Times New Roman" panose="02020603050405020304" pitchFamily="18" charset="0"/>
            </a:endParaRPr>
          </a:p>
        </p:txBody>
      </p:sp>
      <p:sp>
        <p:nvSpPr>
          <p:cNvPr id="66562" name="Rectangle 2">
            <a:extLst>
              <a:ext uri="{FF2B5EF4-FFF2-40B4-BE49-F238E27FC236}">
                <a16:creationId xmlns:a16="http://schemas.microsoft.com/office/drawing/2014/main" id="{4B271679-9AB4-493B-9423-CC79D90F157D}"/>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13E4955E-451B-45CB-B32B-A11B541DD3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52</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marR="0" indent="-285750" algn="r" rtl="1">
              <a:lnSpc>
                <a:spcPct val="115000"/>
              </a:lnSpc>
              <a:spcAft>
                <a:spcPts val="800"/>
              </a:spcAft>
              <a:buFont typeface="Arial" panose="020B0604020202020204" pitchFamily="34" charset="0"/>
              <a:buChar char="•"/>
            </a:pP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این سؤال مربوط به همگام‌سازی</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(Synchronization)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بین دو فرآیند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(P1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و</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P2)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با استفاده از یک مانیتور</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(Monitor)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و متغیر شرطی</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(Condition Variable)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است</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285750" marR="0" indent="-285750" algn="r" rtl="1">
              <a:lnSpc>
                <a:spcPct val="115000"/>
              </a:lnSpc>
              <a:spcAft>
                <a:spcPts val="800"/>
              </a:spcAft>
              <a:buFont typeface="Arial" panose="020B0604020202020204" pitchFamily="34" charset="0"/>
              <a:buChar char="•"/>
            </a:pP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هدف این است که اطمینان حاصل شود دستورالعمل</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S1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قبل از</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S2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اجرا شود، یعنی</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285750" marR="0" indent="-285750" algn="r" rtl="1">
              <a:lnSpc>
                <a:spcPct val="115000"/>
              </a:lnSpc>
              <a:spcAft>
                <a:spcPts val="800"/>
              </a:spcAft>
              <a:buFont typeface="Arial" panose="020B0604020202020204" pitchFamily="34" charset="0"/>
              <a:buChar char="•"/>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P2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مجاز به اجرای</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S2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نیست، مگر اینکه</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P1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قبلاً</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S1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را اجرا کرده باشد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285750" marR="0" indent="-285750" algn="r" rtl="1">
              <a:lnSpc>
                <a:spcPct val="115000"/>
              </a:lnSpc>
              <a:spcAft>
                <a:spcPts val="800"/>
              </a:spcAft>
              <a:buFont typeface="Arial" panose="020B0604020202020204" pitchFamily="34" charset="0"/>
              <a:buChar char="•"/>
            </a:pPr>
            <a:r>
              <a:rPr lang="en-US" sz="1800" kern="100" dirty="0">
                <a:effectLst/>
                <a:latin typeface="Aptos" panose="020B0004020202020204" pitchFamily="34" charset="0"/>
                <a:ea typeface="Aptos" panose="020B0004020202020204" pitchFamily="34" charset="0"/>
                <a:cs typeface="Arial" panose="020B0604020202020204" pitchFamily="34" charset="0"/>
              </a:rPr>
              <a:t> </a:t>
            </a:r>
          </a:p>
          <a:p>
            <a:pPr marL="171450" indent="-171450">
              <a:buFont typeface="Arial" panose="020B0604020202020204" pitchFamily="34" charset="0"/>
              <a:buChar char="•"/>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19218854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B8CD07B8-F07A-461B-9870-CD87F06800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pPr/>
              <a:t>53</a:t>
            </a:fld>
            <a:endParaRPr lang="en-US" altLang="en-US">
              <a:latin typeface="Times New Roman" panose="02020603050405020304" pitchFamily="18" charset="0"/>
            </a:endParaRPr>
          </a:p>
        </p:txBody>
      </p:sp>
      <p:sp>
        <p:nvSpPr>
          <p:cNvPr id="50178" name="Rectangle 2">
            <a:extLst>
              <a:ext uri="{FF2B5EF4-FFF2-40B4-BE49-F238E27FC236}">
                <a16:creationId xmlns:a16="http://schemas.microsoft.com/office/drawing/2014/main" id="{4BE37BCC-4CBA-4828-A188-3888FD17B880}"/>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1B0EE473-9B55-4F39-87ED-365CBC922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27111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a:extLst>
              <a:ext uri="{FF2B5EF4-FFF2-40B4-BE49-F238E27FC236}">
                <a16:creationId xmlns:a16="http://schemas.microsoft.com/office/drawing/2014/main" id="{D61F197F-5985-42EE-A5E9-CD57D94997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
        <p:nvSpPr>
          <p:cNvPr id="77826" name="Rectangle 2">
            <a:extLst>
              <a:ext uri="{FF2B5EF4-FFF2-40B4-BE49-F238E27FC236}">
                <a16:creationId xmlns:a16="http://schemas.microsoft.com/office/drawing/2014/main" id="{73F67E41-F21A-4A73-B4CA-E151D827C398}"/>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92DA414-71ED-4440-8AFB-8D0CE915D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7578830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58E0421F-C869-41D1-9716-7CAF59026E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0AE906-C0B8-4912-8B43-B6F5DCC2F4F2}" type="slidenum">
              <a:rPr lang="en-US" altLang="en-US" smtClean="0">
                <a:latin typeface="Times New Roman" panose="02020603050405020304" pitchFamily="18" charset="0"/>
              </a:rPr>
              <a:pPr/>
              <a:t>55</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3A1099E5-7EC3-4BAD-B6C9-DF6EA2BB1C6E}"/>
              </a:ext>
            </a:extLst>
          </p:cNvPr>
          <p:cNvSpPr>
            <a:spLocks noGrp="1" noRot="1" noChangeAspect="1" noChangeArrowheads="1" noTextEdit="1"/>
          </p:cNvSpPr>
          <p:nvPr>
            <p:ph type="sldImg"/>
          </p:nvPr>
        </p:nvSpPr>
        <p:spPr>
          <a:ln/>
        </p:spPr>
      </p:sp>
      <p:sp>
        <p:nvSpPr>
          <p:cNvPr id="79875" name="Rectangle 3">
            <a:extLst>
              <a:ext uri="{FF2B5EF4-FFF2-40B4-BE49-F238E27FC236}">
                <a16:creationId xmlns:a16="http://schemas.microsoft.com/office/drawing/2014/main" id="{AF7BABCC-290D-4003-9210-9DB91A87B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busy: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یک متغیر بولی که مشخص می‌کند آیا منبع در حال استفاده است یا خیر</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br>
              <a:rPr lang="en-US" sz="1800" b="1" kern="100" dirty="0">
                <a:effectLst/>
                <a:latin typeface="Segoe UI Emoji" panose="020B0502040204020203" pitchFamily="34" charset="0"/>
                <a:ea typeface="Aptos" panose="020B0004020202020204" pitchFamily="34" charset="0"/>
                <a:cs typeface="B Nazanin" panose="00000400000000000000" pitchFamily="2" charset="-78"/>
              </a:rPr>
            </a:b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x: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متغیر شرطی که نخ‌هایی که منتظر آزاد شدن منبع هستند روی آن منتظر می‌مانند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این متد برای درخواست دسترسی به منبع استفاده می‌شود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اگر منبع مشغول</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(busy = true)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باشد، نخ با استفاده از </a:t>
            </a:r>
            <a:r>
              <a:rPr lang="en-US" sz="1800" b="1" kern="100" dirty="0" err="1">
                <a:effectLst/>
                <a:latin typeface="Segoe UI Emoji" panose="020B0502040204020203" pitchFamily="34" charset="0"/>
                <a:ea typeface="Aptos" panose="020B0004020202020204" pitchFamily="34" charset="0"/>
                <a:cs typeface="B Nazanin" panose="00000400000000000000" pitchFamily="2" charset="-78"/>
              </a:rPr>
              <a:t>x.wait</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(time)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برای حداکثر مدت زمان مشخص شده </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time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منتظر می‌ماند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در غیر این صورت یا پس از انتظار موفق، نخ منبع را تصاحب کرده و </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busy = true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می‌شود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endParaRPr lang="en-US" altLang="en-US" dirty="0">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5079486D-A568-4512-97A1-83E8EED762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pPr/>
              <a:t>56</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A1A371DD-73C6-47EE-A578-8E86506CF787}"/>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98E01DCC-7830-4805-92C8-F11675DBC9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657770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711F51F3-CC39-46C9-AB2A-BC24FE639A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pPr/>
              <a:t>58</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8EB9FC2F-9560-43CD-84EB-42D0F528AF61}"/>
              </a:ext>
            </a:extLst>
          </p:cNvPr>
          <p:cNvSpPr>
            <a:spLocks noGrp="1" noRot="1" noChangeAspect="1" noChangeArrowheads="1" noTextEdit="1"/>
          </p:cNvSpPr>
          <p:nvPr>
            <p:ph type="sldImg"/>
          </p:nvPr>
        </p:nvSpPr>
        <p:spPr>
          <a:ln/>
        </p:spPr>
      </p:sp>
      <p:sp>
        <p:nvSpPr>
          <p:cNvPr id="81923" name="Rectangle 3">
            <a:extLst>
              <a:ext uri="{FF2B5EF4-FFF2-40B4-BE49-F238E27FC236}">
                <a16:creationId xmlns:a16="http://schemas.microsoft.com/office/drawing/2014/main" id="{578C067F-078B-4408-AF29-DCA7A645CD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59</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a:extLst>
              <a:ext uri="{FF2B5EF4-FFF2-40B4-BE49-F238E27FC236}">
                <a16:creationId xmlns:a16="http://schemas.microsoft.com/office/drawing/2014/main" id="{CADC8BFB-24B1-4297-B793-6F8A0D587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pPr/>
              <a:t>60</a:t>
            </a:fld>
            <a:endParaRPr lang="en-US" altLang="en-US">
              <a:latin typeface="Times New Roman" panose="02020603050405020304" pitchFamily="18" charset="0"/>
            </a:endParaRPr>
          </a:p>
        </p:txBody>
      </p:sp>
      <p:sp>
        <p:nvSpPr>
          <p:cNvPr id="83970" name="Rectangle 2">
            <a:extLst>
              <a:ext uri="{FF2B5EF4-FFF2-40B4-BE49-F238E27FC236}">
                <a16:creationId xmlns:a16="http://schemas.microsoft.com/office/drawing/2014/main" id="{D52D119C-B011-47A7-89E5-EC4CDBBF2E85}"/>
              </a:ext>
            </a:extLst>
          </p:cNvPr>
          <p:cNvSpPr>
            <a:spLocks noGrp="1" noRot="1" noChangeAspect="1" noChangeArrowheads="1" noTextEdit="1"/>
          </p:cNvSpPr>
          <p:nvPr>
            <p:ph type="sldImg"/>
          </p:nvPr>
        </p:nvSpPr>
        <p:spPr>
          <a:ln/>
        </p:spPr>
      </p:sp>
      <p:sp>
        <p:nvSpPr>
          <p:cNvPr id="83971" name="Rectangle 3">
            <a:extLst>
              <a:ext uri="{FF2B5EF4-FFF2-40B4-BE49-F238E27FC236}">
                <a16:creationId xmlns:a16="http://schemas.microsoft.com/office/drawing/2014/main" id="{0DD7969A-5C14-461F-9465-0BCB7FE110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285487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7">
            <a:extLst>
              <a:ext uri="{FF2B5EF4-FFF2-40B4-BE49-F238E27FC236}">
                <a16:creationId xmlns:a16="http://schemas.microsoft.com/office/drawing/2014/main" id="{149A2025-556A-439D-B416-B393448D1C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68B8218-B419-4C46-9B31-7C5CA16C0958}" type="slidenum">
              <a:rPr lang="en-US" altLang="en-US" smtClean="0">
                <a:latin typeface="Times New Roman" panose="02020603050405020304" pitchFamily="18" charset="0"/>
              </a:rPr>
              <a:pPr/>
              <a:t>61</a:t>
            </a:fld>
            <a:endParaRPr lang="en-US" altLang="en-US">
              <a:latin typeface="Times New Roman" panose="02020603050405020304" pitchFamily="18" charset="0"/>
            </a:endParaRPr>
          </a:p>
        </p:txBody>
      </p:sp>
      <p:sp>
        <p:nvSpPr>
          <p:cNvPr id="10242" name="Rectangle 2">
            <a:extLst>
              <a:ext uri="{FF2B5EF4-FFF2-40B4-BE49-F238E27FC236}">
                <a16:creationId xmlns:a16="http://schemas.microsoft.com/office/drawing/2014/main" id="{3097CAA5-5009-40F9-948A-088E4382782E}"/>
              </a:ext>
            </a:extLst>
          </p:cNvPr>
          <p:cNvSpPr>
            <a:spLocks noGrp="1" noRot="1" noChangeAspect="1" noChangeArrowheads="1" noTextEdit="1"/>
          </p:cNvSpPr>
          <p:nvPr>
            <p:ph type="sldImg"/>
          </p:nvPr>
        </p:nvSpPr>
        <p:spPr>
          <a:ln/>
        </p:spPr>
      </p:sp>
      <p:sp>
        <p:nvSpPr>
          <p:cNvPr id="10243" name="Rectangle 3">
            <a:extLst>
              <a:ext uri="{FF2B5EF4-FFF2-40B4-BE49-F238E27FC236}">
                <a16:creationId xmlns:a16="http://schemas.microsoft.com/office/drawing/2014/main" id="{FF2A2029-71A1-427A-9D55-052D9150B9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B422F43B-7A17-4E70-9902-B75D2AD874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A3AE300-16A7-43AF-AE1F-1DE14735F1C6}" type="slidenum">
              <a:rPr lang="en-US" altLang="en-US" smtClean="0">
                <a:latin typeface="Times New Roman" panose="02020603050405020304" pitchFamily="18" charset="0"/>
              </a:rPr>
              <a:pPr/>
              <a:t>62</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64F304B6-B49F-4C63-9E77-58BDCDE54D90}"/>
              </a:ext>
            </a:extLst>
          </p:cNvPr>
          <p:cNvSpPr>
            <a:spLocks noGrp="1" noRot="1" noChangeAspect="1" noChangeArrowheads="1" noTextEdit="1"/>
          </p:cNvSpPr>
          <p:nvPr>
            <p:ph type="sldImg"/>
          </p:nvPr>
        </p:nvSpPr>
        <p:spPr>
          <a:ln/>
        </p:spPr>
      </p:sp>
      <p:sp>
        <p:nvSpPr>
          <p:cNvPr id="12291" name="Rectangle 3">
            <a:extLst>
              <a:ext uri="{FF2B5EF4-FFF2-40B4-BE49-F238E27FC236}">
                <a16:creationId xmlns:a16="http://schemas.microsoft.com/office/drawing/2014/main" id="{F0C8F3D9-B786-431D-AD5A-29215D79E2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38769F49-5E48-4F61-A820-D92DE4D09D7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D748A9-A869-41DD-902B-3C31EC6B06E1}" type="slidenum">
              <a:rPr lang="en-US" altLang="en-US" smtClean="0">
                <a:latin typeface="Times New Roman" panose="02020603050405020304" pitchFamily="18" charset="0"/>
              </a:rPr>
              <a:pPr/>
              <a:t>63</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514B7CE5-FF07-4CF4-8A99-176990BB0016}"/>
              </a:ext>
            </a:extLst>
          </p:cNvPr>
          <p:cNvSpPr>
            <a:spLocks noGrp="1" noRot="1" noChangeAspect="1" noChangeArrowheads="1" noTextEdit="1"/>
          </p:cNvSpPr>
          <p:nvPr>
            <p:ph type="sldImg"/>
          </p:nvPr>
        </p:nvSpPr>
        <p:spPr>
          <a:ln/>
        </p:spPr>
      </p:sp>
      <p:sp>
        <p:nvSpPr>
          <p:cNvPr id="14339" name="Rectangle 3">
            <a:extLst>
              <a:ext uri="{FF2B5EF4-FFF2-40B4-BE49-F238E27FC236}">
                <a16:creationId xmlns:a16="http://schemas.microsoft.com/office/drawing/2014/main" id="{51215128-6CC2-485F-8CCE-6F4FEFACE2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42950" marR="0" lvl="1" indent="-285750" algn="r" rtl="1">
              <a:lnSpc>
                <a:spcPct val="107000"/>
              </a:lnSpc>
              <a:spcBef>
                <a:spcPts val="0"/>
              </a:spcBef>
              <a:spcAft>
                <a:spcPts val="800"/>
              </a:spcAft>
              <a:buFont typeface="Wingdings" panose="05000000000000000000" pitchFamily="2" charset="2"/>
              <a:buChar char=""/>
              <a:tabLst>
                <a:tab pos="914400" algn="l"/>
              </a:tabLst>
            </a:pPr>
            <a:r>
              <a:rPr lang="ar-SA" sz="1200" dirty="0">
                <a:effectLst/>
                <a:latin typeface="Calibri" panose="020F0502020204030204" pitchFamily="34" charset="0"/>
                <a:ea typeface="Times New Roman" panose="02020603050405020304" pitchFamily="18" charset="0"/>
                <a:cs typeface="B Nazanin" panose="00000400000000000000" pitchFamily="2" charset="-78"/>
              </a:rPr>
              <a:t>یک سیمافور به نام </a:t>
            </a:r>
            <a:r>
              <a:rPr lang="en-US" sz="1200" dirty="0">
                <a:effectLst/>
                <a:latin typeface="Calibri" panose="020F0502020204030204" pitchFamily="34" charset="0"/>
                <a:ea typeface="Times New Roman" panose="02020603050405020304" pitchFamily="18" charset="0"/>
                <a:cs typeface="B Nazanin" panose="00000400000000000000" pitchFamily="2" charset="-78"/>
              </a:rPr>
              <a:t> </a:t>
            </a:r>
            <a:r>
              <a:rPr lang="en-US" sz="1100" b="1" dirty="0">
                <a:effectLst/>
                <a:latin typeface="Courier New" panose="02070309020205020404" pitchFamily="49" charset="0"/>
                <a:ea typeface="Times New Roman" panose="02020603050405020304" pitchFamily="18" charset="0"/>
                <a:cs typeface="B Nazanin" panose="00000400000000000000" pitchFamily="2" charset="-78"/>
              </a:rPr>
              <a:t>mutex</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200" dirty="0">
                <a:effectLst/>
                <a:latin typeface="Calibri" panose="020F0502020204030204" pitchFamily="34" charset="0"/>
                <a:ea typeface="Times New Roman" panose="02020603050405020304" pitchFamily="18" charset="0"/>
                <a:cs typeface="B Nazanin" panose="00000400000000000000" pitchFamily="2" charset="-78"/>
              </a:rPr>
              <a:t>وجود دارد که مقدار اولیه آن برابر با </a:t>
            </a:r>
            <a:r>
              <a:rPr lang="en-US" sz="1200" b="1" dirty="0">
                <a:effectLst/>
                <a:latin typeface="Times New Roman" panose="02020603050405020304" pitchFamily="18" charset="0"/>
                <a:ea typeface="Times New Roman" panose="02020603050405020304" pitchFamily="18" charset="0"/>
                <a:cs typeface="B Nazanin" panose="00000400000000000000" pitchFamily="2" charset="-78"/>
              </a:rPr>
              <a:t>1</a:t>
            </a:r>
            <a:r>
              <a:rPr lang="ar-SA" sz="1200" dirty="0">
                <a:effectLst/>
                <a:latin typeface="Calibri" panose="020F0502020204030204" pitchFamily="34" charset="0"/>
                <a:ea typeface="Times New Roman" panose="02020603050405020304" pitchFamily="18" charset="0"/>
                <a:cs typeface="B Nazanin" panose="00000400000000000000" pitchFamily="2" charset="-78"/>
              </a:rPr>
              <a:t>است</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Font typeface="Wingdings" panose="05000000000000000000" pitchFamily="2" charset="2"/>
              <a:buChar char=""/>
              <a:tabLst>
                <a:tab pos="914400" algn="l"/>
              </a:tabLst>
            </a:pPr>
            <a:r>
              <a:rPr lang="ar-SA" sz="1200" dirty="0">
                <a:effectLst/>
                <a:latin typeface="Calibri" panose="020F0502020204030204" pitchFamily="34" charset="0"/>
                <a:ea typeface="Times New Roman" panose="02020603050405020304" pitchFamily="18" charset="0"/>
                <a:cs typeface="B Nazanin" panose="00000400000000000000" pitchFamily="2" charset="-78"/>
              </a:rPr>
              <a:t>یک سیمافور دیگر به نام </a:t>
            </a:r>
            <a:r>
              <a:rPr lang="en-US" sz="1100" b="1" dirty="0">
                <a:effectLst/>
                <a:latin typeface="Courier New" panose="02070309020205020404" pitchFamily="49" charset="0"/>
                <a:ea typeface="Times New Roman" panose="02020603050405020304" pitchFamily="18" charset="0"/>
                <a:cs typeface="B Nazanin" panose="00000400000000000000" pitchFamily="2" charset="-78"/>
              </a:rPr>
              <a:t>full</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200" dirty="0">
                <a:effectLst/>
                <a:latin typeface="Calibri" panose="020F0502020204030204" pitchFamily="34" charset="0"/>
                <a:ea typeface="Times New Roman" panose="02020603050405020304" pitchFamily="18" charset="0"/>
                <a:cs typeface="B Nazanin" panose="00000400000000000000" pitchFamily="2" charset="-78"/>
              </a:rPr>
              <a:t>با مقدار اولیه </a:t>
            </a:r>
            <a:r>
              <a:rPr lang="en-US" sz="1200" b="1" dirty="0">
                <a:effectLst/>
                <a:latin typeface="Times New Roman" panose="02020603050405020304" pitchFamily="18" charset="0"/>
                <a:ea typeface="Times New Roman" panose="02020603050405020304" pitchFamily="18" charset="0"/>
                <a:cs typeface="B Nazanin" panose="00000400000000000000" pitchFamily="2" charset="-78"/>
              </a:rPr>
              <a:t>0</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200" dirty="0">
                <a:effectLst/>
                <a:latin typeface="Calibri" panose="020F0502020204030204" pitchFamily="34" charset="0"/>
                <a:ea typeface="Times New Roman" panose="02020603050405020304" pitchFamily="18" charset="0"/>
                <a:cs typeface="B Nazanin" panose="00000400000000000000" pitchFamily="2" charset="-78"/>
              </a:rPr>
              <a:t>وجود دارد</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Font typeface="Wingdings" panose="05000000000000000000" pitchFamily="2" charset="2"/>
              <a:buChar char=""/>
              <a:tabLst>
                <a:tab pos="914400" algn="l"/>
              </a:tabLst>
            </a:pPr>
            <a:r>
              <a:rPr lang="ar-SA" sz="1200" dirty="0">
                <a:effectLst/>
                <a:latin typeface="Calibri" panose="020F0502020204030204" pitchFamily="34" charset="0"/>
                <a:ea typeface="Times New Roman" panose="02020603050405020304" pitchFamily="18" charset="0"/>
                <a:cs typeface="B Nazanin" panose="00000400000000000000" pitchFamily="2" charset="-78"/>
              </a:rPr>
              <a:t>و در نهایت یک سیمافور به نام </a:t>
            </a:r>
            <a:r>
              <a:rPr lang="en-US" sz="1100" b="1" dirty="0">
                <a:effectLst/>
                <a:latin typeface="Courier New" panose="02070309020205020404" pitchFamily="49" charset="0"/>
                <a:ea typeface="Times New Roman" panose="02020603050405020304" pitchFamily="18" charset="0"/>
                <a:cs typeface="B Nazanin" panose="00000400000000000000" pitchFamily="2" charset="-78"/>
              </a:rPr>
              <a:t>empty</a:t>
            </a:r>
            <a:r>
              <a:rPr lang="fa-IR" sz="1050" b="1" dirty="0">
                <a:effectLst/>
                <a:latin typeface="Courier New" panose="02070309020205020404" pitchFamily="49" charset="0"/>
                <a:ea typeface="Times New Roman" panose="02020603050405020304" pitchFamily="18" charset="0"/>
                <a:cs typeface="B Nazanin" panose="00000400000000000000" pitchFamily="2" charset="-78"/>
              </a:rPr>
              <a:t> </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200" dirty="0">
                <a:effectLst/>
                <a:latin typeface="Calibri" panose="020F0502020204030204" pitchFamily="34" charset="0"/>
                <a:ea typeface="Times New Roman" panose="02020603050405020304" pitchFamily="18" charset="0"/>
                <a:cs typeface="B Nazanin" panose="00000400000000000000" pitchFamily="2" charset="-78"/>
              </a:rPr>
              <a:t>با مقدار اولیه </a:t>
            </a:r>
            <a:r>
              <a:rPr lang="en-US" sz="1200" b="1" dirty="0">
                <a:effectLst/>
                <a:latin typeface="Times New Roman" panose="02020603050405020304" pitchFamily="18" charset="0"/>
                <a:ea typeface="Times New Roman" panose="02020603050405020304" pitchFamily="18" charset="0"/>
                <a:cs typeface="B Nazanin" panose="00000400000000000000" pitchFamily="2" charset="-78"/>
              </a:rPr>
              <a:t>n</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200" dirty="0">
                <a:effectLst/>
                <a:latin typeface="Calibri" panose="020F0502020204030204" pitchFamily="34" charset="0"/>
                <a:ea typeface="Times New Roman" panose="02020603050405020304" pitchFamily="18" charset="0"/>
                <a:cs typeface="B Nazanin" panose="00000400000000000000" pitchFamily="2" charset="-78"/>
              </a:rPr>
              <a:t>داریم</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B Nazanin" panose="00000400000000000000" pitchFamily="2" charset="-78"/>
            </a:endParaRPr>
          </a:p>
          <a:p>
            <a:endParaRPr lang="en-US" altLang="en-US" dirty="0">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2B454191-C00D-4881-8CC3-145741C180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8868E1-D052-4404-8916-164E1D0D0B49}" type="slidenum">
              <a:rPr lang="en-US" altLang="en-US" smtClean="0">
                <a:latin typeface="Times New Roman" panose="02020603050405020304" pitchFamily="18" charset="0"/>
              </a:rPr>
              <a:pPr/>
              <a:t>64</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207D3C19-C6DC-4AF4-97F2-A512D0071A6D}"/>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67534874-A7D8-4E15-AAAD-8916ECED8A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742950" marR="0" lvl="1" indent="-285750" algn="r" rtl="1">
              <a:lnSpc>
                <a:spcPct val="107000"/>
              </a:lnSpc>
              <a:spcBef>
                <a:spcPts val="0"/>
              </a:spcBef>
              <a:spcAft>
                <a:spcPts val="800"/>
              </a:spcAft>
              <a:buFont typeface="Wingdings" panose="05000000000000000000" pitchFamily="2" charset="2"/>
              <a:buChar char=""/>
              <a:tabLst>
                <a:tab pos="914400" algn="l"/>
              </a:tabLst>
            </a:pPr>
            <a:r>
              <a:rPr lang="ar-SA" sz="1200" dirty="0">
                <a:effectLst/>
                <a:latin typeface="Calibri" panose="020F0502020204030204" pitchFamily="34" charset="0"/>
                <a:ea typeface="Times New Roman" panose="02020603050405020304" pitchFamily="18" charset="0"/>
                <a:cs typeface="B Nazanin" panose="00000400000000000000" pitchFamily="2" charset="-78"/>
              </a:rPr>
              <a:t>یک سیمافور به نام </a:t>
            </a:r>
            <a:r>
              <a:rPr lang="en-US" sz="1200" dirty="0">
                <a:effectLst/>
                <a:latin typeface="Calibri" panose="020F0502020204030204" pitchFamily="34" charset="0"/>
                <a:ea typeface="Times New Roman" panose="02020603050405020304" pitchFamily="18" charset="0"/>
                <a:cs typeface="B Nazanin" panose="00000400000000000000" pitchFamily="2" charset="-78"/>
              </a:rPr>
              <a:t> </a:t>
            </a:r>
            <a:r>
              <a:rPr lang="en-US" sz="1100" b="1" dirty="0">
                <a:effectLst/>
                <a:latin typeface="Courier New" panose="02070309020205020404" pitchFamily="49" charset="0"/>
                <a:ea typeface="Times New Roman" panose="02020603050405020304" pitchFamily="18" charset="0"/>
                <a:cs typeface="B Nazanin" panose="00000400000000000000" pitchFamily="2" charset="-78"/>
              </a:rPr>
              <a:t>mutex</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200" dirty="0">
                <a:effectLst/>
                <a:latin typeface="Calibri" panose="020F0502020204030204" pitchFamily="34" charset="0"/>
                <a:ea typeface="Times New Roman" panose="02020603050405020304" pitchFamily="18" charset="0"/>
                <a:cs typeface="B Nazanin" panose="00000400000000000000" pitchFamily="2" charset="-78"/>
              </a:rPr>
              <a:t>وجود دارد که مقدار اولیه آن برابر با </a:t>
            </a:r>
            <a:r>
              <a:rPr lang="en-US" sz="1200" b="1" dirty="0">
                <a:effectLst/>
                <a:latin typeface="Times New Roman" panose="02020603050405020304" pitchFamily="18" charset="0"/>
                <a:ea typeface="Times New Roman" panose="02020603050405020304" pitchFamily="18" charset="0"/>
                <a:cs typeface="B Nazanin" panose="00000400000000000000" pitchFamily="2" charset="-78"/>
              </a:rPr>
              <a:t>1</a:t>
            </a:r>
            <a:r>
              <a:rPr lang="ar-SA" sz="1200" dirty="0">
                <a:effectLst/>
                <a:latin typeface="Calibri" panose="020F0502020204030204" pitchFamily="34" charset="0"/>
                <a:ea typeface="Times New Roman" panose="02020603050405020304" pitchFamily="18" charset="0"/>
                <a:cs typeface="B Nazanin" panose="00000400000000000000" pitchFamily="2" charset="-78"/>
              </a:rPr>
              <a:t>است</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Font typeface="Wingdings" panose="05000000000000000000" pitchFamily="2" charset="2"/>
              <a:buChar char=""/>
              <a:tabLst>
                <a:tab pos="914400" algn="l"/>
              </a:tabLst>
            </a:pPr>
            <a:r>
              <a:rPr lang="ar-SA" sz="1200" dirty="0">
                <a:effectLst/>
                <a:latin typeface="Calibri" panose="020F0502020204030204" pitchFamily="34" charset="0"/>
                <a:ea typeface="Times New Roman" panose="02020603050405020304" pitchFamily="18" charset="0"/>
                <a:cs typeface="B Nazanin" panose="00000400000000000000" pitchFamily="2" charset="-78"/>
              </a:rPr>
              <a:t>یک سیمافور دیگر به نام </a:t>
            </a:r>
            <a:r>
              <a:rPr lang="en-US" sz="1100" b="1" dirty="0">
                <a:effectLst/>
                <a:latin typeface="Courier New" panose="02070309020205020404" pitchFamily="49" charset="0"/>
                <a:ea typeface="Times New Roman" panose="02020603050405020304" pitchFamily="18" charset="0"/>
                <a:cs typeface="B Nazanin" panose="00000400000000000000" pitchFamily="2" charset="-78"/>
              </a:rPr>
              <a:t>full</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200" dirty="0">
                <a:effectLst/>
                <a:latin typeface="Calibri" panose="020F0502020204030204" pitchFamily="34" charset="0"/>
                <a:ea typeface="Times New Roman" panose="02020603050405020304" pitchFamily="18" charset="0"/>
                <a:cs typeface="B Nazanin" panose="00000400000000000000" pitchFamily="2" charset="-78"/>
              </a:rPr>
              <a:t>با مقدار اولیه </a:t>
            </a:r>
            <a:r>
              <a:rPr lang="en-US" sz="1200" b="1" dirty="0">
                <a:effectLst/>
                <a:latin typeface="Times New Roman" panose="02020603050405020304" pitchFamily="18" charset="0"/>
                <a:ea typeface="Times New Roman" panose="02020603050405020304" pitchFamily="18" charset="0"/>
                <a:cs typeface="B Nazanin" panose="00000400000000000000" pitchFamily="2" charset="-78"/>
              </a:rPr>
              <a:t>0</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200" dirty="0">
                <a:effectLst/>
                <a:latin typeface="Calibri" panose="020F0502020204030204" pitchFamily="34" charset="0"/>
                <a:ea typeface="Times New Roman" panose="02020603050405020304" pitchFamily="18" charset="0"/>
                <a:cs typeface="B Nazanin" panose="00000400000000000000" pitchFamily="2" charset="-78"/>
              </a:rPr>
              <a:t>وجود دارد</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Font typeface="Wingdings" panose="05000000000000000000" pitchFamily="2" charset="2"/>
              <a:buChar char=""/>
              <a:tabLst>
                <a:tab pos="914400" algn="l"/>
              </a:tabLst>
            </a:pPr>
            <a:r>
              <a:rPr lang="ar-SA" sz="1200" dirty="0">
                <a:effectLst/>
                <a:latin typeface="Calibri" panose="020F0502020204030204" pitchFamily="34" charset="0"/>
                <a:ea typeface="Times New Roman" panose="02020603050405020304" pitchFamily="18" charset="0"/>
                <a:cs typeface="B Nazanin" panose="00000400000000000000" pitchFamily="2" charset="-78"/>
              </a:rPr>
              <a:t>و در نهایت یک سیمافور به نام </a:t>
            </a:r>
            <a:r>
              <a:rPr lang="en-US" sz="1100" b="1" dirty="0">
                <a:effectLst/>
                <a:latin typeface="Courier New" panose="02070309020205020404" pitchFamily="49" charset="0"/>
                <a:ea typeface="Times New Roman" panose="02020603050405020304" pitchFamily="18" charset="0"/>
                <a:cs typeface="B Nazanin" panose="00000400000000000000" pitchFamily="2" charset="-78"/>
              </a:rPr>
              <a:t>empty</a:t>
            </a:r>
            <a:r>
              <a:rPr lang="fa-IR" sz="1050" b="1" dirty="0">
                <a:effectLst/>
                <a:latin typeface="Courier New" panose="02070309020205020404" pitchFamily="49" charset="0"/>
                <a:ea typeface="Times New Roman" panose="02020603050405020304" pitchFamily="18" charset="0"/>
                <a:cs typeface="B Nazanin" panose="00000400000000000000" pitchFamily="2" charset="-78"/>
              </a:rPr>
              <a:t> </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200" dirty="0">
                <a:effectLst/>
                <a:latin typeface="Calibri" panose="020F0502020204030204" pitchFamily="34" charset="0"/>
                <a:ea typeface="Times New Roman" panose="02020603050405020304" pitchFamily="18" charset="0"/>
                <a:cs typeface="B Nazanin" panose="00000400000000000000" pitchFamily="2" charset="-78"/>
              </a:rPr>
              <a:t>با مقدار اولیه </a:t>
            </a:r>
            <a:r>
              <a:rPr lang="en-US" sz="1200" b="1" dirty="0">
                <a:effectLst/>
                <a:latin typeface="Times New Roman" panose="02020603050405020304" pitchFamily="18" charset="0"/>
                <a:ea typeface="Times New Roman" panose="02020603050405020304" pitchFamily="18" charset="0"/>
                <a:cs typeface="B Nazanin" panose="00000400000000000000" pitchFamily="2" charset="-78"/>
              </a:rPr>
              <a:t>n</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1200" dirty="0">
                <a:effectLst/>
                <a:latin typeface="Calibri" panose="020F0502020204030204" pitchFamily="34" charset="0"/>
                <a:ea typeface="Times New Roman" panose="02020603050405020304" pitchFamily="18" charset="0"/>
                <a:cs typeface="B Nazanin" panose="00000400000000000000" pitchFamily="2" charset="-78"/>
              </a:rPr>
              <a:t>داریم</a:t>
            </a:r>
            <a:r>
              <a:rPr lang="en-US" sz="1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100" dirty="0">
              <a:effectLst/>
              <a:latin typeface="Calibri" panose="020F0502020204030204" pitchFamily="34" charset="0"/>
              <a:ea typeface="Calibri" panose="020F0502020204030204" pitchFamily="34" charset="0"/>
              <a:cs typeface="B Nazanin" panose="00000400000000000000" pitchFamily="2" charset="-78"/>
            </a:endParaRPr>
          </a:p>
          <a:p>
            <a:endParaRPr lang="en-US" altLang="en-US" dirty="0">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45FD6A41-E36E-4666-A54F-E0F0617EE2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FF6CAB1-B51D-444E-A465-8AF1E0A4B97E}" type="slidenum">
              <a:rPr lang="en-US" altLang="en-US" smtClean="0">
                <a:latin typeface="Times New Roman" panose="02020603050405020304" pitchFamily="18" charset="0"/>
              </a:rPr>
              <a:pPr/>
              <a:t>65</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21F25817-AF20-4FAD-9524-7E59BC9A54BD}"/>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B13E8DE0-FE2C-4E20-BCD3-2600EA110E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6954423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45FD6A41-E36E-4666-A54F-E0F0617EE2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FF6CAB1-B51D-444E-A465-8AF1E0A4B97E}" type="slidenum">
              <a:rPr lang="en-US" altLang="en-US" smtClean="0">
                <a:latin typeface="Times New Roman" panose="02020603050405020304" pitchFamily="18" charset="0"/>
              </a:rPr>
              <a:pPr/>
              <a:t>66</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21F25817-AF20-4FAD-9524-7E59BC9A54BD}"/>
              </a:ext>
            </a:extLst>
          </p:cNvPr>
          <p:cNvSpPr>
            <a:spLocks noGrp="1" noRot="1" noChangeAspect="1" noChangeArrowheads="1" noTextEdit="1"/>
          </p:cNvSpPr>
          <p:nvPr>
            <p:ph type="sldImg"/>
          </p:nvPr>
        </p:nvSpPr>
        <p:spPr>
          <a:ln/>
        </p:spPr>
      </p:sp>
      <p:sp>
        <p:nvSpPr>
          <p:cNvPr id="18435" name="Rectangle 3">
            <a:extLst>
              <a:ext uri="{FF2B5EF4-FFF2-40B4-BE49-F238E27FC236}">
                <a16:creationId xmlns:a16="http://schemas.microsoft.com/office/drawing/2014/main" id="{B13E8DE0-FE2C-4E20-BCD3-2600EA110E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273567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950B0E92-D303-4BB0-A4D8-C849313739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A8A344-8948-476E-AFBC-AE7944A55FD0}" type="slidenum">
              <a:rPr lang="en-US" altLang="en-US" smtClean="0">
                <a:latin typeface="Times New Roman" panose="02020603050405020304" pitchFamily="18" charset="0"/>
              </a:rPr>
              <a:pPr/>
              <a:t>67</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BD2136EB-8912-4394-B77C-6B86DF5CA56F}"/>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2F1F5DAD-71C2-48AE-88DA-58F7B2FAEE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C4B4CDFE-17FF-4FEE-B58E-763B8E6ABD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FD57D9-9ACF-4A83-A909-F49ABBD723C3}" type="slidenum">
              <a:rPr lang="en-US" altLang="en-US" smtClean="0">
                <a:latin typeface="Times New Roman" panose="02020603050405020304" pitchFamily="18" charset="0"/>
              </a:rPr>
              <a:pPr/>
              <a:t>68</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ED68831C-2F81-44B4-9958-1F9967551886}"/>
              </a:ext>
            </a:extLst>
          </p:cNvPr>
          <p:cNvSpPr>
            <a:spLocks noGrp="1" noRot="1" noChangeAspect="1" noChangeArrowheads="1" noTextEdit="1"/>
          </p:cNvSpPr>
          <p:nvPr>
            <p:ph type="sldImg"/>
          </p:nvPr>
        </p:nvSpPr>
        <p:spPr>
          <a:ln/>
        </p:spPr>
      </p:sp>
      <p:sp>
        <p:nvSpPr>
          <p:cNvPr id="22531" name="Rectangle 3">
            <a:extLst>
              <a:ext uri="{FF2B5EF4-FFF2-40B4-BE49-F238E27FC236}">
                <a16:creationId xmlns:a16="http://schemas.microsoft.com/office/drawing/2014/main" id="{18370FE4-983D-4F1E-AFFB-EB46F12554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EF30C6CA-0F10-4E2E-ADBB-88AAB3EE5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A9972C-A281-4ED9-A13B-A6C6E2D45CB3}" type="slidenum">
              <a:rPr lang="en-US" altLang="en-US" smtClean="0">
                <a:latin typeface="Times New Roman" panose="02020603050405020304" pitchFamily="18" charset="0"/>
              </a:rPr>
              <a:pPr/>
              <a:t>71</a:t>
            </a:fld>
            <a:endParaRPr lang="en-US" altLang="en-US">
              <a:latin typeface="Times New Roman" panose="02020603050405020304" pitchFamily="18" charset="0"/>
            </a:endParaRPr>
          </a:p>
        </p:txBody>
      </p:sp>
      <p:sp>
        <p:nvSpPr>
          <p:cNvPr id="25602" name="Rectangle 2">
            <a:extLst>
              <a:ext uri="{FF2B5EF4-FFF2-40B4-BE49-F238E27FC236}">
                <a16:creationId xmlns:a16="http://schemas.microsoft.com/office/drawing/2014/main" id="{B3679CC6-842E-4CC5-B72C-F6CA84D12CF0}"/>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E78DDD2C-05BB-4045-8228-45C12D6406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0674478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EF30C6CA-0F10-4E2E-ADBB-88AAB3EE5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A9972C-A281-4ED9-A13B-A6C6E2D45CB3}" type="slidenum">
              <a:rPr lang="en-US" altLang="en-US" smtClean="0">
                <a:latin typeface="Times New Roman" panose="02020603050405020304" pitchFamily="18" charset="0"/>
              </a:rPr>
              <a:pPr/>
              <a:t>72</a:t>
            </a:fld>
            <a:endParaRPr lang="en-US" altLang="en-US">
              <a:latin typeface="Times New Roman" panose="02020603050405020304" pitchFamily="18" charset="0"/>
            </a:endParaRPr>
          </a:p>
        </p:txBody>
      </p:sp>
      <p:sp>
        <p:nvSpPr>
          <p:cNvPr id="25602" name="Rectangle 2">
            <a:extLst>
              <a:ext uri="{FF2B5EF4-FFF2-40B4-BE49-F238E27FC236}">
                <a16:creationId xmlns:a16="http://schemas.microsoft.com/office/drawing/2014/main" id="{B3679CC6-842E-4CC5-B72C-F6CA84D12CF0}"/>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E78DDD2C-05BB-4045-8228-45C12D6406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2510052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31EF95C2-30F5-4674-B550-61EA8B43CE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FCA2DBE-B6D1-4FB7-B4F4-1496EA4F2FD3}" type="slidenum">
              <a:rPr lang="en-US" altLang="en-US" smtClean="0">
                <a:latin typeface="Times New Roman" panose="02020603050405020304" pitchFamily="18" charset="0"/>
              </a:rPr>
              <a:pPr/>
              <a:t>73</a:t>
            </a:fld>
            <a:endParaRPr lang="en-US" altLang="en-US">
              <a:latin typeface="Times New Roman" panose="02020603050405020304" pitchFamily="18" charset="0"/>
            </a:endParaRPr>
          </a:p>
        </p:txBody>
      </p:sp>
      <p:sp>
        <p:nvSpPr>
          <p:cNvPr id="27650" name="Rectangle 2">
            <a:extLst>
              <a:ext uri="{FF2B5EF4-FFF2-40B4-BE49-F238E27FC236}">
                <a16:creationId xmlns:a16="http://schemas.microsoft.com/office/drawing/2014/main" id="{63B1BE69-F2AE-4073-AD7F-EC55BF74D2E0}"/>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00DDF634-7FF2-4300-8F34-0D079A7CE0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1" dirty="0"/>
              <a:t>Deadlock occurs because all philosophers hold one chopstick and wait for the other</a:t>
            </a:r>
            <a:r>
              <a:rPr lang="en-US" dirty="0"/>
              <a:t>, blocking each other forever.</a:t>
            </a:r>
            <a:endParaRPr lang="en-US" altLang="en-US" dirty="0">
              <a:latin typeface="Times New Roman" panose="02020603050405020304"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1EFA09C3-CCE9-4618-9F0F-744AF0A9B7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F6BCBA1-9824-4D0D-B46E-F77E737E1BD9}" type="slidenum">
              <a:rPr lang="en-US" altLang="en-US" smtClean="0">
                <a:latin typeface="Times New Roman" panose="02020603050405020304" pitchFamily="18" charset="0"/>
              </a:rPr>
              <a:pPr/>
              <a:t>74</a:t>
            </a:fld>
            <a:endParaRPr lang="en-US" altLang="en-US">
              <a:latin typeface="Times New Roman" panose="02020603050405020304" pitchFamily="18" charset="0"/>
            </a:endParaRPr>
          </a:p>
        </p:txBody>
      </p:sp>
      <p:sp>
        <p:nvSpPr>
          <p:cNvPr id="29698" name="Rectangle 2">
            <a:extLst>
              <a:ext uri="{FF2B5EF4-FFF2-40B4-BE49-F238E27FC236}">
                <a16:creationId xmlns:a16="http://schemas.microsoft.com/office/drawing/2014/main" id="{26A9EEDA-A552-4242-97DB-1659999AC6C6}"/>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D36BC16F-9F0B-40A3-B2DD-E0047170E4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3E634DBD-1EC5-462D-BC22-327F348F05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FC2B6B4-BF24-4262-A303-E000472979C4}" type="slidenum">
              <a:rPr lang="en-US" altLang="en-US" smtClean="0">
                <a:latin typeface="Times New Roman" panose="02020603050405020304" pitchFamily="18" charset="0"/>
              </a:rPr>
              <a:pPr/>
              <a:t>75</a:t>
            </a:fld>
            <a:endParaRPr lang="en-US" altLang="en-US">
              <a:latin typeface="Times New Roman" panose="02020603050405020304" pitchFamily="18" charset="0"/>
            </a:endParaRPr>
          </a:p>
        </p:txBody>
      </p:sp>
      <p:sp>
        <p:nvSpPr>
          <p:cNvPr id="33794" name="Rectangle 2">
            <a:extLst>
              <a:ext uri="{FF2B5EF4-FFF2-40B4-BE49-F238E27FC236}">
                <a16:creationId xmlns:a16="http://schemas.microsoft.com/office/drawing/2014/main" id="{A07EA455-67B3-4FB5-8874-BE2716912EF9}"/>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7F0F9981-F39D-4C6B-B808-D9D1D2A439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a:extLst>
              <a:ext uri="{FF2B5EF4-FFF2-40B4-BE49-F238E27FC236}">
                <a16:creationId xmlns:a16="http://schemas.microsoft.com/office/drawing/2014/main" id="{FE1C5EA7-B174-4E26-B477-FFF72EF73B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694">
              <a:defRPr>
                <a:solidFill>
                  <a:schemeClr val="tx1"/>
                </a:solidFill>
                <a:latin typeface="Verdana" panose="020B0604030504040204" pitchFamily="34" charset="0"/>
                <a:ea typeface="MS PGothic" panose="020B0600070205080204" pitchFamily="34" charset="-128"/>
              </a:defRPr>
            </a:lvl1pPr>
            <a:lvl2pPr marL="751271" indent="-288950" defTabSz="940694">
              <a:defRPr>
                <a:solidFill>
                  <a:schemeClr val="tx1"/>
                </a:solidFill>
                <a:latin typeface="Verdana" panose="020B0604030504040204" pitchFamily="34" charset="0"/>
                <a:ea typeface="MS PGothic" panose="020B0600070205080204" pitchFamily="34" charset="-128"/>
              </a:defRPr>
            </a:lvl2pPr>
            <a:lvl3pPr marL="1155802" indent="-231160" defTabSz="940694">
              <a:defRPr>
                <a:solidFill>
                  <a:schemeClr val="tx1"/>
                </a:solidFill>
                <a:latin typeface="Verdana" panose="020B0604030504040204" pitchFamily="34" charset="0"/>
                <a:ea typeface="MS PGothic" panose="020B0600070205080204" pitchFamily="34" charset="-128"/>
              </a:defRPr>
            </a:lvl3pPr>
            <a:lvl4pPr marL="1618122" indent="-231160" defTabSz="940694">
              <a:defRPr>
                <a:solidFill>
                  <a:schemeClr val="tx1"/>
                </a:solidFill>
                <a:latin typeface="Verdana" panose="020B0604030504040204" pitchFamily="34" charset="0"/>
                <a:ea typeface="MS PGothic" panose="020B0600070205080204" pitchFamily="34" charset="-128"/>
              </a:defRPr>
            </a:lvl4pPr>
            <a:lvl5pPr marL="2080443" indent="-231160" defTabSz="940694">
              <a:defRPr>
                <a:solidFill>
                  <a:schemeClr val="tx1"/>
                </a:solidFill>
                <a:latin typeface="Verdana" panose="020B0604030504040204" pitchFamily="34" charset="0"/>
                <a:ea typeface="MS PGothic" panose="020B0600070205080204" pitchFamily="34" charset="-128"/>
              </a:defRPr>
            </a:lvl5pPr>
            <a:lvl6pPr marL="254276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5084"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40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29725" indent="-231160" defTabSz="940694"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pPr/>
              <a:t>76</a:t>
            </a:fld>
            <a:endParaRPr lang="en-US" altLang="en-US">
              <a:latin typeface="Times New Roman" panose="02020603050405020304" pitchFamily="18" charset="0"/>
            </a:endParaRPr>
          </a:p>
        </p:txBody>
      </p:sp>
      <p:sp>
        <p:nvSpPr>
          <p:cNvPr id="88066" name="Rectangle 2">
            <a:extLst>
              <a:ext uri="{FF2B5EF4-FFF2-40B4-BE49-F238E27FC236}">
                <a16:creationId xmlns:a16="http://schemas.microsoft.com/office/drawing/2014/main" id="{230705A2-DA89-47C3-9FB3-19749B58EAF2}"/>
              </a:ext>
            </a:extLst>
          </p:cNvPr>
          <p:cNvSpPr>
            <a:spLocks noGrp="1" noRot="1" noChangeAspect="1" noChangeArrowheads="1" noTextEdit="1"/>
          </p:cNvSpPr>
          <p:nvPr>
            <p:ph type="sldImg"/>
          </p:nvPr>
        </p:nvSpPr>
        <p:spPr>
          <a:ln/>
        </p:spPr>
      </p:sp>
      <p:sp>
        <p:nvSpPr>
          <p:cNvPr id="88067" name="Rectangle 3">
            <a:extLst>
              <a:ext uri="{FF2B5EF4-FFF2-40B4-BE49-F238E27FC236}">
                <a16:creationId xmlns:a16="http://schemas.microsoft.com/office/drawing/2014/main" id="{58A6CE70-EE5B-4268-A3D5-C2857B8913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1E2106FC-965F-4B36-95C9-85F38CB1D2AF}"/>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94F76597-B8F6-4CEA-9EE6-C249E66FFC89}"/>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B609497D-9258-4404-AC76-F9D00A7E168A}"/>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A64FF4F3-FEAA-4C95-83DF-7C221470B52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02A0DD47-8F7F-4A95-AE64-CA99D29DE3BF}"/>
              </a:ext>
            </a:extLst>
          </p:cNvPr>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p>
        </p:txBody>
      </p:sp>
      <p:sp>
        <p:nvSpPr>
          <p:cNvPr id="8" name="Text Box 8">
            <a:extLst>
              <a:ext uri="{FF2B5EF4-FFF2-40B4-BE49-F238E27FC236}">
                <a16:creationId xmlns:a16="http://schemas.microsoft.com/office/drawing/2014/main" id="{49ECA44C-B65E-4D58-AF71-9A21542DEAB3}"/>
              </a:ext>
            </a:extLst>
          </p:cNvPr>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p>
        </p:txBody>
      </p:sp>
      <p:pic>
        <p:nvPicPr>
          <p:cNvPr id="9" name="Picture 9" descr="dino_4">
            <a:extLst>
              <a:ext uri="{FF2B5EF4-FFF2-40B4-BE49-F238E27FC236}">
                <a16:creationId xmlns:a16="http://schemas.microsoft.com/office/drawing/2014/main" id="{DC93971E-88EA-49BD-8B99-29D435F56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455C5716-1072-48FA-8BE4-518F8A1BAB6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933983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279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177" indent="0">
              <a:buNone/>
              <a:defRPr sz="1800"/>
            </a:lvl2pPr>
            <a:lvl3pPr marL="914354" indent="0">
              <a:buNone/>
              <a:defRPr sz="1600"/>
            </a:lvl3pPr>
            <a:lvl4pPr marL="1371532" indent="0">
              <a:buNone/>
              <a:defRPr sz="1400"/>
            </a:lvl4pPr>
            <a:lvl5pPr marL="1828709" indent="0">
              <a:buNone/>
              <a:defRPr sz="1400"/>
            </a:lvl5pPr>
            <a:lvl6pPr marL="2285886" indent="0">
              <a:buNone/>
              <a:defRPr sz="1400"/>
            </a:lvl6pPr>
            <a:lvl7pPr marL="2743063" indent="0">
              <a:buNone/>
              <a:defRPr sz="1400"/>
            </a:lvl7pPr>
            <a:lvl8pPr marL="3200240" indent="0">
              <a:buNone/>
              <a:defRPr sz="1400"/>
            </a:lvl8pPr>
            <a:lvl9pPr marL="3657417" indent="0">
              <a:buNone/>
              <a:defRPr sz="1400"/>
            </a:lvl9pPr>
          </a:lstStyle>
          <a:p>
            <a:pPr lvl="0"/>
            <a:r>
              <a:rPr lang="en-US"/>
              <a:t>Click to edit Master text styles</a:t>
            </a:r>
          </a:p>
        </p:txBody>
      </p:sp>
    </p:spTree>
    <p:extLst>
      <p:ext uri="{BB962C8B-B14F-4D97-AF65-F5344CB8AC3E}">
        <p14:creationId xmlns:p14="http://schemas.microsoft.com/office/powerpoint/2010/main" val="3029208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0792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177" indent="0">
              <a:buNone/>
              <a:defRPr sz="2000" b="1"/>
            </a:lvl2pPr>
            <a:lvl3pPr marL="914354" indent="0">
              <a:buNone/>
              <a:defRPr sz="1800" b="1"/>
            </a:lvl3pPr>
            <a:lvl4pPr marL="1371532"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28882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75966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606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2775916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7"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177" indent="0">
              <a:buNone/>
              <a:defRPr sz="1200"/>
            </a:lvl2pPr>
            <a:lvl3pPr marL="914354" indent="0">
              <a:buNone/>
              <a:defRPr sz="1000"/>
            </a:lvl3pPr>
            <a:lvl4pPr marL="1371532"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t>Click to edit Master text styles</a:t>
            </a:r>
          </a:p>
        </p:txBody>
      </p:sp>
    </p:spTree>
    <p:extLst>
      <p:ext uri="{BB962C8B-B14F-4D97-AF65-F5344CB8AC3E}">
        <p14:creationId xmlns:p14="http://schemas.microsoft.com/office/powerpoint/2010/main" val="3963623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059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1397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a:extLst>
              <a:ext uri="{FF2B5EF4-FFF2-40B4-BE49-F238E27FC236}">
                <a16:creationId xmlns:a16="http://schemas.microsoft.com/office/drawing/2014/main" id="{279327FA-57D7-4967-BC36-A4ACCFBBDACE}"/>
              </a:ext>
            </a:extLst>
          </p:cNvPr>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3ED111BB-DF84-4F58-B786-823E8FDBA444}"/>
              </a:ext>
            </a:extLst>
          </p:cNvPr>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585C16BD-7326-4520-8A0D-21DEA40BCD90}"/>
              </a:ext>
            </a:extLst>
          </p:cNvPr>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0" name="Line 6">
            <a:extLst>
              <a:ext uri="{FF2B5EF4-FFF2-40B4-BE49-F238E27FC236}">
                <a16:creationId xmlns:a16="http://schemas.microsoft.com/office/drawing/2014/main" id="{4FEECE86-85D6-4503-8E41-BA3D1D29C581}"/>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a:extLst>
              <a:ext uri="{FF2B5EF4-FFF2-40B4-BE49-F238E27FC236}">
                <a16:creationId xmlns:a16="http://schemas.microsoft.com/office/drawing/2014/main" id="{A8AF8B84-EECE-43B8-82D5-89568A3D0AF9}"/>
              </a:ext>
            </a:extLst>
          </p:cNvPr>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2" name="Rectangle 8">
            <a:extLst>
              <a:ext uri="{FF2B5EF4-FFF2-40B4-BE49-F238E27FC236}">
                <a16:creationId xmlns:a16="http://schemas.microsoft.com/office/drawing/2014/main" id="{A8BC53B9-C98D-42F0-A4EA-7A43ACEE4E79}"/>
              </a:ext>
            </a:extLst>
          </p:cNvPr>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dirty="0">
              <a:latin typeface="Times New Roman" pitchFamily="18" charset="0"/>
            </a:endParaRPr>
          </a:p>
        </p:txBody>
      </p:sp>
      <p:sp>
        <p:nvSpPr>
          <p:cNvPr id="1033" name="Text Box 9">
            <a:extLst>
              <a:ext uri="{FF2B5EF4-FFF2-40B4-BE49-F238E27FC236}">
                <a16:creationId xmlns:a16="http://schemas.microsoft.com/office/drawing/2014/main" id="{31F5A16B-4537-4ED4-AD9B-027F3994BC40}"/>
              </a:ext>
            </a:extLst>
          </p:cNvPr>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pPr algn="ctr">
                <a:spcBef>
                  <a:spcPct val="50000"/>
                </a:spcBef>
                <a:defRPr/>
              </a:pPr>
              <a:t>‹#›</a:t>
            </a:fld>
            <a:endParaRPr lang="en-US" altLang="en-US" sz="1000" b="1">
              <a:solidFill>
                <a:srgbClr val="006699"/>
              </a:solidFill>
              <a:latin typeface="Helvetica" panose="020B0604020202020204" pitchFamily="34" charset="0"/>
            </a:endParaRPr>
          </a:p>
        </p:txBody>
      </p:sp>
      <p:pic>
        <p:nvPicPr>
          <p:cNvPr id="15" name="Picture 12" descr="dino_6">
            <a:extLst>
              <a:ext uri="{FF2B5EF4-FFF2-40B4-BE49-F238E27FC236}">
                <a16:creationId xmlns:a16="http://schemas.microsoft.com/office/drawing/2014/main" id="{901FEB37-619A-4B90-817B-192FBD65D9E9}"/>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flipH="1">
            <a:off x="827225" y="402614"/>
            <a:ext cx="742670" cy="458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2" descr="dino_3">
            <a:extLst>
              <a:ext uri="{FF2B5EF4-FFF2-40B4-BE49-F238E27FC236}">
                <a16:creationId xmlns:a16="http://schemas.microsoft.com/office/drawing/2014/main" id="{84EE563A-A7EB-41CA-A7E1-A35ECFD283DA}"/>
              </a:ext>
            </a:extLst>
          </p:cNvPr>
          <p:cNvPicPr>
            <a:picLocks noChangeAspect="1" noChangeArrowheads="1"/>
          </p:cNvPicPr>
          <p:nvPr userDrawn="1"/>
        </p:nvPicPr>
        <p:blipFill>
          <a:blip r:embed="rId14">
            <a:extLst>
              <a:ext uri="{BEBA8EAE-BF5A-486C-A8C5-ECC9F3942E4B}">
                <a14:imgProps xmlns:a14="http://schemas.microsoft.com/office/drawing/2010/main">
                  <a14:imgLayer r:embed="rId15">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14300" y="128219"/>
            <a:ext cx="1036732" cy="787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10">
            <a:extLst>
              <a:ext uri="{FF2B5EF4-FFF2-40B4-BE49-F238E27FC236}">
                <a16:creationId xmlns:a16="http://schemas.microsoft.com/office/drawing/2014/main" id="{4E9641C2-8EF5-4484-96FF-B9FACEA4282B}"/>
              </a:ext>
            </a:extLst>
          </p:cNvPr>
          <p:cNvSpPr txBox="1">
            <a:spLocks noChangeArrowheads="1"/>
          </p:cNvSpPr>
          <p:nvPr userDrawn="1"/>
        </p:nvSpPr>
        <p:spPr bwMode="auto">
          <a:xfrm>
            <a:off x="7040516" y="6595087"/>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fa-IR" altLang="en-US" sz="1000" b="1" dirty="0">
                <a:solidFill>
                  <a:srgbClr val="006699"/>
                </a:solidFill>
                <a:latin typeface="Helvetica" pitchFamily="-84" charset="0"/>
                <a:cs typeface="B Nazanin" panose="00000400000000000000" pitchFamily="2" charset="-78"/>
              </a:rPr>
              <a:t>دکتر احمد تقی نژاد ۲۰۲۴</a:t>
            </a:r>
            <a:endParaRPr lang="en-US" altLang="en-US" sz="1000" b="1" dirty="0">
              <a:solidFill>
                <a:srgbClr val="006699"/>
              </a:solidFill>
              <a:latin typeface="Helvetica" pitchFamily="-84" charset="0"/>
              <a:cs typeface="B Nazanin" panose="00000400000000000000" pitchFamily="2" charset="-78"/>
            </a:endParaRPr>
          </a:p>
        </p:txBody>
      </p:sp>
      <p:sp>
        <p:nvSpPr>
          <p:cNvPr id="18" name="Text Box 11">
            <a:extLst>
              <a:ext uri="{FF2B5EF4-FFF2-40B4-BE49-F238E27FC236}">
                <a16:creationId xmlns:a16="http://schemas.microsoft.com/office/drawing/2014/main" id="{1533C1A6-685B-4B50-96BC-0279AFA85781}"/>
              </a:ext>
            </a:extLst>
          </p:cNvPr>
          <p:cNvSpPr txBox="1">
            <a:spLocks noChangeArrowheads="1"/>
          </p:cNvSpPr>
          <p:nvPr userDrawn="1"/>
        </p:nvSpPr>
        <p:spPr bwMode="auto">
          <a:xfrm>
            <a:off x="185738" y="6595087"/>
            <a:ext cx="2125903"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fa-IR" altLang="en-US" sz="1000" b="1" dirty="0">
                <a:solidFill>
                  <a:srgbClr val="006699"/>
                </a:solidFill>
                <a:latin typeface="Helvetica" pitchFamily="-84" charset="0"/>
                <a:cs typeface="B Nazanin" panose="00000400000000000000" pitchFamily="2" charset="-78"/>
              </a:rPr>
              <a:t>مفاهیم سیستم عامل نسخه ۱۰- سیلبرشاتس</a:t>
            </a:r>
            <a:endParaRPr lang="en-US" altLang="en-US" sz="1000" b="1" dirty="0">
              <a:solidFill>
                <a:srgbClr val="006699"/>
              </a:solidFill>
              <a:latin typeface="Helvetica" pitchFamily="-84" charset="0"/>
              <a:cs typeface="B Nazanin" panose="00000400000000000000" pitchFamily="2" charset="-78"/>
            </a:endParaRPr>
          </a:p>
        </p:txBody>
      </p:sp>
      <p:sp>
        <p:nvSpPr>
          <p:cNvPr id="13" name="Freeform: Shape 12">
            <a:extLst>
              <a:ext uri="{FF2B5EF4-FFF2-40B4-BE49-F238E27FC236}">
                <a16:creationId xmlns:a16="http://schemas.microsoft.com/office/drawing/2014/main" id="{8A582FFB-AC6B-4C71-A6E4-A988DE4132D6}"/>
              </a:ext>
            </a:extLst>
          </p:cNvPr>
          <p:cNvSpPr/>
          <p:nvPr userDrawn="1"/>
        </p:nvSpPr>
        <p:spPr bwMode="auto">
          <a:xfrm>
            <a:off x="0" y="6221506"/>
            <a:ext cx="9144000" cy="663389"/>
          </a:xfrm>
          <a:custGeom>
            <a:avLst/>
            <a:gdLst>
              <a:gd name="connsiteX0" fmla="*/ 649468 w 10114548"/>
              <a:gd name="connsiteY0" fmla="*/ 13955 h 584481"/>
              <a:gd name="connsiteX1" fmla="*/ 649468 w 10114548"/>
              <a:gd name="connsiteY1" fmla="*/ 542873 h 584481"/>
              <a:gd name="connsiteX2" fmla="*/ 9354198 w 10114548"/>
              <a:gd name="connsiteY2" fmla="*/ 542873 h 584481"/>
              <a:gd name="connsiteX3" fmla="*/ 9667962 w 10114548"/>
              <a:gd name="connsiteY3" fmla="*/ 480120 h 584481"/>
              <a:gd name="connsiteX4" fmla="*/ 963233 w 10114548"/>
              <a:gd name="connsiteY4" fmla="*/ 533908 h 584481"/>
              <a:gd name="connsiteX5" fmla="*/ 774974 w 10114548"/>
              <a:gd name="connsiteY5" fmla="*/ 184284 h 584481"/>
              <a:gd name="connsiteX6" fmla="*/ 649468 w 10114548"/>
              <a:gd name="connsiteY6" fmla="*/ 13955 h 584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114548" h="584481">
                <a:moveTo>
                  <a:pt x="649468" y="13955"/>
                </a:moveTo>
                <a:cubicBezTo>
                  <a:pt x="628550" y="73720"/>
                  <a:pt x="-801320" y="454720"/>
                  <a:pt x="649468" y="542873"/>
                </a:cubicBezTo>
                <a:cubicBezTo>
                  <a:pt x="2100256" y="631026"/>
                  <a:pt x="7851116" y="553332"/>
                  <a:pt x="9354198" y="542873"/>
                </a:cubicBezTo>
                <a:cubicBezTo>
                  <a:pt x="10857280" y="532414"/>
                  <a:pt x="9667962" y="480120"/>
                  <a:pt x="9667962" y="480120"/>
                </a:cubicBezTo>
                <a:lnTo>
                  <a:pt x="963233" y="533908"/>
                </a:lnTo>
                <a:cubicBezTo>
                  <a:pt x="-518932" y="484602"/>
                  <a:pt x="819798" y="267955"/>
                  <a:pt x="774974" y="184284"/>
                </a:cubicBezTo>
                <a:cubicBezTo>
                  <a:pt x="730151" y="100613"/>
                  <a:pt x="670386" y="-45810"/>
                  <a:pt x="649468" y="13955"/>
                </a:cubicBezTo>
                <a:close/>
              </a:path>
            </a:pathLst>
          </a:cu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10800000" scaled="1"/>
            <a:tileRect/>
          </a:gra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Tree>
  </p:cSld>
  <p:clrMap bg1="lt1" tx1="dk1" bg2="lt2" tx2="dk2" accent1="accent1" accent2="accent2" accent3="accent3" accent4="accent4" accent5="accent5" accent6="accent6" hlink="hlink" folHlink="folHlink"/>
  <p:sldLayoutIdLst>
    <p:sldLayoutId id="2147484350" r:id="rId1"/>
    <p:sldLayoutId id="2147484340" r:id="rId2"/>
    <p:sldLayoutId id="2147484341" r:id="rId3"/>
    <p:sldLayoutId id="2147484342" r:id="rId4"/>
    <p:sldLayoutId id="2147484343" r:id="rId5"/>
    <p:sldLayoutId id="2147484344" r:id="rId6"/>
    <p:sldLayoutId id="2147484345" r:id="rId7"/>
    <p:sldLayoutId id="2147484346" r:id="rId8"/>
    <p:sldLayoutId id="2147484347" r:id="rId9"/>
    <p:sldLayoutId id="2147484348" r:id="rId10"/>
    <p:sldLayoutId id="2147484349"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charset="0"/>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charset="0"/>
        </a:defRPr>
      </a:lvl5pPr>
      <a:lvl6pPr marL="457177" algn="ctr" rtl="0" fontAlgn="base">
        <a:spcBef>
          <a:spcPct val="0"/>
        </a:spcBef>
        <a:spcAft>
          <a:spcPct val="0"/>
        </a:spcAft>
        <a:defRPr sz="3200" b="1">
          <a:solidFill>
            <a:srgbClr val="006699"/>
          </a:solidFill>
          <a:latin typeface="Arial" charset="0"/>
        </a:defRPr>
      </a:lvl6pPr>
      <a:lvl7pPr marL="914354" algn="ctr" rtl="0" fontAlgn="base">
        <a:spcBef>
          <a:spcPct val="0"/>
        </a:spcBef>
        <a:spcAft>
          <a:spcPct val="0"/>
        </a:spcAft>
        <a:defRPr sz="3200" b="1">
          <a:solidFill>
            <a:srgbClr val="006699"/>
          </a:solidFill>
          <a:latin typeface="Arial" charset="0"/>
        </a:defRPr>
      </a:lvl7pPr>
      <a:lvl8pPr marL="1371532" algn="ctr" rtl="0" fontAlgn="base">
        <a:spcBef>
          <a:spcPct val="0"/>
        </a:spcBef>
        <a:spcAft>
          <a:spcPct val="0"/>
        </a:spcAft>
        <a:defRPr sz="3200" b="1">
          <a:solidFill>
            <a:srgbClr val="006699"/>
          </a:solidFill>
          <a:latin typeface="Arial" charset="0"/>
        </a:defRPr>
      </a:lvl8pPr>
      <a:lvl9pPr marL="1828709" algn="ctr" rtl="0" fontAlgn="base">
        <a:spcBef>
          <a:spcPct val="0"/>
        </a:spcBef>
        <a:spcAft>
          <a:spcPct val="0"/>
        </a:spcAft>
        <a:defRPr sz="3200" b="1">
          <a:solidFill>
            <a:srgbClr val="006699"/>
          </a:solidFill>
          <a:latin typeface="Arial" charset="0"/>
        </a:defRPr>
      </a:lvl9pPr>
    </p:titleStyle>
    <p:bodyStyle>
      <a:lvl1pPr marL="341313" indent="-341313"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charset="0"/>
        </a:defRPr>
      </a:lvl1pPr>
      <a:lvl2pPr marL="741363" indent="-284163"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cs typeface="MS PGothic" charset="0"/>
        </a:defRPr>
      </a:lvl2pPr>
      <a:lvl3pPr marL="1084263" indent="-227013"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cs typeface="MS PGothic" charset="0"/>
        </a:defRPr>
      </a:lvl3pPr>
      <a:lvl4pPr marL="1427163" indent="-227013"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cs typeface="MS PGothic" charset="0"/>
        </a:defRPr>
      </a:lvl4pPr>
      <a:lvl5pPr marL="1770063" indent="-227013"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cs typeface="MS PGothic" charset="0"/>
        </a:defRPr>
      </a:lvl5pPr>
      <a:lvl6pPr marL="2228738"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5915"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093"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270" indent="-228589"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177" rtl="0" eaLnBrk="1" latinLnBrk="0" hangingPunct="1">
        <a:defRPr sz="1800" kern="1200">
          <a:solidFill>
            <a:schemeClr val="tx1"/>
          </a:solidFill>
          <a:latin typeface="+mn-lt"/>
          <a:ea typeface="+mn-ea"/>
          <a:cs typeface="+mn-cs"/>
        </a:defRPr>
      </a:lvl1pPr>
      <a:lvl2pPr marL="457177" algn="l" defTabSz="457177" rtl="0" eaLnBrk="1" latinLnBrk="0" hangingPunct="1">
        <a:defRPr sz="1800" kern="1200">
          <a:solidFill>
            <a:schemeClr val="tx1"/>
          </a:solidFill>
          <a:latin typeface="+mn-lt"/>
          <a:ea typeface="+mn-ea"/>
          <a:cs typeface="+mn-cs"/>
        </a:defRPr>
      </a:lvl2pPr>
      <a:lvl3pPr marL="914354" algn="l" defTabSz="457177" rtl="0" eaLnBrk="1" latinLnBrk="0" hangingPunct="1">
        <a:defRPr sz="1800" kern="1200">
          <a:solidFill>
            <a:schemeClr val="tx1"/>
          </a:solidFill>
          <a:latin typeface="+mn-lt"/>
          <a:ea typeface="+mn-ea"/>
          <a:cs typeface="+mn-cs"/>
        </a:defRPr>
      </a:lvl3pPr>
      <a:lvl4pPr marL="1371532" algn="l" defTabSz="457177" rtl="0" eaLnBrk="1" latinLnBrk="0" hangingPunct="1">
        <a:defRPr sz="1800" kern="1200">
          <a:solidFill>
            <a:schemeClr val="tx1"/>
          </a:solidFill>
          <a:latin typeface="+mn-lt"/>
          <a:ea typeface="+mn-ea"/>
          <a:cs typeface="+mn-cs"/>
        </a:defRPr>
      </a:lvl4pPr>
      <a:lvl5pPr marL="1828709" algn="l" defTabSz="457177" rtl="0" eaLnBrk="1" latinLnBrk="0" hangingPunct="1">
        <a:defRPr sz="1800" kern="1200">
          <a:solidFill>
            <a:schemeClr val="tx1"/>
          </a:solidFill>
          <a:latin typeface="+mn-lt"/>
          <a:ea typeface="+mn-ea"/>
          <a:cs typeface="+mn-cs"/>
        </a:defRPr>
      </a:lvl5pPr>
      <a:lvl6pPr marL="2285886" algn="l" defTabSz="457177" rtl="0" eaLnBrk="1" latinLnBrk="0" hangingPunct="1">
        <a:defRPr sz="1800" kern="1200">
          <a:solidFill>
            <a:schemeClr val="tx1"/>
          </a:solidFill>
          <a:latin typeface="+mn-lt"/>
          <a:ea typeface="+mn-ea"/>
          <a:cs typeface="+mn-cs"/>
        </a:defRPr>
      </a:lvl6pPr>
      <a:lvl7pPr marL="2743063" algn="l" defTabSz="457177" rtl="0" eaLnBrk="1" latinLnBrk="0" hangingPunct="1">
        <a:defRPr sz="1800" kern="1200">
          <a:solidFill>
            <a:schemeClr val="tx1"/>
          </a:solidFill>
          <a:latin typeface="+mn-lt"/>
          <a:ea typeface="+mn-ea"/>
          <a:cs typeface="+mn-cs"/>
        </a:defRPr>
      </a:lvl7pPr>
      <a:lvl8pPr marL="3200240" algn="l" defTabSz="457177" rtl="0" eaLnBrk="1" latinLnBrk="0" hangingPunct="1">
        <a:defRPr sz="1800" kern="1200">
          <a:solidFill>
            <a:schemeClr val="tx1"/>
          </a:solidFill>
          <a:latin typeface="+mn-lt"/>
          <a:ea typeface="+mn-ea"/>
          <a:cs typeface="+mn-cs"/>
        </a:defRPr>
      </a:lvl8pPr>
      <a:lvl9pPr marL="3657417" algn="l" defTabSz="4571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4.png"/><Relationship Id="rId26" Type="http://schemas.openxmlformats.org/officeDocument/2006/relationships/image" Target="../media/image18.png"/><Relationship Id="rId39" Type="http://schemas.openxmlformats.org/officeDocument/2006/relationships/customXml" Target="../ink/ink19.xml"/><Relationship Id="rId21" Type="http://schemas.openxmlformats.org/officeDocument/2006/relationships/customXml" Target="../ink/ink10.xml"/><Relationship Id="rId34" Type="http://schemas.openxmlformats.org/officeDocument/2006/relationships/image" Target="../media/image22.png"/><Relationship Id="rId42" Type="http://schemas.openxmlformats.org/officeDocument/2006/relationships/image" Target="../media/image26.png"/><Relationship Id="rId7" Type="http://schemas.openxmlformats.org/officeDocument/2006/relationships/customXml" Target="../ink/ink3.xml"/><Relationship Id="rId2" Type="http://schemas.openxmlformats.org/officeDocument/2006/relationships/notesSlide" Target="../notesSlides/notesSlide26.xml"/><Relationship Id="rId16" Type="http://schemas.openxmlformats.org/officeDocument/2006/relationships/image" Target="../media/image13.png"/><Relationship Id="rId20" Type="http://schemas.openxmlformats.org/officeDocument/2006/relationships/image" Target="../media/image15.png"/><Relationship Id="rId29" Type="http://schemas.openxmlformats.org/officeDocument/2006/relationships/customXml" Target="../ink/ink14.xml"/><Relationship Id="rId41" Type="http://schemas.openxmlformats.org/officeDocument/2006/relationships/customXml" Target="../ink/ink20.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customXml" Target="../ink/ink5.xml"/><Relationship Id="rId24" Type="http://schemas.openxmlformats.org/officeDocument/2006/relationships/image" Target="../media/image17.png"/><Relationship Id="rId32" Type="http://schemas.openxmlformats.org/officeDocument/2006/relationships/image" Target="../media/image21.png"/><Relationship Id="rId37" Type="http://schemas.openxmlformats.org/officeDocument/2006/relationships/customXml" Target="../ink/ink18.xml"/><Relationship Id="rId40" Type="http://schemas.openxmlformats.org/officeDocument/2006/relationships/image" Target="../media/image25.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9.png"/><Relationship Id="rId36" Type="http://schemas.openxmlformats.org/officeDocument/2006/relationships/image" Target="../media/image23.png"/><Relationship Id="rId10" Type="http://schemas.openxmlformats.org/officeDocument/2006/relationships/image" Target="../media/image10.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27.png"/><Relationship Id="rId4" Type="http://schemas.openxmlformats.org/officeDocument/2006/relationships/image" Target="../media/image7.png"/><Relationship Id="rId9" Type="http://schemas.openxmlformats.org/officeDocument/2006/relationships/customXml" Target="../ink/ink4.xml"/><Relationship Id="rId14" Type="http://schemas.openxmlformats.org/officeDocument/2006/relationships/image" Target="../media/image12.png"/><Relationship Id="rId22" Type="http://schemas.openxmlformats.org/officeDocument/2006/relationships/image" Target="../media/image16.png"/><Relationship Id="rId27" Type="http://schemas.openxmlformats.org/officeDocument/2006/relationships/customXml" Target="../ink/ink13.xml"/><Relationship Id="rId30" Type="http://schemas.openxmlformats.org/officeDocument/2006/relationships/image" Target="../media/image20.png"/><Relationship Id="rId35" Type="http://schemas.openxmlformats.org/officeDocument/2006/relationships/customXml" Target="../ink/ink17.xml"/><Relationship Id="rId43" Type="http://schemas.openxmlformats.org/officeDocument/2006/relationships/customXml" Target="../ink/ink21.xml"/><Relationship Id="rId8" Type="http://schemas.openxmlformats.org/officeDocument/2006/relationships/image" Target="../media/image9.png"/><Relationship Id="rId3" Type="http://schemas.openxmlformats.org/officeDocument/2006/relationships/customXml" Target="../ink/ink1.xml"/><Relationship Id="rId12" Type="http://schemas.openxmlformats.org/officeDocument/2006/relationships/image" Target="../media/image11.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38"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customXml" Target="../ink/ink24.xml"/><Relationship Id="rId13" Type="http://schemas.openxmlformats.org/officeDocument/2006/relationships/image" Target="../media/image35.png"/><Relationship Id="rId3" Type="http://schemas.openxmlformats.org/officeDocument/2006/relationships/image" Target="../media/image31.jpeg"/><Relationship Id="rId7" Type="http://schemas.openxmlformats.org/officeDocument/2006/relationships/image" Target="../media/image32.png"/><Relationship Id="rId12" Type="http://schemas.openxmlformats.org/officeDocument/2006/relationships/customXml" Target="../ink/ink26.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customXml" Target="../ink/ink23.xml"/><Relationship Id="rId11" Type="http://schemas.openxmlformats.org/officeDocument/2006/relationships/image" Target="../media/image34.png"/><Relationship Id="rId5" Type="http://schemas.openxmlformats.org/officeDocument/2006/relationships/image" Target="../media/image31.png"/><Relationship Id="rId15" Type="http://schemas.openxmlformats.org/officeDocument/2006/relationships/image" Target="../media/image36.png"/><Relationship Id="rId10" Type="http://schemas.openxmlformats.org/officeDocument/2006/relationships/customXml" Target="../ink/ink25.xml"/><Relationship Id="rId4" Type="http://schemas.openxmlformats.org/officeDocument/2006/relationships/customXml" Target="../ink/ink22.xml"/><Relationship Id="rId9" Type="http://schemas.openxmlformats.org/officeDocument/2006/relationships/image" Target="../media/image33.png"/><Relationship Id="rId14" Type="http://schemas.openxmlformats.org/officeDocument/2006/relationships/customXml" Target="../ink/ink2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DFA84464-F8AB-4CD4-8982-CE48FC8A6BA9}"/>
              </a:ext>
            </a:extLst>
          </p:cNvPr>
          <p:cNvSpPr>
            <a:spLocks noGrp="1" noChangeArrowheads="1"/>
          </p:cNvSpPr>
          <p:nvPr>
            <p:ph type="ctrTitle"/>
          </p:nvPr>
        </p:nvSpPr>
        <p:spPr>
          <a:xfrm>
            <a:off x="685800" y="808038"/>
            <a:ext cx="7772400" cy="2128837"/>
          </a:xfrm>
        </p:spPr>
        <p:txBody>
          <a:bodyPr/>
          <a:lstStyle/>
          <a:p>
            <a:pPr eaLnBrk="1" hangingPunct="1"/>
            <a:r>
              <a:rPr lang="fa-IR" altLang="en-US" dirty="0">
                <a:cs typeface="B Nazanin" panose="00000400000000000000" pitchFamily="2" charset="-78"/>
              </a:rPr>
              <a:t>فصل ۶: ابزار همگام سازی</a:t>
            </a:r>
            <a:endParaRPr lang="en-US" altLang="en-US" dirty="0">
              <a:cs typeface="B Nazanin" panose="000004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1339E344-ED63-45C5-8763-D25780950FC4}"/>
              </a:ext>
            </a:extLst>
          </p:cNvPr>
          <p:cNvSpPr>
            <a:spLocks noGrp="1" noChangeArrowheads="1"/>
          </p:cNvSpPr>
          <p:nvPr>
            <p:ph type="title"/>
          </p:nvPr>
        </p:nvSpPr>
        <p:spPr>
          <a:xfrm>
            <a:off x="1271588" y="220275"/>
            <a:ext cx="7707312" cy="576262"/>
          </a:xfrm>
        </p:spPr>
        <p:txBody>
          <a:bodyPr/>
          <a:lstStyle/>
          <a:p>
            <a:pPr eaLnBrk="1" hangingPunct="1"/>
            <a:r>
              <a:rPr lang="fa-IR" altLang="en-US" dirty="0">
                <a:cs typeface="B Nazanin" panose="00000400000000000000" pitchFamily="2" charset="-78"/>
              </a:rPr>
              <a:t>سرفصل</a:t>
            </a:r>
            <a:endParaRPr lang="en-US" altLang="en-US" dirty="0">
              <a:cs typeface="B Nazanin" panose="00000400000000000000" pitchFamily="2" charset="-78"/>
            </a:endParaRPr>
          </a:p>
        </p:txBody>
      </p:sp>
      <p:sp>
        <p:nvSpPr>
          <p:cNvPr id="7171" name="Rectangle 3">
            <a:extLst>
              <a:ext uri="{FF2B5EF4-FFF2-40B4-BE49-F238E27FC236}">
                <a16:creationId xmlns:a16="http://schemas.microsoft.com/office/drawing/2014/main" id="{5A1B2096-0D34-49D1-9935-542AB89100D0}"/>
              </a:ext>
            </a:extLst>
          </p:cNvPr>
          <p:cNvSpPr>
            <a:spLocks noGrp="1" noChangeArrowheads="1"/>
          </p:cNvSpPr>
          <p:nvPr>
            <p:ph idx="1"/>
          </p:nvPr>
        </p:nvSpPr>
        <p:spPr>
          <a:xfrm>
            <a:off x="839755" y="1165225"/>
            <a:ext cx="7707311" cy="3270250"/>
          </a:xfrm>
        </p:spPr>
        <p:txBody>
          <a:bodyPr/>
          <a:lstStyle/>
          <a:p>
            <a:pPr marL="342900" marR="0" lvl="0" indent="-342900" algn="r" rtl="1">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پیش زمینه</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مشکل بخش بحرانی</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راه حل پترسون</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پشتیبانی سخت افزار برای همگام سازی</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قفل های درگیری متقابل</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(Mutex Locks)</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سیمافورها</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(Semaphores)</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مانیتورها</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(Monitors)</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سرزندگی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(Liveness)</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ارزیابی</a:t>
            </a:r>
            <a:endParaRPr lang="en-US" sz="2400" dirty="0">
              <a:effectLst/>
              <a:latin typeface="Times New Roman" panose="02020603050405020304" pitchFamily="18" charset="0"/>
              <a:ea typeface="Times New Roman" panose="02020603050405020304" pitchFamily="18" charset="0"/>
            </a:endParaRPr>
          </a:p>
          <a:p>
            <a:endParaRPr lang="fa-IR" sz="2400" dirty="0">
              <a:cs typeface="B Nazanin" panose="00000400000000000000" pitchFamily="2" charset="-78"/>
            </a:endParaRPr>
          </a:p>
        </p:txBody>
      </p:sp>
      <p:sp>
        <p:nvSpPr>
          <p:cNvPr id="2" name="Rectangle 5">
            <a:extLst>
              <a:ext uri="{FF2B5EF4-FFF2-40B4-BE49-F238E27FC236}">
                <a16:creationId xmlns:a16="http://schemas.microsoft.com/office/drawing/2014/main" id="{5F7DA2D3-660E-4D2D-B775-C3B09E609BCA}"/>
              </a:ext>
            </a:extLst>
          </p:cNvPr>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9C8EE89-7295-4479-A234-C35555B2F52A}"/>
              </a:ext>
            </a:extLst>
          </p:cNvPr>
          <p:cNvSpPr>
            <a:spLocks noGrp="1"/>
          </p:cNvSpPr>
          <p:nvPr>
            <p:ph type="title"/>
          </p:nvPr>
        </p:nvSpPr>
        <p:spPr>
          <a:xfrm>
            <a:off x="457200" y="223679"/>
            <a:ext cx="8229600" cy="576263"/>
          </a:xfrm>
        </p:spPr>
        <p:txBody>
          <a:bodyPr/>
          <a:lstStyle/>
          <a:p>
            <a:pPr eaLnBrk="1" hangingPunct="1"/>
            <a:r>
              <a:rPr lang="fa-IR" altLang="en-US" dirty="0">
                <a:cs typeface="B Nazanin" panose="00000400000000000000" pitchFamily="2" charset="-78"/>
              </a:rPr>
              <a:t>اهداف</a:t>
            </a:r>
            <a:endParaRPr lang="en-US" altLang="en-US" dirty="0"/>
          </a:p>
        </p:txBody>
      </p:sp>
      <p:sp>
        <p:nvSpPr>
          <p:cNvPr id="9218" name="Content Placeholder 2">
            <a:extLst>
              <a:ext uri="{FF2B5EF4-FFF2-40B4-BE49-F238E27FC236}">
                <a16:creationId xmlns:a16="http://schemas.microsoft.com/office/drawing/2014/main" id="{D194BB06-2708-484A-A48B-C0104FD92DF4}"/>
              </a:ext>
            </a:extLst>
          </p:cNvPr>
          <p:cNvSpPr>
            <a:spLocks noGrp="1"/>
          </p:cNvSpPr>
          <p:nvPr>
            <p:ph idx="1"/>
          </p:nvPr>
        </p:nvSpPr>
        <p:spPr>
          <a:xfrm>
            <a:off x="323273" y="1144588"/>
            <a:ext cx="8647732" cy="5132644"/>
          </a:xfrm>
        </p:spPr>
        <p:txBody>
          <a:bodyPr/>
          <a:lstStyle/>
          <a:p>
            <a:pPr marL="0" marR="0"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در این بخش موارد زیر شرح داده می 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مشکل بخش بحرانی</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و نمایش یک وضعیت مسابقه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(Race Condition)</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راه حل های سخت افزاری برای مشکل بخش بحرانی با استفاده از موانع حافظه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(Memory Barriers)</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عملیات مقایسه و تعویض</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(Compare-and-Swap)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و متغیرهای اتمی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(Atomic Variables)</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چگونگی استفاده از قفل های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انحصار</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متقابل، سمافورها، مانیتورها و متغیرهای شرطی برای حل مشکل بخش بحرانی</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ارزیابی ابزارهایی که مشکل بخش بحرانی را در سناریوهای رقابت کم، متوسط و زیاد حل می کنند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a:extLst>
              <a:ext uri="{FF2B5EF4-FFF2-40B4-BE49-F238E27FC236}">
                <a16:creationId xmlns:a16="http://schemas.microsoft.com/office/drawing/2014/main" id="{1BEBBC13-DD8A-4F8B-B4E0-C68E29E1B96B}"/>
              </a:ext>
            </a:extLst>
          </p:cNvPr>
          <p:cNvSpPr>
            <a:spLocks noGrp="1" noChangeArrowheads="1"/>
          </p:cNvSpPr>
          <p:nvPr>
            <p:ph type="title"/>
          </p:nvPr>
        </p:nvSpPr>
        <p:spPr>
          <a:xfrm>
            <a:off x="784225" y="215318"/>
            <a:ext cx="7902575" cy="576263"/>
          </a:xfrm>
        </p:spPr>
        <p:txBody>
          <a:bodyPr/>
          <a:lstStyle/>
          <a:p>
            <a:pPr eaLnBrk="1" hangingPunct="1"/>
            <a:r>
              <a:rPr lang="fa-IR" altLang="en-US" dirty="0">
                <a:cs typeface="B Nazanin" panose="00000400000000000000" pitchFamily="2" charset="-78"/>
              </a:rPr>
              <a:t>پیش زمینه</a:t>
            </a:r>
            <a:endParaRPr lang="en-US" altLang="en-US" dirty="0"/>
          </a:p>
        </p:txBody>
      </p:sp>
      <p:sp>
        <p:nvSpPr>
          <p:cNvPr id="11266" name="Rectangle 5">
            <a:extLst>
              <a:ext uri="{FF2B5EF4-FFF2-40B4-BE49-F238E27FC236}">
                <a16:creationId xmlns:a16="http://schemas.microsoft.com/office/drawing/2014/main" id="{368FAB7E-F41C-4FB5-A127-15C3BFC35578}"/>
              </a:ext>
            </a:extLst>
          </p:cNvPr>
          <p:cNvSpPr>
            <a:spLocks noGrp="1" noChangeArrowheads="1"/>
          </p:cNvSpPr>
          <p:nvPr>
            <p:ph type="body" idx="1"/>
          </p:nvPr>
        </p:nvSpPr>
        <p:spPr>
          <a:xfrm>
            <a:off x="324986" y="1116492"/>
            <a:ext cx="8494028" cy="4851019"/>
          </a:xfrm>
        </p:spPr>
        <p:txBody>
          <a:bodyPr/>
          <a:lstStyle/>
          <a:p>
            <a:pPr marL="342900" marR="0" lvl="0" indent="-342900" algn="r" rtl="1">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فرایندها می توانند به طور همزمان اجرا شوند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fa-IR" sz="28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ممکن است در هر زمانی قطع شوند و اجرای آنها به طور کامل به پایان نرسد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fa-IR" sz="2800" dirty="0">
              <a:effectLst/>
              <a:latin typeface="Times New Roman" panose="02020603050405020304" pitchFamily="18" charset="0"/>
              <a:ea typeface="Times New Roman" panose="02020603050405020304" pitchFamily="18" charset="0"/>
              <a:cs typeface="B Nazanin" panose="00000400000000000000" pitchFamily="2" charset="-78"/>
            </a:endParaRPr>
          </a:p>
          <a:p>
            <a:pPr marL="342900" marR="0" lvl="0" indent="-342900" algn="r" rtl="1">
              <a:buFont typeface="Wingdings" panose="05000000000000000000" pitchFamily="2" charset="2"/>
              <a:buChar char=""/>
              <a:tabLst>
                <a:tab pos="457200" algn="l"/>
              </a:tabLst>
            </a:pP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دسترسی همزمان به داده های مشترک ممکن است منجر به ناهمگونی داده شود</a:t>
            </a:r>
            <a:endParaRPr lang="fa-IR" sz="2800" dirty="0">
              <a:effectLst/>
              <a:latin typeface="Times New Roman" panose="02020603050405020304" pitchFamily="18" charset="0"/>
              <a:ea typeface="Times New Roman" panose="02020603050405020304" pitchFamily="18" charset="0"/>
              <a:cs typeface="B Nazanin" panose="00000400000000000000" pitchFamily="2" charset="-78"/>
            </a:endParaRPr>
          </a:p>
          <a:p>
            <a:pPr marL="742950" lvl="1" indent="-342900" algn="r" rtl="1">
              <a:buFont typeface="Wingdings" panose="05000000000000000000" pitchFamily="2" charset="2"/>
              <a:buChar char=""/>
              <a:tabLst>
                <a:tab pos="457200" algn="l"/>
              </a:tabLst>
            </a:pP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حفظ انسجام داده به مکانیزم</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هایی برای اطمینان از اجرای منظم فرآیندهای همکاری نیاز دارد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در فصل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۴</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مشکل را زمانی نشان دادیم که مسئله بافر محدود را با استفاده از یک شمارنده در نظر گرفتیم که به طور همزمان توسط تولید کننده و مصرف کننده به روز می شود. این امر منجر به وضعیت مسابقه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(Race Condition)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شد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482B5E1-768E-44E1-9684-3A2EF367E255}"/>
              </a:ext>
            </a:extLst>
          </p:cNvPr>
          <p:cNvSpPr>
            <a:spLocks noGrp="1"/>
          </p:cNvSpPr>
          <p:nvPr>
            <p:ph type="title"/>
          </p:nvPr>
        </p:nvSpPr>
        <p:spPr>
          <a:xfrm>
            <a:off x="457200" y="224522"/>
            <a:ext cx="8229600" cy="576262"/>
          </a:xfrm>
        </p:spPr>
        <p:txBody>
          <a:bodyPr/>
          <a:lstStyle/>
          <a:p>
            <a:r>
              <a:rPr lang="en-US" altLang="en-US" dirty="0"/>
              <a:t>Race Condition</a:t>
            </a:r>
            <a:r>
              <a:rPr lang="fa-IR" altLang="en-US" dirty="0"/>
              <a:t> </a:t>
            </a:r>
            <a:r>
              <a:rPr lang="fa-IR" altLang="en-US" dirty="0">
                <a:cs typeface="B Nazanin" panose="00000400000000000000" pitchFamily="2" charset="-78"/>
              </a:rPr>
              <a:t>شرط مسابقه </a:t>
            </a:r>
            <a:endParaRPr lang="en-US" altLang="en-US" dirty="0"/>
          </a:p>
        </p:txBody>
      </p:sp>
      <p:sp>
        <p:nvSpPr>
          <p:cNvPr id="90114" name="Content Placeholder 2">
            <a:extLst>
              <a:ext uri="{FF2B5EF4-FFF2-40B4-BE49-F238E27FC236}">
                <a16:creationId xmlns:a16="http://schemas.microsoft.com/office/drawing/2014/main" id="{C072253D-19DC-4079-95A8-696F6DDEB146}"/>
              </a:ext>
            </a:extLst>
          </p:cNvPr>
          <p:cNvSpPr>
            <a:spLocks noGrp="1"/>
          </p:cNvSpPr>
          <p:nvPr>
            <p:ph idx="1"/>
          </p:nvPr>
        </p:nvSpPr>
        <p:spPr>
          <a:xfrm>
            <a:off x="806450" y="1137626"/>
            <a:ext cx="7684407" cy="4667250"/>
          </a:xfrm>
        </p:spPr>
        <p:txBody>
          <a:bodyPr/>
          <a:lstStyle/>
          <a:p>
            <a:pPr marL="342900" marR="0" lvl="0" indent="-342900" algn="r" rtl="1">
              <a:buFont typeface="Wingdings" panose="05000000000000000000" pitchFamily="2"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فرآیندهای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P0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P1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با استفاده از فراخوانی سیستمی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fork()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فرآیندهای فرزند ایجاد می کنند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وضعیت مسابقه بر روی متغیر هسته ای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000" dirty="0" err="1">
                <a:effectLst/>
                <a:latin typeface="Times New Roman" panose="02020603050405020304" pitchFamily="18" charset="0"/>
                <a:ea typeface="Times New Roman" panose="02020603050405020304" pitchFamily="18" charset="0"/>
                <a:cs typeface="B Nazanin" panose="00000400000000000000" pitchFamily="2" charset="-78"/>
              </a:rPr>
              <a:t>next_available_pid</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که نشان دهنده شناسه فرآیند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000" dirty="0" err="1">
                <a:effectLst/>
                <a:latin typeface="Times New Roman" panose="02020603050405020304" pitchFamily="18" charset="0"/>
                <a:ea typeface="Times New Roman" panose="02020603050405020304" pitchFamily="18" charset="0"/>
                <a:cs typeface="B Nazanin" panose="00000400000000000000" pitchFamily="2" charset="-78"/>
              </a:rPr>
              <a:t>pid</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در دسترس بعدی است، رخ می دهد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endParaRPr>
          </a:p>
          <a:p>
            <a:br>
              <a:rPr lang="en-US" altLang="en-US" sz="2000" dirty="0"/>
            </a:br>
            <a:br>
              <a:rPr lang="en-US" altLang="en-US" sz="2000" dirty="0"/>
            </a:br>
            <a:br>
              <a:rPr lang="en-US" altLang="en-US" sz="2000" dirty="0"/>
            </a:br>
            <a:br>
              <a:rPr lang="en-US" altLang="en-US" sz="2000" dirty="0"/>
            </a:br>
            <a:br>
              <a:rPr lang="en-US" altLang="en-US" sz="2000" dirty="0"/>
            </a:br>
            <a:br>
              <a:rPr lang="en-US" altLang="en-US" sz="2000" dirty="0"/>
            </a:br>
            <a:br>
              <a:rPr lang="en-US" altLang="en-US" sz="2000" dirty="0"/>
            </a:br>
            <a:br>
              <a:rPr lang="en-US" altLang="en-US" sz="2000" dirty="0"/>
            </a:br>
            <a:endParaRPr lang="en-US" altLang="en-US" sz="2000" dirty="0"/>
          </a:p>
          <a:p>
            <a:pPr marL="342900" marR="0" lvl="0" indent="-342900" algn="r" rtl="1">
              <a:buFont typeface="Wingdings" panose="05000000000000000000" pitchFamily="2"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اگر مکانیزمی برای جلوگیری از دسترسی همزمان فرآیندهای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P0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P1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به متغیر</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000" dirty="0" err="1">
                <a:effectLst/>
                <a:latin typeface="Times New Roman" panose="02020603050405020304" pitchFamily="18" charset="0"/>
                <a:ea typeface="Times New Roman" panose="02020603050405020304" pitchFamily="18" charset="0"/>
                <a:cs typeface="B Nazanin" panose="00000400000000000000" pitchFamily="2" charset="-78"/>
              </a:rPr>
              <a:t>next_available_pid</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وجود نداشته باشد، یک شناسه فرآیند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000" dirty="0" err="1">
                <a:effectLst/>
                <a:latin typeface="Times New Roman" panose="02020603050405020304" pitchFamily="18" charset="0"/>
                <a:ea typeface="Times New Roman" panose="02020603050405020304" pitchFamily="18" charset="0"/>
                <a:cs typeface="B Nazanin" panose="00000400000000000000" pitchFamily="2" charset="-78"/>
              </a:rPr>
              <a:t>pid</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یکسان می تواند به دو فرآیند مختلف اختصاص یابد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endParaRPr>
          </a:p>
          <a:p>
            <a:endParaRPr lang="en-US" altLang="en-US" sz="2000" dirty="0"/>
          </a:p>
        </p:txBody>
      </p:sp>
      <p:pic>
        <p:nvPicPr>
          <p:cNvPr id="90115" name="Picture 3">
            <a:extLst>
              <a:ext uri="{FF2B5EF4-FFF2-40B4-BE49-F238E27FC236}">
                <a16:creationId xmlns:a16="http://schemas.microsoft.com/office/drawing/2014/main" id="{9A24033E-60D2-44D6-A559-9793D47AB9E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58530" y="2752623"/>
            <a:ext cx="4238625" cy="264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241C86DA-5745-4F87-B29A-C8244F473A73}"/>
              </a:ext>
            </a:extLst>
          </p:cNvPr>
          <p:cNvSpPr>
            <a:spLocks noGrp="1"/>
          </p:cNvSpPr>
          <p:nvPr>
            <p:ph type="title"/>
          </p:nvPr>
        </p:nvSpPr>
        <p:spPr>
          <a:xfrm>
            <a:off x="457200" y="190694"/>
            <a:ext cx="8229600" cy="576262"/>
          </a:xfrm>
        </p:spPr>
        <p:txBody>
          <a:bodyPr/>
          <a:lstStyle/>
          <a:p>
            <a:r>
              <a:rPr lang="fa-IR" altLang="en-US" dirty="0">
                <a:cs typeface="B Nazanin" panose="00000400000000000000" pitchFamily="2" charset="-78"/>
              </a:rPr>
              <a:t>مسئله </a:t>
            </a: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ناحیه</a:t>
            </a:r>
            <a:r>
              <a:rPr lang="fa-IR" altLang="en-US" dirty="0">
                <a:cs typeface="B Nazanin" panose="00000400000000000000" pitchFamily="2" charset="-78"/>
              </a:rPr>
              <a:t> بحرانی</a:t>
            </a:r>
            <a:endParaRPr lang="en-US" altLang="en-US" dirty="0"/>
          </a:p>
        </p:txBody>
      </p:sp>
      <p:sp>
        <p:nvSpPr>
          <p:cNvPr id="19458" name="Content Placeholder 2">
            <a:extLst>
              <a:ext uri="{FF2B5EF4-FFF2-40B4-BE49-F238E27FC236}">
                <a16:creationId xmlns:a16="http://schemas.microsoft.com/office/drawing/2014/main" id="{B338794A-A20C-44DB-8F23-B3455E712537}"/>
              </a:ext>
            </a:extLst>
          </p:cNvPr>
          <p:cNvSpPr>
            <a:spLocks noGrp="1"/>
          </p:cNvSpPr>
          <p:nvPr>
            <p:ph idx="1"/>
          </p:nvPr>
        </p:nvSpPr>
        <p:spPr>
          <a:xfrm>
            <a:off x="241069" y="1159881"/>
            <a:ext cx="8445731" cy="4993784"/>
          </a:xfrm>
        </p:spPr>
        <p:txBody>
          <a:bodyPr/>
          <a:lstStyle/>
          <a:p>
            <a:pPr marL="34290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سیستم با</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n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فرآیند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altLang="en-US" sz="2400" dirty="0"/>
              <a:t>{</a:t>
            </a:r>
            <a:r>
              <a:rPr lang="en-US" altLang="en-US" sz="2400" i="1" dirty="0"/>
              <a:t>p</a:t>
            </a:r>
            <a:r>
              <a:rPr lang="en-US" altLang="en-US" sz="2400" i="1" baseline="-25000" dirty="0"/>
              <a:t>0</a:t>
            </a:r>
            <a:r>
              <a:rPr lang="en-US" altLang="en-US" sz="2400" i="1" dirty="0"/>
              <a:t>, p</a:t>
            </a:r>
            <a:r>
              <a:rPr lang="en-US" altLang="en-US" sz="2400" i="1" baseline="-25000" dirty="0"/>
              <a:t>1</a:t>
            </a:r>
            <a:r>
              <a:rPr lang="en-US" altLang="en-US" sz="2400" i="1" dirty="0"/>
              <a:t>, … p</a:t>
            </a:r>
            <a:r>
              <a:rPr lang="en-US" altLang="en-US" sz="2400" i="1" baseline="-25000" dirty="0"/>
              <a:t>n-1</a:t>
            </a:r>
            <a:r>
              <a:rPr lang="en-US" altLang="en-US" sz="2400" dirty="0"/>
              <a:t>}</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در نظر بگیرید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هر فرآیند دارای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ناحیه</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بحرانی از کد است</a:t>
            </a:r>
            <a:r>
              <a:rPr lang="fa-IR" sz="2400" dirty="0">
                <a:latin typeface="Times New Roman" panose="02020603050405020304" pitchFamily="18" charset="0"/>
                <a:ea typeface="Times New Roman" panose="02020603050405020304" pitchFamily="18" charset="0"/>
                <a:cs typeface="B Nazanin" panose="00000400000000000000" pitchFamily="2" charset="-78"/>
              </a:rPr>
              <a:t> که شامل دسترسی و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تغییر متغیرهای مشترک، به‌روزرسانی جدول، نوشتن فایل و غیره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می‌</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باشد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هنگامی که یک فرآیند در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ناحیه</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بحرانی است، هیچ فرآیند دیگری نمی تواند در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ناحیه</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بحرانی خود باشد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742950" lvl="1" indent="-342900" algn="r" rtl="1">
              <a:buFont typeface="Wingdings" panose="05000000000000000000" pitchFamily="2" charset="2"/>
              <a:buChar char=""/>
              <a:tabLst>
                <a:tab pos="457200" algn="l"/>
              </a:tabLst>
            </a:pP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مسئله</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ناحیه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بحرانی طراحی یک پروتکل برای حل این موضوع 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هر فرآیند باید در بخش ورود،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مجوز ورود به بخش بحرانی را درخواست کند</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پس از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ناحیه</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بحرانی ممکن است بخش خروج را دنبال کند و سپس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ناحیه</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باقیمانده را اجرا نماید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0" indent="0">
              <a:buNone/>
            </a:pPr>
            <a:endParaRPr lang="en-US" altLang="en-US" sz="2400" b="1" dirty="0">
              <a:solidFill>
                <a:srgbClr val="3366FF"/>
              </a:solidFill>
            </a:endParaRPr>
          </a:p>
          <a:p>
            <a:pPr>
              <a:buFont typeface="Monotype Sorts" pitchFamily="-84" charset="2"/>
              <a:buNone/>
            </a:pPr>
            <a:endParaRPr lang="en-US" altLang="en-US" sz="2400" b="1" dirty="0">
              <a:solidFill>
                <a:srgbClr val="006699"/>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4C7F20DE-D280-45CC-980B-BCB54111250C}"/>
              </a:ext>
            </a:extLst>
          </p:cNvPr>
          <p:cNvSpPr>
            <a:spLocks noGrp="1"/>
          </p:cNvSpPr>
          <p:nvPr>
            <p:ph type="title"/>
          </p:nvPr>
        </p:nvSpPr>
        <p:spPr>
          <a:xfrm>
            <a:off x="457200" y="216906"/>
            <a:ext cx="8229600" cy="576262"/>
          </a:xfrm>
        </p:spPr>
        <p:txBody>
          <a:bodyPr/>
          <a:lstStyle/>
          <a:p>
            <a:r>
              <a:rPr lang="fa-IR" altLang="en-US" dirty="0">
                <a:cs typeface="B Nazanin" panose="00000400000000000000" pitchFamily="2" charset="-78"/>
              </a:rPr>
              <a:t>بخش بحرانی</a:t>
            </a:r>
            <a:endParaRPr lang="en-US" altLang="en-US" dirty="0"/>
          </a:p>
        </p:txBody>
      </p:sp>
      <p:sp>
        <p:nvSpPr>
          <p:cNvPr id="20482" name="Content Placeholder 2">
            <a:extLst>
              <a:ext uri="{FF2B5EF4-FFF2-40B4-BE49-F238E27FC236}">
                <a16:creationId xmlns:a16="http://schemas.microsoft.com/office/drawing/2014/main" id="{F974E91A-239B-4390-9863-29FFA57CC958}"/>
              </a:ext>
            </a:extLst>
          </p:cNvPr>
          <p:cNvSpPr>
            <a:spLocks noGrp="1"/>
          </p:cNvSpPr>
          <p:nvPr>
            <p:ph idx="1"/>
          </p:nvPr>
        </p:nvSpPr>
        <p:spPr/>
        <p:txBody>
          <a:bodyPr/>
          <a:lstStyle/>
          <a:p>
            <a:r>
              <a:rPr lang="en-US" altLang="en-US" dirty="0"/>
              <a:t>General structure of process </a:t>
            </a:r>
            <a:r>
              <a:rPr lang="en-US" altLang="en-US" b="1" i="1" dirty="0"/>
              <a:t>P</a:t>
            </a:r>
            <a:r>
              <a:rPr lang="en-US" altLang="en-US" b="1" i="1" baseline="-25000" dirty="0"/>
              <a:t>i  </a:t>
            </a:r>
            <a:endParaRPr lang="en-US" altLang="en-US" dirty="0"/>
          </a:p>
          <a:p>
            <a:endParaRPr lang="en-US" altLang="en-US" b="1" dirty="0">
              <a:solidFill>
                <a:srgbClr val="0000FF"/>
              </a:solidFill>
            </a:endParaRPr>
          </a:p>
        </p:txBody>
      </p:sp>
      <p:pic>
        <p:nvPicPr>
          <p:cNvPr id="3" name="Picture 2" descr="Text&#10;&#10;Description automatically generated">
            <a:extLst>
              <a:ext uri="{FF2B5EF4-FFF2-40B4-BE49-F238E27FC236}">
                <a16:creationId xmlns:a16="http://schemas.microsoft.com/office/drawing/2014/main" id="{28575814-05D6-4140-9987-D9F185C76491}"/>
              </a:ext>
            </a:extLst>
          </p:cNvPr>
          <p:cNvPicPr>
            <a:picLocks noChangeAspect="1"/>
          </p:cNvPicPr>
          <p:nvPr/>
        </p:nvPicPr>
        <p:blipFill>
          <a:blip r:embed="rId3"/>
          <a:stretch>
            <a:fillRect/>
          </a:stretch>
        </p:blipFill>
        <p:spPr>
          <a:xfrm>
            <a:off x="1979960" y="1943900"/>
            <a:ext cx="2708224" cy="2628099"/>
          </a:xfrm>
          <a:prstGeom prst="rect">
            <a:avLst/>
          </a:prstGeom>
        </p:spPr>
      </p:pic>
      <p:sp>
        <p:nvSpPr>
          <p:cNvPr id="6" name="TextBox 5">
            <a:extLst>
              <a:ext uri="{FF2B5EF4-FFF2-40B4-BE49-F238E27FC236}">
                <a16:creationId xmlns:a16="http://schemas.microsoft.com/office/drawing/2014/main" id="{CE712A41-83F2-4C57-A0CF-BF5F48407528}"/>
              </a:ext>
            </a:extLst>
          </p:cNvPr>
          <p:cNvSpPr txBox="1"/>
          <p:nvPr/>
        </p:nvSpPr>
        <p:spPr>
          <a:xfrm>
            <a:off x="4441074" y="2888617"/>
            <a:ext cx="1311333" cy="369332"/>
          </a:xfrm>
          <a:prstGeom prst="rect">
            <a:avLst/>
          </a:prstGeom>
          <a:noFill/>
        </p:spPr>
        <p:txBody>
          <a:bodyPr wrap="square">
            <a:spAutoFit/>
          </a:bodyPr>
          <a:lstStyle/>
          <a:p>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ناحیه</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بحرانی </a:t>
            </a:r>
            <a:endParaRPr lang="en-US" dirty="0"/>
          </a:p>
        </p:txBody>
      </p:sp>
      <p:sp>
        <p:nvSpPr>
          <p:cNvPr id="7" name="TextBox 6">
            <a:extLst>
              <a:ext uri="{FF2B5EF4-FFF2-40B4-BE49-F238E27FC236}">
                <a16:creationId xmlns:a16="http://schemas.microsoft.com/office/drawing/2014/main" id="{A86CE1EE-8C04-4216-A6C1-DFFF9C696BE2}"/>
              </a:ext>
            </a:extLst>
          </p:cNvPr>
          <p:cNvSpPr txBox="1"/>
          <p:nvPr/>
        </p:nvSpPr>
        <p:spPr>
          <a:xfrm>
            <a:off x="4441074" y="3360976"/>
            <a:ext cx="1311333" cy="369332"/>
          </a:xfrm>
          <a:prstGeom prst="rect">
            <a:avLst/>
          </a:prstGeom>
          <a:noFill/>
        </p:spPr>
        <p:txBody>
          <a:bodyPr wrap="square">
            <a:spAutoFit/>
          </a:bodyPr>
          <a:lstStyle/>
          <a:p>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ناحیه خروجی</a:t>
            </a:r>
            <a:endParaRPr lang="en-US" dirty="0"/>
          </a:p>
        </p:txBody>
      </p:sp>
      <p:sp>
        <p:nvSpPr>
          <p:cNvPr id="8" name="TextBox 7">
            <a:extLst>
              <a:ext uri="{FF2B5EF4-FFF2-40B4-BE49-F238E27FC236}">
                <a16:creationId xmlns:a16="http://schemas.microsoft.com/office/drawing/2014/main" id="{CC67F22A-36D8-469A-A98B-E15EDA34C131}"/>
              </a:ext>
            </a:extLst>
          </p:cNvPr>
          <p:cNvSpPr txBox="1"/>
          <p:nvPr/>
        </p:nvSpPr>
        <p:spPr>
          <a:xfrm>
            <a:off x="4441074" y="2348745"/>
            <a:ext cx="1311333" cy="369332"/>
          </a:xfrm>
          <a:prstGeom prst="rect">
            <a:avLst/>
          </a:prstGeom>
          <a:noFill/>
        </p:spPr>
        <p:txBody>
          <a:bodyPr wrap="square">
            <a:spAutoFit/>
          </a:bodyPr>
          <a:lstStyle/>
          <a:p>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ناحیه ورودی</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0492801-590C-4595-B50B-48839BE59B60}"/>
              </a:ext>
            </a:extLst>
          </p:cNvPr>
          <p:cNvSpPr>
            <a:spLocks noGrp="1" noChangeArrowheads="1"/>
          </p:cNvSpPr>
          <p:nvPr>
            <p:ph type="title"/>
          </p:nvPr>
        </p:nvSpPr>
        <p:spPr>
          <a:xfrm>
            <a:off x="821095" y="223256"/>
            <a:ext cx="8081606" cy="576262"/>
          </a:xfrm>
        </p:spPr>
        <p:txBody>
          <a:bodyPr/>
          <a:lstStyle/>
          <a:p>
            <a:pPr eaLnBrk="1" hangingPunct="1"/>
            <a:r>
              <a:rPr lang="fa-IR" altLang="en-US" dirty="0">
                <a:cs typeface="B Nazanin" panose="00000400000000000000" pitchFamily="2" charset="-78"/>
              </a:rPr>
              <a:t>بخش بحرانی (ادامه)</a:t>
            </a:r>
            <a:endParaRPr lang="en-US" altLang="en-US" dirty="0"/>
          </a:p>
        </p:txBody>
      </p:sp>
      <mc:AlternateContent xmlns:mc="http://schemas.openxmlformats.org/markup-compatibility/2006" xmlns:a14="http://schemas.microsoft.com/office/drawing/2010/main">
        <mc:Choice Requires="a14">
          <p:sp>
            <p:nvSpPr>
              <p:cNvPr id="21506" name="Rectangle 3">
                <a:extLst>
                  <a:ext uri="{FF2B5EF4-FFF2-40B4-BE49-F238E27FC236}">
                    <a16:creationId xmlns:a16="http://schemas.microsoft.com/office/drawing/2014/main" id="{34120D2B-C00D-4788-A304-48C827DAAA2A}"/>
                  </a:ext>
                </a:extLst>
              </p:cNvPr>
              <p:cNvSpPr>
                <a:spLocks noGrp="1" noChangeArrowheads="1"/>
              </p:cNvSpPr>
              <p:nvPr>
                <p:ph idx="1"/>
              </p:nvPr>
            </p:nvSpPr>
            <p:spPr>
              <a:xfrm>
                <a:off x="304800" y="1071418"/>
                <a:ext cx="8566053" cy="5112823"/>
              </a:xfrm>
            </p:spPr>
            <p:txBody>
              <a:bodyPr/>
              <a:lstStyle/>
              <a:p>
                <a:pPr marL="0" marR="0" algn="r" rtl="1">
                  <a:lnSpc>
                    <a:spcPct val="107000"/>
                  </a:lnSpc>
                  <a:spcBef>
                    <a:spcPts val="0"/>
                  </a:spcBef>
                  <a:spcAft>
                    <a:spcPts val="800"/>
                  </a:spcAft>
                </a:pPr>
                <a:r>
                  <a:rPr lang="fa-IR" sz="2000" b="1" dirty="0">
                    <a:effectLst/>
                    <a:latin typeface="Times New Roman" panose="02020603050405020304" pitchFamily="18" charset="0"/>
                    <a:ea typeface="Times New Roman" panose="02020603050405020304" pitchFamily="18" charset="0"/>
                    <a:cs typeface="B Nazanin" panose="00000400000000000000" pitchFamily="2" charset="-78"/>
                  </a:rPr>
                  <a:t>راه‌کار مسئله ناحیه بحرانی باید این نیازمندهای را برآورده کند.</a:t>
                </a:r>
                <a:endParaRPr lang="en-US" sz="2000" b="1" dirty="0">
                  <a:effectLst/>
                  <a:latin typeface="Times New Roman" panose="02020603050405020304" pitchFamily="18" charset="0"/>
                  <a:ea typeface="Times New Roman" panose="02020603050405020304" pitchFamily="18" charset="0"/>
                  <a:cs typeface="B Nazanin" panose="00000400000000000000" pitchFamily="2" charset="-78"/>
                </a:endParaRPr>
              </a:p>
              <a:p>
                <a:pPr marL="400050" lvl="1" algn="r" rtl="1">
                  <a:lnSpc>
                    <a:spcPct val="107000"/>
                  </a:lnSpc>
                  <a:spcBef>
                    <a:spcPts val="0"/>
                  </a:spcBef>
                  <a:spcAft>
                    <a:spcPts val="800"/>
                  </a:spcAft>
                </a:pPr>
                <a:r>
                  <a:rPr lang="fa-IR" sz="2000" b="1" dirty="0">
                    <a:effectLst/>
                    <a:latin typeface="Times New Roman" panose="02020603050405020304" pitchFamily="18" charset="0"/>
                    <a:ea typeface="Times New Roman" panose="02020603050405020304" pitchFamily="18" charset="0"/>
                    <a:cs typeface="B Nazanin" panose="00000400000000000000" pitchFamily="2" charset="-78"/>
                  </a:rPr>
                  <a:t>۱-</a:t>
                </a: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قاعده </a:t>
                </a:r>
                <a:r>
                  <a:rPr lang="fa-IR" sz="2000" b="1" dirty="0">
                    <a:latin typeface="Times New Roman" panose="02020603050405020304" pitchFamily="18" charset="0"/>
                    <a:ea typeface="Times New Roman" panose="02020603050405020304" pitchFamily="18" charset="0"/>
                    <a:cs typeface="B Nazanin" panose="00000400000000000000" pitchFamily="2" charset="-78"/>
                  </a:rPr>
                  <a:t>انحصار</a:t>
                </a: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 متقابل</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 (Mutual Exclusion)</a:t>
                </a:r>
                <a:endParaRPr lang="fa-IR" sz="2000" dirty="0">
                  <a:latin typeface="Calibri" panose="020F0502020204030204" pitchFamily="34" charset="0"/>
                  <a:ea typeface="Times New Roman" panose="02020603050405020304" pitchFamily="18" charset="0"/>
                  <a:cs typeface="Arial" panose="020B0604020202020204" pitchFamily="34" charset="0"/>
                </a:endParaRPr>
              </a:p>
              <a:p>
                <a:pPr marL="742950" lvl="2" algn="r" rtl="1">
                  <a:lnSpc>
                    <a:spcPct val="107000"/>
                  </a:lnSpc>
                  <a:spcBef>
                    <a:spcPts val="0"/>
                  </a:spcBef>
                  <a:spcAft>
                    <a:spcPts val="800"/>
                  </a:spcAf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اگر فرآیند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14:m>
                  <m:oMath xmlns:m="http://schemas.openxmlformats.org/officeDocument/2006/math">
                    <m:sSub>
                      <m:sSubPr>
                        <m:ctrlPr>
                          <a:rPr lang="en-US" sz="2000" i="1" dirty="0" smtClean="0">
                            <a:latin typeface="Cambria Math" panose="02040503050406030204" pitchFamily="18" charset="0"/>
                            <a:ea typeface="Times New Roman" panose="02020603050405020304" pitchFamily="18" charset="0"/>
                            <a:cs typeface="B Nazanin" panose="00000400000000000000" pitchFamily="2" charset="-78"/>
                          </a:rPr>
                        </m:ctrlPr>
                      </m:sSubPr>
                      <m:e>
                        <m:r>
                          <a:rPr lang="en-US" sz="2000" i="1" dirty="0" smtClean="0">
                            <a:latin typeface="Cambria Math" panose="02040503050406030204" pitchFamily="18" charset="0"/>
                            <a:ea typeface="Times New Roman" panose="02020603050405020304" pitchFamily="18" charset="0"/>
                            <a:cs typeface="B Nazanin" panose="00000400000000000000" pitchFamily="2" charset="-78"/>
                          </a:rPr>
                          <m:t>𝑃</m:t>
                        </m:r>
                      </m:e>
                      <m:sub>
                        <m:r>
                          <a:rPr lang="en-US" sz="2000" i="1" dirty="0" err="1">
                            <a:latin typeface="Cambria Math" panose="02040503050406030204" pitchFamily="18" charset="0"/>
                            <a:ea typeface="Times New Roman" panose="02020603050405020304" pitchFamily="18" charset="0"/>
                            <a:cs typeface="B Nazanin" panose="00000400000000000000" pitchFamily="2" charset="-78"/>
                          </a:rPr>
                          <m:t>𝑖</m:t>
                        </m:r>
                      </m:sub>
                    </m:sSub>
                  </m:oMath>
                </a14:m>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در حال اجرای بخش بحرانی خود است، پس هیچ فرآیند دیگری نمی تواند بخش بحرانی خود را اجرا کند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400050" lvl="1" algn="r" rtl="1">
                  <a:lnSpc>
                    <a:spcPct val="107000"/>
                  </a:lnSpc>
                  <a:spcBef>
                    <a:spcPts val="0"/>
                  </a:spcBef>
                  <a:spcAft>
                    <a:spcPts val="800"/>
                  </a:spcAft>
                </a:pPr>
                <a:r>
                  <a:rPr lang="fa-IR" sz="2000" b="1" dirty="0">
                    <a:effectLst/>
                    <a:latin typeface="Times New Roman" panose="02020603050405020304" pitchFamily="18" charset="0"/>
                    <a:ea typeface="Times New Roman" panose="02020603050405020304" pitchFamily="18" charset="0"/>
                    <a:cs typeface="B Nazanin" panose="00000400000000000000" pitchFamily="2" charset="-78"/>
                  </a:rPr>
                  <a:t>۲- </a:t>
                </a: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پیشرفت</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 (Progress)</a:t>
                </a:r>
                <a:endParaRPr lang="fa-IR" sz="2000" dirty="0">
                  <a:latin typeface="Calibri" panose="020F0502020204030204" pitchFamily="34" charset="0"/>
                  <a:ea typeface="Times New Roman" panose="02020603050405020304" pitchFamily="18" charset="0"/>
                  <a:cs typeface="Arial" panose="020B0604020202020204" pitchFamily="34" charset="0"/>
                </a:endParaRPr>
              </a:p>
              <a:p>
                <a:pPr marL="742950" lvl="2" algn="r" rtl="1">
                  <a:lnSpc>
                    <a:spcPct val="107000"/>
                  </a:lnSpc>
                  <a:spcBef>
                    <a:spcPts val="0"/>
                  </a:spcBef>
                  <a:spcAft>
                    <a:spcPts val="800"/>
                  </a:spcAft>
                </a:pPr>
                <a:r>
                  <a:rPr lang="fa-IR" sz="2000" dirty="0">
                    <a:latin typeface="Times New Roman" panose="02020603050405020304" pitchFamily="18" charset="0"/>
                    <a:cs typeface="B Nazanin" panose="00000400000000000000" pitchFamily="2" charset="-78"/>
                  </a:rPr>
                  <a:t>اگر پردازشی در قسمت باقی مانده خود باشد در تصمیم گیری اینکه کدام پردازش وارد بخش بحرانی شود شرکت نمی‌کند. یعنی هیچ پردازشی نباید خارج از ناحیه بحرانی خود امکان بلوکه کردن پرداش‌های دیگر را داشته‌باشد.</a:t>
                </a:r>
              </a:p>
              <a:p>
                <a:pPr marL="400050" lvl="1" algn="r" rtl="1">
                  <a:lnSpc>
                    <a:spcPct val="107000"/>
                  </a:lnSpc>
                  <a:spcBef>
                    <a:spcPts val="0"/>
                  </a:spcBef>
                  <a:spcAft>
                    <a:spcPts val="800"/>
                  </a:spcAft>
                </a:pPr>
                <a:r>
                  <a:rPr lang="fa-IR" sz="2000" b="1" dirty="0">
                    <a:effectLst/>
                    <a:latin typeface="Times New Roman" panose="02020603050405020304" pitchFamily="18" charset="0"/>
                    <a:ea typeface="Times New Roman" panose="02020603050405020304" pitchFamily="18" charset="0"/>
                    <a:cs typeface="B Nazanin" panose="00000400000000000000" pitchFamily="2" charset="-78"/>
                  </a:rPr>
                  <a:t>۳- </a:t>
                </a: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انتظار محدود</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 (Bounded Waiting)</a:t>
                </a:r>
                <a:endParaRPr lang="fa-IR" sz="2000" b="1" dirty="0">
                  <a:effectLst/>
                  <a:latin typeface="Times New Roman" panose="02020603050405020304" pitchFamily="18" charset="0"/>
                  <a:ea typeface="Times New Roman" panose="02020603050405020304" pitchFamily="18" charset="0"/>
                  <a:cs typeface="B Nazanin" panose="00000400000000000000" pitchFamily="2" charset="-78"/>
                </a:endParaRPr>
              </a:p>
              <a:p>
                <a:pPr marL="742950" lvl="2" algn="r" rtl="1">
                  <a:lnSpc>
                    <a:spcPct val="107000"/>
                  </a:lnSpc>
                  <a:spcBef>
                    <a:spcPts val="0"/>
                  </a:spcBef>
                  <a:spcAft>
                    <a:spcPts val="800"/>
                  </a:spcAft>
                </a:pPr>
                <a:r>
                  <a:rPr lang="fa-IR" sz="2000" dirty="0">
                    <a:effectLst/>
                    <a:latin typeface="Times New Roman" panose="02020603050405020304" pitchFamily="18" charset="0"/>
                    <a:ea typeface="Calibri" panose="020F0502020204030204" pitchFamily="34" charset="0"/>
                    <a:cs typeface="B Nazanin" panose="00000400000000000000" pitchFamily="2" charset="-78"/>
                  </a:rPr>
                  <a:t>یک‌ب</a:t>
                </a:r>
                <a:r>
                  <a:rPr lang="fa-IR" sz="2000" dirty="0">
                    <a:latin typeface="Times New Roman" panose="02020603050405020304" pitchFamily="18" charset="0"/>
                    <a:ea typeface="Calibri" panose="020F0502020204030204" pitchFamily="34" charset="0"/>
                    <a:cs typeface="B Nazanin" panose="00000400000000000000" pitchFamily="2" charset="-78"/>
                  </a:rPr>
                  <a:t>رنامه منتظر برای ورود به ناحیه بحرانی نباید به‌طور نامحدود منتظر بماند.</a:t>
                </a:r>
                <a:endParaRPr lang="fa-IR" sz="2000" dirty="0">
                  <a:latin typeface="Calibri" panose="020F0502020204030204" pitchFamily="34" charset="0"/>
                  <a:ea typeface="Calibri" panose="020F0502020204030204" pitchFamily="34" charset="0"/>
                  <a:cs typeface="Arial" panose="020B0604020202020204" pitchFamily="34" charset="0"/>
                </a:endParaRPr>
              </a:p>
              <a:p>
                <a:pPr marL="400050" lvl="1" algn="r" rtl="1">
                  <a:lnSpc>
                    <a:spcPct val="107000"/>
                  </a:lnSpc>
                  <a:spcBef>
                    <a:spcPts val="0"/>
                  </a:spcBef>
                  <a:spcAft>
                    <a:spcPts val="800"/>
                  </a:spcAft>
                </a:pPr>
                <a:r>
                  <a:rPr lang="fa-IR" sz="2000" b="1" dirty="0">
                    <a:latin typeface="Times New Roman" panose="02020603050405020304" pitchFamily="18" charset="0"/>
                    <a:cs typeface="B Nazanin" panose="00000400000000000000" pitchFamily="2" charset="-78"/>
                  </a:rPr>
                  <a:t>۴- هر پردازشی </a:t>
                </a:r>
                <a:r>
                  <a:rPr lang="ar-SA" sz="2000" b="1" dirty="0">
                    <a:latin typeface="Times New Roman" panose="02020603050405020304" pitchFamily="18" charset="0"/>
                    <a:cs typeface="B Nazanin" panose="00000400000000000000" pitchFamily="2" charset="-78"/>
                  </a:rPr>
                  <a:t>با سرعت غیر صفر اجرا می شود</a:t>
                </a:r>
                <a:r>
                  <a:rPr lang="fa-IR" sz="2000" b="1" dirty="0">
                    <a:latin typeface="Times New Roman" panose="02020603050405020304" pitchFamily="18" charset="0"/>
                    <a:cs typeface="B Nazanin" panose="00000400000000000000" pitchFamily="2" charset="-78"/>
                  </a:rPr>
                  <a:t> ولی </a:t>
                </a:r>
                <a:r>
                  <a:rPr lang="ar-SA" sz="2000" b="1" dirty="0">
                    <a:latin typeface="Times New Roman" panose="02020603050405020304" pitchFamily="18" charset="0"/>
                    <a:cs typeface="B Nazanin" panose="00000400000000000000" pitchFamily="2" charset="-78"/>
                  </a:rPr>
                  <a:t>هیچ فرضی در مورد سرعت نسبی</a:t>
                </a:r>
                <a:r>
                  <a:rPr lang="en-US" sz="2000" b="1" dirty="0">
                    <a:latin typeface="Times New Roman" panose="02020603050405020304" pitchFamily="18" charset="0"/>
                    <a:cs typeface="B Nazanin" panose="00000400000000000000" pitchFamily="2" charset="-78"/>
                  </a:rPr>
                  <a:t> n </a:t>
                </a:r>
                <a:r>
                  <a:rPr lang="ar-SA" sz="2000" b="1" dirty="0">
                    <a:latin typeface="Times New Roman" panose="02020603050405020304" pitchFamily="18" charset="0"/>
                    <a:cs typeface="B Nazanin" panose="00000400000000000000" pitchFamily="2" charset="-78"/>
                  </a:rPr>
                  <a:t>فرآیند وجود ندارد</a:t>
                </a:r>
                <a:r>
                  <a:rPr lang="en-US" sz="2000" b="1" dirty="0">
                    <a:latin typeface="Times New Roman" panose="02020603050405020304" pitchFamily="18" charset="0"/>
                    <a:cs typeface="B Nazanin" panose="00000400000000000000" pitchFamily="2" charset="-78"/>
                  </a:rPr>
                  <a:t>.</a:t>
                </a:r>
              </a:p>
            </p:txBody>
          </p:sp>
        </mc:Choice>
        <mc:Fallback xmlns="">
          <p:sp>
            <p:nvSpPr>
              <p:cNvPr id="21506" name="Rectangle 3">
                <a:extLst>
                  <a:ext uri="{FF2B5EF4-FFF2-40B4-BE49-F238E27FC236}">
                    <a16:creationId xmlns:a16="http://schemas.microsoft.com/office/drawing/2014/main" id="{34120D2B-C00D-4788-A304-48C827DAAA2A}"/>
                  </a:ext>
                </a:extLst>
              </p:cNvPr>
              <p:cNvSpPr>
                <a:spLocks noGrp="1" noRot="1" noChangeAspect="1" noMove="1" noResize="1" noEditPoints="1" noAdjustHandles="1" noChangeArrowheads="1" noChangeShapeType="1" noTextEdit="1"/>
              </p:cNvSpPr>
              <p:nvPr>
                <p:ph idx="1"/>
              </p:nvPr>
            </p:nvSpPr>
            <p:spPr>
              <a:xfrm>
                <a:off x="304800" y="1071418"/>
                <a:ext cx="8566053" cy="5112823"/>
              </a:xfrm>
              <a:blipFill>
                <a:blip r:embed="rId3"/>
                <a:stretch>
                  <a:fillRect t="-1074" r="-854"/>
                </a:stretch>
              </a:blipFill>
            </p:spPr>
            <p:txBody>
              <a:bodyPr/>
              <a:lstStyle/>
              <a:p>
                <a:r>
                  <a:rPr lang="en-US">
                    <a:noFill/>
                  </a:rPr>
                  <a:t> </a:t>
                </a:r>
              </a:p>
            </p:txBody>
          </p:sp>
        </mc:Fallback>
      </mc:AlternateContent>
    </p:spTree>
    <p:extLst>
      <p:ext uri="{BB962C8B-B14F-4D97-AF65-F5344CB8AC3E}">
        <p14:creationId xmlns:p14="http://schemas.microsoft.com/office/powerpoint/2010/main" val="2360498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2DBE0950-3B65-44CE-A578-E49302B90774}"/>
              </a:ext>
            </a:extLst>
          </p:cNvPr>
          <p:cNvSpPr>
            <a:spLocks noGrp="1" noChangeArrowheads="1"/>
          </p:cNvSpPr>
          <p:nvPr>
            <p:ph type="title"/>
          </p:nvPr>
        </p:nvSpPr>
        <p:spPr>
          <a:xfrm>
            <a:off x="653143" y="160522"/>
            <a:ext cx="8211457" cy="576262"/>
          </a:xfrm>
        </p:spPr>
        <p:txBody>
          <a:bodyPr/>
          <a:lstStyle/>
          <a:p>
            <a:pPr eaLnBrk="1" hangingPunct="1"/>
            <a:r>
              <a:rPr lang="fa-IR" altLang="en-US" dirty="0">
                <a:cs typeface="B Nazanin" panose="00000400000000000000" pitchFamily="2" charset="-78"/>
              </a:rPr>
              <a:t>راه کار مبتنی بر وقفه</a:t>
            </a:r>
            <a:endParaRPr lang="en-US" altLang="en-US" dirty="0"/>
          </a:p>
        </p:txBody>
      </p:sp>
      <p:sp>
        <p:nvSpPr>
          <p:cNvPr id="6" name="Content Placeholder 5">
            <a:extLst>
              <a:ext uri="{FF2B5EF4-FFF2-40B4-BE49-F238E27FC236}">
                <a16:creationId xmlns:a16="http://schemas.microsoft.com/office/drawing/2014/main" id="{2D453004-768A-4F05-9C98-ADB4FD16A7BA}"/>
              </a:ext>
            </a:extLst>
          </p:cNvPr>
          <p:cNvSpPr>
            <a:spLocks noGrp="1"/>
          </p:cNvSpPr>
          <p:nvPr>
            <p:ph idx="1"/>
          </p:nvPr>
        </p:nvSpPr>
        <p:spPr/>
        <p:txBody>
          <a:bodyPr/>
          <a:lstStyle/>
          <a:p>
            <a:pPr marL="342900" marR="0" lvl="0" indent="-342900" algn="r" rtl="1">
              <a:buFont typeface="Wingdings" panose="05000000000000000000" pitchFamily="2"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بخش ورود: قطع کردن وقفه ها</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(Disable Interrupts)</a:t>
            </a:r>
            <a:endParaRPr lang="en-US" sz="20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بخش خروج: فعال کردن وقفه ها</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(Enable Interrupts)</a:t>
            </a:r>
            <a:endParaRPr lang="en-US" sz="20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آیا این مشکل را حل خواهد کرد؟</a:t>
            </a:r>
            <a:endParaRPr lang="en-US" sz="2000" dirty="0">
              <a:effectLst/>
              <a:latin typeface="Times New Roman" panose="02020603050405020304" pitchFamily="18" charset="0"/>
              <a:ea typeface="Times New Roman" panose="02020603050405020304" pitchFamily="18" charset="0"/>
            </a:endParaRPr>
          </a:p>
          <a:p>
            <a:endParaRPr lang="en-US" sz="2800" dirty="0"/>
          </a:p>
        </p:txBody>
      </p:sp>
      <p:sp>
        <p:nvSpPr>
          <p:cNvPr id="5" name="TextBox 4">
            <a:extLst>
              <a:ext uri="{FF2B5EF4-FFF2-40B4-BE49-F238E27FC236}">
                <a16:creationId xmlns:a16="http://schemas.microsoft.com/office/drawing/2014/main" id="{0C269BEF-410A-4F0D-8F28-CF717F8328F3}"/>
              </a:ext>
            </a:extLst>
          </p:cNvPr>
          <p:cNvSpPr txBox="1"/>
          <p:nvPr/>
        </p:nvSpPr>
        <p:spPr>
          <a:xfrm>
            <a:off x="997527" y="2939473"/>
            <a:ext cx="7536873" cy="2554545"/>
          </a:xfrm>
          <a:prstGeom prst="rect">
            <a:avLst/>
          </a:prstGeom>
          <a:noFill/>
        </p:spPr>
        <p:txBody>
          <a:bodyPr wrap="square">
            <a:spAutoFit/>
          </a:bodyPr>
          <a:lstStyle/>
          <a:p>
            <a:pPr marL="742950" lvl="1" indent="-342900" algn="r" rtl="1">
              <a:buFont typeface="Wingdings" panose="05000000000000000000" pitchFamily="2"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چه اتفاقی می افتد اگر بخش بحرانی کدی باشد که برای یک ساعت اجرا شود؟</a:t>
            </a:r>
            <a:endParaRPr lang="en-US" sz="2400" dirty="0">
              <a:effectLst/>
              <a:latin typeface="Times New Roman" panose="02020603050405020304" pitchFamily="18" charset="0"/>
              <a:ea typeface="Times New Roman" panose="02020603050405020304" pitchFamily="18" charset="0"/>
            </a:endParaRPr>
          </a:p>
          <a:p>
            <a:pPr marL="742950" lvl="1" indent="-342900" algn="r" rtl="1">
              <a:buFont typeface="Wingdings" panose="05000000000000000000" pitchFamily="2"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آیا برخی فرآیندها ممکن است گرسنه بمانند - هرگز وارد بخش بحرانی خود نشوند؟</a:t>
            </a:r>
            <a:endParaRPr lang="en-US" sz="2400" dirty="0">
              <a:effectLst/>
              <a:latin typeface="Times New Roman" panose="02020603050405020304" pitchFamily="18" charset="0"/>
              <a:ea typeface="Times New Roman" panose="02020603050405020304" pitchFamily="18" charset="0"/>
            </a:endParaRPr>
          </a:p>
          <a:p>
            <a:pPr marL="742950" lvl="1" indent="-342900" algn="r" rtl="1">
              <a:buFont typeface="Wingdings" panose="05000000000000000000" pitchFamily="2"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اگر دو</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3200" dirty="0">
                <a:latin typeface="Times New Roman" panose="02020603050405020304" pitchFamily="18" charset="0"/>
                <a:ea typeface="Times New Roman" panose="02020603050405020304" pitchFamily="18" charset="0"/>
                <a:cs typeface="B Nazanin" panose="00000400000000000000" pitchFamily="2" charset="-78"/>
              </a:rPr>
              <a:t>پردازنده</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وجود داشته باشد چه؟</a:t>
            </a:r>
            <a:endParaRPr lang="en-US"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3470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eaLnBrk="1" hangingPunct="1"/>
            <a:r>
              <a:rPr lang="fa-IR" altLang="en-US" dirty="0">
                <a:cs typeface="B Nazanin" panose="00000400000000000000" pitchFamily="2" charset="-78"/>
              </a:rPr>
              <a:t>راه‌کار نرم افزاری ۱</a:t>
            </a:r>
            <a:endParaRPr lang="en-US" altLang="en-US" dirty="0"/>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378691" y="1285329"/>
            <a:ext cx="8504052" cy="5201968"/>
          </a:xfrm>
        </p:spPr>
        <p:txBody>
          <a:bodyPr/>
          <a:lstStyle/>
          <a:p>
            <a:pPr marL="342900" marR="0" lvl="0" indent="-342900" algn="r" rtl="1">
              <a:spcBef>
                <a:spcPts val="0"/>
              </a:spcBef>
              <a:spcAft>
                <a:spcPts val="0"/>
              </a:spcAft>
              <a:buFont typeface="Wingdings" panose="05000000000000000000" pitchFamily="2"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راه‌حل دو فرآیند</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spcBef>
                <a:spcPts val="0"/>
              </a:spcBef>
              <a:spcAft>
                <a:spcPts val="0"/>
              </a:spcAft>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فرض کنید دستورالعمل‌های بارگذاری و ذخیره‌سازی زبان ماشین اتمی</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ک</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هستند؛ یعنی قابل وقفه نیستند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دو فرآیند یک متغیر مشترک دارند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lvl="1">
              <a:lnSpc>
                <a:spcPct val="90000"/>
              </a:lnSpc>
              <a:tabLst>
                <a:tab pos="739775" algn="l"/>
                <a:tab pos="1020763" algn="l"/>
                <a:tab pos="1257300" algn="l"/>
              </a:tabLst>
            </a:pPr>
            <a:r>
              <a:rPr lang="en-US" altLang="en-US" sz="3200" b="1" dirty="0">
                <a:latin typeface="Courier New" panose="02070309020205020404" pitchFamily="49" charset="0"/>
              </a:rPr>
              <a:t>int turn</a:t>
            </a:r>
            <a:r>
              <a:rPr lang="en-US" altLang="en-US" sz="2400" b="1" dirty="0">
                <a:latin typeface="Courier New" panose="02070309020205020404" pitchFamily="49" charset="0"/>
              </a:rPr>
              <a:t>; </a:t>
            </a:r>
            <a:endParaRPr lang="en-US" altLang="en-US" sz="1050" b="1" dirty="0">
              <a:solidFill>
                <a:srgbClr val="000000"/>
              </a:solidFill>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تغ</a:t>
            </a:r>
            <a:r>
              <a:rPr lang="fa-IR" sz="2800" dirty="0">
                <a:effectLst/>
                <a:latin typeface="Calibri" panose="020F0502020204030204" pitchFamily="34" charset="0"/>
                <a:ea typeface="Calibri" panose="020F0502020204030204" pitchFamily="34" charset="0"/>
                <a:cs typeface="B Nazanin" panose="00000400000000000000" pitchFamily="2" charset="-78"/>
              </a:rPr>
              <a:t>ی</a:t>
            </a:r>
            <a:r>
              <a:rPr lang="ar-SA" sz="2800" dirty="0">
                <a:effectLst/>
                <a:latin typeface="Calibri" panose="020F0502020204030204" pitchFamily="34" charset="0"/>
                <a:ea typeface="Calibri" panose="020F0502020204030204" pitchFamily="34" charset="0"/>
                <a:cs typeface="B Nazanin" panose="00000400000000000000" pitchFamily="2" charset="-78"/>
              </a:rPr>
              <a:t>یر</a:t>
            </a:r>
            <a:r>
              <a:rPr lang="en-US" sz="2800" dirty="0">
                <a:effectLst/>
                <a:latin typeface="Calibri" panose="020F0502020204030204" pitchFamily="34" charset="0"/>
                <a:ea typeface="Calibri" panose="020F0502020204030204" pitchFamily="34" charset="0"/>
                <a:cs typeface="B Nazanin" panose="00000400000000000000" pitchFamily="2" charset="-78"/>
              </a:rPr>
              <a:t> turn </a:t>
            </a:r>
            <a:r>
              <a:rPr lang="ar-SA" sz="2800" dirty="0">
                <a:effectLst/>
                <a:latin typeface="Calibri" panose="020F0502020204030204" pitchFamily="34" charset="0"/>
                <a:ea typeface="Calibri" panose="020F0502020204030204" pitchFamily="34" charset="0"/>
                <a:cs typeface="B Nazanin" panose="00000400000000000000" pitchFamily="2" charset="-78"/>
              </a:rPr>
              <a:t>نشان می‌دهد که نوبت کدام فرآیند است تا وارد بخش بحرانی شود</a:t>
            </a:r>
            <a:r>
              <a:rPr lang="en-US" sz="2800" dirty="0">
                <a:effectLst/>
                <a:latin typeface="Calibri" panose="020F0502020204030204" pitchFamily="34" charset="0"/>
                <a:ea typeface="Calibri" panose="020F0502020204030204" pitchFamily="34" charset="0"/>
                <a:cs typeface="B Nazanin" panose="00000400000000000000" pitchFamily="2" charset="-78"/>
              </a:rPr>
              <a:t>. </a:t>
            </a:r>
            <a:endParaRPr lang="fa-IR" sz="28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مقدار اولیه</a:t>
            </a:r>
            <a:r>
              <a:rPr lang="en-US" sz="2800" dirty="0">
                <a:effectLst/>
                <a:latin typeface="Calibri" panose="020F0502020204030204" pitchFamily="34" charset="0"/>
                <a:ea typeface="Calibri" panose="020F0502020204030204" pitchFamily="34" charset="0"/>
                <a:cs typeface="B Nazanin" panose="00000400000000000000" pitchFamily="2" charset="-78"/>
              </a:rPr>
              <a:t> turn </a:t>
            </a:r>
            <a:r>
              <a:rPr lang="ar-SA" sz="2800" dirty="0">
                <a:effectLst/>
                <a:latin typeface="Calibri" panose="020F0502020204030204" pitchFamily="34" charset="0"/>
                <a:ea typeface="Calibri" panose="020F0502020204030204" pitchFamily="34" charset="0"/>
                <a:cs typeface="B Nazanin" panose="00000400000000000000" pitchFamily="2" charset="-78"/>
              </a:rPr>
              <a:t>برابر با</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en-US" sz="2800" dirty="0" err="1">
                <a:effectLst/>
                <a:latin typeface="Calibri" panose="020F0502020204030204" pitchFamily="34" charset="0"/>
                <a:ea typeface="Calibri" panose="020F0502020204030204" pitchFamily="34" charset="0"/>
                <a:cs typeface="B Nazanin" panose="00000400000000000000" pitchFamily="2" charset="-78"/>
              </a:rPr>
              <a:t>i</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تنظیم می‌شود</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362815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529937" y="134933"/>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666875"/>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kumimoji="1" lang="en-US" altLang="en-US" dirty="0">
                <a:latin typeface="+mn-lt"/>
              </a:rPr>
              <a:t>while (true){ </a:t>
            </a:r>
          </a:p>
          <a:p>
            <a:endParaRPr kumimoji="1" lang="en-US" altLang="en-US" dirty="0">
              <a:latin typeface="+mn-lt"/>
            </a:endParaRPr>
          </a:p>
          <a:p>
            <a:r>
              <a:rPr kumimoji="1" lang="en-US" altLang="en-US" dirty="0">
                <a:latin typeface="+mn-lt"/>
              </a:rPr>
              <a:t>	 </a:t>
            </a:r>
          </a:p>
          <a:p>
            <a:r>
              <a:rPr kumimoji="1" lang="en-US" altLang="en-US" dirty="0">
                <a:latin typeface="+mn-lt"/>
              </a:rPr>
              <a:t>	while (turn = = j);</a:t>
            </a:r>
          </a:p>
          <a:p>
            <a:r>
              <a:rPr kumimoji="1" lang="en-US" altLang="en-US" dirty="0">
                <a:latin typeface="+mn-lt"/>
              </a:rPr>
              <a:t>		</a:t>
            </a:r>
          </a:p>
          <a:p>
            <a:endParaRPr kumimoji="1" lang="en-US" altLang="en-US" dirty="0">
              <a:latin typeface="+mn-lt"/>
            </a:endParaRPr>
          </a:p>
          <a:p>
            <a:r>
              <a:rPr kumimoji="1" lang="en-US" altLang="en-US" dirty="0">
                <a:latin typeface="+mn-lt"/>
              </a:rPr>
              <a:t>	/* critical section */</a:t>
            </a:r>
          </a:p>
          <a:p>
            <a:r>
              <a:rPr kumimoji="1" lang="en-US" altLang="en-US" dirty="0">
                <a:latin typeface="+mn-lt"/>
              </a:rPr>
              <a:t> </a:t>
            </a:r>
          </a:p>
          <a:p>
            <a:r>
              <a:rPr kumimoji="1" lang="en-US" altLang="en-US" dirty="0">
                <a:latin typeface="+mn-lt"/>
              </a:rPr>
              <a:t>	turn = j;</a:t>
            </a:r>
          </a:p>
          <a:p>
            <a:endParaRPr kumimoji="1" lang="en-US" altLang="en-US" dirty="0">
              <a:latin typeface="+mn-lt"/>
            </a:endParaRPr>
          </a:p>
          <a:p>
            <a:r>
              <a:rPr kumimoji="1" lang="en-US" altLang="en-US" dirty="0">
                <a:latin typeface="+mn-lt"/>
              </a:rPr>
              <a:t>	/* remainder section */</a:t>
            </a:r>
          </a:p>
          <a:p>
            <a:r>
              <a:rPr kumimoji="1" lang="en-US" altLang="en-US" dirty="0">
                <a:latin typeface="+mn-lt"/>
              </a:rPr>
              <a:t> </a:t>
            </a:r>
          </a:p>
          <a:p>
            <a:r>
              <a:rPr kumimoji="1" lang="en-US" altLang="en-US" dirty="0">
                <a:latin typeface="+mn-lt"/>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50" y="2367682"/>
            <a:ext cx="3505200" cy="682625"/>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50" y="3751114"/>
            <a:ext cx="3505200" cy="510743"/>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extLst>
      <p:ext uri="{BB962C8B-B14F-4D97-AF65-F5344CB8AC3E}">
        <p14:creationId xmlns:p14="http://schemas.microsoft.com/office/powerpoint/2010/main" val="164661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9C798-E1DF-4753-9FF5-11182A095892}"/>
              </a:ext>
            </a:extLst>
          </p:cNvPr>
          <p:cNvSpPr>
            <a:spLocks noGrp="1"/>
          </p:cNvSpPr>
          <p:nvPr>
            <p:ph type="title"/>
          </p:nvPr>
        </p:nvSpPr>
        <p:spPr/>
        <p:txBody>
          <a:bodyPr/>
          <a:lstStyle/>
          <a:p>
            <a:endParaRPr lang="en-US"/>
          </a:p>
        </p:txBody>
      </p:sp>
      <p:sp>
        <p:nvSpPr>
          <p:cNvPr id="3" name="Rectangle 3">
            <a:extLst>
              <a:ext uri="{FF2B5EF4-FFF2-40B4-BE49-F238E27FC236}">
                <a16:creationId xmlns:a16="http://schemas.microsoft.com/office/drawing/2014/main" id="{FC008087-CF06-4738-9E93-DC026B083B6A}"/>
              </a:ext>
            </a:extLst>
          </p:cNvPr>
          <p:cNvSpPr>
            <a:spLocks noChangeArrowheads="1"/>
          </p:cNvSpPr>
          <p:nvPr/>
        </p:nvSpPr>
        <p:spPr bwMode="auto">
          <a:xfrm>
            <a:off x="675564" y="977746"/>
            <a:ext cx="3752282"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en-US" dirty="0">
                <a:latin typeface="+mn-lt"/>
              </a:rPr>
              <a:t>Process P0:</a:t>
            </a:r>
            <a:endParaRPr kumimoji="1" lang="fa-IR" altLang="en-US" dirty="0">
              <a:latin typeface="+mn-lt"/>
            </a:endParaRPr>
          </a:p>
          <a:p>
            <a:r>
              <a:rPr kumimoji="1" lang="en-US" altLang="en-US" dirty="0">
                <a:latin typeface="+mn-lt"/>
              </a:rPr>
              <a:t>while (true){ </a:t>
            </a:r>
          </a:p>
          <a:p>
            <a:endParaRPr kumimoji="1" lang="en-US" altLang="en-US" dirty="0">
              <a:latin typeface="+mn-lt"/>
            </a:endParaRPr>
          </a:p>
          <a:p>
            <a:r>
              <a:rPr kumimoji="1" lang="en-US" altLang="en-US" dirty="0">
                <a:latin typeface="+mn-lt"/>
              </a:rPr>
              <a:t>	 </a:t>
            </a:r>
          </a:p>
          <a:p>
            <a:r>
              <a:rPr kumimoji="1" lang="en-US" altLang="en-US" dirty="0">
                <a:latin typeface="+mn-lt"/>
              </a:rPr>
              <a:t>	while (turn = = 1);</a:t>
            </a:r>
          </a:p>
          <a:p>
            <a:r>
              <a:rPr kumimoji="1" lang="en-US" altLang="en-US" dirty="0">
                <a:latin typeface="+mn-lt"/>
              </a:rPr>
              <a:t>		</a:t>
            </a:r>
          </a:p>
          <a:p>
            <a:endParaRPr kumimoji="1" lang="en-US" altLang="en-US" dirty="0">
              <a:latin typeface="+mn-lt"/>
            </a:endParaRPr>
          </a:p>
          <a:p>
            <a:r>
              <a:rPr kumimoji="1" lang="en-US" altLang="en-US" dirty="0">
                <a:latin typeface="+mn-lt"/>
              </a:rPr>
              <a:t>	/* critical section */</a:t>
            </a:r>
          </a:p>
          <a:p>
            <a:r>
              <a:rPr kumimoji="1" lang="en-US" altLang="en-US" dirty="0">
                <a:latin typeface="+mn-lt"/>
              </a:rPr>
              <a:t> </a:t>
            </a:r>
          </a:p>
          <a:p>
            <a:r>
              <a:rPr kumimoji="1" lang="en-US" altLang="en-US" dirty="0">
                <a:latin typeface="+mn-lt"/>
              </a:rPr>
              <a:t>	turn = 1;</a:t>
            </a:r>
          </a:p>
          <a:p>
            <a:endParaRPr kumimoji="1" lang="en-US" altLang="en-US" dirty="0">
              <a:latin typeface="+mn-lt"/>
            </a:endParaRPr>
          </a:p>
          <a:p>
            <a:r>
              <a:rPr kumimoji="1" lang="en-US" altLang="en-US" dirty="0">
                <a:latin typeface="+mn-lt"/>
              </a:rPr>
              <a:t>	/* remainder section */</a:t>
            </a:r>
          </a:p>
          <a:p>
            <a:r>
              <a:rPr kumimoji="1" lang="en-US" altLang="en-US" dirty="0">
                <a:latin typeface="+mn-lt"/>
              </a:rPr>
              <a:t> </a:t>
            </a:r>
          </a:p>
          <a:p>
            <a:pPr>
              <a:buFont typeface="Monotype Sorts" pitchFamily="-84" charset="2"/>
              <a:buNone/>
            </a:pPr>
            <a:r>
              <a:rPr lang="en-US" altLang="en-US" sz="1600" b="1" dirty="0">
                <a:solidFill>
                  <a:srgbClr val="000000"/>
                </a:solidFill>
                <a:latin typeface="Courier New" panose="02070309020205020404" pitchFamily="49" charset="0"/>
              </a:rPr>
              <a:t>}</a:t>
            </a:r>
          </a:p>
        </p:txBody>
      </p:sp>
      <p:sp>
        <p:nvSpPr>
          <p:cNvPr id="5" name="Rectangle 3">
            <a:extLst>
              <a:ext uri="{FF2B5EF4-FFF2-40B4-BE49-F238E27FC236}">
                <a16:creationId xmlns:a16="http://schemas.microsoft.com/office/drawing/2014/main" id="{B1FC398C-EE72-498F-92BA-2DC24092D21A}"/>
              </a:ext>
            </a:extLst>
          </p:cNvPr>
          <p:cNvSpPr>
            <a:spLocks noChangeArrowheads="1"/>
          </p:cNvSpPr>
          <p:nvPr/>
        </p:nvSpPr>
        <p:spPr bwMode="auto">
          <a:xfrm>
            <a:off x="4716156" y="977745"/>
            <a:ext cx="3752282"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en-US" dirty="0">
                <a:latin typeface="+mn-lt"/>
              </a:rPr>
              <a:t>Process P1:</a:t>
            </a:r>
            <a:endParaRPr kumimoji="1" lang="fa-IR" altLang="en-US" dirty="0">
              <a:latin typeface="+mn-lt"/>
            </a:endParaRPr>
          </a:p>
          <a:p>
            <a:r>
              <a:rPr kumimoji="1" lang="en-US" altLang="en-US" dirty="0">
                <a:latin typeface="+mn-lt"/>
              </a:rPr>
              <a:t>while (true){ </a:t>
            </a:r>
          </a:p>
          <a:p>
            <a:endParaRPr kumimoji="1" lang="en-US" altLang="en-US" dirty="0">
              <a:latin typeface="+mn-lt"/>
            </a:endParaRPr>
          </a:p>
          <a:p>
            <a:r>
              <a:rPr kumimoji="1" lang="en-US" altLang="en-US" dirty="0">
                <a:latin typeface="+mn-lt"/>
              </a:rPr>
              <a:t>	 </a:t>
            </a:r>
          </a:p>
          <a:p>
            <a:r>
              <a:rPr kumimoji="1" lang="en-US" altLang="en-US" dirty="0">
                <a:latin typeface="+mn-lt"/>
              </a:rPr>
              <a:t>	while (turn = = 0);</a:t>
            </a:r>
          </a:p>
          <a:p>
            <a:r>
              <a:rPr kumimoji="1" lang="en-US" altLang="en-US" dirty="0">
                <a:latin typeface="+mn-lt"/>
              </a:rPr>
              <a:t>		</a:t>
            </a:r>
          </a:p>
          <a:p>
            <a:endParaRPr kumimoji="1" lang="en-US" altLang="en-US" dirty="0">
              <a:latin typeface="+mn-lt"/>
            </a:endParaRPr>
          </a:p>
          <a:p>
            <a:r>
              <a:rPr kumimoji="1" lang="en-US" altLang="en-US" dirty="0">
                <a:latin typeface="+mn-lt"/>
              </a:rPr>
              <a:t>	/* critical section */</a:t>
            </a:r>
          </a:p>
          <a:p>
            <a:r>
              <a:rPr kumimoji="1" lang="en-US" altLang="en-US" dirty="0">
                <a:latin typeface="+mn-lt"/>
              </a:rPr>
              <a:t> </a:t>
            </a:r>
          </a:p>
          <a:p>
            <a:r>
              <a:rPr kumimoji="1" lang="en-US" altLang="en-US" dirty="0">
                <a:latin typeface="+mn-lt"/>
              </a:rPr>
              <a:t>	turn = 0;</a:t>
            </a:r>
          </a:p>
          <a:p>
            <a:endParaRPr kumimoji="1" lang="en-US" altLang="en-US" dirty="0">
              <a:latin typeface="+mn-lt"/>
            </a:endParaRPr>
          </a:p>
          <a:p>
            <a:r>
              <a:rPr kumimoji="1" lang="en-US" altLang="en-US" dirty="0">
                <a:latin typeface="+mn-lt"/>
              </a:rPr>
              <a:t>	/* remainder section */</a:t>
            </a:r>
          </a:p>
          <a:p>
            <a:r>
              <a:rPr kumimoji="1" lang="en-US" altLang="en-US" dirty="0">
                <a:latin typeface="+mn-lt"/>
              </a:rPr>
              <a:t> </a:t>
            </a:r>
          </a:p>
          <a:p>
            <a:r>
              <a:rPr kumimoji="1" lang="en-US" altLang="en-US" dirty="0">
                <a:latin typeface="+mn-lt"/>
              </a:rPr>
              <a:t>}</a:t>
            </a:r>
          </a:p>
        </p:txBody>
      </p:sp>
      <p:sp>
        <p:nvSpPr>
          <p:cNvPr id="7" name="TextBox 6">
            <a:extLst>
              <a:ext uri="{FF2B5EF4-FFF2-40B4-BE49-F238E27FC236}">
                <a16:creationId xmlns:a16="http://schemas.microsoft.com/office/drawing/2014/main" id="{65DA0A73-987A-4947-B329-97C88A81537B}"/>
              </a:ext>
            </a:extLst>
          </p:cNvPr>
          <p:cNvSpPr txBox="1"/>
          <p:nvPr/>
        </p:nvSpPr>
        <p:spPr>
          <a:xfrm>
            <a:off x="322998" y="4892301"/>
            <a:ext cx="8529850" cy="1631216"/>
          </a:xfrm>
          <a:prstGeom prst="rect">
            <a:avLst/>
          </a:prstGeom>
          <a:noFill/>
        </p:spPr>
        <p:txBody>
          <a:bodyPr wrap="square">
            <a:spAutoFit/>
          </a:bodyPr>
          <a:lstStyle/>
          <a:p>
            <a:pPr algn="r" rtl="1"/>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مقدار اولیه </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turn</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 برابر با یک بوده و </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p1</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 به ناحیه بحرانی می‌رود درحالی پردازش دیگر در حلقه وایل منتظر هست. پس از خروج پردازش </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p1</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 متغیر </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turn</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 برابر </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0</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 می‌شود. حال </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p0</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 وارد ناحیه بحرانی شده و خارج می‌شود. </a:t>
            </a:r>
            <a:r>
              <a:rPr lang="fa-IR" sz="2000" dirty="0">
                <a:latin typeface="Times New Roman" panose="02020603050405020304" pitchFamily="18" charset="0"/>
                <a:ea typeface="Times New Roman" panose="02020603050405020304" pitchFamily="18" charset="0"/>
                <a:cs typeface="B Nazanin" panose="00000400000000000000" pitchFamily="2" charset="-78"/>
              </a:rPr>
              <a:t>مقدار </a:t>
            </a:r>
            <a:r>
              <a:rPr lang="en-US" sz="2000" dirty="0">
                <a:latin typeface="Times New Roman" panose="02020603050405020304" pitchFamily="18" charset="0"/>
                <a:ea typeface="Times New Roman" panose="02020603050405020304" pitchFamily="18" charset="0"/>
                <a:cs typeface="B Nazanin" panose="00000400000000000000" pitchFamily="2" charset="-78"/>
              </a:rPr>
              <a:t>turn</a:t>
            </a:r>
            <a:r>
              <a:rPr lang="fa-IR" sz="2000" dirty="0">
                <a:latin typeface="Times New Roman" panose="02020603050405020304" pitchFamily="18" charset="0"/>
                <a:ea typeface="Times New Roman" panose="02020603050405020304" pitchFamily="18" charset="0"/>
                <a:cs typeface="B Nazanin" panose="00000400000000000000" pitchFamily="2" charset="-78"/>
              </a:rPr>
              <a:t> ۱ شده و پردازش </a:t>
            </a:r>
            <a:r>
              <a:rPr lang="en-US" sz="2000" dirty="0">
                <a:latin typeface="Times New Roman" panose="02020603050405020304" pitchFamily="18" charset="0"/>
                <a:ea typeface="Times New Roman" panose="02020603050405020304" pitchFamily="18" charset="0"/>
                <a:cs typeface="B Nazanin" panose="00000400000000000000" pitchFamily="2" charset="-78"/>
              </a:rPr>
              <a:t>p1</a:t>
            </a:r>
            <a:r>
              <a:rPr lang="fa-IR" sz="2000" dirty="0">
                <a:latin typeface="Times New Roman" panose="02020603050405020304" pitchFamily="18" charset="0"/>
                <a:ea typeface="Times New Roman" panose="02020603050405020304" pitchFamily="18" charset="0"/>
                <a:cs typeface="B Nazanin" panose="00000400000000000000" pitchFamily="2" charset="-78"/>
              </a:rPr>
              <a:t> وارد ناحیه بحرانی می‌شود و در حین خروج </a:t>
            </a:r>
            <a:r>
              <a:rPr lang="en-US" sz="2000" dirty="0">
                <a:latin typeface="Times New Roman" panose="02020603050405020304" pitchFamily="18" charset="0"/>
                <a:ea typeface="Times New Roman" panose="02020603050405020304" pitchFamily="18" charset="0"/>
                <a:cs typeface="B Nazanin" panose="00000400000000000000" pitchFamily="2" charset="-78"/>
              </a:rPr>
              <a:t>turn=0</a:t>
            </a:r>
            <a:r>
              <a:rPr lang="fa-IR" sz="2000" dirty="0">
                <a:latin typeface="Times New Roman" panose="02020603050405020304" pitchFamily="18" charset="0"/>
                <a:ea typeface="Times New Roman" panose="02020603050405020304" pitchFamily="18" charset="0"/>
                <a:cs typeface="B Nazanin" panose="00000400000000000000" pitchFamily="2" charset="-78"/>
              </a:rPr>
              <a:t> می‌شود. اگر فرض کنیم پردازش </a:t>
            </a:r>
            <a:r>
              <a:rPr lang="en-US" sz="2000" dirty="0">
                <a:latin typeface="Times New Roman" panose="02020603050405020304" pitchFamily="18" charset="0"/>
                <a:ea typeface="Times New Roman" panose="02020603050405020304" pitchFamily="18" charset="0"/>
                <a:cs typeface="B Nazanin" panose="00000400000000000000" pitchFamily="2" charset="-78"/>
              </a:rPr>
              <a:t>p0</a:t>
            </a:r>
            <a:r>
              <a:rPr lang="fa-IR" sz="2000" dirty="0">
                <a:latin typeface="Times New Roman" panose="02020603050405020304" pitchFamily="18" charset="0"/>
                <a:ea typeface="Times New Roman" panose="02020603050405020304" pitchFamily="18" charset="0"/>
                <a:cs typeface="B Nazanin" panose="00000400000000000000" pitchFamily="2" charset="-78"/>
              </a:rPr>
              <a:t> در ناحیه باقی‌مانده به‌صورت طولانی باشد. شرط پیشرفت برای </a:t>
            </a:r>
            <a:r>
              <a:rPr lang="en-US" sz="2000" dirty="0">
                <a:latin typeface="Times New Roman" panose="02020603050405020304" pitchFamily="18" charset="0"/>
                <a:ea typeface="Times New Roman" panose="02020603050405020304" pitchFamily="18" charset="0"/>
                <a:cs typeface="B Nazanin" panose="00000400000000000000" pitchFamily="2" charset="-78"/>
              </a:rPr>
              <a:t>p1</a:t>
            </a:r>
            <a:r>
              <a:rPr lang="fa-IR" sz="2000" dirty="0">
                <a:latin typeface="Times New Roman" panose="02020603050405020304" pitchFamily="18" charset="0"/>
                <a:ea typeface="Times New Roman" panose="02020603050405020304" pitchFamily="18" charset="0"/>
                <a:cs typeface="B Nazanin" panose="00000400000000000000" pitchFamily="2" charset="-78"/>
              </a:rPr>
              <a:t> نقض خواهد شد. زیرا </a:t>
            </a:r>
            <a:r>
              <a:rPr lang="en-US" sz="2000" dirty="0">
                <a:latin typeface="Times New Roman" panose="02020603050405020304" pitchFamily="18" charset="0"/>
                <a:ea typeface="Times New Roman" panose="02020603050405020304" pitchFamily="18" charset="0"/>
                <a:cs typeface="B Nazanin" panose="00000400000000000000" pitchFamily="2" charset="-78"/>
              </a:rPr>
              <a:t>p1</a:t>
            </a:r>
            <a:r>
              <a:rPr lang="fa-IR" sz="2000" dirty="0">
                <a:latin typeface="Times New Roman" panose="02020603050405020304" pitchFamily="18" charset="0"/>
                <a:ea typeface="Times New Roman" panose="02020603050405020304" pitchFamily="18" charset="0"/>
                <a:cs typeface="B Nazanin" panose="00000400000000000000" pitchFamily="2" charset="-78"/>
              </a:rPr>
              <a:t> پس از تغییر</a:t>
            </a:r>
            <a:r>
              <a:rPr lang="en-US" sz="2000" dirty="0">
                <a:latin typeface="Times New Roman" panose="02020603050405020304" pitchFamily="18" charset="0"/>
                <a:ea typeface="Times New Roman" panose="02020603050405020304" pitchFamily="18" charset="0"/>
                <a:cs typeface="B Nazanin" panose="00000400000000000000" pitchFamily="2" charset="-78"/>
              </a:rPr>
              <a:t> turn=0</a:t>
            </a:r>
            <a:r>
              <a:rPr lang="fa-IR" sz="2000" dirty="0">
                <a:latin typeface="Times New Roman" panose="02020603050405020304" pitchFamily="18" charset="0"/>
                <a:ea typeface="Times New Roman" panose="02020603050405020304" pitchFamily="18" charset="0"/>
                <a:cs typeface="B Nazanin" panose="00000400000000000000" pitchFamily="2" charset="-78"/>
              </a:rPr>
              <a:t> دیگر نمی‌تواند وارد ناحیه بحرانی خود شود. </a:t>
            </a:r>
            <a:endParaRPr lang="en-US" sz="2000" dirty="0"/>
          </a:p>
        </p:txBody>
      </p:sp>
    </p:spTree>
    <p:extLst>
      <p:ext uri="{BB962C8B-B14F-4D97-AF65-F5344CB8AC3E}">
        <p14:creationId xmlns:p14="http://schemas.microsoft.com/office/powerpoint/2010/main" val="2864621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26167" y="169872"/>
            <a:ext cx="7586662" cy="576262"/>
          </a:xfrm>
        </p:spPr>
        <p:txBody>
          <a:bodyPr/>
          <a:lstStyle/>
          <a:p>
            <a:pPr eaLnBrk="1" hangingPunct="1"/>
            <a:r>
              <a:rPr lang="fa-IR" altLang="en-US" dirty="0">
                <a:cs typeface="B Nazanin" panose="00000400000000000000" pitchFamily="2" charset="-78"/>
              </a:rPr>
              <a:t>صحبت راه‌کار نرم‌افزاری</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pPr marL="0" marR="0" algn="r" rtl="1">
              <a:lnSpc>
                <a:spcPct val="107000"/>
              </a:lnSpc>
              <a:spcBef>
                <a:spcPts val="0"/>
              </a:spcBef>
              <a:spcAft>
                <a:spcPts val="800"/>
              </a:spcAft>
            </a:pP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انحصار</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 متقابل حفظ می‌شود</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فرآیند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Pi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فقط در صورتی وارد بخش بحرانی می‌شود که</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turn = </a:t>
            </a:r>
            <a:r>
              <a:rPr lang="en-US" sz="3200" dirty="0" err="1">
                <a:effectLst/>
                <a:latin typeface="Times New Roman" panose="02020603050405020304" pitchFamily="18" charset="0"/>
                <a:ea typeface="Times New Roman" panose="02020603050405020304" pitchFamily="18" charset="0"/>
                <a:cs typeface="B Nazanin" panose="00000400000000000000" pitchFamily="2" charset="-78"/>
              </a:rPr>
              <a:t>i</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turn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نمی‌تواند همزمان 0 و 1 باشد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r" rtl="1">
              <a:lnSpc>
                <a:spcPct val="107000"/>
              </a:lnSpc>
              <a:spcBef>
                <a:spcPts val="0"/>
              </a:spcBef>
              <a:spcAft>
                <a:spcPts val="800"/>
              </a:spcAf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اما در مورد الزام پیشرفت</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(Progress)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و انتظار محدود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(Bounded-Waiting) </a:t>
            </a: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چه؟</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035540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E05883FC-3E26-4D21-A3D5-658F27A12F03}"/>
              </a:ext>
            </a:extLst>
          </p:cNvPr>
          <p:cNvSpPr>
            <a:spLocks noGrp="1" noChangeArrowheads="1"/>
          </p:cNvSpPr>
          <p:nvPr>
            <p:ph type="title"/>
          </p:nvPr>
        </p:nvSpPr>
        <p:spPr>
          <a:xfrm>
            <a:off x="615820" y="223644"/>
            <a:ext cx="8070980" cy="576262"/>
          </a:xfrm>
        </p:spPr>
        <p:txBody>
          <a:bodyPr/>
          <a:lstStyle/>
          <a:p>
            <a:pPr marL="0" marR="0" rtl="1"/>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راه‌حل بهبودیافته پترسون</a:t>
            </a:r>
            <a:endParaRPr lang="en-US" sz="2400" b="1" dirty="0">
              <a:effectLst/>
              <a:latin typeface="Times New Roman" panose="02020603050405020304" pitchFamily="18" charset="0"/>
              <a:ea typeface="Times New Roman" panose="02020603050405020304" pitchFamily="18" charset="0"/>
            </a:endParaRPr>
          </a:p>
        </p:txBody>
      </p:sp>
      <p:sp>
        <p:nvSpPr>
          <p:cNvPr id="25602" name="Rectangle 3">
            <a:extLst>
              <a:ext uri="{FF2B5EF4-FFF2-40B4-BE49-F238E27FC236}">
                <a16:creationId xmlns:a16="http://schemas.microsoft.com/office/drawing/2014/main" id="{9D1B96C2-FAFE-4916-8C1A-F8AF728D55D9}"/>
              </a:ext>
            </a:extLst>
          </p:cNvPr>
          <p:cNvSpPr>
            <a:spLocks noGrp="1" noChangeArrowheads="1"/>
          </p:cNvSpPr>
          <p:nvPr>
            <p:ph idx="1"/>
          </p:nvPr>
        </p:nvSpPr>
        <p:spPr>
          <a:xfrm>
            <a:off x="811763" y="1139855"/>
            <a:ext cx="8070980" cy="4877886"/>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راه‌حل بهبودیافته پترسون</a:t>
            </a:r>
            <a:r>
              <a:rPr lang="fa-IR" sz="2800" b="1" dirty="0">
                <a:effectLst/>
                <a:latin typeface="Times New Roman" panose="02020603050405020304" pitchFamily="18" charset="0"/>
                <a:ea typeface="Times New Roman" panose="02020603050405020304" pitchFamily="18" charset="0"/>
                <a:cs typeface="B Nazanin" panose="00000400000000000000" pitchFamily="2" charset="-78"/>
              </a:rPr>
              <a:t> (راه‌کار نرم‌افزاری)</a:t>
            </a:r>
            <a:endParaRPr lang="en-US" sz="2800" b="1" dirty="0">
              <a:effectLst/>
              <a:latin typeface="Times New Roman" panose="02020603050405020304" pitchFamily="18" charset="0"/>
              <a:ea typeface="Times New Roman" panose="02020603050405020304" pitchFamily="18" charset="0"/>
            </a:endParaRPr>
          </a:p>
          <a:p>
            <a:pPr marL="0" marR="0" algn="r" rtl="1"/>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فرض کنید دستورالعمل‌های بارگذاری و ذخیره‌سازی زبان ماشین اتمی هستند؛ یعنی قابل وقفه نیستند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دو فرآیند دو متغیر مشترک دارند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lvl="1">
              <a:lnSpc>
                <a:spcPct val="90000"/>
              </a:lnSpc>
              <a:tabLst>
                <a:tab pos="739775" algn="l"/>
                <a:tab pos="1020763" algn="l"/>
                <a:tab pos="1257300" algn="l"/>
              </a:tabLst>
            </a:pPr>
            <a:r>
              <a:rPr lang="en-US" altLang="en-US" sz="2800" b="1" dirty="0">
                <a:latin typeface="Courier New" panose="02070309020205020404" pitchFamily="49" charset="0"/>
              </a:rPr>
              <a:t>int turn; </a:t>
            </a:r>
          </a:p>
          <a:p>
            <a:pPr lvl="1">
              <a:lnSpc>
                <a:spcPct val="90000"/>
              </a:lnSpc>
              <a:tabLst>
                <a:tab pos="739775" algn="l"/>
                <a:tab pos="1020763" algn="l"/>
                <a:tab pos="1257300" algn="l"/>
              </a:tabLst>
            </a:pPr>
            <a:r>
              <a:rPr lang="en-US" altLang="en-US" sz="2800" b="1" dirty="0" err="1">
                <a:latin typeface="Courier New" panose="02070309020205020404" pitchFamily="49" charset="0"/>
              </a:rPr>
              <a:t>boolean</a:t>
            </a:r>
            <a:r>
              <a:rPr lang="en-US" altLang="en-US" sz="2800" b="1" dirty="0">
                <a:latin typeface="Courier New" panose="02070309020205020404" pitchFamily="49" charset="0"/>
              </a:rPr>
              <a:t> flag[2]</a:t>
            </a:r>
          </a:p>
          <a:p>
            <a:pPr lvl="1">
              <a:lnSpc>
                <a:spcPct val="90000"/>
              </a:lnSpc>
              <a:tabLst>
                <a:tab pos="739775" algn="l"/>
                <a:tab pos="1020763" algn="l"/>
                <a:tab pos="1257300" algn="l"/>
              </a:tabLst>
            </a:pPr>
            <a:endParaRPr lang="en-US" altLang="en-US" sz="1050" b="1" dirty="0">
              <a:solidFill>
                <a:srgbClr val="000000"/>
              </a:solidFill>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متغیر</a:t>
            </a:r>
            <a:r>
              <a:rPr lang="en-US" sz="2800" dirty="0">
                <a:effectLst/>
                <a:latin typeface="Calibri" panose="020F0502020204030204" pitchFamily="34" charset="0"/>
                <a:ea typeface="Calibri" panose="020F0502020204030204" pitchFamily="34" charset="0"/>
                <a:cs typeface="B Nazanin" panose="00000400000000000000" pitchFamily="2" charset="-78"/>
              </a:rPr>
              <a:t> turn </a:t>
            </a:r>
            <a:r>
              <a:rPr lang="ar-SA" sz="2800" dirty="0">
                <a:effectLst/>
                <a:latin typeface="Calibri" panose="020F0502020204030204" pitchFamily="34" charset="0"/>
                <a:ea typeface="Calibri" panose="020F0502020204030204" pitchFamily="34" charset="0"/>
                <a:cs typeface="B Nazanin" panose="00000400000000000000" pitchFamily="2" charset="-78"/>
              </a:rPr>
              <a:t>نشان می‌دهد که نوبت کدام فرآیند است تا وارد بخش بحرانی شود</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آرایه</a:t>
            </a:r>
            <a:r>
              <a:rPr lang="en-US" sz="2800" dirty="0">
                <a:effectLst/>
                <a:latin typeface="Calibri" panose="020F0502020204030204" pitchFamily="34" charset="0"/>
                <a:ea typeface="Calibri" panose="020F0502020204030204" pitchFamily="34" charset="0"/>
                <a:cs typeface="B Nazanin" panose="00000400000000000000" pitchFamily="2" charset="-78"/>
              </a:rPr>
              <a:t> flag </a:t>
            </a:r>
            <a:r>
              <a:rPr lang="ar-SA" sz="2800" dirty="0">
                <a:effectLst/>
                <a:latin typeface="Calibri" panose="020F0502020204030204" pitchFamily="34" charset="0"/>
                <a:ea typeface="Calibri" panose="020F0502020204030204" pitchFamily="34" charset="0"/>
                <a:cs typeface="B Nazanin" panose="00000400000000000000" pitchFamily="2" charset="-78"/>
              </a:rPr>
              <a:t>برای نشان دادن آمادگی یک فرآیند برای ورود به بخش بحرانی استفاده می‌شود</a:t>
            </a:r>
            <a:r>
              <a:rPr lang="en-US" sz="2800" dirty="0">
                <a:effectLst/>
                <a:latin typeface="Calibri" panose="020F0502020204030204" pitchFamily="34" charset="0"/>
                <a:ea typeface="Calibri" panose="020F0502020204030204" pitchFamily="34" charset="0"/>
                <a:cs typeface="B Nazanin" panose="00000400000000000000" pitchFamily="2" charset="-78"/>
              </a:rPr>
              <a:t> flag[</a:t>
            </a:r>
            <a:r>
              <a:rPr lang="en-US" sz="2800" dirty="0" err="1">
                <a:effectLst/>
                <a:latin typeface="Calibri" panose="020F0502020204030204" pitchFamily="34" charset="0"/>
                <a:ea typeface="Calibri" panose="020F0502020204030204" pitchFamily="34" charset="0"/>
                <a:cs typeface="B Nazanin" panose="00000400000000000000" pitchFamily="2" charset="-78"/>
              </a:rPr>
              <a:t>i</a:t>
            </a:r>
            <a:r>
              <a:rPr lang="en-US" sz="2800" dirty="0">
                <a:effectLst/>
                <a:latin typeface="Calibri" panose="020F0502020204030204" pitchFamily="34" charset="0"/>
                <a:ea typeface="Calibri" panose="020F0502020204030204" pitchFamily="34" charset="0"/>
                <a:cs typeface="B Nazanin" panose="00000400000000000000" pitchFamily="2" charset="-78"/>
              </a:rPr>
              <a:t>] = true </a:t>
            </a:r>
            <a:r>
              <a:rPr lang="ar-SA" sz="2800" dirty="0">
                <a:effectLst/>
                <a:latin typeface="Calibri" panose="020F0502020204030204" pitchFamily="34" charset="0"/>
                <a:ea typeface="Calibri" panose="020F0502020204030204" pitchFamily="34" charset="0"/>
                <a:cs typeface="B Nazanin" panose="00000400000000000000" pitchFamily="2" charset="-78"/>
              </a:rPr>
              <a:t>نشان می‌دهد که فرآیند</a:t>
            </a:r>
            <a:r>
              <a:rPr lang="en-US" sz="2800" dirty="0">
                <a:effectLst/>
                <a:latin typeface="Calibri" panose="020F0502020204030204" pitchFamily="34" charset="0"/>
                <a:ea typeface="Calibri" panose="020F0502020204030204" pitchFamily="34" charset="0"/>
                <a:cs typeface="B Nazanin" panose="00000400000000000000" pitchFamily="2" charset="-78"/>
              </a:rPr>
              <a:t> Pi </a:t>
            </a:r>
            <a:r>
              <a:rPr lang="ar-SA" sz="2800" dirty="0">
                <a:effectLst/>
                <a:latin typeface="Calibri" panose="020F0502020204030204" pitchFamily="34" charset="0"/>
                <a:ea typeface="Calibri" panose="020F0502020204030204" pitchFamily="34" charset="0"/>
                <a:cs typeface="B Nazanin" panose="00000400000000000000" pitchFamily="2" charset="-78"/>
              </a:rPr>
              <a:t>آماده است</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0477430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CF2E98EB-3C6E-4D1F-A1AC-C71BB5758CE9}"/>
              </a:ext>
            </a:extLst>
          </p:cNvPr>
          <p:cNvSpPr>
            <a:spLocks noGrp="1"/>
          </p:cNvSpPr>
          <p:nvPr>
            <p:ph type="title"/>
          </p:nvPr>
        </p:nvSpPr>
        <p:spPr>
          <a:xfrm>
            <a:off x="457200" y="150725"/>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a:extLst>
              <a:ext uri="{FF2B5EF4-FFF2-40B4-BE49-F238E27FC236}">
                <a16:creationId xmlns:a16="http://schemas.microsoft.com/office/drawing/2014/main" id="{0E7B25F1-CD9F-4B9A-AC0F-4E9CAF051084}"/>
              </a:ext>
            </a:extLst>
          </p:cNvPr>
          <p:cNvSpPr>
            <a:spLocks noChangeArrowheads="1"/>
          </p:cNvSpPr>
          <p:nvPr/>
        </p:nvSpPr>
        <p:spPr bwMode="auto">
          <a:xfrm>
            <a:off x="1847850" y="1344759"/>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p>
          <a:p>
            <a:pPr>
              <a:buFont typeface="Monotype Sorts" pitchFamily="-84" charset="2"/>
              <a:buNone/>
            </a:pPr>
            <a:r>
              <a:rPr lang="en-US" altLang="en-US" b="1" dirty="0">
                <a:solidFill>
                  <a:srgbClr val="000000"/>
                </a:solidFill>
                <a:latin typeface="Courier New" panose="02070309020205020404" pitchFamily="49" charset="0"/>
              </a:rPr>
              <a:t>	turn = j; </a:t>
            </a:r>
          </a:p>
          <a:p>
            <a:pPr>
              <a:buFont typeface="Monotype Sorts" pitchFamily="-84" charset="2"/>
              <a:buNone/>
            </a:pPr>
            <a:r>
              <a:rPr lang="en-US" altLang="en-US" b="1" dirty="0">
                <a:solidFill>
                  <a:srgbClr val="000000"/>
                </a:solidFill>
                <a:latin typeface="Courier New" panose="02070309020205020404" pitchFamily="49" charset="0"/>
              </a:rPr>
              <a:t>	while (flag[j] &amp;&amp; turn = = j)</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 remainder section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a:t>
            </a:r>
          </a:p>
        </p:txBody>
      </p:sp>
      <p:sp>
        <p:nvSpPr>
          <p:cNvPr id="91139" name="Rectangle 7">
            <a:extLst>
              <a:ext uri="{FF2B5EF4-FFF2-40B4-BE49-F238E27FC236}">
                <a16:creationId xmlns:a16="http://schemas.microsoft.com/office/drawing/2014/main" id="{B7B15958-F979-49E6-8F3B-FF38FC4EE216}"/>
              </a:ext>
            </a:extLst>
          </p:cNvPr>
          <p:cNvSpPr>
            <a:spLocks noChangeArrowheads="1"/>
          </p:cNvSpPr>
          <p:nvPr/>
        </p:nvSpPr>
        <p:spPr bwMode="auto">
          <a:xfrm>
            <a:off x="2673350" y="1911929"/>
            <a:ext cx="4163868" cy="1091044"/>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a:extLst>
              <a:ext uri="{FF2B5EF4-FFF2-40B4-BE49-F238E27FC236}">
                <a16:creationId xmlns:a16="http://schemas.microsoft.com/office/drawing/2014/main" id="{027C69E9-7586-4613-8E76-0F65CBD365FF}"/>
              </a:ext>
            </a:extLst>
          </p:cNvPr>
          <p:cNvSpPr>
            <a:spLocks noChangeArrowheads="1"/>
          </p:cNvSpPr>
          <p:nvPr/>
        </p:nvSpPr>
        <p:spPr bwMode="auto">
          <a:xfrm>
            <a:off x="2673350" y="3709550"/>
            <a:ext cx="3505200" cy="573088"/>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extLst>
      <p:ext uri="{BB962C8B-B14F-4D97-AF65-F5344CB8AC3E}">
        <p14:creationId xmlns:p14="http://schemas.microsoft.com/office/powerpoint/2010/main" val="1931689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9C798-E1DF-4753-9FF5-11182A095892}"/>
              </a:ext>
            </a:extLst>
          </p:cNvPr>
          <p:cNvSpPr>
            <a:spLocks noGrp="1"/>
          </p:cNvSpPr>
          <p:nvPr>
            <p:ph type="title"/>
          </p:nvPr>
        </p:nvSpPr>
        <p:spPr/>
        <p:txBody>
          <a:bodyPr/>
          <a:lstStyle/>
          <a:p>
            <a:endParaRPr lang="en-US"/>
          </a:p>
        </p:txBody>
      </p:sp>
      <p:sp>
        <p:nvSpPr>
          <p:cNvPr id="3" name="Rectangle 3">
            <a:extLst>
              <a:ext uri="{FF2B5EF4-FFF2-40B4-BE49-F238E27FC236}">
                <a16:creationId xmlns:a16="http://schemas.microsoft.com/office/drawing/2014/main" id="{FC008087-CF06-4738-9E93-DC026B083B6A}"/>
              </a:ext>
            </a:extLst>
          </p:cNvPr>
          <p:cNvSpPr>
            <a:spLocks noChangeArrowheads="1"/>
          </p:cNvSpPr>
          <p:nvPr/>
        </p:nvSpPr>
        <p:spPr bwMode="auto">
          <a:xfrm>
            <a:off x="181766" y="1439412"/>
            <a:ext cx="4344741"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kumimoji="1" lang="en-US" altLang="en-US" dirty="0">
                <a:latin typeface="+mn-lt"/>
              </a:rPr>
              <a:t>Process P0:</a:t>
            </a:r>
            <a:endParaRPr kumimoji="1" lang="fa-IR" altLang="en-US" dirty="0">
              <a:latin typeface="+mn-lt"/>
            </a:endParaRPr>
          </a:p>
          <a:p>
            <a:r>
              <a:rPr kumimoji="1" lang="en-US" altLang="en-US" b="1" dirty="0">
                <a:latin typeface="+mn-lt"/>
              </a:rPr>
              <a:t>while</a:t>
            </a:r>
            <a:r>
              <a:rPr kumimoji="1" lang="en-US" altLang="en-US" dirty="0">
                <a:latin typeface="+mn-lt"/>
              </a:rPr>
              <a:t> (true){ </a:t>
            </a:r>
          </a:p>
          <a:p>
            <a:endParaRPr kumimoji="1" lang="en-US" altLang="en-US" dirty="0">
              <a:latin typeface="+mn-lt"/>
            </a:endParaRPr>
          </a:p>
          <a:p>
            <a:r>
              <a:rPr kumimoji="1" lang="en-US" altLang="en-US" dirty="0">
                <a:latin typeface="+mn-lt"/>
              </a:rPr>
              <a:t>	flag[</a:t>
            </a:r>
            <a:r>
              <a:rPr kumimoji="1" lang="fa-IR" altLang="en-US" dirty="0">
                <a:latin typeface="+mn-lt"/>
              </a:rPr>
              <a:t>0</a:t>
            </a:r>
            <a:r>
              <a:rPr kumimoji="1" lang="en-US" altLang="en-US" dirty="0">
                <a:latin typeface="+mn-lt"/>
              </a:rPr>
              <a:t>] = true; </a:t>
            </a:r>
          </a:p>
          <a:p>
            <a:r>
              <a:rPr kumimoji="1" lang="en-US" altLang="en-US" dirty="0">
                <a:latin typeface="+mn-lt"/>
              </a:rPr>
              <a:t>	turn = 1; </a:t>
            </a:r>
          </a:p>
          <a:p>
            <a:r>
              <a:rPr kumimoji="1" lang="en-US" altLang="en-US" dirty="0">
                <a:latin typeface="+mn-lt"/>
              </a:rPr>
              <a:t>	while (flag[1] &amp;&amp; turn = = 1)</a:t>
            </a:r>
          </a:p>
          <a:p>
            <a:r>
              <a:rPr kumimoji="1" lang="en-US" altLang="en-US" dirty="0">
                <a:latin typeface="+mn-lt"/>
              </a:rPr>
              <a:t>		;</a:t>
            </a:r>
          </a:p>
          <a:p>
            <a:endParaRPr kumimoji="1" lang="en-US" altLang="en-US" dirty="0">
              <a:latin typeface="+mn-lt"/>
            </a:endParaRPr>
          </a:p>
          <a:p>
            <a:r>
              <a:rPr kumimoji="1" lang="en-US" altLang="en-US" dirty="0">
                <a:latin typeface="+mn-lt"/>
              </a:rPr>
              <a:t>	   /* critical section */</a:t>
            </a:r>
          </a:p>
          <a:p>
            <a:r>
              <a:rPr kumimoji="1" lang="en-US" altLang="en-US" dirty="0">
                <a:latin typeface="+mn-lt"/>
              </a:rPr>
              <a:t> </a:t>
            </a:r>
          </a:p>
          <a:p>
            <a:r>
              <a:rPr kumimoji="1" lang="en-US" altLang="en-US" dirty="0">
                <a:latin typeface="+mn-lt"/>
              </a:rPr>
              <a:t>	flag[0] = false;</a:t>
            </a:r>
          </a:p>
          <a:p>
            <a:r>
              <a:rPr kumimoji="1" lang="en-US" altLang="en-US" dirty="0">
                <a:latin typeface="+mn-lt"/>
              </a:rPr>
              <a:t> </a:t>
            </a:r>
          </a:p>
          <a:p>
            <a:r>
              <a:rPr kumimoji="1" lang="en-US" altLang="en-US" dirty="0">
                <a:latin typeface="+mn-lt"/>
              </a:rPr>
              <a:t>	/* remainder section */</a:t>
            </a:r>
          </a:p>
          <a:p>
            <a:r>
              <a:rPr kumimoji="1" lang="en-US" altLang="en-US" dirty="0">
                <a:latin typeface="+mn-lt"/>
              </a:rPr>
              <a:t> </a:t>
            </a:r>
          </a:p>
          <a:p>
            <a:r>
              <a:rPr kumimoji="1" lang="en-US" altLang="en-US" dirty="0">
                <a:latin typeface="+mn-lt"/>
              </a:rPr>
              <a:t>}</a:t>
            </a:r>
          </a:p>
        </p:txBody>
      </p:sp>
      <p:sp>
        <p:nvSpPr>
          <p:cNvPr id="5" name="Rectangle 3">
            <a:extLst>
              <a:ext uri="{FF2B5EF4-FFF2-40B4-BE49-F238E27FC236}">
                <a16:creationId xmlns:a16="http://schemas.microsoft.com/office/drawing/2014/main" id="{B1FC398C-EE72-498F-92BA-2DC24092D21A}"/>
              </a:ext>
            </a:extLst>
          </p:cNvPr>
          <p:cNvSpPr>
            <a:spLocks noChangeArrowheads="1"/>
          </p:cNvSpPr>
          <p:nvPr/>
        </p:nvSpPr>
        <p:spPr bwMode="auto">
          <a:xfrm>
            <a:off x="4572000" y="1439412"/>
            <a:ext cx="4277721"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kumimoji="1" lang="en-US" altLang="en-US" dirty="0">
                <a:latin typeface="+mn-lt"/>
              </a:rPr>
              <a:t>Process P1:</a:t>
            </a:r>
            <a:endParaRPr kumimoji="1" lang="fa-IR" altLang="en-US" dirty="0">
              <a:latin typeface="+mn-lt"/>
            </a:endParaRPr>
          </a:p>
          <a:p>
            <a:pPr>
              <a:buFont typeface="Monotype Sorts" pitchFamily="-84" charset="2"/>
              <a:buNone/>
            </a:pPr>
            <a:r>
              <a:rPr kumimoji="1" lang="en-US" altLang="en-US" b="1" dirty="0">
                <a:latin typeface="+mn-lt"/>
              </a:rPr>
              <a:t>while</a:t>
            </a:r>
            <a:r>
              <a:rPr kumimoji="1" lang="en-US" altLang="en-US" dirty="0">
                <a:latin typeface="+mn-lt"/>
              </a:rPr>
              <a:t> (true){ </a:t>
            </a:r>
          </a:p>
          <a:p>
            <a:pPr>
              <a:buFont typeface="Monotype Sorts" pitchFamily="-84" charset="2"/>
              <a:buNone/>
            </a:pPr>
            <a:endParaRPr kumimoji="1" lang="en-US" altLang="en-US" dirty="0">
              <a:latin typeface="+mn-lt"/>
            </a:endParaRPr>
          </a:p>
          <a:p>
            <a:pPr>
              <a:buFont typeface="Monotype Sorts" pitchFamily="-84" charset="2"/>
              <a:buNone/>
            </a:pPr>
            <a:r>
              <a:rPr kumimoji="1" lang="en-US" altLang="en-US" dirty="0">
                <a:latin typeface="+mn-lt"/>
              </a:rPr>
              <a:t>	flag[1] = true; </a:t>
            </a:r>
          </a:p>
          <a:p>
            <a:pPr>
              <a:buFont typeface="Monotype Sorts" pitchFamily="-84" charset="2"/>
              <a:buNone/>
            </a:pPr>
            <a:r>
              <a:rPr kumimoji="1" lang="en-US" altLang="en-US" dirty="0">
                <a:latin typeface="+mn-lt"/>
              </a:rPr>
              <a:t>	turn = 0; </a:t>
            </a:r>
          </a:p>
          <a:p>
            <a:pPr>
              <a:buFont typeface="Monotype Sorts" pitchFamily="-84" charset="2"/>
              <a:buNone/>
            </a:pPr>
            <a:r>
              <a:rPr kumimoji="1" lang="en-US" altLang="en-US" dirty="0">
                <a:latin typeface="+mn-lt"/>
              </a:rPr>
              <a:t>	while (flag[0] &amp;&amp; turn = = 0)</a:t>
            </a:r>
          </a:p>
          <a:p>
            <a:pPr>
              <a:buFont typeface="Monotype Sorts" pitchFamily="-84" charset="2"/>
              <a:buNone/>
            </a:pPr>
            <a:r>
              <a:rPr kumimoji="1" lang="en-US" altLang="en-US" dirty="0">
                <a:latin typeface="+mn-lt"/>
              </a:rPr>
              <a:t>		;</a:t>
            </a:r>
          </a:p>
          <a:p>
            <a:pPr>
              <a:buFont typeface="Monotype Sorts" pitchFamily="-84" charset="2"/>
              <a:buNone/>
            </a:pPr>
            <a:endParaRPr kumimoji="1" lang="en-US" altLang="en-US" dirty="0">
              <a:latin typeface="+mn-lt"/>
            </a:endParaRPr>
          </a:p>
          <a:p>
            <a:pPr>
              <a:buFont typeface="Monotype Sorts" pitchFamily="-84" charset="2"/>
              <a:buNone/>
            </a:pPr>
            <a:r>
              <a:rPr kumimoji="1" lang="en-US" altLang="en-US" dirty="0">
                <a:latin typeface="+mn-lt"/>
              </a:rPr>
              <a:t>	   /* critical section */</a:t>
            </a:r>
          </a:p>
          <a:p>
            <a:pPr>
              <a:buFont typeface="Monotype Sorts" pitchFamily="-84" charset="2"/>
              <a:buNone/>
            </a:pPr>
            <a:r>
              <a:rPr kumimoji="1" lang="en-US" altLang="en-US" dirty="0">
                <a:latin typeface="+mn-lt"/>
              </a:rPr>
              <a:t> </a:t>
            </a:r>
          </a:p>
          <a:p>
            <a:pPr>
              <a:buFont typeface="Monotype Sorts" pitchFamily="-84" charset="2"/>
              <a:buNone/>
            </a:pPr>
            <a:r>
              <a:rPr kumimoji="1" lang="en-US" altLang="en-US" dirty="0">
                <a:latin typeface="+mn-lt"/>
              </a:rPr>
              <a:t>	flag[1] = false;</a:t>
            </a:r>
          </a:p>
          <a:p>
            <a:pPr>
              <a:buFont typeface="Monotype Sorts" pitchFamily="-84" charset="2"/>
              <a:buNone/>
            </a:pPr>
            <a:r>
              <a:rPr kumimoji="1" lang="en-US" altLang="en-US" dirty="0">
                <a:latin typeface="+mn-lt"/>
              </a:rPr>
              <a:t> </a:t>
            </a:r>
          </a:p>
          <a:p>
            <a:pPr>
              <a:buFont typeface="Monotype Sorts" pitchFamily="-84" charset="2"/>
              <a:buNone/>
            </a:pPr>
            <a:r>
              <a:rPr kumimoji="1" lang="en-US" altLang="en-US" dirty="0">
                <a:latin typeface="+mn-lt"/>
              </a:rPr>
              <a:t>	/* remainder section */</a:t>
            </a:r>
          </a:p>
          <a:p>
            <a:pPr>
              <a:buFont typeface="Monotype Sorts" pitchFamily="-84" charset="2"/>
              <a:buNone/>
            </a:pPr>
            <a:r>
              <a:rPr kumimoji="1" lang="en-US" altLang="en-US" dirty="0">
                <a:latin typeface="+mn-lt"/>
              </a:rPr>
              <a:t> </a:t>
            </a:r>
          </a:p>
          <a:p>
            <a:pPr>
              <a:buFont typeface="Monotype Sorts" pitchFamily="-84" charset="2"/>
              <a:buNone/>
            </a:pPr>
            <a:r>
              <a:rPr kumimoji="1" lang="en-US" altLang="en-US" dirty="0">
                <a:latin typeface="+mn-lt"/>
              </a:rPr>
              <a:t>}</a:t>
            </a:r>
          </a:p>
        </p:txBody>
      </p:sp>
      <p:cxnSp>
        <p:nvCxnSpPr>
          <p:cNvPr id="6" name="Straight Connector 5">
            <a:extLst>
              <a:ext uri="{FF2B5EF4-FFF2-40B4-BE49-F238E27FC236}">
                <a16:creationId xmlns:a16="http://schemas.microsoft.com/office/drawing/2014/main" id="{B90FEC1A-C29C-4005-AC5A-40D32F008ABE}"/>
              </a:ext>
            </a:extLst>
          </p:cNvPr>
          <p:cNvCxnSpPr/>
          <p:nvPr/>
        </p:nvCxnSpPr>
        <p:spPr bwMode="auto">
          <a:xfrm>
            <a:off x="4526508" y="1307484"/>
            <a:ext cx="0" cy="3596612"/>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1118485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F6EE5EE8-951A-4FEB-8184-6A9E5E369423}"/>
              </a:ext>
            </a:extLst>
          </p:cNvPr>
          <p:cNvSpPr>
            <a:spLocks noGrp="1" noChangeArrowheads="1"/>
          </p:cNvSpPr>
          <p:nvPr>
            <p:ph type="title"/>
          </p:nvPr>
        </p:nvSpPr>
        <p:spPr>
          <a:xfrm>
            <a:off x="1505387" y="149090"/>
            <a:ext cx="7586662" cy="576262"/>
          </a:xfrm>
        </p:spPr>
        <p:txBody>
          <a:bodyPr/>
          <a:lstStyle/>
          <a:p>
            <a:pPr eaLnBrk="1" hangingPunct="1"/>
            <a:r>
              <a:rPr lang="fa-IR" altLang="en-US" dirty="0">
                <a:cs typeface="B Nazanin" panose="00000400000000000000" pitchFamily="2" charset="-78"/>
              </a:rPr>
              <a:t>صحت راه‌کار پترسون</a:t>
            </a:r>
            <a:endParaRPr lang="en-US" altLang="en-US" dirty="0"/>
          </a:p>
        </p:txBody>
      </p:sp>
      <p:sp>
        <p:nvSpPr>
          <p:cNvPr id="27650" name="Rectangle 3">
            <a:extLst>
              <a:ext uri="{FF2B5EF4-FFF2-40B4-BE49-F238E27FC236}">
                <a16:creationId xmlns:a16="http://schemas.microsoft.com/office/drawing/2014/main" id="{4735745B-8EF9-43B8-B481-A54E5AACD3DC}"/>
              </a:ext>
            </a:extLst>
          </p:cNvPr>
          <p:cNvSpPr>
            <a:spLocks noGrp="1" noChangeArrowheads="1"/>
          </p:cNvSpPr>
          <p:nvPr>
            <p:ph idx="1"/>
          </p:nvPr>
        </p:nvSpPr>
        <p:spPr>
          <a:xfrm>
            <a:off x="806450" y="1233488"/>
            <a:ext cx="7623175" cy="4422775"/>
          </a:xfrm>
        </p:spPr>
        <p:txBody>
          <a:bodyPr/>
          <a:lstStyle/>
          <a:p>
            <a:pPr marL="0" marR="0" algn="r" rtl="1">
              <a:lnSpc>
                <a:spcPct val="107000"/>
              </a:lnSpc>
              <a:spcBef>
                <a:spcPts val="0"/>
              </a:spcBef>
              <a:spcAft>
                <a:spcPts val="800"/>
              </a:spcAf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قابل اثبات است که سه الزام بخش بحرانی رعایت می‌شوند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mj-lt"/>
              <a:buAutoNum type="arabicPeriod"/>
              <a:tabLst>
                <a:tab pos="457200" algn="l"/>
              </a:tabLst>
            </a:pP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درگیری متقابل حفظ می‌شود</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فرآیند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Pi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فقط در صورتی وارد بخش بحرانی می‌شود که</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یا </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flag[j] = false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یا</a:t>
            </a: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 اینکه </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turn = </a:t>
            </a:r>
            <a:r>
              <a:rPr lang="en-US" sz="3200" dirty="0" err="1">
                <a:effectLst/>
                <a:latin typeface="Times New Roman" panose="02020603050405020304" pitchFamily="18" charset="0"/>
                <a:ea typeface="Times New Roman" panose="02020603050405020304" pitchFamily="18" charset="0"/>
                <a:cs typeface="B Nazanin" panose="00000400000000000000" pitchFamily="2" charset="-78"/>
              </a:rPr>
              <a:t>i</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Font typeface="+mj-lt"/>
              <a:buAutoNum type="arabicPeriod" startAt="2"/>
              <a:tabLst>
                <a:tab pos="457200" algn="l"/>
              </a:tabLst>
            </a:pP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الزام پیشرفت برآورده می‌شود</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mj-lt"/>
              <a:buAutoNum type="arabicPeriod" startAt="2"/>
              <a:tabLst>
                <a:tab pos="457200" algn="l"/>
              </a:tabLst>
            </a:pP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الزام انتظار محدود رعایت می‌شود</a:t>
            </a:r>
            <a:r>
              <a:rPr lang="en-US" sz="32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a:lnSpc>
                <a:spcPct val="90000"/>
              </a:lnSpc>
            </a:pPr>
            <a:endParaRPr lang="en-US" altLang="en-US"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1067D5A1-2272-4024-A672-3810F79D6CA4}"/>
              </a:ext>
            </a:extLst>
          </p:cNvPr>
          <p:cNvSpPr>
            <a:spLocks noGrp="1"/>
          </p:cNvSpPr>
          <p:nvPr>
            <p:ph type="title"/>
          </p:nvPr>
        </p:nvSpPr>
        <p:spPr>
          <a:xfrm>
            <a:off x="832428" y="105026"/>
            <a:ext cx="8229600" cy="576262"/>
          </a:xfrm>
        </p:spPr>
        <p:txBody>
          <a:bodyPr/>
          <a:lstStyle/>
          <a:p>
            <a:r>
              <a:rPr lang="fa-IR" altLang="en-US" sz="2400" dirty="0">
                <a:cs typeface="B Nazanin" panose="00000400000000000000" pitchFamily="2" charset="-78"/>
              </a:rPr>
              <a:t>راه‌کار پترسون و معماری مدرن</a:t>
            </a:r>
            <a:endParaRPr lang="en-US" altLang="en-US" sz="2400" dirty="0"/>
          </a:p>
        </p:txBody>
      </p:sp>
      <p:sp>
        <p:nvSpPr>
          <p:cNvPr id="92162" name="Content Placeholder 2">
            <a:extLst>
              <a:ext uri="{FF2B5EF4-FFF2-40B4-BE49-F238E27FC236}">
                <a16:creationId xmlns:a16="http://schemas.microsoft.com/office/drawing/2014/main" id="{89885C33-B298-418F-A5A5-C557B769448D}"/>
              </a:ext>
            </a:extLst>
          </p:cNvPr>
          <p:cNvSpPr>
            <a:spLocks noGrp="1"/>
          </p:cNvSpPr>
          <p:nvPr>
            <p:ph idx="1"/>
          </p:nvPr>
        </p:nvSpPr>
        <p:spPr>
          <a:xfrm>
            <a:off x="295701" y="1233488"/>
            <a:ext cx="8634483" cy="5249199"/>
          </a:xfrm>
        </p:spPr>
        <p:txBody>
          <a:bodyPr/>
          <a:lstStyle/>
          <a:p>
            <a:pPr marL="0" marR="0"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اگرچه راه‌حل پترسون برای نشان دادن یک الگوریتم مفید است، اما تضمینی برای کارکرد آن روی معماری‌های مدرن وجود ندارد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برای بهبود عملکرد، پردازنده‌ها و/یا کامپایلرها ممکن است عملیات‌هایی که وابستگی ندارند را مرتب‌سازی مجدد</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 (ترتیب دستورات جابجا شود)</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کنند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درک اینکه چرا این راه‌حل کار نمی‌کند برای درک بهتر شرایط مسابقه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(Race Conditions)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مفید است</a:t>
            </a:r>
            <a:endParaRPr lang="fa-IR" sz="2800" dirty="0">
              <a:effectLst/>
              <a:latin typeface="Times New Roman" panose="02020603050405020304" pitchFamily="18" charset="0"/>
              <a:ea typeface="Times New Roman" panose="02020603050405020304" pitchFamily="18" charset="0"/>
              <a:cs typeface="B Nazanin" panose="00000400000000000000" pitchFamily="2" charset="-78"/>
            </a:endParaRPr>
          </a:p>
          <a:p>
            <a:pPr marL="400050" lvl="1"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برای تک-رشته‌ای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(Single-Threaded)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این موضوع مشکلی ندارد زیرا نتیجه همیشه یکسان خواهد بود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برای چندرشته‌ای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(Multithreaded)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مرتب‌سازی مجدد ممکن است نتایج ناسازگار یا غیرمنتظره ایجاد کند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a:extLst>
              <a:ext uri="{FF2B5EF4-FFF2-40B4-BE49-F238E27FC236}">
                <a16:creationId xmlns:a16="http://schemas.microsoft.com/office/drawing/2014/main" id="{5C3632D9-3079-4203-A048-4564E49B2FE0}"/>
              </a:ext>
            </a:extLst>
          </p:cNvPr>
          <p:cNvSpPr>
            <a:spLocks noGrp="1"/>
          </p:cNvSpPr>
          <p:nvPr>
            <p:ph type="title"/>
          </p:nvPr>
        </p:nvSpPr>
        <p:spPr>
          <a:xfrm>
            <a:off x="457200" y="131003"/>
            <a:ext cx="8229600" cy="576262"/>
          </a:xfrm>
        </p:spPr>
        <p:txBody>
          <a:bodyPr/>
          <a:lstStyle/>
          <a:p>
            <a:r>
              <a:rPr lang="fa-IR" altLang="en-US" dirty="0">
                <a:cs typeface="B Nazanin" panose="00000400000000000000" pitchFamily="2" charset="-78"/>
              </a:rPr>
              <a:t>مثال معماری مدرن</a:t>
            </a:r>
            <a:endParaRPr lang="en-US" altLang="en-US" dirty="0"/>
          </a:p>
        </p:txBody>
      </p:sp>
      <p:sp>
        <p:nvSpPr>
          <p:cNvPr id="93186" name="Content Placeholder 2">
            <a:extLst>
              <a:ext uri="{FF2B5EF4-FFF2-40B4-BE49-F238E27FC236}">
                <a16:creationId xmlns:a16="http://schemas.microsoft.com/office/drawing/2014/main" id="{730E5BB2-522A-41D0-BC1E-7C95D63AAB07}"/>
              </a:ext>
            </a:extLst>
          </p:cNvPr>
          <p:cNvSpPr>
            <a:spLocks noGrp="1"/>
          </p:cNvSpPr>
          <p:nvPr>
            <p:ph idx="1"/>
          </p:nvPr>
        </p:nvSpPr>
        <p:spPr>
          <a:xfrm>
            <a:off x="806450" y="1233489"/>
            <a:ext cx="7727950" cy="4643436"/>
          </a:xfrm>
        </p:spPr>
        <p:txBody>
          <a:bodyPr/>
          <a:lstStyle/>
          <a:p>
            <a:r>
              <a:rPr lang="en-US" altLang="en-US" dirty="0"/>
              <a:t>Two threads share the data:</a:t>
            </a:r>
            <a:br>
              <a:rPr lang="en-US" altLang="en-US" dirty="0">
                <a:latin typeface="Consolas" panose="020B0609020204030204" pitchFamily="49" charset="0"/>
              </a:rPr>
            </a:br>
            <a:r>
              <a:rPr lang="en-US" altLang="en-US" dirty="0">
                <a:latin typeface="Consolas" panose="020B0609020204030204" pitchFamily="49" charset="0"/>
              </a:rPr>
              <a:t>   </a:t>
            </a:r>
            <a:r>
              <a:rPr lang="en-US" altLang="en-US" dirty="0" err="1">
                <a:latin typeface="Consolas" panose="020B0609020204030204" pitchFamily="49" charset="0"/>
                <a:cs typeface="Courier New" panose="02070309020205020404" pitchFamily="49" charset="0"/>
              </a:rPr>
              <a:t>boolean</a:t>
            </a:r>
            <a:r>
              <a:rPr lang="en-US" altLang="en-US" dirty="0">
                <a:latin typeface="Consolas" panose="020B0609020204030204" pitchFamily="49" charset="0"/>
                <a:cs typeface="Courier New" panose="02070309020205020404" pitchFamily="49" charset="0"/>
              </a:rPr>
              <a:t> flag = false;</a:t>
            </a:r>
            <a:br>
              <a:rPr lang="en-US" altLang="en-US" dirty="0">
                <a:latin typeface="Consolas" panose="020B0609020204030204" pitchFamily="49" charset="0"/>
                <a:cs typeface="Courier New" panose="02070309020205020404" pitchFamily="49" charset="0"/>
              </a:rPr>
            </a:br>
            <a:r>
              <a:rPr lang="en-US" altLang="en-US" dirty="0">
                <a:latin typeface="Consolas" panose="020B0609020204030204" pitchFamily="49" charset="0"/>
                <a:cs typeface="Courier New" panose="02070309020205020404" pitchFamily="49" charset="0"/>
              </a:rPr>
              <a:t>   int x = 0;</a:t>
            </a:r>
          </a:p>
          <a:p>
            <a:r>
              <a:rPr lang="en-US" altLang="en-US" dirty="0"/>
              <a:t>Thread 1 performs</a:t>
            </a:r>
            <a:br>
              <a:rPr lang="en-US" altLang="en-US" dirty="0">
                <a:latin typeface="Consolas" panose="020B0609020204030204" pitchFamily="49" charset="0"/>
              </a:rPr>
            </a:br>
            <a:r>
              <a:rPr lang="en-US" altLang="en-US" dirty="0">
                <a:latin typeface="Consolas" panose="020B0609020204030204" pitchFamily="49" charset="0"/>
              </a:rPr>
              <a:t>   </a:t>
            </a:r>
            <a:r>
              <a:rPr lang="en-US" altLang="en-US" dirty="0">
                <a:latin typeface="Consolas" panose="020B0609020204030204" pitchFamily="49" charset="0"/>
                <a:cs typeface="Courier New" panose="02070309020205020404" pitchFamily="49" charset="0"/>
              </a:rPr>
              <a:t>while (!flag)	;</a:t>
            </a:r>
            <a:br>
              <a:rPr lang="en-US" altLang="en-US" dirty="0">
                <a:latin typeface="Consolas" panose="020B0609020204030204" pitchFamily="49" charset="0"/>
                <a:cs typeface="Courier New" panose="02070309020205020404" pitchFamily="49" charset="0"/>
              </a:rPr>
            </a:br>
            <a:r>
              <a:rPr lang="en-US" altLang="en-US" dirty="0">
                <a:latin typeface="Consolas" panose="020B0609020204030204" pitchFamily="49" charset="0"/>
                <a:cs typeface="Courier New" panose="02070309020205020404" pitchFamily="49" charset="0"/>
              </a:rPr>
              <a:t>   print x</a:t>
            </a:r>
          </a:p>
          <a:p>
            <a:r>
              <a:rPr lang="en-US" altLang="en-US" dirty="0"/>
              <a:t>Thread 2 performs</a:t>
            </a:r>
            <a:br>
              <a:rPr lang="en-US" altLang="en-US" dirty="0">
                <a:latin typeface="Consolas" panose="020B0609020204030204" pitchFamily="49" charset="0"/>
              </a:rPr>
            </a:br>
            <a:r>
              <a:rPr lang="en-US" altLang="en-US" dirty="0">
                <a:latin typeface="Consolas" panose="020B0609020204030204" pitchFamily="49" charset="0"/>
              </a:rPr>
              <a:t>       </a:t>
            </a:r>
            <a:r>
              <a:rPr lang="en-US" altLang="en-US" dirty="0">
                <a:latin typeface="Consolas" panose="020B0609020204030204" pitchFamily="49" charset="0"/>
                <a:cs typeface="Courier New" panose="02070309020205020404" pitchFamily="49" charset="0"/>
              </a:rPr>
              <a:t>x = 100;</a:t>
            </a:r>
            <a:br>
              <a:rPr lang="en-US" altLang="en-US" dirty="0">
                <a:latin typeface="Consolas" panose="020B0609020204030204" pitchFamily="49" charset="0"/>
                <a:cs typeface="Courier New" panose="02070309020205020404" pitchFamily="49" charset="0"/>
              </a:rPr>
            </a:br>
            <a:r>
              <a:rPr lang="en-US" altLang="en-US" dirty="0">
                <a:latin typeface="Consolas" panose="020B0609020204030204" pitchFamily="49" charset="0"/>
                <a:cs typeface="Courier New" panose="02070309020205020404" pitchFamily="49" charset="0"/>
              </a:rPr>
              <a:t>   flag = true</a:t>
            </a:r>
          </a:p>
          <a:p>
            <a:r>
              <a:rPr lang="en-US" altLang="en-US" dirty="0"/>
              <a:t>What is the expected output?</a:t>
            </a:r>
          </a:p>
          <a:p>
            <a:pPr marL="0" indent="0">
              <a:buNone/>
            </a:pPr>
            <a:r>
              <a:rPr lang="en-US" altLang="en-US" dirty="0"/>
              <a:t>            </a:t>
            </a:r>
          </a:p>
          <a:p>
            <a:pPr marL="0" indent="0">
              <a:buNone/>
            </a:pPr>
            <a:r>
              <a:rPr lang="en-US" altLang="en-US" dirty="0"/>
              <a:t>            </a:t>
            </a:r>
          </a:p>
        </p:txBody>
      </p:sp>
      <p:sp>
        <p:nvSpPr>
          <p:cNvPr id="2" name="TextBox 1">
            <a:extLst>
              <a:ext uri="{FF2B5EF4-FFF2-40B4-BE49-F238E27FC236}">
                <a16:creationId xmlns:a16="http://schemas.microsoft.com/office/drawing/2014/main" id="{4E9A5473-147F-4669-8110-D8DF8A3CF96B}"/>
              </a:ext>
            </a:extLst>
          </p:cNvPr>
          <p:cNvSpPr txBox="1"/>
          <p:nvPr/>
        </p:nvSpPr>
        <p:spPr>
          <a:xfrm>
            <a:off x="1595537" y="4758607"/>
            <a:ext cx="2733870" cy="369332"/>
          </a:xfrm>
          <a:prstGeom prst="rect">
            <a:avLst/>
          </a:prstGeom>
          <a:noFill/>
        </p:spPr>
        <p:txBody>
          <a:bodyPr wrap="square" rtlCol="0">
            <a:spAutoFit/>
          </a:bodyPr>
          <a:lstStyle/>
          <a:p>
            <a:r>
              <a:rPr lang="en-US" dirty="0">
                <a:latin typeface="+mn-lt"/>
              </a:rPr>
              <a:t>100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1111833" y="182958"/>
            <a:ext cx="8229600" cy="576262"/>
          </a:xfrm>
        </p:spPr>
        <p:txBody>
          <a:bodyPr/>
          <a:lstStyle/>
          <a:p>
            <a:r>
              <a:rPr lang="fa-IR" altLang="en-US" dirty="0">
                <a:cs typeface="B Nazanin" panose="00000400000000000000" pitchFamily="2" charset="-78"/>
              </a:rPr>
              <a:t>مثال معماری مدرن (ادامه)</a:t>
            </a:r>
            <a:endParaRPr lang="en-US" altLang="en-US" dirty="0"/>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a:xfrm>
            <a:off x="806449" y="1233489"/>
            <a:ext cx="8229599" cy="4294476"/>
          </a:xfrm>
        </p:spPr>
        <p:txBody>
          <a:bodyPr/>
          <a:lstStyle/>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با این حال، از آنجایی که متغیرهای</a:t>
            </a:r>
            <a:r>
              <a:rPr lang="en-US" sz="2400" dirty="0">
                <a:effectLst/>
                <a:latin typeface="Calibri" panose="020F0502020204030204" pitchFamily="34" charset="0"/>
                <a:ea typeface="Calibri" panose="020F0502020204030204" pitchFamily="34" charset="0"/>
                <a:cs typeface="B Nazanin" panose="00000400000000000000" pitchFamily="2" charset="-78"/>
              </a:rPr>
              <a:t> flag </a:t>
            </a:r>
            <a:r>
              <a:rPr lang="ar-SA" sz="2400" dirty="0">
                <a:effectLst/>
                <a:latin typeface="Calibri" panose="020F0502020204030204" pitchFamily="34" charset="0"/>
                <a:ea typeface="Calibri" panose="020F0502020204030204" pitchFamily="34" charset="0"/>
                <a:cs typeface="B Nazanin" panose="00000400000000000000" pitchFamily="2" charset="-78"/>
              </a:rPr>
              <a:t>و</a:t>
            </a:r>
            <a:r>
              <a:rPr lang="en-US" sz="2400" dirty="0">
                <a:effectLst/>
                <a:latin typeface="Calibri" panose="020F0502020204030204" pitchFamily="34" charset="0"/>
                <a:ea typeface="Calibri" panose="020F0502020204030204" pitchFamily="34" charset="0"/>
                <a:cs typeface="B Nazanin" panose="00000400000000000000" pitchFamily="2" charset="-78"/>
              </a:rPr>
              <a:t> x </a:t>
            </a:r>
            <a:r>
              <a:rPr lang="ar-SA" sz="2400" dirty="0">
                <a:effectLst/>
                <a:latin typeface="Calibri" panose="020F0502020204030204" pitchFamily="34" charset="0"/>
                <a:ea typeface="Calibri" panose="020F0502020204030204" pitchFamily="34" charset="0"/>
                <a:cs typeface="B Nazanin" panose="00000400000000000000" pitchFamily="2" charset="-78"/>
              </a:rPr>
              <a:t>مستقل از یکدیگر هستند، دستورالعمل‌های زیر</a:t>
            </a:r>
            <a:r>
              <a:rPr lang="en-US" sz="2400" dirty="0">
                <a:effectLst/>
                <a:latin typeface="Calibri" panose="020F0502020204030204" pitchFamily="34" charset="0"/>
                <a:ea typeface="Calibri" panose="020F0502020204030204" pitchFamily="34" charset="0"/>
                <a:cs typeface="B Nazanin" panose="00000400000000000000" pitchFamily="2" charset="-78"/>
              </a:rPr>
              <a:t>:</a:t>
            </a:r>
            <a:br>
              <a:rPr lang="en-US" altLang="en-US" sz="2400" dirty="0"/>
            </a:br>
            <a:r>
              <a:rPr lang="en-US" altLang="en-US" sz="2400" dirty="0"/>
              <a:t>            </a:t>
            </a:r>
            <a:r>
              <a:rPr lang="en-US" altLang="en-US" sz="2400" dirty="0">
                <a:latin typeface="Courier New" panose="02070309020205020404" pitchFamily="49" charset="0"/>
                <a:cs typeface="Courier New" panose="02070309020205020404" pitchFamily="49" charset="0"/>
              </a:rPr>
              <a:t>flag = true;</a:t>
            </a:r>
            <a:br>
              <a:rPr lang="en-US" altLang="en-US" sz="2400" dirty="0">
                <a:latin typeface="Courier New" panose="02070309020205020404" pitchFamily="49" charset="0"/>
                <a:cs typeface="Courier New" panose="02070309020205020404" pitchFamily="49" charset="0"/>
              </a:rPr>
            </a:br>
            <a:r>
              <a:rPr lang="en-US" altLang="en-US" sz="2400" dirty="0">
                <a:latin typeface="Courier New" panose="02070309020205020404" pitchFamily="49" charset="0"/>
                <a:cs typeface="Courier New" panose="02070309020205020404" pitchFamily="49" charset="0"/>
              </a:rPr>
              <a:t>      x = 100;</a:t>
            </a: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en-US" altLang="en-US" sz="2400" dirty="0">
                <a:latin typeface="Courier New" panose="02070309020205020404" pitchFamily="49" charset="0"/>
                <a:cs typeface="Courier New" panose="02070309020205020404" pitchFamily="49" charset="0"/>
              </a:rPr>
              <a:t>   </a:t>
            </a:r>
            <a:r>
              <a:rPr lang="ar-SA" sz="2400" dirty="0">
                <a:effectLst/>
                <a:latin typeface="Calibri" panose="020F0502020204030204" pitchFamily="34" charset="0"/>
                <a:ea typeface="Calibri" panose="020F0502020204030204" pitchFamily="34" charset="0"/>
                <a:cs typeface="B Nazanin" panose="00000400000000000000" pitchFamily="2" charset="-78"/>
              </a:rPr>
              <a:t>ممکن است برای رشته </a:t>
            </a:r>
            <a:r>
              <a:rPr lang="fa-IR" sz="2400" dirty="0">
                <a:effectLst/>
                <a:latin typeface="Calibri" panose="020F0502020204030204" pitchFamily="34" charset="0"/>
                <a:ea typeface="Calibri" panose="020F0502020204030204" pitchFamily="34" charset="0"/>
                <a:cs typeface="B Nazanin" panose="00000400000000000000" pitchFamily="2" charset="-78"/>
              </a:rPr>
              <a:t>۲</a:t>
            </a:r>
            <a:r>
              <a:rPr lang="ar-SA" sz="2400" dirty="0">
                <a:effectLst/>
                <a:latin typeface="Calibri" panose="020F0502020204030204" pitchFamily="34" charset="0"/>
                <a:ea typeface="Calibri" panose="020F0502020204030204" pitchFamily="34" charset="0"/>
                <a:cs typeface="B Nazanin" panose="00000400000000000000" pitchFamily="2" charset="-78"/>
              </a:rPr>
              <a:t> مرتب‌سازی مجدد شوند</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اگر این اتفاق بیفتد، خروجی ممکن است 0 شود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br>
              <a:rPr lang="en-US" altLang="en-US" sz="2400" dirty="0"/>
            </a:br>
            <a:br>
              <a:rPr lang="en-US" altLang="en-US" sz="2400" dirty="0"/>
            </a:br>
            <a:br>
              <a:rPr lang="en-US" altLang="en-US" sz="2400" dirty="0"/>
            </a:br>
            <a:endParaRPr lang="en-US" altLang="en-US" sz="2400" dirty="0"/>
          </a:p>
        </p:txBody>
      </p:sp>
      <p:sp>
        <p:nvSpPr>
          <p:cNvPr id="5" name="TextBox 4">
            <a:extLst>
              <a:ext uri="{FF2B5EF4-FFF2-40B4-BE49-F238E27FC236}">
                <a16:creationId xmlns:a16="http://schemas.microsoft.com/office/drawing/2014/main" id="{22B6F63F-FCD5-4116-BB2B-16E0A3050FAF}"/>
              </a:ext>
            </a:extLst>
          </p:cNvPr>
          <p:cNvSpPr txBox="1"/>
          <p:nvPr/>
        </p:nvSpPr>
        <p:spPr>
          <a:xfrm>
            <a:off x="806449" y="4008406"/>
            <a:ext cx="4876800" cy="2492990"/>
          </a:xfrm>
          <a:prstGeom prst="rect">
            <a:avLst/>
          </a:prstGeom>
          <a:noFill/>
        </p:spPr>
        <p:txBody>
          <a:bodyPr wrap="square">
            <a:spAutoFit/>
          </a:bodyPr>
          <a:lstStyle/>
          <a:p>
            <a:r>
              <a:rPr lang="en-US" altLang="en-US" sz="1200" dirty="0"/>
              <a:t>Two threads share the data:</a:t>
            </a:r>
            <a:br>
              <a:rPr lang="en-US" altLang="en-US" sz="1200" dirty="0"/>
            </a:br>
            <a:r>
              <a:rPr lang="en-US" altLang="en-US" sz="1200" dirty="0"/>
              <a:t>      </a:t>
            </a:r>
            <a:r>
              <a:rPr lang="en-US" altLang="en-US" sz="1200" dirty="0" err="1">
                <a:latin typeface="Courier New" panose="02070309020205020404" pitchFamily="49" charset="0"/>
                <a:cs typeface="Courier New" panose="02070309020205020404" pitchFamily="49" charset="0"/>
              </a:rPr>
              <a:t>boolean</a:t>
            </a:r>
            <a:r>
              <a:rPr lang="en-US" altLang="en-US" sz="1200" dirty="0">
                <a:latin typeface="Courier New" panose="02070309020205020404" pitchFamily="49" charset="0"/>
                <a:cs typeface="Courier New" panose="02070309020205020404" pitchFamily="49" charset="0"/>
              </a:rPr>
              <a:t> flag = false;</a:t>
            </a:r>
            <a:br>
              <a:rPr lang="en-US" altLang="en-US" sz="1200" dirty="0">
                <a:latin typeface="Courier New" panose="02070309020205020404" pitchFamily="49" charset="0"/>
                <a:cs typeface="Courier New" panose="02070309020205020404" pitchFamily="49" charset="0"/>
              </a:rPr>
            </a:br>
            <a:r>
              <a:rPr lang="en-US" altLang="en-US" sz="1200" dirty="0">
                <a:latin typeface="Courier New" panose="02070309020205020404" pitchFamily="49" charset="0"/>
                <a:cs typeface="Courier New" panose="02070309020205020404" pitchFamily="49" charset="0"/>
              </a:rPr>
              <a:t>   int x = 0;</a:t>
            </a:r>
          </a:p>
          <a:p>
            <a:r>
              <a:rPr lang="en-US" altLang="en-US" sz="1200" dirty="0"/>
              <a:t>Thread 1 performs</a:t>
            </a:r>
            <a:br>
              <a:rPr lang="en-US" altLang="en-US" sz="1200" dirty="0"/>
            </a:br>
            <a:r>
              <a:rPr lang="en-US" altLang="en-US" sz="1200" dirty="0"/>
              <a:t>      </a:t>
            </a:r>
            <a:r>
              <a:rPr lang="en-US" altLang="en-US" sz="1200" dirty="0">
                <a:latin typeface="Courier New" panose="02070309020205020404" pitchFamily="49" charset="0"/>
                <a:cs typeface="Courier New" panose="02070309020205020404" pitchFamily="49" charset="0"/>
              </a:rPr>
              <a:t>while (!flag)</a:t>
            </a:r>
            <a:br>
              <a:rPr lang="en-US" altLang="en-US" sz="1200" dirty="0">
                <a:latin typeface="Courier New" panose="02070309020205020404" pitchFamily="49" charset="0"/>
                <a:cs typeface="Courier New" panose="02070309020205020404" pitchFamily="49" charset="0"/>
              </a:rPr>
            </a:br>
            <a:r>
              <a:rPr lang="en-US" altLang="en-US" sz="1200" dirty="0">
                <a:latin typeface="Courier New" panose="02070309020205020404" pitchFamily="49" charset="0"/>
                <a:cs typeface="Courier New" panose="02070309020205020404" pitchFamily="49" charset="0"/>
              </a:rPr>
              <a:t>	;</a:t>
            </a:r>
            <a:br>
              <a:rPr lang="en-US" altLang="en-US" sz="1200" dirty="0">
                <a:latin typeface="Courier New" panose="02070309020205020404" pitchFamily="49" charset="0"/>
                <a:cs typeface="Courier New" panose="02070309020205020404" pitchFamily="49" charset="0"/>
              </a:rPr>
            </a:br>
            <a:r>
              <a:rPr lang="en-US" altLang="en-US" sz="1200" dirty="0">
                <a:latin typeface="Courier New" panose="02070309020205020404" pitchFamily="49" charset="0"/>
                <a:cs typeface="Courier New" panose="02070309020205020404" pitchFamily="49" charset="0"/>
              </a:rPr>
              <a:t>   print x</a:t>
            </a:r>
          </a:p>
          <a:p>
            <a:r>
              <a:rPr lang="en-US" altLang="en-US" sz="1200" dirty="0"/>
              <a:t>Thread 2 performs</a:t>
            </a:r>
            <a:endParaRPr lang="fa-IR" altLang="en-US" sz="1200" dirty="0"/>
          </a:p>
          <a:p>
            <a:r>
              <a:rPr lang="fa-IR" altLang="en-US" sz="1200" dirty="0">
                <a:latin typeface="Courier New" panose="02070309020205020404" pitchFamily="49" charset="0"/>
                <a:cs typeface="Courier New" panose="02070309020205020404" pitchFamily="49" charset="0"/>
              </a:rPr>
              <a:t>    </a:t>
            </a:r>
            <a:r>
              <a:rPr lang="en-US" altLang="en-US" sz="1200" dirty="0">
                <a:latin typeface="Courier New" panose="02070309020205020404" pitchFamily="49" charset="0"/>
                <a:cs typeface="Courier New" panose="02070309020205020404" pitchFamily="49" charset="0"/>
              </a:rPr>
              <a:t>flag = true</a:t>
            </a:r>
            <a:br>
              <a:rPr lang="en-US" altLang="en-US" sz="1200" dirty="0"/>
            </a:br>
            <a:r>
              <a:rPr lang="en-US" altLang="en-US" sz="1200" dirty="0"/>
              <a:t>       </a:t>
            </a:r>
            <a:r>
              <a:rPr lang="en-US" altLang="en-US" sz="1200" dirty="0">
                <a:latin typeface="Courier New" panose="02070309020205020404" pitchFamily="49" charset="0"/>
                <a:cs typeface="Courier New" panose="02070309020205020404" pitchFamily="49" charset="0"/>
              </a:rPr>
              <a:t>x = 100;</a:t>
            </a:r>
            <a:br>
              <a:rPr lang="en-US" altLang="en-US" sz="1200" dirty="0">
                <a:latin typeface="Courier New" panose="02070309020205020404" pitchFamily="49" charset="0"/>
                <a:cs typeface="Courier New" panose="02070309020205020404" pitchFamily="49" charset="0"/>
              </a:rPr>
            </a:br>
            <a:r>
              <a:rPr lang="en-US" altLang="en-US" sz="1200" dirty="0"/>
              <a:t>What is the expected output?</a:t>
            </a:r>
          </a:p>
          <a:p>
            <a:pPr marL="0" indent="0">
              <a:buNone/>
            </a:pPr>
            <a:r>
              <a:rPr lang="en-US" altLang="en-US" sz="1200" dirty="0"/>
              <a:t>            </a:t>
            </a:r>
          </a:p>
          <a:p>
            <a:pPr marL="0" indent="0">
              <a:buNone/>
            </a:pPr>
            <a:r>
              <a:rPr lang="en-US" altLang="en-US" sz="1200" dirty="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DC2AFEC-9489-4369-A98D-E09A016F4859}"/>
              </a:ext>
            </a:extLst>
          </p:cNvPr>
          <p:cNvSpPr>
            <a:spLocks noGrp="1"/>
          </p:cNvSpPr>
          <p:nvPr>
            <p:ph type="title"/>
          </p:nvPr>
        </p:nvSpPr>
        <p:spPr>
          <a:xfrm>
            <a:off x="963549" y="182958"/>
            <a:ext cx="8229600" cy="576262"/>
          </a:xfrm>
        </p:spPr>
        <p:txBody>
          <a:bodyPr/>
          <a:lstStyle/>
          <a:p>
            <a:r>
              <a:rPr lang="en-US" altLang="en-US" dirty="0"/>
              <a:t>Peterson’s Solution Revisited</a:t>
            </a:r>
          </a:p>
        </p:txBody>
      </p:sp>
      <p:sp>
        <p:nvSpPr>
          <p:cNvPr id="94210" name="Content Placeholder 2">
            <a:extLst>
              <a:ext uri="{FF2B5EF4-FFF2-40B4-BE49-F238E27FC236}">
                <a16:creationId xmlns:a16="http://schemas.microsoft.com/office/drawing/2014/main" id="{B804D0BA-089E-4C7B-A636-4819CEAC6563}"/>
              </a:ext>
            </a:extLst>
          </p:cNvPr>
          <p:cNvSpPr>
            <a:spLocks noGrp="1"/>
          </p:cNvSpPr>
          <p:nvPr>
            <p:ph idx="1"/>
          </p:nvPr>
        </p:nvSpPr>
        <p:spPr/>
        <p:txBody>
          <a:bodyPr/>
          <a:lstStyle/>
          <a:p>
            <a:pPr algn="r" rtl="1"/>
            <a:r>
              <a:rPr lang="ar-SA" sz="2400" dirty="0">
                <a:effectLst/>
                <a:latin typeface="Calibri" panose="020F0502020204030204" pitchFamily="34" charset="0"/>
                <a:ea typeface="Calibri" panose="020F0502020204030204" pitchFamily="34" charset="0"/>
                <a:cs typeface="B Nazanin" panose="00000400000000000000" pitchFamily="2" charset="-78"/>
              </a:rPr>
              <a:t>اثر مرتب‌سازی مجدد دستورالعمل در راه‌حل پترسون</a:t>
            </a:r>
            <a:endParaRPr lang="en-US" altLang="en-US" sz="2400" dirty="0"/>
          </a:p>
          <a:p>
            <a:pPr algn="r" rtl="1"/>
            <a:endParaRPr lang="en-US" altLang="en-US" sz="2400" dirty="0"/>
          </a:p>
          <a:p>
            <a:pPr algn="r" rtl="1"/>
            <a:endParaRPr lang="en-US" altLang="en-US" sz="2400" dirty="0"/>
          </a:p>
          <a:p>
            <a:pPr algn="r" rtl="1"/>
            <a:endParaRPr lang="en-US" altLang="en-US" sz="2400" dirty="0"/>
          </a:p>
          <a:p>
            <a:pPr algn="r" rtl="1"/>
            <a:endParaRPr lang="en-US" altLang="en-US" sz="2400" dirty="0"/>
          </a:p>
          <a:p>
            <a:pPr marL="0" marR="0" algn="r" rtl="1"/>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این امر به هر دو فرآیند اجازه می‌دهد تا همزمان در بخش بحرانی خود باشند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0" marR="0" algn="r" rtl="1"/>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برای اطمینان از اینکه راه‌حل پترسون به درستی روی معماری کامپیوتر مدرن کار می‌کند، باید از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سد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حافظه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(Memory Barrier)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استفاده کنیم</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br>
              <a:rPr lang="en-US" altLang="en-US" sz="2400" dirty="0"/>
            </a:br>
            <a:br>
              <a:rPr lang="en-US" altLang="en-US" sz="2400" dirty="0"/>
            </a:br>
            <a:br>
              <a:rPr lang="en-US" altLang="en-US" sz="2400" dirty="0"/>
            </a:br>
            <a:br>
              <a:rPr lang="en-US" altLang="en-US" sz="2400" dirty="0"/>
            </a:br>
            <a:endParaRPr lang="en-US" altLang="en-US" sz="2400" dirty="0"/>
          </a:p>
        </p:txBody>
      </p:sp>
      <p:pic>
        <p:nvPicPr>
          <p:cNvPr id="94211" name="Picture 3">
            <a:extLst>
              <a:ext uri="{FF2B5EF4-FFF2-40B4-BE49-F238E27FC236}">
                <a16:creationId xmlns:a16="http://schemas.microsoft.com/office/drawing/2014/main" id="{F7229EED-A648-44C1-AE74-D9D9018D43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0620" y="1945010"/>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5089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224522"/>
            <a:ext cx="8229600" cy="576262"/>
          </a:xfrm>
        </p:spPr>
        <p:txBody>
          <a:bodyPr/>
          <a:lstStyle/>
          <a:p>
            <a:r>
              <a:rPr lang="fa-IR" altLang="en-US" dirty="0">
                <a:cs typeface="B Nazanin" panose="00000400000000000000" pitchFamily="2" charset="-78"/>
              </a:rPr>
              <a:t>سد حافظه</a:t>
            </a:r>
            <a:endParaRPr lang="en-US" altLang="en-US" dirty="0">
              <a:cs typeface="B Nazanin" panose="00000400000000000000" pitchFamily="2" charset="-78"/>
            </a:endParaRPr>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282054" y="932598"/>
            <a:ext cx="8611737" cy="4891428"/>
          </a:xfrm>
        </p:spPr>
        <p:txBody>
          <a:bodyPr/>
          <a:lstStyle/>
          <a:p>
            <a:pPr marL="0" marR="0" algn="r" rtl="1">
              <a:lnSpc>
                <a:spcPct val="107000"/>
              </a:lnSpc>
              <a:spcBef>
                <a:spcPts val="0"/>
              </a:spcBef>
              <a:spcAft>
                <a:spcPts val="800"/>
              </a:spcAft>
            </a:pP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مدل‌های حافظه می‌توانند به دو دسته تقسیم شوند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مرتب</a:t>
            </a:r>
            <a:r>
              <a:rPr lang="fa-IR" sz="2800" b="1" dirty="0">
                <a:solidFill>
                  <a:srgbClr val="00B0F0"/>
                </a:solidFill>
                <a:latin typeface="Times New Roman" panose="02020603050405020304" pitchFamily="18" charset="0"/>
                <a:ea typeface="Times New Roman" panose="02020603050405020304" pitchFamily="18" charset="0"/>
                <a:cs typeface="B Nazanin" panose="00000400000000000000" pitchFamily="2" charset="-78"/>
              </a:rPr>
              <a:t>‌شده قوی</a:t>
            </a:r>
            <a:r>
              <a:rPr lang="en-US" sz="2800" b="1"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(Strongly Ordered) -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جایی که یک تغییر</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 در</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حافظه توسط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یک پردازنده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بلافاصله برای تمام پردازنده‌های دیگر قابل مشاهده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مرتب‌</a:t>
            </a:r>
            <a:r>
              <a:rPr lang="fa-IR" sz="2800" b="1"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شده</a:t>
            </a:r>
            <a:r>
              <a:rPr lang="ar-SA" sz="2800" b="1"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 ضعیف</a:t>
            </a:r>
            <a:r>
              <a:rPr lang="en-US" sz="2800"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(Weakly Ordered) -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جایی که یک تغییر حافظه توسط یک پردازنده ممکن است بلافاصله برای تمام پردازنده‌های دیگر قابل مشاهده نباشد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fa-IR" altLang="en-US" sz="2400" b="1" dirty="0">
                <a:solidFill>
                  <a:srgbClr val="00B0F0"/>
                </a:solidFill>
                <a:latin typeface="Times New Roman" panose="02020603050405020304" pitchFamily="18" charset="0"/>
                <a:cs typeface="B Nazanin" panose="00000400000000000000" pitchFamily="2" charset="-78"/>
              </a:rPr>
              <a:t>سد</a:t>
            </a:r>
            <a:r>
              <a:rPr lang="ar-SA" sz="2800"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b="1" dirty="0">
                <a:solidFill>
                  <a:srgbClr val="00B0F0"/>
                </a:solidFill>
                <a:latin typeface="Times New Roman" panose="02020603050405020304" pitchFamily="18" charset="0"/>
                <a:cs typeface="B Nazanin" panose="00000400000000000000" pitchFamily="2" charset="-78"/>
              </a:rPr>
              <a:t>حافظه</a:t>
            </a:r>
            <a:r>
              <a:rPr lang="en-US" sz="2800" dirty="0">
                <a:solidFill>
                  <a:srgbClr val="00B0F0"/>
                </a:solidFill>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(Memory Barrier)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دستورالعملی است که هرگونه تغییر در حافظه را مجبور می‌کند به تمام پردازنده‌های دیگر منتقل (قابل مشاهده) 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482274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62C87C16-2CC3-4D01-8B70-700C408B0611}"/>
              </a:ext>
            </a:extLst>
          </p:cNvPr>
          <p:cNvSpPr>
            <a:spLocks noGrp="1"/>
          </p:cNvSpPr>
          <p:nvPr>
            <p:ph type="title"/>
          </p:nvPr>
        </p:nvSpPr>
        <p:spPr>
          <a:xfrm>
            <a:off x="457200" y="191570"/>
            <a:ext cx="8229600" cy="576262"/>
          </a:xfrm>
        </p:spPr>
        <p:txBody>
          <a:bodyPr/>
          <a:lstStyle/>
          <a:p>
            <a:r>
              <a:rPr lang="fa-IR" altLang="en-US" dirty="0">
                <a:cs typeface="B Titr" panose="00000700000000000000" pitchFamily="2" charset="-78"/>
              </a:rPr>
              <a:t>دستورالعمل سد حافظه</a:t>
            </a:r>
            <a:endParaRPr lang="en-US" altLang="en-US" dirty="0"/>
          </a:p>
        </p:txBody>
      </p:sp>
      <p:sp>
        <p:nvSpPr>
          <p:cNvPr id="95234" name="Content Placeholder 2">
            <a:extLst>
              <a:ext uri="{FF2B5EF4-FFF2-40B4-BE49-F238E27FC236}">
                <a16:creationId xmlns:a16="http://schemas.microsoft.com/office/drawing/2014/main" id="{70E548C8-2D73-43AE-A959-D72F2E9FFEB8}"/>
              </a:ext>
            </a:extLst>
          </p:cNvPr>
          <p:cNvSpPr>
            <a:spLocks noGrp="1"/>
          </p:cNvSpPr>
          <p:nvPr>
            <p:ph idx="1"/>
          </p:nvPr>
        </p:nvSpPr>
        <p:spPr>
          <a:xfrm>
            <a:off x="806450" y="1233488"/>
            <a:ext cx="8040988" cy="5154955"/>
          </a:xfrm>
        </p:spPr>
        <p:txBody>
          <a:bodyPr/>
          <a:lstStyle/>
          <a:p>
            <a:pPr marL="342900" marR="0" lvl="0" indent="-342900" algn="r" rtl="1">
              <a:buFont typeface="Wingdings" panose="05000000000000000000" pitchFamily="2"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هنگامی که دستورالعمل </a:t>
            </a: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سد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حافظه اجرا می‌شود، سیستم اطمینان می‌دهد که همه </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بارگذاری‌ها و ذخیره‌سازی‌ها</a:t>
            </a: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(مثلا یک متغیر)</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قبل از هر </a:t>
            </a:r>
            <a:r>
              <a:rPr lang="ar-SA" sz="3200" b="1" dirty="0">
                <a:effectLst/>
                <a:latin typeface="Times New Roman" panose="02020603050405020304" pitchFamily="18" charset="0"/>
                <a:ea typeface="Times New Roman" panose="02020603050405020304" pitchFamily="18" charset="0"/>
                <a:cs typeface="B Nazanin" panose="00000400000000000000" pitchFamily="2" charset="-78"/>
              </a:rPr>
              <a:t>بارگذاری یا ذخیره‌سازی بعدی انجام </a:t>
            </a:r>
            <a:r>
              <a:rPr lang="fa-IR" sz="3200" b="1" dirty="0">
                <a:effectLst/>
                <a:latin typeface="Times New Roman" panose="02020603050405020304" pitchFamily="18" charset="0"/>
                <a:ea typeface="Times New Roman" panose="02020603050405020304" pitchFamily="18" charset="0"/>
                <a:cs typeface="B Nazanin" panose="00000400000000000000" pitchFamily="2" charset="-78"/>
              </a:rPr>
              <a:t>شده </a:t>
            </a: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و قابل مشاهده توسط پردازنده‌های دیگر هستند. </a:t>
            </a:r>
          </a:p>
          <a:p>
            <a:pPr marL="342900" marR="0" lvl="0" indent="-342900" algn="r" rtl="1">
              <a:buFont typeface="Wingdings" panose="05000000000000000000" pitchFamily="2" charset="2"/>
              <a:buChar char=""/>
              <a:tabLst>
                <a:tab pos="457200" algn="l"/>
              </a:tabLst>
            </a:pP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بنابراین، حتی اگر دستورالعمل‌ها مرتب‌سازی مجدد شوند، </a:t>
            </a: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سد </a:t>
            </a:r>
            <a:r>
              <a:rPr lang="ar-SA" sz="3200" dirty="0">
                <a:effectLst/>
                <a:latin typeface="Times New Roman" panose="02020603050405020304" pitchFamily="18" charset="0"/>
                <a:ea typeface="Times New Roman" panose="02020603050405020304" pitchFamily="18" charset="0"/>
                <a:cs typeface="B Nazanin" panose="00000400000000000000" pitchFamily="2" charset="-78"/>
              </a:rPr>
              <a:t>حافظه تضمین می‌کند که عملیات ذخیره‌سازی در حافظه تکمیل شده و برای پردازنده‌های دیگر قبل از انجام عملیات بارگذاری یا ذخیره‌سازی بعدی قابل مشاهده است</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3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06609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A87C2-C12A-FB82-076E-4C2173CD8443}"/>
            </a:ext>
          </a:extLst>
        </p:cNvPr>
        <p:cNvGrpSpPr/>
        <p:nvPr/>
      </p:nvGrpSpPr>
      <p:grpSpPr>
        <a:xfrm>
          <a:off x="0" y="0"/>
          <a:ext cx="0" cy="0"/>
          <a:chOff x="0" y="0"/>
          <a:chExt cx="0" cy="0"/>
        </a:xfrm>
      </p:grpSpPr>
      <p:sp>
        <p:nvSpPr>
          <p:cNvPr id="95233" name="Title 1">
            <a:extLst>
              <a:ext uri="{FF2B5EF4-FFF2-40B4-BE49-F238E27FC236}">
                <a16:creationId xmlns:a16="http://schemas.microsoft.com/office/drawing/2014/main" id="{720E3A9C-A02E-34EB-848D-0AF01CC44265}"/>
              </a:ext>
            </a:extLst>
          </p:cNvPr>
          <p:cNvSpPr>
            <a:spLocks noGrp="1"/>
          </p:cNvSpPr>
          <p:nvPr>
            <p:ph type="title"/>
          </p:nvPr>
        </p:nvSpPr>
        <p:spPr>
          <a:xfrm>
            <a:off x="457200" y="191570"/>
            <a:ext cx="8229600" cy="576262"/>
          </a:xfrm>
        </p:spPr>
        <p:txBody>
          <a:bodyPr/>
          <a:lstStyle/>
          <a:p>
            <a:r>
              <a:rPr lang="fa-IR" altLang="en-US" dirty="0">
                <a:cs typeface="B Titr" panose="00000700000000000000" pitchFamily="2" charset="-78"/>
              </a:rPr>
              <a:t>دستورالعمل سد حافظه</a:t>
            </a:r>
            <a:endParaRPr lang="en-US" altLang="en-US" dirty="0"/>
          </a:p>
        </p:txBody>
      </p:sp>
      <p:pic>
        <p:nvPicPr>
          <p:cNvPr id="3" name="Content Placeholder 2">
            <a:extLst>
              <a:ext uri="{FF2B5EF4-FFF2-40B4-BE49-F238E27FC236}">
                <a16:creationId xmlns:a16="http://schemas.microsoft.com/office/drawing/2014/main" id="{9A02C63D-5932-5BD3-61E7-5B9DA048745F}"/>
              </a:ext>
            </a:extLst>
          </p:cNvPr>
          <p:cNvPicPr>
            <a:picLocks noGrp="1" noChangeAspect="1"/>
          </p:cNvPicPr>
          <p:nvPr>
            <p:ph idx="1"/>
          </p:nvPr>
        </p:nvPicPr>
        <p:blipFill>
          <a:blip>
            <a:extLst>
              <a:ext uri="{96DAC541-7B7A-43D3-8B79-37D633B846F1}">
                <asvg:svgBlip xmlns:asvg="http://schemas.microsoft.com/office/drawing/2016/SVG/main" r:embed="rId3"/>
              </a:ext>
            </a:extLst>
          </a:blip>
          <a:stretch>
            <a:fillRect/>
          </a:stretch>
        </p:blipFill>
        <p:spPr bwMode="auto">
          <a:xfrm>
            <a:off x="861688" y="991835"/>
            <a:ext cx="7420624" cy="5674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690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379BF608-A8FA-40FE-B005-6162543C6F5B}"/>
              </a:ext>
            </a:extLst>
          </p:cNvPr>
          <p:cNvSpPr>
            <a:spLocks noGrp="1"/>
          </p:cNvSpPr>
          <p:nvPr>
            <p:ph type="title"/>
          </p:nvPr>
        </p:nvSpPr>
        <p:spPr>
          <a:xfrm>
            <a:off x="457200" y="224522"/>
            <a:ext cx="8229600" cy="576262"/>
          </a:xfrm>
        </p:spPr>
        <p:txBody>
          <a:bodyPr/>
          <a:lstStyle/>
          <a:p>
            <a:r>
              <a:rPr lang="fa-IR" altLang="en-US" dirty="0">
                <a:cs typeface="B Titr" panose="00000700000000000000" pitchFamily="2" charset="-78"/>
              </a:rPr>
              <a:t>مثال سد حافظه</a:t>
            </a:r>
            <a:endParaRPr lang="en-US" altLang="en-US" dirty="0"/>
          </a:p>
        </p:txBody>
      </p:sp>
      <p:sp>
        <p:nvSpPr>
          <p:cNvPr id="96258" name="Content Placeholder 2">
            <a:extLst>
              <a:ext uri="{FF2B5EF4-FFF2-40B4-BE49-F238E27FC236}">
                <a16:creationId xmlns:a16="http://schemas.microsoft.com/office/drawing/2014/main" id="{8D224D07-59C4-4B58-A928-1886B4803514}"/>
              </a:ext>
            </a:extLst>
          </p:cNvPr>
          <p:cNvSpPr>
            <a:spLocks noGrp="1"/>
          </p:cNvSpPr>
          <p:nvPr>
            <p:ph idx="1"/>
          </p:nvPr>
        </p:nvSpPr>
        <p:spPr>
          <a:xfrm>
            <a:off x="242080" y="866302"/>
            <a:ext cx="8659840" cy="5471612"/>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بازگشت به مثال اسلایدهای </a:t>
            </a:r>
            <a:r>
              <a:rPr lang="fa-IR" sz="2800" b="1" dirty="0">
                <a:effectLst/>
                <a:latin typeface="Times New Roman" panose="02020603050405020304" pitchFamily="18" charset="0"/>
                <a:ea typeface="Times New Roman" panose="02020603050405020304" pitchFamily="18" charset="0"/>
                <a:cs typeface="B Nazanin" panose="00000400000000000000" pitchFamily="2" charset="-78"/>
              </a:rPr>
              <a:t>۶.۱۷</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 تا </a:t>
            </a:r>
            <a:r>
              <a:rPr lang="fa-IR" sz="2800" b="1" dirty="0">
                <a:effectLst/>
                <a:latin typeface="Times New Roman" panose="02020603050405020304" pitchFamily="18" charset="0"/>
                <a:ea typeface="Times New Roman" panose="02020603050405020304" pitchFamily="18" charset="0"/>
                <a:cs typeface="B Nazanin" panose="00000400000000000000" pitchFamily="2" charset="-78"/>
              </a:rPr>
              <a:t>۶.۱۸</a:t>
            </a:r>
            <a:endParaRPr lang="en-US" sz="2800" b="1" dirty="0">
              <a:effectLst/>
              <a:latin typeface="Times New Roman" panose="02020603050405020304" pitchFamily="18" charset="0"/>
              <a:ea typeface="Times New Roman" panose="02020603050405020304" pitchFamily="18" charset="0"/>
            </a:endParaRPr>
          </a:p>
          <a:p>
            <a:pPr marL="0" marR="0" algn="r" rtl="1"/>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برای اطمینان از اینکه خروجی رشته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۱</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برابر با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۱۰۰</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باشد، می‌توانیم یک</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 سد</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حافظه به دستورالعمل‌های زیر اضافه کنیم</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0" marR="0" algn="r" rtl="1"/>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اکنون رشته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۱</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موارد زیر را انجام می‌دهد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r>
              <a:rPr lang="en-US" altLang="en-US" sz="2000" dirty="0">
                <a:latin typeface="Consolas" panose="020B0609020204030204" pitchFamily="49" charset="0"/>
                <a:cs typeface="Courier New" panose="02070309020205020404" pitchFamily="49" charset="0"/>
              </a:rPr>
              <a:t>while (!</a:t>
            </a:r>
            <a:r>
              <a:rPr lang="en-US" altLang="en-US" sz="2000" b="1" dirty="0">
                <a:latin typeface="Consolas" panose="020B0609020204030204" pitchFamily="49" charset="0"/>
                <a:cs typeface="Courier New" panose="02070309020205020404" pitchFamily="49" charset="0"/>
              </a:rPr>
              <a:t>flag</a:t>
            </a:r>
            <a:r>
              <a:rPr lang="en-US" altLang="en-US" sz="2000" dirty="0">
                <a:latin typeface="Consolas" panose="020B0609020204030204" pitchFamily="49" charset="0"/>
                <a:cs typeface="Courier New" panose="02070309020205020404" pitchFamily="49" charset="0"/>
              </a:rPr>
              <a:t>)</a:t>
            </a:r>
            <a:br>
              <a:rPr lang="en-US" altLang="en-US" sz="2000" dirty="0">
                <a:latin typeface="Consolas" panose="020B0609020204030204" pitchFamily="49" charset="0"/>
                <a:cs typeface="Courier New" panose="02070309020205020404" pitchFamily="49" charset="0"/>
              </a:rPr>
            </a:br>
            <a:r>
              <a:rPr lang="en-US" altLang="en-US" sz="2000" b="1" dirty="0" err="1">
                <a:latin typeface="Consolas" panose="020B0609020204030204" pitchFamily="49" charset="0"/>
                <a:cs typeface="Courier New" panose="02070309020205020404" pitchFamily="49" charset="0"/>
              </a:rPr>
              <a:t>memory_barrier</a:t>
            </a:r>
            <a:r>
              <a:rPr lang="en-US" altLang="en-US" sz="2000" dirty="0">
                <a:latin typeface="Consolas" panose="020B0609020204030204" pitchFamily="49" charset="0"/>
                <a:cs typeface="Courier New" panose="02070309020205020404" pitchFamily="49" charset="0"/>
              </a:rPr>
              <a:t>();</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print x</a:t>
            </a:r>
          </a:p>
          <a:p>
            <a:r>
              <a:rPr lang="ar-SA" sz="2000" dirty="0">
                <a:effectLst/>
                <a:latin typeface="Consolas" panose="020B0609020204030204" pitchFamily="49" charset="0"/>
                <a:ea typeface="Calibri" panose="020F0502020204030204" pitchFamily="34" charset="0"/>
                <a:cs typeface="B Nazanin" panose="00000400000000000000" pitchFamily="2" charset="-78"/>
              </a:rPr>
              <a:t>رشته </a:t>
            </a:r>
            <a:r>
              <a:rPr lang="fa-IR" sz="2000" dirty="0">
                <a:effectLst/>
                <a:latin typeface="Consolas" panose="020B0609020204030204" pitchFamily="49" charset="0"/>
                <a:ea typeface="Calibri" panose="020F0502020204030204" pitchFamily="34" charset="0"/>
                <a:cs typeface="B Nazanin" panose="00000400000000000000" pitchFamily="2" charset="-78"/>
              </a:rPr>
              <a:t>۲</a:t>
            </a:r>
            <a:r>
              <a:rPr lang="ar-SA" sz="2000" dirty="0">
                <a:effectLst/>
                <a:latin typeface="Consolas" panose="020B0609020204030204" pitchFamily="49" charset="0"/>
                <a:ea typeface="Calibri" panose="020F0502020204030204" pitchFamily="34" charset="0"/>
                <a:cs typeface="B Nazanin" panose="00000400000000000000" pitchFamily="2" charset="-78"/>
              </a:rPr>
              <a:t> موارد زیر را انجام می‌دهد</a:t>
            </a:r>
            <a:r>
              <a:rPr lang="en-US" sz="2000" dirty="0">
                <a:effectLst/>
                <a:latin typeface="Consolas" panose="020B0609020204030204" pitchFamily="49" charset="0"/>
                <a:ea typeface="Calibri" panose="020F0502020204030204" pitchFamily="34" charset="0"/>
                <a:cs typeface="B Nazanin" panose="00000400000000000000" pitchFamily="2" charset="-78"/>
              </a:rPr>
              <a:t>:</a:t>
            </a:r>
            <a:br>
              <a:rPr lang="en-US" altLang="en-US" sz="2000" dirty="0">
                <a:latin typeface="Consolas" panose="020B0609020204030204" pitchFamily="49" charset="0"/>
              </a:rPr>
            </a:br>
            <a:r>
              <a:rPr lang="en-US" altLang="en-US" sz="2000" dirty="0">
                <a:latin typeface="Consolas" panose="020B0609020204030204" pitchFamily="49" charset="0"/>
              </a:rPr>
              <a:t>     </a:t>
            </a:r>
            <a:r>
              <a:rPr lang="en-US" altLang="en-US" sz="2000" b="1" dirty="0">
                <a:latin typeface="Consolas" panose="020B0609020204030204" pitchFamily="49" charset="0"/>
                <a:cs typeface="Courier New" panose="02070309020205020404" pitchFamily="49" charset="0"/>
              </a:rPr>
              <a:t>x</a:t>
            </a:r>
            <a:r>
              <a:rPr lang="en-US" altLang="en-US" sz="2000" dirty="0">
                <a:latin typeface="Consolas" panose="020B0609020204030204" pitchFamily="49" charset="0"/>
                <a:cs typeface="Courier New" panose="02070309020205020404" pitchFamily="49" charset="0"/>
              </a:rPr>
              <a:t> = 100;</a:t>
            </a:r>
            <a:br>
              <a:rPr lang="en-US" altLang="en-US" sz="2000" dirty="0">
                <a:latin typeface="Consolas" panose="020B0609020204030204" pitchFamily="49" charset="0"/>
                <a:cs typeface="Courier New" panose="02070309020205020404" pitchFamily="49" charset="0"/>
              </a:rPr>
            </a:br>
            <a:r>
              <a:rPr lang="en-US" altLang="en-US" sz="2000" b="1" dirty="0">
                <a:latin typeface="Consolas" panose="020B0609020204030204" pitchFamily="49" charset="0"/>
                <a:cs typeface="Courier New" panose="02070309020205020404" pitchFamily="49" charset="0"/>
              </a:rPr>
              <a:t>  </a:t>
            </a:r>
            <a:r>
              <a:rPr lang="en-US" altLang="en-US" sz="2000" b="1" dirty="0" err="1">
                <a:latin typeface="Consolas" panose="020B0609020204030204" pitchFamily="49" charset="0"/>
                <a:cs typeface="Courier New" panose="02070309020205020404" pitchFamily="49" charset="0"/>
              </a:rPr>
              <a:t>memory_barrier</a:t>
            </a:r>
            <a:r>
              <a:rPr lang="en-US" altLang="en-US" sz="2000" dirty="0">
                <a:latin typeface="Consolas" panose="020B0609020204030204" pitchFamily="49" charset="0"/>
                <a:cs typeface="Courier New" panose="02070309020205020404" pitchFamily="49" charset="0"/>
              </a:rPr>
              <a:t>();</a:t>
            </a:r>
            <a:br>
              <a:rPr lang="en-US" altLang="en-US" sz="2000" dirty="0">
                <a:latin typeface="Consolas" panose="020B0609020204030204" pitchFamily="49" charset="0"/>
                <a:cs typeface="Courier New" panose="02070309020205020404" pitchFamily="49" charset="0"/>
              </a:rPr>
            </a:br>
            <a:r>
              <a:rPr lang="en-US" altLang="en-US" sz="2000" dirty="0">
                <a:latin typeface="Consolas" panose="020B0609020204030204" pitchFamily="49" charset="0"/>
                <a:cs typeface="Courier New" panose="02070309020205020404" pitchFamily="49" charset="0"/>
              </a:rPr>
              <a:t>  </a:t>
            </a:r>
            <a:r>
              <a:rPr lang="en-US" altLang="en-US" sz="2000" b="1" dirty="0">
                <a:latin typeface="Consolas" panose="020B0609020204030204" pitchFamily="49" charset="0"/>
                <a:cs typeface="Courier New" panose="02070309020205020404" pitchFamily="49" charset="0"/>
              </a:rPr>
              <a:t>flag</a:t>
            </a:r>
            <a:r>
              <a:rPr lang="en-US" altLang="en-US" sz="2000" dirty="0">
                <a:latin typeface="Consolas" panose="020B0609020204030204" pitchFamily="49" charset="0"/>
                <a:cs typeface="Courier New" panose="02070309020205020404" pitchFamily="49" charset="0"/>
              </a:rPr>
              <a:t> = true</a:t>
            </a: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برای رشته </a:t>
            </a:r>
            <a:r>
              <a:rPr lang="fa-IR" sz="2400" dirty="0">
                <a:effectLst/>
                <a:latin typeface="Calibri" panose="020F0502020204030204" pitchFamily="34" charset="0"/>
                <a:ea typeface="Calibri" panose="020F0502020204030204" pitchFamily="34" charset="0"/>
                <a:cs typeface="B Nazanin" panose="00000400000000000000" pitchFamily="2" charset="-78"/>
              </a:rPr>
              <a:t>۱</a:t>
            </a:r>
            <a:r>
              <a:rPr lang="ar-SA" sz="2400" dirty="0">
                <a:effectLst/>
                <a:latin typeface="Calibri" panose="020F0502020204030204" pitchFamily="34" charset="0"/>
                <a:ea typeface="Calibri" panose="020F0502020204030204" pitchFamily="34" charset="0"/>
                <a:cs typeface="B Nazanin" panose="00000400000000000000" pitchFamily="2" charset="-78"/>
              </a:rPr>
              <a:t> تضمین می‌شود که مقدار</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en-US" sz="2400" b="1" dirty="0">
                <a:effectLst/>
                <a:latin typeface="Calibri" panose="020F0502020204030204" pitchFamily="34" charset="0"/>
                <a:ea typeface="Calibri" panose="020F0502020204030204" pitchFamily="34" charset="0"/>
                <a:cs typeface="B Nazanin" panose="00000400000000000000" pitchFamily="2" charset="-78"/>
              </a:rPr>
              <a:t>flag</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قبل از مقدار</a:t>
            </a:r>
            <a:r>
              <a:rPr lang="en-US" sz="2400" dirty="0">
                <a:effectLst/>
                <a:latin typeface="Calibri" panose="020F0502020204030204" pitchFamily="34" charset="0"/>
                <a:ea typeface="Calibri" panose="020F0502020204030204" pitchFamily="34" charset="0"/>
                <a:cs typeface="B Nazanin" panose="00000400000000000000" pitchFamily="2" charset="-78"/>
              </a:rPr>
              <a:t> x </a:t>
            </a:r>
            <a:r>
              <a:rPr lang="ar-SA" sz="2400" dirty="0">
                <a:effectLst/>
                <a:latin typeface="Calibri" panose="020F0502020204030204" pitchFamily="34" charset="0"/>
                <a:ea typeface="Calibri" panose="020F0502020204030204" pitchFamily="34" charset="0"/>
                <a:cs typeface="B Nazanin" panose="00000400000000000000" pitchFamily="2" charset="-78"/>
              </a:rPr>
              <a:t>بارگذاری شود</a:t>
            </a:r>
            <a:r>
              <a:rPr lang="en-US" sz="2400" dirty="0">
                <a:effectLst/>
                <a:latin typeface="Calibri" panose="020F0502020204030204" pitchFamily="34" charset="0"/>
                <a:ea typeface="Calibri" panose="020F0502020204030204" pitchFamily="34" charset="0"/>
                <a:cs typeface="B Nazanin" panose="00000400000000000000" pitchFamily="2" charset="-78"/>
              </a:rPr>
              <a:t>. </a:t>
            </a:r>
            <a:endParaRPr lang="fa-IR" sz="2400" dirty="0">
              <a:effectLst/>
              <a:latin typeface="Calibri" panose="020F0502020204030204" pitchFamily="34" charset="0"/>
              <a:ea typeface="Calibri" panose="020F0502020204030204" pitchFamily="34" charset="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برای رشته </a:t>
            </a:r>
            <a:r>
              <a:rPr lang="fa-IR" sz="2400" dirty="0">
                <a:effectLst/>
                <a:latin typeface="Calibri" panose="020F0502020204030204" pitchFamily="34" charset="0"/>
                <a:ea typeface="Calibri" panose="020F0502020204030204" pitchFamily="34" charset="0"/>
                <a:cs typeface="B Nazanin" panose="00000400000000000000" pitchFamily="2" charset="-78"/>
              </a:rPr>
              <a:t>۲</a:t>
            </a:r>
            <a:r>
              <a:rPr lang="ar-SA" sz="2400" dirty="0">
                <a:effectLst/>
                <a:latin typeface="Calibri" panose="020F0502020204030204" pitchFamily="34" charset="0"/>
                <a:ea typeface="Calibri" panose="020F0502020204030204" pitchFamily="34" charset="0"/>
                <a:cs typeface="B Nazanin" panose="00000400000000000000" pitchFamily="2" charset="-78"/>
              </a:rPr>
              <a:t> اطمینان حاصل می‌کنیم که اختصاص به</a:t>
            </a:r>
            <a:r>
              <a:rPr lang="en-US" sz="2400" dirty="0">
                <a:effectLst/>
                <a:latin typeface="Calibri" panose="020F0502020204030204" pitchFamily="34" charset="0"/>
                <a:ea typeface="Calibri" panose="020F0502020204030204" pitchFamily="34" charset="0"/>
                <a:cs typeface="B Nazanin" panose="00000400000000000000" pitchFamily="2" charset="-78"/>
              </a:rPr>
              <a:t> x </a:t>
            </a:r>
            <a:r>
              <a:rPr lang="ar-SA" sz="2400" dirty="0">
                <a:effectLst/>
                <a:latin typeface="Calibri" panose="020F0502020204030204" pitchFamily="34" charset="0"/>
                <a:ea typeface="Calibri" panose="020F0502020204030204" pitchFamily="34" charset="0"/>
                <a:cs typeface="B Nazanin" panose="00000400000000000000" pitchFamily="2" charset="-78"/>
              </a:rPr>
              <a:t>قبل از اختصاص</a:t>
            </a:r>
            <a:r>
              <a:rPr lang="en-US" sz="2400" dirty="0">
                <a:effectLst/>
                <a:latin typeface="Calibri" panose="020F0502020204030204" pitchFamily="34" charset="0"/>
                <a:ea typeface="Calibri" panose="020F0502020204030204" pitchFamily="34" charset="0"/>
                <a:cs typeface="B Nazanin" panose="00000400000000000000" pitchFamily="2" charset="-78"/>
              </a:rPr>
              <a:t> flag </a:t>
            </a:r>
            <a:r>
              <a:rPr lang="ar-SA" sz="2400" dirty="0">
                <a:effectLst/>
                <a:latin typeface="Calibri" panose="020F0502020204030204" pitchFamily="34" charset="0"/>
                <a:ea typeface="Calibri" panose="020F0502020204030204" pitchFamily="34" charset="0"/>
                <a:cs typeface="B Nazanin" panose="00000400000000000000" pitchFamily="2" charset="-78"/>
              </a:rPr>
              <a:t>رخ دهد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altLang="en-US" sz="2000" dirty="0"/>
          </a:p>
        </p:txBody>
      </p:sp>
    </p:spTree>
    <p:extLst>
      <p:ext uri="{BB962C8B-B14F-4D97-AF65-F5344CB8AC3E}">
        <p14:creationId xmlns:p14="http://schemas.microsoft.com/office/powerpoint/2010/main" val="2104174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42C1761-4412-475C-9839-4768E62E127C}"/>
              </a:ext>
            </a:extLst>
          </p:cNvPr>
          <p:cNvSpPr>
            <a:spLocks noGrp="1" noChangeArrowheads="1"/>
          </p:cNvSpPr>
          <p:nvPr>
            <p:ph type="title"/>
          </p:nvPr>
        </p:nvSpPr>
        <p:spPr>
          <a:xfrm>
            <a:off x="1100138" y="221827"/>
            <a:ext cx="7586662" cy="576262"/>
          </a:xfrm>
        </p:spPr>
        <p:txBody>
          <a:bodyPr/>
          <a:lstStyle/>
          <a:p>
            <a:pPr eaLnBrk="1" hangingPunct="1"/>
            <a:r>
              <a:rPr lang="fa-IR" altLang="en-US" dirty="0">
                <a:cs typeface="B Titr" panose="00000700000000000000" pitchFamily="2" charset="-78"/>
              </a:rPr>
              <a:t>همگام‌سازی سخت‌افزار</a:t>
            </a:r>
            <a:endParaRPr lang="en-US" altLang="en-US" dirty="0"/>
          </a:p>
        </p:txBody>
      </p:sp>
      <p:sp>
        <p:nvSpPr>
          <p:cNvPr id="29698" name="Rectangle 3">
            <a:extLst>
              <a:ext uri="{FF2B5EF4-FFF2-40B4-BE49-F238E27FC236}">
                <a16:creationId xmlns:a16="http://schemas.microsoft.com/office/drawing/2014/main" id="{2DD2140A-53F2-4366-93DC-AD9AE2167D50}"/>
              </a:ext>
            </a:extLst>
          </p:cNvPr>
          <p:cNvSpPr>
            <a:spLocks noGrp="1" noChangeArrowheads="1"/>
          </p:cNvSpPr>
          <p:nvPr>
            <p:ph idx="1"/>
          </p:nvPr>
        </p:nvSpPr>
        <p:spPr>
          <a:xfrm>
            <a:off x="77337" y="905302"/>
            <a:ext cx="9066663" cy="5531892"/>
          </a:xfrm>
        </p:spPr>
        <p:txBody>
          <a:bodyPr/>
          <a:lstStyle/>
          <a:p>
            <a:pPr marL="0" marR="0"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بسیاری از سیستم‌ها برای پیاده‌سازی کد بخش بحرانی، پشتیبانی سخت‌افزاری ارائه می‌دهند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پردازنده‌های تک</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(Uniprocessors)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می‌توانند وقفه‌ها را غیرفعال کنند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400050" lvl="1"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کد در حال اجرا بدون تصاحب از پیش اجرا 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400050" lvl="1"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به طور کلی در سیستم‌های چند پردازنده بسیار ناکارآمد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lvl="2"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سیستم‌عامل‌هایی که از این روش استفاده می‌کنند، قابلیت‌شان به طور گسترده قابل‌مقیاس نیست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به </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چند</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شکل از پشتیبانی سخت‌افزاری نگاه می‌کنیم</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Font typeface="+mj-lt"/>
              <a:buAutoNum type="arabicPeriod"/>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دستورالعمل‌های سخت‌افزاری</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Font typeface="+mj-lt"/>
              <a:buAutoNum type="arabicPeriod"/>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متغیرهای اتمی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(Atomic Variables)</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457200" y="224522"/>
            <a:ext cx="8229600" cy="576262"/>
          </a:xfrm>
        </p:spPr>
        <p:txBody>
          <a:bodyPr/>
          <a:lstStyle/>
          <a:p>
            <a:r>
              <a:rPr lang="fa-IR" altLang="en-US" dirty="0">
                <a:cs typeface="B Titr" panose="00000700000000000000" pitchFamily="2" charset="-78"/>
              </a:rPr>
              <a:t>دستورات سخت‌افزاری</a:t>
            </a:r>
            <a:endParaRPr lang="en-US" altLang="en-US" dirty="0"/>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267855" y="1233489"/>
            <a:ext cx="8418945" cy="5019030"/>
          </a:xfrm>
        </p:spPr>
        <p:txBody>
          <a:bodyPr/>
          <a:lstStyle/>
          <a:p>
            <a:pPr marL="0" marR="0" algn="r" rtl="1">
              <a:lnSpc>
                <a:spcPct val="107000"/>
              </a:lnSpc>
              <a:spcBef>
                <a:spcPts val="0"/>
              </a:spcBef>
              <a:spcAft>
                <a:spcPts val="800"/>
              </a:spcAft>
            </a:pPr>
            <a:r>
              <a:rPr lang="ar-SA" sz="3600" dirty="0">
                <a:effectLst/>
                <a:latin typeface="Times New Roman" panose="02020603050405020304" pitchFamily="18" charset="0"/>
                <a:ea typeface="Times New Roman" panose="02020603050405020304" pitchFamily="18" charset="0"/>
                <a:cs typeface="B Nazanin" panose="00000400000000000000" pitchFamily="2" charset="-78"/>
              </a:rPr>
              <a:t>دستورالعمل‌های سخت‌افزاری ویژه‌ای که به ما اجازه می‌دهند محتویات یک کلمه را آزمایش و </a:t>
            </a:r>
            <a:r>
              <a:rPr lang="ar-SA" sz="3600" dirty="0">
                <a:latin typeface="Times New Roman" panose="02020603050405020304" pitchFamily="18" charset="0"/>
                <a:cs typeface="B Nazanin" panose="00000400000000000000" pitchFamily="2" charset="-78"/>
              </a:rPr>
              <a:t>اصلاح کنیم، یا محتویات دو کلمه را به صورت اتمی (بدون وقفه) جابجا کنیم</a:t>
            </a:r>
            <a:r>
              <a:rPr lang="en-US" sz="3600" dirty="0">
                <a:latin typeface="Times New Roman" panose="02020603050405020304" pitchFamily="18" charset="0"/>
                <a:cs typeface="B Nazanin" panose="00000400000000000000" pitchFamily="2" charset="-78"/>
              </a:rPr>
              <a:t>.</a:t>
            </a:r>
          </a:p>
          <a:p>
            <a:pPr marL="0" marR="0" algn="r" rtl="1">
              <a:lnSpc>
                <a:spcPct val="107000"/>
              </a:lnSpc>
              <a:spcBef>
                <a:spcPts val="0"/>
              </a:spcBef>
              <a:spcAft>
                <a:spcPts val="0"/>
              </a:spcAft>
            </a:pPr>
            <a:r>
              <a:rPr lang="ar-SA" sz="3600" dirty="0">
                <a:latin typeface="Times New Roman" panose="02020603050405020304" pitchFamily="18" charset="0"/>
                <a:cs typeface="B Nazanin" panose="00000400000000000000" pitchFamily="2" charset="-78"/>
              </a:rPr>
              <a:t>دستورالعمل</a:t>
            </a:r>
            <a:r>
              <a:rPr lang="en-US" sz="3600" dirty="0">
                <a:latin typeface="Times New Roman" panose="02020603050405020304" pitchFamily="18" charset="0"/>
                <a:cs typeface="B Nazanin" panose="00000400000000000000" pitchFamily="2" charset="-78"/>
              </a:rPr>
              <a:t> Test-and-Set </a:t>
            </a:r>
            <a:endParaRPr lang="fa-IR" sz="3600" dirty="0">
              <a:latin typeface="Times New Roman" panose="02020603050405020304" pitchFamily="18" charset="0"/>
              <a:cs typeface="B Nazanin" panose="00000400000000000000" pitchFamily="2" charset="-78"/>
            </a:endParaRPr>
          </a:p>
          <a:p>
            <a:pPr marL="0" marR="0" algn="r" rtl="1">
              <a:lnSpc>
                <a:spcPct val="107000"/>
              </a:lnSpc>
              <a:spcBef>
                <a:spcPts val="0"/>
              </a:spcBef>
              <a:spcAft>
                <a:spcPts val="0"/>
              </a:spcAft>
            </a:pPr>
            <a:r>
              <a:rPr lang="ar-SA" sz="3600" dirty="0">
                <a:latin typeface="Times New Roman" panose="02020603050405020304" pitchFamily="18" charset="0"/>
                <a:cs typeface="B Nazanin" panose="00000400000000000000" pitchFamily="2" charset="-78"/>
              </a:rPr>
              <a:t>دستورالعمل مقایسه و تعویض</a:t>
            </a:r>
            <a:r>
              <a:rPr lang="en-US" sz="3600" dirty="0">
                <a:latin typeface="Times New Roman" panose="02020603050405020304" pitchFamily="18" charset="0"/>
                <a:cs typeface="B Nazanin" panose="00000400000000000000" pitchFamily="2" charset="-78"/>
              </a:rPr>
              <a:t> (Compare-and-Swap)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514866" y="161216"/>
            <a:ext cx="8229600" cy="576262"/>
          </a:xfrm>
        </p:spPr>
        <p:txBody>
          <a:bodyPr/>
          <a:lstStyle/>
          <a:p>
            <a:r>
              <a:rPr lang="fa-IR" altLang="en-US" dirty="0">
                <a:cs typeface="B Titr" panose="00000700000000000000" pitchFamily="2" charset="-78"/>
              </a:rPr>
              <a:t>دستور آزمایش و تنظیم</a:t>
            </a:r>
            <a:endParaRPr lang="en-US" altLang="en-US" dirty="0">
              <a:cs typeface="B Titr" panose="00000700000000000000" pitchFamily="2" charset="-78"/>
            </a:endParaRP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397164" y="1233488"/>
            <a:ext cx="8347302" cy="5463295"/>
          </a:xfrm>
        </p:spPr>
        <p:txBody>
          <a:bodyPr/>
          <a:lstStyle/>
          <a:p>
            <a:r>
              <a:rPr lang="en-US" altLang="en-US" sz="2400" dirty="0"/>
              <a:t>Definition</a:t>
            </a:r>
          </a:p>
          <a:p>
            <a:pPr>
              <a:lnSpc>
                <a:spcPct val="90000"/>
              </a:lnSpc>
              <a:buFont typeface="Monotype Sorts" pitchFamily="-84" charset="2"/>
              <a:buNone/>
              <a:tabLst>
                <a:tab pos="739775" algn="l"/>
                <a:tab pos="1020763" algn="l"/>
                <a:tab pos="1257300" algn="l"/>
              </a:tabLst>
            </a:pPr>
            <a:r>
              <a:rPr lang="en-US" altLang="en-US" sz="2400" b="1" dirty="0">
                <a:solidFill>
                  <a:srgbClr val="000000"/>
                </a:solidFill>
                <a:latin typeface="Courier New" panose="02070309020205020404" pitchFamily="49" charset="0"/>
              </a:rPr>
              <a:t>      </a:t>
            </a:r>
            <a:r>
              <a:rPr lang="en-US" altLang="en-US" sz="2400" b="1" dirty="0" err="1">
                <a:solidFill>
                  <a:srgbClr val="000000"/>
                </a:solidFill>
                <a:latin typeface="Consolas" panose="020B0609020204030204" pitchFamily="49" charset="0"/>
              </a:rPr>
              <a:t>boolean</a:t>
            </a:r>
            <a:r>
              <a:rPr lang="en-US" altLang="en-US" sz="2400" b="1" dirty="0">
                <a:solidFill>
                  <a:srgbClr val="000000"/>
                </a:solidFill>
                <a:latin typeface="Consolas" panose="020B0609020204030204" pitchFamily="49" charset="0"/>
              </a:rPr>
              <a:t> test_and_set (</a:t>
            </a:r>
            <a:r>
              <a:rPr lang="en-US" altLang="en-US" sz="2400" b="1" dirty="0" err="1">
                <a:solidFill>
                  <a:srgbClr val="000000"/>
                </a:solidFill>
                <a:latin typeface="Consolas" panose="020B0609020204030204" pitchFamily="49" charset="0"/>
              </a:rPr>
              <a:t>boolean</a:t>
            </a:r>
            <a:r>
              <a:rPr lang="en-US" altLang="en-US" sz="2400" b="1" dirty="0">
                <a:solidFill>
                  <a:srgbClr val="000000"/>
                </a:solidFill>
                <a:latin typeface="Consolas" panose="020B0609020204030204" pitchFamily="49" charset="0"/>
              </a:rPr>
              <a:t> *target)</a:t>
            </a:r>
          </a:p>
          <a:p>
            <a:pPr>
              <a:lnSpc>
                <a:spcPct val="90000"/>
              </a:lnSpc>
              <a:buFont typeface="Monotype Sorts" pitchFamily="-84" charset="2"/>
              <a:buNone/>
              <a:tabLst>
                <a:tab pos="739775" algn="l"/>
                <a:tab pos="1020763" algn="l"/>
                <a:tab pos="1257300" algn="l"/>
              </a:tabLst>
            </a:pPr>
            <a:r>
              <a:rPr lang="en-US" altLang="en-US" sz="2400" b="1" dirty="0">
                <a:solidFill>
                  <a:srgbClr val="000000"/>
                </a:solidFill>
                <a:latin typeface="Consolas" panose="020B0609020204030204" pitchFamily="49" charset="0"/>
              </a:rPr>
              <a:t>        {</a:t>
            </a:r>
          </a:p>
          <a:p>
            <a:pPr>
              <a:lnSpc>
                <a:spcPct val="90000"/>
              </a:lnSpc>
              <a:buFont typeface="Monotype Sorts" pitchFamily="-84" charset="2"/>
              <a:buNone/>
              <a:tabLst>
                <a:tab pos="739775" algn="l"/>
                <a:tab pos="1020763" algn="l"/>
                <a:tab pos="1257300" algn="l"/>
              </a:tabLst>
            </a:pPr>
            <a:r>
              <a:rPr lang="en-US" altLang="en-US" sz="2400" b="1" dirty="0">
                <a:solidFill>
                  <a:srgbClr val="000000"/>
                </a:solidFill>
                <a:latin typeface="Consolas" panose="020B0609020204030204" pitchFamily="49" charset="0"/>
              </a:rPr>
              <a:t>               </a:t>
            </a:r>
            <a:r>
              <a:rPr lang="en-US" altLang="en-US" sz="2400" b="1" dirty="0" err="1">
                <a:solidFill>
                  <a:srgbClr val="000000"/>
                </a:solidFill>
                <a:latin typeface="Consolas" panose="020B0609020204030204" pitchFamily="49" charset="0"/>
              </a:rPr>
              <a:t>boolean</a:t>
            </a:r>
            <a:r>
              <a:rPr lang="en-US" altLang="en-US" sz="2400" b="1" dirty="0">
                <a:solidFill>
                  <a:srgbClr val="000000"/>
                </a:solidFill>
                <a:latin typeface="Consolas" panose="020B0609020204030204" pitchFamily="49" charset="0"/>
              </a:rPr>
              <a:t> </a:t>
            </a:r>
            <a:r>
              <a:rPr lang="en-US" altLang="en-US" sz="2400" b="1" dirty="0" err="1">
                <a:solidFill>
                  <a:srgbClr val="000000"/>
                </a:solidFill>
                <a:latin typeface="Consolas" panose="020B0609020204030204" pitchFamily="49" charset="0"/>
              </a:rPr>
              <a:t>rv</a:t>
            </a:r>
            <a:r>
              <a:rPr lang="en-US" altLang="en-US" sz="2400" b="1" dirty="0">
                <a:solidFill>
                  <a:srgbClr val="000000"/>
                </a:solidFill>
                <a:latin typeface="Consolas" panose="020B0609020204030204" pitchFamily="49" charset="0"/>
              </a:rPr>
              <a:t> = *target;</a:t>
            </a:r>
          </a:p>
          <a:p>
            <a:pPr>
              <a:lnSpc>
                <a:spcPct val="90000"/>
              </a:lnSpc>
              <a:buFont typeface="Monotype Sorts" pitchFamily="-84" charset="2"/>
              <a:buNone/>
              <a:tabLst>
                <a:tab pos="739775" algn="l"/>
                <a:tab pos="1020763" algn="l"/>
                <a:tab pos="1257300" algn="l"/>
              </a:tabLst>
            </a:pPr>
            <a:r>
              <a:rPr lang="en-US" altLang="en-US" sz="2400" b="1" dirty="0">
                <a:solidFill>
                  <a:srgbClr val="000000"/>
                </a:solidFill>
                <a:latin typeface="Consolas" panose="020B0609020204030204" pitchFamily="49" charset="0"/>
              </a:rPr>
              <a:t>               *target = true;</a:t>
            </a:r>
          </a:p>
          <a:p>
            <a:pPr>
              <a:lnSpc>
                <a:spcPct val="90000"/>
              </a:lnSpc>
              <a:buFont typeface="Monotype Sorts" pitchFamily="-84" charset="2"/>
              <a:buNone/>
              <a:tabLst>
                <a:tab pos="739775" algn="l"/>
                <a:tab pos="1020763" algn="l"/>
                <a:tab pos="1257300" algn="l"/>
              </a:tabLst>
            </a:pPr>
            <a:r>
              <a:rPr lang="en-US" altLang="en-US" sz="2400" b="1" dirty="0">
                <a:solidFill>
                  <a:srgbClr val="000000"/>
                </a:solidFill>
                <a:latin typeface="Consolas" panose="020B0609020204030204" pitchFamily="49" charset="0"/>
              </a:rPr>
              <a:t>               return </a:t>
            </a:r>
            <a:r>
              <a:rPr lang="en-US" altLang="en-US" sz="2400" b="1" dirty="0" err="1">
                <a:solidFill>
                  <a:srgbClr val="000000"/>
                </a:solidFill>
                <a:latin typeface="Consolas" panose="020B0609020204030204" pitchFamily="49" charset="0"/>
              </a:rPr>
              <a:t>rv</a:t>
            </a:r>
            <a:r>
              <a:rPr lang="en-US" altLang="en-US" sz="2400" b="1" dirty="0">
                <a:solidFill>
                  <a:srgbClr val="000000"/>
                </a:solidFill>
                <a:latin typeface="Consolas" panose="020B0609020204030204" pitchFamily="49" charset="0"/>
              </a:rPr>
              <a:t>:</a:t>
            </a:r>
          </a:p>
          <a:p>
            <a:pPr>
              <a:lnSpc>
                <a:spcPct val="90000"/>
              </a:lnSpc>
              <a:buFont typeface="Monotype Sorts" pitchFamily="-84" charset="2"/>
              <a:buNone/>
              <a:tabLst>
                <a:tab pos="739775" algn="l"/>
                <a:tab pos="1020763" algn="l"/>
                <a:tab pos="1257300" algn="l"/>
              </a:tabLst>
            </a:pPr>
            <a:r>
              <a:rPr lang="en-US" altLang="en-US" sz="2400" b="1" dirty="0">
                <a:solidFill>
                  <a:srgbClr val="000000"/>
                </a:solidFill>
                <a:latin typeface="Consolas" panose="020B0609020204030204" pitchFamily="49" charset="0"/>
              </a:rPr>
              <a:t>        }</a:t>
            </a:r>
            <a:endParaRPr lang="en-US" altLang="en-US" sz="2400" dirty="0">
              <a:solidFill>
                <a:srgbClr val="0000FF"/>
              </a:solidFill>
              <a:latin typeface="Consolas" panose="020B0609020204030204" pitchFamily="49" charset="0"/>
            </a:endParaRPr>
          </a:p>
          <a:p>
            <a:pPr marL="0" marR="0" algn="r" rtl="1">
              <a:lnSpc>
                <a:spcPct val="107000"/>
              </a:lnSpc>
              <a:spcBef>
                <a:spcPts val="0"/>
              </a:spcBef>
              <a:spcAft>
                <a:spcPts val="800"/>
              </a:spcAft>
            </a:pP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خصوصیات</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به صورت اتمی اجرا می‌شود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یعنی اگر دو دستور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testandset</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در هسته‌های مختلف اجرا شوند، اجرای آن ها متوالی خواهد نه هم‌زمان.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مقدار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اصلی پارامتر ارسالی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برمی‌گرداند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مقدار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جدید پارامتر ارسالی را روی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True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تنظیم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lvl="1"/>
            <a:endParaRPr lang="en-US" altLang="en-US" sz="2400" dirty="0"/>
          </a:p>
        </p:txBody>
      </p:sp>
    </p:spTree>
    <p:extLst>
      <p:ext uri="{BB962C8B-B14F-4D97-AF65-F5344CB8AC3E}">
        <p14:creationId xmlns:p14="http://schemas.microsoft.com/office/powerpoint/2010/main" val="3986950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41F217BE-A43A-46A9-BC10-72EEA59E16E2}"/>
              </a:ext>
            </a:extLst>
          </p:cNvPr>
          <p:cNvSpPr>
            <a:spLocks noGrp="1" noChangeArrowheads="1"/>
          </p:cNvSpPr>
          <p:nvPr>
            <p:ph type="title"/>
          </p:nvPr>
        </p:nvSpPr>
        <p:spPr>
          <a:xfrm>
            <a:off x="849313" y="227242"/>
            <a:ext cx="7837487" cy="576263"/>
          </a:xfrm>
        </p:spPr>
        <p:txBody>
          <a:bodyPr/>
          <a:lstStyle/>
          <a:p>
            <a:pPr eaLnBrk="1" hangingPunct="1"/>
            <a:r>
              <a:rPr lang="en-US" altLang="en-US" dirty="0"/>
              <a:t>Solution Using test_and_set()</a:t>
            </a:r>
          </a:p>
        </p:txBody>
      </p:sp>
      <p:sp>
        <p:nvSpPr>
          <p:cNvPr id="18435" name="Rectangle 3">
            <a:extLst>
              <a:ext uri="{FF2B5EF4-FFF2-40B4-BE49-F238E27FC236}">
                <a16:creationId xmlns:a16="http://schemas.microsoft.com/office/drawing/2014/main" id="{8373B695-ABAB-490F-AEA7-7E59C905C7D0}"/>
              </a:ext>
            </a:extLst>
          </p:cNvPr>
          <p:cNvSpPr>
            <a:spLocks noGrp="1" noChangeArrowheads="1"/>
          </p:cNvSpPr>
          <p:nvPr>
            <p:ph idx="1"/>
          </p:nvPr>
        </p:nvSpPr>
        <p:spPr>
          <a:xfrm>
            <a:off x="341745" y="969818"/>
            <a:ext cx="8478982" cy="5291282"/>
          </a:xfrm>
        </p:spPr>
        <p:txBody>
          <a:bodyPr/>
          <a:lstStyle/>
          <a:p>
            <a:pPr marL="342900" marR="0" lvl="0" indent="-342900" algn="r" rtl="1">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متغیر اشتراکی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Boolean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به نام</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lock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که مقدار اولیه آن</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false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راه‌حل</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1085850" lvl="2" indent="-342900">
              <a:buFont typeface="Wingdings" panose="05000000000000000000" pitchFamily="2" charset="2"/>
              <a:buChar char=""/>
              <a:tabLst>
                <a:tab pos="457200" algn="l"/>
              </a:tabLst>
            </a:pPr>
            <a:r>
              <a:rPr lang="en-US" altLang="en-US" b="1" dirty="0">
                <a:solidFill>
                  <a:srgbClr val="000000"/>
                </a:solidFill>
                <a:latin typeface="Consolas" panose="020B0609020204030204" pitchFamily="49" charset="0"/>
                <a:cs typeface="Courier New" panose="02070309020205020404" pitchFamily="49" charset="0"/>
              </a:rPr>
              <a:t>do</a:t>
            </a:r>
            <a:r>
              <a:rPr lang="en-US" altLang="en-US" dirty="0">
                <a:solidFill>
                  <a:srgbClr val="000000"/>
                </a:solidFill>
                <a:latin typeface="Consolas" panose="020B0609020204030204" pitchFamily="49" charset="0"/>
                <a:cs typeface="Courier New" panose="02070309020205020404" pitchFamily="49" charset="0"/>
              </a:rPr>
              <a:t> {</a:t>
            </a:r>
            <a:br>
              <a:rPr lang="en-US" altLang="en-US" dirty="0">
                <a:solidFill>
                  <a:srgbClr val="000000"/>
                </a:solidFill>
                <a:latin typeface="Consolas" panose="020B0609020204030204" pitchFamily="49" charset="0"/>
                <a:cs typeface="Courier New" panose="02070309020205020404" pitchFamily="49" charset="0"/>
              </a:rPr>
            </a:br>
            <a:r>
              <a:rPr lang="en-US" altLang="en-US" dirty="0">
                <a:solidFill>
                  <a:srgbClr val="000000"/>
                </a:solidFill>
                <a:latin typeface="Consolas" panose="020B0609020204030204" pitchFamily="49" charset="0"/>
                <a:cs typeface="Courier New" panose="02070309020205020404" pitchFamily="49" charset="0"/>
              </a:rPr>
              <a:t>	</a:t>
            </a:r>
            <a:r>
              <a:rPr lang="en-US" altLang="en-US" b="1" dirty="0">
                <a:solidFill>
                  <a:srgbClr val="000000"/>
                </a:solidFill>
                <a:latin typeface="Consolas" panose="020B0609020204030204" pitchFamily="49" charset="0"/>
                <a:cs typeface="Courier New" panose="02070309020205020404" pitchFamily="49" charset="0"/>
              </a:rPr>
              <a:t>while</a:t>
            </a:r>
            <a:r>
              <a:rPr lang="en-US" altLang="en-US" dirty="0">
                <a:solidFill>
                  <a:srgbClr val="000000"/>
                </a:solidFill>
                <a:latin typeface="Consolas" panose="020B0609020204030204" pitchFamily="49" charset="0"/>
                <a:cs typeface="Courier New" panose="02070309020205020404" pitchFamily="49" charset="0"/>
              </a:rPr>
              <a:t> (</a:t>
            </a:r>
            <a:r>
              <a:rPr lang="en-US" altLang="en-US" b="1" dirty="0" err="1">
                <a:solidFill>
                  <a:srgbClr val="0066CC"/>
                </a:solidFill>
                <a:latin typeface="Consolas" panose="020B0609020204030204" pitchFamily="49" charset="0"/>
                <a:cs typeface="Courier New" panose="02070309020205020404" pitchFamily="49" charset="0"/>
              </a:rPr>
              <a:t>test_and_set</a:t>
            </a:r>
            <a:r>
              <a:rPr lang="en-US" altLang="en-US" dirty="0">
                <a:solidFill>
                  <a:srgbClr val="000000"/>
                </a:solidFill>
                <a:latin typeface="Consolas" panose="020B0609020204030204" pitchFamily="49" charset="0"/>
                <a:cs typeface="Courier New" panose="02070309020205020404" pitchFamily="49" charset="0"/>
              </a:rPr>
              <a:t>(</a:t>
            </a:r>
            <a:r>
              <a:rPr lang="en-US" altLang="en-US" b="1" dirty="0">
                <a:solidFill>
                  <a:srgbClr val="FF0000"/>
                </a:solidFill>
                <a:latin typeface="Consolas" panose="020B0609020204030204" pitchFamily="49" charset="0"/>
                <a:cs typeface="Courier New" panose="02070309020205020404" pitchFamily="49" charset="0"/>
              </a:rPr>
              <a:t>&amp;lock</a:t>
            </a:r>
            <a:r>
              <a:rPr lang="en-US" altLang="en-US" dirty="0">
                <a:solidFill>
                  <a:srgbClr val="000000"/>
                </a:solidFill>
                <a:latin typeface="Consolas" panose="020B0609020204030204" pitchFamily="49" charset="0"/>
                <a:cs typeface="Courier New" panose="02070309020205020404" pitchFamily="49" charset="0"/>
              </a:rPr>
              <a:t>)) </a:t>
            </a:r>
          </a:p>
          <a:p>
            <a:pPr>
              <a:buFont typeface="Monotype Sorts" pitchFamily="-84" charset="2"/>
              <a:buNone/>
              <a:tabLst>
                <a:tab pos="741363" algn="l"/>
                <a:tab pos="1022350" algn="l"/>
                <a:tab pos="1258888" algn="l"/>
              </a:tabLst>
            </a:pPr>
            <a:r>
              <a:rPr lang="en-US" altLang="en-US" dirty="0">
                <a:solidFill>
                  <a:srgbClr val="000000"/>
                </a:solidFill>
                <a:latin typeface="Consolas" panose="020B0609020204030204" pitchFamily="49" charset="0"/>
                <a:cs typeface="Courier New" panose="02070309020205020404" pitchFamily="49" charset="0"/>
              </a:rPr>
              <a:t>             		; /* do nothing */ </a:t>
            </a:r>
          </a:p>
          <a:p>
            <a:pPr>
              <a:buFont typeface="Monotype Sorts" pitchFamily="-84" charset="2"/>
              <a:buNone/>
              <a:tabLst>
                <a:tab pos="741363" algn="l"/>
                <a:tab pos="1022350" algn="l"/>
                <a:tab pos="1258888" algn="l"/>
              </a:tabLst>
            </a:pPr>
            <a:r>
              <a:rPr lang="en-US" altLang="en-US" dirty="0">
                <a:solidFill>
                  <a:srgbClr val="000000"/>
                </a:solidFill>
                <a:latin typeface="Consolas" panose="020B0609020204030204" pitchFamily="49" charset="0"/>
                <a:cs typeface="Courier New" panose="02070309020205020404" pitchFamily="49" charset="0"/>
              </a:rPr>
              <a:t>              /* </a:t>
            </a:r>
            <a:r>
              <a:rPr lang="en-US" altLang="en-US" b="1" u="sng" dirty="0">
                <a:solidFill>
                  <a:srgbClr val="000000"/>
                </a:solidFill>
                <a:latin typeface="Consolas" panose="020B0609020204030204" pitchFamily="49" charset="0"/>
                <a:cs typeface="Courier New" panose="02070309020205020404" pitchFamily="49" charset="0"/>
              </a:rPr>
              <a:t>critical section </a:t>
            </a:r>
            <a:r>
              <a:rPr lang="en-US" altLang="en-US" dirty="0">
                <a:solidFill>
                  <a:srgbClr val="000000"/>
                </a:solidFill>
                <a:latin typeface="Consolas" panose="020B0609020204030204" pitchFamily="49" charset="0"/>
                <a:cs typeface="Courier New" panose="02070309020205020404" pitchFamily="49" charset="0"/>
              </a:rPr>
              <a:t>*/ </a:t>
            </a:r>
          </a:p>
          <a:p>
            <a:pPr>
              <a:buFont typeface="Monotype Sorts" pitchFamily="-84" charset="2"/>
              <a:buNone/>
              <a:tabLst>
                <a:tab pos="741363" algn="l"/>
                <a:tab pos="1022350" algn="l"/>
                <a:tab pos="1258888" algn="l"/>
              </a:tabLst>
            </a:pPr>
            <a:r>
              <a:rPr lang="en-US" altLang="en-US" dirty="0">
                <a:solidFill>
                  <a:srgbClr val="000000"/>
                </a:solidFill>
                <a:latin typeface="Consolas" panose="020B0609020204030204" pitchFamily="49" charset="0"/>
                <a:cs typeface="Courier New" panose="02070309020205020404" pitchFamily="49" charset="0"/>
              </a:rPr>
              <a:t>          	</a:t>
            </a:r>
            <a:r>
              <a:rPr lang="en-US" altLang="en-US" b="1" dirty="0">
                <a:solidFill>
                  <a:srgbClr val="FF0000"/>
                </a:solidFill>
                <a:latin typeface="Consolas" panose="020B0609020204030204" pitchFamily="49" charset="0"/>
                <a:cs typeface="Courier New" panose="02070309020205020404" pitchFamily="49" charset="0"/>
              </a:rPr>
              <a:t>lock</a:t>
            </a:r>
            <a:r>
              <a:rPr lang="en-US" altLang="en-US" dirty="0">
                <a:solidFill>
                  <a:srgbClr val="000000"/>
                </a:solidFill>
                <a:latin typeface="Consolas" panose="020B0609020204030204" pitchFamily="49" charset="0"/>
                <a:cs typeface="Courier New" panose="02070309020205020404" pitchFamily="49" charset="0"/>
              </a:rPr>
              <a:t> = </a:t>
            </a:r>
            <a:r>
              <a:rPr lang="en-US" altLang="en-US" b="1" dirty="0">
                <a:solidFill>
                  <a:srgbClr val="000000"/>
                </a:solidFill>
                <a:latin typeface="Consolas" panose="020B0609020204030204" pitchFamily="49" charset="0"/>
                <a:cs typeface="Courier New" panose="02070309020205020404" pitchFamily="49" charset="0"/>
              </a:rPr>
              <a:t>false</a:t>
            </a:r>
            <a:r>
              <a:rPr lang="en-US" altLang="en-US" dirty="0">
                <a:solidFill>
                  <a:srgbClr val="000000"/>
                </a:solidFill>
                <a:latin typeface="Consolas" panose="020B0609020204030204" pitchFamily="49" charset="0"/>
                <a:cs typeface="Courier New" panose="02070309020205020404" pitchFamily="49" charset="0"/>
              </a:rPr>
              <a:t>; </a:t>
            </a:r>
          </a:p>
          <a:p>
            <a:pPr>
              <a:buFont typeface="Monotype Sorts" pitchFamily="-84" charset="2"/>
              <a:buNone/>
              <a:tabLst>
                <a:tab pos="741363" algn="l"/>
                <a:tab pos="1022350" algn="l"/>
                <a:tab pos="1258888" algn="l"/>
              </a:tabLst>
            </a:pPr>
            <a:r>
              <a:rPr lang="en-US" altLang="en-US" dirty="0">
                <a:solidFill>
                  <a:srgbClr val="000000"/>
                </a:solidFill>
                <a:latin typeface="Consolas" panose="020B0609020204030204" pitchFamily="49" charset="0"/>
                <a:cs typeface="Courier New" panose="02070309020205020404" pitchFamily="49" charset="0"/>
              </a:rPr>
              <a:t>              /* </a:t>
            </a:r>
            <a:r>
              <a:rPr lang="en-US" altLang="en-US" u="sng" dirty="0">
                <a:solidFill>
                  <a:srgbClr val="000000"/>
                </a:solidFill>
                <a:latin typeface="Consolas" panose="020B0609020204030204" pitchFamily="49" charset="0"/>
                <a:cs typeface="Courier New" panose="02070309020205020404" pitchFamily="49" charset="0"/>
              </a:rPr>
              <a:t>remainder section </a:t>
            </a:r>
            <a:r>
              <a:rPr lang="en-US" altLang="en-US" dirty="0">
                <a:solidFill>
                  <a:srgbClr val="000000"/>
                </a:solidFill>
                <a:latin typeface="Consolas" panose="020B0609020204030204" pitchFamily="49" charset="0"/>
                <a:cs typeface="Courier New" panose="02070309020205020404" pitchFamily="49" charset="0"/>
              </a:rPr>
              <a:t>*/ </a:t>
            </a:r>
          </a:p>
          <a:p>
            <a:pPr>
              <a:buFont typeface="Monotype Sorts" pitchFamily="-84" charset="2"/>
              <a:buNone/>
              <a:tabLst>
                <a:tab pos="741363" algn="l"/>
                <a:tab pos="1022350" algn="l"/>
                <a:tab pos="1258888" algn="l"/>
              </a:tabLst>
            </a:pPr>
            <a:r>
              <a:rPr lang="en-US" altLang="en-US" dirty="0">
                <a:solidFill>
                  <a:srgbClr val="000000"/>
                </a:solidFill>
                <a:latin typeface="Consolas" panose="020B0609020204030204" pitchFamily="49" charset="0"/>
                <a:cs typeface="Courier New" panose="02070309020205020404" pitchFamily="49" charset="0"/>
              </a:rPr>
              <a:t>       } </a:t>
            </a:r>
            <a:r>
              <a:rPr lang="en-US" altLang="en-US" b="1" dirty="0">
                <a:solidFill>
                  <a:srgbClr val="000000"/>
                </a:solidFill>
                <a:latin typeface="Consolas" panose="020B0609020204030204" pitchFamily="49" charset="0"/>
                <a:cs typeface="Courier New" panose="02070309020205020404" pitchFamily="49" charset="0"/>
              </a:rPr>
              <a:t>while</a:t>
            </a:r>
            <a:r>
              <a:rPr lang="en-US" altLang="en-US" dirty="0">
                <a:solidFill>
                  <a:srgbClr val="000000"/>
                </a:solidFill>
                <a:latin typeface="Consolas" panose="020B0609020204030204" pitchFamily="49" charset="0"/>
                <a:cs typeface="Courier New" panose="02070309020205020404" pitchFamily="49" charset="0"/>
              </a:rPr>
              <a:t> (</a:t>
            </a:r>
            <a:r>
              <a:rPr lang="en-US" altLang="en-US" b="1" dirty="0">
                <a:solidFill>
                  <a:srgbClr val="000000"/>
                </a:solidFill>
                <a:latin typeface="Consolas" panose="020B0609020204030204" pitchFamily="49" charset="0"/>
                <a:cs typeface="Courier New" panose="02070309020205020404" pitchFamily="49" charset="0"/>
              </a:rPr>
              <a:t>true</a:t>
            </a:r>
            <a:r>
              <a:rPr lang="en-US" altLang="en-US" dirty="0">
                <a:solidFill>
                  <a:srgbClr val="000000"/>
                </a:solidFill>
                <a:latin typeface="Consolas" panose="020B0609020204030204" pitchFamily="49" charset="0"/>
                <a:cs typeface="Courier New" panose="02070309020205020404" pitchFamily="49" charset="0"/>
              </a:rPr>
              <a:t>);</a:t>
            </a:r>
          </a:p>
          <a:p>
            <a:pPr>
              <a:buFont typeface="Monotype Sorts" pitchFamily="-84" charset="2"/>
              <a:buNone/>
              <a:tabLst>
                <a:tab pos="741363" algn="l"/>
                <a:tab pos="1022350" algn="l"/>
                <a:tab pos="1258888" algn="l"/>
              </a:tabLst>
            </a:pPr>
            <a:endParaRPr lang="en-US" altLang="en-US" sz="2400" b="1" dirty="0">
              <a:solidFill>
                <a:srgbClr val="000000"/>
              </a:solidFill>
              <a:latin typeface="Courier New" panose="02070309020205020404" pitchFamily="49" charset="0"/>
              <a:cs typeface="Courier New" panose="02070309020205020404" pitchFamily="49" charset="0"/>
            </a:endParaRPr>
          </a:p>
          <a:p>
            <a:pPr marL="342900" marR="0" lvl="0" indent="-342900" algn="r" rtl="1">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آیا این مشکل بخش بحرانی را حل می‌کند؟</a:t>
            </a:r>
            <a:endParaRPr lang="en-US" sz="2800" dirty="0">
              <a:effectLst/>
              <a:latin typeface="Times New Roman" panose="02020603050405020304" pitchFamily="18" charset="0"/>
              <a:ea typeface="Times New Roman" panose="02020603050405020304" pitchFamily="18" charset="0"/>
            </a:endParaRPr>
          </a:p>
          <a:p>
            <a:pPr>
              <a:lnSpc>
                <a:spcPct val="90000"/>
              </a:lnSpc>
              <a:buFont typeface="Monotype Sorts" pitchFamily="-84" charset="2"/>
              <a:buNone/>
              <a:tabLst>
                <a:tab pos="741363" algn="l"/>
                <a:tab pos="1022350" algn="l"/>
                <a:tab pos="1258888" algn="l"/>
              </a:tabLst>
            </a:pPr>
            <a:endParaRPr lang="en-US" altLang="en-US" sz="2000" dirty="0"/>
          </a:p>
          <a:p>
            <a:pPr>
              <a:lnSpc>
                <a:spcPct val="90000"/>
              </a:lnSpc>
              <a:buFont typeface="Monotype Sorts" pitchFamily="-84" charset="2"/>
              <a:buNone/>
              <a:tabLst>
                <a:tab pos="741363" algn="l"/>
                <a:tab pos="1022350" algn="l"/>
                <a:tab pos="1258888" algn="l"/>
              </a:tabLst>
            </a:pPr>
            <a:r>
              <a:rPr lang="en-US" altLang="en-US" sz="2000" dirty="0"/>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1A49B8FB-3200-4536-BAF9-78B70AEA887B}"/>
              </a:ext>
            </a:extLst>
          </p:cNvPr>
          <p:cNvSpPr>
            <a:spLocks noGrp="1"/>
          </p:cNvSpPr>
          <p:nvPr>
            <p:ph type="title"/>
          </p:nvPr>
        </p:nvSpPr>
        <p:spPr>
          <a:xfrm>
            <a:off x="893622" y="140434"/>
            <a:ext cx="8229600" cy="576262"/>
          </a:xfrm>
        </p:spPr>
        <p:txBody>
          <a:bodyPr/>
          <a:lstStyle/>
          <a:p>
            <a:r>
              <a:rPr lang="fa-IR" altLang="en-US" dirty="0">
                <a:cs typeface="B Titr" panose="00000700000000000000" pitchFamily="2" charset="-78"/>
              </a:rPr>
              <a:t>دستور مقایسه و تعویض</a:t>
            </a:r>
            <a:endParaRPr lang="en-US" altLang="en-US" dirty="0">
              <a:cs typeface="B Titr" panose="00000700000000000000" pitchFamily="2" charset="-78"/>
            </a:endParaRPr>
          </a:p>
        </p:txBody>
      </p:sp>
      <p:sp>
        <p:nvSpPr>
          <p:cNvPr id="97282" name="Content Placeholder 2">
            <a:extLst>
              <a:ext uri="{FF2B5EF4-FFF2-40B4-BE49-F238E27FC236}">
                <a16:creationId xmlns:a16="http://schemas.microsoft.com/office/drawing/2014/main" id="{AA450727-31EB-4901-A991-F21A53F3C62A}"/>
              </a:ext>
            </a:extLst>
          </p:cNvPr>
          <p:cNvSpPr>
            <a:spLocks noGrp="1"/>
          </p:cNvSpPr>
          <p:nvPr>
            <p:ph idx="1"/>
          </p:nvPr>
        </p:nvSpPr>
        <p:spPr>
          <a:xfrm>
            <a:off x="413613" y="981796"/>
            <a:ext cx="8316773" cy="2663102"/>
          </a:xfrm>
        </p:spPr>
        <p:txBody>
          <a:bodyPr/>
          <a:lstStyle/>
          <a:p>
            <a:r>
              <a:rPr lang="en-US" altLang="en-US" sz="2000" dirty="0"/>
              <a:t>Definition</a:t>
            </a:r>
          </a:p>
          <a:p>
            <a:pPr>
              <a:buFont typeface="Monotype Sorts" pitchFamily="-84" charset="2"/>
              <a:buNone/>
              <a:tabLst>
                <a:tab pos="741363" algn="l"/>
                <a:tab pos="1022350" algn="l"/>
                <a:tab pos="1258888" algn="l"/>
              </a:tabLst>
            </a:pPr>
            <a:r>
              <a:rPr lang="en-US" altLang="en-US" sz="2000" b="1" dirty="0">
                <a:latin typeface="Courier New" panose="02070309020205020404" pitchFamily="49" charset="0"/>
              </a:rPr>
              <a:t>    </a:t>
            </a:r>
            <a:r>
              <a:rPr lang="en-US" altLang="en-US" sz="1600" dirty="0">
                <a:latin typeface="Consolas" panose="020B0609020204030204" pitchFamily="49" charset="0"/>
              </a:rPr>
              <a:t>int </a:t>
            </a:r>
            <a:r>
              <a:rPr lang="en-US" altLang="en-US" sz="1600" b="1" dirty="0" err="1">
                <a:latin typeface="Consolas" panose="020B0609020204030204" pitchFamily="49" charset="0"/>
              </a:rPr>
              <a:t>compare_and_swap</a:t>
            </a:r>
            <a:r>
              <a:rPr lang="en-US" altLang="en-US" sz="1600" dirty="0">
                <a:latin typeface="Consolas" panose="020B0609020204030204" pitchFamily="49" charset="0"/>
              </a:rPr>
              <a:t>(int </a:t>
            </a:r>
            <a:r>
              <a:rPr lang="en-US" altLang="en-US" sz="1600" b="1" dirty="0">
                <a:solidFill>
                  <a:srgbClr val="00B0F0"/>
                </a:solidFill>
                <a:latin typeface="Consolas" panose="020B0609020204030204" pitchFamily="49" charset="0"/>
              </a:rPr>
              <a:t>*value</a:t>
            </a:r>
            <a:r>
              <a:rPr lang="en-US" altLang="en-US" sz="1600" dirty="0">
                <a:latin typeface="Consolas" panose="020B0609020204030204" pitchFamily="49" charset="0"/>
              </a:rPr>
              <a:t>, int </a:t>
            </a:r>
            <a:r>
              <a:rPr lang="en-US" altLang="en-US" sz="1600" b="1" dirty="0">
                <a:latin typeface="Consolas" panose="020B0609020204030204" pitchFamily="49" charset="0"/>
              </a:rPr>
              <a:t>expected</a:t>
            </a:r>
            <a:r>
              <a:rPr lang="en-US" altLang="en-US" sz="1600" dirty="0">
                <a:latin typeface="Consolas" panose="020B0609020204030204" pitchFamily="49" charset="0"/>
              </a:rPr>
              <a:t>, int </a:t>
            </a:r>
            <a:r>
              <a:rPr lang="en-US" altLang="en-US" sz="1600" b="1" dirty="0" err="1">
                <a:latin typeface="Consolas" panose="020B0609020204030204" pitchFamily="49" charset="0"/>
              </a:rPr>
              <a:t>new_value</a:t>
            </a:r>
            <a:r>
              <a:rPr lang="en-US" altLang="en-US" sz="1600" dirty="0">
                <a:latin typeface="Consolas" panose="020B0609020204030204" pitchFamily="49" charset="0"/>
              </a:rPr>
              <a:t>)</a:t>
            </a:r>
          </a:p>
          <a:p>
            <a:pPr>
              <a:buFont typeface="Monotype Sorts" pitchFamily="-84" charset="2"/>
              <a:buNone/>
              <a:tabLst>
                <a:tab pos="741363" algn="l"/>
                <a:tab pos="1022350" algn="l"/>
                <a:tab pos="1258888" algn="l"/>
              </a:tabLst>
            </a:pPr>
            <a:r>
              <a:rPr lang="en-US" altLang="en-US" sz="1600" dirty="0">
                <a:latin typeface="Consolas" panose="020B0609020204030204" pitchFamily="49" charset="0"/>
              </a:rPr>
              <a:t>      {                  </a:t>
            </a:r>
          </a:p>
          <a:p>
            <a:pPr>
              <a:buFont typeface="Monotype Sorts" pitchFamily="-84" charset="2"/>
              <a:buNone/>
              <a:tabLst>
                <a:tab pos="741363" algn="l"/>
                <a:tab pos="1022350" algn="l"/>
                <a:tab pos="1258888" algn="l"/>
              </a:tabLst>
            </a:pPr>
            <a:r>
              <a:rPr lang="en-US" altLang="en-US" sz="1600" dirty="0">
                <a:latin typeface="Consolas" panose="020B0609020204030204" pitchFamily="49" charset="0"/>
              </a:rPr>
              <a:t>       int temp = </a:t>
            </a:r>
            <a:r>
              <a:rPr lang="en-US" altLang="en-US" sz="1600" b="1" dirty="0">
                <a:latin typeface="Consolas" panose="020B0609020204030204" pitchFamily="49" charset="0"/>
              </a:rPr>
              <a:t>*value</a:t>
            </a:r>
            <a:r>
              <a:rPr lang="en-US" altLang="en-US" sz="1600" dirty="0">
                <a:latin typeface="Consolas" panose="020B0609020204030204" pitchFamily="49" charset="0"/>
              </a:rPr>
              <a:t>; </a:t>
            </a:r>
          </a:p>
          <a:p>
            <a:pPr>
              <a:buFont typeface="Monotype Sorts" pitchFamily="-84" charset="2"/>
              <a:buNone/>
              <a:tabLst>
                <a:tab pos="741363" algn="l"/>
                <a:tab pos="1022350" algn="l"/>
                <a:tab pos="1258888" algn="l"/>
              </a:tabLst>
            </a:pPr>
            <a:r>
              <a:rPr lang="en-US" altLang="en-US" sz="1600" dirty="0">
                <a:latin typeface="Consolas" panose="020B0609020204030204" pitchFamily="49" charset="0"/>
              </a:rPr>
              <a:t>        if (</a:t>
            </a:r>
            <a:r>
              <a:rPr lang="en-US" altLang="en-US" sz="1600" b="1" dirty="0">
                <a:solidFill>
                  <a:srgbClr val="00B0F0"/>
                </a:solidFill>
                <a:latin typeface="Consolas" panose="020B0609020204030204" pitchFamily="49" charset="0"/>
              </a:rPr>
              <a:t>*value == expected</a:t>
            </a:r>
            <a:r>
              <a:rPr lang="en-US" altLang="en-US" sz="1600" dirty="0">
                <a:latin typeface="Consolas" panose="020B0609020204030204" pitchFamily="49" charset="0"/>
              </a:rPr>
              <a:t>) </a:t>
            </a:r>
          </a:p>
          <a:p>
            <a:pPr>
              <a:buFont typeface="Monotype Sorts" pitchFamily="-84" charset="2"/>
              <a:buNone/>
              <a:tabLst>
                <a:tab pos="741363" algn="l"/>
                <a:tab pos="1022350" algn="l"/>
                <a:tab pos="1258888" algn="l"/>
              </a:tabLst>
            </a:pPr>
            <a:r>
              <a:rPr lang="en-US" altLang="en-US" sz="1600" dirty="0">
                <a:latin typeface="Consolas" panose="020B0609020204030204" pitchFamily="49" charset="0"/>
              </a:rPr>
              <a:t>            *value = </a:t>
            </a:r>
            <a:r>
              <a:rPr lang="en-US" altLang="en-US" sz="1600" b="1" dirty="0" err="1">
                <a:latin typeface="Consolas" panose="020B0609020204030204" pitchFamily="49" charset="0"/>
              </a:rPr>
              <a:t>new_value</a:t>
            </a:r>
            <a:r>
              <a:rPr lang="en-US" altLang="en-US" sz="1600" dirty="0">
                <a:latin typeface="Consolas" panose="020B0609020204030204" pitchFamily="49" charset="0"/>
              </a:rPr>
              <a:t>; </a:t>
            </a:r>
          </a:p>
          <a:p>
            <a:pPr>
              <a:buFont typeface="Monotype Sorts" pitchFamily="-84" charset="2"/>
              <a:buNone/>
              <a:tabLst>
                <a:tab pos="741363" algn="l"/>
                <a:tab pos="1022350" algn="l"/>
                <a:tab pos="1258888" algn="l"/>
              </a:tabLst>
            </a:pPr>
            <a:r>
              <a:rPr lang="en-US" altLang="en-US" sz="1600" dirty="0">
                <a:latin typeface="Consolas" panose="020B0609020204030204" pitchFamily="49" charset="0"/>
              </a:rPr>
              <a:t>         return </a:t>
            </a:r>
            <a:r>
              <a:rPr lang="en-US" altLang="en-US" sz="1600" b="1" dirty="0">
                <a:latin typeface="Consolas" panose="020B0609020204030204" pitchFamily="49" charset="0"/>
              </a:rPr>
              <a:t>temp</a:t>
            </a:r>
            <a:r>
              <a:rPr lang="en-US" altLang="en-US" sz="1600" dirty="0">
                <a:latin typeface="Consolas" panose="020B0609020204030204" pitchFamily="49" charset="0"/>
              </a:rPr>
              <a:t>; </a:t>
            </a:r>
          </a:p>
          <a:p>
            <a:pPr>
              <a:buFont typeface="Monotype Sorts" pitchFamily="-84" charset="2"/>
              <a:buNone/>
              <a:tabLst>
                <a:tab pos="741363" algn="l"/>
                <a:tab pos="1022350" algn="l"/>
                <a:tab pos="1258888" algn="l"/>
              </a:tabLst>
            </a:pPr>
            <a:r>
              <a:rPr lang="en-US" altLang="en-US" sz="1600" dirty="0">
                <a:latin typeface="Consolas" panose="020B0609020204030204" pitchFamily="49" charset="0"/>
              </a:rPr>
              <a:t>     } </a:t>
            </a:r>
            <a:endParaRPr lang="en-US" altLang="en-US" sz="1600" b="1" dirty="0">
              <a:latin typeface="Consolas" panose="020B0609020204030204" pitchFamily="49" charset="0"/>
            </a:endParaRPr>
          </a:p>
          <a:p>
            <a:pPr marL="0" marR="0" algn="r" rtl="1">
              <a:lnSpc>
                <a:spcPct val="107000"/>
              </a:lnSpc>
              <a:spcBef>
                <a:spcPts val="0"/>
              </a:spcBef>
              <a:spcAft>
                <a:spcPts val="800"/>
              </a:spcAf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خصوصیات</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به صورت اتمی اجرا می‌شود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مقدار اصلی پارامتر ارسالی را برمی‌گرداند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مقدار متغیر را روی مقدار پارامتر جدید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000" dirty="0" err="1">
                <a:effectLst/>
                <a:latin typeface="Times New Roman" panose="02020603050405020304" pitchFamily="18" charset="0"/>
                <a:ea typeface="Times New Roman" panose="02020603050405020304" pitchFamily="18" charset="0"/>
                <a:cs typeface="B Nazanin" panose="00000400000000000000" pitchFamily="2" charset="-78"/>
              </a:rPr>
              <a:t>new_value</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تنظیم می‌کند، اما تنها در صورتی که</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*value == expected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درست باشد. یعنی تبادل تنها تحت این شرط انجام می‌شود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lvl="1"/>
            <a:endParaRPr lang="en-US" altLang="en-US" sz="2000" dirty="0"/>
          </a:p>
        </p:txBody>
      </p:sp>
    </p:spTree>
    <p:extLst>
      <p:ext uri="{BB962C8B-B14F-4D97-AF65-F5344CB8AC3E}">
        <p14:creationId xmlns:p14="http://schemas.microsoft.com/office/powerpoint/2010/main" val="38818738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13C9369D-1B62-4590-85E2-B896C59BEDB4}"/>
              </a:ext>
            </a:extLst>
          </p:cNvPr>
          <p:cNvSpPr>
            <a:spLocks noGrp="1" noChangeArrowheads="1"/>
          </p:cNvSpPr>
          <p:nvPr>
            <p:ph type="title"/>
          </p:nvPr>
        </p:nvSpPr>
        <p:spPr>
          <a:xfrm>
            <a:off x="1192213" y="219075"/>
            <a:ext cx="7567612" cy="576263"/>
          </a:xfrm>
        </p:spPr>
        <p:txBody>
          <a:bodyPr/>
          <a:lstStyle/>
          <a:p>
            <a:pPr eaLnBrk="1" hangingPunct="1"/>
            <a:r>
              <a:rPr lang="fa-IR" altLang="en-US" sz="3200" dirty="0">
                <a:cs typeface="B Titr" panose="00000700000000000000" pitchFamily="2" charset="-78"/>
              </a:rPr>
              <a:t>راه‌کار با الگوریتم تعویض و جابجایی</a:t>
            </a:r>
            <a:endParaRPr lang="en-US" altLang="en-US" dirty="0"/>
          </a:p>
        </p:txBody>
      </p:sp>
      <p:sp>
        <p:nvSpPr>
          <p:cNvPr id="37890" name="Rectangle 3">
            <a:extLst>
              <a:ext uri="{FF2B5EF4-FFF2-40B4-BE49-F238E27FC236}">
                <a16:creationId xmlns:a16="http://schemas.microsoft.com/office/drawing/2014/main" id="{FB36B605-24F7-4EAF-99B9-DC6343A49A68}"/>
              </a:ext>
            </a:extLst>
          </p:cNvPr>
          <p:cNvSpPr>
            <a:spLocks noGrp="1" noChangeArrowheads="1"/>
          </p:cNvSpPr>
          <p:nvPr>
            <p:ph idx="1"/>
          </p:nvPr>
        </p:nvSpPr>
        <p:spPr>
          <a:xfrm>
            <a:off x="891743" y="1017300"/>
            <a:ext cx="7766050" cy="4333875"/>
          </a:xfrm>
        </p:spPr>
        <p:txBody>
          <a:bodyPr/>
          <a:lstStyle/>
          <a:p>
            <a:pPr marL="342900" marR="0" lvl="0" indent="-342900" algn="r" rtl="1">
              <a:buFont typeface="Wingdings" panose="05000000000000000000" pitchFamily="2" charset="2"/>
              <a:buChar char=""/>
              <a:tabLst>
                <a:tab pos="457200" algn="l"/>
              </a:tabLst>
            </a:pP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قفل عدد صحیح اشتراکی</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 lock </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که مقدار اولیه آن </a:t>
            </a:r>
            <a:r>
              <a:rPr lang="fa-IR" sz="1800" dirty="0">
                <a:effectLst/>
                <a:latin typeface="Times New Roman" panose="02020603050405020304" pitchFamily="18" charset="0"/>
                <a:ea typeface="Times New Roman" panose="02020603050405020304" pitchFamily="18" charset="0"/>
                <a:cs typeface="B Nazanin" panose="00000400000000000000" pitchFamily="2" charset="-78"/>
              </a:rPr>
              <a:t>۰</a:t>
            </a:r>
            <a:r>
              <a:rPr lang="ar-SA" sz="1800" dirty="0">
                <a:effectLst/>
                <a:latin typeface="Times New Roman" panose="02020603050405020304" pitchFamily="18" charset="0"/>
                <a:ea typeface="Times New Roman" panose="02020603050405020304" pitchFamily="18" charset="0"/>
                <a:cs typeface="B Nazanin" panose="00000400000000000000" pitchFamily="2" charset="-78"/>
              </a:rPr>
              <a:t> است</a:t>
            </a:r>
            <a:r>
              <a:rPr lang="en-US" sz="1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1800" b="1" dirty="0">
                <a:effectLst/>
                <a:latin typeface="Times New Roman" panose="02020603050405020304" pitchFamily="18" charset="0"/>
                <a:ea typeface="Times New Roman" panose="02020603050405020304" pitchFamily="18" charset="0"/>
                <a:cs typeface="B Nazanin" panose="00000400000000000000" pitchFamily="2" charset="-78"/>
              </a:rPr>
              <a:t>راه‌حل</a:t>
            </a:r>
            <a:r>
              <a:rPr lang="en-US" sz="1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1800" dirty="0">
              <a:effectLst/>
              <a:latin typeface="Times New Roman" panose="02020603050405020304" pitchFamily="18" charset="0"/>
              <a:ea typeface="Times New Roman" panose="02020603050405020304" pitchFamily="18" charset="0"/>
            </a:endParaRPr>
          </a:p>
          <a:p>
            <a:pPr>
              <a:tabLst>
                <a:tab pos="741363" algn="l"/>
                <a:tab pos="1022350" algn="l"/>
                <a:tab pos="1258888" algn="l"/>
              </a:tabLst>
            </a:pPr>
            <a:r>
              <a:rPr lang="en-US" altLang="en-US" dirty="0"/>
              <a:t>Does it solve the critical-section problem?</a:t>
            </a:r>
          </a:p>
          <a:p>
            <a:pPr marL="0" indent="0">
              <a:buNone/>
              <a:tabLst>
                <a:tab pos="741363" algn="l"/>
                <a:tab pos="1022350" algn="l"/>
                <a:tab pos="1258888" algn="l"/>
              </a:tabLst>
            </a:pPr>
            <a:endParaRPr lang="en-US" altLang="en-US" sz="1600" b="1" dirty="0">
              <a:latin typeface="Courier New" panose="02070309020205020404" pitchFamily="49" charset="0"/>
            </a:endParaRPr>
          </a:p>
          <a:p>
            <a:pPr>
              <a:lnSpc>
                <a:spcPct val="90000"/>
              </a:lnSpc>
              <a:buFont typeface="Monotype Sorts" pitchFamily="-84" charset="2"/>
              <a:buNone/>
              <a:tabLst>
                <a:tab pos="741363" algn="l"/>
                <a:tab pos="1022350" algn="l"/>
                <a:tab pos="1258888" algn="l"/>
              </a:tabLst>
            </a:pPr>
            <a:r>
              <a:rPr lang="en-US" altLang="en-US" sz="1600" dirty="0"/>
              <a:t>               </a:t>
            </a:r>
          </a:p>
        </p:txBody>
      </p:sp>
      <p:sp>
        <p:nvSpPr>
          <p:cNvPr id="5" name="TextBox 4">
            <a:extLst>
              <a:ext uri="{FF2B5EF4-FFF2-40B4-BE49-F238E27FC236}">
                <a16:creationId xmlns:a16="http://schemas.microsoft.com/office/drawing/2014/main" id="{C5DDB156-AF93-40C3-9069-42C954D6BDDE}"/>
              </a:ext>
            </a:extLst>
          </p:cNvPr>
          <p:cNvSpPr txBox="1"/>
          <p:nvPr/>
        </p:nvSpPr>
        <p:spPr>
          <a:xfrm>
            <a:off x="4976019" y="2605449"/>
            <a:ext cx="3998481" cy="1938992"/>
          </a:xfrm>
          <a:prstGeom prst="rect">
            <a:avLst/>
          </a:prstGeom>
          <a:noFill/>
        </p:spPr>
        <p:txBody>
          <a:bodyPr wrap="square">
            <a:spAutoFit/>
          </a:bodyPr>
          <a:lstStyle/>
          <a:p>
            <a:pPr>
              <a:buFont typeface="Monotype Sorts" pitchFamily="-84" charset="2"/>
              <a:buNone/>
              <a:tabLst>
                <a:tab pos="741363" algn="l"/>
                <a:tab pos="1022350" algn="l"/>
                <a:tab pos="1258888" algn="l"/>
              </a:tabLst>
            </a:pPr>
            <a:r>
              <a:rPr lang="en-US" altLang="en-US" sz="1400" dirty="0">
                <a:latin typeface="Consolas" panose="020B0609020204030204" pitchFamily="49" charset="0"/>
              </a:rPr>
              <a:t>int </a:t>
            </a:r>
            <a:r>
              <a:rPr lang="en-US" altLang="en-US" sz="1400" b="1" dirty="0" err="1">
                <a:latin typeface="Consolas" panose="020B0609020204030204" pitchFamily="49" charset="0"/>
              </a:rPr>
              <a:t>compare_and_swap</a:t>
            </a:r>
            <a:r>
              <a:rPr lang="en-US" altLang="en-US" sz="1400" dirty="0">
                <a:latin typeface="Consolas" panose="020B0609020204030204" pitchFamily="49" charset="0"/>
              </a:rPr>
              <a:t>(int </a:t>
            </a:r>
            <a:r>
              <a:rPr lang="en-US" altLang="en-US" sz="1400" b="1" dirty="0">
                <a:solidFill>
                  <a:srgbClr val="00B0F0"/>
                </a:solidFill>
                <a:latin typeface="Consolas" panose="020B0609020204030204" pitchFamily="49" charset="0"/>
              </a:rPr>
              <a:t>*value</a:t>
            </a:r>
            <a:r>
              <a:rPr lang="en-US" altLang="en-US" sz="1400" dirty="0">
                <a:latin typeface="Consolas" panose="020B0609020204030204" pitchFamily="49" charset="0"/>
              </a:rPr>
              <a:t>, int </a:t>
            </a:r>
            <a:r>
              <a:rPr lang="en-US" altLang="en-US" sz="1400" b="1" dirty="0">
                <a:latin typeface="Consolas" panose="020B0609020204030204" pitchFamily="49" charset="0"/>
              </a:rPr>
              <a:t>expected</a:t>
            </a:r>
            <a:r>
              <a:rPr lang="en-US" altLang="en-US" sz="1400" dirty="0">
                <a:latin typeface="Consolas" panose="020B0609020204030204" pitchFamily="49" charset="0"/>
              </a:rPr>
              <a:t>, int </a:t>
            </a:r>
            <a:r>
              <a:rPr lang="en-US" altLang="en-US" sz="1400" b="1" dirty="0" err="1">
                <a:latin typeface="Consolas" panose="020B0609020204030204" pitchFamily="49" charset="0"/>
              </a:rPr>
              <a:t>new_value</a:t>
            </a:r>
            <a:r>
              <a:rPr lang="en-US" altLang="en-US" sz="1400" dirty="0">
                <a:latin typeface="Consolas" panose="020B0609020204030204" pitchFamily="49" charset="0"/>
              </a:rPr>
              <a:t>)</a:t>
            </a:r>
          </a:p>
          <a:p>
            <a:pPr>
              <a:buFont typeface="Monotype Sorts" pitchFamily="-84" charset="2"/>
              <a:buNone/>
              <a:tabLst>
                <a:tab pos="741363" algn="l"/>
                <a:tab pos="1022350" algn="l"/>
                <a:tab pos="1258888" algn="l"/>
              </a:tabLst>
            </a:pPr>
            <a:r>
              <a:rPr lang="en-US" altLang="en-US" sz="1400" dirty="0">
                <a:latin typeface="Consolas" panose="020B0609020204030204" pitchFamily="49" charset="0"/>
              </a:rPr>
              <a:t>      {                  </a:t>
            </a:r>
          </a:p>
          <a:p>
            <a:pPr>
              <a:buFont typeface="Monotype Sorts" pitchFamily="-84" charset="2"/>
              <a:buNone/>
              <a:tabLst>
                <a:tab pos="741363" algn="l"/>
                <a:tab pos="1022350" algn="l"/>
                <a:tab pos="1258888" algn="l"/>
              </a:tabLst>
            </a:pPr>
            <a:r>
              <a:rPr lang="en-US" altLang="en-US" sz="1400" dirty="0">
                <a:latin typeface="Consolas" panose="020B0609020204030204" pitchFamily="49" charset="0"/>
              </a:rPr>
              <a:t>   </a:t>
            </a:r>
            <a:r>
              <a:rPr lang="en-US" altLang="en-US" dirty="0">
                <a:latin typeface="Consolas" panose="020B0609020204030204" pitchFamily="49" charset="0"/>
              </a:rPr>
              <a:t>    </a:t>
            </a:r>
            <a:r>
              <a:rPr lang="en-US" altLang="en-US" sz="1400" dirty="0">
                <a:latin typeface="Consolas" panose="020B0609020204030204" pitchFamily="49" charset="0"/>
              </a:rPr>
              <a:t>int temp = </a:t>
            </a:r>
            <a:r>
              <a:rPr lang="en-US" altLang="en-US" sz="1400" b="1" dirty="0">
                <a:latin typeface="Consolas" panose="020B0609020204030204" pitchFamily="49" charset="0"/>
              </a:rPr>
              <a:t>*value</a:t>
            </a:r>
            <a:r>
              <a:rPr lang="en-US" altLang="en-US" sz="1400" dirty="0">
                <a:latin typeface="Consolas" panose="020B0609020204030204" pitchFamily="49" charset="0"/>
              </a:rPr>
              <a:t>; </a:t>
            </a:r>
          </a:p>
          <a:p>
            <a:pPr>
              <a:buFont typeface="Monotype Sorts" pitchFamily="-84" charset="2"/>
              <a:buNone/>
              <a:tabLst>
                <a:tab pos="741363" algn="l"/>
                <a:tab pos="1022350" algn="l"/>
                <a:tab pos="1258888" algn="l"/>
              </a:tabLst>
            </a:pPr>
            <a:r>
              <a:rPr lang="en-US" altLang="en-US" sz="1400" dirty="0">
                <a:latin typeface="Consolas" panose="020B0609020204030204" pitchFamily="49" charset="0"/>
              </a:rPr>
              <a:t>        if (</a:t>
            </a:r>
            <a:r>
              <a:rPr lang="en-US" altLang="en-US" sz="1400" b="1" dirty="0">
                <a:solidFill>
                  <a:srgbClr val="00B0F0"/>
                </a:solidFill>
                <a:latin typeface="Consolas" panose="020B0609020204030204" pitchFamily="49" charset="0"/>
              </a:rPr>
              <a:t>*value == expected</a:t>
            </a:r>
            <a:r>
              <a:rPr lang="en-US" altLang="en-US" sz="1400" dirty="0">
                <a:latin typeface="Consolas" panose="020B0609020204030204" pitchFamily="49" charset="0"/>
              </a:rPr>
              <a:t>) </a:t>
            </a:r>
          </a:p>
          <a:p>
            <a:pPr>
              <a:buFont typeface="Monotype Sorts" pitchFamily="-84" charset="2"/>
              <a:buNone/>
              <a:tabLst>
                <a:tab pos="741363" algn="l"/>
                <a:tab pos="1022350" algn="l"/>
                <a:tab pos="1258888" algn="l"/>
              </a:tabLst>
            </a:pPr>
            <a:r>
              <a:rPr lang="en-US" altLang="en-US" sz="1400" dirty="0">
                <a:latin typeface="Consolas" panose="020B0609020204030204" pitchFamily="49" charset="0"/>
              </a:rPr>
              <a:t>            *value = </a:t>
            </a:r>
            <a:r>
              <a:rPr lang="en-US" altLang="en-US" sz="1400" b="1" dirty="0" err="1">
                <a:latin typeface="Consolas" panose="020B0609020204030204" pitchFamily="49" charset="0"/>
              </a:rPr>
              <a:t>new_value</a:t>
            </a:r>
            <a:r>
              <a:rPr lang="en-US" altLang="en-US" sz="1400" dirty="0">
                <a:latin typeface="Consolas" panose="020B0609020204030204" pitchFamily="49" charset="0"/>
              </a:rPr>
              <a:t>; </a:t>
            </a:r>
          </a:p>
          <a:p>
            <a:pPr>
              <a:buFont typeface="Monotype Sorts" pitchFamily="-84" charset="2"/>
              <a:buNone/>
              <a:tabLst>
                <a:tab pos="741363" algn="l"/>
                <a:tab pos="1022350" algn="l"/>
                <a:tab pos="1258888" algn="l"/>
              </a:tabLst>
            </a:pPr>
            <a:r>
              <a:rPr lang="en-US" altLang="en-US" sz="1400" dirty="0">
                <a:latin typeface="Consolas" panose="020B0609020204030204" pitchFamily="49" charset="0"/>
              </a:rPr>
              <a:t>         return </a:t>
            </a:r>
            <a:r>
              <a:rPr lang="en-US" altLang="en-US" sz="1400" b="1" dirty="0">
                <a:latin typeface="Consolas" panose="020B0609020204030204" pitchFamily="49" charset="0"/>
              </a:rPr>
              <a:t>temp</a:t>
            </a:r>
            <a:r>
              <a:rPr lang="en-US" altLang="en-US" sz="1400" dirty="0">
                <a:latin typeface="Consolas" panose="020B0609020204030204" pitchFamily="49" charset="0"/>
              </a:rPr>
              <a:t>; </a:t>
            </a:r>
          </a:p>
          <a:p>
            <a:pPr>
              <a:buFont typeface="Monotype Sorts" pitchFamily="-84" charset="2"/>
              <a:buNone/>
              <a:tabLst>
                <a:tab pos="741363" algn="l"/>
                <a:tab pos="1022350" algn="l"/>
                <a:tab pos="1258888" algn="l"/>
              </a:tabLst>
            </a:pPr>
            <a:r>
              <a:rPr lang="en-US" altLang="en-US" dirty="0">
                <a:latin typeface="Consolas" panose="020B0609020204030204" pitchFamily="49" charset="0"/>
              </a:rPr>
              <a:t>     } </a:t>
            </a:r>
            <a:endParaRPr lang="en-US" altLang="en-US" sz="1400" b="1" dirty="0">
              <a:latin typeface="Consolas" panose="020B0609020204030204" pitchFamily="49" charset="0"/>
            </a:endParaRPr>
          </a:p>
        </p:txBody>
      </p:sp>
      <p:sp>
        <p:nvSpPr>
          <p:cNvPr id="7" name="TextBox 6">
            <a:extLst>
              <a:ext uri="{FF2B5EF4-FFF2-40B4-BE49-F238E27FC236}">
                <a16:creationId xmlns:a16="http://schemas.microsoft.com/office/drawing/2014/main" id="{45B3289B-D3D3-43E0-85C3-983F9EDF697C}"/>
              </a:ext>
            </a:extLst>
          </p:cNvPr>
          <p:cNvSpPr txBox="1"/>
          <p:nvPr/>
        </p:nvSpPr>
        <p:spPr>
          <a:xfrm>
            <a:off x="397164" y="2433816"/>
            <a:ext cx="4876800" cy="2246769"/>
          </a:xfrm>
          <a:prstGeom prst="rect">
            <a:avLst/>
          </a:prstGeom>
          <a:noFill/>
        </p:spPr>
        <p:txBody>
          <a:bodyPr wrap="square">
            <a:spAutoFit/>
          </a:bodyPr>
          <a:lstStyle/>
          <a:p>
            <a:pPr>
              <a:buFont typeface="Monotype Sorts" pitchFamily="-84" charset="2"/>
              <a:buNone/>
              <a:tabLst>
                <a:tab pos="741363" algn="l"/>
                <a:tab pos="1022350" algn="l"/>
                <a:tab pos="1258888" algn="l"/>
              </a:tabLst>
            </a:pPr>
            <a:r>
              <a:rPr lang="en-US" altLang="en-US" sz="1400" b="1" dirty="0">
                <a:latin typeface="Consolas" panose="020B0609020204030204" pitchFamily="49" charset="0"/>
              </a:rPr>
              <a:t>while I(true){</a:t>
            </a:r>
            <a:br>
              <a:rPr lang="en-US" altLang="en-US" sz="1400" b="1" dirty="0">
                <a:latin typeface="Consolas" panose="020B0609020204030204" pitchFamily="49" charset="0"/>
              </a:rPr>
            </a:br>
            <a:r>
              <a:rPr lang="en-US" altLang="en-US" sz="1400" b="1" dirty="0">
                <a:latin typeface="Consolas" panose="020B0609020204030204" pitchFamily="49" charset="0"/>
              </a:rPr>
              <a:t> while (</a:t>
            </a:r>
            <a:r>
              <a:rPr lang="en-US" altLang="en-US" sz="1400" b="1" dirty="0" err="1">
                <a:solidFill>
                  <a:srgbClr val="00B0F0"/>
                </a:solidFill>
                <a:latin typeface="Consolas" panose="020B0609020204030204" pitchFamily="49" charset="0"/>
              </a:rPr>
              <a:t>compare_and_swap</a:t>
            </a:r>
            <a:r>
              <a:rPr lang="en-US" altLang="en-US" sz="1400" b="1" dirty="0">
                <a:latin typeface="Consolas" panose="020B0609020204030204" pitchFamily="49" charset="0"/>
              </a:rPr>
              <a:t>(</a:t>
            </a:r>
            <a:r>
              <a:rPr lang="en-US" altLang="en-US" sz="1400" b="1" dirty="0">
                <a:solidFill>
                  <a:srgbClr val="00B0F0"/>
                </a:solidFill>
                <a:latin typeface="Consolas" panose="020B0609020204030204" pitchFamily="49" charset="0"/>
              </a:rPr>
              <a:t>&amp;lock</a:t>
            </a:r>
            <a:r>
              <a:rPr lang="en-US" altLang="en-US" sz="1400" b="1" dirty="0">
                <a:latin typeface="Consolas" panose="020B0609020204030204" pitchFamily="49" charset="0"/>
              </a:rPr>
              <a:t>, 0, 1) != 0) </a:t>
            </a:r>
          </a:p>
          <a:p>
            <a:pPr>
              <a:buFont typeface="Monotype Sorts" pitchFamily="-84" charset="2"/>
              <a:buNone/>
              <a:tabLst>
                <a:tab pos="741363" algn="l"/>
                <a:tab pos="1022350" algn="l"/>
                <a:tab pos="1258888" algn="l"/>
              </a:tabLst>
            </a:pPr>
            <a:r>
              <a:rPr lang="en-US" altLang="en-US" sz="1400" b="1" dirty="0">
                <a:latin typeface="Consolas" panose="020B0609020204030204" pitchFamily="49" charset="0"/>
              </a:rPr>
              <a:t>            	; /* do nothing */ </a:t>
            </a:r>
            <a:br>
              <a:rPr lang="en-US" altLang="en-US" sz="1400" b="1" dirty="0">
                <a:latin typeface="Consolas" panose="020B0609020204030204" pitchFamily="49" charset="0"/>
              </a:rPr>
            </a:br>
            <a:endParaRPr lang="en-US" altLang="en-US" sz="1400" b="1" dirty="0">
              <a:latin typeface="Consolas" panose="020B0609020204030204" pitchFamily="49" charset="0"/>
            </a:endParaRPr>
          </a:p>
          <a:p>
            <a:pPr>
              <a:buFont typeface="Monotype Sorts" pitchFamily="-84" charset="2"/>
              <a:buNone/>
              <a:tabLst>
                <a:tab pos="741363" algn="l"/>
                <a:tab pos="1022350" algn="l"/>
                <a:tab pos="1258888" algn="l"/>
              </a:tabLst>
            </a:pPr>
            <a:r>
              <a:rPr lang="en-US" altLang="en-US" sz="1400" b="1" dirty="0">
                <a:latin typeface="Consolas" panose="020B0609020204030204" pitchFamily="49" charset="0"/>
              </a:rPr>
              <a:t>       		/* critical section */ </a:t>
            </a:r>
            <a:br>
              <a:rPr lang="en-US" altLang="en-US" sz="1400" b="1" dirty="0">
                <a:latin typeface="Consolas" panose="020B0609020204030204" pitchFamily="49" charset="0"/>
              </a:rPr>
            </a:br>
            <a:endParaRPr lang="en-US" altLang="en-US" sz="1400" b="1" dirty="0">
              <a:latin typeface="Consolas" panose="020B0609020204030204" pitchFamily="49" charset="0"/>
            </a:endParaRPr>
          </a:p>
          <a:p>
            <a:pPr>
              <a:buFont typeface="Monotype Sorts" pitchFamily="-84" charset="2"/>
              <a:buNone/>
              <a:tabLst>
                <a:tab pos="741363" algn="l"/>
                <a:tab pos="1022350" algn="l"/>
                <a:tab pos="1258888" algn="l"/>
              </a:tabLst>
            </a:pPr>
            <a:r>
              <a:rPr lang="en-US" altLang="en-US" sz="1400" b="1" dirty="0">
                <a:latin typeface="Consolas" panose="020B0609020204030204" pitchFamily="49" charset="0"/>
              </a:rPr>
              <a:t>       		lock = 0; </a:t>
            </a:r>
            <a:br>
              <a:rPr lang="en-US" altLang="en-US" sz="1400" b="1" dirty="0">
                <a:latin typeface="Consolas" panose="020B0609020204030204" pitchFamily="49" charset="0"/>
              </a:rPr>
            </a:br>
            <a:endParaRPr lang="en-US" altLang="en-US" sz="1400" b="1" dirty="0">
              <a:latin typeface="Consolas" panose="020B0609020204030204" pitchFamily="49" charset="0"/>
            </a:endParaRPr>
          </a:p>
          <a:p>
            <a:pPr>
              <a:buFont typeface="Monotype Sorts" pitchFamily="-84" charset="2"/>
              <a:buNone/>
              <a:tabLst>
                <a:tab pos="741363" algn="l"/>
                <a:tab pos="1022350" algn="l"/>
                <a:tab pos="1258888" algn="l"/>
              </a:tabLst>
            </a:pPr>
            <a:r>
              <a:rPr lang="en-US" altLang="en-US" sz="1400" b="1" dirty="0">
                <a:latin typeface="Consolas" panose="020B0609020204030204" pitchFamily="49" charset="0"/>
              </a:rPr>
              <a:t>          /* remainder section */ </a:t>
            </a:r>
          </a:p>
          <a:p>
            <a:pPr>
              <a:buFont typeface="Monotype Sorts" pitchFamily="-84" charset="2"/>
              <a:buNone/>
              <a:tabLst>
                <a:tab pos="741363" algn="l"/>
                <a:tab pos="1022350" algn="l"/>
                <a:tab pos="1258888" algn="l"/>
              </a:tabLst>
            </a:pPr>
            <a:r>
              <a:rPr lang="en-US" altLang="en-US" sz="1400" b="1" dirty="0">
                <a:latin typeface="Consolas" panose="020B0609020204030204" pitchFamily="49" charset="0"/>
              </a:rPr>
              <a:t>      } </a:t>
            </a:r>
            <a:endParaRPr lang="en-US" sz="1400" dirty="0">
              <a:latin typeface="Consolas" panose="020B0609020204030204" pitchFamily="49" charset="0"/>
            </a:endParaRPr>
          </a:p>
        </p:txBody>
      </p:sp>
      <p:cxnSp>
        <p:nvCxnSpPr>
          <p:cNvPr id="6" name="Straight Connector 5">
            <a:extLst>
              <a:ext uri="{FF2B5EF4-FFF2-40B4-BE49-F238E27FC236}">
                <a16:creationId xmlns:a16="http://schemas.microsoft.com/office/drawing/2014/main" id="{FB782772-3B98-4C6C-9346-D2E1708A72A3}"/>
              </a:ext>
            </a:extLst>
          </p:cNvPr>
          <p:cNvCxnSpPr/>
          <p:nvPr/>
        </p:nvCxnSpPr>
        <p:spPr bwMode="auto">
          <a:xfrm>
            <a:off x="4827714" y="2433816"/>
            <a:ext cx="0" cy="257229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4" name="TextBox 3">
            <a:extLst>
              <a:ext uri="{FF2B5EF4-FFF2-40B4-BE49-F238E27FC236}">
                <a16:creationId xmlns:a16="http://schemas.microsoft.com/office/drawing/2014/main" id="{0493A6CB-00AD-986B-71C2-E74C05AA5F18}"/>
              </a:ext>
            </a:extLst>
          </p:cNvPr>
          <p:cNvSpPr txBox="1"/>
          <p:nvPr/>
        </p:nvSpPr>
        <p:spPr>
          <a:xfrm>
            <a:off x="395490" y="4783342"/>
            <a:ext cx="8579010" cy="1047979"/>
          </a:xfrm>
          <a:prstGeom prst="rect">
            <a:avLst/>
          </a:prstGeom>
          <a:noFill/>
        </p:spPr>
        <p:txBody>
          <a:bodyPr wrap="square">
            <a:spAutoFit/>
          </a:bodyPr>
          <a:lstStyle/>
          <a:p>
            <a:pPr marL="0" marR="0" algn="r" rtl="1">
              <a:lnSpc>
                <a:spcPct val="115000"/>
              </a:lnSpc>
              <a:spcAft>
                <a:spcPts val="800"/>
              </a:spcAft>
            </a:pPr>
            <a:r>
              <a:rPr lang="ar-SA" sz="1800" b="1" kern="100" dirty="0">
                <a:effectLst/>
                <a:latin typeface="Aptos" panose="020B0004020202020204" pitchFamily="34" charset="0"/>
                <a:ea typeface="Aptos" panose="020B0004020202020204" pitchFamily="34" charset="0"/>
                <a:cs typeface="B Nazanin" panose="00000400000000000000" pitchFamily="2" charset="-78"/>
              </a:rPr>
              <a:t>آیا این کد مسئله بخش بحرانی را حل می‌کند؟</a:t>
            </a:r>
            <a:br>
              <a:rPr lang="en-US" sz="1800" kern="100" dirty="0">
                <a:effectLst/>
                <a:latin typeface="Aptos" panose="020B0004020202020204" pitchFamily="34" charset="0"/>
                <a:ea typeface="Aptos" panose="020B0004020202020204" pitchFamily="34" charset="0"/>
                <a:cs typeface="B Nazanin" panose="00000400000000000000" pitchFamily="2" charset="-78"/>
              </a:rPr>
            </a:br>
            <a:r>
              <a:rPr lang="en-US" sz="1800" kern="100" dirty="0">
                <a:effectLst/>
                <a:latin typeface="Segoe UI Emoji" panose="020B0502040204020203" pitchFamily="34" charset="0"/>
                <a:ea typeface="Aptos" panose="020B0004020202020204" pitchFamily="34" charset="0"/>
                <a:cs typeface="Segoe UI Emoji" panose="020B0502040204020203" pitchFamily="34" charset="0"/>
              </a:rPr>
              <a:t>✅</a:t>
            </a:r>
            <a:r>
              <a:rPr lang="en-US" sz="1800"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بله</a:t>
            </a:r>
            <a:r>
              <a:rPr lang="ar-SA" sz="1800" kern="100" dirty="0">
                <a:effectLst/>
                <a:latin typeface="Aptos" panose="020B0004020202020204" pitchFamily="34" charset="0"/>
                <a:ea typeface="Aptos" panose="020B0004020202020204" pitchFamily="34" charset="0"/>
                <a:cs typeface="B Nazanin" panose="00000400000000000000" pitchFamily="2" charset="-78"/>
              </a:rPr>
              <a:t>، از نظر  انحصار متقابل و پیشرفت</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br>
              <a:rPr lang="en-US" sz="1800" kern="100" dirty="0">
                <a:effectLst/>
                <a:latin typeface="Aptos" panose="020B0004020202020204" pitchFamily="34" charset="0"/>
                <a:ea typeface="Aptos" panose="020B0004020202020204" pitchFamily="34" charset="0"/>
                <a:cs typeface="B Nazanin" panose="00000400000000000000" pitchFamily="2" charset="-78"/>
              </a:rPr>
            </a:br>
            <a:r>
              <a:rPr lang="en-US" sz="1800" kern="100" dirty="0">
                <a:effectLst/>
                <a:latin typeface="Segoe UI Emoji" panose="020B0502040204020203" pitchFamily="34" charset="0"/>
                <a:ea typeface="Aptos" panose="020B0004020202020204" pitchFamily="34" charset="0"/>
                <a:cs typeface="Segoe UI Emoji" panose="020B0502040204020203" pitchFamily="34" charset="0"/>
              </a:rPr>
              <a:t>⚠️</a:t>
            </a:r>
            <a:r>
              <a:rPr lang="en-US" sz="1800" kern="100" dirty="0">
                <a:effectLst/>
                <a:latin typeface="Aptos" panose="020B0004020202020204" pitchFamily="34" charset="0"/>
                <a:ea typeface="Aptos" panose="020B0004020202020204" pitchFamily="34" charset="0"/>
                <a:cs typeface="B Nazanin" panose="00000400000000000000" pitchFamily="2" charset="-78"/>
              </a:rPr>
              <a:t> </a:t>
            </a:r>
            <a:r>
              <a:rPr lang="ar-SA" sz="1800" b="1" kern="100" dirty="0">
                <a:effectLst/>
                <a:latin typeface="Aptos" panose="020B0004020202020204" pitchFamily="34" charset="0"/>
                <a:ea typeface="Aptos" panose="020B0004020202020204" pitchFamily="34" charset="0"/>
                <a:cs typeface="B Nazanin" panose="00000400000000000000" pitchFamily="2" charset="-78"/>
              </a:rPr>
              <a:t>خیر</a:t>
            </a:r>
            <a:r>
              <a:rPr lang="ar-SA" sz="1800" kern="100" dirty="0">
                <a:effectLst/>
                <a:latin typeface="Aptos" panose="020B0004020202020204" pitchFamily="34" charset="0"/>
                <a:ea typeface="Aptos" panose="020B0004020202020204" pitchFamily="34" charset="0"/>
                <a:cs typeface="B Nazanin" panose="00000400000000000000" pitchFamily="2" charset="-78"/>
              </a:rPr>
              <a:t>، از نظر انتظار محدود و عدالت</a:t>
            </a:r>
            <a:r>
              <a:rPr lang="en-US" sz="1800" kern="100" dirty="0">
                <a:effectLst/>
                <a:latin typeface="Aptos" panose="020B0004020202020204"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EBB45E71-908A-408C-A87C-6066909BCCEC}"/>
              </a:ext>
            </a:extLst>
          </p:cNvPr>
          <p:cNvSpPr>
            <a:spLocks noGrp="1"/>
          </p:cNvSpPr>
          <p:nvPr>
            <p:ph type="title"/>
          </p:nvPr>
        </p:nvSpPr>
        <p:spPr>
          <a:xfrm>
            <a:off x="1217728" y="132320"/>
            <a:ext cx="7931150" cy="576262"/>
          </a:xfrm>
        </p:spPr>
        <p:txBody>
          <a:bodyPr/>
          <a:lstStyle/>
          <a:p>
            <a:r>
              <a:rPr lang="fa-IR" altLang="en-US" sz="2800" dirty="0">
                <a:cs typeface="B Titr" panose="00000700000000000000" pitchFamily="2" charset="-78"/>
              </a:rPr>
              <a:t>انتظار محدود با الگوریتم تعویض و جابجایی</a:t>
            </a:r>
            <a:endParaRPr lang="en-US" altLang="en-US" sz="2800" dirty="0"/>
          </a:p>
        </p:txBody>
      </p:sp>
      <p:sp>
        <p:nvSpPr>
          <p:cNvPr id="39938" name="Content Placeholder 2">
            <a:extLst>
              <a:ext uri="{FF2B5EF4-FFF2-40B4-BE49-F238E27FC236}">
                <a16:creationId xmlns:a16="http://schemas.microsoft.com/office/drawing/2014/main" id="{4E8D67E4-BCAA-45F8-A130-6E0213E73223}"/>
              </a:ext>
            </a:extLst>
          </p:cNvPr>
          <p:cNvSpPr>
            <a:spLocks noGrp="1"/>
          </p:cNvSpPr>
          <p:nvPr>
            <p:ph idx="1"/>
          </p:nvPr>
        </p:nvSpPr>
        <p:spPr>
          <a:xfrm>
            <a:off x="203200" y="1247031"/>
            <a:ext cx="5187661" cy="5133351"/>
          </a:xfrm>
        </p:spPr>
        <p:txBody>
          <a:bodyPr/>
          <a:lstStyle/>
          <a:p>
            <a:pPr marL="0" indent="0">
              <a:buFont typeface="Monotype Sorts" pitchFamily="-84" charset="2"/>
              <a:buNone/>
            </a:pPr>
            <a:r>
              <a:rPr lang="en-US" altLang="en-US" sz="1600" dirty="0">
                <a:latin typeface="Consolas" panose="020B0609020204030204" pitchFamily="49" charset="0"/>
              </a:rPr>
              <a:t>while (true) {</a:t>
            </a:r>
            <a:br>
              <a:rPr lang="en-US" altLang="en-US" sz="1600" dirty="0">
                <a:latin typeface="Consolas" panose="020B0609020204030204" pitchFamily="49" charset="0"/>
              </a:rPr>
            </a:br>
            <a:r>
              <a:rPr lang="en-US" altLang="en-US" sz="1600" dirty="0">
                <a:latin typeface="Consolas" panose="020B0609020204030204" pitchFamily="49" charset="0"/>
              </a:rPr>
              <a:t>   waiting[</a:t>
            </a:r>
            <a:r>
              <a:rPr lang="en-US" altLang="en-US" sz="1600" dirty="0" err="1">
                <a:latin typeface="Consolas" panose="020B0609020204030204" pitchFamily="49" charset="0"/>
              </a:rPr>
              <a:t>i</a:t>
            </a:r>
            <a:r>
              <a:rPr lang="en-US" altLang="en-US" sz="1600" dirty="0">
                <a:latin typeface="Consolas" panose="020B0609020204030204" pitchFamily="49" charset="0"/>
              </a:rPr>
              <a:t>] = true;</a:t>
            </a:r>
            <a:br>
              <a:rPr lang="en-US" altLang="en-US" sz="1600" dirty="0">
                <a:latin typeface="Consolas" panose="020B0609020204030204" pitchFamily="49" charset="0"/>
              </a:rPr>
            </a:br>
            <a:r>
              <a:rPr lang="en-US" altLang="en-US" sz="1600" dirty="0">
                <a:latin typeface="Consolas" panose="020B0609020204030204" pitchFamily="49" charset="0"/>
              </a:rPr>
              <a:t>   key = 1;</a:t>
            </a:r>
            <a:br>
              <a:rPr lang="en-US" altLang="en-US" sz="1600" dirty="0">
                <a:latin typeface="Consolas" panose="020B0609020204030204" pitchFamily="49" charset="0"/>
              </a:rPr>
            </a:br>
            <a:r>
              <a:rPr lang="en-US" altLang="en-US" sz="1600" dirty="0">
                <a:latin typeface="Consolas" panose="020B0609020204030204" pitchFamily="49" charset="0"/>
              </a:rPr>
              <a:t>   </a:t>
            </a:r>
            <a:r>
              <a:rPr lang="en-US" altLang="en-US" sz="1600" b="1" dirty="0">
                <a:solidFill>
                  <a:srgbClr val="00B0F0"/>
                </a:solidFill>
                <a:latin typeface="Consolas" panose="020B0609020204030204" pitchFamily="49" charset="0"/>
              </a:rPr>
              <a:t>while</a:t>
            </a:r>
            <a:r>
              <a:rPr lang="en-US" altLang="en-US" sz="1600" dirty="0">
                <a:latin typeface="Consolas" panose="020B0609020204030204" pitchFamily="49" charset="0"/>
              </a:rPr>
              <a:t> (</a:t>
            </a:r>
            <a:r>
              <a:rPr lang="en-US" altLang="en-US" sz="1600" b="1" dirty="0">
                <a:latin typeface="Consolas" panose="020B0609020204030204" pitchFamily="49" charset="0"/>
              </a:rPr>
              <a:t>waiting</a:t>
            </a:r>
            <a:r>
              <a:rPr lang="en-US" altLang="en-US" sz="1600" dirty="0">
                <a:latin typeface="Consolas" panose="020B0609020204030204" pitchFamily="49" charset="0"/>
              </a:rPr>
              <a:t>[</a:t>
            </a:r>
            <a:r>
              <a:rPr lang="en-US" altLang="en-US" sz="1600" dirty="0" err="1">
                <a:latin typeface="Consolas" panose="020B0609020204030204" pitchFamily="49" charset="0"/>
              </a:rPr>
              <a:t>i</a:t>
            </a:r>
            <a:r>
              <a:rPr lang="en-US" altLang="en-US" sz="1600" dirty="0">
                <a:latin typeface="Consolas" panose="020B0609020204030204" pitchFamily="49" charset="0"/>
              </a:rPr>
              <a:t>] &amp;&amp; key == 1) </a:t>
            </a:r>
          </a:p>
          <a:p>
            <a:pPr marL="0" indent="0">
              <a:buFont typeface="Monotype Sorts" pitchFamily="-84" charset="2"/>
              <a:buNone/>
            </a:pPr>
            <a:r>
              <a:rPr lang="en-US" altLang="en-US" sz="1600" dirty="0">
                <a:latin typeface="Consolas" panose="020B0609020204030204" pitchFamily="49" charset="0"/>
              </a:rPr>
              <a:t>      key = </a:t>
            </a:r>
            <a:r>
              <a:rPr lang="en-US" altLang="en-US" sz="1600" b="1" dirty="0" err="1">
                <a:solidFill>
                  <a:srgbClr val="00B0F0"/>
                </a:solidFill>
                <a:latin typeface="Consolas" panose="020B0609020204030204" pitchFamily="49" charset="0"/>
              </a:rPr>
              <a:t>compare_and_swap</a:t>
            </a:r>
            <a:r>
              <a:rPr lang="en-US" altLang="en-US" sz="1600" dirty="0">
                <a:latin typeface="Consolas" panose="020B0609020204030204" pitchFamily="49" charset="0"/>
              </a:rPr>
              <a:t>(&amp;lock,0,1); </a:t>
            </a:r>
          </a:p>
          <a:p>
            <a:pPr marL="0" indent="0">
              <a:buFont typeface="Monotype Sorts" pitchFamily="-84" charset="2"/>
              <a:buNone/>
            </a:pPr>
            <a:r>
              <a:rPr lang="en-US" altLang="en-US" sz="1600" dirty="0">
                <a:latin typeface="Consolas" panose="020B0609020204030204" pitchFamily="49" charset="0"/>
              </a:rPr>
              <a:t>   waiting[</a:t>
            </a:r>
            <a:r>
              <a:rPr lang="en-US" altLang="en-US" sz="1600" dirty="0" err="1">
                <a:latin typeface="Consolas" panose="020B0609020204030204" pitchFamily="49" charset="0"/>
              </a:rPr>
              <a:t>i</a:t>
            </a:r>
            <a:r>
              <a:rPr lang="en-US" altLang="en-US" sz="1600" dirty="0">
                <a:latin typeface="Consolas" panose="020B0609020204030204" pitchFamily="49" charset="0"/>
              </a:rPr>
              <a:t>] = false; </a:t>
            </a:r>
          </a:p>
          <a:p>
            <a:pPr marL="0" indent="0">
              <a:buFont typeface="Monotype Sorts" pitchFamily="-84" charset="2"/>
              <a:buNone/>
            </a:pPr>
            <a:r>
              <a:rPr lang="en-US" altLang="en-US" sz="1600" dirty="0">
                <a:latin typeface="Consolas" panose="020B0609020204030204" pitchFamily="49" charset="0"/>
              </a:rPr>
              <a:t>   /* critical section */ </a:t>
            </a:r>
          </a:p>
          <a:p>
            <a:pPr marL="0" indent="0">
              <a:buFont typeface="Monotype Sorts" pitchFamily="-84" charset="2"/>
              <a:buNone/>
            </a:pPr>
            <a:r>
              <a:rPr lang="en-US" altLang="en-US" sz="1600" dirty="0">
                <a:latin typeface="Consolas" panose="020B0609020204030204" pitchFamily="49" charset="0"/>
              </a:rPr>
              <a:t>   j = (</a:t>
            </a:r>
            <a:r>
              <a:rPr lang="en-US" altLang="en-US" sz="1600" dirty="0" err="1">
                <a:latin typeface="Consolas" panose="020B0609020204030204" pitchFamily="49" charset="0"/>
              </a:rPr>
              <a:t>i</a:t>
            </a:r>
            <a:r>
              <a:rPr lang="en-US" altLang="en-US" sz="1600" dirty="0">
                <a:latin typeface="Consolas" panose="020B0609020204030204" pitchFamily="49" charset="0"/>
              </a:rPr>
              <a:t> + 1) % n; </a:t>
            </a:r>
          </a:p>
          <a:p>
            <a:pPr marL="0" indent="0">
              <a:buFont typeface="Monotype Sorts" pitchFamily="-84" charset="2"/>
              <a:buNone/>
            </a:pPr>
            <a:r>
              <a:rPr lang="en-US" altLang="en-US" sz="1600" dirty="0">
                <a:latin typeface="Consolas" panose="020B0609020204030204" pitchFamily="49" charset="0"/>
              </a:rPr>
              <a:t>   </a:t>
            </a:r>
            <a:r>
              <a:rPr lang="en-US" altLang="en-US" sz="1600" b="1" dirty="0">
                <a:solidFill>
                  <a:srgbClr val="00B0F0"/>
                </a:solidFill>
                <a:latin typeface="Consolas" panose="020B0609020204030204" pitchFamily="49" charset="0"/>
              </a:rPr>
              <a:t>while</a:t>
            </a:r>
            <a:r>
              <a:rPr lang="en-US" altLang="en-US" sz="1600" dirty="0">
                <a:latin typeface="Consolas" panose="020B0609020204030204" pitchFamily="49" charset="0"/>
              </a:rPr>
              <a:t> ((j != </a:t>
            </a:r>
            <a:r>
              <a:rPr lang="en-US" altLang="en-US" sz="1600" dirty="0" err="1">
                <a:latin typeface="Consolas" panose="020B0609020204030204" pitchFamily="49" charset="0"/>
              </a:rPr>
              <a:t>i</a:t>
            </a:r>
            <a:r>
              <a:rPr lang="en-US" altLang="en-US" sz="1600" dirty="0">
                <a:latin typeface="Consolas" panose="020B0609020204030204" pitchFamily="49" charset="0"/>
              </a:rPr>
              <a:t>) &amp;&amp; !</a:t>
            </a:r>
            <a:r>
              <a:rPr lang="en-US" altLang="en-US" sz="1600" b="1" dirty="0">
                <a:solidFill>
                  <a:srgbClr val="00B0F0"/>
                </a:solidFill>
                <a:latin typeface="Consolas" panose="020B0609020204030204" pitchFamily="49" charset="0"/>
              </a:rPr>
              <a:t>waiting</a:t>
            </a:r>
            <a:r>
              <a:rPr lang="en-US" altLang="en-US" sz="1600" dirty="0">
                <a:latin typeface="Consolas" panose="020B0609020204030204" pitchFamily="49" charset="0"/>
              </a:rPr>
              <a:t>[j]) </a:t>
            </a:r>
          </a:p>
          <a:p>
            <a:pPr marL="0" indent="0">
              <a:buFont typeface="Monotype Sorts" pitchFamily="-84" charset="2"/>
              <a:buNone/>
            </a:pPr>
            <a:r>
              <a:rPr lang="en-US" altLang="en-US" sz="1600" dirty="0">
                <a:latin typeface="Consolas" panose="020B0609020204030204" pitchFamily="49" charset="0"/>
              </a:rPr>
              <a:t>      j = (j + 1) % n; </a:t>
            </a:r>
          </a:p>
          <a:p>
            <a:pPr marL="0" indent="0">
              <a:buFont typeface="Monotype Sorts" pitchFamily="-84" charset="2"/>
              <a:buNone/>
            </a:pPr>
            <a:r>
              <a:rPr lang="en-US" altLang="en-US" sz="1600" dirty="0">
                <a:latin typeface="Consolas" panose="020B0609020204030204" pitchFamily="49" charset="0"/>
              </a:rPr>
              <a:t>   </a:t>
            </a:r>
            <a:r>
              <a:rPr lang="en-US" altLang="en-US" sz="1600" b="1" dirty="0">
                <a:latin typeface="Consolas" panose="020B0609020204030204" pitchFamily="49" charset="0"/>
              </a:rPr>
              <a:t>if</a:t>
            </a:r>
            <a:r>
              <a:rPr lang="en-US" altLang="en-US" sz="1600" dirty="0">
                <a:latin typeface="Consolas" panose="020B0609020204030204" pitchFamily="49" charset="0"/>
              </a:rPr>
              <a:t> (j == </a:t>
            </a:r>
            <a:r>
              <a:rPr lang="en-US" altLang="en-US" sz="1600" dirty="0" err="1">
                <a:latin typeface="Consolas" panose="020B0609020204030204" pitchFamily="49" charset="0"/>
              </a:rPr>
              <a:t>i</a:t>
            </a:r>
            <a:r>
              <a:rPr lang="en-US" altLang="en-US" sz="1600" dirty="0">
                <a:latin typeface="Consolas" panose="020B0609020204030204" pitchFamily="49" charset="0"/>
              </a:rPr>
              <a:t>) </a:t>
            </a:r>
          </a:p>
          <a:p>
            <a:pPr marL="0" indent="0">
              <a:buFont typeface="Monotype Sorts" pitchFamily="-84" charset="2"/>
              <a:buNone/>
            </a:pPr>
            <a:r>
              <a:rPr lang="en-US" altLang="en-US" sz="1600" dirty="0">
                <a:latin typeface="Consolas" panose="020B0609020204030204" pitchFamily="49" charset="0"/>
              </a:rPr>
              <a:t>      lock = 0; </a:t>
            </a:r>
          </a:p>
          <a:p>
            <a:pPr marL="0" indent="0">
              <a:buFont typeface="Monotype Sorts" pitchFamily="-84" charset="2"/>
              <a:buNone/>
            </a:pPr>
            <a:r>
              <a:rPr lang="en-US" altLang="en-US" sz="1600" dirty="0">
                <a:latin typeface="Consolas" panose="020B0609020204030204" pitchFamily="49" charset="0"/>
              </a:rPr>
              <a:t>   else </a:t>
            </a:r>
          </a:p>
          <a:p>
            <a:pPr marL="0" indent="0">
              <a:buFont typeface="Monotype Sorts" pitchFamily="-84" charset="2"/>
              <a:buNone/>
            </a:pPr>
            <a:r>
              <a:rPr lang="en-US" altLang="en-US" sz="1600" dirty="0">
                <a:latin typeface="Consolas" panose="020B0609020204030204" pitchFamily="49" charset="0"/>
              </a:rPr>
              <a:t>      waiting[j] = false; </a:t>
            </a:r>
          </a:p>
          <a:p>
            <a:pPr marL="0" indent="0">
              <a:buFont typeface="Monotype Sorts" pitchFamily="-84" charset="2"/>
              <a:buNone/>
            </a:pPr>
            <a:r>
              <a:rPr lang="en-US" altLang="en-US" sz="1600" dirty="0">
                <a:latin typeface="Consolas" panose="020B0609020204030204" pitchFamily="49" charset="0"/>
              </a:rPr>
              <a:t>   /* remainder section */ </a:t>
            </a:r>
          </a:p>
          <a:p>
            <a:pPr marL="0" indent="0">
              <a:buFont typeface="Monotype Sorts" pitchFamily="-84" charset="2"/>
              <a:buNone/>
            </a:pPr>
            <a:r>
              <a:rPr lang="en-US" altLang="en-US" sz="1600" dirty="0">
                <a:latin typeface="Consolas" panose="020B0609020204030204" pitchFamily="49" charset="0"/>
              </a:rPr>
              <a:t>}</a:t>
            </a:r>
          </a:p>
        </p:txBody>
      </p:sp>
      <p:sp>
        <p:nvSpPr>
          <p:cNvPr id="5" name="TextBox 4">
            <a:extLst>
              <a:ext uri="{FF2B5EF4-FFF2-40B4-BE49-F238E27FC236}">
                <a16:creationId xmlns:a16="http://schemas.microsoft.com/office/drawing/2014/main" id="{EDDF527A-CC1F-42FD-A173-9C90C2EAA1D9}"/>
              </a:ext>
            </a:extLst>
          </p:cNvPr>
          <p:cNvSpPr txBox="1"/>
          <p:nvPr/>
        </p:nvSpPr>
        <p:spPr>
          <a:xfrm>
            <a:off x="443346" y="877699"/>
            <a:ext cx="8497454" cy="369332"/>
          </a:xfrm>
          <a:prstGeom prst="rect">
            <a:avLst/>
          </a:prstGeom>
          <a:noFill/>
        </p:spPr>
        <p:txBody>
          <a:bodyPr wrap="square">
            <a:spAutoFit/>
          </a:bodyPr>
          <a:lstStyle/>
          <a:p>
            <a:r>
              <a:rPr lang="en-US" dirty="0" err="1"/>
              <a:t>boolean</a:t>
            </a:r>
            <a:r>
              <a:rPr lang="en-US" dirty="0"/>
              <a:t> </a:t>
            </a:r>
            <a:r>
              <a:rPr lang="en-US" b="1" dirty="0">
                <a:solidFill>
                  <a:srgbClr val="00B0F0"/>
                </a:solidFill>
              </a:rPr>
              <a:t>waiting[n]</a:t>
            </a:r>
            <a:r>
              <a:rPr lang="en-US" b="1" dirty="0"/>
              <a:t>=false</a:t>
            </a:r>
            <a:r>
              <a:rPr lang="en-US" dirty="0"/>
              <a:t>; int </a:t>
            </a:r>
            <a:r>
              <a:rPr lang="en-US" b="1" dirty="0">
                <a:solidFill>
                  <a:srgbClr val="00B0F0"/>
                </a:solidFill>
              </a:rPr>
              <a:t>lock</a:t>
            </a:r>
            <a:r>
              <a:rPr lang="en-US" b="1" dirty="0"/>
              <a:t>=0</a:t>
            </a:r>
            <a:r>
              <a:rPr lang="en-US" dirty="0"/>
              <a:t>;</a:t>
            </a:r>
          </a:p>
        </p:txBody>
      </p:sp>
      <p:sp>
        <p:nvSpPr>
          <p:cNvPr id="6" name="TextBox 5">
            <a:extLst>
              <a:ext uri="{FF2B5EF4-FFF2-40B4-BE49-F238E27FC236}">
                <a16:creationId xmlns:a16="http://schemas.microsoft.com/office/drawing/2014/main" id="{A75839A6-9A55-FC26-E540-9666A9E09851}"/>
              </a:ext>
            </a:extLst>
          </p:cNvPr>
          <p:cNvSpPr txBox="1"/>
          <p:nvPr/>
        </p:nvSpPr>
        <p:spPr>
          <a:xfrm>
            <a:off x="4772967" y="1247031"/>
            <a:ext cx="4300188" cy="5753498"/>
          </a:xfrm>
          <a:prstGeom prst="rect">
            <a:avLst/>
          </a:prstGeom>
          <a:noFill/>
        </p:spPr>
        <p:txBody>
          <a:bodyPr wrap="square">
            <a:spAutoFit/>
          </a:bodyPr>
          <a:lstStyle/>
          <a:p>
            <a:pPr marL="0" marR="0" algn="r" rtl="1">
              <a:lnSpc>
                <a:spcPct val="115000"/>
              </a:lnSpc>
              <a:spcAft>
                <a:spcPts val="800"/>
              </a:spcAft>
              <a:buNone/>
            </a:pPr>
            <a:r>
              <a:rPr lang="en-US" sz="1400"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400" kern="100" dirty="0">
                <a:effectLst/>
                <a:latin typeface="Aptos" panose="020B0004020202020204" pitchFamily="34" charset="0"/>
                <a:ea typeface="Aptos" panose="020B0004020202020204" pitchFamily="34" charset="0"/>
                <a:cs typeface="B Nazanin" panose="00000400000000000000" pitchFamily="2" charset="-78"/>
              </a:rPr>
              <a:t> </a:t>
            </a:r>
            <a:r>
              <a:rPr lang="ar-SA" sz="1400" kern="100" dirty="0">
                <a:effectLst/>
                <a:latin typeface="Aptos" panose="020B0004020202020204" pitchFamily="34" charset="0"/>
                <a:ea typeface="Aptos" panose="020B0004020202020204" pitchFamily="34" charset="0"/>
                <a:cs typeface="B Nazanin" panose="00000400000000000000" pitchFamily="2" charset="-78"/>
              </a:rPr>
              <a:t>حلقه‌ای بی‌نهایت </a:t>
            </a:r>
            <a:r>
              <a:rPr lang="en-US" sz="1400" kern="100" dirty="0">
                <a:effectLst/>
                <a:latin typeface="Aptos" panose="020B0004020202020204" pitchFamily="34" charset="0"/>
                <a:ea typeface="Aptos" panose="020B0004020202020204" pitchFamily="34" charset="0"/>
                <a:cs typeface="B Nazanin" panose="00000400000000000000" pitchFamily="2" charset="-78"/>
              </a:rPr>
              <a:t>:</a:t>
            </a:r>
            <a:r>
              <a:rPr lang="ar-SA" sz="1400" kern="100" dirty="0">
                <a:effectLst/>
                <a:latin typeface="Aptos" panose="020B0004020202020204" pitchFamily="34" charset="0"/>
                <a:ea typeface="Aptos" panose="020B0004020202020204" pitchFamily="34" charset="0"/>
                <a:cs typeface="B Nazanin" panose="00000400000000000000" pitchFamily="2" charset="-78"/>
              </a:rPr>
              <a:t>هر نخ (یا فرآیند) بارها تلاش می‌کند به بخش بحرانی وارد شود</a:t>
            </a:r>
            <a:r>
              <a:rPr lang="en-US" sz="1400" kern="100" dirty="0">
                <a:effectLst/>
                <a:latin typeface="Aptos" panose="020B0004020202020204" pitchFamily="34" charset="0"/>
                <a:ea typeface="Aptos" panose="020B0004020202020204" pitchFamily="34" charset="0"/>
                <a:cs typeface="B Nazanin" panose="00000400000000000000" pitchFamily="2" charset="-78"/>
              </a:rPr>
              <a:t>.</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400"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400" kern="100" dirty="0">
                <a:effectLst/>
                <a:latin typeface="Aptos" panose="020B0004020202020204" pitchFamily="34" charset="0"/>
                <a:ea typeface="Aptos" panose="020B0004020202020204" pitchFamily="34" charset="0"/>
                <a:cs typeface="B Nazanin" panose="00000400000000000000" pitchFamily="2" charset="-78"/>
              </a:rPr>
              <a:t> </a:t>
            </a:r>
            <a:r>
              <a:rPr lang="ar-SA" sz="1400" kern="100" dirty="0">
                <a:effectLst/>
                <a:latin typeface="Aptos" panose="020B0004020202020204" pitchFamily="34" charset="0"/>
                <a:ea typeface="Aptos" panose="020B0004020202020204" pitchFamily="34" charset="0"/>
                <a:cs typeface="B Nazanin" panose="00000400000000000000" pitchFamily="2" charset="-78"/>
              </a:rPr>
              <a:t>نخ شماره </a:t>
            </a:r>
            <a:r>
              <a:rPr lang="en-US" sz="1400" kern="100" dirty="0" err="1">
                <a:effectLst/>
                <a:latin typeface="Aptos" panose="020B0004020202020204" pitchFamily="34" charset="0"/>
                <a:ea typeface="Aptos" panose="020B0004020202020204" pitchFamily="34" charset="0"/>
                <a:cs typeface="B Nazanin" panose="00000400000000000000" pitchFamily="2" charset="-78"/>
              </a:rPr>
              <a:t>i</a:t>
            </a:r>
            <a:r>
              <a:rPr lang="en-US" sz="1400" kern="100" dirty="0">
                <a:effectLst/>
                <a:latin typeface="Aptos" panose="020B0004020202020204" pitchFamily="34" charset="0"/>
                <a:ea typeface="Aptos" panose="020B0004020202020204" pitchFamily="34" charset="0"/>
                <a:cs typeface="B Nazanin" panose="00000400000000000000" pitchFamily="2" charset="-78"/>
              </a:rPr>
              <a:t> </a:t>
            </a:r>
            <a:r>
              <a:rPr lang="ar-SA" sz="1400" kern="100" dirty="0">
                <a:effectLst/>
                <a:latin typeface="Aptos" panose="020B0004020202020204" pitchFamily="34" charset="0"/>
                <a:ea typeface="Aptos" panose="020B0004020202020204" pitchFamily="34" charset="0"/>
                <a:cs typeface="B Nazanin" panose="00000400000000000000" pitchFamily="2" charset="-78"/>
              </a:rPr>
              <a:t>علامت می‌زند که می‌خواهد وارد بخش بحرانی شود</a:t>
            </a:r>
            <a:r>
              <a:rPr lang="en-US" sz="1400" kern="100" dirty="0">
                <a:effectLst/>
                <a:latin typeface="Aptos" panose="020B0004020202020204" pitchFamily="34" charset="0"/>
                <a:ea typeface="Aptos" panose="020B0004020202020204" pitchFamily="34" charset="0"/>
                <a:cs typeface="B Nazanin" panose="00000400000000000000" pitchFamily="2" charset="-78"/>
              </a:rPr>
              <a:t>. </a:t>
            </a:r>
            <a:r>
              <a:rPr lang="ar-SA" sz="1400" kern="100" dirty="0">
                <a:effectLst/>
                <a:latin typeface="Aptos" panose="020B0004020202020204" pitchFamily="34" charset="0"/>
                <a:ea typeface="Aptos" panose="020B0004020202020204" pitchFamily="34" charset="0"/>
                <a:cs typeface="B Nazanin" panose="00000400000000000000" pitchFamily="2" charset="-78"/>
              </a:rPr>
              <a:t>متغیر محلی </a:t>
            </a:r>
            <a:r>
              <a:rPr lang="en-US" sz="1400" kern="100" dirty="0">
                <a:effectLst/>
                <a:latin typeface="Aptos" panose="020B0004020202020204" pitchFamily="34" charset="0"/>
                <a:ea typeface="Aptos" panose="020B0004020202020204" pitchFamily="34" charset="0"/>
                <a:cs typeface="B Nazanin" panose="00000400000000000000" pitchFamily="2" charset="-78"/>
              </a:rPr>
              <a:t>key </a:t>
            </a:r>
            <a:r>
              <a:rPr lang="ar-SA" sz="1400" kern="100" dirty="0">
                <a:effectLst/>
                <a:latin typeface="Aptos" panose="020B0004020202020204" pitchFamily="34" charset="0"/>
                <a:ea typeface="Aptos" panose="020B0004020202020204" pitchFamily="34" charset="0"/>
                <a:cs typeface="B Nazanin" panose="00000400000000000000" pitchFamily="2" charset="-78"/>
              </a:rPr>
              <a:t>را برابر </a:t>
            </a:r>
            <a:r>
              <a:rPr lang="fa-IR" sz="1400" kern="100" dirty="0">
                <a:effectLst/>
                <a:latin typeface="Aptos" panose="020B0004020202020204" pitchFamily="34" charset="0"/>
                <a:ea typeface="Aptos" panose="020B0004020202020204" pitchFamily="34" charset="0"/>
                <a:cs typeface="B Nazanin" panose="00000400000000000000" pitchFamily="2" charset="-78"/>
              </a:rPr>
              <a:t>۱</a:t>
            </a:r>
            <a:r>
              <a:rPr lang="ar-SA" sz="1400" kern="100" dirty="0">
                <a:effectLst/>
                <a:latin typeface="Aptos" panose="020B0004020202020204" pitchFamily="34" charset="0"/>
                <a:ea typeface="Aptos" panose="020B0004020202020204" pitchFamily="34" charset="0"/>
                <a:cs typeface="B Nazanin" panose="00000400000000000000" pitchFamily="2" charset="-78"/>
              </a:rPr>
              <a:t> قرار می‌دهد. این متغیر برای تلاش در گرفتن قفل استفاده می‌شود</a:t>
            </a:r>
            <a:r>
              <a:rPr lang="en-US" sz="1400" kern="100" dirty="0">
                <a:effectLst/>
                <a:latin typeface="Aptos" panose="020B0004020202020204" pitchFamily="34" charset="0"/>
                <a:ea typeface="Aptos" panose="020B0004020202020204" pitchFamily="34" charset="0"/>
                <a:cs typeface="B Nazanin" panose="00000400000000000000" pitchFamily="2" charset="-78"/>
              </a:rPr>
              <a:t>.</a:t>
            </a:r>
          </a:p>
          <a:p>
            <a:pPr marL="0" marR="0" algn="r" rtl="1">
              <a:lnSpc>
                <a:spcPct val="115000"/>
              </a:lnSpc>
              <a:spcAft>
                <a:spcPts val="800"/>
              </a:spcAft>
              <a:buNone/>
            </a:pPr>
            <a:r>
              <a:rPr lang="ar-SA" sz="1400" kern="100" dirty="0">
                <a:effectLst/>
                <a:latin typeface="Aptos" panose="020B0004020202020204" pitchFamily="34" charset="0"/>
                <a:ea typeface="Aptos" panose="020B0004020202020204" pitchFamily="34" charset="0"/>
                <a:cs typeface="B Nazanin" panose="00000400000000000000" pitchFamily="2" charset="-78"/>
              </a:rPr>
              <a:t>این حلقه </a:t>
            </a:r>
            <a:r>
              <a:rPr lang="ar-SA" sz="1400" b="1" kern="100" dirty="0">
                <a:effectLst/>
                <a:latin typeface="Aptos" panose="020B0004020202020204" pitchFamily="34" charset="0"/>
                <a:ea typeface="Aptos" panose="020B0004020202020204" pitchFamily="34" charset="0"/>
                <a:cs typeface="B Nazanin" panose="00000400000000000000" pitchFamily="2" charset="-78"/>
              </a:rPr>
              <a:t>تا زمانی که نخ منتظر است و قفل آزاد نشده</a:t>
            </a:r>
            <a:r>
              <a:rPr lang="ar-SA" sz="1400" kern="100" dirty="0">
                <a:effectLst/>
                <a:latin typeface="Aptos" panose="020B0004020202020204" pitchFamily="34" charset="0"/>
                <a:ea typeface="Aptos" panose="020B0004020202020204" pitchFamily="34" charset="0"/>
                <a:cs typeface="B Nazanin" panose="00000400000000000000" pitchFamily="2" charset="-78"/>
              </a:rPr>
              <a:t> ادامه دارد</a:t>
            </a:r>
            <a:r>
              <a:rPr lang="en-US" sz="1400" kern="100" dirty="0">
                <a:effectLst/>
                <a:latin typeface="Aptos" panose="020B0004020202020204" pitchFamily="34" charset="0"/>
                <a:ea typeface="Aptos" panose="020B0004020202020204" pitchFamily="34" charset="0"/>
                <a:cs typeface="B Nazanin" panose="00000400000000000000" pitchFamily="2" charset="-78"/>
              </a:rPr>
              <a:t>.</a:t>
            </a:r>
            <a:br>
              <a:rPr lang="en-US" sz="1400" kern="100" dirty="0">
                <a:effectLst/>
                <a:latin typeface="Aptos" panose="020B0004020202020204" pitchFamily="34" charset="0"/>
                <a:ea typeface="Aptos" panose="020B0004020202020204" pitchFamily="34" charset="0"/>
                <a:cs typeface="B Nazanin" panose="00000400000000000000" pitchFamily="2" charset="-78"/>
              </a:rPr>
            </a:br>
            <a:r>
              <a:rPr lang="en-US" sz="1400" kern="100" dirty="0">
                <a:effectLst/>
                <a:latin typeface="Segoe UI Emoji" panose="020B0502040204020203" pitchFamily="34" charset="0"/>
                <a:ea typeface="Aptos" panose="020B0004020202020204" pitchFamily="34" charset="0"/>
                <a:cs typeface="B Nazanin" panose="00000400000000000000" pitchFamily="2" charset="-78"/>
              </a:rPr>
              <a:t>🔹</a:t>
            </a:r>
            <a:r>
              <a:rPr lang="en-US" sz="1400" kern="100" dirty="0">
                <a:effectLst/>
                <a:latin typeface="Aptos" panose="020B0004020202020204" pitchFamily="34" charset="0"/>
                <a:ea typeface="Aptos" panose="020B0004020202020204" pitchFamily="34" charset="0"/>
                <a:cs typeface="B Nazanin" panose="00000400000000000000" pitchFamily="2" charset="-78"/>
              </a:rPr>
              <a:t> </a:t>
            </a:r>
            <a:r>
              <a:rPr lang="ar-SA" sz="1400" kern="100" dirty="0">
                <a:effectLst/>
                <a:latin typeface="Aptos" panose="020B0004020202020204" pitchFamily="34" charset="0"/>
                <a:ea typeface="Aptos" panose="020B0004020202020204" pitchFamily="34" charset="0"/>
                <a:cs typeface="B Nazanin" panose="00000400000000000000" pitchFamily="2" charset="-78"/>
              </a:rPr>
              <a:t>تابع </a:t>
            </a:r>
            <a:r>
              <a:rPr lang="en-US" sz="1400" kern="100" dirty="0" err="1">
                <a:effectLst/>
                <a:latin typeface="Aptos" panose="020B0004020202020204" pitchFamily="34" charset="0"/>
                <a:ea typeface="Aptos" panose="020B0004020202020204" pitchFamily="34" charset="0"/>
                <a:cs typeface="B Nazanin" panose="00000400000000000000" pitchFamily="2" charset="-78"/>
              </a:rPr>
              <a:t>compare_and_swap</a:t>
            </a:r>
            <a:r>
              <a:rPr lang="en-US" sz="1400" kern="100" dirty="0">
                <a:effectLst/>
                <a:latin typeface="Aptos" panose="020B0004020202020204" pitchFamily="34" charset="0"/>
                <a:ea typeface="Aptos" panose="020B0004020202020204" pitchFamily="34" charset="0"/>
                <a:cs typeface="B Nazanin" panose="00000400000000000000" pitchFamily="2" charset="-78"/>
              </a:rPr>
              <a:t> </a:t>
            </a:r>
            <a:r>
              <a:rPr lang="ar-SA" sz="1400" kern="100" dirty="0">
                <a:effectLst/>
                <a:latin typeface="Aptos" panose="020B0004020202020204" pitchFamily="34" charset="0"/>
                <a:ea typeface="Aptos" panose="020B0004020202020204" pitchFamily="34" charset="0"/>
                <a:cs typeface="B Nazanin" panose="00000400000000000000" pitchFamily="2" charset="-78"/>
              </a:rPr>
              <a:t>تلاش می‌کند قفل را از </a:t>
            </a:r>
            <a:r>
              <a:rPr lang="fa-IR" sz="1400" kern="100" dirty="0">
                <a:effectLst/>
                <a:latin typeface="Aptos" panose="020B0004020202020204" pitchFamily="34" charset="0"/>
                <a:ea typeface="Aptos" panose="020B0004020202020204" pitchFamily="34" charset="0"/>
                <a:cs typeface="B Nazanin" panose="00000400000000000000" pitchFamily="2" charset="-78"/>
              </a:rPr>
              <a:t>۰</a:t>
            </a:r>
            <a:r>
              <a:rPr lang="ar-SA" sz="1400" kern="100" dirty="0">
                <a:effectLst/>
                <a:latin typeface="Aptos" panose="020B0004020202020204" pitchFamily="34" charset="0"/>
                <a:ea typeface="Aptos" panose="020B0004020202020204" pitchFamily="34" charset="0"/>
                <a:cs typeface="B Nazanin" panose="00000400000000000000" pitchFamily="2" charset="-78"/>
              </a:rPr>
              <a:t> به </a:t>
            </a:r>
            <a:r>
              <a:rPr lang="fa-IR" sz="1400" kern="100" dirty="0">
                <a:effectLst/>
                <a:latin typeface="Aptos" panose="020B0004020202020204" pitchFamily="34" charset="0"/>
                <a:ea typeface="Aptos" panose="020B0004020202020204" pitchFamily="34" charset="0"/>
                <a:cs typeface="B Nazanin" panose="00000400000000000000" pitchFamily="2" charset="-78"/>
              </a:rPr>
              <a:t>۱</a:t>
            </a:r>
            <a:r>
              <a:rPr lang="ar-SA" sz="1400" kern="100" dirty="0">
                <a:effectLst/>
                <a:latin typeface="Aptos" panose="020B0004020202020204" pitchFamily="34" charset="0"/>
                <a:ea typeface="Aptos" panose="020B0004020202020204" pitchFamily="34" charset="0"/>
                <a:cs typeface="B Nazanin" panose="00000400000000000000" pitchFamily="2" charset="-78"/>
              </a:rPr>
              <a:t> تغییر دهد. اگر موفق نشد (یعنی قفل در اختیار نخ دیگری است)، مقدار </a:t>
            </a:r>
            <a:r>
              <a:rPr lang="en-US" sz="1400" kern="100" dirty="0">
                <a:effectLst/>
                <a:latin typeface="Aptos" panose="020B0004020202020204" pitchFamily="34" charset="0"/>
                <a:ea typeface="Aptos" panose="020B0004020202020204" pitchFamily="34" charset="0"/>
                <a:cs typeface="B Nazanin" panose="00000400000000000000" pitchFamily="2" charset="-78"/>
              </a:rPr>
              <a:t>key </a:t>
            </a:r>
            <a:r>
              <a:rPr lang="ar-SA" sz="1400" kern="100" dirty="0">
                <a:effectLst/>
                <a:latin typeface="Aptos" panose="020B0004020202020204" pitchFamily="34" charset="0"/>
                <a:ea typeface="Aptos" panose="020B0004020202020204" pitchFamily="34" charset="0"/>
                <a:cs typeface="B Nazanin" panose="00000400000000000000" pitchFamily="2" charset="-78"/>
              </a:rPr>
              <a:t>برابر </a:t>
            </a:r>
            <a:r>
              <a:rPr lang="fa-IR" sz="1400" kern="100" dirty="0">
                <a:effectLst/>
                <a:latin typeface="Aptos" panose="020B0004020202020204" pitchFamily="34" charset="0"/>
                <a:ea typeface="Aptos" panose="020B0004020202020204" pitchFamily="34" charset="0"/>
                <a:cs typeface="B Nazanin" panose="00000400000000000000" pitchFamily="2" charset="-78"/>
              </a:rPr>
              <a:t>۱</a:t>
            </a:r>
            <a:r>
              <a:rPr lang="ar-SA" sz="1400" kern="100" dirty="0">
                <a:effectLst/>
                <a:latin typeface="Aptos" panose="020B0004020202020204" pitchFamily="34" charset="0"/>
                <a:ea typeface="Aptos" panose="020B0004020202020204" pitchFamily="34" charset="0"/>
                <a:cs typeface="B Nazanin" panose="00000400000000000000" pitchFamily="2" charset="-78"/>
              </a:rPr>
              <a:t> باقی می‌ماند و حلقه ادامه می‌یابد</a:t>
            </a:r>
            <a:r>
              <a:rPr lang="en-US" sz="1400" kern="100" dirty="0">
                <a:effectLst/>
                <a:latin typeface="Aptos" panose="020B0004020202020204" pitchFamily="34" charset="0"/>
                <a:ea typeface="Aptos" panose="020B0004020202020204" pitchFamily="34" charset="0"/>
                <a:cs typeface="B Nazanin" panose="00000400000000000000" pitchFamily="2" charset="-78"/>
              </a:rPr>
              <a:t>.</a:t>
            </a:r>
            <a:endParaRPr lang="en-US" sz="14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ar-SA" sz="1400" kern="100" dirty="0">
                <a:effectLst/>
                <a:latin typeface="Aptos" panose="020B0004020202020204" pitchFamily="34" charset="0"/>
                <a:ea typeface="Aptos" panose="020B0004020202020204" pitchFamily="34" charset="0"/>
                <a:cs typeface="B Nazanin" panose="00000400000000000000" pitchFamily="2" charset="-78"/>
              </a:rPr>
              <a:t>وقتی نخ موفق به گرفتن قفل شد، وضعیت "در حال انتظار" بودن خود را به </a:t>
            </a:r>
            <a:r>
              <a:rPr lang="en-US" sz="1400" kern="100" dirty="0">
                <a:effectLst/>
                <a:latin typeface="Aptos" panose="020B0004020202020204" pitchFamily="34" charset="0"/>
                <a:ea typeface="Aptos" panose="020B0004020202020204" pitchFamily="34" charset="0"/>
                <a:cs typeface="B Nazanin" panose="00000400000000000000" pitchFamily="2" charset="-78"/>
              </a:rPr>
              <a:t>false </a:t>
            </a:r>
            <a:r>
              <a:rPr lang="ar-SA" sz="1400" kern="100" dirty="0">
                <a:effectLst/>
                <a:latin typeface="Aptos" panose="020B0004020202020204" pitchFamily="34" charset="0"/>
                <a:ea typeface="Aptos" panose="020B0004020202020204" pitchFamily="34" charset="0"/>
                <a:cs typeface="B Nazanin" panose="00000400000000000000" pitchFamily="2" charset="-78"/>
              </a:rPr>
              <a:t>تغییر می‌دهد</a:t>
            </a:r>
            <a:r>
              <a:rPr lang="en-US" sz="1400" kern="100" dirty="0">
                <a:effectLst/>
                <a:latin typeface="Aptos" panose="020B0004020202020204" pitchFamily="34" charset="0"/>
                <a:ea typeface="Aptos" panose="020B0004020202020204" pitchFamily="34" charset="0"/>
                <a:cs typeface="B Nazanin" panose="00000400000000000000" pitchFamily="2" charset="-78"/>
              </a:rPr>
              <a:t>.</a:t>
            </a:r>
          </a:p>
          <a:p>
            <a:pPr algn="r" rtl="1">
              <a:lnSpc>
                <a:spcPct val="115000"/>
              </a:lnSpc>
              <a:spcAft>
                <a:spcPts val="800"/>
              </a:spcAft>
            </a:pPr>
            <a:r>
              <a:rPr lang="en-US" sz="160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600" kern="100" dirty="0">
                <a:effectLst/>
                <a:latin typeface="Segoe UI Emoji" panose="020B0502040204020203" pitchFamily="34" charset="0"/>
                <a:ea typeface="Aptos" panose="020B0004020202020204" pitchFamily="34" charset="0"/>
                <a:cs typeface="B Nazanin" panose="00000400000000000000" pitchFamily="2" charset="-78"/>
              </a:rPr>
              <a:t>این بخش بررسی می‌کند که آیا نخ دیگری منتظر ورود به بخش بحرانی هست یا نه</a:t>
            </a:r>
            <a:r>
              <a:rPr lang="en-US" sz="160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600" kern="100" dirty="0">
                <a:effectLst/>
                <a:latin typeface="Segoe UI Emoji" panose="020B0502040204020203" pitchFamily="34" charset="0"/>
                <a:ea typeface="Aptos" panose="020B0004020202020204" pitchFamily="34" charset="0"/>
                <a:cs typeface="B Nazanin" panose="00000400000000000000" pitchFamily="2" charset="-78"/>
              </a:rPr>
              <a:t>از نخ بعدی</a:t>
            </a:r>
            <a:r>
              <a:rPr lang="en-US" sz="1600" kern="100" dirty="0">
                <a:effectLst/>
                <a:latin typeface="Segoe UI Emoji" panose="020B0502040204020203" pitchFamily="34" charset="0"/>
                <a:ea typeface="Aptos" panose="020B0004020202020204" pitchFamily="34" charset="0"/>
                <a:cs typeface="B Nazanin" panose="00000400000000000000" pitchFamily="2" charset="-78"/>
              </a:rPr>
              <a:t> (i+1) </a:t>
            </a:r>
            <a:r>
              <a:rPr lang="ar-SA" sz="1600" kern="100" dirty="0">
                <a:effectLst/>
                <a:latin typeface="Segoe UI Emoji" panose="020B0502040204020203" pitchFamily="34" charset="0"/>
                <a:ea typeface="Aptos" panose="020B0004020202020204" pitchFamily="34" charset="0"/>
                <a:cs typeface="B Nazanin" panose="00000400000000000000" pitchFamily="2" charset="-78"/>
              </a:rPr>
              <a:t>شروع می‌کند و حلقه می‌چرخد تا نخ منتظری پیدا کند یا به خود </a:t>
            </a:r>
            <a:r>
              <a:rPr lang="en-US" sz="1600" kern="100" dirty="0" err="1">
                <a:effectLst/>
                <a:latin typeface="Segoe UI Emoji" panose="020B0502040204020203" pitchFamily="34" charset="0"/>
                <a:ea typeface="Aptos" panose="020B0004020202020204" pitchFamily="34" charset="0"/>
                <a:cs typeface="B Nazanin" panose="00000400000000000000" pitchFamily="2" charset="-78"/>
              </a:rPr>
              <a:t>i</a:t>
            </a:r>
            <a:r>
              <a:rPr lang="en-US" sz="1600"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600" kern="100" dirty="0">
                <a:effectLst/>
                <a:latin typeface="Segoe UI Emoji" panose="020B0502040204020203" pitchFamily="34" charset="0"/>
                <a:ea typeface="Aptos" panose="020B0004020202020204" pitchFamily="34" charset="0"/>
                <a:cs typeface="B Nazanin" panose="00000400000000000000" pitchFamily="2" charset="-78"/>
              </a:rPr>
              <a:t>برسد</a:t>
            </a:r>
            <a:r>
              <a:rPr lang="en-US" sz="1600" kern="100" dirty="0">
                <a:effectLst/>
                <a:latin typeface="Segoe UI Emoji" panose="020B0502040204020203" pitchFamily="34" charset="0"/>
                <a:ea typeface="Aptos" panose="020B0004020202020204" pitchFamily="34" charset="0"/>
                <a:cs typeface="B Nazanin" panose="00000400000000000000" pitchFamily="2" charset="-78"/>
              </a:rPr>
              <a:t>.</a:t>
            </a:r>
          </a:p>
          <a:p>
            <a:pPr marL="0" marR="0" algn="r" rtl="1">
              <a:lnSpc>
                <a:spcPct val="115000"/>
              </a:lnSpc>
              <a:spcAft>
                <a:spcPts val="800"/>
              </a:spcAft>
              <a:buNone/>
            </a:pPr>
            <a:r>
              <a:rPr lang="en-US" sz="1600" dirty="0"/>
              <a:t>🔹 </a:t>
            </a:r>
            <a:r>
              <a:rPr lang="ar-SA" sz="1600" kern="100" dirty="0">
                <a:effectLst/>
                <a:latin typeface="Aptos" panose="020B0004020202020204" pitchFamily="34" charset="0"/>
                <a:ea typeface="Aptos" panose="020B0004020202020204" pitchFamily="34" charset="0"/>
                <a:cs typeface="Segoe UI Emoji" panose="020B0502040204020203" pitchFamily="34" charset="0"/>
              </a:rPr>
              <a:t>🔹</a:t>
            </a:r>
            <a:r>
              <a:rPr lang="ar-SA" sz="1600" kern="100" dirty="0">
                <a:effectLst/>
                <a:latin typeface="Segoe UI Emoji" panose="020B0502040204020203" pitchFamily="34" charset="0"/>
                <a:ea typeface="Aptos" panose="020B0004020202020204" pitchFamily="34" charset="0"/>
                <a:cs typeface="B Nazanin" panose="00000400000000000000" pitchFamily="2" charset="-78"/>
              </a:rPr>
              <a:t> اگر هیچ نخ منتظری پیدا نشد (یعنی فقط نخ فعلی در حال فعالیت بوده)، قفل را آزاد می‌کند.</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ar-SA" sz="1600" kern="100" dirty="0">
                <a:effectLst/>
                <a:latin typeface="Aptos" panose="020B0004020202020204" pitchFamily="34" charset="0"/>
                <a:ea typeface="Aptos" panose="020B0004020202020204" pitchFamily="34" charset="0"/>
                <a:cs typeface="Segoe UI Emoji" panose="020B0502040204020203" pitchFamily="34" charset="0"/>
              </a:rPr>
              <a:t>🔹</a:t>
            </a:r>
            <a:r>
              <a:rPr lang="ar-SA" sz="1600" kern="100" dirty="0">
                <a:effectLst/>
                <a:latin typeface="Segoe UI Emoji" panose="020B0502040204020203" pitchFamily="34" charset="0"/>
                <a:ea typeface="Aptos" panose="020B0004020202020204" pitchFamily="34" charset="0"/>
                <a:cs typeface="B Nazanin" panose="00000400000000000000" pitchFamily="2" charset="-78"/>
              </a:rPr>
              <a:t> در غیر این‌صورت، نخ بعدی را از حالت انتظار خارج می‌کند تا بتواند وارد بخش بحرانی شود.</a:t>
            </a:r>
            <a:endParaRPr lang="en-US" sz="16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endParaRPr lang="en-US" sz="1400" kern="100" dirty="0">
              <a:effectLst/>
              <a:latin typeface="Aptos" panose="020B0004020202020204" pitchFamily="34" charset="0"/>
              <a:ea typeface="Aptos" panose="020B0004020202020204" pitchFamily="34" charset="0"/>
              <a:cs typeface="Arial" panose="020B0604020202020204" pitchFamily="34" charset="0"/>
            </a:endParaRPr>
          </a:p>
        </p:txBody>
      </p:sp>
      <p:grpSp>
        <p:nvGrpSpPr>
          <p:cNvPr id="17" name="Group 16">
            <a:extLst>
              <a:ext uri="{FF2B5EF4-FFF2-40B4-BE49-F238E27FC236}">
                <a16:creationId xmlns:a16="http://schemas.microsoft.com/office/drawing/2014/main" id="{08E4BD25-CF3D-221E-98D4-89DF60011102}"/>
              </a:ext>
            </a:extLst>
          </p:cNvPr>
          <p:cNvGrpSpPr/>
          <p:nvPr/>
        </p:nvGrpSpPr>
        <p:grpSpPr>
          <a:xfrm>
            <a:off x="1979581" y="1375251"/>
            <a:ext cx="2935800" cy="167400"/>
            <a:chOff x="1979581" y="1375251"/>
            <a:chExt cx="2935800" cy="167400"/>
          </a:xfrm>
        </p:grpSpPr>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39393D25-908C-4C52-AA90-177C7FCDE974}"/>
                    </a:ext>
                  </a:extLst>
                </p14:cNvPr>
                <p14:cNvContentPartPr/>
                <p14:nvPr/>
              </p14:nvContentPartPr>
              <p14:xfrm>
                <a:off x="1979581" y="1375251"/>
                <a:ext cx="2863440" cy="102600"/>
              </p14:xfrm>
            </p:contentPart>
          </mc:Choice>
          <mc:Fallback xmlns="">
            <p:pic>
              <p:nvPicPr>
                <p:cNvPr id="15" name="Ink 14">
                  <a:extLst>
                    <a:ext uri="{FF2B5EF4-FFF2-40B4-BE49-F238E27FC236}">
                      <a16:creationId xmlns:a16="http://schemas.microsoft.com/office/drawing/2014/main" id="{39393D25-908C-4C52-AA90-177C7FCDE974}"/>
                    </a:ext>
                  </a:extLst>
                </p:cNvPr>
                <p:cNvPicPr/>
                <p:nvPr/>
              </p:nvPicPr>
              <p:blipFill>
                <a:blip r:embed="rId4"/>
                <a:stretch>
                  <a:fillRect/>
                </a:stretch>
              </p:blipFill>
              <p:spPr>
                <a:xfrm>
                  <a:off x="1973461" y="1369131"/>
                  <a:ext cx="287568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5F7633E0-6A4C-2AB4-FD6A-A0D955307CD7}"/>
                    </a:ext>
                  </a:extLst>
                </p14:cNvPr>
                <p14:cNvContentPartPr/>
                <p14:nvPr/>
              </p14:nvContentPartPr>
              <p14:xfrm>
                <a:off x="4772821" y="1406571"/>
                <a:ext cx="142560" cy="136080"/>
              </p14:xfrm>
            </p:contentPart>
          </mc:Choice>
          <mc:Fallback xmlns="">
            <p:pic>
              <p:nvPicPr>
                <p:cNvPr id="16" name="Ink 15">
                  <a:extLst>
                    <a:ext uri="{FF2B5EF4-FFF2-40B4-BE49-F238E27FC236}">
                      <a16:creationId xmlns:a16="http://schemas.microsoft.com/office/drawing/2014/main" id="{5F7633E0-6A4C-2AB4-FD6A-A0D955307CD7}"/>
                    </a:ext>
                  </a:extLst>
                </p:cNvPr>
                <p:cNvPicPr/>
                <p:nvPr/>
              </p:nvPicPr>
              <p:blipFill>
                <a:blip r:embed="rId6"/>
                <a:stretch>
                  <a:fillRect/>
                </a:stretch>
              </p:blipFill>
              <p:spPr>
                <a:xfrm>
                  <a:off x="4766701" y="1400451"/>
                  <a:ext cx="154800" cy="148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C0E3C54D-E0DF-C8A5-6D05-74465C936087}"/>
                  </a:ext>
                </a:extLst>
              </p14:cNvPr>
              <p14:cNvContentPartPr/>
              <p14:nvPr/>
            </p14:nvContentPartPr>
            <p14:xfrm>
              <a:off x="1587541" y="1788531"/>
              <a:ext cx="3402000" cy="487080"/>
            </p14:xfrm>
          </p:contentPart>
        </mc:Choice>
        <mc:Fallback xmlns="">
          <p:pic>
            <p:nvPicPr>
              <p:cNvPr id="18" name="Ink 17">
                <a:extLst>
                  <a:ext uri="{FF2B5EF4-FFF2-40B4-BE49-F238E27FC236}">
                    <a16:creationId xmlns:a16="http://schemas.microsoft.com/office/drawing/2014/main" id="{C0E3C54D-E0DF-C8A5-6D05-74465C936087}"/>
                  </a:ext>
                </a:extLst>
              </p:cNvPr>
              <p:cNvPicPr/>
              <p:nvPr/>
            </p:nvPicPr>
            <p:blipFill>
              <a:blip r:embed="rId8"/>
              <a:stretch>
                <a:fillRect/>
              </a:stretch>
            </p:blipFill>
            <p:spPr>
              <a:xfrm>
                <a:off x="1581421" y="1782411"/>
                <a:ext cx="3414240" cy="499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7" name="Ink 36">
                <a:extLst>
                  <a:ext uri="{FF2B5EF4-FFF2-40B4-BE49-F238E27FC236}">
                    <a16:creationId xmlns:a16="http://schemas.microsoft.com/office/drawing/2014/main" id="{CD1AB522-DBCD-1016-7A0E-9CEBDC57F7B4}"/>
                  </a:ext>
                </a:extLst>
              </p14:cNvPr>
              <p14:cNvContentPartPr/>
              <p14:nvPr/>
            </p14:nvContentPartPr>
            <p14:xfrm>
              <a:off x="2401501" y="4793091"/>
              <a:ext cx="360" cy="360"/>
            </p14:xfrm>
          </p:contentPart>
        </mc:Choice>
        <mc:Fallback xmlns="">
          <p:pic>
            <p:nvPicPr>
              <p:cNvPr id="37" name="Ink 36">
                <a:extLst>
                  <a:ext uri="{FF2B5EF4-FFF2-40B4-BE49-F238E27FC236}">
                    <a16:creationId xmlns:a16="http://schemas.microsoft.com/office/drawing/2014/main" id="{CD1AB522-DBCD-1016-7A0E-9CEBDC57F7B4}"/>
                  </a:ext>
                </a:extLst>
              </p:cNvPr>
              <p:cNvPicPr/>
              <p:nvPr/>
            </p:nvPicPr>
            <p:blipFill>
              <a:blip r:embed="rId10"/>
              <a:stretch>
                <a:fillRect/>
              </a:stretch>
            </p:blipFill>
            <p:spPr>
              <a:xfrm>
                <a:off x="2395381" y="4786971"/>
                <a:ext cx="12600" cy="12600"/>
              </a:xfrm>
              <a:prstGeom prst="rect">
                <a:avLst/>
              </a:prstGeom>
            </p:spPr>
          </p:pic>
        </mc:Fallback>
      </mc:AlternateContent>
      <p:grpSp>
        <p:nvGrpSpPr>
          <p:cNvPr id="49" name="Group 48">
            <a:extLst>
              <a:ext uri="{FF2B5EF4-FFF2-40B4-BE49-F238E27FC236}">
                <a16:creationId xmlns:a16="http://schemas.microsoft.com/office/drawing/2014/main" id="{0F9FCA70-6288-4455-1F04-FCC3EA611D94}"/>
              </a:ext>
            </a:extLst>
          </p:cNvPr>
          <p:cNvGrpSpPr/>
          <p:nvPr/>
        </p:nvGrpSpPr>
        <p:grpSpPr>
          <a:xfrm>
            <a:off x="519421" y="2169411"/>
            <a:ext cx="4705722" cy="4205817"/>
            <a:chOff x="519421" y="2169411"/>
            <a:chExt cx="4705722" cy="4205817"/>
          </a:xfrm>
        </p:grpSpPr>
        <mc:AlternateContent xmlns:mc="http://schemas.openxmlformats.org/markup-compatibility/2006" xmlns:p14="http://schemas.microsoft.com/office/powerpoint/2010/main">
          <mc:Choice Requires="p14">
            <p:contentPart p14:bwMode="auto" r:id="rId11">
              <p14:nvContentPartPr>
                <p14:cNvPr id="25" name="Ink 24">
                  <a:extLst>
                    <a:ext uri="{FF2B5EF4-FFF2-40B4-BE49-F238E27FC236}">
                      <a16:creationId xmlns:a16="http://schemas.microsoft.com/office/drawing/2014/main" id="{2F171506-A662-F9DD-D35C-1DD5526375D6}"/>
                    </a:ext>
                  </a:extLst>
                </p14:cNvPr>
                <p14:cNvContentPartPr/>
                <p14:nvPr/>
              </p14:nvContentPartPr>
              <p14:xfrm>
                <a:off x="3902781" y="2169411"/>
                <a:ext cx="1140344" cy="673200"/>
              </p14:xfrm>
            </p:contentPart>
          </mc:Choice>
          <mc:Fallback xmlns="">
            <p:pic>
              <p:nvPicPr>
                <p:cNvPr id="25" name="Ink 24">
                  <a:extLst>
                    <a:ext uri="{FF2B5EF4-FFF2-40B4-BE49-F238E27FC236}">
                      <a16:creationId xmlns:a16="http://schemas.microsoft.com/office/drawing/2014/main" id="{2F171506-A662-F9DD-D35C-1DD5526375D6}"/>
                    </a:ext>
                  </a:extLst>
                </p:cNvPr>
                <p:cNvPicPr/>
                <p:nvPr/>
              </p:nvPicPr>
              <p:blipFill>
                <a:blip r:embed="rId12"/>
                <a:stretch>
                  <a:fillRect/>
                </a:stretch>
              </p:blipFill>
              <p:spPr>
                <a:xfrm>
                  <a:off x="3896660" y="2163291"/>
                  <a:ext cx="1152586" cy="685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6" name="Ink 25">
                  <a:extLst>
                    <a:ext uri="{FF2B5EF4-FFF2-40B4-BE49-F238E27FC236}">
                      <a16:creationId xmlns:a16="http://schemas.microsoft.com/office/drawing/2014/main" id="{569B8538-3C3E-91DD-ACE3-55CEAE087C0E}"/>
                    </a:ext>
                  </a:extLst>
                </p14:cNvPr>
                <p14:cNvContentPartPr/>
                <p14:nvPr/>
              </p14:nvContentPartPr>
              <p14:xfrm>
                <a:off x="4985034" y="2783211"/>
                <a:ext cx="146108" cy="154080"/>
              </p14:xfrm>
            </p:contentPart>
          </mc:Choice>
          <mc:Fallback xmlns="">
            <p:pic>
              <p:nvPicPr>
                <p:cNvPr id="26" name="Ink 25">
                  <a:extLst>
                    <a:ext uri="{FF2B5EF4-FFF2-40B4-BE49-F238E27FC236}">
                      <a16:creationId xmlns:a16="http://schemas.microsoft.com/office/drawing/2014/main" id="{569B8538-3C3E-91DD-ACE3-55CEAE087C0E}"/>
                    </a:ext>
                  </a:extLst>
                </p:cNvPr>
                <p:cNvPicPr/>
                <p:nvPr/>
              </p:nvPicPr>
              <p:blipFill>
                <a:blip r:embed="rId14"/>
                <a:stretch>
                  <a:fillRect/>
                </a:stretch>
              </p:blipFill>
              <p:spPr>
                <a:xfrm>
                  <a:off x="4978916" y="2777091"/>
                  <a:ext cx="158344"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8" name="Ink 27">
                  <a:extLst>
                    <a:ext uri="{FF2B5EF4-FFF2-40B4-BE49-F238E27FC236}">
                      <a16:creationId xmlns:a16="http://schemas.microsoft.com/office/drawing/2014/main" id="{BE516A86-D091-C4DA-7876-DF053741FB75}"/>
                    </a:ext>
                  </a:extLst>
                </p14:cNvPr>
                <p14:cNvContentPartPr/>
                <p14:nvPr/>
              </p14:nvContentPartPr>
              <p14:xfrm>
                <a:off x="4855825" y="2180571"/>
                <a:ext cx="83440" cy="131760"/>
              </p14:xfrm>
            </p:contentPart>
          </mc:Choice>
          <mc:Fallback xmlns="">
            <p:pic>
              <p:nvPicPr>
                <p:cNvPr id="28" name="Ink 27">
                  <a:extLst>
                    <a:ext uri="{FF2B5EF4-FFF2-40B4-BE49-F238E27FC236}">
                      <a16:creationId xmlns:a16="http://schemas.microsoft.com/office/drawing/2014/main" id="{BE516A86-D091-C4DA-7876-DF053741FB75}"/>
                    </a:ext>
                  </a:extLst>
                </p:cNvPr>
                <p:cNvPicPr/>
                <p:nvPr/>
              </p:nvPicPr>
              <p:blipFill>
                <a:blip r:embed="rId16"/>
                <a:stretch>
                  <a:fillRect/>
                </a:stretch>
              </p:blipFill>
              <p:spPr>
                <a:xfrm>
                  <a:off x="4849684" y="2174451"/>
                  <a:ext cx="95721"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0" name="Ink 29">
                  <a:extLst>
                    <a:ext uri="{FF2B5EF4-FFF2-40B4-BE49-F238E27FC236}">
                      <a16:creationId xmlns:a16="http://schemas.microsoft.com/office/drawing/2014/main" id="{1C11DD91-02CC-B408-8E5A-3022EE7B00A0}"/>
                    </a:ext>
                  </a:extLst>
                </p14:cNvPr>
                <p14:cNvContentPartPr/>
                <p14:nvPr/>
              </p14:nvContentPartPr>
              <p14:xfrm>
                <a:off x="4142538" y="2602491"/>
                <a:ext cx="301017" cy="20880"/>
              </p14:xfrm>
            </p:contentPart>
          </mc:Choice>
          <mc:Fallback xmlns="">
            <p:pic>
              <p:nvPicPr>
                <p:cNvPr id="30" name="Ink 29">
                  <a:extLst>
                    <a:ext uri="{FF2B5EF4-FFF2-40B4-BE49-F238E27FC236}">
                      <a16:creationId xmlns:a16="http://schemas.microsoft.com/office/drawing/2014/main" id="{1C11DD91-02CC-B408-8E5A-3022EE7B00A0}"/>
                    </a:ext>
                  </a:extLst>
                </p:cNvPr>
                <p:cNvPicPr/>
                <p:nvPr/>
              </p:nvPicPr>
              <p:blipFill>
                <a:blip r:embed="rId18"/>
                <a:stretch>
                  <a:fillRect/>
                </a:stretch>
              </p:blipFill>
              <p:spPr>
                <a:xfrm>
                  <a:off x="4136417" y="2596371"/>
                  <a:ext cx="313259"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1" name="Ink 30">
                  <a:extLst>
                    <a:ext uri="{FF2B5EF4-FFF2-40B4-BE49-F238E27FC236}">
                      <a16:creationId xmlns:a16="http://schemas.microsoft.com/office/drawing/2014/main" id="{2D45B046-FEEE-EF5B-A1B3-8CB598EBC87B}"/>
                    </a:ext>
                  </a:extLst>
                </p14:cNvPr>
                <p14:cNvContentPartPr/>
                <p14:nvPr/>
              </p14:nvContentPartPr>
              <p14:xfrm>
                <a:off x="4403772" y="2713011"/>
                <a:ext cx="541126" cy="784080"/>
              </p14:xfrm>
            </p:contentPart>
          </mc:Choice>
          <mc:Fallback xmlns="">
            <p:pic>
              <p:nvPicPr>
                <p:cNvPr id="31" name="Ink 30">
                  <a:extLst>
                    <a:ext uri="{FF2B5EF4-FFF2-40B4-BE49-F238E27FC236}">
                      <a16:creationId xmlns:a16="http://schemas.microsoft.com/office/drawing/2014/main" id="{2D45B046-FEEE-EF5B-A1B3-8CB598EBC87B}"/>
                    </a:ext>
                  </a:extLst>
                </p:cNvPr>
                <p:cNvPicPr/>
                <p:nvPr/>
              </p:nvPicPr>
              <p:blipFill>
                <a:blip r:embed="rId20"/>
                <a:stretch>
                  <a:fillRect/>
                </a:stretch>
              </p:blipFill>
              <p:spPr>
                <a:xfrm>
                  <a:off x="4397651" y="2706891"/>
                  <a:ext cx="553367" cy="7963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2" name="Ink 31">
                  <a:extLst>
                    <a:ext uri="{FF2B5EF4-FFF2-40B4-BE49-F238E27FC236}">
                      <a16:creationId xmlns:a16="http://schemas.microsoft.com/office/drawing/2014/main" id="{B5F74A62-D862-551D-521E-E8F7EF4277F7}"/>
                    </a:ext>
                  </a:extLst>
                </p14:cNvPr>
                <p14:cNvContentPartPr/>
                <p14:nvPr/>
              </p14:nvContentPartPr>
              <p14:xfrm>
                <a:off x="4701620" y="3469011"/>
                <a:ext cx="252784" cy="69120"/>
              </p14:xfrm>
            </p:contentPart>
          </mc:Choice>
          <mc:Fallback xmlns="">
            <p:pic>
              <p:nvPicPr>
                <p:cNvPr id="32" name="Ink 31">
                  <a:extLst>
                    <a:ext uri="{FF2B5EF4-FFF2-40B4-BE49-F238E27FC236}">
                      <a16:creationId xmlns:a16="http://schemas.microsoft.com/office/drawing/2014/main" id="{B5F74A62-D862-551D-521E-E8F7EF4277F7}"/>
                    </a:ext>
                  </a:extLst>
                </p:cNvPr>
                <p:cNvPicPr/>
                <p:nvPr/>
              </p:nvPicPr>
              <p:blipFill>
                <a:blip r:embed="rId22"/>
                <a:stretch>
                  <a:fillRect/>
                </a:stretch>
              </p:blipFill>
              <p:spPr>
                <a:xfrm>
                  <a:off x="4695498" y="3462891"/>
                  <a:ext cx="265027"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4" name="Ink 33">
                  <a:extLst>
                    <a:ext uri="{FF2B5EF4-FFF2-40B4-BE49-F238E27FC236}">
                      <a16:creationId xmlns:a16="http://schemas.microsoft.com/office/drawing/2014/main" id="{125A2897-C5C2-849F-A86F-4056436A6DCD}"/>
                    </a:ext>
                  </a:extLst>
                </p14:cNvPr>
                <p14:cNvContentPartPr/>
                <p14:nvPr/>
              </p14:nvContentPartPr>
              <p14:xfrm>
                <a:off x="2752931" y="2793291"/>
                <a:ext cx="2160985" cy="1568160"/>
              </p14:xfrm>
            </p:contentPart>
          </mc:Choice>
          <mc:Fallback xmlns="">
            <p:pic>
              <p:nvPicPr>
                <p:cNvPr id="34" name="Ink 33">
                  <a:extLst>
                    <a:ext uri="{FF2B5EF4-FFF2-40B4-BE49-F238E27FC236}">
                      <a16:creationId xmlns:a16="http://schemas.microsoft.com/office/drawing/2014/main" id="{125A2897-C5C2-849F-A86F-4056436A6DCD}"/>
                    </a:ext>
                  </a:extLst>
                </p:cNvPr>
                <p:cNvPicPr/>
                <p:nvPr/>
              </p:nvPicPr>
              <p:blipFill>
                <a:blip r:embed="rId24"/>
                <a:stretch>
                  <a:fillRect/>
                </a:stretch>
              </p:blipFill>
              <p:spPr>
                <a:xfrm>
                  <a:off x="2746811" y="2787171"/>
                  <a:ext cx="2173224" cy="15804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5" name="Ink 34">
                  <a:extLst>
                    <a:ext uri="{FF2B5EF4-FFF2-40B4-BE49-F238E27FC236}">
                      <a16:creationId xmlns:a16="http://schemas.microsoft.com/office/drawing/2014/main" id="{67D15471-72BD-C65B-5B42-068DC13902FE}"/>
                    </a:ext>
                  </a:extLst>
                </p14:cNvPr>
                <p14:cNvContentPartPr/>
                <p14:nvPr/>
              </p14:nvContentPartPr>
              <p14:xfrm>
                <a:off x="4734362" y="4240491"/>
                <a:ext cx="177442" cy="129960"/>
              </p14:xfrm>
            </p:contentPart>
          </mc:Choice>
          <mc:Fallback xmlns="">
            <p:pic>
              <p:nvPicPr>
                <p:cNvPr id="35" name="Ink 34">
                  <a:extLst>
                    <a:ext uri="{FF2B5EF4-FFF2-40B4-BE49-F238E27FC236}">
                      <a16:creationId xmlns:a16="http://schemas.microsoft.com/office/drawing/2014/main" id="{67D15471-72BD-C65B-5B42-068DC13902FE}"/>
                    </a:ext>
                  </a:extLst>
                </p:cNvPr>
                <p:cNvPicPr/>
                <p:nvPr/>
              </p:nvPicPr>
              <p:blipFill>
                <a:blip r:embed="rId26"/>
                <a:stretch>
                  <a:fillRect/>
                </a:stretch>
              </p:blipFill>
              <p:spPr>
                <a:xfrm>
                  <a:off x="4728243" y="4234371"/>
                  <a:ext cx="189679" cy="1422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9" name="Ink 38">
                  <a:extLst>
                    <a:ext uri="{FF2B5EF4-FFF2-40B4-BE49-F238E27FC236}">
                      <a16:creationId xmlns:a16="http://schemas.microsoft.com/office/drawing/2014/main" id="{A31547EF-7324-F2D2-0034-D3445A503421}"/>
                    </a:ext>
                  </a:extLst>
                </p14:cNvPr>
                <p14:cNvContentPartPr/>
                <p14:nvPr/>
              </p14:nvContentPartPr>
              <p14:xfrm>
                <a:off x="519421" y="3385851"/>
                <a:ext cx="1378341" cy="925200"/>
              </p14:xfrm>
            </p:contentPart>
          </mc:Choice>
          <mc:Fallback xmlns="">
            <p:pic>
              <p:nvPicPr>
                <p:cNvPr id="39" name="Ink 38">
                  <a:extLst>
                    <a:ext uri="{FF2B5EF4-FFF2-40B4-BE49-F238E27FC236}">
                      <a16:creationId xmlns:a16="http://schemas.microsoft.com/office/drawing/2014/main" id="{A31547EF-7324-F2D2-0034-D3445A503421}"/>
                    </a:ext>
                  </a:extLst>
                </p:cNvPr>
                <p:cNvPicPr/>
                <p:nvPr/>
              </p:nvPicPr>
              <p:blipFill>
                <a:blip r:embed="rId28"/>
                <a:stretch>
                  <a:fillRect/>
                </a:stretch>
              </p:blipFill>
              <p:spPr>
                <a:xfrm>
                  <a:off x="513300" y="3379731"/>
                  <a:ext cx="1390583" cy="9374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0" name="Ink 39">
                  <a:extLst>
                    <a:ext uri="{FF2B5EF4-FFF2-40B4-BE49-F238E27FC236}">
                      <a16:creationId xmlns:a16="http://schemas.microsoft.com/office/drawing/2014/main" id="{B5869C5C-77C9-A5CE-CA2D-41054758B3DF}"/>
                    </a:ext>
                  </a:extLst>
                </p14:cNvPr>
                <p14:cNvContentPartPr/>
                <p14:nvPr/>
              </p14:nvContentPartPr>
              <p14:xfrm>
                <a:off x="1947403" y="4258491"/>
                <a:ext cx="3218593" cy="831240"/>
              </p14:xfrm>
            </p:contentPart>
          </mc:Choice>
          <mc:Fallback xmlns="">
            <p:pic>
              <p:nvPicPr>
                <p:cNvPr id="40" name="Ink 39">
                  <a:extLst>
                    <a:ext uri="{FF2B5EF4-FFF2-40B4-BE49-F238E27FC236}">
                      <a16:creationId xmlns:a16="http://schemas.microsoft.com/office/drawing/2014/main" id="{B5869C5C-77C9-A5CE-CA2D-41054758B3DF}"/>
                    </a:ext>
                  </a:extLst>
                </p:cNvPr>
                <p:cNvPicPr/>
                <p:nvPr/>
              </p:nvPicPr>
              <p:blipFill>
                <a:blip r:embed="rId30"/>
                <a:stretch>
                  <a:fillRect/>
                </a:stretch>
              </p:blipFill>
              <p:spPr>
                <a:xfrm>
                  <a:off x="1941283" y="4252371"/>
                  <a:ext cx="3230834" cy="843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1" name="Ink 40">
                  <a:extLst>
                    <a:ext uri="{FF2B5EF4-FFF2-40B4-BE49-F238E27FC236}">
                      <a16:creationId xmlns:a16="http://schemas.microsoft.com/office/drawing/2014/main" id="{D43B7791-E5E0-9B85-3F5F-DB9E55F30EDA}"/>
                    </a:ext>
                  </a:extLst>
                </p14:cNvPr>
                <p14:cNvContentPartPr/>
                <p14:nvPr/>
              </p14:nvContentPartPr>
              <p14:xfrm>
                <a:off x="5010734" y="5003691"/>
                <a:ext cx="214409" cy="253080"/>
              </p14:xfrm>
            </p:contentPart>
          </mc:Choice>
          <mc:Fallback xmlns="">
            <p:pic>
              <p:nvPicPr>
                <p:cNvPr id="41" name="Ink 40">
                  <a:extLst>
                    <a:ext uri="{FF2B5EF4-FFF2-40B4-BE49-F238E27FC236}">
                      <a16:creationId xmlns:a16="http://schemas.microsoft.com/office/drawing/2014/main" id="{D43B7791-E5E0-9B85-3F5F-DB9E55F30EDA}"/>
                    </a:ext>
                  </a:extLst>
                </p:cNvPr>
                <p:cNvPicPr/>
                <p:nvPr/>
              </p:nvPicPr>
              <p:blipFill>
                <a:blip r:embed="rId32"/>
                <a:stretch>
                  <a:fillRect/>
                </a:stretch>
              </p:blipFill>
              <p:spPr>
                <a:xfrm>
                  <a:off x="5004618" y="4997571"/>
                  <a:ext cx="2266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3" name="Ink 42">
                  <a:extLst>
                    <a:ext uri="{FF2B5EF4-FFF2-40B4-BE49-F238E27FC236}">
                      <a16:creationId xmlns:a16="http://schemas.microsoft.com/office/drawing/2014/main" id="{1AEE9853-98CE-17BA-C9F7-ACF7789302D1}"/>
                    </a:ext>
                  </a:extLst>
                </p14:cNvPr>
                <p14:cNvContentPartPr/>
                <p14:nvPr/>
              </p14:nvContentPartPr>
              <p14:xfrm>
                <a:off x="1948981" y="4421148"/>
                <a:ext cx="232560" cy="498960"/>
              </p14:xfrm>
            </p:contentPart>
          </mc:Choice>
          <mc:Fallback xmlns="">
            <p:pic>
              <p:nvPicPr>
                <p:cNvPr id="43" name="Ink 42">
                  <a:extLst>
                    <a:ext uri="{FF2B5EF4-FFF2-40B4-BE49-F238E27FC236}">
                      <a16:creationId xmlns:a16="http://schemas.microsoft.com/office/drawing/2014/main" id="{1AEE9853-98CE-17BA-C9F7-ACF7789302D1}"/>
                    </a:ext>
                  </a:extLst>
                </p:cNvPr>
                <p:cNvPicPr/>
                <p:nvPr/>
              </p:nvPicPr>
              <p:blipFill>
                <a:blip r:embed="rId34"/>
                <a:stretch>
                  <a:fillRect/>
                </a:stretch>
              </p:blipFill>
              <p:spPr>
                <a:xfrm>
                  <a:off x="1942861" y="4415028"/>
                  <a:ext cx="244800" cy="5112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4" name="Ink 43">
                  <a:extLst>
                    <a:ext uri="{FF2B5EF4-FFF2-40B4-BE49-F238E27FC236}">
                      <a16:creationId xmlns:a16="http://schemas.microsoft.com/office/drawing/2014/main" id="{C686F6DA-13A1-F988-CEF4-8B376F171FF8}"/>
                    </a:ext>
                  </a:extLst>
                </p14:cNvPr>
                <p14:cNvContentPartPr/>
                <p14:nvPr/>
              </p14:nvContentPartPr>
              <p14:xfrm>
                <a:off x="2180461" y="4712028"/>
                <a:ext cx="2498400" cy="885960"/>
              </p14:xfrm>
            </p:contentPart>
          </mc:Choice>
          <mc:Fallback xmlns="">
            <p:pic>
              <p:nvPicPr>
                <p:cNvPr id="44" name="Ink 43">
                  <a:extLst>
                    <a:ext uri="{FF2B5EF4-FFF2-40B4-BE49-F238E27FC236}">
                      <a16:creationId xmlns:a16="http://schemas.microsoft.com/office/drawing/2014/main" id="{C686F6DA-13A1-F988-CEF4-8B376F171FF8}"/>
                    </a:ext>
                  </a:extLst>
                </p:cNvPr>
                <p:cNvPicPr/>
                <p:nvPr/>
              </p:nvPicPr>
              <p:blipFill>
                <a:blip r:embed="rId36"/>
                <a:stretch>
                  <a:fillRect/>
                </a:stretch>
              </p:blipFill>
              <p:spPr>
                <a:xfrm>
                  <a:off x="2174341" y="4705908"/>
                  <a:ext cx="2510640" cy="8982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5" name="Ink 44">
                  <a:extLst>
                    <a:ext uri="{FF2B5EF4-FFF2-40B4-BE49-F238E27FC236}">
                      <a16:creationId xmlns:a16="http://schemas.microsoft.com/office/drawing/2014/main" id="{ECA31DEF-6A5B-4CD6-A536-B5381E4C8F17}"/>
                    </a:ext>
                  </a:extLst>
                </p14:cNvPr>
                <p14:cNvContentPartPr/>
                <p14:nvPr/>
              </p14:nvContentPartPr>
              <p14:xfrm>
                <a:off x="4637821" y="5536428"/>
                <a:ext cx="214920" cy="215640"/>
              </p14:xfrm>
            </p:contentPart>
          </mc:Choice>
          <mc:Fallback xmlns="">
            <p:pic>
              <p:nvPicPr>
                <p:cNvPr id="45" name="Ink 44">
                  <a:extLst>
                    <a:ext uri="{FF2B5EF4-FFF2-40B4-BE49-F238E27FC236}">
                      <a16:creationId xmlns:a16="http://schemas.microsoft.com/office/drawing/2014/main" id="{ECA31DEF-6A5B-4CD6-A536-B5381E4C8F17}"/>
                    </a:ext>
                  </a:extLst>
                </p:cNvPr>
                <p:cNvPicPr/>
                <p:nvPr/>
              </p:nvPicPr>
              <p:blipFill>
                <a:blip r:embed="rId38"/>
                <a:stretch>
                  <a:fillRect/>
                </a:stretch>
              </p:blipFill>
              <p:spPr>
                <a:xfrm>
                  <a:off x="4631701" y="5530308"/>
                  <a:ext cx="22716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6" name="Ink 45">
                  <a:extLst>
                    <a:ext uri="{FF2B5EF4-FFF2-40B4-BE49-F238E27FC236}">
                      <a16:creationId xmlns:a16="http://schemas.microsoft.com/office/drawing/2014/main" id="{296602B6-AEE7-A099-56F6-D6C9AD0F5393}"/>
                    </a:ext>
                  </a:extLst>
                </p14:cNvPr>
                <p14:cNvContentPartPr/>
                <p14:nvPr/>
              </p14:nvContentPartPr>
              <p14:xfrm>
                <a:off x="3136261" y="5496468"/>
                <a:ext cx="69120" cy="360"/>
              </p14:xfrm>
            </p:contentPart>
          </mc:Choice>
          <mc:Fallback xmlns="">
            <p:pic>
              <p:nvPicPr>
                <p:cNvPr id="46" name="Ink 45">
                  <a:extLst>
                    <a:ext uri="{FF2B5EF4-FFF2-40B4-BE49-F238E27FC236}">
                      <a16:creationId xmlns:a16="http://schemas.microsoft.com/office/drawing/2014/main" id="{296602B6-AEE7-A099-56F6-D6C9AD0F5393}"/>
                    </a:ext>
                  </a:extLst>
                </p:cNvPr>
                <p:cNvPicPr/>
                <p:nvPr/>
              </p:nvPicPr>
              <p:blipFill>
                <a:blip r:embed="rId40"/>
                <a:stretch>
                  <a:fillRect/>
                </a:stretch>
              </p:blipFill>
              <p:spPr>
                <a:xfrm>
                  <a:off x="3130141" y="5490348"/>
                  <a:ext cx="813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7" name="Ink 46">
                  <a:extLst>
                    <a:ext uri="{FF2B5EF4-FFF2-40B4-BE49-F238E27FC236}">
                      <a16:creationId xmlns:a16="http://schemas.microsoft.com/office/drawing/2014/main" id="{776C7F82-8986-9EEB-445B-5F26C6E65428}"/>
                    </a:ext>
                  </a:extLst>
                </p14:cNvPr>
                <p14:cNvContentPartPr/>
                <p14:nvPr/>
              </p14:nvContentPartPr>
              <p14:xfrm>
                <a:off x="3275581" y="5506188"/>
                <a:ext cx="1473120" cy="690480"/>
              </p14:xfrm>
            </p:contentPart>
          </mc:Choice>
          <mc:Fallback xmlns="">
            <p:pic>
              <p:nvPicPr>
                <p:cNvPr id="47" name="Ink 46">
                  <a:extLst>
                    <a:ext uri="{FF2B5EF4-FFF2-40B4-BE49-F238E27FC236}">
                      <a16:creationId xmlns:a16="http://schemas.microsoft.com/office/drawing/2014/main" id="{776C7F82-8986-9EEB-445B-5F26C6E65428}"/>
                    </a:ext>
                  </a:extLst>
                </p:cNvPr>
                <p:cNvPicPr/>
                <p:nvPr/>
              </p:nvPicPr>
              <p:blipFill>
                <a:blip r:embed="rId42"/>
                <a:stretch>
                  <a:fillRect/>
                </a:stretch>
              </p:blipFill>
              <p:spPr>
                <a:xfrm>
                  <a:off x="3269461" y="5500068"/>
                  <a:ext cx="1485360" cy="7027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8" name="Ink 47">
                  <a:extLst>
                    <a:ext uri="{FF2B5EF4-FFF2-40B4-BE49-F238E27FC236}">
                      <a16:creationId xmlns:a16="http://schemas.microsoft.com/office/drawing/2014/main" id="{DE0B56E5-0699-90A3-B37F-AE78383FD24F}"/>
                    </a:ext>
                  </a:extLst>
                </p14:cNvPr>
                <p14:cNvContentPartPr/>
                <p14:nvPr/>
              </p14:nvContentPartPr>
              <p14:xfrm>
                <a:off x="4692901" y="6129348"/>
                <a:ext cx="197640" cy="245880"/>
              </p14:xfrm>
            </p:contentPart>
          </mc:Choice>
          <mc:Fallback xmlns="">
            <p:pic>
              <p:nvPicPr>
                <p:cNvPr id="48" name="Ink 47">
                  <a:extLst>
                    <a:ext uri="{FF2B5EF4-FFF2-40B4-BE49-F238E27FC236}">
                      <a16:creationId xmlns:a16="http://schemas.microsoft.com/office/drawing/2014/main" id="{DE0B56E5-0699-90A3-B37F-AE78383FD24F}"/>
                    </a:ext>
                  </a:extLst>
                </p:cNvPr>
                <p:cNvPicPr/>
                <p:nvPr/>
              </p:nvPicPr>
              <p:blipFill>
                <a:blip r:embed="rId44"/>
                <a:stretch>
                  <a:fillRect/>
                </a:stretch>
              </p:blipFill>
              <p:spPr>
                <a:xfrm>
                  <a:off x="4686781" y="6123228"/>
                  <a:ext cx="209880" cy="258120"/>
                </a:xfrm>
                <a:prstGeom prst="rect">
                  <a:avLst/>
                </a:prstGeom>
              </p:spPr>
            </p:pic>
          </mc:Fallback>
        </mc:AlternateContent>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3F9BB-83C7-46B0-87EE-1634BF76D926}"/>
              </a:ext>
            </a:extLst>
          </p:cNvPr>
          <p:cNvSpPr>
            <a:spLocks noGrp="1"/>
          </p:cNvSpPr>
          <p:nvPr>
            <p:ph type="title"/>
          </p:nvPr>
        </p:nvSpPr>
        <p:spPr/>
        <p:txBody>
          <a:bodyPr/>
          <a:lstStyle/>
          <a:p>
            <a:r>
              <a:rPr lang="fa-IR" altLang="en-US" sz="3200" dirty="0">
                <a:cs typeface="B Titr" panose="00000700000000000000" pitchFamily="2" charset="-78"/>
              </a:rPr>
              <a:t>انتظار محدود با الگوریتم تعویض و جابجایی</a:t>
            </a:r>
            <a:endParaRPr lang="en-US" dirty="0">
              <a:cs typeface="B Titr" panose="00000700000000000000" pitchFamily="2" charset="-78"/>
            </a:endParaRPr>
          </a:p>
        </p:txBody>
      </p:sp>
      <p:sp>
        <p:nvSpPr>
          <p:cNvPr id="3" name="Content Placeholder 2">
            <a:extLst>
              <a:ext uri="{FF2B5EF4-FFF2-40B4-BE49-F238E27FC236}">
                <a16:creationId xmlns:a16="http://schemas.microsoft.com/office/drawing/2014/main" id="{834742B2-8288-4D59-993F-6148E5584CD9}"/>
              </a:ext>
            </a:extLst>
          </p:cNvPr>
          <p:cNvSpPr>
            <a:spLocks noGrp="1"/>
          </p:cNvSpPr>
          <p:nvPr>
            <p:ph idx="1"/>
          </p:nvPr>
        </p:nvSpPr>
        <p:spPr>
          <a:xfrm>
            <a:off x="282576" y="900979"/>
            <a:ext cx="8578848" cy="5573712"/>
          </a:xfrm>
        </p:spPr>
        <p:txBody>
          <a:bodyPr/>
          <a:lstStyle/>
          <a:p>
            <a:pPr marL="0" marR="0" algn="r" rtl="1">
              <a:spcBef>
                <a:spcPts val="0"/>
              </a:spcBef>
              <a:spcAft>
                <a:spcPts val="1500"/>
              </a:spcAft>
            </a:pPr>
            <a:r>
              <a:rPr lang="ar-SA" sz="2000" dirty="0">
                <a:solidFill>
                  <a:srgbClr val="1F1F1F"/>
                </a:solidFill>
                <a:effectLst/>
                <a:latin typeface="Google Sans"/>
                <a:ea typeface="Times New Roman" panose="02020603050405020304" pitchFamily="18" charset="0"/>
                <a:cs typeface="B Nazanin" panose="00000400000000000000" pitchFamily="2" charset="-78"/>
              </a:rPr>
              <a:t>برای اثبات اینکه الزام </a:t>
            </a:r>
            <a:r>
              <a:rPr lang="fa-IR" sz="2000" dirty="0">
                <a:solidFill>
                  <a:srgbClr val="1F1F1F"/>
                </a:solidFill>
                <a:latin typeface="Google Sans"/>
                <a:ea typeface="Times New Roman" panose="02020603050405020304" pitchFamily="18" charset="0"/>
                <a:cs typeface="B Nazanin" panose="00000400000000000000" pitchFamily="2" charset="-78"/>
              </a:rPr>
              <a:t>انحصار</a:t>
            </a:r>
            <a:r>
              <a:rPr lang="ar-SA" sz="2000" dirty="0">
                <a:solidFill>
                  <a:srgbClr val="1F1F1F"/>
                </a:solidFill>
                <a:effectLst/>
                <a:latin typeface="Google Sans"/>
                <a:ea typeface="Times New Roman" panose="02020603050405020304" pitchFamily="18" charset="0"/>
                <a:cs typeface="B Nazanin" panose="00000400000000000000" pitchFamily="2" charset="-78"/>
              </a:rPr>
              <a:t> متقابل برآورده شده است، توجه می کنیم که فرآیند </a:t>
            </a:r>
            <a:r>
              <a:rPr lang="en-US" sz="2000" dirty="0">
                <a:solidFill>
                  <a:srgbClr val="1F1F1F"/>
                </a:solidFill>
                <a:effectLst/>
                <a:latin typeface="Google Sans"/>
                <a:ea typeface="Times New Roman" panose="02020603050405020304" pitchFamily="18" charset="0"/>
                <a:cs typeface="B Nazanin" panose="00000400000000000000" pitchFamily="2" charset="-78"/>
              </a:rPr>
              <a:t>Pi</a:t>
            </a:r>
            <a:r>
              <a:rPr lang="ar-SA" sz="2000" dirty="0">
                <a:solidFill>
                  <a:srgbClr val="1F1F1F"/>
                </a:solidFill>
                <a:effectLst/>
                <a:latin typeface="Google Sans"/>
                <a:ea typeface="Times New Roman" panose="02020603050405020304" pitchFamily="18" charset="0"/>
                <a:cs typeface="B Nazanin" panose="00000400000000000000" pitchFamily="2" charset="-78"/>
              </a:rPr>
              <a:t> فقط در صورتی می تواند وارد بخش بحرانی خود شود که </a:t>
            </a:r>
            <a:r>
              <a:rPr lang="en-US" sz="2000" dirty="0">
                <a:solidFill>
                  <a:srgbClr val="1F1F1F"/>
                </a:solidFill>
                <a:effectLst/>
                <a:latin typeface="Google Sans"/>
                <a:ea typeface="Times New Roman" panose="02020603050405020304" pitchFamily="18" charset="0"/>
                <a:cs typeface="B Nazanin" panose="00000400000000000000" pitchFamily="2" charset="-78"/>
              </a:rPr>
              <a:t>waiting[</a:t>
            </a:r>
            <a:r>
              <a:rPr lang="en-US" sz="2000" dirty="0" err="1">
                <a:solidFill>
                  <a:srgbClr val="1F1F1F"/>
                </a:solidFill>
                <a:effectLst/>
                <a:latin typeface="Google Sans"/>
                <a:ea typeface="Times New Roman" panose="02020603050405020304" pitchFamily="18" charset="0"/>
                <a:cs typeface="B Nazanin" panose="00000400000000000000" pitchFamily="2" charset="-78"/>
              </a:rPr>
              <a:t>i</a:t>
            </a:r>
            <a:r>
              <a:rPr lang="en-US" sz="2000" dirty="0">
                <a:solidFill>
                  <a:srgbClr val="1F1F1F"/>
                </a:solidFill>
                <a:effectLst/>
                <a:latin typeface="Google Sans"/>
                <a:ea typeface="Times New Roman" panose="02020603050405020304" pitchFamily="18" charset="0"/>
                <a:cs typeface="B Nazanin" panose="00000400000000000000" pitchFamily="2" charset="-78"/>
              </a:rPr>
              <a:t>] == false</a:t>
            </a:r>
            <a:r>
              <a:rPr lang="ar-SA" sz="2000" dirty="0">
                <a:solidFill>
                  <a:srgbClr val="1F1F1F"/>
                </a:solidFill>
                <a:effectLst/>
                <a:latin typeface="Google Sans"/>
                <a:ea typeface="Times New Roman" panose="02020603050405020304" pitchFamily="18" charset="0"/>
                <a:cs typeface="B Nazanin" panose="00000400000000000000" pitchFamily="2" charset="-78"/>
              </a:rPr>
              <a:t> یا </a:t>
            </a:r>
            <a:r>
              <a:rPr lang="en-US" sz="2000" dirty="0">
                <a:solidFill>
                  <a:srgbClr val="1F1F1F"/>
                </a:solidFill>
                <a:effectLst/>
                <a:latin typeface="Google Sans"/>
                <a:ea typeface="Times New Roman" panose="02020603050405020304" pitchFamily="18" charset="0"/>
                <a:cs typeface="B Nazanin" panose="00000400000000000000" pitchFamily="2" charset="-78"/>
              </a:rPr>
              <a:t>key == 0</a:t>
            </a:r>
            <a:r>
              <a:rPr lang="ar-SA" sz="2000" dirty="0">
                <a:solidFill>
                  <a:srgbClr val="1F1F1F"/>
                </a:solidFill>
                <a:effectLst/>
                <a:latin typeface="Google Sans"/>
                <a:ea typeface="Times New Roman" panose="02020603050405020304" pitchFamily="18" charset="0"/>
                <a:cs typeface="B Nazanin" panose="00000400000000000000" pitchFamily="2" charset="-78"/>
              </a:rPr>
              <a:t> باشد. </a:t>
            </a:r>
            <a:endParaRPr lang="fa-IR" sz="2000" dirty="0">
              <a:solidFill>
                <a:srgbClr val="1F1F1F"/>
              </a:solidFill>
              <a:effectLst/>
              <a:latin typeface="Google Sans"/>
              <a:ea typeface="Times New Roman" panose="02020603050405020304" pitchFamily="18" charset="0"/>
              <a:cs typeface="B Nazanin" panose="00000400000000000000" pitchFamily="2" charset="-78"/>
            </a:endParaRPr>
          </a:p>
          <a:p>
            <a:pPr marL="400050" lvl="1" algn="r" rtl="1">
              <a:spcBef>
                <a:spcPts val="0"/>
              </a:spcBef>
              <a:spcAft>
                <a:spcPts val="1500"/>
              </a:spcAft>
            </a:pPr>
            <a:r>
              <a:rPr lang="ar-SA" sz="2000" dirty="0">
                <a:solidFill>
                  <a:srgbClr val="1F1F1F"/>
                </a:solidFill>
                <a:effectLst/>
                <a:latin typeface="Google Sans"/>
                <a:ea typeface="Times New Roman" panose="02020603050405020304" pitchFamily="18" charset="0"/>
                <a:cs typeface="B Nazanin" panose="00000400000000000000" pitchFamily="2" charset="-78"/>
              </a:rPr>
              <a:t>مقدار </a:t>
            </a:r>
            <a:r>
              <a:rPr lang="en-US" sz="2000" dirty="0">
                <a:solidFill>
                  <a:srgbClr val="1F1F1F"/>
                </a:solidFill>
                <a:effectLst/>
                <a:latin typeface="Google Sans"/>
                <a:ea typeface="Times New Roman" panose="02020603050405020304" pitchFamily="18" charset="0"/>
                <a:cs typeface="B Nazanin" panose="00000400000000000000" pitchFamily="2" charset="-78"/>
              </a:rPr>
              <a:t>key</a:t>
            </a:r>
            <a:r>
              <a:rPr lang="ar-SA" sz="2000" dirty="0">
                <a:solidFill>
                  <a:srgbClr val="1F1F1F"/>
                </a:solidFill>
                <a:effectLst/>
                <a:latin typeface="Google Sans"/>
                <a:ea typeface="Times New Roman" panose="02020603050405020304" pitchFamily="18" charset="0"/>
                <a:cs typeface="B Nazanin" panose="00000400000000000000" pitchFamily="2" charset="-78"/>
              </a:rPr>
              <a:t> تنها زمانی می تواند به 0 برسد که دستور «مقایسه و تعویض» (</a:t>
            </a:r>
            <a:r>
              <a:rPr lang="en-US" sz="2000" dirty="0">
                <a:solidFill>
                  <a:srgbClr val="1F1F1F"/>
                </a:solidFill>
                <a:effectLst/>
                <a:latin typeface="Google Sans"/>
                <a:ea typeface="Times New Roman" panose="02020603050405020304" pitchFamily="18" charset="0"/>
                <a:cs typeface="B Nazanin" panose="00000400000000000000" pitchFamily="2" charset="-78"/>
              </a:rPr>
              <a:t>CAS</a:t>
            </a:r>
            <a:r>
              <a:rPr lang="ar-SA" sz="2000" dirty="0">
                <a:solidFill>
                  <a:srgbClr val="1F1F1F"/>
                </a:solidFill>
                <a:effectLst/>
                <a:latin typeface="Google Sans"/>
                <a:ea typeface="Times New Roman" panose="02020603050405020304" pitchFamily="18" charset="0"/>
                <a:cs typeface="B Nazanin" panose="00000400000000000000" pitchFamily="2" charset="-78"/>
              </a:rPr>
              <a:t>) اجرا شود. اولین فرآیندی که دستور «مقایسه و تعویض» را اجرا می کند، </a:t>
            </a:r>
            <a:r>
              <a:rPr lang="en-US" sz="2000" dirty="0">
                <a:solidFill>
                  <a:srgbClr val="1F1F1F"/>
                </a:solidFill>
                <a:effectLst/>
                <a:latin typeface="Google Sans"/>
                <a:ea typeface="Times New Roman" panose="02020603050405020304" pitchFamily="18" charset="0"/>
                <a:cs typeface="B Nazanin" panose="00000400000000000000" pitchFamily="2" charset="-78"/>
              </a:rPr>
              <a:t>key == 0</a:t>
            </a:r>
            <a:r>
              <a:rPr lang="ar-SA" sz="2000" dirty="0">
                <a:solidFill>
                  <a:srgbClr val="1F1F1F"/>
                </a:solidFill>
                <a:effectLst/>
                <a:latin typeface="Google Sans"/>
                <a:ea typeface="Times New Roman" panose="02020603050405020304" pitchFamily="18" charset="0"/>
                <a:cs typeface="B Nazanin" panose="00000400000000000000" pitchFamily="2" charset="-78"/>
              </a:rPr>
              <a:t> را پیدا خواهد کرد. همه فرآیندهای دیگر باید منتظر بمانند.</a:t>
            </a:r>
            <a:r>
              <a:rPr lang="fa-IR" sz="2000" dirty="0">
                <a:solidFill>
                  <a:srgbClr val="1F1F1F"/>
                </a:solidFill>
                <a:latin typeface="Google Sans"/>
                <a:ea typeface="Times New Roman" panose="02020603050405020304" pitchFamily="18" charset="0"/>
                <a:cs typeface="B Nazanin" panose="00000400000000000000" pitchFamily="2" charset="-78"/>
              </a:rPr>
              <a:t> </a:t>
            </a:r>
            <a:r>
              <a:rPr lang="ar-SA" sz="2000" dirty="0">
                <a:solidFill>
                  <a:srgbClr val="1F1F1F"/>
                </a:solidFill>
                <a:effectLst/>
                <a:latin typeface="Google Sans"/>
                <a:ea typeface="Times New Roman" panose="02020603050405020304" pitchFamily="18" charset="0"/>
                <a:cs typeface="B Nazanin" panose="00000400000000000000" pitchFamily="2" charset="-78"/>
              </a:rPr>
              <a:t>متغیر </a:t>
            </a:r>
            <a:r>
              <a:rPr lang="en-US" sz="2000" dirty="0">
                <a:solidFill>
                  <a:srgbClr val="1F1F1F"/>
                </a:solidFill>
                <a:effectLst/>
                <a:latin typeface="Google Sans"/>
                <a:ea typeface="Times New Roman" panose="02020603050405020304" pitchFamily="18" charset="0"/>
                <a:cs typeface="B Nazanin" panose="00000400000000000000" pitchFamily="2" charset="-78"/>
              </a:rPr>
              <a:t>waiting[</a:t>
            </a:r>
            <a:r>
              <a:rPr lang="en-US" sz="2000" dirty="0" err="1">
                <a:solidFill>
                  <a:srgbClr val="1F1F1F"/>
                </a:solidFill>
                <a:effectLst/>
                <a:latin typeface="Google Sans"/>
                <a:ea typeface="Times New Roman" panose="02020603050405020304" pitchFamily="18" charset="0"/>
                <a:cs typeface="B Nazanin" panose="00000400000000000000" pitchFamily="2" charset="-78"/>
              </a:rPr>
              <a:t>i</a:t>
            </a:r>
            <a:r>
              <a:rPr lang="en-US" sz="2000" dirty="0">
                <a:solidFill>
                  <a:srgbClr val="1F1F1F"/>
                </a:solidFill>
                <a:effectLst/>
                <a:latin typeface="Google Sans"/>
                <a:ea typeface="Times New Roman" panose="02020603050405020304" pitchFamily="18" charset="0"/>
                <a:cs typeface="B Nazanin" panose="00000400000000000000" pitchFamily="2" charset="-78"/>
              </a:rPr>
              <a:t>]</a:t>
            </a:r>
            <a:r>
              <a:rPr lang="ar-SA" sz="2000" dirty="0">
                <a:solidFill>
                  <a:srgbClr val="1F1F1F"/>
                </a:solidFill>
                <a:effectLst/>
                <a:latin typeface="Google Sans"/>
                <a:ea typeface="Times New Roman" panose="02020603050405020304" pitchFamily="18" charset="0"/>
                <a:cs typeface="B Nazanin" panose="00000400000000000000" pitchFamily="2" charset="-78"/>
              </a:rPr>
              <a:t> تنها زمانی می تواند به </a:t>
            </a:r>
            <a:r>
              <a:rPr lang="en-US" sz="2000" dirty="0">
                <a:solidFill>
                  <a:srgbClr val="1F1F1F"/>
                </a:solidFill>
                <a:effectLst/>
                <a:latin typeface="Google Sans"/>
                <a:ea typeface="Times New Roman" panose="02020603050405020304" pitchFamily="18" charset="0"/>
                <a:cs typeface="B Nazanin" panose="00000400000000000000" pitchFamily="2" charset="-78"/>
              </a:rPr>
              <a:t>false</a:t>
            </a:r>
            <a:r>
              <a:rPr lang="ar-SA" sz="2000" dirty="0">
                <a:solidFill>
                  <a:srgbClr val="1F1F1F"/>
                </a:solidFill>
                <a:effectLst/>
                <a:latin typeface="Google Sans"/>
                <a:ea typeface="Times New Roman" panose="02020603050405020304" pitchFamily="18" charset="0"/>
                <a:cs typeface="B Nazanin" panose="00000400000000000000" pitchFamily="2" charset="-78"/>
              </a:rPr>
              <a:t> تبدیل شود که فرآیند دیگری بخش بحرانی خود را ترک کند. </a:t>
            </a:r>
            <a:endParaRPr lang="fa-IR" sz="2000" dirty="0">
              <a:solidFill>
                <a:srgbClr val="1F1F1F"/>
              </a:solidFill>
              <a:effectLst/>
              <a:latin typeface="Google Sans"/>
              <a:ea typeface="Times New Roman" panose="02020603050405020304" pitchFamily="18" charset="0"/>
              <a:cs typeface="B Nazanin" panose="00000400000000000000" pitchFamily="2" charset="-78"/>
            </a:endParaRPr>
          </a:p>
          <a:p>
            <a:pPr marL="400050" lvl="1" algn="r" rtl="1">
              <a:spcBef>
                <a:spcPts val="0"/>
              </a:spcBef>
              <a:spcAft>
                <a:spcPts val="1500"/>
              </a:spcAft>
            </a:pPr>
            <a:r>
              <a:rPr lang="ar-SA" sz="2000" dirty="0">
                <a:solidFill>
                  <a:srgbClr val="1F1F1F"/>
                </a:solidFill>
                <a:effectLst/>
                <a:latin typeface="Google Sans"/>
                <a:ea typeface="Times New Roman" panose="02020603050405020304" pitchFamily="18" charset="0"/>
                <a:cs typeface="B Nazanin" panose="00000400000000000000" pitchFamily="2" charset="-78"/>
              </a:rPr>
              <a:t>برای اثبات اینکه </a:t>
            </a:r>
            <a:r>
              <a:rPr lang="ar-SA" sz="2000" b="1" dirty="0">
                <a:solidFill>
                  <a:srgbClr val="1F1F1F"/>
                </a:solidFill>
                <a:effectLst/>
                <a:latin typeface="Google Sans"/>
                <a:ea typeface="Times New Roman" panose="02020603050405020304" pitchFamily="18" charset="0"/>
                <a:cs typeface="B Nazanin" panose="00000400000000000000" pitchFamily="2" charset="-78"/>
              </a:rPr>
              <a:t>الزام پیشرفت </a:t>
            </a:r>
            <a:r>
              <a:rPr lang="ar-SA" sz="2000" dirty="0">
                <a:solidFill>
                  <a:srgbClr val="1F1F1F"/>
                </a:solidFill>
                <a:effectLst/>
                <a:latin typeface="Google Sans"/>
                <a:ea typeface="Times New Roman" panose="02020603050405020304" pitchFamily="18" charset="0"/>
                <a:cs typeface="B Nazanin" panose="00000400000000000000" pitchFamily="2" charset="-78"/>
              </a:rPr>
              <a:t>برآورده شده است، فرآیندی که بخش بحرانی را ترک می کند، </a:t>
            </a:r>
            <a:r>
              <a:rPr lang="en-US" sz="2000" dirty="0">
                <a:solidFill>
                  <a:srgbClr val="1F1F1F"/>
                </a:solidFill>
                <a:effectLst/>
                <a:latin typeface="Google Sans"/>
                <a:ea typeface="Times New Roman" panose="02020603050405020304" pitchFamily="18" charset="0"/>
                <a:cs typeface="B Nazanin" panose="00000400000000000000" pitchFamily="2" charset="-78"/>
              </a:rPr>
              <a:t>lock</a:t>
            </a:r>
            <a:r>
              <a:rPr lang="ar-SA" sz="2000" dirty="0">
                <a:solidFill>
                  <a:srgbClr val="1F1F1F"/>
                </a:solidFill>
                <a:effectLst/>
                <a:latin typeface="Google Sans"/>
                <a:ea typeface="Times New Roman" panose="02020603050405020304" pitchFamily="18" charset="0"/>
                <a:cs typeface="B Nazanin" panose="00000400000000000000" pitchFamily="2" charset="-78"/>
              </a:rPr>
              <a:t> را روی 0 تنظیم می کند یا </a:t>
            </a:r>
            <a:r>
              <a:rPr lang="en-US" sz="2000" dirty="0">
                <a:solidFill>
                  <a:srgbClr val="1F1F1F"/>
                </a:solidFill>
                <a:effectLst/>
                <a:latin typeface="Google Sans"/>
                <a:ea typeface="Times New Roman" panose="02020603050405020304" pitchFamily="18" charset="0"/>
                <a:cs typeface="B Nazanin" panose="00000400000000000000" pitchFamily="2" charset="-78"/>
              </a:rPr>
              <a:t>waiting[j]</a:t>
            </a:r>
            <a:r>
              <a:rPr lang="ar-SA" sz="2000" dirty="0">
                <a:solidFill>
                  <a:srgbClr val="1F1F1F"/>
                </a:solidFill>
                <a:effectLst/>
                <a:latin typeface="Google Sans"/>
                <a:ea typeface="Times New Roman" panose="02020603050405020304" pitchFamily="18" charset="0"/>
                <a:cs typeface="B Nazanin" panose="00000400000000000000" pitchFamily="2" charset="-78"/>
              </a:rPr>
              <a:t> را روی </a:t>
            </a:r>
            <a:r>
              <a:rPr lang="en-US" sz="2000" dirty="0">
                <a:solidFill>
                  <a:srgbClr val="1F1F1F"/>
                </a:solidFill>
                <a:effectLst/>
                <a:latin typeface="Google Sans"/>
                <a:ea typeface="Times New Roman" panose="02020603050405020304" pitchFamily="18" charset="0"/>
                <a:cs typeface="B Nazanin" panose="00000400000000000000" pitchFamily="2" charset="-78"/>
              </a:rPr>
              <a:t>false</a:t>
            </a:r>
            <a:r>
              <a:rPr lang="ar-SA" sz="2000" dirty="0">
                <a:solidFill>
                  <a:srgbClr val="1F1F1F"/>
                </a:solidFill>
                <a:effectLst/>
                <a:latin typeface="Google Sans"/>
                <a:ea typeface="Times New Roman" panose="02020603050405020304" pitchFamily="18" charset="0"/>
                <a:cs typeface="B Nazanin" panose="00000400000000000000" pitchFamily="2" charset="-78"/>
              </a:rPr>
              <a:t> قرار می دهد. هر دو مورد به فرآیندی که در انتظار ورود به بخش بحرانی خود است، اجازه ادامه می دهند.</a:t>
            </a:r>
            <a:endParaRPr lang="en-US" sz="2000" dirty="0">
              <a:effectLst/>
              <a:latin typeface="Times New Roman" panose="02020603050405020304" pitchFamily="18" charset="0"/>
              <a:ea typeface="Times New Roman" panose="02020603050405020304" pitchFamily="18" charset="0"/>
              <a:cs typeface="B Nazanin" panose="00000400000000000000" pitchFamily="2" charset="-78"/>
            </a:endParaRPr>
          </a:p>
          <a:p>
            <a:pPr marL="0" marR="0" algn="r" rtl="1">
              <a:spcBef>
                <a:spcPts val="1500"/>
              </a:spcBef>
              <a:spcAft>
                <a:spcPts val="1500"/>
              </a:spcAft>
            </a:pPr>
            <a:r>
              <a:rPr lang="ar-SA" sz="2000" dirty="0">
                <a:solidFill>
                  <a:srgbClr val="1F1F1F"/>
                </a:solidFill>
                <a:effectLst/>
                <a:latin typeface="Google Sans"/>
                <a:ea typeface="Times New Roman" panose="02020603050405020304" pitchFamily="18" charset="0"/>
                <a:cs typeface="B Nazanin" panose="00000400000000000000" pitchFamily="2" charset="-78"/>
              </a:rPr>
              <a:t>برای اثبات اینکه </a:t>
            </a:r>
            <a:r>
              <a:rPr lang="ar-SA" sz="2000" b="1" dirty="0">
                <a:solidFill>
                  <a:srgbClr val="1F1F1F"/>
                </a:solidFill>
                <a:effectLst/>
                <a:latin typeface="Google Sans"/>
                <a:ea typeface="Times New Roman" panose="02020603050405020304" pitchFamily="18" charset="0"/>
                <a:cs typeface="B Nazanin" panose="00000400000000000000" pitchFamily="2" charset="-78"/>
              </a:rPr>
              <a:t>الزام انتظار محدود </a:t>
            </a:r>
            <a:r>
              <a:rPr lang="ar-SA" sz="2000" dirty="0">
                <a:solidFill>
                  <a:srgbClr val="1F1F1F"/>
                </a:solidFill>
                <a:effectLst/>
                <a:latin typeface="Google Sans"/>
                <a:ea typeface="Times New Roman" panose="02020603050405020304" pitchFamily="18" charset="0"/>
                <a:cs typeface="B Nazanin" panose="00000400000000000000" pitchFamily="2" charset="-78"/>
              </a:rPr>
              <a:t>برآورده شده است، توجه می کنیم که وقتی یک فرآیند بخش بحرانی خود را ترک می کند، آرایه </a:t>
            </a:r>
            <a:r>
              <a:rPr lang="en-US" sz="2000" dirty="0">
                <a:solidFill>
                  <a:srgbClr val="1F1F1F"/>
                </a:solidFill>
                <a:effectLst/>
                <a:latin typeface="Google Sans"/>
                <a:ea typeface="Times New Roman" panose="02020603050405020304" pitchFamily="18" charset="0"/>
                <a:cs typeface="B Nazanin" panose="00000400000000000000" pitchFamily="2" charset="-78"/>
              </a:rPr>
              <a:t>waiting</a:t>
            </a:r>
            <a:r>
              <a:rPr lang="ar-SA" sz="2000" dirty="0">
                <a:solidFill>
                  <a:srgbClr val="1F1F1F"/>
                </a:solidFill>
                <a:effectLst/>
                <a:latin typeface="Google Sans"/>
                <a:ea typeface="Times New Roman" panose="02020603050405020304" pitchFamily="18" charset="0"/>
                <a:cs typeface="B Nazanin" panose="00000400000000000000" pitchFamily="2" charset="-78"/>
              </a:rPr>
              <a:t> را در ترتیب چرخشی </a:t>
            </a:r>
            <a:r>
              <a:rPr lang="en-US" sz="2000" dirty="0"/>
              <a:t>(</a:t>
            </a:r>
            <a:r>
              <a:rPr lang="en-US" sz="2000" dirty="0" err="1"/>
              <a:t>i</a:t>
            </a:r>
            <a:r>
              <a:rPr lang="en-US" sz="2000" dirty="0"/>
              <a:t> + 1, </a:t>
            </a:r>
            <a:r>
              <a:rPr lang="en-US" sz="2000" dirty="0" err="1"/>
              <a:t>i</a:t>
            </a:r>
            <a:r>
              <a:rPr lang="en-US" sz="2000" dirty="0"/>
              <a:t> + 2, ..., n − 1, 0, ..., </a:t>
            </a:r>
            <a:r>
              <a:rPr lang="en-US" sz="2000" dirty="0" err="1"/>
              <a:t>i</a:t>
            </a:r>
            <a:r>
              <a:rPr lang="en-US" sz="2000" dirty="0"/>
              <a:t> − 1)</a:t>
            </a:r>
            <a:r>
              <a:rPr lang="ar-SA" sz="2000" dirty="0">
                <a:solidFill>
                  <a:srgbClr val="1F1F1F"/>
                </a:solidFill>
                <a:effectLst/>
                <a:latin typeface="Google Sans"/>
                <a:ea typeface="Times New Roman" panose="02020603050405020304" pitchFamily="18" charset="0"/>
                <a:cs typeface="B Nazanin" panose="00000400000000000000" pitchFamily="2" charset="-78"/>
              </a:rPr>
              <a:t>اسکن می کند.</a:t>
            </a:r>
            <a:r>
              <a:rPr lang="fa-IR" sz="2000" dirty="0">
                <a:solidFill>
                  <a:srgbClr val="1F1F1F"/>
                </a:solidFill>
                <a:effectLst/>
                <a:latin typeface="Google Sans"/>
                <a:ea typeface="Times New Roman" panose="02020603050405020304" pitchFamily="18" charset="0"/>
                <a:cs typeface="B Nazanin" panose="00000400000000000000" pitchFamily="2" charset="-78"/>
              </a:rPr>
              <a:t> </a:t>
            </a:r>
            <a:r>
              <a:rPr lang="ar-SA" sz="2000" dirty="0">
                <a:solidFill>
                  <a:srgbClr val="1F1F1F"/>
                </a:solidFill>
                <a:effectLst/>
                <a:latin typeface="Google Sans"/>
                <a:ea typeface="Times New Roman" panose="02020603050405020304" pitchFamily="18" charset="0"/>
                <a:cs typeface="B Nazanin" panose="00000400000000000000" pitchFamily="2" charset="-78"/>
              </a:rPr>
              <a:t> اولین فرآیندی را در این ترتیب که در بخش ورودی قرار دارد (</a:t>
            </a:r>
            <a:r>
              <a:rPr lang="en-US" sz="2000" dirty="0">
                <a:solidFill>
                  <a:srgbClr val="1F1F1F"/>
                </a:solidFill>
                <a:effectLst/>
                <a:latin typeface="Google Sans"/>
                <a:ea typeface="Times New Roman" panose="02020603050405020304" pitchFamily="18" charset="0"/>
                <a:cs typeface="B Nazanin" panose="00000400000000000000" pitchFamily="2" charset="-78"/>
              </a:rPr>
              <a:t>waiting[j] == true</a:t>
            </a:r>
            <a:r>
              <a:rPr lang="ar-SA" sz="2000" dirty="0">
                <a:solidFill>
                  <a:srgbClr val="1F1F1F"/>
                </a:solidFill>
                <a:effectLst/>
                <a:latin typeface="Google Sans"/>
                <a:ea typeface="Times New Roman" panose="02020603050405020304" pitchFamily="18" charset="0"/>
                <a:cs typeface="B Nazanin" panose="00000400000000000000" pitchFamily="2" charset="-78"/>
              </a:rPr>
              <a:t>) به عنوان فرآیند بعدی برای ورود به بخش بحرانی تعیین می کند. بنابراین، هر فرآیندی که در انتظار ورود به بخش بحرانی خود باشد، ظرف </a:t>
            </a:r>
            <a:r>
              <a:rPr lang="en-US" sz="2000" dirty="0">
                <a:solidFill>
                  <a:srgbClr val="1F1F1F"/>
                </a:solidFill>
                <a:effectLst/>
                <a:latin typeface="Google Sans"/>
                <a:ea typeface="Times New Roman" panose="02020603050405020304" pitchFamily="18" charset="0"/>
                <a:cs typeface="B Nazanin" panose="00000400000000000000" pitchFamily="2" charset="-78"/>
              </a:rPr>
              <a:t>n - 1</a:t>
            </a:r>
            <a:r>
              <a:rPr lang="ar-SA" sz="2000" dirty="0">
                <a:solidFill>
                  <a:srgbClr val="1F1F1F"/>
                </a:solidFill>
                <a:effectLst/>
                <a:latin typeface="Google Sans"/>
                <a:ea typeface="Times New Roman" panose="02020603050405020304" pitchFamily="18" charset="0"/>
                <a:cs typeface="B Nazanin" panose="00000400000000000000" pitchFamily="2" charset="-78"/>
              </a:rPr>
              <a:t> دور این کار را انجام خواهد داد.</a:t>
            </a:r>
            <a:endParaRPr lang="en-US" sz="2000" dirty="0">
              <a:effectLst/>
              <a:latin typeface="Times New Roman" panose="02020603050405020304" pitchFamily="18" charset="0"/>
              <a:ea typeface="Times New Roman" panose="02020603050405020304" pitchFamily="18" charset="0"/>
              <a:cs typeface="B Nazanin" panose="00000400000000000000" pitchFamily="2" charset="-78"/>
            </a:endParaRPr>
          </a:p>
          <a:p>
            <a:pPr marL="0" marR="0" indent="0" algn="r" rtl="1">
              <a:spcBef>
                <a:spcPts val="0"/>
              </a:spcBef>
              <a:spcAft>
                <a:spcPts val="800"/>
              </a:spcAft>
              <a:buNone/>
            </a:pP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algn="r" rtl="1"/>
            <a:endParaRPr lang="en-US" sz="2000" dirty="0">
              <a:cs typeface="B Nazanin" panose="00000400000000000000" pitchFamily="2" charset="-78"/>
            </a:endParaRPr>
          </a:p>
        </p:txBody>
      </p:sp>
    </p:spTree>
    <p:extLst>
      <p:ext uri="{BB962C8B-B14F-4D97-AF65-F5344CB8AC3E}">
        <p14:creationId xmlns:p14="http://schemas.microsoft.com/office/powerpoint/2010/main" val="40927981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6862FF09-8BD5-44E3-9743-A9C942C521BE}"/>
              </a:ext>
            </a:extLst>
          </p:cNvPr>
          <p:cNvSpPr>
            <a:spLocks noGrp="1"/>
          </p:cNvSpPr>
          <p:nvPr>
            <p:ph type="title"/>
          </p:nvPr>
        </p:nvSpPr>
        <p:spPr>
          <a:xfrm>
            <a:off x="457200" y="224522"/>
            <a:ext cx="8229600" cy="576262"/>
          </a:xfrm>
        </p:spPr>
        <p:txBody>
          <a:bodyPr/>
          <a:lstStyle/>
          <a:p>
            <a:r>
              <a:rPr lang="fa-IR" altLang="en-US" dirty="0">
                <a:cs typeface="B Titr" panose="00000700000000000000" pitchFamily="2" charset="-78"/>
              </a:rPr>
              <a:t>متغیر‌های اتمی</a:t>
            </a:r>
            <a:endParaRPr lang="en-US" altLang="en-US" dirty="0">
              <a:cs typeface="B Titr" panose="00000700000000000000" pitchFamily="2" charset="-78"/>
            </a:endParaRPr>
          </a:p>
        </p:txBody>
      </p:sp>
      <p:sp>
        <p:nvSpPr>
          <p:cNvPr id="98306" name="Content Placeholder 2">
            <a:extLst>
              <a:ext uri="{FF2B5EF4-FFF2-40B4-BE49-F238E27FC236}">
                <a16:creationId xmlns:a16="http://schemas.microsoft.com/office/drawing/2014/main" id="{9375CC9B-92B8-4895-9A58-CAE891E48CB4}"/>
              </a:ext>
            </a:extLst>
          </p:cNvPr>
          <p:cNvSpPr>
            <a:spLocks noGrp="1"/>
          </p:cNvSpPr>
          <p:nvPr>
            <p:ph idx="1"/>
          </p:nvPr>
        </p:nvSpPr>
        <p:spPr>
          <a:xfrm>
            <a:off x="110836" y="863879"/>
            <a:ext cx="8783782" cy="5130242"/>
          </a:xfrm>
        </p:spPr>
        <p:txBody>
          <a:bodyPr/>
          <a:lstStyle/>
          <a:p>
            <a:pPr marL="0" marR="0" algn="r" rtl="1">
              <a:lnSpc>
                <a:spcPct val="107000"/>
              </a:lnSpc>
              <a:spcBef>
                <a:spcPts val="0"/>
              </a:spcBef>
              <a:spcAft>
                <a:spcPts val="800"/>
              </a:spcAft>
            </a:pPr>
            <a:r>
              <a:rPr lang="ar-SA" sz="2400" dirty="0">
                <a:latin typeface="Times New Roman" panose="02020603050405020304" pitchFamily="18" charset="0"/>
                <a:cs typeface="B Nazanin" panose="00000400000000000000" pitchFamily="2" charset="-78"/>
              </a:rPr>
              <a:t>افزایش یا کاهش مقدار یک عدد صحیح ممکن است شرایط مسابقه</a:t>
            </a:r>
            <a:r>
              <a:rPr lang="en-US" sz="2400" dirty="0">
                <a:latin typeface="Times New Roman" panose="02020603050405020304" pitchFamily="18" charset="0"/>
                <a:cs typeface="B Nazanin" panose="00000400000000000000" pitchFamily="2" charset="-78"/>
              </a:rPr>
              <a:t> (race condition) </a:t>
            </a:r>
            <a:r>
              <a:rPr lang="ar-SA" sz="2400" dirty="0">
                <a:latin typeface="Times New Roman" panose="02020603050405020304" pitchFamily="18" charset="0"/>
                <a:cs typeface="B Nazanin" panose="00000400000000000000" pitchFamily="2" charset="-78"/>
              </a:rPr>
              <a:t>ایجاد کند</a:t>
            </a:r>
            <a:endParaRPr lang="en-US" sz="2400" dirty="0">
              <a:latin typeface="Times New Roman" panose="02020603050405020304" pitchFamily="18" charset="0"/>
              <a:cs typeface="B Nazanin" panose="00000400000000000000" pitchFamily="2" charset="-78"/>
            </a:endParaRPr>
          </a:p>
          <a:p>
            <a:pPr marL="0" marR="0" algn="r" rtl="1">
              <a:lnSpc>
                <a:spcPct val="107000"/>
              </a:lnSpc>
              <a:spcBef>
                <a:spcPts val="0"/>
              </a:spcBef>
              <a:spcAft>
                <a:spcPts val="800"/>
              </a:spcAft>
            </a:pPr>
            <a:r>
              <a:rPr lang="ar-SA" sz="2400" dirty="0">
                <a:latin typeface="Times New Roman" panose="02020603050405020304" pitchFamily="18" charset="0"/>
                <a:cs typeface="B Nazanin" panose="00000400000000000000" pitchFamily="2" charset="-78"/>
              </a:rPr>
              <a:t>متغیرهای اتمی</a:t>
            </a:r>
            <a:r>
              <a:rPr lang="en-US" sz="2400" dirty="0">
                <a:latin typeface="Times New Roman" panose="02020603050405020304" pitchFamily="18" charset="0"/>
                <a:cs typeface="B Nazanin" panose="00000400000000000000" pitchFamily="2" charset="-78"/>
              </a:rPr>
              <a:t> (atomic variables) </a:t>
            </a:r>
            <a:r>
              <a:rPr lang="ar-SA" sz="2400" dirty="0">
                <a:latin typeface="Times New Roman" panose="02020603050405020304" pitchFamily="18" charset="0"/>
                <a:cs typeface="B Nazanin" panose="00000400000000000000" pitchFamily="2" charset="-78"/>
              </a:rPr>
              <a:t>را می توان برای تضمین خروج متقابل</a:t>
            </a:r>
            <a:r>
              <a:rPr lang="en-US" sz="2400" dirty="0">
                <a:latin typeface="Times New Roman" panose="02020603050405020304" pitchFamily="18" charset="0"/>
                <a:cs typeface="B Nazanin" panose="00000400000000000000" pitchFamily="2" charset="-78"/>
              </a:rPr>
              <a:t> (mutual exclusion) </a:t>
            </a:r>
            <a:r>
              <a:rPr lang="ar-SA" sz="2400" dirty="0">
                <a:latin typeface="Times New Roman" panose="02020603050405020304" pitchFamily="18" charset="0"/>
                <a:cs typeface="B Nazanin" panose="00000400000000000000" pitchFamily="2" charset="-78"/>
              </a:rPr>
              <a:t>در موقعیت هایی که ممکن است رقابت داده ای</a:t>
            </a:r>
            <a:r>
              <a:rPr lang="en-US" sz="2400" dirty="0">
                <a:latin typeface="Times New Roman" panose="02020603050405020304" pitchFamily="18" charset="0"/>
                <a:cs typeface="B Nazanin" panose="00000400000000000000" pitchFamily="2" charset="-78"/>
              </a:rPr>
              <a:t> (data race) </a:t>
            </a:r>
            <a:r>
              <a:rPr lang="ar-SA" sz="2400" dirty="0">
                <a:latin typeface="Times New Roman" panose="02020603050405020304" pitchFamily="18" charset="0"/>
                <a:cs typeface="B Nazanin" panose="00000400000000000000" pitchFamily="2" charset="-78"/>
              </a:rPr>
              <a:t>روی یک متغیر واحد در حین به روز رسانی آن رخ دهد، مانند زمانی که یک شمارنده افزایش می یابد، استفاده کرد</a:t>
            </a:r>
            <a:r>
              <a:rPr lang="en-US" sz="2400" dirty="0">
                <a:latin typeface="Times New Roman" panose="02020603050405020304" pitchFamily="18" charset="0"/>
                <a:cs typeface="B Nazanin" panose="00000400000000000000" pitchFamily="2" charset="-78"/>
              </a:rPr>
              <a:t>.</a:t>
            </a: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یکی از این ابزارها، متغیر اتمی است که به‌روزرسانی‌های اتمی (بدون وقفه) را روی انواع داده‌های اساسی مانند اعداد صحیح و بولی فراهم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742950" lvl="1"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برای مثال</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742950" lvl="1"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فرض کنید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sequence</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یک متغیر اتمی باشد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742950" lvl="1"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فرض کنید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increment()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عملیاتی روی متغیر اتمی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sequence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باشد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742950" lvl="1"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دستور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742950" lvl="1"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تضمین می‌کند که</a:t>
            </a:r>
            <a:r>
              <a:rPr lang="en-US" sz="2400" dirty="0">
                <a:effectLst/>
                <a:latin typeface="Calibri" panose="020F0502020204030204" pitchFamily="34" charset="0"/>
                <a:ea typeface="Calibri" panose="020F0502020204030204" pitchFamily="34" charset="0"/>
                <a:cs typeface="B Nazanin" panose="00000400000000000000" pitchFamily="2" charset="-78"/>
              </a:rPr>
              <a:t> sequence </a:t>
            </a:r>
            <a:r>
              <a:rPr lang="ar-SA" sz="2400" dirty="0">
                <a:effectLst/>
                <a:latin typeface="Calibri" panose="020F0502020204030204" pitchFamily="34" charset="0"/>
                <a:ea typeface="Calibri" panose="020F0502020204030204" pitchFamily="34" charset="0"/>
                <a:cs typeface="B Nazanin" panose="00000400000000000000" pitchFamily="2" charset="-78"/>
              </a:rPr>
              <a:t>بدون وقفه افزایش می‌یابد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354459D8-788F-4E7F-8143-7108348BF4A6}"/>
              </a:ext>
            </a:extLst>
          </p:cNvPr>
          <p:cNvSpPr>
            <a:spLocks noGrp="1"/>
          </p:cNvSpPr>
          <p:nvPr>
            <p:ph type="title"/>
          </p:nvPr>
        </p:nvSpPr>
        <p:spPr>
          <a:xfrm>
            <a:off x="457200" y="224522"/>
            <a:ext cx="8229600" cy="576262"/>
          </a:xfrm>
        </p:spPr>
        <p:txBody>
          <a:bodyPr/>
          <a:lstStyle/>
          <a:p>
            <a:r>
              <a:rPr lang="fa-IR" altLang="en-US" dirty="0">
                <a:cs typeface="B Titr" panose="00000700000000000000" pitchFamily="2" charset="-78"/>
              </a:rPr>
              <a:t>متغیر‌های اتمی</a:t>
            </a:r>
            <a:endParaRPr lang="en-US" altLang="en-US" dirty="0"/>
          </a:p>
        </p:txBody>
      </p:sp>
      <p:sp>
        <p:nvSpPr>
          <p:cNvPr id="99330" name="Content Placeholder 2">
            <a:extLst>
              <a:ext uri="{FF2B5EF4-FFF2-40B4-BE49-F238E27FC236}">
                <a16:creationId xmlns:a16="http://schemas.microsoft.com/office/drawing/2014/main" id="{777D8569-7C38-48EC-AED3-7ADEDDAAD5CF}"/>
              </a:ext>
            </a:extLst>
          </p:cNvPr>
          <p:cNvSpPr>
            <a:spLocks noGrp="1"/>
          </p:cNvSpPr>
          <p:nvPr>
            <p:ph idx="1"/>
          </p:nvPr>
        </p:nvSpPr>
        <p:spPr>
          <a:xfrm>
            <a:off x="806450" y="1233488"/>
            <a:ext cx="8229600" cy="5329237"/>
          </a:xfrm>
        </p:spPr>
        <p:txBody>
          <a:bodyPr/>
          <a:lstStyle/>
          <a:p>
            <a:br>
              <a:rPr lang="en-US" altLang="en-US" dirty="0">
                <a:latin typeface="Consolas" panose="020B0609020204030204" pitchFamily="49" charset="0"/>
              </a:rPr>
            </a:br>
            <a:br>
              <a:rPr lang="en-US" altLang="en-US" dirty="0">
                <a:latin typeface="Consolas" panose="020B0609020204030204" pitchFamily="49" charset="0"/>
              </a:rPr>
            </a:br>
            <a:r>
              <a:rPr lang="en-US" altLang="en-US" kern="1200" dirty="0">
                <a:latin typeface="Consolas" panose="020B0609020204030204" pitchFamily="49" charset="0"/>
                <a:cs typeface="+mn-cs"/>
              </a:rPr>
              <a:t>void </a:t>
            </a:r>
            <a:r>
              <a:rPr lang="en-US" altLang="en-US" b="1" kern="1200" dirty="0">
                <a:latin typeface="Consolas" panose="020B0609020204030204" pitchFamily="49" charset="0"/>
                <a:cs typeface="+mn-cs"/>
              </a:rPr>
              <a:t>increment</a:t>
            </a:r>
            <a:r>
              <a:rPr lang="en-US" altLang="en-US" kern="1200" dirty="0">
                <a:latin typeface="Consolas" panose="020B0609020204030204" pitchFamily="49" charset="0"/>
                <a:cs typeface="+mn-cs"/>
              </a:rPr>
              <a:t>(</a:t>
            </a:r>
            <a:r>
              <a:rPr lang="en-US" altLang="en-US" kern="1200" dirty="0" err="1">
                <a:latin typeface="Consolas" panose="020B0609020204030204" pitchFamily="49" charset="0"/>
                <a:cs typeface="+mn-cs"/>
              </a:rPr>
              <a:t>atomic_int</a:t>
            </a:r>
            <a:r>
              <a:rPr lang="en-US" altLang="en-US" kern="1200" dirty="0">
                <a:latin typeface="Consolas" panose="020B0609020204030204" pitchFamily="49" charset="0"/>
                <a:cs typeface="+mn-cs"/>
              </a:rPr>
              <a:t> *v)</a:t>
            </a:r>
            <a:br>
              <a:rPr lang="en-US" altLang="en-US" kern="1200" dirty="0">
                <a:latin typeface="Consolas" panose="020B0609020204030204" pitchFamily="49" charset="0"/>
                <a:cs typeface="+mn-cs"/>
              </a:rPr>
            </a:br>
            <a:r>
              <a:rPr lang="en-US" altLang="en-US" kern="1200" dirty="0">
                <a:latin typeface="Consolas" panose="020B0609020204030204" pitchFamily="49" charset="0"/>
                <a:cs typeface="+mn-cs"/>
              </a:rPr>
              <a:t>{</a:t>
            </a:r>
            <a:br>
              <a:rPr lang="en-US" altLang="en-US" kern="1200" dirty="0">
                <a:latin typeface="Consolas" panose="020B0609020204030204" pitchFamily="49" charset="0"/>
                <a:cs typeface="+mn-cs"/>
              </a:rPr>
            </a:br>
            <a:r>
              <a:rPr lang="en-US" altLang="en-US" kern="1200" dirty="0">
                <a:latin typeface="Consolas" panose="020B0609020204030204" pitchFamily="49" charset="0"/>
                <a:cs typeface="+mn-cs"/>
              </a:rPr>
              <a:t>	int temp;</a:t>
            </a:r>
            <a:br>
              <a:rPr lang="en-US" altLang="en-US" kern="1200" dirty="0">
                <a:latin typeface="Consolas" panose="020B0609020204030204" pitchFamily="49" charset="0"/>
                <a:cs typeface="+mn-cs"/>
              </a:rPr>
            </a:br>
            <a:r>
              <a:rPr lang="en-US" altLang="en-US" kern="1200" dirty="0">
                <a:latin typeface="Consolas" panose="020B0609020204030204" pitchFamily="49" charset="0"/>
                <a:cs typeface="+mn-cs"/>
              </a:rPr>
              <a:t>	</a:t>
            </a:r>
            <a:r>
              <a:rPr lang="en-US" altLang="en-US" b="1" kern="1200" dirty="0">
                <a:latin typeface="Consolas" panose="020B0609020204030204" pitchFamily="49" charset="0"/>
                <a:cs typeface="+mn-cs"/>
              </a:rPr>
              <a:t>do</a:t>
            </a:r>
            <a:r>
              <a:rPr lang="en-US" altLang="en-US" kern="1200" dirty="0">
                <a:latin typeface="Consolas" panose="020B0609020204030204" pitchFamily="49" charset="0"/>
                <a:cs typeface="+mn-cs"/>
              </a:rPr>
              <a:t> {</a:t>
            </a:r>
            <a:br>
              <a:rPr lang="en-US" altLang="en-US" kern="1200" dirty="0">
                <a:latin typeface="Consolas" panose="020B0609020204030204" pitchFamily="49" charset="0"/>
                <a:cs typeface="+mn-cs"/>
              </a:rPr>
            </a:br>
            <a:r>
              <a:rPr lang="en-US" altLang="en-US" kern="1200" dirty="0">
                <a:latin typeface="Consolas" panose="020B0609020204030204" pitchFamily="49" charset="0"/>
                <a:cs typeface="+mn-cs"/>
              </a:rPr>
              <a:t>		temp = *v;</a:t>
            </a:r>
            <a:br>
              <a:rPr lang="en-US" altLang="en-US" kern="1200" dirty="0">
                <a:latin typeface="Consolas" panose="020B0609020204030204" pitchFamily="49" charset="0"/>
                <a:cs typeface="+mn-cs"/>
              </a:rPr>
            </a:br>
            <a:r>
              <a:rPr lang="en-US" altLang="en-US" kern="1200" dirty="0">
                <a:latin typeface="Consolas" panose="020B0609020204030204" pitchFamily="49" charset="0"/>
                <a:cs typeface="+mn-cs"/>
              </a:rPr>
              <a:t>	}</a:t>
            </a:r>
            <a:br>
              <a:rPr lang="en-US" altLang="en-US" kern="1200" dirty="0">
                <a:latin typeface="Consolas" panose="020B0609020204030204" pitchFamily="49" charset="0"/>
                <a:cs typeface="+mn-cs"/>
              </a:rPr>
            </a:br>
            <a:r>
              <a:rPr lang="en-US" altLang="en-US" kern="1200" dirty="0">
                <a:latin typeface="Consolas" panose="020B0609020204030204" pitchFamily="49" charset="0"/>
                <a:cs typeface="+mn-cs"/>
              </a:rPr>
              <a:t>	</a:t>
            </a:r>
            <a:r>
              <a:rPr lang="en-US" altLang="en-US" b="1" kern="1200" dirty="0">
                <a:latin typeface="Consolas" panose="020B0609020204030204" pitchFamily="49" charset="0"/>
                <a:cs typeface="+mn-cs"/>
              </a:rPr>
              <a:t>while</a:t>
            </a:r>
            <a:r>
              <a:rPr lang="en-US" altLang="en-US" kern="1200" dirty="0">
                <a:latin typeface="Consolas" panose="020B0609020204030204" pitchFamily="49" charset="0"/>
                <a:cs typeface="+mn-cs"/>
              </a:rPr>
              <a:t> (temp != (</a:t>
            </a:r>
            <a:r>
              <a:rPr lang="en-US" altLang="en-US" kern="1200" dirty="0" err="1">
                <a:latin typeface="Consolas" panose="020B0609020204030204" pitchFamily="49" charset="0"/>
                <a:cs typeface="+mn-cs"/>
              </a:rPr>
              <a:t>compare_and_swap</a:t>
            </a:r>
            <a:r>
              <a:rPr lang="en-US" altLang="en-US" kern="1200" dirty="0">
                <a:latin typeface="Consolas" panose="020B0609020204030204" pitchFamily="49" charset="0"/>
                <a:cs typeface="+mn-cs"/>
              </a:rPr>
              <a:t>(</a:t>
            </a:r>
            <a:r>
              <a:rPr lang="en-US" altLang="en-US" b="1" kern="1200" dirty="0">
                <a:solidFill>
                  <a:srgbClr val="00B0F0"/>
                </a:solidFill>
                <a:latin typeface="Consolas" panose="020B0609020204030204" pitchFamily="49" charset="0"/>
                <a:cs typeface="+mn-cs"/>
              </a:rPr>
              <a:t>v</a:t>
            </a:r>
            <a:r>
              <a:rPr lang="en-US" altLang="en-US" kern="1200" dirty="0">
                <a:latin typeface="Consolas" panose="020B0609020204030204" pitchFamily="49" charset="0"/>
                <a:cs typeface="+mn-cs"/>
              </a:rPr>
              <a:t>,temp,</a:t>
            </a:r>
            <a:r>
              <a:rPr lang="en-US" altLang="en-US" kern="1200" dirty="0">
                <a:solidFill>
                  <a:srgbClr val="00B0F0"/>
                </a:solidFill>
                <a:latin typeface="Consolas" panose="020B0609020204030204" pitchFamily="49" charset="0"/>
                <a:cs typeface="+mn-cs"/>
              </a:rPr>
              <a:t>temp+1</a:t>
            </a:r>
            <a:r>
              <a:rPr lang="en-US" altLang="en-US" kern="1200" dirty="0">
                <a:latin typeface="Consolas" panose="020B0609020204030204" pitchFamily="49" charset="0"/>
                <a:cs typeface="+mn-cs"/>
              </a:rPr>
              <a:t>));</a:t>
            </a:r>
            <a:br>
              <a:rPr lang="en-US" altLang="en-US" kern="1200" dirty="0">
                <a:latin typeface="Consolas" panose="020B0609020204030204" pitchFamily="49" charset="0"/>
                <a:cs typeface="+mn-cs"/>
              </a:rPr>
            </a:br>
            <a:r>
              <a:rPr lang="en-US" altLang="en-US" kern="1200" dirty="0">
                <a:latin typeface="Consolas" panose="020B0609020204030204" pitchFamily="49" charset="0"/>
                <a:cs typeface="+mn-cs"/>
              </a:rPr>
              <a:t>} </a:t>
            </a:r>
            <a:br>
              <a:rPr lang="en-US" altLang="en-US" b="1" dirty="0">
                <a:latin typeface="Consolas" panose="020B0609020204030204" pitchFamily="49" charset="0"/>
                <a:cs typeface="Courier New" panose="02070309020205020404" pitchFamily="49" charset="0"/>
              </a:rPr>
            </a:br>
            <a:endParaRPr lang="en-US" altLang="en-US" b="1" dirty="0">
              <a:latin typeface="Consolas" panose="020B0609020204030204" pitchFamily="49" charset="0"/>
              <a:cs typeface="Courier New" panose="02070309020205020404" pitchFamily="49" charset="0"/>
            </a:endParaRPr>
          </a:p>
          <a:p>
            <a:pPr algn="r" rtl="1"/>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این تابع با نام </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increment</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 یک عملیات افزایش اتمی</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(atomic increment)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را روی یک متغیر عدد صحیح انجام می‌دهد که به‌صورت </a:t>
            </a:r>
            <a:r>
              <a:rPr lang="en-US" sz="1800" b="1" kern="100" dirty="0" err="1">
                <a:effectLst/>
                <a:latin typeface="Segoe UI Emoji" panose="020B0502040204020203" pitchFamily="34" charset="0"/>
                <a:ea typeface="Aptos" panose="020B0004020202020204" pitchFamily="34" charset="0"/>
                <a:cs typeface="B Nazanin" panose="00000400000000000000" pitchFamily="2" charset="-78"/>
              </a:rPr>
              <a:t>atomic_int</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تعریف شده است. این روش از الگوریتم </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Compare-and-Swap (CAS)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برای اطمینان از عدم تداخل هم‌زمانی</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(race condition)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استفاده می‌کند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endParaRPr lang="en-US" altLang="en-US" dirty="0">
              <a:latin typeface="Consolas" panose="020B0609020204030204" pitchFamily="49" charset="0"/>
            </a:endParaRPr>
          </a:p>
        </p:txBody>
      </p:sp>
      <p:sp>
        <p:nvSpPr>
          <p:cNvPr id="5" name="TextBox 4">
            <a:extLst>
              <a:ext uri="{FF2B5EF4-FFF2-40B4-BE49-F238E27FC236}">
                <a16:creationId xmlns:a16="http://schemas.microsoft.com/office/drawing/2014/main" id="{C0A9C18E-4888-42E1-B0E2-56D3A0A6EF71}"/>
              </a:ext>
            </a:extLst>
          </p:cNvPr>
          <p:cNvSpPr txBox="1"/>
          <p:nvPr/>
        </p:nvSpPr>
        <p:spPr>
          <a:xfrm>
            <a:off x="3810000" y="1002655"/>
            <a:ext cx="4876800" cy="461665"/>
          </a:xfrm>
          <a:prstGeom prst="rect">
            <a:avLst/>
          </a:prstGeom>
          <a:noFill/>
        </p:spPr>
        <p:txBody>
          <a:bodyPr wrap="square">
            <a:spAutoFit/>
          </a:bodyPr>
          <a:lstStyle/>
          <a:p>
            <a:pPr algn="r" rtl="1"/>
            <a:r>
              <a:rPr lang="en-US" altLang="en-US" sz="2400" dirty="0">
                <a:latin typeface="Times New Roman" panose="02020603050405020304" pitchFamily="18" charset="0"/>
                <a:cs typeface="B Nazanin" panose="00000400000000000000" pitchFamily="2" charset="-78"/>
              </a:rPr>
              <a:t>increment() </a:t>
            </a:r>
            <a:r>
              <a:rPr lang="fa-IR" altLang="en-US" sz="2400" dirty="0">
                <a:latin typeface="Times New Roman" panose="02020603050405020304" pitchFamily="18" charset="0"/>
                <a:cs typeface="B Nazanin" panose="00000400000000000000" pitchFamily="2" charset="-78"/>
              </a:rPr>
              <a:t>پیاده سازی تابع</a:t>
            </a:r>
            <a:r>
              <a:rPr lang="en-US" altLang="en-US" sz="2400" dirty="0">
                <a:latin typeface="Times New Roman" panose="02020603050405020304" pitchFamily="18" charset="0"/>
                <a:cs typeface="B Nazanin" panose="00000400000000000000" pitchFamily="2" charset="-78"/>
              </a:rPr>
              <a:t>:</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40AA77CE-6516-425F-91F7-E1576FF916A0}"/>
              </a:ext>
            </a:extLst>
          </p:cNvPr>
          <p:cNvSpPr>
            <a:spLocks noGrp="1" noChangeArrowheads="1"/>
          </p:cNvSpPr>
          <p:nvPr>
            <p:ph type="title"/>
          </p:nvPr>
        </p:nvSpPr>
        <p:spPr>
          <a:xfrm>
            <a:off x="457200" y="144696"/>
            <a:ext cx="8229600" cy="576263"/>
          </a:xfrm>
        </p:spPr>
        <p:txBody>
          <a:bodyPr/>
          <a:lstStyle/>
          <a:p>
            <a:pPr rtl="1" eaLnBrk="1" hangingPunct="1"/>
            <a:r>
              <a:rPr lang="fa-IR" altLang="en-US" dirty="0">
                <a:cs typeface="B Titr" panose="00000700000000000000" pitchFamily="2" charset="-78"/>
              </a:rPr>
              <a:t>قفل های </a:t>
            </a:r>
            <a:r>
              <a:rPr lang="en-US" altLang="en-US" dirty="0">
                <a:cs typeface="B Titr" panose="00000700000000000000" pitchFamily="2" charset="-78"/>
              </a:rPr>
              <a:t>Mutex</a:t>
            </a:r>
            <a:r>
              <a:rPr lang="fa-IR" altLang="en-US" dirty="0">
                <a:cs typeface="B Titr" panose="00000700000000000000" pitchFamily="2" charset="-78"/>
              </a:rPr>
              <a:t> یا انحصار متقابل</a:t>
            </a:r>
            <a:endParaRPr lang="en-US" altLang="en-US" dirty="0"/>
          </a:p>
        </p:txBody>
      </p:sp>
      <p:sp>
        <p:nvSpPr>
          <p:cNvPr id="22531" name="Rectangle 3">
            <a:extLst>
              <a:ext uri="{FF2B5EF4-FFF2-40B4-BE49-F238E27FC236}">
                <a16:creationId xmlns:a16="http://schemas.microsoft.com/office/drawing/2014/main" id="{287F1076-6897-4824-ADA6-893AEF09D440}"/>
              </a:ext>
            </a:extLst>
          </p:cNvPr>
          <p:cNvSpPr>
            <a:spLocks noGrp="1" noChangeArrowheads="1"/>
          </p:cNvSpPr>
          <p:nvPr>
            <p:ph idx="1"/>
          </p:nvPr>
        </p:nvSpPr>
        <p:spPr>
          <a:xfrm>
            <a:off x="827088" y="1074016"/>
            <a:ext cx="7579158" cy="4931930"/>
          </a:xfrm>
        </p:spPr>
        <p:txBody>
          <a:bodyPr/>
          <a:lstStyle/>
          <a:p>
            <a:pPr marL="0" marR="0" algn="r" rtl="1">
              <a:lnSpc>
                <a:spcPct val="107000"/>
              </a:lnSpc>
              <a:spcBef>
                <a:spcPts val="0"/>
              </a:spcBef>
              <a:spcAft>
                <a:spcPts val="800"/>
              </a:spcAf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راه‌حل‌های قبلی پیچیده و به طور کلی برای برنامه‌نویسان کاربردی در دسترس نیستند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طراحان سیستم‌عامل ابزارهای نرم‌افزاری برای حل مشکل بخش بحرانی می‌سازند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ساده‌ترین قفل </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انحصار متقابل</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(Mutex Lock)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است</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متغیر بولی که نشان می‌دهد قفل در دسترس است یا خیر</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برای محافظت از یک بخش بحرانی با موارد زیر عمل کنید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ابتدا یک قفل را با</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acquire()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به دست آورید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سپس قفل را با</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release()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رها کنید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صدورهای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acquire()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release()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باید اتمی باشند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معمولاً از طریق دستورالعمل‌های اتمی سخت‌افزاری مانند مقایسه و تعویض پیاده‌سازی می‌شوند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اما این راه‌حل نیازمند انتظار فعال</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(busy waiting)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است</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بنابراین این قفل یک چرخش‌قفل</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(spinlock)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نامیده می‌شود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8994507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874A0C2-4038-40CE-B8F5-4EE988D17AB5}"/>
              </a:ext>
            </a:extLst>
          </p:cNvPr>
          <p:cNvSpPr/>
          <p:nvPr/>
        </p:nvSpPr>
        <p:spPr bwMode="auto">
          <a:xfrm>
            <a:off x="3178175" y="2609850"/>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6" name="Rectangle 5">
            <a:extLst>
              <a:ext uri="{FF2B5EF4-FFF2-40B4-BE49-F238E27FC236}">
                <a16:creationId xmlns:a16="http://schemas.microsoft.com/office/drawing/2014/main" id="{A3778C6D-AEC7-48EC-BE5D-470EDD9A8460}"/>
              </a:ext>
            </a:extLst>
          </p:cNvPr>
          <p:cNvSpPr/>
          <p:nvPr/>
        </p:nvSpPr>
        <p:spPr bwMode="auto">
          <a:xfrm>
            <a:off x="3178175" y="3686175"/>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charset="0"/>
            </a:endParaRPr>
          </a:p>
        </p:txBody>
      </p:sp>
      <p:sp>
        <p:nvSpPr>
          <p:cNvPr id="44035" name="Title 1">
            <a:extLst>
              <a:ext uri="{FF2B5EF4-FFF2-40B4-BE49-F238E27FC236}">
                <a16:creationId xmlns:a16="http://schemas.microsoft.com/office/drawing/2014/main" id="{830B4045-5ECB-4A4A-B601-B013451BC49A}"/>
              </a:ext>
            </a:extLst>
          </p:cNvPr>
          <p:cNvSpPr>
            <a:spLocks noGrp="1"/>
          </p:cNvSpPr>
          <p:nvPr>
            <p:ph type="title"/>
          </p:nvPr>
        </p:nvSpPr>
        <p:spPr>
          <a:xfrm>
            <a:off x="1017462" y="161266"/>
            <a:ext cx="8190038" cy="576262"/>
          </a:xfrm>
        </p:spPr>
        <p:txBody>
          <a:bodyPr/>
          <a:lstStyle/>
          <a:p>
            <a:pPr rtl="1"/>
            <a:r>
              <a:rPr lang="fa-IR" altLang="en-US" sz="2800" dirty="0">
                <a:cs typeface="B Titr" panose="00000700000000000000" pitchFamily="2" charset="-78"/>
              </a:rPr>
              <a:t>راه‌کار برای مسئله بخش بحرانی با قفل </a:t>
            </a:r>
            <a:r>
              <a:rPr lang="en-US" altLang="en-US" sz="2800" dirty="0">
                <a:cs typeface="B Titr" panose="00000700000000000000" pitchFamily="2" charset="-78"/>
              </a:rPr>
              <a:t>Mutex</a:t>
            </a:r>
            <a:endParaRPr lang="en-US" altLang="en-US" sz="2800" dirty="0"/>
          </a:p>
        </p:txBody>
      </p:sp>
      <p:sp>
        <p:nvSpPr>
          <p:cNvPr id="44036" name="Rectangle 2">
            <a:extLst>
              <a:ext uri="{FF2B5EF4-FFF2-40B4-BE49-F238E27FC236}">
                <a16:creationId xmlns:a16="http://schemas.microsoft.com/office/drawing/2014/main" id="{267E4949-D8C0-4A2A-95D8-AD20DC3009E9}"/>
              </a:ext>
            </a:extLst>
          </p:cNvPr>
          <p:cNvSpPr>
            <a:spLocks noChangeArrowheads="1"/>
          </p:cNvSpPr>
          <p:nvPr/>
        </p:nvSpPr>
        <p:spPr bwMode="auto">
          <a:xfrm>
            <a:off x="2286000" y="2274888"/>
            <a:ext cx="4572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 </a:t>
            </a:r>
          </a:p>
          <a:p>
            <a:pPr>
              <a:buFont typeface="Monotype Sorts" pitchFamily="-84" charset="2"/>
              <a:buNone/>
            </a:pPr>
            <a:r>
              <a:rPr lang="en-US" altLang="en-US" b="1" dirty="0">
                <a:solidFill>
                  <a:srgbClr val="000000"/>
                </a:solidFill>
                <a:latin typeface="Courier New" panose="02070309020205020404" pitchFamily="49" charset="0"/>
              </a:rPr>
              <a:t>	acquire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	   critical section </a:t>
            </a: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release lock </a:t>
            </a:r>
          </a:p>
          <a:p>
            <a:pPr>
              <a:buFont typeface="Monotype Sorts" pitchFamily="-84" charset="2"/>
              <a:buNone/>
            </a:pPr>
            <a:r>
              <a:rPr lang="en-US" altLang="en-US" b="1" dirty="0">
                <a:solidFill>
                  <a:srgbClr val="000000"/>
                </a:solidFill>
                <a:latin typeface="Courier New" panose="02070309020205020404" pitchFamily="49" charset="0"/>
              </a:rPr>
              <a:t>	</a:t>
            </a:r>
          </a:p>
          <a:p>
            <a:pPr>
              <a:buFont typeface="Monotype Sorts" pitchFamily="-84" charset="2"/>
              <a:buNone/>
            </a:pPr>
            <a:r>
              <a:rPr lang="en-US" altLang="en-US" b="1" dirty="0">
                <a:solidFill>
                  <a:srgbClr val="000000"/>
                </a:solidFill>
                <a:latin typeface="Courier New" panose="02070309020205020404" pitchFamily="49" charset="0"/>
              </a:rPr>
              <a:t>remainder section </a:t>
            </a:r>
          </a:p>
          <a:p>
            <a:pPr>
              <a:buFont typeface="Monotype Sorts" pitchFamily="-84" charset="2"/>
              <a:buNone/>
            </a:pPr>
            <a:r>
              <a:rPr lang="en-US" altLang="en-US" b="1" dirty="0">
                <a:solidFill>
                  <a:srgbClr val="000000"/>
                </a:solidFill>
                <a:latin typeface="Courier New" panose="02070309020205020404" pitchFamily="49" charset="0"/>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9D88480-37BD-4D9D-86CD-602E8D713E21}"/>
              </a:ext>
            </a:extLst>
          </p:cNvPr>
          <p:cNvSpPr>
            <a:spLocks noGrp="1" noChangeArrowheads="1"/>
          </p:cNvSpPr>
          <p:nvPr>
            <p:ph type="title"/>
          </p:nvPr>
        </p:nvSpPr>
        <p:spPr>
          <a:xfrm>
            <a:off x="457200" y="107983"/>
            <a:ext cx="8229600" cy="576262"/>
          </a:xfrm>
        </p:spPr>
        <p:txBody>
          <a:bodyPr/>
          <a:lstStyle/>
          <a:p>
            <a:pPr eaLnBrk="1" hangingPunct="1"/>
            <a:r>
              <a:rPr lang="fa-IR" altLang="en-US" dirty="0">
                <a:cs typeface="B Titr" panose="00000700000000000000" pitchFamily="2" charset="-78"/>
              </a:rPr>
              <a:t>سمافور</a:t>
            </a:r>
            <a:endParaRPr lang="en-US" altLang="en-US" dirty="0"/>
          </a:p>
        </p:txBody>
      </p:sp>
      <p:sp>
        <p:nvSpPr>
          <p:cNvPr id="47106" name="Rectangle 3">
            <a:extLst>
              <a:ext uri="{FF2B5EF4-FFF2-40B4-BE49-F238E27FC236}">
                <a16:creationId xmlns:a16="http://schemas.microsoft.com/office/drawing/2014/main" id="{D8E7E59E-3E80-43DF-9BC3-B07A6DD91591}"/>
              </a:ext>
            </a:extLst>
          </p:cNvPr>
          <p:cNvSpPr>
            <a:spLocks noGrp="1" noChangeArrowheads="1"/>
          </p:cNvSpPr>
          <p:nvPr>
            <p:ph idx="1"/>
          </p:nvPr>
        </p:nvSpPr>
        <p:spPr>
          <a:xfrm>
            <a:off x="827088" y="1163639"/>
            <a:ext cx="7859711" cy="2059852"/>
          </a:xfrm>
        </p:spPr>
        <p:txBody>
          <a:bodyPr/>
          <a:lstStyle/>
          <a:p>
            <a:pPr marL="342900" marR="0" lvl="0" indent="-342900" algn="r" rtl="1">
              <a:buFont typeface="Wingdings" panose="05000000000000000000" pitchFamily="2"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سِمافور ابزاری برای همگام‌سازی است که روش‌های پیچیده‌تری (نسبت به قفل‌های </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انحصار</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 متقابل) را برای فرآیندها برای همگام‌سازی فعالیت‌هایشان ارائه می‌دهد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سِمافور</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 S:</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یک متغیر عدد صحیح است</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فقط از طریق دو عملیات غیرقابل تقسیم (اتمی) قابل دسترسی است</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p>
          <a:p>
            <a:pPr marL="342900" indent="-342900" algn="r" rtl="1">
              <a:buFont typeface="Wingdings" panose="05000000000000000000" pitchFamily="2" charset="2"/>
              <a:buChar char=""/>
              <a:tabLst>
                <a:tab pos="457200" algn="l"/>
              </a:tabLst>
            </a:pPr>
            <a:r>
              <a:rPr lang="fa-IR" altLang="en-US" sz="2000" dirty="0">
                <a:latin typeface="Times New Roman" panose="02020603050405020304" pitchFamily="18" charset="0"/>
                <a:cs typeface="B Nazanin" panose="00000400000000000000" pitchFamily="2" charset="-78"/>
              </a:rPr>
              <a:t>دستورات </a:t>
            </a:r>
            <a:r>
              <a:rPr lang="en-US" altLang="en-US" sz="2000" dirty="0">
                <a:latin typeface="Times New Roman" panose="02020603050405020304" pitchFamily="18" charset="0"/>
                <a:cs typeface="B Nazanin" panose="00000400000000000000" pitchFamily="2" charset="-78"/>
              </a:rPr>
              <a:t>wait()</a:t>
            </a:r>
            <a:r>
              <a:rPr lang="fa-IR" altLang="en-US" sz="2000" dirty="0">
                <a:latin typeface="Times New Roman" panose="02020603050405020304" pitchFamily="18" charset="0"/>
                <a:cs typeface="B Nazanin" panose="00000400000000000000" pitchFamily="2" charset="-78"/>
              </a:rPr>
              <a:t> یا</a:t>
            </a:r>
            <a:r>
              <a:rPr lang="en-US" altLang="en-US" sz="2000" dirty="0">
                <a:latin typeface="Times New Roman" panose="02020603050405020304" pitchFamily="18" charset="0"/>
                <a:cs typeface="B Nazanin" panose="00000400000000000000" pitchFamily="2" charset="-78"/>
              </a:rPr>
              <a:t> P</a:t>
            </a:r>
            <a:r>
              <a:rPr lang="fa-IR" altLang="en-US" sz="2000" dirty="0">
                <a:latin typeface="Times New Roman" panose="02020603050405020304" pitchFamily="18" charset="0"/>
                <a:cs typeface="B Nazanin" panose="00000400000000000000" pitchFamily="2" charset="-78"/>
              </a:rPr>
              <a:t>  </a:t>
            </a:r>
            <a:r>
              <a:rPr lang="en-US" altLang="en-US" sz="2000" dirty="0">
                <a:latin typeface="Times New Roman" panose="02020603050405020304" pitchFamily="18" charset="0"/>
                <a:cs typeface="B Nazanin" panose="00000400000000000000" pitchFamily="2" charset="-78"/>
              </a:rPr>
              <a:t>signal()</a:t>
            </a:r>
            <a:r>
              <a:rPr lang="fa-IR" altLang="en-US" sz="2000" dirty="0">
                <a:latin typeface="Times New Roman" panose="02020603050405020304" pitchFamily="18" charset="0"/>
                <a:cs typeface="B Nazanin" panose="00000400000000000000" pitchFamily="2" charset="-78"/>
              </a:rPr>
              <a:t>یا </a:t>
            </a:r>
            <a:r>
              <a:rPr lang="en-US" altLang="en-US" sz="2000" dirty="0">
                <a:latin typeface="Times New Roman" panose="02020603050405020304" pitchFamily="18" charset="0"/>
                <a:cs typeface="B Nazanin" panose="00000400000000000000" pitchFamily="2" charset="-78"/>
              </a:rPr>
              <a:t> V</a:t>
            </a:r>
          </a:p>
          <a:p>
            <a:pPr marL="342900" marR="0" lvl="0" indent="-342900" algn="r" rtl="1">
              <a:buFont typeface="Wingdings" panose="05000000000000000000" pitchFamily="2" charset="2"/>
              <a:buChar char=""/>
              <a:tabLst>
                <a:tab pos="457200" algn="l"/>
              </a:tabLst>
            </a:pPr>
            <a:endParaRPr lang="en-US" sz="2000" dirty="0">
              <a:effectLst/>
              <a:latin typeface="Times New Roman" panose="02020603050405020304" pitchFamily="18" charset="0"/>
              <a:ea typeface="Times New Roman" panose="02020603050405020304" pitchFamily="18" charset="0"/>
            </a:endParaRPr>
          </a:p>
          <a:p>
            <a:pPr>
              <a:lnSpc>
                <a:spcPct val="90000"/>
              </a:lnSpc>
            </a:pPr>
            <a:endParaRPr lang="en-US" altLang="en-US" sz="1600" b="1" dirty="0">
              <a:latin typeface="Courier New" panose="02070309020205020404" pitchFamily="49" charset="0"/>
              <a:sym typeface="Symbol" panose="05050102010706020507" pitchFamily="18" charset="2"/>
            </a:endParaRPr>
          </a:p>
        </p:txBody>
      </p:sp>
      <p:sp>
        <p:nvSpPr>
          <p:cNvPr id="5" name="TextBox 4">
            <a:extLst>
              <a:ext uri="{FF2B5EF4-FFF2-40B4-BE49-F238E27FC236}">
                <a16:creationId xmlns:a16="http://schemas.microsoft.com/office/drawing/2014/main" id="{0F7528B0-508A-458A-AC50-824AE4D35488}"/>
              </a:ext>
            </a:extLst>
          </p:cNvPr>
          <p:cNvSpPr txBox="1"/>
          <p:nvPr/>
        </p:nvSpPr>
        <p:spPr>
          <a:xfrm>
            <a:off x="457199" y="3103418"/>
            <a:ext cx="8229599" cy="3255571"/>
          </a:xfrm>
          <a:prstGeom prst="rect">
            <a:avLst/>
          </a:prstGeom>
          <a:noFill/>
        </p:spPr>
        <p:txBody>
          <a:bodyPr wrap="square">
            <a:spAutoFit/>
          </a:bodyPr>
          <a:lstStyle/>
          <a:p>
            <a:pPr algn="r" rtl="1">
              <a:lnSpc>
                <a:spcPct val="90000"/>
              </a:lnSpc>
            </a:pPr>
            <a:r>
              <a:rPr lang="fa-IR" altLang="en-US" sz="2000" b="1" dirty="0">
                <a:latin typeface="Courier New" panose="02070309020205020404" pitchFamily="49" charset="0"/>
                <a:cs typeface="B Nazanin" panose="00000400000000000000" pitchFamily="2" charset="-78"/>
              </a:rPr>
              <a:t>تعریف عملیات انتظار</a:t>
            </a:r>
            <a:endParaRPr lang="en-US" altLang="en-US" sz="2000" b="1" dirty="0">
              <a:latin typeface="Courier New" panose="02070309020205020404" pitchFamily="49" charset="0"/>
              <a:cs typeface="B Nazanin" panose="00000400000000000000" pitchFamily="2" charset="-78"/>
            </a:endParaRPr>
          </a:p>
          <a:p>
            <a:pPr lvl="1">
              <a:lnSpc>
                <a:spcPct val="90000"/>
              </a:lnSpc>
              <a:buFont typeface="Monotype Sorts" pitchFamily="-84" charset="2"/>
              <a:buNone/>
            </a:pPr>
            <a:r>
              <a:rPr lang="en-US" altLang="en-US" sz="2400" b="1" dirty="0">
                <a:latin typeface="Courier New" panose="02070309020205020404" pitchFamily="49" charset="0"/>
                <a:cs typeface="B Nazanin" panose="00000400000000000000" pitchFamily="2" charset="-78"/>
                <a:sym typeface="Symbol" panose="05050102010706020507" pitchFamily="18" charset="2"/>
              </a:rPr>
              <a:t>wait(S)</a:t>
            </a:r>
            <a:r>
              <a:rPr lang="en-US" altLang="en-US" sz="2000" b="1" dirty="0">
                <a:latin typeface="Courier New" panose="02070309020205020404" pitchFamily="49" charset="0"/>
                <a:cs typeface="B Nazanin" panose="00000400000000000000" pitchFamily="2" charset="-78"/>
                <a:sym typeface="Symbol" panose="05050102010706020507" pitchFamily="18" charset="2"/>
              </a:rPr>
              <a:t> { </a:t>
            </a:r>
          </a:p>
          <a:p>
            <a:pPr lvl="1">
              <a:lnSpc>
                <a:spcPct val="90000"/>
              </a:lnSpc>
              <a:buFont typeface="Monotype Sorts" pitchFamily="-84" charset="2"/>
              <a:buNone/>
            </a:pPr>
            <a:r>
              <a:rPr lang="en-US" altLang="en-US" sz="2000" b="1" dirty="0">
                <a:latin typeface="Courier New" panose="02070309020205020404" pitchFamily="49" charset="0"/>
                <a:cs typeface="B Nazanin" panose="00000400000000000000" pitchFamily="2" charset="-78"/>
                <a:sym typeface="Symbol" panose="05050102010706020507" pitchFamily="18" charset="2"/>
              </a:rPr>
              <a:t>    while (S &lt;= 0)</a:t>
            </a:r>
          </a:p>
          <a:p>
            <a:pPr lvl="1">
              <a:lnSpc>
                <a:spcPct val="90000"/>
              </a:lnSpc>
              <a:buFont typeface="Monotype Sorts" pitchFamily="-84" charset="2"/>
              <a:buNone/>
            </a:pPr>
            <a:r>
              <a:rPr lang="en-US" altLang="en-US" sz="2000" b="1" dirty="0">
                <a:latin typeface="Courier New" panose="02070309020205020404" pitchFamily="49" charset="0"/>
                <a:cs typeface="B Nazanin" panose="00000400000000000000" pitchFamily="2" charset="-78"/>
                <a:sym typeface="Symbol" panose="05050102010706020507" pitchFamily="18" charset="2"/>
              </a:rPr>
              <a:t>       ; // busy wait</a:t>
            </a:r>
          </a:p>
          <a:p>
            <a:pPr lvl="1">
              <a:lnSpc>
                <a:spcPct val="90000"/>
              </a:lnSpc>
              <a:buFont typeface="Monotype Sorts" pitchFamily="-84" charset="2"/>
              <a:buNone/>
            </a:pPr>
            <a:r>
              <a:rPr lang="en-US" altLang="en-US" sz="2000" b="1" dirty="0">
                <a:latin typeface="Courier New" panose="02070309020205020404" pitchFamily="49" charset="0"/>
                <a:cs typeface="B Nazanin" panose="00000400000000000000" pitchFamily="2" charset="-78"/>
                <a:sym typeface="Symbol" panose="05050102010706020507" pitchFamily="18" charset="2"/>
              </a:rPr>
              <a:t>    S--;</a:t>
            </a:r>
          </a:p>
          <a:p>
            <a:pPr lvl="1">
              <a:lnSpc>
                <a:spcPct val="90000"/>
              </a:lnSpc>
              <a:buFont typeface="Monotype Sorts" pitchFamily="-84" charset="2"/>
              <a:buNone/>
            </a:pPr>
            <a:r>
              <a:rPr lang="en-US" altLang="en-US" sz="2000" b="1" dirty="0">
                <a:latin typeface="Courier New" panose="02070309020205020404" pitchFamily="49" charset="0"/>
                <a:cs typeface="B Nazanin" panose="00000400000000000000" pitchFamily="2" charset="-78"/>
                <a:sym typeface="Symbol" panose="05050102010706020507" pitchFamily="18" charset="2"/>
              </a:rPr>
              <a:t>}</a:t>
            </a:r>
          </a:p>
          <a:p>
            <a:pPr lvl="1">
              <a:lnSpc>
                <a:spcPct val="90000"/>
              </a:lnSpc>
              <a:buFont typeface="Monotype Sorts" pitchFamily="-84" charset="2"/>
              <a:buNone/>
            </a:pPr>
            <a:endParaRPr lang="en-US" altLang="en-US" sz="2000" b="1" dirty="0">
              <a:latin typeface="Courier New" panose="02070309020205020404" pitchFamily="49" charset="0"/>
              <a:cs typeface="B Nazanin" panose="00000400000000000000" pitchFamily="2" charset="-78"/>
              <a:sym typeface="Symbol" panose="05050102010706020507" pitchFamily="18" charset="2"/>
            </a:endParaRPr>
          </a:p>
          <a:p>
            <a:pPr lvl="1" algn="r">
              <a:lnSpc>
                <a:spcPct val="90000"/>
              </a:lnSpc>
              <a:buFont typeface="Monotype Sorts" pitchFamily="-84" charset="2"/>
              <a:buNone/>
            </a:pPr>
            <a:r>
              <a:rPr lang="fa-IR" altLang="en-US" sz="2000" b="1" dirty="0">
                <a:latin typeface="Courier New" panose="02070309020205020404" pitchFamily="49" charset="0"/>
                <a:cs typeface="B Nazanin" panose="00000400000000000000" pitchFamily="2" charset="-78"/>
                <a:sym typeface="Symbol" panose="05050102010706020507" pitchFamily="18" charset="2"/>
              </a:rPr>
              <a:t>تعریف عملیات سیگنال</a:t>
            </a:r>
            <a:endParaRPr lang="en-US" altLang="en-US" sz="2000" b="1" dirty="0">
              <a:latin typeface="Courier New" panose="02070309020205020404" pitchFamily="49" charset="0"/>
              <a:cs typeface="B Nazanin" panose="00000400000000000000" pitchFamily="2" charset="-78"/>
              <a:sym typeface="Symbol" panose="05050102010706020507" pitchFamily="18" charset="2"/>
            </a:endParaRPr>
          </a:p>
          <a:p>
            <a:pPr lvl="1">
              <a:lnSpc>
                <a:spcPct val="90000"/>
              </a:lnSpc>
              <a:buFont typeface="Monotype Sorts" pitchFamily="-84" charset="2"/>
              <a:buNone/>
            </a:pPr>
            <a:r>
              <a:rPr lang="en-US" altLang="en-US" sz="2400" b="1" dirty="0">
                <a:latin typeface="Courier New" panose="02070309020205020404" pitchFamily="49" charset="0"/>
                <a:cs typeface="B Nazanin" panose="00000400000000000000" pitchFamily="2" charset="-78"/>
                <a:sym typeface="Symbol" panose="05050102010706020507" pitchFamily="18" charset="2"/>
              </a:rPr>
              <a:t>signal(S)</a:t>
            </a:r>
            <a:r>
              <a:rPr lang="en-US" altLang="en-US" sz="2000" b="1" dirty="0">
                <a:latin typeface="Courier New" panose="02070309020205020404" pitchFamily="49" charset="0"/>
                <a:cs typeface="B Nazanin" panose="00000400000000000000" pitchFamily="2" charset="-78"/>
                <a:sym typeface="Symbol" panose="05050102010706020507" pitchFamily="18" charset="2"/>
              </a:rPr>
              <a:t> { </a:t>
            </a:r>
          </a:p>
          <a:p>
            <a:pPr lvl="1">
              <a:lnSpc>
                <a:spcPct val="90000"/>
              </a:lnSpc>
              <a:buFont typeface="Monotype Sorts" pitchFamily="-84" charset="2"/>
              <a:buNone/>
            </a:pPr>
            <a:r>
              <a:rPr lang="en-US" altLang="en-US" sz="2000" b="1" dirty="0">
                <a:latin typeface="Courier New" panose="02070309020205020404" pitchFamily="49" charset="0"/>
                <a:cs typeface="B Nazanin" panose="00000400000000000000" pitchFamily="2" charset="-78"/>
                <a:sym typeface="Symbol" panose="05050102010706020507" pitchFamily="18" charset="2"/>
              </a:rPr>
              <a:t>    S++;</a:t>
            </a:r>
          </a:p>
          <a:p>
            <a:pPr lvl="1">
              <a:lnSpc>
                <a:spcPct val="90000"/>
              </a:lnSpc>
              <a:buFont typeface="Monotype Sorts" pitchFamily="-84" charset="2"/>
              <a:buNone/>
            </a:pPr>
            <a:r>
              <a:rPr lang="en-US" altLang="en-US" sz="2000" b="1" dirty="0">
                <a:latin typeface="Courier New" panose="02070309020205020404" pitchFamily="49" charset="0"/>
                <a:cs typeface="B Nazanin" panose="00000400000000000000" pitchFamily="2" charset="-78"/>
                <a:sym typeface="Symbol" panose="05050102010706020507" pitchFamily="18" charset="2"/>
              </a:rPr>
              <a:t>}</a:t>
            </a:r>
            <a:endParaRPr lang="en-US" sz="2400" dirty="0">
              <a:cs typeface="B Nazanin" panose="00000400000000000000" pitchFamily="2" charset="-78"/>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fa-IR" altLang="en-US" dirty="0">
                <a:cs typeface="B Titr" panose="00000700000000000000" pitchFamily="2" charset="-78"/>
              </a:rPr>
              <a:t>سمافور(ادامه)</a:t>
            </a:r>
            <a:endParaRPr lang="en-US" altLang="en-US" dirty="0"/>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9"/>
            <a:ext cx="8002889" cy="5368795"/>
          </a:xfrm>
        </p:spPr>
        <p:txBody>
          <a:bodyPr/>
          <a:lstStyle/>
          <a:p>
            <a:pPr marL="342900" marR="0" lvl="0" indent="-342900" algn="r" rtl="1">
              <a:buFont typeface="Wingdings" panose="05000000000000000000" pitchFamily="2" charset="2"/>
              <a:buChar char=""/>
              <a:tabLst>
                <a:tab pos="457200" algn="l"/>
              </a:tabLst>
            </a:pPr>
            <a:r>
              <a:rPr lang="en-US" sz="2800" dirty="0">
                <a:effectLst/>
                <a:latin typeface="Symbol" panose="05050102010706020507" pitchFamily="18" charset="2"/>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سِمافور شمارش</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مقدار عدد صحیح می‌تواند روی یک دامنه بدون محدودیت قرار گیرد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en-US" sz="2800" dirty="0">
                <a:effectLst/>
                <a:latin typeface="Symbol" panose="05050102010706020507" pitchFamily="18" charset="2"/>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سِمافور دودویی</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مقدار عدد صحیح می‌تواند تنها بین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۰</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و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۱</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قرار گیرد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en-US" sz="2800" dirty="0">
                <a:effectLst/>
                <a:latin typeface="Symbol" panose="05050102010706020507" pitchFamily="18" charset="2"/>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مشابه قفل </a:t>
            </a:r>
            <a:r>
              <a:rPr lang="fa-IR" sz="2800" b="1" dirty="0">
                <a:effectLst/>
                <a:latin typeface="Times New Roman" panose="02020603050405020304" pitchFamily="18" charset="0"/>
                <a:ea typeface="Times New Roman" panose="02020603050405020304" pitchFamily="18" charset="0"/>
                <a:cs typeface="B Nazanin" panose="00000400000000000000" pitchFamily="2" charset="-78"/>
              </a:rPr>
              <a:t>انحصار</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 متقابل</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(Mutex Lock)</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en-US" sz="2800" dirty="0">
                <a:effectLst/>
                <a:latin typeface="Symbol" panose="05050102010706020507" pitchFamily="18" charset="2"/>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می‌توان یک سِمافور شمارش</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S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را به عنوان یک سِمافور دودویی پیاده‌سازی کرد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800" dirty="0">
                <a:effectLst/>
                <a:latin typeface="Calibri" panose="020F0502020204030204" pitchFamily="34" charset="0"/>
                <a:ea typeface="Calibri" panose="020F0502020204030204" pitchFamily="34" charset="0"/>
                <a:cs typeface="B Nazanin" panose="00000400000000000000" pitchFamily="2" charset="-78"/>
              </a:rPr>
              <a:t>با استفاده از سِمافورها می‌توانیم مشکلات مختلف همگام‌سازی را حل کنیم</a:t>
            </a:r>
            <a:r>
              <a:rPr lang="en-US" sz="2800" dirty="0">
                <a:effectLst/>
                <a:latin typeface="Calibri" panose="020F0502020204030204" pitchFamily="34" charset="0"/>
                <a:ea typeface="Calibri" panose="020F0502020204030204" pitchFamily="34"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7140479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561975" y="251392"/>
            <a:ext cx="8534400" cy="457200"/>
          </a:xfrm>
        </p:spPr>
        <p:txBody>
          <a:bodyPr/>
          <a:lstStyle/>
          <a:p>
            <a:pPr eaLnBrk="1" hangingPunct="1"/>
            <a:r>
              <a:rPr lang="fa-IR" altLang="en-US" dirty="0">
                <a:cs typeface="B Titr" panose="00000700000000000000" pitchFamily="2" charset="-78"/>
              </a:rPr>
              <a:t>مثال کاربرد سمافور</a:t>
            </a:r>
            <a:endParaRPr lang="en-US" altLang="en-US" dirty="0"/>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780467" cy="5512820"/>
          </a:xfrm>
        </p:spPr>
        <p:txBody>
          <a:bodyPr/>
          <a:lstStyle/>
          <a:p>
            <a:pPr algn="r" rtl="1">
              <a:tabLst>
                <a:tab pos="2001838" algn="ctr"/>
                <a:tab pos="4513263" algn="ctr"/>
              </a:tabLst>
            </a:pPr>
            <a:r>
              <a:rPr lang="fa-IR" altLang="en-US" sz="2000" dirty="0">
                <a:cs typeface="B Nazanin" panose="00000400000000000000" pitchFamily="2" charset="-78"/>
                <a:sym typeface="MT Extra" panose="05050102010205020202" pitchFamily="18" charset="2"/>
              </a:rPr>
              <a:t>راهکار برای مسئله بخش بحرانی</a:t>
            </a:r>
          </a:p>
          <a:p>
            <a:pPr lvl="1" algn="r" rtl="1">
              <a:tabLst>
                <a:tab pos="2001838" algn="ctr"/>
                <a:tab pos="4513263" algn="ctr"/>
              </a:tabLst>
            </a:pPr>
            <a:r>
              <a:rPr lang="fa-IR" altLang="en-US" sz="2000" dirty="0">
                <a:cs typeface="B Nazanin" panose="00000400000000000000" pitchFamily="2" charset="-78"/>
                <a:sym typeface="MT Extra" panose="05050102010205020202" pitchFamily="18" charset="2"/>
              </a:rPr>
              <a:t>یک سمافور </a:t>
            </a:r>
            <a:r>
              <a:rPr lang="en-US" altLang="en-US" sz="2000" dirty="0">
                <a:cs typeface="B Nazanin" panose="00000400000000000000" pitchFamily="2" charset="-78"/>
                <a:sym typeface="MT Extra" panose="05050102010205020202" pitchFamily="18" charset="2"/>
              </a:rPr>
              <a:t>mutex</a:t>
            </a:r>
            <a:r>
              <a:rPr lang="fa-IR" altLang="en-US" sz="2000" dirty="0">
                <a:cs typeface="B Nazanin" panose="00000400000000000000" pitchFamily="2" charset="-78"/>
                <a:sym typeface="MT Extra" panose="05050102010205020202" pitchFamily="18" charset="2"/>
              </a:rPr>
              <a:t> با مقدار اولیه ۱</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wait(mutex);</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CS</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signal(mutex)</a:t>
            </a:r>
            <a:r>
              <a:rPr lang="en-US" altLang="en-US" b="1" dirty="0">
                <a:solidFill>
                  <a:srgbClr val="0000FF"/>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marL="0" marR="0" algn="r" rtl="1">
              <a:lnSpc>
                <a:spcPct val="107000"/>
              </a:lnSpc>
              <a:spcBef>
                <a:spcPts val="0"/>
              </a:spcBef>
              <a:spcAft>
                <a:spcPts val="800"/>
              </a:spcAf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فرآیندهای</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P1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P2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را در نظر بگیرید که دارای دو دستورالعمل</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S1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S2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هستند و الزام این است که</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S1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قبل از</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S2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اتفاق بیفتد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یک سِمافور</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“synch”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ایجاد کنید که مقدار اولیه آن </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۰</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 است</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signal(synch);</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P2: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wait(synch)</a:t>
            </a:r>
            <a:r>
              <a:rPr lang="en-US" altLang="en-US"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838" algn="ctr"/>
                <a:tab pos="4513263" algn="ctr"/>
              </a:tabLst>
            </a:pPr>
            <a:endParaRPr lang="en-US" altLang="en-US" sz="1600" b="1" i="1" baseline="-25000" dirty="0">
              <a:sym typeface="MT Extra" panose="05050102010205020202" pitchFamily="18" charset="2"/>
            </a:endParaRPr>
          </a:p>
        </p:txBody>
      </p:sp>
    </p:spTree>
    <p:extLst>
      <p:ext uri="{BB962C8B-B14F-4D97-AF65-F5344CB8AC3E}">
        <p14:creationId xmlns:p14="http://schemas.microsoft.com/office/powerpoint/2010/main" val="1487304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1C2F0211-ABE5-4F4E-B53C-4F329D52DBCF}"/>
              </a:ext>
            </a:extLst>
          </p:cNvPr>
          <p:cNvSpPr>
            <a:spLocks noGrp="1" noChangeArrowheads="1"/>
          </p:cNvSpPr>
          <p:nvPr>
            <p:ph type="title"/>
          </p:nvPr>
        </p:nvSpPr>
        <p:spPr>
          <a:xfrm>
            <a:off x="457200" y="227824"/>
            <a:ext cx="8229600" cy="576263"/>
          </a:xfrm>
        </p:spPr>
        <p:txBody>
          <a:bodyPr/>
          <a:lstStyle/>
          <a:p>
            <a:pPr eaLnBrk="1" hangingPunct="1"/>
            <a:r>
              <a:rPr lang="fa-IR" altLang="en-US">
                <a:cs typeface="B Titr" panose="00000700000000000000" pitchFamily="2" charset="-78"/>
              </a:rPr>
              <a:t>پیاده </a:t>
            </a:r>
            <a:r>
              <a:rPr lang="fa-IR" altLang="en-US" dirty="0">
                <a:cs typeface="B Titr" panose="00000700000000000000" pitchFamily="2" charset="-78"/>
              </a:rPr>
              <a:t>سازی سمافور</a:t>
            </a:r>
            <a:endParaRPr lang="en-US" altLang="en-US" dirty="0"/>
          </a:p>
        </p:txBody>
      </p:sp>
      <p:sp>
        <p:nvSpPr>
          <p:cNvPr id="51202" name="Rectangle 3">
            <a:extLst>
              <a:ext uri="{FF2B5EF4-FFF2-40B4-BE49-F238E27FC236}">
                <a16:creationId xmlns:a16="http://schemas.microsoft.com/office/drawing/2014/main" id="{81C74B36-24EB-4A50-92A5-8C139CA647C1}"/>
              </a:ext>
            </a:extLst>
          </p:cNvPr>
          <p:cNvSpPr>
            <a:spLocks noGrp="1" noChangeArrowheads="1"/>
          </p:cNvSpPr>
          <p:nvPr>
            <p:ph idx="1"/>
          </p:nvPr>
        </p:nvSpPr>
        <p:spPr>
          <a:xfrm>
            <a:off x="331597" y="1157289"/>
            <a:ext cx="8564754" cy="5157014"/>
          </a:xfrm>
        </p:spPr>
        <p:txBody>
          <a:bodyPr/>
          <a:lstStyle/>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fa-IR" sz="2400" dirty="0">
                <a:effectLst/>
                <a:latin typeface="Calibri" panose="020F0502020204030204" pitchFamily="34" charset="0"/>
                <a:ea typeface="Calibri" panose="020F0502020204030204" pitchFamily="34" charset="0"/>
                <a:cs typeface="B Nazanin" panose="00000400000000000000" pitchFamily="2" charset="-78"/>
              </a:rPr>
              <a:t>باید</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تضمین شود که هیچ دو فرآیندی نمی‌توانند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wait()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signal()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روی یک سِمافور مشابه در یک زمان اجرا کنند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بنابراین، پیاده‌سازی به مشکل بخش بحرانی تبدیل می‌شود که در آن کدهای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wait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signal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 بخش بحرانی قرار می‌گیرند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حالا ممکن است انتظار فعال</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(busy waiting)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 پیاده‌سازی بخش بحرانی وجود داشته باشد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کد پیاده‌سازی کوتاه 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انتظار فعال کمی وجود دارد اگر بخش بحرانی به ندرت اشغال 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توجه داشته باشید که برنامه‌ها ممکن است زمان زیادی را در بخش‌های بحرانی صرف کنند و بنابراین این راه‌حل خوبی نیست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52295"/>
            <a:ext cx="8779199" cy="609600"/>
          </a:xfrm>
        </p:spPr>
        <p:txBody>
          <a:bodyPr/>
          <a:lstStyle/>
          <a:p>
            <a:pPr eaLnBrk="1" hangingPunct="1"/>
            <a:r>
              <a:rPr lang="fa-IR" altLang="en-US" sz="2400" dirty="0">
                <a:cs typeface="B Titr" panose="00000700000000000000" pitchFamily="2" charset="-78"/>
              </a:rPr>
              <a:t>پیاده سازی سمافور بدون انتظار فعال</a:t>
            </a:r>
            <a:endParaRPr lang="en-US" altLang="en-US" sz="2400" dirty="0"/>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341745" y="1078705"/>
            <a:ext cx="8580581" cy="4740203"/>
          </a:xfrm>
        </p:spPr>
        <p:txBody>
          <a:bodyPr/>
          <a:lstStyle/>
          <a:p>
            <a:pPr marL="0" marR="0" algn="r" rtl="1"/>
            <a:r>
              <a:rPr lang="en-US" sz="2800" dirty="0">
                <a:effectLst/>
                <a:latin typeface="Times New Roman" panose="02020603050405020304" pitchFamily="18" charset="0"/>
                <a:ea typeface="MS PGothic" panose="020B0600070205080204" pitchFamily="34" charset="-128"/>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همراه با هر سِمافور یک صف انتظار مرتبط وجود دارد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0" marR="0"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هر ورودی در یک صف انتظار دارای دو داده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1085850" lvl="2"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مقدار (از نوع عدد صحیح)</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1085850" lvl="2"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اشاره‎گر به رکورد بعدی در لیست</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دو عملیات وجود دارد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مسدود کردن</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b="1" dirty="0">
                <a:latin typeface="Times New Roman" panose="02020603050405020304" pitchFamily="18" charset="0"/>
                <a:ea typeface="Times New Roman" panose="02020603050405020304" pitchFamily="18" charset="0"/>
                <a:cs typeface="B Nazanin" panose="00000400000000000000" pitchFamily="2" charset="-78"/>
              </a:rPr>
              <a:t>: </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(Block)</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فرآیندی که این عملیات را فراخوانی می‌کند در صف انتظار مناسب قرار می‌دهد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بیدار کردن</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b="1" dirty="0">
                <a:latin typeface="Times New Roman" panose="02020603050405020304" pitchFamily="18" charset="0"/>
                <a:ea typeface="Times New Roman" panose="02020603050405020304" pitchFamily="18" charset="0"/>
                <a:cs typeface="B Nazanin" panose="00000400000000000000" pitchFamily="2" charset="-78"/>
              </a:rPr>
              <a:t>: </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(Wakeup)</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یکی از فرآیندهای موجود در صف انتظار را حذف کرده و آن را در صف آماده قرار می‌دهد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altLang="en-US" sz="2800" dirty="0">
              <a:solidFill>
                <a:srgbClr val="0000FF"/>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51BAA0-23D1-44B6-B0D9-250F64A572FC}"/>
              </a:ext>
            </a:extLst>
          </p:cNvPr>
          <p:cNvSpPr>
            <a:spLocks noGrp="1" noChangeArrowheads="1"/>
          </p:cNvSpPr>
          <p:nvPr>
            <p:ph type="title"/>
          </p:nvPr>
        </p:nvSpPr>
        <p:spPr>
          <a:xfrm>
            <a:off x="801798" y="135423"/>
            <a:ext cx="8779199" cy="609600"/>
          </a:xfrm>
        </p:spPr>
        <p:txBody>
          <a:bodyPr/>
          <a:lstStyle/>
          <a:p>
            <a:pPr eaLnBrk="1" hangingPunct="1"/>
            <a:r>
              <a:rPr lang="fa-IR" altLang="en-US" sz="2800" dirty="0">
                <a:cs typeface="B Titr" panose="00000700000000000000" pitchFamily="2" charset="-78"/>
              </a:rPr>
              <a:t>پیاده سازی سمافور بدون انتظار فعال(ادامه)</a:t>
            </a:r>
            <a:endParaRPr lang="en-US" altLang="en-US" sz="2800" dirty="0"/>
          </a:p>
        </p:txBody>
      </p:sp>
      <p:sp>
        <p:nvSpPr>
          <p:cNvPr id="53250" name="Rectangle 3">
            <a:extLst>
              <a:ext uri="{FF2B5EF4-FFF2-40B4-BE49-F238E27FC236}">
                <a16:creationId xmlns:a16="http://schemas.microsoft.com/office/drawing/2014/main" id="{9D87702A-689B-4A72-8F7D-2FB6350A3FC6}"/>
              </a:ext>
            </a:extLst>
          </p:cNvPr>
          <p:cNvSpPr>
            <a:spLocks noGrp="1" noChangeArrowheads="1"/>
          </p:cNvSpPr>
          <p:nvPr>
            <p:ph idx="1"/>
          </p:nvPr>
        </p:nvSpPr>
        <p:spPr>
          <a:xfrm>
            <a:off x="861980" y="1078706"/>
            <a:ext cx="7582224" cy="4700588"/>
          </a:xfrm>
        </p:spPr>
        <p:txBody>
          <a:bodyPr/>
          <a:lstStyle/>
          <a:p>
            <a:endParaRPr lang="en-US" altLang="en-US" sz="2400" dirty="0"/>
          </a:p>
          <a:p>
            <a:pPr algn="r" rtl="1"/>
            <a:r>
              <a:rPr lang="fa-IR" altLang="en-US" sz="2400" dirty="0">
                <a:cs typeface="B Nazanin" panose="00000400000000000000" pitchFamily="2" charset="-78"/>
              </a:rPr>
              <a:t>صف انتظار</a:t>
            </a:r>
            <a:endParaRPr lang="en-US" altLang="en-US" sz="2400" dirty="0">
              <a:cs typeface="B Nazanin" panose="00000400000000000000" pitchFamily="2" charset="-78"/>
            </a:endParaRPr>
          </a:p>
          <a:p>
            <a:pPr marL="0" indent="0">
              <a:buNone/>
            </a:pPr>
            <a:r>
              <a:rPr lang="en-US" altLang="en-US" sz="2400" dirty="0">
                <a:latin typeface="Courier New" panose="02070309020205020404" pitchFamily="49" charset="0"/>
              </a:rPr>
              <a:t>    </a:t>
            </a:r>
            <a:r>
              <a:rPr lang="en-US" altLang="en-US" sz="2400" dirty="0">
                <a:solidFill>
                  <a:srgbClr val="0066CC"/>
                </a:solidFill>
                <a:latin typeface="Courier New" panose="02070309020205020404" pitchFamily="49" charset="0"/>
              </a:rPr>
              <a:t>typedef</a:t>
            </a:r>
            <a:r>
              <a:rPr lang="en-US" altLang="en-US" sz="2400" dirty="0">
                <a:latin typeface="Courier New" panose="02070309020205020404" pitchFamily="49" charset="0"/>
              </a:rPr>
              <a:t> </a:t>
            </a:r>
            <a:r>
              <a:rPr lang="en-US" altLang="en-US" sz="2400" b="1" dirty="0">
                <a:latin typeface="Courier New" panose="02070309020205020404" pitchFamily="49" charset="0"/>
              </a:rPr>
              <a:t>struct</a:t>
            </a:r>
            <a:r>
              <a:rPr lang="en-US" altLang="en-US" sz="2400" dirty="0">
                <a:latin typeface="Courier New" panose="02070309020205020404" pitchFamily="49" charset="0"/>
              </a:rPr>
              <a:t> { </a:t>
            </a:r>
          </a:p>
          <a:p>
            <a:pPr>
              <a:buFont typeface="Monotype Sorts" pitchFamily="-84" charset="2"/>
              <a:buNone/>
            </a:pPr>
            <a:r>
              <a:rPr lang="en-US" altLang="en-US" sz="2400" dirty="0">
                <a:latin typeface="Courier New" panose="02070309020205020404" pitchFamily="49" charset="0"/>
              </a:rPr>
              <a:t>   	</a:t>
            </a:r>
            <a:r>
              <a:rPr lang="en-US" altLang="en-US" sz="2400" b="1" dirty="0" err="1">
                <a:latin typeface="Courier New" panose="02070309020205020404" pitchFamily="49" charset="0"/>
              </a:rPr>
              <a:t>int</a:t>
            </a:r>
            <a:r>
              <a:rPr lang="en-US" altLang="en-US" sz="2400" dirty="0">
                <a:latin typeface="Courier New" panose="02070309020205020404" pitchFamily="49" charset="0"/>
              </a:rPr>
              <a:t> value; </a:t>
            </a:r>
          </a:p>
          <a:p>
            <a:pPr>
              <a:buFont typeface="Monotype Sorts" pitchFamily="-84" charset="2"/>
              <a:buNone/>
            </a:pPr>
            <a:r>
              <a:rPr lang="en-US" altLang="en-US" sz="2400" dirty="0">
                <a:latin typeface="Courier New" panose="02070309020205020404" pitchFamily="49" charset="0"/>
              </a:rPr>
              <a:t>   	</a:t>
            </a:r>
            <a:r>
              <a:rPr lang="en-US" altLang="en-US" sz="2400" b="1" dirty="0">
                <a:latin typeface="Courier New" panose="02070309020205020404" pitchFamily="49" charset="0"/>
              </a:rPr>
              <a:t>struct</a:t>
            </a:r>
            <a:r>
              <a:rPr lang="en-US" altLang="en-US" sz="2400" dirty="0">
                <a:latin typeface="Courier New" panose="02070309020205020404" pitchFamily="49" charset="0"/>
              </a:rPr>
              <a:t> </a:t>
            </a:r>
            <a:r>
              <a:rPr lang="en-US" altLang="en-US" sz="2400" dirty="0">
                <a:solidFill>
                  <a:srgbClr val="0066CC"/>
                </a:solidFill>
                <a:latin typeface="Courier New" panose="02070309020205020404" pitchFamily="49" charset="0"/>
              </a:rPr>
              <a:t>process</a:t>
            </a:r>
            <a:r>
              <a:rPr lang="en-US" altLang="en-US" sz="2400" dirty="0">
                <a:latin typeface="Courier New" panose="02070309020205020404" pitchFamily="49" charset="0"/>
              </a:rPr>
              <a:t> </a:t>
            </a:r>
            <a:r>
              <a:rPr lang="en-US" altLang="en-US" sz="2400" b="1" dirty="0">
                <a:latin typeface="Courier New" panose="02070309020205020404" pitchFamily="49" charset="0"/>
              </a:rPr>
              <a:t>*list</a:t>
            </a:r>
            <a:r>
              <a:rPr lang="en-US" altLang="en-US" sz="2400" dirty="0">
                <a:latin typeface="Courier New" panose="02070309020205020404" pitchFamily="49" charset="0"/>
              </a:rPr>
              <a:t>; </a:t>
            </a:r>
          </a:p>
          <a:p>
            <a:pPr>
              <a:buFont typeface="Monotype Sorts" pitchFamily="-84" charset="2"/>
              <a:buNone/>
            </a:pPr>
            <a:r>
              <a:rPr lang="en-US" altLang="en-US" sz="2400" dirty="0">
                <a:latin typeface="Courier New" panose="02070309020205020404" pitchFamily="49" charset="0"/>
              </a:rPr>
              <a:t>    } </a:t>
            </a:r>
            <a:r>
              <a:rPr lang="en-US" altLang="en-US" sz="2400" dirty="0">
                <a:solidFill>
                  <a:srgbClr val="0066CC"/>
                </a:solidFill>
                <a:latin typeface="Courier New" panose="02070309020205020404" pitchFamily="49" charset="0"/>
              </a:rPr>
              <a:t>semaphore</a:t>
            </a:r>
            <a:r>
              <a:rPr lang="en-US" altLang="en-US" sz="2400" dirty="0">
                <a:latin typeface="Courier New" panose="02070309020205020404" pitchFamily="49" charset="0"/>
              </a:rPr>
              <a:t>; </a:t>
            </a:r>
          </a:p>
          <a:p>
            <a:endParaRPr lang="en-US" altLang="en-US" sz="2400" dirty="0"/>
          </a:p>
          <a:p>
            <a:pPr lvl="1"/>
            <a:endParaRPr lang="en-US" altLang="en-US" sz="2400" dirty="0"/>
          </a:p>
          <a:p>
            <a:pPr>
              <a:buFont typeface="Monotype Sorts" pitchFamily="-84" charset="2"/>
              <a:buNone/>
            </a:pPr>
            <a:r>
              <a:rPr lang="en-US" altLang="en-US" sz="2400" dirty="0">
                <a:solidFill>
                  <a:srgbClr val="0000FF"/>
                </a:solidFill>
              </a:rPr>
              <a:t>                        </a:t>
            </a:r>
          </a:p>
        </p:txBody>
      </p:sp>
    </p:spTree>
    <p:extLst>
      <p:ext uri="{BB962C8B-B14F-4D97-AF65-F5344CB8AC3E}">
        <p14:creationId xmlns:p14="http://schemas.microsoft.com/office/powerpoint/2010/main" val="10766130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669F922E-D0FD-4876-8B89-C6C21A7E370F}"/>
              </a:ext>
            </a:extLst>
          </p:cNvPr>
          <p:cNvSpPr>
            <a:spLocks noGrp="1" noChangeArrowheads="1"/>
          </p:cNvSpPr>
          <p:nvPr>
            <p:ph type="title"/>
          </p:nvPr>
        </p:nvSpPr>
        <p:spPr>
          <a:xfrm>
            <a:off x="1170528" y="104810"/>
            <a:ext cx="8356600" cy="581025"/>
          </a:xfrm>
        </p:spPr>
        <p:txBody>
          <a:bodyPr/>
          <a:lstStyle/>
          <a:p>
            <a:pPr eaLnBrk="1" hangingPunct="1"/>
            <a:r>
              <a:rPr lang="fa-IR" altLang="en-US" sz="2800" dirty="0">
                <a:cs typeface="B Titr" panose="00000700000000000000" pitchFamily="2" charset="-78"/>
              </a:rPr>
              <a:t>پیاده سازی سمافور بدون انتظار فعال(ادامه)</a:t>
            </a:r>
            <a:endParaRPr lang="en-US" altLang="en-US" sz="2800" dirty="0"/>
          </a:p>
        </p:txBody>
      </p:sp>
      <p:sp>
        <p:nvSpPr>
          <p:cNvPr id="55298" name="Rectangle 3">
            <a:extLst>
              <a:ext uri="{FF2B5EF4-FFF2-40B4-BE49-F238E27FC236}">
                <a16:creationId xmlns:a16="http://schemas.microsoft.com/office/drawing/2014/main" id="{E98F4248-9756-4C5B-BA54-44B5C180256E}"/>
              </a:ext>
            </a:extLst>
          </p:cNvPr>
          <p:cNvSpPr>
            <a:spLocks noGrp="1" noChangeArrowheads="1"/>
          </p:cNvSpPr>
          <p:nvPr>
            <p:ph idx="1"/>
          </p:nvPr>
        </p:nvSpPr>
        <p:spPr>
          <a:xfrm>
            <a:off x="840509" y="901700"/>
            <a:ext cx="6436591" cy="5029200"/>
          </a:xfrm>
        </p:spPr>
        <p:txBody>
          <a:bodyPr/>
          <a:lstStyle/>
          <a:p>
            <a:pPr marL="0" indent="0">
              <a:buFont typeface="Monotype Sorts" pitchFamily="-84" charset="2"/>
              <a:buNone/>
            </a:pPr>
            <a:r>
              <a:rPr lang="en-US" altLang="en-US" dirty="0">
                <a:solidFill>
                  <a:srgbClr val="0066CC"/>
                </a:solidFill>
                <a:latin typeface="Consolas" panose="020B0609020204030204" pitchFamily="49" charset="0"/>
              </a:rPr>
              <a:t>wait</a:t>
            </a:r>
            <a:r>
              <a:rPr lang="en-US" altLang="en-US" dirty="0">
                <a:latin typeface="Consolas" panose="020B0609020204030204" pitchFamily="49" charset="0"/>
              </a:rPr>
              <a:t>(</a:t>
            </a:r>
            <a:r>
              <a:rPr lang="en-US" altLang="en-US" b="1" dirty="0">
                <a:latin typeface="Consolas" panose="020B0609020204030204" pitchFamily="49" charset="0"/>
              </a:rPr>
              <a:t>semaphore</a:t>
            </a:r>
            <a:r>
              <a:rPr lang="en-US" altLang="en-US" dirty="0">
                <a:latin typeface="Consolas" panose="020B0609020204030204" pitchFamily="49" charset="0"/>
              </a:rPr>
              <a:t> </a:t>
            </a:r>
            <a:r>
              <a:rPr lang="en-US" altLang="en-US" dirty="0">
                <a:solidFill>
                  <a:srgbClr val="0066CC"/>
                </a:solidFill>
                <a:latin typeface="Consolas" panose="020B0609020204030204" pitchFamily="49" charset="0"/>
              </a:rPr>
              <a:t>*S</a:t>
            </a:r>
            <a:r>
              <a:rPr lang="en-US" altLang="en-US" dirty="0">
                <a:latin typeface="Consolas" panose="020B0609020204030204" pitchFamily="49" charset="0"/>
              </a:rPr>
              <a:t>) { </a:t>
            </a:r>
          </a:p>
          <a:p>
            <a:pPr marL="0" indent="0">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S</a:t>
            </a:r>
            <a:r>
              <a:rPr lang="en-US" altLang="en-US" dirty="0">
                <a:latin typeface="Consolas" panose="020B0609020204030204" pitchFamily="49" charset="0"/>
              </a:rPr>
              <a:t>-&gt;</a:t>
            </a:r>
            <a:r>
              <a:rPr lang="en-US" altLang="en-US" b="1" dirty="0">
                <a:latin typeface="Consolas" panose="020B0609020204030204" pitchFamily="49" charset="0"/>
              </a:rPr>
              <a:t>value-</a:t>
            </a:r>
            <a:r>
              <a:rPr lang="en-US" altLang="en-US" dirty="0">
                <a:latin typeface="Consolas" panose="020B0609020204030204" pitchFamily="49" charset="0"/>
              </a:rPr>
              <a:t>-; </a:t>
            </a:r>
          </a:p>
          <a:p>
            <a:pPr marL="0" indent="0">
              <a:buFont typeface="Monotype Sorts" pitchFamily="-84" charset="2"/>
              <a:buNone/>
            </a:pPr>
            <a:r>
              <a:rPr lang="en-US" altLang="en-US" dirty="0">
                <a:latin typeface="Consolas" panose="020B0609020204030204" pitchFamily="49" charset="0"/>
              </a:rPr>
              <a:t>   if (S-&gt;value &lt; 0) {</a:t>
            </a:r>
            <a:br>
              <a:rPr lang="en-US" altLang="en-US" dirty="0">
                <a:latin typeface="Consolas" panose="020B0609020204030204" pitchFamily="49" charset="0"/>
              </a:rPr>
            </a:br>
            <a:r>
              <a:rPr lang="en-US" altLang="en-US" dirty="0">
                <a:latin typeface="Consolas" panose="020B0609020204030204" pitchFamily="49" charset="0"/>
              </a:rPr>
              <a:t>      </a:t>
            </a:r>
            <a:r>
              <a:rPr lang="en-US" altLang="en-US" dirty="0">
                <a:solidFill>
                  <a:srgbClr val="0066CC"/>
                </a:solidFill>
                <a:latin typeface="Consolas" panose="020B0609020204030204" pitchFamily="49" charset="0"/>
              </a:rPr>
              <a:t>add</a:t>
            </a:r>
            <a:r>
              <a:rPr lang="en-US" altLang="en-US" dirty="0">
                <a:latin typeface="Consolas" panose="020B0609020204030204" pitchFamily="49" charset="0"/>
              </a:rPr>
              <a:t> this process to </a:t>
            </a:r>
            <a:r>
              <a:rPr lang="en-US" altLang="en-US" b="1" dirty="0">
                <a:solidFill>
                  <a:srgbClr val="0066CC"/>
                </a:solidFill>
                <a:latin typeface="Consolas" panose="020B0609020204030204" pitchFamily="49" charset="0"/>
              </a:rPr>
              <a:t>S-&gt;list</a:t>
            </a:r>
            <a:r>
              <a:rPr lang="en-US" altLang="en-US" dirty="0">
                <a:latin typeface="Consolas" panose="020B0609020204030204" pitchFamily="49" charset="0"/>
              </a:rPr>
              <a:t>; </a:t>
            </a:r>
          </a:p>
          <a:p>
            <a:pPr marL="0" indent="0">
              <a:buFont typeface="Monotype Sorts" pitchFamily="-84" charset="2"/>
              <a:buNone/>
            </a:pPr>
            <a:r>
              <a:rPr lang="en-US" altLang="en-US" dirty="0">
                <a:latin typeface="Consolas" panose="020B0609020204030204" pitchFamily="49" charset="0"/>
              </a:rPr>
              <a:t>      </a:t>
            </a:r>
            <a:r>
              <a:rPr lang="en-US" altLang="en-US" dirty="0">
                <a:solidFill>
                  <a:srgbClr val="0066CC"/>
                </a:solidFill>
                <a:latin typeface="Consolas" panose="020B0609020204030204" pitchFamily="49" charset="0"/>
              </a:rPr>
              <a:t>sleep</a:t>
            </a:r>
            <a:r>
              <a:rPr lang="en-US" altLang="en-US" dirty="0">
                <a:latin typeface="Consolas" panose="020B0609020204030204" pitchFamily="49" charset="0"/>
              </a:rPr>
              <a:t>(); </a:t>
            </a:r>
          </a:p>
          <a:p>
            <a:pPr marL="0" indent="0">
              <a:buFont typeface="Monotype Sorts" pitchFamily="-84" charset="2"/>
              <a:buNone/>
            </a:pPr>
            <a:r>
              <a:rPr lang="en-US" altLang="en-US" dirty="0">
                <a:latin typeface="Consolas" panose="020B0609020204030204" pitchFamily="49" charset="0"/>
              </a:rPr>
              <a:t>   } </a:t>
            </a:r>
          </a:p>
          <a:p>
            <a:pPr marL="0" indent="0">
              <a:buFont typeface="Monotype Sorts" pitchFamily="-84" charset="2"/>
              <a:buNone/>
            </a:pPr>
            <a:r>
              <a:rPr lang="en-US" altLang="en-US" dirty="0">
                <a:latin typeface="Consolas" panose="020B0609020204030204" pitchFamily="49" charset="0"/>
              </a:rPr>
              <a:t>}</a:t>
            </a:r>
          </a:p>
          <a:p>
            <a:pPr marL="0" indent="0">
              <a:buFont typeface="Monotype Sorts" pitchFamily="-84" charset="2"/>
              <a:buNone/>
            </a:pPr>
            <a:r>
              <a:rPr lang="en-US" altLang="en-US" dirty="0">
                <a:latin typeface="Consolas" panose="020B0609020204030204" pitchFamily="49" charset="0"/>
              </a:rPr>
              <a:t>---------------------------------------</a:t>
            </a:r>
          </a:p>
          <a:p>
            <a:pPr marL="0" indent="0">
              <a:buFont typeface="Monotype Sorts" pitchFamily="-84" charset="2"/>
              <a:buNone/>
            </a:pPr>
            <a:r>
              <a:rPr lang="en-US" altLang="en-US" dirty="0">
                <a:solidFill>
                  <a:srgbClr val="0066CC"/>
                </a:solidFill>
                <a:latin typeface="Consolas" panose="020B0609020204030204" pitchFamily="49" charset="0"/>
              </a:rPr>
              <a:t>signal</a:t>
            </a:r>
            <a:r>
              <a:rPr lang="en-US" altLang="en-US" dirty="0">
                <a:latin typeface="Consolas" panose="020B0609020204030204" pitchFamily="49" charset="0"/>
              </a:rPr>
              <a:t>(semaphore *S) { </a:t>
            </a:r>
          </a:p>
          <a:p>
            <a:pPr marL="0" indent="0">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S</a:t>
            </a:r>
            <a:r>
              <a:rPr lang="en-US" altLang="en-US" dirty="0">
                <a:latin typeface="Consolas" panose="020B0609020204030204" pitchFamily="49" charset="0"/>
              </a:rPr>
              <a:t>-&gt;</a:t>
            </a:r>
            <a:r>
              <a:rPr lang="en-US" altLang="en-US" b="1" dirty="0">
                <a:latin typeface="Consolas" panose="020B0609020204030204" pitchFamily="49" charset="0"/>
              </a:rPr>
              <a:t>value</a:t>
            </a:r>
            <a:r>
              <a:rPr lang="en-US" altLang="en-US" dirty="0">
                <a:latin typeface="Consolas" panose="020B0609020204030204" pitchFamily="49" charset="0"/>
              </a:rPr>
              <a:t>++; </a:t>
            </a:r>
          </a:p>
          <a:p>
            <a:pPr marL="0" indent="0">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if</a:t>
            </a:r>
            <a:r>
              <a:rPr lang="en-US" altLang="en-US" dirty="0">
                <a:latin typeface="Consolas" panose="020B0609020204030204" pitchFamily="49" charset="0"/>
              </a:rPr>
              <a:t> (S-&gt;value &lt;= 0) {</a:t>
            </a:r>
            <a:br>
              <a:rPr lang="en-US" altLang="en-US" dirty="0">
                <a:latin typeface="Consolas" panose="020B0609020204030204" pitchFamily="49" charset="0"/>
              </a:rPr>
            </a:br>
            <a:r>
              <a:rPr lang="en-US" altLang="en-US" dirty="0">
                <a:latin typeface="Consolas" panose="020B0609020204030204" pitchFamily="49" charset="0"/>
              </a:rPr>
              <a:t>      </a:t>
            </a:r>
            <a:r>
              <a:rPr lang="en-US" altLang="en-US" dirty="0">
                <a:solidFill>
                  <a:srgbClr val="0066CC"/>
                </a:solidFill>
                <a:latin typeface="Consolas" panose="020B0609020204030204" pitchFamily="49" charset="0"/>
              </a:rPr>
              <a:t>remove</a:t>
            </a:r>
            <a:r>
              <a:rPr lang="en-US" altLang="en-US" dirty="0">
                <a:latin typeface="Consolas" panose="020B0609020204030204" pitchFamily="49" charset="0"/>
              </a:rPr>
              <a:t> a process P from </a:t>
            </a:r>
            <a:r>
              <a:rPr lang="en-US" altLang="en-US" b="1" dirty="0">
                <a:solidFill>
                  <a:srgbClr val="0066CC"/>
                </a:solidFill>
                <a:latin typeface="Consolas" panose="020B0609020204030204" pitchFamily="49" charset="0"/>
              </a:rPr>
              <a:t>S-&gt;list</a:t>
            </a:r>
            <a:r>
              <a:rPr lang="en-US" altLang="en-US" dirty="0">
                <a:latin typeface="Consolas" panose="020B0609020204030204" pitchFamily="49" charset="0"/>
              </a:rPr>
              <a:t>; </a:t>
            </a:r>
          </a:p>
          <a:p>
            <a:pPr marL="0" indent="0">
              <a:buFont typeface="Monotype Sorts" pitchFamily="-84" charset="2"/>
              <a:buNone/>
            </a:pPr>
            <a:r>
              <a:rPr lang="en-US" altLang="en-US" dirty="0">
                <a:latin typeface="Consolas" panose="020B0609020204030204" pitchFamily="49" charset="0"/>
              </a:rPr>
              <a:t>      </a:t>
            </a:r>
            <a:r>
              <a:rPr lang="en-US" altLang="en-US" dirty="0">
                <a:solidFill>
                  <a:srgbClr val="0066CC"/>
                </a:solidFill>
                <a:latin typeface="Consolas" panose="020B0609020204030204" pitchFamily="49" charset="0"/>
              </a:rPr>
              <a:t>wakeup</a:t>
            </a:r>
            <a:r>
              <a:rPr lang="en-US" altLang="en-US" dirty="0">
                <a:latin typeface="Consolas" panose="020B0609020204030204" pitchFamily="49" charset="0"/>
              </a:rPr>
              <a:t>(P); </a:t>
            </a:r>
          </a:p>
          <a:p>
            <a:pPr marL="0" indent="0">
              <a:buFont typeface="Monotype Sorts" pitchFamily="-84" charset="2"/>
              <a:buNone/>
            </a:pPr>
            <a:r>
              <a:rPr lang="en-US" altLang="en-US" dirty="0">
                <a:latin typeface="Consolas" panose="020B0609020204030204" pitchFamily="49" charset="0"/>
              </a:rPr>
              <a:t>   } </a:t>
            </a:r>
          </a:p>
          <a:p>
            <a:pPr marL="0" indent="0">
              <a:buFont typeface="Monotype Sorts" pitchFamily="-84" charset="2"/>
              <a:buNone/>
            </a:pPr>
            <a:r>
              <a:rPr lang="en-US" altLang="en-US" dirty="0">
                <a:latin typeface="Consolas" panose="020B0609020204030204" pitchFamily="49" charset="0"/>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Problems with Semaphores</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7" y="1282700"/>
            <a:ext cx="7762875" cy="4860925"/>
          </a:xfrm>
        </p:spPr>
        <p:txBody>
          <a:bodyPr/>
          <a:lstStyle/>
          <a:p>
            <a:pPr algn="r" rtl="1"/>
            <a:r>
              <a:rPr lang="fa-IR" altLang="en-US" sz="2400" dirty="0">
                <a:cs typeface="B Nazanin" panose="00000400000000000000" pitchFamily="2" charset="-78"/>
              </a:rPr>
              <a:t>استفاده نادرست از عملیات‌های سمافور</a:t>
            </a:r>
            <a:endParaRPr lang="en-US" altLang="en-US" sz="2400" dirty="0">
              <a:cs typeface="B Nazanin" panose="00000400000000000000" pitchFamily="2" charset="-78"/>
            </a:endParaRPr>
          </a:p>
          <a:p>
            <a:pPr lvl="1"/>
            <a:r>
              <a:rPr lang="en-US" altLang="en-US" sz="2400" dirty="0">
                <a:cs typeface="B Nazanin" panose="00000400000000000000" pitchFamily="2" charset="-78"/>
              </a:rPr>
              <a:t> </a:t>
            </a:r>
            <a:r>
              <a:rPr lang="en-US" altLang="en-US" sz="2400" b="1" dirty="0">
                <a:latin typeface="Courier New" panose="02070309020205020404" pitchFamily="49" charset="0"/>
                <a:cs typeface="B Nazanin" panose="00000400000000000000" pitchFamily="2" charset="-78"/>
              </a:rPr>
              <a:t>signal(mutex)  ….  wait(mutex)</a:t>
            </a:r>
          </a:p>
          <a:p>
            <a:pPr lvl="2" algn="r" rtl="1"/>
            <a:r>
              <a:rPr lang="fa-IR" sz="2400" dirty="0">
                <a:cs typeface="B Nazanin" panose="00000400000000000000" pitchFamily="2" charset="-78"/>
              </a:rPr>
              <a:t>چندین فرایند در ناحیه بحرانی خود هستند. </a:t>
            </a:r>
            <a:endParaRPr lang="en-US" altLang="en-US" sz="2400" b="1" dirty="0">
              <a:latin typeface="Courier New" panose="02070309020205020404" pitchFamily="49" charset="0"/>
              <a:cs typeface="B Nazanin" panose="00000400000000000000" pitchFamily="2" charset="-78"/>
            </a:endParaRPr>
          </a:p>
          <a:p>
            <a:pPr lvl="1"/>
            <a:r>
              <a:rPr lang="en-US" altLang="en-US" sz="2400" dirty="0">
                <a:cs typeface="B Nazanin" panose="00000400000000000000" pitchFamily="2" charset="-78"/>
              </a:rPr>
              <a:t> </a:t>
            </a:r>
            <a:r>
              <a:rPr lang="en-US" altLang="en-US" sz="2400" b="1" dirty="0">
                <a:latin typeface="Courier New" panose="02070309020205020404" pitchFamily="49" charset="0"/>
                <a:cs typeface="B Nazanin" panose="00000400000000000000" pitchFamily="2" charset="-78"/>
              </a:rPr>
              <a:t>wait(mutex)  …  wait(mutex)</a:t>
            </a:r>
          </a:p>
          <a:p>
            <a:pPr lvl="1" algn="r" rtl="1"/>
            <a:r>
              <a:rPr lang="fa-IR" altLang="en-US" sz="2400" dirty="0">
                <a:cs typeface="B Nazanin" panose="00000400000000000000" pitchFamily="2" charset="-78"/>
              </a:rPr>
              <a:t>فرآیند تا ابد به خواب می‌رود. </a:t>
            </a:r>
            <a:endParaRPr lang="en-US" altLang="en-US" sz="2400" dirty="0">
              <a:cs typeface="B Nazanin" panose="00000400000000000000" pitchFamily="2" charset="-78"/>
            </a:endParaRPr>
          </a:p>
          <a:p>
            <a:pPr lvl="1"/>
            <a:r>
              <a:rPr lang="en-US" altLang="en-US" sz="2400" dirty="0">
                <a:cs typeface="B Nazanin" panose="00000400000000000000" pitchFamily="2" charset="-78"/>
              </a:rPr>
              <a:t> Omitting  of </a:t>
            </a:r>
            <a:r>
              <a:rPr lang="en-US" altLang="en-US" sz="2400" b="1" dirty="0">
                <a:latin typeface="Courier New" panose="02070309020205020404" pitchFamily="49" charset="0"/>
                <a:cs typeface="B Nazanin" panose="00000400000000000000" pitchFamily="2" charset="-78"/>
              </a:rPr>
              <a:t>wait (mutex) </a:t>
            </a:r>
            <a:r>
              <a:rPr lang="en-US" altLang="en-US" sz="2400" dirty="0">
                <a:cs typeface="B Nazanin" panose="00000400000000000000" pitchFamily="2" charset="-78"/>
              </a:rPr>
              <a:t>and/or </a:t>
            </a:r>
            <a:r>
              <a:rPr lang="en-US" altLang="en-US" sz="2400" b="1" dirty="0">
                <a:latin typeface="Courier New" panose="02070309020205020404" pitchFamily="49" charset="0"/>
                <a:cs typeface="B Nazanin" panose="00000400000000000000" pitchFamily="2" charset="-78"/>
              </a:rPr>
              <a:t>signal (mutex)</a:t>
            </a:r>
            <a:endParaRPr lang="en-US" altLang="en-US" sz="2400" dirty="0">
              <a:cs typeface="B Nazanin" panose="00000400000000000000" pitchFamily="2" charset="-78"/>
            </a:endParaRPr>
          </a:p>
          <a:p>
            <a:pPr lvl="1"/>
            <a:endParaRPr lang="en-US" altLang="en-US" sz="2400" dirty="0">
              <a:cs typeface="B Nazanin" panose="00000400000000000000" pitchFamily="2" charset="-78"/>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این موارد - و موارد دیگر - نمونه‌هایی از اتفاقاتی هستند که می‌توانند در صورت استفاده نادرست از سِمافورها و سایر ابزارهای همگام‌سازی رخ دهند</a:t>
            </a:r>
            <a:r>
              <a:rPr lang="en-US" sz="2400" dirty="0">
                <a:effectLst/>
                <a:latin typeface="Calibri" panose="020F0502020204030204" pitchFamily="34" charset="0"/>
                <a:ea typeface="Calibri" panose="020F0502020204030204" pitchFamily="34" charset="0"/>
                <a:cs typeface="B Nazanin" panose="00000400000000000000" pitchFamily="2" charset="-78"/>
              </a:rPr>
              <a:t>.</a:t>
            </a:r>
          </a:p>
          <a:p>
            <a:endParaRPr lang="en-US" altLang="en-US" sz="2400" dirty="0">
              <a:cs typeface="B Nazanin" panose="00000400000000000000" pitchFamily="2" charset="-78"/>
            </a:endParaRPr>
          </a:p>
          <a:p>
            <a:endParaRPr lang="en-US" altLang="en-US" sz="2400" dirty="0">
              <a:cs typeface="B Nazanin" panose="00000400000000000000" pitchFamily="2" charset="-78"/>
            </a:endParaRPr>
          </a:p>
          <a:p>
            <a:endParaRPr lang="en-US" altLang="en-US" sz="2400" dirty="0">
              <a:cs typeface="B Nazanin" panose="00000400000000000000" pitchFamily="2" charset="-78"/>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D8EF5652-864F-45D9-B03A-C5641C84E4D5}"/>
              </a:ext>
            </a:extLst>
          </p:cNvPr>
          <p:cNvSpPr>
            <a:spLocks noGrp="1" noChangeArrowheads="1"/>
          </p:cNvSpPr>
          <p:nvPr>
            <p:ph type="title"/>
          </p:nvPr>
        </p:nvSpPr>
        <p:spPr>
          <a:xfrm>
            <a:off x="457200" y="222868"/>
            <a:ext cx="8229600" cy="576262"/>
          </a:xfrm>
        </p:spPr>
        <p:txBody>
          <a:bodyPr/>
          <a:lstStyle/>
          <a:p>
            <a:pPr eaLnBrk="1" hangingPunct="1"/>
            <a:r>
              <a:rPr lang="en-US" altLang="en-US" dirty="0"/>
              <a:t>Monitors</a:t>
            </a:r>
          </a:p>
        </p:txBody>
      </p:sp>
      <p:sp>
        <p:nvSpPr>
          <p:cNvPr id="59394" name="Rectangle 3">
            <a:extLst>
              <a:ext uri="{FF2B5EF4-FFF2-40B4-BE49-F238E27FC236}">
                <a16:creationId xmlns:a16="http://schemas.microsoft.com/office/drawing/2014/main" id="{FD3AB3C2-A7A5-4526-A61F-5C1CB7C4C0BB}"/>
              </a:ext>
            </a:extLst>
          </p:cNvPr>
          <p:cNvSpPr>
            <a:spLocks noGrp="1" noChangeArrowheads="1"/>
          </p:cNvSpPr>
          <p:nvPr>
            <p:ph idx="1"/>
          </p:nvPr>
        </p:nvSpPr>
        <p:spPr>
          <a:xfrm>
            <a:off x="880377" y="998537"/>
            <a:ext cx="7691178" cy="4860925"/>
          </a:xfrm>
        </p:spPr>
        <p:txBody>
          <a:bodyPr/>
          <a:lstStyle/>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یک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نوع داده انتزاعی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400" dirty="0">
                <a:latin typeface="Times New Roman" panose="02020603050405020304" pitchFamily="18" charset="0"/>
                <a:ea typeface="Times New Roman" panose="02020603050405020304" pitchFamily="18" charset="0"/>
                <a:cs typeface="B Nazanin" panose="00000400000000000000" pitchFamily="2" charset="-78"/>
              </a:rPr>
              <a:t>Abstract Data Type</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400" dirty="0">
                <a:latin typeface="Times New Roman" panose="02020603050405020304" pitchFamily="18" charset="0"/>
                <a:ea typeface="Times New Roman" panose="02020603050405020304" pitchFamily="18" charset="0"/>
                <a:cs typeface="B Nazanin" panose="00000400000000000000" pitchFamily="2" charset="-78"/>
              </a:rPr>
              <a:t>ADT</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که یک مکانیزم راحت و مؤثر برای همگام‌سازی فرآیند را فراهم می‌کند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نوع داده انتزاعی، متغیرهای داخلی فقط توسط کد درون رویه</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(مانیتور)</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قابل دسترسی هستند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فقط یک فرآیند می‌تواند در یک زمان در داخل مانیتور فعال باشد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نحوه نگارش شبه کد یک مانیتور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lvl="2">
              <a:lnSpc>
                <a:spcPct val="80000"/>
              </a:lnSpc>
              <a:buFont typeface="Webdings" panose="05030102010509060703" pitchFamily="18" charset="2"/>
              <a:buNone/>
            </a:pPr>
            <a:endParaRPr lang="en-US" altLang="en-US" sz="1600" dirty="0">
              <a:solidFill>
                <a:srgbClr val="0000FF"/>
              </a:solidFill>
            </a:endParaRPr>
          </a:p>
          <a:p>
            <a:pPr lvl="2">
              <a:lnSpc>
                <a:spcPct val="80000"/>
              </a:lnSpc>
              <a:buFont typeface="Webdings" panose="05030102010509060703" pitchFamily="18" charset="2"/>
              <a:buNone/>
            </a:pPr>
            <a:r>
              <a:rPr lang="en-US" altLang="en-US" dirty="0">
                <a:solidFill>
                  <a:srgbClr val="000000"/>
                </a:solidFill>
                <a:latin typeface="Consolas" panose="020B0609020204030204" pitchFamily="49" charset="0"/>
              </a:rPr>
              <a:t>monitor monitor-name</a:t>
            </a:r>
          </a:p>
          <a:p>
            <a:pPr lvl="2">
              <a:lnSpc>
                <a:spcPct val="80000"/>
              </a:lnSpc>
              <a:buFont typeface="Webdings" panose="05030102010509060703" pitchFamily="18" charset="2"/>
              <a:buNone/>
            </a:pPr>
            <a:r>
              <a:rPr lang="en-US" altLang="en-US" dirty="0">
                <a:solidFill>
                  <a:srgbClr val="000000"/>
                </a:solidFill>
                <a:latin typeface="Consolas" panose="020B0609020204030204" pitchFamily="49" charset="0"/>
              </a:rPr>
              <a:t>{</a:t>
            </a:r>
          </a:p>
          <a:p>
            <a:pPr lvl="2">
              <a:lnSpc>
                <a:spcPct val="80000"/>
              </a:lnSpc>
              <a:buFont typeface="Webdings" panose="05030102010509060703" pitchFamily="18" charset="2"/>
              <a:buNone/>
            </a:pPr>
            <a:r>
              <a:rPr lang="en-US" altLang="en-US" dirty="0">
                <a:solidFill>
                  <a:srgbClr val="000000"/>
                </a:solidFill>
                <a:latin typeface="Consolas" panose="020B0609020204030204" pitchFamily="49" charset="0"/>
              </a:rPr>
              <a:t>	// shared variable declarations</a:t>
            </a:r>
          </a:p>
          <a:p>
            <a:pPr lvl="2">
              <a:lnSpc>
                <a:spcPct val="80000"/>
              </a:lnSpc>
              <a:buFont typeface="Webdings" panose="05030102010509060703" pitchFamily="18" charset="2"/>
              <a:buNone/>
            </a:pPr>
            <a:r>
              <a:rPr lang="en-US" altLang="en-US" dirty="0">
                <a:solidFill>
                  <a:srgbClr val="000000"/>
                </a:solidFill>
                <a:latin typeface="Consolas" panose="020B0609020204030204" pitchFamily="49" charset="0"/>
              </a:rPr>
              <a:t>	function P1 (…) { …. }</a:t>
            </a:r>
          </a:p>
          <a:p>
            <a:pPr lvl="2">
              <a:lnSpc>
                <a:spcPct val="80000"/>
              </a:lnSpc>
              <a:buFont typeface="Webdings" panose="05030102010509060703" pitchFamily="18" charset="2"/>
              <a:buNone/>
            </a:pPr>
            <a:r>
              <a:rPr lang="en-US" altLang="en-US" dirty="0">
                <a:solidFill>
                  <a:srgbClr val="000000"/>
                </a:solidFill>
                <a:latin typeface="Consolas" panose="020B0609020204030204" pitchFamily="49" charset="0"/>
              </a:rPr>
              <a:t>	function P2 (…) { …. }</a:t>
            </a:r>
          </a:p>
          <a:p>
            <a:pPr lvl="2">
              <a:lnSpc>
                <a:spcPct val="80000"/>
              </a:lnSpc>
              <a:buFont typeface="Webdings" panose="05030102010509060703" pitchFamily="18" charset="2"/>
              <a:buNone/>
            </a:pPr>
            <a:r>
              <a:rPr lang="en-US" altLang="en-US" dirty="0">
                <a:solidFill>
                  <a:srgbClr val="000000"/>
                </a:solidFill>
                <a:latin typeface="Consolas" panose="020B0609020204030204" pitchFamily="49" charset="0"/>
              </a:rPr>
              <a:t>	function </a:t>
            </a:r>
            <a:r>
              <a:rPr lang="en-US" altLang="en-US" dirty="0" err="1">
                <a:solidFill>
                  <a:srgbClr val="000000"/>
                </a:solidFill>
                <a:latin typeface="Consolas" panose="020B0609020204030204" pitchFamily="49" charset="0"/>
              </a:rPr>
              <a:t>Pn</a:t>
            </a:r>
            <a:r>
              <a:rPr lang="en-US" altLang="en-US" dirty="0">
                <a:solidFill>
                  <a:srgbClr val="000000"/>
                </a:solidFill>
                <a:latin typeface="Consolas" panose="020B0609020204030204" pitchFamily="49" charset="0"/>
              </a:rPr>
              <a:t> (…) {……}</a:t>
            </a:r>
          </a:p>
          <a:p>
            <a:pPr lvl="2">
              <a:lnSpc>
                <a:spcPct val="80000"/>
              </a:lnSpc>
              <a:buFont typeface="Webdings" panose="05030102010509060703" pitchFamily="18" charset="2"/>
              <a:buNone/>
            </a:pPr>
            <a:r>
              <a:rPr lang="en-US" altLang="en-US" dirty="0">
                <a:solidFill>
                  <a:srgbClr val="000000"/>
                </a:solidFill>
                <a:latin typeface="Consolas" panose="020B0609020204030204" pitchFamily="49" charset="0"/>
              </a:rPr>
              <a:t>  initialization code (…) { … }</a:t>
            </a:r>
          </a:p>
          <a:p>
            <a:pPr lvl="2">
              <a:lnSpc>
                <a:spcPct val="80000"/>
              </a:lnSpc>
              <a:buFont typeface="Webdings" panose="05030102010509060703" pitchFamily="18" charset="2"/>
              <a:buNone/>
            </a:pPr>
            <a:r>
              <a:rPr lang="en-US" altLang="en-US" dirty="0">
                <a:solidFill>
                  <a:srgbClr val="000000"/>
                </a:solidFill>
                <a:latin typeface="Consolas" panose="020B0609020204030204" pitchFamily="49" charset="0"/>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85F15-2FBF-7330-1667-CD4FF4AD1F60}"/>
            </a:ext>
          </a:extLst>
        </p:cNvPr>
        <p:cNvGrpSpPr/>
        <p:nvPr/>
      </p:nvGrpSpPr>
      <p:grpSpPr>
        <a:xfrm>
          <a:off x="0" y="0"/>
          <a:ext cx="0" cy="0"/>
          <a:chOff x="0" y="0"/>
          <a:chExt cx="0" cy="0"/>
        </a:xfrm>
      </p:grpSpPr>
      <p:sp>
        <p:nvSpPr>
          <p:cNvPr id="59393" name="Rectangle 2">
            <a:extLst>
              <a:ext uri="{FF2B5EF4-FFF2-40B4-BE49-F238E27FC236}">
                <a16:creationId xmlns:a16="http://schemas.microsoft.com/office/drawing/2014/main" id="{DC4207EE-1E0D-E67E-840A-F1C314D36845}"/>
              </a:ext>
            </a:extLst>
          </p:cNvPr>
          <p:cNvSpPr>
            <a:spLocks noGrp="1" noChangeArrowheads="1"/>
          </p:cNvSpPr>
          <p:nvPr>
            <p:ph type="title"/>
          </p:nvPr>
        </p:nvSpPr>
        <p:spPr>
          <a:xfrm>
            <a:off x="457200" y="222868"/>
            <a:ext cx="8229600" cy="576262"/>
          </a:xfrm>
        </p:spPr>
        <p:txBody>
          <a:bodyPr/>
          <a:lstStyle/>
          <a:p>
            <a:pPr eaLnBrk="1" hangingPunct="1"/>
            <a:r>
              <a:rPr lang="en-US" altLang="en-US" sz="2000" dirty="0" err="1"/>
              <a:t>Monitors:</a:t>
            </a:r>
            <a:r>
              <a:rPr lang="en-US" sz="2000" dirty="0" err="1"/>
              <a:t>a</a:t>
            </a:r>
            <a:r>
              <a:rPr lang="en-US" sz="2000" dirty="0"/>
              <a:t> simple counter that prevents the value going below 0</a:t>
            </a:r>
            <a:endParaRPr lang="en-US" altLang="en-US" sz="2000" dirty="0"/>
          </a:p>
        </p:txBody>
      </p:sp>
      <p:pic>
        <p:nvPicPr>
          <p:cNvPr id="3" name="Content Placeholder 2">
            <a:extLst>
              <a:ext uri="{FF2B5EF4-FFF2-40B4-BE49-F238E27FC236}">
                <a16:creationId xmlns:a16="http://schemas.microsoft.com/office/drawing/2014/main" id="{8AA7EC46-30FB-8246-43C7-F3502ADA05E0}"/>
              </a:ext>
            </a:extLst>
          </p:cNvPr>
          <p:cNvPicPr>
            <a:picLocks noGrp="1" noChangeAspect="1"/>
          </p:cNvPicPr>
          <p:nvPr>
            <p:ph idx="1"/>
          </p:nvPr>
        </p:nvPicPr>
        <p:blipFill>
          <a:blip r:embed="rId3"/>
          <a:stretch>
            <a:fillRect/>
          </a:stretch>
        </p:blipFill>
        <p:spPr bwMode="auto">
          <a:xfrm>
            <a:off x="2680854" y="1588278"/>
            <a:ext cx="7689850" cy="4485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2E82A30-79C0-C967-92C9-099477C28492}"/>
              </a:ext>
            </a:extLst>
          </p:cNvPr>
          <p:cNvSpPr txBox="1"/>
          <p:nvPr/>
        </p:nvSpPr>
        <p:spPr>
          <a:xfrm>
            <a:off x="457200" y="1780320"/>
            <a:ext cx="3210791" cy="4708981"/>
          </a:xfrm>
          <a:prstGeom prst="rect">
            <a:avLst/>
          </a:prstGeom>
          <a:noFill/>
        </p:spPr>
        <p:txBody>
          <a:bodyPr wrap="square">
            <a:spAutoFit/>
          </a:bodyPr>
          <a:lstStyle/>
          <a:p>
            <a:r>
              <a:rPr lang="en-US" sz="1200" dirty="0"/>
              <a:t>monitor Counter {</a:t>
            </a:r>
          </a:p>
          <a:p>
            <a:endParaRPr lang="en-US" sz="1200" dirty="0"/>
          </a:p>
          <a:p>
            <a:r>
              <a:rPr lang="en-US" sz="1200" dirty="0"/>
              <a:t>    // shared variable</a:t>
            </a:r>
          </a:p>
          <a:p>
            <a:r>
              <a:rPr lang="en-US" sz="1200" dirty="0"/>
              <a:t>    int count</a:t>
            </a:r>
          </a:p>
          <a:p>
            <a:endParaRPr lang="en-US" sz="1200" dirty="0"/>
          </a:p>
          <a:p>
            <a:r>
              <a:rPr lang="en-US" sz="1200" dirty="0"/>
              <a:t>    condition </a:t>
            </a:r>
            <a:r>
              <a:rPr lang="en-US" sz="1200" dirty="0" err="1"/>
              <a:t>nonZero</a:t>
            </a:r>
            <a:r>
              <a:rPr lang="en-US" sz="1200" dirty="0"/>
              <a:t>   // threads wait here when count = 0</a:t>
            </a:r>
          </a:p>
          <a:p>
            <a:endParaRPr lang="en-US" sz="1200" dirty="0"/>
          </a:p>
          <a:p>
            <a:r>
              <a:rPr lang="en-US" sz="1200" dirty="0"/>
              <a:t>    function increment() {</a:t>
            </a:r>
          </a:p>
          <a:p>
            <a:r>
              <a:rPr lang="en-US" sz="1200" dirty="0"/>
              <a:t>        count++</a:t>
            </a:r>
          </a:p>
          <a:p>
            <a:r>
              <a:rPr lang="en-US" sz="1200" dirty="0"/>
              <a:t>        </a:t>
            </a:r>
            <a:r>
              <a:rPr lang="en-US" sz="1200" dirty="0" err="1"/>
              <a:t>nonZero.signal</a:t>
            </a:r>
            <a:r>
              <a:rPr lang="en-US" sz="1200" dirty="0"/>
              <a:t>()    // wake anyone waiting to decrement</a:t>
            </a:r>
          </a:p>
          <a:p>
            <a:r>
              <a:rPr lang="en-US" sz="1200" dirty="0"/>
              <a:t>    }</a:t>
            </a:r>
          </a:p>
          <a:p>
            <a:endParaRPr lang="en-US" sz="1200" dirty="0"/>
          </a:p>
          <a:p>
            <a:r>
              <a:rPr lang="en-US" sz="1200" dirty="0"/>
              <a:t>    function decrement() {</a:t>
            </a:r>
          </a:p>
          <a:p>
            <a:r>
              <a:rPr lang="en-US" sz="1200" dirty="0"/>
              <a:t>        if (count == 0)</a:t>
            </a:r>
          </a:p>
          <a:p>
            <a:r>
              <a:rPr lang="en-US" sz="1200" dirty="0"/>
              <a:t>            </a:t>
            </a:r>
            <a:r>
              <a:rPr lang="en-US" sz="1200" dirty="0" err="1"/>
              <a:t>nonZero.wait</a:t>
            </a:r>
            <a:r>
              <a:rPr lang="en-US" sz="1200" dirty="0"/>
              <a:t>()  // release lock and sleep</a:t>
            </a:r>
          </a:p>
          <a:p>
            <a:r>
              <a:rPr lang="en-US" sz="1200" dirty="0"/>
              <a:t>        count--</a:t>
            </a:r>
          </a:p>
          <a:p>
            <a:r>
              <a:rPr lang="en-US" sz="1200" dirty="0"/>
              <a:t>    }</a:t>
            </a:r>
          </a:p>
          <a:p>
            <a:endParaRPr lang="en-US" sz="1200" dirty="0"/>
          </a:p>
          <a:p>
            <a:r>
              <a:rPr lang="en-US" sz="1200" dirty="0"/>
              <a:t>    initialization() {</a:t>
            </a:r>
          </a:p>
          <a:p>
            <a:r>
              <a:rPr lang="en-US" sz="1200" dirty="0"/>
              <a:t>        count = 0</a:t>
            </a:r>
          </a:p>
          <a:p>
            <a:r>
              <a:rPr lang="en-US" sz="1200" dirty="0"/>
              <a:t>    }</a:t>
            </a:r>
          </a:p>
          <a:p>
            <a:r>
              <a:rPr lang="en-US" sz="1200" dirty="0"/>
              <a:t>}</a:t>
            </a:r>
          </a:p>
        </p:txBody>
      </p:sp>
    </p:spTree>
    <p:extLst>
      <p:ext uri="{BB962C8B-B14F-4D97-AF65-F5344CB8AC3E}">
        <p14:creationId xmlns:p14="http://schemas.microsoft.com/office/powerpoint/2010/main" val="16252931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B4923FCB-66D7-440A-AA43-CBFF531DF558}"/>
              </a:ext>
            </a:extLst>
          </p:cNvPr>
          <p:cNvSpPr>
            <a:spLocks noGrp="1" noChangeArrowheads="1"/>
          </p:cNvSpPr>
          <p:nvPr>
            <p:ph type="title"/>
          </p:nvPr>
        </p:nvSpPr>
        <p:spPr>
          <a:xfrm>
            <a:off x="1222375" y="213537"/>
            <a:ext cx="7464425" cy="576262"/>
          </a:xfrm>
        </p:spPr>
        <p:txBody>
          <a:bodyPr/>
          <a:lstStyle/>
          <a:p>
            <a:pPr eaLnBrk="1" hangingPunct="1"/>
            <a:r>
              <a:rPr lang="en-US" altLang="en-US" dirty="0"/>
              <a:t>Schematic view of a Monitor</a:t>
            </a:r>
          </a:p>
        </p:txBody>
      </p:sp>
      <p:pic>
        <p:nvPicPr>
          <p:cNvPr id="61442" name="Picture 1">
            <a:extLst>
              <a:ext uri="{FF2B5EF4-FFF2-40B4-BE49-F238E27FC236}">
                <a16:creationId xmlns:a16="http://schemas.microsoft.com/office/drawing/2014/main" id="{C3D3F299-7901-40B9-A225-DFB5D193D4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4723" y="1078487"/>
            <a:ext cx="4275138"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8E3BF78-B8CE-409F-B43E-8D7D3FCE2FA8}"/>
              </a:ext>
            </a:extLst>
          </p:cNvPr>
          <p:cNvSpPr txBox="1"/>
          <p:nvPr/>
        </p:nvSpPr>
        <p:spPr>
          <a:xfrm>
            <a:off x="3114989" y="1930400"/>
            <a:ext cx="5844285" cy="4747005"/>
          </a:xfrm>
          <a:prstGeom prst="rect">
            <a:avLst/>
          </a:prstGeom>
          <a:noFill/>
        </p:spPr>
        <p:txBody>
          <a:bodyPr wrap="square">
            <a:spAutoFit/>
          </a:bodyPr>
          <a:lstStyle/>
          <a:p>
            <a:pPr marL="285750" marR="0" indent="-285750" algn="r" rtl="1">
              <a:lnSpc>
                <a:spcPct val="107000"/>
              </a:lnSpc>
              <a:spcBef>
                <a:spcPts val="0"/>
              </a:spcBef>
              <a:spcAft>
                <a:spcPts val="800"/>
              </a:spcAft>
              <a:buFont typeface="Wingdings" panose="05000000000000000000" pitchFamily="2" charset="2"/>
              <a:buChar char="v"/>
            </a:pPr>
            <a:r>
              <a:rPr lang="ar-SA" sz="2400" dirty="0">
                <a:solidFill>
                  <a:srgbClr val="1F1F1F"/>
                </a:solidFill>
                <a:effectLst/>
                <a:latin typeface="Google Sans"/>
                <a:ea typeface="Times New Roman" panose="02020603050405020304" pitchFamily="18" charset="0"/>
                <a:cs typeface="B Nazanin" panose="00000400000000000000" pitchFamily="2" charset="-78"/>
              </a:rPr>
              <a:t>عبارت "مانیتور" (</a:t>
            </a:r>
            <a:r>
              <a:rPr lang="en-US" sz="2400" dirty="0">
                <a:solidFill>
                  <a:srgbClr val="1F1F1F"/>
                </a:solidFill>
                <a:effectLst/>
                <a:latin typeface="Google Sans"/>
                <a:ea typeface="Times New Roman" panose="02020603050405020304" pitchFamily="18" charset="0"/>
                <a:cs typeface="B Nazanin" panose="00000400000000000000" pitchFamily="2" charset="-78"/>
              </a:rPr>
              <a:t>monitor</a:t>
            </a:r>
            <a:r>
              <a:rPr lang="ar-SA" sz="2400" dirty="0">
                <a:solidFill>
                  <a:srgbClr val="1F1F1F"/>
                </a:solidFill>
                <a:effectLst/>
                <a:latin typeface="Google Sans"/>
                <a:ea typeface="Times New Roman" panose="02020603050405020304" pitchFamily="18" charset="0"/>
                <a:cs typeface="B Nazanin" panose="00000400000000000000" pitchFamily="2" charset="-78"/>
              </a:rPr>
              <a:t>) تضمین می کند که تنها یک فرآیند در یک زمان درون مانیتور فعال باشد</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285750" marR="0" indent="-285750" algn="r" rtl="1">
              <a:lnSpc>
                <a:spcPct val="107000"/>
              </a:lnSpc>
              <a:spcBef>
                <a:spcPts val="0"/>
              </a:spcBef>
              <a:spcAft>
                <a:spcPts val="800"/>
              </a:spcAft>
              <a:buFont typeface="Wingdings" panose="05000000000000000000" pitchFamily="2" charset="2"/>
              <a:buChar char="v"/>
            </a:pPr>
            <a:r>
              <a:rPr lang="ar-SA" sz="2400" dirty="0">
                <a:effectLst/>
                <a:latin typeface="Calibri" panose="020F0502020204030204" pitchFamily="34" charset="0"/>
                <a:ea typeface="Calibri" panose="020F0502020204030204" pitchFamily="34" charset="0"/>
                <a:cs typeface="B Nazanin" panose="00000400000000000000" pitchFamily="2" charset="-78"/>
              </a:rPr>
              <a:t>ساختار مانیتور</a:t>
            </a:r>
            <a:r>
              <a:rPr lang="en-US" sz="2400" dirty="0">
                <a:effectLst/>
                <a:latin typeface="Calibri" panose="020F0502020204030204" pitchFamily="34" charset="0"/>
                <a:ea typeface="Calibri" panose="020F0502020204030204" pitchFamily="34" charset="0"/>
                <a:cs typeface="B Nazanin" panose="00000400000000000000" pitchFamily="2" charset="-78"/>
              </a:rPr>
              <a:t> (monitor construct) </a:t>
            </a:r>
            <a:r>
              <a:rPr lang="ar-SA" sz="2400" dirty="0">
                <a:effectLst/>
                <a:latin typeface="Calibri" panose="020F0502020204030204" pitchFamily="34" charset="0"/>
                <a:ea typeface="Calibri" panose="020F0502020204030204" pitchFamily="34" charset="0"/>
                <a:cs typeface="B Nazanin" panose="00000400000000000000" pitchFamily="2" charset="-78"/>
              </a:rPr>
              <a:t>برای مدل سازی برخی از </a:t>
            </a:r>
            <a:r>
              <a:rPr lang="ar-SA" sz="2400" b="1" dirty="0">
                <a:effectLst/>
                <a:latin typeface="Calibri" panose="020F0502020204030204" pitchFamily="34" charset="0"/>
                <a:ea typeface="Calibri" panose="020F0502020204030204" pitchFamily="34" charset="0"/>
                <a:cs typeface="B Nazanin" panose="00000400000000000000" pitchFamily="2" charset="-78"/>
              </a:rPr>
              <a:t>طرح های همگام سازی به قدر کافی قدرتمند نیست</a:t>
            </a:r>
            <a:r>
              <a:rPr lang="en-US" sz="2400" dirty="0">
                <a:effectLst/>
                <a:latin typeface="Calibri" panose="020F0502020204030204" pitchFamily="34" charset="0"/>
                <a:ea typeface="Calibri" panose="020F0502020204030204" pitchFamily="34" charset="0"/>
                <a:cs typeface="B Nazanin" panose="00000400000000000000" pitchFamily="2" charset="-78"/>
              </a:rPr>
              <a:t>. </a:t>
            </a:r>
          </a:p>
          <a:p>
            <a:pPr marL="741363" lvl="1" indent="-285750" algn="r" rtl="1">
              <a:lnSpc>
                <a:spcPct val="107000"/>
              </a:lnSpc>
              <a:spcBef>
                <a:spcPts val="0"/>
              </a:spcBef>
              <a:spcAft>
                <a:spcPts val="800"/>
              </a:spcAft>
              <a:buFont typeface="Wingdings" panose="05000000000000000000" pitchFamily="2" charset="2"/>
              <a:buChar char="v"/>
            </a:pPr>
            <a:r>
              <a:rPr lang="ar-SA" sz="2400" dirty="0">
                <a:effectLst/>
                <a:latin typeface="Calibri" panose="020F0502020204030204" pitchFamily="34" charset="0"/>
                <a:ea typeface="Calibri" panose="020F0502020204030204" pitchFamily="34" charset="0"/>
                <a:cs typeface="B Nazanin" panose="00000400000000000000" pitchFamily="2" charset="-78"/>
              </a:rPr>
              <a:t>برای این منظور، ما باید مکانیزم‌های همگام‌سازی اضافی تعریف کنیم</a:t>
            </a:r>
            <a:r>
              <a:rPr lang="fa-IR" sz="2400" dirty="0">
                <a:effectLst/>
                <a:latin typeface="Calibri" panose="020F0502020204030204" pitchFamily="34" charset="0"/>
                <a:ea typeface="Calibri" panose="020F0502020204030204" pitchFamily="34" charset="0"/>
                <a:cs typeface="B Nazanin" panose="00000400000000000000" pitchFamily="2" charset="-78"/>
              </a:rPr>
              <a:t>. </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این مکانیزم ها توسط ساختار شرط</a:t>
            </a:r>
            <a:r>
              <a:rPr lang="en-US" sz="2400" dirty="0">
                <a:effectLst/>
                <a:latin typeface="Calibri" panose="020F0502020204030204" pitchFamily="34" charset="0"/>
                <a:ea typeface="Calibri" panose="020F0502020204030204" pitchFamily="34" charset="0"/>
                <a:cs typeface="B Nazanin" panose="00000400000000000000" pitchFamily="2" charset="-78"/>
              </a:rPr>
              <a:t> (condition construct) </a:t>
            </a:r>
            <a:r>
              <a:rPr lang="ar-SA" sz="2400" dirty="0">
                <a:effectLst/>
                <a:latin typeface="Calibri" panose="020F0502020204030204" pitchFamily="34" charset="0"/>
                <a:ea typeface="Calibri" panose="020F0502020204030204" pitchFamily="34" charset="0"/>
                <a:cs typeface="B Nazanin" panose="00000400000000000000" pitchFamily="2" charset="-78"/>
              </a:rPr>
              <a:t>ارائه می شوند</a:t>
            </a:r>
            <a:r>
              <a:rPr lang="en-US" sz="2400" dirty="0">
                <a:effectLst/>
                <a:latin typeface="Calibri" panose="020F0502020204030204" pitchFamily="34" charset="0"/>
                <a:ea typeface="Calibri" panose="020F0502020204030204" pitchFamily="34" charset="0"/>
                <a:cs typeface="B Nazanin" panose="00000400000000000000" pitchFamily="2" charset="-78"/>
              </a:rPr>
              <a:t>.</a:t>
            </a:r>
          </a:p>
          <a:p>
            <a:pPr marL="741363" lvl="1" indent="-285750" algn="r" rtl="1">
              <a:lnSpc>
                <a:spcPct val="107000"/>
              </a:lnSpc>
              <a:spcBef>
                <a:spcPts val="0"/>
              </a:spcBef>
              <a:spcAft>
                <a:spcPts val="800"/>
              </a:spcAft>
              <a:buFont typeface="Wingdings" panose="05000000000000000000" pitchFamily="2" charset="2"/>
              <a:buChar char="v"/>
            </a:pPr>
            <a:r>
              <a:rPr lang="ar-SA" sz="2400" dirty="0">
                <a:effectLst/>
                <a:latin typeface="Calibri" panose="020F0502020204030204" pitchFamily="34" charset="0"/>
                <a:ea typeface="Calibri" panose="020F0502020204030204" pitchFamily="34" charset="0"/>
                <a:cs typeface="B Nazanin" panose="00000400000000000000" pitchFamily="2" charset="-78"/>
              </a:rPr>
              <a:t>برنامه نویسی که نیاز به نوشتن یک طرح همگام سازی سفارشی دارد، می تواند یک یا چند متغیر از نوع شرط</a:t>
            </a:r>
            <a:r>
              <a:rPr lang="en-US" sz="2400" dirty="0">
                <a:effectLst/>
                <a:latin typeface="Calibri" panose="020F0502020204030204" pitchFamily="34" charset="0"/>
                <a:ea typeface="Calibri" panose="020F0502020204030204" pitchFamily="34" charset="0"/>
                <a:cs typeface="B Nazanin" panose="00000400000000000000" pitchFamily="2" charset="-78"/>
              </a:rPr>
              <a:t> (condition) </a:t>
            </a:r>
            <a:r>
              <a:rPr lang="ar-SA" sz="2400" dirty="0">
                <a:effectLst/>
                <a:latin typeface="Calibri" panose="020F0502020204030204" pitchFamily="34" charset="0"/>
                <a:ea typeface="Calibri" panose="020F0502020204030204" pitchFamily="34" charset="0"/>
                <a:cs typeface="B Nazanin" panose="00000400000000000000" pitchFamily="2" charset="-78"/>
              </a:rPr>
              <a:t>تعریف کند</a:t>
            </a:r>
            <a:r>
              <a:rPr lang="en-US" sz="2400" dirty="0">
                <a:effectLst/>
                <a:latin typeface="Calibri" panose="020F0502020204030204" pitchFamily="34" charset="0"/>
                <a:ea typeface="Calibri" panose="020F0502020204030204" pitchFamily="34" charset="0"/>
                <a:cs typeface="B Nazanin" panose="00000400000000000000" pitchFamily="2" charset="-78"/>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0F41CF7B-D2B1-4FB9-A034-C8DE3F4F04E5}"/>
              </a:ext>
            </a:extLst>
          </p:cNvPr>
          <p:cNvSpPr>
            <a:spLocks noGrp="1" noChangeArrowheads="1"/>
          </p:cNvSpPr>
          <p:nvPr>
            <p:ph type="title"/>
          </p:nvPr>
        </p:nvSpPr>
        <p:spPr>
          <a:xfrm>
            <a:off x="997080" y="-147408"/>
            <a:ext cx="8243758" cy="844550"/>
          </a:xfrm>
        </p:spPr>
        <p:txBody>
          <a:bodyPr/>
          <a:lstStyle/>
          <a:p>
            <a:pPr marL="0" marR="0" rtl="1">
              <a:lnSpc>
                <a:spcPct val="107000"/>
              </a:lnSpc>
              <a:spcBef>
                <a:spcPts val="0"/>
              </a:spcBef>
              <a:spcAft>
                <a:spcPts val="800"/>
              </a:spcAft>
            </a:pPr>
            <a:r>
              <a:rPr lang="fa-IR" sz="2400" dirty="0">
                <a:latin typeface="Times New Roman" panose="02020603050405020304" pitchFamily="18" charset="0"/>
                <a:ea typeface="Times New Roman" panose="02020603050405020304" pitchFamily="18" charset="0"/>
                <a:cs typeface="B Nazanin" panose="00000400000000000000" pitchFamily="2" charset="-78"/>
              </a:rPr>
              <a:t>پیاده سازی مانیتور </a:t>
            </a:r>
            <a:r>
              <a:rPr lang="ar-SA" sz="2400" b="1" dirty="0">
                <a:effectLst/>
                <a:latin typeface="Times New Roman" panose="02020603050405020304" pitchFamily="18" charset="0"/>
                <a:ea typeface="Times New Roman" panose="02020603050405020304" pitchFamily="18" charset="0"/>
                <a:cs typeface="B Nazanin" panose="00000400000000000000" pitchFamily="2" charset="-78"/>
              </a:rPr>
              <a:t>با استفاده از سِمافور</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69634" name="Rectangle 3">
            <a:extLst>
              <a:ext uri="{FF2B5EF4-FFF2-40B4-BE49-F238E27FC236}">
                <a16:creationId xmlns:a16="http://schemas.microsoft.com/office/drawing/2014/main" id="{AD9FED74-378E-47C8-BC46-4E9BB596D8F0}"/>
              </a:ext>
            </a:extLst>
          </p:cNvPr>
          <p:cNvSpPr>
            <a:spLocks noGrp="1" noChangeArrowheads="1"/>
          </p:cNvSpPr>
          <p:nvPr>
            <p:ph idx="1"/>
          </p:nvPr>
        </p:nvSpPr>
        <p:spPr>
          <a:xfrm>
            <a:off x="877077" y="1133475"/>
            <a:ext cx="7733523" cy="5243513"/>
          </a:xfrm>
        </p:spPr>
        <p:txBody>
          <a:bodyPr/>
          <a:lstStyle/>
          <a:p>
            <a:pPr algn="r" rtl="1">
              <a:lnSpc>
                <a:spcPct val="80000"/>
              </a:lnSpc>
              <a:tabLst>
                <a:tab pos="1887538" algn="l"/>
                <a:tab pos="2335213" algn="l"/>
                <a:tab pos="2506663" algn="l"/>
              </a:tabLst>
            </a:pPr>
            <a:r>
              <a:rPr lang="ar-SA" sz="2000" dirty="0">
                <a:effectLst/>
                <a:latin typeface="Calibri" panose="020F0502020204030204" pitchFamily="34" charset="0"/>
                <a:ea typeface="Calibri" panose="020F0502020204030204" pitchFamily="34" charset="0"/>
                <a:cs typeface="B Nazanin" panose="00000400000000000000" pitchFamily="2" charset="-78"/>
              </a:rPr>
              <a:t>متغیرها</a:t>
            </a:r>
            <a:r>
              <a:rPr lang="en-US" altLang="en-US" sz="2000" dirty="0"/>
              <a:t> </a:t>
            </a:r>
          </a:p>
          <a:p>
            <a:pPr>
              <a:lnSpc>
                <a:spcPct val="80000"/>
              </a:lnSpc>
              <a:buFont typeface="Monotype Sorts" pitchFamily="-84" charset="2"/>
              <a:buNone/>
              <a:tabLst>
                <a:tab pos="1887538" algn="l"/>
                <a:tab pos="2335213" algn="l"/>
                <a:tab pos="2506663" algn="l"/>
              </a:tabLst>
            </a:pPr>
            <a:endParaRPr lang="en-US" altLang="en-US" sz="2000" dirty="0"/>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semaphore mutex </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mutex = 1</a:t>
            </a:r>
            <a:br>
              <a:rPr lang="en-US" altLang="en-US" sz="2000" b="1" dirty="0">
                <a:solidFill>
                  <a:srgbClr val="000000"/>
                </a:solidFill>
                <a:latin typeface="Courier New" panose="02070309020205020404" pitchFamily="49" charset="0"/>
              </a:rPr>
            </a:br>
            <a:endParaRPr lang="en-US" altLang="en-US" sz="2000" b="1" dirty="0">
              <a:solidFill>
                <a:srgbClr val="000000"/>
              </a:solidFill>
              <a:latin typeface="Courier New" panose="02070309020205020404" pitchFamily="49" charset="0"/>
            </a:endParaRPr>
          </a:p>
          <a:p>
            <a:pPr marL="0" marR="0" algn="r" rtl="1">
              <a:lnSpc>
                <a:spcPct val="107000"/>
              </a:lnSpc>
              <a:spcBef>
                <a:spcPts val="0"/>
              </a:spcBef>
              <a:spcAft>
                <a:spcPts val="800"/>
              </a:spcAf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هر </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تابع</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P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با موارد زیر جایگزین می‌شود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a:lnSpc>
                <a:spcPct val="80000"/>
              </a:lnSpc>
              <a:tabLst>
                <a:tab pos="1887538" algn="l"/>
                <a:tab pos="2335213" algn="l"/>
                <a:tab pos="2506663" algn="l"/>
              </a:tabLst>
            </a:pPr>
            <a:r>
              <a:rPr lang="en-US" altLang="en-US" sz="2000" b="1" dirty="0">
                <a:solidFill>
                  <a:srgbClr val="000000"/>
                </a:solidFill>
                <a:latin typeface="Courier New" panose="02070309020205020404" pitchFamily="49" charset="0"/>
              </a:rPr>
              <a:t>Function P(){</a:t>
            </a:r>
          </a:p>
          <a:p>
            <a:pPr marL="0" indent="0">
              <a:lnSpc>
                <a:spcPct val="80000"/>
              </a:lnSpc>
              <a:buNone/>
              <a:tabLst>
                <a:tab pos="1887538" algn="l"/>
                <a:tab pos="2335213" algn="l"/>
                <a:tab pos="2506663" algn="l"/>
              </a:tabLst>
            </a:pPr>
            <a:r>
              <a:rPr lang="en-US" altLang="en-US" sz="2000" b="1" dirty="0">
                <a:solidFill>
                  <a:srgbClr val="000000"/>
                </a:solidFill>
                <a:latin typeface="Courier New" panose="02070309020205020404" pitchFamily="49" charset="0"/>
              </a:rPr>
              <a:t>			wait(mutex);</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body of P;</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     </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signal(mutex);</a:t>
            </a:r>
          </a:p>
          <a:p>
            <a:pPr>
              <a:lnSpc>
                <a:spcPct val="80000"/>
              </a:lnSpc>
              <a:spcBef>
                <a:spcPct val="15000"/>
              </a:spcBef>
              <a:buFont typeface="Monotype Sorts" pitchFamily="-84" charset="2"/>
              <a:buNone/>
              <a:tabLst>
                <a:tab pos="1887538" algn="l"/>
                <a:tab pos="2335213" algn="l"/>
                <a:tab pos="2506663" algn="l"/>
              </a:tabLst>
            </a:pPr>
            <a:r>
              <a:rPr lang="en-US" altLang="en-US" sz="2000" b="1" dirty="0">
                <a:solidFill>
                  <a:srgbClr val="000000"/>
                </a:solidFill>
                <a:latin typeface="Courier New" panose="02070309020205020404" pitchFamily="49" charset="0"/>
              </a:rPr>
              <a:t>   }</a:t>
            </a:r>
            <a:br>
              <a:rPr lang="en-US" altLang="en-US" sz="2000" b="1" dirty="0">
                <a:solidFill>
                  <a:srgbClr val="000000"/>
                </a:solidFill>
                <a:latin typeface="Courier New" panose="02070309020205020404" pitchFamily="49" charset="0"/>
              </a:rPr>
            </a:br>
            <a:endParaRPr lang="en-US" altLang="en-US" sz="2000" b="1" dirty="0">
              <a:solidFill>
                <a:srgbClr val="000000"/>
              </a:solidFill>
              <a:latin typeface="Courier New" panose="02070309020205020404" pitchFamily="49" charset="0"/>
            </a:endParaRPr>
          </a:p>
          <a:p>
            <a:pPr marL="0" marR="0" algn="r" rtl="1">
              <a:lnSpc>
                <a:spcPct val="107000"/>
              </a:lnSpc>
              <a:spcBef>
                <a:spcPts val="0"/>
              </a:spcBef>
              <a:spcAft>
                <a:spcPts val="800"/>
              </a:spcAft>
            </a:pPr>
            <a:r>
              <a:rPr lang="fa-IR" sz="2000" dirty="0">
                <a:effectLst/>
                <a:latin typeface="Calibri" panose="020F0502020204030204" pitchFamily="34" charset="0"/>
                <a:ea typeface="Calibri" panose="020F0502020204030204" pitchFamily="34" charset="0"/>
                <a:cs typeface="B Nazanin" panose="00000400000000000000" pitchFamily="2" charset="-78"/>
              </a:rPr>
              <a:t>انحصار</a:t>
            </a:r>
            <a:r>
              <a:rPr lang="ar-SA" sz="2000" dirty="0">
                <a:effectLst/>
                <a:latin typeface="Calibri" panose="020F0502020204030204" pitchFamily="34" charset="0"/>
                <a:ea typeface="Calibri" panose="020F0502020204030204" pitchFamily="34" charset="0"/>
                <a:cs typeface="B Nazanin" panose="00000400000000000000" pitchFamily="2" charset="-78"/>
              </a:rPr>
              <a:t> متقابل درون یک مانیتور تضمین می‌شود</a:t>
            </a:r>
            <a:r>
              <a:rPr lang="en-US" sz="2000" dirty="0">
                <a:effectLst/>
                <a:latin typeface="Calibri" panose="020F0502020204030204" pitchFamily="34" charset="0"/>
                <a:ea typeface="Calibri" panose="020F0502020204030204" pitchFamily="34"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a:lnSpc>
                <a:spcPct val="80000"/>
              </a:lnSpc>
              <a:tabLst>
                <a:tab pos="1887538" algn="l"/>
                <a:tab pos="2335213" algn="l"/>
                <a:tab pos="2506663" algn="l"/>
              </a:tabLst>
            </a:pPr>
            <a:endParaRPr lang="en-US" altLang="en-US" sz="2000" dirty="0"/>
          </a:p>
        </p:txBody>
      </p:sp>
    </p:spTree>
    <p:extLst>
      <p:ext uri="{BB962C8B-B14F-4D97-AF65-F5344CB8AC3E}">
        <p14:creationId xmlns:p14="http://schemas.microsoft.com/office/powerpoint/2010/main" val="24443706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a:extLst>
              <a:ext uri="{FF2B5EF4-FFF2-40B4-BE49-F238E27FC236}">
                <a16:creationId xmlns:a16="http://schemas.microsoft.com/office/drawing/2014/main" id="{574EFF2A-E6E5-4268-916F-B5A118FF1B2E}"/>
              </a:ext>
            </a:extLst>
          </p:cNvPr>
          <p:cNvSpPr>
            <a:spLocks noGrp="1" noChangeArrowheads="1"/>
          </p:cNvSpPr>
          <p:nvPr>
            <p:ph type="title"/>
          </p:nvPr>
        </p:nvSpPr>
        <p:spPr>
          <a:xfrm>
            <a:off x="1027113" y="217911"/>
            <a:ext cx="7659687" cy="576263"/>
          </a:xfrm>
        </p:spPr>
        <p:txBody>
          <a:bodyPr/>
          <a:lstStyle/>
          <a:p>
            <a:pPr eaLnBrk="1" hangingPunct="1"/>
            <a:r>
              <a:rPr lang="en-US" altLang="en-US" dirty="0"/>
              <a:t>Condition Variables</a:t>
            </a:r>
          </a:p>
        </p:txBody>
      </p:sp>
      <p:sp>
        <p:nvSpPr>
          <p:cNvPr id="63490" name="Rectangle 5">
            <a:extLst>
              <a:ext uri="{FF2B5EF4-FFF2-40B4-BE49-F238E27FC236}">
                <a16:creationId xmlns:a16="http://schemas.microsoft.com/office/drawing/2014/main" id="{E8899307-6996-47CE-A409-977A6B2D9949}"/>
              </a:ext>
            </a:extLst>
          </p:cNvPr>
          <p:cNvSpPr>
            <a:spLocks noGrp="1" noChangeArrowheads="1"/>
          </p:cNvSpPr>
          <p:nvPr>
            <p:ph idx="1"/>
          </p:nvPr>
        </p:nvSpPr>
        <p:spPr>
          <a:xfrm>
            <a:off x="827088" y="1150938"/>
            <a:ext cx="7659687" cy="4394200"/>
          </a:xfrm>
        </p:spPr>
        <p:txBody>
          <a:bodyPr/>
          <a:lstStyle/>
          <a:p>
            <a:r>
              <a:rPr lang="en-US" altLang="en-US" sz="2800" b="1" dirty="0">
                <a:solidFill>
                  <a:srgbClr val="000000"/>
                </a:solidFill>
                <a:latin typeface="Courier New" panose="02070309020205020404" pitchFamily="49" charset="0"/>
              </a:rPr>
              <a:t>condition x, y;</a:t>
            </a:r>
            <a:endParaRPr lang="en-US" altLang="en-US" sz="2800" dirty="0">
              <a:solidFill>
                <a:srgbClr val="0000FF"/>
              </a:solidFill>
            </a:endParaRPr>
          </a:p>
          <a:p>
            <a:pPr marL="0" marR="0" algn="r" rtl="1">
              <a:lnSpc>
                <a:spcPct val="107000"/>
              </a:lnSpc>
              <a:spcBef>
                <a:spcPts val="0"/>
              </a:spcBef>
              <a:spcAft>
                <a:spcPts val="800"/>
              </a:spcAf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دو عملیات روی یک متغیر شرط مجاز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en-US" sz="2800" b="1" dirty="0" err="1">
                <a:effectLst/>
                <a:latin typeface="Times New Roman" panose="02020603050405020304" pitchFamily="18" charset="0"/>
                <a:ea typeface="Times New Roman" panose="02020603050405020304" pitchFamily="18" charset="0"/>
                <a:cs typeface="B Nazanin" panose="00000400000000000000" pitchFamily="2" charset="-78"/>
              </a:rPr>
              <a:t>x.wait</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فرآیندی که این عملیات را فراخوانی می‌کند تا زمانی که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x.signal</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داده شود، معلق 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en-US" sz="2800" b="1" dirty="0" err="1">
                <a:effectLst/>
                <a:latin typeface="Times New Roman" panose="02020603050405020304" pitchFamily="18" charset="0"/>
                <a:ea typeface="Times New Roman" panose="02020603050405020304" pitchFamily="18" charset="0"/>
                <a:cs typeface="B Nazanin" panose="00000400000000000000" pitchFamily="2" charset="-78"/>
              </a:rPr>
              <a:t>x.signal</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یکی از فرآیندهایی را که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x.wait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را فراخوانی کرده‌اند (در صورت وجود) از سر می‌گیرد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Calibri" panose="020F0502020204030204" pitchFamily="34" charset="0"/>
              <a:ea typeface="Calibri" panose="020F0502020204030204" pitchFamily="34" charset="0"/>
              <a:cs typeface="Arial" panose="020B0604020202020204"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9762E27F-C786-4739-B149-00BEA2E58932}"/>
              </a:ext>
            </a:extLst>
          </p:cNvPr>
          <p:cNvSpPr>
            <a:spLocks noGrp="1" noChangeArrowheads="1"/>
          </p:cNvSpPr>
          <p:nvPr>
            <p:ph type="title"/>
          </p:nvPr>
        </p:nvSpPr>
        <p:spPr>
          <a:xfrm>
            <a:off x="882650" y="222868"/>
            <a:ext cx="7847013" cy="576262"/>
          </a:xfrm>
        </p:spPr>
        <p:txBody>
          <a:bodyPr/>
          <a:lstStyle/>
          <a:p>
            <a:pPr eaLnBrk="1" hangingPunct="1"/>
            <a:r>
              <a:rPr lang="en-US" altLang="en-US" dirty="0"/>
              <a:t> Monitor with Condition Variables</a:t>
            </a:r>
          </a:p>
        </p:txBody>
      </p:sp>
      <p:pic>
        <p:nvPicPr>
          <p:cNvPr id="65538" name="Picture 1">
            <a:extLst>
              <a:ext uri="{FF2B5EF4-FFF2-40B4-BE49-F238E27FC236}">
                <a16:creationId xmlns:a16="http://schemas.microsoft.com/office/drawing/2014/main" id="{DB48DE8F-C17D-4286-A385-B405B2E724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6320" y="1082776"/>
            <a:ext cx="7847013" cy="5426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فرآیندهای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P1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P2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در نظر بگیرید که نیاز به اجرای دو دستورالعمل</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S1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S2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دارند و الزام این است که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S1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قبل از</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S2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اتفاق بیفتد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07000"/>
              </a:lnSpc>
              <a:spcBef>
                <a:spcPts val="0"/>
              </a:spcBef>
              <a:spcAft>
                <a:spcPts val="800"/>
              </a:spcAf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یک مانیتور با دو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تابع</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F1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F2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ایجاد کنید که به ترتیب </a:t>
            </a:r>
            <a:r>
              <a:rPr lang="en-US" sz="2400" dirty="0">
                <a:latin typeface="Times New Roman" panose="02020603050405020304" pitchFamily="18" charset="0"/>
                <a:ea typeface="Times New Roman" panose="02020603050405020304" pitchFamily="18" charset="0"/>
                <a:cs typeface="B Nazanin" panose="00000400000000000000" pitchFamily="2" charset="-78"/>
              </a:rPr>
              <a:t>F1</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توسط</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P1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a:latin typeface="Times New Roman" panose="02020603050405020304" pitchFamily="18" charset="0"/>
                <a:ea typeface="Times New Roman" panose="02020603050405020304" pitchFamily="18" charset="0"/>
                <a:cs typeface="B Nazanin" panose="00000400000000000000" pitchFamily="2" charset="-78"/>
              </a:rPr>
              <a:t>F2</a:t>
            </a:r>
            <a:r>
              <a:rPr lang="fa-IR" sz="2400" dirty="0">
                <a:latin typeface="Times New Roman" panose="02020603050405020304" pitchFamily="18" charset="0"/>
                <a:ea typeface="Times New Roman" panose="02020603050405020304" pitchFamily="18" charset="0"/>
                <a:cs typeface="B Nazanin" panose="00000400000000000000" pitchFamily="2" charset="-78"/>
              </a:rPr>
              <a:t> توسط</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P2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فراخوانی می‌شوند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یک متغیر شرطی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“x”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که مقدار اولیه آن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۰</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 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یک متغیر بولی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“done”</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lvl="2">
              <a:buNone/>
              <a:tabLst>
                <a:tab pos="2001838" algn="ctr"/>
                <a:tab pos="4513263" algn="ctr"/>
              </a:tabLst>
            </a:pPr>
            <a:endParaRPr lang="en-US" altLang="en-US" sz="2000" b="1" dirty="0">
              <a:solidFill>
                <a:srgbClr val="000000"/>
              </a:solidFill>
              <a:latin typeface="Courier New" panose="02070309020205020404" pitchFamily="49" charset="0"/>
              <a:sym typeface="MT Extra" panose="05050102010205020202" pitchFamily="18" charset="2"/>
            </a:endParaRPr>
          </a:p>
        </p:txBody>
      </p:sp>
      <p:sp>
        <p:nvSpPr>
          <p:cNvPr id="5" name="TextBox 4">
            <a:extLst>
              <a:ext uri="{FF2B5EF4-FFF2-40B4-BE49-F238E27FC236}">
                <a16:creationId xmlns:a16="http://schemas.microsoft.com/office/drawing/2014/main" id="{B34BBEED-313E-46B1-990D-7FBBFF21AC6F}"/>
              </a:ext>
            </a:extLst>
          </p:cNvPr>
          <p:cNvSpPr txBox="1"/>
          <p:nvPr/>
        </p:nvSpPr>
        <p:spPr>
          <a:xfrm>
            <a:off x="453683" y="3616185"/>
            <a:ext cx="4874454" cy="2308324"/>
          </a:xfrm>
          <a:prstGeom prst="rect">
            <a:avLst/>
          </a:prstGeom>
          <a:noFill/>
        </p:spPr>
        <p:txBody>
          <a:bodyPr wrap="square">
            <a:spAutoFit/>
          </a:bodyPr>
          <a:lstStyle/>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F1 called by P1:</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done = true;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p>
          <a:p>
            <a:pPr lvl="1">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F2 called by P2:</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x.wait</a:t>
            </a:r>
            <a:r>
              <a:rPr lang="en-US" altLang="en-US" b="1" dirty="0">
                <a:solidFill>
                  <a:srgbClr val="000000"/>
                </a:solidFill>
                <a:latin typeface="Courier New" panose="02070309020205020404" pitchFamily="49" charset="0"/>
                <a:sym typeface="MT Extra" panose="05050102010205020202" pitchFamily="18" charset="2"/>
              </a:rPr>
              <a:t>()</a:t>
            </a:r>
          </a:p>
          <a:p>
            <a:pPr lvl="2">
              <a:buNone/>
              <a:tabLst>
                <a:tab pos="2001838" algn="ctr"/>
                <a:tab pos="4513263"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p:txBody>
      </p:sp>
      <p:sp>
        <p:nvSpPr>
          <p:cNvPr id="3" name="TextBox 2">
            <a:extLst>
              <a:ext uri="{FF2B5EF4-FFF2-40B4-BE49-F238E27FC236}">
                <a16:creationId xmlns:a16="http://schemas.microsoft.com/office/drawing/2014/main" id="{86441510-5A85-9FD4-6720-F8D6DE1BCE60}"/>
              </a:ext>
            </a:extLst>
          </p:cNvPr>
          <p:cNvSpPr txBox="1"/>
          <p:nvPr/>
        </p:nvSpPr>
        <p:spPr>
          <a:xfrm>
            <a:off x="2690446" y="5924509"/>
            <a:ext cx="5770266" cy="410882"/>
          </a:xfrm>
          <a:prstGeom prst="rect">
            <a:avLst/>
          </a:prstGeom>
          <a:noFill/>
        </p:spPr>
        <p:txBody>
          <a:bodyPr wrap="square">
            <a:spAutoFit/>
          </a:bodyPr>
          <a:lstStyle/>
          <a:p>
            <a:pPr marL="0" marR="0" algn="r" rtl="1">
              <a:lnSpc>
                <a:spcPct val="115000"/>
              </a:lnSpc>
              <a:spcAft>
                <a:spcPts val="800"/>
              </a:spcAft>
            </a:pPr>
            <a:r>
              <a:rPr lang="en-US" sz="1800" b="1" i="1" u="sng" kern="100" dirty="0">
                <a:effectLst/>
                <a:latin typeface="Segoe UI Emoji" panose="020B0502040204020203" pitchFamily="34" charset="0"/>
                <a:ea typeface="Aptos" panose="020B0004020202020204" pitchFamily="34" charset="0"/>
                <a:cs typeface="B Nazanin" panose="00000400000000000000" pitchFamily="2" charset="-78"/>
              </a:rPr>
              <a:t>P2 </a:t>
            </a:r>
            <a:r>
              <a:rPr lang="ar-SA" sz="1800" b="1" i="1" u="sng" kern="100" dirty="0">
                <a:effectLst/>
                <a:latin typeface="Segoe UI Emoji" panose="020B0502040204020203" pitchFamily="34" charset="0"/>
                <a:ea typeface="Aptos" panose="020B0004020202020204" pitchFamily="34" charset="0"/>
                <a:cs typeface="B Nazanin" panose="00000400000000000000" pitchFamily="2" charset="-78"/>
              </a:rPr>
              <a:t>مجاز به اجرای</a:t>
            </a:r>
            <a:r>
              <a:rPr lang="en-US" sz="1800" b="1" i="1" u="sng" kern="100" dirty="0">
                <a:effectLst/>
                <a:latin typeface="Segoe UI Emoji" panose="020B0502040204020203" pitchFamily="34" charset="0"/>
                <a:ea typeface="Aptos" panose="020B0004020202020204" pitchFamily="34" charset="0"/>
                <a:cs typeface="B Nazanin" panose="00000400000000000000" pitchFamily="2" charset="-78"/>
              </a:rPr>
              <a:t> S2 </a:t>
            </a:r>
            <a:r>
              <a:rPr lang="ar-SA" sz="1800" b="1" i="1" u="sng" kern="100" dirty="0">
                <a:effectLst/>
                <a:latin typeface="Segoe UI Emoji" panose="020B0502040204020203" pitchFamily="34" charset="0"/>
                <a:ea typeface="Aptos" panose="020B0004020202020204" pitchFamily="34" charset="0"/>
                <a:cs typeface="B Nazanin" panose="00000400000000000000" pitchFamily="2" charset="-78"/>
              </a:rPr>
              <a:t>نیست، مگر اینکه</a:t>
            </a:r>
            <a:r>
              <a:rPr lang="en-US" sz="1800" b="1" i="1" u="sng" kern="100" dirty="0">
                <a:effectLst/>
                <a:latin typeface="Segoe UI Emoji" panose="020B0502040204020203" pitchFamily="34" charset="0"/>
                <a:ea typeface="Aptos" panose="020B0004020202020204" pitchFamily="34" charset="0"/>
                <a:cs typeface="B Nazanin" panose="00000400000000000000" pitchFamily="2" charset="-78"/>
              </a:rPr>
              <a:t> P1 </a:t>
            </a:r>
            <a:r>
              <a:rPr lang="ar-SA" sz="1800" b="1" i="1" u="sng" kern="100" dirty="0">
                <a:effectLst/>
                <a:latin typeface="Segoe UI Emoji" panose="020B0502040204020203" pitchFamily="34" charset="0"/>
                <a:ea typeface="Aptos" panose="020B0004020202020204" pitchFamily="34" charset="0"/>
                <a:cs typeface="B Nazanin" panose="00000400000000000000" pitchFamily="2" charset="-78"/>
              </a:rPr>
              <a:t>قبلاً</a:t>
            </a:r>
            <a:r>
              <a:rPr lang="en-US" sz="1800" b="1" i="1" u="sng" kern="100" dirty="0">
                <a:effectLst/>
                <a:latin typeface="Segoe UI Emoji" panose="020B0502040204020203" pitchFamily="34" charset="0"/>
                <a:ea typeface="Aptos" panose="020B0004020202020204" pitchFamily="34" charset="0"/>
                <a:cs typeface="B Nazanin" panose="00000400000000000000" pitchFamily="2" charset="-78"/>
              </a:rPr>
              <a:t> S1 </a:t>
            </a:r>
            <a:r>
              <a:rPr lang="ar-SA" sz="1800" b="1" i="1" u="sng" kern="100" dirty="0">
                <a:effectLst/>
                <a:latin typeface="Segoe UI Emoji" panose="020B0502040204020203" pitchFamily="34" charset="0"/>
                <a:ea typeface="Aptos" panose="020B0004020202020204" pitchFamily="34" charset="0"/>
                <a:cs typeface="B Nazanin" panose="00000400000000000000" pitchFamily="2" charset="-78"/>
              </a:rPr>
              <a:t>را اجرا کرده باشد</a:t>
            </a:r>
            <a:endParaRPr lang="en-US" sz="1800" i="1" u="sng"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2726173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CB075CF-AF19-4E05-BBD4-93BC3F79BB8D}"/>
              </a:ext>
            </a:extLst>
          </p:cNvPr>
          <p:cNvSpPr>
            <a:spLocks noGrp="1" noChangeArrowheads="1"/>
          </p:cNvSpPr>
          <p:nvPr>
            <p:ph type="title"/>
          </p:nvPr>
        </p:nvSpPr>
        <p:spPr>
          <a:xfrm>
            <a:off x="709902" y="251392"/>
            <a:ext cx="8642537" cy="457200"/>
          </a:xfrm>
        </p:spPr>
        <p:txBody>
          <a:bodyPr/>
          <a:lstStyle/>
          <a:p>
            <a:pPr marL="0" marR="0" rtl="1">
              <a:lnSpc>
                <a:spcPct val="107000"/>
              </a:lnSpc>
              <a:spcBef>
                <a:spcPts val="0"/>
              </a:spcBef>
              <a:spcAft>
                <a:spcPts val="800"/>
              </a:spcAft>
            </a:pP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پیاده سازی مانیتور با سمافور</a:t>
            </a:r>
            <a:endParaRPr lang="en-US" altLang="en-US" sz="2800" b="1" dirty="0">
              <a:solidFill>
                <a:srgbClr val="000000"/>
              </a:solidFill>
              <a:latin typeface="Courier New" panose="02070309020205020404" pitchFamily="49" charset="0"/>
              <a:sym typeface="MT Extra" panose="05050102010205020202" pitchFamily="18" charset="2"/>
            </a:endParaRPr>
          </a:p>
        </p:txBody>
      </p:sp>
      <p:sp>
        <p:nvSpPr>
          <p:cNvPr id="49154" name="Rectangle 3">
            <a:extLst>
              <a:ext uri="{FF2B5EF4-FFF2-40B4-BE49-F238E27FC236}">
                <a16:creationId xmlns:a16="http://schemas.microsoft.com/office/drawing/2014/main" id="{FB8E9419-6392-4032-837A-E65A5DBEFCFA}"/>
              </a:ext>
            </a:extLst>
          </p:cNvPr>
          <p:cNvSpPr>
            <a:spLocks noGrp="1" noChangeArrowheads="1"/>
          </p:cNvSpPr>
          <p:nvPr>
            <p:ph idx="1"/>
          </p:nvPr>
        </p:nvSpPr>
        <p:spPr>
          <a:xfrm>
            <a:off x="844549" y="1093788"/>
            <a:ext cx="7512798" cy="5044794"/>
          </a:xfrm>
        </p:spPr>
        <p:txBody>
          <a:bodyPr/>
          <a:lstStyle/>
          <a:p>
            <a:pPr marL="91440" marR="0" algn="r" rtl="1">
              <a:spcBef>
                <a:spcPts val="0"/>
              </a:spcBef>
              <a:spcAft>
                <a:spcPts val="800"/>
              </a:spcAft>
            </a:pPr>
            <a:r>
              <a:rPr lang="fa-IR" sz="3200" dirty="0">
                <a:effectLst/>
                <a:latin typeface="Times New Roman" panose="02020603050405020304" pitchFamily="18" charset="0"/>
                <a:ea typeface="Times New Roman" panose="02020603050405020304" pitchFamily="18" charset="0"/>
                <a:cs typeface="B Nazanin" panose="00000400000000000000" pitchFamily="2" charset="-78"/>
              </a:rPr>
              <a:t>پیاده سازی مانیتور با سمافور</a:t>
            </a:r>
            <a:endParaRPr lang="en-US" sz="3200" dirty="0">
              <a:effectLst/>
              <a:latin typeface="Times New Roman" panose="02020603050405020304" pitchFamily="18" charset="0"/>
              <a:ea typeface="Times New Roman" panose="02020603050405020304" pitchFamily="18" charset="0"/>
              <a:cs typeface="B Nazanin" panose="00000400000000000000" pitchFamily="2" charset="-78"/>
            </a:endParaRPr>
          </a:p>
          <a:p>
            <a:pPr marL="91440" marR="0" algn="r" rtl="1">
              <a:spcBef>
                <a:spcPts val="0"/>
              </a:spcBef>
              <a:spcAft>
                <a:spcPts val="0"/>
              </a:spcAft>
            </a:pP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برای هر مانیتور، یک سمافور دودویی به نام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mutex</a:t>
            </a: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(که در ابتدا مقدار آن </a:t>
            </a:r>
            <a:r>
              <a:rPr lang="fa-IR"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۱</a:t>
            </a: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است) برای تضمین دسترسی متقابل در نظر گرفته می‌شود.</a:t>
            </a:r>
            <a:endParaRPr lang="en-US"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endParaRPr>
          </a:p>
          <a:p>
            <a:pPr marL="91440" marR="0" algn="r" rtl="1">
              <a:spcBef>
                <a:spcPts val="0"/>
              </a:spcBef>
              <a:spcAft>
                <a:spcPts val="0"/>
              </a:spcAft>
            </a:pP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یک فرایند باید قبل از ورود به مانیتور دستور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wait(mutex)</a:t>
            </a: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را اجرا کند و بعد از خروج از مانیتور دستور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signal(mutex)</a:t>
            </a: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را اجرا کند</a:t>
            </a:r>
            <a:endParaRPr lang="en-US"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endParaRPr>
          </a:p>
          <a:p>
            <a:pPr marL="91440" marR="0" algn="r" rtl="1">
              <a:spcBef>
                <a:spcPts val="0"/>
              </a:spcBef>
              <a:spcAft>
                <a:spcPts val="0"/>
              </a:spcAft>
            </a:pP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ما</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در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پیاده‌سازی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خود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از</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طرح</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signal-and-wait</a:t>
            </a: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استفاده خواهیم کرد.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از</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آنجایی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که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فرایند</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 سیگنال دهنده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باید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منتظر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بماند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تا</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فرایند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از</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سر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گرفته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شده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مانیتور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را</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ترک</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یا</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منتظر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بماند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یک</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سیمافور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دودویی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اضافی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به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نام</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next</a:t>
            </a: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معرفی می‌شود که در ابتدا مقدار آن </a:t>
            </a:r>
            <a:r>
              <a:rPr lang="fa-IR"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۰</a:t>
            </a: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است.</a:t>
            </a:r>
            <a:endParaRPr lang="en-US"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endParaRPr>
          </a:p>
          <a:p>
            <a:pPr marL="91440" marR="0" algn="r" rtl="1">
              <a:spcBef>
                <a:spcPts val="0"/>
              </a:spcBef>
              <a:spcAft>
                <a:spcPts val="0"/>
              </a:spcAft>
            </a:pP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فرایندهای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400" dirty="0">
                <a:effectLst/>
                <a:latin typeface="Times New Roman" panose="02020603050405020304" pitchFamily="18" charset="0"/>
                <a:ea typeface="Times New Roman" panose="02020603050405020304" pitchFamily="18" charset="0"/>
                <a:cs typeface="B Nazanin" panose="00000400000000000000" pitchFamily="2" charset="-78"/>
              </a:rPr>
              <a:t>سیگنال دهنده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می‌توانند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از</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next</a:t>
            </a: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برای تعلیق خود استفاده کنند.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همچنین</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یک</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متغیر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صحیح</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به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نام</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next_count</a:t>
            </a: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برای شمارش تعداد فرایندهای معلق بر روی </a:t>
            </a:r>
            <a:r>
              <a:rPr lang="en-US" sz="2400"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next</a:t>
            </a: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در نظر گرفته می‌شود.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a:effectLst/>
                <a:latin typeface="Calibri" panose="020F0502020204030204" pitchFamily="34" charset="0"/>
                <a:ea typeface="Calibri" panose="020F0502020204030204" pitchFamily="34" charset="0"/>
                <a:cs typeface="B Nazanin" panose="00000400000000000000" pitchFamily="2" charset="-78"/>
              </a:rPr>
              <a:t> </a:t>
            </a:r>
          </a:p>
          <a:p>
            <a:pPr marL="91440" marR="0" algn="r" rtl="1">
              <a:spcBef>
                <a:spcPts val="0"/>
              </a:spcBef>
              <a:spcAft>
                <a:spcPts val="800"/>
              </a:spcAft>
            </a:pPr>
            <a:endParaRPr lang="en-US" altLang="en-US" sz="2800" b="1" dirty="0">
              <a:solidFill>
                <a:srgbClr val="000000"/>
              </a:solidFill>
              <a:latin typeface="Courier New" panose="02070309020205020404" pitchFamily="49" charset="0"/>
              <a:cs typeface="B Nazanin" panose="00000400000000000000" pitchFamily="2" charset="-78"/>
              <a:sym typeface="MT Extra" panose="05050102010205020202" pitchFamily="18" charset="2"/>
            </a:endParaRPr>
          </a:p>
        </p:txBody>
      </p:sp>
    </p:spTree>
    <p:extLst>
      <p:ext uri="{BB962C8B-B14F-4D97-AF65-F5344CB8AC3E}">
        <p14:creationId xmlns:p14="http://schemas.microsoft.com/office/powerpoint/2010/main" val="10643758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a:extLst>
              <a:ext uri="{FF2B5EF4-FFF2-40B4-BE49-F238E27FC236}">
                <a16:creationId xmlns:a16="http://schemas.microsoft.com/office/drawing/2014/main" id="{C262359E-9C42-4EC1-973C-CF3D197F89FA}"/>
              </a:ext>
            </a:extLst>
          </p:cNvPr>
          <p:cNvSpPr>
            <a:spLocks noGrp="1" noChangeArrowheads="1"/>
          </p:cNvSpPr>
          <p:nvPr>
            <p:ph idx="1"/>
          </p:nvPr>
        </p:nvSpPr>
        <p:spPr>
          <a:xfrm>
            <a:off x="621541" y="686742"/>
            <a:ext cx="7709816" cy="5042062"/>
          </a:xfrm>
        </p:spPr>
        <p:txBody>
          <a:bodyPr/>
          <a:lstStyle/>
          <a:p>
            <a:pPr>
              <a:lnSpc>
                <a:spcPct val="80000"/>
              </a:lnSpc>
              <a:buFont typeface="Monotype Sorts" pitchFamily="-84" charset="2"/>
              <a:buNone/>
            </a:pPr>
            <a:endParaRPr lang="en-US" altLang="en-US" dirty="0">
              <a:solidFill>
                <a:srgbClr val="0000FF"/>
              </a:solidFill>
            </a:endParaRPr>
          </a:p>
          <a:p>
            <a:pPr marL="342900" marR="0" lvl="0" indent="-342900" algn="r" rtl="1">
              <a:buFont typeface="Arial" panose="020B0604020202020204" pitchFamily="34" charset="0"/>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تخصیص یک منبع واحد بین فرآیندهای رقیب با استفاده از اعداد اولویت که حداکثر زمانی را که یک فرآیند برای استفاده از منبع برنامه ریزی کرده است، مشخص می کند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r" rtl="1">
              <a:buFont typeface="Arial" panose="020B0604020202020204" pitchFamily="34" charset="0"/>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 اینجا</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R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نمونه ای از نوع</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ResourceAllocator</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r" rtl="1">
              <a:lnSpc>
                <a:spcPct val="107000"/>
              </a:lnSpc>
              <a:spcBef>
                <a:spcPts val="0"/>
              </a:spcBef>
              <a:spcAft>
                <a:spcPts val="800"/>
              </a:spcAft>
              <a:buFont typeface="Wingdings" panose="05000000000000000000" pitchFamily="2" charset="2"/>
              <a:buChar char=""/>
              <a:tabLst>
                <a:tab pos="457200" algn="l"/>
              </a:tabLst>
            </a:pPr>
            <a:r>
              <a:rPr lang="ar-SA" sz="2400" dirty="0">
                <a:effectLst/>
                <a:latin typeface="Calibri" panose="020F0502020204030204" pitchFamily="34" charset="0"/>
                <a:ea typeface="Calibri" panose="020F0502020204030204" pitchFamily="34" charset="0"/>
                <a:cs typeface="B Nazanin" panose="00000400000000000000" pitchFamily="2" charset="-78"/>
              </a:rPr>
              <a:t>دسترسی به تخصیص‌دهنده منابع</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en-US" sz="2400" dirty="0" err="1">
                <a:effectLst/>
                <a:latin typeface="Calibri" panose="020F0502020204030204" pitchFamily="34" charset="0"/>
                <a:ea typeface="Calibri" panose="020F0502020204030204" pitchFamily="34" charset="0"/>
                <a:cs typeface="B Nazanin" panose="00000400000000000000" pitchFamily="2" charset="-78"/>
              </a:rPr>
              <a:t>ResourceAllocator</a:t>
            </a:r>
            <a:r>
              <a:rPr lang="en-US" sz="2400"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از طریق موارد زیر انجام می‌شود</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fa-IR" sz="2400" dirty="0">
              <a:effectLst/>
              <a:latin typeface="Calibri" panose="020F0502020204030204" pitchFamily="34" charset="0"/>
              <a:ea typeface="Calibri" panose="020F0502020204030204" pitchFamily="34" charset="0"/>
              <a:cs typeface="B Nazanin" panose="00000400000000000000" pitchFamily="2" charset="-78"/>
            </a:endParaRPr>
          </a:p>
          <a:p>
            <a:pPr algn="r" rtl="1">
              <a:lnSpc>
                <a:spcPct val="80000"/>
              </a:lnSpc>
            </a:pPr>
            <a:r>
              <a:rPr lang="en-US" sz="2400" i="1" dirty="0">
                <a:effectLst/>
                <a:latin typeface="Calibri" panose="020F0502020204030204" pitchFamily="34" charset="0"/>
                <a:ea typeface="Calibri" panose="020F0502020204030204" pitchFamily="34" charset="0"/>
                <a:cs typeface="B Nazanin" panose="00000400000000000000" pitchFamily="2" charset="-78"/>
              </a:rPr>
              <a:t> </a:t>
            </a:r>
            <a:r>
              <a:rPr lang="ar-SA" sz="2400" dirty="0">
                <a:effectLst/>
                <a:latin typeface="Calibri" panose="020F0502020204030204" pitchFamily="34" charset="0"/>
                <a:ea typeface="Calibri" panose="020F0502020204030204" pitchFamily="34" charset="0"/>
                <a:cs typeface="B Nazanin" panose="00000400000000000000" pitchFamily="2" charset="-78"/>
              </a:rPr>
              <a:t>که در آن</a:t>
            </a:r>
            <a:r>
              <a:rPr lang="en-US" sz="2400" dirty="0">
                <a:effectLst/>
                <a:latin typeface="Calibri" panose="020F0502020204030204" pitchFamily="34" charset="0"/>
                <a:ea typeface="Calibri" panose="020F0502020204030204" pitchFamily="34" charset="0"/>
                <a:cs typeface="B Nazanin" panose="00000400000000000000" pitchFamily="2" charset="-78"/>
              </a:rPr>
              <a:t> t </a:t>
            </a:r>
            <a:r>
              <a:rPr lang="ar-SA" sz="2400" dirty="0">
                <a:effectLst/>
                <a:latin typeface="Calibri" panose="020F0502020204030204" pitchFamily="34" charset="0"/>
                <a:ea typeface="Calibri" panose="020F0502020204030204" pitchFamily="34" charset="0"/>
                <a:cs typeface="B Nazanin" panose="00000400000000000000" pitchFamily="2" charset="-78"/>
              </a:rPr>
              <a:t>حداکثر زمانی است که یک فرآیند برای استفاده از منبع برنامه ریزی کرده است</a:t>
            </a:r>
            <a:r>
              <a:rPr lang="en-US" sz="2400" dirty="0">
                <a:effectLst/>
                <a:latin typeface="Calibri" panose="020F0502020204030204" pitchFamily="34" charset="0"/>
                <a:ea typeface="Calibri" panose="020F0502020204030204" pitchFamily="34" charset="0"/>
                <a:cs typeface="B Nazanin" panose="00000400000000000000" pitchFamily="2" charset="-78"/>
              </a:rPr>
              <a:t>.</a:t>
            </a:r>
            <a:endParaRPr lang="en-US" altLang="en-US" sz="2000" dirty="0"/>
          </a:p>
          <a:p>
            <a:pPr>
              <a:lnSpc>
                <a:spcPct val="80000"/>
              </a:lnSpc>
              <a:buFont typeface="Monotype Sorts" pitchFamily="-84" charset="2"/>
              <a:buNone/>
            </a:pPr>
            <a:r>
              <a:rPr lang="en-US" altLang="en-US" sz="20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R.acquire</a:t>
            </a:r>
            <a:r>
              <a:rPr lang="en-US" altLang="en-US" sz="2400" b="1" dirty="0">
                <a:solidFill>
                  <a:srgbClr val="000000"/>
                </a:solidFill>
                <a:latin typeface="Courier New" panose="02070309020205020404" pitchFamily="49" charset="0"/>
              </a:rPr>
              <a:t>(t)</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sz="2000"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sz="2000" b="1" dirty="0">
                <a:solidFill>
                  <a:srgbClr val="000000"/>
                </a:solidFill>
                <a:latin typeface="Courier New" panose="02070309020205020404" pitchFamily="49" charset="0"/>
              </a:rPr>
              <a:t>                access the </a:t>
            </a:r>
            <a:r>
              <a:rPr lang="en-US" altLang="en-US" sz="2000" b="1" dirty="0" err="1">
                <a:solidFill>
                  <a:srgbClr val="000000"/>
                </a:solidFill>
                <a:latin typeface="Courier New" panose="02070309020205020404" pitchFamily="49" charset="0"/>
              </a:rPr>
              <a:t>resurce</a:t>
            </a:r>
            <a:r>
              <a:rPr lang="en-US" altLang="en-US" sz="2000" b="1" dirty="0">
                <a:solidFill>
                  <a:srgbClr val="000000"/>
                </a:solidFill>
                <a:latin typeface="Courier New" panose="02070309020205020404" pitchFamily="49" charset="0"/>
              </a:rPr>
              <a:t>;</a:t>
            </a:r>
          </a:p>
          <a:p>
            <a:pPr>
              <a:lnSpc>
                <a:spcPct val="80000"/>
              </a:lnSpc>
              <a:buFont typeface="Monotype Sorts" pitchFamily="-84" charset="2"/>
              <a:buNone/>
            </a:pPr>
            <a:r>
              <a:rPr lang="en-US" altLang="en-US" sz="2000" b="1" dirty="0">
                <a:solidFill>
                  <a:srgbClr val="000000"/>
                </a:solidFill>
                <a:latin typeface="Courier New" panose="02070309020205020404" pitchFamily="49" charset="0"/>
              </a:rPr>
              <a:t>                   ...</a:t>
            </a:r>
          </a:p>
          <a:p>
            <a:pPr>
              <a:lnSpc>
                <a:spcPct val="80000"/>
              </a:lnSpc>
              <a:buFont typeface="Monotype Sorts" pitchFamily="-84" charset="2"/>
              <a:buNone/>
            </a:pPr>
            <a:r>
              <a:rPr lang="en-US" altLang="en-US" sz="2000" b="1" dirty="0">
                <a:solidFill>
                  <a:srgbClr val="000000"/>
                </a:solidFill>
                <a:latin typeface="Courier New" panose="02070309020205020404" pitchFamily="49" charset="0"/>
              </a:rPr>
              <a:t>              </a:t>
            </a:r>
            <a:r>
              <a:rPr lang="en-US" altLang="en-US" sz="2400" b="1" dirty="0" err="1">
                <a:solidFill>
                  <a:srgbClr val="000000"/>
                </a:solidFill>
                <a:latin typeface="Courier New" panose="02070309020205020404" pitchFamily="49" charset="0"/>
              </a:rPr>
              <a:t>R.release</a:t>
            </a:r>
            <a:r>
              <a:rPr lang="en-US" altLang="en-US" sz="2400" b="1" dirty="0">
                <a:solidFill>
                  <a:srgbClr val="000000"/>
                </a:solidFill>
                <a:latin typeface="Courier New" panose="02070309020205020404" pitchFamily="49" charset="0"/>
              </a:rPr>
              <a:t>;</a:t>
            </a:r>
          </a:p>
          <a:p>
            <a:pPr>
              <a:lnSpc>
                <a:spcPct val="80000"/>
              </a:lnSpc>
              <a:buFont typeface="Monotype Sorts" pitchFamily="-84" charset="2"/>
              <a:buNone/>
            </a:pPr>
            <a:endParaRPr lang="en-US" altLang="en-US" sz="2000" dirty="0">
              <a:solidFill>
                <a:srgbClr val="0000FF"/>
              </a:solidFill>
            </a:endParaRPr>
          </a:p>
          <a:p>
            <a:pPr>
              <a:lnSpc>
                <a:spcPct val="80000"/>
              </a:lnSpc>
              <a:buFont typeface="Monotype Sorts" pitchFamily="-84" charset="2"/>
              <a:buNone/>
            </a:pPr>
            <a:r>
              <a:rPr lang="en-US" altLang="en-US" sz="2000" i="1" dirty="0">
                <a:solidFill>
                  <a:srgbClr val="0000FF"/>
                </a:solidFill>
              </a:rPr>
              <a:t>       </a:t>
            </a:r>
          </a:p>
        </p:txBody>
      </p:sp>
      <p:sp>
        <p:nvSpPr>
          <p:cNvPr id="76802" name="Rectangle 2">
            <a:extLst>
              <a:ext uri="{FF2B5EF4-FFF2-40B4-BE49-F238E27FC236}">
                <a16:creationId xmlns:a16="http://schemas.microsoft.com/office/drawing/2014/main" id="{F0A3D686-68BB-4C31-975E-9B0F28AC02B0}"/>
              </a:ext>
            </a:extLst>
          </p:cNvPr>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p>
        </p:txBody>
      </p:sp>
    </p:spTree>
    <p:extLst>
      <p:ext uri="{BB962C8B-B14F-4D97-AF65-F5344CB8AC3E}">
        <p14:creationId xmlns:p14="http://schemas.microsoft.com/office/powerpoint/2010/main" val="31928096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CDBDEA88-9919-449A-807F-AEBDDF81E363}"/>
              </a:ext>
            </a:extLst>
          </p:cNvPr>
          <p:cNvSpPr>
            <a:spLocks noGrp="1" noChangeArrowheads="1"/>
          </p:cNvSpPr>
          <p:nvPr>
            <p:ph type="title"/>
          </p:nvPr>
        </p:nvSpPr>
        <p:spPr>
          <a:xfrm>
            <a:off x="1299900" y="172650"/>
            <a:ext cx="7729799" cy="576262"/>
          </a:xfrm>
        </p:spPr>
        <p:txBody>
          <a:bodyPr/>
          <a:lstStyle/>
          <a:p>
            <a:pPr eaLnBrk="1" hangingPunct="1"/>
            <a:r>
              <a:rPr lang="en-US" altLang="en-US" dirty="0"/>
              <a:t>A Monitor to Allocate Single Resource</a:t>
            </a:r>
          </a:p>
        </p:txBody>
      </p:sp>
      <p:sp>
        <p:nvSpPr>
          <p:cNvPr id="78850" name="Rectangle 3">
            <a:extLst>
              <a:ext uri="{FF2B5EF4-FFF2-40B4-BE49-F238E27FC236}">
                <a16:creationId xmlns:a16="http://schemas.microsoft.com/office/drawing/2014/main" id="{18016772-06F5-43E2-81D4-B3F01DB70FE2}"/>
              </a:ext>
            </a:extLst>
          </p:cNvPr>
          <p:cNvSpPr>
            <a:spLocks noGrp="1" noChangeArrowheads="1"/>
          </p:cNvSpPr>
          <p:nvPr>
            <p:ph idx="1"/>
          </p:nvPr>
        </p:nvSpPr>
        <p:spPr>
          <a:xfrm>
            <a:off x="488539" y="748912"/>
            <a:ext cx="5322382" cy="5716046"/>
          </a:xfrm>
        </p:spPr>
        <p:txBody>
          <a:bodyPr/>
          <a:lstStyle/>
          <a:p>
            <a:pPr>
              <a:buFont typeface="Monotype Sorts" pitchFamily="-84" charset="2"/>
              <a:buNone/>
              <a:tabLst>
                <a:tab pos="1368425" algn="l"/>
                <a:tab pos="1712913" algn="l"/>
                <a:tab pos="2335213" algn="l"/>
              </a:tabLst>
            </a:pPr>
            <a:endParaRPr lang="en-US" altLang="en-US" sz="1600" dirty="0">
              <a:latin typeface="Consolas" panose="020B0609020204030204" pitchFamily="49" charset="0"/>
            </a:endParaRPr>
          </a:p>
          <a:p>
            <a:pPr>
              <a:spcBef>
                <a:spcPct val="15000"/>
              </a:spcBef>
              <a:buFont typeface="Monotype Sorts" pitchFamily="-84" charset="2"/>
              <a:buNone/>
              <a:tabLst>
                <a:tab pos="1368425" algn="l"/>
                <a:tab pos="1712913" algn="l"/>
                <a:tab pos="2335213" algn="l"/>
              </a:tabLst>
            </a:pPr>
            <a:r>
              <a:rPr lang="en-US" altLang="en-US" b="1" dirty="0">
                <a:solidFill>
                  <a:srgbClr val="000000"/>
                </a:solidFill>
                <a:latin typeface="Consolas" panose="020B0609020204030204" pitchFamily="49" charset="0"/>
              </a:rPr>
              <a:t>monitor</a:t>
            </a:r>
            <a:r>
              <a:rPr lang="en-US" altLang="en-US" dirty="0">
                <a:solidFill>
                  <a:srgbClr val="000000"/>
                </a:solidFill>
                <a:latin typeface="Consolas" panose="020B0609020204030204" pitchFamily="49" charset="0"/>
              </a:rPr>
              <a:t> </a:t>
            </a:r>
            <a:r>
              <a:rPr lang="en-US" altLang="en-US" dirty="0" err="1">
                <a:solidFill>
                  <a:srgbClr val="000000"/>
                </a:solidFill>
                <a:latin typeface="Consolas" panose="020B0609020204030204" pitchFamily="49" charset="0"/>
              </a:rPr>
              <a:t>ResourceAllocator</a:t>
            </a:r>
            <a:r>
              <a:rPr lang="en-US" altLang="en-US" dirty="0">
                <a:solidFill>
                  <a:srgbClr val="000000"/>
                </a:solidFill>
                <a:latin typeface="Consolas" panose="020B0609020204030204" pitchFamily="49" charset="0"/>
              </a:rPr>
              <a:t>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a:t>
            </a:r>
            <a:r>
              <a:rPr lang="en-US" altLang="en-US" b="1" dirty="0" err="1">
                <a:solidFill>
                  <a:srgbClr val="000000"/>
                </a:solidFill>
                <a:latin typeface="Consolas" panose="020B0609020204030204" pitchFamily="49" charset="0"/>
              </a:rPr>
              <a:t>boolean</a:t>
            </a:r>
            <a:r>
              <a:rPr lang="en-US" altLang="en-US" dirty="0">
                <a:solidFill>
                  <a:srgbClr val="000000"/>
                </a:solidFill>
                <a:latin typeface="Consolas" panose="020B0609020204030204" pitchFamily="49" charset="0"/>
              </a:rPr>
              <a:t> busy;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a:t>
            </a:r>
            <a:r>
              <a:rPr lang="en-US" altLang="en-US" b="1" dirty="0">
                <a:solidFill>
                  <a:srgbClr val="000000"/>
                </a:solidFill>
                <a:latin typeface="Consolas" panose="020B0609020204030204" pitchFamily="49" charset="0"/>
              </a:rPr>
              <a:t>condition</a:t>
            </a:r>
            <a:r>
              <a:rPr lang="en-US" altLang="en-US" dirty="0">
                <a:solidFill>
                  <a:srgbClr val="000000"/>
                </a:solidFill>
                <a:latin typeface="Consolas" panose="020B0609020204030204" pitchFamily="49" charset="0"/>
              </a:rPr>
              <a:t> x;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void </a:t>
            </a:r>
            <a:r>
              <a:rPr lang="en-US" altLang="en-US" b="1" dirty="0">
                <a:solidFill>
                  <a:srgbClr val="0070C0"/>
                </a:solidFill>
                <a:latin typeface="Consolas" panose="020B0609020204030204" pitchFamily="49" charset="0"/>
              </a:rPr>
              <a:t>acquire</a:t>
            </a:r>
            <a:r>
              <a:rPr lang="en-US" altLang="en-US" dirty="0">
                <a:solidFill>
                  <a:srgbClr val="000000"/>
                </a:solidFill>
                <a:latin typeface="Consolas" panose="020B0609020204030204" pitchFamily="49" charset="0"/>
              </a:rPr>
              <a:t>(int </a:t>
            </a:r>
            <a:r>
              <a:rPr lang="en-US" altLang="en-US" b="1" dirty="0">
                <a:solidFill>
                  <a:srgbClr val="FF0000"/>
                </a:solidFill>
                <a:latin typeface="Consolas" panose="020B0609020204030204" pitchFamily="49" charset="0"/>
              </a:rPr>
              <a:t>time</a:t>
            </a:r>
            <a:r>
              <a:rPr lang="en-US" altLang="en-US" dirty="0">
                <a:solidFill>
                  <a:srgbClr val="000000"/>
                </a:solidFill>
                <a:latin typeface="Consolas" panose="020B0609020204030204" pitchFamily="49" charset="0"/>
              </a:rPr>
              <a:t>) {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a:t>
            </a:r>
            <a:r>
              <a:rPr lang="en-US" altLang="en-US" b="1" dirty="0">
                <a:solidFill>
                  <a:srgbClr val="000000"/>
                </a:solidFill>
                <a:latin typeface="Consolas" panose="020B0609020204030204" pitchFamily="49" charset="0"/>
              </a:rPr>
              <a:t>while</a:t>
            </a:r>
            <a:r>
              <a:rPr lang="en-US" altLang="en-US" dirty="0">
                <a:solidFill>
                  <a:srgbClr val="000000"/>
                </a:solidFill>
                <a:latin typeface="Consolas" panose="020B0609020204030204" pitchFamily="49" charset="0"/>
              </a:rPr>
              <a:t> (</a:t>
            </a:r>
            <a:r>
              <a:rPr lang="en-US" altLang="en-US" b="1" dirty="0">
                <a:solidFill>
                  <a:srgbClr val="0070C0"/>
                </a:solidFill>
                <a:latin typeface="Consolas" panose="020B0609020204030204" pitchFamily="49" charset="0"/>
              </a:rPr>
              <a:t>busy</a:t>
            </a:r>
            <a:r>
              <a:rPr lang="en-US" altLang="en-US" dirty="0">
                <a:solidFill>
                  <a:srgbClr val="000000"/>
                </a:solidFill>
                <a:latin typeface="Consolas" panose="020B0609020204030204" pitchFamily="49" charset="0"/>
              </a:rPr>
              <a:t>)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a:t>
            </a:r>
            <a:r>
              <a:rPr lang="en-US" altLang="en-US" b="1" dirty="0" err="1">
                <a:solidFill>
                  <a:srgbClr val="0070C0"/>
                </a:solidFill>
                <a:latin typeface="Consolas" panose="020B0609020204030204" pitchFamily="49" charset="0"/>
              </a:rPr>
              <a:t>x.wait</a:t>
            </a:r>
            <a:r>
              <a:rPr lang="en-US" altLang="en-US" dirty="0">
                <a:solidFill>
                  <a:srgbClr val="000000"/>
                </a:solidFill>
                <a:latin typeface="Consolas" panose="020B0609020204030204" pitchFamily="49" charset="0"/>
              </a:rPr>
              <a:t>(</a:t>
            </a:r>
            <a:r>
              <a:rPr lang="en-US" altLang="en-US" b="1" dirty="0">
                <a:solidFill>
                  <a:srgbClr val="FF0000"/>
                </a:solidFill>
                <a:latin typeface="Consolas" panose="020B0609020204030204" pitchFamily="49" charset="0"/>
              </a:rPr>
              <a:t>time</a:t>
            </a:r>
            <a:r>
              <a:rPr lang="en-US" altLang="en-US" dirty="0">
                <a:solidFill>
                  <a:srgbClr val="000000"/>
                </a:solidFill>
                <a:latin typeface="Consolas" panose="020B0609020204030204" pitchFamily="49" charset="0"/>
              </a:rPr>
              <a:t>);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busy = true;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void </a:t>
            </a:r>
            <a:r>
              <a:rPr lang="en-US" altLang="en-US" b="1" dirty="0">
                <a:solidFill>
                  <a:srgbClr val="0070C0"/>
                </a:solidFill>
                <a:latin typeface="Consolas" panose="020B0609020204030204" pitchFamily="49" charset="0"/>
              </a:rPr>
              <a:t>release</a:t>
            </a:r>
            <a:r>
              <a:rPr lang="en-US" altLang="en-US" dirty="0">
                <a:solidFill>
                  <a:srgbClr val="000000"/>
                </a:solidFill>
                <a:latin typeface="Consolas" panose="020B0609020204030204" pitchFamily="49" charset="0"/>
              </a:rPr>
              <a:t>() {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a:t>
            </a:r>
            <a:r>
              <a:rPr lang="en-US" altLang="en-US" dirty="0">
                <a:solidFill>
                  <a:srgbClr val="0070C0"/>
                </a:solidFill>
                <a:latin typeface="Consolas" panose="020B0609020204030204" pitchFamily="49" charset="0"/>
              </a:rPr>
              <a:t>busy</a:t>
            </a:r>
            <a:r>
              <a:rPr lang="en-US" altLang="en-US" dirty="0">
                <a:solidFill>
                  <a:srgbClr val="000000"/>
                </a:solidFill>
                <a:latin typeface="Consolas" panose="020B0609020204030204" pitchFamily="49" charset="0"/>
              </a:rPr>
              <a:t> = false;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a:t>
            </a:r>
            <a:r>
              <a:rPr lang="en-US" altLang="en-US" dirty="0" err="1">
                <a:solidFill>
                  <a:srgbClr val="0070C0"/>
                </a:solidFill>
                <a:latin typeface="Consolas" panose="020B0609020204030204" pitchFamily="49" charset="0"/>
              </a:rPr>
              <a:t>x.signal</a:t>
            </a:r>
            <a:r>
              <a:rPr lang="en-US" altLang="en-US" dirty="0">
                <a:solidFill>
                  <a:srgbClr val="000000"/>
                </a:solidFill>
                <a:latin typeface="Consolas" panose="020B0609020204030204" pitchFamily="49" charset="0"/>
              </a:rPr>
              <a:t>();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initialization </a:t>
            </a:r>
            <a:r>
              <a:rPr lang="en-US" altLang="en-US" b="1" dirty="0">
                <a:solidFill>
                  <a:srgbClr val="0070C0"/>
                </a:solidFill>
                <a:latin typeface="Consolas" panose="020B0609020204030204" pitchFamily="49" charset="0"/>
              </a:rPr>
              <a:t>code</a:t>
            </a:r>
            <a:r>
              <a:rPr lang="en-US" altLang="en-US" dirty="0">
                <a:solidFill>
                  <a:srgbClr val="000000"/>
                </a:solidFill>
                <a:latin typeface="Consolas" panose="020B0609020204030204" pitchFamily="49" charset="0"/>
              </a:rPr>
              <a:t>()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a:t>
            </a:r>
            <a:r>
              <a:rPr lang="en-US" altLang="en-US" dirty="0">
                <a:solidFill>
                  <a:srgbClr val="0070C0"/>
                </a:solidFill>
                <a:latin typeface="Consolas" panose="020B0609020204030204" pitchFamily="49" charset="0"/>
              </a:rPr>
              <a:t>busy</a:t>
            </a:r>
            <a:r>
              <a:rPr lang="en-US" altLang="en-US" dirty="0">
                <a:solidFill>
                  <a:srgbClr val="000000"/>
                </a:solidFill>
                <a:latin typeface="Consolas" panose="020B0609020204030204" pitchFamily="49" charset="0"/>
              </a:rPr>
              <a:t> = false;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	}</a:t>
            </a:r>
          </a:p>
          <a:p>
            <a:pPr>
              <a:spcBef>
                <a:spcPct val="15000"/>
              </a:spcBef>
              <a:buFont typeface="Monotype Sorts" pitchFamily="-84" charset="2"/>
              <a:buNone/>
              <a:tabLst>
                <a:tab pos="1368425" algn="l"/>
                <a:tab pos="1712913" algn="l"/>
                <a:tab pos="2335213" algn="l"/>
              </a:tabLst>
            </a:pPr>
            <a:r>
              <a:rPr lang="en-US" altLang="en-US" dirty="0">
                <a:solidFill>
                  <a:srgbClr val="000000"/>
                </a:solidFill>
                <a:latin typeface="Consolas" panose="020B0609020204030204" pitchFamily="49" charset="0"/>
              </a:rPr>
              <a:t>}</a:t>
            </a:r>
            <a:r>
              <a:rPr lang="en-US" altLang="en-US" dirty="0">
                <a:latin typeface="Consolas" panose="020B0609020204030204" pitchFamily="49" charset="0"/>
              </a:rPr>
              <a:t>	</a:t>
            </a:r>
            <a:r>
              <a:rPr lang="en-US" altLang="en-US" sz="1600" dirty="0">
                <a:latin typeface="Consolas" panose="020B0609020204030204" pitchFamily="49" charset="0"/>
              </a:rPr>
              <a:t>		</a:t>
            </a:r>
          </a:p>
        </p:txBody>
      </p:sp>
      <p:sp>
        <p:nvSpPr>
          <p:cNvPr id="3" name="TextBox 2">
            <a:extLst>
              <a:ext uri="{FF2B5EF4-FFF2-40B4-BE49-F238E27FC236}">
                <a16:creationId xmlns:a16="http://schemas.microsoft.com/office/drawing/2014/main" id="{28619676-2AD3-FED2-9106-0C566096B0A7}"/>
              </a:ext>
            </a:extLst>
          </p:cNvPr>
          <p:cNvSpPr txBox="1"/>
          <p:nvPr/>
        </p:nvSpPr>
        <p:spPr>
          <a:xfrm>
            <a:off x="4151225" y="1371355"/>
            <a:ext cx="4878474" cy="3688189"/>
          </a:xfrm>
          <a:prstGeom prst="rect">
            <a:avLst/>
          </a:prstGeom>
          <a:noFill/>
        </p:spPr>
        <p:txBody>
          <a:bodyPr wrap="square">
            <a:spAutoFit/>
          </a:bodyPr>
          <a:lstStyle/>
          <a:p>
            <a:pPr marL="285750" indent="-285750" algn="r" rtl="1">
              <a:lnSpc>
                <a:spcPct val="115000"/>
              </a:lnSpc>
              <a:spcAft>
                <a:spcPts val="800"/>
              </a:spcAft>
              <a:buFont typeface="Arial" panose="020B0604020202020204" pitchFamily="34" charset="0"/>
              <a:buChar char="•"/>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busy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یک متغیر بولی که مشخص می‌کند آیا منبع در حال استفاده است یا خیر</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p>
          <a:p>
            <a:pPr marL="285750" indent="-285750" algn="r" rtl="1">
              <a:lnSpc>
                <a:spcPct val="115000"/>
              </a:lnSpc>
              <a:spcAft>
                <a:spcPts val="800"/>
              </a:spcAft>
              <a:buFont typeface="Arial" panose="020B0604020202020204" pitchFamily="34" charset="0"/>
              <a:buChar char="•"/>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x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متغیر شرطی که نخ‌هایی که منتظر آزاد شدن منبع هستند روی آن منتظر می‌مانند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endParaRPr lang="en-US" sz="1800" b="1" kern="100" dirty="0">
              <a:effectLst/>
              <a:latin typeface="Segoe UI Emoji" panose="020B0502040204020203" pitchFamily="34" charset="0"/>
              <a:ea typeface="Aptos" panose="020B0004020202020204" pitchFamily="34" charset="0"/>
              <a:cs typeface="B Nazanin" panose="00000400000000000000" pitchFamily="2" charset="-78"/>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این متد برای درخواست دسترسی به منبع استفاده می‌شود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342900" marR="0" lvl="0" indent="-342900" algn="r" rtl="1">
              <a:lnSpc>
                <a:spcPct val="115000"/>
              </a:lnSpc>
              <a:spcAft>
                <a:spcPts val="800"/>
              </a:spcAft>
              <a:buSzPts val="1000"/>
              <a:buFont typeface="Symbol" panose="05050102010706020507" pitchFamily="18" charset="2"/>
              <a:buChar char=""/>
              <a:tabLst>
                <a:tab pos="457200" algn="l"/>
              </a:tabLst>
            </a:pP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اگر منبع مشغول</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(busy = true)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باشد، نخ با استفاده از </a:t>
            </a:r>
            <a:r>
              <a:rPr lang="en-US" sz="1800" b="1" kern="100" dirty="0" err="1">
                <a:effectLst/>
                <a:latin typeface="Segoe UI Emoji" panose="020B0502040204020203" pitchFamily="34" charset="0"/>
                <a:ea typeface="Aptos" panose="020B0004020202020204" pitchFamily="34" charset="0"/>
                <a:cs typeface="B Nazanin" panose="00000400000000000000" pitchFamily="2" charset="-78"/>
              </a:rPr>
              <a:t>x.wait</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(time)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برای حداکثر مدت زمان مشخص شده </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time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منتظر می‌ماند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DB5CD8E6-87F9-4726-9621-AFEDA885C08D}"/>
              </a:ext>
            </a:extLst>
          </p:cNvPr>
          <p:cNvSpPr>
            <a:spLocks noGrp="1" noChangeArrowheads="1"/>
          </p:cNvSpPr>
          <p:nvPr>
            <p:ph type="title"/>
          </p:nvPr>
        </p:nvSpPr>
        <p:spPr>
          <a:xfrm>
            <a:off x="923925" y="175869"/>
            <a:ext cx="7762875" cy="576263"/>
          </a:xfrm>
        </p:spPr>
        <p:txBody>
          <a:bodyPr/>
          <a:lstStyle/>
          <a:p>
            <a:pPr eaLnBrk="1" hangingPunct="1"/>
            <a:r>
              <a:rPr lang="en-US" altLang="en-US" dirty="0"/>
              <a:t>Single Resource Monitor (Cont.)</a:t>
            </a:r>
          </a:p>
        </p:txBody>
      </p:sp>
      <p:sp>
        <p:nvSpPr>
          <p:cNvPr id="57346" name="Rectangle 3">
            <a:extLst>
              <a:ext uri="{FF2B5EF4-FFF2-40B4-BE49-F238E27FC236}">
                <a16:creationId xmlns:a16="http://schemas.microsoft.com/office/drawing/2014/main" id="{5ED238E1-E3E6-41E4-AE23-2237E43D6AD6}"/>
              </a:ext>
            </a:extLst>
          </p:cNvPr>
          <p:cNvSpPr>
            <a:spLocks noGrp="1" noChangeArrowheads="1"/>
          </p:cNvSpPr>
          <p:nvPr>
            <p:ph idx="1"/>
          </p:nvPr>
        </p:nvSpPr>
        <p:spPr>
          <a:xfrm>
            <a:off x="827088" y="1282700"/>
            <a:ext cx="6959600" cy="4860925"/>
          </a:xfrm>
        </p:spPr>
        <p:txBody>
          <a:bodyPr/>
          <a:lstStyle/>
          <a:p>
            <a:pPr algn="r" rtl="1"/>
            <a:r>
              <a:rPr lang="en-US" altLang="en-US" dirty="0"/>
              <a:t> </a:t>
            </a:r>
            <a:r>
              <a:rPr lang="fa-IR" sz="2800" dirty="0">
                <a:latin typeface="Calibri" panose="020F0502020204030204" pitchFamily="34" charset="0"/>
                <a:cs typeface="B Nazanin" panose="00000400000000000000" pitchFamily="2" charset="-78"/>
              </a:rPr>
              <a:t>کاربرد</a:t>
            </a:r>
            <a:r>
              <a:rPr lang="en-US" altLang="en-US" sz="2800" dirty="0">
                <a:latin typeface="Calibri" panose="020F0502020204030204" pitchFamily="34" charset="0"/>
                <a:cs typeface="B Nazanin" panose="00000400000000000000" pitchFamily="2" charset="-78"/>
              </a:rPr>
              <a:t>:</a:t>
            </a:r>
          </a:p>
          <a:p>
            <a:pPr marL="0" indent="0">
              <a:buNone/>
            </a:pPr>
            <a:r>
              <a:rPr lang="en-US" altLang="en-US" b="1" dirty="0">
                <a:latin typeface="Courier New" panose="02070309020205020404" pitchFamily="49" charset="0"/>
                <a:cs typeface="Courier New" panose="02070309020205020404" pitchFamily="49" charset="0"/>
              </a:rPr>
              <a:t>     acquire</a:t>
            </a:r>
          </a:p>
          <a:p>
            <a:pPr marL="0" indent="0">
              <a:buNone/>
            </a:pPr>
            <a:r>
              <a:rPr lang="en-US" altLang="en-US" b="1" dirty="0">
                <a:latin typeface="Courier New" panose="02070309020205020404" pitchFamily="49" charset="0"/>
                <a:cs typeface="Courier New" panose="02070309020205020404" pitchFamily="49" charset="0"/>
              </a:rPr>
              <a:t>      ...</a:t>
            </a:r>
          </a:p>
          <a:p>
            <a:pPr marL="0" indent="0">
              <a:buNone/>
            </a:pPr>
            <a:r>
              <a:rPr lang="en-US" altLang="en-US" b="1" dirty="0">
                <a:latin typeface="Courier New" panose="02070309020205020404" pitchFamily="49" charset="0"/>
                <a:cs typeface="Courier New" panose="02070309020205020404" pitchFamily="49" charset="0"/>
              </a:rPr>
              <a:t>     release</a:t>
            </a:r>
            <a:endParaRPr lang="fa-IR" altLang="en-US" dirty="0"/>
          </a:p>
          <a:p>
            <a:pPr algn="r" rtl="1"/>
            <a:r>
              <a:rPr lang="fa-IR" sz="2800" dirty="0">
                <a:effectLst/>
                <a:latin typeface="Calibri" panose="020F0502020204030204" pitchFamily="34" charset="0"/>
                <a:ea typeface="Calibri" panose="020F0502020204030204" pitchFamily="34" charset="0"/>
                <a:cs typeface="B Nazanin" panose="00000400000000000000" pitchFamily="2" charset="-78"/>
              </a:rPr>
              <a:t>استفاده نادرست از عملیات‌های مانیتور</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release()  …  acquire()</a:t>
            </a:r>
          </a:p>
          <a:p>
            <a:pPr lvl="1"/>
            <a:r>
              <a:rPr lang="en-US" altLang="en-US" dirty="0"/>
              <a:t> </a:t>
            </a:r>
            <a:r>
              <a:rPr lang="en-US" altLang="en-US" b="1" dirty="0">
                <a:latin typeface="Courier New" panose="02070309020205020404" pitchFamily="49" charset="0"/>
                <a:cs typeface="Courier New" panose="02070309020205020404" pitchFamily="49" charset="0"/>
              </a:rPr>
              <a:t>acquire()  …  acquire())</a:t>
            </a:r>
          </a:p>
          <a:p>
            <a:pPr lvl="1"/>
            <a:r>
              <a:rPr lang="en-US" altLang="en-US" dirty="0"/>
              <a:t> Omitting  of </a:t>
            </a:r>
            <a:r>
              <a:rPr lang="en-US" altLang="en-US" b="1" dirty="0">
                <a:latin typeface="Courier New" panose="02070309020205020404" pitchFamily="49" charset="0"/>
                <a:cs typeface="Courier New" panose="02070309020205020404" pitchFamily="49" charset="0"/>
              </a:rPr>
              <a:t>acquire() </a:t>
            </a:r>
            <a:r>
              <a:rPr lang="en-US" altLang="en-US" dirty="0"/>
              <a:t>and/or </a:t>
            </a:r>
            <a:r>
              <a:rPr lang="en-US" altLang="en-US" b="1" dirty="0">
                <a:latin typeface="Courier New" panose="02070309020205020404" pitchFamily="49" charset="0"/>
                <a:cs typeface="Courier New" panose="02070309020205020404" pitchFamily="49" charset="0"/>
              </a:rPr>
              <a:t>release()</a:t>
            </a:r>
            <a:endParaRPr lang="en-US" altLang="en-US" dirty="0"/>
          </a:p>
          <a:p>
            <a:pPr marL="0" indent="0">
              <a:buNone/>
            </a:pPr>
            <a:endParaRPr lang="en-US" altLang="en-US" dirty="0"/>
          </a:p>
          <a:p>
            <a:endParaRPr lang="en-US" altLang="en-US" dirty="0"/>
          </a:p>
          <a:p>
            <a:endParaRPr lang="en-US" altLang="en-US" dirty="0"/>
          </a:p>
        </p:txBody>
      </p:sp>
    </p:spTree>
    <p:extLst>
      <p:ext uri="{BB962C8B-B14F-4D97-AF65-F5344CB8AC3E}">
        <p14:creationId xmlns:p14="http://schemas.microsoft.com/office/powerpoint/2010/main" val="13575779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a:extLst>
              <a:ext uri="{FF2B5EF4-FFF2-40B4-BE49-F238E27FC236}">
                <a16:creationId xmlns:a16="http://schemas.microsoft.com/office/drawing/2014/main" id="{0262CF6A-7DE0-413B-B4A8-CA639FB8A3CD}"/>
              </a:ext>
            </a:extLst>
          </p:cNvPr>
          <p:cNvSpPr>
            <a:spLocks noGrp="1"/>
          </p:cNvSpPr>
          <p:nvPr>
            <p:ph type="title"/>
          </p:nvPr>
        </p:nvSpPr>
        <p:spPr>
          <a:xfrm>
            <a:off x="457200" y="106853"/>
            <a:ext cx="8229600" cy="576262"/>
          </a:xfrm>
        </p:spPr>
        <p:txBody>
          <a:bodyPr/>
          <a:lstStyle/>
          <a:p>
            <a:r>
              <a:rPr lang="fa-IR" altLang="en-US" sz="2800" dirty="0">
                <a:latin typeface="Arial" panose="020B0604020202020204" pitchFamily="34" charset="0"/>
                <a:cs typeface="B Nazanin" panose="00000400000000000000" pitchFamily="2" charset="-78"/>
              </a:rPr>
              <a:t>زنده‌بودن</a:t>
            </a:r>
            <a:endParaRPr lang="en-US" altLang="en-US" sz="4400" dirty="0"/>
          </a:p>
        </p:txBody>
      </p:sp>
      <p:sp>
        <p:nvSpPr>
          <p:cNvPr id="100354" name="Content Placeholder 2">
            <a:extLst>
              <a:ext uri="{FF2B5EF4-FFF2-40B4-BE49-F238E27FC236}">
                <a16:creationId xmlns:a16="http://schemas.microsoft.com/office/drawing/2014/main" id="{9AEFB289-EC7A-42F2-96F5-192B003A5A92}"/>
              </a:ext>
            </a:extLst>
          </p:cNvPr>
          <p:cNvSpPr>
            <a:spLocks noGrp="1"/>
          </p:cNvSpPr>
          <p:nvPr>
            <p:ph idx="1"/>
          </p:nvPr>
        </p:nvSpPr>
        <p:spPr>
          <a:xfrm>
            <a:off x="423328" y="1245789"/>
            <a:ext cx="8455201" cy="5300662"/>
          </a:xfrm>
        </p:spPr>
        <p:txBody>
          <a:bodyPr/>
          <a:lstStyle/>
          <a:p>
            <a:pPr marL="342900" marR="0" lvl="0" indent="-342900" algn="r" rtl="1">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ممکن است فرآیندها در هنگام تلاش برای به دست آوردن یک ابزار همگام‌سازی مانند قفل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انحصار</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متقابل</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(Mutex Lock)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یا سِمافور، به طور نامحدود منتظر بمانند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انتظار نامحدود، معیارهای پیشرفت و انتظار محدود که در ابتدای این فصل مورد بحث قرار گرفت را نقض می‌کند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زنده بودن</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 (Liveness):</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به مجموعه‌ای از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ویژگی‌ها</a:t>
            </a:r>
            <a:r>
              <a:rPr lang="fa-IR" sz="2800" b="1" dirty="0">
                <a:effectLst/>
                <a:latin typeface="Times New Roman" panose="02020603050405020304" pitchFamily="18" charset="0"/>
                <a:ea typeface="Times New Roman" panose="02020603050405020304" pitchFamily="18" charset="0"/>
                <a:cs typeface="B Nazanin" panose="00000400000000000000" pitchFamily="2" charset="-78"/>
              </a:rPr>
              <a:t>یی</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اشاره دارد که یک سیستم برای </a:t>
            </a: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اطمینان از پیشرفت فرآیندها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باید از آن‌ها پیروی کند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انتظار نامحدود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نمونه‌ای از شکست زنده بودن</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Liveness Failure</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1F5A0B61-C668-4722-B6B9-90181DF727B2}"/>
              </a:ext>
            </a:extLst>
          </p:cNvPr>
          <p:cNvSpPr>
            <a:spLocks noGrp="1" noChangeArrowheads="1"/>
          </p:cNvSpPr>
          <p:nvPr>
            <p:ph idx="1"/>
          </p:nvPr>
        </p:nvSpPr>
        <p:spPr>
          <a:xfrm>
            <a:off x="615480" y="900931"/>
            <a:ext cx="8129239" cy="4906963"/>
          </a:xfrm>
        </p:spPr>
        <p:txBody>
          <a:bodyPr/>
          <a:lstStyle/>
          <a:p>
            <a:pPr marL="342900" marR="0" lvl="0" indent="-342900" algn="r" rtl="1">
              <a:buFont typeface="Wingdings" panose="05000000000000000000" pitchFamily="2" charset="2"/>
              <a:buChar char=""/>
              <a:tabLst>
                <a:tab pos="457200" algn="l"/>
              </a:tabLst>
            </a:pP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بن‌بست</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 (Deadlock):</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دو یا چند فرآیند به طور </a:t>
            </a:r>
            <a:r>
              <a:rPr lang="ar-SA" sz="2000" b="1" dirty="0">
                <a:effectLst/>
                <a:latin typeface="Times New Roman" panose="02020603050405020304" pitchFamily="18" charset="0"/>
                <a:ea typeface="Times New Roman" panose="02020603050405020304" pitchFamily="18" charset="0"/>
                <a:cs typeface="B Nazanin" panose="00000400000000000000" pitchFamily="2" charset="-78"/>
              </a:rPr>
              <a:t>نامحدود منتظر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رویدادی هستند که فقط می‌تواند توسط یکی از فرآیندهای در حال انتظار ایجاد شود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فرض کنید</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S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 Q </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دو سِمافور هستند که مقدار اولیه آن‌ها </a:t>
            </a:r>
            <a:r>
              <a:rPr lang="fa-IR" sz="2000" dirty="0">
                <a:effectLst/>
                <a:latin typeface="Times New Roman" panose="02020603050405020304" pitchFamily="18" charset="0"/>
                <a:ea typeface="Times New Roman" panose="02020603050405020304" pitchFamily="18" charset="0"/>
                <a:cs typeface="B Nazanin" panose="00000400000000000000" pitchFamily="2" charset="-78"/>
              </a:rPr>
              <a:t>۱</a:t>
            </a:r>
            <a:r>
              <a:rPr lang="ar-SA" sz="2000" dirty="0">
                <a:effectLst/>
                <a:latin typeface="Times New Roman" panose="02020603050405020304" pitchFamily="18" charset="0"/>
                <a:ea typeface="Times New Roman" panose="02020603050405020304" pitchFamily="18" charset="0"/>
                <a:cs typeface="B Nazanin" panose="00000400000000000000" pitchFamily="2" charset="-78"/>
              </a:rPr>
              <a:t> است</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Times New Roman" panose="02020603050405020304" pitchFamily="18" charset="0"/>
              <a:ea typeface="Times New Roman" panose="02020603050405020304" pitchFamily="18" charset="0"/>
            </a:endParaRPr>
          </a:p>
          <a:p>
            <a:pPr>
              <a:lnSpc>
                <a:spcPct val="90000"/>
              </a:lnSpc>
              <a:buFont typeface="Monotype Sorts" pitchFamily="-84" charset="2"/>
              <a:buNone/>
              <a:tabLst>
                <a:tab pos="1882775" algn="ctr"/>
                <a:tab pos="4568825" algn="ctr"/>
              </a:tabLst>
            </a:pPr>
            <a:r>
              <a:rPr lang="en-US" altLang="en-US" sz="2000" i="1" dirty="0">
                <a:solidFill>
                  <a:srgbClr val="000000"/>
                </a:solidFill>
              </a:rPr>
              <a:t>		        P</a:t>
            </a:r>
            <a:r>
              <a:rPr lang="en-US" altLang="en-US" sz="2000" baseline="-25000" dirty="0">
                <a:solidFill>
                  <a:srgbClr val="000000"/>
                </a:solidFill>
              </a:rPr>
              <a:t>0</a:t>
            </a:r>
            <a:r>
              <a:rPr lang="en-US" altLang="en-US" sz="2000" dirty="0">
                <a:solidFill>
                  <a:srgbClr val="000000"/>
                </a:solidFill>
              </a:rPr>
              <a:t>	                            </a:t>
            </a:r>
            <a:r>
              <a:rPr lang="en-US" altLang="en-US" sz="2000" i="1" dirty="0">
                <a:solidFill>
                  <a:srgbClr val="000000"/>
                </a:solidFill>
              </a:rPr>
              <a:t>P</a:t>
            </a:r>
            <a:r>
              <a:rPr lang="en-US" altLang="en-US" sz="2000" baseline="-25000" dirty="0">
                <a:solidFill>
                  <a:srgbClr val="000000"/>
                </a:solidFill>
              </a:rPr>
              <a:t>1</a:t>
            </a:r>
          </a:p>
          <a:p>
            <a:pPr>
              <a:lnSpc>
                <a:spcPct val="90000"/>
              </a:lnSpc>
              <a:buFont typeface="Monotype Sorts" pitchFamily="-84" charset="2"/>
              <a:buNone/>
              <a:tabLst>
                <a:tab pos="1882775" algn="ctr"/>
                <a:tab pos="4568825" algn="ctr"/>
              </a:tabLst>
            </a:pPr>
            <a:r>
              <a:rPr lang="en-US" altLang="en-US" sz="2000" b="1" dirty="0">
                <a:solidFill>
                  <a:srgbClr val="000000"/>
                </a:solidFill>
                <a:latin typeface="Courier New" panose="02070309020205020404" pitchFamily="49" charset="0"/>
              </a:rPr>
              <a:t>	          </a:t>
            </a:r>
            <a:r>
              <a:rPr lang="en-US" altLang="en-US" b="1" dirty="0">
                <a:solidFill>
                  <a:srgbClr val="000000"/>
                </a:solidFill>
                <a:latin typeface="Courier New" panose="02070309020205020404" pitchFamily="49" charset="0"/>
              </a:rPr>
              <a:t>wait(S); 	              wait(Q);</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wait(Q); 	              wait(S);</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		     ...</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signal(S);                 signal(Q);</a:t>
            </a: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signal(Q);                 signal(S);</a:t>
            </a:r>
          </a:p>
          <a:p>
            <a:pPr>
              <a:lnSpc>
                <a:spcPct val="90000"/>
              </a:lnSpc>
              <a:buFont typeface="Monotype Sorts" pitchFamily="-84" charset="2"/>
              <a:buNone/>
              <a:tabLst>
                <a:tab pos="1882775" algn="ctr"/>
                <a:tab pos="4568825" algn="ctr"/>
              </a:tabLst>
            </a:pPr>
            <a:endParaRPr lang="en-US" altLang="en-US" b="1" dirty="0">
              <a:solidFill>
                <a:srgbClr val="000000"/>
              </a:solidFill>
              <a:latin typeface="Courier New" panose="02070309020205020404" pitchFamily="49" charset="0"/>
            </a:endParaRPr>
          </a:p>
          <a:p>
            <a:pPr marL="0" marR="0" lvl="0" indent="0" algn="r" rtl="1">
              <a:buNone/>
              <a:tabLst>
                <a:tab pos="457200" algn="l"/>
              </a:tabLst>
            </a:pPr>
            <a:endParaRPr lang="en-US" sz="2000" dirty="0">
              <a:effectLst/>
              <a:latin typeface="Times New Roman" panose="02020603050405020304" pitchFamily="18" charset="0"/>
              <a:ea typeface="Times New Roman" panose="02020603050405020304" pitchFamily="18" charset="0"/>
            </a:endParaRPr>
          </a:p>
        </p:txBody>
      </p:sp>
      <p:sp>
        <p:nvSpPr>
          <p:cNvPr id="6" name="Title 1">
            <a:extLst>
              <a:ext uri="{FF2B5EF4-FFF2-40B4-BE49-F238E27FC236}">
                <a16:creationId xmlns:a16="http://schemas.microsoft.com/office/drawing/2014/main" id="{10B654C8-C4D8-441C-9FE2-895E326F6446}"/>
              </a:ext>
            </a:extLst>
          </p:cNvPr>
          <p:cNvSpPr>
            <a:spLocks noGrp="1"/>
          </p:cNvSpPr>
          <p:nvPr>
            <p:ph type="title"/>
          </p:nvPr>
        </p:nvSpPr>
        <p:spPr>
          <a:xfrm>
            <a:off x="457200" y="157653"/>
            <a:ext cx="8229600" cy="576262"/>
          </a:xfrm>
        </p:spPr>
        <p:txBody>
          <a:bodyPr/>
          <a:lstStyle/>
          <a:p>
            <a:r>
              <a:rPr lang="fa-IR" altLang="en-US" sz="3200" dirty="0">
                <a:latin typeface="Arial" panose="020B0604020202020204" pitchFamily="34" charset="0"/>
                <a:cs typeface="B Nazanin" panose="00000400000000000000" pitchFamily="2" charset="-78"/>
              </a:rPr>
              <a:t>زنده‌بودن</a:t>
            </a:r>
            <a:endParaRPr lang="en-US" altLang="en-US" dirty="0"/>
          </a:p>
        </p:txBody>
      </p:sp>
      <p:sp>
        <p:nvSpPr>
          <p:cNvPr id="5" name="TextBox 4">
            <a:extLst>
              <a:ext uri="{FF2B5EF4-FFF2-40B4-BE49-F238E27FC236}">
                <a16:creationId xmlns:a16="http://schemas.microsoft.com/office/drawing/2014/main" id="{1D38073E-6CB7-4E40-8F68-72D4CDD74B64}"/>
              </a:ext>
            </a:extLst>
          </p:cNvPr>
          <p:cNvSpPr txBox="1"/>
          <p:nvPr/>
        </p:nvSpPr>
        <p:spPr>
          <a:xfrm>
            <a:off x="365708" y="4277211"/>
            <a:ext cx="8412583" cy="2308324"/>
          </a:xfrm>
          <a:prstGeom prst="rect">
            <a:avLst/>
          </a:prstGeom>
          <a:noFill/>
        </p:spPr>
        <p:txBody>
          <a:bodyPr wrap="square">
            <a:spAutoFit/>
          </a:bodyPr>
          <a:lstStyle/>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در نظر بگیرید که اگر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P0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دستور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wait(S)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P1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دستور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wait(Q)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اجرا کند. هنگامی که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P0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دستور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wait(Q)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اجرا می‌کند، باید تا زمانی که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P1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دستور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signal(Q)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اجرا کند، منتظر بماند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با این حال،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P1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تا زمانی که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P0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دستور</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signal(S)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را اجرا نکند، در حال انتظار 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endParaRPr>
          </a:p>
          <a:p>
            <a:pPr marL="342900" marR="0" lvl="0" indent="-342900" algn="r" rtl="1">
              <a:buFont typeface="Wingdings" panose="05000000000000000000" pitchFamily="2" charset="2"/>
              <a:buChar char=""/>
              <a:tabLst>
                <a:tab pos="457200" algn="l"/>
              </a:tabLst>
            </a:pP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از آنجایی که این عملیات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signal()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هرگز اجرا نمی‌شوند، </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P0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و</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P1 </a:t>
            </a:r>
            <a:r>
              <a:rPr lang="ar-SA" sz="2400" dirty="0">
                <a:effectLst/>
                <a:latin typeface="Times New Roman" panose="02020603050405020304" pitchFamily="18" charset="0"/>
                <a:ea typeface="Times New Roman" panose="02020603050405020304" pitchFamily="18" charset="0"/>
                <a:cs typeface="B Nazanin" panose="00000400000000000000" pitchFamily="2" charset="-78"/>
              </a:rPr>
              <a:t>دچار بن‌بست شده‌اند</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CC3D9E03-5564-4E30-B743-6530BE53EE2B}"/>
              </a:ext>
            </a:extLst>
          </p:cNvPr>
          <p:cNvSpPr>
            <a:spLocks noGrp="1" noChangeArrowheads="1"/>
          </p:cNvSpPr>
          <p:nvPr>
            <p:ph idx="1"/>
          </p:nvPr>
        </p:nvSpPr>
        <p:spPr>
          <a:xfrm>
            <a:off x="820738" y="1073150"/>
            <a:ext cx="7998797" cy="4906963"/>
          </a:xfrm>
        </p:spPr>
        <p:txBody>
          <a:bodyPr/>
          <a:lstStyle/>
          <a:p>
            <a:pPr marL="0" marR="0" algn="r" rtl="1"/>
            <a:r>
              <a:rPr lang="ar-SA" sz="2800" b="1" dirty="0">
                <a:effectLst/>
                <a:latin typeface="Times New Roman" panose="02020603050405020304" pitchFamily="18" charset="0"/>
                <a:ea typeface="Times New Roman" panose="02020603050405020304" pitchFamily="18" charset="0"/>
                <a:cs typeface="B Nazanin" panose="00000400000000000000" pitchFamily="2" charset="-78"/>
              </a:rPr>
              <a:t>سایر اشکال بن‌بست</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b="1" dirty="0">
              <a:effectLst/>
              <a:latin typeface="Times New Roman" panose="02020603050405020304" pitchFamily="18" charset="0"/>
              <a:ea typeface="Times New Roman" panose="02020603050405020304" pitchFamily="18" charset="0"/>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800" b="1" dirty="0">
                <a:effectLst/>
                <a:latin typeface="Calibri" panose="020F0502020204030204" pitchFamily="34" charset="0"/>
                <a:ea typeface="Calibri" panose="020F0502020204030204" pitchFamily="34" charset="0"/>
                <a:cs typeface="B Nazanin" panose="00000400000000000000" pitchFamily="2" charset="-78"/>
              </a:rPr>
              <a:t>گرسنگی</a:t>
            </a:r>
            <a:r>
              <a:rPr lang="en-US" sz="2800" b="1" dirty="0">
                <a:effectLst/>
                <a:latin typeface="Calibri" panose="020F0502020204030204" pitchFamily="34" charset="0"/>
                <a:ea typeface="Calibri" panose="020F0502020204030204" pitchFamily="34" charset="0"/>
                <a:cs typeface="B Nazanin" panose="00000400000000000000" pitchFamily="2" charset="-78"/>
              </a:rPr>
              <a:t> (Starvation):</a:t>
            </a:r>
            <a:r>
              <a:rPr lang="en-US" sz="2800" dirty="0">
                <a:effectLst/>
                <a:latin typeface="Calibri" panose="020F0502020204030204" pitchFamily="34" charset="0"/>
                <a:ea typeface="Calibri" panose="020F0502020204030204" pitchFamily="34" charset="0"/>
                <a:cs typeface="B Nazanin" panose="00000400000000000000" pitchFamily="2" charset="-78"/>
              </a:rPr>
              <a:t> </a:t>
            </a:r>
            <a:r>
              <a:rPr lang="ar-SA" sz="2800" dirty="0">
                <a:effectLst/>
                <a:latin typeface="Calibri" panose="020F0502020204030204" pitchFamily="34" charset="0"/>
                <a:ea typeface="Calibri" panose="020F0502020204030204" pitchFamily="34" charset="0"/>
                <a:cs typeface="B Nazanin" panose="00000400000000000000" pitchFamily="2" charset="-78"/>
              </a:rPr>
              <a:t>بلاک شدن نامحدود</a:t>
            </a:r>
            <a:endParaRPr lang="en-US" sz="2800" dirty="0">
              <a:effectLst/>
              <a:latin typeface="Calibri" panose="020F0502020204030204" pitchFamily="34" charset="0"/>
              <a:ea typeface="Calibri" panose="020F0502020204030204" pitchFamily="34" charset="0"/>
              <a:cs typeface="Arial" panose="020B0604020202020204" pitchFamily="34" charset="0"/>
            </a:endParaRPr>
          </a:p>
          <a:p>
            <a:pPr marL="0" marR="0" algn="r" rtl="1"/>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فرآیندی ممکن است هرگز از صف سِمافوری که در آن معلق</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sleep</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a:t>
            </a:r>
            <a:r>
              <a:rPr lang="ar-SA" sz="2800" dirty="0">
                <a:effectLst/>
                <a:latin typeface="Times New Roman" panose="02020603050405020304" pitchFamily="18" charset="0"/>
                <a:ea typeface="Times New Roman" panose="02020603050405020304" pitchFamily="18" charset="0"/>
                <a:cs typeface="B Nazanin" panose="00000400000000000000" pitchFamily="2" charset="-78"/>
              </a:rPr>
              <a:t> است، حذف نشود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800" dirty="0">
              <a:effectLst/>
              <a:latin typeface="Times New Roman" panose="02020603050405020304" pitchFamily="18" charset="0"/>
              <a:ea typeface="Times New Roman" panose="02020603050405020304" pitchFamily="18" charset="0"/>
            </a:endParaRPr>
          </a:p>
        </p:txBody>
      </p:sp>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a:xfrm>
            <a:off x="457200" y="157653"/>
            <a:ext cx="8229600" cy="576262"/>
          </a:xfrm>
        </p:spPr>
        <p:txBody>
          <a:bodyPr/>
          <a:lstStyle/>
          <a:p>
            <a:r>
              <a:rPr lang="fa-IR" altLang="en-US" sz="3200" dirty="0">
                <a:latin typeface="Arial" panose="020B0604020202020204" pitchFamily="34" charset="0"/>
                <a:cs typeface="B Nazanin" panose="00000400000000000000" pitchFamily="2" charset="-78"/>
              </a:rPr>
              <a:t>زنده‌بودن</a:t>
            </a:r>
            <a:endParaRPr lang="en-US"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06CA1E1-4F3C-40FD-8128-8886B3D8AE7B}"/>
              </a:ext>
            </a:extLst>
          </p:cNvPr>
          <p:cNvSpPr>
            <a:spLocks noGrp="1"/>
          </p:cNvSpPr>
          <p:nvPr>
            <p:ph type="title"/>
          </p:nvPr>
        </p:nvSpPr>
        <p:spPr>
          <a:xfrm>
            <a:off x="1169464" y="2954913"/>
            <a:ext cx="7772400" cy="1362075"/>
          </a:xfrm>
        </p:spPr>
        <p:txBody>
          <a:bodyPr/>
          <a:lstStyle/>
          <a:p>
            <a:r>
              <a:rPr lang="fa-IR" sz="4000" b="1" dirty="0">
                <a:effectLst/>
                <a:latin typeface="Times New Roman" panose="02020603050405020304" pitchFamily="18" charset="0"/>
                <a:ea typeface="Times New Roman" panose="02020603050405020304" pitchFamily="18" charset="0"/>
                <a:cs typeface="B Nazanin" panose="00000400000000000000" pitchFamily="2" charset="-78"/>
              </a:rPr>
              <a:t>مثال‌های از کاربرد مفاهیم همگام‌سازی</a:t>
            </a:r>
            <a:br>
              <a:rPr lang="en-US" sz="4000" dirty="0">
                <a:effectLst/>
                <a:latin typeface="Times New Roman" panose="02020603050405020304" pitchFamily="18" charset="0"/>
                <a:ea typeface="Times New Roman" panose="02020603050405020304" pitchFamily="18" charset="0"/>
              </a:rPr>
            </a:br>
            <a:endParaRPr lang="en-US" altLang="en-US" dirty="0"/>
          </a:p>
        </p:txBody>
      </p:sp>
    </p:spTree>
    <p:extLst>
      <p:ext uri="{BB962C8B-B14F-4D97-AF65-F5344CB8AC3E}">
        <p14:creationId xmlns:p14="http://schemas.microsoft.com/office/powerpoint/2010/main" val="38329284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a:extLst>
              <a:ext uri="{FF2B5EF4-FFF2-40B4-BE49-F238E27FC236}">
                <a16:creationId xmlns:a16="http://schemas.microsoft.com/office/drawing/2014/main" id="{3AB92419-2F3E-4AB1-BD3A-358F1F8CF347}"/>
              </a:ext>
            </a:extLst>
          </p:cNvPr>
          <p:cNvSpPr>
            <a:spLocks noGrp="1" noChangeArrowheads="1"/>
          </p:cNvSpPr>
          <p:nvPr>
            <p:ph type="title"/>
          </p:nvPr>
        </p:nvSpPr>
        <p:spPr>
          <a:xfrm>
            <a:off x="1020720" y="180555"/>
            <a:ext cx="8077200" cy="609600"/>
          </a:xfrm>
        </p:spPr>
        <p:txBody>
          <a:bodyPr/>
          <a:lstStyle/>
          <a:p>
            <a:pPr eaLnBrk="1" hangingPunct="1"/>
            <a:r>
              <a:rPr lang="en-US" altLang="en-US" dirty="0"/>
              <a:t>Classical Problems of Synchronization</a:t>
            </a:r>
          </a:p>
        </p:txBody>
      </p:sp>
      <p:sp>
        <p:nvSpPr>
          <p:cNvPr id="9218" name="Rectangle 3">
            <a:extLst>
              <a:ext uri="{FF2B5EF4-FFF2-40B4-BE49-F238E27FC236}">
                <a16:creationId xmlns:a16="http://schemas.microsoft.com/office/drawing/2014/main" id="{D48FBE90-0458-4057-B57E-DA63D17D9A1D}"/>
              </a:ext>
            </a:extLst>
          </p:cNvPr>
          <p:cNvSpPr>
            <a:spLocks noGrp="1" noChangeArrowheads="1"/>
          </p:cNvSpPr>
          <p:nvPr>
            <p:ph idx="1"/>
          </p:nvPr>
        </p:nvSpPr>
        <p:spPr>
          <a:xfrm>
            <a:off x="806449" y="1131891"/>
            <a:ext cx="7875327" cy="4441596"/>
          </a:xfrm>
        </p:spPr>
        <p:txBody>
          <a:bodyPr/>
          <a:lstStyle/>
          <a:p>
            <a:pPr marL="0" marR="0" algn="r" rtl="1">
              <a:lnSpc>
                <a:spcPct val="107000"/>
              </a:lnSpc>
              <a:spcBef>
                <a:spcPts val="0"/>
              </a:spcBef>
              <a:spcAft>
                <a:spcPts val="800"/>
              </a:spcAft>
            </a:pPr>
            <a:r>
              <a:rPr lang="ar-SA" sz="3200" dirty="0">
                <a:effectLst/>
                <a:latin typeface="Calibri" panose="020F0502020204030204" pitchFamily="34" charset="0"/>
                <a:ea typeface="Times New Roman" panose="02020603050405020304" pitchFamily="18" charset="0"/>
                <a:cs typeface="B Nazanin" panose="00000400000000000000" pitchFamily="2" charset="-78"/>
              </a:rPr>
              <a:t>مسائل کلاسیک برای تست رویکردهای همگام‌سازی جدید</a:t>
            </a:r>
            <a:endParaRPr lang="en-US" sz="3200" dirty="0">
              <a:effectLst/>
              <a:latin typeface="Calibri" panose="020F0502020204030204" pitchFamily="34" charset="0"/>
              <a:ea typeface="Calibri" panose="020F0502020204030204" pitchFamily="34" charset="0"/>
              <a:cs typeface="B Nazanin" panose="00000400000000000000" pitchFamily="2" charset="-78"/>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3200" dirty="0">
                <a:effectLst/>
                <a:latin typeface="Calibri" panose="020F0502020204030204" pitchFamily="34" charset="0"/>
                <a:ea typeface="Times New Roman" panose="02020603050405020304" pitchFamily="18" charset="0"/>
                <a:cs typeface="B Nazanin" panose="00000400000000000000" pitchFamily="2" charset="-78"/>
              </a:rPr>
              <a:t>مسئله بافر محدود</a:t>
            </a:r>
            <a:r>
              <a:rPr lang="en-US" sz="3200" dirty="0">
                <a:effectLst/>
                <a:latin typeface="Times New Roman" panose="02020603050405020304" pitchFamily="18" charset="0"/>
                <a:ea typeface="Times New Roman" panose="02020603050405020304" pitchFamily="18" charset="0"/>
                <a:cs typeface="B Nazanin" panose="00000400000000000000" pitchFamily="2" charset="-78"/>
              </a:rPr>
              <a:t> (Bounded-Buffer Problem):</a:t>
            </a:r>
            <a:endParaRPr lang="en-US" sz="3200" dirty="0">
              <a:effectLst/>
              <a:latin typeface="Calibri" panose="020F0502020204030204" pitchFamily="34" charset="0"/>
              <a:ea typeface="Calibri" panose="020F0502020204030204" pitchFamily="34" charset="0"/>
              <a:cs typeface="B Nazanin" panose="00000400000000000000" pitchFamily="2" charset="-78"/>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fa-IR" sz="3200" dirty="0">
                <a:effectLst/>
                <a:latin typeface="Calibri" panose="020F0502020204030204" pitchFamily="34" charset="0"/>
                <a:ea typeface="Times New Roman" panose="02020603050405020304" pitchFamily="18" charset="0"/>
                <a:cs typeface="B Nazanin" panose="00000400000000000000" pitchFamily="2" charset="-78"/>
              </a:rPr>
              <a:t>مسئله نویسندگان و خوانندگان</a:t>
            </a:r>
            <a:endParaRPr lang="en-US" sz="3200" dirty="0">
              <a:effectLst/>
              <a:latin typeface="Calibri" panose="020F0502020204030204" pitchFamily="34" charset="0"/>
              <a:ea typeface="Calibri" panose="020F0502020204030204" pitchFamily="34" charset="0"/>
              <a:cs typeface="B Nazanin" panose="00000400000000000000" pitchFamily="2" charset="-78"/>
            </a:endParaRPr>
          </a:p>
          <a:p>
            <a:pPr marL="742950" lvl="1" indent="-342900" algn="r" rtl="1">
              <a:lnSpc>
                <a:spcPct val="107000"/>
              </a:lnSpc>
              <a:spcBef>
                <a:spcPts val="0"/>
              </a:spcBef>
              <a:spcAft>
                <a:spcPts val="800"/>
              </a:spcAft>
              <a:buSzPts val="1000"/>
              <a:buFont typeface="Symbol" panose="05050102010706020507" pitchFamily="18" charset="2"/>
              <a:buChar char=""/>
              <a:tabLst>
                <a:tab pos="457200" algn="l"/>
              </a:tabLst>
            </a:pPr>
            <a:r>
              <a:rPr lang="fa-IR" sz="3200" dirty="0">
                <a:effectLst/>
                <a:latin typeface="Calibri" panose="020F0502020204030204" pitchFamily="34" charset="0"/>
                <a:ea typeface="Times New Roman" panose="02020603050405020304" pitchFamily="18" charset="0"/>
                <a:cs typeface="B Nazanin" panose="00000400000000000000" pitchFamily="2" charset="-78"/>
              </a:rPr>
              <a:t>مسئله فیلسوفان گرسنه</a:t>
            </a:r>
            <a:endParaRPr lang="en-US" sz="3200" dirty="0">
              <a:effectLst/>
              <a:latin typeface="Calibri" panose="020F0502020204030204" pitchFamily="34" charset="0"/>
              <a:ea typeface="Calibri" panose="020F0502020204030204" pitchFamily="34" charset="0"/>
              <a:cs typeface="B Nazanin" panose="00000400000000000000" pitchFamily="2" charset="-78"/>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445FFABD-D0ED-4BD7-90B8-096D05870983}"/>
              </a:ext>
            </a:extLst>
          </p:cNvPr>
          <p:cNvSpPr>
            <a:spLocks noGrp="1" noChangeArrowheads="1"/>
          </p:cNvSpPr>
          <p:nvPr>
            <p:ph type="title"/>
          </p:nvPr>
        </p:nvSpPr>
        <p:spPr>
          <a:xfrm>
            <a:off x="923731" y="277813"/>
            <a:ext cx="7763069" cy="576262"/>
          </a:xfrm>
        </p:spPr>
        <p:txBody>
          <a:bodyPr/>
          <a:lstStyle/>
          <a:p>
            <a:pPr eaLnBrk="1" hangingPunct="1"/>
            <a:r>
              <a:rPr lang="ar-SA" sz="3200" dirty="0">
                <a:effectLst/>
                <a:latin typeface="Calibri" panose="020F0502020204030204" pitchFamily="34" charset="0"/>
                <a:ea typeface="Times New Roman" panose="02020603050405020304" pitchFamily="18" charset="0"/>
                <a:cs typeface="B Nazanin" panose="00000400000000000000" pitchFamily="2" charset="-78"/>
              </a:rPr>
              <a:t>مسئله بافر محدود</a:t>
            </a:r>
            <a:endParaRPr lang="en-US" altLang="en-US" dirty="0"/>
          </a:p>
        </p:txBody>
      </p:sp>
      <p:sp>
        <p:nvSpPr>
          <p:cNvPr id="11266" name="Rectangle 3">
            <a:extLst>
              <a:ext uri="{FF2B5EF4-FFF2-40B4-BE49-F238E27FC236}">
                <a16:creationId xmlns:a16="http://schemas.microsoft.com/office/drawing/2014/main" id="{D956C55F-640F-4784-8984-36E14C723FAC}"/>
              </a:ext>
            </a:extLst>
          </p:cNvPr>
          <p:cNvSpPr>
            <a:spLocks noGrp="1" noChangeArrowheads="1"/>
          </p:cNvSpPr>
          <p:nvPr>
            <p:ph idx="1"/>
          </p:nvPr>
        </p:nvSpPr>
        <p:spPr>
          <a:xfrm>
            <a:off x="291403" y="949569"/>
            <a:ext cx="8852598" cy="4070106"/>
          </a:xfrm>
        </p:spPr>
        <p:txBody>
          <a:bodyPr/>
          <a:lstStyle/>
          <a:p>
            <a:pPr marL="742950" marR="0" lvl="1" indent="-285750" algn="r" rtl="1">
              <a:lnSpc>
                <a:spcPct val="107000"/>
              </a:lnSpc>
              <a:spcBef>
                <a:spcPts val="0"/>
              </a:spcBef>
              <a:spcAft>
                <a:spcPts val="800"/>
              </a:spcAft>
              <a:buFont typeface="Wingdings" panose="05000000000000000000" pitchFamily="2" charset="2"/>
              <a:buChar char=""/>
              <a:tabLst>
                <a:tab pos="914400" algn="l"/>
              </a:tabLst>
            </a:pPr>
            <a:r>
              <a:rPr lang="ar-SA" sz="2800" dirty="0">
                <a:effectLst/>
                <a:latin typeface="Calibri" panose="020F0502020204030204" pitchFamily="34" charset="0"/>
                <a:ea typeface="Times New Roman" panose="02020603050405020304" pitchFamily="18" charset="0"/>
                <a:cs typeface="B Nazanin" panose="00000400000000000000" pitchFamily="2" charset="-78"/>
              </a:rPr>
              <a:t>این مسئله شامل </a:t>
            </a:r>
            <a:r>
              <a:rPr lang="en-US" sz="2800" dirty="0">
                <a:effectLst/>
                <a:latin typeface="Calibri" panose="020F0502020204030204" pitchFamily="34" charset="0"/>
                <a:ea typeface="Times New Roman" panose="02020603050405020304" pitchFamily="18" charset="0"/>
                <a:cs typeface="B Nazanin" panose="00000400000000000000" pitchFamily="2" charset="-78"/>
              </a:rPr>
              <a:t> </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n</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Calibri" panose="020F0502020204030204" pitchFamily="34" charset="0"/>
                <a:ea typeface="Times New Roman" panose="02020603050405020304" pitchFamily="18" charset="0"/>
                <a:cs typeface="B Nazanin" panose="00000400000000000000" pitchFamily="2" charset="-78"/>
              </a:rPr>
              <a:t>بافر است که هر کدام می‌تواند </a:t>
            </a:r>
            <a:r>
              <a:rPr lang="ar-SA" sz="2800" b="1" dirty="0">
                <a:effectLst/>
                <a:latin typeface="Calibri" panose="020F0502020204030204" pitchFamily="34" charset="0"/>
                <a:ea typeface="Times New Roman" panose="02020603050405020304" pitchFamily="18" charset="0"/>
                <a:cs typeface="B Nazanin" panose="00000400000000000000" pitchFamily="2" charset="-78"/>
              </a:rPr>
              <a:t>فقط یک آیتم</a:t>
            </a:r>
            <a:r>
              <a:rPr lang="ar-SA" sz="2800" dirty="0">
                <a:effectLst/>
                <a:latin typeface="Calibri" panose="020F0502020204030204" pitchFamily="34" charset="0"/>
                <a:ea typeface="Times New Roman" panose="02020603050405020304" pitchFamily="18" charset="0"/>
                <a:cs typeface="B Nazanin" panose="00000400000000000000" pitchFamily="2" charset="-78"/>
              </a:rPr>
              <a:t> را در خود جای دهد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Font typeface="Wingdings" panose="05000000000000000000" pitchFamily="2" charset="2"/>
              <a:buChar char=""/>
              <a:tabLst>
                <a:tab pos="914400" algn="l"/>
              </a:tabLst>
            </a:pPr>
            <a:r>
              <a:rPr lang="ar-SA" sz="2800" dirty="0">
                <a:effectLst/>
                <a:latin typeface="Calibri" panose="020F0502020204030204" pitchFamily="34" charset="0"/>
                <a:ea typeface="Times New Roman" panose="02020603050405020304" pitchFamily="18" charset="0"/>
                <a:cs typeface="B Nazanin" panose="00000400000000000000" pitchFamily="2" charset="-78"/>
              </a:rPr>
              <a:t>یک سیمافور به نام </a:t>
            </a:r>
            <a:r>
              <a:rPr lang="en-US" sz="2800" dirty="0">
                <a:effectLst/>
                <a:latin typeface="Calibri" panose="020F0502020204030204" pitchFamily="34" charset="0"/>
                <a:ea typeface="Times New Roman" panose="02020603050405020304" pitchFamily="18" charset="0"/>
                <a:cs typeface="B Nazanin" panose="00000400000000000000" pitchFamily="2" charset="-78"/>
              </a:rPr>
              <a:t> </a:t>
            </a:r>
            <a:r>
              <a:rPr lang="en-US" sz="2400" b="1" dirty="0">
                <a:effectLst/>
                <a:latin typeface="Courier New" panose="02070309020205020404" pitchFamily="49" charset="0"/>
                <a:ea typeface="Times New Roman" panose="02020603050405020304" pitchFamily="18" charset="0"/>
                <a:cs typeface="B Nazanin" panose="00000400000000000000" pitchFamily="2" charset="-78"/>
              </a:rPr>
              <a:t>mutex</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Calibri" panose="020F0502020204030204" pitchFamily="34" charset="0"/>
                <a:ea typeface="Times New Roman" panose="02020603050405020304" pitchFamily="18" charset="0"/>
                <a:cs typeface="B Nazanin" panose="00000400000000000000" pitchFamily="2" charset="-78"/>
              </a:rPr>
              <a:t>وجود دارد که مقدار اولیه آن برابر با </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1</a:t>
            </a:r>
            <a:r>
              <a:rPr lang="ar-SA" sz="2800" dirty="0">
                <a:effectLst/>
                <a:latin typeface="Calibri" panose="020F0502020204030204" pitchFamily="34" charset="0"/>
                <a:ea typeface="Times New Roman" panose="02020603050405020304" pitchFamily="18" charset="0"/>
                <a:cs typeface="B Nazanin" panose="00000400000000000000" pitchFamily="2" charset="-78"/>
              </a:rPr>
              <a:t>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Font typeface="Wingdings" panose="05000000000000000000" pitchFamily="2" charset="2"/>
              <a:buChar char=""/>
              <a:tabLst>
                <a:tab pos="914400" algn="l"/>
              </a:tabLst>
            </a:pPr>
            <a:r>
              <a:rPr lang="ar-SA" sz="2800" dirty="0">
                <a:effectLst/>
                <a:latin typeface="Calibri" panose="020F0502020204030204" pitchFamily="34" charset="0"/>
                <a:ea typeface="Times New Roman" panose="02020603050405020304" pitchFamily="18" charset="0"/>
                <a:cs typeface="B Nazanin" panose="00000400000000000000" pitchFamily="2" charset="-78"/>
              </a:rPr>
              <a:t>یک سیمافور دیگر به نام </a:t>
            </a:r>
            <a:r>
              <a:rPr lang="en-US" sz="2400" b="1" dirty="0">
                <a:effectLst/>
                <a:latin typeface="Courier New" panose="02070309020205020404" pitchFamily="49" charset="0"/>
                <a:ea typeface="Times New Roman" panose="02020603050405020304" pitchFamily="18" charset="0"/>
                <a:cs typeface="B Nazanin" panose="00000400000000000000" pitchFamily="2" charset="-78"/>
              </a:rPr>
              <a:t>full</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Calibri" panose="020F0502020204030204" pitchFamily="34" charset="0"/>
                <a:ea typeface="Times New Roman" panose="02020603050405020304" pitchFamily="18" charset="0"/>
                <a:cs typeface="B Nazanin" panose="00000400000000000000" pitchFamily="2" charset="-78"/>
              </a:rPr>
              <a:t>با مقدار اولیه </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0</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fa-IR"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Calibri" panose="020F0502020204030204" pitchFamily="34" charset="0"/>
                <a:ea typeface="Times New Roman" panose="02020603050405020304" pitchFamily="18" charset="0"/>
                <a:cs typeface="B Nazanin" panose="00000400000000000000" pitchFamily="2" charset="-78"/>
              </a:rPr>
              <a:t>وجود دارد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Font typeface="Wingdings" panose="05000000000000000000" pitchFamily="2" charset="2"/>
              <a:buChar char=""/>
              <a:tabLst>
                <a:tab pos="914400" algn="l"/>
              </a:tabLst>
            </a:pPr>
            <a:r>
              <a:rPr lang="ar-SA" sz="2800" dirty="0">
                <a:effectLst/>
                <a:latin typeface="Calibri" panose="020F0502020204030204" pitchFamily="34" charset="0"/>
                <a:ea typeface="Times New Roman" panose="02020603050405020304" pitchFamily="18" charset="0"/>
                <a:cs typeface="B Nazanin" panose="00000400000000000000" pitchFamily="2" charset="-78"/>
              </a:rPr>
              <a:t>و در نهایت یک سیمافور به نام </a:t>
            </a:r>
            <a:r>
              <a:rPr lang="en-US" sz="2400" b="1" dirty="0">
                <a:effectLst/>
                <a:latin typeface="Courier New" panose="02070309020205020404" pitchFamily="49" charset="0"/>
                <a:ea typeface="Times New Roman" panose="02020603050405020304" pitchFamily="18" charset="0"/>
                <a:cs typeface="B Nazanin" panose="00000400000000000000" pitchFamily="2" charset="-78"/>
              </a:rPr>
              <a:t>empty</a:t>
            </a:r>
            <a:r>
              <a:rPr lang="fa-IR" sz="2000" b="1" dirty="0">
                <a:effectLst/>
                <a:latin typeface="Courier New" panose="02070309020205020404" pitchFamily="49" charset="0"/>
                <a:ea typeface="Times New Roman" panose="02020603050405020304" pitchFamily="18" charset="0"/>
                <a:cs typeface="B Nazanin" panose="00000400000000000000" pitchFamily="2" charset="-78"/>
              </a:rPr>
              <a:t> </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Calibri" panose="020F0502020204030204" pitchFamily="34" charset="0"/>
                <a:ea typeface="Times New Roman" panose="02020603050405020304" pitchFamily="18" charset="0"/>
                <a:cs typeface="B Nazanin" panose="00000400000000000000" pitchFamily="2" charset="-78"/>
              </a:rPr>
              <a:t>با مقدار اولیه </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n</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Calibri" panose="020F0502020204030204" pitchFamily="34" charset="0"/>
                <a:ea typeface="Times New Roman" panose="02020603050405020304" pitchFamily="18" charset="0"/>
                <a:cs typeface="B Nazanin" panose="00000400000000000000" pitchFamily="2" charset="-78"/>
              </a:rPr>
              <a:t>داریم</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Font typeface="Wingdings" panose="05000000000000000000" pitchFamily="2" charset="2"/>
              <a:buChar char=""/>
              <a:tabLst>
                <a:tab pos="914400" algn="l"/>
              </a:tabLst>
            </a:pPr>
            <a:r>
              <a:rPr lang="ar-SA" sz="2800" dirty="0">
                <a:effectLst/>
                <a:latin typeface="Calibri" panose="020F0502020204030204" pitchFamily="34" charset="0"/>
                <a:ea typeface="Times New Roman" panose="02020603050405020304" pitchFamily="18" charset="0"/>
                <a:cs typeface="B Nazanin" panose="00000400000000000000" pitchFamily="2" charset="-78"/>
              </a:rPr>
              <a:t>همچنین لازم است تا ساختار فرایند تولیدکننده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(producer process) </a:t>
            </a:r>
            <a:r>
              <a:rPr lang="ar-SA" sz="2800" dirty="0">
                <a:effectLst/>
                <a:latin typeface="Calibri" panose="020F0502020204030204" pitchFamily="34" charset="0"/>
                <a:ea typeface="Times New Roman" panose="02020603050405020304" pitchFamily="18" charset="0"/>
                <a:cs typeface="B Nazanin" panose="00000400000000000000" pitchFamily="2" charset="-78"/>
              </a:rPr>
              <a:t>و ساختار فرایند مصرف‌کننده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(consumer process) </a:t>
            </a:r>
            <a:r>
              <a:rPr lang="ar-SA" sz="2800" dirty="0">
                <a:effectLst/>
                <a:latin typeface="Calibri" panose="020F0502020204030204" pitchFamily="34" charset="0"/>
                <a:ea typeface="Times New Roman" panose="02020603050405020304" pitchFamily="18" charset="0"/>
                <a:cs typeface="B Nazanin" panose="00000400000000000000" pitchFamily="2" charset="-78"/>
              </a:rPr>
              <a:t>تعریف 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r>
              <a:rPr lang="ar-SA" sz="2800" b="1" dirty="0">
                <a:effectLst/>
                <a:latin typeface="Calibri" panose="020F0502020204030204" pitchFamily="34" charset="0"/>
                <a:ea typeface="Times New Roman" panose="02020603050405020304" pitchFamily="18" charset="0"/>
                <a:cs typeface="B Nazanin" panose="00000400000000000000" pitchFamily="2" charset="-78"/>
              </a:rPr>
              <a:t>توجه</a:t>
            </a:r>
            <a:r>
              <a:rPr lang="en-US" sz="28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800" dirty="0">
                <a:effectLst/>
                <a:latin typeface="Calibri" panose="020F0502020204030204" pitchFamily="34" charset="0"/>
                <a:ea typeface="Times New Roman" panose="02020603050405020304" pitchFamily="18" charset="0"/>
                <a:cs typeface="B Nazanin" panose="00000400000000000000" pitchFamily="2" charset="-78"/>
              </a:rPr>
              <a:t>در این بخش، جزئیات مربوط به ساختار فرایندها ذکر نشده است</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Calibri" panose="020F0502020204030204" pitchFamily="34" charset="0"/>
              <a:ea typeface="Calibri" panose="020F0502020204030204" pitchFamily="34" charset="0"/>
              <a:cs typeface="B Nazanin" panose="00000400000000000000" pitchFamily="2" charset="-78"/>
            </a:endParaRPr>
          </a:p>
        </p:txBody>
      </p:sp>
      <p:sp>
        <p:nvSpPr>
          <p:cNvPr id="11267" name="Rectangle 5">
            <a:extLst>
              <a:ext uri="{FF2B5EF4-FFF2-40B4-BE49-F238E27FC236}">
                <a16:creationId xmlns:a16="http://schemas.microsoft.com/office/drawing/2014/main" id="{91998508-D538-4C89-AD83-931DA05A9BCE}"/>
              </a:ext>
            </a:extLst>
          </p:cNvPr>
          <p:cNvSpPr>
            <a:spLocks noChangeArrowheads="1"/>
          </p:cNvSpPr>
          <p:nvPr/>
        </p:nvSpPr>
        <p:spPr bwMode="auto">
          <a:xfrm>
            <a:off x="2492375" y="3246438"/>
            <a:ext cx="184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FAD360A-E679-4DC4-99D8-0FFD8BCEDE8D}"/>
              </a:ext>
            </a:extLst>
          </p:cNvPr>
          <p:cNvSpPr>
            <a:spLocks noGrp="1" noChangeArrowheads="1"/>
          </p:cNvSpPr>
          <p:nvPr>
            <p:ph type="title"/>
          </p:nvPr>
        </p:nvSpPr>
        <p:spPr>
          <a:xfrm>
            <a:off x="1111250" y="222868"/>
            <a:ext cx="7575550" cy="576262"/>
          </a:xfrm>
        </p:spPr>
        <p:txBody>
          <a:bodyPr/>
          <a:lstStyle/>
          <a:p>
            <a:pPr eaLnBrk="1" hangingPunct="1"/>
            <a:r>
              <a:rPr lang="ar-SA" sz="3200" dirty="0">
                <a:effectLst/>
                <a:latin typeface="Calibri" panose="020F0502020204030204" pitchFamily="34" charset="0"/>
                <a:ea typeface="Times New Roman" panose="02020603050405020304" pitchFamily="18" charset="0"/>
                <a:cs typeface="B Nazanin" panose="00000400000000000000" pitchFamily="2" charset="-78"/>
              </a:rPr>
              <a:t>مسئله بافر محدود</a:t>
            </a:r>
            <a:r>
              <a:rPr lang="fa-IR" sz="3200" dirty="0">
                <a:effectLst/>
                <a:latin typeface="Calibri" panose="020F0502020204030204" pitchFamily="34" charset="0"/>
                <a:ea typeface="Times New Roman" panose="02020603050405020304" pitchFamily="18" charset="0"/>
                <a:cs typeface="B Nazanin" panose="00000400000000000000" pitchFamily="2" charset="-78"/>
              </a:rPr>
              <a:t> (ادامه)</a:t>
            </a:r>
            <a:endParaRPr lang="en-US" altLang="en-US" dirty="0"/>
          </a:p>
        </p:txBody>
      </p:sp>
      <p:sp>
        <p:nvSpPr>
          <p:cNvPr id="13314" name="Rectangle 3">
            <a:extLst>
              <a:ext uri="{FF2B5EF4-FFF2-40B4-BE49-F238E27FC236}">
                <a16:creationId xmlns:a16="http://schemas.microsoft.com/office/drawing/2014/main" id="{C2887F7A-B34E-4133-B1D8-7BCD1F23281A}"/>
              </a:ext>
            </a:extLst>
          </p:cNvPr>
          <p:cNvSpPr>
            <a:spLocks noGrp="1" noChangeArrowheads="1"/>
          </p:cNvSpPr>
          <p:nvPr>
            <p:ph idx="1"/>
          </p:nvPr>
        </p:nvSpPr>
        <p:spPr>
          <a:xfrm>
            <a:off x="830424" y="1279525"/>
            <a:ext cx="7932576" cy="4876800"/>
          </a:xfrm>
        </p:spPr>
        <p:txBody>
          <a:bodyPr/>
          <a:lstStyle/>
          <a:p>
            <a:r>
              <a:rPr lang="ar-SA" sz="1800" b="1" dirty="0">
                <a:effectLst/>
                <a:latin typeface="Segoe UI Emoji" panose="020B0502040204020203" pitchFamily="34" charset="0"/>
                <a:ea typeface="Aptos" panose="020B0004020202020204" pitchFamily="34" charset="0"/>
                <a:cs typeface="B Nazanin" panose="00000400000000000000" pitchFamily="2" charset="-78"/>
              </a:rPr>
              <a:t>ساختار فرآیند تولیدکننده</a:t>
            </a:r>
            <a:endParaRPr lang="en-US" sz="1800" b="1" dirty="0">
              <a:effectLst/>
              <a:latin typeface="Segoe UI Emoji" panose="020B0502040204020203" pitchFamily="34" charset="0"/>
              <a:ea typeface="Aptos" panose="020B0004020202020204" pitchFamily="34" charset="0"/>
              <a:cs typeface="B Nazanin" panose="00000400000000000000" pitchFamily="2" charset="-78"/>
            </a:endParaRPr>
          </a:p>
          <a:p>
            <a:endParaRPr lang="en-US" altLang="en-US" b="1" dirty="0">
              <a:latin typeface="Courier New" panose="02070309020205020404" pitchFamily="49" charset="0"/>
            </a:endParaRPr>
          </a:p>
          <a:p>
            <a:pPr>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while</a:t>
            </a:r>
            <a:r>
              <a:rPr lang="en-US" altLang="en-US" dirty="0">
                <a:latin typeface="Consolas" panose="020B0609020204030204" pitchFamily="49" charset="0"/>
              </a:rPr>
              <a:t> (true) { </a:t>
            </a:r>
          </a:p>
          <a:p>
            <a:pPr>
              <a:buFont typeface="Monotype Sorts" pitchFamily="-84" charset="2"/>
              <a:buNone/>
            </a:pPr>
            <a:r>
              <a:rPr lang="en-US" altLang="en-US" dirty="0">
                <a:latin typeface="Consolas" panose="020B0609020204030204" pitchFamily="49" charset="0"/>
              </a:rPr>
              <a:t>          ...</a:t>
            </a:r>
            <a:br>
              <a:rPr lang="en-US" altLang="en-US" dirty="0">
                <a:latin typeface="Consolas" panose="020B0609020204030204" pitchFamily="49" charset="0"/>
              </a:rPr>
            </a:br>
            <a:r>
              <a:rPr lang="en-US" altLang="en-US" dirty="0">
                <a:latin typeface="Consolas" panose="020B0609020204030204" pitchFamily="49" charset="0"/>
              </a:rPr>
              <a:t>        /* produce an item in </a:t>
            </a:r>
            <a:r>
              <a:rPr lang="en-US" altLang="en-US" dirty="0" err="1">
                <a:latin typeface="Consolas" panose="020B0609020204030204" pitchFamily="49" charset="0"/>
              </a:rPr>
              <a:t>next_produced</a:t>
            </a:r>
            <a:r>
              <a:rPr lang="en-US" altLang="en-US" dirty="0">
                <a:latin typeface="Consolas" panose="020B0609020204030204" pitchFamily="49" charset="0"/>
              </a:rPr>
              <a:t> */ </a:t>
            </a:r>
          </a:p>
          <a:p>
            <a:pPr>
              <a:buFont typeface="Monotype Sorts" pitchFamily="-84" charset="2"/>
              <a:buNone/>
            </a:pPr>
            <a:r>
              <a:rPr lang="en-US" altLang="en-US" dirty="0">
                <a:latin typeface="Consolas" panose="020B0609020204030204" pitchFamily="49" charset="0"/>
              </a:rPr>
              <a:t>          ... </a:t>
            </a:r>
          </a:p>
          <a:p>
            <a:pPr>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wait</a:t>
            </a:r>
            <a:r>
              <a:rPr lang="en-US" altLang="en-US" dirty="0">
                <a:latin typeface="Consolas" panose="020B0609020204030204" pitchFamily="49" charset="0"/>
              </a:rPr>
              <a:t>(</a:t>
            </a:r>
            <a:r>
              <a:rPr lang="en-US" altLang="en-US" dirty="0">
                <a:solidFill>
                  <a:srgbClr val="FF0000"/>
                </a:solidFill>
                <a:latin typeface="Consolas" panose="020B0609020204030204" pitchFamily="49" charset="0"/>
              </a:rPr>
              <a:t>empty</a:t>
            </a:r>
            <a:r>
              <a:rPr lang="en-US" altLang="en-US" dirty="0">
                <a:latin typeface="Consolas" panose="020B0609020204030204" pitchFamily="49" charset="0"/>
              </a:rPr>
              <a:t>); </a:t>
            </a:r>
          </a:p>
          <a:p>
            <a:pPr>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wait</a:t>
            </a:r>
            <a:r>
              <a:rPr lang="en-US" altLang="en-US" dirty="0">
                <a:latin typeface="Consolas" panose="020B0609020204030204" pitchFamily="49" charset="0"/>
              </a:rPr>
              <a:t>(</a:t>
            </a:r>
            <a:r>
              <a:rPr lang="en-US" altLang="en-US" dirty="0">
                <a:solidFill>
                  <a:srgbClr val="FF0000"/>
                </a:solidFill>
                <a:latin typeface="Consolas" panose="020B0609020204030204" pitchFamily="49" charset="0"/>
              </a:rPr>
              <a:t>mutex</a:t>
            </a:r>
            <a:r>
              <a:rPr lang="en-US" altLang="en-US" dirty="0">
                <a:latin typeface="Consolas" panose="020B0609020204030204" pitchFamily="49" charset="0"/>
              </a:rPr>
              <a:t>); </a:t>
            </a:r>
          </a:p>
          <a:p>
            <a:pPr>
              <a:buFont typeface="Monotype Sorts" pitchFamily="-84" charset="2"/>
              <a:buNone/>
            </a:pPr>
            <a:r>
              <a:rPr lang="en-US" altLang="en-US" dirty="0">
                <a:latin typeface="Consolas" panose="020B0609020204030204" pitchFamily="49" charset="0"/>
              </a:rPr>
              <a:t>           ...</a:t>
            </a:r>
            <a:br>
              <a:rPr lang="en-US" altLang="en-US" dirty="0">
                <a:latin typeface="Consolas" panose="020B0609020204030204" pitchFamily="49" charset="0"/>
              </a:rPr>
            </a:br>
            <a:r>
              <a:rPr lang="en-US" altLang="en-US" dirty="0">
                <a:latin typeface="Consolas" panose="020B0609020204030204" pitchFamily="49" charset="0"/>
              </a:rPr>
              <a:t>        /* add next produced to the buffer */ </a:t>
            </a:r>
          </a:p>
          <a:p>
            <a:pPr>
              <a:buFont typeface="Monotype Sorts" pitchFamily="-84" charset="2"/>
              <a:buNone/>
            </a:pPr>
            <a:r>
              <a:rPr lang="en-US" altLang="en-US" dirty="0">
                <a:latin typeface="Consolas" panose="020B0609020204030204" pitchFamily="49" charset="0"/>
              </a:rPr>
              <a:t>           ... </a:t>
            </a:r>
          </a:p>
          <a:p>
            <a:pPr>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signal</a:t>
            </a:r>
            <a:r>
              <a:rPr lang="en-US" altLang="en-US" dirty="0">
                <a:latin typeface="Consolas" panose="020B0609020204030204" pitchFamily="49" charset="0"/>
              </a:rPr>
              <a:t>(</a:t>
            </a:r>
            <a:r>
              <a:rPr lang="en-US" altLang="en-US" dirty="0">
                <a:solidFill>
                  <a:srgbClr val="FF0000"/>
                </a:solidFill>
                <a:latin typeface="Consolas" panose="020B0609020204030204" pitchFamily="49" charset="0"/>
              </a:rPr>
              <a:t>mutex</a:t>
            </a:r>
            <a:r>
              <a:rPr lang="en-US" altLang="en-US" dirty="0">
                <a:latin typeface="Consolas" panose="020B0609020204030204" pitchFamily="49" charset="0"/>
              </a:rPr>
              <a:t>); </a:t>
            </a:r>
          </a:p>
          <a:p>
            <a:pPr>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signal</a:t>
            </a:r>
            <a:r>
              <a:rPr lang="en-US" altLang="en-US" dirty="0">
                <a:latin typeface="Consolas" panose="020B0609020204030204" pitchFamily="49" charset="0"/>
              </a:rPr>
              <a:t>(</a:t>
            </a:r>
            <a:r>
              <a:rPr lang="en-US" altLang="en-US" b="1" dirty="0">
                <a:solidFill>
                  <a:srgbClr val="FF0000"/>
                </a:solidFill>
                <a:latin typeface="Consolas" panose="020B0609020204030204" pitchFamily="49" charset="0"/>
              </a:rPr>
              <a:t>full</a:t>
            </a:r>
            <a:r>
              <a:rPr lang="en-US" altLang="en-US" dirty="0">
                <a:latin typeface="Consolas" panose="020B0609020204030204" pitchFamily="49" charset="0"/>
              </a:rPr>
              <a:t>); </a:t>
            </a:r>
          </a:p>
          <a:p>
            <a:pPr>
              <a:buFont typeface="Monotype Sorts" pitchFamily="-84" charset="2"/>
              <a:buNone/>
            </a:pPr>
            <a:r>
              <a:rPr lang="en-US" altLang="en-US" dirty="0">
                <a:latin typeface="Consolas" panose="020B0609020204030204" pitchFamily="49" charset="0"/>
              </a:rPr>
              <a:t>     }</a:t>
            </a:r>
            <a:br>
              <a:rPr lang="en-US" altLang="en-US" b="1" dirty="0">
                <a:latin typeface="Courier New" panose="02070309020205020404" pitchFamily="49" charset="0"/>
              </a:rPr>
            </a:br>
            <a:endParaRPr lang="en-US" altLang="en-US" b="1" dirty="0">
              <a:latin typeface="Courier New" panose="02070309020205020404" pitchFamily="49"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861A0BAA-76CB-484A-B14F-F0AF8A7036D8}"/>
              </a:ext>
            </a:extLst>
          </p:cNvPr>
          <p:cNvSpPr>
            <a:spLocks noGrp="1" noChangeArrowheads="1"/>
          </p:cNvSpPr>
          <p:nvPr>
            <p:ph type="title"/>
          </p:nvPr>
        </p:nvSpPr>
        <p:spPr>
          <a:xfrm>
            <a:off x="1325175" y="222868"/>
            <a:ext cx="7156450" cy="576262"/>
          </a:xfrm>
        </p:spPr>
        <p:txBody>
          <a:bodyPr/>
          <a:lstStyle/>
          <a:p>
            <a:pPr eaLnBrk="1" hangingPunct="1"/>
            <a:r>
              <a:rPr lang="en-US" altLang="en-US" dirty="0"/>
              <a:t>Bounded Buffer Problem (Cont.)</a:t>
            </a:r>
          </a:p>
        </p:txBody>
      </p:sp>
      <p:sp>
        <p:nvSpPr>
          <p:cNvPr id="31747" name="Rectangle 3">
            <a:extLst>
              <a:ext uri="{FF2B5EF4-FFF2-40B4-BE49-F238E27FC236}">
                <a16:creationId xmlns:a16="http://schemas.microsoft.com/office/drawing/2014/main" id="{EF1ED0C8-1F57-420E-ADCE-1E7B94E90E37}"/>
              </a:ext>
            </a:extLst>
          </p:cNvPr>
          <p:cNvSpPr>
            <a:spLocks noGrp="1" noChangeArrowheads="1"/>
          </p:cNvSpPr>
          <p:nvPr>
            <p:ph idx="1"/>
          </p:nvPr>
        </p:nvSpPr>
        <p:spPr>
          <a:xfrm>
            <a:off x="839788" y="1152525"/>
            <a:ext cx="8156294" cy="4851587"/>
          </a:xfrm>
        </p:spPr>
        <p:txBody>
          <a:bodyPr/>
          <a:lstStyle/>
          <a:p>
            <a:r>
              <a:rPr lang="ar-SA" sz="1800" b="1" dirty="0">
                <a:effectLst/>
                <a:latin typeface="Segoe UI Emoji" panose="020B0502040204020203" pitchFamily="34" charset="0"/>
                <a:ea typeface="Aptos" panose="020B0004020202020204" pitchFamily="34" charset="0"/>
                <a:cs typeface="B Nazanin" panose="00000400000000000000" pitchFamily="2" charset="-78"/>
              </a:rPr>
              <a:t>ساختار فرآیند مصرف‌کننده</a:t>
            </a:r>
            <a:endParaRPr lang="en-US" sz="1800" b="1" dirty="0">
              <a:effectLst/>
              <a:latin typeface="Segoe UI Emoji" panose="020B0502040204020203" pitchFamily="34" charset="0"/>
              <a:ea typeface="Aptos" panose="020B0004020202020204" pitchFamily="34" charset="0"/>
              <a:cs typeface="B Nazanin" panose="00000400000000000000" pitchFamily="2" charset="-78"/>
            </a:endParaRPr>
          </a:p>
          <a:p>
            <a:endParaRPr lang="en-US" altLang="en-US" sz="1600" dirty="0"/>
          </a:p>
          <a:p>
            <a:pPr>
              <a:buFont typeface="Monotype Sorts" pitchFamily="-84" charset="2"/>
              <a:buNone/>
            </a:pPr>
            <a:r>
              <a:rPr lang="en-US" altLang="en-US" dirty="0">
                <a:latin typeface="Consolas" panose="020B0609020204030204" pitchFamily="49" charset="0"/>
              </a:rPr>
              <a:t>     while (true) { </a:t>
            </a:r>
          </a:p>
          <a:p>
            <a:pPr>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wait</a:t>
            </a:r>
            <a:r>
              <a:rPr lang="en-US" altLang="en-US" dirty="0">
                <a:latin typeface="Consolas" panose="020B0609020204030204" pitchFamily="49" charset="0"/>
              </a:rPr>
              <a:t>(</a:t>
            </a:r>
            <a:r>
              <a:rPr lang="en-US" altLang="en-US" dirty="0">
                <a:solidFill>
                  <a:srgbClr val="FF0000"/>
                </a:solidFill>
                <a:latin typeface="Consolas" panose="020B0609020204030204" pitchFamily="49" charset="0"/>
              </a:rPr>
              <a:t>full</a:t>
            </a:r>
            <a:r>
              <a:rPr lang="en-US" altLang="en-US" dirty="0">
                <a:latin typeface="Consolas" panose="020B0609020204030204" pitchFamily="49" charset="0"/>
              </a:rPr>
              <a:t>); </a:t>
            </a:r>
          </a:p>
          <a:p>
            <a:pPr>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wait</a:t>
            </a:r>
            <a:r>
              <a:rPr lang="en-US" altLang="en-US" dirty="0">
                <a:latin typeface="Consolas" panose="020B0609020204030204" pitchFamily="49" charset="0"/>
              </a:rPr>
              <a:t>(</a:t>
            </a:r>
            <a:r>
              <a:rPr lang="en-US" altLang="en-US" dirty="0">
                <a:solidFill>
                  <a:srgbClr val="FF0000"/>
                </a:solidFill>
                <a:latin typeface="Consolas" panose="020B0609020204030204" pitchFamily="49" charset="0"/>
              </a:rPr>
              <a:t>mutex</a:t>
            </a:r>
            <a:r>
              <a:rPr lang="en-US" altLang="en-US" dirty="0">
                <a:latin typeface="Consolas" panose="020B0609020204030204" pitchFamily="49" charset="0"/>
              </a:rPr>
              <a:t>); </a:t>
            </a:r>
          </a:p>
          <a:p>
            <a:pPr>
              <a:buFont typeface="Monotype Sorts" pitchFamily="-84" charset="2"/>
              <a:buNone/>
            </a:pPr>
            <a:r>
              <a:rPr lang="en-US" altLang="en-US" dirty="0">
                <a:latin typeface="Consolas" panose="020B0609020204030204" pitchFamily="49" charset="0"/>
              </a:rPr>
              <a:t>           ...</a:t>
            </a:r>
            <a:br>
              <a:rPr lang="en-US" altLang="en-US" dirty="0">
                <a:latin typeface="Consolas" panose="020B0609020204030204" pitchFamily="49" charset="0"/>
              </a:rPr>
            </a:br>
            <a:r>
              <a:rPr lang="en-US" altLang="en-US" dirty="0">
                <a:latin typeface="Consolas" panose="020B0609020204030204" pitchFamily="49" charset="0"/>
              </a:rPr>
              <a:t>      /* remove an item from buffer to </a:t>
            </a:r>
            <a:r>
              <a:rPr lang="en-US" altLang="en-US" dirty="0" err="1">
                <a:latin typeface="Consolas" panose="020B0609020204030204" pitchFamily="49" charset="0"/>
              </a:rPr>
              <a:t>next_consumed</a:t>
            </a:r>
            <a:r>
              <a:rPr lang="en-US" altLang="en-US" dirty="0">
                <a:latin typeface="Consolas" panose="020B0609020204030204" pitchFamily="49" charset="0"/>
              </a:rPr>
              <a:t> */ </a:t>
            </a:r>
          </a:p>
          <a:p>
            <a:pPr>
              <a:buFont typeface="Monotype Sorts" pitchFamily="-84" charset="2"/>
              <a:buNone/>
            </a:pPr>
            <a:r>
              <a:rPr lang="en-US" altLang="en-US" dirty="0">
                <a:latin typeface="Consolas" panose="020B0609020204030204" pitchFamily="49" charset="0"/>
              </a:rPr>
              <a:t>           ... </a:t>
            </a:r>
          </a:p>
          <a:p>
            <a:pPr>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signal</a:t>
            </a:r>
            <a:r>
              <a:rPr lang="en-US" altLang="en-US" dirty="0">
                <a:latin typeface="Consolas" panose="020B0609020204030204" pitchFamily="49" charset="0"/>
              </a:rPr>
              <a:t>(</a:t>
            </a:r>
            <a:r>
              <a:rPr lang="en-US" altLang="en-US" dirty="0">
                <a:solidFill>
                  <a:srgbClr val="FF0000"/>
                </a:solidFill>
                <a:latin typeface="Consolas" panose="020B0609020204030204" pitchFamily="49" charset="0"/>
              </a:rPr>
              <a:t>mutex</a:t>
            </a:r>
            <a:r>
              <a:rPr lang="en-US" altLang="en-US" dirty="0">
                <a:latin typeface="Consolas" panose="020B0609020204030204" pitchFamily="49" charset="0"/>
              </a:rPr>
              <a:t>); </a:t>
            </a:r>
          </a:p>
          <a:p>
            <a:pPr>
              <a:buFont typeface="Monotype Sorts" pitchFamily="-84" charset="2"/>
              <a:buNone/>
            </a:pPr>
            <a:r>
              <a:rPr lang="en-US" altLang="en-US" dirty="0">
                <a:latin typeface="Consolas" panose="020B0609020204030204" pitchFamily="49" charset="0"/>
              </a:rPr>
              <a:t>        </a:t>
            </a:r>
            <a:r>
              <a:rPr lang="en-US" altLang="en-US" b="1" dirty="0">
                <a:latin typeface="Consolas" panose="020B0609020204030204" pitchFamily="49" charset="0"/>
              </a:rPr>
              <a:t>signal</a:t>
            </a:r>
            <a:r>
              <a:rPr lang="en-US" altLang="en-US" dirty="0">
                <a:latin typeface="Consolas" panose="020B0609020204030204" pitchFamily="49" charset="0"/>
              </a:rPr>
              <a:t>(</a:t>
            </a:r>
            <a:r>
              <a:rPr lang="en-US" altLang="en-US" dirty="0">
                <a:solidFill>
                  <a:srgbClr val="FF0000"/>
                </a:solidFill>
                <a:latin typeface="Consolas" panose="020B0609020204030204" pitchFamily="49" charset="0"/>
              </a:rPr>
              <a:t>empty</a:t>
            </a:r>
            <a:r>
              <a:rPr lang="en-US" altLang="en-US" dirty="0">
                <a:latin typeface="Consolas" panose="020B0609020204030204" pitchFamily="49" charset="0"/>
              </a:rPr>
              <a:t>); </a:t>
            </a:r>
          </a:p>
          <a:p>
            <a:pPr>
              <a:buFont typeface="Monotype Sorts" pitchFamily="-84" charset="2"/>
              <a:buNone/>
            </a:pPr>
            <a:r>
              <a:rPr lang="en-US" altLang="en-US" dirty="0">
                <a:latin typeface="Consolas" panose="020B0609020204030204" pitchFamily="49" charset="0"/>
              </a:rPr>
              <a:t>           ...</a:t>
            </a:r>
            <a:br>
              <a:rPr lang="en-US" altLang="en-US" dirty="0">
                <a:latin typeface="Consolas" panose="020B0609020204030204" pitchFamily="49" charset="0"/>
              </a:rPr>
            </a:br>
            <a:r>
              <a:rPr lang="en-US" altLang="en-US" dirty="0">
                <a:latin typeface="Consolas" panose="020B0609020204030204" pitchFamily="49" charset="0"/>
              </a:rPr>
              <a:t>        /* consume the item in next consumed */ </a:t>
            </a:r>
          </a:p>
          <a:p>
            <a:pPr>
              <a:buFont typeface="Monotype Sorts" pitchFamily="-84" charset="2"/>
              <a:buNone/>
            </a:pPr>
            <a:r>
              <a:rPr lang="en-US" altLang="en-US" dirty="0">
                <a:latin typeface="Consolas" panose="020B0609020204030204" pitchFamily="49" charset="0"/>
              </a:rPr>
              <a:t>           ...</a:t>
            </a:r>
            <a:br>
              <a:rPr lang="en-US" altLang="en-US" dirty="0">
                <a:latin typeface="Consolas" panose="020B0609020204030204" pitchFamily="49" charset="0"/>
              </a:rPr>
            </a:br>
            <a:r>
              <a:rPr lang="en-US" altLang="en-US" dirty="0">
                <a:latin typeface="Consolas" panose="020B0609020204030204" pitchFamily="49" charset="0"/>
              </a:rPr>
              <a:t>     }</a:t>
            </a:r>
          </a:p>
          <a:p>
            <a:pPr>
              <a:buFont typeface="Monotype Sorts" pitchFamily="-84" charset="2"/>
              <a:buNone/>
            </a:pPr>
            <a:endParaRPr lang="en-US" altLang="en-US" sz="16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60BA1AAC-5E8F-4441-A0ED-780B83A1CE42}"/>
              </a:ext>
            </a:extLst>
          </p:cNvPr>
          <p:cNvSpPr>
            <a:spLocks noGrp="1" noChangeArrowheads="1"/>
          </p:cNvSpPr>
          <p:nvPr>
            <p:ph type="title"/>
          </p:nvPr>
        </p:nvSpPr>
        <p:spPr>
          <a:xfrm>
            <a:off x="980812" y="230028"/>
            <a:ext cx="7566025" cy="576263"/>
          </a:xfrm>
        </p:spPr>
        <p:txBody>
          <a:bodyPr/>
          <a:lstStyle/>
          <a:p>
            <a:pPr eaLnBrk="1" hangingPunct="1"/>
            <a:r>
              <a:rPr lang="ar-SA" sz="32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مسئله خوانندگان و نویسندگان</a:t>
            </a:r>
            <a:endParaRPr lang="en-US" altLang="en-US" dirty="0">
              <a:solidFill>
                <a:srgbClr val="0070C0"/>
              </a:solidFill>
            </a:endParaRPr>
          </a:p>
        </p:txBody>
      </p:sp>
      <p:sp>
        <p:nvSpPr>
          <p:cNvPr id="17410" name="Rectangle 3">
            <a:extLst>
              <a:ext uri="{FF2B5EF4-FFF2-40B4-BE49-F238E27FC236}">
                <a16:creationId xmlns:a16="http://schemas.microsoft.com/office/drawing/2014/main" id="{8B70CA9A-5F74-4497-A12A-DA4CCA3E28D3}"/>
              </a:ext>
            </a:extLst>
          </p:cNvPr>
          <p:cNvSpPr>
            <a:spLocks noGrp="1" noChangeArrowheads="1"/>
          </p:cNvSpPr>
          <p:nvPr>
            <p:ph idx="1"/>
          </p:nvPr>
        </p:nvSpPr>
        <p:spPr>
          <a:xfrm>
            <a:off x="411981" y="939521"/>
            <a:ext cx="8475785" cy="5400989"/>
          </a:xfrm>
        </p:spPr>
        <p:txBody>
          <a:bodyPr/>
          <a:lstStyle/>
          <a:p>
            <a:pPr marL="0" marR="0" algn="r" rtl="1">
              <a:spcBef>
                <a:spcPts val="0"/>
              </a:spcBef>
              <a:spcAft>
                <a:spcPts val="1500"/>
              </a:spcAft>
            </a:pPr>
            <a:r>
              <a:rPr lang="ar-SA" sz="24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مسئله خوانندگان و نویسندگان (</a:t>
            </a:r>
            <a:r>
              <a:rPr lang="en-US" sz="24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Readers-Writers Problem</a:t>
            </a:r>
            <a:r>
              <a:rPr lang="ar-SA" sz="24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b="1" dirty="0">
              <a:effectLst/>
              <a:latin typeface="Times New Roman" panose="02020603050405020304" pitchFamily="18" charset="0"/>
              <a:ea typeface="Times New Roman" panose="02020603050405020304" pitchFamily="18" charset="0"/>
              <a:cs typeface="B Nazanin" panose="00000400000000000000" pitchFamily="2" charset="-78"/>
            </a:endParaRPr>
          </a:p>
          <a:p>
            <a:pPr marL="0" marR="0" algn="r" rtl="1">
              <a:spcBef>
                <a:spcPts val="0"/>
              </a:spcBef>
              <a:spcAft>
                <a:spcPts val="0"/>
              </a:spcAft>
            </a:pP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در این مسئله، یک </a:t>
            </a:r>
            <a:r>
              <a:rPr lang="ar-SA" sz="24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مجموعه داده مشترک</a:t>
            </a:r>
            <a:r>
              <a:rPr lang="ar-SA" sz="24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بین چندین فرایند همزمان به اشتراک گذاشته شده است.</a:t>
            </a:r>
            <a:endParaRPr lang="en-US"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742950" lvl="1" indent="-342900" algn="r" rtl="1">
              <a:spcBef>
                <a:spcPts val="0"/>
              </a:spcBef>
              <a:spcAft>
                <a:spcPts val="0"/>
              </a:spcAft>
              <a:buSzPts val="1000"/>
              <a:buFont typeface="Symbol" panose="05050102010706020507" pitchFamily="18" charset="2"/>
              <a:buChar char=""/>
              <a:tabLst>
                <a:tab pos="457200" algn="l"/>
              </a:tabLst>
            </a:pPr>
            <a:r>
              <a:rPr lang="en-US" sz="2400" b="1" dirty="0" err="1">
                <a:solidFill>
                  <a:srgbClr val="1F1F1F"/>
                </a:solidFill>
                <a:effectLst/>
                <a:latin typeface="Calibri" panose="020F0502020204030204" pitchFamily="34" charset="0"/>
                <a:ea typeface="Calibri" panose="020F0502020204030204" pitchFamily="34" charset="0"/>
                <a:cs typeface="B Nazanin" panose="00000400000000000000" pitchFamily="2" charset="-78"/>
              </a:rPr>
              <a:t>خوانندگان</a:t>
            </a:r>
            <a:r>
              <a:rPr lang="en-US"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a:t>
            </a:r>
            <a:r>
              <a:rPr lang="en-US" sz="2400" b="1"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Reader</a:t>
            </a: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این فرایندها فقط مجاز به خواندن داده‌ها هستند و هیچ گونه تغییری در آن‌ها ایجاد نمی‌کنند.</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lvl="1" indent="-342900" algn="r" rtl="1">
              <a:spcBef>
                <a:spcPts val="0"/>
              </a:spcBef>
              <a:spcAft>
                <a:spcPts val="0"/>
              </a:spcAft>
              <a:buSzPts val="1000"/>
              <a:buFont typeface="Symbol" panose="05050102010706020507" pitchFamily="18" charset="2"/>
              <a:buChar char=""/>
              <a:tabLst>
                <a:tab pos="457200" algn="l"/>
              </a:tabLst>
            </a:pPr>
            <a:r>
              <a:rPr lang="en-US" sz="2400" b="1" dirty="0" err="1">
                <a:solidFill>
                  <a:srgbClr val="1F1F1F"/>
                </a:solidFill>
                <a:effectLst/>
                <a:latin typeface="Calibri" panose="020F0502020204030204" pitchFamily="34" charset="0"/>
                <a:ea typeface="Calibri" panose="020F0502020204030204" pitchFamily="34" charset="0"/>
                <a:cs typeface="B Nazanin" panose="00000400000000000000" pitchFamily="2" charset="-78"/>
              </a:rPr>
              <a:t>نویسندگان</a:t>
            </a:r>
            <a:r>
              <a:rPr lang="en-US"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a:t>
            </a:r>
            <a:r>
              <a:rPr lang="en-US" sz="2400" b="1" dirty="0">
                <a:solidFill>
                  <a:srgbClr val="1F1F1F"/>
                </a:solidFill>
                <a:effectLst/>
                <a:latin typeface="Arial" panose="020B0604020202020204" pitchFamily="34" charset="0"/>
                <a:ea typeface="Calibri" panose="020F0502020204030204" pitchFamily="34" charset="0"/>
                <a:cs typeface="B Nazanin" panose="00000400000000000000" pitchFamily="2" charset="-78"/>
              </a:rPr>
              <a:t>Writers</a:t>
            </a: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این فرایندها می‌توانند هم داده‌ها را بخوانند و هم بنویسند.</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spcBef>
                <a:spcPts val="0"/>
              </a:spcBef>
              <a:spcAft>
                <a:spcPts val="0"/>
              </a:spcAft>
            </a:pPr>
            <a:r>
              <a:rPr lang="en-US" sz="2400" b="1" dirty="0" err="1">
                <a:effectLst/>
                <a:latin typeface="Times New Roman" panose="02020603050405020304" pitchFamily="18" charset="0"/>
                <a:ea typeface="Times New Roman" panose="02020603050405020304" pitchFamily="18" charset="0"/>
                <a:cs typeface="B Nazanin" panose="00000400000000000000" pitchFamily="2" charset="-78"/>
              </a:rPr>
              <a:t>مسئله</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742950" lvl="1" indent="-342900" algn="r" rtl="1">
              <a:spcBef>
                <a:spcPts val="0"/>
              </a:spcBef>
              <a:spcAft>
                <a:spcPts val="0"/>
              </a:spcAft>
              <a:buSzPts val="1000"/>
              <a:buFont typeface="Symbol" panose="05050102010706020507" pitchFamily="18" charset="2"/>
              <a:buChar char=""/>
              <a:tabLst>
                <a:tab pos="457200" algn="l"/>
              </a:tabLst>
            </a:pP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اجازه دهیم چندین </a:t>
            </a: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خواننده</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بتوانند </a:t>
            </a: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همزمان</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a:t>
            </a: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داده‌ها</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را </a:t>
            </a: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بخوانند</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742950" lvl="1" indent="-342900" algn="r" rtl="1">
              <a:spcBef>
                <a:spcPts val="0"/>
              </a:spcBef>
              <a:spcAft>
                <a:spcPts val="0"/>
              </a:spcAft>
              <a:buSzPts val="1000"/>
              <a:buFont typeface="Symbol" panose="05050102010706020507" pitchFamily="18" charset="2"/>
              <a:buChar char=""/>
              <a:tabLst>
                <a:tab pos="457200" algn="l"/>
              </a:tabLst>
            </a:pPr>
            <a:r>
              <a:rPr lang="ar-SA" sz="2400" b="1"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فقط یک نویسنده</a:t>
            </a:r>
            <a:r>
              <a:rPr lang="ar-SA"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rPr>
              <a:t> می‌تواند به طور همزمان به داده‌های مشترک دسترسی پیدا کند.</a:t>
            </a:r>
            <a:endParaRPr lang="en-US" sz="2400" dirty="0">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0" marR="0" algn="r" rtl="1">
              <a:spcBef>
                <a:spcPts val="0"/>
              </a:spcBef>
              <a:spcAft>
                <a:spcPts val="0"/>
              </a:spcAft>
            </a:pP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چندین</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رویکرد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مختلف</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برای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نحوه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مدیریت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خوانندگان</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و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نویسندگان</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وجود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دارد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که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همه</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آن‌ها</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شامل</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نوعی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b="1" dirty="0" err="1">
                <a:effectLst/>
                <a:latin typeface="Arial" panose="020B0604020202020204" pitchFamily="34" charset="0"/>
                <a:ea typeface="Times New Roman" panose="02020603050405020304" pitchFamily="18" charset="0"/>
                <a:cs typeface="B Nazanin" panose="00000400000000000000" pitchFamily="2" charset="-78"/>
              </a:rPr>
              <a:t>اولویت‌بندی</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dirty="0" err="1">
                <a:effectLst/>
                <a:latin typeface="Times New Roman" panose="02020603050405020304" pitchFamily="18" charset="0"/>
                <a:ea typeface="Times New Roman" panose="02020603050405020304" pitchFamily="18" charset="0"/>
                <a:cs typeface="B Nazanin" panose="00000400000000000000" pitchFamily="2" charset="-78"/>
              </a:rPr>
              <a:t>هستند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p>
        </p:txBody>
      </p:sp>
    </p:spTree>
    <p:extLst>
      <p:ext uri="{BB962C8B-B14F-4D97-AF65-F5344CB8AC3E}">
        <p14:creationId xmlns:p14="http://schemas.microsoft.com/office/powerpoint/2010/main" val="30169216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60BA1AAC-5E8F-4441-A0ED-780B83A1CE42}"/>
              </a:ext>
            </a:extLst>
          </p:cNvPr>
          <p:cNvSpPr>
            <a:spLocks noGrp="1" noChangeArrowheads="1"/>
          </p:cNvSpPr>
          <p:nvPr>
            <p:ph type="title"/>
          </p:nvPr>
        </p:nvSpPr>
        <p:spPr>
          <a:xfrm>
            <a:off x="1041328" y="169512"/>
            <a:ext cx="7566025" cy="576263"/>
          </a:xfrm>
        </p:spPr>
        <p:txBody>
          <a:bodyPr/>
          <a:lstStyle/>
          <a:p>
            <a:pPr eaLnBrk="1" hangingPunct="1"/>
            <a:r>
              <a:rPr lang="ar-SA" sz="32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مسئله خوانندگان و نویسندگان</a:t>
            </a:r>
            <a:r>
              <a:rPr lang="en-US" sz="32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 </a:t>
            </a:r>
            <a:r>
              <a:rPr lang="fa-IR" dirty="0">
                <a:solidFill>
                  <a:srgbClr val="0070C0"/>
                </a:solidFill>
                <a:latin typeface="Times New Roman" panose="02020603050405020304" pitchFamily="18" charset="0"/>
                <a:ea typeface="Times New Roman" panose="02020603050405020304" pitchFamily="18" charset="0"/>
                <a:cs typeface="B Nazanin" panose="00000400000000000000" pitchFamily="2" charset="-78"/>
              </a:rPr>
              <a:t>(ادامه)</a:t>
            </a:r>
            <a:endParaRPr lang="en-US" altLang="en-US" dirty="0">
              <a:solidFill>
                <a:srgbClr val="0070C0"/>
              </a:solidFill>
              <a:latin typeface="Times New Roman" panose="02020603050405020304" pitchFamily="18" charset="0"/>
              <a:cs typeface="B Nazanin" panose="00000400000000000000" pitchFamily="2" charset="-78"/>
            </a:endParaRPr>
          </a:p>
        </p:txBody>
      </p:sp>
      <p:sp>
        <p:nvSpPr>
          <p:cNvPr id="17410" name="Rectangle 3">
            <a:extLst>
              <a:ext uri="{FF2B5EF4-FFF2-40B4-BE49-F238E27FC236}">
                <a16:creationId xmlns:a16="http://schemas.microsoft.com/office/drawing/2014/main" id="{8B70CA9A-5F74-4497-A12A-DA4CCA3E28D3}"/>
              </a:ext>
            </a:extLst>
          </p:cNvPr>
          <p:cNvSpPr>
            <a:spLocks noGrp="1" noChangeArrowheads="1"/>
          </p:cNvSpPr>
          <p:nvPr>
            <p:ph idx="1"/>
          </p:nvPr>
        </p:nvSpPr>
        <p:spPr>
          <a:xfrm>
            <a:off x="860425" y="1111250"/>
            <a:ext cx="7639763" cy="5005388"/>
          </a:xfrm>
        </p:spPr>
        <p:txBody>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SA" altLang="en-US" sz="2800" b="1" i="0" u="none" strike="noStrike" cap="none" normalizeH="0" baseline="0" dirty="0">
                <a:ln>
                  <a:noFill/>
                </a:ln>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داده‌های مشترک:</a:t>
            </a:r>
            <a:endParaRPr kumimoji="0" lang="en-US" altLang="en-US" sz="700" b="0" i="0" u="none" strike="noStrike" cap="none" normalizeH="0" baseline="0" dirty="0">
              <a:ln>
                <a:noFill/>
              </a:ln>
              <a:solidFill>
                <a:schemeClr val="tx1"/>
              </a:solidFill>
              <a:effectLst/>
              <a:cs typeface="B Nazanin" panose="00000400000000000000" pitchFamily="2" charset="-78"/>
            </a:endParaRPr>
          </a:p>
          <a:p>
            <a:pPr marL="400050" lvl="1" indent="0" algn="r" rtl="1">
              <a:spcBef>
                <a:spcPct val="0"/>
              </a:spcBef>
              <a:buClrTx/>
              <a:buSzTx/>
              <a:buFontTx/>
              <a:buChar char="•"/>
            </a:pP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مجموعه داده</a:t>
            </a:r>
            <a:endParaRPr kumimoji="0" lang="en-US" altLang="en-US"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400050" lvl="1" indent="0" algn="r" rtl="1">
              <a:spcBef>
                <a:spcPct val="0"/>
              </a:spcBef>
              <a:buClrTx/>
              <a:buSzTx/>
              <a:buFontTx/>
              <a:buChar char="•"/>
            </a:pP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سیمافور </a:t>
            </a:r>
            <a:r>
              <a:rPr kumimoji="0" lang="en-US" altLang="en-US" sz="2400" b="1" i="0" u="none" strike="noStrike" cap="none" normalizeH="0" baseline="0" dirty="0" err="1">
                <a:ln>
                  <a:noFill/>
                </a:ln>
                <a:solidFill>
                  <a:srgbClr val="444746"/>
                </a:solidFill>
                <a:effectLst/>
                <a:latin typeface="Courier New" panose="02070309020205020404" pitchFamily="49" charset="0"/>
                <a:ea typeface="Calibri" panose="020F0502020204030204" pitchFamily="34" charset="0"/>
                <a:cs typeface="B Nazanin" panose="00000400000000000000" pitchFamily="2" charset="-78"/>
              </a:rPr>
              <a:t>rw_mutex</a:t>
            </a:r>
            <a:r>
              <a:rPr kumimoji="0" lang="ar-SA" altLang="en-US" sz="2800" b="1"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که در ابتدا مقدار آن </a:t>
            </a:r>
            <a:r>
              <a:rPr kumimoji="0" lang="fa-IR"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۱</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است.</a:t>
            </a:r>
            <a:endParaRPr kumimoji="0" lang="en-US" altLang="en-US"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400050" lvl="1" indent="0" algn="r" rtl="1">
              <a:spcBef>
                <a:spcPct val="0"/>
              </a:spcBef>
              <a:buClrTx/>
              <a:buSzTx/>
              <a:buFontTx/>
              <a:buChar char="•"/>
            </a:pP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سیمافور </a:t>
            </a:r>
            <a:r>
              <a:rPr kumimoji="0" lang="en-US" altLang="en-US" sz="2400" b="1" i="0" u="none" strike="noStrike" cap="none" normalizeH="0" baseline="0" dirty="0">
                <a:ln>
                  <a:noFill/>
                </a:ln>
                <a:solidFill>
                  <a:srgbClr val="444746"/>
                </a:solidFill>
                <a:effectLst/>
                <a:latin typeface="Courier New" panose="02070309020205020404" pitchFamily="49" charset="0"/>
                <a:ea typeface="Calibri" panose="020F0502020204030204" pitchFamily="34" charset="0"/>
                <a:cs typeface="B Nazanin" panose="00000400000000000000" pitchFamily="2" charset="-78"/>
              </a:rPr>
              <a:t>mutex</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که در ابتدا مقدار آن </a:t>
            </a:r>
            <a:r>
              <a:rPr kumimoji="0" lang="fa-IR"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۱</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است.</a:t>
            </a:r>
            <a:endParaRPr kumimoji="0" lang="en-US" altLang="en-US" b="0" i="0" u="none" strike="noStrike" cap="none" normalizeH="0" baseline="0" dirty="0">
              <a:ln>
                <a:noFill/>
              </a:ln>
              <a:solidFill>
                <a:srgbClr val="1F1F1F"/>
              </a:solidFill>
              <a:effectLst/>
              <a:latin typeface="Calibri" panose="020F0502020204030204" pitchFamily="34" charset="0"/>
              <a:ea typeface="Calibri" panose="020F0502020204030204" pitchFamily="34" charset="0"/>
              <a:cs typeface="B Nazanin" panose="00000400000000000000" pitchFamily="2" charset="-78"/>
            </a:endParaRPr>
          </a:p>
          <a:p>
            <a:pPr marL="400050" lvl="1" indent="0" algn="r" rtl="1">
              <a:spcBef>
                <a:spcPct val="0"/>
              </a:spcBef>
              <a:buClrTx/>
              <a:buSzTx/>
              <a:buFontTx/>
              <a:buChar char="•"/>
            </a:pP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یک عدد صحیح </a:t>
            </a:r>
            <a:r>
              <a:rPr kumimoji="0" lang="en-US" altLang="en-US" sz="2800" dirty="0">
                <a:solidFill>
                  <a:srgbClr val="1F1F1F"/>
                </a:solidFill>
                <a:latin typeface="Arial" panose="020B0604020202020204" pitchFamily="34" charset="0"/>
                <a:ea typeface="Calibri" panose="020F0502020204030204" pitchFamily="34" charset="0"/>
                <a:cs typeface="B Nazanin" panose="00000400000000000000" pitchFamily="2" charset="-78"/>
              </a:rPr>
              <a:t>integer</a:t>
            </a:r>
            <a:r>
              <a:rPr kumimoji="0" lang="fa-IR" altLang="en-US" sz="2800" dirty="0">
                <a:solidFill>
                  <a:srgbClr val="1F1F1F"/>
                </a:solidFill>
                <a:latin typeface="Arial" panose="020B0604020202020204" pitchFamily="34" charset="0"/>
                <a:ea typeface="Calibri" panose="020F0502020204030204" pitchFamily="34" charset="0"/>
                <a:cs typeface="B Nazanin" panose="00000400000000000000" pitchFamily="2" charset="-78"/>
              </a:rPr>
              <a:t> </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به نام </a:t>
            </a:r>
            <a:r>
              <a:rPr kumimoji="0" lang="en-US" altLang="en-US" sz="2400" b="1" i="0" u="none" strike="noStrike" cap="none" normalizeH="0" baseline="0" dirty="0" err="1">
                <a:ln>
                  <a:noFill/>
                </a:ln>
                <a:solidFill>
                  <a:srgbClr val="444746"/>
                </a:solidFill>
                <a:effectLst/>
                <a:latin typeface="Courier New" panose="02070309020205020404" pitchFamily="49" charset="0"/>
                <a:ea typeface="Calibri" panose="020F0502020204030204" pitchFamily="34" charset="0"/>
                <a:cs typeface="B Nazanin" panose="00000400000000000000" pitchFamily="2" charset="-78"/>
              </a:rPr>
              <a:t>read_count</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که در ابتدا مقدار آن </a:t>
            </a:r>
            <a:r>
              <a:rPr kumimoji="0" lang="fa-IR"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۰</a:t>
            </a:r>
            <a:r>
              <a:rPr kumimoji="0" lang="ar-SA" altLang="en-US" sz="2800" b="0" i="0" u="none" strike="noStrike" cap="none" normalizeH="0" baseline="0" dirty="0">
                <a:ln>
                  <a:noFill/>
                </a:ln>
                <a:solidFill>
                  <a:srgbClr val="1F1F1F"/>
                </a:solidFill>
                <a:effectLst/>
                <a:latin typeface="Arial" panose="020B0604020202020204" pitchFamily="34" charset="0"/>
                <a:ea typeface="Calibri" panose="020F0502020204030204" pitchFamily="34" charset="0"/>
                <a:cs typeface="B Nazanin" panose="00000400000000000000" pitchFamily="2" charset="-78"/>
              </a:rPr>
              <a:t> است.</a:t>
            </a:r>
            <a:endParaRPr kumimoji="0" lang="en-US" altLang="en-US" sz="700" b="0" i="0" u="none" strike="noStrike" cap="none" normalizeH="0" baseline="0" dirty="0">
              <a:ln>
                <a:noFill/>
              </a:ln>
              <a:solidFill>
                <a:schemeClr val="tx1"/>
              </a:solidFill>
              <a:effectLst/>
              <a:cs typeface="B Nazanin" panose="00000400000000000000" pitchFamily="2" charset="-78"/>
            </a:endParaRPr>
          </a:p>
          <a:p>
            <a:pPr marL="0" marR="0" lvl="0" indent="0" algn="r" defTabSz="914400" rtl="1"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cs typeface="B Nazanin" panose="00000400000000000000" pitchFamily="2" charset="-78"/>
            </a:endParaRPr>
          </a:p>
          <a:p>
            <a:pPr lvl="1"/>
            <a:endParaRPr lang="en-US" altLang="en-US" sz="2800" dirty="0">
              <a:cs typeface="B Nazanin" panose="00000400000000000000" pitchFamily="2" charset="-78"/>
            </a:endParaRPr>
          </a:p>
        </p:txBody>
      </p:sp>
    </p:spTree>
    <p:extLst>
      <p:ext uri="{BB962C8B-B14F-4D97-AF65-F5344CB8AC3E}">
        <p14:creationId xmlns:p14="http://schemas.microsoft.com/office/powerpoint/2010/main" val="40188310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7DDAEEDB-CB95-4A25-8454-9889DA57CD6C}"/>
              </a:ext>
            </a:extLst>
          </p:cNvPr>
          <p:cNvSpPr>
            <a:spLocks noGrp="1" noChangeArrowheads="1"/>
          </p:cNvSpPr>
          <p:nvPr>
            <p:ph type="title"/>
          </p:nvPr>
        </p:nvSpPr>
        <p:spPr>
          <a:xfrm>
            <a:off x="1025525" y="227824"/>
            <a:ext cx="7661275" cy="576263"/>
          </a:xfrm>
        </p:spPr>
        <p:txBody>
          <a:bodyPr/>
          <a:lstStyle/>
          <a:p>
            <a:pPr eaLnBrk="1" hangingPunct="1"/>
            <a:r>
              <a:rPr lang="ar-SA" sz="32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مسئله خوانندگان و نویسندگان</a:t>
            </a:r>
            <a:r>
              <a:rPr lang="en-US" sz="32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 </a:t>
            </a:r>
            <a:r>
              <a:rPr lang="fa-IR" dirty="0">
                <a:solidFill>
                  <a:srgbClr val="0070C0"/>
                </a:solidFill>
                <a:latin typeface="Times New Roman" panose="02020603050405020304" pitchFamily="18" charset="0"/>
                <a:ea typeface="Times New Roman" panose="02020603050405020304" pitchFamily="18" charset="0"/>
                <a:cs typeface="B Nazanin" panose="00000400000000000000" pitchFamily="2" charset="-78"/>
              </a:rPr>
              <a:t>(ادامه)</a:t>
            </a:r>
            <a:endParaRPr lang="en-US" altLang="en-US" dirty="0"/>
          </a:p>
        </p:txBody>
      </p:sp>
      <p:sp>
        <p:nvSpPr>
          <p:cNvPr id="19458" name="Rectangle 3">
            <a:extLst>
              <a:ext uri="{FF2B5EF4-FFF2-40B4-BE49-F238E27FC236}">
                <a16:creationId xmlns:a16="http://schemas.microsoft.com/office/drawing/2014/main" id="{D5CD744B-6617-4A23-86E8-A0935A7F9476}"/>
              </a:ext>
            </a:extLst>
          </p:cNvPr>
          <p:cNvSpPr>
            <a:spLocks noGrp="1" noChangeArrowheads="1"/>
          </p:cNvSpPr>
          <p:nvPr>
            <p:ph idx="1"/>
          </p:nvPr>
        </p:nvSpPr>
        <p:spPr>
          <a:xfrm>
            <a:off x="468312" y="1205802"/>
            <a:ext cx="8207376" cy="4950523"/>
          </a:xfrm>
        </p:spPr>
        <p:txBody>
          <a:bodyPr/>
          <a:lstStyle/>
          <a:p>
            <a:pPr algn="r" rtl="1"/>
            <a:r>
              <a:rPr lang="fa-IR" sz="2800"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ساختار فرآیند نویسنده </a:t>
            </a:r>
            <a:endParaRPr lang="en-US" altLang="en-US" sz="2800" dirty="0"/>
          </a:p>
          <a:p>
            <a:pPr>
              <a:buFont typeface="Monotype Sorts" pitchFamily="-84" charset="2"/>
              <a:buNone/>
            </a:pPr>
            <a:r>
              <a:rPr lang="en-US" altLang="en-US" dirty="0">
                <a:solidFill>
                  <a:srgbClr val="0000FF"/>
                </a:solidFill>
              </a:rPr>
              <a:t>        </a:t>
            </a:r>
          </a:p>
          <a:p>
            <a:pPr>
              <a:buFont typeface="Monotype Sorts" pitchFamily="-84" charset="2"/>
              <a:buNone/>
            </a:pPr>
            <a:r>
              <a:rPr lang="en-US" altLang="en-US" dirty="0">
                <a:latin typeface="Consolas" panose="020B0609020204030204" pitchFamily="49" charset="0"/>
              </a:rPr>
              <a:t>    while (true) {</a:t>
            </a:r>
            <a:br>
              <a:rPr lang="en-US" altLang="en-US" dirty="0">
                <a:latin typeface="Consolas" panose="020B0609020204030204" pitchFamily="49" charset="0"/>
              </a:rPr>
            </a:br>
            <a:r>
              <a:rPr lang="en-US" altLang="en-US" dirty="0">
                <a:latin typeface="Consolas" panose="020B0609020204030204" pitchFamily="49" charset="0"/>
              </a:rPr>
              <a:t>        </a:t>
            </a:r>
            <a:r>
              <a:rPr lang="en-US" altLang="en-US" b="1" dirty="0">
                <a:solidFill>
                  <a:schemeClr val="accent1">
                    <a:lumMod val="75000"/>
                  </a:schemeClr>
                </a:solidFill>
                <a:latin typeface="Consolas" panose="020B0609020204030204" pitchFamily="49" charset="0"/>
              </a:rPr>
              <a:t>wait</a:t>
            </a:r>
            <a:r>
              <a:rPr lang="en-US" altLang="en-US" dirty="0">
                <a:latin typeface="Consolas" panose="020B0609020204030204" pitchFamily="49" charset="0"/>
              </a:rPr>
              <a:t>(</a:t>
            </a:r>
            <a:r>
              <a:rPr lang="en-US" altLang="en-US" dirty="0" err="1">
                <a:latin typeface="Consolas" panose="020B0609020204030204" pitchFamily="49" charset="0"/>
              </a:rPr>
              <a:t>rw_mutex</a:t>
            </a:r>
            <a:r>
              <a:rPr lang="en-US" altLang="en-US" dirty="0">
                <a:latin typeface="Consolas" panose="020B0609020204030204" pitchFamily="49" charset="0"/>
              </a:rPr>
              <a:t>); </a:t>
            </a:r>
          </a:p>
          <a:p>
            <a:pPr>
              <a:buFont typeface="Monotype Sorts" pitchFamily="-84" charset="2"/>
              <a:buNone/>
            </a:pPr>
            <a:r>
              <a:rPr lang="en-US" altLang="en-US" dirty="0">
                <a:latin typeface="Consolas" panose="020B0609020204030204" pitchFamily="49" charset="0"/>
              </a:rPr>
              <a:t>               ...</a:t>
            </a:r>
            <a:br>
              <a:rPr lang="en-US" altLang="en-US" dirty="0">
                <a:latin typeface="Consolas" panose="020B0609020204030204" pitchFamily="49" charset="0"/>
              </a:rPr>
            </a:br>
            <a:r>
              <a:rPr lang="en-US" altLang="en-US" dirty="0">
                <a:latin typeface="Consolas" panose="020B0609020204030204" pitchFamily="49" charset="0"/>
              </a:rPr>
              <a:t>          /* writing is performed */ </a:t>
            </a:r>
          </a:p>
          <a:p>
            <a:pPr>
              <a:buFont typeface="Monotype Sorts" pitchFamily="-84" charset="2"/>
              <a:buNone/>
            </a:pPr>
            <a:r>
              <a:rPr lang="en-US" altLang="en-US" dirty="0">
                <a:latin typeface="Consolas" panose="020B0609020204030204" pitchFamily="49" charset="0"/>
              </a:rPr>
              <a:t>               ... </a:t>
            </a:r>
          </a:p>
          <a:p>
            <a:pPr>
              <a:buFont typeface="Monotype Sorts" pitchFamily="-84" charset="2"/>
              <a:buNone/>
            </a:pPr>
            <a:r>
              <a:rPr lang="en-US" altLang="en-US" dirty="0">
                <a:latin typeface="Consolas" panose="020B0609020204030204" pitchFamily="49" charset="0"/>
              </a:rPr>
              <a:t>          </a:t>
            </a:r>
            <a:r>
              <a:rPr lang="en-US" altLang="en-US" b="1" dirty="0">
                <a:solidFill>
                  <a:srgbClr val="00B0F0"/>
                </a:solidFill>
                <a:latin typeface="Consolas" panose="020B0609020204030204" pitchFamily="49" charset="0"/>
              </a:rPr>
              <a:t>signal</a:t>
            </a:r>
            <a:r>
              <a:rPr lang="en-US" altLang="en-US" dirty="0">
                <a:latin typeface="Consolas" panose="020B0609020204030204" pitchFamily="49" charset="0"/>
              </a:rPr>
              <a:t>(</a:t>
            </a:r>
            <a:r>
              <a:rPr lang="en-US" altLang="en-US" dirty="0" err="1">
                <a:latin typeface="Consolas" panose="020B0609020204030204" pitchFamily="49" charset="0"/>
              </a:rPr>
              <a:t>rw_mutex</a:t>
            </a:r>
            <a:r>
              <a:rPr lang="en-US" altLang="en-US" dirty="0">
                <a:latin typeface="Consolas" panose="020B0609020204030204" pitchFamily="49" charset="0"/>
              </a:rPr>
              <a:t>); </a:t>
            </a:r>
          </a:p>
          <a:p>
            <a:pPr>
              <a:buFont typeface="Monotype Sorts" pitchFamily="-84" charset="2"/>
              <a:buNone/>
            </a:pPr>
            <a:r>
              <a:rPr lang="en-US" altLang="en-US" dirty="0">
                <a:latin typeface="Consolas" panose="020B0609020204030204" pitchFamily="49" charset="0"/>
              </a:rPr>
              <a:t>     }</a:t>
            </a:r>
          </a:p>
          <a:p>
            <a:pPr>
              <a:buFont typeface="Monotype Sorts" pitchFamily="-84" charset="2"/>
              <a:buNone/>
            </a:pPr>
            <a:endParaRPr lang="en-US" altLang="en-US" dirty="0">
              <a:solidFill>
                <a:srgbClr val="0000FF"/>
              </a:solidFill>
            </a:endParaRPr>
          </a:p>
          <a:p>
            <a:pPr>
              <a:buFont typeface="Monotype Sorts" pitchFamily="-84" charset="2"/>
              <a:buNone/>
            </a:pPr>
            <a:endParaRPr lang="en-US" altLang="en-US" dirty="0">
              <a:solidFill>
                <a:srgbClr val="0000FF"/>
              </a:solidFill>
            </a:endParaRPr>
          </a:p>
          <a:p>
            <a:pPr>
              <a:buFont typeface="Monotype Sorts" pitchFamily="-84" charset="2"/>
              <a:buNone/>
            </a:pPr>
            <a:r>
              <a:rPr lang="en-US" altLang="en-US" dirty="0">
                <a:solidFill>
                  <a:srgbClr val="0000FF"/>
                </a:solidFill>
              </a:rPr>
              <a:t>       </a:t>
            </a:r>
          </a:p>
        </p:txBody>
      </p:sp>
      <p:sp>
        <p:nvSpPr>
          <p:cNvPr id="4" name="TextBox 3">
            <a:extLst>
              <a:ext uri="{FF2B5EF4-FFF2-40B4-BE49-F238E27FC236}">
                <a16:creationId xmlns:a16="http://schemas.microsoft.com/office/drawing/2014/main" id="{B2E660DC-D47B-C3C8-F74B-8F92D70DD170}"/>
              </a:ext>
            </a:extLst>
          </p:cNvPr>
          <p:cNvSpPr txBox="1"/>
          <p:nvPr/>
        </p:nvSpPr>
        <p:spPr>
          <a:xfrm>
            <a:off x="5446205" y="1674786"/>
            <a:ext cx="3380207" cy="5466881"/>
          </a:xfrm>
          <a:prstGeom prst="rect">
            <a:avLst/>
          </a:prstGeom>
          <a:noFill/>
        </p:spPr>
        <p:txBody>
          <a:bodyPr wrap="square">
            <a:spAutoFit/>
          </a:bodyPr>
          <a:lstStyle/>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نویسنده باید دسترسی انحصاری داشته باشد: وقتی در حال نوشتن است، نه خواننده و نه نویسنده دیگری نمی‌تواند به منبع دسترسی داشته باشد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en-US" sz="1800" b="1" kern="100" dirty="0" err="1">
                <a:effectLst/>
                <a:latin typeface="Segoe UI Emoji" panose="020B0502040204020203" pitchFamily="34" charset="0"/>
                <a:ea typeface="Aptos" panose="020B0004020202020204" pitchFamily="34" charset="0"/>
                <a:cs typeface="B Nazanin" panose="00000400000000000000" pitchFamily="2" charset="-78"/>
              </a:rPr>
              <a:t>rw_mutex</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یک قفل دوجانبه است که هم خواننده‌ها و هم نویسندگان برای ورود به ناحیه بحرانی از آن استفاده می‌کنند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نویسنده ابتدا با </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wait(</a:t>
            </a:r>
            <a:r>
              <a:rPr lang="en-US" sz="1800" b="1" kern="100" dirty="0" err="1">
                <a:effectLst/>
                <a:latin typeface="Segoe UI Emoji" panose="020B0502040204020203" pitchFamily="34" charset="0"/>
                <a:ea typeface="Aptos" panose="020B0004020202020204" pitchFamily="34" charset="0"/>
                <a:cs typeface="B Nazanin" panose="00000400000000000000" pitchFamily="2" charset="-78"/>
              </a:rPr>
              <a:t>rw_mutex</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وارد ناحیه بحرانی می‌شود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نوشتن انجام می‌شود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با </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signal(</a:t>
            </a:r>
            <a:r>
              <a:rPr lang="en-US" sz="1800" b="1" kern="100" dirty="0" err="1">
                <a:effectLst/>
                <a:latin typeface="Segoe UI Emoji" panose="020B0502040204020203" pitchFamily="34" charset="0"/>
                <a:ea typeface="Aptos" panose="020B0004020202020204" pitchFamily="34" charset="0"/>
                <a:cs typeface="B Nazanin" panose="00000400000000000000" pitchFamily="2" charset="-78"/>
              </a:rPr>
              <a:t>rw_mutex</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قفل آزاد می‌شود تا سایر خوانندگان یا نویسندگان وارد شوند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buNone/>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0" marR="0" algn="r" rtl="1">
              <a:lnSpc>
                <a:spcPct val="115000"/>
              </a:lnSpc>
              <a:spcAft>
                <a:spcPts val="800"/>
              </a:spcAft>
            </a:pPr>
            <a:r>
              <a:rPr lang="en-US" sz="1800" kern="100" dirty="0">
                <a:effectLst/>
                <a:latin typeface="Aptos" panose="020B0004020202020204" pitchFamily="34" charset="0"/>
                <a:ea typeface="Aptos" panose="020B0004020202020204" pitchFamily="34" charset="0"/>
                <a:cs typeface="Arial" panose="020B0604020202020204" pitchFamily="34" charset="0"/>
              </a:rPr>
              <a:t> </a:t>
            </a:r>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BA3055BE-7D2A-422C-A590-55C99535BA7C}"/>
              </a:ext>
            </a:extLst>
          </p:cNvPr>
          <p:cNvSpPr>
            <a:spLocks noGrp="1" noChangeArrowheads="1"/>
          </p:cNvSpPr>
          <p:nvPr>
            <p:ph type="title"/>
          </p:nvPr>
        </p:nvSpPr>
        <p:spPr>
          <a:xfrm>
            <a:off x="1035050" y="227824"/>
            <a:ext cx="7651750" cy="576263"/>
          </a:xfrm>
        </p:spPr>
        <p:txBody>
          <a:bodyPr/>
          <a:lstStyle/>
          <a:p>
            <a:pPr eaLnBrk="1" hangingPunct="1"/>
            <a:r>
              <a:rPr lang="ar-SA" sz="32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مسئله خوانندگان و نویسندگان</a:t>
            </a:r>
            <a:r>
              <a:rPr lang="en-US" sz="32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 </a:t>
            </a:r>
            <a:r>
              <a:rPr lang="fa-IR" dirty="0">
                <a:solidFill>
                  <a:srgbClr val="0070C0"/>
                </a:solidFill>
                <a:latin typeface="Times New Roman" panose="02020603050405020304" pitchFamily="18" charset="0"/>
                <a:ea typeface="Times New Roman" panose="02020603050405020304" pitchFamily="18" charset="0"/>
                <a:cs typeface="B Nazanin" panose="00000400000000000000" pitchFamily="2" charset="-78"/>
              </a:rPr>
              <a:t>(ادامه)</a:t>
            </a:r>
            <a:endParaRPr lang="en-US" altLang="en-US" dirty="0"/>
          </a:p>
        </p:txBody>
      </p:sp>
      <p:sp>
        <p:nvSpPr>
          <p:cNvPr id="21506" name="Rectangle 3">
            <a:extLst>
              <a:ext uri="{FF2B5EF4-FFF2-40B4-BE49-F238E27FC236}">
                <a16:creationId xmlns:a16="http://schemas.microsoft.com/office/drawing/2014/main" id="{502CB5B1-7086-4461-8E47-670C4EA54902}"/>
              </a:ext>
            </a:extLst>
          </p:cNvPr>
          <p:cNvSpPr>
            <a:spLocks noGrp="1" noChangeArrowheads="1"/>
          </p:cNvSpPr>
          <p:nvPr>
            <p:ph idx="1"/>
          </p:nvPr>
        </p:nvSpPr>
        <p:spPr>
          <a:xfrm>
            <a:off x="0" y="914399"/>
            <a:ext cx="8989780" cy="5470235"/>
          </a:xfrm>
        </p:spPr>
        <p:txBody>
          <a:bodyPr/>
          <a:lstStyle/>
          <a:p>
            <a:pPr algn="r" rtl="1">
              <a:lnSpc>
                <a:spcPct val="80000"/>
              </a:lnSpc>
            </a:pPr>
            <a:r>
              <a:rPr lang="fa-IR" sz="20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ساختار فرآیند </a:t>
            </a:r>
            <a:r>
              <a:rPr lang="en-US" sz="2000" b="1" dirty="0">
                <a:solidFill>
                  <a:srgbClr val="0070C0"/>
                </a:solidFill>
                <a:latin typeface="Times New Roman" panose="02020603050405020304" pitchFamily="18" charset="0"/>
                <a:ea typeface="Times New Roman" panose="02020603050405020304" pitchFamily="18" charset="0"/>
                <a:cs typeface="B Nazanin" panose="00000400000000000000" pitchFamily="2" charset="-78"/>
              </a:rPr>
              <a:t> </a:t>
            </a:r>
            <a:r>
              <a:rPr lang="fa-IR" sz="2000" b="1" dirty="0">
                <a:solidFill>
                  <a:srgbClr val="0070C0"/>
                </a:solidFill>
                <a:latin typeface="Times New Roman" panose="02020603050405020304" pitchFamily="18" charset="0"/>
                <a:ea typeface="Times New Roman" panose="02020603050405020304" pitchFamily="18" charset="0"/>
                <a:cs typeface="B Nazanin" panose="00000400000000000000" pitchFamily="2" charset="-78"/>
              </a:rPr>
              <a:t>خواننده</a:t>
            </a:r>
            <a:r>
              <a:rPr lang="fa-IR" sz="20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  </a:t>
            </a:r>
            <a:r>
              <a:rPr lang="en-US" sz="2000" b="1" dirty="0">
                <a:solidFill>
                  <a:srgbClr val="0070C0"/>
                </a:solidFill>
                <a:effectLst/>
                <a:latin typeface="Times New Roman" panose="02020603050405020304" pitchFamily="18" charset="0"/>
                <a:ea typeface="Times New Roman" panose="02020603050405020304" pitchFamily="18" charset="0"/>
                <a:cs typeface="B Nazanin" panose="00000400000000000000" pitchFamily="2" charset="-78"/>
              </a:rPr>
              <a:t>:</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چند خواننده می‌توانند به‌طور هم‌زمان داده را بخوانند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altLang="en-US" sz="1600" dirty="0">
              <a:solidFill>
                <a:srgbClr val="0000FF"/>
              </a:solidFill>
            </a:endParaRPr>
          </a:p>
          <a:p>
            <a:pPr>
              <a:buFont typeface="Monotype Sorts" pitchFamily="-84" charset="2"/>
              <a:buNone/>
            </a:pPr>
            <a:r>
              <a:rPr lang="en-US" altLang="en-US" sz="1600" dirty="0">
                <a:latin typeface="Consolas" panose="020B0609020204030204" pitchFamily="49" charset="0"/>
              </a:rPr>
              <a:t>       </a:t>
            </a:r>
            <a:r>
              <a:rPr lang="en-US" altLang="en-US" sz="1600" b="1" dirty="0">
                <a:latin typeface="Consolas" panose="020B0609020204030204" pitchFamily="49" charset="0"/>
              </a:rPr>
              <a:t>while</a:t>
            </a:r>
            <a:r>
              <a:rPr lang="en-US" altLang="en-US" sz="1600" dirty="0">
                <a:latin typeface="Consolas" panose="020B0609020204030204" pitchFamily="49" charset="0"/>
              </a:rPr>
              <a:t> (true){</a:t>
            </a:r>
            <a:br>
              <a:rPr lang="en-US" altLang="en-US" sz="1600" dirty="0">
                <a:latin typeface="Consolas" panose="020B0609020204030204" pitchFamily="49" charset="0"/>
              </a:rPr>
            </a:br>
            <a:r>
              <a:rPr lang="en-US" altLang="en-US" sz="1600" dirty="0">
                <a:latin typeface="Consolas" panose="020B0609020204030204" pitchFamily="49" charset="0"/>
              </a:rPr>
              <a:t>    		</a:t>
            </a:r>
            <a:r>
              <a:rPr lang="en-US" altLang="en-US" sz="1600" b="1" dirty="0">
                <a:latin typeface="Consolas" panose="020B0609020204030204" pitchFamily="49" charset="0"/>
              </a:rPr>
              <a:t>wait</a:t>
            </a:r>
            <a:r>
              <a:rPr lang="en-US" altLang="en-US" sz="1600" dirty="0">
                <a:latin typeface="Consolas" panose="020B0609020204030204" pitchFamily="49" charset="0"/>
              </a:rPr>
              <a:t>(mutex);</a:t>
            </a:r>
            <a:br>
              <a:rPr lang="en-US" altLang="en-US" sz="1600" dirty="0">
                <a:latin typeface="Consolas" panose="020B0609020204030204" pitchFamily="49" charset="0"/>
              </a:rPr>
            </a:br>
            <a:r>
              <a:rPr lang="en-US" altLang="en-US" sz="1600" dirty="0">
                <a:latin typeface="Consolas" panose="020B0609020204030204" pitchFamily="49" charset="0"/>
              </a:rPr>
              <a:t>        	</a:t>
            </a:r>
            <a:r>
              <a:rPr lang="en-US" altLang="en-US" sz="1600" b="1" dirty="0" err="1">
                <a:latin typeface="Consolas" panose="020B0609020204030204" pitchFamily="49" charset="0"/>
              </a:rPr>
              <a:t>read_count</a:t>
            </a:r>
            <a:r>
              <a:rPr lang="en-US" altLang="en-US" sz="1600" dirty="0">
                <a:latin typeface="Consolas" panose="020B0609020204030204" pitchFamily="49" charset="0"/>
              </a:rPr>
              <a:t>++;</a:t>
            </a:r>
            <a:br>
              <a:rPr lang="en-US" altLang="en-US" sz="1600" dirty="0">
                <a:latin typeface="Consolas" panose="020B0609020204030204" pitchFamily="49" charset="0"/>
              </a:rPr>
            </a:br>
            <a:r>
              <a:rPr lang="en-US" altLang="en-US" sz="1600" dirty="0">
                <a:latin typeface="Consolas" panose="020B0609020204030204" pitchFamily="49" charset="0"/>
              </a:rPr>
              <a:t>        	if (</a:t>
            </a:r>
            <a:r>
              <a:rPr lang="en-US" altLang="en-US" sz="1600" b="1" dirty="0" err="1">
                <a:latin typeface="Consolas" panose="020B0609020204030204" pitchFamily="49" charset="0"/>
              </a:rPr>
              <a:t>read_count</a:t>
            </a:r>
            <a:r>
              <a:rPr lang="en-US" altLang="en-US" sz="1600" dirty="0">
                <a:latin typeface="Consolas" panose="020B0609020204030204" pitchFamily="49" charset="0"/>
              </a:rPr>
              <a:t> == 1) /* first reader */ </a:t>
            </a:r>
          </a:p>
          <a:p>
            <a:pPr>
              <a:buFont typeface="Monotype Sorts" pitchFamily="-84" charset="2"/>
              <a:buNone/>
            </a:pPr>
            <a:r>
              <a:rPr lang="en-US" altLang="en-US" sz="1600" dirty="0">
                <a:latin typeface="Consolas" panose="020B0609020204030204" pitchFamily="49" charset="0"/>
              </a:rPr>
              <a:t>		   	     </a:t>
            </a:r>
            <a:r>
              <a:rPr lang="en-US" altLang="en-US" sz="1600" b="1" dirty="0">
                <a:latin typeface="Consolas" panose="020B0609020204030204" pitchFamily="49" charset="0"/>
              </a:rPr>
              <a:t>wait</a:t>
            </a:r>
            <a:r>
              <a:rPr lang="en-US" altLang="en-US" sz="1600" dirty="0">
                <a:latin typeface="Consolas" panose="020B0609020204030204" pitchFamily="49" charset="0"/>
              </a:rPr>
              <a:t>(</a:t>
            </a:r>
            <a:r>
              <a:rPr lang="en-US" altLang="en-US" sz="1600" dirty="0" err="1">
                <a:solidFill>
                  <a:srgbClr val="FF0000"/>
                </a:solidFill>
                <a:latin typeface="Consolas" panose="020B0609020204030204" pitchFamily="49" charset="0"/>
              </a:rPr>
              <a:t>rw_mutex</a:t>
            </a:r>
            <a:r>
              <a:rPr lang="en-US" altLang="en-US" sz="1600" dirty="0">
                <a:latin typeface="Consolas" panose="020B0609020204030204" pitchFamily="49" charset="0"/>
              </a:rPr>
              <a:t>); </a:t>
            </a:r>
          </a:p>
          <a:p>
            <a:pPr>
              <a:buFont typeface="Monotype Sorts" pitchFamily="-84" charset="2"/>
              <a:buNone/>
            </a:pPr>
            <a:r>
              <a:rPr lang="en-US" altLang="en-US" sz="1600" dirty="0">
                <a:latin typeface="Consolas" panose="020B0609020204030204" pitchFamily="49" charset="0"/>
              </a:rPr>
              <a:t>           	</a:t>
            </a:r>
            <a:r>
              <a:rPr lang="en-US" altLang="en-US" sz="1600" b="1" dirty="0">
                <a:latin typeface="Consolas" panose="020B0609020204030204" pitchFamily="49" charset="0"/>
              </a:rPr>
              <a:t>signal</a:t>
            </a:r>
            <a:r>
              <a:rPr lang="en-US" altLang="en-US" sz="1600" dirty="0">
                <a:latin typeface="Consolas" panose="020B0609020204030204" pitchFamily="49" charset="0"/>
              </a:rPr>
              <a:t>(</a:t>
            </a:r>
            <a:r>
              <a:rPr lang="en-US" altLang="en-US" sz="1600" dirty="0">
                <a:solidFill>
                  <a:srgbClr val="FF0000"/>
                </a:solidFill>
                <a:latin typeface="Consolas" panose="020B0609020204030204" pitchFamily="49" charset="0"/>
              </a:rPr>
              <a:t>mutex</a:t>
            </a:r>
            <a:r>
              <a:rPr lang="en-US" altLang="en-US" sz="1600" dirty="0">
                <a:latin typeface="Consolas" panose="020B0609020204030204" pitchFamily="49" charset="0"/>
              </a:rPr>
              <a:t>); </a:t>
            </a:r>
          </a:p>
          <a:p>
            <a:pPr>
              <a:buFont typeface="Monotype Sorts" pitchFamily="-84" charset="2"/>
              <a:buNone/>
            </a:pPr>
            <a:r>
              <a:rPr lang="en-US" altLang="en-US" sz="1600" dirty="0">
                <a:latin typeface="Consolas" panose="020B0609020204030204" pitchFamily="49" charset="0"/>
              </a:rPr>
              <a:t>					/* reading is performed */ </a:t>
            </a:r>
          </a:p>
          <a:p>
            <a:pPr>
              <a:buFont typeface="Monotype Sorts" pitchFamily="-84" charset="2"/>
              <a:buNone/>
            </a:pPr>
            <a:r>
              <a:rPr lang="en-US" altLang="en-US" sz="1600" dirty="0">
                <a:latin typeface="Consolas" panose="020B0609020204030204" pitchFamily="49" charset="0"/>
              </a:rPr>
              <a:t>			</a:t>
            </a:r>
            <a:r>
              <a:rPr lang="en-US" altLang="en-US" sz="1600" b="1" dirty="0">
                <a:latin typeface="Consolas" panose="020B0609020204030204" pitchFamily="49" charset="0"/>
              </a:rPr>
              <a:t>wait</a:t>
            </a:r>
            <a:r>
              <a:rPr lang="en-US" altLang="en-US" sz="1600" dirty="0">
                <a:latin typeface="Consolas" panose="020B0609020204030204" pitchFamily="49" charset="0"/>
              </a:rPr>
              <a:t>(</a:t>
            </a:r>
            <a:r>
              <a:rPr lang="en-US" altLang="en-US" sz="1600" dirty="0">
                <a:solidFill>
                  <a:srgbClr val="FF0000"/>
                </a:solidFill>
                <a:latin typeface="Consolas" panose="020B0609020204030204" pitchFamily="49" charset="0"/>
              </a:rPr>
              <a:t>mutex</a:t>
            </a:r>
            <a:r>
              <a:rPr lang="en-US" altLang="en-US" sz="1600" dirty="0">
                <a:latin typeface="Consolas" panose="020B0609020204030204" pitchFamily="49" charset="0"/>
              </a:rPr>
              <a:t>);</a:t>
            </a:r>
            <a:br>
              <a:rPr lang="en-US" altLang="en-US" sz="1600" dirty="0">
                <a:latin typeface="Consolas" panose="020B0609020204030204" pitchFamily="49" charset="0"/>
              </a:rPr>
            </a:br>
            <a:r>
              <a:rPr lang="en-US" altLang="en-US" sz="1600" dirty="0">
                <a:latin typeface="Consolas" panose="020B0609020204030204" pitchFamily="49" charset="0"/>
              </a:rPr>
              <a:t>           	</a:t>
            </a:r>
            <a:r>
              <a:rPr lang="en-US" altLang="en-US" sz="1600" dirty="0" err="1">
                <a:latin typeface="Consolas" panose="020B0609020204030204" pitchFamily="49" charset="0"/>
              </a:rPr>
              <a:t>read_count</a:t>
            </a:r>
            <a:r>
              <a:rPr lang="en-US" altLang="en-US" sz="1600" dirty="0">
                <a:latin typeface="Consolas" panose="020B0609020204030204" pitchFamily="49" charset="0"/>
              </a:rPr>
              <a:t>--;</a:t>
            </a:r>
          </a:p>
          <a:p>
            <a:pPr>
              <a:buFont typeface="Monotype Sorts" pitchFamily="-84" charset="2"/>
              <a:buNone/>
            </a:pPr>
            <a:br>
              <a:rPr lang="en-US" altLang="en-US" sz="1600" dirty="0">
                <a:latin typeface="Consolas" panose="020B0609020204030204" pitchFamily="49" charset="0"/>
              </a:rPr>
            </a:br>
            <a:r>
              <a:rPr lang="en-US" altLang="en-US" sz="1600" dirty="0">
                <a:latin typeface="Consolas" panose="020B0609020204030204" pitchFamily="49" charset="0"/>
              </a:rPr>
              <a:t>           	if (</a:t>
            </a:r>
            <a:r>
              <a:rPr lang="en-US" altLang="en-US" sz="1600" dirty="0" err="1">
                <a:latin typeface="Consolas" panose="020B0609020204030204" pitchFamily="49" charset="0"/>
              </a:rPr>
              <a:t>read_count</a:t>
            </a:r>
            <a:r>
              <a:rPr lang="en-US" altLang="en-US" sz="1600" dirty="0">
                <a:latin typeface="Consolas" panose="020B0609020204030204" pitchFamily="49" charset="0"/>
              </a:rPr>
              <a:t> == 0) /* last reader */</a:t>
            </a:r>
          </a:p>
          <a:p>
            <a:pPr>
              <a:buFont typeface="Monotype Sorts" pitchFamily="-84" charset="2"/>
              <a:buNone/>
            </a:pPr>
            <a:r>
              <a:rPr lang="en-US" altLang="en-US" sz="1600" dirty="0">
                <a:latin typeface="Consolas" panose="020B0609020204030204" pitchFamily="49" charset="0"/>
              </a:rPr>
              <a:t>           		</a:t>
            </a:r>
            <a:r>
              <a:rPr lang="en-US" altLang="en-US" sz="1600" b="1" dirty="0">
                <a:latin typeface="Consolas" panose="020B0609020204030204" pitchFamily="49" charset="0"/>
              </a:rPr>
              <a:t>signal</a:t>
            </a:r>
            <a:r>
              <a:rPr lang="en-US" altLang="en-US" sz="1600" dirty="0">
                <a:solidFill>
                  <a:srgbClr val="FF0000"/>
                </a:solidFill>
                <a:latin typeface="Consolas" panose="020B0609020204030204" pitchFamily="49" charset="0"/>
              </a:rPr>
              <a:t>(</a:t>
            </a:r>
            <a:r>
              <a:rPr lang="en-US" altLang="en-US" sz="1600" dirty="0" err="1">
                <a:solidFill>
                  <a:srgbClr val="FF0000"/>
                </a:solidFill>
                <a:latin typeface="Consolas" panose="020B0609020204030204" pitchFamily="49" charset="0"/>
              </a:rPr>
              <a:t>rw_mutex</a:t>
            </a:r>
            <a:r>
              <a:rPr lang="en-US" altLang="en-US" sz="1600" dirty="0">
                <a:latin typeface="Consolas" panose="020B0609020204030204" pitchFamily="49" charset="0"/>
              </a:rPr>
              <a:t>); </a:t>
            </a:r>
          </a:p>
          <a:p>
            <a:pPr>
              <a:buFont typeface="Monotype Sorts" pitchFamily="-84" charset="2"/>
              <a:buNone/>
            </a:pPr>
            <a:r>
              <a:rPr lang="en-US" altLang="en-US" sz="1600" dirty="0">
                <a:latin typeface="Consolas" panose="020B0609020204030204" pitchFamily="49" charset="0"/>
              </a:rPr>
              <a:t>           	</a:t>
            </a:r>
            <a:r>
              <a:rPr lang="en-US" altLang="en-US" sz="1600" b="1" dirty="0">
                <a:latin typeface="Consolas" panose="020B0609020204030204" pitchFamily="49" charset="0"/>
              </a:rPr>
              <a:t>signal</a:t>
            </a:r>
            <a:r>
              <a:rPr lang="en-US" altLang="en-US" sz="1600" dirty="0">
                <a:latin typeface="Consolas" panose="020B0609020204030204" pitchFamily="49" charset="0"/>
              </a:rPr>
              <a:t>(</a:t>
            </a:r>
            <a:r>
              <a:rPr lang="en-US" altLang="en-US" sz="1600" dirty="0">
                <a:solidFill>
                  <a:srgbClr val="FF0000"/>
                </a:solidFill>
                <a:latin typeface="Consolas" panose="020B0609020204030204" pitchFamily="49" charset="0"/>
              </a:rPr>
              <a:t>mutex</a:t>
            </a:r>
            <a:r>
              <a:rPr lang="en-US" altLang="en-US" sz="1600" dirty="0">
                <a:latin typeface="Consolas" panose="020B0609020204030204" pitchFamily="49" charset="0"/>
              </a:rPr>
              <a:t>); </a:t>
            </a:r>
          </a:p>
          <a:p>
            <a:pPr>
              <a:buFont typeface="Monotype Sorts" pitchFamily="-84" charset="2"/>
              <a:buNone/>
            </a:pPr>
            <a:r>
              <a:rPr lang="en-US" altLang="en-US" sz="1600" dirty="0">
                <a:latin typeface="Consolas" panose="020B0609020204030204" pitchFamily="49" charset="0"/>
              </a:rPr>
              <a:t>       }</a:t>
            </a:r>
            <a:br>
              <a:rPr lang="en-US" altLang="en-US" sz="1400" b="1" dirty="0">
                <a:latin typeface="Courier New" panose="02070309020205020404" pitchFamily="49" charset="0"/>
              </a:rPr>
            </a:br>
            <a:endParaRPr lang="en-US" altLang="en-US" sz="1400" b="1" dirty="0">
              <a:latin typeface="Courier New" panose="02070309020205020404" pitchFamily="49" charset="0"/>
            </a:endParaRPr>
          </a:p>
          <a:p>
            <a:pPr>
              <a:lnSpc>
                <a:spcPct val="80000"/>
              </a:lnSpc>
              <a:buFont typeface="Monotype Sorts" pitchFamily="-84" charset="2"/>
              <a:buNone/>
            </a:pPr>
            <a:endParaRPr lang="en-US" altLang="en-US" sz="1600" dirty="0">
              <a:solidFill>
                <a:srgbClr val="0000FF"/>
              </a:solidFill>
            </a:endParaRPr>
          </a:p>
          <a:p>
            <a:pPr>
              <a:lnSpc>
                <a:spcPct val="80000"/>
              </a:lnSpc>
              <a:buFont typeface="Monotype Sorts" pitchFamily="-84" charset="2"/>
              <a:buNone/>
            </a:pPr>
            <a:endParaRPr lang="en-US" altLang="en-US" sz="1600" dirty="0">
              <a:solidFill>
                <a:srgbClr val="0000FF"/>
              </a:solidFill>
            </a:endParaRPr>
          </a:p>
          <a:p>
            <a:pPr>
              <a:lnSpc>
                <a:spcPct val="80000"/>
              </a:lnSpc>
              <a:buFont typeface="Monotype Sorts" pitchFamily="-84" charset="2"/>
              <a:buNone/>
            </a:pPr>
            <a:r>
              <a:rPr lang="en-US" altLang="en-US" sz="1600" dirty="0">
                <a:solidFill>
                  <a:srgbClr val="0000FF"/>
                </a:solidFill>
              </a:rPr>
              <a:t>       </a:t>
            </a:r>
          </a:p>
        </p:txBody>
      </p:sp>
      <p:sp>
        <p:nvSpPr>
          <p:cNvPr id="3" name="TextBox 2">
            <a:extLst>
              <a:ext uri="{FF2B5EF4-FFF2-40B4-BE49-F238E27FC236}">
                <a16:creationId xmlns:a16="http://schemas.microsoft.com/office/drawing/2014/main" id="{C691E027-5101-4B14-505C-A56AD59AD207}"/>
              </a:ext>
            </a:extLst>
          </p:cNvPr>
          <p:cNvSpPr txBox="1"/>
          <p:nvPr/>
        </p:nvSpPr>
        <p:spPr>
          <a:xfrm>
            <a:off x="574285" y="5416362"/>
            <a:ext cx="8415495" cy="1655068"/>
          </a:xfrm>
          <a:prstGeom prst="rect">
            <a:avLst/>
          </a:prstGeom>
          <a:noFill/>
        </p:spPr>
        <p:txBody>
          <a:bodyPr wrap="square">
            <a:spAutoFit/>
          </a:bodyPr>
          <a:lstStyle/>
          <a:p>
            <a:pPr marL="285750" marR="0" indent="-285750" algn="r" rtl="1">
              <a:lnSpc>
                <a:spcPct val="115000"/>
              </a:lnSpc>
              <a:spcAft>
                <a:spcPts val="800"/>
              </a:spcAft>
              <a:buFont typeface="Arial" panose="020B0604020202020204" pitchFamily="34" charset="0"/>
              <a:buChar char="•"/>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mutex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قفل محافظ برای به‌روزرسانی ایمن متغیر </a:t>
            </a:r>
            <a:r>
              <a:rPr lang="en-US" sz="1800" b="1" kern="100" dirty="0" err="1">
                <a:effectLst/>
                <a:latin typeface="Segoe UI Emoji" panose="020B0502040204020203" pitchFamily="34" charset="0"/>
                <a:ea typeface="Aptos" panose="020B0004020202020204" pitchFamily="34" charset="0"/>
                <a:cs typeface="B Nazanin" panose="00000400000000000000" pitchFamily="2" charset="-78"/>
              </a:rPr>
              <a:t>read_count</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تعداد خوانندگان فعال</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285750" marR="0" indent="-285750" algn="r" rtl="1">
              <a:lnSpc>
                <a:spcPct val="115000"/>
              </a:lnSpc>
              <a:spcAft>
                <a:spcPts val="800"/>
              </a:spcAft>
              <a:buFont typeface="Arial" panose="020B0604020202020204" pitchFamily="34" charset="0"/>
              <a:buChar char="•"/>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en-US" sz="1800" b="1" kern="100" dirty="0" err="1">
                <a:effectLst/>
                <a:latin typeface="Segoe UI Emoji" panose="020B0502040204020203" pitchFamily="34" charset="0"/>
                <a:ea typeface="Aptos" panose="020B0004020202020204" pitchFamily="34" charset="0"/>
                <a:cs typeface="B Nazanin" panose="00000400000000000000" pitchFamily="2" charset="-78"/>
              </a:rPr>
              <a:t>read_count</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شمارنده‌ای که تعداد خوانندگان فعال را نگه می‌دارد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285750" marR="0" indent="-285750" algn="r" rtl="1">
              <a:lnSpc>
                <a:spcPct val="115000"/>
              </a:lnSpc>
              <a:spcAft>
                <a:spcPts val="800"/>
              </a:spcAft>
              <a:buFont typeface="Arial" panose="020B0604020202020204" pitchFamily="34" charset="0"/>
              <a:buChar char="•"/>
            </a:pP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en-US" sz="1800" b="1" kern="100" dirty="0" err="1">
                <a:effectLst/>
                <a:latin typeface="Segoe UI Emoji" panose="020B0502040204020203" pitchFamily="34" charset="0"/>
                <a:ea typeface="Aptos" panose="020B0004020202020204" pitchFamily="34" charset="0"/>
                <a:cs typeface="B Nazanin" panose="00000400000000000000" pitchFamily="2" charset="-78"/>
              </a:rPr>
              <a:t>rw_mutex</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 </a:t>
            </a:r>
            <a:r>
              <a:rPr lang="ar-SA" sz="1800" b="1" kern="100" dirty="0">
                <a:effectLst/>
                <a:latin typeface="Segoe UI Emoji" panose="020B0502040204020203" pitchFamily="34" charset="0"/>
                <a:ea typeface="Aptos" panose="020B0004020202020204" pitchFamily="34" charset="0"/>
                <a:cs typeface="B Nazanin" panose="00000400000000000000" pitchFamily="2" charset="-78"/>
              </a:rPr>
              <a:t>همان قفلی است که نویسنده نیز از آن استفاده می‌کند</a:t>
            </a:r>
            <a:r>
              <a:rPr lang="en-US" sz="18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1800" kern="100" dirty="0">
              <a:effectLst/>
              <a:latin typeface="Aptos" panose="020B0004020202020204" pitchFamily="34" charset="0"/>
              <a:ea typeface="Aptos" panose="020B0004020202020204" pitchFamily="34" charset="0"/>
              <a:cs typeface="Arial" panose="020B0604020202020204" pitchFamily="34" charset="0"/>
            </a:endParaRPr>
          </a:p>
          <a:p>
            <a:pPr marL="285750" marR="0" indent="-285750" algn="r" rtl="1">
              <a:lnSpc>
                <a:spcPct val="115000"/>
              </a:lnSpc>
              <a:spcAft>
                <a:spcPts val="800"/>
              </a:spcAft>
              <a:buFont typeface="Arial" panose="020B0604020202020204" pitchFamily="34" charset="0"/>
              <a:buChar char="•"/>
            </a:pPr>
            <a:r>
              <a:rPr lang="en-US" sz="1800" kern="100" dirty="0">
                <a:effectLst/>
                <a:latin typeface="Aptos" panose="020B0004020202020204" pitchFamily="34" charset="0"/>
                <a:ea typeface="Aptos" panose="020B0004020202020204" pitchFamily="34" charset="0"/>
                <a:cs typeface="Arial" panose="020B0604020202020204" pitchFamily="34" charset="0"/>
              </a:rPr>
              <a:t> </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0E349B06-5C0D-4BD8-ABC8-DFC88C04F920}"/>
              </a:ext>
            </a:extLst>
          </p:cNvPr>
          <p:cNvSpPr>
            <a:spLocks noGrp="1"/>
          </p:cNvSpPr>
          <p:nvPr>
            <p:ph type="title"/>
          </p:nvPr>
        </p:nvSpPr>
        <p:spPr>
          <a:xfrm>
            <a:off x="1257778" y="222286"/>
            <a:ext cx="7677150" cy="576262"/>
          </a:xfrm>
        </p:spPr>
        <p:txBody>
          <a:bodyPr/>
          <a:lstStyle/>
          <a:p>
            <a:r>
              <a:rPr lang="en-US" altLang="en-US" dirty="0"/>
              <a:t>Readers-Writers Problem Variations</a:t>
            </a:r>
          </a:p>
        </p:txBody>
      </p:sp>
      <p:sp>
        <p:nvSpPr>
          <p:cNvPr id="23554" name="Content Placeholder 2">
            <a:extLst>
              <a:ext uri="{FF2B5EF4-FFF2-40B4-BE49-F238E27FC236}">
                <a16:creationId xmlns:a16="http://schemas.microsoft.com/office/drawing/2014/main" id="{47643E3C-87AB-40AB-8261-6DE653642FC7}"/>
              </a:ext>
            </a:extLst>
          </p:cNvPr>
          <p:cNvSpPr>
            <a:spLocks noGrp="1"/>
          </p:cNvSpPr>
          <p:nvPr>
            <p:ph idx="1"/>
          </p:nvPr>
        </p:nvSpPr>
        <p:spPr>
          <a:xfrm>
            <a:off x="427055" y="1135465"/>
            <a:ext cx="8507873" cy="5009696"/>
          </a:xfrm>
        </p:spPr>
        <p:txBody>
          <a:bodyPr/>
          <a:lstStyle/>
          <a:p>
            <a:pPr marL="0" marR="0" algn="r" rtl="1">
              <a:lnSpc>
                <a:spcPts val="2625"/>
              </a:lnSpc>
              <a:spcBef>
                <a:spcPts val="0"/>
              </a:spcBef>
              <a:spcAft>
                <a:spcPts val="0"/>
              </a:spcAft>
            </a:pPr>
            <a:r>
              <a:rPr lang="ar-SA" sz="24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مشکل قفل شدگی خواننده اول </a:t>
            </a:r>
            <a:r>
              <a:rPr lang="ar-SA" sz="20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a:t>
            </a:r>
            <a:r>
              <a:rPr lang="en-US" sz="2000" b="1" dirty="0">
                <a:solidFill>
                  <a:srgbClr val="1F1F1F"/>
                </a:solidFill>
                <a:effectLst/>
                <a:latin typeface="Arial" panose="020B0604020202020204" pitchFamily="34" charset="0"/>
                <a:ea typeface="Times New Roman" panose="02020603050405020304" pitchFamily="18" charset="0"/>
                <a:cs typeface="B Nazanin" panose="00000400000000000000" pitchFamily="2" charset="-78"/>
              </a:rPr>
              <a:t>First Reader-Writer Problem</a:t>
            </a:r>
            <a:r>
              <a:rPr lang="ar-SA" sz="20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400" dirty="0">
              <a:effectLst/>
              <a:latin typeface="Times New Roman" panose="02020603050405020304" pitchFamily="18" charset="0"/>
              <a:ea typeface="Times New Roman" panose="02020603050405020304" pitchFamily="18" charset="0"/>
              <a:cs typeface="B Nazanin" panose="00000400000000000000" pitchFamily="2" charset="-78"/>
            </a:endParaRPr>
          </a:p>
          <a:p>
            <a:pPr marL="742950" lvl="2" algn="r" rtl="1">
              <a:lnSpc>
                <a:spcPts val="2625"/>
              </a:lnSpc>
              <a:spcBef>
                <a:spcPts val="0"/>
              </a:spcBef>
              <a:spcAft>
                <a:spcPts val="0"/>
              </a:spcAft>
            </a:pPr>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راه حلی که در اسلاید قبلی ارائه شد، می‌تواند منجر به وضعیتی شود که یک فرایند نویسنده هرگز نتواند عمل نوشتن را انجام دهد. این مشکل به عنوان "قفل شدگی خواننده اول" شناخته می‌شود.</a:t>
            </a:r>
            <a:endParaRPr lang="en-US"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endParaRPr>
          </a:p>
          <a:p>
            <a:pPr marL="742950" lvl="2" algn="r" rtl="1">
              <a:lnSpc>
                <a:spcPts val="2625"/>
              </a:lnSpc>
              <a:spcBef>
                <a:spcPts val="0"/>
              </a:spcBef>
              <a:spcAft>
                <a:spcPts val="0"/>
              </a:spcAft>
            </a:pPr>
            <a:endParaRPr lang="en-US" sz="2800" dirty="0">
              <a:effectLst/>
              <a:latin typeface="Times New Roman" panose="02020603050405020304" pitchFamily="18" charset="0"/>
              <a:ea typeface="Times New Roman" panose="02020603050405020304" pitchFamily="18" charset="0"/>
              <a:cs typeface="B Nazanin" panose="00000400000000000000" pitchFamily="2" charset="-78"/>
            </a:endParaRPr>
          </a:p>
          <a:p>
            <a:pPr marL="0" algn="r" rtl="1">
              <a:lnSpc>
                <a:spcPts val="2625"/>
              </a:lnSpc>
              <a:spcBef>
                <a:spcPts val="0"/>
              </a:spcBef>
              <a:spcAft>
                <a:spcPts val="0"/>
              </a:spcAft>
            </a:pPr>
            <a:r>
              <a:rPr lang="en-US" sz="2400" b="1" dirty="0" err="1">
                <a:solidFill>
                  <a:srgbClr val="1F1F1F"/>
                </a:solidFill>
                <a:latin typeface="Times New Roman" panose="02020603050405020304" pitchFamily="18" charset="0"/>
                <a:cs typeface="B Nazanin" panose="00000400000000000000" pitchFamily="2" charset="-78"/>
              </a:rPr>
              <a:t>مشکل</a:t>
            </a:r>
            <a:r>
              <a:rPr lang="en-US" sz="2400" b="1" dirty="0">
                <a:solidFill>
                  <a:srgbClr val="1F1F1F"/>
                </a:solidFill>
                <a:latin typeface="Times New Roman" panose="02020603050405020304" pitchFamily="18" charset="0"/>
                <a:cs typeface="B Nazanin" panose="00000400000000000000" pitchFamily="2" charset="-78"/>
              </a:rPr>
              <a:t> </a:t>
            </a:r>
            <a:r>
              <a:rPr lang="en-US" sz="2400" b="1" dirty="0" err="1">
                <a:solidFill>
                  <a:srgbClr val="1F1F1F"/>
                </a:solidFill>
                <a:latin typeface="Times New Roman" panose="02020603050405020304" pitchFamily="18" charset="0"/>
                <a:cs typeface="B Nazanin" panose="00000400000000000000" pitchFamily="2" charset="-78"/>
              </a:rPr>
              <a:t>قفل</a:t>
            </a:r>
            <a:r>
              <a:rPr lang="en-US" sz="2400" b="1" dirty="0">
                <a:solidFill>
                  <a:srgbClr val="1F1F1F"/>
                </a:solidFill>
                <a:latin typeface="Times New Roman" panose="02020603050405020304" pitchFamily="18" charset="0"/>
                <a:cs typeface="B Nazanin" panose="00000400000000000000" pitchFamily="2" charset="-78"/>
              </a:rPr>
              <a:t> </a:t>
            </a:r>
            <a:r>
              <a:rPr lang="en-US" sz="2400" b="1" dirty="0" err="1">
                <a:solidFill>
                  <a:srgbClr val="1F1F1F"/>
                </a:solidFill>
                <a:latin typeface="Times New Roman" panose="02020603050405020304" pitchFamily="18" charset="0"/>
                <a:cs typeface="B Nazanin" panose="00000400000000000000" pitchFamily="2" charset="-78"/>
              </a:rPr>
              <a:t>شدگی</a:t>
            </a:r>
            <a:r>
              <a:rPr lang="en-US" sz="2400" b="1" dirty="0">
                <a:solidFill>
                  <a:srgbClr val="1F1F1F"/>
                </a:solidFill>
                <a:latin typeface="Times New Roman" panose="02020603050405020304" pitchFamily="18" charset="0"/>
                <a:cs typeface="B Nazanin" panose="00000400000000000000" pitchFamily="2" charset="-78"/>
              </a:rPr>
              <a:t> </a:t>
            </a:r>
            <a:r>
              <a:rPr lang="en-US" sz="2400" b="1" dirty="0" err="1">
                <a:solidFill>
                  <a:srgbClr val="1F1F1F"/>
                </a:solidFill>
                <a:latin typeface="Times New Roman" panose="02020603050405020304" pitchFamily="18" charset="0"/>
                <a:cs typeface="B Nazanin" panose="00000400000000000000" pitchFamily="2" charset="-78"/>
              </a:rPr>
              <a:t>خواننده</a:t>
            </a:r>
            <a:r>
              <a:rPr lang="en-US" sz="2400" b="1" dirty="0">
                <a:solidFill>
                  <a:srgbClr val="1F1F1F"/>
                </a:solidFill>
                <a:latin typeface="Times New Roman" panose="02020603050405020304" pitchFamily="18" charset="0"/>
                <a:cs typeface="B Nazanin" panose="00000400000000000000" pitchFamily="2" charset="-78"/>
              </a:rPr>
              <a:t> </a:t>
            </a:r>
            <a:r>
              <a:rPr lang="en-US" sz="2400" b="1" dirty="0" err="1">
                <a:solidFill>
                  <a:srgbClr val="1F1F1F"/>
                </a:solidFill>
                <a:latin typeface="Times New Roman" panose="02020603050405020304" pitchFamily="18" charset="0"/>
                <a:cs typeface="B Nazanin" panose="00000400000000000000" pitchFamily="2" charset="-78"/>
              </a:rPr>
              <a:t>دوم</a:t>
            </a:r>
            <a:r>
              <a:rPr lang="en-US" sz="2400" b="1" dirty="0">
                <a:solidFill>
                  <a:srgbClr val="1F1F1F"/>
                </a:solidFill>
                <a:latin typeface="Times New Roman" panose="02020603050405020304" pitchFamily="18" charset="0"/>
                <a:cs typeface="B Nazanin" panose="00000400000000000000" pitchFamily="2" charset="-78"/>
              </a:rPr>
              <a:t> Second Reader-Writer Problem</a:t>
            </a:r>
            <a:r>
              <a:rPr lang="ar-SA" sz="2400" b="1" dirty="0">
                <a:solidFill>
                  <a:srgbClr val="1F1F1F"/>
                </a:solidFill>
                <a:latin typeface="Times New Roman" panose="02020603050405020304" pitchFamily="18" charset="0"/>
                <a:cs typeface="B Nazanin" panose="00000400000000000000" pitchFamily="2" charset="-78"/>
              </a:rPr>
              <a:t>:</a:t>
            </a:r>
            <a:endParaRPr lang="en-US" sz="2400" b="1" dirty="0">
              <a:solidFill>
                <a:srgbClr val="1F1F1F"/>
              </a:solidFill>
              <a:latin typeface="Times New Roman" panose="02020603050405020304" pitchFamily="18" charset="0"/>
              <a:cs typeface="B Nazanin" panose="00000400000000000000" pitchFamily="2" charset="-78"/>
            </a:endParaRPr>
          </a:p>
          <a:p>
            <a:pPr marL="742950" lvl="2" algn="r" rtl="1">
              <a:lnSpc>
                <a:spcPts val="2625"/>
              </a:lnSpc>
              <a:spcBef>
                <a:spcPts val="0"/>
              </a:spcBef>
              <a:spcAft>
                <a:spcPts val="0"/>
              </a:spcAft>
            </a:pPr>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"قفل شدگی خواننده دوم" نسخه‌ای از مشکل "قفل شدگی خواننده اول" است که در آن بیان می‌شود:</a:t>
            </a:r>
            <a:endParaRPr lang="en-US" sz="2800" dirty="0">
              <a:effectLst/>
              <a:latin typeface="Times New Roman" panose="02020603050405020304" pitchFamily="18" charset="0"/>
              <a:ea typeface="Times New Roman" panose="02020603050405020304" pitchFamily="18" charset="0"/>
              <a:cs typeface="B Nazanin" panose="00000400000000000000" pitchFamily="2" charset="-78"/>
            </a:endParaRPr>
          </a:p>
          <a:p>
            <a:pPr marL="742950" lvl="2" algn="r" rtl="1">
              <a:lnSpc>
                <a:spcPts val="2625"/>
              </a:lnSpc>
              <a:spcBef>
                <a:spcPts val="0"/>
              </a:spcBef>
              <a:spcAft>
                <a:spcPts val="1500"/>
              </a:spcAft>
            </a:pP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به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محض</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اینکه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یک</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نویسنده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برای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نوشتن</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آماده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دیگر</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به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هیچ</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خواننده‌ای</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که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تازه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وارد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شده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اجازه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خواندن</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داده‌ها</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داده</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800" dirty="0" err="1">
                <a:effectLst/>
                <a:latin typeface="Times New Roman" panose="02020603050405020304" pitchFamily="18" charset="0"/>
                <a:ea typeface="Times New Roman" panose="02020603050405020304" pitchFamily="18" charset="0"/>
                <a:cs typeface="B Nazanin" panose="00000400000000000000" pitchFamily="2" charset="-78"/>
              </a:rPr>
              <a:t>نمی‌شود</a:t>
            </a:r>
            <a:r>
              <a:rPr lang="en-US" sz="2800" dirty="0">
                <a:effectLst/>
                <a:latin typeface="Times New Roman" panose="02020603050405020304" pitchFamily="18" charset="0"/>
                <a:ea typeface="Times New Roman" panose="02020603050405020304" pitchFamily="18" charset="0"/>
                <a:cs typeface="B Nazanin" panose="00000400000000000000" pitchFamily="2" charset="-78"/>
              </a:rPr>
              <a:t>.</a:t>
            </a:r>
          </a:p>
          <a:p>
            <a:pPr marL="742950" lvl="2" algn="r" rtl="1">
              <a:lnSpc>
                <a:spcPts val="2625"/>
              </a:lnSpc>
              <a:spcBef>
                <a:spcPts val="0"/>
              </a:spcBef>
              <a:spcAft>
                <a:spcPts val="0"/>
              </a:spcAft>
            </a:pPr>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هر دو مشکل قفل شدگی خواننده اول و دوم می‌توانند منجر به </a:t>
            </a:r>
            <a:r>
              <a:rPr lang="ar-SA" sz="2800" b="1"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گرسنگی</a:t>
            </a:r>
            <a:r>
              <a:rPr lang="ar-SA" sz="2800" dirty="0">
                <a:solidFill>
                  <a:srgbClr val="1F1F1F"/>
                </a:solidFill>
                <a:effectLst/>
                <a:latin typeface="Times New Roman" panose="02020603050405020304" pitchFamily="18" charset="0"/>
                <a:ea typeface="Times New Roman" panose="02020603050405020304" pitchFamily="18" charset="0"/>
                <a:cs typeface="B Nazanin" panose="00000400000000000000" pitchFamily="2" charset="-78"/>
              </a:rPr>
              <a:t> (یعنی انتظار بی‌محدود) برای برخی فرایندها شوند. همین موضوع باعث ایجاد رویکردهای متنوع‌تری برای حل این مسئله شده است.</a:t>
            </a:r>
            <a:endParaRPr lang="en-US" sz="2800" dirty="0">
              <a:effectLst/>
              <a:latin typeface="Times New Roman" panose="02020603050405020304" pitchFamily="18" charset="0"/>
              <a:ea typeface="Times New Roman" panose="02020603050405020304" pitchFamily="18" charset="0"/>
              <a:cs typeface="B Nazanin" panose="00000400000000000000" pitchFamily="2" charset="-78"/>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211A0-33AB-8172-67E0-16EC5320DF20}"/>
            </a:ext>
          </a:extLst>
        </p:cNvPr>
        <p:cNvGrpSpPr/>
        <p:nvPr/>
      </p:nvGrpSpPr>
      <p:grpSpPr>
        <a:xfrm>
          <a:off x="0" y="0"/>
          <a:ext cx="0" cy="0"/>
          <a:chOff x="0" y="0"/>
          <a:chExt cx="0" cy="0"/>
        </a:xfrm>
      </p:grpSpPr>
      <p:sp>
        <p:nvSpPr>
          <p:cNvPr id="23553" name="Title 1">
            <a:extLst>
              <a:ext uri="{FF2B5EF4-FFF2-40B4-BE49-F238E27FC236}">
                <a16:creationId xmlns:a16="http://schemas.microsoft.com/office/drawing/2014/main" id="{9AB2D900-FA7A-54B5-4C47-390CD24ACDD7}"/>
              </a:ext>
            </a:extLst>
          </p:cNvPr>
          <p:cNvSpPr>
            <a:spLocks noGrp="1"/>
          </p:cNvSpPr>
          <p:nvPr>
            <p:ph type="title"/>
          </p:nvPr>
        </p:nvSpPr>
        <p:spPr>
          <a:xfrm>
            <a:off x="1257778" y="222286"/>
            <a:ext cx="7677150" cy="576262"/>
          </a:xfrm>
        </p:spPr>
        <p:txBody>
          <a:bodyPr/>
          <a:lstStyle/>
          <a:p>
            <a:r>
              <a:rPr lang="en-US" altLang="en-US" dirty="0"/>
              <a:t>Readers-Writers Problem Variations</a:t>
            </a:r>
          </a:p>
        </p:txBody>
      </p:sp>
      <p:sp>
        <p:nvSpPr>
          <p:cNvPr id="23554" name="Content Placeholder 2">
            <a:extLst>
              <a:ext uri="{FF2B5EF4-FFF2-40B4-BE49-F238E27FC236}">
                <a16:creationId xmlns:a16="http://schemas.microsoft.com/office/drawing/2014/main" id="{E30E51C3-11E4-65C6-EB0B-ABF4E55E1C4F}"/>
              </a:ext>
            </a:extLst>
          </p:cNvPr>
          <p:cNvSpPr>
            <a:spLocks noGrp="1"/>
          </p:cNvSpPr>
          <p:nvPr>
            <p:ph idx="1"/>
          </p:nvPr>
        </p:nvSpPr>
        <p:spPr>
          <a:xfrm>
            <a:off x="427055" y="1135465"/>
            <a:ext cx="8507873" cy="5009696"/>
          </a:xfrm>
        </p:spPr>
        <p:txBody>
          <a:bodyPr/>
          <a:lstStyle/>
          <a:p>
            <a:pPr marL="0" algn="r" rtl="1">
              <a:lnSpc>
                <a:spcPct val="115000"/>
              </a:lnSpc>
              <a:spcAft>
                <a:spcPts val="800"/>
              </a:spcAft>
            </a:pP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مشکل قفل‌شدگی خواننده اول زمانی رخ می‌دهد که خوانندگان همیشه اولویت داشته باشند و نویسنده‌ها هیچ‌گاه نتوانند وارد ناحیه بحرانی شده و بنویسند (گرسنگی نویسنده)</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0" algn="r" rtl="1">
              <a:lnSpc>
                <a:spcPct val="115000"/>
              </a:lnSpc>
              <a:spcAft>
                <a:spcPts val="800"/>
              </a:spcAft>
            </a:pP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مشکل قفل‌شدگی خواننده دوم نسخه‌ای از این مشکل است که وقتی نویسنده‌ای آماده نوشتن شود، هیچ خواننده جدیدی اجازه ورود نمی‌یابد تا نویسنده بتواند سریع‌تر وارد شود</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a:p>
            <a:pPr marL="0" algn="r" rtl="1">
              <a:lnSpc>
                <a:spcPct val="115000"/>
              </a:lnSpc>
              <a:spcAft>
                <a:spcPts val="800"/>
              </a:spcAft>
            </a:pPr>
            <a:r>
              <a:rPr lang="ar-SA" sz="2400" b="1" kern="100" dirty="0">
                <a:effectLst/>
                <a:latin typeface="Segoe UI Emoji" panose="020B0502040204020203" pitchFamily="34" charset="0"/>
                <a:ea typeface="Aptos" panose="020B0004020202020204" pitchFamily="34" charset="0"/>
                <a:cs typeface="B Nazanin" panose="00000400000000000000" pitchFamily="2" charset="-78"/>
              </a:rPr>
              <a:t>هر دو مشکل باعث انتظار بی‌پایان (گرسنگی) برای برخی فرآیندها می‌شوند و نیاز به راهکارهای عادلانه‌تر دارند</a:t>
            </a:r>
            <a:r>
              <a:rPr lang="en-US" sz="2400" b="1" kern="100" dirty="0">
                <a:effectLst/>
                <a:latin typeface="Segoe UI Emoji" panose="020B0502040204020203" pitchFamily="34" charset="0"/>
                <a:ea typeface="Aptos" panose="020B0004020202020204" pitchFamily="34" charset="0"/>
                <a:cs typeface="B Nazanin" panose="00000400000000000000" pitchFamily="2" charset="-78"/>
              </a:rPr>
              <a:t>.</a:t>
            </a:r>
            <a:endParaRPr lang="en-US" sz="2400" kern="100"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3775003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1EE9EBAB-3EEB-4813-BC45-A296B378D76B}"/>
              </a:ext>
            </a:extLst>
          </p:cNvPr>
          <p:cNvSpPr>
            <a:spLocks noGrp="1" noChangeArrowheads="1"/>
          </p:cNvSpPr>
          <p:nvPr>
            <p:ph type="title"/>
          </p:nvPr>
        </p:nvSpPr>
        <p:spPr>
          <a:xfrm>
            <a:off x="1016000" y="222286"/>
            <a:ext cx="7670800" cy="576262"/>
          </a:xfrm>
        </p:spPr>
        <p:txBody>
          <a:bodyPr/>
          <a:lstStyle/>
          <a:p>
            <a:pPr eaLnBrk="1" hangingPunct="1"/>
            <a:r>
              <a:rPr lang="en-US" altLang="en-US" dirty="0"/>
              <a:t>Dining-Philosophers Problem</a:t>
            </a:r>
          </a:p>
        </p:txBody>
      </p:sp>
      <p:sp>
        <p:nvSpPr>
          <p:cNvPr id="24578" name="Rectangle 3">
            <a:extLst>
              <a:ext uri="{FF2B5EF4-FFF2-40B4-BE49-F238E27FC236}">
                <a16:creationId xmlns:a16="http://schemas.microsoft.com/office/drawing/2014/main" id="{FB49ECF8-D29D-47B1-ACEF-3FF6F95DA43B}"/>
              </a:ext>
            </a:extLst>
          </p:cNvPr>
          <p:cNvSpPr>
            <a:spLocks noGrp="1" noChangeArrowheads="1"/>
          </p:cNvSpPr>
          <p:nvPr>
            <p:ph idx="1"/>
          </p:nvPr>
        </p:nvSpPr>
        <p:spPr>
          <a:xfrm>
            <a:off x="867746" y="1057896"/>
            <a:ext cx="7819053" cy="5060516"/>
          </a:xfrm>
        </p:spPr>
        <p:txBody>
          <a:bodyPr/>
          <a:lstStyle/>
          <a:p>
            <a:pPr marL="0" marR="0" algn="r" rtl="1">
              <a:lnSpc>
                <a:spcPct val="107000"/>
              </a:lnSpc>
              <a:spcBef>
                <a:spcPts val="0"/>
              </a:spcBef>
              <a:spcAft>
                <a:spcPts val="800"/>
              </a:spcAft>
            </a:pPr>
            <a:r>
              <a:rPr lang="ar-SA" sz="1800" b="1" dirty="0">
                <a:effectLst/>
                <a:latin typeface="Calibri" panose="020F0502020204030204" pitchFamily="34" charset="0"/>
                <a:ea typeface="Times New Roman" panose="02020603050405020304" pitchFamily="18" charset="0"/>
                <a:cs typeface="B Nazanin" panose="00000400000000000000" pitchFamily="2" charset="-78"/>
              </a:rPr>
              <a:t> </a:t>
            </a:r>
            <a:r>
              <a:rPr lang="fa-IR" sz="1800" b="1" dirty="0">
                <a:effectLst/>
                <a:latin typeface="Calibri" panose="020F0502020204030204" pitchFamily="34" charset="0"/>
                <a:ea typeface="Times New Roman" panose="02020603050405020304" pitchFamily="18" charset="0"/>
                <a:cs typeface="B Nazanin" panose="00000400000000000000" pitchFamily="2" charset="-78"/>
              </a:rPr>
              <a:t>فرض </a:t>
            </a:r>
            <a:r>
              <a:rPr lang="ar-SA" sz="1800" b="1" dirty="0">
                <a:effectLst/>
                <a:latin typeface="Calibri" panose="020F0502020204030204" pitchFamily="34" charset="0"/>
                <a:ea typeface="Times New Roman" panose="02020603050405020304" pitchFamily="18" charset="0"/>
                <a:cs typeface="B Nazanin" panose="00000400000000000000" pitchFamily="2" charset="-78"/>
              </a:rPr>
              <a:t>می‌کنیم </a:t>
            </a:r>
            <a:r>
              <a:rPr lang="fa-IR" sz="1800" b="1" dirty="0">
                <a:effectLst/>
                <a:latin typeface="Calibri" panose="020F0502020204030204" pitchFamily="34" charset="0"/>
                <a:ea typeface="Times New Roman" panose="02020603050405020304" pitchFamily="18" charset="0"/>
                <a:cs typeface="B Nazanin" panose="00000400000000000000" pitchFamily="2" charset="-78"/>
              </a:rPr>
              <a:t>۵</a:t>
            </a:r>
            <a:r>
              <a:rPr lang="ar-SA" sz="1800" b="1" dirty="0">
                <a:effectLst/>
                <a:latin typeface="Calibri" panose="020F0502020204030204" pitchFamily="34" charset="0"/>
                <a:ea typeface="Times New Roman" panose="02020603050405020304" pitchFamily="18" charset="0"/>
                <a:cs typeface="B Nazanin" panose="00000400000000000000" pitchFamily="2" charset="-78"/>
              </a:rPr>
              <a:t> فیلسوف وجود دارد</a:t>
            </a:r>
            <a:endParaRPr lang="en-US" sz="1800" b="1" dirty="0">
              <a:effectLst/>
              <a:latin typeface="Calibri" panose="020F0502020204030204" pitchFamily="34" charset="0"/>
              <a:ea typeface="Times New Roman" panose="02020603050405020304" pitchFamily="18" charset="0"/>
              <a:cs typeface="B Nazanin" panose="00000400000000000000" pitchFamily="2" charset="-78"/>
            </a:endParaRPr>
          </a:p>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000" b="1" dirty="0">
                <a:effectLst/>
                <a:latin typeface="Calibri" panose="020F0502020204030204" pitchFamily="34" charset="0"/>
                <a:ea typeface="Times New Roman" panose="02020603050405020304" pitchFamily="18" charset="0"/>
                <a:cs typeface="B Nazanin" panose="00000400000000000000" pitchFamily="2" charset="-78"/>
              </a:rPr>
              <a:t>داده‌های مشترک</a:t>
            </a:r>
            <a:r>
              <a:rPr lang="en-US" sz="20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dirty="0">
                <a:effectLst/>
                <a:latin typeface="Calibri" panose="020F0502020204030204" pitchFamily="34" charset="0"/>
                <a:ea typeface="Times New Roman" panose="02020603050405020304" pitchFamily="18" charset="0"/>
                <a:cs typeface="B Nazanin" panose="00000400000000000000" pitchFamily="2" charset="-78"/>
              </a:rPr>
              <a:t>کاسه برنج (مجموعه داده)</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SzPts val="1000"/>
              <a:buFont typeface="Courier New" panose="02070309020205020404" pitchFamily="49" charset="0"/>
              <a:buChar char="o"/>
              <a:tabLst>
                <a:tab pos="914400" algn="l"/>
              </a:tabLst>
            </a:pPr>
            <a:r>
              <a:rPr lang="ar-SA" sz="2000" dirty="0">
                <a:effectLst/>
                <a:latin typeface="Calibri" panose="020F0502020204030204" pitchFamily="34" charset="0"/>
                <a:ea typeface="Times New Roman" panose="02020603050405020304" pitchFamily="18" charset="0"/>
                <a:cs typeface="B Nazanin" panose="00000400000000000000" pitchFamily="2" charset="-78"/>
              </a:rPr>
              <a:t>یک آرایه از </a:t>
            </a:r>
            <a:r>
              <a:rPr lang="fa-IR" sz="2000" dirty="0">
                <a:effectLst/>
                <a:latin typeface="Calibri" panose="020F0502020204030204" pitchFamily="34" charset="0"/>
                <a:ea typeface="Times New Roman" panose="02020603050405020304" pitchFamily="18" charset="0"/>
                <a:cs typeface="B Nazanin" panose="00000400000000000000" pitchFamily="2" charset="-78"/>
              </a:rPr>
              <a:t>۵</a:t>
            </a:r>
            <a:r>
              <a:rPr lang="ar-SA" sz="2000" dirty="0">
                <a:effectLst/>
                <a:latin typeface="Calibri" panose="020F0502020204030204" pitchFamily="34" charset="0"/>
                <a:ea typeface="Times New Roman" panose="02020603050405020304" pitchFamily="18" charset="0"/>
                <a:cs typeface="B Nazanin" panose="00000400000000000000" pitchFamily="2" charset="-78"/>
              </a:rPr>
              <a:t> سیمافور به نام</a:t>
            </a:r>
            <a:r>
              <a:rPr lang="fa-IR" sz="2000" dirty="0">
                <a:latin typeface="Calibri" panose="020F0502020204030204" pitchFamily="34" charset="0"/>
                <a:ea typeface="Times New Roman" panose="02020603050405020304" pitchFamily="18" charset="0"/>
                <a:cs typeface="B Nazanin" panose="00000400000000000000" pitchFamily="2" charset="-78"/>
              </a:rPr>
              <a:t> چنگال</a:t>
            </a:r>
            <a:r>
              <a:rPr lang="ar-SA" sz="2000" dirty="0">
                <a:effectLst/>
                <a:latin typeface="Calibri" panose="020F0502020204030204" pitchFamily="34" charset="0"/>
                <a:ea typeface="Times New Roman" panose="02020603050405020304" pitchFamily="18" charset="0"/>
                <a:cs typeface="B Nazanin" panose="00000400000000000000" pitchFamily="2" charset="-78"/>
              </a:rPr>
              <a:t> که هر کدام در ابتدا مقدار </a:t>
            </a:r>
            <a:r>
              <a:rPr lang="fa-IR" sz="2000" dirty="0">
                <a:effectLst/>
                <a:latin typeface="Calibri" panose="020F0502020204030204" pitchFamily="34" charset="0"/>
                <a:ea typeface="Times New Roman" panose="02020603050405020304" pitchFamily="18" charset="0"/>
                <a:cs typeface="B Nazanin" panose="00000400000000000000" pitchFamily="2" charset="-78"/>
              </a:rPr>
              <a:t>۱</a:t>
            </a:r>
            <a:r>
              <a:rPr lang="ar-SA" sz="2000" dirty="0">
                <a:effectLst/>
                <a:latin typeface="Calibri" panose="020F0502020204030204" pitchFamily="34" charset="0"/>
                <a:ea typeface="Times New Roman" panose="02020603050405020304" pitchFamily="18" charset="0"/>
                <a:cs typeface="B Nazanin" panose="00000400000000000000" pitchFamily="2" charset="-78"/>
              </a:rPr>
              <a:t> دارند (هر سیمافور نشان‌دهنده در دسترس بودن یک چپستیک است)</a:t>
            </a:r>
            <a:r>
              <a:rPr lang="en-US" sz="20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dirty="0">
              <a:effectLst/>
              <a:latin typeface="Calibri" panose="020F0502020204030204" pitchFamily="34" charset="0"/>
              <a:ea typeface="Calibri" panose="020F0502020204030204" pitchFamily="34" charset="0"/>
              <a:cs typeface="B Nazanin" panose="00000400000000000000" pitchFamily="2" charset="-78"/>
            </a:endParaRPr>
          </a:p>
          <a:p>
            <a:pPr marL="0" marR="0" algn="r" rtl="1">
              <a:lnSpc>
                <a:spcPct val="107000"/>
              </a:lnSpc>
              <a:spcBef>
                <a:spcPts val="0"/>
              </a:spcBef>
              <a:spcAft>
                <a:spcPts val="800"/>
              </a:spcAft>
            </a:pPr>
            <a:endParaRPr lang="en-US" sz="1600" dirty="0">
              <a:effectLst/>
              <a:latin typeface="Calibri" panose="020F0502020204030204" pitchFamily="34" charset="0"/>
              <a:ea typeface="Calibri" panose="020F0502020204030204" pitchFamily="34" charset="0"/>
              <a:cs typeface="B Nazanin" panose="00000400000000000000" pitchFamily="2" charset="-78"/>
            </a:endParaRPr>
          </a:p>
          <a:p>
            <a:pPr>
              <a:tabLst>
                <a:tab pos="1365250" algn="l"/>
                <a:tab pos="1538288" algn="l"/>
              </a:tabLst>
            </a:pPr>
            <a:endParaRPr lang="en-US" altLang="en-US" dirty="0"/>
          </a:p>
        </p:txBody>
      </p:sp>
      <p:pic>
        <p:nvPicPr>
          <p:cNvPr id="24579" name="Picture 1">
            <a:extLst>
              <a:ext uri="{FF2B5EF4-FFF2-40B4-BE49-F238E27FC236}">
                <a16:creationId xmlns:a16="http://schemas.microsoft.com/office/drawing/2014/main" id="{3372D57C-AA90-40E5-88DD-A9DB78AAFC4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2370" y="3023276"/>
            <a:ext cx="3627455" cy="3487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03773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1EE9EBAB-3EEB-4813-BC45-A296B378D76B}"/>
              </a:ext>
            </a:extLst>
          </p:cNvPr>
          <p:cNvSpPr>
            <a:spLocks noGrp="1" noChangeArrowheads="1"/>
          </p:cNvSpPr>
          <p:nvPr>
            <p:ph type="title"/>
          </p:nvPr>
        </p:nvSpPr>
        <p:spPr>
          <a:xfrm>
            <a:off x="1016000" y="222286"/>
            <a:ext cx="7670800" cy="576262"/>
          </a:xfrm>
        </p:spPr>
        <p:txBody>
          <a:bodyPr/>
          <a:lstStyle/>
          <a:p>
            <a:pPr eaLnBrk="1" hangingPunct="1"/>
            <a:r>
              <a:rPr lang="en-US" altLang="en-US" dirty="0"/>
              <a:t>Dining-Philosophers Problem</a:t>
            </a:r>
          </a:p>
        </p:txBody>
      </p:sp>
      <p:sp>
        <p:nvSpPr>
          <p:cNvPr id="24578" name="Rectangle 3">
            <a:extLst>
              <a:ext uri="{FF2B5EF4-FFF2-40B4-BE49-F238E27FC236}">
                <a16:creationId xmlns:a16="http://schemas.microsoft.com/office/drawing/2014/main" id="{FB49ECF8-D29D-47B1-ACEF-3FF6F95DA43B}"/>
              </a:ext>
            </a:extLst>
          </p:cNvPr>
          <p:cNvSpPr>
            <a:spLocks noGrp="1" noChangeArrowheads="1"/>
          </p:cNvSpPr>
          <p:nvPr>
            <p:ph idx="1"/>
          </p:nvPr>
        </p:nvSpPr>
        <p:spPr>
          <a:xfrm>
            <a:off x="867746" y="1057896"/>
            <a:ext cx="7819053" cy="5060516"/>
          </a:xfrm>
        </p:spPr>
        <p:txBody>
          <a:bodyPr/>
          <a:lstStyle/>
          <a:p>
            <a:pPr marL="342900" marR="0" lvl="0" indent="-342900" algn="r" rtl="1">
              <a:lnSpc>
                <a:spcPct val="107000"/>
              </a:lnSpc>
              <a:spcBef>
                <a:spcPts val="0"/>
              </a:spcBef>
              <a:spcAft>
                <a:spcPts val="800"/>
              </a:spcAft>
              <a:buSzPts val="1000"/>
              <a:buFont typeface="Symbol" panose="05050102010706020507" pitchFamily="18" charset="2"/>
              <a:buChar char=""/>
              <a:tabLst>
                <a:tab pos="457200" algn="l"/>
              </a:tabLst>
            </a:pPr>
            <a:r>
              <a:rPr lang="ar-SA" sz="2400" b="1" dirty="0">
                <a:effectLst/>
                <a:latin typeface="Calibri" panose="020F0502020204030204" pitchFamily="34" charset="0"/>
                <a:ea typeface="Times New Roman" panose="02020603050405020304" pitchFamily="18" charset="0"/>
                <a:cs typeface="B Nazanin" panose="00000400000000000000" pitchFamily="2" charset="-78"/>
              </a:rPr>
              <a:t>هر فیلسوف</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en-US" sz="2400" b="1" dirty="0" err="1">
                <a:effectLst/>
                <a:latin typeface="Times New Roman" panose="02020603050405020304" pitchFamily="18" charset="0"/>
                <a:ea typeface="Times New Roman" panose="02020603050405020304" pitchFamily="18" charset="0"/>
                <a:cs typeface="B Nazanin" panose="00000400000000000000" pitchFamily="2" charset="-78"/>
              </a:rPr>
              <a:t>i</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b="1" dirty="0">
                <a:effectLst/>
                <a:latin typeface="Calibri" panose="020F0502020204030204" pitchFamily="34" charset="0"/>
                <a:ea typeface="Times New Roman" panose="02020603050405020304" pitchFamily="18" charset="0"/>
                <a:cs typeface="B Nazanin" panose="00000400000000000000" pitchFamily="2" charset="-78"/>
              </a:rPr>
              <a:t>به ترتیب زیر عمل می‌کند</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endParaRPr lang="fa-IR" sz="2400" b="1" dirty="0">
              <a:effectLst/>
              <a:latin typeface="Times New Roman" panose="02020603050405020304" pitchFamily="18" charset="0"/>
              <a:ea typeface="Times New Roman" panose="02020603050405020304" pitchFamily="18" charset="0"/>
              <a:cs typeface="B Nazanin" panose="00000400000000000000" pitchFamily="2" charset="-78"/>
            </a:endParaRPr>
          </a:p>
          <a:p>
            <a:pPr marL="742950" marR="0" lvl="1" indent="-285750" algn="r" rtl="1">
              <a:lnSpc>
                <a:spcPct val="107000"/>
              </a:lnSpc>
              <a:spcBef>
                <a:spcPts val="0"/>
              </a:spcBef>
              <a:spcAft>
                <a:spcPts val="800"/>
              </a:spcAft>
              <a:buSzPts val="1000"/>
              <a:buFont typeface="Courier New" panose="02070309020205020404" pitchFamily="49" charset="0"/>
              <a:buChar char="o"/>
            </a:pPr>
            <a:r>
              <a:rPr lang="fa-IR" sz="2400" dirty="0">
                <a:effectLst/>
                <a:latin typeface="Calibri" panose="020F0502020204030204" pitchFamily="34" charset="0"/>
                <a:ea typeface="Times New Roman" panose="02020603050405020304" pitchFamily="18" charset="0"/>
                <a:cs typeface="B Nazanin" panose="00000400000000000000" pitchFamily="2" charset="-78"/>
              </a:rPr>
              <a:t>ابتدا تلاش میکند </a:t>
            </a:r>
            <a:r>
              <a:rPr lang="ar-SA" sz="2400" dirty="0">
                <a:effectLst/>
                <a:latin typeface="Calibri" panose="020F0502020204030204" pitchFamily="34" charset="0"/>
                <a:ea typeface="Times New Roman" panose="02020603050405020304" pitchFamily="18" charset="0"/>
                <a:cs typeface="B Nazanin" panose="00000400000000000000" pitchFamily="2" charset="-78"/>
              </a:rPr>
              <a:t>تا </a:t>
            </a:r>
            <a:r>
              <a:rPr lang="fa-IR" sz="2400" dirty="0">
                <a:effectLst/>
                <a:latin typeface="Calibri" panose="020F0502020204030204" pitchFamily="34" charset="0"/>
                <a:ea typeface="Times New Roman" panose="02020603050405020304" pitchFamily="18" charset="0"/>
                <a:cs typeface="B Nazanin" panose="00000400000000000000" pitchFamily="2" charset="-78"/>
              </a:rPr>
              <a:t>چنگال</a:t>
            </a:r>
            <a:r>
              <a:rPr lang="ar-SA" sz="2400" dirty="0">
                <a:effectLst/>
                <a:latin typeface="Calibri" panose="020F0502020204030204" pitchFamily="34" charset="0"/>
                <a:ea typeface="Times New Roman" panose="02020603050405020304" pitchFamily="18" charset="0"/>
                <a:cs typeface="B Nazanin" panose="00000400000000000000" pitchFamily="2" charset="-78"/>
              </a:rPr>
              <a:t> سمت چپ</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Calibri" panose="020F0502020204030204" pitchFamily="34" charset="0"/>
                <a:ea typeface="Times New Roman" panose="02020603050405020304" pitchFamily="18" charset="0"/>
                <a:cs typeface="B Nazanin" panose="00000400000000000000" pitchFamily="2" charset="-78"/>
              </a:rPr>
              <a:t>و سپس </a:t>
            </a:r>
            <a:r>
              <a:rPr lang="fa-IR" sz="2400" dirty="0">
                <a:effectLst/>
                <a:latin typeface="Calibri" panose="020F0502020204030204" pitchFamily="34" charset="0"/>
                <a:ea typeface="Times New Roman" panose="02020603050405020304" pitchFamily="18" charset="0"/>
                <a:cs typeface="B Nazanin" panose="00000400000000000000" pitchFamily="2" charset="-78"/>
              </a:rPr>
              <a:t>چنگال </a:t>
            </a:r>
            <a:r>
              <a:rPr lang="ar-SA" sz="2400" dirty="0">
                <a:effectLst/>
                <a:latin typeface="Calibri" panose="020F0502020204030204" pitchFamily="34" charset="0"/>
                <a:ea typeface="Times New Roman" panose="02020603050405020304" pitchFamily="18" charset="0"/>
                <a:cs typeface="B Nazanin" panose="00000400000000000000" pitchFamily="2" charset="-78"/>
              </a:rPr>
              <a:t>سمت راست</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Calibri" panose="020F0502020204030204" pitchFamily="34" charset="0"/>
                <a:ea typeface="Times New Roman" panose="02020603050405020304" pitchFamily="18" charset="0"/>
                <a:cs typeface="B Nazanin" panose="00000400000000000000" pitchFamily="2" charset="-78"/>
              </a:rPr>
              <a:t>را بردارد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marL="742950" marR="0" lvl="1" indent="-285750" algn="r" rtl="1">
              <a:lnSpc>
                <a:spcPct val="107000"/>
              </a:lnSpc>
              <a:spcBef>
                <a:spcPts val="0"/>
              </a:spcBef>
              <a:spcAft>
                <a:spcPts val="800"/>
              </a:spcAft>
              <a:buSzPts val="1000"/>
              <a:buFont typeface="Courier New" panose="02070309020205020404" pitchFamily="49" charset="0"/>
              <a:buChar char="o"/>
            </a:pPr>
            <a:r>
              <a:rPr lang="ar-SA" sz="2400" dirty="0">
                <a:effectLst/>
                <a:latin typeface="Calibri" panose="020F0502020204030204" pitchFamily="34" charset="0"/>
                <a:ea typeface="Times New Roman" panose="02020603050405020304" pitchFamily="18" charset="0"/>
                <a:cs typeface="B Nazanin" panose="00000400000000000000" pitchFamily="2" charset="-78"/>
              </a:rPr>
              <a:t>فیلسوف غذا می‌خورد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altLang="en-US" sz="1600" b="1" dirty="0">
                <a:solidFill>
                  <a:srgbClr val="000000"/>
                </a:solidFill>
                <a:latin typeface="Courier New" panose="02070309020205020404" pitchFamily="49" charset="0"/>
                <a:cs typeface="B Nazanin" panose="00000400000000000000" pitchFamily="2" charset="-78"/>
              </a:rPr>
              <a:t>	</a:t>
            </a:r>
          </a:p>
          <a:p>
            <a:pPr marL="742950" marR="0" lvl="1" indent="-285750" algn="r" rtl="1">
              <a:lnSpc>
                <a:spcPct val="107000"/>
              </a:lnSpc>
              <a:spcBef>
                <a:spcPts val="0"/>
              </a:spcBef>
              <a:spcAft>
                <a:spcPts val="800"/>
              </a:spcAft>
              <a:buSzPts val="1000"/>
              <a:buFont typeface="Courier New" panose="02070309020205020404" pitchFamily="49" charset="0"/>
              <a:buChar char="o"/>
            </a:pPr>
            <a:r>
              <a:rPr lang="fa-IR" sz="2400" dirty="0">
                <a:effectLst/>
                <a:latin typeface="Calibri" panose="020F0502020204030204" pitchFamily="34" charset="0"/>
                <a:ea typeface="Times New Roman" panose="02020603050405020304" pitchFamily="18" charset="0"/>
                <a:cs typeface="B Nazanin" panose="00000400000000000000" pitchFamily="2" charset="-78"/>
              </a:rPr>
              <a:t>سپس </a:t>
            </a:r>
            <a:r>
              <a:rPr lang="ar-SA" sz="2400" dirty="0">
                <a:effectLst/>
                <a:latin typeface="Calibri" panose="020F0502020204030204" pitchFamily="34" charset="0"/>
                <a:ea typeface="Times New Roman" panose="02020603050405020304" pitchFamily="18" charset="0"/>
                <a:cs typeface="B Nazanin" panose="00000400000000000000" pitchFamily="2" charset="-78"/>
              </a:rPr>
              <a:t>چپستیک‌ها را روی میز قرار می‌دهد تا فیلسوفان دیگر بتوانند از آن‌ها استفاده کنند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p:txBody>
      </p:sp>
      <p:pic>
        <p:nvPicPr>
          <p:cNvPr id="2" name="Picture 1">
            <a:extLst>
              <a:ext uri="{FF2B5EF4-FFF2-40B4-BE49-F238E27FC236}">
                <a16:creationId xmlns:a16="http://schemas.microsoft.com/office/drawing/2014/main" id="{B4AB56B6-6022-076D-DE71-EE7037C90B8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3419" y="3760577"/>
            <a:ext cx="2722586" cy="2617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 name="Group 13">
            <a:extLst>
              <a:ext uri="{FF2B5EF4-FFF2-40B4-BE49-F238E27FC236}">
                <a16:creationId xmlns:a16="http://schemas.microsoft.com/office/drawing/2014/main" id="{A951A2BE-BCEB-3474-9DD7-DE65F8447C65}"/>
              </a:ext>
            </a:extLst>
          </p:cNvPr>
          <p:cNvGrpSpPr/>
          <p:nvPr/>
        </p:nvGrpSpPr>
        <p:grpSpPr>
          <a:xfrm>
            <a:off x="2845741" y="4290531"/>
            <a:ext cx="129600" cy="398160"/>
            <a:chOff x="2845741" y="4290531"/>
            <a:chExt cx="129600" cy="398160"/>
          </a:xfrm>
        </p:grpSpPr>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2A563B2D-CA2E-CE98-B4BD-F032DCBBA047}"/>
                    </a:ext>
                  </a:extLst>
                </p14:cNvPr>
                <p14:cNvContentPartPr/>
                <p14:nvPr/>
              </p14:nvContentPartPr>
              <p14:xfrm>
                <a:off x="2850781" y="4290531"/>
                <a:ext cx="124560" cy="367920"/>
              </p14:xfrm>
            </p:contentPart>
          </mc:Choice>
          <mc:Fallback xmlns="">
            <p:pic>
              <p:nvPicPr>
                <p:cNvPr id="12" name="Ink 11">
                  <a:extLst>
                    <a:ext uri="{FF2B5EF4-FFF2-40B4-BE49-F238E27FC236}">
                      <a16:creationId xmlns:a16="http://schemas.microsoft.com/office/drawing/2014/main" id="{2A563B2D-CA2E-CE98-B4BD-F032DCBBA047}"/>
                    </a:ext>
                  </a:extLst>
                </p:cNvPr>
                <p:cNvPicPr/>
                <p:nvPr/>
              </p:nvPicPr>
              <p:blipFill>
                <a:blip r:embed="rId5"/>
                <a:stretch>
                  <a:fillRect/>
                </a:stretch>
              </p:blipFill>
              <p:spPr>
                <a:xfrm>
                  <a:off x="2844661" y="4284411"/>
                  <a:ext cx="13680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1A7FE813-512B-2041-6561-17780E73B8F4}"/>
                    </a:ext>
                  </a:extLst>
                </p14:cNvPr>
                <p14:cNvContentPartPr/>
                <p14:nvPr/>
              </p14:nvContentPartPr>
              <p14:xfrm>
                <a:off x="2845741" y="4592211"/>
                <a:ext cx="61560" cy="96480"/>
              </p14:xfrm>
            </p:contentPart>
          </mc:Choice>
          <mc:Fallback xmlns="">
            <p:pic>
              <p:nvPicPr>
                <p:cNvPr id="13" name="Ink 12">
                  <a:extLst>
                    <a:ext uri="{FF2B5EF4-FFF2-40B4-BE49-F238E27FC236}">
                      <a16:creationId xmlns:a16="http://schemas.microsoft.com/office/drawing/2014/main" id="{1A7FE813-512B-2041-6561-17780E73B8F4}"/>
                    </a:ext>
                  </a:extLst>
                </p:cNvPr>
                <p:cNvPicPr/>
                <p:nvPr/>
              </p:nvPicPr>
              <p:blipFill>
                <a:blip r:embed="rId7"/>
                <a:stretch>
                  <a:fillRect/>
                </a:stretch>
              </p:blipFill>
              <p:spPr>
                <a:xfrm>
                  <a:off x="2839621" y="4586091"/>
                  <a:ext cx="73800" cy="108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358AC4DF-8236-2458-9812-743339582580}"/>
                  </a:ext>
                </a:extLst>
              </p14:cNvPr>
              <p14:cNvContentPartPr/>
              <p14:nvPr/>
            </p14:nvContentPartPr>
            <p14:xfrm>
              <a:off x="3070021" y="4258131"/>
              <a:ext cx="114120" cy="183960"/>
            </p14:xfrm>
          </p:contentPart>
        </mc:Choice>
        <mc:Fallback xmlns="">
          <p:pic>
            <p:nvPicPr>
              <p:cNvPr id="15" name="Ink 14">
                <a:extLst>
                  <a:ext uri="{FF2B5EF4-FFF2-40B4-BE49-F238E27FC236}">
                    <a16:creationId xmlns:a16="http://schemas.microsoft.com/office/drawing/2014/main" id="{358AC4DF-8236-2458-9812-743339582580}"/>
                  </a:ext>
                </a:extLst>
              </p:cNvPr>
              <p:cNvPicPr/>
              <p:nvPr/>
            </p:nvPicPr>
            <p:blipFill>
              <a:blip r:embed="rId9"/>
              <a:stretch>
                <a:fillRect/>
              </a:stretch>
            </p:blipFill>
            <p:spPr>
              <a:xfrm>
                <a:off x="3063901" y="4252011"/>
                <a:ext cx="126360" cy="196200"/>
              </a:xfrm>
              <a:prstGeom prst="rect">
                <a:avLst/>
              </a:prstGeom>
            </p:spPr>
          </p:pic>
        </mc:Fallback>
      </mc:AlternateContent>
      <p:grpSp>
        <p:nvGrpSpPr>
          <p:cNvPr id="18" name="Group 17">
            <a:extLst>
              <a:ext uri="{FF2B5EF4-FFF2-40B4-BE49-F238E27FC236}">
                <a16:creationId xmlns:a16="http://schemas.microsoft.com/office/drawing/2014/main" id="{EF597E02-90F3-A01B-C8D2-54676EBD3739}"/>
              </a:ext>
            </a:extLst>
          </p:cNvPr>
          <p:cNvGrpSpPr/>
          <p:nvPr/>
        </p:nvGrpSpPr>
        <p:grpSpPr>
          <a:xfrm>
            <a:off x="1958701" y="3677451"/>
            <a:ext cx="332640" cy="446400"/>
            <a:chOff x="1958701" y="3677451"/>
            <a:chExt cx="332640" cy="446400"/>
          </a:xfrm>
        </p:grpSpPr>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DDC39363-AF6E-32FF-52B6-C66F39E58522}"/>
                    </a:ext>
                  </a:extLst>
                </p14:cNvPr>
                <p14:cNvContentPartPr/>
                <p14:nvPr/>
              </p14:nvContentPartPr>
              <p14:xfrm>
                <a:off x="1958701" y="3917571"/>
                <a:ext cx="332640" cy="206280"/>
              </p14:xfrm>
            </p:contentPart>
          </mc:Choice>
          <mc:Fallback xmlns="">
            <p:pic>
              <p:nvPicPr>
                <p:cNvPr id="16" name="Ink 15">
                  <a:extLst>
                    <a:ext uri="{FF2B5EF4-FFF2-40B4-BE49-F238E27FC236}">
                      <a16:creationId xmlns:a16="http://schemas.microsoft.com/office/drawing/2014/main" id="{DDC39363-AF6E-32FF-52B6-C66F39E58522}"/>
                    </a:ext>
                  </a:extLst>
                </p:cNvPr>
                <p:cNvPicPr/>
                <p:nvPr/>
              </p:nvPicPr>
              <p:blipFill>
                <a:blip r:embed="rId11"/>
                <a:stretch>
                  <a:fillRect/>
                </a:stretch>
              </p:blipFill>
              <p:spPr>
                <a:xfrm>
                  <a:off x="1952581" y="3911451"/>
                  <a:ext cx="34488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5C4CF65D-46F3-6165-755C-E9BCD2117547}"/>
                    </a:ext>
                  </a:extLst>
                </p14:cNvPr>
                <p14:cNvContentPartPr/>
                <p14:nvPr/>
              </p14:nvContentPartPr>
              <p14:xfrm>
                <a:off x="1999381" y="3677451"/>
                <a:ext cx="129960" cy="203400"/>
              </p14:xfrm>
            </p:contentPart>
          </mc:Choice>
          <mc:Fallback xmlns="">
            <p:pic>
              <p:nvPicPr>
                <p:cNvPr id="17" name="Ink 16">
                  <a:extLst>
                    <a:ext uri="{FF2B5EF4-FFF2-40B4-BE49-F238E27FC236}">
                      <a16:creationId xmlns:a16="http://schemas.microsoft.com/office/drawing/2014/main" id="{5C4CF65D-46F3-6165-755C-E9BCD2117547}"/>
                    </a:ext>
                  </a:extLst>
                </p:cNvPr>
                <p:cNvPicPr/>
                <p:nvPr/>
              </p:nvPicPr>
              <p:blipFill>
                <a:blip r:embed="rId13"/>
                <a:stretch>
                  <a:fillRect/>
                </a:stretch>
              </p:blipFill>
              <p:spPr>
                <a:xfrm>
                  <a:off x="1993261" y="3671331"/>
                  <a:ext cx="142200" cy="215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87C56C9F-1682-E4E5-4E18-4329BC34CE0C}"/>
                  </a:ext>
                </a:extLst>
              </p14:cNvPr>
              <p14:cNvContentPartPr/>
              <p14:nvPr/>
            </p14:nvContentPartPr>
            <p14:xfrm>
              <a:off x="-1246379" y="2391171"/>
              <a:ext cx="360" cy="360"/>
            </p14:xfrm>
          </p:contentPart>
        </mc:Choice>
        <mc:Fallback xmlns="">
          <p:pic>
            <p:nvPicPr>
              <p:cNvPr id="19" name="Ink 18">
                <a:extLst>
                  <a:ext uri="{FF2B5EF4-FFF2-40B4-BE49-F238E27FC236}">
                    <a16:creationId xmlns:a16="http://schemas.microsoft.com/office/drawing/2014/main" id="{87C56C9F-1682-E4E5-4E18-4329BC34CE0C}"/>
                  </a:ext>
                </a:extLst>
              </p:cNvPr>
              <p:cNvPicPr/>
              <p:nvPr/>
            </p:nvPicPr>
            <p:blipFill>
              <a:blip r:embed="rId15"/>
              <a:stretch>
                <a:fillRect/>
              </a:stretch>
            </p:blipFill>
            <p:spPr>
              <a:xfrm>
                <a:off x="-1252499" y="2385051"/>
                <a:ext cx="12600" cy="12600"/>
              </a:xfrm>
              <a:prstGeom prst="rect">
                <a:avLst/>
              </a:prstGeom>
            </p:spPr>
          </p:pic>
        </mc:Fallback>
      </mc:AlternateContent>
    </p:spTree>
    <p:extLst>
      <p:ext uri="{BB962C8B-B14F-4D97-AF65-F5344CB8AC3E}">
        <p14:creationId xmlns:p14="http://schemas.microsoft.com/office/powerpoint/2010/main" val="250126736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8B6BD45A-1C98-4906-8ECF-377709FEAE43}"/>
              </a:ext>
            </a:extLst>
          </p:cNvPr>
          <p:cNvSpPr>
            <a:spLocks noGrp="1" noChangeArrowheads="1"/>
          </p:cNvSpPr>
          <p:nvPr>
            <p:ph type="title"/>
          </p:nvPr>
        </p:nvSpPr>
        <p:spPr>
          <a:xfrm>
            <a:off x="1102994" y="180175"/>
            <a:ext cx="7866063" cy="576263"/>
          </a:xfrm>
        </p:spPr>
        <p:txBody>
          <a:bodyPr/>
          <a:lstStyle/>
          <a:p>
            <a:pPr eaLnBrk="1" hangingPunct="1"/>
            <a:r>
              <a:rPr lang="en-US" altLang="en-US" sz="3000" dirty="0"/>
              <a:t>  Dining-Philosophers Problem Algorithm</a:t>
            </a:r>
          </a:p>
        </p:txBody>
      </p:sp>
      <p:sp>
        <p:nvSpPr>
          <p:cNvPr id="26626" name="Rectangle 3">
            <a:extLst>
              <a:ext uri="{FF2B5EF4-FFF2-40B4-BE49-F238E27FC236}">
                <a16:creationId xmlns:a16="http://schemas.microsoft.com/office/drawing/2014/main" id="{07043318-65A3-4679-85CB-4872EC4E8555}"/>
              </a:ext>
            </a:extLst>
          </p:cNvPr>
          <p:cNvSpPr>
            <a:spLocks noGrp="1" noChangeArrowheads="1"/>
          </p:cNvSpPr>
          <p:nvPr>
            <p:ph idx="1"/>
          </p:nvPr>
        </p:nvSpPr>
        <p:spPr>
          <a:xfrm>
            <a:off x="827088" y="1119188"/>
            <a:ext cx="7107237" cy="4784725"/>
          </a:xfrm>
        </p:spPr>
        <p:txBody>
          <a:bodyPr/>
          <a:lstStyle/>
          <a:p>
            <a:pPr marL="376238" indent="-376238">
              <a:lnSpc>
                <a:spcPct val="90000"/>
              </a:lnSpc>
              <a:tabLst>
                <a:tab pos="1709738" algn="l"/>
                <a:tab pos="2001838" algn="l"/>
                <a:tab pos="2227263" algn="l"/>
                <a:tab pos="2454275" algn="l"/>
              </a:tabLst>
            </a:pPr>
            <a:r>
              <a:rPr lang="fa-IR" altLang="en-US" sz="2000" b="1" dirty="0">
                <a:cs typeface="B Nazanin" panose="00000400000000000000" pitchFamily="2" charset="-78"/>
              </a:rPr>
              <a:t>با استفاده از راه‌کار سمافور</a:t>
            </a:r>
            <a:endParaRPr lang="en-US" altLang="en-US" sz="2000" dirty="0">
              <a:cs typeface="B Nazanin" panose="00000400000000000000" pitchFamily="2" charset="-78"/>
            </a:endParaRPr>
          </a:p>
          <a:p>
            <a:pPr marL="376238" indent="-376238">
              <a:lnSpc>
                <a:spcPct val="90000"/>
              </a:lnSpc>
              <a:tabLst>
                <a:tab pos="1709738" algn="l"/>
                <a:tab pos="2001838" algn="l"/>
                <a:tab pos="2227263" algn="l"/>
                <a:tab pos="2454275" algn="l"/>
              </a:tabLst>
            </a:pPr>
            <a:r>
              <a:rPr lang="fa-IR" altLang="en-US" sz="2000" dirty="0">
                <a:solidFill>
                  <a:srgbClr val="006699"/>
                </a:solidFill>
                <a:latin typeface="+mj-lt"/>
                <a:cs typeface="B Nazanin" panose="00000400000000000000" pitchFamily="2" charset="-78"/>
              </a:rPr>
              <a:t> ساختار یک فیلسوف</a:t>
            </a:r>
            <a:r>
              <a:rPr lang="en-US" altLang="en-US" sz="2000" dirty="0" err="1">
                <a:solidFill>
                  <a:srgbClr val="006699"/>
                </a:solidFill>
                <a:latin typeface="+mj-lt"/>
                <a:cs typeface="B Nazanin" panose="00000400000000000000" pitchFamily="2" charset="-78"/>
              </a:rPr>
              <a:t>i</a:t>
            </a:r>
            <a:r>
              <a:rPr lang="en-US" altLang="en-US" sz="2000" b="1" i="1" dirty="0">
                <a:solidFill>
                  <a:srgbClr val="006699"/>
                </a:solidFill>
                <a:latin typeface="+mj-lt"/>
                <a:cs typeface="B Nazanin" panose="00000400000000000000" pitchFamily="2" charset="-78"/>
              </a:rPr>
              <a:t> </a:t>
            </a:r>
            <a:r>
              <a:rPr lang="en-US" altLang="en-US" sz="2000" dirty="0">
                <a:cs typeface="B Nazanin" panose="00000400000000000000" pitchFamily="2" charset="-78"/>
              </a:rPr>
              <a:t>:</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dirty="0">
                <a:solidFill>
                  <a:srgbClr val="000000"/>
                </a:solidFill>
                <a:latin typeface="Consolas" panose="020B0609020204030204" pitchFamily="49" charset="0"/>
                <a:cs typeface="B Nazanin" panose="00000400000000000000" pitchFamily="2" charset="-78"/>
              </a:rPr>
              <a:t>while (true){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dirty="0">
                <a:solidFill>
                  <a:srgbClr val="000000"/>
                </a:solidFill>
                <a:latin typeface="Consolas" panose="020B0609020204030204" pitchFamily="49" charset="0"/>
                <a:cs typeface="B Nazanin" panose="00000400000000000000" pitchFamily="2" charset="-78"/>
              </a:rPr>
              <a:t>    </a:t>
            </a:r>
            <a:r>
              <a:rPr lang="en-US" altLang="en-US" b="1" dirty="0">
                <a:solidFill>
                  <a:srgbClr val="00B050"/>
                </a:solidFill>
                <a:latin typeface="Consolas" panose="020B0609020204030204" pitchFamily="49" charset="0"/>
                <a:cs typeface="B Nazanin" panose="00000400000000000000" pitchFamily="2" charset="-78"/>
              </a:rPr>
              <a:t>wait</a:t>
            </a:r>
            <a:r>
              <a:rPr lang="en-US" altLang="en-US" dirty="0">
                <a:solidFill>
                  <a:srgbClr val="000000"/>
                </a:solidFill>
                <a:latin typeface="Consolas" panose="020B0609020204030204" pitchFamily="49" charset="0"/>
                <a:cs typeface="B Nazanin" panose="00000400000000000000" pitchFamily="2" charset="-78"/>
              </a:rPr>
              <a:t> (</a:t>
            </a:r>
            <a:r>
              <a:rPr lang="en-US" altLang="en-US" b="1" dirty="0">
                <a:solidFill>
                  <a:schemeClr val="accent6">
                    <a:lumMod val="50000"/>
                  </a:schemeClr>
                </a:solidFill>
                <a:latin typeface="Consolas" panose="020B0609020204030204" pitchFamily="49" charset="0"/>
                <a:cs typeface="B Nazanin" panose="00000400000000000000" pitchFamily="2" charset="-78"/>
              </a:rPr>
              <a:t>chopstick[i] </a:t>
            </a:r>
            <a:r>
              <a:rPr lang="en-US" altLang="en-US" dirty="0">
                <a:solidFill>
                  <a:srgbClr val="000000"/>
                </a:solidFill>
                <a:latin typeface="Consolas" panose="020B0609020204030204" pitchFamily="49" charset="0"/>
                <a:cs typeface="B Nazanin" panose="00000400000000000000" pitchFamily="2" charset="-78"/>
              </a:rPr>
              <a:t>);</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dirty="0">
                <a:solidFill>
                  <a:srgbClr val="000000"/>
                </a:solidFill>
                <a:latin typeface="Consolas" panose="020B0609020204030204" pitchFamily="49" charset="0"/>
                <a:cs typeface="B Nazanin" panose="00000400000000000000" pitchFamily="2" charset="-78"/>
              </a:rPr>
              <a:t>	 </a:t>
            </a:r>
            <a:r>
              <a:rPr lang="en-US" altLang="en-US" b="1" dirty="0">
                <a:solidFill>
                  <a:srgbClr val="00B050"/>
                </a:solidFill>
                <a:latin typeface="Consolas" panose="020B0609020204030204" pitchFamily="49" charset="0"/>
                <a:cs typeface="B Nazanin" panose="00000400000000000000" pitchFamily="2" charset="-78"/>
              </a:rPr>
              <a:t>wait</a:t>
            </a:r>
            <a:r>
              <a:rPr lang="en-US" altLang="en-US" dirty="0">
                <a:solidFill>
                  <a:srgbClr val="000000"/>
                </a:solidFill>
                <a:latin typeface="Consolas" panose="020B0609020204030204" pitchFamily="49" charset="0"/>
                <a:cs typeface="B Nazanin" panose="00000400000000000000" pitchFamily="2" charset="-78"/>
              </a:rPr>
              <a:t> (</a:t>
            </a:r>
            <a:r>
              <a:rPr lang="en-US" altLang="en-US" b="1" dirty="0" err="1">
                <a:solidFill>
                  <a:schemeClr val="accent6">
                    <a:lumMod val="50000"/>
                  </a:schemeClr>
                </a:solidFill>
                <a:latin typeface="Consolas" panose="020B0609020204030204" pitchFamily="49" charset="0"/>
                <a:cs typeface="B Nazanin" panose="00000400000000000000" pitchFamily="2" charset="-78"/>
              </a:rPr>
              <a:t>chopStick</a:t>
            </a:r>
            <a:r>
              <a:rPr lang="en-US" altLang="en-US" b="1" dirty="0">
                <a:solidFill>
                  <a:schemeClr val="accent6">
                    <a:lumMod val="50000"/>
                  </a:schemeClr>
                </a:solidFill>
                <a:latin typeface="Consolas" panose="020B0609020204030204" pitchFamily="49" charset="0"/>
                <a:cs typeface="B Nazanin" panose="00000400000000000000" pitchFamily="2" charset="-78"/>
              </a:rPr>
              <a:t>[ (i + 1) % 5</a:t>
            </a:r>
            <a:r>
              <a:rPr lang="en-US" altLang="en-US" dirty="0">
                <a:solidFill>
                  <a:srgbClr val="000000"/>
                </a:solidFill>
                <a:latin typeface="Consolas" panose="020B0609020204030204" pitchFamily="49" charset="0"/>
                <a:cs typeface="B Nazanin" panose="00000400000000000000" pitchFamily="2" charset="-78"/>
              </a:rPr>
              <a:t>]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dirty="0">
                <a:solidFill>
                  <a:srgbClr val="000000"/>
                </a:solidFill>
                <a:latin typeface="Consolas" panose="020B0609020204030204" pitchFamily="49" charset="0"/>
                <a:cs typeface="B Nazanin" panose="00000400000000000000" pitchFamily="2" charset="-78"/>
              </a:rPr>
              <a:t>	  /* </a:t>
            </a:r>
            <a:r>
              <a:rPr lang="fa-IR" altLang="en-US" dirty="0">
                <a:solidFill>
                  <a:srgbClr val="000000"/>
                </a:solidFill>
                <a:latin typeface="Consolas" panose="020B0609020204030204" pitchFamily="49" charset="0"/>
                <a:cs typeface="B Nazanin" panose="00000400000000000000" pitchFamily="2" charset="-78"/>
              </a:rPr>
              <a:t>برای مدتی غذا بخور</a:t>
            </a:r>
            <a:r>
              <a:rPr lang="en-US" altLang="en-US" dirty="0">
                <a:solidFill>
                  <a:srgbClr val="000000"/>
                </a:solidFill>
                <a:latin typeface="Consolas" panose="020B0609020204030204" pitchFamily="49" charset="0"/>
                <a:cs typeface="B Nazanin" panose="00000400000000000000" pitchFamily="2" charset="-78"/>
              </a:rPr>
              <a:t> */</a:t>
            </a:r>
          </a:p>
          <a:p>
            <a:pPr marL="1195388" lvl="2" indent="-338138">
              <a:lnSpc>
                <a:spcPct val="90000"/>
              </a:lnSpc>
              <a:buFont typeface="Webdings" panose="05030102010509060703" pitchFamily="18" charset="2"/>
              <a:buNone/>
              <a:tabLst>
                <a:tab pos="1709738" algn="l"/>
                <a:tab pos="2001838" algn="l"/>
                <a:tab pos="2227263" algn="l"/>
                <a:tab pos="2454275" algn="l"/>
              </a:tabLst>
            </a:pPr>
            <a:endParaRPr lang="en-US" altLang="en-US" dirty="0">
              <a:solidFill>
                <a:srgbClr val="000000"/>
              </a:solidFill>
              <a:latin typeface="Consolas" panose="020B0609020204030204" pitchFamily="49" charset="0"/>
              <a:cs typeface="B Nazanin" panose="00000400000000000000" pitchFamily="2" charset="-78"/>
            </a:endParaRP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dirty="0">
                <a:solidFill>
                  <a:srgbClr val="000000"/>
                </a:solidFill>
                <a:latin typeface="Consolas" panose="020B0609020204030204" pitchFamily="49" charset="0"/>
                <a:cs typeface="B Nazanin" panose="00000400000000000000" pitchFamily="2" charset="-78"/>
              </a:rPr>
              <a:t>	 </a:t>
            </a:r>
            <a:r>
              <a:rPr lang="en-US" altLang="en-US" dirty="0">
                <a:solidFill>
                  <a:srgbClr val="FF0000"/>
                </a:solidFill>
                <a:latin typeface="Consolas" panose="020B0609020204030204" pitchFamily="49" charset="0"/>
                <a:cs typeface="B Nazanin" panose="00000400000000000000" pitchFamily="2" charset="-78"/>
              </a:rPr>
              <a:t>signal</a:t>
            </a:r>
            <a:r>
              <a:rPr lang="en-US" altLang="en-US" dirty="0">
                <a:solidFill>
                  <a:srgbClr val="000000"/>
                </a:solidFill>
                <a:latin typeface="Consolas" panose="020B0609020204030204" pitchFamily="49" charset="0"/>
                <a:cs typeface="B Nazanin" panose="00000400000000000000" pitchFamily="2" charset="-78"/>
              </a:rPr>
              <a:t> (</a:t>
            </a:r>
            <a:r>
              <a:rPr lang="en-US" altLang="en-US" b="1" dirty="0">
                <a:solidFill>
                  <a:schemeClr val="accent6">
                    <a:lumMod val="50000"/>
                  </a:schemeClr>
                </a:solidFill>
                <a:latin typeface="Consolas" panose="020B0609020204030204" pitchFamily="49" charset="0"/>
                <a:cs typeface="B Nazanin" panose="00000400000000000000" pitchFamily="2" charset="-78"/>
              </a:rPr>
              <a:t>chopstick[i]</a:t>
            </a:r>
            <a:r>
              <a:rPr lang="en-US" altLang="en-US" dirty="0">
                <a:solidFill>
                  <a:srgbClr val="000000"/>
                </a:solidFill>
                <a:latin typeface="Consolas" panose="020B0609020204030204" pitchFamily="49" charset="0"/>
                <a:cs typeface="B Nazanin" panose="00000400000000000000" pitchFamily="2" charset="-78"/>
              </a:rPr>
              <a:t>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dirty="0">
                <a:solidFill>
                  <a:srgbClr val="000000"/>
                </a:solidFill>
                <a:latin typeface="Consolas" panose="020B0609020204030204" pitchFamily="49" charset="0"/>
                <a:cs typeface="B Nazanin" panose="00000400000000000000" pitchFamily="2" charset="-78"/>
              </a:rPr>
              <a:t>	 </a:t>
            </a:r>
            <a:r>
              <a:rPr lang="en-US" altLang="en-US" dirty="0">
                <a:solidFill>
                  <a:srgbClr val="FF0000"/>
                </a:solidFill>
                <a:latin typeface="Consolas" panose="020B0609020204030204" pitchFamily="49" charset="0"/>
                <a:cs typeface="B Nazanin" panose="00000400000000000000" pitchFamily="2" charset="-78"/>
              </a:rPr>
              <a:t>signal</a:t>
            </a:r>
            <a:r>
              <a:rPr lang="en-US" altLang="en-US" dirty="0">
                <a:solidFill>
                  <a:srgbClr val="000000"/>
                </a:solidFill>
                <a:latin typeface="Consolas" panose="020B0609020204030204" pitchFamily="49" charset="0"/>
                <a:cs typeface="B Nazanin" panose="00000400000000000000" pitchFamily="2" charset="-78"/>
              </a:rPr>
              <a:t> (</a:t>
            </a:r>
            <a:r>
              <a:rPr lang="en-US" altLang="en-US" b="1" dirty="0">
                <a:solidFill>
                  <a:schemeClr val="accent6">
                    <a:lumMod val="50000"/>
                  </a:schemeClr>
                </a:solidFill>
                <a:latin typeface="Consolas" panose="020B0609020204030204" pitchFamily="49" charset="0"/>
                <a:cs typeface="B Nazanin" panose="00000400000000000000" pitchFamily="2" charset="-78"/>
              </a:rPr>
              <a:t>chopstick[ (i + 1) % 5]</a:t>
            </a:r>
            <a:r>
              <a:rPr lang="en-US" altLang="en-US" dirty="0">
                <a:solidFill>
                  <a:srgbClr val="000000"/>
                </a:solidFill>
                <a:latin typeface="Consolas" panose="020B0609020204030204" pitchFamily="49" charset="0"/>
                <a:cs typeface="B Nazanin" panose="00000400000000000000" pitchFamily="2" charset="-78"/>
              </a:rPr>
              <a:t> )</a:t>
            </a: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dirty="0">
                <a:solidFill>
                  <a:srgbClr val="000000"/>
                </a:solidFill>
                <a:latin typeface="Consolas" panose="020B0609020204030204" pitchFamily="49" charset="0"/>
                <a:cs typeface="B Nazanin" panose="00000400000000000000" pitchFamily="2" charset="-78"/>
              </a:rPr>
              <a:t>	  /* </a:t>
            </a:r>
            <a:r>
              <a:rPr lang="fa-IR" altLang="en-US" dirty="0">
                <a:solidFill>
                  <a:srgbClr val="000000"/>
                </a:solidFill>
                <a:latin typeface="Consolas" panose="020B0609020204030204" pitchFamily="49" charset="0"/>
                <a:cs typeface="B Nazanin" panose="00000400000000000000" pitchFamily="2" charset="-78"/>
              </a:rPr>
              <a:t>برای مدتی فکر کن</a:t>
            </a:r>
            <a:r>
              <a:rPr lang="en-US" altLang="en-US" dirty="0">
                <a:solidFill>
                  <a:srgbClr val="000000"/>
                </a:solidFill>
                <a:latin typeface="Consolas" panose="020B0609020204030204" pitchFamily="49" charset="0"/>
                <a:cs typeface="B Nazanin" panose="00000400000000000000" pitchFamily="2" charset="-78"/>
              </a:rPr>
              <a:t>*/</a:t>
            </a:r>
            <a:endParaRPr lang="en-US" altLang="en-US" sz="2000" dirty="0">
              <a:solidFill>
                <a:srgbClr val="000000"/>
              </a:solidFill>
              <a:latin typeface="Consolas" panose="020B0609020204030204" pitchFamily="49" charset="0"/>
              <a:cs typeface="B Nazanin" panose="00000400000000000000" pitchFamily="2" charset="-78"/>
            </a:endParaRPr>
          </a:p>
          <a:p>
            <a:pPr marL="1195388" lvl="2" indent="-338138">
              <a:lnSpc>
                <a:spcPct val="90000"/>
              </a:lnSpc>
              <a:buFont typeface="Webdings" panose="05030102010509060703" pitchFamily="18" charset="2"/>
              <a:buNone/>
              <a:tabLst>
                <a:tab pos="1709738" algn="l"/>
                <a:tab pos="2001838" algn="l"/>
                <a:tab pos="2227263" algn="l"/>
                <a:tab pos="2454275" algn="l"/>
              </a:tabLst>
            </a:pPr>
            <a:r>
              <a:rPr lang="en-US" altLang="en-US" dirty="0">
                <a:solidFill>
                  <a:srgbClr val="000000"/>
                </a:solidFill>
                <a:latin typeface="Consolas" panose="020B0609020204030204" pitchFamily="49" charset="0"/>
                <a:cs typeface="B Nazanin" panose="00000400000000000000" pitchFamily="2" charset="-78"/>
              </a:rPr>
              <a:t>}</a:t>
            </a:r>
            <a:endParaRPr lang="en-US" altLang="en-US" dirty="0">
              <a:solidFill>
                <a:srgbClr val="0000FF"/>
              </a:solidFill>
              <a:latin typeface="Consolas" panose="020B0609020204030204" pitchFamily="49" charset="0"/>
              <a:cs typeface="B Nazanin" panose="00000400000000000000" pitchFamily="2" charset="-78"/>
            </a:endParaRPr>
          </a:p>
          <a:p>
            <a:pPr marL="0" marR="0" algn="r" rtl="1">
              <a:lnSpc>
                <a:spcPct val="115000"/>
              </a:lnSpc>
              <a:spcAft>
                <a:spcPts val="800"/>
              </a:spcAft>
            </a:pPr>
            <a:r>
              <a:rPr lang="en-US" altLang="en-US" sz="2000" dirty="0">
                <a:cs typeface="B Nazanin" panose="00000400000000000000" pitchFamily="2" charset="-78"/>
              </a:rPr>
              <a:t>  </a:t>
            </a:r>
            <a:r>
              <a:rPr lang="fa-IR" sz="1800" b="1" kern="100" dirty="0">
                <a:effectLst/>
                <a:latin typeface="Segoe UI Emoji" panose="020B0502040204020203" pitchFamily="34" charset="0"/>
                <a:ea typeface="Aptos" panose="020B0004020202020204" pitchFamily="34" charset="0"/>
                <a:cs typeface="B Nazanin" panose="00000400000000000000" pitchFamily="2" charset="-78"/>
              </a:rPr>
              <a:t>این الگوریتم چه مشکلی دارد؟</a:t>
            </a:r>
            <a:endParaRPr lang="en-US" sz="1800" kern="100" dirty="0">
              <a:effectLst/>
              <a:latin typeface="Aptos" panose="020B0004020202020204" pitchFamily="34" charset="0"/>
              <a:ea typeface="Aptos" panose="020B0004020202020204" pitchFamily="34" charset="0"/>
              <a:cs typeface="B Nazanin" panose="00000400000000000000" pitchFamily="2" charset="-78"/>
            </a:endParaRPr>
          </a:p>
          <a:p>
            <a:pPr marL="1195388" lvl="2" indent="-338138">
              <a:lnSpc>
                <a:spcPct val="90000"/>
              </a:lnSpc>
              <a:buFont typeface="Webdings" panose="05030102010509060703" pitchFamily="18" charset="2"/>
              <a:buNone/>
              <a:tabLst>
                <a:tab pos="1709738" algn="l"/>
                <a:tab pos="2001838" algn="l"/>
                <a:tab pos="2227263" algn="l"/>
                <a:tab pos="2454275" algn="l"/>
              </a:tabLst>
            </a:pPr>
            <a:endParaRPr lang="en-US" altLang="en-US" sz="2000" dirty="0">
              <a:solidFill>
                <a:srgbClr val="0000FF"/>
              </a:solidFill>
              <a:cs typeface="B Nazanin" panose="00000400000000000000" pitchFamily="2" charset="-78"/>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016B3AFC-34FB-4DEC-AD70-73C1C59CEF71}"/>
              </a:ext>
            </a:extLst>
          </p:cNvPr>
          <p:cNvSpPr>
            <a:spLocks noGrp="1" noChangeArrowheads="1"/>
          </p:cNvSpPr>
          <p:nvPr>
            <p:ph type="title"/>
          </p:nvPr>
        </p:nvSpPr>
        <p:spPr>
          <a:xfrm>
            <a:off x="895031" y="121770"/>
            <a:ext cx="8077200" cy="609600"/>
          </a:xfrm>
        </p:spPr>
        <p:txBody>
          <a:bodyPr/>
          <a:lstStyle/>
          <a:p>
            <a:pPr eaLnBrk="1" hangingPunct="1"/>
            <a:r>
              <a:rPr lang="en-US" altLang="en-US" sz="2800" dirty="0"/>
              <a:t>Monitor Solution to Dining Philosophers</a:t>
            </a:r>
          </a:p>
        </p:txBody>
      </p:sp>
      <p:sp>
        <p:nvSpPr>
          <p:cNvPr id="28674" name="Rectangle 3">
            <a:extLst>
              <a:ext uri="{FF2B5EF4-FFF2-40B4-BE49-F238E27FC236}">
                <a16:creationId xmlns:a16="http://schemas.microsoft.com/office/drawing/2014/main" id="{64B402AA-11CB-48F7-9FE8-27917163029C}"/>
              </a:ext>
            </a:extLst>
          </p:cNvPr>
          <p:cNvSpPr>
            <a:spLocks noGrp="1" noChangeArrowheads="1"/>
          </p:cNvSpPr>
          <p:nvPr>
            <p:ph idx="1"/>
          </p:nvPr>
        </p:nvSpPr>
        <p:spPr>
          <a:xfrm>
            <a:off x="532563" y="871333"/>
            <a:ext cx="8439668" cy="5667118"/>
          </a:xfrm>
        </p:spPr>
        <p:txBody>
          <a:bodyPr/>
          <a:lstStyle/>
          <a:p>
            <a:pPr>
              <a:lnSpc>
                <a:spcPct val="80000"/>
              </a:lnSpc>
              <a:buFont typeface="Monotype Sorts" pitchFamily="-84" charset="2"/>
              <a:buNone/>
            </a:pPr>
            <a:r>
              <a:rPr lang="en-US" altLang="en-US" sz="1400" b="1" dirty="0">
                <a:solidFill>
                  <a:srgbClr val="FF0000"/>
                </a:solidFill>
                <a:latin typeface="Consolas" panose="020B0609020204030204" pitchFamily="49" charset="0"/>
              </a:rPr>
              <a:t>monitor</a:t>
            </a: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DiningPhilosophers</a:t>
            </a:r>
            <a:endParaRPr lang="en-US" altLang="en-US" sz="1400" dirty="0">
              <a:solidFill>
                <a:srgbClr val="000000"/>
              </a:solidFill>
              <a:latin typeface="Consolas" panose="020B0609020204030204" pitchFamily="49" charset="0"/>
            </a:endParaRPr>
          </a:p>
          <a:p>
            <a:pPr>
              <a:lnSpc>
                <a:spcPct val="80000"/>
              </a:lnSpc>
              <a:buFont typeface="Monotype Sorts" pitchFamily="-84" charset="2"/>
              <a:buNone/>
            </a:pP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enum</a:t>
            </a:r>
            <a:r>
              <a:rPr lang="en-US" altLang="en-US" sz="1400" dirty="0">
                <a:solidFill>
                  <a:srgbClr val="000000"/>
                </a:solidFill>
                <a:latin typeface="Consolas" panose="020B0609020204030204" pitchFamily="49" charset="0"/>
              </a:rPr>
              <a:t> {</a:t>
            </a:r>
            <a:r>
              <a:rPr lang="en-US" altLang="en-US" sz="1400" b="1" dirty="0">
                <a:solidFill>
                  <a:srgbClr val="000000"/>
                </a:solidFill>
                <a:latin typeface="Consolas" panose="020B0609020204030204" pitchFamily="49" charset="0"/>
              </a:rPr>
              <a:t>THINKING; HUNGRY, EATING</a:t>
            </a:r>
            <a:r>
              <a:rPr lang="en-US" altLang="en-US" sz="1400" dirty="0">
                <a:solidFill>
                  <a:srgbClr val="000000"/>
                </a:solidFill>
                <a:latin typeface="Consolas" panose="020B0609020204030204" pitchFamily="49" charset="0"/>
              </a:rPr>
              <a:t>} </a:t>
            </a:r>
            <a:r>
              <a:rPr lang="en-US" altLang="en-US" sz="1400" b="1" dirty="0">
                <a:solidFill>
                  <a:srgbClr val="00B050"/>
                </a:solidFill>
                <a:latin typeface="Consolas" panose="020B0609020204030204" pitchFamily="49" charset="0"/>
              </a:rPr>
              <a:t>state</a:t>
            </a:r>
            <a:r>
              <a:rPr lang="en-US" altLang="en-US" sz="1400" dirty="0">
                <a:solidFill>
                  <a:srgbClr val="000000"/>
                </a:solidFill>
                <a:latin typeface="Consolas" panose="020B0609020204030204" pitchFamily="49" charset="0"/>
              </a:rPr>
              <a:t> [5];</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a:t>
            </a:r>
            <a:r>
              <a:rPr lang="en-US" altLang="en-US" sz="1400" b="1" dirty="0">
                <a:solidFill>
                  <a:srgbClr val="000000"/>
                </a:solidFill>
                <a:latin typeface="Consolas" panose="020B0609020204030204" pitchFamily="49" charset="0"/>
              </a:rPr>
              <a:t>condition</a:t>
            </a:r>
            <a:r>
              <a:rPr lang="en-US" altLang="en-US" sz="1400" dirty="0">
                <a:solidFill>
                  <a:srgbClr val="000000"/>
                </a:solidFill>
                <a:latin typeface="Consolas" panose="020B0609020204030204" pitchFamily="49" charset="0"/>
              </a:rPr>
              <a:t> self [5];</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void </a:t>
            </a:r>
            <a:r>
              <a:rPr lang="en-US" altLang="en-US" sz="1400" b="1" dirty="0">
                <a:solidFill>
                  <a:srgbClr val="00B0F0"/>
                </a:solidFill>
                <a:latin typeface="Consolas" panose="020B0609020204030204" pitchFamily="49" charset="0"/>
              </a:rPr>
              <a:t>pickup</a:t>
            </a:r>
            <a:r>
              <a:rPr lang="en-US" altLang="en-US" sz="1400" dirty="0">
                <a:solidFill>
                  <a:srgbClr val="000000"/>
                </a:solidFill>
                <a:latin typeface="Consolas" panose="020B0609020204030204" pitchFamily="49" charset="0"/>
              </a:rPr>
              <a:t> (int </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a:t>
            </a:r>
            <a:r>
              <a:rPr lang="en-US" altLang="en-US" sz="1400" b="1" dirty="0">
                <a:solidFill>
                  <a:srgbClr val="00B050"/>
                </a:solidFill>
                <a:latin typeface="Consolas" panose="020B0609020204030204" pitchFamily="49" charset="0"/>
              </a:rPr>
              <a:t>state</a:t>
            </a:r>
            <a:r>
              <a:rPr lang="en-US" altLang="en-US" sz="1400" dirty="0">
                <a:solidFill>
                  <a:srgbClr val="000000"/>
                </a:solidFill>
                <a:latin typeface="Consolas" panose="020B0609020204030204" pitchFamily="49" charset="0"/>
              </a:rPr>
              <a: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a:t>
            </a:r>
            <a:r>
              <a:rPr lang="en-US" altLang="en-US" sz="1400" b="1" dirty="0">
                <a:solidFill>
                  <a:srgbClr val="000000"/>
                </a:solidFill>
                <a:latin typeface="Consolas" panose="020B0609020204030204" pitchFamily="49" charset="0"/>
              </a:rPr>
              <a:t>HUNGRY</a:t>
            </a:r>
            <a:r>
              <a:rPr lang="en-US" altLang="en-US" sz="1400" dirty="0">
                <a:solidFill>
                  <a:srgbClr val="000000"/>
                </a:solidFill>
                <a:latin typeface="Consolas" panose="020B0609020204030204" pitchFamily="49" charset="0"/>
              </a:rPr>
              <a:t>;</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test(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if (</a:t>
            </a:r>
            <a:r>
              <a:rPr lang="en-US" altLang="en-US" sz="1400" b="1" dirty="0">
                <a:solidFill>
                  <a:srgbClr val="00B050"/>
                </a:solidFill>
                <a:latin typeface="Consolas" panose="020B0609020204030204" pitchFamily="49" charset="0"/>
              </a:rPr>
              <a:t>state</a:t>
            </a:r>
            <a:r>
              <a:rPr lang="en-US" altLang="en-US" sz="1400" dirty="0">
                <a:solidFill>
                  <a:srgbClr val="000000"/>
                </a:solidFill>
                <a:latin typeface="Consolas" panose="020B0609020204030204" pitchFamily="49" charset="0"/>
              </a:rPr>
              <a: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a:t>
            </a:r>
            <a:r>
              <a:rPr lang="en-US" altLang="en-US" sz="1400" b="1" dirty="0">
                <a:solidFill>
                  <a:srgbClr val="000000"/>
                </a:solidFill>
                <a:latin typeface="Consolas" panose="020B0609020204030204" pitchFamily="49" charset="0"/>
              </a:rPr>
              <a:t>EATING</a:t>
            </a:r>
            <a:r>
              <a:rPr lang="en-US" altLang="en-US" sz="1400" dirty="0">
                <a:solidFill>
                  <a:srgbClr val="000000"/>
                </a:solidFill>
                <a:latin typeface="Consolas" panose="020B0609020204030204" pitchFamily="49" charset="0"/>
              </a:rPr>
              <a:t>) </a:t>
            </a:r>
            <a:r>
              <a:rPr lang="en-US" altLang="en-US" sz="1400" b="1" dirty="0">
                <a:solidFill>
                  <a:srgbClr val="000000"/>
                </a:solidFill>
                <a:latin typeface="Consolas" panose="020B0609020204030204" pitchFamily="49" charset="0"/>
              </a:rPr>
              <a:t>self</a:t>
            </a:r>
            <a:r>
              <a:rPr lang="en-US" altLang="en-US" sz="1400" dirty="0">
                <a:solidFill>
                  <a:srgbClr val="000000"/>
                </a:solidFill>
                <a:latin typeface="Consolas" panose="020B0609020204030204" pitchFamily="49" charset="0"/>
              </a:rPr>
              <a: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a:t>
            </a:r>
            <a:r>
              <a:rPr lang="en-US" altLang="en-US" sz="1400" b="1" dirty="0">
                <a:solidFill>
                  <a:srgbClr val="FF0000"/>
                </a:solidFill>
                <a:latin typeface="Consolas" panose="020B0609020204030204" pitchFamily="49" charset="0"/>
              </a:rPr>
              <a:t>wait</a:t>
            </a:r>
            <a:r>
              <a:rPr lang="en-US" altLang="en-US" sz="1400" dirty="0">
                <a:solidFill>
                  <a:srgbClr val="000000"/>
                </a:solidFill>
                <a:latin typeface="Consolas" panose="020B0609020204030204" pitchFamily="49" charset="0"/>
              </a:rPr>
              <a:t>;</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void </a:t>
            </a:r>
            <a:r>
              <a:rPr lang="en-US" altLang="en-US" sz="1400" b="1" dirty="0">
                <a:solidFill>
                  <a:srgbClr val="00B0F0"/>
                </a:solidFill>
                <a:latin typeface="Consolas" panose="020B0609020204030204" pitchFamily="49" charset="0"/>
              </a:rPr>
              <a:t>putdown</a:t>
            </a:r>
            <a:r>
              <a:rPr lang="en-US" altLang="en-US" sz="1400" dirty="0">
                <a:solidFill>
                  <a:srgbClr val="000000"/>
                </a:solidFill>
                <a:latin typeface="Consolas" panose="020B0609020204030204" pitchFamily="49" charset="0"/>
              </a:rPr>
              <a:t> (int </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a:t>
            </a:r>
            <a:r>
              <a:rPr lang="en-US" altLang="en-US" sz="1400" b="1" dirty="0">
                <a:solidFill>
                  <a:srgbClr val="00B050"/>
                </a:solidFill>
                <a:latin typeface="Consolas" panose="020B0609020204030204" pitchFamily="49" charset="0"/>
              </a:rPr>
              <a:t>state</a:t>
            </a:r>
            <a:r>
              <a:rPr lang="en-US" altLang="en-US" sz="1400" dirty="0">
                <a:solidFill>
                  <a:srgbClr val="000000"/>
                </a:solidFill>
                <a:latin typeface="Consolas" panose="020B0609020204030204" pitchFamily="49" charset="0"/>
              </a:rPr>
              <a: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a:t>
            </a:r>
            <a:r>
              <a:rPr lang="en-US" altLang="en-US" sz="1400" b="1" dirty="0">
                <a:solidFill>
                  <a:srgbClr val="000000"/>
                </a:solidFill>
                <a:latin typeface="Consolas" panose="020B0609020204030204" pitchFamily="49" charset="0"/>
              </a:rPr>
              <a:t>THINKING</a:t>
            </a:r>
            <a:r>
              <a:rPr lang="en-US" altLang="en-US" sz="1400" dirty="0">
                <a:solidFill>
                  <a:srgbClr val="000000"/>
                </a:solidFill>
                <a:latin typeface="Consolas" panose="020B0609020204030204" pitchFamily="49" charset="0"/>
              </a:rPr>
              <a:t>;</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 </a:t>
            </a:r>
            <a:r>
              <a:rPr lang="en-US" altLang="en-US" sz="1400" dirty="0">
                <a:solidFill>
                  <a:srgbClr val="000000"/>
                </a:solidFill>
                <a:highlight>
                  <a:srgbClr val="FFFF00"/>
                </a:highlight>
                <a:latin typeface="Consolas" panose="020B0609020204030204" pitchFamily="49" charset="0"/>
              </a:rPr>
              <a:t>test left and right neighbors</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test((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+ 4) % 5);</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test((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+ 1) % 5); }</a:t>
            </a:r>
          </a:p>
          <a:p>
            <a:pPr lvl="1">
              <a:lnSpc>
                <a:spcPct val="80000"/>
              </a:lnSpc>
              <a:buNone/>
            </a:pPr>
            <a:r>
              <a:rPr lang="en-US" altLang="en-US" sz="1400" dirty="0">
                <a:solidFill>
                  <a:srgbClr val="000000"/>
                </a:solidFill>
                <a:latin typeface="Consolas" panose="020B0609020204030204" pitchFamily="49" charset="0"/>
              </a:rPr>
              <a:t>void </a:t>
            </a:r>
            <a:r>
              <a:rPr lang="en-US" altLang="en-US" sz="1400" b="1" dirty="0">
                <a:solidFill>
                  <a:srgbClr val="000000"/>
                </a:solidFill>
                <a:latin typeface="Consolas" panose="020B0609020204030204" pitchFamily="49" charset="0"/>
              </a:rPr>
              <a:t>test</a:t>
            </a:r>
            <a:r>
              <a:rPr lang="en-US" altLang="en-US" sz="1400" dirty="0">
                <a:solidFill>
                  <a:srgbClr val="000000"/>
                </a:solidFill>
                <a:latin typeface="Consolas" panose="020B0609020204030204" pitchFamily="49" charset="0"/>
              </a:rPr>
              <a:t> (int </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a:t>
            </a:r>
          </a:p>
          <a:p>
            <a:pPr lvl="1">
              <a:lnSpc>
                <a:spcPct val="80000"/>
              </a:lnSpc>
              <a:buNone/>
            </a:pPr>
            <a:r>
              <a:rPr lang="en-US" altLang="en-US" sz="1400" dirty="0">
                <a:solidFill>
                  <a:srgbClr val="000000"/>
                </a:solidFill>
                <a:latin typeface="Consolas" panose="020B0609020204030204" pitchFamily="49" charset="0"/>
              </a:rPr>
              <a:t>   if ((</a:t>
            </a:r>
            <a:r>
              <a:rPr lang="en-US" altLang="en-US" sz="1400" b="1" dirty="0">
                <a:solidFill>
                  <a:srgbClr val="00B050"/>
                </a:solidFill>
                <a:latin typeface="Consolas" panose="020B0609020204030204" pitchFamily="49" charset="0"/>
              </a:rPr>
              <a:t>state</a:t>
            </a:r>
            <a:r>
              <a:rPr lang="en-US" altLang="en-US" sz="1400" dirty="0">
                <a:solidFill>
                  <a:srgbClr val="000000"/>
                </a:solidFill>
                <a:latin typeface="Consolas" panose="020B0609020204030204" pitchFamily="49" charset="0"/>
              </a:rPr>
              <a: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+ 4) % 5] != </a:t>
            </a:r>
            <a:r>
              <a:rPr lang="en-US" altLang="en-US" sz="1400" b="1" dirty="0">
                <a:solidFill>
                  <a:srgbClr val="00B0F0"/>
                </a:solidFill>
                <a:latin typeface="Consolas" panose="020B0609020204030204" pitchFamily="49" charset="0"/>
              </a:rPr>
              <a:t>EATING</a:t>
            </a:r>
            <a:r>
              <a:rPr lang="en-US" altLang="en-US" sz="1400" dirty="0">
                <a:solidFill>
                  <a:srgbClr val="000000"/>
                </a:solidFill>
                <a:latin typeface="Consolas" panose="020B0609020204030204" pitchFamily="49" charset="0"/>
              </a:rPr>
              <a:t>) &amp;&amp;</a:t>
            </a:r>
            <a:endParaRPr lang="fa-IR" altLang="en-US" sz="1400" dirty="0">
              <a:solidFill>
                <a:srgbClr val="000000"/>
              </a:solidFill>
              <a:latin typeface="Consolas" panose="020B0609020204030204" pitchFamily="49" charset="0"/>
            </a:endParaRPr>
          </a:p>
          <a:p>
            <a:pPr lvl="1">
              <a:lnSpc>
                <a:spcPct val="80000"/>
              </a:lnSpc>
              <a:buNone/>
            </a:pPr>
            <a:r>
              <a:rPr lang="fa-IR" altLang="en-US" sz="1400" dirty="0">
                <a:solidFill>
                  <a:srgbClr val="000000"/>
                </a:solidFill>
                <a:latin typeface="Consolas" panose="020B0609020204030204" pitchFamily="49" charset="0"/>
              </a:rPr>
              <a:t>			</a:t>
            </a:r>
            <a:r>
              <a:rPr lang="en-US" altLang="en-US" sz="1400" dirty="0">
                <a:solidFill>
                  <a:srgbClr val="000000"/>
                </a:solidFill>
                <a:latin typeface="Consolas" panose="020B0609020204030204" pitchFamily="49" charset="0"/>
              </a:rPr>
              <a:t> (</a:t>
            </a:r>
            <a:r>
              <a:rPr lang="en-US" altLang="en-US" sz="1400" b="1" dirty="0">
                <a:solidFill>
                  <a:srgbClr val="00B050"/>
                </a:solidFill>
                <a:latin typeface="Consolas" panose="020B0609020204030204" pitchFamily="49" charset="0"/>
              </a:rPr>
              <a:t>state</a:t>
            </a:r>
            <a:r>
              <a:rPr lang="en-US" altLang="en-US" sz="1400" dirty="0">
                <a:solidFill>
                  <a:srgbClr val="000000"/>
                </a:solidFill>
                <a:latin typeface="Consolas" panose="020B0609020204030204" pitchFamily="49" charset="0"/>
              </a:rPr>
              <a: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a:t>
            </a:r>
            <a:r>
              <a:rPr lang="en-US" altLang="en-US" sz="1400" b="1" dirty="0">
                <a:solidFill>
                  <a:srgbClr val="00B0F0"/>
                </a:solidFill>
                <a:latin typeface="Consolas" panose="020B0609020204030204" pitchFamily="49" charset="0"/>
              </a:rPr>
              <a:t>HUNGRY</a:t>
            </a:r>
            <a:r>
              <a:rPr lang="en-US" altLang="en-US" sz="1400" dirty="0">
                <a:solidFill>
                  <a:srgbClr val="000000"/>
                </a:solidFill>
                <a:latin typeface="Consolas" panose="020B0609020204030204" pitchFamily="49" charset="0"/>
              </a:rPr>
              <a:t>) &amp;&amp; (</a:t>
            </a:r>
            <a:r>
              <a:rPr lang="en-US" altLang="en-US" sz="1400" b="1" dirty="0">
                <a:solidFill>
                  <a:srgbClr val="00B050"/>
                </a:solidFill>
                <a:latin typeface="Consolas" panose="020B0609020204030204" pitchFamily="49" charset="0"/>
              </a:rPr>
              <a:t>state</a:t>
            </a:r>
            <a:r>
              <a:rPr lang="en-US" altLang="en-US" sz="1400" dirty="0">
                <a:solidFill>
                  <a:srgbClr val="000000"/>
                </a:solidFill>
                <a:latin typeface="Consolas" panose="020B0609020204030204" pitchFamily="49" charset="0"/>
              </a:rPr>
              <a: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+ 1) % 5] != </a:t>
            </a:r>
            <a:r>
              <a:rPr lang="en-US" altLang="en-US" sz="1400" b="1" dirty="0">
                <a:solidFill>
                  <a:srgbClr val="00B0F0"/>
                </a:solidFill>
                <a:latin typeface="Consolas" panose="020B0609020204030204" pitchFamily="49" charset="0"/>
              </a:rPr>
              <a:t>EATING</a:t>
            </a:r>
            <a:r>
              <a:rPr lang="en-US" altLang="en-US" sz="1400" dirty="0">
                <a:solidFill>
                  <a:srgbClr val="000000"/>
                </a:solidFill>
                <a:latin typeface="Consolas" panose="020B0609020204030204" pitchFamily="49" charset="0"/>
              </a:rPr>
              <a:t>) ) {</a:t>
            </a:r>
          </a:p>
          <a:p>
            <a:pPr lvl="1">
              <a:lnSpc>
                <a:spcPct val="80000"/>
              </a:lnSpc>
              <a:buNone/>
            </a:pPr>
            <a:r>
              <a:rPr lang="en-US" altLang="en-US" sz="1400" b="1" dirty="0">
                <a:solidFill>
                  <a:srgbClr val="000000"/>
                </a:solidFill>
                <a:latin typeface="Consolas" panose="020B0609020204030204" pitchFamily="49" charset="0"/>
              </a:rPr>
              <a:t>		</a:t>
            </a:r>
            <a:r>
              <a:rPr lang="fa-IR" altLang="en-US" sz="1400" b="1" dirty="0">
                <a:solidFill>
                  <a:srgbClr val="000000"/>
                </a:solidFill>
                <a:latin typeface="Consolas" panose="020B0609020204030204" pitchFamily="49" charset="0"/>
              </a:rPr>
              <a:t>      </a:t>
            </a:r>
            <a:r>
              <a:rPr lang="en-US" altLang="en-US" sz="1400" b="1" dirty="0">
                <a:solidFill>
                  <a:srgbClr val="00B050"/>
                </a:solidFill>
                <a:latin typeface="Consolas" panose="020B0609020204030204" pitchFamily="49" charset="0"/>
              </a:rPr>
              <a:t>state</a:t>
            </a:r>
            <a:r>
              <a:rPr lang="en-US" altLang="en-US" sz="1400" dirty="0">
                <a:solidFill>
                  <a:srgbClr val="000000"/>
                </a:solidFill>
                <a:latin typeface="Consolas" panose="020B0609020204030204" pitchFamily="49" charset="0"/>
              </a:rPr>
              <a: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a:t>
            </a:r>
            <a:r>
              <a:rPr lang="en-US" altLang="en-US" sz="1400" b="1" dirty="0">
                <a:solidFill>
                  <a:srgbClr val="000000"/>
                </a:solidFill>
                <a:latin typeface="Consolas" panose="020B0609020204030204" pitchFamily="49" charset="0"/>
              </a:rPr>
              <a:t>EATING</a:t>
            </a:r>
            <a:r>
              <a:rPr lang="en-US" altLang="en-US" sz="1400" dirty="0">
                <a:solidFill>
                  <a:srgbClr val="000000"/>
                </a:solidFill>
                <a:latin typeface="Consolas" panose="020B0609020204030204" pitchFamily="49" charset="0"/>
              </a:rPr>
              <a:t> ;</a:t>
            </a:r>
          </a:p>
          <a:p>
            <a:pPr lvl="1">
              <a:lnSpc>
                <a:spcPct val="80000"/>
              </a:lnSpc>
              <a:buNone/>
            </a:pPr>
            <a:r>
              <a:rPr lang="en-US" altLang="en-US" sz="1400" dirty="0">
                <a:solidFill>
                  <a:srgbClr val="000000"/>
                </a:solidFill>
                <a:latin typeface="Consolas" panose="020B0609020204030204" pitchFamily="49" charset="0"/>
              </a:rPr>
              <a:t>		  </a:t>
            </a:r>
            <a:r>
              <a:rPr lang="fa-IR" altLang="en-US" sz="1400" dirty="0">
                <a:solidFill>
                  <a:srgbClr val="000000"/>
                </a:solidFill>
                <a:latin typeface="Consolas" panose="020B0609020204030204" pitchFamily="49" charset="0"/>
              </a:rPr>
              <a:t> </a:t>
            </a:r>
            <a:r>
              <a:rPr lang="en-US" altLang="en-US" sz="1400" dirty="0">
                <a:solidFill>
                  <a:srgbClr val="000000"/>
                </a:solidFill>
                <a:latin typeface="Consolas" panose="020B0609020204030204" pitchFamily="49" charset="0"/>
              </a:rPr>
              <a:t> </a:t>
            </a:r>
            <a:r>
              <a:rPr lang="en-US" altLang="en-US" sz="1400" b="1" dirty="0">
                <a:solidFill>
                  <a:srgbClr val="00B050"/>
                </a:solidFill>
                <a:latin typeface="Consolas" panose="020B0609020204030204" pitchFamily="49" charset="0"/>
              </a:rPr>
              <a:t>self</a:t>
            </a:r>
            <a:r>
              <a:rPr lang="en-US" altLang="en-US" sz="1400" dirty="0">
                <a:solidFill>
                  <a:srgbClr val="000000"/>
                </a:solidFill>
                <a:latin typeface="Consolas" panose="020B0609020204030204" pitchFamily="49" charset="0"/>
              </a:rPr>
              <a: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a:t>
            </a:r>
            <a:r>
              <a:rPr lang="en-US" altLang="en-US" sz="1400" b="1" dirty="0">
                <a:solidFill>
                  <a:srgbClr val="00B0F0"/>
                </a:solidFill>
                <a:latin typeface="Consolas" panose="020B0609020204030204" pitchFamily="49" charset="0"/>
              </a:rPr>
              <a:t>signal</a:t>
            </a:r>
            <a:r>
              <a:rPr lang="en-US" altLang="en-US" sz="1400" dirty="0">
                <a:solidFill>
                  <a:srgbClr val="000000"/>
                </a:solidFill>
                <a:latin typeface="Consolas" panose="020B0609020204030204" pitchFamily="49" charset="0"/>
              </a:rPr>
              <a:t> () ;</a:t>
            </a:r>
          </a:p>
          <a:p>
            <a:pPr lvl="1">
              <a:lnSpc>
                <a:spcPct val="80000"/>
              </a:lnSpc>
              <a:buNone/>
            </a:pPr>
            <a:r>
              <a:rPr lang="en-US" altLang="en-US" sz="1400" dirty="0">
                <a:solidFill>
                  <a:srgbClr val="000000"/>
                </a:solidFill>
                <a:latin typeface="Consolas" panose="020B0609020204030204" pitchFamily="49" charset="0"/>
              </a:rPr>
              <a:t>	 }</a:t>
            </a:r>
          </a:p>
          <a:p>
            <a:pPr lvl="1">
              <a:lnSpc>
                <a:spcPct val="80000"/>
              </a:lnSpc>
              <a:buNone/>
            </a:pPr>
            <a:r>
              <a:rPr lang="en-US" altLang="en-US" sz="1400" dirty="0">
                <a:solidFill>
                  <a:srgbClr val="000000"/>
                </a:solidFill>
                <a:latin typeface="Consolas" panose="020B0609020204030204" pitchFamily="49" charset="0"/>
              </a:rPr>
              <a:t>}</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a:t>
            </a:r>
            <a:r>
              <a:rPr lang="en-US" altLang="en-US" sz="1400" b="1" dirty="0" err="1">
                <a:solidFill>
                  <a:srgbClr val="000000"/>
                </a:solidFill>
                <a:latin typeface="Consolas" panose="020B0609020204030204" pitchFamily="49" charset="0"/>
              </a:rPr>
              <a:t>initialization_code</a:t>
            </a:r>
            <a:r>
              <a:rPr lang="en-US" altLang="en-US" sz="1400" dirty="0">
                <a:solidFill>
                  <a:srgbClr val="000000"/>
                </a:solidFill>
                <a:latin typeface="Consolas" panose="020B0609020204030204" pitchFamily="49" charset="0"/>
              </a:rPr>
              <a:t>() {</a:t>
            </a:r>
            <a:endParaRPr lang="fa-IR" altLang="en-US" sz="1400" dirty="0">
              <a:solidFill>
                <a:srgbClr val="000000"/>
              </a:solidFill>
              <a:latin typeface="Consolas" panose="020B0609020204030204" pitchFamily="49" charset="0"/>
            </a:endParaRPr>
          </a:p>
          <a:p>
            <a:pPr>
              <a:lnSpc>
                <a:spcPct val="80000"/>
              </a:lnSpc>
              <a:buFont typeface="Monotype Sorts" pitchFamily="-84" charset="2"/>
              <a:buNone/>
            </a:pPr>
            <a:r>
              <a:rPr lang="fa-IR" altLang="en-US" sz="1400" b="1" dirty="0">
                <a:solidFill>
                  <a:srgbClr val="000000"/>
                </a:solidFill>
                <a:latin typeface="Consolas" panose="020B0609020204030204" pitchFamily="49" charset="0"/>
              </a:rPr>
              <a:t>		</a:t>
            </a:r>
            <a:r>
              <a:rPr lang="en-US" altLang="en-US" sz="1400" b="1" dirty="0">
                <a:solidFill>
                  <a:srgbClr val="000000"/>
                </a:solidFill>
                <a:latin typeface="Consolas" panose="020B0609020204030204" pitchFamily="49" charset="0"/>
              </a:rPr>
              <a:t>for</a:t>
            </a:r>
            <a:r>
              <a:rPr lang="en-US" altLang="en-US" sz="1400" dirty="0">
                <a:solidFill>
                  <a:srgbClr val="000000"/>
                </a:solidFill>
                <a:latin typeface="Consolas" panose="020B0609020204030204" pitchFamily="49" charset="0"/>
              </a:rPr>
              <a:t> (int </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0; </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&lt; </a:t>
            </a:r>
            <a:r>
              <a:rPr lang="en-US" altLang="en-US" sz="1400" b="1" dirty="0">
                <a:solidFill>
                  <a:srgbClr val="000000"/>
                </a:solidFill>
                <a:latin typeface="Consolas" panose="020B0609020204030204" pitchFamily="49" charset="0"/>
              </a:rPr>
              <a:t>5</a:t>
            </a:r>
            <a:r>
              <a:rPr lang="en-US" altLang="en-US" sz="1400" dirty="0">
                <a:solidFill>
                  <a:srgbClr val="000000"/>
                </a:solidFill>
                <a:latin typeface="Consolas" panose="020B0609020204030204" pitchFamily="49" charset="0"/>
              </a:rPr>
              <a:t>; </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	       </a:t>
            </a:r>
            <a:r>
              <a:rPr lang="en-US" altLang="en-US" sz="1400" b="1" dirty="0">
                <a:solidFill>
                  <a:srgbClr val="00B050"/>
                </a:solidFill>
                <a:latin typeface="Consolas" panose="020B0609020204030204" pitchFamily="49" charset="0"/>
              </a:rPr>
              <a:t>state</a:t>
            </a:r>
            <a:r>
              <a:rPr lang="en-US" altLang="en-US" sz="1400" dirty="0">
                <a:solidFill>
                  <a:srgbClr val="000000"/>
                </a:solidFill>
                <a:latin typeface="Consolas" panose="020B0609020204030204" pitchFamily="49" charset="0"/>
              </a:rPr>
              <a:t>[</a:t>
            </a:r>
            <a:r>
              <a:rPr lang="en-US" altLang="en-US" sz="1400" dirty="0" err="1">
                <a:solidFill>
                  <a:srgbClr val="000000"/>
                </a:solidFill>
                <a:latin typeface="Consolas" panose="020B0609020204030204" pitchFamily="49" charset="0"/>
              </a:rPr>
              <a:t>i</a:t>
            </a:r>
            <a:r>
              <a:rPr lang="en-US" altLang="en-US" sz="1400" dirty="0">
                <a:solidFill>
                  <a:srgbClr val="000000"/>
                </a:solidFill>
                <a:latin typeface="Consolas" panose="020B0609020204030204" pitchFamily="49" charset="0"/>
              </a:rPr>
              <a:t>] = </a:t>
            </a:r>
            <a:r>
              <a:rPr lang="en-US" altLang="en-US" sz="1400" b="1" dirty="0">
                <a:solidFill>
                  <a:srgbClr val="000000"/>
                </a:solidFill>
                <a:latin typeface="Consolas" panose="020B0609020204030204" pitchFamily="49" charset="0"/>
              </a:rPr>
              <a:t>THINKING</a:t>
            </a:r>
            <a:r>
              <a:rPr lang="en-US" altLang="en-US" sz="1400" dirty="0">
                <a:solidFill>
                  <a:srgbClr val="000000"/>
                </a:solidFill>
                <a:latin typeface="Consolas" panose="020B0609020204030204" pitchFamily="49" charset="0"/>
              </a:rPr>
              <a:t>;} </a:t>
            </a:r>
          </a:p>
          <a:p>
            <a:pPr>
              <a:lnSpc>
                <a:spcPct val="80000"/>
              </a:lnSpc>
              <a:buFont typeface="Monotype Sorts" pitchFamily="-84" charset="2"/>
              <a:buNone/>
            </a:pPr>
            <a:r>
              <a:rPr lang="en-US" altLang="en-US" sz="1400" dirty="0">
                <a:solidFill>
                  <a:srgbClr val="000000"/>
                </a:solidFill>
                <a:latin typeface="Consolas" panose="020B0609020204030204" pitchFamily="49" charset="0"/>
              </a:rPr>
              <a:t>}</a:t>
            </a:r>
          </a:p>
          <a:p>
            <a:pPr lvl="1">
              <a:lnSpc>
                <a:spcPct val="80000"/>
              </a:lnSpc>
              <a:buNone/>
            </a:pPr>
            <a:endParaRPr lang="en-US" altLang="en-US" sz="1400" dirty="0">
              <a:solidFill>
                <a:srgbClr val="000000"/>
              </a:solidFill>
              <a:latin typeface="Consolas" panose="020B0609020204030204" pitchFamily="49" charset="0"/>
            </a:endParaRPr>
          </a:p>
          <a:p>
            <a:pPr>
              <a:lnSpc>
                <a:spcPct val="80000"/>
              </a:lnSpc>
              <a:buFont typeface="Monotype Sorts" pitchFamily="-84" charset="2"/>
              <a:buNone/>
            </a:pPr>
            <a:endParaRPr lang="en-US" altLang="en-US" sz="1400" dirty="0">
              <a:solidFill>
                <a:srgbClr val="000000"/>
              </a:solidFill>
              <a:latin typeface="Consolas" panose="020B0609020204030204" pitchFamily="49" charset="0"/>
            </a:endParaRPr>
          </a:p>
          <a:p>
            <a:pPr>
              <a:lnSpc>
                <a:spcPct val="80000"/>
              </a:lnSpc>
              <a:buFont typeface="Monotype Sorts" pitchFamily="-84" charset="2"/>
              <a:buNone/>
            </a:pPr>
            <a:r>
              <a:rPr lang="en-US" altLang="en-US" sz="1400" dirty="0">
                <a:solidFill>
                  <a:srgbClr val="0000FF"/>
                </a:solidFill>
                <a:latin typeface="Consolas" panose="020B0609020204030204" pitchFamily="49" charset="0"/>
              </a:rPr>
              <a:t>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a:extLst>
              <a:ext uri="{FF2B5EF4-FFF2-40B4-BE49-F238E27FC236}">
                <a16:creationId xmlns:a16="http://schemas.microsoft.com/office/drawing/2014/main" id="{80D035CF-4D26-43B2-A96C-D8477EE69D95}"/>
              </a:ext>
            </a:extLst>
          </p:cNvPr>
          <p:cNvSpPr>
            <a:spLocks noGrp="1" noChangeArrowheads="1"/>
          </p:cNvSpPr>
          <p:nvPr>
            <p:ph idx="1"/>
          </p:nvPr>
        </p:nvSpPr>
        <p:spPr>
          <a:xfrm>
            <a:off x="793102" y="1090613"/>
            <a:ext cx="7566673" cy="5268912"/>
          </a:xfrm>
        </p:spPr>
        <p:txBody>
          <a:bodyPr/>
          <a:lstStyle/>
          <a:p>
            <a:pPr algn="r" rtl="1">
              <a:lnSpc>
                <a:spcPct val="80000"/>
              </a:lnSpc>
            </a:pPr>
            <a:r>
              <a:rPr lang="fa-IR" sz="2800" dirty="0">
                <a:latin typeface="Calibri" panose="020F0502020204030204" pitchFamily="34" charset="0"/>
                <a:cs typeface="B Nazanin" panose="00000400000000000000" pitchFamily="2" charset="-78"/>
              </a:rPr>
              <a:t>هر فیلسوف </a:t>
            </a:r>
            <a:r>
              <a:rPr lang="en-US" sz="2800" dirty="0" err="1">
                <a:latin typeface="Calibri" panose="020F0502020204030204" pitchFamily="34" charset="0"/>
                <a:cs typeface="B Nazanin" panose="00000400000000000000" pitchFamily="2" charset="-78"/>
              </a:rPr>
              <a:t>i</a:t>
            </a:r>
            <a:r>
              <a:rPr lang="fa-IR" sz="2800" dirty="0">
                <a:latin typeface="Calibri" panose="020F0502020204030204" pitchFamily="34" charset="0"/>
                <a:cs typeface="B Nazanin" panose="00000400000000000000" pitchFamily="2" charset="-78"/>
              </a:rPr>
              <a:t> عملیات </a:t>
            </a:r>
            <a:r>
              <a:rPr lang="en-US" sz="2800" dirty="0">
                <a:latin typeface="Calibri" panose="020F0502020204030204" pitchFamily="34" charset="0"/>
                <a:cs typeface="B Nazanin" panose="00000400000000000000" pitchFamily="2" charset="-78"/>
              </a:rPr>
              <a:t>pickup</a:t>
            </a:r>
            <a:r>
              <a:rPr lang="fa-IR" sz="2800" dirty="0">
                <a:latin typeface="Calibri" panose="020F0502020204030204" pitchFamily="34" charset="0"/>
                <a:cs typeface="B Nazanin" panose="00000400000000000000" pitchFamily="2" charset="-78"/>
              </a:rPr>
              <a:t> و </a:t>
            </a:r>
            <a:r>
              <a:rPr lang="en-US" sz="2800" dirty="0">
                <a:latin typeface="Calibri" panose="020F0502020204030204" pitchFamily="34" charset="0"/>
                <a:cs typeface="B Nazanin" panose="00000400000000000000" pitchFamily="2" charset="-78"/>
              </a:rPr>
              <a:t>putdown</a:t>
            </a:r>
            <a:r>
              <a:rPr lang="fa-IR" sz="2800" dirty="0">
                <a:latin typeface="Calibri" panose="020F0502020204030204" pitchFamily="34" charset="0"/>
                <a:cs typeface="B Nazanin" panose="00000400000000000000" pitchFamily="2" charset="-78"/>
              </a:rPr>
              <a:t> را به ترتیب مقابل فراخوانی می‌کند. </a:t>
            </a:r>
          </a:p>
          <a:p>
            <a:pPr>
              <a:lnSpc>
                <a:spcPct val="80000"/>
              </a:lnSpc>
              <a:buFont typeface="Monotype Sorts" pitchFamily="-84" charset="2"/>
              <a:buNone/>
            </a:pPr>
            <a:r>
              <a:rPr lang="en-US" altLang="en-US" sz="2000" dirty="0">
                <a:solidFill>
                  <a:srgbClr val="000000"/>
                </a:solidFill>
                <a:latin typeface="Consolas" panose="020B0609020204030204" pitchFamily="49" charset="0"/>
              </a:rPr>
              <a:t>              </a:t>
            </a:r>
            <a:r>
              <a:rPr lang="en-US" altLang="en-US" sz="2400" dirty="0" err="1">
                <a:solidFill>
                  <a:srgbClr val="000000"/>
                </a:solidFill>
                <a:latin typeface="Consolas" panose="020B0609020204030204" pitchFamily="49" charset="0"/>
              </a:rPr>
              <a:t>DiningPhilosophers.pickup</a:t>
            </a:r>
            <a:r>
              <a:rPr lang="en-US" altLang="en-US" sz="2400" dirty="0">
                <a:solidFill>
                  <a:srgbClr val="000000"/>
                </a:solidFill>
                <a:latin typeface="Consolas" panose="020B0609020204030204" pitchFamily="49" charset="0"/>
              </a:rPr>
              <a:t>(i)</a:t>
            </a:r>
            <a:r>
              <a:rPr lang="en-US" altLang="en-US" sz="2000" dirty="0">
                <a:solidFill>
                  <a:srgbClr val="000000"/>
                </a:solidFill>
                <a:latin typeface="Consolas" panose="020B0609020204030204" pitchFamily="49" charset="0"/>
              </a:rPr>
              <a:t>;</a:t>
            </a:r>
          </a:p>
          <a:p>
            <a:pPr>
              <a:lnSpc>
                <a:spcPct val="80000"/>
              </a:lnSpc>
              <a:buFont typeface="Monotype Sorts" pitchFamily="-84" charset="2"/>
              <a:buNone/>
            </a:pPr>
            <a:endParaRPr lang="en-US" altLang="en-US" sz="2000" dirty="0">
              <a:solidFill>
                <a:srgbClr val="000000"/>
              </a:solidFill>
              <a:latin typeface="Consolas" panose="020B0609020204030204" pitchFamily="49" charset="0"/>
            </a:endParaRPr>
          </a:p>
          <a:p>
            <a:pPr>
              <a:lnSpc>
                <a:spcPct val="80000"/>
              </a:lnSpc>
              <a:buFont typeface="Monotype Sorts" pitchFamily="-84" charset="2"/>
              <a:buNone/>
            </a:pPr>
            <a:r>
              <a:rPr lang="en-US" altLang="en-US" sz="2000" dirty="0">
                <a:solidFill>
                  <a:srgbClr val="000000"/>
                </a:solidFill>
                <a:latin typeface="Consolas" panose="020B0609020204030204" pitchFamily="49" charset="0"/>
              </a:rPr>
              <a:t>                   /** EAT **/</a:t>
            </a:r>
          </a:p>
          <a:p>
            <a:pPr>
              <a:lnSpc>
                <a:spcPct val="80000"/>
              </a:lnSpc>
              <a:buFont typeface="Monotype Sorts" pitchFamily="-84" charset="2"/>
              <a:buNone/>
            </a:pPr>
            <a:endParaRPr lang="en-US" altLang="en-US" sz="2000" dirty="0">
              <a:solidFill>
                <a:srgbClr val="000000"/>
              </a:solidFill>
              <a:latin typeface="Consolas" panose="020B0609020204030204" pitchFamily="49" charset="0"/>
            </a:endParaRPr>
          </a:p>
          <a:p>
            <a:pPr>
              <a:lnSpc>
                <a:spcPct val="80000"/>
              </a:lnSpc>
              <a:buFont typeface="Monotype Sorts" pitchFamily="-84" charset="2"/>
              <a:buNone/>
            </a:pPr>
            <a:r>
              <a:rPr lang="en-US" altLang="en-US" sz="2000" dirty="0">
                <a:solidFill>
                  <a:srgbClr val="000000"/>
                </a:solidFill>
                <a:latin typeface="Consolas" panose="020B0609020204030204" pitchFamily="49" charset="0"/>
              </a:rPr>
              <a:t>              </a:t>
            </a:r>
            <a:r>
              <a:rPr lang="en-US" altLang="en-US" sz="2400" dirty="0" err="1">
                <a:solidFill>
                  <a:srgbClr val="000000"/>
                </a:solidFill>
                <a:latin typeface="Consolas" panose="020B0609020204030204" pitchFamily="49" charset="0"/>
              </a:rPr>
              <a:t>DiningPhilosophers.putdown</a:t>
            </a:r>
            <a:r>
              <a:rPr lang="en-US" altLang="en-US" sz="2400" dirty="0">
                <a:solidFill>
                  <a:srgbClr val="000000"/>
                </a:solidFill>
                <a:latin typeface="Consolas" panose="020B0609020204030204" pitchFamily="49" charset="0"/>
              </a:rPr>
              <a:t>(i)</a:t>
            </a:r>
            <a:r>
              <a:rPr lang="en-US" altLang="en-US" sz="2000" dirty="0">
                <a:solidFill>
                  <a:srgbClr val="000000"/>
                </a:solidFill>
                <a:latin typeface="Consolas" panose="020B0609020204030204" pitchFamily="49" charset="0"/>
              </a:rPr>
              <a:t>;</a:t>
            </a:r>
          </a:p>
          <a:p>
            <a:pPr>
              <a:lnSpc>
                <a:spcPct val="80000"/>
              </a:lnSpc>
              <a:buFont typeface="Monotype Sorts" pitchFamily="-84" charset="2"/>
              <a:buNone/>
            </a:pPr>
            <a:endParaRPr lang="en-US" altLang="en-US" sz="2000" dirty="0">
              <a:solidFill>
                <a:srgbClr val="0000FF"/>
              </a:solidFill>
            </a:endParaRPr>
          </a:p>
          <a:p>
            <a:pPr marL="0" marR="0" algn="r" rtl="1">
              <a:lnSpc>
                <a:spcPct val="107000"/>
              </a:lnSpc>
              <a:spcBef>
                <a:spcPts val="0"/>
              </a:spcBef>
              <a:spcAft>
                <a:spcPts val="800"/>
              </a:spcAft>
            </a:pPr>
            <a:r>
              <a:rPr lang="ar-SA" sz="2400" b="1" dirty="0">
                <a:effectLst/>
                <a:latin typeface="Calibri" panose="020F0502020204030204" pitchFamily="34" charset="0"/>
                <a:ea typeface="Times New Roman" panose="02020603050405020304" pitchFamily="18" charset="0"/>
                <a:cs typeface="B Nazanin" panose="00000400000000000000" pitchFamily="2" charset="-78"/>
              </a:rPr>
              <a:t>توجه</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Calibri" panose="020F0502020204030204" pitchFamily="34" charset="0"/>
                <a:ea typeface="Times New Roman" panose="02020603050405020304" pitchFamily="18" charset="0"/>
                <a:cs typeface="B Nazanin" panose="00000400000000000000" pitchFamily="2" charset="-78"/>
              </a:rPr>
              <a:t>در این سناریو، بن‌بست وجود ندارد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Calibri" panose="020F0502020204030204" pitchFamily="34" charset="0"/>
                <a:ea typeface="Times New Roman" panose="02020603050405020304" pitchFamily="18" charset="0"/>
                <a:cs typeface="B Nazanin" panose="00000400000000000000" pitchFamily="2" charset="-78"/>
              </a:rPr>
              <a:t>اما </a:t>
            </a:r>
            <a:r>
              <a:rPr lang="ar-SA" sz="2400" b="1" dirty="0">
                <a:effectLst/>
                <a:latin typeface="Calibri" panose="020F0502020204030204" pitchFamily="34" charset="0"/>
                <a:ea typeface="Times New Roman" panose="02020603050405020304" pitchFamily="18" charset="0"/>
                <a:cs typeface="B Nazanin" panose="00000400000000000000" pitchFamily="2" charset="-78"/>
              </a:rPr>
              <a:t>احتمال گرسنگی</a:t>
            </a:r>
            <a:r>
              <a:rPr lang="en-US" sz="2400" b="1" dirty="0">
                <a:effectLst/>
                <a:latin typeface="Times New Roman" panose="02020603050405020304" pitchFamily="18" charset="0"/>
                <a:ea typeface="Times New Roman" panose="02020603050405020304" pitchFamily="18" charset="0"/>
                <a:cs typeface="B Nazanin" panose="00000400000000000000" pitchFamily="2" charset="-78"/>
              </a:rPr>
              <a:t> (Starvation)</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 </a:t>
            </a:r>
            <a:r>
              <a:rPr lang="ar-SA" sz="2400" dirty="0">
                <a:effectLst/>
                <a:latin typeface="Calibri" panose="020F0502020204030204" pitchFamily="34" charset="0"/>
                <a:ea typeface="Times New Roman" panose="02020603050405020304" pitchFamily="18" charset="0"/>
                <a:cs typeface="B Nazanin" panose="00000400000000000000" pitchFamily="2" charset="-78"/>
              </a:rPr>
              <a:t>برای برخی فیلسوفان وجود دارد (یعنی ممکن است یک فیلسوف برای مدت زمان نامحدودی منتظر بماند تا بتواند دو </a:t>
            </a:r>
            <a:r>
              <a:rPr lang="fa-IR" sz="2400" dirty="0">
                <a:effectLst/>
                <a:latin typeface="Calibri" panose="020F0502020204030204" pitchFamily="34" charset="0"/>
                <a:ea typeface="Times New Roman" panose="02020603050405020304" pitchFamily="18" charset="0"/>
                <a:cs typeface="B Nazanin" panose="00000400000000000000" pitchFamily="2" charset="-78"/>
              </a:rPr>
              <a:t>چنگال</a:t>
            </a:r>
            <a:r>
              <a:rPr lang="ar-SA" sz="2400" dirty="0">
                <a:effectLst/>
                <a:latin typeface="Calibri" panose="020F0502020204030204" pitchFamily="34" charset="0"/>
                <a:ea typeface="Times New Roman" panose="02020603050405020304" pitchFamily="18" charset="0"/>
                <a:cs typeface="B Nazanin" panose="00000400000000000000" pitchFamily="2" charset="-78"/>
              </a:rPr>
              <a:t> مورد نیاز خود را بردارد)</a:t>
            </a:r>
            <a:r>
              <a:rPr lang="en-US" sz="2400" dirty="0">
                <a:effectLst/>
                <a:latin typeface="Times New Roman" panose="02020603050405020304" pitchFamily="18" charset="0"/>
                <a:ea typeface="Times New Roman" panose="02020603050405020304" pitchFamily="18" charset="0"/>
                <a:cs typeface="B Nazanin" panose="00000400000000000000" pitchFamily="2" charset="-78"/>
              </a:rPr>
              <a:t>.</a:t>
            </a:r>
            <a:endParaRPr lang="en-US" sz="2000" dirty="0">
              <a:effectLst/>
              <a:latin typeface="Calibri" panose="020F0502020204030204" pitchFamily="34" charset="0"/>
              <a:ea typeface="Calibri" panose="020F0502020204030204" pitchFamily="34" charset="0"/>
              <a:cs typeface="B Nazanin" panose="00000400000000000000" pitchFamily="2" charset="-78"/>
            </a:endParaRPr>
          </a:p>
          <a:p>
            <a:pPr>
              <a:lnSpc>
                <a:spcPct val="80000"/>
              </a:lnSpc>
              <a:buFont typeface="Monotype Sorts" pitchFamily="-84" charset="2"/>
              <a:buNone/>
            </a:pPr>
            <a:endParaRPr lang="en-US" altLang="en-US" sz="2000" dirty="0">
              <a:solidFill>
                <a:srgbClr val="0000FF"/>
              </a:solidFill>
            </a:endParaRPr>
          </a:p>
          <a:p>
            <a:pPr>
              <a:lnSpc>
                <a:spcPct val="80000"/>
              </a:lnSpc>
              <a:buFont typeface="Monotype Sorts" pitchFamily="-84" charset="2"/>
              <a:buNone/>
            </a:pPr>
            <a:endParaRPr lang="en-US" altLang="en-US" sz="2000" dirty="0">
              <a:solidFill>
                <a:srgbClr val="0000FF"/>
              </a:solidFill>
            </a:endParaRPr>
          </a:p>
          <a:p>
            <a:pPr>
              <a:lnSpc>
                <a:spcPct val="80000"/>
              </a:lnSpc>
              <a:buFont typeface="Monotype Sorts" pitchFamily="-84" charset="2"/>
              <a:buNone/>
            </a:pPr>
            <a:r>
              <a:rPr lang="en-US" altLang="en-US" sz="2000" i="1" dirty="0">
                <a:solidFill>
                  <a:srgbClr val="0000FF"/>
                </a:solidFill>
              </a:rPr>
              <a:t>       </a:t>
            </a:r>
          </a:p>
        </p:txBody>
      </p:sp>
      <p:sp>
        <p:nvSpPr>
          <p:cNvPr id="4" name="Rectangle 2">
            <a:extLst>
              <a:ext uri="{FF2B5EF4-FFF2-40B4-BE49-F238E27FC236}">
                <a16:creationId xmlns:a16="http://schemas.microsoft.com/office/drawing/2014/main" id="{34436D3F-DD94-4E20-9DAE-14699174C5F9}"/>
              </a:ext>
            </a:extLst>
          </p:cNvPr>
          <p:cNvSpPr>
            <a:spLocks noGrp="1" noChangeArrowheads="1"/>
          </p:cNvSpPr>
          <p:nvPr>
            <p:ph type="title"/>
          </p:nvPr>
        </p:nvSpPr>
        <p:spPr>
          <a:xfrm>
            <a:off x="1029181" y="116688"/>
            <a:ext cx="7916862" cy="638175"/>
          </a:xfrm>
        </p:spPr>
        <p:txBody>
          <a:bodyPr/>
          <a:lstStyle/>
          <a:p>
            <a:pPr eaLnBrk="1" hangingPunct="1"/>
            <a:r>
              <a:rPr lang="en-US" altLang="en-US" sz="2800" dirty="0"/>
              <a:t>Solution to Dining Philosophers (Cont.)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1CB13DB1-791A-46D1-A33A-C4962EF627D0}"/>
              </a:ext>
            </a:extLst>
          </p:cNvPr>
          <p:cNvSpPr>
            <a:spLocks noGrp="1" noChangeArrowheads="1"/>
          </p:cNvSpPr>
          <p:nvPr>
            <p:ph type="ctrTitle"/>
          </p:nvPr>
        </p:nvSpPr>
        <p:spPr/>
        <p:txBody>
          <a:bodyPr/>
          <a:lstStyle/>
          <a:p>
            <a:pPr eaLnBrk="1" hangingPunct="1"/>
            <a:r>
              <a:rPr lang="fa-IR" altLang="en-US" dirty="0">
                <a:cs typeface="B Nazanin" panose="00000400000000000000" pitchFamily="2" charset="-78"/>
              </a:rPr>
              <a:t>پایان فصل</a:t>
            </a:r>
            <a:endParaRPr lang="en-US" altLang="en-US" dirty="0">
              <a:cs typeface="B Nazanin" panose="00000400000000000000" pitchFamily="2" charset="-78"/>
            </a:endParaRP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17352</TotalTime>
  <Words>8683</Words>
  <Application>Microsoft Office PowerPoint</Application>
  <PresentationFormat>On-screen Show (4:3)</PresentationFormat>
  <Paragraphs>901</Paragraphs>
  <Slides>76</Slides>
  <Notes>65</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76</vt:i4>
      </vt:variant>
    </vt:vector>
  </HeadingPairs>
  <TitlesOfParts>
    <vt:vector size="95" baseType="lpstr">
      <vt:lpstr>Aptos</vt:lpstr>
      <vt:lpstr>Arial</vt:lpstr>
      <vt:lpstr>B Nazanin</vt:lpstr>
      <vt:lpstr>B Titr</vt:lpstr>
      <vt:lpstr>Calibri</vt:lpstr>
      <vt:lpstr>Cambria Math</vt:lpstr>
      <vt:lpstr>Consolas</vt:lpstr>
      <vt:lpstr>Courier New</vt:lpstr>
      <vt:lpstr>Google Sans</vt:lpstr>
      <vt:lpstr>Helvetica</vt:lpstr>
      <vt:lpstr>Monotype Sorts</vt:lpstr>
      <vt:lpstr>MT Extra</vt:lpstr>
      <vt:lpstr>Segoe UI Emoji</vt:lpstr>
      <vt:lpstr>Symbol</vt:lpstr>
      <vt:lpstr>Times New Roman</vt:lpstr>
      <vt:lpstr>Verdana</vt:lpstr>
      <vt:lpstr>Webdings</vt:lpstr>
      <vt:lpstr>Wingdings</vt:lpstr>
      <vt:lpstr>os-8</vt:lpstr>
      <vt:lpstr>فصل ۶: ابزار همگام سازی</vt:lpstr>
      <vt:lpstr>سرفصل</vt:lpstr>
      <vt:lpstr>اهداف</vt:lpstr>
      <vt:lpstr>پیش زمینه</vt:lpstr>
      <vt:lpstr>Race Condition شرط مسابقه </vt:lpstr>
      <vt:lpstr>مسئله ناحیه بحرانی</vt:lpstr>
      <vt:lpstr>بخش بحرانی</vt:lpstr>
      <vt:lpstr>بخش بحرانی (ادامه)</vt:lpstr>
      <vt:lpstr>راه کار مبتنی بر وقفه</vt:lpstr>
      <vt:lpstr>راه‌کار نرم افزاری ۱</vt:lpstr>
      <vt:lpstr>Algorithm for Process Pi</vt:lpstr>
      <vt:lpstr>PowerPoint Presentation</vt:lpstr>
      <vt:lpstr>صحبت راه‌کار نرم‌افزاری</vt:lpstr>
      <vt:lpstr>راه‌حل بهبودیافته پترسون</vt:lpstr>
      <vt:lpstr>Algorithm for Process Pi</vt:lpstr>
      <vt:lpstr>PowerPoint Presentation</vt:lpstr>
      <vt:lpstr>صحت راه‌کار پترسون</vt:lpstr>
      <vt:lpstr>راه‌کار پترسون و معماری مدرن</vt:lpstr>
      <vt:lpstr>مثال معماری مدرن</vt:lpstr>
      <vt:lpstr>مثال معماری مدرن (ادامه)</vt:lpstr>
      <vt:lpstr>Peterson’s Solution Revisited</vt:lpstr>
      <vt:lpstr>سد حافظه</vt:lpstr>
      <vt:lpstr>دستورالعمل سد حافظه</vt:lpstr>
      <vt:lpstr>دستورالعمل سد حافظه</vt:lpstr>
      <vt:lpstr>مثال سد حافظه</vt:lpstr>
      <vt:lpstr>همگام‌سازی سخت‌افزار</vt:lpstr>
      <vt:lpstr>دستورات سخت‌افزاری</vt:lpstr>
      <vt:lpstr>دستور آزمایش و تنظیم</vt:lpstr>
      <vt:lpstr>Solution Using test_and_set()</vt:lpstr>
      <vt:lpstr>دستور مقایسه و تعویض</vt:lpstr>
      <vt:lpstr>راه‌کار با الگوریتم تعویض و جابجایی</vt:lpstr>
      <vt:lpstr>انتظار محدود با الگوریتم تعویض و جابجایی</vt:lpstr>
      <vt:lpstr>انتظار محدود با الگوریتم تعویض و جابجایی</vt:lpstr>
      <vt:lpstr>متغیر‌های اتمی</vt:lpstr>
      <vt:lpstr>متغیر‌های اتمی</vt:lpstr>
      <vt:lpstr>قفل های Mutex یا انحصار متقابل</vt:lpstr>
      <vt:lpstr>راه‌کار برای مسئله بخش بحرانی با قفل Mutex</vt:lpstr>
      <vt:lpstr>سمافور</vt:lpstr>
      <vt:lpstr>سمافور(ادامه)</vt:lpstr>
      <vt:lpstr>مثال کاربرد سمافور</vt:lpstr>
      <vt:lpstr>پیاده سازی سمافور</vt:lpstr>
      <vt:lpstr>پیاده سازی سمافور بدون انتظار فعال</vt:lpstr>
      <vt:lpstr>پیاده سازی سمافور بدون انتظار فعال(ادامه)</vt:lpstr>
      <vt:lpstr>پیاده سازی سمافور بدون انتظار فعال(ادامه)</vt:lpstr>
      <vt:lpstr>Problems with Semaphores</vt:lpstr>
      <vt:lpstr>Monitors</vt:lpstr>
      <vt:lpstr>Monitors:a simple counter that prevents the value going below 0</vt:lpstr>
      <vt:lpstr>Schematic view of a Monitor</vt:lpstr>
      <vt:lpstr>پیاده سازی مانیتور با استفاده از سِمافور</vt:lpstr>
      <vt:lpstr>Condition Variables</vt:lpstr>
      <vt:lpstr> Monitor with Condition Variables</vt:lpstr>
      <vt:lpstr> Usage of Condition Variable  Example</vt:lpstr>
      <vt:lpstr>پیاده سازی مانیتور با سمافور</vt:lpstr>
      <vt:lpstr>PowerPoint Presentation</vt:lpstr>
      <vt:lpstr>A Monitor to Allocate Single Resource</vt:lpstr>
      <vt:lpstr>Single Resource Monitor (Cont.)</vt:lpstr>
      <vt:lpstr>زنده‌بودن</vt:lpstr>
      <vt:lpstr>زنده‌بودن</vt:lpstr>
      <vt:lpstr>زنده‌بودن</vt:lpstr>
      <vt:lpstr>مثال‌های از کاربرد مفاهیم همگام‌سازی </vt:lpstr>
      <vt:lpstr>Classical Problems of Synchronization</vt:lpstr>
      <vt:lpstr>مسئله بافر محدود</vt:lpstr>
      <vt:lpstr>مسئله بافر محدود (ادامه)</vt:lpstr>
      <vt:lpstr>Bounded Buffer Problem (Cont.)</vt:lpstr>
      <vt:lpstr>مسئله خوانندگان و نویسندگان</vt:lpstr>
      <vt:lpstr>مسئله خوانندگان و نویسندگان (ادامه)</vt:lpstr>
      <vt:lpstr>مسئله خوانندگان و نویسندگان (ادامه)</vt:lpstr>
      <vt:lpstr>مسئله خوانندگان و نویسندگان (ادامه)</vt:lpstr>
      <vt:lpstr>Readers-Writers Problem Variations</vt:lpstr>
      <vt:lpstr>Readers-Writers Problem Variations</vt:lpstr>
      <vt:lpstr>Dining-Philosophers Problem</vt:lpstr>
      <vt:lpstr>Dining-Philosophers Problem</vt:lpstr>
      <vt:lpstr>  Dining-Philosophers Problem Algorithm</vt:lpstr>
      <vt:lpstr>Monitor Solution to Dining Philosophers</vt:lpstr>
      <vt:lpstr>Solution to Dining Philosophers (Cont.)</vt:lpstr>
      <vt:lpstr>پایان فصل</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A Taghinezhad</cp:lastModifiedBy>
  <cp:revision>458</cp:revision>
  <cp:lastPrinted>2020-11-04T14:30:39Z</cp:lastPrinted>
  <dcterms:created xsi:type="dcterms:W3CDTF">2011-01-13T23:43:38Z</dcterms:created>
  <dcterms:modified xsi:type="dcterms:W3CDTF">2026-06-07T15:18:52Z</dcterms:modified>
</cp:coreProperties>
</file>