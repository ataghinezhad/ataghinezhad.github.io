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762" r:id="rId1"/>
  </p:sldMasterIdLst>
  <p:notesMasterIdLst>
    <p:notesMasterId r:id="rId148"/>
  </p:notesMasterIdLst>
  <p:handoutMasterIdLst>
    <p:handoutMasterId r:id="rId149"/>
  </p:handoutMasterIdLst>
  <p:sldIdLst>
    <p:sldId id="474" r:id="rId2"/>
    <p:sldId id="438" r:id="rId3"/>
    <p:sldId id="439" r:id="rId4"/>
    <p:sldId id="440" r:id="rId5"/>
    <p:sldId id="488" r:id="rId6"/>
    <p:sldId id="489" r:id="rId7"/>
    <p:sldId id="491" r:id="rId8"/>
    <p:sldId id="492" r:id="rId9"/>
    <p:sldId id="493" r:id="rId10"/>
    <p:sldId id="420" r:id="rId11"/>
    <p:sldId id="494" r:id="rId12"/>
    <p:sldId id="495" r:id="rId13"/>
    <p:sldId id="496" r:id="rId14"/>
    <p:sldId id="497" r:id="rId15"/>
    <p:sldId id="498" r:id="rId16"/>
    <p:sldId id="499" r:id="rId17"/>
    <p:sldId id="456" r:id="rId18"/>
    <p:sldId id="441" r:id="rId19"/>
    <p:sldId id="500" r:id="rId20"/>
    <p:sldId id="501" r:id="rId21"/>
    <p:sldId id="502" r:id="rId22"/>
    <p:sldId id="503" r:id="rId23"/>
    <p:sldId id="504" r:id="rId24"/>
    <p:sldId id="505" r:id="rId25"/>
    <p:sldId id="506" r:id="rId26"/>
    <p:sldId id="442" r:id="rId27"/>
    <p:sldId id="507" r:id="rId28"/>
    <p:sldId id="508" r:id="rId29"/>
    <p:sldId id="509" r:id="rId30"/>
    <p:sldId id="510" r:id="rId31"/>
    <p:sldId id="511" r:id="rId32"/>
    <p:sldId id="512" r:id="rId33"/>
    <p:sldId id="513" r:id="rId34"/>
    <p:sldId id="413" r:id="rId35"/>
    <p:sldId id="514" r:id="rId36"/>
    <p:sldId id="515" r:id="rId37"/>
    <p:sldId id="516" r:id="rId38"/>
    <p:sldId id="517" r:id="rId39"/>
    <p:sldId id="443" r:id="rId40"/>
    <p:sldId id="444" r:id="rId41"/>
    <p:sldId id="445" r:id="rId42"/>
    <p:sldId id="446" r:id="rId43"/>
    <p:sldId id="447" r:id="rId44"/>
    <p:sldId id="448" r:id="rId45"/>
    <p:sldId id="449" r:id="rId46"/>
    <p:sldId id="450" r:id="rId47"/>
    <p:sldId id="451" r:id="rId48"/>
    <p:sldId id="452" r:id="rId49"/>
    <p:sldId id="453" r:id="rId50"/>
    <p:sldId id="454" r:id="rId51"/>
    <p:sldId id="455" r:id="rId52"/>
    <p:sldId id="484" r:id="rId53"/>
    <p:sldId id="485" r:id="rId54"/>
    <p:sldId id="481" r:id="rId55"/>
    <p:sldId id="482" r:id="rId56"/>
    <p:sldId id="457" r:id="rId57"/>
    <p:sldId id="458" r:id="rId58"/>
    <p:sldId id="459" r:id="rId59"/>
    <p:sldId id="479" r:id="rId60"/>
    <p:sldId id="460" r:id="rId61"/>
    <p:sldId id="461" r:id="rId62"/>
    <p:sldId id="462" r:id="rId63"/>
    <p:sldId id="463" r:id="rId64"/>
    <p:sldId id="480" r:id="rId65"/>
    <p:sldId id="486" r:id="rId66"/>
    <p:sldId id="487" r:id="rId67"/>
    <p:sldId id="464" r:id="rId68"/>
    <p:sldId id="465" r:id="rId69"/>
    <p:sldId id="466" r:id="rId70"/>
    <p:sldId id="467" r:id="rId71"/>
    <p:sldId id="468" r:id="rId72"/>
    <p:sldId id="469" r:id="rId73"/>
    <p:sldId id="470" r:id="rId74"/>
    <p:sldId id="471" r:id="rId75"/>
    <p:sldId id="472" r:id="rId76"/>
    <p:sldId id="518" r:id="rId77"/>
    <p:sldId id="519" r:id="rId78"/>
    <p:sldId id="520" r:id="rId79"/>
    <p:sldId id="521" r:id="rId80"/>
    <p:sldId id="522" r:id="rId81"/>
    <p:sldId id="473" r:id="rId82"/>
    <p:sldId id="372" r:id="rId83"/>
    <p:sldId id="373" r:id="rId84"/>
    <p:sldId id="374" r:id="rId85"/>
    <p:sldId id="375" r:id="rId86"/>
    <p:sldId id="376" r:id="rId87"/>
    <p:sldId id="437" r:id="rId88"/>
    <p:sldId id="378" r:id="rId89"/>
    <p:sldId id="379" r:id="rId90"/>
    <p:sldId id="380" r:id="rId91"/>
    <p:sldId id="381" r:id="rId92"/>
    <p:sldId id="382" r:id="rId93"/>
    <p:sldId id="383" r:id="rId94"/>
    <p:sldId id="384" r:id="rId95"/>
    <p:sldId id="385" r:id="rId96"/>
    <p:sldId id="386" r:id="rId97"/>
    <p:sldId id="387" r:id="rId98"/>
    <p:sldId id="388" r:id="rId99"/>
    <p:sldId id="475" r:id="rId100"/>
    <p:sldId id="390" r:id="rId101"/>
    <p:sldId id="391" r:id="rId102"/>
    <p:sldId id="392" r:id="rId103"/>
    <p:sldId id="476" r:id="rId104"/>
    <p:sldId id="394" r:id="rId105"/>
    <p:sldId id="395" r:id="rId106"/>
    <p:sldId id="396" r:id="rId107"/>
    <p:sldId id="397" r:id="rId108"/>
    <p:sldId id="398" r:id="rId109"/>
    <p:sldId id="399" r:id="rId110"/>
    <p:sldId id="400" r:id="rId111"/>
    <p:sldId id="401" r:id="rId112"/>
    <p:sldId id="402" r:id="rId113"/>
    <p:sldId id="403" r:id="rId114"/>
    <p:sldId id="404" r:id="rId115"/>
    <p:sldId id="405" r:id="rId116"/>
    <p:sldId id="406" r:id="rId117"/>
    <p:sldId id="407" r:id="rId118"/>
    <p:sldId id="408" r:id="rId119"/>
    <p:sldId id="409" r:id="rId120"/>
    <p:sldId id="410" r:id="rId121"/>
    <p:sldId id="411" r:id="rId122"/>
    <p:sldId id="412" r:id="rId123"/>
    <p:sldId id="477" r:id="rId124"/>
    <p:sldId id="414" r:id="rId125"/>
    <p:sldId id="415" r:id="rId126"/>
    <p:sldId id="416" r:id="rId127"/>
    <p:sldId id="417" r:id="rId128"/>
    <p:sldId id="418" r:id="rId129"/>
    <p:sldId id="419" r:id="rId130"/>
    <p:sldId id="478" r:id="rId131"/>
    <p:sldId id="421" r:id="rId132"/>
    <p:sldId id="422" r:id="rId133"/>
    <p:sldId id="423" r:id="rId134"/>
    <p:sldId id="424" r:id="rId135"/>
    <p:sldId id="425" r:id="rId136"/>
    <p:sldId id="426" r:id="rId137"/>
    <p:sldId id="427" r:id="rId138"/>
    <p:sldId id="428" r:id="rId139"/>
    <p:sldId id="429" r:id="rId140"/>
    <p:sldId id="430" r:id="rId141"/>
    <p:sldId id="431" r:id="rId142"/>
    <p:sldId id="432" r:id="rId143"/>
    <p:sldId id="433" r:id="rId144"/>
    <p:sldId id="434" r:id="rId145"/>
    <p:sldId id="435" r:id="rId146"/>
    <p:sldId id="436" r:id="rId147"/>
  </p:sldIdLst>
  <p:sldSz cx="9144000" cy="6858000" type="screen4x3"/>
  <p:notesSz cx="6997700" cy="9283700"/>
  <p:custShowLst>
    <p:custShow name="Custom Show 1" id="0">
      <p:sldLst/>
    </p:custShow>
  </p:custShowLst>
  <p:defaultTextStyle>
    <a:defPPr>
      <a:defRPr lang="en-US"/>
    </a:defPPr>
    <a:lvl1pPr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1pPr>
    <a:lvl2pPr marL="4572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2pPr>
    <a:lvl3pPr marL="9144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3pPr>
    <a:lvl4pPr marL="13716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4pPr>
    <a:lvl5pPr marL="18288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5pPr>
    <a:lvl6pPr marL="22860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6pPr>
    <a:lvl7pPr marL="27432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7pPr>
    <a:lvl8pPr marL="32004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8pPr>
    <a:lvl9pPr marL="36576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707">
          <p15:clr>
            <a:srgbClr val="A4A3A4"/>
          </p15:clr>
        </p15:guide>
        <p15:guide id="2" pos="57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9933"/>
    <a:srgbClr val="00009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018" autoAdjust="0"/>
    <p:restoredTop sz="72554" autoAdjust="0"/>
  </p:normalViewPr>
  <p:slideViewPr>
    <p:cSldViewPr snapToGrid="0">
      <p:cViewPr varScale="1">
        <p:scale>
          <a:sx n="71" d="100"/>
          <a:sy n="71" d="100"/>
        </p:scale>
        <p:origin x="2562" y="66"/>
      </p:cViewPr>
      <p:guideLst>
        <p:guide orient="horz" pos="707"/>
        <p:guide pos="576"/>
      </p:guideLst>
    </p:cSldViewPr>
  </p:slideViewPr>
  <p:outlineViewPr>
    <p:cViewPr>
      <p:scale>
        <a:sx n="33" d="100"/>
        <a:sy n="33" d="100"/>
      </p:scale>
      <p:origin x="0" y="0"/>
    </p:cViewPr>
  </p:outlineViewPr>
  <p:notesTextViewPr>
    <p:cViewPr>
      <p:scale>
        <a:sx n="75" d="100"/>
        <a:sy n="75" d="100"/>
      </p:scale>
      <p:origin x="0" y="0"/>
    </p:cViewPr>
  </p:notesTextViewPr>
  <p:sorterViewPr>
    <p:cViewPr>
      <p:scale>
        <a:sx n="66" d="100"/>
        <a:sy n="66" d="100"/>
      </p:scale>
      <p:origin x="0" y="16158"/>
    </p:cViewPr>
  </p:sorter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handoutMaster" Target="handoutMasters/handoutMaster1.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presProps" Target="pres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viewProps" Target="view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tableStyles" Target="tableStyle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67266" name="Rectangle 2">
            <a:extLst>
              <a:ext uri="{FF2B5EF4-FFF2-40B4-BE49-F238E27FC236}">
                <a16:creationId xmlns:a16="http://schemas.microsoft.com/office/drawing/2014/main" id="{C6EF5354-BFFB-44DF-8FA7-1A088153BD87}"/>
              </a:ext>
            </a:extLst>
          </p:cNvPr>
          <p:cNvSpPr>
            <a:spLocks noGrp="1" noChangeArrowheads="1"/>
          </p:cNvSpPr>
          <p:nvPr>
            <p:ph type="hdr" sz="quarter"/>
          </p:nvPr>
        </p:nvSpPr>
        <p:spPr bwMode="auto">
          <a:xfrm>
            <a:off x="0" y="0"/>
            <a:ext cx="3032125" cy="463550"/>
          </a:xfrm>
          <a:prstGeom prst="rect">
            <a:avLst/>
          </a:prstGeom>
          <a:noFill/>
          <a:ln w="9525">
            <a:noFill/>
            <a:miter lim="800000"/>
            <a:headEnd/>
            <a:tailEnd/>
          </a:ln>
          <a:effectLst/>
        </p:spPr>
        <p:txBody>
          <a:bodyPr vert="horz" wrap="square" lIns="93027" tIns="46514" rIns="93027" bIns="46514" numCol="1" anchor="t"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67267" name="Rectangle 3">
            <a:extLst>
              <a:ext uri="{FF2B5EF4-FFF2-40B4-BE49-F238E27FC236}">
                <a16:creationId xmlns:a16="http://schemas.microsoft.com/office/drawing/2014/main" id="{5BBF6CF9-ADFE-4F6E-89A0-8CB582D8FFC5}"/>
              </a:ext>
            </a:extLst>
          </p:cNvPr>
          <p:cNvSpPr>
            <a:spLocks noGrp="1" noChangeArrowheads="1"/>
          </p:cNvSpPr>
          <p:nvPr>
            <p:ph type="dt" sz="quarter" idx="1"/>
          </p:nvPr>
        </p:nvSpPr>
        <p:spPr bwMode="auto">
          <a:xfrm>
            <a:off x="3965575" y="0"/>
            <a:ext cx="3032125" cy="463550"/>
          </a:xfrm>
          <a:prstGeom prst="rect">
            <a:avLst/>
          </a:prstGeom>
          <a:noFill/>
          <a:ln w="9525">
            <a:noFill/>
            <a:miter lim="800000"/>
            <a:headEnd/>
            <a:tailEnd/>
          </a:ln>
          <a:effectLst/>
        </p:spPr>
        <p:txBody>
          <a:bodyPr vert="horz" wrap="square" lIns="93027" tIns="46514" rIns="93027" bIns="46514" numCol="1" anchor="t" anchorCtr="0" compatLnSpc="1">
            <a:prstTxWarp prst="textNoShape">
              <a:avLst/>
            </a:prstTxWarp>
          </a:bodyPr>
          <a:lstStyle>
            <a:lvl1pPr algn="r" defTabSz="930275">
              <a:defRPr sz="1300">
                <a:latin typeface="Helvetica" charset="0"/>
                <a:ea typeface="+mn-ea"/>
                <a:cs typeface="+mn-cs"/>
              </a:defRPr>
            </a:lvl1pPr>
          </a:lstStyle>
          <a:p>
            <a:pPr>
              <a:defRPr/>
            </a:pPr>
            <a:endParaRPr lang="en-US"/>
          </a:p>
        </p:txBody>
      </p:sp>
      <p:sp>
        <p:nvSpPr>
          <p:cNvPr id="267268" name="Rectangle 4">
            <a:extLst>
              <a:ext uri="{FF2B5EF4-FFF2-40B4-BE49-F238E27FC236}">
                <a16:creationId xmlns:a16="http://schemas.microsoft.com/office/drawing/2014/main" id="{8C120FC7-7BCE-4696-BB5D-C087861E4B4E}"/>
              </a:ext>
            </a:extLst>
          </p:cNvPr>
          <p:cNvSpPr>
            <a:spLocks noGrp="1" noChangeArrowheads="1"/>
          </p:cNvSpPr>
          <p:nvPr>
            <p:ph type="ftr" sz="quarter" idx="2"/>
          </p:nvPr>
        </p:nvSpPr>
        <p:spPr bwMode="auto">
          <a:xfrm>
            <a:off x="0" y="8820150"/>
            <a:ext cx="3032125" cy="463550"/>
          </a:xfrm>
          <a:prstGeom prst="rect">
            <a:avLst/>
          </a:prstGeom>
          <a:noFill/>
          <a:ln w="9525">
            <a:noFill/>
            <a:miter lim="800000"/>
            <a:headEnd/>
            <a:tailEnd/>
          </a:ln>
          <a:effectLst/>
        </p:spPr>
        <p:txBody>
          <a:bodyPr vert="horz" wrap="square" lIns="93027" tIns="46514" rIns="93027" bIns="46514" numCol="1" anchor="b"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67269" name="Rectangle 5">
            <a:extLst>
              <a:ext uri="{FF2B5EF4-FFF2-40B4-BE49-F238E27FC236}">
                <a16:creationId xmlns:a16="http://schemas.microsoft.com/office/drawing/2014/main" id="{6735A123-7D3E-455E-AB82-1C3749BB052A}"/>
              </a:ext>
            </a:extLst>
          </p:cNvPr>
          <p:cNvSpPr>
            <a:spLocks noGrp="1" noChangeArrowheads="1"/>
          </p:cNvSpPr>
          <p:nvPr>
            <p:ph type="sldNum" sz="quarter" idx="3"/>
          </p:nvPr>
        </p:nvSpPr>
        <p:spPr bwMode="auto">
          <a:xfrm>
            <a:off x="3965575" y="8820150"/>
            <a:ext cx="3032125" cy="463550"/>
          </a:xfrm>
          <a:prstGeom prst="rect">
            <a:avLst/>
          </a:prstGeom>
          <a:noFill/>
          <a:ln w="9525">
            <a:noFill/>
            <a:miter lim="800000"/>
            <a:headEnd/>
            <a:tailEnd/>
          </a:ln>
          <a:effectLst/>
        </p:spPr>
        <p:txBody>
          <a:bodyPr vert="horz" wrap="square" lIns="93027" tIns="46514" rIns="93027" bIns="46514" numCol="1" anchor="b" anchorCtr="0" compatLnSpc="1">
            <a:prstTxWarp prst="textNoShape">
              <a:avLst/>
            </a:prstTxWarp>
          </a:bodyPr>
          <a:lstStyle>
            <a:lvl1pPr algn="r" defTabSz="930275">
              <a:defRPr sz="1300"/>
            </a:lvl1pPr>
          </a:lstStyle>
          <a:p>
            <a:pPr>
              <a:defRPr/>
            </a:pPr>
            <a:fld id="{A8B4C920-550B-4EA7-9CB5-2D8883A273BF}" type="slidenum">
              <a:rPr lang="en-US" altLang="en-US"/>
              <a:pPr>
                <a:defRPr/>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0642" name="Rectangle 2">
            <a:extLst>
              <a:ext uri="{FF2B5EF4-FFF2-40B4-BE49-F238E27FC236}">
                <a16:creationId xmlns:a16="http://schemas.microsoft.com/office/drawing/2014/main" id="{2E8AF117-EF14-4BF3-AB7D-D75C4F934CCD}"/>
              </a:ext>
            </a:extLst>
          </p:cNvPr>
          <p:cNvSpPr>
            <a:spLocks noGrp="1" noChangeArrowheads="1"/>
          </p:cNvSpPr>
          <p:nvPr>
            <p:ph type="hdr" sz="quarter"/>
          </p:nvPr>
        </p:nvSpPr>
        <p:spPr bwMode="auto">
          <a:xfrm>
            <a:off x="0" y="0"/>
            <a:ext cx="3032125" cy="463550"/>
          </a:xfrm>
          <a:prstGeom prst="rect">
            <a:avLst/>
          </a:prstGeom>
          <a:noFill/>
          <a:ln w="9525">
            <a:noFill/>
            <a:miter lim="800000"/>
            <a:headEnd/>
            <a:tailEnd/>
          </a:ln>
          <a:effectLst/>
        </p:spPr>
        <p:txBody>
          <a:bodyPr vert="horz" wrap="none" lIns="93027" tIns="46514" rIns="93027" bIns="46514" numCol="1" anchor="t"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40643" name="Rectangle 3">
            <a:extLst>
              <a:ext uri="{FF2B5EF4-FFF2-40B4-BE49-F238E27FC236}">
                <a16:creationId xmlns:a16="http://schemas.microsoft.com/office/drawing/2014/main" id="{D7D2DA5C-BED3-45D1-AFD2-94AF29863ABC}"/>
              </a:ext>
            </a:extLst>
          </p:cNvPr>
          <p:cNvSpPr>
            <a:spLocks noGrp="1" noChangeArrowheads="1"/>
          </p:cNvSpPr>
          <p:nvPr>
            <p:ph type="dt" idx="1"/>
          </p:nvPr>
        </p:nvSpPr>
        <p:spPr bwMode="auto">
          <a:xfrm>
            <a:off x="3965575" y="0"/>
            <a:ext cx="3032125" cy="463550"/>
          </a:xfrm>
          <a:prstGeom prst="rect">
            <a:avLst/>
          </a:prstGeom>
          <a:noFill/>
          <a:ln w="9525">
            <a:noFill/>
            <a:miter lim="800000"/>
            <a:headEnd/>
            <a:tailEnd/>
          </a:ln>
          <a:effectLst/>
        </p:spPr>
        <p:txBody>
          <a:bodyPr vert="horz" wrap="none" lIns="93027" tIns="46514" rIns="93027" bIns="46514" numCol="1" anchor="t" anchorCtr="0" compatLnSpc="1">
            <a:prstTxWarp prst="textNoShape">
              <a:avLst/>
            </a:prstTxWarp>
          </a:bodyPr>
          <a:lstStyle>
            <a:lvl1pPr algn="r" defTabSz="930275">
              <a:defRPr sz="1300">
                <a:latin typeface="Helvetica" charset="0"/>
                <a:ea typeface="+mn-ea"/>
                <a:cs typeface="+mn-cs"/>
              </a:defRPr>
            </a:lvl1pPr>
          </a:lstStyle>
          <a:p>
            <a:pPr>
              <a:defRPr/>
            </a:pPr>
            <a:endParaRPr lang="en-US"/>
          </a:p>
        </p:txBody>
      </p:sp>
      <p:sp>
        <p:nvSpPr>
          <p:cNvPr id="3076" name="Rectangle 4">
            <a:extLst>
              <a:ext uri="{FF2B5EF4-FFF2-40B4-BE49-F238E27FC236}">
                <a16:creationId xmlns:a16="http://schemas.microsoft.com/office/drawing/2014/main" id="{A2936E5F-4C9B-4144-9261-C3F188AA67D9}"/>
              </a:ext>
            </a:extLst>
          </p:cNvPr>
          <p:cNvSpPr>
            <a:spLocks noGrp="1" noRot="1" noChangeAspect="1" noChangeArrowheads="1" noTextEdit="1"/>
          </p:cNvSpPr>
          <p:nvPr>
            <p:ph type="sldImg" idx="2"/>
          </p:nvPr>
        </p:nvSpPr>
        <p:spPr bwMode="auto">
          <a:xfrm>
            <a:off x="1177925" y="696913"/>
            <a:ext cx="4641850" cy="3481387"/>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40645" name="Rectangle 5">
            <a:extLst>
              <a:ext uri="{FF2B5EF4-FFF2-40B4-BE49-F238E27FC236}">
                <a16:creationId xmlns:a16="http://schemas.microsoft.com/office/drawing/2014/main" id="{D73F14C5-05F8-4300-9D01-F3633C854740}"/>
              </a:ext>
            </a:extLst>
          </p:cNvPr>
          <p:cNvSpPr>
            <a:spLocks noGrp="1" noChangeArrowheads="1"/>
          </p:cNvSpPr>
          <p:nvPr>
            <p:ph type="body" sz="quarter" idx="3"/>
          </p:nvPr>
        </p:nvSpPr>
        <p:spPr bwMode="auto">
          <a:xfrm>
            <a:off x="931863" y="4410075"/>
            <a:ext cx="5133975" cy="4176713"/>
          </a:xfrm>
          <a:prstGeom prst="rect">
            <a:avLst/>
          </a:prstGeom>
          <a:noFill/>
          <a:ln w="9525">
            <a:noFill/>
            <a:miter lim="800000"/>
            <a:headEnd/>
            <a:tailEnd/>
          </a:ln>
          <a:effectLst/>
        </p:spPr>
        <p:txBody>
          <a:bodyPr vert="horz" wrap="none" lIns="93027" tIns="46514" rIns="93027" bIns="46514"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40646" name="Rectangle 6">
            <a:extLst>
              <a:ext uri="{FF2B5EF4-FFF2-40B4-BE49-F238E27FC236}">
                <a16:creationId xmlns:a16="http://schemas.microsoft.com/office/drawing/2014/main" id="{BCB6CAD9-A006-4455-8054-9CACB290288C}"/>
              </a:ext>
            </a:extLst>
          </p:cNvPr>
          <p:cNvSpPr>
            <a:spLocks noGrp="1" noChangeArrowheads="1"/>
          </p:cNvSpPr>
          <p:nvPr>
            <p:ph type="ftr" sz="quarter" idx="4"/>
          </p:nvPr>
        </p:nvSpPr>
        <p:spPr bwMode="auto">
          <a:xfrm>
            <a:off x="0" y="8820150"/>
            <a:ext cx="3032125" cy="463550"/>
          </a:xfrm>
          <a:prstGeom prst="rect">
            <a:avLst/>
          </a:prstGeom>
          <a:noFill/>
          <a:ln w="9525">
            <a:noFill/>
            <a:miter lim="800000"/>
            <a:headEnd/>
            <a:tailEnd/>
          </a:ln>
          <a:effectLst/>
        </p:spPr>
        <p:txBody>
          <a:bodyPr vert="horz" wrap="none" lIns="93027" tIns="46514" rIns="93027" bIns="46514" numCol="1" anchor="b"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40647" name="Rectangle 7">
            <a:extLst>
              <a:ext uri="{FF2B5EF4-FFF2-40B4-BE49-F238E27FC236}">
                <a16:creationId xmlns:a16="http://schemas.microsoft.com/office/drawing/2014/main" id="{63060AD7-0C3D-477B-BD60-55C8EBDB9451}"/>
              </a:ext>
            </a:extLst>
          </p:cNvPr>
          <p:cNvSpPr>
            <a:spLocks noGrp="1" noChangeArrowheads="1"/>
          </p:cNvSpPr>
          <p:nvPr>
            <p:ph type="sldNum" sz="quarter" idx="5"/>
          </p:nvPr>
        </p:nvSpPr>
        <p:spPr bwMode="auto">
          <a:xfrm>
            <a:off x="3965575" y="8820150"/>
            <a:ext cx="3032125" cy="463550"/>
          </a:xfrm>
          <a:prstGeom prst="rect">
            <a:avLst/>
          </a:prstGeom>
          <a:noFill/>
          <a:ln w="9525">
            <a:noFill/>
            <a:miter lim="800000"/>
            <a:headEnd/>
            <a:tailEnd/>
          </a:ln>
          <a:effectLst/>
        </p:spPr>
        <p:txBody>
          <a:bodyPr vert="horz" wrap="none" lIns="93027" tIns="46514" rIns="93027" bIns="46514" numCol="1" anchor="b" anchorCtr="0" compatLnSpc="1">
            <a:prstTxWarp prst="textNoShape">
              <a:avLst/>
            </a:prstTxWarp>
          </a:bodyPr>
          <a:lstStyle>
            <a:lvl1pPr algn="r" defTabSz="930275">
              <a:defRPr sz="1300"/>
            </a:lvl1pPr>
          </a:lstStyle>
          <a:p>
            <a:pPr>
              <a:defRPr/>
            </a:pPr>
            <a:fld id="{AE66C03C-4B0E-4149-8287-A3B340EB818D}"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ＭＳ Ｐゴシック" charset="0"/>
      </a:defRPr>
    </a:lvl1pPr>
    <a:lvl2pPr marL="4572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2pPr>
    <a:lvl3pPr marL="9144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3pPr>
    <a:lvl4pPr marL="13716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4pPr>
    <a:lvl5pPr marL="18288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1031">
            <a:extLst>
              <a:ext uri="{FF2B5EF4-FFF2-40B4-BE49-F238E27FC236}">
                <a16:creationId xmlns:a16="http://schemas.microsoft.com/office/drawing/2014/main" id="{B26C42E4-F176-46AC-8104-4779642F54D4}"/>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742950" indent="-285750" defTabSz="930275">
              <a:defRPr sz="1600">
                <a:solidFill>
                  <a:schemeClr val="tx1"/>
                </a:solidFill>
                <a:latin typeface="Helvetica" panose="020B0604020202020204" pitchFamily="34" charset="0"/>
                <a:ea typeface="MS PGothic" panose="020B0600070205080204" pitchFamily="34" charset="-128"/>
              </a:defRPr>
            </a:lvl2pPr>
            <a:lvl3pPr marL="1143000" indent="-228600" defTabSz="930275">
              <a:defRPr sz="1600">
                <a:solidFill>
                  <a:schemeClr val="tx1"/>
                </a:solidFill>
                <a:latin typeface="Helvetica" panose="020B0604020202020204" pitchFamily="34" charset="0"/>
                <a:ea typeface="MS PGothic" panose="020B0600070205080204" pitchFamily="34" charset="-128"/>
              </a:defRPr>
            </a:lvl3pPr>
            <a:lvl4pPr marL="1600200" indent="-228600" defTabSz="930275">
              <a:defRPr sz="1600">
                <a:solidFill>
                  <a:schemeClr val="tx1"/>
                </a:solidFill>
                <a:latin typeface="Helvetica" panose="020B0604020202020204" pitchFamily="34" charset="0"/>
                <a:ea typeface="MS PGothic" panose="020B0600070205080204" pitchFamily="34" charset="-128"/>
              </a:defRPr>
            </a:lvl4pPr>
            <a:lvl5pPr marL="2057400" indent="-228600" defTabSz="930275">
              <a:defRPr sz="16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E10B590F-A425-41F1-B17D-914592B3C7C4}" type="slidenum">
              <a:rPr lang="en-AU" altLang="en-US" sz="1200" smtClean="0">
                <a:latin typeface="Arial" panose="020B0604020202020204" pitchFamily="34" charset="0"/>
              </a:rPr>
              <a:pPr/>
              <a:t>1</a:t>
            </a:fld>
            <a:endParaRPr lang="en-AU" altLang="en-US" sz="1200">
              <a:latin typeface="Arial" panose="020B0604020202020204" pitchFamily="34" charset="0"/>
            </a:endParaRPr>
          </a:p>
        </p:txBody>
      </p:sp>
      <p:sp>
        <p:nvSpPr>
          <p:cNvPr id="6147" name="Rectangle 2">
            <a:extLst>
              <a:ext uri="{FF2B5EF4-FFF2-40B4-BE49-F238E27FC236}">
                <a16:creationId xmlns:a16="http://schemas.microsoft.com/office/drawing/2014/main" id="{220A6E00-3243-4C01-996A-9766B4E362DD}"/>
              </a:ext>
            </a:extLst>
          </p:cNvPr>
          <p:cNvSpPr>
            <a:spLocks noGrp="1" noRot="1" noChangeAspect="1" noChangeArrowheads="1" noTextEdit="1"/>
          </p:cNvSpPr>
          <p:nvPr>
            <p:ph type="sldImg"/>
          </p:nvPr>
        </p:nvSpPr>
        <p:spPr>
          <a:ln/>
        </p:spPr>
      </p:sp>
      <p:sp>
        <p:nvSpPr>
          <p:cNvPr id="6148" name="Rectangle 3">
            <a:extLst>
              <a:ext uri="{FF2B5EF4-FFF2-40B4-BE49-F238E27FC236}">
                <a16:creationId xmlns:a16="http://schemas.microsoft.com/office/drawing/2014/main" id="{52F24982-4C63-4608-8036-959A8EEC337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solidFill>
                  <a:srgbClr val="374151"/>
                </a:solidFill>
                <a:latin typeface="Söhne"/>
              </a:rPr>
              <a:t>Hello everyone,</a:t>
            </a:r>
          </a:p>
          <a:p>
            <a:r>
              <a:rPr lang="en-US" altLang="en-US">
                <a:solidFill>
                  <a:srgbClr val="374151"/>
                </a:solidFill>
                <a:latin typeface="Söhne"/>
              </a:rPr>
              <a:t>I'm Dr. Taghinezhad, and I'm thrilled to be your guide through the exciting world of advanced databases this semester.</a:t>
            </a:r>
          </a:p>
          <a:p>
            <a:r>
              <a:rPr lang="en-US" altLang="en-US">
                <a:solidFill>
                  <a:srgbClr val="374151"/>
                </a:solidFill>
                <a:latin typeface="Söhne"/>
              </a:rPr>
              <a:t>With a background in Computer Engineering and a focus on distributed systems, I've spent years diving into the intricacies of how data powers our digital world.</a:t>
            </a:r>
          </a:p>
          <a:p>
            <a:r>
              <a:rPr lang="en-US" altLang="en-US">
                <a:solidFill>
                  <a:srgbClr val="374151"/>
                </a:solidFill>
                <a:latin typeface="Söhne"/>
              </a:rPr>
              <a:t>Throughout this course, we'll explore everything from the basics of data modeling to the complex database and distributed databases. </a:t>
            </a:r>
          </a:p>
          <a:p>
            <a:r>
              <a:rPr lang="en-US" altLang="en-US">
                <a:solidFill>
                  <a:srgbClr val="374151"/>
                </a:solidFill>
                <a:latin typeface="Söhne"/>
              </a:rPr>
              <a:t>I believe in creating an environment where questions are encouraged, discussions are lively, and learning is a collaborative effort. So, I invite each of you to actively engage and share.</a:t>
            </a:r>
          </a:p>
          <a:p>
            <a:endParaRPr lang="en-US" altLang="en-US">
              <a:solidFill>
                <a:srgbClr val="374151"/>
              </a:solidFill>
              <a:latin typeface="Söhne"/>
            </a:endParaRPr>
          </a:p>
          <a:p>
            <a:r>
              <a:rPr lang="en-US" altLang="en-US">
                <a:solidFill>
                  <a:srgbClr val="374151"/>
                </a:solidFill>
                <a:latin typeface="Söhne"/>
              </a:rPr>
              <a:t>I want to introduce you to one of the major resources for this course: "Database System Concepts" by Abraham Silberschatz, Henry F. Korth, and S. Sudarshan.</a:t>
            </a:r>
          </a:p>
          <a:p>
            <a:r>
              <a:rPr lang="en-US" altLang="en-US">
                <a:solidFill>
                  <a:srgbClr val="374151"/>
                </a:solidFill>
                <a:latin typeface="Söhne"/>
              </a:rPr>
              <a:t>This textbook is like our trusty map as we navigate the complex terrain of database systems. It's not just any map, though—it's a detailed, comprehensive guide that will help us understand the landscape, identify key landmarks, and chart our course to mastery.</a:t>
            </a:r>
            <a:endParaRPr lang="fa-IR" altLang="en-US">
              <a:solidFill>
                <a:srgbClr val="374151"/>
              </a:solidFill>
              <a:latin typeface="Söhne"/>
            </a:endParaRPr>
          </a:p>
          <a:p>
            <a:endParaRPr lang="fa-IR" altLang="en-US">
              <a:solidFill>
                <a:srgbClr val="374151"/>
              </a:solidFill>
              <a:latin typeface="Söhne"/>
            </a:endParaRPr>
          </a:p>
          <a:p>
            <a:r>
              <a:rPr lang="en-US" altLang="en-US">
                <a:solidFill>
                  <a:srgbClr val="374151"/>
                </a:solidFill>
                <a:latin typeface="Söhne"/>
              </a:rPr>
              <a:t>If you are not going to attend in this calls. Please talk to before hand. Also select a representative among yourself. </a:t>
            </a:r>
          </a:p>
          <a:p>
            <a:endParaRPr lang="en-US" altLang="en-US">
              <a:solidFill>
                <a:srgbClr val="374151"/>
              </a:solidFill>
              <a:latin typeface="Söhne"/>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F9C98366-10B6-4C97-9C68-1B8DAD89E8AC}" type="slidenum">
              <a:rPr lang="en-US" altLang="en-US" sz="1200"/>
              <a:pPr/>
              <a:t>3</a:t>
            </a:fld>
            <a:endParaRPr lang="en-US" altLang="en-US" sz="1200"/>
          </a:p>
        </p:txBody>
      </p:sp>
      <p:sp>
        <p:nvSpPr>
          <p:cNvPr id="110595" name="Rectangle 2"/>
          <p:cNvSpPr>
            <a:spLocks noGrp="1" noRot="1" noChangeAspect="1" noChangeArrowheads="1" noTextEdit="1"/>
          </p:cNvSpPr>
          <p:nvPr>
            <p:ph type="sldImg"/>
          </p:nvPr>
        </p:nvSpPr>
        <p:spPr>
          <a:xfrm>
            <a:off x="1177925" y="695325"/>
            <a:ext cx="4641850" cy="3481388"/>
          </a:xfrm>
          <a:ln/>
        </p:spPr>
      </p:sp>
      <p:sp>
        <p:nvSpPr>
          <p:cNvPr id="11059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8797963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6A48278F-1CF2-4C20-9F87-85520FC94509}" type="slidenum">
              <a:rPr lang="en-US" altLang="en-US" sz="1200"/>
              <a:pPr/>
              <a:t>4</a:t>
            </a:fld>
            <a:endParaRPr lang="en-US" altLang="en-US" sz="1200"/>
          </a:p>
        </p:txBody>
      </p:sp>
      <p:sp>
        <p:nvSpPr>
          <p:cNvPr id="111619" name="Rectangle 2"/>
          <p:cNvSpPr>
            <a:spLocks noGrp="1" noRot="1" noChangeAspect="1" noChangeArrowheads="1" noTextEdit="1"/>
          </p:cNvSpPr>
          <p:nvPr>
            <p:ph type="sldImg"/>
          </p:nvPr>
        </p:nvSpPr>
        <p:spPr>
          <a:xfrm>
            <a:off x="1177925" y="695325"/>
            <a:ext cx="4641850" cy="3481388"/>
          </a:xfrm>
          <a:ln/>
        </p:spPr>
      </p:sp>
      <p:sp>
        <p:nvSpPr>
          <p:cNvPr id="11162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3589042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b="1" dirty="0"/>
              <a:t>1. Unnormalized Data</a:t>
            </a:r>
          </a:p>
          <a:p>
            <a:pPr>
              <a:buFont typeface="Arial" panose="020B0604020202020204" pitchFamily="34" charset="0"/>
              <a:buChar char="•"/>
            </a:pPr>
            <a:r>
              <a:rPr lang="en-US" dirty="0"/>
              <a:t>The table includes </a:t>
            </a:r>
            <a:r>
              <a:rPr lang="en-US" b="1" dirty="0"/>
              <a:t>repeated and redundant data</a:t>
            </a:r>
            <a:r>
              <a:rPr lang="en-US" dirty="0"/>
              <a:t> in multiple rows. For example:</a:t>
            </a:r>
          </a:p>
          <a:p>
            <a:pPr marL="742950" lvl="1" indent="-285750">
              <a:buFont typeface="Arial" panose="020B0604020202020204" pitchFamily="34" charset="0"/>
              <a:buChar char="•"/>
            </a:pPr>
            <a:r>
              <a:rPr lang="en-US" dirty="0"/>
              <a:t>The customer information (e.g., Customer No, First, Last, Address, Credit Limit) is repeated for every sale associated with the same customer.</a:t>
            </a:r>
          </a:p>
          <a:p>
            <a:pPr marL="742950" lvl="1" indent="-285750">
              <a:buFont typeface="Arial" panose="020B0604020202020204" pitchFamily="34" charset="0"/>
              <a:buChar char="•"/>
            </a:pPr>
            <a:r>
              <a:rPr lang="en-US" dirty="0"/>
              <a:t>Sales representative (</a:t>
            </a:r>
            <a:r>
              <a:rPr lang="en-US" dirty="0" err="1"/>
              <a:t>Salesrep</a:t>
            </a:r>
            <a:r>
              <a:rPr lang="en-US" dirty="0"/>
              <a:t>) names appear repeatedly, despite being associated with multiple sales.</a:t>
            </a:r>
          </a:p>
          <a:p>
            <a:endParaRPr lang="en-US" b="1" dirty="0"/>
          </a:p>
          <a:p>
            <a:r>
              <a:rPr lang="en-US" b="1" dirty="0"/>
              <a:t>2. Data Duplication</a:t>
            </a:r>
          </a:p>
          <a:p>
            <a:pPr>
              <a:buFont typeface="Arial" panose="020B0604020202020204" pitchFamily="34" charset="0"/>
              <a:buChar char="•"/>
            </a:pPr>
            <a:r>
              <a:rPr lang="en-US" dirty="0"/>
              <a:t>The </a:t>
            </a:r>
            <a:r>
              <a:rPr lang="en-US" b="1" dirty="0"/>
              <a:t>product information</a:t>
            </a:r>
            <a:r>
              <a:rPr lang="en-US" dirty="0"/>
              <a:t> (e.g., </a:t>
            </a:r>
            <a:r>
              <a:rPr lang="en-US" dirty="0" err="1"/>
              <a:t>ProductNo</a:t>
            </a:r>
            <a:r>
              <a:rPr lang="en-US" dirty="0"/>
              <a:t>, Qty, Amount) is not separated into a distinct entity. This redundancy increases storage requirements and the risk of inconsistencies if the product details are updated.</a:t>
            </a:r>
          </a:p>
          <a:p>
            <a:endParaRPr lang="en-US" b="1" dirty="0"/>
          </a:p>
          <a:p>
            <a:r>
              <a:rPr lang="en-US" b="1" dirty="0"/>
              <a:t>3. Violation of 1NF (First Normal Form)</a:t>
            </a:r>
          </a:p>
          <a:p>
            <a:pPr>
              <a:buFont typeface="Arial" panose="020B0604020202020204" pitchFamily="34" charset="0"/>
              <a:buChar char="•"/>
            </a:pPr>
            <a:r>
              <a:rPr lang="en-US" dirty="0"/>
              <a:t>The table contains </a:t>
            </a:r>
            <a:r>
              <a:rPr lang="en-US" b="1" dirty="0"/>
              <a:t>null values</a:t>
            </a:r>
            <a:r>
              <a:rPr lang="en-US" dirty="0"/>
              <a:t> (e.g., in the Credit Limit and Address columns), which may indicate partial or missing data.</a:t>
            </a:r>
          </a:p>
          <a:p>
            <a:pPr>
              <a:buFont typeface="Arial" panose="020B0604020202020204" pitchFamily="34" charset="0"/>
              <a:buChar char="•"/>
            </a:pPr>
            <a:r>
              <a:rPr lang="en-US" dirty="0"/>
              <a:t>Repeated fields (like First, Last, and Address for customers) could be better organized into separate tables.</a:t>
            </a:r>
          </a:p>
          <a:p>
            <a:r>
              <a:rPr lang="en-US" b="1" dirty="0"/>
              <a:t>4. Violation of 2NF (Second Normal Form)</a:t>
            </a:r>
          </a:p>
          <a:p>
            <a:pPr>
              <a:buFont typeface="Arial" panose="020B0604020202020204" pitchFamily="34" charset="0"/>
              <a:buChar char="•"/>
            </a:pPr>
            <a:r>
              <a:rPr lang="en-US" b="1" dirty="0"/>
              <a:t>Partial dependencies</a:t>
            </a:r>
            <a:r>
              <a:rPr lang="en-US" dirty="0"/>
              <a:t> are evident:</a:t>
            </a:r>
          </a:p>
          <a:p>
            <a:pPr marL="742950" lvl="1" indent="-285750">
              <a:buFont typeface="Arial" panose="020B0604020202020204" pitchFamily="34" charset="0"/>
              <a:buChar char="•"/>
            </a:pPr>
            <a:r>
              <a:rPr lang="en-US" dirty="0"/>
              <a:t>Customer No determines First, Last, Address, and Credit Limit. These attributes depend only on Customer No and not on the entire primary key (Sale No or </a:t>
            </a:r>
            <a:r>
              <a:rPr lang="en-US" dirty="0" err="1"/>
              <a:t>ProductNo</a:t>
            </a:r>
            <a:r>
              <a:rPr lang="en-US" dirty="0"/>
              <a:t>).</a:t>
            </a:r>
          </a:p>
          <a:p>
            <a:pPr marL="742950" lvl="1" indent="-285750">
              <a:buFont typeface="Arial" panose="020B0604020202020204" pitchFamily="34" charset="0"/>
              <a:buChar char="•"/>
            </a:pPr>
            <a:r>
              <a:rPr lang="en-US" dirty="0" err="1"/>
              <a:t>Salesrep</a:t>
            </a:r>
            <a:r>
              <a:rPr lang="en-US" dirty="0"/>
              <a:t> data is repeated across multiple rows, and attributes like </a:t>
            </a:r>
            <a:r>
              <a:rPr lang="en-US" dirty="0" err="1"/>
              <a:t>Salesrep</a:t>
            </a:r>
            <a:r>
              <a:rPr lang="en-US" dirty="0"/>
              <a:t> should belong to a separate </a:t>
            </a:r>
            <a:r>
              <a:rPr lang="en-US" dirty="0" err="1"/>
              <a:t>Salesrep</a:t>
            </a:r>
            <a:r>
              <a:rPr lang="en-US" dirty="0"/>
              <a:t> table.</a:t>
            </a:r>
          </a:p>
          <a:p>
            <a:r>
              <a:rPr lang="en-US" b="1" dirty="0"/>
              <a:t>5. Violation of 3NF (Third Normal Form)</a:t>
            </a:r>
          </a:p>
          <a:p>
            <a:pPr>
              <a:buFont typeface="Arial" panose="020B0604020202020204" pitchFamily="34" charset="0"/>
              <a:buChar char="•"/>
            </a:pPr>
            <a:r>
              <a:rPr lang="en-US" b="1" dirty="0"/>
              <a:t>Transitive dependencies</a:t>
            </a:r>
            <a:r>
              <a:rPr lang="en-US" dirty="0"/>
              <a:t> exist:</a:t>
            </a:r>
          </a:p>
          <a:p>
            <a:pPr marL="742950" lvl="1" indent="-285750">
              <a:buFont typeface="Arial" panose="020B0604020202020204" pitchFamily="34" charset="0"/>
              <a:buChar char="•"/>
            </a:pPr>
            <a:r>
              <a:rPr lang="en-US" dirty="0"/>
              <a:t>Attributes like First, Last, Address, and Credit Limit are indirectly dependent on the primary key through Customer No.</a:t>
            </a:r>
          </a:p>
          <a:p>
            <a:pPr marL="742950" lvl="1" indent="-285750">
              <a:buFont typeface="Arial" panose="020B0604020202020204" pitchFamily="34" charset="0"/>
              <a:buChar char="•"/>
            </a:pPr>
            <a:r>
              <a:rPr lang="en-US" dirty="0"/>
              <a:t>Similarly, Amount could potentially be derived from Qty and </a:t>
            </a:r>
            <a:r>
              <a:rPr lang="en-US" dirty="0" err="1"/>
              <a:t>ProductNo</a:t>
            </a:r>
            <a:r>
              <a:rPr lang="en-US" dirty="0"/>
              <a:t>.</a:t>
            </a:r>
          </a:p>
          <a:p>
            <a:r>
              <a:rPr lang="en-US" b="1" dirty="0"/>
              <a:t>6. No Clear Entity-Relationship</a:t>
            </a:r>
          </a:p>
          <a:p>
            <a:pPr>
              <a:buFont typeface="Arial" panose="020B0604020202020204" pitchFamily="34" charset="0"/>
              <a:buChar char="•"/>
            </a:pPr>
            <a:r>
              <a:rPr lang="en-US" dirty="0"/>
              <a:t>The table mixes multiple entities (e.g., sales, customers, products, and sales representatives) in a single table instead of organizing them into separate entities with relationships.</a:t>
            </a:r>
          </a:p>
          <a:p>
            <a:pPr>
              <a:buFont typeface="Arial" panose="020B0604020202020204" pitchFamily="34" charset="0"/>
              <a:buChar char="•"/>
            </a:pPr>
            <a:r>
              <a:rPr lang="en-US" dirty="0"/>
              <a:t>Relationships between entities like </a:t>
            </a:r>
            <a:r>
              <a:rPr lang="en-US" dirty="0" err="1"/>
              <a:t>Salesrep</a:t>
            </a:r>
            <a:r>
              <a:rPr lang="en-US" dirty="0"/>
              <a:t> and Customer are not clearly defined, which can lead to difficulty in querying the data.</a:t>
            </a:r>
          </a:p>
          <a:p>
            <a:r>
              <a:rPr lang="en-US" b="1" dirty="0"/>
              <a:t>Proposed Solution (Normalization)</a:t>
            </a:r>
          </a:p>
          <a:p>
            <a:pPr>
              <a:buFont typeface="+mj-lt"/>
              <a:buAutoNum type="arabicPeriod"/>
            </a:pPr>
            <a:r>
              <a:rPr lang="en-US" b="1" dirty="0"/>
              <a:t>Separate Tables</a:t>
            </a:r>
            <a:endParaRPr lang="en-US" dirty="0"/>
          </a:p>
          <a:p>
            <a:pPr marL="742950" lvl="1" indent="-285750">
              <a:buFont typeface="+mj-lt"/>
              <a:buAutoNum type="arabicPeriod"/>
            </a:pPr>
            <a:r>
              <a:rPr lang="en-US" dirty="0"/>
              <a:t>Create separate tables for:</a:t>
            </a:r>
          </a:p>
          <a:p>
            <a:pPr marL="1143000" lvl="2" indent="-228600">
              <a:buFont typeface="+mj-lt"/>
              <a:buAutoNum type="arabicPeriod"/>
            </a:pPr>
            <a:r>
              <a:rPr lang="en-US" dirty="0"/>
              <a:t>Customers (Customer No, First, Last, Address, Credit Limit)</a:t>
            </a:r>
          </a:p>
          <a:p>
            <a:pPr marL="1143000" lvl="2" indent="-228600">
              <a:buFont typeface="+mj-lt"/>
              <a:buAutoNum type="arabicPeriod"/>
            </a:pPr>
            <a:r>
              <a:rPr lang="en-US" dirty="0"/>
              <a:t>Sales Representatives (</a:t>
            </a:r>
            <a:r>
              <a:rPr lang="en-US" dirty="0" err="1"/>
              <a:t>Salesrep</a:t>
            </a:r>
            <a:r>
              <a:rPr lang="en-US" dirty="0"/>
              <a:t> ID, </a:t>
            </a:r>
            <a:r>
              <a:rPr lang="en-US" dirty="0" err="1"/>
              <a:t>Salesrep</a:t>
            </a:r>
            <a:r>
              <a:rPr lang="en-US" dirty="0"/>
              <a:t> Name)</a:t>
            </a:r>
          </a:p>
          <a:p>
            <a:pPr marL="1143000" lvl="2" indent="-228600">
              <a:buFont typeface="+mj-lt"/>
              <a:buAutoNum type="arabicPeriod"/>
            </a:pPr>
            <a:r>
              <a:rPr lang="en-US" dirty="0"/>
              <a:t>Products (Product No, Product Name, Unit Price, etc.)</a:t>
            </a:r>
          </a:p>
          <a:p>
            <a:pPr marL="1143000" lvl="2" indent="-228600">
              <a:buFont typeface="+mj-lt"/>
              <a:buAutoNum type="arabicPeriod"/>
            </a:pPr>
            <a:r>
              <a:rPr lang="en-US" dirty="0"/>
              <a:t>Sales (Sale No, </a:t>
            </a:r>
            <a:r>
              <a:rPr lang="en-US" dirty="0" err="1"/>
              <a:t>SaleDate</a:t>
            </a:r>
            <a:r>
              <a:rPr lang="en-US" dirty="0"/>
              <a:t>, Customer No, </a:t>
            </a:r>
            <a:r>
              <a:rPr lang="en-US" dirty="0" err="1"/>
              <a:t>Salesrep</a:t>
            </a:r>
            <a:r>
              <a:rPr lang="en-US" dirty="0"/>
              <a:t> ID, etc.)</a:t>
            </a:r>
          </a:p>
          <a:p>
            <a:pPr marL="1143000" lvl="2" indent="-228600">
              <a:buFont typeface="+mj-lt"/>
              <a:buAutoNum type="arabicPeriod"/>
            </a:pPr>
            <a:r>
              <a:rPr lang="en-US" dirty="0"/>
              <a:t>Sale Details (Sale No, Product No, Qty, Amount)</a:t>
            </a:r>
          </a:p>
          <a:p>
            <a:pPr>
              <a:buFont typeface="+mj-lt"/>
              <a:buAutoNum type="arabicPeriod"/>
            </a:pPr>
            <a:r>
              <a:rPr lang="en-US" b="1" dirty="0"/>
              <a:t>Establish Relationships</a:t>
            </a:r>
            <a:endParaRPr lang="en-US" dirty="0"/>
          </a:p>
          <a:p>
            <a:pPr marL="742950" lvl="1" indent="-285750">
              <a:buFont typeface="+mj-lt"/>
              <a:buAutoNum type="arabicPeriod"/>
            </a:pPr>
            <a:r>
              <a:rPr lang="en-US" dirty="0"/>
              <a:t>Use foreign keys to define relationships between tables (e.g., Customer No as a foreign key in the Sales table).</a:t>
            </a:r>
          </a:p>
          <a:p>
            <a:pPr>
              <a:buFont typeface="+mj-lt"/>
              <a:buAutoNum type="arabicPeriod"/>
            </a:pPr>
            <a:r>
              <a:rPr lang="en-US" b="1" dirty="0"/>
              <a:t>Remove Redundancy</a:t>
            </a:r>
            <a:endParaRPr lang="en-US" dirty="0"/>
          </a:p>
          <a:p>
            <a:pPr marL="742950" lvl="1" indent="-285750">
              <a:buFont typeface="+mj-lt"/>
              <a:buAutoNum type="arabicPeriod"/>
            </a:pPr>
            <a:r>
              <a:rPr lang="en-US" dirty="0"/>
              <a:t>Avoid repeating information by normalizing the database to at least </a:t>
            </a:r>
            <a:r>
              <a:rPr lang="en-US" b="1" dirty="0"/>
              <a:t>3NF</a:t>
            </a:r>
            <a:r>
              <a:rPr lang="en-US" dirty="0"/>
              <a:t>.</a:t>
            </a: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7</a:t>
            </a:fld>
            <a:endParaRPr lang="en-US" altLang="en-US"/>
          </a:p>
        </p:txBody>
      </p:sp>
    </p:spTree>
    <p:extLst>
      <p:ext uri="{BB962C8B-B14F-4D97-AF65-F5344CB8AC3E}">
        <p14:creationId xmlns:p14="http://schemas.microsoft.com/office/powerpoint/2010/main" val="12089488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10</a:t>
            </a:fld>
            <a:endParaRPr lang="en-US" altLang="en-US"/>
          </a:p>
        </p:txBody>
      </p:sp>
    </p:spTree>
    <p:extLst>
      <p:ext uri="{BB962C8B-B14F-4D97-AF65-F5344CB8AC3E}">
        <p14:creationId xmlns:p14="http://schemas.microsoft.com/office/powerpoint/2010/main" val="42528089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arrays formally violate First Normal Form, their use can be justified as a controlled denormalization when the attribute represents an indivisible conceptual unit, is bounded, and is not subject to relational operations.”</a:t>
            </a:r>
          </a:p>
          <a:p>
            <a:endParaRPr lang="en-US" dirty="0"/>
          </a:p>
          <a:p>
            <a:r>
              <a:rPr lang="en-US" dirty="0"/>
              <a:t>PostgreSQL is sometimes described as </a:t>
            </a:r>
            <a:r>
              <a:rPr lang="en-US" b="1" dirty="0"/>
              <a:t>object-relational</a:t>
            </a:r>
            <a:r>
              <a:rPr lang="en-US" dirty="0"/>
              <a:t>, not purely relational. Its support for arrays and JSON is a deliberate relaxation of 1NF constraints for practical and performance reasons.</a:t>
            </a:r>
          </a:p>
          <a:p>
            <a:endParaRPr lang="en-US" dirty="0"/>
          </a:p>
          <a:p>
            <a:r>
              <a:rPr lang="en-US" b="1" dirty="0"/>
              <a:t>When violating 1NF is not justifiable</a:t>
            </a:r>
          </a:p>
          <a:p>
            <a:r>
              <a:rPr lang="en-US" dirty="0"/>
              <a:t>Arrays are </a:t>
            </a:r>
            <a:r>
              <a:rPr lang="en-US" b="1" dirty="0"/>
              <a:t>not defensible</a:t>
            </a:r>
            <a:r>
              <a:rPr lang="en-US" dirty="0"/>
              <a:t> when:</a:t>
            </a:r>
          </a:p>
          <a:p>
            <a:r>
              <a:rPr lang="en-US" dirty="0"/>
              <a:t>❌ Elements require:</a:t>
            </a:r>
          </a:p>
          <a:p>
            <a:r>
              <a:rPr lang="en-US" dirty="0"/>
              <a:t>Joins</a:t>
            </a:r>
          </a:p>
          <a:p>
            <a:r>
              <a:rPr lang="en-US" dirty="0"/>
              <a:t>Constraints</a:t>
            </a:r>
          </a:p>
          <a:p>
            <a:r>
              <a:rPr lang="en-US" dirty="0"/>
              <a:t>Foreign keys</a:t>
            </a:r>
          </a:p>
          <a:p>
            <a:r>
              <a:rPr lang="en-US" dirty="0"/>
              <a:t>Individual indexing</a:t>
            </a:r>
          </a:p>
          <a:p>
            <a:r>
              <a:rPr lang="en-US" dirty="0"/>
              <a:t>Updates</a:t>
            </a:r>
          </a:p>
          <a:p>
            <a:r>
              <a:rPr lang="en-US" dirty="0"/>
              <a:t>❌ Business rules apply per element</a:t>
            </a:r>
          </a:p>
          <a:p>
            <a:r>
              <a:rPr lang="en-US" dirty="0"/>
              <a:t>❌ Functional dependencies exist across elements</a:t>
            </a:r>
          </a:p>
          <a:p>
            <a:endParaRPr lang="en-US" dirty="0"/>
          </a:p>
          <a:p>
            <a:r>
              <a:rPr lang="en-US" b="1" dirty="0"/>
              <a:t>Example (bad)</a:t>
            </a:r>
            <a:endParaRPr lang="en-US" dirty="0"/>
          </a:p>
          <a:p>
            <a:pPr rtl="0"/>
            <a:r>
              <a:rPr lang="en-US" sz="1200" kern="1200" dirty="0">
                <a:solidFill>
                  <a:schemeClr val="tx1"/>
                </a:solidFill>
                <a:latin typeface="Times New Roman" charset="0"/>
                <a:ea typeface="MS PGothic" panose="020B0600070205080204" pitchFamily="34" charset="-128"/>
                <a:cs typeface="ＭＳ Ｐゴシック" charset="0"/>
              </a:rPr>
              <a:t>orders(</a:t>
            </a:r>
            <a:r>
              <a:rPr lang="en-US" sz="1200" kern="1200" dirty="0" err="1">
                <a:solidFill>
                  <a:schemeClr val="tx1"/>
                </a:solidFill>
                <a:latin typeface="Times New Roman" charset="0"/>
                <a:ea typeface="MS PGothic" panose="020B0600070205080204" pitchFamily="34" charset="-128"/>
                <a:cs typeface="ＭＳ Ｐゴシック" charset="0"/>
              </a:rPr>
              <a:t>product_ids</a:t>
            </a:r>
            <a:r>
              <a:rPr lang="en-US" sz="1200" kern="1200" dirty="0">
                <a:solidFill>
                  <a:schemeClr val="tx1"/>
                </a:solidFill>
                <a:latin typeface="Times New Roman" charset="0"/>
                <a:ea typeface="MS PGothic" panose="020B0600070205080204" pitchFamily="34" charset="-128"/>
                <a:cs typeface="ＭＳ Ｐゴシック" charset="0"/>
              </a:rPr>
              <a:t> INT[])</a:t>
            </a:r>
          </a:p>
          <a:p>
            <a:r>
              <a:rPr lang="en-US" dirty="0"/>
              <a:t>This guarantees:</a:t>
            </a:r>
          </a:p>
          <a:p>
            <a:r>
              <a:rPr lang="en-US" dirty="0"/>
              <a:t>Insert anomalies</a:t>
            </a:r>
          </a:p>
          <a:p>
            <a:r>
              <a:rPr lang="en-US" dirty="0"/>
              <a:t>Delete anomalies</a:t>
            </a:r>
          </a:p>
          <a:p>
            <a:r>
              <a:rPr lang="en-US" dirty="0"/>
              <a:t>Referential integrity violations</a:t>
            </a:r>
          </a:p>
          <a:p>
            <a:endParaRPr lang="en-US" dirty="0"/>
          </a:p>
          <a:p>
            <a:endParaRPr lang="en-US" dirty="0"/>
          </a:p>
        </p:txBody>
      </p:sp>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13</a:t>
            </a:fld>
            <a:endParaRPr lang="en-US" altLang="en-US"/>
          </a:p>
        </p:txBody>
      </p:sp>
    </p:spTree>
    <p:extLst>
      <p:ext uri="{BB962C8B-B14F-4D97-AF65-F5344CB8AC3E}">
        <p14:creationId xmlns:p14="http://schemas.microsoft.com/office/powerpoint/2010/main" val="34026940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fa-IR" sz="1200" b="0" i="0" kern="1200" dirty="0">
                <a:solidFill>
                  <a:schemeClr val="tx1"/>
                </a:solidFill>
                <a:effectLst/>
                <a:latin typeface="+mn-lt"/>
                <a:ea typeface="+mn-ea"/>
                <a:cs typeface="+mn-cs"/>
              </a:rPr>
              <a:t>ترکيب غير تکراری </a:t>
            </a:r>
            <a:r>
              <a:rPr lang="en-US" sz="1200" b="0" i="0" kern="1200" dirty="0" err="1">
                <a:solidFill>
                  <a:schemeClr val="tx1"/>
                </a:solidFill>
                <a:effectLst/>
                <a:latin typeface="+mn-lt"/>
                <a:ea typeface="+mn-ea"/>
                <a:cs typeface="+mn-cs"/>
              </a:rPr>
              <a:t>ProductNo+CustomerNo+SaleNo</a:t>
            </a:r>
            <a:r>
              <a:rPr lang="en-US" sz="1200" b="0" i="0" kern="1200" dirty="0">
                <a:solidFill>
                  <a:schemeClr val="tx1"/>
                </a:solidFill>
                <a:effectLst/>
                <a:latin typeface="+mn-lt"/>
                <a:ea typeface="+mn-ea"/>
                <a:cs typeface="+mn-cs"/>
              </a:rPr>
              <a:t> </a:t>
            </a:r>
            <a:r>
              <a:rPr lang="fa-IR" sz="1200" b="0" i="0" kern="1200" dirty="0">
                <a:solidFill>
                  <a:schemeClr val="tx1"/>
                </a:solidFill>
                <a:effectLst/>
                <a:latin typeface="+mn-lt"/>
                <a:ea typeface="+mn-ea"/>
                <a:cs typeface="+mn-cs"/>
              </a:rPr>
              <a:t>را می توان کليد اصلی درنظر گرفت.</a:t>
            </a:r>
          </a:p>
          <a:p>
            <a:pPr algn="r" rtl="1"/>
            <a:r>
              <a:rPr lang="en-US" sz="1200" b="1" i="0" kern="1200" dirty="0">
                <a:solidFill>
                  <a:schemeClr val="tx1"/>
                </a:solidFill>
                <a:effectLst/>
                <a:latin typeface="+mn-lt"/>
                <a:ea typeface="+mn-ea"/>
                <a:cs typeface="+mn-cs"/>
              </a:rPr>
              <a:t>ALL_SALES(</a:t>
            </a:r>
            <a:r>
              <a:rPr lang="en-US" sz="1200" b="1" i="0" u="sng" kern="1200" dirty="0" err="1">
                <a:solidFill>
                  <a:schemeClr val="tx1"/>
                </a:solidFill>
                <a:effectLst/>
                <a:latin typeface="+mn-lt"/>
                <a:ea typeface="+mn-ea"/>
                <a:cs typeface="+mn-cs"/>
              </a:rPr>
              <a:t>SaleNo</a:t>
            </a:r>
            <a:r>
              <a:rPr lang="en-US" sz="1200" b="1" i="0" u="sng" kern="1200" dirty="0">
                <a:solidFill>
                  <a:schemeClr val="tx1"/>
                </a:solidFill>
                <a:effectLst/>
                <a:latin typeface="+mn-lt"/>
                <a:ea typeface="+mn-ea"/>
                <a:cs typeface="+mn-cs"/>
              </a:rPr>
              <a:t>, </a:t>
            </a:r>
            <a:r>
              <a:rPr lang="en-US" sz="1200" b="1" i="0" u="sng" kern="1200" dirty="0" err="1">
                <a:solidFill>
                  <a:schemeClr val="tx1"/>
                </a:solidFill>
                <a:effectLst/>
                <a:latin typeface="+mn-lt"/>
                <a:ea typeface="+mn-ea"/>
                <a:cs typeface="+mn-cs"/>
              </a:rPr>
              <a:t>ProductNo</a:t>
            </a:r>
            <a:r>
              <a:rPr lang="en-US" sz="1200" b="1" i="0" u="sng" kern="1200" dirty="0">
                <a:solidFill>
                  <a:schemeClr val="tx1"/>
                </a:solidFill>
                <a:effectLst/>
                <a:latin typeface="+mn-lt"/>
                <a:ea typeface="+mn-ea"/>
                <a:cs typeface="+mn-cs"/>
              </a:rPr>
              <a:t>, </a:t>
            </a:r>
            <a:r>
              <a:rPr lang="en-US" sz="1200" b="1" i="0" u="sng" kern="1200" dirty="0" err="1">
                <a:solidFill>
                  <a:schemeClr val="tx1"/>
                </a:solidFill>
                <a:effectLst/>
                <a:latin typeface="+mn-lt"/>
                <a:ea typeface="+mn-ea"/>
                <a:cs typeface="+mn-cs"/>
              </a:rPr>
              <a:t>CustomerNo</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SaleDate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QtyInStock</a:t>
            </a:r>
            <a:r>
              <a:rPr lang="en-US" sz="1200" b="1" i="0" kern="1200" dirty="0">
                <a:solidFill>
                  <a:schemeClr val="tx1"/>
                </a:solidFill>
                <a:effectLst/>
                <a:latin typeface="+mn-lt"/>
                <a:ea typeface="+mn-ea"/>
                <a:cs typeface="+mn-cs"/>
              </a:rPr>
              <a:t>, Description, Price, </a:t>
            </a:r>
            <a:r>
              <a:rPr lang="en-US" sz="1200" b="1" i="0" kern="1200" dirty="0" err="1">
                <a:solidFill>
                  <a:schemeClr val="tx1"/>
                </a:solidFill>
                <a:effectLst/>
                <a:latin typeface="+mn-lt"/>
                <a:ea typeface="+mn-ea"/>
                <a:cs typeface="+mn-cs"/>
              </a:rPr>
              <a:t>Customer_Name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Customer_Address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CreditLimit</a:t>
            </a:r>
            <a:r>
              <a:rPr lang="en-US" sz="1200" b="1" i="0" kern="1200" dirty="0">
                <a:solidFill>
                  <a:schemeClr val="tx1"/>
                </a:solidFill>
                <a:effectLst/>
                <a:latin typeface="+mn-lt"/>
                <a:ea typeface="+mn-ea"/>
                <a:cs typeface="+mn-cs"/>
              </a:rPr>
              <a:t>, Amount, </a:t>
            </a:r>
            <a:r>
              <a:rPr lang="en-US" sz="1200" b="1" i="0" kern="1200" dirty="0" err="1">
                <a:solidFill>
                  <a:schemeClr val="tx1"/>
                </a:solidFill>
                <a:effectLst/>
                <a:latin typeface="+mn-lt"/>
                <a:ea typeface="+mn-ea"/>
                <a:cs typeface="+mn-cs"/>
              </a:rPr>
              <a:t>Salesr</a:t>
            </a:r>
            <a:endParaRPr lang="en-US" sz="1200" b="1" i="0" kern="1200" dirty="0">
              <a:solidFill>
                <a:schemeClr val="tx1"/>
              </a:solidFill>
              <a:effectLst/>
              <a:latin typeface="+mn-lt"/>
              <a:ea typeface="+mn-ea"/>
              <a:cs typeface="+mn-cs"/>
            </a:endParaRPr>
          </a:p>
          <a:p>
            <a:pPr algn="r" rtl="1"/>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14</a:t>
            </a:fld>
            <a:endParaRPr lang="en-US" altLang="en-US"/>
          </a:p>
        </p:txBody>
      </p:sp>
    </p:spTree>
    <p:extLst>
      <p:ext uri="{BB962C8B-B14F-4D97-AF65-F5344CB8AC3E}">
        <p14:creationId xmlns:p14="http://schemas.microsoft.com/office/powerpoint/2010/main" val="13657766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b="1" dirty="0"/>
              <a:t>Why This Table Is 1NF</a:t>
            </a:r>
          </a:p>
          <a:p>
            <a:pPr>
              <a:buFont typeface="+mj-lt"/>
              <a:buAutoNum type="arabicPeriod"/>
            </a:pPr>
            <a:r>
              <a:rPr lang="en-US" b="1" dirty="0"/>
              <a:t>Atomic Values</a:t>
            </a:r>
            <a:r>
              <a:rPr lang="en-US" dirty="0"/>
              <a:t>:</a:t>
            </a:r>
          </a:p>
          <a:p>
            <a:pPr marL="742950" lvl="1" indent="-285750">
              <a:buFont typeface="+mj-lt"/>
              <a:buAutoNum type="arabicPeriod"/>
            </a:pPr>
            <a:r>
              <a:rPr lang="en-US" dirty="0"/>
              <a:t>Each cell contains a single, indivisible value. For example:</a:t>
            </a:r>
          </a:p>
          <a:p>
            <a:pPr marL="1143000" lvl="2" indent="-228600">
              <a:buFont typeface="+mj-lt"/>
              <a:buAutoNum type="arabicPeriod"/>
            </a:pPr>
            <a:r>
              <a:rPr lang="en-US" dirty="0"/>
              <a:t>Customer No is a single atomic field (e.g., 4649-4673 is not a composite value but rather a single identifier).</a:t>
            </a:r>
          </a:p>
          <a:p>
            <a:pPr marL="1143000" lvl="2" indent="-228600">
              <a:buFont typeface="+mj-lt"/>
              <a:buAutoNum type="arabicPeriod"/>
            </a:pPr>
            <a:r>
              <a:rPr lang="en-US" dirty="0"/>
              <a:t>Other fields like First, Last, Amount, and Qty also contain atomic data.</a:t>
            </a:r>
          </a:p>
          <a:p>
            <a:pPr>
              <a:buFont typeface="+mj-lt"/>
              <a:buAutoNum type="arabicPeriod"/>
            </a:pPr>
            <a:r>
              <a:rPr lang="en-US" b="1" dirty="0"/>
              <a:t>Unique Rows</a:t>
            </a:r>
            <a:r>
              <a:rPr lang="en-US" dirty="0"/>
              <a:t>:</a:t>
            </a:r>
          </a:p>
          <a:p>
            <a:pPr marL="742950" lvl="1" indent="-285750">
              <a:buFont typeface="+mj-lt"/>
              <a:buAutoNum type="arabicPeriod"/>
            </a:pPr>
            <a:r>
              <a:rPr lang="en-US" dirty="0"/>
              <a:t>Each row can be uniquely identified, most likely by the combination of Sale No and </a:t>
            </a:r>
            <a:r>
              <a:rPr lang="en-US" dirty="0" err="1"/>
              <a:t>ProductNo</a:t>
            </a:r>
            <a:r>
              <a:rPr lang="en-US" dirty="0"/>
              <a:t>. This ensures there are no duplicate rows.</a:t>
            </a:r>
          </a:p>
          <a:p>
            <a:pPr>
              <a:buFont typeface="+mj-lt"/>
              <a:buAutoNum type="arabicPeriod"/>
            </a:pPr>
            <a:r>
              <a:rPr lang="en-US" b="1" dirty="0"/>
              <a:t>No Repeating Groups</a:t>
            </a:r>
            <a:r>
              <a:rPr lang="en-US" dirty="0"/>
              <a:t>:</a:t>
            </a:r>
          </a:p>
          <a:p>
            <a:pPr marL="742950" lvl="1" indent="-285750">
              <a:buFont typeface="+mj-lt"/>
              <a:buAutoNum type="arabicPeriod"/>
            </a:pPr>
            <a:r>
              <a:rPr lang="en-US" dirty="0"/>
              <a:t>The table does not include arrays, lists, or repeating groups within a single cell.</a:t>
            </a:r>
          </a:p>
          <a:p>
            <a:pPr rtl="1"/>
            <a:endParaRPr lang="en-US" sz="1200" b="0" i="0" kern="1200" dirty="0">
              <a:solidFill>
                <a:schemeClr val="tx1"/>
              </a:solidFill>
              <a:effectLst/>
              <a:latin typeface="+mn-lt"/>
              <a:ea typeface="+mn-ea"/>
              <a:cs typeface="+mn-cs"/>
            </a:endParaRPr>
          </a:p>
          <a:p>
            <a:pPr rtl="1"/>
            <a:endParaRPr lang="en-US" sz="1200" b="0" i="0" kern="1200" dirty="0">
              <a:solidFill>
                <a:schemeClr val="tx1"/>
              </a:solidFill>
              <a:effectLst/>
              <a:latin typeface="+mn-lt"/>
              <a:ea typeface="+mn-ea"/>
              <a:cs typeface="+mn-cs"/>
            </a:endParaRPr>
          </a:p>
          <a:p>
            <a:pPr rtl="1"/>
            <a:endParaRPr lang="en-US" sz="1200" b="0" i="0" kern="1200" dirty="0">
              <a:solidFill>
                <a:schemeClr val="tx1"/>
              </a:solidFill>
              <a:effectLst/>
              <a:latin typeface="+mn-lt"/>
              <a:ea typeface="+mn-ea"/>
              <a:cs typeface="+mn-cs"/>
            </a:endParaRPr>
          </a:p>
          <a:p>
            <a:pPr rtl="1"/>
            <a:r>
              <a:rPr lang="fa-IR" sz="1200" b="0" i="0" kern="1200" dirty="0">
                <a:solidFill>
                  <a:schemeClr val="tx1"/>
                </a:solidFill>
                <a:effectLst/>
                <a:latin typeface="+mn-lt"/>
                <a:ea typeface="+mn-ea"/>
                <a:cs typeface="+mn-cs"/>
              </a:rPr>
              <a:t>ترکيب غير تکراری </a:t>
            </a:r>
            <a:r>
              <a:rPr lang="en-US" sz="1200" b="0" i="0" kern="1200" dirty="0" err="1">
                <a:solidFill>
                  <a:schemeClr val="tx1"/>
                </a:solidFill>
                <a:effectLst/>
                <a:latin typeface="+mn-lt"/>
                <a:ea typeface="+mn-ea"/>
                <a:cs typeface="+mn-cs"/>
              </a:rPr>
              <a:t>ProductNo+CustomerNo+SaleNo</a:t>
            </a:r>
            <a:r>
              <a:rPr lang="en-US" sz="1200" b="0" i="0" kern="1200" dirty="0">
                <a:solidFill>
                  <a:schemeClr val="tx1"/>
                </a:solidFill>
                <a:effectLst/>
                <a:latin typeface="+mn-lt"/>
                <a:ea typeface="+mn-ea"/>
                <a:cs typeface="+mn-cs"/>
              </a:rPr>
              <a:t> </a:t>
            </a:r>
            <a:r>
              <a:rPr lang="fa-IR" sz="1200" b="0" i="0" kern="1200" dirty="0">
                <a:solidFill>
                  <a:schemeClr val="tx1"/>
                </a:solidFill>
                <a:effectLst/>
                <a:latin typeface="+mn-lt"/>
                <a:ea typeface="+mn-ea"/>
                <a:cs typeface="+mn-cs"/>
              </a:rPr>
              <a:t>را می توان کليد اصلی درنظر گرفت.</a:t>
            </a:r>
          </a:p>
          <a:p>
            <a:pPr rtl="0"/>
            <a:r>
              <a:rPr lang="en-US" sz="1200" b="1" i="0" kern="1200" dirty="0">
                <a:solidFill>
                  <a:schemeClr val="tx1"/>
                </a:solidFill>
                <a:effectLst/>
                <a:latin typeface="+mn-lt"/>
                <a:ea typeface="+mn-ea"/>
                <a:cs typeface="+mn-cs"/>
              </a:rPr>
              <a:t>ALL_SALES(</a:t>
            </a:r>
            <a:r>
              <a:rPr lang="en-US" sz="1200" b="1" i="0" u="sng" kern="1200" dirty="0" err="1">
                <a:solidFill>
                  <a:schemeClr val="tx1"/>
                </a:solidFill>
                <a:effectLst/>
                <a:latin typeface="+mn-lt"/>
                <a:ea typeface="+mn-ea"/>
                <a:cs typeface="+mn-cs"/>
              </a:rPr>
              <a:t>SaleNo</a:t>
            </a:r>
            <a:r>
              <a:rPr lang="en-US" sz="1200" b="1" i="0" u="sng" kern="1200" dirty="0">
                <a:solidFill>
                  <a:schemeClr val="tx1"/>
                </a:solidFill>
                <a:effectLst/>
                <a:latin typeface="+mn-lt"/>
                <a:ea typeface="+mn-ea"/>
                <a:cs typeface="+mn-cs"/>
              </a:rPr>
              <a:t>, </a:t>
            </a:r>
            <a:r>
              <a:rPr lang="en-US" sz="1200" b="1" i="0" u="sng" kern="1200" dirty="0" err="1">
                <a:solidFill>
                  <a:schemeClr val="tx1"/>
                </a:solidFill>
                <a:effectLst/>
                <a:latin typeface="+mn-lt"/>
                <a:ea typeface="+mn-ea"/>
                <a:cs typeface="+mn-cs"/>
              </a:rPr>
              <a:t>ProductNo</a:t>
            </a:r>
            <a:r>
              <a:rPr lang="en-US" sz="1200" b="1" i="0" u="sng" kern="1200" dirty="0">
                <a:solidFill>
                  <a:schemeClr val="tx1"/>
                </a:solidFill>
                <a:effectLst/>
                <a:latin typeface="+mn-lt"/>
                <a:ea typeface="+mn-ea"/>
                <a:cs typeface="+mn-cs"/>
              </a:rPr>
              <a:t>, </a:t>
            </a:r>
            <a:r>
              <a:rPr lang="en-US" sz="1200" b="1" i="0" u="sng" kern="1200" dirty="0" err="1">
                <a:solidFill>
                  <a:schemeClr val="tx1"/>
                </a:solidFill>
                <a:effectLst/>
                <a:latin typeface="+mn-lt"/>
                <a:ea typeface="+mn-ea"/>
                <a:cs typeface="+mn-cs"/>
              </a:rPr>
              <a:t>CustomerNo</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SaleDate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QtyInStock</a:t>
            </a:r>
            <a:r>
              <a:rPr lang="en-US" sz="1200" b="1" i="0" kern="1200" dirty="0">
                <a:solidFill>
                  <a:schemeClr val="tx1"/>
                </a:solidFill>
                <a:effectLst/>
                <a:latin typeface="+mn-lt"/>
                <a:ea typeface="+mn-ea"/>
                <a:cs typeface="+mn-cs"/>
              </a:rPr>
              <a:t>, Description, Price, </a:t>
            </a:r>
            <a:r>
              <a:rPr lang="en-US" sz="1200" b="1" i="0" kern="1200" dirty="0" err="1">
                <a:solidFill>
                  <a:schemeClr val="tx1"/>
                </a:solidFill>
                <a:effectLst/>
                <a:latin typeface="+mn-lt"/>
                <a:ea typeface="+mn-ea"/>
                <a:cs typeface="+mn-cs"/>
              </a:rPr>
              <a:t>Customer_Name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Customer_Address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CreditLimit</a:t>
            </a:r>
            <a:r>
              <a:rPr lang="en-US" sz="1200" b="1" i="0" kern="1200" dirty="0">
                <a:solidFill>
                  <a:schemeClr val="tx1"/>
                </a:solidFill>
                <a:effectLst/>
                <a:latin typeface="+mn-lt"/>
                <a:ea typeface="+mn-ea"/>
                <a:cs typeface="+mn-cs"/>
              </a:rPr>
              <a:t>, Amount, </a:t>
            </a:r>
            <a:r>
              <a:rPr lang="en-US" sz="1200" b="1" i="0" kern="1200" dirty="0" err="1">
                <a:solidFill>
                  <a:schemeClr val="tx1"/>
                </a:solidFill>
                <a:effectLst/>
                <a:latin typeface="+mn-lt"/>
                <a:ea typeface="+mn-ea"/>
                <a:cs typeface="+mn-cs"/>
              </a:rPr>
              <a:t>Salesr</a:t>
            </a:r>
            <a:endParaRPr lang="en-US" sz="1200" b="1"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15</a:t>
            </a:fld>
            <a:endParaRPr lang="en-US" altLang="en-US"/>
          </a:p>
        </p:txBody>
      </p:sp>
    </p:spTree>
    <p:extLst>
      <p:ext uri="{BB962C8B-B14F-4D97-AF65-F5344CB8AC3E}">
        <p14:creationId xmlns:p14="http://schemas.microsoft.com/office/powerpoint/2010/main" val="34812310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a-IR" dirty="0"/>
              <a:t>از نام به فامیل نمیرسیم</a:t>
            </a:r>
          </a:p>
          <a:p>
            <a:r>
              <a:rPr lang="fa-IR" dirty="0"/>
              <a:t>از شماره به نام میرسیم</a:t>
            </a:r>
          </a:p>
          <a:p>
            <a:r>
              <a:rPr lang="fa-IR" dirty="0"/>
              <a:t>از شماره به فامیل میرسیم. </a:t>
            </a: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16</a:t>
            </a:fld>
            <a:endParaRPr lang="en-US" altLang="en-US"/>
          </a:p>
        </p:txBody>
      </p:sp>
    </p:spTree>
    <p:extLst>
      <p:ext uri="{BB962C8B-B14F-4D97-AF65-F5344CB8AC3E}">
        <p14:creationId xmlns:p14="http://schemas.microsoft.com/office/powerpoint/2010/main" val="9724443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844FD9B-FA56-471A-AC29-AFD38B132615}" type="slidenum">
              <a:rPr lang="en-US" altLang="en-US" sz="1200"/>
              <a:pPr/>
              <a:t>18</a:t>
            </a:fld>
            <a:endParaRPr lang="en-US" altLang="en-US" sz="1200"/>
          </a:p>
        </p:txBody>
      </p:sp>
      <p:sp>
        <p:nvSpPr>
          <p:cNvPr id="112643" name="Rectangle 2"/>
          <p:cNvSpPr>
            <a:spLocks noGrp="1" noRot="1" noChangeAspect="1" noChangeArrowheads="1" noTextEdit="1"/>
          </p:cNvSpPr>
          <p:nvPr>
            <p:ph type="sldImg"/>
          </p:nvPr>
        </p:nvSpPr>
        <p:spPr>
          <a:xfrm>
            <a:off x="1177925" y="695325"/>
            <a:ext cx="4641850" cy="3481388"/>
          </a:xfrm>
          <a:ln/>
        </p:spPr>
      </p:sp>
      <p:sp>
        <p:nvSpPr>
          <p:cNvPr id="11264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1465890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fa-IR" dirty="0"/>
              <a:t>خیر چون که زیر مجموعه </a:t>
            </a:r>
            <a:r>
              <a:rPr lang="en-US" dirty="0"/>
              <a:t>S# </a:t>
            </a:r>
            <a:r>
              <a:rPr lang="fa-IR" dirty="0"/>
              <a:t> به </a:t>
            </a:r>
            <a:r>
              <a:rPr lang="en-US" dirty="0"/>
              <a:t>CITY</a:t>
            </a:r>
            <a:r>
              <a:rPr lang="fa-IR" dirty="0"/>
              <a:t> وابستگی تابعی دارد. </a:t>
            </a:r>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19</a:t>
            </a:fld>
            <a:endParaRPr lang="en-US" altLang="en-US"/>
          </a:p>
        </p:txBody>
      </p:sp>
    </p:spTree>
    <p:extLst>
      <p:ext uri="{BB962C8B-B14F-4D97-AF65-F5344CB8AC3E}">
        <p14:creationId xmlns:p14="http://schemas.microsoft.com/office/powerpoint/2010/main" val="306022689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fa-IR" dirty="0"/>
              <a:t>خیر چون که زیر مجموعه </a:t>
            </a:r>
            <a:r>
              <a:rPr lang="en-US" dirty="0"/>
              <a:t>S# </a:t>
            </a:r>
            <a:r>
              <a:rPr lang="fa-IR" dirty="0"/>
              <a:t> به </a:t>
            </a:r>
            <a:r>
              <a:rPr lang="en-US" dirty="0"/>
              <a:t>CITY</a:t>
            </a:r>
            <a:r>
              <a:rPr lang="fa-IR" dirty="0"/>
              <a:t> وابستگی تابعی دارد. </a:t>
            </a:r>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20</a:t>
            </a:fld>
            <a:endParaRPr lang="en-US" altLang="en-US"/>
          </a:p>
        </p:txBody>
      </p:sp>
    </p:spTree>
    <p:extLst>
      <p:ext uri="{BB962C8B-B14F-4D97-AF65-F5344CB8AC3E}">
        <p14:creationId xmlns:p14="http://schemas.microsoft.com/office/powerpoint/2010/main" val="22195411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p:cNvSpPr>
                <a:spLocks noGrp="1"/>
              </p:cNvSpPr>
              <p:nvPr>
                <p:ph type="body" idx="1"/>
              </p:nvPr>
            </p:nvSpPr>
            <p:spPr/>
            <p:txBody>
              <a:bodyPr/>
              <a:lstStyle/>
              <a:p>
                <a:pPr marL="0" marR="0" algn="r" rtl="1">
                  <a:lnSpc>
                    <a:spcPct val="107000"/>
                  </a:lnSpc>
                  <a:spcBef>
                    <a:spcPts val="0"/>
                  </a:spcBef>
                  <a:spcAft>
                    <a:spcPts val="800"/>
                  </a:spcAft>
                </a:pPr>
                <a:r>
                  <a:rPr lang="ar-SA" sz="1800" i="0" dirty="0">
                    <a:effectLst/>
                    <a:latin typeface="Calibri" panose="020F0502020204030204" pitchFamily="34" charset="0"/>
                    <a:ea typeface="Calibri" panose="020F0502020204030204" pitchFamily="34" charset="0"/>
                    <a:cs typeface="B Nazanin" panose="00000400000000000000" pitchFamily="2" charset="-78"/>
                  </a:rPr>
                  <a:t>سه قاعده اول درست و کامل هستند، بدین معنا که با داشتن یک مجموعه از وابستگی هاي تابعی</a:t>
                </a:r>
                <a:r>
                  <a:rPr lang="en-US" sz="1800" i="0" dirty="0">
                    <a:effectLst/>
                    <a:latin typeface="Calibri" panose="020F0502020204030204" pitchFamily="34" charset="0"/>
                    <a:ea typeface="Calibri" panose="020F0502020204030204" pitchFamily="34" charset="0"/>
                    <a:cs typeface="B Nazanin" panose="00000400000000000000" pitchFamily="2" charset="-78"/>
                  </a:rPr>
                  <a:t> F</a:t>
                </a:r>
                <a:r>
                  <a:rPr lang="ar-SA" sz="1800" i="0" dirty="0">
                    <a:effectLst/>
                    <a:latin typeface="Calibri" panose="020F0502020204030204" pitchFamily="34" charset="0"/>
                    <a:ea typeface="Calibri" panose="020F0502020204030204" pitchFamily="34" charset="0"/>
                    <a:cs typeface="B Nazanin" panose="00000400000000000000" pitchFamily="2" charset="-78"/>
                  </a:rPr>
                  <a:t>، تمام وابستگی هاي تابعی منطقاً قابل استنتاج از</a:t>
                </a:r>
                <a:r>
                  <a:rPr lang="en-US" sz="1800" i="0" dirty="0">
                    <a:effectLst/>
                    <a:latin typeface="Calibri" panose="020F0502020204030204" pitchFamily="34" charset="0"/>
                    <a:ea typeface="Calibri" panose="020F0502020204030204" pitchFamily="34" charset="0"/>
                    <a:cs typeface="B Nazanin" panose="00000400000000000000" pitchFamily="2" charset="-78"/>
                  </a:rPr>
                  <a:t> F</a:t>
                </a:r>
                <a:r>
                  <a:rPr lang="ar-SA" sz="1800" i="0" dirty="0">
                    <a:effectLst/>
                    <a:latin typeface="Calibri" panose="020F0502020204030204" pitchFamily="34" charset="0"/>
                    <a:ea typeface="Calibri" panose="020F0502020204030204" pitchFamily="34" charset="0"/>
                    <a:cs typeface="B Nazanin" panose="00000400000000000000" pitchFamily="2" charset="-78"/>
                  </a:rPr>
                  <a:t>، با همین سه قاعده به دست میآیند و هیچ وابستگی تابعی دیگر که از</a:t>
                </a:r>
                <a:r>
                  <a:rPr lang="en-US" sz="1800" i="0" dirty="0">
                    <a:effectLst/>
                    <a:latin typeface="Calibri" panose="020F0502020204030204" pitchFamily="34" charset="0"/>
                    <a:ea typeface="Calibri" panose="020F0502020204030204" pitchFamily="34" charset="0"/>
                    <a:cs typeface="B Nazanin" panose="00000400000000000000" pitchFamily="2" charset="-78"/>
                  </a:rPr>
                  <a:t> F </a:t>
                </a:r>
                <a:r>
                  <a:rPr lang="ar-SA" sz="1800" i="0" dirty="0">
                    <a:effectLst/>
                    <a:latin typeface="Calibri" panose="020F0502020204030204" pitchFamily="34" charset="0"/>
                    <a:ea typeface="Calibri" panose="020F0502020204030204" pitchFamily="34" charset="0"/>
                    <a:cs typeface="B Nazanin" panose="00000400000000000000" pitchFamily="2" charset="-78"/>
                  </a:rPr>
                  <a:t>قابل استنتاج نباشد نیز به دست نمیآید</a:t>
                </a:r>
                <a:r>
                  <a:rPr lang="en-US" sz="1800" i="0" dirty="0">
                    <a:effectLst/>
                    <a:latin typeface="Calibri" panose="020F0502020204030204" pitchFamily="34" charset="0"/>
                    <a:ea typeface="Calibri" panose="020F0502020204030204" pitchFamily="34" charset="0"/>
                    <a:cs typeface="B Nazanin" panose="00000400000000000000" pitchFamily="2" charset="-78"/>
                  </a:rPr>
                  <a:t>. </a:t>
                </a:r>
                <a:endParaRPr lang="en-US" sz="1800" i="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i="0" dirty="0">
                    <a:effectLst/>
                    <a:latin typeface="Calibri" panose="020F0502020204030204" pitchFamily="34" charset="0"/>
                    <a:ea typeface="Calibri" panose="020F0502020204030204" pitchFamily="34" charset="0"/>
                    <a:cs typeface="B Nazanin" panose="00000400000000000000" pitchFamily="2" charset="-78"/>
                  </a:rPr>
                  <a:t>توجه: سه قاعده اول به آسانی قابل اثبات هستند و قواعد دیگر از روي همانها اثبات میشوند</a:t>
                </a:r>
                <a:r>
                  <a:rPr lang="en-US" sz="1800" i="0" dirty="0">
                    <a:effectLst/>
                    <a:latin typeface="Calibri" panose="020F0502020204030204" pitchFamily="34" charset="0"/>
                    <a:ea typeface="Calibri" panose="020F0502020204030204" pitchFamily="34" charset="0"/>
                    <a:cs typeface="B Nazanin" panose="00000400000000000000" pitchFamily="2" charset="-78"/>
                  </a:rPr>
                  <a:t>.</a:t>
                </a:r>
                <a:endParaRPr lang="en-US" sz="1800" i="0" dirty="0">
                  <a:effectLst/>
                  <a:latin typeface="Calibri" panose="020F0502020204030204" pitchFamily="34" charset="0"/>
                  <a:ea typeface="Calibri" panose="020F0502020204030204" pitchFamily="34" charset="0"/>
                  <a:cs typeface="Arial" panose="020B0604020202020204" pitchFamily="34" charset="0"/>
                </a:endParaRPr>
              </a:p>
              <a:p>
                <a:pPr algn="r" rtl="1"/>
                <a:endParaRPr lang="en-US" i="0" dirty="0"/>
              </a:p>
              <a:p>
                <a:pPr algn="r" rtl="1"/>
                <a:r>
                  <a:rPr lang="fa-IR" i="0" dirty="0"/>
                  <a:t>اگر بدانیم:</a:t>
                </a:r>
                <a14:m>
                  <m:oMath xmlns:m="http://schemas.openxmlformats.org/officeDocument/2006/math">
                    <m:d>
                      <m:dPr>
                        <m:begChr m:val="{"/>
                        <m:endChr m:val="}"/>
                        <m:sepChr m:val=","/>
                        <m:ctrlPr>
                          <a:rPr lang="fa-IR" sz="1200" b="0" i="0" kern="1200">
                            <a:solidFill>
                              <a:schemeClr val="tx1"/>
                            </a:solidFill>
                            <a:latin typeface="Times New Roman" charset="0"/>
                            <a:ea typeface="MS PGothic" panose="020B0600070205080204" pitchFamily="34" charset="-128"/>
                            <a:cs typeface="ＭＳ Ｐゴシック" charset="0"/>
                          </a:rPr>
                        </m:ctrlPr>
                      </m:dPr>
                      <m:e>
                        <m:r>
                          <m:rPr>
                            <m:nor/>
                          </m:rPr>
                          <a:rPr lang="fa-IR" b="0" i="0"/>
                          <m:t>شماره‌دانشجو</m:t>
                        </m:r>
                      </m:e>
                      <m:e>
                        <m:r>
                          <m:rPr>
                            <m:nor/>
                          </m:rPr>
                          <a:rPr lang="fa-IR" b="0" i="0"/>
                          <m:t>نام</m:t>
                        </m:r>
                      </m:e>
                    </m:d>
                    <m:r>
                      <a:rPr lang="fa-IR" sz="1200" b="0" i="0" kern="1200" smtClean="0">
                        <a:solidFill>
                          <a:schemeClr val="tx1"/>
                        </a:solidFill>
                        <a:latin typeface="Cambria Math" panose="02040503050406030204" pitchFamily="18" charset="0"/>
                        <a:ea typeface="MS PGothic" panose="020B0600070205080204" pitchFamily="34" charset="-128"/>
                        <a:cs typeface="ＭＳ Ｐゴシック" charset="0"/>
                      </a:rPr>
                      <m:t>⊇</m:t>
                    </m:r>
                    <m:d>
                      <m:dPr>
                        <m:begChr m:val="{"/>
                        <m:endChr m:val="}"/>
                        <m:ctrlPr>
                          <a:rPr lang="fa-IR" sz="1200" b="0" i="0" kern="1200">
                            <a:solidFill>
                              <a:schemeClr val="tx1"/>
                            </a:solidFill>
                            <a:latin typeface="Times New Roman" charset="0"/>
                            <a:ea typeface="MS PGothic" panose="020B0600070205080204" pitchFamily="34" charset="-128"/>
                            <a:cs typeface="ＭＳ Ｐゴシック" charset="0"/>
                          </a:rPr>
                        </m:ctrlPr>
                      </m:dPr>
                      <m:e>
                        <m:r>
                          <m:rPr>
                            <m:nor/>
                          </m:rPr>
                          <a:rPr lang="fa-IR" sz="1200" b="0" i="0" kern="1200">
                            <a:solidFill>
                              <a:schemeClr val="tx1"/>
                            </a:solidFill>
                            <a:latin typeface="Times New Roman" charset="0"/>
                            <a:ea typeface="MS PGothic" panose="020B0600070205080204" pitchFamily="34" charset="-128"/>
                            <a:cs typeface="ＭＳ Ｐゴシック" charset="0"/>
                          </a:rPr>
                          <m:t>نام</m:t>
                        </m:r>
                      </m:e>
                    </m:d>
                  </m:oMath>
                </a14:m>
                <a:endParaRPr lang="fa-IR" b="0" i="0" dirty="0"/>
              </a:p>
              <a:p>
                <a:pPr algn="r" rtl="1"/>
                <a:r>
                  <a:rPr lang="fa-IR" i="0" dirty="0"/>
                  <a:t>پس:</a:t>
                </a:r>
                <a14:m>
                  <m:oMath xmlns:m="http://schemas.openxmlformats.org/officeDocument/2006/math">
                    <m:d>
                      <m:dPr>
                        <m:sepChr m:val=","/>
                        <m:ctrlPr>
                          <a:rPr lang="fa-IR" sz="1200" b="0" i="0" kern="1200">
                            <a:solidFill>
                              <a:schemeClr val="tx1"/>
                            </a:solidFill>
                            <a:latin typeface="Times New Roman" charset="0"/>
                            <a:ea typeface="MS PGothic" panose="020B0600070205080204" pitchFamily="34" charset="-128"/>
                            <a:cs typeface="ＭＳ Ｐゴシック" charset="0"/>
                          </a:rPr>
                        </m:ctrlPr>
                      </m:dPr>
                      <m:e>
                        <m:r>
                          <m:rPr>
                            <m:nor/>
                          </m:rPr>
                          <a:rPr lang="fa-IR" b="0" i="0"/>
                          <m:t>شماره‌دانشجو</m:t>
                        </m:r>
                      </m:e>
                      <m:e>
                        <m:r>
                          <m:rPr>
                            <m:nor/>
                          </m:rPr>
                          <a:rPr lang="fa-IR" b="0" i="0"/>
                          <m:t>نام</m:t>
                        </m:r>
                      </m:e>
                    </m:d>
                    <m:r>
                      <a:rPr lang="en-US" sz="1200" b="0" i="0" kern="1200" smtClean="0">
                        <a:solidFill>
                          <a:schemeClr val="tx1"/>
                        </a:solidFill>
                        <a:latin typeface="Cambria Math" panose="02040503050406030204" pitchFamily="18" charset="0"/>
                        <a:ea typeface="MS PGothic" panose="020B0600070205080204" pitchFamily="34" charset="-128"/>
                        <a:cs typeface="ＭＳ Ｐゴシック" charset="0"/>
                      </a:rPr>
                      <m:t>&lt;−</m:t>
                    </m:r>
                    <m:r>
                      <m:rPr>
                        <m:nor/>
                      </m:rPr>
                      <a:rPr lang="fa-IR" sz="1200" b="0" i="0" kern="1200">
                        <a:solidFill>
                          <a:schemeClr val="tx1"/>
                        </a:solidFill>
                        <a:latin typeface="Times New Roman" charset="0"/>
                        <a:ea typeface="MS PGothic" panose="020B0600070205080204" pitchFamily="34" charset="-128"/>
                        <a:cs typeface="ＭＳ Ｐゴシック" charset="0"/>
                      </a:rPr>
                      <m:t>نام</m:t>
                    </m:r>
                  </m:oMath>
                </a14:m>
                <a:endParaRPr lang="fa-IR" b="0" i="0" dirty="0"/>
              </a:p>
              <a:p>
                <a:endParaRPr lang="en-US" i="0" dirty="0"/>
              </a:p>
              <a:p>
                <a:endParaRPr lang="en-US" i="0" dirty="0"/>
              </a:p>
            </p:txBody>
          </p:sp>
        </mc:Choice>
        <mc:Fallback>
          <p:sp>
            <p:nvSpPr>
              <p:cNvPr id="3" name="Notes Placeholder 2"/>
              <p:cNvSpPr>
                <a:spLocks noGrp="1"/>
              </p:cNvSpPr>
              <p:nvPr>
                <p:ph type="body" idx="1"/>
              </p:nvPr>
            </p:nvSpPr>
            <p:spPr/>
            <p:txBody>
              <a:bodyPr/>
              <a:lstStyle/>
              <a:p>
                <a:pPr marL="0" marR="0" algn="r" rtl="1">
                  <a:lnSpc>
                    <a:spcPct val="107000"/>
                  </a:lnSpc>
                  <a:spcBef>
                    <a:spcPts val="0"/>
                  </a:spcBef>
                  <a:spcAft>
                    <a:spcPts val="800"/>
                  </a:spcAft>
                </a:pPr>
                <a:r>
                  <a:rPr lang="ar-SA" sz="1800" i="0" dirty="0">
                    <a:effectLst/>
                    <a:latin typeface="Calibri" panose="020F0502020204030204" pitchFamily="34" charset="0"/>
                    <a:ea typeface="Calibri" panose="020F0502020204030204" pitchFamily="34" charset="0"/>
                    <a:cs typeface="B Nazanin" panose="00000400000000000000" pitchFamily="2" charset="-78"/>
                  </a:rPr>
                  <a:t>سه قاعده اول درست و کامل هستند، بدین معنا که با داشتن یک مجموعه از وابستگی هاي تابعی</a:t>
                </a:r>
                <a:r>
                  <a:rPr lang="en-US" sz="1800" i="0" dirty="0">
                    <a:effectLst/>
                    <a:latin typeface="Calibri" panose="020F0502020204030204" pitchFamily="34" charset="0"/>
                    <a:ea typeface="Calibri" panose="020F0502020204030204" pitchFamily="34" charset="0"/>
                    <a:cs typeface="B Nazanin" panose="00000400000000000000" pitchFamily="2" charset="-78"/>
                  </a:rPr>
                  <a:t> F</a:t>
                </a:r>
                <a:r>
                  <a:rPr lang="ar-SA" sz="1800" i="0" dirty="0">
                    <a:effectLst/>
                    <a:latin typeface="Calibri" panose="020F0502020204030204" pitchFamily="34" charset="0"/>
                    <a:ea typeface="Calibri" panose="020F0502020204030204" pitchFamily="34" charset="0"/>
                    <a:cs typeface="B Nazanin" panose="00000400000000000000" pitchFamily="2" charset="-78"/>
                  </a:rPr>
                  <a:t>، تمام وابستگی هاي تابعی منطقاً قابل استنتاج از</a:t>
                </a:r>
                <a:r>
                  <a:rPr lang="en-US" sz="1800" i="0" dirty="0">
                    <a:effectLst/>
                    <a:latin typeface="Calibri" panose="020F0502020204030204" pitchFamily="34" charset="0"/>
                    <a:ea typeface="Calibri" panose="020F0502020204030204" pitchFamily="34" charset="0"/>
                    <a:cs typeface="B Nazanin" panose="00000400000000000000" pitchFamily="2" charset="-78"/>
                  </a:rPr>
                  <a:t> F</a:t>
                </a:r>
                <a:r>
                  <a:rPr lang="ar-SA" sz="1800" i="0" dirty="0">
                    <a:effectLst/>
                    <a:latin typeface="Calibri" panose="020F0502020204030204" pitchFamily="34" charset="0"/>
                    <a:ea typeface="Calibri" panose="020F0502020204030204" pitchFamily="34" charset="0"/>
                    <a:cs typeface="B Nazanin" panose="00000400000000000000" pitchFamily="2" charset="-78"/>
                  </a:rPr>
                  <a:t>، با همین سه قاعده به دست میآیند و هیچ وابستگی تابعی دیگر که از</a:t>
                </a:r>
                <a:r>
                  <a:rPr lang="en-US" sz="1800" i="0" dirty="0">
                    <a:effectLst/>
                    <a:latin typeface="Calibri" panose="020F0502020204030204" pitchFamily="34" charset="0"/>
                    <a:ea typeface="Calibri" panose="020F0502020204030204" pitchFamily="34" charset="0"/>
                    <a:cs typeface="B Nazanin" panose="00000400000000000000" pitchFamily="2" charset="-78"/>
                  </a:rPr>
                  <a:t> F </a:t>
                </a:r>
                <a:r>
                  <a:rPr lang="ar-SA" sz="1800" i="0" dirty="0">
                    <a:effectLst/>
                    <a:latin typeface="Calibri" panose="020F0502020204030204" pitchFamily="34" charset="0"/>
                    <a:ea typeface="Calibri" panose="020F0502020204030204" pitchFamily="34" charset="0"/>
                    <a:cs typeface="B Nazanin" panose="00000400000000000000" pitchFamily="2" charset="-78"/>
                  </a:rPr>
                  <a:t>قابل استنتاج نباشد نیز به دست نمیآید</a:t>
                </a:r>
                <a:r>
                  <a:rPr lang="en-US" sz="1800" i="0" dirty="0">
                    <a:effectLst/>
                    <a:latin typeface="Calibri" panose="020F0502020204030204" pitchFamily="34" charset="0"/>
                    <a:ea typeface="Calibri" panose="020F0502020204030204" pitchFamily="34" charset="0"/>
                    <a:cs typeface="B Nazanin" panose="00000400000000000000" pitchFamily="2" charset="-78"/>
                  </a:rPr>
                  <a:t>. </a:t>
                </a:r>
                <a:endParaRPr lang="en-US" sz="1800" i="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i="0" dirty="0">
                    <a:effectLst/>
                    <a:latin typeface="Calibri" panose="020F0502020204030204" pitchFamily="34" charset="0"/>
                    <a:ea typeface="Calibri" panose="020F0502020204030204" pitchFamily="34" charset="0"/>
                    <a:cs typeface="B Nazanin" panose="00000400000000000000" pitchFamily="2" charset="-78"/>
                  </a:rPr>
                  <a:t>توجه: سه قاعده اول به آسانی قابل اثبات هستند و قواعد دیگر از روي همانها اثبات میشوند</a:t>
                </a:r>
                <a:r>
                  <a:rPr lang="en-US" sz="1800" i="0" dirty="0">
                    <a:effectLst/>
                    <a:latin typeface="Calibri" panose="020F0502020204030204" pitchFamily="34" charset="0"/>
                    <a:ea typeface="Calibri" panose="020F0502020204030204" pitchFamily="34" charset="0"/>
                    <a:cs typeface="B Nazanin" panose="00000400000000000000" pitchFamily="2" charset="-78"/>
                  </a:rPr>
                  <a:t>.</a:t>
                </a:r>
                <a:endParaRPr lang="en-US" sz="1800" i="0" dirty="0">
                  <a:effectLst/>
                  <a:latin typeface="Calibri" panose="020F0502020204030204" pitchFamily="34" charset="0"/>
                  <a:ea typeface="Calibri" panose="020F0502020204030204" pitchFamily="34" charset="0"/>
                  <a:cs typeface="Arial" panose="020B0604020202020204" pitchFamily="34" charset="0"/>
                </a:endParaRPr>
              </a:p>
              <a:p>
                <a:pPr algn="r" rtl="1"/>
                <a:endParaRPr lang="en-US" i="0" dirty="0"/>
              </a:p>
              <a:p>
                <a:pPr algn="r" rtl="1"/>
                <a:r>
                  <a:rPr lang="fa-IR" i="0" dirty="0"/>
                  <a:t>اگر بدانیم:</a:t>
                </a:r>
                <a:r>
                  <a:rPr lang="fa-IR" sz="1200" b="0" i="0" kern="1200">
                    <a:solidFill>
                      <a:schemeClr val="tx1"/>
                    </a:solidFill>
                    <a:latin typeface="Times New Roman" charset="0"/>
                    <a:ea typeface="MS PGothic" panose="020B0600070205080204" pitchFamily="34" charset="-128"/>
                  </a:rPr>
                  <a:t>{"</a:t>
                </a:r>
                <a:r>
                  <a:rPr lang="fa-IR" b="0" i="0"/>
                  <a:t>شماره‌دانشجو</a:t>
                </a:r>
                <a:r>
                  <a:rPr lang="fa-IR" sz="1200" b="0" i="0" kern="1200">
                    <a:solidFill>
                      <a:schemeClr val="tx1"/>
                    </a:solidFill>
                  </a:rPr>
                  <a:t>" ⓜ,"</a:t>
                </a:r>
                <a:r>
                  <a:rPr lang="fa-IR" b="0" i="0"/>
                  <a:t>نام</a:t>
                </a:r>
                <a:r>
                  <a:rPr lang="fa-IR" sz="1200" b="0" i="0" kern="1200">
                    <a:solidFill>
                      <a:schemeClr val="tx1"/>
                    </a:solidFill>
                  </a:rPr>
                  <a:t>" }</a:t>
                </a:r>
                <a:r>
                  <a:rPr lang="fa-IR" sz="1200" b="0" i="0" kern="1200">
                    <a:solidFill>
                      <a:schemeClr val="tx1"/>
                    </a:solidFill>
                    <a:latin typeface="Cambria Math" panose="02040503050406030204" pitchFamily="18" charset="0"/>
                    <a:ea typeface="MS PGothic" panose="020B0600070205080204" pitchFamily="34" charset="-128"/>
                    <a:cs typeface="ＭＳ Ｐゴシック" charset="0"/>
                  </a:rPr>
                  <a:t>⊇</a:t>
                </a:r>
                <a:r>
                  <a:rPr lang="fa-IR" sz="1200" b="0" i="0" kern="1200">
                    <a:solidFill>
                      <a:schemeClr val="tx1"/>
                    </a:solidFill>
                    <a:latin typeface="Times New Roman" charset="0"/>
                    <a:ea typeface="MS PGothic" panose="020B0600070205080204" pitchFamily="34" charset="-128"/>
                  </a:rPr>
                  <a:t>{"</a:t>
                </a:r>
                <a:r>
                  <a:rPr lang="fa-IR" sz="1200" b="0" i="0" kern="1200">
                    <a:solidFill>
                      <a:schemeClr val="tx1"/>
                    </a:solidFill>
                    <a:latin typeface="Times New Roman" charset="0"/>
                    <a:ea typeface="MS PGothic" panose="020B0600070205080204" pitchFamily="34" charset="-128"/>
                    <a:cs typeface="ＭＳ Ｐゴシック" charset="0"/>
                  </a:rPr>
                  <a:t>نام" }</a:t>
                </a:r>
                <a:endParaRPr lang="fa-IR" b="0" i="0" dirty="0"/>
              </a:p>
              <a:p>
                <a:pPr algn="r" rtl="1"/>
                <a:r>
                  <a:rPr lang="fa-IR" i="0" dirty="0"/>
                  <a:t>پس:</a:t>
                </a:r>
                <a:r>
                  <a:rPr lang="fa-IR" sz="1200" b="0" i="0" kern="1200">
                    <a:solidFill>
                      <a:schemeClr val="tx1"/>
                    </a:solidFill>
                    <a:latin typeface="Times New Roman" charset="0"/>
                    <a:ea typeface="MS PGothic" panose="020B0600070205080204" pitchFamily="34" charset="-128"/>
                  </a:rPr>
                  <a:t>("</a:t>
                </a:r>
                <a:r>
                  <a:rPr lang="fa-IR" b="0" i="0"/>
                  <a:t>شماره‌دانشجو</a:t>
                </a:r>
                <a:r>
                  <a:rPr lang="fa-IR" sz="1200" b="0" i="0" kern="1200">
                    <a:solidFill>
                      <a:schemeClr val="tx1"/>
                    </a:solidFill>
                  </a:rPr>
                  <a:t>" ⓜ,"</a:t>
                </a:r>
                <a:r>
                  <a:rPr lang="fa-IR" b="0" i="0"/>
                  <a:t>نام</a:t>
                </a:r>
                <a:r>
                  <a:rPr lang="fa-IR" sz="1200" b="0" i="0" kern="1200">
                    <a:solidFill>
                      <a:schemeClr val="tx1"/>
                    </a:solidFill>
                  </a:rPr>
                  <a:t>" )</a:t>
                </a:r>
                <a:r>
                  <a:rPr lang="en-US" sz="1200" b="0" i="0" kern="1200">
                    <a:solidFill>
                      <a:schemeClr val="tx1"/>
                    </a:solidFill>
                    <a:latin typeface="Cambria Math" panose="02040503050406030204" pitchFamily="18" charset="0"/>
                    <a:ea typeface="MS PGothic" panose="020B0600070205080204" pitchFamily="34" charset="-128"/>
                    <a:cs typeface="ＭＳ Ｐゴシック" charset="0"/>
                  </a:rPr>
                  <a:t>&lt;−</a:t>
                </a:r>
                <a:r>
                  <a:rPr lang="fa-IR" sz="1200" b="0" i="0" kern="1200">
                    <a:solidFill>
                      <a:schemeClr val="tx1"/>
                    </a:solidFill>
                    <a:latin typeface="Cambria Math" panose="02040503050406030204" pitchFamily="18" charset="0"/>
                    <a:ea typeface="MS PGothic" panose="020B0600070205080204" pitchFamily="34" charset="-128"/>
                    <a:cs typeface="ＭＳ Ｐゴシック" charset="0"/>
                  </a:rPr>
                  <a:t>"نام</a:t>
                </a:r>
                <a:r>
                  <a:rPr lang="en-US" sz="1200" b="0" i="0" kern="1200">
                    <a:solidFill>
                      <a:schemeClr val="tx1"/>
                    </a:solidFill>
                    <a:latin typeface="Times New Roman" charset="0"/>
                    <a:ea typeface="MS PGothic" panose="020B0600070205080204" pitchFamily="34" charset="-128"/>
                    <a:cs typeface="ＭＳ Ｐゴシック" charset="0"/>
                  </a:rPr>
                  <a:t>"</a:t>
                </a:r>
                <a:endParaRPr lang="fa-IR" b="0" i="0" dirty="0"/>
              </a:p>
              <a:p>
                <a:endParaRPr lang="en-US" i="0" dirty="0"/>
              </a:p>
              <a:p>
                <a:endParaRPr lang="en-US" i="0" dirty="0"/>
              </a:p>
            </p:txBody>
          </p:sp>
        </mc:Fallback>
      </mc:AlternateContent>
      <p:sp>
        <p:nvSpPr>
          <p:cNvPr id="4" name="Slide Number Placeholder 3"/>
          <p:cNvSpPr>
            <a:spLocks noGrp="1"/>
          </p:cNvSpPr>
          <p:nvPr>
            <p:ph type="sldNum" sz="quarter" idx="5"/>
          </p:nvPr>
        </p:nvSpPr>
        <p:spPr/>
        <p:txBody>
          <a:bodyPr/>
          <a:lstStyle/>
          <a:p>
            <a:fld id="{EF7565D7-C2AB-4CDD-97A1-0422B6964B36}" type="slidenum">
              <a:rPr lang="en-US" altLang="en-US" smtClean="0"/>
              <a:pPr/>
              <a:t>21</a:t>
            </a:fld>
            <a:endParaRPr lang="en-US" altLang="en-US"/>
          </a:p>
        </p:txBody>
      </p:sp>
    </p:spTree>
    <p:extLst>
      <p:ext uri="{BB962C8B-B14F-4D97-AF65-F5344CB8AC3E}">
        <p14:creationId xmlns:p14="http://schemas.microsoft.com/office/powerpoint/2010/main" val="353748754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HRH_RHR​ </a:t>
            </a:r>
            <a:r>
              <a:rPr lang="ar-SA" sz="1800" dirty="0">
                <a:effectLst/>
                <a:latin typeface="Calibri" panose="020F0502020204030204" pitchFamily="34" charset="0"/>
                <a:ea typeface="Calibri" panose="020F0502020204030204" pitchFamily="34" charset="0"/>
                <a:cs typeface="Arial" panose="020B0604020202020204" pitchFamily="34" charset="0"/>
              </a:rPr>
              <a:t>زمینه پایگاه داده و وابستگی‌های تابعی، </a:t>
            </a:r>
            <a:r>
              <a:rPr lang="en-US" sz="1800" dirty="0">
                <a:effectLst/>
                <a:latin typeface="Calibri" panose="020F0502020204030204" pitchFamily="34" charset="0"/>
                <a:ea typeface="Calibri" panose="020F0502020204030204" pitchFamily="34" charset="0"/>
                <a:cs typeface="Arial" panose="020B0604020202020204" pitchFamily="34" charset="0"/>
              </a:rPr>
              <a:t>H_R​ </a:t>
            </a:r>
            <a:r>
              <a:rPr lang="ar-SA" sz="1800" dirty="0">
                <a:effectLst/>
                <a:latin typeface="Calibri" panose="020F0502020204030204" pitchFamily="34" charset="0"/>
                <a:ea typeface="Calibri" panose="020F0502020204030204" pitchFamily="34" charset="0"/>
                <a:cs typeface="Arial" panose="020B0604020202020204" pitchFamily="34" charset="0"/>
              </a:rPr>
              <a:t>به مجموعه </a:t>
            </a:r>
            <a:r>
              <a:rPr lang="ar-SA" sz="1800" b="1" dirty="0">
                <a:effectLst/>
                <a:latin typeface="Calibri" panose="020F0502020204030204" pitchFamily="34" charset="0"/>
                <a:ea typeface="Calibri" panose="020F0502020204030204" pitchFamily="34" charset="0"/>
                <a:cs typeface="Arial" panose="020B0604020202020204" pitchFamily="34" charset="0"/>
              </a:rPr>
              <a:t>تمام صفات رابطه </a:t>
            </a:r>
            <a:r>
              <a:rPr lang="en-US" sz="1800" b="1" dirty="0">
                <a:effectLst/>
                <a:latin typeface="Calibri" panose="020F0502020204030204" pitchFamily="34" charset="0"/>
                <a:ea typeface="Calibri" panose="020F0502020204030204" pitchFamily="34" charset="0"/>
                <a:cs typeface="Arial" panose="020B0604020202020204" pitchFamily="34" charset="0"/>
              </a:rPr>
              <a:t>R</a:t>
            </a:r>
            <a:r>
              <a:rPr lang="en-US" sz="1800" dirty="0">
                <a:effectLst/>
                <a:latin typeface="Calibri" panose="020F0502020204030204" pitchFamily="34" charset="0"/>
                <a:ea typeface="Calibri" panose="020F0502020204030204" pitchFamily="34" charset="0"/>
                <a:cs typeface="Arial" panose="020B0604020202020204" pitchFamily="34" charset="0"/>
              </a:rPr>
              <a:t> </a:t>
            </a:r>
            <a:r>
              <a:rPr lang="ar-SA" sz="1800" dirty="0">
                <a:effectLst/>
                <a:latin typeface="Calibri" panose="020F0502020204030204" pitchFamily="34" charset="0"/>
                <a:ea typeface="Calibri" panose="020F0502020204030204" pitchFamily="34" charset="0"/>
                <a:cs typeface="Arial" panose="020B0604020202020204" pitchFamily="34" charset="0"/>
              </a:rPr>
              <a:t>اشاره دارد. این مجموعه معمولاً </a:t>
            </a:r>
            <a:r>
              <a:rPr lang="ar-SA" sz="1800" b="1" dirty="0">
                <a:effectLst/>
                <a:latin typeface="Calibri" panose="020F0502020204030204" pitchFamily="34" charset="0"/>
                <a:ea typeface="Calibri" panose="020F0502020204030204" pitchFamily="34" charset="0"/>
                <a:cs typeface="Arial" panose="020B0604020202020204" pitchFamily="34" charset="0"/>
              </a:rPr>
              <a:t>هدر</a:t>
            </a:r>
            <a:r>
              <a:rPr lang="en-US" sz="1800" b="1" dirty="0">
                <a:effectLst/>
                <a:latin typeface="Calibri" panose="020F0502020204030204" pitchFamily="34" charset="0"/>
                <a:ea typeface="Calibri" panose="020F0502020204030204" pitchFamily="34" charset="0"/>
                <a:cs typeface="Arial" panose="020B0604020202020204" pitchFamily="34" charset="0"/>
              </a:rPr>
              <a:t> (Header)</a:t>
            </a:r>
            <a:r>
              <a:rPr lang="en-US" sz="1800" dirty="0">
                <a:effectLst/>
                <a:latin typeface="Calibri" panose="020F0502020204030204" pitchFamily="34" charset="0"/>
                <a:ea typeface="Calibri" panose="020F0502020204030204" pitchFamily="34" charset="0"/>
                <a:cs typeface="Arial" panose="020B0604020202020204" pitchFamily="34" charset="0"/>
              </a:rPr>
              <a:t> </a:t>
            </a:r>
            <a:r>
              <a:rPr lang="ar-SA" sz="1800" dirty="0">
                <a:effectLst/>
                <a:latin typeface="Calibri" panose="020F0502020204030204" pitchFamily="34" charset="0"/>
                <a:ea typeface="Calibri" panose="020F0502020204030204" pitchFamily="34" charset="0"/>
                <a:cs typeface="Arial" panose="020B0604020202020204" pitchFamily="34" charset="0"/>
              </a:rPr>
              <a:t>یا </a:t>
            </a:r>
            <a:r>
              <a:rPr lang="ar-SA" sz="1800" b="1" dirty="0">
                <a:effectLst/>
                <a:latin typeface="Calibri" panose="020F0502020204030204" pitchFamily="34" charset="0"/>
                <a:ea typeface="Calibri" panose="020F0502020204030204" pitchFamily="34" charset="0"/>
                <a:cs typeface="Arial" panose="020B0604020202020204" pitchFamily="34" charset="0"/>
              </a:rPr>
              <a:t>طرح رابطه</a:t>
            </a:r>
            <a:r>
              <a:rPr lang="en-US" sz="1800" b="1" dirty="0">
                <a:effectLst/>
                <a:latin typeface="Calibri" panose="020F0502020204030204" pitchFamily="34" charset="0"/>
                <a:ea typeface="Calibri" panose="020F0502020204030204" pitchFamily="34" charset="0"/>
                <a:cs typeface="Arial" panose="020B0604020202020204" pitchFamily="34" charset="0"/>
              </a:rPr>
              <a:t> (Relation Schema)</a:t>
            </a:r>
            <a:r>
              <a:rPr lang="en-US" sz="1800" dirty="0">
                <a:effectLst/>
                <a:latin typeface="Calibri" panose="020F0502020204030204" pitchFamily="34" charset="0"/>
                <a:ea typeface="Calibri" panose="020F0502020204030204" pitchFamily="34" charset="0"/>
                <a:cs typeface="Arial" panose="020B0604020202020204" pitchFamily="34" charset="0"/>
              </a:rPr>
              <a:t> </a:t>
            </a:r>
            <a:r>
              <a:rPr lang="ar-SA" sz="1800" dirty="0">
                <a:effectLst/>
                <a:latin typeface="Calibri" panose="020F0502020204030204" pitchFamily="34" charset="0"/>
                <a:ea typeface="Calibri" panose="020F0502020204030204" pitchFamily="34" charset="0"/>
                <a:cs typeface="Arial" panose="020B0604020202020204" pitchFamily="34" charset="0"/>
              </a:rPr>
              <a:t>نامیده می‌شود</a:t>
            </a:r>
            <a:r>
              <a:rPr lang="en-US" sz="1800" dirty="0">
                <a:effectLst/>
                <a:latin typeface="Calibri" panose="020F0502020204030204" pitchFamily="34" charset="0"/>
                <a:ea typeface="Calibri" panose="020F0502020204030204" pitchFamily="34" charset="0"/>
                <a:cs typeface="Arial" panose="020B0604020202020204" pitchFamily="34" charset="0"/>
              </a:rPr>
              <a:t>.</a:t>
            </a: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22</a:t>
            </a:fld>
            <a:endParaRPr lang="en-US" altLang="en-US"/>
          </a:p>
        </p:txBody>
      </p:sp>
    </p:spTree>
    <p:extLst>
      <p:ext uri="{BB962C8B-B14F-4D97-AF65-F5344CB8AC3E}">
        <p14:creationId xmlns:p14="http://schemas.microsoft.com/office/powerpoint/2010/main" val="33317380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lnSpc>
                <a:spcPct val="107000"/>
              </a:lnSpc>
              <a:spcBef>
                <a:spcPts val="0"/>
              </a:spcBef>
              <a:spcAft>
                <a:spcPts val="800"/>
              </a:spcAft>
            </a:pPr>
            <a:r>
              <a:rPr lang="en-US" sz="1200" dirty="0">
                <a:effectLst/>
                <a:latin typeface="Times New Roman" panose="02020603050405020304" pitchFamily="18" charset="0"/>
                <a:ea typeface="Times New Roman" panose="02020603050405020304" pitchFamily="18" charset="0"/>
                <a:cs typeface="Arial" panose="020B0604020202020204" pitchFamily="34" charset="0"/>
              </a:rPr>
              <a:t>Using the inference rules, we can derive the closure:</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nSpc>
                <a:spcPct val="107000"/>
              </a:lnSpc>
              <a:spcBef>
                <a:spcPts val="0"/>
              </a:spcBef>
              <a:spcAft>
                <a:spcPts val="800"/>
              </a:spcAft>
              <a:buFont typeface="+mj-lt"/>
              <a:buAutoNum type="arabicPeriod"/>
              <a:tabLst>
                <a:tab pos="457200" algn="l"/>
              </a:tabLst>
            </a:pPr>
            <a:r>
              <a:rPr lang="en-US" sz="1200" b="1" dirty="0">
                <a:effectLst/>
                <a:latin typeface="Times New Roman" panose="02020603050405020304" pitchFamily="18" charset="0"/>
                <a:ea typeface="Times New Roman" panose="02020603050405020304" pitchFamily="18" charset="0"/>
                <a:cs typeface="Arial" panose="020B0604020202020204" pitchFamily="34" charset="0"/>
              </a:rPr>
              <a:t>Derived Dependencies</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nSpc>
                <a:spcPct val="107000"/>
              </a:lnSpc>
              <a:spcBef>
                <a:spcPts val="0"/>
              </a:spcBef>
              <a:spcAft>
                <a:spcPts val="800"/>
              </a:spcAft>
              <a:buSzPts val="1000"/>
              <a:buFont typeface="Courier New" panose="02070309020205020404" pitchFamily="49" charset="0"/>
              <a:buChar char="o"/>
              <a:tabLst>
                <a:tab pos="914400" algn="l"/>
              </a:tabLst>
            </a:pP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Using Transitivity</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From A→B  and B→C, we can infer A→C.</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nSpc>
                <a:spcPct val="107000"/>
              </a:lnSpc>
              <a:spcBef>
                <a:spcPts val="0"/>
              </a:spcBef>
              <a:spcAft>
                <a:spcPts val="800"/>
              </a:spcAft>
              <a:buSzPts val="1000"/>
              <a:buFont typeface="Courier New" panose="02070309020205020404" pitchFamily="49" charset="0"/>
              <a:buChar char="o"/>
              <a:tabLst>
                <a:tab pos="914400" algn="l"/>
              </a:tabLst>
            </a:pP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Using Augmentation</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From A→B, we can infer A→BC (add attributes on the right).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nSpc>
                <a:spcPct val="107000"/>
              </a:lnSpc>
              <a:spcBef>
                <a:spcPts val="0"/>
              </a:spcBef>
              <a:spcAft>
                <a:spcPts val="800"/>
              </a:spcAft>
              <a:buSzPts val="1000"/>
              <a:buFont typeface="Courier New" panose="02070309020205020404" pitchFamily="49" charset="0"/>
              <a:buChar char="o"/>
              <a:tabLst>
                <a:tab pos="914400" algn="l"/>
              </a:tabLst>
            </a:pP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Combining Augmented Dependencies</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From A→BC and A→DA, we can infer A→BCD.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23</a:t>
            </a:fld>
            <a:endParaRPr lang="en-US" altLang="en-US"/>
          </a:p>
        </p:txBody>
      </p:sp>
    </p:spTree>
    <p:extLst>
      <p:ext uri="{BB962C8B-B14F-4D97-AF65-F5344CB8AC3E}">
        <p14:creationId xmlns:p14="http://schemas.microsoft.com/office/powerpoint/2010/main" val="157680544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p:cNvSpPr>
                <a:spLocks noGrp="1"/>
              </p:cNvSpPr>
              <p:nvPr>
                <p:ph type="body" idx="1"/>
              </p:nvPr>
            </p:nvSpPr>
            <p:spPr/>
            <p:txBody>
              <a:bodyPr/>
              <a:lstStyle/>
              <a:p>
                <a:pPr algn="r" rtl="1"/>
                <a:r>
                  <a:rPr lang="fa-IR" dirty="0"/>
                  <a:t>اگر کلید اصلی </a:t>
                </a:r>
                <a:r>
                  <a:rPr lang="fa-IR" b="1" dirty="0"/>
                  <a:t>ترکیبی</a:t>
                </a:r>
                <a:r>
                  <a:rPr lang="fa-IR" dirty="0"/>
                  <a:t> باشد (مثلاً شامل دو یا چند ستون)، نباید هیچ صفت غیرکلیدی وجود داشته باشد که فقط به </a:t>
                </a:r>
                <a:r>
                  <a:rPr lang="fa-IR" b="1" dirty="0"/>
                  <a:t>بخشی از کلید</a:t>
                </a:r>
                <a:r>
                  <a:rPr lang="fa-IR" dirty="0"/>
                  <a:t> وابسته باشد.</a:t>
                </a:r>
                <a:endParaRPr lang="en-US" dirty="0"/>
              </a:p>
              <a:p>
                <a:pPr algn="r" rtl="1"/>
                <a:r>
                  <a:rPr lang="fa-IR" b="1" dirty="0"/>
                  <a:t>وابستگی جزئی چیست؟</a:t>
                </a:r>
              </a:p>
              <a:p>
                <a:pPr algn="r" rtl="1"/>
                <a:r>
                  <a:rPr lang="fa-IR" dirty="0"/>
                  <a:t>فرض کنید:</a:t>
                </a:r>
              </a:p>
              <a:p>
                <a:pPr algn="r" rtl="1"/>
                <a:r>
                  <a:rPr lang="fa-IR" dirty="0"/>
                  <a:t>کلید اصلی = </a:t>
                </a:r>
                <a14:m>
                  <m:oMath xmlns:m="http://schemas.openxmlformats.org/officeDocument/2006/math">
                    <m:d>
                      <m:dPr>
                        <m:sepChr m:val=","/>
                        <m:ctrlPr>
                          <a:rPr lang="fa-IR" sz="1200" kern="1200">
                            <a:solidFill>
                              <a:schemeClr val="tx1"/>
                            </a:solidFill>
                            <a:latin typeface="Times New Roman" charset="0"/>
                            <a:ea typeface="MS PGothic" panose="020B0600070205080204" pitchFamily="34" charset="-128"/>
                            <a:cs typeface="ＭＳ Ｐゴシック" charset="0"/>
                          </a:rPr>
                        </m:ctrlPr>
                      </m:dPr>
                      <m:e>
                        <m:r>
                          <a:rPr lang="fa-IR" sz="1200" i="1" kern="1200">
                            <a:solidFill>
                              <a:schemeClr val="tx1"/>
                            </a:solidFill>
                            <a:latin typeface="Times New Roman" charset="0"/>
                            <a:ea typeface="MS PGothic" panose="020B0600070205080204" pitchFamily="34" charset="-128"/>
                            <a:cs typeface="ＭＳ Ｐゴシック" charset="0"/>
                          </a:rPr>
                          <m:t>𝐴</m:t>
                        </m:r>
                      </m:e>
                      <m:e>
                        <m:r>
                          <a:rPr lang="fa-IR" sz="1200" i="1" kern="1200">
                            <a:solidFill>
                              <a:schemeClr val="tx1"/>
                            </a:solidFill>
                            <a:latin typeface="Times New Roman" charset="0"/>
                            <a:ea typeface="MS PGothic" panose="020B0600070205080204" pitchFamily="34" charset="-128"/>
                            <a:cs typeface="ＭＳ Ｐゴシック" charset="0"/>
                          </a:rPr>
                          <m:t>𝐵</m:t>
                        </m:r>
                      </m:e>
                    </m:d>
                  </m:oMath>
                </a14:m>
                <a:endParaRPr lang="fa-IR" dirty="0"/>
              </a:p>
              <a:p>
                <a:pPr algn="r" rtl="1"/>
                <a:r>
                  <a:rPr lang="fa-IR" dirty="0"/>
                  <a:t>صفت غیرکلیدی = </a:t>
                </a:r>
                <a14:m>
                  <m:oMath xmlns:m="http://schemas.openxmlformats.org/officeDocument/2006/math">
                    <m:r>
                      <a:rPr lang="fa-IR" sz="1200" i="1" kern="1200">
                        <a:solidFill>
                          <a:schemeClr val="tx1"/>
                        </a:solidFill>
                        <a:latin typeface="Times New Roman" charset="0"/>
                        <a:ea typeface="MS PGothic" panose="020B0600070205080204" pitchFamily="34" charset="-128"/>
                        <a:cs typeface="ＭＳ Ｐゴシック" charset="0"/>
                      </a:rPr>
                      <m:t>𝐶</m:t>
                    </m:r>
                  </m:oMath>
                </a14:m>
                <a:endParaRPr lang="fa-IR" dirty="0"/>
              </a:p>
              <a:p>
                <a:pPr algn="r" rtl="1"/>
                <a:r>
                  <a:rPr lang="fa-IR" dirty="0"/>
                  <a:t>اگر:</a:t>
                </a:r>
                <a14:m>
                  <m:oMath xmlns:m="http://schemas.openxmlformats.org/officeDocument/2006/math">
                    <m:r>
                      <a:rPr lang="fa-IR" sz="1200" i="1" kern="1200" smtClean="0">
                        <a:solidFill>
                          <a:schemeClr val="tx1"/>
                        </a:solidFill>
                        <a:latin typeface="Cambria Math" panose="02040503050406030204" pitchFamily="18" charset="0"/>
                        <a:ea typeface="MS PGothic" panose="020B0600070205080204" pitchFamily="34" charset="-128"/>
                        <a:cs typeface="ＭＳ Ｐゴシック" charset="0"/>
                      </a:rPr>
                      <m:t>𝐶</m:t>
                    </m:r>
                    <m:r>
                      <a:rPr lang="fa-IR" sz="1200" i="0" kern="1200">
                        <a:solidFill>
                          <a:schemeClr val="tx1"/>
                        </a:solidFill>
                        <a:latin typeface="Times New Roman" charset="0"/>
                        <a:ea typeface="MS PGothic" panose="020B0600070205080204" pitchFamily="34" charset="-128"/>
                        <a:cs typeface="ＭＳ Ｐゴシック" charset="0"/>
                      </a:rPr>
                      <m:t>→</m:t>
                    </m:r>
                    <m:r>
                      <a:rPr lang="fa-IR" sz="1200" i="1" kern="1200" smtClean="0">
                        <a:solidFill>
                          <a:schemeClr val="tx1"/>
                        </a:solidFill>
                        <a:latin typeface="Cambria Math" panose="02040503050406030204" pitchFamily="18" charset="0"/>
                        <a:ea typeface="MS PGothic" panose="020B0600070205080204" pitchFamily="34" charset="-128"/>
                        <a:cs typeface="ＭＳ Ｐゴシック" charset="0"/>
                      </a:rPr>
                      <m:t>𝐴</m:t>
                    </m:r>
                  </m:oMath>
                </a14:m>
                <a:endParaRPr lang="fa-IR" dirty="0"/>
              </a:p>
              <a:p>
                <a:pPr algn="r" rtl="1"/>
                <a:r>
                  <a:rPr lang="fa-IR" dirty="0"/>
                  <a:t>در حالی که کلید اصلی </a:t>
                </a:r>
                <a14:m>
                  <m:oMath xmlns:m="http://schemas.openxmlformats.org/officeDocument/2006/math">
                    <m:d>
                      <m:dPr>
                        <m:sepChr m:val=","/>
                        <m:ctrlPr>
                          <a:rPr lang="fa-IR" sz="1200" kern="1200">
                            <a:solidFill>
                              <a:schemeClr val="tx1"/>
                            </a:solidFill>
                            <a:latin typeface="Times New Roman" charset="0"/>
                            <a:ea typeface="MS PGothic" panose="020B0600070205080204" pitchFamily="34" charset="-128"/>
                            <a:cs typeface="ＭＳ Ｐゴシック" charset="0"/>
                          </a:rPr>
                        </m:ctrlPr>
                      </m:dPr>
                      <m:e>
                        <m:r>
                          <a:rPr lang="fa-IR" sz="1200" i="1" kern="1200">
                            <a:solidFill>
                              <a:schemeClr val="tx1"/>
                            </a:solidFill>
                            <a:latin typeface="Times New Roman" charset="0"/>
                            <a:ea typeface="MS PGothic" panose="020B0600070205080204" pitchFamily="34" charset="-128"/>
                            <a:cs typeface="ＭＳ Ｐゴシック" charset="0"/>
                          </a:rPr>
                          <m:t>𝐴</m:t>
                        </m:r>
                      </m:e>
                      <m:e>
                        <m:r>
                          <a:rPr lang="fa-IR" sz="1200" i="1" kern="1200">
                            <a:solidFill>
                              <a:schemeClr val="tx1"/>
                            </a:solidFill>
                            <a:latin typeface="Times New Roman" charset="0"/>
                            <a:ea typeface="MS PGothic" panose="020B0600070205080204" pitchFamily="34" charset="-128"/>
                            <a:cs typeface="ＭＳ Ｐゴシック" charset="0"/>
                          </a:rPr>
                          <m:t>𝐵</m:t>
                        </m:r>
                      </m:e>
                    </m:d>
                  </m:oMath>
                </a14:m>
                <a:r>
                  <a:rPr lang="fa-IR" dirty="0"/>
                  <a:t>است،</a:t>
                </a:r>
                <a:br>
                  <a:rPr lang="fa-IR" dirty="0"/>
                </a:br>
                <a:r>
                  <a:rPr lang="fa-IR" dirty="0"/>
                  <a:t>آنگاه </a:t>
                </a:r>
                <a14:m>
                  <m:oMath xmlns:m="http://schemas.openxmlformats.org/officeDocument/2006/math">
                    <m:r>
                      <a:rPr lang="fa-IR" sz="1200" i="1" kern="1200">
                        <a:solidFill>
                          <a:schemeClr val="tx1"/>
                        </a:solidFill>
                        <a:latin typeface="Times New Roman" charset="0"/>
                        <a:ea typeface="MS PGothic" panose="020B0600070205080204" pitchFamily="34" charset="-128"/>
                        <a:cs typeface="ＭＳ Ｐゴシック" charset="0"/>
                      </a:rPr>
                      <m:t>𝐶</m:t>
                    </m:r>
                  </m:oMath>
                </a14:m>
                <a:r>
                  <a:rPr lang="fa-IR" dirty="0"/>
                  <a:t>فقط به </a:t>
                </a:r>
                <a:r>
                  <a:rPr lang="fa-IR" b="1" dirty="0"/>
                  <a:t>بخشی از کلید</a:t>
                </a:r>
                <a:r>
                  <a:rPr lang="fa-IR" dirty="0"/>
                  <a:t> وابسته است ⇒ </a:t>
                </a:r>
                <a:r>
                  <a:rPr lang="fa-IR" b="1" dirty="0"/>
                  <a:t>وابستگی جزئی</a:t>
                </a:r>
                <a:r>
                  <a:rPr lang="fa-IR" dirty="0"/>
                  <a:t> ⇒ نقض 2</a:t>
                </a:r>
                <a:r>
                  <a:rPr lang="en-US" dirty="0"/>
                  <a:t>NF.</a:t>
                </a:r>
              </a:p>
              <a:p>
                <a:pPr algn="r" rtl="1"/>
                <a:endParaRPr lang="en-US" dirty="0"/>
              </a:p>
            </p:txBody>
          </p:sp>
        </mc:Choice>
        <mc:Fallback>
          <p:sp>
            <p:nvSpPr>
              <p:cNvPr id="3" name="Notes Placeholder 2"/>
              <p:cNvSpPr>
                <a:spLocks noGrp="1"/>
              </p:cNvSpPr>
              <p:nvPr>
                <p:ph type="body" idx="1"/>
              </p:nvPr>
            </p:nvSpPr>
            <p:spPr/>
            <p:txBody>
              <a:bodyPr/>
              <a:lstStyle/>
              <a:p>
                <a:pPr algn="r" rtl="1"/>
                <a:r>
                  <a:rPr lang="fa-IR" dirty="0"/>
                  <a:t>اگر کلید اصلی </a:t>
                </a:r>
                <a:r>
                  <a:rPr lang="fa-IR" b="1" dirty="0"/>
                  <a:t>ترکیبی</a:t>
                </a:r>
                <a:r>
                  <a:rPr lang="fa-IR" dirty="0"/>
                  <a:t> باشد (مثلاً شامل دو یا چند ستون)، نباید هیچ صفت غیرکلیدی وجود داشته باشد که فقط به </a:t>
                </a:r>
                <a:r>
                  <a:rPr lang="fa-IR" b="1" dirty="0"/>
                  <a:t>بخشی از کلید</a:t>
                </a:r>
                <a:r>
                  <a:rPr lang="fa-IR" dirty="0"/>
                  <a:t> وابسته باشد.</a:t>
                </a:r>
                <a:endParaRPr lang="en-US" dirty="0"/>
              </a:p>
              <a:p>
                <a:pPr algn="r" rtl="1"/>
                <a:r>
                  <a:rPr lang="fa-IR" b="1" dirty="0"/>
                  <a:t>وابستگی جزئی چیست؟</a:t>
                </a:r>
              </a:p>
              <a:p>
                <a:pPr algn="r" rtl="1"/>
                <a:r>
                  <a:rPr lang="fa-IR" dirty="0"/>
                  <a:t>فرض کنید:</a:t>
                </a:r>
              </a:p>
              <a:p>
                <a:pPr algn="r" rtl="1"/>
                <a:r>
                  <a:rPr lang="fa-IR" dirty="0"/>
                  <a:t>کلید اصلی = </a:t>
                </a:r>
                <a:r>
                  <a:rPr lang="fa-IR" sz="1200" i="0" kern="1200">
                    <a:solidFill>
                      <a:schemeClr val="tx1"/>
                    </a:solidFill>
                    <a:latin typeface="Times New Roman" charset="0"/>
                    <a:ea typeface="MS PGothic" panose="020B0600070205080204" pitchFamily="34" charset="-128"/>
                  </a:rPr>
                  <a:t>(</a:t>
                </a:r>
                <a:r>
                  <a:rPr lang="fa-IR" sz="1200" i="0" kern="1200">
                    <a:solidFill>
                      <a:schemeClr val="tx1"/>
                    </a:solidFill>
                    <a:latin typeface="Times New Roman" charset="0"/>
                    <a:ea typeface="MS PGothic" panose="020B0600070205080204" pitchFamily="34" charset="-128"/>
                    <a:cs typeface="ＭＳ Ｐゴシック" charset="0"/>
                  </a:rPr>
                  <a:t>𝐴ⓜ,𝐵)</a:t>
                </a:r>
                <a:endParaRPr lang="fa-IR" dirty="0"/>
              </a:p>
              <a:p>
                <a:pPr algn="r" rtl="1"/>
                <a:r>
                  <a:rPr lang="fa-IR" dirty="0"/>
                  <a:t>صفت غیرکلیدی = </a:t>
                </a:r>
                <a:r>
                  <a:rPr lang="fa-IR" sz="1200" i="0" kern="1200">
                    <a:solidFill>
                      <a:schemeClr val="tx1"/>
                    </a:solidFill>
                    <a:latin typeface="Times New Roman" charset="0"/>
                    <a:ea typeface="MS PGothic" panose="020B0600070205080204" pitchFamily="34" charset="-128"/>
                    <a:cs typeface="ＭＳ Ｐゴシック" charset="0"/>
                  </a:rPr>
                  <a:t>𝐶</a:t>
                </a:r>
                <a:endParaRPr lang="fa-IR" dirty="0"/>
              </a:p>
              <a:p>
                <a:pPr algn="r" rtl="1"/>
                <a:r>
                  <a:rPr lang="fa-IR" dirty="0"/>
                  <a:t>اگر:</a:t>
                </a:r>
                <a:r>
                  <a:rPr lang="fa-IR" sz="1200" i="0" kern="1200">
                    <a:solidFill>
                      <a:schemeClr val="tx1"/>
                    </a:solidFill>
                    <a:latin typeface="Cambria Math" panose="02040503050406030204" pitchFamily="18" charset="0"/>
                    <a:ea typeface="MS PGothic" panose="020B0600070205080204" pitchFamily="34" charset="-128"/>
                    <a:cs typeface="ＭＳ Ｐゴシック" charset="0"/>
                  </a:rPr>
                  <a:t>𝐶</a:t>
                </a:r>
                <a:r>
                  <a:rPr lang="fa-IR" sz="1200" i="0" kern="1200">
                    <a:solidFill>
                      <a:schemeClr val="tx1"/>
                    </a:solidFill>
                    <a:latin typeface="Times New Roman" charset="0"/>
                    <a:ea typeface="MS PGothic" panose="020B0600070205080204" pitchFamily="34" charset="-128"/>
                    <a:cs typeface="ＭＳ Ｐゴシック" charset="0"/>
                  </a:rPr>
                  <a:t>→</a:t>
                </a:r>
                <a:r>
                  <a:rPr lang="fa-IR" sz="1200" i="0" kern="1200">
                    <a:solidFill>
                      <a:schemeClr val="tx1"/>
                    </a:solidFill>
                    <a:latin typeface="Cambria Math" panose="02040503050406030204" pitchFamily="18" charset="0"/>
                    <a:ea typeface="MS PGothic" panose="020B0600070205080204" pitchFamily="34" charset="-128"/>
                    <a:cs typeface="ＭＳ Ｐゴシック" charset="0"/>
                  </a:rPr>
                  <a:t>𝐴</a:t>
                </a:r>
                <a:endParaRPr lang="fa-IR" dirty="0"/>
              </a:p>
              <a:p>
                <a:pPr algn="r" rtl="1"/>
                <a:r>
                  <a:rPr lang="fa-IR" dirty="0"/>
                  <a:t>در حالی که کلید اصلی </a:t>
                </a:r>
                <a:r>
                  <a:rPr lang="fa-IR" sz="1200" i="0" kern="1200">
                    <a:solidFill>
                      <a:schemeClr val="tx1"/>
                    </a:solidFill>
                    <a:latin typeface="Times New Roman" charset="0"/>
                    <a:ea typeface="MS PGothic" panose="020B0600070205080204" pitchFamily="34" charset="-128"/>
                  </a:rPr>
                  <a:t>(</a:t>
                </a:r>
                <a:r>
                  <a:rPr lang="fa-IR" sz="1200" i="0" kern="1200">
                    <a:solidFill>
                      <a:schemeClr val="tx1"/>
                    </a:solidFill>
                    <a:latin typeface="Times New Roman" charset="0"/>
                    <a:ea typeface="MS PGothic" panose="020B0600070205080204" pitchFamily="34" charset="-128"/>
                    <a:cs typeface="ＭＳ Ｐゴシック" charset="0"/>
                  </a:rPr>
                  <a:t>𝐴ⓜ,𝐵)</a:t>
                </a:r>
                <a:r>
                  <a:rPr lang="fa-IR" dirty="0"/>
                  <a:t>است،</a:t>
                </a:r>
                <a:br>
                  <a:rPr lang="fa-IR" dirty="0"/>
                </a:br>
                <a:r>
                  <a:rPr lang="fa-IR" dirty="0"/>
                  <a:t>آنگاه </a:t>
                </a:r>
                <a:r>
                  <a:rPr lang="fa-IR" sz="1200" i="0" kern="1200">
                    <a:solidFill>
                      <a:schemeClr val="tx1"/>
                    </a:solidFill>
                    <a:latin typeface="Times New Roman" charset="0"/>
                    <a:ea typeface="MS PGothic" panose="020B0600070205080204" pitchFamily="34" charset="-128"/>
                    <a:cs typeface="ＭＳ Ｐゴシック" charset="0"/>
                  </a:rPr>
                  <a:t>𝐶</a:t>
                </a:r>
                <a:r>
                  <a:rPr lang="fa-IR" dirty="0"/>
                  <a:t>فقط به </a:t>
                </a:r>
                <a:r>
                  <a:rPr lang="fa-IR" b="1" dirty="0"/>
                  <a:t>بخشی از کلید</a:t>
                </a:r>
                <a:r>
                  <a:rPr lang="fa-IR" dirty="0"/>
                  <a:t> وابسته است ⇒ </a:t>
                </a:r>
                <a:r>
                  <a:rPr lang="fa-IR" b="1" dirty="0"/>
                  <a:t>وابستگی جزئی</a:t>
                </a:r>
                <a:r>
                  <a:rPr lang="fa-IR" dirty="0"/>
                  <a:t> ⇒ نقض 2</a:t>
                </a:r>
                <a:r>
                  <a:rPr lang="en-US" dirty="0"/>
                  <a:t>NF.</a:t>
                </a:r>
              </a:p>
              <a:p>
                <a:pPr algn="r" rtl="1"/>
                <a:endParaRPr lang="en-US" dirty="0"/>
              </a:p>
            </p:txBody>
          </p:sp>
        </mc:Fallback>
      </mc:AlternateContent>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24</a:t>
            </a:fld>
            <a:endParaRPr lang="en-US" altLang="en-US"/>
          </a:p>
        </p:txBody>
      </p:sp>
    </p:spTree>
    <p:extLst>
      <p:ext uri="{BB962C8B-B14F-4D97-AF65-F5344CB8AC3E}">
        <p14:creationId xmlns:p14="http://schemas.microsoft.com/office/powerpoint/2010/main" val="68220041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lgn="r" rtl="1">
              <a:lnSpc>
                <a:spcPct val="107000"/>
              </a:lnSpc>
              <a:spcBef>
                <a:spcPts val="0"/>
              </a:spcBef>
              <a:spcAft>
                <a:spcPts val="800"/>
              </a:spcAft>
            </a:pPr>
            <a:r>
              <a:rPr lang="ar-SA" sz="1350" b="1" dirty="0">
                <a:effectLst/>
                <a:latin typeface="Calibri" panose="020F0502020204030204" pitchFamily="34" charset="0"/>
                <a:ea typeface="Times New Roman" panose="02020603050405020304" pitchFamily="18" charset="0"/>
                <a:cs typeface="Times New Roman" panose="02020603050405020304" pitchFamily="18" charset="0"/>
              </a:rPr>
              <a:t>شکلات این جدول برای رسیدن به 2</a:t>
            </a: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کلید اصلی</a:t>
            </a:r>
            <a:r>
              <a:rPr lang="en-US" sz="1200" b="1" dirty="0">
                <a:effectLst/>
                <a:latin typeface="Times New Roman" panose="02020603050405020304" pitchFamily="18" charset="0"/>
                <a:ea typeface="Times New Roman" panose="02020603050405020304" pitchFamily="18" charset="0"/>
                <a:cs typeface="Arial" panose="020B0604020202020204" pitchFamily="34" charset="0"/>
              </a:rPr>
              <a:t> (Primary Key) </a:t>
            </a: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احتمالی</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به نظر می‌رسد کلید اصلی ترکیبی از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Sale 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ProductNo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باشد، چون یک فروش</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(Sale)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می‌تواند شامل چندین محصول باشد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ستون‌هایی مانند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Customer No</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First</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Last</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و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Address</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فقط به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Customer 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وابسته هستند و به کل کلید اصلی</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Sale 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ProductNo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وابسته نیستند. این وابستگی جزئی است</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وابستگی جزئی</a:t>
            </a:r>
            <a:r>
              <a:rPr lang="en-US" sz="1200" b="1" dirty="0">
                <a:effectLst/>
                <a:latin typeface="Times New Roman" panose="02020603050405020304" pitchFamily="18" charset="0"/>
                <a:ea typeface="Times New Roman" panose="02020603050405020304" pitchFamily="18" charset="0"/>
                <a:cs typeface="Arial" panose="020B0604020202020204" pitchFamily="34" charset="0"/>
              </a:rPr>
              <a:t> (Partial Dependency)</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Customer 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اطلاعاتی مثل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First</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Last</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Address</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را تعیین می‌کند. این اطلاعات نیازی به دانستن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ProductNo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ندارند و فقط به بخشی از کلید اصلی</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Sale 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وابسته‌اند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به همین ترتیب،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Salesrep</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فقط به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Sale 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وابسته است و به کلید ترکیبی نیاز ندارد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اطلاعات تکراری</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اطلاعات مشتری (مثل نام، آدرس، و شماره مشتری) در ردیف‌های مختلف تکرار می‌شود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اطلاعات نماینده فروش</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Salesrep</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نیز به طور تکراری ذخیره شده است</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0" marR="0" algn="r" rtl="1">
              <a:lnSpc>
                <a:spcPct val="107000"/>
              </a:lnSpc>
              <a:spcBef>
                <a:spcPts val="0"/>
              </a:spcBef>
              <a:spcAft>
                <a:spcPts val="800"/>
              </a:spcAft>
            </a:pPr>
            <a:r>
              <a:rPr lang="en-US" sz="1100" dirty="0">
                <a:effectLst/>
                <a:latin typeface="Calibri" panose="020F0502020204030204" pitchFamily="34" charset="0"/>
                <a:ea typeface="Calibri" panose="020F0502020204030204" pitchFamily="34" charset="0"/>
                <a:cs typeface="Arial" panose="020B0604020202020204" pitchFamily="34" charset="0"/>
              </a:rPr>
              <a:t> </a:t>
            </a:r>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25</a:t>
            </a:fld>
            <a:endParaRPr lang="en-US" altLang="en-US"/>
          </a:p>
        </p:txBody>
      </p:sp>
    </p:spTree>
    <p:extLst>
      <p:ext uri="{BB962C8B-B14F-4D97-AF65-F5344CB8AC3E}">
        <p14:creationId xmlns:p14="http://schemas.microsoft.com/office/powerpoint/2010/main" val="36230074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87E32EFA-99EE-40E3-9AB5-36B847B8CD16}" type="slidenum">
              <a:rPr lang="en-US" altLang="en-US" sz="1200"/>
              <a:pPr/>
              <a:t>26</a:t>
            </a:fld>
            <a:endParaRPr lang="en-US" altLang="en-US" sz="1200"/>
          </a:p>
        </p:txBody>
      </p:sp>
      <p:sp>
        <p:nvSpPr>
          <p:cNvPr id="113667" name="Rectangle 2"/>
          <p:cNvSpPr>
            <a:spLocks noGrp="1" noRot="1" noChangeAspect="1" noChangeArrowheads="1" noTextEdit="1"/>
          </p:cNvSpPr>
          <p:nvPr>
            <p:ph type="sldImg"/>
          </p:nvPr>
        </p:nvSpPr>
        <p:spPr>
          <a:xfrm>
            <a:off x="1177925" y="695325"/>
            <a:ext cx="4641850" cy="3481388"/>
          </a:xfrm>
          <a:ln/>
        </p:spPr>
      </p:sp>
      <p:sp>
        <p:nvSpPr>
          <p:cNvPr id="11366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13878141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base" latinLnBrk="0" hangingPunct="1">
              <a:lnSpc>
                <a:spcPct val="100000"/>
              </a:lnSpc>
              <a:spcBef>
                <a:spcPct val="30000"/>
              </a:spcBef>
              <a:spcAft>
                <a:spcPct val="0"/>
              </a:spcAft>
              <a:buClrTx/>
              <a:buSzTx/>
              <a:buFontTx/>
              <a:buNone/>
              <a:tabLst/>
              <a:defRPr/>
            </a:pPr>
            <a:r>
              <a:rPr lang="ar-SA" altLang="en-US" sz="1200" b="0" dirty="0">
                <a:solidFill>
                  <a:srgbClr val="000000"/>
                </a:solidFill>
                <a:latin typeface="Tahoma" panose="020B0604030504040204" pitchFamily="34" charset="0"/>
                <a:cs typeface="B Nazanin" panose="00000400000000000000" pitchFamily="2" charset="-78"/>
              </a:rPr>
              <a:t>مثال</a:t>
            </a:r>
            <a:r>
              <a:rPr lang="fa-IR" altLang="en-US" sz="1200" b="0" dirty="0">
                <a:solidFill>
                  <a:srgbClr val="000000"/>
                </a:solidFill>
                <a:latin typeface="Tahoma" panose="020B0604030504040204" pitchFamily="34" charset="0"/>
                <a:cs typeface="B Nazanin" panose="00000400000000000000" pitchFamily="2" charset="-78"/>
              </a:rPr>
              <a:t>. </a:t>
            </a:r>
            <a:r>
              <a:rPr lang="ar-SA" altLang="en-US" sz="1200" b="0" dirty="0">
                <a:solidFill>
                  <a:srgbClr val="000000"/>
                </a:solidFill>
                <a:latin typeface="Tahoma" panose="020B0604030504040204" pitchFamily="34" charset="0"/>
                <a:cs typeface="B Nazanin" panose="00000400000000000000" pitchFamily="2" charset="-78"/>
              </a:rPr>
              <a:t>در جدول </a:t>
            </a:r>
            <a:r>
              <a:rPr lang="en-US" altLang="en-US" sz="1200" b="0" dirty="0">
                <a:solidFill>
                  <a:srgbClr val="000000"/>
                </a:solidFill>
                <a:latin typeface="Tahoma" panose="020B0604030504040204" pitchFamily="34" charset="0"/>
                <a:cs typeface="B Nazanin" panose="00000400000000000000" pitchFamily="2" charset="-78"/>
              </a:rPr>
              <a:t>ALL_SALES</a:t>
            </a:r>
            <a:r>
              <a:rPr lang="ar-SA" altLang="en-US" sz="1200" b="0" dirty="0">
                <a:solidFill>
                  <a:srgbClr val="000000"/>
                </a:solidFill>
                <a:latin typeface="Tahoma" panose="020B0604030504040204" pitchFamily="34" charset="0"/>
                <a:cs typeface="B Nazanin" panose="00000400000000000000" pitchFamily="2" charset="-78"/>
              </a:rPr>
              <a:t> مثال قبل، </a:t>
            </a:r>
            <a:r>
              <a:rPr lang="en-US" altLang="en-US" sz="1200" b="0" dirty="0" err="1">
                <a:solidFill>
                  <a:srgbClr val="000000"/>
                </a:solidFill>
                <a:latin typeface="Tahoma" panose="020B0604030504040204" pitchFamily="34" charset="0"/>
                <a:cs typeface="B Nazanin" panose="00000400000000000000" pitchFamily="2" charset="-78"/>
              </a:rPr>
              <a:t>Customer_Address</a:t>
            </a:r>
            <a:r>
              <a:rPr lang="ar-SA" altLang="en-US" sz="1200" b="0" dirty="0">
                <a:solidFill>
                  <a:srgbClr val="000000"/>
                </a:solidFill>
                <a:latin typeface="Tahoma" panose="020B0604030504040204" pitchFamily="34" charset="0"/>
                <a:cs typeface="B Nazanin" panose="00000400000000000000" pitchFamily="2" charset="-78"/>
              </a:rPr>
              <a:t> با </a:t>
            </a:r>
            <a:r>
              <a:rPr lang="en-US" altLang="en-US" sz="1200" b="0" dirty="0" err="1">
                <a:solidFill>
                  <a:srgbClr val="000000"/>
                </a:solidFill>
                <a:latin typeface="Tahoma" panose="020B0604030504040204" pitchFamily="34" charset="0"/>
                <a:cs typeface="B Nazanin" panose="00000400000000000000" pitchFamily="2" charset="-78"/>
              </a:rPr>
              <a:t>CustomerNo</a:t>
            </a:r>
            <a:r>
              <a:rPr lang="ar-SA" altLang="en-US" sz="1200" b="0" dirty="0">
                <a:solidFill>
                  <a:srgbClr val="000000"/>
                </a:solidFill>
                <a:latin typeface="Tahoma" panose="020B0604030504040204" pitchFamily="34" charset="0"/>
                <a:cs typeface="B Nazanin" panose="00000400000000000000" pitchFamily="2" charset="-78"/>
              </a:rPr>
              <a:t> وابستگی تابعی دارد، زيرا يک مشتری خاص تنها با يک آدرس مربوط است. توجه کنيد که عکس آن برقرار نيست و چند مشتری ممکن است در يک آدرس زندگی کنند</a:t>
            </a:r>
            <a:r>
              <a:rPr lang="fa-IR" altLang="en-US" sz="1200" b="0" dirty="0">
                <a:solidFill>
                  <a:srgbClr val="000000"/>
                </a:solidFill>
                <a:latin typeface="Tahoma" panose="020B0604030504040204" pitchFamily="34" charset="0"/>
                <a:cs typeface="B Nazanin" panose="00000400000000000000" pitchFamily="2" charset="-78"/>
              </a:rPr>
              <a:t>. </a:t>
            </a:r>
            <a:r>
              <a:rPr lang="ar-SA" altLang="en-US" sz="1200" b="0" dirty="0">
                <a:solidFill>
                  <a:srgbClr val="000000"/>
                </a:solidFill>
                <a:latin typeface="Tahoma" panose="020B0604030504040204" pitchFamily="34" charset="0"/>
                <a:cs typeface="B Nazanin" panose="00000400000000000000" pitchFamily="2" charset="-78"/>
              </a:rPr>
              <a:t>بنابراين يک آدرس ممکن است با بيش از يک شماره مشتری در ارتباط باشد. اگر مشتری بيش از يک آدرس داشته باشد ديگری وابستگی تابعی با شماره مشتری ندارد.</a:t>
            </a:r>
            <a:br>
              <a:rPr lang="en-US" altLang="en-US" sz="1200" b="0" dirty="0">
                <a:solidFill>
                  <a:schemeClr val="tx1"/>
                </a:solidFill>
                <a:cs typeface="B Nazanin" panose="00000400000000000000" pitchFamily="2" charset="-78"/>
              </a:rPr>
            </a:br>
            <a:r>
              <a:rPr lang="ar-SA" altLang="en-US" sz="1200" b="0" dirty="0">
                <a:solidFill>
                  <a:srgbClr val="000000"/>
                </a:solidFill>
                <a:latin typeface="Tahoma" panose="020B0604030504040204" pitchFamily="34" charset="0"/>
                <a:cs typeface="B Nazanin" panose="00000400000000000000" pitchFamily="2" charset="-78"/>
              </a:rPr>
              <a:t>ستون </a:t>
            </a:r>
            <a:r>
              <a:rPr lang="en-US" altLang="en-US" sz="1200" b="0" dirty="0">
                <a:solidFill>
                  <a:srgbClr val="000000"/>
                </a:solidFill>
                <a:latin typeface="Tahoma" panose="020B0604030504040204" pitchFamily="34" charset="0"/>
                <a:cs typeface="B Nazanin" panose="00000400000000000000" pitchFamily="2" charset="-78"/>
              </a:rPr>
              <a:t>Y</a:t>
            </a:r>
            <a:r>
              <a:rPr lang="ar-SA" altLang="en-US" sz="1200" b="0" dirty="0">
                <a:solidFill>
                  <a:srgbClr val="000000"/>
                </a:solidFill>
                <a:latin typeface="Tahoma" panose="020B0604030504040204" pitchFamily="34" charset="0"/>
                <a:cs typeface="B Nazanin" panose="00000400000000000000" pitchFamily="2" charset="-78"/>
              </a:rPr>
              <a:t> روی مجموعه صفات خاصه </a:t>
            </a:r>
            <a:r>
              <a:rPr lang="en-US" altLang="en-US" sz="1200" b="0" dirty="0">
                <a:solidFill>
                  <a:srgbClr val="000000"/>
                </a:solidFill>
                <a:latin typeface="Tahoma" panose="020B0604030504040204" pitchFamily="34" charset="0"/>
                <a:cs typeface="B Nazanin" panose="00000400000000000000" pitchFamily="2" charset="-78"/>
              </a:rPr>
              <a:t>X</a:t>
            </a:r>
            <a:r>
              <a:rPr lang="ar-SA" altLang="en-US" sz="1200" b="0" dirty="0">
                <a:solidFill>
                  <a:srgbClr val="000000"/>
                </a:solidFill>
                <a:latin typeface="Tahoma" panose="020B0604030504040204" pitchFamily="34" charset="0"/>
                <a:cs typeface="B Nazanin" panose="00000400000000000000" pitchFamily="2" charset="-78"/>
              </a:rPr>
              <a:t> وابستگی تابعی کامل (</a:t>
            </a:r>
            <a:r>
              <a:rPr lang="en-US" altLang="en-US" sz="1200" b="0" dirty="0">
                <a:solidFill>
                  <a:srgbClr val="000000"/>
                </a:solidFill>
                <a:latin typeface="Tahoma" panose="020B0604030504040204" pitchFamily="34" charset="0"/>
                <a:cs typeface="B Nazanin" panose="00000400000000000000" pitchFamily="2" charset="-78"/>
              </a:rPr>
              <a:t>Full functional dependency</a:t>
            </a:r>
            <a:r>
              <a:rPr lang="ar-SA" altLang="en-US" sz="1200" b="0" dirty="0">
                <a:solidFill>
                  <a:srgbClr val="000000"/>
                </a:solidFill>
                <a:latin typeface="Tahoma" panose="020B0604030504040204" pitchFamily="34" charset="0"/>
                <a:cs typeface="B Nazanin" panose="00000400000000000000" pitchFamily="2" charset="-78"/>
              </a:rPr>
              <a:t>) دارد اگر روی </a:t>
            </a:r>
            <a:r>
              <a:rPr lang="en-US" altLang="en-US" sz="1200" b="0" dirty="0">
                <a:solidFill>
                  <a:srgbClr val="000000"/>
                </a:solidFill>
                <a:latin typeface="Tahoma" panose="020B0604030504040204" pitchFamily="34" charset="0"/>
                <a:cs typeface="B Nazanin" panose="00000400000000000000" pitchFamily="2" charset="-78"/>
              </a:rPr>
              <a:t>X</a:t>
            </a:r>
            <a:r>
              <a:rPr lang="ar-SA" altLang="en-US" sz="1200" b="0" dirty="0">
                <a:solidFill>
                  <a:srgbClr val="000000"/>
                </a:solidFill>
                <a:latin typeface="Tahoma" panose="020B0604030504040204" pitchFamily="34" charset="0"/>
                <a:cs typeface="B Nazanin" panose="00000400000000000000" pitchFamily="2" charset="-78"/>
              </a:rPr>
              <a:t> وابستگی تابعی داشته باشد و با هيچ زيرمجموعه ای از </a:t>
            </a:r>
            <a:r>
              <a:rPr lang="en-US" altLang="en-US" sz="1200" b="0" dirty="0">
                <a:solidFill>
                  <a:srgbClr val="000000"/>
                </a:solidFill>
                <a:latin typeface="Tahoma" panose="020B0604030504040204" pitchFamily="34" charset="0"/>
                <a:cs typeface="B Nazanin" panose="00000400000000000000" pitchFamily="2" charset="-78"/>
              </a:rPr>
              <a:t>X</a:t>
            </a:r>
            <a:r>
              <a:rPr lang="ar-SA" altLang="en-US" sz="1200" b="0" dirty="0">
                <a:solidFill>
                  <a:srgbClr val="000000"/>
                </a:solidFill>
                <a:latin typeface="Tahoma" panose="020B0604030504040204" pitchFamily="34" charset="0"/>
                <a:cs typeface="B Nazanin" panose="00000400000000000000" pitchFamily="2" charset="-78"/>
              </a:rPr>
              <a:t> وابستگی تابعی نداشته باشد.</a:t>
            </a:r>
            <a:br>
              <a:rPr lang="en-US" altLang="en-US" sz="1200" b="0" dirty="0">
                <a:solidFill>
                  <a:schemeClr val="tx1"/>
                </a:solidFill>
                <a:cs typeface="B Nazanin" panose="00000400000000000000" pitchFamily="2" charset="-78"/>
              </a:rPr>
            </a:br>
            <a:r>
              <a:rPr lang="ar-SA" altLang="en-US" sz="1200" b="0" dirty="0">
                <a:solidFill>
                  <a:srgbClr val="000000"/>
                </a:solidFill>
                <a:latin typeface="Tahoma" panose="020B0604030504040204" pitchFamily="34" charset="0"/>
                <a:cs typeface="B Nazanin" panose="00000400000000000000" pitchFamily="2" charset="-78"/>
              </a:rPr>
              <a:t>مثال</a:t>
            </a:r>
            <a:r>
              <a:rPr lang="fa-IR" altLang="en-US" sz="1200" b="0" dirty="0">
                <a:solidFill>
                  <a:srgbClr val="000000"/>
                </a:solidFill>
                <a:latin typeface="Tahoma" panose="020B0604030504040204" pitchFamily="34" charset="0"/>
                <a:cs typeface="B Nazanin" panose="00000400000000000000" pitchFamily="2" charset="-78"/>
              </a:rPr>
              <a:t>. </a:t>
            </a:r>
            <a:r>
              <a:rPr lang="ar-SA" altLang="en-US" sz="1200" b="0" dirty="0">
                <a:solidFill>
                  <a:srgbClr val="000000"/>
                </a:solidFill>
                <a:latin typeface="Tahoma" panose="020B0604030504040204" pitchFamily="34" charset="0"/>
                <a:cs typeface="B Nazanin" panose="00000400000000000000" pitchFamily="2" charset="-78"/>
              </a:rPr>
              <a:t>در جدول </a:t>
            </a:r>
            <a:r>
              <a:rPr lang="en-US" altLang="en-US" sz="1200" b="0" dirty="0">
                <a:solidFill>
                  <a:srgbClr val="000000"/>
                </a:solidFill>
                <a:latin typeface="Tahoma" panose="020B0604030504040204" pitchFamily="34" charset="0"/>
                <a:cs typeface="B Nazanin" panose="00000400000000000000" pitchFamily="2" charset="-78"/>
              </a:rPr>
              <a:t>ALL_SALES</a:t>
            </a:r>
            <a:r>
              <a:rPr lang="ar-SA" altLang="en-US" sz="1200" b="0" dirty="0">
                <a:solidFill>
                  <a:srgbClr val="000000"/>
                </a:solidFill>
                <a:latin typeface="Tahoma" panose="020B0604030504040204" pitchFamily="34" charset="0"/>
                <a:cs typeface="B Nazanin" panose="00000400000000000000" pitchFamily="2" charset="-78"/>
              </a:rPr>
              <a:t> مثال قبل آدرس مشتری وابستگی کامل با </a:t>
            </a:r>
            <a:r>
              <a:rPr lang="en-US" altLang="en-US" sz="1200" b="0" dirty="0" err="1">
                <a:solidFill>
                  <a:srgbClr val="000000"/>
                </a:solidFill>
                <a:latin typeface="Tahoma" panose="020B0604030504040204" pitchFamily="34" charset="0"/>
                <a:cs typeface="B Nazanin" panose="00000400000000000000" pitchFamily="2" charset="-78"/>
              </a:rPr>
              <a:t>SaleNo</a:t>
            </a:r>
            <a:r>
              <a:rPr lang="en-US" altLang="en-US" sz="1200" b="0" dirty="0">
                <a:solidFill>
                  <a:srgbClr val="000000"/>
                </a:solidFill>
                <a:latin typeface="Tahoma" panose="020B0604030504040204" pitchFamily="34" charset="0"/>
                <a:cs typeface="B Nazanin" panose="00000400000000000000" pitchFamily="2" charset="-78"/>
              </a:rPr>
              <a:t>، </a:t>
            </a:r>
            <a:r>
              <a:rPr lang="en-US" altLang="en-US" sz="1200" b="0" dirty="0" err="1">
                <a:solidFill>
                  <a:srgbClr val="000000"/>
                </a:solidFill>
                <a:latin typeface="Tahoma" panose="020B0604030504040204" pitchFamily="34" charset="0"/>
                <a:cs typeface="B Nazanin" panose="00000400000000000000" pitchFamily="2" charset="-78"/>
              </a:rPr>
              <a:t>ProductNo</a:t>
            </a:r>
            <a:r>
              <a:rPr lang="ar-SA" altLang="en-US" sz="1200" b="0" dirty="0">
                <a:solidFill>
                  <a:srgbClr val="000000"/>
                </a:solidFill>
                <a:latin typeface="Tahoma" panose="020B0604030504040204" pitchFamily="34" charset="0"/>
                <a:cs typeface="B Nazanin" panose="00000400000000000000" pitchFamily="2" charset="-78"/>
              </a:rPr>
              <a:t> و </a:t>
            </a:r>
            <a:r>
              <a:rPr lang="en-US" altLang="en-US" sz="1200" b="0" dirty="0" err="1">
                <a:solidFill>
                  <a:srgbClr val="000000"/>
                </a:solidFill>
                <a:latin typeface="Tahoma" panose="020B0604030504040204" pitchFamily="34" charset="0"/>
                <a:cs typeface="B Nazanin" panose="00000400000000000000" pitchFamily="2" charset="-78"/>
              </a:rPr>
              <a:t>CustomerNo</a:t>
            </a:r>
            <a:r>
              <a:rPr lang="ar-SA" altLang="en-US" sz="1200" b="0" dirty="0">
                <a:solidFill>
                  <a:srgbClr val="000000"/>
                </a:solidFill>
                <a:latin typeface="Tahoma" panose="020B0604030504040204" pitchFamily="34" charset="0"/>
                <a:cs typeface="B Nazanin" panose="00000400000000000000" pitchFamily="2" charset="-78"/>
              </a:rPr>
              <a:t> دارد ولی وابستگی تابعی کامل ندارد چون با </a:t>
            </a:r>
            <a:r>
              <a:rPr lang="en-US" altLang="en-US" sz="1200" b="0" dirty="0" err="1">
                <a:solidFill>
                  <a:srgbClr val="000000"/>
                </a:solidFill>
                <a:latin typeface="Tahoma" panose="020B0604030504040204" pitchFamily="34" charset="0"/>
                <a:cs typeface="B Nazanin" panose="00000400000000000000" pitchFamily="2" charset="-78"/>
              </a:rPr>
              <a:t>CustomerNo</a:t>
            </a:r>
            <a:r>
              <a:rPr lang="ar-SA" altLang="en-US" sz="1200" b="0" dirty="0">
                <a:solidFill>
                  <a:srgbClr val="000000"/>
                </a:solidFill>
                <a:latin typeface="Tahoma" panose="020B0604030504040204" pitchFamily="34" charset="0"/>
                <a:cs typeface="B Nazanin" panose="00000400000000000000" pitchFamily="2" charset="-78"/>
              </a:rPr>
              <a:t> وابستگی تابعی دارد.</a:t>
            </a:r>
            <a:br>
              <a:rPr lang="en-US" altLang="en-US" sz="1200" b="0" dirty="0">
                <a:solidFill>
                  <a:schemeClr val="tx1"/>
                </a:solidFill>
                <a:cs typeface="B Nazanin" panose="00000400000000000000" pitchFamily="2" charset="-78"/>
              </a:rPr>
            </a:br>
            <a:r>
              <a:rPr lang="ar-SA" altLang="en-US" sz="1200" b="0" dirty="0">
                <a:solidFill>
                  <a:srgbClr val="000000"/>
                </a:solidFill>
                <a:latin typeface="Tahoma" panose="020B0604030504040204" pitchFamily="34" charset="0"/>
                <a:cs typeface="B Nazanin" panose="00000400000000000000" pitchFamily="2" charset="-78"/>
              </a:rPr>
              <a:t>توجه کنيد اگر کليدهای کانديد در جدول</a:t>
            </a:r>
            <a:r>
              <a:rPr lang="fa-IR" altLang="en-US" sz="1200" dirty="0">
                <a:solidFill>
                  <a:srgbClr val="000000"/>
                </a:solidFill>
                <a:latin typeface="Tahoma" panose="020B0604030504040204" pitchFamily="34" charset="0"/>
                <a:cs typeface="B Nazanin" panose="00000400000000000000" pitchFamily="2" charset="-78"/>
              </a:rPr>
              <a:t>،</a:t>
            </a:r>
            <a:r>
              <a:rPr lang="ar-SA" altLang="en-US" sz="1200" b="0" dirty="0">
                <a:solidFill>
                  <a:srgbClr val="000000"/>
                </a:solidFill>
                <a:latin typeface="Tahoma" panose="020B0604030504040204" pitchFamily="34" charset="0"/>
                <a:cs typeface="B Nazanin" panose="00000400000000000000" pitchFamily="2" charset="-78"/>
              </a:rPr>
              <a:t> ترکيبی نباشند يعنی تنها شامل يک ستون باشند بلافاصله می گوئيم جدول 2</a:t>
            </a:r>
            <a:r>
              <a:rPr lang="en-US" altLang="en-US" sz="1200" b="0" dirty="0">
                <a:solidFill>
                  <a:srgbClr val="000000"/>
                </a:solidFill>
                <a:latin typeface="Tahoma" panose="020B0604030504040204" pitchFamily="34" charset="0"/>
                <a:cs typeface="B Nazanin" panose="00000400000000000000" pitchFamily="2" charset="-78"/>
              </a:rPr>
              <a:t>NF</a:t>
            </a:r>
            <a:r>
              <a:rPr lang="ar-SA" altLang="en-US" sz="1200" b="0" dirty="0">
                <a:solidFill>
                  <a:srgbClr val="000000"/>
                </a:solidFill>
                <a:latin typeface="Tahoma" panose="020B0604030504040204" pitchFamily="34" charset="0"/>
                <a:cs typeface="B Nazanin" panose="00000400000000000000" pitchFamily="2" charset="-78"/>
              </a:rPr>
              <a:t> است.</a:t>
            </a:r>
            <a:br>
              <a:rPr lang="en-US" altLang="en-US" sz="1200" b="0" dirty="0">
                <a:solidFill>
                  <a:schemeClr val="tx1"/>
                </a:solidFill>
                <a:cs typeface="B Nazanin" panose="00000400000000000000" pitchFamily="2" charset="-78"/>
              </a:rPr>
            </a:br>
            <a:br>
              <a:rPr lang="en-US" altLang="en-US" sz="1200" b="0" dirty="0">
                <a:solidFill>
                  <a:schemeClr val="tx1"/>
                </a:solidFill>
                <a:latin typeface="Arial" panose="020B0604020202020204" pitchFamily="34" charset="0"/>
                <a:cs typeface="B Nazanin" panose="00000400000000000000" pitchFamily="2" charset="-78"/>
              </a:rPr>
            </a:br>
            <a:br>
              <a:rPr lang="en-US" altLang="en-US" sz="1200" b="0" dirty="0">
                <a:solidFill>
                  <a:schemeClr val="tx1"/>
                </a:solidFill>
                <a:latin typeface="Arial" panose="020B0604020202020204" pitchFamily="34" charset="0"/>
                <a:cs typeface="B Nazanin" panose="00000400000000000000" pitchFamily="2" charset="-78"/>
              </a:rPr>
            </a:br>
            <a:endParaRPr lang="en-US" dirty="0"/>
          </a:p>
          <a:p>
            <a:pPr algn="r" rtl="1"/>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27</a:t>
            </a:fld>
            <a:endParaRPr lang="en-US" altLang="en-US"/>
          </a:p>
        </p:txBody>
      </p:sp>
    </p:spTree>
    <p:extLst>
      <p:ext uri="{BB962C8B-B14F-4D97-AF65-F5344CB8AC3E}">
        <p14:creationId xmlns:p14="http://schemas.microsoft.com/office/powerpoint/2010/main" val="281642665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10000"/>
          </a:bodyPr>
          <a:lstStyle/>
          <a:p>
            <a:pPr marL="0" marR="0" algn="r" rtl="1">
              <a:lnSpc>
                <a:spcPct val="107000"/>
              </a:lnSpc>
              <a:spcBef>
                <a:spcPts val="0"/>
              </a:spcBef>
              <a:spcAft>
                <a:spcPts val="800"/>
              </a:spcAft>
            </a:pPr>
            <a:r>
              <a:rPr lang="ar-SA" sz="1350" b="1" dirty="0">
                <a:effectLst/>
                <a:latin typeface="Calibri" panose="020F0502020204030204" pitchFamily="34" charset="0"/>
                <a:ea typeface="Times New Roman" panose="02020603050405020304" pitchFamily="18" charset="0"/>
                <a:cs typeface="Times New Roman" panose="02020603050405020304" pitchFamily="18" charset="0"/>
              </a:rPr>
              <a:t>مراحل اصلاح برای رسیدن به 2</a:t>
            </a: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برای تبدیل این جدول به 2</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تفکیک مشتریان</a:t>
            </a:r>
            <a:r>
              <a:rPr lang="en-US" sz="1200" b="1" dirty="0">
                <a:effectLst/>
                <a:latin typeface="Times New Roman" panose="02020603050405020304" pitchFamily="18" charset="0"/>
                <a:ea typeface="Times New Roman" panose="02020603050405020304" pitchFamily="18" charset="0"/>
                <a:cs typeface="Arial" panose="020B0604020202020204" pitchFamily="34" charset="0"/>
              </a:rPr>
              <a:t> (Customers)</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یک جدول جداگانه برای مشتریان ایجاد کنید که کلید اصلی آن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CustomerNo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باشد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1143000" marR="0" lvl="2" indent="-228600" algn="r" rtl="1">
              <a:lnSpc>
                <a:spcPct val="107000"/>
              </a:lnSpc>
              <a:spcBef>
                <a:spcPts val="0"/>
              </a:spcBef>
              <a:spcAft>
                <a:spcPts val="800"/>
              </a:spcAft>
              <a:buSzPts val="1000"/>
              <a:buFont typeface="Wingdings" panose="05000000000000000000" pitchFamily="2" charset="2"/>
              <a:buChar char=""/>
              <a:tabLst>
                <a:tab pos="1371600" algn="l"/>
              </a:tabLst>
            </a:pPr>
            <a:r>
              <a:rPr lang="en-US" sz="1000" dirty="0" err="1">
                <a:effectLst/>
                <a:latin typeface="Courier New" panose="02070309020205020404" pitchFamily="49" charset="0"/>
                <a:ea typeface="Times New Roman" panose="02020603050405020304" pitchFamily="18" charset="0"/>
                <a:cs typeface="Arial" panose="020B0604020202020204" pitchFamily="34" charset="0"/>
              </a:rPr>
              <a:t>CustomerNo</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Arial" panose="020B0604020202020204" pitchFamily="34" charset="0"/>
              </a:rPr>
              <a:t>First</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Arial" panose="020B0604020202020204" pitchFamily="34" charset="0"/>
              </a:rPr>
              <a:t>Last</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Arial" panose="020B0604020202020204" pitchFamily="34" charset="0"/>
              </a:rPr>
              <a:t>Address</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Arial" panose="020B0604020202020204" pitchFamily="34" charset="0"/>
              </a:rPr>
              <a:t>Credit Limit</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تفکیک نمایندگان فروش</a:t>
            </a:r>
            <a:r>
              <a:rPr lang="en-US" sz="1200" b="1" dirty="0">
                <a:effectLst/>
                <a:latin typeface="Times New Roman" panose="02020603050405020304" pitchFamily="18" charset="0"/>
                <a:ea typeface="Times New Roman" panose="02020603050405020304" pitchFamily="18" charset="0"/>
                <a:cs typeface="Arial" panose="020B0604020202020204" pitchFamily="34" charset="0"/>
              </a:rPr>
              <a:t> (Sales Representatives)</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یک جدول جداگانه برای نمایندگان فروش با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SaleNo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Salesrep</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ایجاد کنید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1143000" marR="0" lvl="2" indent="-228600" algn="r" rtl="1">
              <a:lnSpc>
                <a:spcPct val="107000"/>
              </a:lnSpc>
              <a:spcBef>
                <a:spcPts val="0"/>
              </a:spcBef>
              <a:spcAft>
                <a:spcPts val="800"/>
              </a:spcAft>
              <a:buSzPts val="1000"/>
              <a:buFont typeface="Wingdings" panose="05000000000000000000" pitchFamily="2" charset="2"/>
              <a:buChar char=""/>
              <a:tabLst>
                <a:tab pos="1371600" algn="l"/>
              </a:tabLst>
            </a:pPr>
            <a:r>
              <a:rPr lang="en-US" sz="1000" dirty="0" err="1">
                <a:effectLst/>
                <a:latin typeface="Courier New" panose="02070309020205020404" pitchFamily="49" charset="0"/>
                <a:ea typeface="Times New Roman" panose="02020603050405020304" pitchFamily="18" charset="0"/>
                <a:cs typeface="Arial" panose="020B0604020202020204" pitchFamily="34" charset="0"/>
              </a:rPr>
              <a:t>SaleNo</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Salesrep</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بازتعریف فروش و محصولات</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یک جدول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Sales</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برای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SaleNo</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CustomerNo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 احتمالاً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Salesrep</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ایجاد کنید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اطلاعات مربوط به محصولات</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ProductNo</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Qty</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Amount</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را به جدول جداگانه‌ای به نام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SaleDetails</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منتقل کنید که کلید اصلی آن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SaleNo</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ProductNo</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باشد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0" marR="0" algn="r" rtl="1">
              <a:lnSpc>
                <a:spcPct val="107000"/>
              </a:lnSpc>
              <a:spcBef>
                <a:spcPts val="0"/>
              </a:spcBef>
              <a:spcAft>
                <a:spcPts val="800"/>
              </a:spcAft>
            </a:pPr>
            <a:r>
              <a:rPr lang="en-US" sz="1100" dirty="0">
                <a:effectLst/>
                <a:latin typeface="Calibri" panose="020F0502020204030204" pitchFamily="34" charset="0"/>
                <a:ea typeface="Calibri" panose="020F0502020204030204" pitchFamily="34" charset="0"/>
                <a:cs typeface="Arial" panose="020B0604020202020204" pitchFamily="34" charset="0"/>
              </a:rPr>
              <a:t> </a:t>
            </a:r>
          </a:p>
          <a:p>
            <a:pPr rtl="1"/>
            <a:endParaRPr lang="en-US" sz="1200" b="0" i="0" kern="1200" dirty="0">
              <a:solidFill>
                <a:schemeClr val="tx1"/>
              </a:solidFill>
              <a:effectLst/>
              <a:latin typeface="+mn-lt"/>
              <a:ea typeface="+mn-ea"/>
              <a:cs typeface="+mn-cs"/>
            </a:endParaRPr>
          </a:p>
          <a:p>
            <a:pPr rtl="1"/>
            <a:endParaRPr lang="en-US" sz="1200" b="0" i="0" kern="1200" dirty="0">
              <a:solidFill>
                <a:schemeClr val="tx1"/>
              </a:solidFill>
              <a:effectLst/>
              <a:latin typeface="+mn-lt"/>
              <a:ea typeface="+mn-ea"/>
              <a:cs typeface="+mn-cs"/>
            </a:endParaRPr>
          </a:p>
          <a:p>
            <a:pPr rtl="1"/>
            <a:r>
              <a:rPr lang="fa-IR" sz="1200" b="0" i="0" kern="1200" dirty="0">
                <a:solidFill>
                  <a:schemeClr val="tx1"/>
                </a:solidFill>
                <a:effectLst/>
                <a:latin typeface="+mn-lt"/>
                <a:ea typeface="+mn-ea"/>
                <a:cs typeface="+mn-cs"/>
              </a:rPr>
              <a:t>ترکيب غير تکراری </a:t>
            </a:r>
            <a:r>
              <a:rPr lang="en-US" sz="1200" b="0" i="0" kern="1200" dirty="0" err="1">
                <a:solidFill>
                  <a:schemeClr val="tx1"/>
                </a:solidFill>
                <a:effectLst/>
                <a:latin typeface="+mn-lt"/>
                <a:ea typeface="+mn-ea"/>
                <a:cs typeface="+mn-cs"/>
              </a:rPr>
              <a:t>ProductNo+CustomerNo+SaleNo</a:t>
            </a:r>
            <a:r>
              <a:rPr lang="en-US" sz="1200" b="0" i="0" kern="1200" dirty="0">
                <a:solidFill>
                  <a:schemeClr val="tx1"/>
                </a:solidFill>
                <a:effectLst/>
                <a:latin typeface="+mn-lt"/>
                <a:ea typeface="+mn-ea"/>
                <a:cs typeface="+mn-cs"/>
              </a:rPr>
              <a:t> </a:t>
            </a:r>
            <a:r>
              <a:rPr lang="fa-IR" sz="1200" b="0" i="0" kern="1200" dirty="0">
                <a:solidFill>
                  <a:schemeClr val="tx1"/>
                </a:solidFill>
                <a:effectLst/>
                <a:latin typeface="+mn-lt"/>
                <a:ea typeface="+mn-ea"/>
                <a:cs typeface="+mn-cs"/>
              </a:rPr>
              <a:t>را می توان کليد اصلی درنظر گرفت.</a:t>
            </a:r>
          </a:p>
          <a:p>
            <a:pPr rtl="0"/>
            <a:r>
              <a:rPr lang="en-US" sz="1200" b="1" i="0" kern="1200" dirty="0">
                <a:solidFill>
                  <a:schemeClr val="tx1"/>
                </a:solidFill>
                <a:effectLst/>
                <a:latin typeface="+mn-lt"/>
                <a:ea typeface="+mn-ea"/>
                <a:cs typeface="+mn-cs"/>
              </a:rPr>
              <a:t>ALL_SALES(</a:t>
            </a:r>
            <a:r>
              <a:rPr lang="en-US" sz="1200" b="1" i="0" u="sng" kern="1200" dirty="0" err="1">
                <a:solidFill>
                  <a:schemeClr val="tx1"/>
                </a:solidFill>
                <a:effectLst/>
                <a:latin typeface="+mn-lt"/>
                <a:ea typeface="+mn-ea"/>
                <a:cs typeface="+mn-cs"/>
              </a:rPr>
              <a:t>SaleNo</a:t>
            </a:r>
            <a:r>
              <a:rPr lang="en-US" sz="1200" b="1" i="0" u="sng" kern="1200" dirty="0">
                <a:solidFill>
                  <a:schemeClr val="tx1"/>
                </a:solidFill>
                <a:effectLst/>
                <a:latin typeface="+mn-lt"/>
                <a:ea typeface="+mn-ea"/>
                <a:cs typeface="+mn-cs"/>
              </a:rPr>
              <a:t>, </a:t>
            </a:r>
            <a:r>
              <a:rPr lang="en-US" sz="1200" b="1" i="0" u="sng" kern="1200" dirty="0" err="1">
                <a:solidFill>
                  <a:schemeClr val="tx1"/>
                </a:solidFill>
                <a:effectLst/>
                <a:latin typeface="+mn-lt"/>
                <a:ea typeface="+mn-ea"/>
                <a:cs typeface="+mn-cs"/>
              </a:rPr>
              <a:t>ProductNo</a:t>
            </a:r>
            <a:r>
              <a:rPr lang="en-US" sz="1200" b="1" i="0" u="sng" kern="1200" dirty="0">
                <a:solidFill>
                  <a:schemeClr val="tx1"/>
                </a:solidFill>
                <a:effectLst/>
                <a:latin typeface="+mn-lt"/>
                <a:ea typeface="+mn-ea"/>
                <a:cs typeface="+mn-cs"/>
              </a:rPr>
              <a:t>, </a:t>
            </a:r>
            <a:r>
              <a:rPr lang="en-US" sz="1200" b="1" i="0" u="sng" kern="1200" dirty="0" err="1">
                <a:solidFill>
                  <a:schemeClr val="tx1"/>
                </a:solidFill>
                <a:effectLst/>
                <a:latin typeface="+mn-lt"/>
                <a:ea typeface="+mn-ea"/>
                <a:cs typeface="+mn-cs"/>
              </a:rPr>
              <a:t>CustomerNo</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SaleDate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QtyInStock</a:t>
            </a:r>
            <a:r>
              <a:rPr lang="en-US" sz="1200" b="1" i="0" kern="1200" dirty="0">
                <a:solidFill>
                  <a:schemeClr val="tx1"/>
                </a:solidFill>
                <a:effectLst/>
                <a:latin typeface="+mn-lt"/>
                <a:ea typeface="+mn-ea"/>
                <a:cs typeface="+mn-cs"/>
              </a:rPr>
              <a:t>, Description, Price, </a:t>
            </a:r>
            <a:r>
              <a:rPr lang="en-US" sz="1200" b="1" i="0" kern="1200" dirty="0" err="1">
                <a:solidFill>
                  <a:schemeClr val="tx1"/>
                </a:solidFill>
                <a:effectLst/>
                <a:latin typeface="+mn-lt"/>
                <a:ea typeface="+mn-ea"/>
                <a:cs typeface="+mn-cs"/>
              </a:rPr>
              <a:t>Customer_Name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Customer_Address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CreditLimit</a:t>
            </a:r>
            <a:r>
              <a:rPr lang="en-US" sz="1200" b="1" i="0" kern="1200" dirty="0">
                <a:solidFill>
                  <a:schemeClr val="tx1"/>
                </a:solidFill>
                <a:effectLst/>
                <a:latin typeface="+mn-lt"/>
                <a:ea typeface="+mn-ea"/>
                <a:cs typeface="+mn-cs"/>
              </a:rPr>
              <a:t>, Amount, </a:t>
            </a:r>
            <a:r>
              <a:rPr lang="en-US" sz="1200" b="1" i="0" kern="1200" dirty="0" err="1">
                <a:solidFill>
                  <a:schemeClr val="tx1"/>
                </a:solidFill>
                <a:effectLst/>
                <a:latin typeface="+mn-lt"/>
                <a:ea typeface="+mn-ea"/>
                <a:cs typeface="+mn-cs"/>
              </a:rPr>
              <a:t>Salesr</a:t>
            </a:r>
            <a:endParaRPr lang="en-US" sz="1200" b="1"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28</a:t>
            </a:fld>
            <a:endParaRPr lang="en-US" altLang="en-US"/>
          </a:p>
        </p:txBody>
      </p:sp>
    </p:spTree>
    <p:extLst>
      <p:ext uri="{BB962C8B-B14F-4D97-AF65-F5344CB8AC3E}">
        <p14:creationId xmlns:p14="http://schemas.microsoft.com/office/powerpoint/2010/main" val="357554659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fa-IR" sz="1200" b="0" i="0" kern="1200" dirty="0">
                <a:solidFill>
                  <a:schemeClr val="tx1"/>
                </a:solidFill>
                <a:effectLst/>
                <a:latin typeface="+mn-lt"/>
                <a:ea typeface="+mn-ea"/>
                <a:cs typeface="+mn-cs"/>
              </a:rPr>
              <a:t>ترکيب غير تکراری </a:t>
            </a:r>
            <a:r>
              <a:rPr lang="en-US" sz="1200" b="0" i="0" kern="1200" dirty="0" err="1">
                <a:solidFill>
                  <a:schemeClr val="tx1"/>
                </a:solidFill>
                <a:effectLst/>
                <a:latin typeface="+mn-lt"/>
                <a:ea typeface="+mn-ea"/>
                <a:cs typeface="+mn-cs"/>
              </a:rPr>
              <a:t>ProductNo+CustomerNo+SaleNo</a:t>
            </a:r>
            <a:r>
              <a:rPr lang="en-US" sz="1200" b="0" i="0" kern="1200" dirty="0">
                <a:solidFill>
                  <a:schemeClr val="tx1"/>
                </a:solidFill>
                <a:effectLst/>
                <a:latin typeface="+mn-lt"/>
                <a:ea typeface="+mn-ea"/>
                <a:cs typeface="+mn-cs"/>
              </a:rPr>
              <a:t> </a:t>
            </a:r>
            <a:r>
              <a:rPr lang="fa-IR" sz="1200" b="0" i="0" kern="1200" dirty="0">
                <a:solidFill>
                  <a:schemeClr val="tx1"/>
                </a:solidFill>
                <a:effectLst/>
                <a:latin typeface="+mn-lt"/>
                <a:ea typeface="+mn-ea"/>
                <a:cs typeface="+mn-cs"/>
              </a:rPr>
              <a:t>را می توان کليد اصلی درنظر گرفت.</a:t>
            </a:r>
          </a:p>
          <a:p>
            <a:pPr rtl="0"/>
            <a:r>
              <a:rPr lang="en-US" sz="1200" b="1" i="0" kern="1200" dirty="0">
                <a:solidFill>
                  <a:schemeClr val="tx1"/>
                </a:solidFill>
                <a:effectLst/>
                <a:latin typeface="+mn-lt"/>
                <a:ea typeface="+mn-ea"/>
                <a:cs typeface="+mn-cs"/>
              </a:rPr>
              <a:t>ALL_SALES(</a:t>
            </a:r>
            <a:r>
              <a:rPr lang="en-US" sz="1200" b="1" i="0" u="sng" kern="1200" dirty="0" err="1">
                <a:solidFill>
                  <a:schemeClr val="tx1"/>
                </a:solidFill>
                <a:effectLst/>
                <a:latin typeface="+mn-lt"/>
                <a:ea typeface="+mn-ea"/>
                <a:cs typeface="+mn-cs"/>
              </a:rPr>
              <a:t>SaleNo</a:t>
            </a:r>
            <a:r>
              <a:rPr lang="en-US" sz="1200" b="1" i="0" u="sng" kern="1200" dirty="0">
                <a:solidFill>
                  <a:schemeClr val="tx1"/>
                </a:solidFill>
                <a:effectLst/>
                <a:latin typeface="+mn-lt"/>
                <a:ea typeface="+mn-ea"/>
                <a:cs typeface="+mn-cs"/>
              </a:rPr>
              <a:t>, </a:t>
            </a:r>
            <a:r>
              <a:rPr lang="en-US" sz="1200" b="1" i="0" u="sng" kern="1200" dirty="0" err="1">
                <a:solidFill>
                  <a:schemeClr val="tx1"/>
                </a:solidFill>
                <a:effectLst/>
                <a:latin typeface="+mn-lt"/>
                <a:ea typeface="+mn-ea"/>
                <a:cs typeface="+mn-cs"/>
              </a:rPr>
              <a:t>ProductNo</a:t>
            </a:r>
            <a:r>
              <a:rPr lang="en-US" sz="1200" b="1" i="0" u="sng" kern="1200" dirty="0">
                <a:solidFill>
                  <a:schemeClr val="tx1"/>
                </a:solidFill>
                <a:effectLst/>
                <a:latin typeface="+mn-lt"/>
                <a:ea typeface="+mn-ea"/>
                <a:cs typeface="+mn-cs"/>
              </a:rPr>
              <a:t>, </a:t>
            </a:r>
            <a:r>
              <a:rPr lang="en-US" sz="1200" b="1" i="0" u="sng" kern="1200" dirty="0" err="1">
                <a:solidFill>
                  <a:schemeClr val="tx1"/>
                </a:solidFill>
                <a:effectLst/>
                <a:latin typeface="+mn-lt"/>
                <a:ea typeface="+mn-ea"/>
                <a:cs typeface="+mn-cs"/>
              </a:rPr>
              <a:t>CustomerNo</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SaleDate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QtyInStock</a:t>
            </a:r>
            <a:r>
              <a:rPr lang="en-US" sz="1200" b="1" i="0" kern="1200" dirty="0">
                <a:solidFill>
                  <a:schemeClr val="tx1"/>
                </a:solidFill>
                <a:effectLst/>
                <a:latin typeface="+mn-lt"/>
                <a:ea typeface="+mn-ea"/>
                <a:cs typeface="+mn-cs"/>
              </a:rPr>
              <a:t>, Description, Price, </a:t>
            </a:r>
            <a:r>
              <a:rPr lang="en-US" sz="1200" b="1" i="0" kern="1200" dirty="0" err="1">
                <a:solidFill>
                  <a:schemeClr val="tx1"/>
                </a:solidFill>
                <a:effectLst/>
                <a:latin typeface="+mn-lt"/>
                <a:ea typeface="+mn-ea"/>
                <a:cs typeface="+mn-cs"/>
              </a:rPr>
              <a:t>Customer_Name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Customer_Address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CreditLimit</a:t>
            </a:r>
            <a:r>
              <a:rPr lang="en-US" sz="1200" b="1" i="0" kern="1200" dirty="0">
                <a:solidFill>
                  <a:schemeClr val="tx1"/>
                </a:solidFill>
                <a:effectLst/>
                <a:latin typeface="+mn-lt"/>
                <a:ea typeface="+mn-ea"/>
                <a:cs typeface="+mn-cs"/>
              </a:rPr>
              <a:t>, Amount, </a:t>
            </a:r>
            <a:r>
              <a:rPr lang="en-US" sz="1200" b="1" i="0" kern="1200" dirty="0" err="1">
                <a:solidFill>
                  <a:schemeClr val="tx1"/>
                </a:solidFill>
                <a:effectLst/>
                <a:latin typeface="+mn-lt"/>
                <a:ea typeface="+mn-ea"/>
                <a:cs typeface="+mn-cs"/>
              </a:rPr>
              <a:t>Salesr</a:t>
            </a:r>
            <a:endParaRPr lang="en-US" sz="1200" b="1"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29</a:t>
            </a:fld>
            <a:endParaRPr lang="en-US" altLang="en-US"/>
          </a:p>
        </p:txBody>
      </p:sp>
    </p:spTree>
    <p:extLst>
      <p:ext uri="{BB962C8B-B14F-4D97-AF65-F5344CB8AC3E}">
        <p14:creationId xmlns:p14="http://schemas.microsoft.com/office/powerpoint/2010/main" val="31450913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pPr marL="0" marR="0" algn="r" rtl="1">
              <a:lnSpc>
                <a:spcPct val="107000"/>
              </a:lnSpc>
              <a:spcBef>
                <a:spcPts val="0"/>
              </a:spcBef>
              <a:spcAft>
                <a:spcPts val="800"/>
              </a:spcAft>
            </a:pP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1. </a:t>
            </a:r>
            <a:r>
              <a:rPr lang="ar-SA" sz="1350" b="1" dirty="0">
                <a:effectLst/>
                <a:latin typeface="Calibri" panose="020F0502020204030204" pitchFamily="34" charset="0"/>
                <a:ea typeface="Times New Roman" panose="02020603050405020304" pitchFamily="18" charset="0"/>
                <a:cs typeface="Times New Roman" panose="02020603050405020304" pitchFamily="18" charset="0"/>
              </a:rPr>
              <a:t>بررسی 1</a:t>
            </a: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این جدول </a:t>
            </a:r>
            <a:r>
              <a:rPr lang="en-US" sz="1200" b="1" dirty="0">
                <a:effectLst/>
                <a:latin typeface="Times New Roman" panose="02020603050405020304" pitchFamily="18" charset="0"/>
                <a:ea typeface="Times New Roman" panose="02020603050405020304" pitchFamily="18" charset="0"/>
                <a:cs typeface="Arial" panose="020B0604020202020204" pitchFamily="34" charset="0"/>
              </a:rPr>
              <a:t>1NF</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را برآورده می‌کند زیرا</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تمام مقادیر صفات اتمی هستند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گروه‌های تکراری یا آرایه‌ای وجود ندارند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هر ردیف با کلید اصلی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Prof#</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به‌طور یکتا شناسایی می‌شود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0" marR="0" algn="r" rtl="1">
              <a:lnSpc>
                <a:spcPct val="107000"/>
              </a:lnSpc>
              <a:spcBef>
                <a:spcPts val="0"/>
              </a:spcBef>
              <a:spcAft>
                <a:spcPts val="800"/>
              </a:spcAft>
            </a:pP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2. </a:t>
            </a:r>
            <a:r>
              <a:rPr lang="ar-SA" sz="1350" b="1" dirty="0">
                <a:effectLst/>
                <a:latin typeface="Calibri" panose="020F0502020204030204" pitchFamily="34" charset="0"/>
                <a:ea typeface="Times New Roman" panose="02020603050405020304" pitchFamily="18" charset="0"/>
                <a:cs typeface="Times New Roman" panose="02020603050405020304" pitchFamily="18" charset="0"/>
              </a:rPr>
              <a:t>بررسی 2</a:t>
            </a: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فرض می‌کنیم </a:t>
            </a:r>
            <a:r>
              <a:rPr lang="en-US" sz="1000" dirty="0">
                <a:effectLst/>
                <a:latin typeface="Courier New" panose="02070309020205020404" pitchFamily="49" charset="0"/>
                <a:ea typeface="Times New Roman" panose="02020603050405020304" pitchFamily="18" charset="0"/>
                <a:cs typeface="Arial" panose="020B0604020202020204" pitchFamily="34" charset="0"/>
              </a:rPr>
              <a:t>Prof#</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کلید اصلی است</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Pname</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به طور مستقیم به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Prof#</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وابسته است (توسط شماره پروفسور تعیین می‌شود)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LastDegreeId</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به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Prof#</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وابسته است</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en-US" sz="1000" b="1" dirty="0" err="1">
                <a:effectLst/>
                <a:latin typeface="Courier New" panose="02070309020205020404" pitchFamily="49" charset="0"/>
                <a:ea typeface="Times New Roman" panose="02020603050405020304" pitchFamily="18" charset="0"/>
                <a:cs typeface="Times New Roman" panose="02020603050405020304" pitchFamily="18" charset="0"/>
              </a:rPr>
              <a:t>LastDegreeName</a:t>
            </a: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به </a:t>
            </a:r>
            <a:r>
              <a:rPr lang="en-US" sz="1000" b="1" dirty="0" err="1">
                <a:effectLst/>
                <a:latin typeface="Courier New" panose="02070309020205020404" pitchFamily="49" charset="0"/>
                <a:ea typeface="Times New Roman" panose="02020603050405020304" pitchFamily="18" charset="0"/>
                <a:cs typeface="Times New Roman" panose="02020603050405020304" pitchFamily="18" charset="0"/>
              </a:rPr>
              <a:t>LastDegreeId</a:t>
            </a: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وابسته است</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و مستقیماً به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Prof#</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وابسته نیست</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بنابراین، همه صفات غیر از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LastDegreeName</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کاملاً به کلید اصلی وابسته هستند. اما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LastDegreeName</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از طریق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LastDegreeId</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به کلید اصلی وابسته است که وابستگی جزئی ایجاد می‌کند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0" marR="0" algn="r" rtl="1">
              <a:lnSpc>
                <a:spcPct val="107000"/>
              </a:lnSpc>
              <a:spcBef>
                <a:spcPts val="0"/>
              </a:spcBef>
              <a:spcAft>
                <a:spcPts val="800"/>
              </a:spcAf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نتیجه</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این جدول در 2</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NF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نیست زیرا یک وابستگی </a:t>
            </a: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انتقالی</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بین </a:t>
            </a:r>
            <a:r>
              <a:rPr lang="en-US" sz="1000" dirty="0">
                <a:effectLst/>
                <a:latin typeface="Courier New" panose="02070309020205020404" pitchFamily="49" charset="0"/>
                <a:ea typeface="Times New Roman" panose="02020603050405020304" pitchFamily="18" charset="0"/>
                <a:cs typeface="Arial" panose="020B0604020202020204" pitchFamily="34" charset="0"/>
              </a:rPr>
              <a:t>Prof# -&gt;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LastDegreeId</a:t>
            </a:r>
            <a:r>
              <a:rPr lang="en-US" sz="1000" dirty="0">
                <a:effectLst/>
                <a:latin typeface="Courier New" panose="02070309020205020404" pitchFamily="49" charset="0"/>
                <a:ea typeface="Times New Roman" panose="02020603050405020304" pitchFamily="18" charset="0"/>
                <a:cs typeface="Arial" panose="020B0604020202020204" pitchFamily="34" charset="0"/>
              </a:rPr>
              <a:t> -&gt;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LastDegreeName</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وجود دارد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3. </a:t>
            </a:r>
            <a:r>
              <a:rPr lang="ar-SA" sz="1350" b="1" dirty="0">
                <a:effectLst/>
                <a:latin typeface="Calibri" panose="020F0502020204030204" pitchFamily="34" charset="0"/>
                <a:ea typeface="Times New Roman" panose="02020603050405020304" pitchFamily="18" charset="0"/>
                <a:cs typeface="Times New Roman" panose="02020603050405020304" pitchFamily="18" charset="0"/>
              </a:rPr>
              <a:t>بررسی 3</a:t>
            </a: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برای برآورده کردن 3</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نباید هیچ </a:t>
            </a: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وابستگی انتقالی</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وجود داشته باشد (یک صفت غیر کلیدی نباید به صفت غیر کلیدی دیگری وابسته باشد)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در این جدول</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LastDegreeName</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به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LastDegreeId</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وابسته است، نه مستقیماً به </a:t>
            </a:r>
            <a:r>
              <a:rPr lang="en-US" sz="1000" dirty="0">
                <a:effectLst/>
                <a:latin typeface="Courier New" panose="02070309020205020404" pitchFamily="49" charset="0"/>
                <a:ea typeface="Times New Roman" panose="02020603050405020304" pitchFamily="18" charset="0"/>
                <a:cs typeface="Arial" panose="020B0604020202020204" pitchFamily="34" charset="0"/>
              </a:rPr>
              <a:t>Prof#</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این وابستگی انتقالی </a:t>
            </a:r>
            <a:r>
              <a:rPr lang="en-US" sz="1200" b="1" dirty="0">
                <a:effectLst/>
                <a:latin typeface="Times New Roman" panose="02020603050405020304" pitchFamily="18" charset="0"/>
                <a:ea typeface="Times New Roman" panose="02020603050405020304" pitchFamily="18" charset="0"/>
                <a:cs typeface="Arial" panose="020B0604020202020204" pitchFamily="34" charset="0"/>
              </a:rPr>
              <a:t>3NF</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را نقض می‌کند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350" b="1" dirty="0">
                <a:effectLst/>
                <a:latin typeface="Calibri" panose="020F0502020204030204" pitchFamily="34" charset="0"/>
                <a:ea typeface="Times New Roman" panose="02020603050405020304" pitchFamily="18" charset="0"/>
                <a:cs typeface="Times New Roman" panose="02020603050405020304" pitchFamily="18" charset="0"/>
              </a:rPr>
              <a:t>مراحل نرمال‌سازی به 3</a:t>
            </a: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برای تبدیل جدول به 3</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جدول را به دو بخش تقسیم کنید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جدول 1</a:t>
            </a: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 (Professors):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1143000" marR="0" lvl="2" indent="-228600" algn="r" rtl="1">
              <a:lnSpc>
                <a:spcPct val="107000"/>
              </a:lnSpc>
              <a:spcBef>
                <a:spcPts val="0"/>
              </a:spcBef>
              <a:spcAft>
                <a:spcPts val="800"/>
              </a:spcAft>
              <a:buSzPts val="1000"/>
              <a:buFont typeface="Wingdings" panose="05000000000000000000" pitchFamily="2" charset="2"/>
              <a:buChar char=""/>
              <a:tabLst>
                <a:tab pos="1371600" algn="l"/>
              </a:tabLst>
            </a:pPr>
            <a:r>
              <a:rPr lang="en-US" sz="1000" dirty="0">
                <a:effectLst/>
                <a:latin typeface="Courier New" panose="02070309020205020404" pitchFamily="49" charset="0"/>
                <a:ea typeface="Times New Roman" panose="02020603050405020304" pitchFamily="18" charset="0"/>
                <a:cs typeface="Arial" panose="020B0604020202020204" pitchFamily="34" charset="0"/>
              </a:rPr>
              <a:t>(Prof#,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Pname</a:t>
            </a:r>
            <a:r>
              <a:rPr lang="en-US" sz="1000" dirty="0">
                <a:effectLst/>
                <a:latin typeface="Courier New" panose="02070309020205020404" pitchFamily="49" charset="0"/>
                <a:ea typeface="Times New Roman" panose="02020603050405020304" pitchFamily="18" charset="0"/>
                <a:cs typeface="Arial" panose="020B0604020202020204" pitchFamily="34" charset="0"/>
              </a:rPr>
              <a:t>,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LastDegreeId</a:t>
            </a:r>
            <a:r>
              <a:rPr lang="en-US" sz="1000" dirty="0">
                <a:effectLst/>
                <a:latin typeface="Courier New" panose="02070309020205020404" pitchFamily="49"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1143000" marR="0" lvl="2" indent="-228600" algn="r" rtl="1">
              <a:lnSpc>
                <a:spcPct val="107000"/>
              </a:lnSpc>
              <a:spcBef>
                <a:spcPts val="0"/>
              </a:spcBef>
              <a:spcAft>
                <a:spcPts val="800"/>
              </a:spcAft>
              <a:buSzPts val="1000"/>
              <a:buFont typeface="Wingdings" panose="05000000000000000000" pitchFamily="2" charset="2"/>
              <a:buChar char=""/>
              <a:tabLst>
                <a:tab pos="13716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کلید اصلی</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en-US" sz="1000" dirty="0">
                <a:effectLst/>
                <a:latin typeface="Courier New" panose="02070309020205020404" pitchFamily="49" charset="0"/>
                <a:ea typeface="Times New Roman" panose="02020603050405020304" pitchFamily="18" charset="0"/>
                <a:cs typeface="Arial" panose="020B0604020202020204" pitchFamily="34" charset="0"/>
              </a:rPr>
              <a:t>Prof#</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جدول 2</a:t>
            </a: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 (Degrees):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1143000" marR="0" lvl="2" indent="-228600" algn="r" rtl="1">
              <a:lnSpc>
                <a:spcPct val="107000"/>
              </a:lnSpc>
              <a:spcBef>
                <a:spcPts val="0"/>
              </a:spcBef>
              <a:spcAft>
                <a:spcPts val="800"/>
              </a:spcAft>
              <a:buSzPts val="1000"/>
              <a:buFont typeface="Wingdings" panose="05000000000000000000" pitchFamily="2" charset="2"/>
              <a:buChar char=""/>
              <a:tabLst>
                <a:tab pos="1371600" algn="l"/>
              </a:tabLst>
            </a:pPr>
            <a:r>
              <a:rPr lang="en-US" sz="1000" dirty="0">
                <a:effectLst/>
                <a:latin typeface="Courier New" panose="02070309020205020404" pitchFamily="49" charset="0"/>
                <a:ea typeface="Times New Roman" panose="02020603050405020304" pitchFamily="18" charset="0"/>
                <a:cs typeface="Arial" panose="020B0604020202020204" pitchFamily="34" charset="0"/>
              </a:rPr>
              <a:t>(</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LastDegreeId</a:t>
            </a:r>
            <a:r>
              <a:rPr lang="en-US" sz="1000" dirty="0">
                <a:effectLst/>
                <a:latin typeface="Courier New" panose="02070309020205020404" pitchFamily="49" charset="0"/>
                <a:ea typeface="Times New Roman" panose="02020603050405020304" pitchFamily="18" charset="0"/>
                <a:cs typeface="Arial" panose="020B0604020202020204" pitchFamily="34" charset="0"/>
              </a:rPr>
              <a:t>,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LastDegreeName</a:t>
            </a:r>
            <a:r>
              <a:rPr lang="en-US" sz="1000" dirty="0">
                <a:effectLst/>
                <a:latin typeface="Courier New" panose="02070309020205020404" pitchFamily="49"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1143000" marR="0" lvl="2" indent="-228600" algn="r" rtl="1">
              <a:lnSpc>
                <a:spcPct val="107000"/>
              </a:lnSpc>
              <a:spcBef>
                <a:spcPts val="0"/>
              </a:spcBef>
              <a:spcAft>
                <a:spcPts val="800"/>
              </a:spcAft>
              <a:buSzPts val="1000"/>
              <a:buFont typeface="Wingdings" panose="05000000000000000000" pitchFamily="2" charset="2"/>
              <a:buChar char=""/>
              <a:tabLst>
                <a:tab pos="13716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کلید اصلی</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LastDegreeId</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با این جداسازی، وابستگی انتقالی حذف می‌شود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350" b="1" dirty="0">
                <a:effectLst/>
                <a:latin typeface="Calibri" panose="020F0502020204030204" pitchFamily="34" charset="0"/>
                <a:ea typeface="Times New Roman" panose="02020603050405020304" pitchFamily="18" charset="0"/>
                <a:cs typeface="Times New Roman" panose="02020603050405020304" pitchFamily="18" charset="0"/>
              </a:rPr>
              <a:t>نتیجه</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این جدول به دلیل وجود وابستگی انتقالی بین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LastDegreeId</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LastDegreeName</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در </a:t>
            </a:r>
            <a:r>
              <a:rPr lang="en-US" sz="1200" b="1" dirty="0">
                <a:effectLst/>
                <a:latin typeface="Times New Roman" panose="02020603050405020304" pitchFamily="18" charset="0"/>
                <a:ea typeface="Times New Roman" panose="02020603050405020304" pitchFamily="18" charset="0"/>
                <a:cs typeface="Arial" panose="020B0604020202020204" pitchFamily="34" charset="0"/>
              </a:rPr>
              <a:t>3NF</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نیست. برای نرمال‌سازی آن، باید اطلاعات مربوط به درجه‌ها</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(Degrees)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را به جدول جداگانه‌ای منتقل کنید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100" dirty="0">
                <a:effectLst/>
                <a:latin typeface="Calibri" panose="020F0502020204030204" pitchFamily="34" charset="0"/>
                <a:ea typeface="Calibri" panose="020F0502020204030204" pitchFamily="34" charset="0"/>
                <a:cs typeface="Arial" panose="020B0604020202020204" pitchFamily="34" charset="0"/>
              </a:rPr>
              <a:t> </a:t>
            </a: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32</a:t>
            </a:fld>
            <a:endParaRPr lang="en-US" altLang="en-US"/>
          </a:p>
        </p:txBody>
      </p:sp>
    </p:spTree>
    <p:extLst>
      <p:ext uri="{BB962C8B-B14F-4D97-AF65-F5344CB8AC3E}">
        <p14:creationId xmlns:p14="http://schemas.microsoft.com/office/powerpoint/2010/main" val="137265228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b="1" dirty="0"/>
              <a:t>Definition of Super Key in Database</a:t>
            </a:r>
          </a:p>
          <a:p>
            <a:r>
              <a:rPr lang="en-US" dirty="0"/>
              <a:t>A </a:t>
            </a:r>
            <a:r>
              <a:rPr lang="en-US" b="1" dirty="0"/>
              <a:t>super key</a:t>
            </a:r>
            <a:r>
              <a:rPr lang="en-US" dirty="0"/>
              <a:t> is a set of one or more attributes that can uniquely identify a tuple (row) in a relational database table. In other words, it is any combination of attributes that ensures no two rows in the table have the same values for those attributes.</a:t>
            </a:r>
          </a:p>
          <a:p>
            <a:r>
              <a:rPr lang="en-US" b="1" dirty="0"/>
              <a:t>Characteristics of a Super Key</a:t>
            </a:r>
          </a:p>
          <a:p>
            <a:pPr>
              <a:buFont typeface="+mj-lt"/>
              <a:buAutoNum type="arabicPeriod"/>
            </a:pPr>
            <a:r>
              <a:rPr lang="en-US" dirty="0"/>
              <a:t>It may include </a:t>
            </a:r>
            <a:r>
              <a:rPr lang="en-US" b="1" dirty="0"/>
              <a:t>extra attributes</a:t>
            </a:r>
            <a:r>
              <a:rPr lang="en-US" dirty="0"/>
              <a:t> that are not necessary for uniqueness (i.e., it is not minimal).</a:t>
            </a:r>
          </a:p>
          <a:p>
            <a:pPr>
              <a:buFont typeface="+mj-lt"/>
              <a:buAutoNum type="arabicPeriod"/>
            </a:pPr>
            <a:r>
              <a:rPr lang="en-US" dirty="0"/>
              <a:t>Every table must have at least one super key.</a:t>
            </a:r>
          </a:p>
          <a:p>
            <a:pPr>
              <a:buFont typeface="+mj-lt"/>
              <a:buAutoNum type="arabicPeriod"/>
            </a:pPr>
            <a:r>
              <a:rPr lang="en-US" dirty="0"/>
              <a:t>The </a:t>
            </a:r>
            <a:r>
              <a:rPr lang="en-US" b="1" dirty="0"/>
              <a:t>primary key</a:t>
            </a:r>
            <a:r>
              <a:rPr lang="en-US" dirty="0"/>
              <a:t> is a minimal super key, meaning it is the smallest subset of a super key that can still uniquely identify rows.</a:t>
            </a:r>
          </a:p>
          <a:p>
            <a:r>
              <a:rPr lang="en-US" b="1" dirty="0"/>
              <a:t>Examples of Super Keys</a:t>
            </a:r>
          </a:p>
          <a:p>
            <a:r>
              <a:rPr lang="en-US" dirty="0"/>
              <a:t>Consider a table Students with the following attributes:</a:t>
            </a:r>
          </a:p>
          <a:p>
            <a:pPr>
              <a:buFont typeface="+mj-lt"/>
              <a:buAutoNum type="arabicPeriod"/>
            </a:pPr>
            <a:r>
              <a:rPr lang="en-US" dirty="0"/>
              <a:t>StudentIDNameEmailPhone101Alicealice@mail.com123456789102Bobbob@mail.com987654321</a:t>
            </a:r>
            <a:r>
              <a:rPr lang="en-US" b="1" dirty="0"/>
              <a:t>Candidate Super Keys</a:t>
            </a:r>
            <a:r>
              <a:rPr lang="en-US" dirty="0"/>
              <a:t>:</a:t>
            </a:r>
          </a:p>
          <a:p>
            <a:pPr marL="742950" lvl="1" indent="-285750">
              <a:buFont typeface="+mj-lt"/>
              <a:buAutoNum type="arabicPeriod"/>
            </a:pPr>
            <a:r>
              <a:rPr lang="en-US" dirty="0"/>
              <a:t>{</a:t>
            </a:r>
            <a:r>
              <a:rPr lang="en-US" dirty="0" err="1"/>
              <a:t>StudentID</a:t>
            </a:r>
            <a:r>
              <a:rPr lang="en-US" dirty="0"/>
              <a:t>}: Since </a:t>
            </a:r>
            <a:r>
              <a:rPr lang="en-US" dirty="0" err="1"/>
              <a:t>StudentID</a:t>
            </a:r>
            <a:r>
              <a:rPr lang="en-US" dirty="0"/>
              <a:t> uniquely identifies each student, it is a super key.</a:t>
            </a:r>
          </a:p>
          <a:p>
            <a:pPr marL="742950" lvl="1" indent="-285750">
              <a:buFont typeface="+mj-lt"/>
              <a:buAutoNum type="arabicPeriod"/>
            </a:pPr>
            <a:r>
              <a:rPr lang="en-US" dirty="0"/>
              <a:t>{Email}: Each email is unique and can identify a student, so it is also a super key.</a:t>
            </a:r>
          </a:p>
          <a:p>
            <a:pPr>
              <a:buFont typeface="+mj-lt"/>
              <a:buAutoNum type="arabicPeriod"/>
            </a:pPr>
            <a:r>
              <a:rPr lang="en-US" b="1" dirty="0"/>
              <a:t>Composite Super Keys</a:t>
            </a:r>
            <a:r>
              <a:rPr lang="en-US" dirty="0"/>
              <a:t>:</a:t>
            </a:r>
          </a:p>
          <a:p>
            <a:pPr marL="742950" lvl="1" indent="-285750">
              <a:buFont typeface="+mj-lt"/>
              <a:buAutoNum type="arabicPeriod"/>
            </a:pPr>
            <a:r>
              <a:rPr lang="en-US" dirty="0"/>
              <a:t>{</a:t>
            </a:r>
            <a:r>
              <a:rPr lang="en-US" dirty="0" err="1"/>
              <a:t>StudentID</a:t>
            </a:r>
            <a:r>
              <a:rPr lang="en-US" dirty="0"/>
              <a:t>, Name}: The combination of </a:t>
            </a:r>
            <a:r>
              <a:rPr lang="en-US" dirty="0" err="1"/>
              <a:t>StudentID</a:t>
            </a:r>
            <a:r>
              <a:rPr lang="en-US" dirty="0"/>
              <a:t> and Name can still uniquely identify rows (though Name is redundant here).</a:t>
            </a:r>
          </a:p>
          <a:p>
            <a:pPr marL="742950" lvl="1" indent="-285750">
              <a:buFont typeface="+mj-lt"/>
              <a:buAutoNum type="arabicPeriod"/>
            </a:pPr>
            <a:r>
              <a:rPr lang="en-US" dirty="0"/>
              <a:t>{Email, Phone}: The combination of email and phone ensures uniqueness.</a:t>
            </a:r>
          </a:p>
          <a:p>
            <a:pPr>
              <a:buFont typeface="+mj-lt"/>
              <a:buAutoNum type="arabicPeriod"/>
            </a:pPr>
            <a:r>
              <a:rPr lang="en-US" b="1" dirty="0"/>
              <a:t>Non-Minimal Super Key</a:t>
            </a:r>
            <a:r>
              <a:rPr lang="en-US" dirty="0"/>
              <a:t>:</a:t>
            </a:r>
          </a:p>
          <a:p>
            <a:pPr marL="742950" lvl="1" indent="-285750">
              <a:buFont typeface="+mj-lt"/>
              <a:buAutoNum type="arabicPeriod"/>
            </a:pPr>
            <a:r>
              <a:rPr lang="en-US" dirty="0"/>
              <a:t>{</a:t>
            </a:r>
            <a:r>
              <a:rPr lang="en-US" dirty="0" err="1"/>
              <a:t>StudentID</a:t>
            </a:r>
            <a:r>
              <a:rPr lang="en-US" dirty="0"/>
              <a:t>, Email, Phone}: This is a super key, but it contains redundant attributes (extra information unnecessary for uniqueness).</a:t>
            </a: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34</a:t>
            </a:fld>
            <a:endParaRPr lang="en-US" altLang="en-US"/>
          </a:p>
        </p:txBody>
      </p:sp>
    </p:spTree>
    <p:extLst>
      <p:ext uri="{BB962C8B-B14F-4D97-AF65-F5344CB8AC3E}">
        <p14:creationId xmlns:p14="http://schemas.microsoft.com/office/powerpoint/2010/main" val="16793778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در</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BCNF</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 باید همه وابستگی‌ها در روابط تابعی به گونه‌ای باشند که ویژگی‌های چپ</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(X) </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در هر وابستگی تابعی، یک سوپرکلید باشد</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اگر یک ویژگی غیر کلیدی به ویژگی‌های دیگری وابسته باشد، جدول باید تجزیه شود تا</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BCNF </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حفظ شود</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35</a:t>
            </a:fld>
            <a:endParaRPr lang="en-US" altLang="en-US"/>
          </a:p>
        </p:txBody>
      </p:sp>
    </p:spTree>
    <p:extLst>
      <p:ext uri="{BB962C8B-B14F-4D97-AF65-F5344CB8AC3E}">
        <p14:creationId xmlns:p14="http://schemas.microsoft.com/office/powerpoint/2010/main" val="310385823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در</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BCNF</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 باید همه وابستگی‌ها در روابط تابعی به گونه‌ای باشند که ویژگی‌های چپ</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(X) </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در هر وابستگی تابعی، یک سوپرکلید باشد</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اگر یک ویژگی غیر کلیدی به ویژگی‌های دیگری وابسته باشد، جدول باید تجزیه شود تا</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BCNF </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حفظ شود</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36</a:t>
            </a:fld>
            <a:endParaRPr lang="en-US" altLang="en-US"/>
          </a:p>
        </p:txBody>
      </p:sp>
    </p:spTree>
    <p:extLst>
      <p:ext uri="{BB962C8B-B14F-4D97-AF65-F5344CB8AC3E}">
        <p14:creationId xmlns:p14="http://schemas.microsoft.com/office/powerpoint/2010/main" val="133935299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در</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BCNF</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 باید همه وابستگی‌ها در روابط تابعی به گونه‌ای باشند که ویژگی‌های چپ</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(X) </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در هر وابستگی تابعی، یک سوپرکلید باشد</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اگر یک ویژگی غیر کلیدی به ویژگی‌های دیگری وابسته باشد، جدول باید تجزیه شود تا</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BCNF </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حفظ شود</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37</a:t>
            </a:fld>
            <a:endParaRPr lang="en-US" altLang="en-US"/>
          </a:p>
        </p:txBody>
      </p:sp>
    </p:spTree>
    <p:extLst>
      <p:ext uri="{BB962C8B-B14F-4D97-AF65-F5344CB8AC3E}">
        <p14:creationId xmlns:p14="http://schemas.microsoft.com/office/powerpoint/2010/main" val="250855940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6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21C07DE-DA20-4217-B91C-55FA724E7BD2}" type="slidenum">
              <a:rPr lang="en-US" altLang="en-US" sz="1200"/>
              <a:pPr/>
              <a:t>39</a:t>
            </a:fld>
            <a:endParaRPr lang="en-US" altLang="en-US" sz="1200"/>
          </a:p>
        </p:txBody>
      </p:sp>
      <p:sp>
        <p:nvSpPr>
          <p:cNvPr id="114691" name="Rectangle 2"/>
          <p:cNvSpPr>
            <a:spLocks noGrp="1" noRot="1" noChangeAspect="1" noChangeArrowheads="1" noTextEdit="1"/>
          </p:cNvSpPr>
          <p:nvPr>
            <p:ph type="sldImg"/>
          </p:nvPr>
        </p:nvSpPr>
        <p:spPr>
          <a:xfrm>
            <a:off x="1177925" y="695325"/>
            <a:ext cx="4641850" cy="3481388"/>
          </a:xfrm>
          <a:ln/>
        </p:spPr>
      </p:sp>
      <p:sp>
        <p:nvSpPr>
          <p:cNvPr id="11469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sz="1200" dirty="0">
                <a:effectLst>
                  <a:outerShdw blurRad="38100" dist="38100" dir="2700000" algn="tl">
                    <a:srgbClr val="C0C0C0"/>
                  </a:outerShdw>
                </a:effectLst>
                <a:ea typeface="ＭＳ Ｐゴシック" pitchFamily="34" charset="-128"/>
              </a:rPr>
              <a:t>Decomposition:</a:t>
            </a:r>
            <a:r>
              <a:rPr lang="fa-IR" altLang="en-US" sz="1200" dirty="0">
                <a:effectLst>
                  <a:outerShdw blurRad="38100" dist="38100" dir="2700000" algn="tl">
                    <a:srgbClr val="C0C0C0"/>
                  </a:outerShdw>
                </a:effectLst>
                <a:ea typeface="ＭＳ Ｐゴシック" pitchFamily="34" charset="-128"/>
              </a:rPr>
              <a:t>تجزیه</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10128345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D17C4D0E-10BE-41E0-A0AF-FD2B0011F8A3}" type="slidenum">
              <a:rPr lang="en-US" altLang="en-US" sz="1200"/>
              <a:pPr/>
              <a:t>40</a:t>
            </a:fld>
            <a:endParaRPr lang="en-US" altLang="en-US" sz="1200"/>
          </a:p>
        </p:txBody>
      </p:sp>
      <p:sp>
        <p:nvSpPr>
          <p:cNvPr id="115715" name="Rectangle 2"/>
          <p:cNvSpPr>
            <a:spLocks noGrp="1" noRot="1" noChangeAspect="1" noChangeArrowheads="1" noTextEdit="1"/>
          </p:cNvSpPr>
          <p:nvPr>
            <p:ph type="sldImg"/>
          </p:nvPr>
        </p:nvSpPr>
        <p:spPr>
          <a:xfrm>
            <a:off x="1177925" y="695325"/>
            <a:ext cx="4641850" cy="3481388"/>
          </a:xfrm>
          <a:ln/>
        </p:spPr>
      </p:sp>
      <p:sp>
        <p:nvSpPr>
          <p:cNvPr id="11571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fa-IR" dirty="0"/>
              <a:t>تفکیک  پر اتلاف (</a:t>
            </a:r>
            <a:r>
              <a:rPr lang="en-US" dirty="0"/>
              <a:t>Lossy Decomposition)</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25124943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15C7E4C-29A1-4ED6-8D81-6DB7BB775B79}" type="slidenum">
              <a:rPr lang="en-US" altLang="en-US" sz="1200"/>
              <a:pPr/>
              <a:t>41</a:t>
            </a:fld>
            <a:endParaRPr lang="en-US" altLang="en-US" sz="1200"/>
          </a:p>
        </p:txBody>
      </p:sp>
      <p:sp>
        <p:nvSpPr>
          <p:cNvPr id="116739" name="Rectangle 2"/>
          <p:cNvSpPr>
            <a:spLocks noGrp="1" noRot="1" noChangeAspect="1" noChangeArrowheads="1" noTextEdit="1"/>
          </p:cNvSpPr>
          <p:nvPr>
            <p:ph type="sldImg"/>
          </p:nvPr>
        </p:nvSpPr>
        <p:spPr>
          <a:xfrm>
            <a:off x="1177925" y="695325"/>
            <a:ext cx="4641850" cy="3481388"/>
          </a:xfrm>
          <a:ln/>
        </p:spPr>
      </p:sp>
      <p:sp>
        <p:nvSpPr>
          <p:cNvPr id="11674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بگذارید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یک طرح‌واره رابطه باشد و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R1R1R1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R2R2R2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یک تفکیک از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را تشکیل دهند. یعنی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R=R1</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R2R = R1 \cup R2R=R1</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R2.</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می‌گوییم که این تفکیک یک تفکیک بدون ضایعه</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(Lossless Decomposition)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است اگر هیچ‌گونه از دست رفتن اطلاعاتی در هنگام جایگزینی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با دو طرح‌واره رابطه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R1R1R1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R2R2R2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وجود نداشته باشد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به‌طور رسمی،</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altLang="en-US" sz="1800" dirty="0">
                <a:latin typeface="Times New Roman" panose="02020603050405020304" pitchFamily="18" charset="0"/>
                <a:sym typeface="Symbol" panose="05050102010706020507" pitchFamily="18" charset="2"/>
              </a:rPr>
              <a:t>  </a:t>
            </a:r>
            <a:r>
              <a:rPr lang="en-US" altLang="en-US" sz="1800" baseline="-25000" dirty="0">
                <a:latin typeface="Times New Roman" panose="02020603050405020304" pitchFamily="18" charset="0"/>
                <a:sym typeface="Symbol" panose="05050102010706020507" pitchFamily="18" charset="2"/>
              </a:rPr>
              <a:t>R</a:t>
            </a:r>
            <a:r>
              <a:rPr lang="en-US" altLang="en-US" sz="1800" baseline="-50000" dirty="0">
                <a:latin typeface="Times New Roman" panose="02020603050405020304" pitchFamily="18" charset="0"/>
                <a:sym typeface="Symbol" panose="05050102010706020507" pitchFamily="18" charset="2"/>
              </a:rPr>
              <a:t>1</a:t>
            </a:r>
            <a:r>
              <a:rPr lang="en-US" altLang="en-US" sz="1800" dirty="0">
                <a:latin typeface="Times New Roman" panose="02020603050405020304" pitchFamily="18" charset="0"/>
                <a:sym typeface="Symbol" panose="05050102010706020507" pitchFamily="18" charset="2"/>
              </a:rPr>
              <a:t> (r)      </a:t>
            </a:r>
            <a:r>
              <a:rPr lang="en-US" altLang="en-US" sz="1800" baseline="-25000" dirty="0">
                <a:latin typeface="Times New Roman" panose="02020603050405020304" pitchFamily="18" charset="0"/>
                <a:sym typeface="Symbol" panose="05050102010706020507" pitchFamily="18" charset="2"/>
              </a:rPr>
              <a:t>R</a:t>
            </a:r>
            <a:r>
              <a:rPr lang="en-US" altLang="en-US" sz="1800" baseline="-50000" dirty="0">
                <a:latin typeface="Times New Roman" panose="02020603050405020304" pitchFamily="18" charset="0"/>
                <a:sym typeface="Symbol" panose="05050102010706020507" pitchFamily="18" charset="2"/>
              </a:rPr>
              <a:t>2</a:t>
            </a:r>
            <a:r>
              <a:rPr lang="en-US" altLang="en-US" sz="1800" dirty="0">
                <a:latin typeface="Times New Roman" panose="02020603050405020304" pitchFamily="18" charset="0"/>
                <a:sym typeface="Symbol" panose="05050102010706020507" pitchFamily="18" charset="2"/>
              </a:rPr>
              <a:t> (r) = </a:t>
            </a:r>
            <a:r>
              <a:rPr lang="en-US" altLang="en-US" sz="1800" i="1" dirty="0">
                <a:latin typeface="Times New Roman" panose="02020603050405020304" pitchFamily="18" charset="0"/>
                <a:sym typeface="Symbol" panose="05050102010706020507" pitchFamily="18" charset="2"/>
              </a:rPr>
              <a:t>r</a:t>
            </a:r>
          </a:p>
          <a:p>
            <a:pPr marL="0" marR="0" algn="r" rtl="1">
              <a:lnSpc>
                <a:spcPct val="107000"/>
              </a:lnSpc>
              <a:spcBef>
                <a:spcPts val="0"/>
              </a:spcBef>
              <a:spcAft>
                <a:spcPts val="800"/>
              </a:spcAft>
            </a:pPr>
            <a:endParaRPr lang="en-US" sz="1800" dirty="0">
              <a:effectLst/>
              <a:latin typeface="Calibri" panose="020F0502020204030204" pitchFamily="34" charset="0"/>
              <a:ea typeface="Times New Roman" panose="02020603050405020304" pitchFamily="18" charset="0"/>
              <a:cs typeface="Times New Roman" panose="02020603050405020304" pitchFamily="18"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 به‌عکس، یک تفکیک ضایعاتی است اگر</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0"/>
              </a:spcAft>
            </a:pPr>
            <a:r>
              <a:rPr lang="en-US" sz="1800" dirty="0">
                <a:effectLst/>
                <a:latin typeface="Times New Roman" panose="02020603050405020304" pitchFamily="18" charset="0"/>
                <a:ea typeface="Times New Roman" panose="02020603050405020304" pitchFamily="18" charset="0"/>
                <a:cs typeface="Arial" panose="020B0604020202020204" pitchFamily="34" charset="0"/>
              </a:rPr>
              <a:t>r</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ΠR1(r)</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ΠR2(r)=</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rr</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subseteq</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\Pi_{R1}(r) \cup \Pi_{R2}(r) = rr</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ΠR1​(r)</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ΠR2​(r)=r</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800" dirty="0">
                <a:effectLst/>
                <a:latin typeface="Calibri" panose="020F0502020204030204" pitchFamily="34" charset="0"/>
                <a:ea typeface="Calibri" panose="020F0502020204030204" pitchFamily="34" charset="0"/>
                <a:cs typeface="Arial" panose="020B0604020202020204" pitchFamily="34" charset="0"/>
              </a:rPr>
              <a:t> </a:t>
            </a:r>
          </a:p>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328155864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8AAEC5DC-5E4F-4639-8D2D-6BB23BF9650E}" type="slidenum">
              <a:rPr lang="en-US" altLang="en-US" sz="1200"/>
              <a:pPr/>
              <a:t>42</a:t>
            </a:fld>
            <a:endParaRPr lang="en-US" altLang="en-US" sz="1200"/>
          </a:p>
        </p:txBody>
      </p:sp>
      <p:sp>
        <p:nvSpPr>
          <p:cNvPr id="117763" name="Rectangle 2"/>
          <p:cNvSpPr>
            <a:spLocks noGrp="1" noRot="1" noChangeAspect="1" noChangeArrowheads="1" noTextEdit="1"/>
          </p:cNvSpPr>
          <p:nvPr>
            <p:ph type="sldImg"/>
          </p:nvPr>
        </p:nvSpPr>
        <p:spPr>
          <a:xfrm>
            <a:off x="1176338" y="693738"/>
            <a:ext cx="4643437" cy="3482975"/>
          </a:xfrm>
          <a:ln/>
        </p:spPr>
      </p:sp>
      <p:sp>
        <p:nvSpPr>
          <p:cNvPr id="117764" name="Rectangle 3"/>
          <p:cNvSpPr>
            <a:spLocks noGrp="1" noChangeArrowheads="1"/>
          </p:cNvSpPr>
          <p:nvPr>
            <p:ph type="body" idx="1"/>
          </p:nvPr>
        </p:nvSpPr>
        <p:spPr>
          <a:xfrm>
            <a:off x="931414" y="4410392"/>
            <a:ext cx="5134874" cy="417893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6459046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7A450BD-08BE-4C06-8125-BBFA1D5AB413}" type="slidenum">
              <a:rPr lang="en-US" altLang="en-US" sz="1200"/>
              <a:pPr/>
              <a:t>43</a:t>
            </a:fld>
            <a:endParaRPr lang="en-US" altLang="en-US" sz="1200"/>
          </a:p>
        </p:txBody>
      </p:sp>
      <p:sp>
        <p:nvSpPr>
          <p:cNvPr id="118787" name="Rectangle 2"/>
          <p:cNvSpPr>
            <a:spLocks noGrp="1" noRot="1" noChangeAspect="1" noChangeArrowheads="1" noTextEdit="1"/>
          </p:cNvSpPr>
          <p:nvPr>
            <p:ph type="sldImg"/>
          </p:nvPr>
        </p:nvSpPr>
        <p:spPr>
          <a:xfrm>
            <a:off x="1177925" y="695325"/>
            <a:ext cx="4641850" cy="3481388"/>
          </a:xfrm>
          <a:ln/>
        </p:spPr>
      </p:sp>
      <p:sp>
        <p:nvSpPr>
          <p:cNvPr id="11878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تصمیم بگیرید که آیا یک رابطه خاص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در فرم "خوب" قرار دارد یا نه</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در صورتی که رابطه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در فرم "خوب" نباشد، آن را به مجموعه‌ای از روابط</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 R1,R2,…,RnR1, R2, \dots, RnR1,R2,…,Rn }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تفکیک کنید به‌طوری‌که</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هر رابطه در فرم خوب باشد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تفکیک یک تفکیک بدون ضایعه باشد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نظریه‌ی ما بر اساس موارد زیر است</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وابستگی‌های تابعی</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(Functional dependencies)</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وابستگی‌های چند ارزشی</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(Multivalued dependencies)</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800" dirty="0">
                <a:effectLst/>
                <a:latin typeface="Calibri" panose="020F0502020204030204" pitchFamily="34" charset="0"/>
                <a:ea typeface="Calibri" panose="020F0502020204030204" pitchFamily="34" charset="0"/>
                <a:cs typeface="Arial" panose="020B0604020202020204" pitchFamily="34" charset="0"/>
              </a:rPr>
              <a:t> </a:t>
            </a:r>
          </a:p>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266633939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5701DF6-0095-49A6-9538-0F4E1D04D191}" type="slidenum">
              <a:rPr lang="en-US" altLang="en-US" sz="1200"/>
              <a:pPr/>
              <a:t>44</a:t>
            </a:fld>
            <a:endParaRPr lang="en-US" altLang="en-US" sz="1200"/>
          </a:p>
        </p:txBody>
      </p:sp>
      <p:sp>
        <p:nvSpPr>
          <p:cNvPr id="119811" name="Rectangle 2"/>
          <p:cNvSpPr>
            <a:spLocks noGrp="1" noRot="1" noChangeAspect="1" noChangeArrowheads="1" noTextEdit="1"/>
          </p:cNvSpPr>
          <p:nvPr>
            <p:ph type="sldImg"/>
          </p:nvPr>
        </p:nvSpPr>
        <p:spPr>
          <a:xfrm>
            <a:off x="1177925" y="695325"/>
            <a:ext cx="4641850" cy="3481388"/>
          </a:xfrm>
          <a:ln/>
        </p:spPr>
      </p:sp>
      <p:sp>
        <p:nvSpPr>
          <p:cNvPr id="11981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در دنیای واقعی معمولاً انواع مختلفی از محدودیت‌ها (قوانین) بر روی داده‌ها وجود دارد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برای مثال، برخی از محدودیت‌هایی که انتظار می‌رود در یک پایگاه داده دانشگاهی برقرار باشند عبارتند از</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دانشجویان و اساتید به‌طور منحصر به فرد با شناسه</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(ID)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خود شناسایی می‌شوند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هر دانشجو و استاد تنها یک نام دارد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هر استاد و دانشجو (عمدتاً) تنها با یک دپارتمان مرتبط است</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هر دپارتمان تنها یک مقدار برای بودجه خود دارد و تنها یک ساختمان مرتبط با آن وجود دارد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800" dirty="0">
                <a:effectLst/>
                <a:latin typeface="Calibri" panose="020F0502020204030204" pitchFamily="34" charset="0"/>
                <a:ea typeface="Calibri" panose="020F0502020204030204" pitchFamily="34" charset="0"/>
                <a:cs typeface="Arial" panose="020B0604020202020204" pitchFamily="34" charset="0"/>
              </a:rPr>
              <a:t> </a:t>
            </a:r>
          </a:p>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226237996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87CCD6A2-8F22-431C-9059-7B1E655B3F8B}" type="slidenum">
              <a:rPr lang="en-US" altLang="en-US" sz="1200"/>
              <a:pPr/>
              <a:t>45</a:t>
            </a:fld>
            <a:endParaRPr lang="en-US" altLang="en-US" sz="1200"/>
          </a:p>
        </p:txBody>
      </p:sp>
      <p:sp>
        <p:nvSpPr>
          <p:cNvPr id="120835" name="Rectangle 2"/>
          <p:cNvSpPr>
            <a:spLocks noGrp="1" noRot="1" noChangeAspect="1" noChangeArrowheads="1" noTextEdit="1"/>
          </p:cNvSpPr>
          <p:nvPr>
            <p:ph type="sldImg"/>
          </p:nvPr>
        </p:nvSpPr>
        <p:spPr>
          <a:xfrm>
            <a:off x="1177925" y="695325"/>
            <a:ext cx="4641850" cy="3481388"/>
          </a:xfrm>
          <a:ln/>
        </p:spPr>
      </p:sp>
      <p:sp>
        <p:nvSpPr>
          <p:cNvPr id="12083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algn="r" rtl="1">
              <a:lnSpc>
                <a:spcPct val="107000"/>
              </a:lnSpc>
              <a:spcBef>
                <a:spcPts val="0"/>
              </a:spcBef>
              <a:spcAft>
                <a:spcPts val="800"/>
              </a:spcAft>
            </a:pPr>
            <a:r>
              <a:rPr lang="ar-SA" sz="1800" dirty="0">
                <a:effectLst/>
                <a:latin typeface="Calibri" panose="020F0502020204030204" pitchFamily="34" charset="0"/>
                <a:ea typeface="Calibri" panose="020F0502020204030204" pitchFamily="34" charset="0"/>
                <a:cs typeface="Arial" panose="020B0604020202020204" pitchFamily="34" charset="0"/>
              </a:rPr>
              <a:t>نمونه‌ای از یک رابطه که تمامی محدودیت‌های دنیای واقعی را رعایت می‌کند، به‌عنوان یک </a:t>
            </a:r>
            <a:r>
              <a:rPr lang="ar-SA" sz="1800" i="0" dirty="0">
                <a:effectLst/>
                <a:latin typeface="Calibri" panose="020F0502020204030204" pitchFamily="34" charset="0"/>
                <a:ea typeface="Calibri" panose="020F0502020204030204" pitchFamily="34" charset="0"/>
                <a:cs typeface="Arial" panose="020B0604020202020204" pitchFamily="34" charset="0"/>
              </a:rPr>
              <a:t>نمونه قانونی</a:t>
            </a:r>
            <a:r>
              <a:rPr lang="ar-SA" sz="1800" dirty="0">
                <a:effectLst/>
                <a:latin typeface="Calibri" panose="020F0502020204030204" pitchFamily="34" charset="0"/>
                <a:ea typeface="Calibri" panose="020F0502020204030204" pitchFamily="34" charset="0"/>
                <a:cs typeface="Arial" panose="020B0604020202020204" pitchFamily="34" charset="0"/>
              </a:rPr>
              <a:t> از آن رابطه شناخته می‌شود</a:t>
            </a:r>
            <a:r>
              <a:rPr lang="en-US" sz="1800" dirty="0">
                <a:effectLst/>
                <a:latin typeface="Calibri" panose="020F0502020204030204" pitchFamily="34" charset="0"/>
                <a:ea typeface="Calibri" panose="020F0502020204030204" pitchFamily="34" charset="0"/>
                <a:cs typeface="Arial" panose="020B0604020202020204" pitchFamily="34" charset="0"/>
              </a:rPr>
              <a:t>.</a:t>
            </a:r>
            <a:br>
              <a:rPr lang="en-US" sz="1800" dirty="0">
                <a:effectLst/>
                <a:latin typeface="Calibri" panose="020F0502020204030204" pitchFamily="34" charset="0"/>
                <a:ea typeface="Calibri" panose="020F0502020204030204" pitchFamily="34" charset="0"/>
                <a:cs typeface="Arial" panose="020B0604020202020204" pitchFamily="34" charset="0"/>
              </a:rPr>
            </a:br>
            <a:r>
              <a:rPr lang="ar-SA" sz="1800" dirty="0">
                <a:effectLst/>
                <a:latin typeface="Calibri" panose="020F0502020204030204" pitchFamily="34" charset="0"/>
                <a:ea typeface="Calibri" panose="020F0502020204030204" pitchFamily="34" charset="0"/>
                <a:cs typeface="Arial" panose="020B0604020202020204" pitchFamily="34" charset="0"/>
              </a:rPr>
              <a:t>یک نمونه قانونی از پایگاه داده، نمونه‌ای است که در آن تمامی نمونه‌های روابط، نمونه‌های قانونی هستند</a:t>
            </a:r>
            <a:r>
              <a:rPr lang="en-US" sz="1800" dirty="0">
                <a:effectLst/>
                <a:latin typeface="Calibri" panose="020F0502020204030204" pitchFamily="34" charset="0"/>
                <a:ea typeface="Calibri" panose="020F0502020204030204" pitchFamily="34" charset="0"/>
                <a:cs typeface="Arial" panose="020B0604020202020204" pitchFamily="34" charset="0"/>
              </a:rPr>
              <a:t>.</a:t>
            </a:r>
            <a:br>
              <a:rPr lang="en-US" sz="1800" dirty="0">
                <a:effectLst/>
                <a:latin typeface="Calibri" panose="020F0502020204030204" pitchFamily="34" charset="0"/>
                <a:ea typeface="Calibri" panose="020F0502020204030204" pitchFamily="34" charset="0"/>
                <a:cs typeface="Arial" panose="020B0604020202020204" pitchFamily="34" charset="0"/>
              </a:rPr>
            </a:br>
            <a:r>
              <a:rPr lang="ar-SA" sz="1800" dirty="0">
                <a:effectLst/>
                <a:latin typeface="Calibri" panose="020F0502020204030204" pitchFamily="34" charset="0"/>
                <a:ea typeface="Calibri" panose="020F0502020204030204" pitchFamily="34" charset="0"/>
                <a:cs typeface="Arial" panose="020B0604020202020204" pitchFamily="34" charset="0"/>
              </a:rPr>
              <a:t>محدودیت‌ها روی مجموعه روابط قانونی، نیاز دارند که مقدار یک مجموعه خاص از صفات، مقدار مجموعه دیگری از صفات را به‌طور منحصر به فرد تعیین کند</a:t>
            </a:r>
            <a:r>
              <a:rPr lang="en-US" sz="1800" dirty="0">
                <a:effectLst/>
                <a:latin typeface="Calibri" panose="020F0502020204030204" pitchFamily="34" charset="0"/>
                <a:ea typeface="Calibri" panose="020F0502020204030204" pitchFamily="34" charset="0"/>
                <a:cs typeface="Arial" panose="020B0604020202020204" pitchFamily="34" charset="0"/>
              </a:rPr>
              <a:t>.</a:t>
            </a:r>
            <a:br>
              <a:rPr lang="en-US" sz="1800" dirty="0">
                <a:effectLst/>
                <a:latin typeface="Calibri" panose="020F0502020204030204" pitchFamily="34" charset="0"/>
                <a:ea typeface="Calibri" panose="020F0502020204030204" pitchFamily="34" charset="0"/>
                <a:cs typeface="Arial" panose="020B0604020202020204" pitchFamily="34" charset="0"/>
              </a:rPr>
            </a:br>
            <a:r>
              <a:rPr lang="ar-SA" sz="1800" dirty="0">
                <a:effectLst/>
                <a:latin typeface="Calibri" panose="020F0502020204030204" pitchFamily="34" charset="0"/>
                <a:ea typeface="Calibri" panose="020F0502020204030204" pitchFamily="34" charset="0"/>
                <a:cs typeface="Arial" panose="020B0604020202020204" pitchFamily="34" charset="0"/>
              </a:rPr>
              <a:t>وابستگی تابعی</a:t>
            </a:r>
            <a:r>
              <a:rPr lang="en-US" sz="1800" dirty="0">
                <a:effectLst/>
                <a:latin typeface="Calibri" panose="020F0502020204030204" pitchFamily="34" charset="0"/>
                <a:ea typeface="Calibri" panose="020F0502020204030204" pitchFamily="34" charset="0"/>
                <a:cs typeface="Arial" panose="020B0604020202020204" pitchFamily="34" charset="0"/>
              </a:rPr>
              <a:t> (Functional Dependency) </a:t>
            </a:r>
            <a:r>
              <a:rPr lang="ar-SA" sz="1800" dirty="0">
                <a:effectLst/>
                <a:latin typeface="Calibri" panose="020F0502020204030204" pitchFamily="34" charset="0"/>
                <a:ea typeface="Calibri" panose="020F0502020204030204" pitchFamily="34" charset="0"/>
                <a:cs typeface="Arial" panose="020B0604020202020204" pitchFamily="34" charset="0"/>
              </a:rPr>
              <a:t>تعمیمی از مفهوم کلید است</a:t>
            </a:r>
            <a:r>
              <a:rPr lang="en-US" sz="1800" dirty="0">
                <a:effectLst/>
                <a:latin typeface="Calibri" panose="020F0502020204030204" pitchFamily="34" charset="0"/>
                <a:ea typeface="Calibri" panose="020F0502020204030204" pitchFamily="34" charset="0"/>
                <a:cs typeface="Arial" panose="020B0604020202020204" pitchFamily="34" charset="0"/>
              </a:rPr>
              <a:t>.</a:t>
            </a:r>
          </a:p>
        </p:txBody>
      </p:sp>
    </p:spTree>
    <p:extLst>
      <p:ext uri="{BB962C8B-B14F-4D97-AF65-F5344CB8AC3E}">
        <p14:creationId xmlns:p14="http://schemas.microsoft.com/office/powerpoint/2010/main" val="86270119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4B50642-8067-4638-B2FE-15C691E00756}" type="slidenum">
              <a:rPr lang="en-US" altLang="en-US" sz="1200"/>
              <a:pPr/>
              <a:t>46</a:t>
            </a:fld>
            <a:endParaRPr lang="en-US" altLang="en-US" sz="1200"/>
          </a:p>
        </p:txBody>
      </p:sp>
      <p:sp>
        <p:nvSpPr>
          <p:cNvPr id="121859" name="Rectangle 2"/>
          <p:cNvSpPr>
            <a:spLocks noGrp="1" noRot="1" noChangeAspect="1" noChangeArrowheads="1" noTextEdit="1"/>
          </p:cNvSpPr>
          <p:nvPr>
            <p:ph type="sldImg"/>
          </p:nvPr>
        </p:nvSpPr>
        <p:spPr>
          <a:xfrm>
            <a:off x="1177925" y="695325"/>
            <a:ext cx="4641850" cy="3481388"/>
          </a:xfrm>
          <a:ln/>
        </p:spPr>
      </p:sp>
      <p:sp>
        <p:nvSpPr>
          <p:cNvPr id="12186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54309185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2FCC9CF2-4998-4C05-A98D-CC655C386950}" type="slidenum">
              <a:rPr lang="en-US" altLang="en-US" sz="1200"/>
              <a:pPr/>
              <a:t>47</a:t>
            </a:fld>
            <a:endParaRPr lang="en-US" altLang="en-US" sz="1200"/>
          </a:p>
        </p:txBody>
      </p:sp>
      <p:sp>
        <p:nvSpPr>
          <p:cNvPr id="122883" name="Rectangle 2"/>
          <p:cNvSpPr>
            <a:spLocks noGrp="1" noRot="1" noChangeAspect="1" noChangeArrowheads="1" noTextEdit="1"/>
          </p:cNvSpPr>
          <p:nvPr>
            <p:ph type="sldImg"/>
          </p:nvPr>
        </p:nvSpPr>
        <p:spPr>
          <a:xfrm>
            <a:off x="1177925" y="695325"/>
            <a:ext cx="4641850" cy="3481388"/>
          </a:xfrm>
          <a:ln/>
        </p:spPr>
      </p:sp>
      <p:sp>
        <p:nvSpPr>
          <p:cNvPr id="12288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r" rtl="1"/>
            <a:r>
              <a:rPr lang="fa-IR" b="1" dirty="0"/>
              <a:t>بستار یک مجموعه از وابستگی‌های تابعی</a:t>
            </a:r>
            <a:endParaRPr lang="fa-IR" dirty="0"/>
          </a:p>
          <a:p>
            <a:pPr algn="r" rtl="1">
              <a:buFont typeface="Arial" panose="020B0604020202020204" pitchFamily="34" charset="0"/>
              <a:buChar char="•"/>
            </a:pPr>
            <a:r>
              <a:rPr lang="fa-IR" dirty="0"/>
              <a:t>فرض کنید یک مجموعه </a:t>
            </a:r>
            <a:r>
              <a:rPr lang="en-US" dirty="0"/>
              <a:t>F </a:t>
            </a:r>
            <a:r>
              <a:rPr lang="fa-IR" dirty="0"/>
              <a:t>از وابستگی‌های تابعی داده شده است. در این صورت، وابستگی‌های تابعی دیگری وجود دارند که به‌طور منطقی از </a:t>
            </a:r>
            <a:r>
              <a:rPr lang="en-US" dirty="0"/>
              <a:t>F</a:t>
            </a:r>
            <a:r>
              <a:rPr lang="fa-IR" dirty="0"/>
              <a:t>نتیجه می‌شوند.</a:t>
            </a:r>
          </a:p>
          <a:p>
            <a:pPr marL="742950" lvl="1" indent="-285750" algn="r" rtl="1">
              <a:buFont typeface="Arial" panose="020B0604020202020204" pitchFamily="34" charset="0"/>
              <a:buChar char="•"/>
            </a:pPr>
            <a:r>
              <a:rPr lang="fa-IR" dirty="0"/>
              <a:t>برای مثال، اگر </a:t>
            </a:r>
            <a:r>
              <a:rPr lang="en-US" dirty="0"/>
              <a:t>A→BA \to BA→B </a:t>
            </a:r>
            <a:r>
              <a:rPr lang="fa-IR" dirty="0"/>
              <a:t>و </a:t>
            </a:r>
            <a:r>
              <a:rPr lang="en-US" dirty="0"/>
              <a:t>B→CB \to CB→C، </a:t>
            </a:r>
            <a:r>
              <a:rPr lang="fa-IR" dirty="0"/>
              <a:t>می‌توانیم نتیجه بگیریم که </a:t>
            </a:r>
            <a:r>
              <a:rPr lang="en-US" dirty="0"/>
              <a:t>A→CA \to CA→C</a:t>
            </a:r>
          </a:p>
          <a:p>
            <a:pPr marL="742950" lvl="1" indent="-285750" algn="r" rtl="1">
              <a:buFont typeface="Arial" panose="020B0604020202020204" pitchFamily="34" charset="0"/>
              <a:buChar char="•"/>
            </a:pPr>
            <a:r>
              <a:rPr lang="fa-IR" dirty="0"/>
              <a:t>و همینطور برای سایر وابستگی‌ها.</a:t>
            </a:r>
          </a:p>
          <a:p>
            <a:pPr algn="r" rtl="1">
              <a:buFont typeface="Arial" panose="020B0604020202020204" pitchFamily="34" charset="0"/>
              <a:buChar char="•"/>
            </a:pPr>
            <a:r>
              <a:rPr lang="fa-IR" dirty="0"/>
              <a:t>مجموعه‌ای از تمامی وابستگی‌های تابعی که به‌طور منطقی از </a:t>
            </a:r>
            <a:r>
              <a:rPr lang="en-US" dirty="0"/>
              <a:t>F </a:t>
            </a:r>
            <a:r>
              <a:rPr lang="fa-IR" dirty="0"/>
              <a:t>نتیجه می‌شوند، </a:t>
            </a:r>
            <a:r>
              <a:rPr lang="fa-IR" b="1" dirty="0"/>
              <a:t>اختتام </a:t>
            </a:r>
            <a:r>
              <a:rPr lang="en-US" b="1" dirty="0"/>
              <a:t>FFF</a:t>
            </a:r>
            <a:r>
              <a:rPr lang="en-US" dirty="0"/>
              <a:t> </a:t>
            </a:r>
            <a:r>
              <a:rPr lang="fa-IR" dirty="0"/>
              <a:t>نامیده می‌شود.</a:t>
            </a:r>
          </a:p>
          <a:p>
            <a:pPr algn="r" rtl="1">
              <a:buFont typeface="Arial" panose="020B0604020202020204" pitchFamily="34" charset="0"/>
              <a:buChar char="•"/>
            </a:pPr>
            <a:r>
              <a:rPr lang="fa-IR" dirty="0"/>
              <a:t>اختتام </a:t>
            </a:r>
            <a:r>
              <a:rPr lang="en-US" dirty="0"/>
              <a:t>FFF </a:t>
            </a:r>
            <a:r>
              <a:rPr lang="fa-IR" dirty="0"/>
              <a:t>را با </a:t>
            </a:r>
            <a:r>
              <a:rPr lang="en-US" dirty="0"/>
              <a:t>F+F^+F+ </a:t>
            </a:r>
            <a:r>
              <a:rPr lang="fa-IR" dirty="0"/>
              <a:t>نمایش می‌دهیم.</a:t>
            </a:r>
          </a:p>
          <a:p>
            <a:pPr algn="r" rtl="1"/>
            <a:endParaRPr lang="en-US" altLang="en-US" dirty="0">
              <a:latin typeface="Times New Roman" panose="02020603050405020304" pitchFamily="18" charset="0"/>
            </a:endParaRPr>
          </a:p>
        </p:txBody>
      </p:sp>
    </p:spTree>
    <p:extLst>
      <p:ext uri="{BB962C8B-B14F-4D97-AF65-F5344CB8AC3E}">
        <p14:creationId xmlns:p14="http://schemas.microsoft.com/office/powerpoint/2010/main" val="11869259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2601A597-9366-4E98-91B3-EC7AD41AF343}" type="slidenum">
              <a:rPr lang="en-US" altLang="en-US" sz="1200"/>
              <a:pPr/>
              <a:t>48</a:t>
            </a:fld>
            <a:endParaRPr lang="en-US" altLang="en-US" sz="1200"/>
          </a:p>
        </p:txBody>
      </p:sp>
      <p:sp>
        <p:nvSpPr>
          <p:cNvPr id="123907" name="Rectangle 2"/>
          <p:cNvSpPr>
            <a:spLocks noGrp="1" noRot="1" noChangeAspect="1" noChangeArrowheads="1" noTextEdit="1"/>
          </p:cNvSpPr>
          <p:nvPr>
            <p:ph type="sldImg"/>
          </p:nvPr>
        </p:nvSpPr>
        <p:spPr>
          <a:xfrm>
            <a:off x="1177925" y="695325"/>
            <a:ext cx="4641850" cy="3481388"/>
          </a:xfrm>
          <a:ln/>
        </p:spPr>
      </p:sp>
      <p:sp>
        <p:nvSpPr>
          <p:cNvPr id="12390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algn="r" rtl="1">
              <a:lnSpc>
                <a:spcPct val="107000"/>
              </a:lnSpc>
              <a:spcBef>
                <a:spcPts val="0"/>
              </a:spcBef>
              <a:spcAft>
                <a:spcPts val="800"/>
              </a:spcAft>
            </a:pPr>
            <a:r>
              <a:rPr lang="en-US" sz="1800" dirty="0">
                <a:effectLst/>
                <a:latin typeface="Times New Roman" panose="02020603050405020304" pitchFamily="18" charset="0"/>
                <a:ea typeface="Times New Roman" panose="02020603050405020304" pitchFamily="18" charset="0"/>
                <a:cs typeface="Arial" panose="020B0604020202020204" pitchFamily="34" charset="0"/>
              </a:rPr>
              <a:t>KKK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یک ابرکلید برای طرح رابطه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است اگر و تنها اگر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K→RK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rightarrow</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RK→R.</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en-US" sz="1800" dirty="0">
                <a:effectLst/>
                <a:latin typeface="Times New Roman" panose="02020603050405020304" pitchFamily="18" charset="0"/>
                <a:ea typeface="Times New Roman" panose="02020603050405020304" pitchFamily="18" charset="0"/>
                <a:cs typeface="Arial" panose="020B0604020202020204" pitchFamily="34" charset="0"/>
              </a:rPr>
              <a:t>KKK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یک کلید کاندیدا برای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است اگر و تنها اگر</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en-US" sz="1800" dirty="0">
                <a:effectLst/>
                <a:latin typeface="Times New Roman" panose="02020603050405020304" pitchFamily="18" charset="0"/>
                <a:ea typeface="Times New Roman" panose="02020603050405020304" pitchFamily="18" charset="0"/>
                <a:cs typeface="Arial" panose="020B0604020202020204" pitchFamily="34" charset="0"/>
              </a:rPr>
              <a:t>K→RK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rightarrow</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RK→R</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 و</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برای هیچ زیرمجموعه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α</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K\alpha \subset Kα</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K</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α→R\alpha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rightarrow</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Rα→R.</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وابستگی‌های تابعی به ما اجازه می‌دهند محدودیت‌هایی را بیان کنیم که نمی‌توان آن‌ها را با استفاده از ابرکلیدها بیان کرد. طرح زیر را در نظر بگیرید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0"/>
              </a:spcAft>
            </a:pPr>
            <a:r>
              <a:rPr lang="en-US" sz="1800" dirty="0">
                <a:effectLst/>
                <a:latin typeface="Times New Roman" panose="02020603050405020304" pitchFamily="18" charset="0"/>
                <a:ea typeface="Times New Roman" panose="02020603050405020304" pitchFamily="18" charset="0"/>
                <a:cs typeface="Arial" panose="020B0604020202020204" pitchFamily="34" charset="0"/>
              </a:rPr>
              <a:t>\text{</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in_dep</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(ID, name, salary,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dept_name</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building, budget).}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انتظار می‌رود این وابستگی‌های تابعی برقرار باشند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0"/>
              </a:spcAft>
            </a:pPr>
            <a:r>
              <a:rPr lang="en-US" sz="1800" dirty="0">
                <a:effectLst/>
                <a:latin typeface="Times New Roman" panose="02020603050405020304" pitchFamily="18" charset="0"/>
                <a:ea typeface="Times New Roman" panose="02020603050405020304" pitchFamily="18" charset="0"/>
                <a:cs typeface="Arial" panose="020B0604020202020204" pitchFamily="34" charset="0"/>
              </a:rPr>
              <a:t>\text{</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dept_name</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rightarrow</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\text{building}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ID→building</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\text{ID}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rightarrow</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\text{building}</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ID→building</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اما انتظار نمی‌رود وابستگی زیر برقرار باشد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800" dirty="0">
                <a:effectLst/>
                <a:latin typeface="Calibri" panose="020F0502020204030204" pitchFamily="34" charset="0"/>
                <a:ea typeface="Calibri" panose="020F0502020204030204" pitchFamily="34" charset="0"/>
                <a:cs typeface="Arial" panose="020B0604020202020204" pitchFamily="34" charset="0"/>
              </a:rPr>
              <a:t> </a:t>
            </a:r>
          </a:p>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39810818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C0684B9-9744-4E13-BCE3-67E4D5AC52B7}" type="slidenum">
              <a:rPr lang="en-US" altLang="en-US" sz="1200"/>
              <a:pPr/>
              <a:t>49</a:t>
            </a:fld>
            <a:endParaRPr lang="en-US" altLang="en-US" sz="1200"/>
          </a:p>
        </p:txBody>
      </p:sp>
      <p:sp>
        <p:nvSpPr>
          <p:cNvPr id="124931" name="Rectangle 2"/>
          <p:cNvSpPr>
            <a:spLocks noGrp="1" noRot="1" noChangeAspect="1" noChangeArrowheads="1" noTextEdit="1"/>
          </p:cNvSpPr>
          <p:nvPr>
            <p:ph type="sldImg"/>
          </p:nvPr>
        </p:nvSpPr>
        <p:spPr>
          <a:xfrm>
            <a:off x="1177925" y="695325"/>
            <a:ext cx="4641850" cy="3481388"/>
          </a:xfrm>
          <a:ln/>
        </p:spPr>
      </p:sp>
      <p:sp>
        <p:nvSpPr>
          <p:cNvPr id="12493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ما از وابستگی‌های تابعی برای موارد زیر استفاده می‌کنیم</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آزمایش روابط برای بررسی اینکه آیا آن‌ها تحت یک مجموعه مشخص از وابستگی‌های تابعی معتبر هستند یا خیر</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اگر یک رابطه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rrr</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تحت یک مجموعه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FFF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از وابستگی‌های تابعی معتبر باشد، می‌گوییم که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rrr</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FFF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را ارضا می‌کند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مشخص کردن محدودیت‌ها بر مجموعه روابط معتبر</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می‌گوییم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FFF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بر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برقرار است اگر تمام روابط معتبر بر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مجموعه وابستگی‌های تابعی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FFF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را ارضا کنند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b="1" dirty="0">
                <a:effectLst/>
                <a:latin typeface="Calibri" panose="020F0502020204030204" pitchFamily="34" charset="0"/>
                <a:ea typeface="Times New Roman" panose="02020603050405020304" pitchFamily="18" charset="0"/>
                <a:cs typeface="Times New Roman" panose="02020603050405020304" pitchFamily="18" charset="0"/>
              </a:rPr>
              <a:t>نکته</a:t>
            </a:r>
            <a:r>
              <a:rPr lang="en-US" sz="1800" b="1" dirty="0">
                <a:effectLst/>
                <a:latin typeface="Times New Roman" panose="02020603050405020304" pitchFamily="18" charset="0"/>
                <a:ea typeface="Times New Roman" panose="02020603050405020304" pitchFamily="18" charset="0"/>
                <a:cs typeface="Arial" panose="020B0604020202020204" pitchFamily="34"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ممکن است یک نمونه خاص از یک طرح رابطه‌ای وابستگی تابعی را ارضا کند، حتی اگر آن وابستگی تابعی برای همه نمونه‌های معتبر برقرار نباشد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برای مثال، ممکن است یک نمونه خاص از رابطه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instructorinstructorinstructor</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 به‌طور اتفاقی، وابستگی تابعی زیر را ارضا کند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name→ID</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.\text{name}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rightarrow</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\text{ID}.</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name→ID</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271450735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5911C6D-C523-432C-89F4-406A63F7E4F9}" type="slidenum">
              <a:rPr lang="en-US" altLang="en-US" sz="1200"/>
              <a:pPr/>
              <a:t>50</a:t>
            </a:fld>
            <a:endParaRPr lang="en-US" altLang="en-US" sz="1200"/>
          </a:p>
        </p:txBody>
      </p:sp>
      <p:sp>
        <p:nvSpPr>
          <p:cNvPr id="125955" name="Rectangle 2"/>
          <p:cNvSpPr>
            <a:spLocks noGrp="1" noRot="1" noChangeAspect="1" noChangeArrowheads="1" noTextEdit="1"/>
          </p:cNvSpPr>
          <p:nvPr>
            <p:ph type="sldImg"/>
          </p:nvPr>
        </p:nvSpPr>
        <p:spPr>
          <a:xfrm>
            <a:off x="1177925" y="695325"/>
            <a:ext cx="4641850" cy="3481388"/>
          </a:xfrm>
          <a:ln/>
        </p:spPr>
      </p:sp>
      <p:sp>
        <p:nvSpPr>
          <p:cNvPr id="12595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47733822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9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D954D0A1-F669-443E-ADD7-EBEE7996BBA6}" type="slidenum">
              <a:rPr lang="en-US" altLang="en-US" sz="1200"/>
              <a:pPr/>
              <a:t>51</a:t>
            </a:fld>
            <a:endParaRPr lang="en-US" altLang="en-US" sz="1200"/>
          </a:p>
        </p:txBody>
      </p:sp>
      <p:sp>
        <p:nvSpPr>
          <p:cNvPr id="126979" name="Rectangle 2"/>
          <p:cNvSpPr>
            <a:spLocks noGrp="1" noRot="1" noChangeAspect="1" noChangeArrowheads="1" noTextEdit="1"/>
          </p:cNvSpPr>
          <p:nvPr>
            <p:ph type="sldImg"/>
          </p:nvPr>
        </p:nvSpPr>
        <p:spPr>
          <a:xfrm>
            <a:off x="1177925" y="695325"/>
            <a:ext cx="4641850" cy="3481388"/>
          </a:xfrm>
          <a:ln/>
        </p:spPr>
      </p:sp>
      <p:sp>
        <p:nvSpPr>
          <p:cNvPr id="12698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56658958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2E019-C1BF-F73A-2184-55D080BC3F73}"/>
            </a:ext>
          </a:extLst>
        </p:cNvPr>
        <p:cNvGrpSpPr/>
        <p:nvPr/>
      </p:nvGrpSpPr>
      <p:grpSpPr>
        <a:xfrm>
          <a:off x="0" y="0"/>
          <a:ext cx="0" cy="0"/>
          <a:chOff x="0" y="0"/>
          <a:chExt cx="0" cy="0"/>
        </a:xfrm>
      </p:grpSpPr>
      <p:sp>
        <p:nvSpPr>
          <p:cNvPr id="126978" name="Rectangle 7">
            <a:extLst>
              <a:ext uri="{FF2B5EF4-FFF2-40B4-BE49-F238E27FC236}">
                <a16:creationId xmlns:a16="http://schemas.microsoft.com/office/drawing/2014/main" id="{3513CD11-9CF0-1EF5-228B-7B91B257767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D954D0A1-F669-443E-ADD7-EBEE7996BBA6}" type="slidenum">
              <a:rPr lang="en-US" altLang="en-US" sz="1200"/>
              <a:pPr/>
              <a:t>52</a:t>
            </a:fld>
            <a:endParaRPr lang="en-US" altLang="en-US" sz="1200"/>
          </a:p>
        </p:txBody>
      </p:sp>
      <p:sp>
        <p:nvSpPr>
          <p:cNvPr id="126979" name="Rectangle 2">
            <a:extLst>
              <a:ext uri="{FF2B5EF4-FFF2-40B4-BE49-F238E27FC236}">
                <a16:creationId xmlns:a16="http://schemas.microsoft.com/office/drawing/2014/main" id="{1ED1315A-84CB-C073-43F2-8EA9CA50D852}"/>
              </a:ext>
            </a:extLst>
          </p:cNvPr>
          <p:cNvSpPr>
            <a:spLocks noGrp="1" noRot="1" noChangeAspect="1" noChangeArrowheads="1" noTextEdit="1"/>
          </p:cNvSpPr>
          <p:nvPr>
            <p:ph type="sldImg"/>
          </p:nvPr>
        </p:nvSpPr>
        <p:spPr>
          <a:xfrm>
            <a:off x="1177925" y="695325"/>
            <a:ext cx="4641850" cy="3481388"/>
          </a:xfrm>
          <a:ln/>
        </p:spPr>
      </p:sp>
      <p:sp>
        <p:nvSpPr>
          <p:cNvPr id="126980" name="Rectangle 3">
            <a:extLst>
              <a:ext uri="{FF2B5EF4-FFF2-40B4-BE49-F238E27FC236}">
                <a16:creationId xmlns:a16="http://schemas.microsoft.com/office/drawing/2014/main" id="{E8421CDF-EEEA-92B8-6E5E-1A33B356C06C}"/>
              </a:ext>
            </a:extLst>
          </p:cNvPr>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8797166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A735D-EE83-8A76-D42D-476C6FE02C7A}"/>
            </a:ext>
          </a:extLst>
        </p:cNvPr>
        <p:cNvGrpSpPr/>
        <p:nvPr/>
      </p:nvGrpSpPr>
      <p:grpSpPr>
        <a:xfrm>
          <a:off x="0" y="0"/>
          <a:ext cx="0" cy="0"/>
          <a:chOff x="0" y="0"/>
          <a:chExt cx="0" cy="0"/>
        </a:xfrm>
      </p:grpSpPr>
      <p:sp>
        <p:nvSpPr>
          <p:cNvPr id="126978" name="Rectangle 7">
            <a:extLst>
              <a:ext uri="{FF2B5EF4-FFF2-40B4-BE49-F238E27FC236}">
                <a16:creationId xmlns:a16="http://schemas.microsoft.com/office/drawing/2014/main" id="{D5B80192-7328-08B2-906B-3582D45BC8D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D954D0A1-F669-443E-ADD7-EBEE7996BBA6}" type="slidenum">
              <a:rPr lang="en-US" altLang="en-US" sz="1200"/>
              <a:pPr/>
              <a:t>53</a:t>
            </a:fld>
            <a:endParaRPr lang="en-US" altLang="en-US" sz="1200"/>
          </a:p>
        </p:txBody>
      </p:sp>
      <p:sp>
        <p:nvSpPr>
          <p:cNvPr id="126979" name="Rectangle 2">
            <a:extLst>
              <a:ext uri="{FF2B5EF4-FFF2-40B4-BE49-F238E27FC236}">
                <a16:creationId xmlns:a16="http://schemas.microsoft.com/office/drawing/2014/main" id="{1419E125-47B3-500F-2B02-DAFFBC2B7159}"/>
              </a:ext>
            </a:extLst>
          </p:cNvPr>
          <p:cNvSpPr>
            <a:spLocks noGrp="1" noRot="1" noChangeAspect="1" noChangeArrowheads="1" noTextEdit="1"/>
          </p:cNvSpPr>
          <p:nvPr>
            <p:ph type="sldImg"/>
          </p:nvPr>
        </p:nvSpPr>
        <p:spPr>
          <a:xfrm>
            <a:off x="1177925" y="695325"/>
            <a:ext cx="4641850" cy="3481388"/>
          </a:xfrm>
          <a:ln/>
        </p:spPr>
      </p:sp>
      <p:sp>
        <p:nvSpPr>
          <p:cNvPr id="126980" name="Rectangle 3">
            <a:extLst>
              <a:ext uri="{FF2B5EF4-FFF2-40B4-BE49-F238E27FC236}">
                <a16:creationId xmlns:a16="http://schemas.microsoft.com/office/drawing/2014/main" id="{5A938C28-773D-A9E6-2031-1E50944AE712}"/>
              </a:ext>
            </a:extLst>
          </p:cNvPr>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30231040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5B27D1-32B3-78D2-81D6-99BB130CFAFF}"/>
            </a:ext>
          </a:extLst>
        </p:cNvPr>
        <p:cNvGrpSpPr/>
        <p:nvPr/>
      </p:nvGrpSpPr>
      <p:grpSpPr>
        <a:xfrm>
          <a:off x="0" y="0"/>
          <a:ext cx="0" cy="0"/>
          <a:chOff x="0" y="0"/>
          <a:chExt cx="0" cy="0"/>
        </a:xfrm>
      </p:grpSpPr>
      <p:sp>
        <p:nvSpPr>
          <p:cNvPr id="128002" name="Rectangle 7">
            <a:extLst>
              <a:ext uri="{FF2B5EF4-FFF2-40B4-BE49-F238E27FC236}">
                <a16:creationId xmlns:a16="http://schemas.microsoft.com/office/drawing/2014/main" id="{FFCAC568-1ACF-F6FD-5A85-DF75C9F4864A}"/>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9163">
              <a:defRPr sz="1600">
                <a:solidFill>
                  <a:schemeClr val="tx1"/>
                </a:solidFill>
                <a:latin typeface="Helvetica" panose="020B0604020202020204" pitchFamily="34" charset="0"/>
                <a:ea typeface="MS PGothic" panose="020B0600070205080204" pitchFamily="34" charset="-128"/>
              </a:defRPr>
            </a:lvl1pPr>
            <a:lvl2pPr marL="742950" indent="-285750" defTabSz="919163">
              <a:defRPr sz="1600">
                <a:solidFill>
                  <a:schemeClr val="tx1"/>
                </a:solidFill>
                <a:latin typeface="Helvetica" panose="020B0604020202020204" pitchFamily="34" charset="0"/>
                <a:ea typeface="MS PGothic" panose="020B0600070205080204" pitchFamily="34" charset="-128"/>
              </a:defRPr>
            </a:lvl2pPr>
            <a:lvl3pPr marL="1143000" indent="-228600" defTabSz="919163">
              <a:defRPr sz="1600">
                <a:solidFill>
                  <a:schemeClr val="tx1"/>
                </a:solidFill>
                <a:latin typeface="Helvetica" panose="020B0604020202020204" pitchFamily="34" charset="0"/>
                <a:ea typeface="MS PGothic" panose="020B0600070205080204" pitchFamily="34" charset="-128"/>
              </a:defRPr>
            </a:lvl3pPr>
            <a:lvl4pPr marL="1600200" indent="-228600" defTabSz="919163">
              <a:defRPr sz="1600">
                <a:solidFill>
                  <a:schemeClr val="tx1"/>
                </a:solidFill>
                <a:latin typeface="Helvetica" panose="020B0604020202020204" pitchFamily="34" charset="0"/>
                <a:ea typeface="MS PGothic" panose="020B0600070205080204" pitchFamily="34" charset="-128"/>
              </a:defRPr>
            </a:lvl4pPr>
            <a:lvl5pPr marL="2057400" indent="-228600" defTabSz="919163">
              <a:defRPr sz="1600">
                <a:solidFill>
                  <a:schemeClr val="tx1"/>
                </a:solidFill>
                <a:latin typeface="Helvetica" panose="020B0604020202020204" pitchFamily="34" charset="0"/>
                <a:ea typeface="MS PGothic" panose="020B0600070205080204" pitchFamily="34" charset="-128"/>
              </a:defRPr>
            </a:lvl5pPr>
            <a:lvl6pPr marL="25146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A4B0E9C-818B-4892-804B-8736909E539A}" type="slidenum">
              <a:rPr lang="en-US" altLang="en-US" sz="1200"/>
              <a:pPr/>
              <a:t>54</a:t>
            </a:fld>
            <a:endParaRPr lang="en-US" altLang="en-US" sz="1200"/>
          </a:p>
        </p:txBody>
      </p:sp>
      <p:sp>
        <p:nvSpPr>
          <p:cNvPr id="128003" name="Rectangle 2">
            <a:extLst>
              <a:ext uri="{FF2B5EF4-FFF2-40B4-BE49-F238E27FC236}">
                <a16:creationId xmlns:a16="http://schemas.microsoft.com/office/drawing/2014/main" id="{B1FAE4A4-4B85-9313-A3EC-0E12F6672870}"/>
              </a:ext>
            </a:extLst>
          </p:cNvPr>
          <p:cNvSpPr>
            <a:spLocks noGrp="1" noRot="1" noChangeAspect="1" noChangeArrowheads="1" noTextEdit="1"/>
          </p:cNvSpPr>
          <p:nvPr>
            <p:ph type="sldImg"/>
          </p:nvPr>
        </p:nvSpPr>
        <p:spPr>
          <a:xfrm>
            <a:off x="1177925" y="695325"/>
            <a:ext cx="4641850" cy="3481388"/>
          </a:xfrm>
          <a:ln/>
        </p:spPr>
      </p:sp>
      <p:sp>
        <p:nvSpPr>
          <p:cNvPr id="128004" name="Rectangle 3">
            <a:extLst>
              <a:ext uri="{FF2B5EF4-FFF2-40B4-BE49-F238E27FC236}">
                <a16:creationId xmlns:a16="http://schemas.microsoft.com/office/drawing/2014/main" id="{74757C51-2470-9112-C71F-BAE195D7FA55}"/>
              </a:ext>
            </a:extLst>
          </p:cNvPr>
          <p:cNvSpPr>
            <a:spLocks noGrp="1" noChangeArrowheads="1"/>
          </p:cNvSpPr>
          <p:nvPr>
            <p:ph type="body" idx="1"/>
          </p:nvPr>
        </p:nvSpPr>
        <p:spPr>
          <a:xfrm>
            <a:off x="933027" y="4410392"/>
            <a:ext cx="5131647"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92843015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4CAE6A-B4F4-7B6A-18F3-7B1A84BFBBE9}"/>
            </a:ext>
          </a:extLst>
        </p:cNvPr>
        <p:cNvGrpSpPr/>
        <p:nvPr/>
      </p:nvGrpSpPr>
      <p:grpSpPr>
        <a:xfrm>
          <a:off x="0" y="0"/>
          <a:ext cx="0" cy="0"/>
          <a:chOff x="0" y="0"/>
          <a:chExt cx="0" cy="0"/>
        </a:xfrm>
      </p:grpSpPr>
      <p:sp>
        <p:nvSpPr>
          <p:cNvPr id="128002" name="Rectangle 7">
            <a:extLst>
              <a:ext uri="{FF2B5EF4-FFF2-40B4-BE49-F238E27FC236}">
                <a16:creationId xmlns:a16="http://schemas.microsoft.com/office/drawing/2014/main" id="{38C37D98-CFE6-3E18-C019-2B181AF76A1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9163">
              <a:defRPr sz="1600">
                <a:solidFill>
                  <a:schemeClr val="tx1"/>
                </a:solidFill>
                <a:latin typeface="Helvetica" panose="020B0604020202020204" pitchFamily="34" charset="0"/>
                <a:ea typeface="MS PGothic" panose="020B0600070205080204" pitchFamily="34" charset="-128"/>
              </a:defRPr>
            </a:lvl1pPr>
            <a:lvl2pPr marL="742950" indent="-285750" defTabSz="919163">
              <a:defRPr sz="1600">
                <a:solidFill>
                  <a:schemeClr val="tx1"/>
                </a:solidFill>
                <a:latin typeface="Helvetica" panose="020B0604020202020204" pitchFamily="34" charset="0"/>
                <a:ea typeface="MS PGothic" panose="020B0600070205080204" pitchFamily="34" charset="-128"/>
              </a:defRPr>
            </a:lvl2pPr>
            <a:lvl3pPr marL="1143000" indent="-228600" defTabSz="919163">
              <a:defRPr sz="1600">
                <a:solidFill>
                  <a:schemeClr val="tx1"/>
                </a:solidFill>
                <a:latin typeface="Helvetica" panose="020B0604020202020204" pitchFamily="34" charset="0"/>
                <a:ea typeface="MS PGothic" panose="020B0600070205080204" pitchFamily="34" charset="-128"/>
              </a:defRPr>
            </a:lvl3pPr>
            <a:lvl4pPr marL="1600200" indent="-228600" defTabSz="919163">
              <a:defRPr sz="1600">
                <a:solidFill>
                  <a:schemeClr val="tx1"/>
                </a:solidFill>
                <a:latin typeface="Helvetica" panose="020B0604020202020204" pitchFamily="34" charset="0"/>
                <a:ea typeface="MS PGothic" panose="020B0600070205080204" pitchFamily="34" charset="-128"/>
              </a:defRPr>
            </a:lvl4pPr>
            <a:lvl5pPr marL="2057400" indent="-228600" defTabSz="919163">
              <a:defRPr sz="1600">
                <a:solidFill>
                  <a:schemeClr val="tx1"/>
                </a:solidFill>
                <a:latin typeface="Helvetica" panose="020B0604020202020204" pitchFamily="34" charset="0"/>
                <a:ea typeface="MS PGothic" panose="020B0600070205080204" pitchFamily="34" charset="-128"/>
              </a:defRPr>
            </a:lvl5pPr>
            <a:lvl6pPr marL="25146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A4B0E9C-818B-4892-804B-8736909E539A}" type="slidenum">
              <a:rPr lang="en-US" altLang="en-US" sz="1200"/>
              <a:pPr/>
              <a:t>55</a:t>
            </a:fld>
            <a:endParaRPr lang="en-US" altLang="en-US" sz="1200"/>
          </a:p>
        </p:txBody>
      </p:sp>
      <p:sp>
        <p:nvSpPr>
          <p:cNvPr id="128003" name="Rectangle 2">
            <a:extLst>
              <a:ext uri="{FF2B5EF4-FFF2-40B4-BE49-F238E27FC236}">
                <a16:creationId xmlns:a16="http://schemas.microsoft.com/office/drawing/2014/main" id="{73FDF1B3-3115-7AB8-166F-AC411997170B}"/>
              </a:ext>
            </a:extLst>
          </p:cNvPr>
          <p:cNvSpPr>
            <a:spLocks noGrp="1" noRot="1" noChangeAspect="1" noChangeArrowheads="1" noTextEdit="1"/>
          </p:cNvSpPr>
          <p:nvPr>
            <p:ph type="sldImg"/>
          </p:nvPr>
        </p:nvSpPr>
        <p:spPr>
          <a:xfrm>
            <a:off x="1177925" y="695325"/>
            <a:ext cx="4641850" cy="3481388"/>
          </a:xfrm>
          <a:ln/>
        </p:spPr>
      </p:sp>
      <p:sp>
        <p:nvSpPr>
          <p:cNvPr id="128004" name="Rectangle 3">
            <a:extLst>
              <a:ext uri="{FF2B5EF4-FFF2-40B4-BE49-F238E27FC236}">
                <a16:creationId xmlns:a16="http://schemas.microsoft.com/office/drawing/2014/main" id="{2390A3EB-D259-4B93-3A00-63B9F92C3F34}"/>
              </a:ext>
            </a:extLst>
          </p:cNvPr>
          <p:cNvSpPr>
            <a:spLocks noGrp="1" noChangeArrowheads="1"/>
          </p:cNvSpPr>
          <p:nvPr>
            <p:ph type="body" idx="1"/>
          </p:nvPr>
        </p:nvSpPr>
        <p:spPr>
          <a:xfrm>
            <a:off x="933027" y="4410392"/>
            <a:ext cx="5131647"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74795056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0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2205F84-2065-4332-B0FA-E582A1DD7231}" type="slidenum">
              <a:rPr lang="en-US" altLang="en-US" sz="1200"/>
              <a:pPr/>
              <a:t>56</a:t>
            </a:fld>
            <a:endParaRPr lang="en-US" altLang="en-US" sz="1200"/>
          </a:p>
        </p:txBody>
      </p:sp>
      <p:sp>
        <p:nvSpPr>
          <p:cNvPr id="129027" name="Rectangle 2"/>
          <p:cNvSpPr>
            <a:spLocks noGrp="1" noRot="1" noChangeAspect="1" noChangeArrowheads="1" noTextEdit="1"/>
          </p:cNvSpPr>
          <p:nvPr>
            <p:ph type="sldImg"/>
          </p:nvPr>
        </p:nvSpPr>
        <p:spPr>
          <a:xfrm>
            <a:off x="1177925" y="695325"/>
            <a:ext cx="4641850" cy="3481388"/>
          </a:xfrm>
          <a:ln/>
        </p:spPr>
      </p:sp>
      <p:sp>
        <p:nvSpPr>
          <p:cNvPr id="12902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r" rtl="1"/>
            <a:r>
              <a:rPr lang="fa-IR" dirty="0"/>
              <a:t>آزمایش محدودیت‌های وابستگی تابعی هر بار که پایگاه داده به‌روزرسانی می‌شود، می‌تواند هزینه‌بر باشد.</a:t>
            </a:r>
            <a:br>
              <a:rPr lang="fa-IR" dirty="0"/>
            </a:br>
            <a:r>
              <a:rPr lang="fa-IR" dirty="0"/>
              <a:t>بنابراین طراحی پایگاه داده به گونه‌ای که این محدودیت‌ها به‌صورت کارآمد آزمایش شوند، مفید است.</a:t>
            </a:r>
          </a:p>
          <a:p>
            <a:pPr algn="r" rtl="1"/>
            <a:r>
              <a:rPr lang="fa-IR" dirty="0"/>
              <a:t>اگر آزمایش یک وابستگی تابعی تنها با در نظر گرفتن یک رابطه قابل انجام باشد، هزینه آزمایش این محدودیت پایین خواهد بود.</a:t>
            </a:r>
          </a:p>
          <a:p>
            <a:pPr algn="r" rtl="1"/>
            <a:r>
              <a:rPr lang="fa-IR" dirty="0"/>
              <a:t>هنگام تجزیه یک رابطه، ممکن است شرایطی به وجود آید که آزمایش وابستگی تابعی بدون انجام عمل ضرب دکارتی امکان‌پذیر نباشد.</a:t>
            </a:r>
          </a:p>
          <a:p>
            <a:pPr algn="r" rtl="1"/>
            <a:r>
              <a:rPr lang="fa-IR" dirty="0"/>
              <a:t>یک تجزیه که اجرای وابستگی تابعی را از نظر محاسباتی دشوار می‌سازد، به عنوان "حفظ‌کننده وابستگی </a:t>
            </a:r>
            <a:r>
              <a:rPr lang="fa-IR" i="1" dirty="0"/>
              <a:t>نیست</a:t>
            </a:r>
            <a:r>
              <a:rPr lang="fa-IR" dirty="0"/>
              <a:t>" شناخته می‌شود.</a:t>
            </a:r>
          </a:p>
          <a:p>
            <a:pPr algn="r" rtl="1"/>
            <a:endParaRPr lang="en-US" altLang="en-US" dirty="0">
              <a:latin typeface="Times New Roman" panose="02020603050405020304" pitchFamily="18" charset="0"/>
            </a:endParaRPr>
          </a:p>
        </p:txBody>
      </p:sp>
    </p:spTree>
    <p:extLst>
      <p:ext uri="{BB962C8B-B14F-4D97-AF65-F5344CB8AC3E}">
        <p14:creationId xmlns:p14="http://schemas.microsoft.com/office/powerpoint/2010/main" val="85732827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AA862FF-AA55-4048-85C2-DAA9D3A35A69}" type="slidenum">
              <a:rPr lang="en-US" altLang="en-US" sz="1200"/>
              <a:pPr/>
              <a:t>57</a:t>
            </a:fld>
            <a:endParaRPr lang="en-US" altLang="en-US" sz="1200"/>
          </a:p>
        </p:txBody>
      </p:sp>
      <p:sp>
        <p:nvSpPr>
          <p:cNvPr id="130051" name="Rectangle 2"/>
          <p:cNvSpPr>
            <a:spLocks noGrp="1" noRot="1" noChangeAspect="1" noChangeArrowheads="1" noTextEdit="1"/>
          </p:cNvSpPr>
          <p:nvPr>
            <p:ph type="sldImg"/>
          </p:nvPr>
        </p:nvSpPr>
        <p:spPr>
          <a:xfrm>
            <a:off x="1177925" y="695325"/>
            <a:ext cx="4641850" cy="3481388"/>
          </a:xfrm>
          <a:ln/>
        </p:spPr>
      </p:sp>
      <p:sp>
        <p:nvSpPr>
          <p:cNvPr id="13005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409031300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82C79F51-599B-4731-9C05-59A4A5345ABF}" type="slidenum">
              <a:rPr lang="en-US" altLang="en-US" sz="1200"/>
              <a:pPr/>
              <a:t>58</a:t>
            </a:fld>
            <a:endParaRPr lang="en-US" altLang="en-US" sz="1200"/>
          </a:p>
        </p:txBody>
      </p:sp>
      <p:sp>
        <p:nvSpPr>
          <p:cNvPr id="131075" name="Rectangle 2"/>
          <p:cNvSpPr>
            <a:spLocks noGrp="1" noRot="1" noChangeAspect="1" noChangeArrowheads="1" noTextEdit="1"/>
          </p:cNvSpPr>
          <p:nvPr>
            <p:ph type="sldImg"/>
          </p:nvPr>
        </p:nvSpPr>
        <p:spPr>
          <a:xfrm>
            <a:off x="1177925" y="695325"/>
            <a:ext cx="4641850" cy="3481388"/>
          </a:xfrm>
          <a:ln/>
        </p:spPr>
      </p:sp>
      <p:sp>
        <p:nvSpPr>
          <p:cNvPr id="13107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7182561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B29A2-3D7E-0E10-DD26-D7492738BB6C}"/>
            </a:ext>
          </a:extLst>
        </p:cNvPr>
        <p:cNvGrpSpPr/>
        <p:nvPr/>
      </p:nvGrpSpPr>
      <p:grpSpPr>
        <a:xfrm>
          <a:off x="0" y="0"/>
          <a:ext cx="0" cy="0"/>
          <a:chOff x="0" y="0"/>
          <a:chExt cx="0" cy="0"/>
        </a:xfrm>
      </p:grpSpPr>
      <p:sp>
        <p:nvSpPr>
          <p:cNvPr id="132098" name="Rectangle 7">
            <a:extLst>
              <a:ext uri="{FF2B5EF4-FFF2-40B4-BE49-F238E27FC236}">
                <a16:creationId xmlns:a16="http://schemas.microsoft.com/office/drawing/2014/main" id="{257A8172-FEC4-E002-0A5F-7D64D9CB4FC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2AFCC4C7-9321-4F85-AC15-C96C02999C1E}" type="slidenum">
              <a:rPr lang="en-US" altLang="en-US" sz="1200"/>
              <a:pPr/>
              <a:t>59</a:t>
            </a:fld>
            <a:endParaRPr lang="en-US" altLang="en-US" sz="1200"/>
          </a:p>
        </p:txBody>
      </p:sp>
      <p:sp>
        <p:nvSpPr>
          <p:cNvPr id="132099" name="Rectangle 2">
            <a:extLst>
              <a:ext uri="{FF2B5EF4-FFF2-40B4-BE49-F238E27FC236}">
                <a16:creationId xmlns:a16="http://schemas.microsoft.com/office/drawing/2014/main" id="{D5C5FAD2-DB94-DBF2-32DC-C50752B13D04}"/>
              </a:ext>
            </a:extLst>
          </p:cNvPr>
          <p:cNvSpPr>
            <a:spLocks noGrp="1" noRot="1" noChangeAspect="1" noChangeArrowheads="1" noTextEdit="1"/>
          </p:cNvSpPr>
          <p:nvPr>
            <p:ph type="sldImg"/>
          </p:nvPr>
        </p:nvSpPr>
        <p:spPr>
          <a:xfrm>
            <a:off x="1177925" y="695325"/>
            <a:ext cx="4641850" cy="3481388"/>
          </a:xfrm>
          <a:ln/>
        </p:spPr>
      </p:sp>
      <p:sp>
        <p:nvSpPr>
          <p:cNvPr id="132100" name="Rectangle 3">
            <a:extLst>
              <a:ext uri="{FF2B5EF4-FFF2-40B4-BE49-F238E27FC236}">
                <a16:creationId xmlns:a16="http://schemas.microsoft.com/office/drawing/2014/main" id="{74CA00EB-43D9-6229-528D-61BD6FC36260}"/>
              </a:ext>
            </a:extLst>
          </p:cNvPr>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82092120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2AFCC4C7-9321-4F85-AC15-C96C02999C1E}" type="slidenum">
              <a:rPr lang="en-US" altLang="en-US" sz="1200"/>
              <a:pPr/>
              <a:t>60</a:t>
            </a:fld>
            <a:endParaRPr lang="en-US" altLang="en-US" sz="1200"/>
          </a:p>
        </p:txBody>
      </p:sp>
      <p:sp>
        <p:nvSpPr>
          <p:cNvPr id="132099" name="Rectangle 2"/>
          <p:cNvSpPr>
            <a:spLocks noGrp="1" noRot="1" noChangeAspect="1" noChangeArrowheads="1" noTextEdit="1"/>
          </p:cNvSpPr>
          <p:nvPr>
            <p:ph type="sldImg"/>
          </p:nvPr>
        </p:nvSpPr>
        <p:spPr>
          <a:xfrm>
            <a:off x="1177925" y="695325"/>
            <a:ext cx="4641850" cy="3481388"/>
          </a:xfrm>
          <a:ln/>
        </p:spPr>
      </p:sp>
      <p:sp>
        <p:nvSpPr>
          <p:cNvPr id="13210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68377824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EF539C29-DF58-4677-B4D9-0CC127174E2D}" type="slidenum">
              <a:rPr lang="en-US" altLang="en-US" sz="1200"/>
              <a:pPr/>
              <a:t>61</a:t>
            </a:fld>
            <a:endParaRPr lang="en-US" altLang="en-US" sz="1200"/>
          </a:p>
        </p:txBody>
      </p:sp>
      <p:sp>
        <p:nvSpPr>
          <p:cNvPr id="133123" name="Rectangle 2"/>
          <p:cNvSpPr>
            <a:spLocks noGrp="1" noRot="1" noChangeAspect="1" noChangeArrowheads="1" noTextEdit="1"/>
          </p:cNvSpPr>
          <p:nvPr>
            <p:ph type="sldImg"/>
          </p:nvPr>
        </p:nvSpPr>
        <p:spPr>
          <a:xfrm>
            <a:off x="1177925" y="695325"/>
            <a:ext cx="4641850" cy="3481388"/>
          </a:xfrm>
          <a:ln/>
        </p:spPr>
      </p:sp>
      <p:sp>
        <p:nvSpPr>
          <p:cNvPr id="13312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75713968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62CACEA-96F7-41D9-A638-F44E853DC1F9}" type="slidenum">
              <a:rPr lang="en-US" altLang="en-US" sz="1200"/>
              <a:pPr/>
              <a:t>62</a:t>
            </a:fld>
            <a:endParaRPr lang="en-US" altLang="en-US" sz="1200"/>
          </a:p>
        </p:txBody>
      </p:sp>
      <p:sp>
        <p:nvSpPr>
          <p:cNvPr id="134147" name="Rectangle 2"/>
          <p:cNvSpPr>
            <a:spLocks noGrp="1" noRot="1" noChangeAspect="1" noChangeArrowheads="1" noTextEdit="1"/>
          </p:cNvSpPr>
          <p:nvPr>
            <p:ph type="sldImg"/>
          </p:nvPr>
        </p:nvSpPr>
        <p:spPr>
          <a:xfrm>
            <a:off x="1177925" y="695325"/>
            <a:ext cx="4641850" cy="3481388"/>
          </a:xfrm>
          <a:ln/>
        </p:spPr>
      </p:sp>
      <p:sp>
        <p:nvSpPr>
          <p:cNvPr id="13414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43570738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9163">
              <a:defRPr sz="1600">
                <a:solidFill>
                  <a:schemeClr val="tx1"/>
                </a:solidFill>
                <a:latin typeface="Helvetica" panose="020B0604020202020204" pitchFamily="34" charset="0"/>
                <a:ea typeface="MS PGothic" panose="020B0600070205080204" pitchFamily="34" charset="-128"/>
              </a:defRPr>
            </a:lvl1pPr>
            <a:lvl2pPr marL="742950" indent="-285750" defTabSz="919163">
              <a:defRPr sz="1600">
                <a:solidFill>
                  <a:schemeClr val="tx1"/>
                </a:solidFill>
                <a:latin typeface="Helvetica" panose="020B0604020202020204" pitchFamily="34" charset="0"/>
                <a:ea typeface="MS PGothic" panose="020B0600070205080204" pitchFamily="34" charset="-128"/>
              </a:defRPr>
            </a:lvl2pPr>
            <a:lvl3pPr marL="1143000" indent="-228600" defTabSz="919163">
              <a:defRPr sz="1600">
                <a:solidFill>
                  <a:schemeClr val="tx1"/>
                </a:solidFill>
                <a:latin typeface="Helvetica" panose="020B0604020202020204" pitchFamily="34" charset="0"/>
                <a:ea typeface="MS PGothic" panose="020B0600070205080204" pitchFamily="34" charset="-128"/>
              </a:defRPr>
            </a:lvl3pPr>
            <a:lvl4pPr marL="1600200" indent="-228600" defTabSz="919163">
              <a:defRPr sz="1600">
                <a:solidFill>
                  <a:schemeClr val="tx1"/>
                </a:solidFill>
                <a:latin typeface="Helvetica" panose="020B0604020202020204" pitchFamily="34" charset="0"/>
                <a:ea typeface="MS PGothic" panose="020B0600070205080204" pitchFamily="34" charset="-128"/>
              </a:defRPr>
            </a:lvl4pPr>
            <a:lvl5pPr marL="2057400" indent="-228600" defTabSz="919163">
              <a:defRPr sz="1600">
                <a:solidFill>
                  <a:schemeClr val="tx1"/>
                </a:solidFill>
                <a:latin typeface="Helvetica" panose="020B0604020202020204" pitchFamily="34" charset="0"/>
                <a:ea typeface="MS PGothic" panose="020B0600070205080204" pitchFamily="34" charset="-128"/>
              </a:defRPr>
            </a:lvl5pPr>
            <a:lvl6pPr marL="25146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2678A41-D873-4EFC-8823-1C9E9A3093FE}" type="slidenum">
              <a:rPr lang="en-US" altLang="en-US" sz="1200"/>
              <a:pPr/>
              <a:t>63</a:t>
            </a:fld>
            <a:endParaRPr lang="en-US" altLang="en-US" sz="1200"/>
          </a:p>
        </p:txBody>
      </p:sp>
      <p:sp>
        <p:nvSpPr>
          <p:cNvPr id="135171" name="Rectangle 2"/>
          <p:cNvSpPr>
            <a:spLocks noGrp="1" noRot="1" noChangeAspect="1" noChangeArrowheads="1" noTextEdit="1"/>
          </p:cNvSpPr>
          <p:nvPr>
            <p:ph type="sldImg"/>
          </p:nvPr>
        </p:nvSpPr>
        <p:spPr>
          <a:xfrm>
            <a:off x="1177925" y="695325"/>
            <a:ext cx="4641850" cy="3481388"/>
          </a:xfrm>
          <a:ln/>
        </p:spPr>
      </p:sp>
      <p:sp>
        <p:nvSpPr>
          <p:cNvPr id="135172" name="Rectangle 3"/>
          <p:cNvSpPr>
            <a:spLocks noGrp="1" noChangeArrowheads="1"/>
          </p:cNvSpPr>
          <p:nvPr>
            <p:ph type="body" idx="1"/>
          </p:nvPr>
        </p:nvSpPr>
        <p:spPr>
          <a:xfrm>
            <a:off x="933027" y="4410392"/>
            <a:ext cx="5131647"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94738945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BFD89D-F431-46AD-4FDA-F974D46B0C5C}"/>
            </a:ext>
          </a:extLst>
        </p:cNvPr>
        <p:cNvGrpSpPr/>
        <p:nvPr/>
      </p:nvGrpSpPr>
      <p:grpSpPr>
        <a:xfrm>
          <a:off x="0" y="0"/>
          <a:ext cx="0" cy="0"/>
          <a:chOff x="0" y="0"/>
          <a:chExt cx="0" cy="0"/>
        </a:xfrm>
      </p:grpSpPr>
      <p:sp>
        <p:nvSpPr>
          <p:cNvPr id="135170" name="Rectangle 7">
            <a:extLst>
              <a:ext uri="{FF2B5EF4-FFF2-40B4-BE49-F238E27FC236}">
                <a16:creationId xmlns:a16="http://schemas.microsoft.com/office/drawing/2014/main" id="{B6877DB2-D8B9-285E-63DB-E63C9B44BD55}"/>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9163">
              <a:defRPr sz="1600">
                <a:solidFill>
                  <a:schemeClr val="tx1"/>
                </a:solidFill>
                <a:latin typeface="Helvetica" panose="020B0604020202020204" pitchFamily="34" charset="0"/>
                <a:ea typeface="MS PGothic" panose="020B0600070205080204" pitchFamily="34" charset="-128"/>
              </a:defRPr>
            </a:lvl1pPr>
            <a:lvl2pPr marL="742950" indent="-285750" defTabSz="919163">
              <a:defRPr sz="1600">
                <a:solidFill>
                  <a:schemeClr val="tx1"/>
                </a:solidFill>
                <a:latin typeface="Helvetica" panose="020B0604020202020204" pitchFamily="34" charset="0"/>
                <a:ea typeface="MS PGothic" panose="020B0600070205080204" pitchFamily="34" charset="-128"/>
              </a:defRPr>
            </a:lvl2pPr>
            <a:lvl3pPr marL="1143000" indent="-228600" defTabSz="919163">
              <a:defRPr sz="1600">
                <a:solidFill>
                  <a:schemeClr val="tx1"/>
                </a:solidFill>
                <a:latin typeface="Helvetica" panose="020B0604020202020204" pitchFamily="34" charset="0"/>
                <a:ea typeface="MS PGothic" panose="020B0600070205080204" pitchFamily="34" charset="-128"/>
              </a:defRPr>
            </a:lvl3pPr>
            <a:lvl4pPr marL="1600200" indent="-228600" defTabSz="919163">
              <a:defRPr sz="1600">
                <a:solidFill>
                  <a:schemeClr val="tx1"/>
                </a:solidFill>
                <a:latin typeface="Helvetica" panose="020B0604020202020204" pitchFamily="34" charset="0"/>
                <a:ea typeface="MS PGothic" panose="020B0600070205080204" pitchFamily="34" charset="-128"/>
              </a:defRPr>
            </a:lvl4pPr>
            <a:lvl5pPr marL="2057400" indent="-228600" defTabSz="919163">
              <a:defRPr sz="1600">
                <a:solidFill>
                  <a:schemeClr val="tx1"/>
                </a:solidFill>
                <a:latin typeface="Helvetica" panose="020B0604020202020204" pitchFamily="34" charset="0"/>
                <a:ea typeface="MS PGothic" panose="020B0600070205080204" pitchFamily="34" charset="-128"/>
              </a:defRPr>
            </a:lvl5pPr>
            <a:lvl6pPr marL="25146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2678A41-D873-4EFC-8823-1C9E9A3093FE}" type="slidenum">
              <a:rPr lang="en-US" altLang="en-US" sz="1200"/>
              <a:pPr/>
              <a:t>64</a:t>
            </a:fld>
            <a:endParaRPr lang="en-US" altLang="en-US" sz="1200"/>
          </a:p>
        </p:txBody>
      </p:sp>
      <p:sp>
        <p:nvSpPr>
          <p:cNvPr id="135171" name="Rectangle 2">
            <a:extLst>
              <a:ext uri="{FF2B5EF4-FFF2-40B4-BE49-F238E27FC236}">
                <a16:creationId xmlns:a16="http://schemas.microsoft.com/office/drawing/2014/main" id="{E19EBD42-C26E-F90F-3009-0FC906ECFDAC}"/>
              </a:ext>
            </a:extLst>
          </p:cNvPr>
          <p:cNvSpPr>
            <a:spLocks noGrp="1" noRot="1" noChangeAspect="1" noChangeArrowheads="1" noTextEdit="1"/>
          </p:cNvSpPr>
          <p:nvPr>
            <p:ph type="sldImg"/>
          </p:nvPr>
        </p:nvSpPr>
        <p:spPr>
          <a:xfrm>
            <a:off x="1177925" y="695325"/>
            <a:ext cx="4641850" cy="3481388"/>
          </a:xfrm>
          <a:ln/>
        </p:spPr>
      </p:sp>
      <p:sp>
        <p:nvSpPr>
          <p:cNvPr id="135172" name="Rectangle 3">
            <a:extLst>
              <a:ext uri="{FF2B5EF4-FFF2-40B4-BE49-F238E27FC236}">
                <a16:creationId xmlns:a16="http://schemas.microsoft.com/office/drawing/2014/main" id="{42099B97-1832-A905-01AF-A8DE1A9078B1}"/>
              </a:ext>
            </a:extLst>
          </p:cNvPr>
          <p:cNvSpPr>
            <a:spLocks noGrp="1" noChangeArrowheads="1"/>
          </p:cNvSpPr>
          <p:nvPr>
            <p:ph type="body" idx="1"/>
          </p:nvPr>
        </p:nvSpPr>
        <p:spPr>
          <a:xfrm>
            <a:off x="933027" y="4410392"/>
            <a:ext cx="5131647"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21603852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DC5A6-3124-6CFC-F17D-874216FFD17A}"/>
            </a:ext>
          </a:extLst>
        </p:cNvPr>
        <p:cNvGrpSpPr/>
        <p:nvPr/>
      </p:nvGrpSpPr>
      <p:grpSpPr>
        <a:xfrm>
          <a:off x="0" y="0"/>
          <a:ext cx="0" cy="0"/>
          <a:chOff x="0" y="0"/>
          <a:chExt cx="0" cy="0"/>
        </a:xfrm>
      </p:grpSpPr>
      <p:sp>
        <p:nvSpPr>
          <p:cNvPr id="135170" name="Rectangle 7">
            <a:extLst>
              <a:ext uri="{FF2B5EF4-FFF2-40B4-BE49-F238E27FC236}">
                <a16:creationId xmlns:a16="http://schemas.microsoft.com/office/drawing/2014/main" id="{2A2EA257-3012-4FA6-E9C4-92232446D22F}"/>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9163">
              <a:defRPr sz="1600">
                <a:solidFill>
                  <a:schemeClr val="tx1"/>
                </a:solidFill>
                <a:latin typeface="Helvetica" panose="020B0604020202020204" pitchFamily="34" charset="0"/>
                <a:ea typeface="MS PGothic" panose="020B0600070205080204" pitchFamily="34" charset="-128"/>
              </a:defRPr>
            </a:lvl1pPr>
            <a:lvl2pPr marL="742950" indent="-285750" defTabSz="919163">
              <a:defRPr sz="1600">
                <a:solidFill>
                  <a:schemeClr val="tx1"/>
                </a:solidFill>
                <a:latin typeface="Helvetica" panose="020B0604020202020204" pitchFamily="34" charset="0"/>
                <a:ea typeface="MS PGothic" panose="020B0600070205080204" pitchFamily="34" charset="-128"/>
              </a:defRPr>
            </a:lvl2pPr>
            <a:lvl3pPr marL="1143000" indent="-228600" defTabSz="919163">
              <a:defRPr sz="1600">
                <a:solidFill>
                  <a:schemeClr val="tx1"/>
                </a:solidFill>
                <a:latin typeface="Helvetica" panose="020B0604020202020204" pitchFamily="34" charset="0"/>
                <a:ea typeface="MS PGothic" panose="020B0600070205080204" pitchFamily="34" charset="-128"/>
              </a:defRPr>
            </a:lvl3pPr>
            <a:lvl4pPr marL="1600200" indent="-228600" defTabSz="919163">
              <a:defRPr sz="1600">
                <a:solidFill>
                  <a:schemeClr val="tx1"/>
                </a:solidFill>
                <a:latin typeface="Helvetica" panose="020B0604020202020204" pitchFamily="34" charset="0"/>
                <a:ea typeface="MS PGothic" panose="020B0600070205080204" pitchFamily="34" charset="-128"/>
              </a:defRPr>
            </a:lvl4pPr>
            <a:lvl5pPr marL="2057400" indent="-228600" defTabSz="919163">
              <a:defRPr sz="1600">
                <a:solidFill>
                  <a:schemeClr val="tx1"/>
                </a:solidFill>
                <a:latin typeface="Helvetica" panose="020B0604020202020204" pitchFamily="34" charset="0"/>
                <a:ea typeface="MS PGothic" panose="020B0600070205080204" pitchFamily="34" charset="-128"/>
              </a:defRPr>
            </a:lvl5pPr>
            <a:lvl6pPr marL="25146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2678A41-D873-4EFC-8823-1C9E9A3093FE}" type="slidenum">
              <a:rPr lang="en-US" altLang="en-US" sz="1200"/>
              <a:pPr/>
              <a:t>65</a:t>
            </a:fld>
            <a:endParaRPr lang="en-US" altLang="en-US" sz="1200"/>
          </a:p>
        </p:txBody>
      </p:sp>
      <p:sp>
        <p:nvSpPr>
          <p:cNvPr id="135171" name="Rectangle 2">
            <a:extLst>
              <a:ext uri="{FF2B5EF4-FFF2-40B4-BE49-F238E27FC236}">
                <a16:creationId xmlns:a16="http://schemas.microsoft.com/office/drawing/2014/main" id="{F17B7A0B-ACB1-7D5C-855A-C1152CF98A2C}"/>
              </a:ext>
            </a:extLst>
          </p:cNvPr>
          <p:cNvSpPr>
            <a:spLocks noGrp="1" noRot="1" noChangeAspect="1" noChangeArrowheads="1" noTextEdit="1"/>
          </p:cNvSpPr>
          <p:nvPr>
            <p:ph type="sldImg"/>
          </p:nvPr>
        </p:nvSpPr>
        <p:spPr>
          <a:xfrm>
            <a:off x="1177925" y="695325"/>
            <a:ext cx="4641850" cy="3481388"/>
          </a:xfrm>
          <a:ln/>
        </p:spPr>
      </p:sp>
      <p:sp>
        <p:nvSpPr>
          <p:cNvPr id="135172" name="Rectangle 3">
            <a:extLst>
              <a:ext uri="{FF2B5EF4-FFF2-40B4-BE49-F238E27FC236}">
                <a16:creationId xmlns:a16="http://schemas.microsoft.com/office/drawing/2014/main" id="{797DB54D-F1AD-7C9E-0B48-1F7C88D01BB1}"/>
              </a:ext>
            </a:extLst>
          </p:cNvPr>
          <p:cNvSpPr>
            <a:spLocks noGrp="1" noChangeArrowheads="1"/>
          </p:cNvSpPr>
          <p:nvPr>
            <p:ph type="body" idx="1"/>
          </p:nvPr>
        </p:nvSpPr>
        <p:spPr>
          <a:xfrm>
            <a:off x="933027" y="4410392"/>
            <a:ext cx="5131647"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86870721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DD069-0315-1880-80E0-4E7351ACB079}"/>
            </a:ext>
          </a:extLst>
        </p:cNvPr>
        <p:cNvGrpSpPr/>
        <p:nvPr/>
      </p:nvGrpSpPr>
      <p:grpSpPr>
        <a:xfrm>
          <a:off x="0" y="0"/>
          <a:ext cx="0" cy="0"/>
          <a:chOff x="0" y="0"/>
          <a:chExt cx="0" cy="0"/>
        </a:xfrm>
      </p:grpSpPr>
      <p:sp>
        <p:nvSpPr>
          <p:cNvPr id="135170" name="Rectangle 7">
            <a:extLst>
              <a:ext uri="{FF2B5EF4-FFF2-40B4-BE49-F238E27FC236}">
                <a16:creationId xmlns:a16="http://schemas.microsoft.com/office/drawing/2014/main" id="{99B07A27-A039-8C20-B890-BFFD35D28E53}"/>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9163">
              <a:defRPr sz="1600">
                <a:solidFill>
                  <a:schemeClr val="tx1"/>
                </a:solidFill>
                <a:latin typeface="Helvetica" panose="020B0604020202020204" pitchFamily="34" charset="0"/>
                <a:ea typeface="MS PGothic" panose="020B0600070205080204" pitchFamily="34" charset="-128"/>
              </a:defRPr>
            </a:lvl1pPr>
            <a:lvl2pPr marL="742950" indent="-285750" defTabSz="919163">
              <a:defRPr sz="1600">
                <a:solidFill>
                  <a:schemeClr val="tx1"/>
                </a:solidFill>
                <a:latin typeface="Helvetica" panose="020B0604020202020204" pitchFamily="34" charset="0"/>
                <a:ea typeface="MS PGothic" panose="020B0600070205080204" pitchFamily="34" charset="-128"/>
              </a:defRPr>
            </a:lvl2pPr>
            <a:lvl3pPr marL="1143000" indent="-228600" defTabSz="919163">
              <a:defRPr sz="1600">
                <a:solidFill>
                  <a:schemeClr val="tx1"/>
                </a:solidFill>
                <a:latin typeface="Helvetica" panose="020B0604020202020204" pitchFamily="34" charset="0"/>
                <a:ea typeface="MS PGothic" panose="020B0600070205080204" pitchFamily="34" charset="-128"/>
              </a:defRPr>
            </a:lvl3pPr>
            <a:lvl4pPr marL="1600200" indent="-228600" defTabSz="919163">
              <a:defRPr sz="1600">
                <a:solidFill>
                  <a:schemeClr val="tx1"/>
                </a:solidFill>
                <a:latin typeface="Helvetica" panose="020B0604020202020204" pitchFamily="34" charset="0"/>
                <a:ea typeface="MS PGothic" panose="020B0600070205080204" pitchFamily="34" charset="-128"/>
              </a:defRPr>
            </a:lvl4pPr>
            <a:lvl5pPr marL="2057400" indent="-228600" defTabSz="919163">
              <a:defRPr sz="1600">
                <a:solidFill>
                  <a:schemeClr val="tx1"/>
                </a:solidFill>
                <a:latin typeface="Helvetica" panose="020B0604020202020204" pitchFamily="34" charset="0"/>
                <a:ea typeface="MS PGothic" panose="020B0600070205080204" pitchFamily="34" charset="-128"/>
              </a:defRPr>
            </a:lvl5pPr>
            <a:lvl6pPr marL="25146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2678A41-D873-4EFC-8823-1C9E9A3093FE}" type="slidenum">
              <a:rPr lang="en-US" altLang="en-US" sz="1200"/>
              <a:pPr/>
              <a:t>66</a:t>
            </a:fld>
            <a:endParaRPr lang="en-US" altLang="en-US" sz="1200"/>
          </a:p>
        </p:txBody>
      </p:sp>
      <p:sp>
        <p:nvSpPr>
          <p:cNvPr id="135171" name="Rectangle 2">
            <a:extLst>
              <a:ext uri="{FF2B5EF4-FFF2-40B4-BE49-F238E27FC236}">
                <a16:creationId xmlns:a16="http://schemas.microsoft.com/office/drawing/2014/main" id="{F2E4507A-4B9B-03EF-E067-6D368809C4E8}"/>
              </a:ext>
            </a:extLst>
          </p:cNvPr>
          <p:cNvSpPr>
            <a:spLocks noGrp="1" noRot="1" noChangeAspect="1" noChangeArrowheads="1" noTextEdit="1"/>
          </p:cNvSpPr>
          <p:nvPr>
            <p:ph type="sldImg"/>
          </p:nvPr>
        </p:nvSpPr>
        <p:spPr>
          <a:xfrm>
            <a:off x="1177925" y="695325"/>
            <a:ext cx="4641850" cy="3481388"/>
          </a:xfrm>
          <a:ln/>
        </p:spPr>
      </p:sp>
      <p:sp>
        <p:nvSpPr>
          <p:cNvPr id="135172" name="Rectangle 3">
            <a:extLst>
              <a:ext uri="{FF2B5EF4-FFF2-40B4-BE49-F238E27FC236}">
                <a16:creationId xmlns:a16="http://schemas.microsoft.com/office/drawing/2014/main" id="{FDDF8042-8CEC-43F0-3F6D-831ABEEDC39A}"/>
              </a:ext>
            </a:extLst>
          </p:cNvPr>
          <p:cNvSpPr>
            <a:spLocks noGrp="1" noChangeArrowheads="1"/>
          </p:cNvSpPr>
          <p:nvPr>
            <p:ph type="body" idx="1"/>
          </p:nvPr>
        </p:nvSpPr>
        <p:spPr>
          <a:xfrm>
            <a:off x="933027" y="4410392"/>
            <a:ext cx="5131647"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35705426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1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EA18F2D-D4E4-4C99-9424-81DA77918E26}" type="slidenum">
              <a:rPr lang="en-US" altLang="en-US" sz="1200"/>
              <a:pPr/>
              <a:t>67</a:t>
            </a:fld>
            <a:endParaRPr lang="en-US" altLang="en-US" sz="1200"/>
          </a:p>
        </p:txBody>
      </p:sp>
      <p:sp>
        <p:nvSpPr>
          <p:cNvPr id="136195" name="Rectangle 2"/>
          <p:cNvSpPr>
            <a:spLocks noGrp="1" noRot="1" noChangeAspect="1" noChangeArrowheads="1" noTextEdit="1"/>
          </p:cNvSpPr>
          <p:nvPr>
            <p:ph type="sldImg"/>
          </p:nvPr>
        </p:nvSpPr>
        <p:spPr>
          <a:xfrm>
            <a:off x="1177925" y="695325"/>
            <a:ext cx="4641850" cy="3481388"/>
          </a:xfrm>
          <a:ln/>
        </p:spPr>
      </p:sp>
      <p:sp>
        <p:nvSpPr>
          <p:cNvPr id="13619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84299012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21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36443853-1DD4-4877-B587-65D98B968857}" type="slidenum">
              <a:rPr lang="en-US" altLang="en-US" sz="1200"/>
              <a:pPr/>
              <a:t>68</a:t>
            </a:fld>
            <a:endParaRPr lang="en-US" altLang="en-US" sz="1200"/>
          </a:p>
        </p:txBody>
      </p:sp>
      <p:sp>
        <p:nvSpPr>
          <p:cNvPr id="137219" name="Rectangle 2"/>
          <p:cNvSpPr>
            <a:spLocks noGrp="1" noRot="1" noChangeAspect="1" noChangeArrowheads="1" noTextEdit="1"/>
          </p:cNvSpPr>
          <p:nvPr>
            <p:ph type="sldImg"/>
          </p:nvPr>
        </p:nvSpPr>
        <p:spPr>
          <a:xfrm>
            <a:off x="1177925" y="695325"/>
            <a:ext cx="4641850" cy="3481388"/>
          </a:xfrm>
          <a:ln/>
        </p:spPr>
      </p:sp>
      <p:sp>
        <p:nvSpPr>
          <p:cNvPr id="13722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56010081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2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1A8B56BC-BF26-4697-801E-84F2929930E3}" type="slidenum">
              <a:rPr lang="en-US" altLang="en-US" sz="1200"/>
              <a:pPr/>
              <a:t>69</a:t>
            </a:fld>
            <a:endParaRPr lang="en-US" altLang="en-US" sz="1200"/>
          </a:p>
        </p:txBody>
      </p:sp>
      <p:sp>
        <p:nvSpPr>
          <p:cNvPr id="138243" name="Rectangle 2"/>
          <p:cNvSpPr>
            <a:spLocks noGrp="1" noRot="1" noChangeAspect="1" noChangeArrowheads="1" noTextEdit="1"/>
          </p:cNvSpPr>
          <p:nvPr>
            <p:ph type="sldImg"/>
          </p:nvPr>
        </p:nvSpPr>
        <p:spPr>
          <a:xfrm>
            <a:off x="1177925" y="695325"/>
            <a:ext cx="4641850" cy="3481388"/>
          </a:xfrm>
          <a:ln/>
        </p:spPr>
      </p:sp>
      <p:sp>
        <p:nvSpPr>
          <p:cNvPr id="13824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21284827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2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9163">
              <a:defRPr sz="1600">
                <a:solidFill>
                  <a:schemeClr val="tx1"/>
                </a:solidFill>
                <a:latin typeface="Helvetica" panose="020B0604020202020204" pitchFamily="34" charset="0"/>
                <a:ea typeface="MS PGothic" panose="020B0600070205080204" pitchFamily="34" charset="-128"/>
              </a:defRPr>
            </a:lvl1pPr>
            <a:lvl2pPr marL="742950" indent="-285750" defTabSz="919163">
              <a:defRPr sz="1600">
                <a:solidFill>
                  <a:schemeClr val="tx1"/>
                </a:solidFill>
                <a:latin typeface="Helvetica" panose="020B0604020202020204" pitchFamily="34" charset="0"/>
                <a:ea typeface="MS PGothic" panose="020B0600070205080204" pitchFamily="34" charset="-128"/>
              </a:defRPr>
            </a:lvl2pPr>
            <a:lvl3pPr marL="1143000" indent="-228600" defTabSz="919163">
              <a:defRPr sz="1600">
                <a:solidFill>
                  <a:schemeClr val="tx1"/>
                </a:solidFill>
                <a:latin typeface="Helvetica" panose="020B0604020202020204" pitchFamily="34" charset="0"/>
                <a:ea typeface="MS PGothic" panose="020B0600070205080204" pitchFamily="34" charset="-128"/>
              </a:defRPr>
            </a:lvl3pPr>
            <a:lvl4pPr marL="1600200" indent="-228600" defTabSz="919163">
              <a:defRPr sz="1600">
                <a:solidFill>
                  <a:schemeClr val="tx1"/>
                </a:solidFill>
                <a:latin typeface="Helvetica" panose="020B0604020202020204" pitchFamily="34" charset="0"/>
                <a:ea typeface="MS PGothic" panose="020B0600070205080204" pitchFamily="34" charset="-128"/>
              </a:defRPr>
            </a:lvl4pPr>
            <a:lvl5pPr marL="2057400" indent="-228600" defTabSz="919163">
              <a:defRPr sz="1600">
                <a:solidFill>
                  <a:schemeClr val="tx1"/>
                </a:solidFill>
                <a:latin typeface="Helvetica" panose="020B0604020202020204" pitchFamily="34" charset="0"/>
                <a:ea typeface="MS PGothic" panose="020B0600070205080204" pitchFamily="34" charset="-128"/>
              </a:defRPr>
            </a:lvl5pPr>
            <a:lvl6pPr marL="25146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E2A4DCD6-4990-4088-8EFB-FAD2F8B84679}" type="slidenum">
              <a:rPr lang="en-US" altLang="en-US" sz="1200"/>
              <a:pPr/>
              <a:t>70</a:t>
            </a:fld>
            <a:endParaRPr lang="en-US" altLang="en-US" sz="1200"/>
          </a:p>
        </p:txBody>
      </p:sp>
      <p:sp>
        <p:nvSpPr>
          <p:cNvPr id="139267" name="Rectangle 2"/>
          <p:cNvSpPr>
            <a:spLocks noGrp="1" noRot="1" noChangeAspect="1" noChangeArrowheads="1" noTextEdit="1"/>
          </p:cNvSpPr>
          <p:nvPr>
            <p:ph type="sldImg"/>
          </p:nvPr>
        </p:nvSpPr>
        <p:spPr>
          <a:xfrm>
            <a:off x="1177925" y="695325"/>
            <a:ext cx="4641850" cy="3481388"/>
          </a:xfrm>
          <a:ln/>
        </p:spPr>
      </p:sp>
      <p:sp>
        <p:nvSpPr>
          <p:cNvPr id="139268" name="Rectangle 3"/>
          <p:cNvSpPr>
            <a:spLocks noGrp="1" noChangeArrowheads="1"/>
          </p:cNvSpPr>
          <p:nvPr>
            <p:ph type="body" idx="1"/>
          </p:nvPr>
        </p:nvSpPr>
        <p:spPr>
          <a:xfrm>
            <a:off x="933027" y="4410392"/>
            <a:ext cx="5131647"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89190292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3FB97D8D-6A75-4AFA-8548-85396391880A}" type="slidenum">
              <a:rPr lang="en-US" altLang="en-US" sz="1200"/>
              <a:pPr/>
              <a:t>71</a:t>
            </a:fld>
            <a:endParaRPr lang="en-US" altLang="en-US" sz="1200"/>
          </a:p>
        </p:txBody>
      </p:sp>
      <p:sp>
        <p:nvSpPr>
          <p:cNvPr id="140291" name="Rectangle 2"/>
          <p:cNvSpPr>
            <a:spLocks noGrp="1" noRot="1" noChangeAspect="1" noChangeArrowheads="1" noTextEdit="1"/>
          </p:cNvSpPr>
          <p:nvPr>
            <p:ph type="sldImg"/>
          </p:nvPr>
        </p:nvSpPr>
        <p:spPr>
          <a:xfrm>
            <a:off x="1177925" y="695325"/>
            <a:ext cx="4641850" cy="3481388"/>
          </a:xfrm>
          <a:ln/>
        </p:spPr>
      </p:sp>
      <p:sp>
        <p:nvSpPr>
          <p:cNvPr id="14029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89996976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31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F6DB8CD2-F9D8-4BCF-90A1-A8E625EDFB97}" type="slidenum">
              <a:rPr lang="en-US" altLang="en-US" sz="1200"/>
              <a:pPr/>
              <a:t>72</a:t>
            </a:fld>
            <a:endParaRPr lang="en-US" altLang="en-US" sz="1200"/>
          </a:p>
        </p:txBody>
      </p:sp>
      <p:sp>
        <p:nvSpPr>
          <p:cNvPr id="141315" name="Rectangle 2"/>
          <p:cNvSpPr>
            <a:spLocks noGrp="1" noRot="1" noChangeAspect="1" noChangeArrowheads="1" noTextEdit="1"/>
          </p:cNvSpPr>
          <p:nvPr>
            <p:ph type="sldImg"/>
          </p:nvPr>
        </p:nvSpPr>
        <p:spPr>
          <a:xfrm>
            <a:off x="1177925" y="695325"/>
            <a:ext cx="4641850" cy="3481388"/>
          </a:xfrm>
          <a:ln/>
        </p:spPr>
      </p:sp>
      <p:sp>
        <p:nvSpPr>
          <p:cNvPr id="14131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46739669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59040D4-3005-4847-ABB3-16A2B4BDF1CE}" type="slidenum">
              <a:rPr lang="en-US" altLang="en-US" sz="1200"/>
              <a:pPr/>
              <a:t>73</a:t>
            </a:fld>
            <a:endParaRPr lang="en-US" altLang="en-US" sz="1200"/>
          </a:p>
        </p:txBody>
      </p:sp>
      <p:sp>
        <p:nvSpPr>
          <p:cNvPr id="142339" name="Rectangle 2"/>
          <p:cNvSpPr>
            <a:spLocks noGrp="1" noRot="1" noChangeAspect="1" noChangeArrowheads="1" noTextEdit="1"/>
          </p:cNvSpPr>
          <p:nvPr>
            <p:ph type="sldImg"/>
          </p:nvPr>
        </p:nvSpPr>
        <p:spPr>
          <a:xfrm>
            <a:off x="1177925" y="695325"/>
            <a:ext cx="4641850" cy="3481388"/>
          </a:xfrm>
          <a:ln/>
        </p:spPr>
      </p:sp>
      <p:sp>
        <p:nvSpPr>
          <p:cNvPr id="14234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95415806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9B7593E-E541-408E-B62F-DEA0E60392EA}" type="slidenum">
              <a:rPr lang="en-US" altLang="en-US" sz="1200"/>
              <a:pPr/>
              <a:t>74</a:t>
            </a:fld>
            <a:endParaRPr lang="en-US" altLang="en-US" sz="1200"/>
          </a:p>
        </p:txBody>
      </p:sp>
      <p:sp>
        <p:nvSpPr>
          <p:cNvPr id="143363" name="Rectangle 2"/>
          <p:cNvSpPr>
            <a:spLocks noGrp="1" noRot="1" noChangeAspect="1" noChangeArrowheads="1" noTextEdit="1"/>
          </p:cNvSpPr>
          <p:nvPr>
            <p:ph type="sldImg"/>
          </p:nvPr>
        </p:nvSpPr>
        <p:spPr>
          <a:xfrm>
            <a:off x="1177925" y="695325"/>
            <a:ext cx="4641850" cy="3481388"/>
          </a:xfrm>
          <a:ln/>
        </p:spPr>
      </p:sp>
      <p:sp>
        <p:nvSpPr>
          <p:cNvPr id="14336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39276949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3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FB03737A-222D-46BE-B7A9-3EA09C13F967}" type="slidenum">
              <a:rPr lang="en-US" altLang="en-US" sz="1200"/>
              <a:pPr/>
              <a:t>75</a:t>
            </a:fld>
            <a:endParaRPr lang="en-US" altLang="en-US" sz="1200"/>
          </a:p>
        </p:txBody>
      </p:sp>
      <p:sp>
        <p:nvSpPr>
          <p:cNvPr id="144387" name="Rectangle 2"/>
          <p:cNvSpPr>
            <a:spLocks noGrp="1" noRot="1" noChangeAspect="1" noChangeArrowheads="1" noTextEdit="1"/>
          </p:cNvSpPr>
          <p:nvPr>
            <p:ph type="sldImg"/>
          </p:nvPr>
        </p:nvSpPr>
        <p:spPr>
          <a:xfrm>
            <a:off x="1177925" y="695325"/>
            <a:ext cx="4641850" cy="3481388"/>
          </a:xfrm>
          <a:ln/>
        </p:spPr>
      </p:sp>
      <p:sp>
        <p:nvSpPr>
          <p:cNvPr id="14438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98748284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407B7A-48AD-C618-564D-1F749F34E6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26E2B5-08E9-0526-F360-7B39D03449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9222C5-A1D7-18B2-7093-6B80BA1E521B}"/>
              </a:ext>
            </a:extLst>
          </p:cNvPr>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این کوئری به چندین اتصال نیاز دارد که می‌تواند برای مجموعه داده‌های بزرگ کند باشد، به‌ویژه اگر چنین کوئری‌هایی مکرر اجرا شوند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endParaRPr lang="en-US" dirty="0"/>
          </a:p>
        </p:txBody>
      </p:sp>
      <p:sp>
        <p:nvSpPr>
          <p:cNvPr id="4" name="Slide Number Placeholder 3">
            <a:extLst>
              <a:ext uri="{FF2B5EF4-FFF2-40B4-BE49-F238E27FC236}">
                <a16:creationId xmlns:a16="http://schemas.microsoft.com/office/drawing/2014/main" id="{81658C63-459B-58F0-A445-FC0A1E474A19}"/>
              </a:ext>
            </a:extLst>
          </p:cNvPr>
          <p:cNvSpPr>
            <a:spLocks noGrp="1"/>
          </p:cNvSpPr>
          <p:nvPr>
            <p:ph type="sldNum" sz="quarter" idx="5"/>
          </p:nvPr>
        </p:nvSpPr>
        <p:spPr/>
        <p:txBody>
          <a:bodyPr/>
          <a:lstStyle/>
          <a:p>
            <a:fld id="{EF7565D7-C2AB-4CDD-97A1-0422B6964B36}" type="slidenum">
              <a:rPr lang="en-US" altLang="en-US" smtClean="0"/>
              <a:pPr/>
              <a:t>79</a:t>
            </a:fld>
            <a:endParaRPr lang="en-US" altLang="en-US"/>
          </a:p>
        </p:txBody>
      </p:sp>
    </p:spTree>
    <p:extLst>
      <p:ext uri="{BB962C8B-B14F-4D97-AF65-F5344CB8AC3E}">
        <p14:creationId xmlns:p14="http://schemas.microsoft.com/office/powerpoint/2010/main" val="103206935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810AA2-0059-CC37-0724-DC5A296145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FBB0A4-538A-D4CF-6CA3-8D59251846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8518D4-26F0-2ABD-B658-DB1D3E915FC6}"/>
              </a:ext>
            </a:extLst>
          </p:cNvPr>
          <p:cNvSpPr>
            <a:spLocks noGrp="1"/>
          </p:cNvSpPr>
          <p:nvPr>
            <p:ph type="body" idx="1"/>
          </p:nvPr>
        </p:nvSpPr>
        <p:spPr/>
        <p:txBody>
          <a:bodyPr/>
          <a:lstStyle/>
          <a:p>
            <a:pPr marL="0" marR="0" algn="r" rtl="1">
              <a:lnSpc>
                <a:spcPct val="107000"/>
              </a:lnSpc>
              <a:spcBef>
                <a:spcPts val="0"/>
              </a:spcBef>
              <a:spcAft>
                <a:spcPts val="800"/>
              </a:spcAf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نتیجه‌گیری</a:t>
            </a:r>
            <a:endParaRPr lang="en-US" sz="12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غیرعادی‌سازی زمانی مناسب است که</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2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عملکرد حیاتی باشد و سربار اتصالات قابل‌قبول نباشد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2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سیستم سرعت خواندن را نسبت به سرعت نوشتن ترجیح دهد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2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سادگی کوئری‌ها از پیروی از اصول عادی‌سازی مهم‌تر باشد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200" dirty="0">
              <a:effectLst/>
              <a:latin typeface="Calibri" panose="020F0502020204030204" pitchFamily="34" charset="0"/>
              <a:ea typeface="Calibri" panose="020F0502020204030204" pitchFamily="34" charset="0"/>
              <a:cs typeface="Arial" panose="020B0604020202020204" pitchFamily="34" charset="0"/>
            </a:endParaRPr>
          </a:p>
          <a:p>
            <a:endParaRPr lang="en-US" dirty="0"/>
          </a:p>
        </p:txBody>
      </p:sp>
      <p:sp>
        <p:nvSpPr>
          <p:cNvPr id="4" name="Slide Number Placeholder 3">
            <a:extLst>
              <a:ext uri="{FF2B5EF4-FFF2-40B4-BE49-F238E27FC236}">
                <a16:creationId xmlns:a16="http://schemas.microsoft.com/office/drawing/2014/main" id="{3EA8AAE0-ACC4-E356-7DAA-8E58FCD28B88}"/>
              </a:ext>
            </a:extLst>
          </p:cNvPr>
          <p:cNvSpPr>
            <a:spLocks noGrp="1"/>
          </p:cNvSpPr>
          <p:nvPr>
            <p:ph type="sldNum" sz="quarter" idx="5"/>
          </p:nvPr>
        </p:nvSpPr>
        <p:spPr/>
        <p:txBody>
          <a:bodyPr/>
          <a:lstStyle/>
          <a:p>
            <a:fld id="{EF7565D7-C2AB-4CDD-97A1-0422B6964B36}" type="slidenum">
              <a:rPr lang="en-US" altLang="en-US" smtClean="0"/>
              <a:pPr/>
              <a:t>80</a:t>
            </a:fld>
            <a:endParaRPr lang="en-US" altLang="en-US"/>
          </a:p>
        </p:txBody>
      </p:sp>
    </p:spTree>
    <p:extLst>
      <p:ext uri="{BB962C8B-B14F-4D97-AF65-F5344CB8AC3E}">
        <p14:creationId xmlns:p14="http://schemas.microsoft.com/office/powerpoint/2010/main" val="392712254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2B2ED6F9-53BE-4CD9-8D10-83BD677C8535}" type="slidenum">
              <a:rPr lang="en-US" altLang="en-US" sz="1200"/>
              <a:pPr/>
              <a:t>81</a:t>
            </a:fld>
            <a:endParaRPr lang="en-US" altLang="en-US" sz="1200"/>
          </a:p>
        </p:txBody>
      </p:sp>
      <p:sp>
        <p:nvSpPr>
          <p:cNvPr id="145411" name="Rectangle 2"/>
          <p:cNvSpPr>
            <a:spLocks noGrp="1" noRot="1" noChangeAspect="1" noChangeArrowheads="1" noTextEdit="1"/>
          </p:cNvSpPr>
          <p:nvPr>
            <p:ph type="sldImg"/>
          </p:nvPr>
        </p:nvSpPr>
        <p:spPr>
          <a:xfrm>
            <a:off x="1177925" y="695325"/>
            <a:ext cx="4641850" cy="3481388"/>
          </a:xfrm>
          <a:ln/>
        </p:spPr>
      </p:sp>
      <p:sp>
        <p:nvSpPr>
          <p:cNvPr id="14541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52382824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4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4B6CE2F-3CD3-45FE-B460-EC2ED3F07842}" type="slidenum">
              <a:rPr lang="en-US" altLang="en-US" sz="1200"/>
              <a:pPr/>
              <a:t>82</a:t>
            </a:fld>
            <a:endParaRPr lang="en-US" altLang="en-US" sz="1200"/>
          </a:p>
        </p:txBody>
      </p:sp>
      <p:sp>
        <p:nvSpPr>
          <p:cNvPr id="146435" name="Rectangle 2"/>
          <p:cNvSpPr>
            <a:spLocks noGrp="1" noRot="1" noChangeAspect="1" noChangeArrowheads="1" noTextEdit="1"/>
          </p:cNvSpPr>
          <p:nvPr>
            <p:ph type="sldImg"/>
          </p:nvPr>
        </p:nvSpPr>
        <p:spPr>
          <a:xfrm>
            <a:off x="1177925" y="695325"/>
            <a:ext cx="4641850" cy="3481388"/>
          </a:xfrm>
          <a:ln/>
        </p:spPr>
      </p:sp>
      <p:sp>
        <p:nvSpPr>
          <p:cNvPr id="14643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4E4753A-8DE0-4CA5-9E0D-F3763DCF04F6}" type="slidenum">
              <a:rPr lang="en-US" altLang="en-US" sz="1200"/>
              <a:pPr/>
              <a:t>83</a:t>
            </a:fld>
            <a:endParaRPr lang="en-US" altLang="en-US" sz="1200"/>
          </a:p>
        </p:txBody>
      </p:sp>
      <p:sp>
        <p:nvSpPr>
          <p:cNvPr id="147459" name="Rectangle 2"/>
          <p:cNvSpPr>
            <a:spLocks noGrp="1" noRot="1" noChangeAspect="1" noChangeArrowheads="1" noTextEdit="1"/>
          </p:cNvSpPr>
          <p:nvPr>
            <p:ph type="sldImg"/>
          </p:nvPr>
        </p:nvSpPr>
        <p:spPr>
          <a:xfrm>
            <a:off x="1177925" y="695325"/>
            <a:ext cx="4641850" cy="3481388"/>
          </a:xfrm>
          <a:ln/>
        </p:spPr>
      </p:sp>
      <p:sp>
        <p:nvSpPr>
          <p:cNvPr id="14746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4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7E239C7-4B01-4ACB-AC64-19B9EB42973F}" type="slidenum">
              <a:rPr lang="en-US" altLang="en-US" sz="1200"/>
              <a:pPr/>
              <a:t>84</a:t>
            </a:fld>
            <a:endParaRPr lang="en-US" altLang="en-US" sz="1200"/>
          </a:p>
        </p:txBody>
      </p:sp>
      <p:sp>
        <p:nvSpPr>
          <p:cNvPr id="148483" name="Rectangle 2"/>
          <p:cNvSpPr>
            <a:spLocks noGrp="1" noRot="1" noChangeAspect="1" noChangeArrowheads="1" noTextEdit="1"/>
          </p:cNvSpPr>
          <p:nvPr>
            <p:ph type="sldImg"/>
          </p:nvPr>
        </p:nvSpPr>
        <p:spPr>
          <a:xfrm>
            <a:off x="1177925" y="695325"/>
            <a:ext cx="4641850" cy="3481388"/>
          </a:xfrm>
          <a:ln/>
        </p:spPr>
      </p:sp>
      <p:sp>
        <p:nvSpPr>
          <p:cNvPr id="14848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5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EAC0A48C-B033-4AC9-8924-4B331051E00D}" type="slidenum">
              <a:rPr lang="en-US" altLang="en-US" sz="1200"/>
              <a:pPr/>
              <a:t>85</a:t>
            </a:fld>
            <a:endParaRPr lang="en-US" altLang="en-US" sz="1200"/>
          </a:p>
        </p:txBody>
      </p:sp>
      <p:sp>
        <p:nvSpPr>
          <p:cNvPr id="149507" name="Rectangle 2"/>
          <p:cNvSpPr>
            <a:spLocks noGrp="1" noRot="1" noChangeAspect="1" noChangeArrowheads="1" noTextEdit="1"/>
          </p:cNvSpPr>
          <p:nvPr>
            <p:ph type="sldImg"/>
          </p:nvPr>
        </p:nvSpPr>
        <p:spPr>
          <a:xfrm>
            <a:off x="1177925" y="695325"/>
            <a:ext cx="4641850" cy="3481388"/>
          </a:xfrm>
          <a:ln/>
        </p:spPr>
      </p:sp>
      <p:sp>
        <p:nvSpPr>
          <p:cNvPr id="14950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5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7999FEA-463D-4EC2-9BE5-4E48B7E10B51}" type="slidenum">
              <a:rPr lang="en-US" altLang="en-US" sz="1200"/>
              <a:pPr/>
              <a:t>86</a:t>
            </a:fld>
            <a:endParaRPr lang="en-US" altLang="en-US" sz="1200"/>
          </a:p>
        </p:txBody>
      </p:sp>
      <p:sp>
        <p:nvSpPr>
          <p:cNvPr id="150531" name="Rectangle 2"/>
          <p:cNvSpPr>
            <a:spLocks noGrp="1" noRot="1" noChangeAspect="1" noChangeArrowheads="1" noTextEdit="1"/>
          </p:cNvSpPr>
          <p:nvPr>
            <p:ph type="sldImg"/>
          </p:nvPr>
        </p:nvSpPr>
        <p:spPr>
          <a:xfrm>
            <a:off x="1177925" y="695325"/>
            <a:ext cx="4641850" cy="3481388"/>
          </a:xfrm>
          <a:ln/>
        </p:spPr>
      </p:sp>
      <p:sp>
        <p:nvSpPr>
          <p:cNvPr id="15053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38F86710-0453-46DF-9A04-3F5F631C00F1}" type="slidenum">
              <a:rPr lang="en-US" altLang="en-US" sz="1200"/>
              <a:pPr/>
              <a:t>87</a:t>
            </a:fld>
            <a:endParaRPr lang="en-US" altLang="en-US" sz="1200"/>
          </a:p>
        </p:txBody>
      </p:sp>
      <p:sp>
        <p:nvSpPr>
          <p:cNvPr id="152579" name="Rectangle 2"/>
          <p:cNvSpPr>
            <a:spLocks noGrp="1" noRot="1" noChangeAspect="1" noChangeArrowheads="1" noTextEdit="1"/>
          </p:cNvSpPr>
          <p:nvPr>
            <p:ph type="sldImg"/>
          </p:nvPr>
        </p:nvSpPr>
        <p:spPr>
          <a:xfrm>
            <a:off x="1177925" y="695325"/>
            <a:ext cx="4641850" cy="3481388"/>
          </a:xfrm>
          <a:ln/>
        </p:spPr>
      </p:sp>
      <p:sp>
        <p:nvSpPr>
          <p:cNvPr id="15258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38F86710-0453-46DF-9A04-3F5F631C00F1}" type="slidenum">
              <a:rPr lang="en-US" altLang="en-US" sz="1200"/>
              <a:pPr/>
              <a:t>88</a:t>
            </a:fld>
            <a:endParaRPr lang="en-US" altLang="en-US" sz="1200"/>
          </a:p>
        </p:txBody>
      </p:sp>
      <p:sp>
        <p:nvSpPr>
          <p:cNvPr id="152579" name="Rectangle 2"/>
          <p:cNvSpPr>
            <a:spLocks noGrp="1" noRot="1" noChangeAspect="1" noChangeArrowheads="1" noTextEdit="1"/>
          </p:cNvSpPr>
          <p:nvPr>
            <p:ph type="sldImg"/>
          </p:nvPr>
        </p:nvSpPr>
        <p:spPr>
          <a:xfrm>
            <a:off x="1177925" y="695325"/>
            <a:ext cx="4641850" cy="3481388"/>
          </a:xfrm>
          <a:ln/>
        </p:spPr>
      </p:sp>
      <p:sp>
        <p:nvSpPr>
          <p:cNvPr id="15258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25BC543-30D6-4AA8-90B4-22C339D46936}" type="slidenum">
              <a:rPr lang="en-US" altLang="en-US" sz="1200"/>
              <a:pPr/>
              <a:t>89</a:t>
            </a:fld>
            <a:endParaRPr lang="en-US" altLang="en-US" sz="1200"/>
          </a:p>
        </p:txBody>
      </p:sp>
      <p:sp>
        <p:nvSpPr>
          <p:cNvPr id="153603" name="Rectangle 2"/>
          <p:cNvSpPr>
            <a:spLocks noGrp="1" noRot="1" noChangeAspect="1" noChangeArrowheads="1" noTextEdit="1"/>
          </p:cNvSpPr>
          <p:nvPr>
            <p:ph type="sldImg"/>
          </p:nvPr>
        </p:nvSpPr>
        <p:spPr>
          <a:xfrm>
            <a:off x="1177925" y="695325"/>
            <a:ext cx="4641850" cy="3481388"/>
          </a:xfrm>
          <a:ln/>
        </p:spPr>
      </p:sp>
      <p:sp>
        <p:nvSpPr>
          <p:cNvPr id="15360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6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F020452C-B463-4E95-A665-2B99AA28B79B}" type="slidenum">
              <a:rPr lang="en-US" altLang="en-US" sz="1200"/>
              <a:pPr/>
              <a:t>90</a:t>
            </a:fld>
            <a:endParaRPr lang="en-US" altLang="en-US" sz="1200"/>
          </a:p>
        </p:txBody>
      </p:sp>
      <p:sp>
        <p:nvSpPr>
          <p:cNvPr id="154627" name="Rectangle 2"/>
          <p:cNvSpPr>
            <a:spLocks noGrp="1" noRot="1" noChangeAspect="1" noChangeArrowheads="1" noTextEdit="1"/>
          </p:cNvSpPr>
          <p:nvPr>
            <p:ph type="sldImg"/>
          </p:nvPr>
        </p:nvSpPr>
        <p:spPr>
          <a:xfrm>
            <a:off x="1177925" y="695325"/>
            <a:ext cx="4641850" cy="3481388"/>
          </a:xfrm>
          <a:ln/>
        </p:spPr>
      </p:sp>
      <p:sp>
        <p:nvSpPr>
          <p:cNvPr id="15462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6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126D1A1-086F-49DE-B921-A09020A520AB}" type="slidenum">
              <a:rPr lang="en-US" altLang="en-US" sz="1200"/>
              <a:pPr/>
              <a:t>91</a:t>
            </a:fld>
            <a:endParaRPr lang="en-US" altLang="en-US" sz="1200"/>
          </a:p>
        </p:txBody>
      </p:sp>
      <p:sp>
        <p:nvSpPr>
          <p:cNvPr id="155651" name="Rectangle 2"/>
          <p:cNvSpPr>
            <a:spLocks noGrp="1" noRot="1" noChangeAspect="1" noChangeArrowheads="1" noTextEdit="1"/>
          </p:cNvSpPr>
          <p:nvPr>
            <p:ph type="sldImg"/>
          </p:nvPr>
        </p:nvSpPr>
        <p:spPr>
          <a:xfrm>
            <a:off x="1177925" y="695325"/>
            <a:ext cx="4641850" cy="3481388"/>
          </a:xfrm>
          <a:ln/>
        </p:spPr>
      </p:sp>
      <p:sp>
        <p:nvSpPr>
          <p:cNvPr id="15565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6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B1C003AC-91E0-4C02-A3AF-D03041938C29}" type="slidenum">
              <a:rPr lang="en-US" altLang="en-US" sz="1200"/>
              <a:pPr/>
              <a:t>92</a:t>
            </a:fld>
            <a:endParaRPr lang="en-US" altLang="en-US" sz="1200"/>
          </a:p>
        </p:txBody>
      </p:sp>
      <p:sp>
        <p:nvSpPr>
          <p:cNvPr id="156675" name="Rectangle 2"/>
          <p:cNvSpPr>
            <a:spLocks noGrp="1" noRot="1" noChangeAspect="1" noChangeArrowheads="1" noTextEdit="1"/>
          </p:cNvSpPr>
          <p:nvPr>
            <p:ph type="sldImg"/>
          </p:nvPr>
        </p:nvSpPr>
        <p:spPr>
          <a:xfrm>
            <a:off x="1177925" y="695325"/>
            <a:ext cx="4641850" cy="3481388"/>
          </a:xfrm>
          <a:ln/>
        </p:spPr>
      </p:sp>
      <p:sp>
        <p:nvSpPr>
          <p:cNvPr id="15667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6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5C3BE13-538F-4FB5-B532-CB8FA5D987FB}" type="slidenum">
              <a:rPr lang="en-US" altLang="en-US" sz="1200"/>
              <a:pPr/>
              <a:t>93</a:t>
            </a:fld>
            <a:endParaRPr lang="en-US" altLang="en-US" sz="1200"/>
          </a:p>
        </p:txBody>
      </p:sp>
      <p:sp>
        <p:nvSpPr>
          <p:cNvPr id="157699" name="Rectangle 2"/>
          <p:cNvSpPr>
            <a:spLocks noGrp="1" noRot="1" noChangeAspect="1" noChangeArrowheads="1" noTextEdit="1"/>
          </p:cNvSpPr>
          <p:nvPr>
            <p:ph type="sldImg"/>
          </p:nvPr>
        </p:nvSpPr>
        <p:spPr>
          <a:xfrm>
            <a:off x="1177925" y="695325"/>
            <a:ext cx="4641850" cy="3481388"/>
          </a:xfrm>
          <a:ln/>
        </p:spPr>
      </p:sp>
      <p:sp>
        <p:nvSpPr>
          <p:cNvPr id="15770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72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D756CCF-944F-475F-BC67-70F3E02FC64F}" type="slidenum">
              <a:rPr lang="en-US" altLang="en-US" sz="1200"/>
              <a:pPr/>
              <a:t>94</a:t>
            </a:fld>
            <a:endParaRPr lang="en-US" altLang="en-US" sz="1200"/>
          </a:p>
        </p:txBody>
      </p:sp>
      <p:sp>
        <p:nvSpPr>
          <p:cNvPr id="158723" name="Rectangle 2"/>
          <p:cNvSpPr>
            <a:spLocks noGrp="1" noRot="1" noChangeAspect="1" noChangeArrowheads="1" noTextEdit="1"/>
          </p:cNvSpPr>
          <p:nvPr>
            <p:ph type="sldImg"/>
          </p:nvPr>
        </p:nvSpPr>
        <p:spPr>
          <a:xfrm>
            <a:off x="1177925" y="695325"/>
            <a:ext cx="4641850" cy="3481388"/>
          </a:xfrm>
          <a:ln/>
        </p:spPr>
      </p:sp>
      <p:sp>
        <p:nvSpPr>
          <p:cNvPr id="15872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7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1FD356F-B370-4905-B475-36D0765F2DB9}" type="slidenum">
              <a:rPr lang="en-US" altLang="en-US" sz="1200"/>
              <a:pPr/>
              <a:t>95</a:t>
            </a:fld>
            <a:endParaRPr lang="en-US" altLang="en-US" sz="1200"/>
          </a:p>
        </p:txBody>
      </p:sp>
      <p:sp>
        <p:nvSpPr>
          <p:cNvPr id="159747" name="Rectangle 2"/>
          <p:cNvSpPr>
            <a:spLocks noGrp="1" noRot="1" noChangeAspect="1" noChangeArrowheads="1" noTextEdit="1"/>
          </p:cNvSpPr>
          <p:nvPr>
            <p:ph type="sldImg"/>
          </p:nvPr>
        </p:nvSpPr>
        <p:spPr>
          <a:xfrm>
            <a:off x="1177925" y="695325"/>
            <a:ext cx="4641850" cy="3481388"/>
          </a:xfrm>
          <a:ln/>
        </p:spPr>
      </p:sp>
      <p:sp>
        <p:nvSpPr>
          <p:cNvPr id="15974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17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FA8EE5B-27ED-41B6-B0F7-B62E458A1259}" type="slidenum">
              <a:rPr lang="en-US" altLang="en-US" sz="1200"/>
              <a:pPr/>
              <a:t>97</a:t>
            </a:fld>
            <a:endParaRPr lang="en-US" altLang="en-US" sz="1200"/>
          </a:p>
        </p:txBody>
      </p:sp>
      <p:sp>
        <p:nvSpPr>
          <p:cNvPr id="161795" name="Rectangle 2"/>
          <p:cNvSpPr>
            <a:spLocks noGrp="1" noRot="1" noChangeAspect="1" noChangeArrowheads="1" noTextEdit="1"/>
          </p:cNvSpPr>
          <p:nvPr>
            <p:ph type="sldImg"/>
          </p:nvPr>
        </p:nvSpPr>
        <p:spPr>
          <a:xfrm>
            <a:off x="1177925" y="695325"/>
            <a:ext cx="4641850" cy="3481388"/>
          </a:xfrm>
          <a:ln/>
        </p:spPr>
      </p:sp>
      <p:sp>
        <p:nvSpPr>
          <p:cNvPr id="16179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281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069B94BD-CECE-4C33-9065-62089078E886}" type="slidenum">
              <a:rPr lang="en-US" altLang="en-US" sz="1200"/>
              <a:pPr/>
              <a:t>98</a:t>
            </a:fld>
            <a:endParaRPr lang="en-US" altLang="en-US" sz="1200"/>
          </a:p>
        </p:txBody>
      </p:sp>
      <p:sp>
        <p:nvSpPr>
          <p:cNvPr id="162819" name="Rectangle 2"/>
          <p:cNvSpPr>
            <a:spLocks noGrp="1" noRot="1" noChangeAspect="1" noChangeArrowheads="1" noTextEdit="1"/>
          </p:cNvSpPr>
          <p:nvPr>
            <p:ph type="sldImg"/>
          </p:nvPr>
        </p:nvSpPr>
        <p:spPr>
          <a:xfrm>
            <a:off x="1177925" y="695325"/>
            <a:ext cx="4641850" cy="3481388"/>
          </a:xfrm>
          <a:ln/>
        </p:spPr>
      </p:sp>
      <p:sp>
        <p:nvSpPr>
          <p:cNvPr id="16282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8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B1C0C611-501B-4334-8DD9-2D5A8FF01FE8}" type="slidenum">
              <a:rPr lang="en-US" altLang="en-US" sz="1200"/>
              <a:pPr/>
              <a:t>100</a:t>
            </a:fld>
            <a:endParaRPr lang="en-US" altLang="en-US" sz="1200"/>
          </a:p>
        </p:txBody>
      </p:sp>
      <p:sp>
        <p:nvSpPr>
          <p:cNvPr id="164867" name="Rectangle 2"/>
          <p:cNvSpPr>
            <a:spLocks noGrp="1" noRot="1" noChangeAspect="1" noChangeArrowheads="1" noTextEdit="1"/>
          </p:cNvSpPr>
          <p:nvPr>
            <p:ph type="sldImg"/>
          </p:nvPr>
        </p:nvSpPr>
        <p:spPr>
          <a:xfrm>
            <a:off x="1177925" y="695325"/>
            <a:ext cx="4641850" cy="3481388"/>
          </a:xfrm>
          <a:ln/>
        </p:spPr>
      </p:sp>
      <p:sp>
        <p:nvSpPr>
          <p:cNvPr id="16486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8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D87BC9CE-BF8C-4DA1-B24E-2871B5D5AD09}" type="slidenum">
              <a:rPr lang="en-US" altLang="en-US" sz="1200"/>
              <a:pPr/>
              <a:t>101</a:t>
            </a:fld>
            <a:endParaRPr lang="en-US" altLang="en-US" sz="1200"/>
          </a:p>
        </p:txBody>
      </p:sp>
      <p:sp>
        <p:nvSpPr>
          <p:cNvPr id="165891" name="Rectangle 2"/>
          <p:cNvSpPr>
            <a:spLocks noGrp="1" noRot="1" noChangeAspect="1" noChangeArrowheads="1" noTextEdit="1"/>
          </p:cNvSpPr>
          <p:nvPr>
            <p:ph type="sldImg"/>
          </p:nvPr>
        </p:nvSpPr>
        <p:spPr>
          <a:xfrm>
            <a:off x="1177925" y="695325"/>
            <a:ext cx="4641850" cy="3481388"/>
          </a:xfrm>
          <a:ln/>
        </p:spPr>
      </p:sp>
      <p:sp>
        <p:nvSpPr>
          <p:cNvPr id="16589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91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ABC47A9-62C0-457E-AB19-17B7324B6011}" type="slidenum">
              <a:rPr lang="en-US" altLang="en-US" sz="1200"/>
              <a:pPr/>
              <a:t>102</a:t>
            </a:fld>
            <a:endParaRPr lang="en-US" altLang="en-US" sz="1200"/>
          </a:p>
        </p:txBody>
      </p:sp>
      <p:sp>
        <p:nvSpPr>
          <p:cNvPr id="166915" name="Rectangle 2"/>
          <p:cNvSpPr>
            <a:spLocks noGrp="1" noRot="1" noChangeAspect="1" noChangeArrowheads="1" noTextEdit="1"/>
          </p:cNvSpPr>
          <p:nvPr>
            <p:ph type="sldImg"/>
          </p:nvPr>
        </p:nvSpPr>
        <p:spPr>
          <a:xfrm>
            <a:off x="1177925" y="695325"/>
            <a:ext cx="4641850" cy="3481388"/>
          </a:xfrm>
          <a:ln/>
        </p:spPr>
      </p:sp>
      <p:sp>
        <p:nvSpPr>
          <p:cNvPr id="16691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96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696B17E-EA99-4BE4-8109-8D7786A8AC53}" type="slidenum">
              <a:rPr lang="en-US" altLang="en-US" sz="1200"/>
              <a:pPr/>
              <a:t>104</a:t>
            </a:fld>
            <a:endParaRPr lang="en-US" altLang="en-US" sz="1200"/>
          </a:p>
        </p:txBody>
      </p:sp>
      <p:sp>
        <p:nvSpPr>
          <p:cNvPr id="168963" name="Rectangle 2"/>
          <p:cNvSpPr>
            <a:spLocks noGrp="1" noRot="1" noChangeAspect="1" noChangeArrowheads="1" noTextEdit="1"/>
          </p:cNvSpPr>
          <p:nvPr>
            <p:ph type="sldImg"/>
          </p:nvPr>
        </p:nvSpPr>
        <p:spPr>
          <a:xfrm>
            <a:off x="1177925" y="695325"/>
            <a:ext cx="4641850" cy="3481388"/>
          </a:xfrm>
          <a:ln/>
        </p:spPr>
      </p:sp>
      <p:sp>
        <p:nvSpPr>
          <p:cNvPr id="16896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9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037F53DE-0A03-40E0-A2C9-F027B409EFB7}" type="slidenum">
              <a:rPr lang="en-US" altLang="en-US" sz="1200"/>
              <a:pPr/>
              <a:t>105</a:t>
            </a:fld>
            <a:endParaRPr lang="en-US" altLang="en-US" sz="1200"/>
          </a:p>
        </p:txBody>
      </p:sp>
      <p:sp>
        <p:nvSpPr>
          <p:cNvPr id="169987" name="Rectangle 2"/>
          <p:cNvSpPr>
            <a:spLocks noGrp="1" noRot="1" noChangeAspect="1" noChangeArrowheads="1" noTextEdit="1"/>
          </p:cNvSpPr>
          <p:nvPr>
            <p:ph type="sldImg"/>
          </p:nvPr>
        </p:nvSpPr>
        <p:spPr>
          <a:xfrm>
            <a:off x="1177925" y="695325"/>
            <a:ext cx="4641850" cy="3481388"/>
          </a:xfrm>
          <a:ln/>
        </p:spPr>
      </p:sp>
      <p:sp>
        <p:nvSpPr>
          <p:cNvPr id="16998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0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2CBA1292-271E-4250-9539-FFC50DBCE514}" type="slidenum">
              <a:rPr lang="en-US" altLang="en-US" sz="1200"/>
              <a:pPr/>
              <a:t>106</a:t>
            </a:fld>
            <a:endParaRPr lang="en-US" altLang="en-US" sz="1200"/>
          </a:p>
        </p:txBody>
      </p:sp>
      <p:sp>
        <p:nvSpPr>
          <p:cNvPr id="171011" name="Rectangle 2"/>
          <p:cNvSpPr>
            <a:spLocks noGrp="1" noRot="1" noChangeAspect="1" noChangeArrowheads="1" noTextEdit="1"/>
          </p:cNvSpPr>
          <p:nvPr>
            <p:ph type="sldImg"/>
          </p:nvPr>
        </p:nvSpPr>
        <p:spPr>
          <a:xfrm>
            <a:off x="1177925" y="695325"/>
            <a:ext cx="4641850" cy="3481388"/>
          </a:xfrm>
          <a:ln/>
        </p:spPr>
      </p:sp>
      <p:sp>
        <p:nvSpPr>
          <p:cNvPr id="17101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0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5027822-1DA4-45D6-8B4A-F0F2C0E9336B}" type="slidenum">
              <a:rPr lang="en-US" altLang="en-US" sz="1200"/>
              <a:pPr/>
              <a:t>107</a:t>
            </a:fld>
            <a:endParaRPr lang="en-US" altLang="en-US" sz="1200"/>
          </a:p>
        </p:txBody>
      </p:sp>
      <p:sp>
        <p:nvSpPr>
          <p:cNvPr id="172035" name="Rectangle 2"/>
          <p:cNvSpPr>
            <a:spLocks noGrp="1" noRot="1" noChangeAspect="1" noChangeArrowheads="1" noTextEdit="1"/>
          </p:cNvSpPr>
          <p:nvPr>
            <p:ph type="sldImg"/>
          </p:nvPr>
        </p:nvSpPr>
        <p:spPr>
          <a:xfrm>
            <a:off x="1177925" y="695325"/>
            <a:ext cx="4641850" cy="3481388"/>
          </a:xfrm>
          <a:ln/>
        </p:spPr>
      </p:sp>
      <p:sp>
        <p:nvSpPr>
          <p:cNvPr id="17203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F5AE4C2-505E-4B52-AE25-D384F1F0AFC8}" type="slidenum">
              <a:rPr lang="en-US" altLang="en-US" sz="1200"/>
              <a:pPr/>
              <a:t>108</a:t>
            </a:fld>
            <a:endParaRPr lang="en-US" altLang="en-US" sz="1200"/>
          </a:p>
        </p:txBody>
      </p:sp>
      <p:sp>
        <p:nvSpPr>
          <p:cNvPr id="173059" name="Rectangle 2"/>
          <p:cNvSpPr>
            <a:spLocks noGrp="1" noRot="1" noChangeAspect="1" noChangeArrowheads="1" noTextEdit="1"/>
          </p:cNvSpPr>
          <p:nvPr>
            <p:ph type="sldImg"/>
          </p:nvPr>
        </p:nvSpPr>
        <p:spPr>
          <a:xfrm>
            <a:off x="1177925" y="695325"/>
            <a:ext cx="4641850" cy="3481388"/>
          </a:xfrm>
          <a:ln/>
        </p:spPr>
      </p:sp>
      <p:sp>
        <p:nvSpPr>
          <p:cNvPr id="17306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749D456-034E-4195-8672-8080BB49D1C9}" type="slidenum">
              <a:rPr lang="en-US" altLang="en-US" sz="1200"/>
              <a:pPr/>
              <a:t>109</a:t>
            </a:fld>
            <a:endParaRPr lang="en-US" altLang="en-US" sz="1200"/>
          </a:p>
        </p:txBody>
      </p:sp>
      <p:sp>
        <p:nvSpPr>
          <p:cNvPr id="174083" name="Rectangle 2"/>
          <p:cNvSpPr>
            <a:spLocks noGrp="1" noRot="1" noChangeAspect="1" noChangeArrowheads="1" noTextEdit="1"/>
          </p:cNvSpPr>
          <p:nvPr>
            <p:ph type="sldImg"/>
          </p:nvPr>
        </p:nvSpPr>
        <p:spPr>
          <a:ln/>
        </p:spPr>
      </p:sp>
      <p:sp>
        <p:nvSpPr>
          <p:cNvPr id="17408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1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F5C975C-CA24-4F0D-85AD-F6146BCF0205}" type="slidenum">
              <a:rPr lang="en-US" altLang="en-US" sz="1200"/>
              <a:pPr/>
              <a:t>110</a:t>
            </a:fld>
            <a:endParaRPr lang="en-US" altLang="en-US" sz="1200"/>
          </a:p>
        </p:txBody>
      </p:sp>
      <p:sp>
        <p:nvSpPr>
          <p:cNvPr id="175107" name="Rectangle 2"/>
          <p:cNvSpPr>
            <a:spLocks noGrp="1" noRot="1" noChangeAspect="1" noChangeArrowheads="1" noTextEdit="1"/>
          </p:cNvSpPr>
          <p:nvPr>
            <p:ph type="sldImg"/>
          </p:nvPr>
        </p:nvSpPr>
        <p:spPr>
          <a:xfrm>
            <a:off x="1177925" y="695325"/>
            <a:ext cx="4641850" cy="3481388"/>
          </a:xfrm>
          <a:ln/>
        </p:spPr>
      </p:sp>
      <p:sp>
        <p:nvSpPr>
          <p:cNvPr id="17510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61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A5F8435-A232-49CF-A9C6-B8722E09AEA4}" type="slidenum">
              <a:rPr lang="en-US" altLang="en-US" sz="1200"/>
              <a:pPr/>
              <a:t>111</a:t>
            </a:fld>
            <a:endParaRPr lang="en-US" altLang="en-US" sz="1200"/>
          </a:p>
        </p:txBody>
      </p:sp>
      <p:sp>
        <p:nvSpPr>
          <p:cNvPr id="176131" name="Rectangle 2"/>
          <p:cNvSpPr>
            <a:spLocks noGrp="1" noRot="1" noChangeAspect="1" noChangeArrowheads="1" noTextEdit="1"/>
          </p:cNvSpPr>
          <p:nvPr>
            <p:ph type="sldImg"/>
          </p:nvPr>
        </p:nvSpPr>
        <p:spPr>
          <a:xfrm>
            <a:off x="1177925" y="695325"/>
            <a:ext cx="4641850" cy="3481388"/>
          </a:xfrm>
          <a:ln/>
        </p:spPr>
      </p:sp>
      <p:sp>
        <p:nvSpPr>
          <p:cNvPr id="17613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1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29301218-705C-4D04-BB0F-53A85D1868AA}" type="slidenum">
              <a:rPr lang="en-US" altLang="en-US" sz="1200"/>
              <a:pPr/>
              <a:t>112</a:t>
            </a:fld>
            <a:endParaRPr lang="en-US" altLang="en-US" sz="1200"/>
          </a:p>
        </p:txBody>
      </p:sp>
      <p:sp>
        <p:nvSpPr>
          <p:cNvPr id="177155" name="Rectangle 2"/>
          <p:cNvSpPr>
            <a:spLocks noGrp="1" noRot="1" noChangeAspect="1" noChangeArrowheads="1" noTextEdit="1"/>
          </p:cNvSpPr>
          <p:nvPr>
            <p:ph type="sldImg"/>
          </p:nvPr>
        </p:nvSpPr>
        <p:spPr>
          <a:xfrm>
            <a:off x="1177925" y="695325"/>
            <a:ext cx="4641850" cy="3481388"/>
          </a:xfrm>
          <a:ln/>
        </p:spPr>
      </p:sp>
      <p:sp>
        <p:nvSpPr>
          <p:cNvPr id="17715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1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5FB9D207-2DEF-441B-BED4-CFAF747A5F24}" type="slidenum">
              <a:rPr lang="en-US" altLang="en-US" sz="1200"/>
              <a:pPr/>
              <a:t>113</a:t>
            </a:fld>
            <a:endParaRPr lang="en-US" altLang="en-US" sz="1200"/>
          </a:p>
        </p:txBody>
      </p:sp>
      <p:sp>
        <p:nvSpPr>
          <p:cNvPr id="178179" name="Rectangle 2"/>
          <p:cNvSpPr>
            <a:spLocks noGrp="1" noRot="1" noChangeAspect="1" noChangeArrowheads="1" noTextEdit="1"/>
          </p:cNvSpPr>
          <p:nvPr>
            <p:ph type="sldImg"/>
          </p:nvPr>
        </p:nvSpPr>
        <p:spPr>
          <a:xfrm>
            <a:off x="1177925" y="695325"/>
            <a:ext cx="4641850" cy="3481388"/>
          </a:xfrm>
          <a:ln/>
        </p:spPr>
      </p:sp>
      <p:sp>
        <p:nvSpPr>
          <p:cNvPr id="17818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2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060B2CAC-AEF3-41E1-B7D5-B6BAEDAB4D0E}" type="slidenum">
              <a:rPr lang="en-US" altLang="en-US" sz="1200"/>
              <a:pPr/>
              <a:t>114</a:t>
            </a:fld>
            <a:endParaRPr lang="en-US" altLang="en-US" sz="1200"/>
          </a:p>
        </p:txBody>
      </p:sp>
      <p:sp>
        <p:nvSpPr>
          <p:cNvPr id="179203" name="Rectangle 2"/>
          <p:cNvSpPr>
            <a:spLocks noGrp="1" noRot="1" noChangeAspect="1" noChangeArrowheads="1" noTextEdit="1"/>
          </p:cNvSpPr>
          <p:nvPr>
            <p:ph type="sldImg"/>
          </p:nvPr>
        </p:nvSpPr>
        <p:spPr>
          <a:xfrm>
            <a:off x="1177925" y="695325"/>
            <a:ext cx="4641850" cy="3481388"/>
          </a:xfrm>
          <a:ln/>
        </p:spPr>
      </p:sp>
      <p:sp>
        <p:nvSpPr>
          <p:cNvPr id="17920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02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1062B22B-5B5B-47F1-897F-E166688E4CF0}" type="slidenum">
              <a:rPr lang="en-US" altLang="en-US" sz="1200"/>
              <a:pPr/>
              <a:t>115</a:t>
            </a:fld>
            <a:endParaRPr lang="en-US" altLang="en-US" sz="1200"/>
          </a:p>
        </p:txBody>
      </p:sp>
      <p:sp>
        <p:nvSpPr>
          <p:cNvPr id="180227" name="Rectangle 2"/>
          <p:cNvSpPr>
            <a:spLocks noGrp="1" noRot="1" noChangeAspect="1" noChangeArrowheads="1" noTextEdit="1"/>
          </p:cNvSpPr>
          <p:nvPr>
            <p:ph type="sldImg"/>
          </p:nvPr>
        </p:nvSpPr>
        <p:spPr>
          <a:xfrm>
            <a:off x="1177925" y="695325"/>
            <a:ext cx="4641850" cy="3481388"/>
          </a:xfrm>
          <a:ln/>
        </p:spPr>
      </p:sp>
      <p:sp>
        <p:nvSpPr>
          <p:cNvPr id="18022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2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E09E8797-367B-4BC3-98D0-381C471A0413}" type="slidenum">
              <a:rPr lang="en-US" altLang="en-US" sz="1200"/>
              <a:pPr/>
              <a:t>116</a:t>
            </a:fld>
            <a:endParaRPr lang="en-US" altLang="en-US" sz="1200"/>
          </a:p>
        </p:txBody>
      </p:sp>
      <p:sp>
        <p:nvSpPr>
          <p:cNvPr id="181251" name="Rectangle 2"/>
          <p:cNvSpPr>
            <a:spLocks noGrp="1" noRot="1" noChangeAspect="1" noChangeArrowheads="1" noTextEdit="1"/>
          </p:cNvSpPr>
          <p:nvPr>
            <p:ph type="sldImg"/>
          </p:nvPr>
        </p:nvSpPr>
        <p:spPr>
          <a:xfrm>
            <a:off x="1177925" y="695325"/>
            <a:ext cx="4641850" cy="3481388"/>
          </a:xfrm>
          <a:ln/>
        </p:spPr>
      </p:sp>
      <p:sp>
        <p:nvSpPr>
          <p:cNvPr id="18125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DB84E881-A958-4B68-ADE6-2B7C0AFAFFC8}" type="slidenum">
              <a:rPr lang="en-US" altLang="en-US" sz="1200"/>
              <a:pPr/>
              <a:t>117</a:t>
            </a:fld>
            <a:endParaRPr lang="en-US" altLang="en-US" sz="1200"/>
          </a:p>
        </p:txBody>
      </p:sp>
      <p:sp>
        <p:nvSpPr>
          <p:cNvPr id="182275" name="Rectangle 2"/>
          <p:cNvSpPr>
            <a:spLocks noGrp="1" noRot="1" noChangeAspect="1" noChangeArrowheads="1" noTextEdit="1"/>
          </p:cNvSpPr>
          <p:nvPr>
            <p:ph type="sldImg"/>
          </p:nvPr>
        </p:nvSpPr>
        <p:spPr>
          <a:xfrm>
            <a:off x="1177925" y="695325"/>
            <a:ext cx="4641850" cy="3481388"/>
          </a:xfrm>
          <a:ln/>
        </p:spPr>
      </p:sp>
      <p:sp>
        <p:nvSpPr>
          <p:cNvPr id="18227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2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14A4D597-B539-4990-B3B7-C5878BB257C4}" type="slidenum">
              <a:rPr lang="en-US" altLang="en-US" sz="1200"/>
              <a:pPr/>
              <a:t>118</a:t>
            </a:fld>
            <a:endParaRPr lang="en-US" altLang="en-US" sz="1200"/>
          </a:p>
        </p:txBody>
      </p:sp>
      <p:sp>
        <p:nvSpPr>
          <p:cNvPr id="183299" name="Rectangle 2"/>
          <p:cNvSpPr>
            <a:spLocks noGrp="1" noRot="1" noChangeAspect="1" noChangeArrowheads="1" noTextEdit="1"/>
          </p:cNvSpPr>
          <p:nvPr>
            <p:ph type="sldImg"/>
          </p:nvPr>
        </p:nvSpPr>
        <p:spPr>
          <a:xfrm>
            <a:off x="1177925" y="695325"/>
            <a:ext cx="4641850" cy="3481388"/>
          </a:xfrm>
          <a:ln/>
        </p:spPr>
      </p:sp>
      <p:sp>
        <p:nvSpPr>
          <p:cNvPr id="18330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2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8AF6520D-BDC3-4206-98C8-000B2AAC71C5}" type="slidenum">
              <a:rPr lang="en-US" altLang="en-US" sz="1200"/>
              <a:pPr/>
              <a:t>119</a:t>
            </a:fld>
            <a:endParaRPr lang="en-US" altLang="en-US" sz="1200"/>
          </a:p>
        </p:txBody>
      </p:sp>
      <p:sp>
        <p:nvSpPr>
          <p:cNvPr id="184323" name="Rectangle 2"/>
          <p:cNvSpPr>
            <a:spLocks noGrp="1" noRot="1" noChangeAspect="1" noChangeArrowheads="1" noTextEdit="1"/>
          </p:cNvSpPr>
          <p:nvPr>
            <p:ph type="sldImg"/>
          </p:nvPr>
        </p:nvSpPr>
        <p:spPr>
          <a:xfrm>
            <a:off x="1177925" y="695325"/>
            <a:ext cx="4641850" cy="3481388"/>
          </a:xfrm>
          <a:ln/>
        </p:spPr>
      </p:sp>
      <p:sp>
        <p:nvSpPr>
          <p:cNvPr id="18432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3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1A439975-68C6-4A78-9207-604005262388}" type="slidenum">
              <a:rPr lang="en-US" altLang="en-US" sz="1200"/>
              <a:pPr/>
              <a:t>120</a:t>
            </a:fld>
            <a:endParaRPr lang="en-US" altLang="en-US" sz="1200"/>
          </a:p>
        </p:txBody>
      </p:sp>
      <p:sp>
        <p:nvSpPr>
          <p:cNvPr id="185347" name="Rectangle 2"/>
          <p:cNvSpPr>
            <a:spLocks noGrp="1" noRot="1" noChangeAspect="1" noChangeArrowheads="1" noTextEdit="1"/>
          </p:cNvSpPr>
          <p:nvPr>
            <p:ph type="sldImg"/>
          </p:nvPr>
        </p:nvSpPr>
        <p:spPr>
          <a:ln/>
        </p:spPr>
      </p:sp>
      <p:sp>
        <p:nvSpPr>
          <p:cNvPr id="1853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10CA98BF-2766-4132-A090-BEDD1F53C69F}" type="slidenum">
              <a:rPr lang="en-US" altLang="en-US" sz="1200"/>
              <a:pPr/>
              <a:t>121</a:t>
            </a:fld>
            <a:endParaRPr lang="en-US" altLang="en-US" sz="1200"/>
          </a:p>
        </p:txBody>
      </p:sp>
      <p:sp>
        <p:nvSpPr>
          <p:cNvPr id="186371" name="Rectangle 2"/>
          <p:cNvSpPr>
            <a:spLocks noGrp="1" noRot="1" noChangeAspect="1" noChangeArrowheads="1" noTextEdit="1"/>
          </p:cNvSpPr>
          <p:nvPr>
            <p:ph type="sldImg"/>
          </p:nvPr>
        </p:nvSpPr>
        <p:spPr>
          <a:xfrm>
            <a:off x="1177925" y="695325"/>
            <a:ext cx="4641850" cy="3481388"/>
          </a:xfrm>
          <a:ln/>
        </p:spPr>
      </p:sp>
      <p:sp>
        <p:nvSpPr>
          <p:cNvPr id="18637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3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F70A9382-BE8A-447D-8A13-E2C05FAE4009}" type="slidenum">
              <a:rPr lang="en-US" altLang="en-US" sz="1200"/>
              <a:pPr/>
              <a:t>122</a:t>
            </a:fld>
            <a:endParaRPr lang="en-US" altLang="en-US" sz="1200"/>
          </a:p>
        </p:txBody>
      </p:sp>
      <p:sp>
        <p:nvSpPr>
          <p:cNvPr id="187395" name="Rectangle 2"/>
          <p:cNvSpPr>
            <a:spLocks noGrp="1" noRot="1" noChangeAspect="1" noChangeArrowheads="1" noTextEdit="1"/>
          </p:cNvSpPr>
          <p:nvPr>
            <p:ph type="sldImg"/>
          </p:nvPr>
        </p:nvSpPr>
        <p:spPr>
          <a:xfrm>
            <a:off x="1177925" y="695325"/>
            <a:ext cx="4641850" cy="3481388"/>
          </a:xfrm>
          <a:ln/>
        </p:spPr>
      </p:sp>
      <p:sp>
        <p:nvSpPr>
          <p:cNvPr id="18739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4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5FFF916E-004C-4E0F-94C7-A1F1AB4046CB}" type="slidenum">
              <a:rPr lang="en-US" altLang="en-US" sz="1200"/>
              <a:pPr/>
              <a:t>124</a:t>
            </a:fld>
            <a:endParaRPr lang="en-US" altLang="en-US" sz="1200"/>
          </a:p>
        </p:txBody>
      </p:sp>
      <p:sp>
        <p:nvSpPr>
          <p:cNvPr id="189443" name="Rectangle 2"/>
          <p:cNvSpPr>
            <a:spLocks noGrp="1" noRot="1" noChangeAspect="1" noChangeArrowheads="1" noTextEdit="1"/>
          </p:cNvSpPr>
          <p:nvPr>
            <p:ph type="sldImg"/>
          </p:nvPr>
        </p:nvSpPr>
        <p:spPr>
          <a:xfrm>
            <a:off x="1177925" y="695325"/>
            <a:ext cx="4641850" cy="3481388"/>
          </a:xfrm>
          <a:ln/>
        </p:spPr>
      </p:sp>
      <p:sp>
        <p:nvSpPr>
          <p:cNvPr id="18944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4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AA5FC84-D300-4993-8FFF-76B7189FD726}" type="slidenum">
              <a:rPr lang="en-US" altLang="en-US" sz="1200"/>
              <a:pPr/>
              <a:t>125</a:t>
            </a:fld>
            <a:endParaRPr lang="en-US" altLang="en-US" sz="1200"/>
          </a:p>
        </p:txBody>
      </p:sp>
      <p:sp>
        <p:nvSpPr>
          <p:cNvPr id="190467" name="Rectangle 2"/>
          <p:cNvSpPr>
            <a:spLocks noGrp="1" noRot="1" noChangeAspect="1" noChangeArrowheads="1" noTextEdit="1"/>
          </p:cNvSpPr>
          <p:nvPr>
            <p:ph type="sldImg"/>
          </p:nvPr>
        </p:nvSpPr>
        <p:spPr>
          <a:xfrm>
            <a:off x="1177925" y="695325"/>
            <a:ext cx="4641850" cy="3481388"/>
          </a:xfrm>
          <a:ln/>
        </p:spPr>
      </p:sp>
      <p:sp>
        <p:nvSpPr>
          <p:cNvPr id="19046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834D146A-0FCA-4AA9-B806-71D700033438}" type="slidenum">
              <a:rPr lang="en-US" altLang="en-US" sz="1200"/>
              <a:pPr/>
              <a:t>126</a:t>
            </a:fld>
            <a:endParaRPr lang="en-US" altLang="en-US" sz="1200"/>
          </a:p>
        </p:txBody>
      </p:sp>
      <p:sp>
        <p:nvSpPr>
          <p:cNvPr id="191491" name="Rectangle 2"/>
          <p:cNvSpPr>
            <a:spLocks noGrp="1" noRot="1" noChangeAspect="1" noChangeArrowheads="1" noTextEdit="1"/>
          </p:cNvSpPr>
          <p:nvPr>
            <p:ph type="sldImg"/>
          </p:nvPr>
        </p:nvSpPr>
        <p:spPr>
          <a:xfrm>
            <a:off x="1177925" y="695325"/>
            <a:ext cx="4641850" cy="3481388"/>
          </a:xfrm>
          <a:ln/>
        </p:spPr>
      </p:sp>
      <p:sp>
        <p:nvSpPr>
          <p:cNvPr id="19149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51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7662A18-7A7C-4076-893B-6E4783118D4F}" type="slidenum">
              <a:rPr lang="en-US" altLang="en-US" sz="1200"/>
              <a:pPr/>
              <a:t>127</a:t>
            </a:fld>
            <a:endParaRPr lang="en-US" altLang="en-US" sz="1200"/>
          </a:p>
        </p:txBody>
      </p:sp>
      <p:sp>
        <p:nvSpPr>
          <p:cNvPr id="192515" name="Rectangle 2"/>
          <p:cNvSpPr>
            <a:spLocks noGrp="1" noRot="1" noChangeAspect="1" noChangeArrowheads="1" noTextEdit="1"/>
          </p:cNvSpPr>
          <p:nvPr>
            <p:ph type="sldImg"/>
          </p:nvPr>
        </p:nvSpPr>
        <p:spPr>
          <a:xfrm>
            <a:off x="1177925" y="695325"/>
            <a:ext cx="4641850" cy="3481388"/>
          </a:xfrm>
          <a:ln/>
        </p:spPr>
      </p:sp>
      <p:sp>
        <p:nvSpPr>
          <p:cNvPr id="19251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5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FEB02815-2E8F-4F1F-8AF4-3F688E850CE7}" type="slidenum">
              <a:rPr lang="en-US" altLang="en-US" sz="1200"/>
              <a:pPr/>
              <a:t>128</a:t>
            </a:fld>
            <a:endParaRPr lang="en-US" altLang="en-US" sz="1200"/>
          </a:p>
        </p:txBody>
      </p:sp>
      <p:sp>
        <p:nvSpPr>
          <p:cNvPr id="193539" name="Rectangle 2"/>
          <p:cNvSpPr>
            <a:spLocks noGrp="1" noRot="1" noChangeAspect="1" noChangeArrowheads="1" noTextEdit="1"/>
          </p:cNvSpPr>
          <p:nvPr>
            <p:ph type="sldImg"/>
          </p:nvPr>
        </p:nvSpPr>
        <p:spPr>
          <a:xfrm>
            <a:off x="1177925" y="695325"/>
            <a:ext cx="4641850" cy="3481388"/>
          </a:xfrm>
          <a:ln/>
        </p:spPr>
      </p:sp>
      <p:sp>
        <p:nvSpPr>
          <p:cNvPr id="19354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6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87AD0300-7DF2-417B-9258-1FCF1C4B0F18}" type="slidenum">
              <a:rPr lang="en-US" altLang="en-US" sz="1200"/>
              <a:pPr/>
              <a:t>129</a:t>
            </a:fld>
            <a:endParaRPr lang="en-US" altLang="en-US" sz="1200"/>
          </a:p>
        </p:txBody>
      </p:sp>
      <p:sp>
        <p:nvSpPr>
          <p:cNvPr id="194563" name="Rectangle 2"/>
          <p:cNvSpPr>
            <a:spLocks noGrp="1" noRot="1" noChangeAspect="1" noChangeArrowheads="1" noTextEdit="1"/>
          </p:cNvSpPr>
          <p:nvPr>
            <p:ph type="sldImg"/>
          </p:nvPr>
        </p:nvSpPr>
        <p:spPr>
          <a:xfrm>
            <a:off x="1177925" y="695325"/>
            <a:ext cx="4641850" cy="3481388"/>
          </a:xfrm>
          <a:ln/>
        </p:spPr>
      </p:sp>
      <p:sp>
        <p:nvSpPr>
          <p:cNvPr id="19456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6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65BE18E-95C0-4077-93A4-3B3170CA9954}" type="slidenum">
              <a:rPr lang="en-US" altLang="en-US" sz="1200"/>
              <a:pPr/>
              <a:t>131</a:t>
            </a:fld>
            <a:endParaRPr lang="en-US" altLang="en-US" sz="1200"/>
          </a:p>
        </p:txBody>
      </p:sp>
      <p:sp>
        <p:nvSpPr>
          <p:cNvPr id="196611" name="Rectangle 2"/>
          <p:cNvSpPr>
            <a:spLocks noGrp="1" noRot="1" noChangeAspect="1" noChangeArrowheads="1" noTextEdit="1"/>
          </p:cNvSpPr>
          <p:nvPr>
            <p:ph type="sldImg"/>
          </p:nvPr>
        </p:nvSpPr>
        <p:spPr>
          <a:xfrm>
            <a:off x="1177925" y="695325"/>
            <a:ext cx="4641850" cy="3481388"/>
          </a:xfrm>
          <a:ln/>
        </p:spPr>
      </p:sp>
      <p:sp>
        <p:nvSpPr>
          <p:cNvPr id="19661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D675266-589F-43B0-9701-90476419F730}" type="slidenum">
              <a:rPr lang="en-US" altLang="en-US" sz="1200"/>
              <a:pPr/>
              <a:t>132</a:t>
            </a:fld>
            <a:endParaRPr lang="en-US" altLang="en-US" sz="1200"/>
          </a:p>
        </p:txBody>
      </p:sp>
      <p:sp>
        <p:nvSpPr>
          <p:cNvPr id="197635" name="Rectangle 2"/>
          <p:cNvSpPr>
            <a:spLocks noGrp="1" noRot="1" noChangeAspect="1" noChangeArrowheads="1" noTextEdit="1"/>
          </p:cNvSpPr>
          <p:nvPr>
            <p:ph type="sldImg"/>
          </p:nvPr>
        </p:nvSpPr>
        <p:spPr>
          <a:xfrm>
            <a:off x="1177925" y="695325"/>
            <a:ext cx="4641850" cy="3481388"/>
          </a:xfrm>
          <a:ln/>
        </p:spPr>
      </p:sp>
      <p:sp>
        <p:nvSpPr>
          <p:cNvPr id="19763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86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588DF86E-0385-4E7C-82B3-654758E8AEBF}" type="slidenum">
              <a:rPr lang="en-US" altLang="en-US" sz="1200"/>
              <a:pPr/>
              <a:t>133</a:t>
            </a:fld>
            <a:endParaRPr lang="en-US" altLang="en-US" sz="1200"/>
          </a:p>
        </p:txBody>
      </p:sp>
      <p:sp>
        <p:nvSpPr>
          <p:cNvPr id="198659" name="Rectangle 2"/>
          <p:cNvSpPr>
            <a:spLocks noGrp="1" noRot="1" noChangeAspect="1" noChangeArrowheads="1" noTextEdit="1"/>
          </p:cNvSpPr>
          <p:nvPr>
            <p:ph type="sldImg"/>
          </p:nvPr>
        </p:nvSpPr>
        <p:spPr>
          <a:xfrm>
            <a:off x="1177925" y="695325"/>
            <a:ext cx="4641850" cy="3481388"/>
          </a:xfrm>
          <a:ln/>
        </p:spPr>
      </p:sp>
      <p:sp>
        <p:nvSpPr>
          <p:cNvPr id="19866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6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5DB39A99-E879-404A-858C-3AE1BF5F92CA}" type="slidenum">
              <a:rPr lang="en-US" altLang="en-US" sz="1200"/>
              <a:pPr/>
              <a:t>134</a:t>
            </a:fld>
            <a:endParaRPr lang="en-US" altLang="en-US" sz="1200"/>
          </a:p>
        </p:txBody>
      </p:sp>
      <p:sp>
        <p:nvSpPr>
          <p:cNvPr id="199683" name="Rectangle 2"/>
          <p:cNvSpPr>
            <a:spLocks noGrp="1" noRot="1" noChangeAspect="1" noChangeArrowheads="1" noTextEdit="1"/>
          </p:cNvSpPr>
          <p:nvPr>
            <p:ph type="sldImg"/>
          </p:nvPr>
        </p:nvSpPr>
        <p:spPr>
          <a:xfrm>
            <a:off x="1177925" y="695325"/>
            <a:ext cx="4641850" cy="3481388"/>
          </a:xfrm>
          <a:ln/>
        </p:spPr>
      </p:sp>
      <p:sp>
        <p:nvSpPr>
          <p:cNvPr id="19968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7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0DDD9CE7-351F-48CE-967A-358B845A4695}" type="slidenum">
              <a:rPr lang="en-US" altLang="en-US" sz="1200"/>
              <a:pPr/>
              <a:t>135</a:t>
            </a:fld>
            <a:endParaRPr lang="en-US" altLang="en-US" sz="1200"/>
          </a:p>
        </p:txBody>
      </p:sp>
      <p:sp>
        <p:nvSpPr>
          <p:cNvPr id="200707" name="Rectangle 2"/>
          <p:cNvSpPr>
            <a:spLocks noGrp="1" noRot="1" noChangeAspect="1" noChangeArrowheads="1" noTextEdit="1"/>
          </p:cNvSpPr>
          <p:nvPr>
            <p:ph type="sldImg"/>
          </p:nvPr>
        </p:nvSpPr>
        <p:spPr>
          <a:xfrm>
            <a:off x="1177925" y="695325"/>
            <a:ext cx="4641850" cy="3481388"/>
          </a:xfrm>
          <a:ln/>
        </p:spPr>
      </p:sp>
      <p:sp>
        <p:nvSpPr>
          <p:cNvPr id="20070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17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0029BB9-2A89-4B67-AE42-9DB9D32BF98D}" type="slidenum">
              <a:rPr lang="en-US" altLang="en-US" sz="1200"/>
              <a:pPr/>
              <a:t>136</a:t>
            </a:fld>
            <a:endParaRPr lang="en-US" altLang="en-US" sz="1200"/>
          </a:p>
        </p:txBody>
      </p:sp>
      <p:sp>
        <p:nvSpPr>
          <p:cNvPr id="201731" name="Rectangle 2"/>
          <p:cNvSpPr>
            <a:spLocks noGrp="1" noRot="1" noChangeAspect="1" noChangeArrowheads="1" noTextEdit="1"/>
          </p:cNvSpPr>
          <p:nvPr>
            <p:ph type="sldImg"/>
          </p:nvPr>
        </p:nvSpPr>
        <p:spPr>
          <a:xfrm>
            <a:off x="1177925" y="695325"/>
            <a:ext cx="4641850" cy="3481388"/>
          </a:xfrm>
          <a:ln/>
        </p:spPr>
      </p:sp>
      <p:sp>
        <p:nvSpPr>
          <p:cNvPr id="20173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27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F9645A2-1248-423A-8556-84A2D4FA5E36}" type="slidenum">
              <a:rPr lang="en-US" altLang="en-US" sz="1200"/>
              <a:pPr/>
              <a:t>137</a:t>
            </a:fld>
            <a:endParaRPr lang="en-US" altLang="en-US" sz="1200"/>
          </a:p>
        </p:txBody>
      </p:sp>
      <p:sp>
        <p:nvSpPr>
          <p:cNvPr id="202755" name="Rectangle 2"/>
          <p:cNvSpPr>
            <a:spLocks noGrp="1" noRot="1" noChangeAspect="1" noChangeArrowheads="1" noTextEdit="1"/>
          </p:cNvSpPr>
          <p:nvPr>
            <p:ph type="sldImg"/>
          </p:nvPr>
        </p:nvSpPr>
        <p:spPr>
          <a:xfrm>
            <a:off x="1177925" y="695325"/>
            <a:ext cx="4641850" cy="3481388"/>
          </a:xfrm>
          <a:ln/>
        </p:spPr>
      </p:sp>
      <p:sp>
        <p:nvSpPr>
          <p:cNvPr id="20275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7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D9BE1E68-DCB1-4B85-8BF4-1674F75BDA38}" type="slidenum">
              <a:rPr lang="en-US" altLang="en-US" sz="1200"/>
              <a:pPr/>
              <a:t>138</a:t>
            </a:fld>
            <a:endParaRPr lang="en-US" altLang="en-US" sz="1200"/>
          </a:p>
        </p:txBody>
      </p:sp>
      <p:sp>
        <p:nvSpPr>
          <p:cNvPr id="203779" name="Rectangle 2"/>
          <p:cNvSpPr>
            <a:spLocks noGrp="1" noRot="1" noChangeAspect="1" noChangeArrowheads="1" noTextEdit="1"/>
          </p:cNvSpPr>
          <p:nvPr>
            <p:ph type="sldImg"/>
          </p:nvPr>
        </p:nvSpPr>
        <p:spPr>
          <a:xfrm>
            <a:off x="1177925" y="695325"/>
            <a:ext cx="4641850" cy="3481388"/>
          </a:xfrm>
          <a:ln/>
        </p:spPr>
      </p:sp>
      <p:sp>
        <p:nvSpPr>
          <p:cNvPr id="20378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038419CD-81A9-4ED0-AB27-AA58D803B9B6}" type="slidenum">
              <a:rPr lang="en-US" altLang="en-US" sz="1200"/>
              <a:pPr/>
              <a:t>139</a:t>
            </a:fld>
            <a:endParaRPr lang="en-US" altLang="en-US" sz="1200"/>
          </a:p>
        </p:txBody>
      </p:sp>
      <p:sp>
        <p:nvSpPr>
          <p:cNvPr id="204803" name="Rectangle 2"/>
          <p:cNvSpPr>
            <a:spLocks noGrp="1" noRot="1" noChangeAspect="1" noChangeArrowheads="1" noTextEdit="1"/>
          </p:cNvSpPr>
          <p:nvPr>
            <p:ph type="sldImg"/>
          </p:nvPr>
        </p:nvSpPr>
        <p:spPr>
          <a:xfrm>
            <a:off x="1177925" y="695325"/>
            <a:ext cx="4641850" cy="3481388"/>
          </a:xfrm>
          <a:ln/>
        </p:spPr>
      </p:sp>
      <p:sp>
        <p:nvSpPr>
          <p:cNvPr id="20480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8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ACD90F2-E731-4C57-9E9C-AE613BD3ED33}" type="slidenum">
              <a:rPr lang="en-US" altLang="en-US" sz="1200"/>
              <a:pPr/>
              <a:t>140</a:t>
            </a:fld>
            <a:endParaRPr lang="en-US" altLang="en-US" sz="1200"/>
          </a:p>
        </p:txBody>
      </p:sp>
      <p:sp>
        <p:nvSpPr>
          <p:cNvPr id="205827" name="Rectangle 2"/>
          <p:cNvSpPr>
            <a:spLocks noGrp="1" noRot="1" noChangeAspect="1" noChangeArrowheads="1" noTextEdit="1"/>
          </p:cNvSpPr>
          <p:nvPr>
            <p:ph type="sldImg"/>
          </p:nvPr>
        </p:nvSpPr>
        <p:spPr>
          <a:xfrm>
            <a:off x="1177925" y="695325"/>
            <a:ext cx="4641850" cy="3481388"/>
          </a:xfrm>
          <a:ln/>
        </p:spPr>
      </p:sp>
      <p:sp>
        <p:nvSpPr>
          <p:cNvPr id="20582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8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5A6B90E9-AD16-49EE-8AC8-14E0E639CE5E}" type="slidenum">
              <a:rPr lang="en-US" altLang="en-US" sz="1200"/>
              <a:pPr/>
              <a:t>141</a:t>
            </a:fld>
            <a:endParaRPr lang="en-US" altLang="en-US" sz="1200"/>
          </a:p>
        </p:txBody>
      </p:sp>
      <p:sp>
        <p:nvSpPr>
          <p:cNvPr id="206851" name="Rectangle 2"/>
          <p:cNvSpPr>
            <a:spLocks noGrp="1" noRot="1" noChangeAspect="1" noChangeArrowheads="1" noTextEdit="1"/>
          </p:cNvSpPr>
          <p:nvPr>
            <p:ph type="sldImg"/>
          </p:nvPr>
        </p:nvSpPr>
        <p:spPr>
          <a:xfrm>
            <a:off x="1177925" y="695325"/>
            <a:ext cx="4641850" cy="3481388"/>
          </a:xfrm>
          <a:ln/>
        </p:spPr>
      </p:sp>
      <p:sp>
        <p:nvSpPr>
          <p:cNvPr id="20685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78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6BBED4C9-4176-4C1E-9BDD-B23EF2DAA67E}" type="slidenum">
              <a:rPr lang="en-US" altLang="en-US" sz="1200"/>
              <a:pPr/>
              <a:t>142</a:t>
            </a:fld>
            <a:endParaRPr lang="en-US" altLang="en-US" sz="1200"/>
          </a:p>
        </p:txBody>
      </p:sp>
      <p:sp>
        <p:nvSpPr>
          <p:cNvPr id="207875" name="Rectangle 2"/>
          <p:cNvSpPr>
            <a:spLocks noGrp="1" noRot="1" noChangeAspect="1" noChangeArrowheads="1" noTextEdit="1"/>
          </p:cNvSpPr>
          <p:nvPr>
            <p:ph type="sldImg"/>
          </p:nvPr>
        </p:nvSpPr>
        <p:spPr>
          <a:xfrm>
            <a:off x="1177925" y="695325"/>
            <a:ext cx="4641850" cy="3481388"/>
          </a:xfrm>
          <a:ln/>
        </p:spPr>
      </p:sp>
      <p:sp>
        <p:nvSpPr>
          <p:cNvPr id="20787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8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45FF9D4-41DB-4DDD-A2B7-DFC2E567BB37}" type="slidenum">
              <a:rPr lang="en-US" altLang="en-US" sz="1200"/>
              <a:pPr/>
              <a:t>143</a:t>
            </a:fld>
            <a:endParaRPr lang="en-US" altLang="en-US" sz="1200"/>
          </a:p>
        </p:txBody>
      </p:sp>
      <p:sp>
        <p:nvSpPr>
          <p:cNvPr id="208899" name="Rectangle 2"/>
          <p:cNvSpPr>
            <a:spLocks noGrp="1" noRot="1" noChangeAspect="1" noChangeArrowheads="1" noTextEdit="1"/>
          </p:cNvSpPr>
          <p:nvPr>
            <p:ph type="sldImg"/>
          </p:nvPr>
        </p:nvSpPr>
        <p:spPr>
          <a:xfrm>
            <a:off x="1177925" y="695325"/>
            <a:ext cx="4641850" cy="3481388"/>
          </a:xfrm>
          <a:ln/>
        </p:spPr>
      </p:sp>
      <p:sp>
        <p:nvSpPr>
          <p:cNvPr id="20890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992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1B4B128C-0F01-4305-977D-D3781B10800B}" type="slidenum">
              <a:rPr lang="en-US" altLang="en-US" sz="1200"/>
              <a:pPr/>
              <a:t>144</a:t>
            </a:fld>
            <a:endParaRPr lang="en-US" altLang="en-US" sz="1200"/>
          </a:p>
        </p:txBody>
      </p:sp>
      <p:sp>
        <p:nvSpPr>
          <p:cNvPr id="209923" name="Rectangle 2"/>
          <p:cNvSpPr>
            <a:spLocks noGrp="1" noRot="1" noChangeAspect="1" noChangeArrowheads="1" noTextEdit="1"/>
          </p:cNvSpPr>
          <p:nvPr>
            <p:ph type="sldImg"/>
          </p:nvPr>
        </p:nvSpPr>
        <p:spPr>
          <a:xfrm>
            <a:off x="1177925" y="695325"/>
            <a:ext cx="4641850" cy="3481388"/>
          </a:xfrm>
          <a:ln/>
        </p:spPr>
      </p:sp>
      <p:sp>
        <p:nvSpPr>
          <p:cNvPr id="20992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9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B6A4B368-5493-43AB-83D2-FB2745DC6257}" type="slidenum">
              <a:rPr lang="en-US" altLang="en-US" sz="1200"/>
              <a:pPr/>
              <a:t>145</a:t>
            </a:fld>
            <a:endParaRPr lang="en-US" altLang="en-US" sz="1200"/>
          </a:p>
        </p:txBody>
      </p:sp>
      <p:sp>
        <p:nvSpPr>
          <p:cNvPr id="210947" name="Rectangle 2"/>
          <p:cNvSpPr>
            <a:spLocks noGrp="1" noRot="1" noChangeAspect="1" noChangeArrowheads="1" noTextEdit="1"/>
          </p:cNvSpPr>
          <p:nvPr>
            <p:ph type="sldImg"/>
          </p:nvPr>
        </p:nvSpPr>
        <p:spPr>
          <a:xfrm>
            <a:off x="1177925" y="695325"/>
            <a:ext cx="4641850" cy="3481388"/>
          </a:xfrm>
          <a:ln/>
        </p:spPr>
      </p:sp>
      <p:sp>
        <p:nvSpPr>
          <p:cNvPr id="21094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19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E26C2D1-1E1E-42BD-85B4-1BCC855514C0}" type="slidenum">
              <a:rPr lang="en-US" altLang="en-US" sz="1200"/>
              <a:pPr/>
              <a:t>146</a:t>
            </a:fld>
            <a:endParaRPr lang="en-US" altLang="en-US" sz="1200"/>
          </a:p>
        </p:txBody>
      </p:sp>
      <p:sp>
        <p:nvSpPr>
          <p:cNvPr id="211971" name="Rectangle 2"/>
          <p:cNvSpPr>
            <a:spLocks noGrp="1" noRot="1" noChangeAspect="1" noChangeArrowheads="1" noTextEdit="1"/>
          </p:cNvSpPr>
          <p:nvPr>
            <p:ph type="sldImg"/>
          </p:nvPr>
        </p:nvSpPr>
        <p:spPr>
          <a:xfrm>
            <a:off x="1177925" y="695325"/>
            <a:ext cx="4641850" cy="3481388"/>
          </a:xfrm>
          <a:ln/>
        </p:spPr>
      </p:sp>
      <p:sp>
        <p:nvSpPr>
          <p:cNvPr id="21197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3" name="Text Box 7">
            <a:extLst>
              <a:ext uri="{FF2B5EF4-FFF2-40B4-BE49-F238E27FC236}">
                <a16:creationId xmlns:a16="http://schemas.microsoft.com/office/drawing/2014/main" id="{3B824858-D1FC-4D05-A041-6B7ADBE51124}"/>
              </a:ext>
            </a:extLst>
          </p:cNvPr>
          <p:cNvSpPr txBox="1">
            <a:spLocks noChangeArrowheads="1"/>
          </p:cNvSpPr>
          <p:nvPr/>
        </p:nvSpPr>
        <p:spPr bwMode="auto">
          <a:xfrm>
            <a:off x="2674938" y="5726113"/>
            <a:ext cx="3694112" cy="793750"/>
          </a:xfrm>
          <a:prstGeom prst="rect">
            <a:avLst/>
          </a:prstGeom>
          <a:noFill/>
          <a:ln>
            <a:noFill/>
          </a:ln>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pic>
        <p:nvPicPr>
          <p:cNvPr id="4" name="Picture 11" descr="Cover-6Ed">
            <a:extLst>
              <a:ext uri="{FF2B5EF4-FFF2-40B4-BE49-F238E27FC236}">
                <a16:creationId xmlns:a16="http://schemas.microsoft.com/office/drawing/2014/main" id="{18F428B9-7195-4F57-AF63-E4A9D8CD8349}"/>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4288" y="0"/>
            <a:ext cx="1330325"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5" name="Rectangle 5">
            <a:extLst>
              <a:ext uri="{FF2B5EF4-FFF2-40B4-BE49-F238E27FC236}">
                <a16:creationId xmlns:a16="http://schemas.microsoft.com/office/drawing/2014/main" id="{33FCF00C-44D2-4DAB-8FFD-D10102022EE2}"/>
              </a:ext>
            </a:extLst>
          </p:cNvPr>
          <p:cNvSpPr>
            <a:spLocks noGrp="1" noChangeArrowheads="1"/>
          </p:cNvSpPr>
          <p:nvPr>
            <p:ph type="sldNum" sz="quarter" idx="10"/>
          </p:nvPr>
        </p:nvSpPr>
        <p:spPr>
          <a:xfrm>
            <a:off x="6596063" y="6218238"/>
            <a:ext cx="1905000" cy="457200"/>
          </a:xfrm>
        </p:spPr>
        <p:txBody>
          <a:bodyPr/>
          <a:lstStyle>
            <a:lvl1pPr>
              <a:defRPr>
                <a:solidFill>
                  <a:srgbClr val="578963"/>
                </a:solidFill>
              </a:defRPr>
            </a:lvl1pPr>
          </a:lstStyle>
          <a:p>
            <a:pPr>
              <a:defRPr/>
            </a:pPr>
            <a:fld id="{ADD8DEBD-898F-47E3-B439-B7F4B77DCB7A}" type="slidenum">
              <a:rPr lang="en-US" altLang="en-US"/>
              <a:pPr>
                <a:defRPr/>
              </a:pPr>
              <a:t>‹#›</a:t>
            </a:fld>
            <a:endParaRPr lang="en-US" altLang="en-US"/>
          </a:p>
        </p:txBody>
      </p:sp>
    </p:spTree>
    <p:extLst>
      <p:ext uri="{BB962C8B-B14F-4D97-AF65-F5344CB8AC3E}">
        <p14:creationId xmlns:p14="http://schemas.microsoft.com/office/powerpoint/2010/main" val="16512888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cs typeface="B Nazanin" panose="00000400000000000000" pitchFamily="2" charset="-78"/>
              </a:defRPr>
            </a:lvl1pPr>
          </a:lstStyle>
          <a:p>
            <a:r>
              <a:rPr lang="en-US" dirty="0"/>
              <a:t>Click to edit Master title style</a:t>
            </a:r>
          </a:p>
        </p:txBody>
      </p:sp>
      <p:sp>
        <p:nvSpPr>
          <p:cNvPr id="3" name="Content Placeholder 2"/>
          <p:cNvSpPr>
            <a:spLocks noGrp="1"/>
          </p:cNvSpPr>
          <p:nvPr>
            <p:ph idx="1"/>
          </p:nvPr>
        </p:nvSpPr>
        <p:spPr>
          <a:xfrm>
            <a:off x="289710" y="1093788"/>
            <a:ext cx="8555839" cy="5288905"/>
          </a:xfrm>
        </p:spPr>
        <p:txBody>
          <a:bodyPr/>
          <a:lstStyle>
            <a:lvl1pPr marL="342900" indent="-342900">
              <a:buSzPct val="110000"/>
              <a:buFont typeface="Wingdings" panose="05000000000000000000" pitchFamily="2" charset="2"/>
              <a:buChar char="§"/>
              <a:defRPr sz="2000">
                <a:cs typeface="B Nazanin" panose="00000400000000000000" pitchFamily="2" charset="-78"/>
              </a:defRPr>
            </a:lvl1pPr>
            <a:lvl2pPr marL="742950" indent="-285750">
              <a:buSzPct val="110000"/>
              <a:buFont typeface="Arial" panose="020B0604020202020204" pitchFamily="34" charset="0"/>
              <a:buChar char="•"/>
              <a:defRPr sz="2000">
                <a:cs typeface="B Nazanin" panose="00000400000000000000" pitchFamily="2" charset="-78"/>
              </a:defRPr>
            </a:lvl2pPr>
            <a:lvl3pPr marL="1085850" indent="-228600">
              <a:buFont typeface="Wingdings" panose="05000000000000000000" pitchFamily="2" charset="2"/>
              <a:buChar char="§"/>
              <a:defRPr sz="2000">
                <a:cs typeface="B Nazanin" panose="00000400000000000000" pitchFamily="2" charset="-78"/>
              </a:defRPr>
            </a:lvl3pPr>
            <a:lvl4pPr marL="1428750" indent="-228600">
              <a:buFont typeface="Arial" panose="020B0604020202020204" pitchFamily="34" charset="0"/>
              <a:buChar char="•"/>
              <a:defRPr sz="2000">
                <a:cs typeface="B Nazanin" panose="00000400000000000000" pitchFamily="2" charset="-78"/>
              </a:defRPr>
            </a:lvl4pPr>
            <a:lvl5pPr marL="1771650" indent="-228600">
              <a:buFont typeface="Wingdings" panose="05000000000000000000" pitchFamily="2" charset="2"/>
              <a:buChar char="§"/>
              <a:defRPr sz="2000">
                <a:cs typeface="B Nazanin" panose="00000400000000000000" pitchFamily="2" charset="-78"/>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960613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3">
            <a:extLst>
              <a:ext uri="{FF2B5EF4-FFF2-40B4-BE49-F238E27FC236}">
                <a16:creationId xmlns:a16="http://schemas.microsoft.com/office/drawing/2014/main" id="{D3A70D55-6B89-4FBD-8EDA-9DB357D48036}"/>
              </a:ext>
            </a:extLst>
          </p:cNvPr>
          <p:cNvSpPr>
            <a:spLocks noGrp="1" noChangeArrowheads="1"/>
          </p:cNvSpPr>
          <p:nvPr>
            <p:ph type="sldNum" sz="quarter" idx="10"/>
          </p:nvPr>
        </p:nvSpPr>
        <p:spPr>
          <a:ln/>
        </p:spPr>
        <p:txBody>
          <a:bodyPr/>
          <a:lstStyle>
            <a:lvl1pPr>
              <a:defRPr/>
            </a:lvl1pPr>
          </a:lstStyle>
          <a:p>
            <a:pPr>
              <a:defRPr/>
            </a:pPr>
            <a:fld id="{DF2F8932-DE11-41D2-8F5F-F6C91B113884}" type="slidenum">
              <a:rPr lang="en-US" altLang="en-US"/>
              <a:pPr>
                <a:defRPr/>
              </a:pPr>
              <a:t>‹#›</a:t>
            </a:fld>
            <a:endParaRPr lang="en-US" altLang="en-US" dirty="0"/>
          </a:p>
        </p:txBody>
      </p:sp>
    </p:spTree>
    <p:extLst>
      <p:ext uri="{BB962C8B-B14F-4D97-AF65-F5344CB8AC3E}">
        <p14:creationId xmlns:p14="http://schemas.microsoft.com/office/powerpoint/2010/main" val="26509397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4388" y="1093788"/>
            <a:ext cx="3754437" cy="4903787"/>
          </a:xfrm>
        </p:spPr>
        <p:txBody>
          <a:bodyPr/>
          <a:lstStyle>
            <a:lvl1pPr>
              <a:defRPr sz="1700"/>
            </a:lvl1pPr>
            <a:lvl2pPr>
              <a:defRPr sz="1700"/>
            </a:lvl2pPr>
            <a:lvl3pPr>
              <a:defRPr sz="1700"/>
            </a:lvl3pPr>
            <a:lvl4pPr>
              <a:defRPr sz="1700"/>
            </a:lvl4pPr>
            <a:lvl5pPr>
              <a:defRPr sz="17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721225" y="1093788"/>
            <a:ext cx="3754438" cy="4903787"/>
          </a:xfrm>
        </p:spPr>
        <p:txBody>
          <a:bodyPr/>
          <a:lstStyle>
            <a:lvl1pPr>
              <a:defRPr sz="1700"/>
            </a:lvl1pPr>
            <a:lvl2pPr>
              <a:defRPr sz="1700"/>
            </a:lvl2pPr>
            <a:lvl3pPr>
              <a:defRPr sz="1700"/>
            </a:lvl3pPr>
            <a:lvl4pPr>
              <a:defRPr sz="1700"/>
            </a:lvl4pPr>
            <a:lvl5pPr>
              <a:defRPr sz="17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3">
            <a:extLst>
              <a:ext uri="{FF2B5EF4-FFF2-40B4-BE49-F238E27FC236}">
                <a16:creationId xmlns:a16="http://schemas.microsoft.com/office/drawing/2014/main" id="{EB0740F3-B76E-4043-91C9-D76CE8D0AE84}"/>
              </a:ext>
            </a:extLst>
          </p:cNvPr>
          <p:cNvSpPr>
            <a:spLocks noGrp="1" noChangeArrowheads="1"/>
          </p:cNvSpPr>
          <p:nvPr>
            <p:ph type="sldNum" sz="quarter" idx="10"/>
          </p:nvPr>
        </p:nvSpPr>
        <p:spPr>
          <a:ln/>
        </p:spPr>
        <p:txBody>
          <a:bodyPr/>
          <a:lstStyle>
            <a:lvl1pPr>
              <a:defRPr/>
            </a:lvl1pPr>
          </a:lstStyle>
          <a:p>
            <a:pPr>
              <a:defRPr/>
            </a:pPr>
            <a:fld id="{99D88414-175B-4785-BEBD-C347E968E1D6}" type="slidenum">
              <a:rPr lang="en-US" altLang="en-US"/>
              <a:pPr>
                <a:defRPr/>
              </a:pPr>
              <a:t>‹#›</a:t>
            </a:fld>
            <a:endParaRPr lang="en-US" altLang="en-US" dirty="0"/>
          </a:p>
        </p:txBody>
      </p:sp>
    </p:spTree>
    <p:extLst>
      <p:ext uri="{BB962C8B-B14F-4D97-AF65-F5344CB8AC3E}">
        <p14:creationId xmlns:p14="http://schemas.microsoft.com/office/powerpoint/2010/main" val="23265475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1700"/>
            </a:lvl1pPr>
            <a:lvl2pPr>
              <a:defRPr sz="1700"/>
            </a:lvl2pPr>
            <a:lvl3pPr>
              <a:defRPr sz="1700"/>
            </a:lvl3pPr>
            <a:lvl4pPr>
              <a:defRPr sz="1700"/>
            </a:lvl4pPr>
            <a:lvl5pPr>
              <a:defRPr sz="17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1700"/>
            </a:lvl1pPr>
            <a:lvl2pPr>
              <a:defRPr sz="1700"/>
            </a:lvl2pPr>
            <a:lvl3pPr>
              <a:defRPr sz="1700"/>
            </a:lvl3pPr>
            <a:lvl4pPr>
              <a:defRPr sz="1700"/>
            </a:lvl4pPr>
            <a:lvl5pPr>
              <a:defRPr sz="17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3">
            <a:extLst>
              <a:ext uri="{FF2B5EF4-FFF2-40B4-BE49-F238E27FC236}">
                <a16:creationId xmlns:a16="http://schemas.microsoft.com/office/drawing/2014/main" id="{E3664E68-6662-4010-A6E8-FF6294756F0E}"/>
              </a:ext>
            </a:extLst>
          </p:cNvPr>
          <p:cNvSpPr>
            <a:spLocks noGrp="1" noChangeArrowheads="1"/>
          </p:cNvSpPr>
          <p:nvPr>
            <p:ph type="sldNum" sz="quarter" idx="10"/>
          </p:nvPr>
        </p:nvSpPr>
        <p:spPr>
          <a:ln/>
        </p:spPr>
        <p:txBody>
          <a:bodyPr/>
          <a:lstStyle>
            <a:lvl1pPr>
              <a:defRPr/>
            </a:lvl1pPr>
          </a:lstStyle>
          <a:p>
            <a:pPr>
              <a:defRPr/>
            </a:pPr>
            <a:fld id="{A1C06BFB-2E11-4999-AD66-67677BC72E68}" type="slidenum">
              <a:rPr lang="en-US" altLang="en-US"/>
              <a:pPr>
                <a:defRPr/>
              </a:pPr>
              <a:t>‹#›</a:t>
            </a:fld>
            <a:endParaRPr lang="en-US" altLang="en-US" dirty="0"/>
          </a:p>
        </p:txBody>
      </p:sp>
    </p:spTree>
    <p:extLst>
      <p:ext uri="{BB962C8B-B14F-4D97-AF65-F5344CB8AC3E}">
        <p14:creationId xmlns:p14="http://schemas.microsoft.com/office/powerpoint/2010/main" val="20175804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3">
            <a:extLst>
              <a:ext uri="{FF2B5EF4-FFF2-40B4-BE49-F238E27FC236}">
                <a16:creationId xmlns:a16="http://schemas.microsoft.com/office/drawing/2014/main" id="{1E48AB69-0D09-431E-A361-3BC3A0C75196}"/>
              </a:ext>
            </a:extLst>
          </p:cNvPr>
          <p:cNvSpPr>
            <a:spLocks noGrp="1" noChangeArrowheads="1"/>
          </p:cNvSpPr>
          <p:nvPr>
            <p:ph type="sldNum" sz="quarter" idx="10"/>
          </p:nvPr>
        </p:nvSpPr>
        <p:spPr>
          <a:ln/>
        </p:spPr>
        <p:txBody>
          <a:bodyPr/>
          <a:lstStyle>
            <a:lvl1pPr>
              <a:defRPr/>
            </a:lvl1pPr>
          </a:lstStyle>
          <a:p>
            <a:pPr>
              <a:defRPr/>
            </a:pPr>
            <a:fld id="{7EA32BBC-A29E-4B84-809F-169E3D623CDF}" type="slidenum">
              <a:rPr lang="en-US" altLang="en-US"/>
              <a:pPr>
                <a:defRPr/>
              </a:pPr>
              <a:t>‹#›</a:t>
            </a:fld>
            <a:endParaRPr lang="en-US" altLang="en-US" dirty="0"/>
          </a:p>
        </p:txBody>
      </p:sp>
    </p:spTree>
    <p:extLst>
      <p:ext uri="{BB962C8B-B14F-4D97-AF65-F5344CB8AC3E}">
        <p14:creationId xmlns:p14="http://schemas.microsoft.com/office/powerpoint/2010/main" val="10582193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3">
            <a:extLst>
              <a:ext uri="{FF2B5EF4-FFF2-40B4-BE49-F238E27FC236}">
                <a16:creationId xmlns:a16="http://schemas.microsoft.com/office/drawing/2014/main" id="{62A2769D-4840-425C-82B3-82E2BD096DFF}"/>
              </a:ext>
            </a:extLst>
          </p:cNvPr>
          <p:cNvSpPr>
            <a:spLocks noGrp="1" noChangeArrowheads="1"/>
          </p:cNvSpPr>
          <p:nvPr>
            <p:ph type="sldNum" sz="quarter" idx="10"/>
          </p:nvPr>
        </p:nvSpPr>
        <p:spPr>
          <a:ln/>
        </p:spPr>
        <p:txBody>
          <a:bodyPr/>
          <a:lstStyle>
            <a:lvl1pPr>
              <a:defRPr/>
            </a:lvl1pPr>
          </a:lstStyle>
          <a:p>
            <a:pPr>
              <a:defRPr/>
            </a:pPr>
            <a:fld id="{B66C1EFD-4131-4EE6-8842-FE51BBBF3C1C}" type="slidenum">
              <a:rPr lang="en-US" altLang="en-US"/>
              <a:pPr>
                <a:defRPr/>
              </a:pPr>
              <a:t>‹#›</a:t>
            </a:fld>
            <a:endParaRPr lang="en-US" altLang="en-US" dirty="0"/>
          </a:p>
        </p:txBody>
      </p:sp>
    </p:spTree>
    <p:extLst>
      <p:ext uri="{BB962C8B-B14F-4D97-AF65-F5344CB8AC3E}">
        <p14:creationId xmlns:p14="http://schemas.microsoft.com/office/powerpoint/2010/main" val="40569188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1700"/>
            </a:lvl1pPr>
            <a:lvl2pPr>
              <a:defRPr sz="1700"/>
            </a:lvl2pPr>
            <a:lvl3pPr>
              <a:defRPr sz="1700"/>
            </a:lvl3pPr>
            <a:lvl4pPr>
              <a:defRPr sz="1700"/>
            </a:lvl4pPr>
            <a:lvl5pPr>
              <a:defRPr sz="17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3">
            <a:extLst>
              <a:ext uri="{FF2B5EF4-FFF2-40B4-BE49-F238E27FC236}">
                <a16:creationId xmlns:a16="http://schemas.microsoft.com/office/drawing/2014/main" id="{5D0FCC82-A10A-4249-BE3C-30A3818712CA}"/>
              </a:ext>
            </a:extLst>
          </p:cNvPr>
          <p:cNvSpPr>
            <a:spLocks noGrp="1" noChangeArrowheads="1"/>
          </p:cNvSpPr>
          <p:nvPr>
            <p:ph type="sldNum" sz="quarter" idx="10"/>
          </p:nvPr>
        </p:nvSpPr>
        <p:spPr>
          <a:ln/>
        </p:spPr>
        <p:txBody>
          <a:bodyPr/>
          <a:lstStyle>
            <a:lvl1pPr>
              <a:defRPr/>
            </a:lvl1pPr>
          </a:lstStyle>
          <a:p>
            <a:pPr>
              <a:defRPr/>
            </a:pPr>
            <a:fld id="{B779BB6A-39A7-436B-BBF4-5F7C857EBE16}" type="slidenum">
              <a:rPr lang="en-US" altLang="en-US"/>
              <a:pPr>
                <a:defRPr/>
              </a:pPr>
              <a:t>‹#›</a:t>
            </a:fld>
            <a:endParaRPr lang="en-US" altLang="en-US" dirty="0"/>
          </a:p>
        </p:txBody>
      </p:sp>
    </p:spTree>
    <p:extLst>
      <p:ext uri="{BB962C8B-B14F-4D97-AF65-F5344CB8AC3E}">
        <p14:creationId xmlns:p14="http://schemas.microsoft.com/office/powerpoint/2010/main" val="8059239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3">
            <a:extLst>
              <a:ext uri="{FF2B5EF4-FFF2-40B4-BE49-F238E27FC236}">
                <a16:creationId xmlns:a16="http://schemas.microsoft.com/office/drawing/2014/main" id="{105B0599-BFB7-43E9-9A10-6C35573F5877}"/>
              </a:ext>
            </a:extLst>
          </p:cNvPr>
          <p:cNvSpPr>
            <a:spLocks noGrp="1" noChangeArrowheads="1"/>
          </p:cNvSpPr>
          <p:nvPr>
            <p:ph type="sldNum" sz="quarter" idx="10"/>
          </p:nvPr>
        </p:nvSpPr>
        <p:spPr/>
        <p:txBody>
          <a:bodyPr/>
          <a:lstStyle>
            <a:lvl1pPr>
              <a:defRPr/>
            </a:lvl1pPr>
          </a:lstStyle>
          <a:p>
            <a:pPr>
              <a:defRPr/>
            </a:pPr>
            <a:fld id="{97ABA554-7D95-4375-943A-676624D8DFE3}" type="slidenum">
              <a:rPr lang="en-US" altLang="en-US"/>
              <a:pPr>
                <a:defRPr/>
              </a:pPr>
              <a:t>‹#›</a:t>
            </a:fld>
            <a:endParaRPr lang="en-US" altLang="en-US"/>
          </a:p>
        </p:txBody>
      </p:sp>
    </p:spTree>
    <p:extLst>
      <p:ext uri="{BB962C8B-B14F-4D97-AF65-F5344CB8AC3E}">
        <p14:creationId xmlns:p14="http://schemas.microsoft.com/office/powerpoint/2010/main" val="40976920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3">
            <a:extLst>
              <a:ext uri="{FF2B5EF4-FFF2-40B4-BE49-F238E27FC236}">
                <a16:creationId xmlns:a16="http://schemas.microsoft.com/office/drawing/2014/main" id="{759E58FA-2701-4089-BED0-ED4504B31C4A}"/>
              </a:ext>
            </a:extLst>
          </p:cNvPr>
          <p:cNvSpPr>
            <a:spLocks noGrp="1" noChangeArrowheads="1"/>
          </p:cNvSpPr>
          <p:nvPr>
            <p:ph type="sldNum" sz="quarter" idx="10"/>
          </p:nvPr>
        </p:nvSpPr>
        <p:spPr>
          <a:ln/>
        </p:spPr>
        <p:txBody>
          <a:bodyPr/>
          <a:lstStyle>
            <a:lvl1pPr>
              <a:defRPr/>
            </a:lvl1pPr>
          </a:lstStyle>
          <a:p>
            <a:pPr>
              <a:defRPr/>
            </a:pPr>
            <a:fld id="{5D284B68-EE10-40DB-86C4-ECB61F986744}" type="slidenum">
              <a:rPr lang="en-US" altLang="en-US"/>
              <a:pPr>
                <a:defRPr/>
              </a:pPr>
              <a:t>‹#›</a:t>
            </a:fld>
            <a:endParaRPr lang="en-US" altLang="en-US" dirty="0"/>
          </a:p>
        </p:txBody>
      </p:sp>
    </p:spTree>
    <p:extLst>
      <p:ext uri="{BB962C8B-B14F-4D97-AF65-F5344CB8AC3E}">
        <p14:creationId xmlns:p14="http://schemas.microsoft.com/office/powerpoint/2010/main" val="2157682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826250" y="117475"/>
            <a:ext cx="2019300" cy="58801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68350" y="117475"/>
            <a:ext cx="5905500" cy="58801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3">
            <a:extLst>
              <a:ext uri="{FF2B5EF4-FFF2-40B4-BE49-F238E27FC236}">
                <a16:creationId xmlns:a16="http://schemas.microsoft.com/office/drawing/2014/main" id="{A9D4DF82-9343-4D6D-A76D-75BD6EC7AA50}"/>
              </a:ext>
            </a:extLst>
          </p:cNvPr>
          <p:cNvSpPr>
            <a:spLocks noGrp="1" noChangeArrowheads="1"/>
          </p:cNvSpPr>
          <p:nvPr>
            <p:ph type="sldNum" sz="quarter" idx="10"/>
          </p:nvPr>
        </p:nvSpPr>
        <p:spPr>
          <a:ln/>
        </p:spPr>
        <p:txBody>
          <a:bodyPr/>
          <a:lstStyle>
            <a:lvl1pPr>
              <a:defRPr/>
            </a:lvl1pPr>
          </a:lstStyle>
          <a:p>
            <a:pPr>
              <a:defRPr/>
            </a:pPr>
            <a:fld id="{963A4818-A1CF-4D3D-BEF0-CEF2FAF585C8}" type="slidenum">
              <a:rPr lang="en-US" altLang="en-US"/>
              <a:pPr>
                <a:defRPr/>
              </a:pPr>
              <a:t>‹#›</a:t>
            </a:fld>
            <a:endParaRPr lang="en-US" altLang="en-US" dirty="0"/>
          </a:p>
        </p:txBody>
      </p:sp>
    </p:spTree>
    <p:extLst>
      <p:ext uri="{BB962C8B-B14F-4D97-AF65-F5344CB8AC3E}">
        <p14:creationId xmlns:p14="http://schemas.microsoft.com/office/powerpoint/2010/main" val="91724081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3">
            <a:extLst>
              <a:ext uri="{FF2B5EF4-FFF2-40B4-BE49-F238E27FC236}">
                <a16:creationId xmlns:a16="http://schemas.microsoft.com/office/drawing/2014/main" id="{C6F8AF6A-7417-414C-9EB6-4C13160AA17A}"/>
              </a:ext>
            </a:extLst>
          </p:cNvPr>
          <p:cNvSpPr>
            <a:spLocks noGrp="1" noChangeArrowheads="1"/>
          </p:cNvSpPr>
          <p:nvPr>
            <p:ph type="sldNum" sz="quarter" idx="10"/>
          </p:nvPr>
        </p:nvSpPr>
        <p:spPr>
          <a:ln/>
        </p:spPr>
        <p:txBody>
          <a:bodyPr/>
          <a:lstStyle>
            <a:lvl1pPr>
              <a:defRPr/>
            </a:lvl1pPr>
          </a:lstStyle>
          <a:p>
            <a:pPr>
              <a:defRPr/>
            </a:pPr>
            <a:fld id="{9F116BEB-6062-461A-AF49-3C8F094D6C90}" type="slidenum">
              <a:rPr lang="en-US" altLang="en-US"/>
              <a:pPr>
                <a:defRPr/>
              </a:pPr>
              <a:t>‹#›</a:t>
            </a:fld>
            <a:endParaRPr lang="en-US" altLang="en-US" dirty="0"/>
          </a:p>
        </p:txBody>
      </p:sp>
    </p:spTree>
    <p:extLst>
      <p:ext uri="{BB962C8B-B14F-4D97-AF65-F5344CB8AC3E}">
        <p14:creationId xmlns:p14="http://schemas.microsoft.com/office/powerpoint/2010/main" val="248417857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2_Title Slide">
    <p:spTree>
      <p:nvGrpSpPr>
        <p:cNvPr id="1" name=""/>
        <p:cNvGrpSpPr/>
        <p:nvPr/>
      </p:nvGrpSpPr>
      <p:grpSpPr>
        <a:xfrm>
          <a:off x="0" y="0"/>
          <a:ext cx="0" cy="0"/>
          <a:chOff x="0" y="0"/>
          <a:chExt cx="0" cy="0"/>
        </a:xfrm>
      </p:grpSpPr>
      <p:sp>
        <p:nvSpPr>
          <p:cNvPr id="5" name="Text Box 7">
            <a:extLst>
              <a:ext uri="{FF2B5EF4-FFF2-40B4-BE49-F238E27FC236}">
                <a16:creationId xmlns:a16="http://schemas.microsoft.com/office/drawing/2014/main" id="{A25BB261-D773-4836-B381-7A051175F570}"/>
              </a:ext>
            </a:extLst>
          </p:cNvPr>
          <p:cNvSpPr txBox="1">
            <a:spLocks noChangeArrowheads="1"/>
          </p:cNvSpPr>
          <p:nvPr/>
        </p:nvSpPr>
        <p:spPr bwMode="auto">
          <a:xfrm>
            <a:off x="2674938" y="5726113"/>
            <a:ext cx="3694112" cy="793750"/>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8" name="Rectangle 5">
            <a:extLst>
              <a:ext uri="{FF2B5EF4-FFF2-40B4-BE49-F238E27FC236}">
                <a16:creationId xmlns:a16="http://schemas.microsoft.com/office/drawing/2014/main" id="{B4760F52-45E1-4E1D-A744-2F2290DE90CC}"/>
              </a:ext>
            </a:extLst>
          </p:cNvPr>
          <p:cNvSpPr>
            <a:spLocks noGrp="1" noChangeArrowheads="1"/>
          </p:cNvSpPr>
          <p:nvPr>
            <p:ph type="sldNum" sz="quarter" idx="11"/>
          </p:nvPr>
        </p:nvSpPr>
        <p:spPr>
          <a:xfrm>
            <a:off x="6596063" y="6218238"/>
            <a:ext cx="1905000" cy="457200"/>
          </a:xfrm>
        </p:spPr>
        <p:txBody>
          <a:bodyPr/>
          <a:lstStyle>
            <a:lvl1pPr>
              <a:defRPr>
                <a:solidFill>
                  <a:srgbClr val="578963"/>
                </a:solidFill>
              </a:defRPr>
            </a:lvl1pPr>
          </a:lstStyle>
          <a:p>
            <a:pPr>
              <a:defRPr/>
            </a:pPr>
            <a:fld id="{3B69BB99-A72A-4470-971F-83530C443C91}" type="slidenum">
              <a:rPr lang="en-US" altLang="en-US"/>
              <a:pPr>
                <a:defRPr/>
              </a:pPr>
              <a:t>‹#›</a:t>
            </a:fld>
            <a:endParaRPr lang="en-US" altLang="en-US"/>
          </a:p>
        </p:txBody>
      </p:sp>
      <p:pic>
        <p:nvPicPr>
          <p:cNvPr id="9" name="Picture 8" descr="Cover-6Ed"/>
          <p:cNvPicPr>
            <a:picLocks noChangeAspect="1" noChangeArrowheads="1"/>
          </p:cNvPicPr>
          <p:nvPr userDrawn="1"/>
        </p:nvPicPr>
        <p:blipFill>
          <a:blip r:embed="rId3"/>
          <a:stretch>
            <a:fillRect/>
          </a:stretch>
        </p:blipFill>
        <p:spPr bwMode="auto">
          <a:xfrm>
            <a:off x="13858" y="0"/>
            <a:ext cx="1331269"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75637612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3_Title Slide">
    <p:spTree>
      <p:nvGrpSpPr>
        <p:cNvPr id="1" name=""/>
        <p:cNvGrpSpPr/>
        <p:nvPr/>
      </p:nvGrpSpPr>
      <p:grpSpPr>
        <a:xfrm>
          <a:off x="0" y="0"/>
          <a:ext cx="0" cy="0"/>
          <a:chOff x="0" y="0"/>
          <a:chExt cx="0" cy="0"/>
        </a:xfrm>
      </p:grpSpPr>
      <p:sp>
        <p:nvSpPr>
          <p:cNvPr id="5" name="Text Box 7">
            <a:extLst>
              <a:ext uri="{FF2B5EF4-FFF2-40B4-BE49-F238E27FC236}">
                <a16:creationId xmlns:a16="http://schemas.microsoft.com/office/drawing/2014/main" id="{A25BB261-D773-4836-B381-7A051175F570}"/>
              </a:ext>
            </a:extLst>
          </p:cNvPr>
          <p:cNvSpPr txBox="1">
            <a:spLocks noChangeArrowheads="1"/>
          </p:cNvSpPr>
          <p:nvPr/>
        </p:nvSpPr>
        <p:spPr bwMode="auto">
          <a:xfrm>
            <a:off x="2674938" y="5726113"/>
            <a:ext cx="3694112" cy="793750"/>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8" name="Rectangle 5">
            <a:extLst>
              <a:ext uri="{FF2B5EF4-FFF2-40B4-BE49-F238E27FC236}">
                <a16:creationId xmlns:a16="http://schemas.microsoft.com/office/drawing/2014/main" id="{B4760F52-45E1-4E1D-A744-2F2290DE90CC}"/>
              </a:ext>
            </a:extLst>
          </p:cNvPr>
          <p:cNvSpPr>
            <a:spLocks noGrp="1" noChangeArrowheads="1"/>
          </p:cNvSpPr>
          <p:nvPr>
            <p:ph type="sldNum" sz="quarter" idx="11"/>
          </p:nvPr>
        </p:nvSpPr>
        <p:spPr>
          <a:xfrm>
            <a:off x="6596063" y="6218238"/>
            <a:ext cx="1905000" cy="457200"/>
          </a:xfrm>
        </p:spPr>
        <p:txBody>
          <a:bodyPr/>
          <a:lstStyle>
            <a:lvl1pPr>
              <a:defRPr>
                <a:solidFill>
                  <a:srgbClr val="578963"/>
                </a:solidFill>
              </a:defRPr>
            </a:lvl1pPr>
          </a:lstStyle>
          <a:p>
            <a:pPr>
              <a:defRPr/>
            </a:pPr>
            <a:fld id="{3B69BB99-A72A-4470-971F-83530C443C91}" type="slidenum">
              <a:rPr lang="en-US" altLang="en-US"/>
              <a:pPr>
                <a:defRPr/>
              </a:pPr>
              <a:t>‹#›</a:t>
            </a:fld>
            <a:endParaRPr lang="en-US" altLang="en-US"/>
          </a:p>
        </p:txBody>
      </p:sp>
      <p:pic>
        <p:nvPicPr>
          <p:cNvPr id="9" name="Picture 8" descr="Cover-6Ed"/>
          <p:cNvPicPr>
            <a:picLocks noChangeAspect="1" noChangeArrowheads="1"/>
          </p:cNvPicPr>
          <p:nvPr userDrawn="1"/>
        </p:nvPicPr>
        <p:blipFill>
          <a:blip r:embed="rId3"/>
          <a:stretch>
            <a:fillRect/>
          </a:stretch>
        </p:blipFill>
        <p:spPr bwMode="auto">
          <a:xfrm>
            <a:off x="13858" y="0"/>
            <a:ext cx="1331269"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76207665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4_Title Slide">
    <p:spTree>
      <p:nvGrpSpPr>
        <p:cNvPr id="1" name=""/>
        <p:cNvGrpSpPr/>
        <p:nvPr/>
      </p:nvGrpSpPr>
      <p:grpSpPr>
        <a:xfrm>
          <a:off x="0" y="0"/>
          <a:ext cx="0" cy="0"/>
          <a:chOff x="0" y="0"/>
          <a:chExt cx="0" cy="0"/>
        </a:xfrm>
      </p:grpSpPr>
      <p:sp>
        <p:nvSpPr>
          <p:cNvPr id="5" name="Text Box 7">
            <a:extLst>
              <a:ext uri="{FF2B5EF4-FFF2-40B4-BE49-F238E27FC236}">
                <a16:creationId xmlns:a16="http://schemas.microsoft.com/office/drawing/2014/main" id="{A25BB261-D773-4836-B381-7A051175F570}"/>
              </a:ext>
            </a:extLst>
          </p:cNvPr>
          <p:cNvSpPr txBox="1">
            <a:spLocks noChangeArrowheads="1"/>
          </p:cNvSpPr>
          <p:nvPr/>
        </p:nvSpPr>
        <p:spPr bwMode="auto">
          <a:xfrm>
            <a:off x="2714127" y="5821363"/>
            <a:ext cx="3694112" cy="793750"/>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8" name="Rectangle 5">
            <a:extLst>
              <a:ext uri="{FF2B5EF4-FFF2-40B4-BE49-F238E27FC236}">
                <a16:creationId xmlns:a16="http://schemas.microsoft.com/office/drawing/2014/main" id="{B4760F52-45E1-4E1D-A744-2F2290DE90CC}"/>
              </a:ext>
            </a:extLst>
          </p:cNvPr>
          <p:cNvSpPr>
            <a:spLocks noGrp="1" noChangeArrowheads="1"/>
          </p:cNvSpPr>
          <p:nvPr>
            <p:ph type="sldNum" sz="quarter" idx="11"/>
          </p:nvPr>
        </p:nvSpPr>
        <p:spPr>
          <a:xfrm>
            <a:off x="6596063" y="6218238"/>
            <a:ext cx="1905000" cy="457200"/>
          </a:xfrm>
        </p:spPr>
        <p:txBody>
          <a:bodyPr/>
          <a:lstStyle>
            <a:lvl1pPr>
              <a:defRPr>
                <a:solidFill>
                  <a:srgbClr val="578963"/>
                </a:solidFill>
              </a:defRPr>
            </a:lvl1pPr>
          </a:lstStyle>
          <a:p>
            <a:pPr>
              <a:defRPr/>
            </a:pPr>
            <a:fld id="{3B69BB99-A72A-4470-971F-83530C443C91}" type="slidenum">
              <a:rPr lang="en-US" altLang="en-US"/>
              <a:pPr>
                <a:defRPr/>
              </a:pPr>
              <a:t>‹#›</a:t>
            </a:fld>
            <a:endParaRPr lang="en-US" altLang="en-US"/>
          </a:p>
        </p:txBody>
      </p:sp>
      <p:pic>
        <p:nvPicPr>
          <p:cNvPr id="9" name="Picture 8" descr="Cover-6Ed"/>
          <p:cNvPicPr>
            <a:picLocks noChangeAspect="1" noChangeArrowheads="1"/>
          </p:cNvPicPr>
          <p:nvPr userDrawn="1"/>
        </p:nvPicPr>
        <p:blipFill>
          <a:blip r:embed="rId3"/>
          <a:stretch>
            <a:fillRect/>
          </a:stretch>
        </p:blipFill>
        <p:spPr bwMode="auto">
          <a:xfrm>
            <a:off x="13858" y="0"/>
            <a:ext cx="1331269"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2604871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e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7">
            <a:lum/>
          </a:blip>
          <a:srcRect/>
          <a:stretch>
            <a:fillRect/>
          </a:stretch>
        </a:blip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F2585086-EE90-497D-93B1-CA9810D2C770}"/>
              </a:ext>
            </a:extLst>
          </p:cNvPr>
          <p:cNvSpPr>
            <a:spLocks noGrp="1" noChangeArrowheads="1"/>
          </p:cNvSpPr>
          <p:nvPr>
            <p:ph type="body" idx="1"/>
          </p:nvPr>
        </p:nvSpPr>
        <p:spPr bwMode="auto">
          <a:xfrm>
            <a:off x="317500" y="1093788"/>
            <a:ext cx="8599488" cy="53070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512003" name="Rectangle 3">
            <a:extLst>
              <a:ext uri="{FF2B5EF4-FFF2-40B4-BE49-F238E27FC236}">
                <a16:creationId xmlns:a16="http://schemas.microsoft.com/office/drawing/2014/main" id="{09F098C3-0453-4B17-944A-7582B1D8667D}"/>
              </a:ext>
            </a:extLst>
          </p:cNvPr>
          <p:cNvSpPr>
            <a:spLocks noGrp="1" noChangeArrowheads="1"/>
          </p:cNvSpPr>
          <p:nvPr>
            <p:ph type="sldNum" sz="quarter" idx="4"/>
          </p:nvPr>
        </p:nvSpPr>
        <p:spPr bwMode="auto">
          <a:xfrm>
            <a:off x="6553200" y="6400800"/>
            <a:ext cx="1905000" cy="4572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r">
              <a:spcBef>
                <a:spcPct val="50000"/>
              </a:spcBef>
              <a:defRPr sz="1400" smtClean="0">
                <a:solidFill>
                  <a:srgbClr val="002060"/>
                </a:solidFill>
                <a:latin typeface="Times New Roman" panose="02020603050405020304" pitchFamily="18" charset="0"/>
              </a:defRPr>
            </a:lvl1pPr>
          </a:lstStyle>
          <a:p>
            <a:pPr>
              <a:defRPr/>
            </a:pPr>
            <a:fld id="{0730C3E9-3565-488E-AB92-2BC48C8CC962}" type="slidenum">
              <a:rPr lang="en-US" altLang="en-US"/>
              <a:pPr>
                <a:defRPr/>
              </a:pPr>
              <a:t>‹#›</a:t>
            </a:fld>
            <a:endParaRPr lang="en-US" altLang="en-US" dirty="0"/>
          </a:p>
        </p:txBody>
      </p:sp>
      <p:sp>
        <p:nvSpPr>
          <p:cNvPr id="1028" name="Text Box 4">
            <a:extLst>
              <a:ext uri="{FF2B5EF4-FFF2-40B4-BE49-F238E27FC236}">
                <a16:creationId xmlns:a16="http://schemas.microsoft.com/office/drawing/2014/main" id="{9D2F09C8-E397-469C-84E6-283AA902DBA5}"/>
              </a:ext>
            </a:extLst>
          </p:cNvPr>
          <p:cNvSpPr txBox="1">
            <a:spLocks noChangeArrowheads="1"/>
          </p:cNvSpPr>
          <p:nvPr/>
        </p:nvSpPr>
        <p:spPr bwMode="auto">
          <a:xfrm>
            <a:off x="8391525" y="6643688"/>
            <a:ext cx="752475" cy="247650"/>
          </a:xfrm>
          <a:prstGeom prst="rect">
            <a:avLst/>
          </a:prstGeom>
          <a:noFill/>
          <a:ln>
            <a:noFill/>
          </a:ln>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sz="1000" b="1" dirty="0">
                <a:solidFill>
                  <a:srgbClr val="002060"/>
                </a:solidFill>
              </a:rPr>
              <a:t>Database</a:t>
            </a:r>
          </a:p>
        </p:txBody>
      </p:sp>
      <p:sp>
        <p:nvSpPr>
          <p:cNvPr id="512005" name="Text Box 5">
            <a:extLst>
              <a:ext uri="{FF2B5EF4-FFF2-40B4-BE49-F238E27FC236}">
                <a16:creationId xmlns:a16="http://schemas.microsoft.com/office/drawing/2014/main" id="{C99B81AF-1E34-452D-A29A-22FA9696AAC5}"/>
              </a:ext>
            </a:extLst>
          </p:cNvPr>
          <p:cNvSpPr txBox="1">
            <a:spLocks noChangeArrowheads="1"/>
          </p:cNvSpPr>
          <p:nvPr userDrawn="1"/>
        </p:nvSpPr>
        <p:spPr bwMode="auto">
          <a:xfrm>
            <a:off x="4479925" y="6613525"/>
            <a:ext cx="447675" cy="246063"/>
          </a:xfrm>
          <a:prstGeom prst="rect">
            <a:avLst/>
          </a:prstGeom>
          <a:noFill/>
          <a:ln w="9525">
            <a:noFill/>
            <a:miter lim="800000"/>
            <a:headEnd/>
            <a:tailEnd/>
          </a:ln>
          <a:effec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sz="1000" b="1" dirty="0">
                <a:solidFill>
                  <a:srgbClr val="002060"/>
                </a:solidFill>
              </a:rPr>
              <a:t>1.</a:t>
            </a:r>
            <a:fld id="{AC6F3C8E-B910-47D3-9FC6-86B6F864454C}" type="slidenum">
              <a:rPr lang="en-US" altLang="en-US" sz="1000" b="1" smtClean="0">
                <a:solidFill>
                  <a:srgbClr val="002060"/>
                </a:solidFill>
              </a:rPr>
              <a:pPr algn="ctr">
                <a:spcBef>
                  <a:spcPct val="50000"/>
                </a:spcBef>
                <a:defRPr/>
              </a:pPr>
              <a:t>‹#›</a:t>
            </a:fld>
            <a:endParaRPr lang="en-US" altLang="en-US" sz="1000" b="1" dirty="0">
              <a:solidFill>
                <a:srgbClr val="002060"/>
              </a:solidFill>
            </a:endParaRPr>
          </a:p>
        </p:txBody>
      </p:sp>
      <p:sp>
        <p:nvSpPr>
          <p:cNvPr id="512006" name="Rectangle 6">
            <a:extLst>
              <a:ext uri="{FF2B5EF4-FFF2-40B4-BE49-F238E27FC236}">
                <a16:creationId xmlns:a16="http://schemas.microsoft.com/office/drawing/2014/main" id="{ADBFB4FE-43F4-4FA0-B051-0D44F560CCC2}"/>
              </a:ext>
            </a:extLst>
          </p:cNvPr>
          <p:cNvSpPr>
            <a:spLocks noGrp="1" noChangeArrowheads="1"/>
          </p:cNvSpPr>
          <p:nvPr>
            <p:ph type="title"/>
          </p:nvPr>
        </p:nvSpPr>
        <p:spPr bwMode="auto">
          <a:xfrm>
            <a:off x="768350" y="117475"/>
            <a:ext cx="8077200" cy="609600"/>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p>
            <a:pPr lvl="0"/>
            <a:r>
              <a:rPr lang="en-US" dirty="0"/>
              <a:t>Click to edit Master title style</a:t>
            </a:r>
          </a:p>
        </p:txBody>
      </p:sp>
      <p:sp>
        <p:nvSpPr>
          <p:cNvPr id="1031" name="Text Box 7">
            <a:extLst>
              <a:ext uri="{FF2B5EF4-FFF2-40B4-BE49-F238E27FC236}">
                <a16:creationId xmlns:a16="http://schemas.microsoft.com/office/drawing/2014/main" id="{880E5318-7384-4990-8CA8-5173B7F3BF0E}"/>
              </a:ext>
            </a:extLst>
          </p:cNvPr>
          <p:cNvSpPr txBox="1">
            <a:spLocks noChangeArrowheads="1"/>
          </p:cNvSpPr>
          <p:nvPr/>
        </p:nvSpPr>
        <p:spPr bwMode="auto">
          <a:xfrm>
            <a:off x="0" y="6613525"/>
            <a:ext cx="1343025" cy="246063"/>
          </a:xfrm>
          <a:prstGeom prst="rect">
            <a:avLst/>
          </a:prstGeom>
          <a:noFill/>
          <a:ln>
            <a:noFill/>
          </a:ln>
        </p:spPr>
        <p:txBody>
          <a:bodyPr wrap="none">
            <a:spAutoFit/>
          </a:bodyPr>
          <a:lstStyle>
            <a:lvl1pPr>
              <a:defRPr sz="1600">
                <a:solidFill>
                  <a:schemeClr val="tx1"/>
                </a:solidFill>
                <a:latin typeface="Helvetica" charset="0"/>
                <a:ea typeface="ＭＳ Ｐゴシック" charset="0"/>
                <a:cs typeface="ＭＳ Ｐゴシック" charset="0"/>
              </a:defRPr>
            </a:lvl1pPr>
            <a:lvl2pPr marL="742950" indent="-285750">
              <a:defRPr sz="1600">
                <a:solidFill>
                  <a:schemeClr val="tx1"/>
                </a:solidFill>
                <a:latin typeface="Helvetica" charset="0"/>
                <a:ea typeface="ＭＳ Ｐゴシック" charset="0"/>
              </a:defRPr>
            </a:lvl2pPr>
            <a:lvl3pPr marL="1143000" indent="-228600">
              <a:defRPr sz="1600">
                <a:solidFill>
                  <a:schemeClr val="tx1"/>
                </a:solidFill>
                <a:latin typeface="Helvetica" charset="0"/>
                <a:ea typeface="ＭＳ Ｐゴシック" charset="0"/>
              </a:defRPr>
            </a:lvl3pPr>
            <a:lvl4pPr marL="1600200" indent="-228600">
              <a:defRPr sz="1600">
                <a:solidFill>
                  <a:schemeClr val="tx1"/>
                </a:solidFill>
                <a:latin typeface="Helvetica" charset="0"/>
                <a:ea typeface="ＭＳ Ｐゴシック" charset="0"/>
              </a:defRPr>
            </a:lvl4pPr>
            <a:lvl5pPr marL="2057400" indent="-228600">
              <a:defRPr sz="1600">
                <a:solidFill>
                  <a:schemeClr val="tx1"/>
                </a:solidFill>
                <a:latin typeface="Helvetica" charset="0"/>
                <a:ea typeface="ＭＳ Ｐゴシック" charset="0"/>
              </a:defRPr>
            </a:lvl5pPr>
            <a:lvl6pPr marL="2514600" indent="-228600" eaLnBrk="0" fontAlgn="base" hangingPunct="0">
              <a:spcBef>
                <a:spcPct val="0"/>
              </a:spcBef>
              <a:spcAft>
                <a:spcPct val="0"/>
              </a:spcAft>
              <a:defRPr sz="1600">
                <a:solidFill>
                  <a:schemeClr val="tx1"/>
                </a:solidFill>
                <a:latin typeface="Helvetica" charset="0"/>
                <a:ea typeface="ＭＳ Ｐゴシック" charset="0"/>
              </a:defRPr>
            </a:lvl6pPr>
            <a:lvl7pPr marL="2971800" indent="-228600" eaLnBrk="0" fontAlgn="base" hangingPunct="0">
              <a:spcBef>
                <a:spcPct val="0"/>
              </a:spcBef>
              <a:spcAft>
                <a:spcPct val="0"/>
              </a:spcAft>
              <a:defRPr sz="1600">
                <a:solidFill>
                  <a:schemeClr val="tx1"/>
                </a:solidFill>
                <a:latin typeface="Helvetica" charset="0"/>
                <a:ea typeface="ＭＳ Ｐゴシック" charset="0"/>
              </a:defRPr>
            </a:lvl7pPr>
            <a:lvl8pPr marL="3429000" indent="-228600" eaLnBrk="0" fontAlgn="base" hangingPunct="0">
              <a:spcBef>
                <a:spcPct val="0"/>
              </a:spcBef>
              <a:spcAft>
                <a:spcPct val="0"/>
              </a:spcAft>
              <a:defRPr sz="1600">
                <a:solidFill>
                  <a:schemeClr val="tx1"/>
                </a:solidFill>
                <a:latin typeface="Helvetica" charset="0"/>
                <a:ea typeface="ＭＳ Ｐゴシック" charset="0"/>
              </a:defRPr>
            </a:lvl8pPr>
            <a:lvl9pPr marL="3886200" indent="-228600" eaLnBrk="0" fontAlgn="base" hangingPunct="0">
              <a:spcBef>
                <a:spcPct val="0"/>
              </a:spcBef>
              <a:spcAft>
                <a:spcPct val="0"/>
              </a:spcAft>
              <a:defRPr sz="1600">
                <a:solidFill>
                  <a:schemeClr val="tx1"/>
                </a:solidFill>
                <a:latin typeface="Helvetica" charset="0"/>
                <a:ea typeface="ＭＳ Ｐゴシック" charset="0"/>
              </a:defRPr>
            </a:lvl9pPr>
          </a:lstStyle>
          <a:p>
            <a:pPr>
              <a:spcBef>
                <a:spcPct val="50000"/>
              </a:spcBef>
              <a:defRPr/>
            </a:pPr>
            <a:r>
              <a:rPr lang="en-US" sz="1000" b="1" dirty="0">
                <a:solidFill>
                  <a:srgbClr val="002060"/>
                </a:solidFill>
              </a:rPr>
              <a:t>Dr. A. Taghinezhad</a:t>
            </a:r>
          </a:p>
        </p:txBody>
      </p:sp>
      <p:sp>
        <p:nvSpPr>
          <p:cNvPr id="1032" name="Freeform 8">
            <a:extLst>
              <a:ext uri="{FF2B5EF4-FFF2-40B4-BE49-F238E27FC236}">
                <a16:creationId xmlns:a16="http://schemas.microsoft.com/office/drawing/2014/main" id="{6CDA35BA-8F04-4DFE-86B0-545ADDF4393D}"/>
              </a:ext>
            </a:extLst>
          </p:cNvPr>
          <p:cNvSpPr>
            <a:spLocks/>
          </p:cNvSpPr>
          <p:nvPr/>
        </p:nvSpPr>
        <p:spPr bwMode="auto">
          <a:xfrm>
            <a:off x="8916988" y="5445125"/>
            <a:ext cx="227012" cy="47625"/>
          </a:xfrm>
          <a:custGeom>
            <a:avLst/>
            <a:gdLst>
              <a:gd name="T0" fmla="*/ 0 w 285"/>
              <a:gd name="T1" fmla="*/ 2147483646 h 61"/>
              <a:gd name="T2" fmla="*/ 2147483646 w 285"/>
              <a:gd name="T3" fmla="*/ 2147483646 h 61"/>
              <a:gd name="T4" fmla="*/ 2147483646 w 285"/>
              <a:gd name="T5" fmla="*/ 2147483646 h 61"/>
              <a:gd name="T6" fmla="*/ 2147483646 w 285"/>
              <a:gd name="T7" fmla="*/ 2147483646 h 61"/>
              <a:gd name="T8" fmla="*/ 2147483646 w 285"/>
              <a:gd name="T9" fmla="*/ 2147483646 h 61"/>
              <a:gd name="T10" fmla="*/ 2147483646 w 285"/>
              <a:gd name="T11" fmla="*/ 2147483646 h 61"/>
              <a:gd name="T12" fmla="*/ 2147483646 w 285"/>
              <a:gd name="T13" fmla="*/ 2147483646 h 61"/>
              <a:gd name="T14" fmla="*/ 2147483646 w 285"/>
              <a:gd name="T15" fmla="*/ 2147483646 h 61"/>
              <a:gd name="T16" fmla="*/ 2147483646 w 285"/>
              <a:gd name="T17" fmla="*/ 0 h 61"/>
              <a:gd name="T18" fmla="*/ 2147483646 w 285"/>
              <a:gd name="T19" fmla="*/ 0 h 61"/>
              <a:gd name="T20" fmla="*/ 2147483646 w 285"/>
              <a:gd name="T21" fmla="*/ 0 h 61"/>
              <a:gd name="T22" fmla="*/ 2147483646 w 285"/>
              <a:gd name="T23" fmla="*/ 0 h 61"/>
              <a:gd name="T24" fmla="*/ 2147483646 w 285"/>
              <a:gd name="T25" fmla="*/ 2147483646 h 61"/>
              <a:gd name="T26" fmla="*/ 2147483646 w 285"/>
              <a:gd name="T27" fmla="*/ 2147483646 h 61"/>
              <a:gd name="T28" fmla="*/ 2147483646 w 285"/>
              <a:gd name="T29" fmla="*/ 2147483646 h 61"/>
              <a:gd name="T30" fmla="*/ 2147483646 w 285"/>
              <a:gd name="T31" fmla="*/ 2147483646 h 61"/>
              <a:gd name="T32" fmla="*/ 2147483646 w 285"/>
              <a:gd name="T33" fmla="*/ 2147483646 h 61"/>
              <a:gd name="T34" fmla="*/ 2147483646 w 285"/>
              <a:gd name="T35" fmla="*/ 2147483646 h 61"/>
              <a:gd name="T36" fmla="*/ 2147483646 w 285"/>
              <a:gd name="T37" fmla="*/ 2147483646 h 61"/>
              <a:gd name="T38" fmla="*/ 2147483646 w 285"/>
              <a:gd name="T39" fmla="*/ 2147483646 h 61"/>
              <a:gd name="T40" fmla="*/ 2147483646 w 285"/>
              <a:gd name="T41" fmla="*/ 2147483646 h 61"/>
              <a:gd name="T42" fmla="*/ 2147483646 w 285"/>
              <a:gd name="T43" fmla="*/ 2147483646 h 61"/>
              <a:gd name="T44" fmla="*/ 2147483646 w 285"/>
              <a:gd name="T45" fmla="*/ 2147483646 h 61"/>
              <a:gd name="T46" fmla="*/ 2147483646 w 285"/>
              <a:gd name="T47" fmla="*/ 2147483646 h 61"/>
              <a:gd name="T48" fmla="*/ 2147483646 w 285"/>
              <a:gd name="T49" fmla="*/ 2147483646 h 61"/>
              <a:gd name="T50" fmla="*/ 2147483646 w 285"/>
              <a:gd name="T51" fmla="*/ 2147483646 h 61"/>
              <a:gd name="T52" fmla="*/ 2147483646 w 285"/>
              <a:gd name="T53" fmla="*/ 2147483646 h 61"/>
              <a:gd name="T54" fmla="*/ 2147483646 w 285"/>
              <a:gd name="T55" fmla="*/ 2147483646 h 61"/>
              <a:gd name="T56" fmla="*/ 2147483646 w 285"/>
              <a:gd name="T57" fmla="*/ 2147483646 h 61"/>
              <a:gd name="T58" fmla="*/ 2147483646 w 285"/>
              <a:gd name="T59" fmla="*/ 2147483646 h 61"/>
              <a:gd name="T60" fmla="*/ 2147483646 w 285"/>
              <a:gd name="T61" fmla="*/ 2147483646 h 61"/>
              <a:gd name="T62" fmla="*/ 2147483646 w 285"/>
              <a:gd name="T63" fmla="*/ 2147483646 h 61"/>
              <a:gd name="T64" fmla="*/ 2147483646 w 285"/>
              <a:gd name="T65" fmla="*/ 2147483646 h 61"/>
              <a:gd name="T66" fmla="*/ 2147483646 w 285"/>
              <a:gd name="T67" fmla="*/ 2147483646 h 61"/>
              <a:gd name="T68" fmla="*/ 2147483646 w 285"/>
              <a:gd name="T69" fmla="*/ 2147483646 h 61"/>
              <a:gd name="T70" fmla="*/ 2147483646 w 285"/>
              <a:gd name="T71" fmla="*/ 2147483646 h 61"/>
              <a:gd name="T72" fmla="*/ 2147483646 w 285"/>
              <a:gd name="T73" fmla="*/ 2147483646 h 61"/>
              <a:gd name="T74" fmla="*/ 2147483646 w 285"/>
              <a:gd name="T75" fmla="*/ 2147483646 h 61"/>
              <a:gd name="T76" fmla="*/ 2147483646 w 285"/>
              <a:gd name="T77" fmla="*/ 2147483646 h 61"/>
              <a:gd name="T78" fmla="*/ 2147483646 w 285"/>
              <a:gd name="T79" fmla="*/ 2147483646 h 61"/>
              <a:gd name="T80" fmla="*/ 2147483646 w 285"/>
              <a:gd name="T81" fmla="*/ 2147483646 h 61"/>
              <a:gd name="T82" fmla="*/ 2147483646 w 285"/>
              <a:gd name="T83" fmla="*/ 2147483646 h 61"/>
              <a:gd name="T84" fmla="*/ 2147483646 w 285"/>
              <a:gd name="T85" fmla="*/ 2147483646 h 61"/>
              <a:gd name="T86" fmla="*/ 2147483646 w 285"/>
              <a:gd name="T87" fmla="*/ 2147483646 h 61"/>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285" h="61">
                <a:moveTo>
                  <a:pt x="2" y="61"/>
                </a:moveTo>
                <a:lnTo>
                  <a:pt x="0" y="59"/>
                </a:lnTo>
                <a:lnTo>
                  <a:pt x="0" y="55"/>
                </a:lnTo>
                <a:lnTo>
                  <a:pt x="2" y="48"/>
                </a:lnTo>
                <a:lnTo>
                  <a:pt x="5" y="40"/>
                </a:lnTo>
                <a:lnTo>
                  <a:pt x="9" y="34"/>
                </a:lnTo>
                <a:lnTo>
                  <a:pt x="13" y="31"/>
                </a:lnTo>
                <a:lnTo>
                  <a:pt x="17" y="25"/>
                </a:lnTo>
                <a:lnTo>
                  <a:pt x="24" y="21"/>
                </a:lnTo>
                <a:lnTo>
                  <a:pt x="30" y="17"/>
                </a:lnTo>
                <a:lnTo>
                  <a:pt x="40" y="13"/>
                </a:lnTo>
                <a:lnTo>
                  <a:pt x="45" y="10"/>
                </a:lnTo>
                <a:lnTo>
                  <a:pt x="51" y="8"/>
                </a:lnTo>
                <a:lnTo>
                  <a:pt x="57" y="6"/>
                </a:lnTo>
                <a:lnTo>
                  <a:pt x="64" y="6"/>
                </a:lnTo>
                <a:lnTo>
                  <a:pt x="70" y="2"/>
                </a:lnTo>
                <a:lnTo>
                  <a:pt x="78" y="2"/>
                </a:lnTo>
                <a:lnTo>
                  <a:pt x="85" y="0"/>
                </a:lnTo>
                <a:lnTo>
                  <a:pt x="93" y="0"/>
                </a:lnTo>
                <a:lnTo>
                  <a:pt x="100" y="0"/>
                </a:lnTo>
                <a:lnTo>
                  <a:pt x="110" y="0"/>
                </a:lnTo>
                <a:lnTo>
                  <a:pt x="118" y="0"/>
                </a:lnTo>
                <a:lnTo>
                  <a:pt x="129" y="0"/>
                </a:lnTo>
                <a:lnTo>
                  <a:pt x="137" y="0"/>
                </a:lnTo>
                <a:lnTo>
                  <a:pt x="146" y="2"/>
                </a:lnTo>
                <a:lnTo>
                  <a:pt x="154" y="2"/>
                </a:lnTo>
                <a:lnTo>
                  <a:pt x="163" y="4"/>
                </a:lnTo>
                <a:lnTo>
                  <a:pt x="173" y="6"/>
                </a:lnTo>
                <a:lnTo>
                  <a:pt x="182" y="8"/>
                </a:lnTo>
                <a:lnTo>
                  <a:pt x="192" y="8"/>
                </a:lnTo>
                <a:lnTo>
                  <a:pt x="201" y="12"/>
                </a:lnTo>
                <a:lnTo>
                  <a:pt x="209" y="12"/>
                </a:lnTo>
                <a:lnTo>
                  <a:pt x="216" y="13"/>
                </a:lnTo>
                <a:lnTo>
                  <a:pt x="224" y="15"/>
                </a:lnTo>
                <a:lnTo>
                  <a:pt x="234" y="17"/>
                </a:lnTo>
                <a:lnTo>
                  <a:pt x="239" y="19"/>
                </a:lnTo>
                <a:lnTo>
                  <a:pt x="247" y="21"/>
                </a:lnTo>
                <a:lnTo>
                  <a:pt x="254" y="23"/>
                </a:lnTo>
                <a:lnTo>
                  <a:pt x="260" y="25"/>
                </a:lnTo>
                <a:lnTo>
                  <a:pt x="266" y="25"/>
                </a:lnTo>
                <a:lnTo>
                  <a:pt x="270" y="27"/>
                </a:lnTo>
                <a:lnTo>
                  <a:pt x="273" y="27"/>
                </a:lnTo>
                <a:lnTo>
                  <a:pt x="279" y="29"/>
                </a:lnTo>
                <a:lnTo>
                  <a:pt x="283" y="31"/>
                </a:lnTo>
                <a:lnTo>
                  <a:pt x="285" y="32"/>
                </a:lnTo>
                <a:lnTo>
                  <a:pt x="279" y="44"/>
                </a:lnTo>
                <a:lnTo>
                  <a:pt x="277" y="44"/>
                </a:lnTo>
                <a:lnTo>
                  <a:pt x="273" y="42"/>
                </a:lnTo>
                <a:lnTo>
                  <a:pt x="268" y="42"/>
                </a:lnTo>
                <a:lnTo>
                  <a:pt x="260" y="40"/>
                </a:lnTo>
                <a:lnTo>
                  <a:pt x="251" y="38"/>
                </a:lnTo>
                <a:lnTo>
                  <a:pt x="241" y="36"/>
                </a:lnTo>
                <a:lnTo>
                  <a:pt x="235" y="34"/>
                </a:lnTo>
                <a:lnTo>
                  <a:pt x="230" y="34"/>
                </a:lnTo>
                <a:lnTo>
                  <a:pt x="224" y="32"/>
                </a:lnTo>
                <a:lnTo>
                  <a:pt x="218" y="32"/>
                </a:lnTo>
                <a:lnTo>
                  <a:pt x="213" y="31"/>
                </a:lnTo>
                <a:lnTo>
                  <a:pt x="207" y="31"/>
                </a:lnTo>
                <a:lnTo>
                  <a:pt x="201" y="29"/>
                </a:lnTo>
                <a:lnTo>
                  <a:pt x="196" y="29"/>
                </a:lnTo>
                <a:lnTo>
                  <a:pt x="190" y="27"/>
                </a:lnTo>
                <a:lnTo>
                  <a:pt x="182" y="27"/>
                </a:lnTo>
                <a:lnTo>
                  <a:pt x="178" y="25"/>
                </a:lnTo>
                <a:lnTo>
                  <a:pt x="173" y="25"/>
                </a:lnTo>
                <a:lnTo>
                  <a:pt x="167" y="23"/>
                </a:lnTo>
                <a:lnTo>
                  <a:pt x="163" y="23"/>
                </a:lnTo>
                <a:lnTo>
                  <a:pt x="158" y="21"/>
                </a:lnTo>
                <a:lnTo>
                  <a:pt x="154" y="21"/>
                </a:lnTo>
                <a:lnTo>
                  <a:pt x="148" y="19"/>
                </a:lnTo>
                <a:lnTo>
                  <a:pt x="142" y="19"/>
                </a:lnTo>
                <a:lnTo>
                  <a:pt x="144" y="48"/>
                </a:lnTo>
                <a:lnTo>
                  <a:pt x="110" y="15"/>
                </a:lnTo>
                <a:lnTo>
                  <a:pt x="118" y="48"/>
                </a:lnTo>
                <a:lnTo>
                  <a:pt x="83" y="21"/>
                </a:lnTo>
                <a:lnTo>
                  <a:pt x="91" y="48"/>
                </a:lnTo>
                <a:lnTo>
                  <a:pt x="59" y="29"/>
                </a:lnTo>
                <a:lnTo>
                  <a:pt x="57" y="29"/>
                </a:lnTo>
                <a:lnTo>
                  <a:pt x="53" y="31"/>
                </a:lnTo>
                <a:lnTo>
                  <a:pt x="49" y="31"/>
                </a:lnTo>
                <a:lnTo>
                  <a:pt x="43" y="34"/>
                </a:lnTo>
                <a:lnTo>
                  <a:pt x="38" y="36"/>
                </a:lnTo>
                <a:lnTo>
                  <a:pt x="32" y="38"/>
                </a:lnTo>
                <a:lnTo>
                  <a:pt x="26" y="42"/>
                </a:lnTo>
                <a:lnTo>
                  <a:pt x="23" y="44"/>
                </a:lnTo>
                <a:lnTo>
                  <a:pt x="15" y="50"/>
                </a:lnTo>
                <a:lnTo>
                  <a:pt x="7" y="55"/>
                </a:lnTo>
                <a:lnTo>
                  <a:pt x="4" y="59"/>
                </a:lnTo>
                <a:lnTo>
                  <a:pt x="2" y="6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pic>
        <p:nvPicPr>
          <p:cNvPr id="1033" name="Picture 8" descr="Cover-6Ed">
            <a:extLst>
              <a:ext uri="{FF2B5EF4-FFF2-40B4-BE49-F238E27FC236}">
                <a16:creationId xmlns:a16="http://schemas.microsoft.com/office/drawing/2014/main" id="{09FE16CA-1C16-4120-A527-DE70F697BD82}"/>
              </a:ext>
            </a:extLst>
          </p:cNvPr>
          <p:cNvPicPr>
            <a:picLocks noChangeAspect="1" noChangeArrowheads="1"/>
          </p:cNvPicPr>
          <p:nvPr userDrawn="1"/>
        </p:nvPicPr>
        <p:blipFill>
          <a:blip r:embed="rId18">
            <a:extLst>
              <a:ext uri="{28A0092B-C50C-407E-A947-70E740481C1C}">
                <a14:useLocalDpi xmlns:a14="http://schemas.microsoft.com/office/drawing/2010/main" val="0"/>
              </a:ext>
            </a:extLst>
          </a:blip>
          <a:srcRect/>
          <a:stretch>
            <a:fillRect/>
          </a:stretch>
        </p:blipFill>
        <p:spPr bwMode="auto">
          <a:xfrm>
            <a:off x="4763" y="0"/>
            <a:ext cx="742950" cy="9477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04520850"/>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 id="2147483774" r:id="rId12"/>
    <p:sldLayoutId id="2147483775" r:id="rId13"/>
    <p:sldLayoutId id="2147483776" r:id="rId14"/>
    <p:sldLayoutId id="2147483761" r:id="rId15"/>
  </p:sldLayoutIdLst>
  <p:txStyles>
    <p:titleStyle>
      <a:lvl1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mj-lt"/>
          <a:ea typeface="ＭＳ Ｐゴシック" panose="020B0600070205080204" pitchFamily="34" charset="-128"/>
          <a:cs typeface="B Nazanin" panose="00000400000000000000" pitchFamily="2" charset="-78"/>
        </a:defRPr>
      </a:lvl1pPr>
      <a:lvl2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2pPr>
      <a:lvl3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3pPr>
      <a:lvl4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4pPr>
      <a:lvl5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5pPr>
      <a:lvl6pPr marL="4572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6pPr>
      <a:lvl7pPr marL="9144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7pPr>
      <a:lvl8pPr marL="13716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8pPr>
      <a:lvl9pPr marL="18288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9pPr>
    </p:titleStyle>
    <p:bodyStyle>
      <a:lvl1pPr marL="342900" indent="-342900" algn="l" rtl="0" eaLnBrk="0" fontAlgn="base" hangingPunct="0">
        <a:spcBef>
          <a:spcPct val="35000"/>
        </a:spcBef>
        <a:spcAft>
          <a:spcPct val="0"/>
        </a:spcAft>
        <a:buClr>
          <a:srgbClr val="002060"/>
        </a:buClr>
        <a:buSzPct val="100000"/>
        <a:buFont typeface="Monotype Sorts" charset="2"/>
        <a:buChar char="n"/>
        <a:defRPr kumimoji="1" sz="2000">
          <a:solidFill>
            <a:schemeClr val="tx1"/>
          </a:solidFill>
          <a:latin typeface="+mn-lt"/>
          <a:ea typeface="ＭＳ Ｐゴシック" panose="020B0600070205080204" pitchFamily="34" charset="-128"/>
          <a:cs typeface="B Nazanin" panose="00000400000000000000" pitchFamily="2" charset="-78"/>
        </a:defRPr>
      </a:lvl1pPr>
      <a:lvl2pPr marL="742950" indent="-285750" algn="l" rtl="0" eaLnBrk="0" fontAlgn="base" hangingPunct="0">
        <a:spcBef>
          <a:spcPct val="35000"/>
        </a:spcBef>
        <a:spcAft>
          <a:spcPct val="0"/>
        </a:spcAft>
        <a:buClr>
          <a:schemeClr val="folHlink"/>
        </a:buClr>
        <a:buSzPct val="95000"/>
        <a:buFont typeface="Monotype Sorts" charset="2"/>
        <a:buChar char="l"/>
        <a:defRPr kumimoji="1" sz="2000">
          <a:solidFill>
            <a:schemeClr val="tx1"/>
          </a:solidFill>
          <a:latin typeface="+mn-lt"/>
          <a:ea typeface="ＭＳ Ｐゴシック" panose="020B0600070205080204" pitchFamily="34" charset="-128"/>
          <a:cs typeface="B Nazanin" panose="00000400000000000000" pitchFamily="2" charset="-78"/>
        </a:defRPr>
      </a:lvl2pPr>
      <a:lvl3pPr marL="1085850" indent="-228600" algn="l" rtl="0" eaLnBrk="0" fontAlgn="base" hangingPunct="0">
        <a:spcBef>
          <a:spcPct val="35000"/>
        </a:spcBef>
        <a:spcAft>
          <a:spcPct val="0"/>
        </a:spcAft>
        <a:buClr>
          <a:srgbClr val="33CC33"/>
        </a:buClr>
        <a:buSzPct val="85000"/>
        <a:buFont typeface="Webdings" panose="05030102010509060703" pitchFamily="18" charset="2"/>
        <a:buChar char="4"/>
        <a:defRPr kumimoji="1" sz="2000">
          <a:solidFill>
            <a:schemeClr val="tx1"/>
          </a:solidFill>
          <a:latin typeface="+mn-lt"/>
          <a:ea typeface="ＭＳ Ｐゴシック" panose="020B0600070205080204" pitchFamily="34" charset="-128"/>
          <a:cs typeface="B Nazanin" panose="00000400000000000000" pitchFamily="2" charset="-78"/>
        </a:defRPr>
      </a:lvl3pPr>
      <a:lvl4pPr marL="1428750" indent="-228600" algn="l" rtl="0" eaLnBrk="0" fontAlgn="base" hangingPunct="0">
        <a:spcBef>
          <a:spcPct val="35000"/>
        </a:spcBef>
        <a:spcAft>
          <a:spcPct val="0"/>
        </a:spcAft>
        <a:buClr>
          <a:schemeClr val="hlink"/>
        </a:buClr>
        <a:buFont typeface="Times New Roman" panose="02020603050405020304" pitchFamily="18" charset="0"/>
        <a:buChar char="–"/>
        <a:defRPr kumimoji="1" sz="2000">
          <a:solidFill>
            <a:schemeClr val="tx1"/>
          </a:solidFill>
          <a:latin typeface="+mn-lt"/>
          <a:ea typeface="ＭＳ Ｐゴシック" panose="020B0600070205080204" pitchFamily="34" charset="-128"/>
          <a:cs typeface="B Nazanin" panose="00000400000000000000" pitchFamily="2" charset="-78"/>
        </a:defRPr>
      </a:lvl4pPr>
      <a:lvl5pPr marL="1771650" indent="-228600" algn="l" rtl="0" eaLnBrk="0" fontAlgn="base" hangingPunct="0">
        <a:spcBef>
          <a:spcPct val="35000"/>
        </a:spcBef>
        <a:spcAft>
          <a:spcPct val="0"/>
        </a:spcAft>
        <a:buClr>
          <a:schemeClr val="tx2"/>
        </a:buClr>
        <a:buSzPct val="75000"/>
        <a:buChar char="»"/>
        <a:defRPr kumimoji="1" sz="2000">
          <a:solidFill>
            <a:schemeClr val="tx1"/>
          </a:solidFill>
          <a:latin typeface="+mn-lt"/>
          <a:ea typeface="ＭＳ Ｐゴシック" panose="020B0600070205080204" pitchFamily="34" charset="-128"/>
          <a:cs typeface="B Nazanin" panose="00000400000000000000" pitchFamily="2" charset="-78"/>
        </a:defRPr>
      </a:lvl5pPr>
      <a:lvl6pPr marL="22288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6pPr>
      <a:lvl7pPr marL="26860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7pPr>
      <a:lvl8pPr marL="31432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8pPr>
      <a:lvl9pPr marL="36004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a0taghinezhad@gmail.com" TargetMode="External"/><Relationship Id="rId2" Type="http://schemas.openxmlformats.org/officeDocument/2006/relationships/notesSlide" Target="../notesSlides/notesSlide1.xml"/><Relationship Id="rId1" Type="http://schemas.openxmlformats.org/officeDocument/2006/relationships/slideLayout" Target="../slideLayouts/slideLayout9.xml"/><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2.wmf"/><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6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17.jpe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image" Target="../media/image180.png"/></Relationships>
</file>

<file path=ppt/slides/_rels/slide98.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85.xml"/><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8.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04.xml"/><Relationship Id="rId1" Type="http://schemas.openxmlformats.org/officeDocument/2006/relationships/slideLayout" Target="../slideLayouts/slideLayout2.xml"/><Relationship Id="rId4" Type="http://schemas.openxmlformats.org/officeDocument/2006/relationships/image" Target="../media/image18.jpe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a:extLst>
              <a:ext uri="{FF2B5EF4-FFF2-40B4-BE49-F238E27FC236}">
                <a16:creationId xmlns:a16="http://schemas.microsoft.com/office/drawing/2014/main" id="{29FA7267-592D-48E8-A65B-FA6DE5F32885}"/>
              </a:ext>
            </a:extLst>
          </p:cNvPr>
          <p:cNvSpPr>
            <a:spLocks noGrp="1" noChangeArrowheads="1"/>
          </p:cNvSpPr>
          <p:nvPr>
            <p:ph type="title"/>
          </p:nvPr>
        </p:nvSpPr>
        <p:spPr>
          <a:xfrm>
            <a:off x="169863" y="817563"/>
            <a:ext cx="3959225" cy="1692275"/>
          </a:xfrm>
        </p:spPr>
        <p:txBody>
          <a:bodyPr/>
          <a:lstStyle/>
          <a:p>
            <a:pPr>
              <a:defRPr/>
            </a:pPr>
            <a:r>
              <a:rPr lang="fa-IR" sz="3200" dirty="0">
                <a:cs typeface="B Nazanin" panose="00000400000000000000" pitchFamily="2" charset="-78"/>
              </a:rPr>
              <a:t>اصول طراحی پایگاه داده</a:t>
            </a:r>
            <a:br>
              <a:rPr lang="en-US" sz="3200" dirty="0">
                <a:cs typeface="B Nazanin" panose="00000400000000000000" pitchFamily="2" charset="-78"/>
              </a:rPr>
            </a:br>
            <a:endParaRPr lang="en-AU" sz="3200" dirty="0">
              <a:cs typeface="B Nazanin" panose="00000400000000000000" pitchFamily="2" charset="-78"/>
            </a:endParaRPr>
          </a:p>
        </p:txBody>
      </p:sp>
      <p:sp>
        <p:nvSpPr>
          <p:cNvPr id="5123" name="Rectangle 3">
            <a:extLst>
              <a:ext uri="{FF2B5EF4-FFF2-40B4-BE49-F238E27FC236}">
                <a16:creationId xmlns:a16="http://schemas.microsoft.com/office/drawing/2014/main" id="{ED51C1D5-14E8-49FC-BE3B-A1533D38312B}"/>
              </a:ext>
            </a:extLst>
          </p:cNvPr>
          <p:cNvSpPr>
            <a:spLocks noGrp="1" noChangeArrowheads="1"/>
          </p:cNvSpPr>
          <p:nvPr>
            <p:ph type="body" sz="half" idx="2"/>
          </p:nvPr>
        </p:nvSpPr>
        <p:spPr>
          <a:xfrm>
            <a:off x="368300" y="2392363"/>
            <a:ext cx="3959225" cy="3200400"/>
          </a:xfrm>
        </p:spPr>
        <p:txBody>
          <a:bodyPr/>
          <a:lstStyle/>
          <a:p>
            <a:endParaRPr lang="en-US" altLang="en-US"/>
          </a:p>
          <a:p>
            <a:endParaRPr lang="en-US" altLang="en-US"/>
          </a:p>
          <a:p>
            <a:endParaRPr lang="en-US" altLang="en-US"/>
          </a:p>
        </p:txBody>
      </p:sp>
      <p:sp>
        <p:nvSpPr>
          <p:cNvPr id="5124" name="TextBox 5">
            <a:extLst>
              <a:ext uri="{FF2B5EF4-FFF2-40B4-BE49-F238E27FC236}">
                <a16:creationId xmlns:a16="http://schemas.microsoft.com/office/drawing/2014/main" id="{4FEE82E7-C616-41E2-B3BD-EE56DD0A5F55}"/>
              </a:ext>
            </a:extLst>
          </p:cNvPr>
          <p:cNvSpPr txBox="1">
            <a:spLocks noChangeArrowheads="1"/>
          </p:cNvSpPr>
          <p:nvPr/>
        </p:nvSpPr>
        <p:spPr bwMode="auto">
          <a:xfrm>
            <a:off x="61913" y="4826000"/>
            <a:ext cx="4572000"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charset="0"/>
              <a:buChar char="n"/>
              <a:defRPr kumimoji="1">
                <a:solidFill>
                  <a:schemeClr val="tx1"/>
                </a:solidFill>
                <a:latin typeface="Helvetica" panose="020B0604020202020204" pitchFamily="34" charset="0"/>
                <a:ea typeface="MS PGothic" panose="020B0600070205080204" pitchFamily="34" charset="-128"/>
              </a:defRPr>
            </a:lvl1pPr>
            <a:lvl2pPr marL="742950" indent="-285750">
              <a:spcBef>
                <a:spcPct val="35000"/>
              </a:spcBef>
              <a:buClr>
                <a:schemeClr val="folHlink"/>
              </a:buClr>
              <a:buSzPct val="80000"/>
              <a:buFont typeface="Monotype Sorts" charset="0"/>
              <a:buChar char="l"/>
              <a:defRPr kumimoji="1">
                <a:solidFill>
                  <a:schemeClr val="tx1"/>
                </a:solidFill>
                <a:latin typeface="Helvetica" panose="020B0604020202020204" pitchFamily="34" charset="0"/>
                <a:ea typeface="MS PGothic" panose="020B0600070205080204" pitchFamily="34" charset="-128"/>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ea typeface="MS PGothic" panose="020B0600070205080204" pitchFamily="34" charset="-128"/>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ea typeface="MS PGothic" panose="020B0600070205080204" pitchFamily="34" charset="-128"/>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9pPr>
          </a:lstStyle>
          <a:p>
            <a:pPr>
              <a:lnSpc>
                <a:spcPct val="90000"/>
              </a:lnSpc>
              <a:spcBef>
                <a:spcPct val="20000"/>
              </a:spcBef>
              <a:buClrTx/>
              <a:buSzTx/>
              <a:buFontTx/>
              <a:buNone/>
            </a:pPr>
            <a:r>
              <a:rPr kumimoji="0" lang="en-US" altLang="en-US" sz="2000">
                <a:latin typeface="Consolas" panose="020B0609020204030204" pitchFamily="49" charset="0"/>
                <a:cs typeface="Tahoma" panose="020B0604030504040204" pitchFamily="34" charset="0"/>
              </a:rPr>
              <a:t>Mail:</a:t>
            </a:r>
          </a:p>
          <a:p>
            <a:pPr>
              <a:lnSpc>
                <a:spcPct val="90000"/>
              </a:lnSpc>
              <a:spcBef>
                <a:spcPct val="20000"/>
              </a:spcBef>
              <a:buClrTx/>
              <a:buSzTx/>
              <a:buFontTx/>
              <a:buNone/>
            </a:pPr>
            <a:r>
              <a:rPr kumimoji="0" lang="en-US" altLang="en-US" sz="2000">
                <a:latin typeface="Consolas" panose="020B0609020204030204" pitchFamily="49" charset="0"/>
                <a:cs typeface="Tahoma" panose="020B0604030504040204" pitchFamily="34" charset="0"/>
              </a:rPr>
              <a:t> </a:t>
            </a:r>
            <a:r>
              <a:rPr kumimoji="0" lang="en-US" altLang="en-US" sz="2000">
                <a:latin typeface="Consolas" panose="020B0609020204030204" pitchFamily="49" charset="0"/>
                <a:cs typeface="Tahoma" panose="020B0604030504040204" pitchFamily="34" charset="0"/>
                <a:hlinkClick r:id="rId3"/>
              </a:rPr>
              <a:t>a0taghinezhad@gmail.com</a:t>
            </a:r>
            <a:endParaRPr kumimoji="0" lang="en-US" altLang="en-US" sz="2000">
              <a:latin typeface="Consolas" panose="020B0609020204030204" pitchFamily="49" charset="0"/>
              <a:cs typeface="Tahoma" panose="020B0604030504040204" pitchFamily="34" charset="0"/>
            </a:endParaRPr>
          </a:p>
        </p:txBody>
      </p:sp>
      <p:sp>
        <p:nvSpPr>
          <p:cNvPr id="5125" name="TextBox 7">
            <a:extLst>
              <a:ext uri="{FF2B5EF4-FFF2-40B4-BE49-F238E27FC236}">
                <a16:creationId xmlns:a16="http://schemas.microsoft.com/office/drawing/2014/main" id="{2FF850A1-8C25-4658-AC31-8379F57E63FF}"/>
              </a:ext>
            </a:extLst>
          </p:cNvPr>
          <p:cNvSpPr txBox="1">
            <a:spLocks noChangeArrowheads="1"/>
          </p:cNvSpPr>
          <p:nvPr/>
        </p:nvSpPr>
        <p:spPr bwMode="auto">
          <a:xfrm>
            <a:off x="244475" y="2873375"/>
            <a:ext cx="4572000" cy="425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charset="0"/>
              <a:buChar char="n"/>
              <a:defRPr kumimoji="1">
                <a:solidFill>
                  <a:schemeClr val="tx1"/>
                </a:solidFill>
                <a:latin typeface="Helvetica" panose="020B0604020202020204" pitchFamily="34" charset="0"/>
                <a:ea typeface="MS PGothic" panose="020B0600070205080204" pitchFamily="34" charset="-128"/>
              </a:defRPr>
            </a:lvl1pPr>
            <a:lvl2pPr marL="742950" indent="-285750">
              <a:spcBef>
                <a:spcPct val="35000"/>
              </a:spcBef>
              <a:buClr>
                <a:schemeClr val="folHlink"/>
              </a:buClr>
              <a:buSzPct val="80000"/>
              <a:buFont typeface="Monotype Sorts" charset="0"/>
              <a:buChar char="l"/>
              <a:defRPr kumimoji="1">
                <a:solidFill>
                  <a:schemeClr val="tx1"/>
                </a:solidFill>
                <a:latin typeface="Helvetica" panose="020B0604020202020204" pitchFamily="34" charset="0"/>
                <a:ea typeface="MS PGothic" panose="020B0600070205080204" pitchFamily="34" charset="-128"/>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ea typeface="MS PGothic" panose="020B0600070205080204" pitchFamily="34" charset="-128"/>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ea typeface="MS PGothic" panose="020B0600070205080204" pitchFamily="34" charset="-128"/>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9pPr>
          </a:lstStyle>
          <a:p>
            <a:pPr>
              <a:lnSpc>
                <a:spcPct val="90000"/>
              </a:lnSpc>
              <a:spcBef>
                <a:spcPct val="0"/>
              </a:spcBef>
              <a:buClrTx/>
              <a:buSzTx/>
              <a:buFontTx/>
              <a:buNone/>
            </a:pPr>
            <a:r>
              <a:rPr kumimoji="0" lang="en-US" altLang="en-US" sz="2400" dirty="0">
                <a:latin typeface="Comic Sans MS" panose="030F0702030302020204" pitchFamily="66" charset="0"/>
              </a:rPr>
              <a:t>By Dr. Taghinezhad</a:t>
            </a:r>
          </a:p>
        </p:txBody>
      </p:sp>
      <p:pic>
        <p:nvPicPr>
          <p:cNvPr id="5126" name="Picture 2">
            <a:extLst>
              <a:ext uri="{FF2B5EF4-FFF2-40B4-BE49-F238E27FC236}">
                <a16:creationId xmlns:a16="http://schemas.microsoft.com/office/drawing/2014/main" id="{0200785A-BE07-49DD-BF0A-C98081D5EB4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29088" y="229024"/>
            <a:ext cx="4943475" cy="6281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6D0E67A-7F0B-46D5-BCFA-1287AF4962F3}"/>
              </a:ext>
            </a:extLst>
          </p:cNvPr>
          <p:cNvSpPr>
            <a:spLocks noGrp="1" noChangeArrowheads="1"/>
          </p:cNvSpPr>
          <p:nvPr>
            <p:ph type="ctrTitle"/>
          </p:nvPr>
        </p:nvSpPr>
        <p:spPr>
          <a:extLst>
            <a:ext uri="{909E8E84-426E-40dd-AFC4-6F175D3DCCD1}"/>
            <a:ext uri="{91240B29-F687-4f45-9708-019B960494DF}"/>
            <a:ext uri="{FAA26D3D-D897-4be2-8F04-BA451C77F1D7}"/>
          </a:extLst>
        </p:spPr>
        <p:txBody>
          <a:bodyPr/>
          <a:lstStyle/>
          <a:p>
            <a:pPr>
              <a:defRPr/>
            </a:pPr>
            <a:r>
              <a:rPr lang="fa-IR" dirty="0"/>
              <a:t>فصل ۷: </a:t>
            </a:r>
            <a:r>
              <a:rPr lang="fa-IR" dirty="0" err="1"/>
              <a:t>نرمال‌سازی</a:t>
            </a:r>
            <a:endParaRPr lang="en-US" altLang="en-US" dirty="0">
              <a:effectLst>
                <a:outerShdw blurRad="38100" dist="38100" dir="2700000" algn="tl">
                  <a:srgbClr val="C0C0C0"/>
                </a:outerShdw>
              </a:effectLst>
              <a:ea typeface="ＭＳ Ｐゴシック" pitchFamily="34" charset="-128"/>
            </a:endParaRPr>
          </a:p>
        </p:txBody>
      </p:sp>
    </p:spTree>
    <p:extLst>
      <p:ext uri="{BB962C8B-B14F-4D97-AF65-F5344CB8AC3E}">
        <p14:creationId xmlns:p14="http://schemas.microsoft.com/office/powerpoint/2010/main" val="33992374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8194" name="Rectangle 2"/>
          <p:cNvSpPr>
            <a:spLocks noGrp="1" noChangeArrowheads="1"/>
          </p:cNvSpPr>
          <p:nvPr>
            <p:ph type="title"/>
          </p:nvPr>
        </p:nvSpPr>
        <p:spPr>
          <a:xfrm>
            <a:off x="809625" y="104775"/>
            <a:ext cx="8077200" cy="609600"/>
          </a:xfrm>
        </p:spPr>
        <p:txBody>
          <a:bodyPr/>
          <a:lstStyle/>
          <a:p>
            <a:pPr>
              <a:defRPr/>
            </a:pPr>
            <a:r>
              <a:rPr lang="fa-IR" dirty="0" err="1"/>
              <a:t>سرفصل‌ها</a:t>
            </a:r>
            <a:endParaRPr lang="en-US" altLang="en-US" sz="2800" dirty="0">
              <a:effectLst>
                <a:outerShdw blurRad="38100" dist="38100" dir="2700000" algn="tl">
                  <a:srgbClr val="C0C0C0"/>
                </a:outerShdw>
              </a:effectLst>
              <a:ea typeface="ＭＳ Ｐゴシック" pitchFamily="34" charset="-128"/>
            </a:endParaRPr>
          </a:p>
        </p:txBody>
      </p:sp>
      <p:sp>
        <p:nvSpPr>
          <p:cNvPr id="6147" name="Rectangle 3"/>
          <p:cNvSpPr>
            <a:spLocks noGrp="1" noChangeArrowheads="1"/>
          </p:cNvSpPr>
          <p:nvPr>
            <p:ph idx="1"/>
          </p:nvPr>
        </p:nvSpPr>
        <p:spPr>
          <a:xfrm>
            <a:off x="774113" y="1163637"/>
            <a:ext cx="6920103" cy="4823803"/>
          </a:xfrm>
        </p:spPr>
        <p:txBody>
          <a:bodyPr/>
          <a:lstStyle/>
          <a:p>
            <a:pPr algn="r" rtl="1"/>
            <a:r>
              <a:rPr lang="fa-IR" dirty="0" err="1"/>
              <a:t>ویژگی‌های</a:t>
            </a:r>
            <a:r>
              <a:rPr lang="fa-IR" dirty="0"/>
              <a:t> یک طراحی </a:t>
            </a:r>
            <a:r>
              <a:rPr lang="fa-IR" dirty="0" err="1"/>
              <a:t>رابطه‌ای</a:t>
            </a:r>
            <a:r>
              <a:rPr lang="fa-IR" dirty="0"/>
              <a:t> خوب</a:t>
            </a:r>
          </a:p>
          <a:p>
            <a:pPr algn="r" rtl="1"/>
            <a:r>
              <a:rPr lang="fa-IR" dirty="0" err="1"/>
              <a:t>وابستگی‌های</a:t>
            </a:r>
            <a:r>
              <a:rPr lang="fa-IR" dirty="0"/>
              <a:t> </a:t>
            </a:r>
            <a:r>
              <a:rPr lang="fa-IR" dirty="0" err="1"/>
              <a:t>تابعی</a:t>
            </a:r>
            <a:endParaRPr lang="fa-IR" dirty="0"/>
          </a:p>
          <a:p>
            <a:pPr algn="r" rtl="1"/>
            <a:r>
              <a:rPr lang="fa-IR" dirty="0"/>
              <a:t>تجزیه جدول با استفاده از </a:t>
            </a:r>
            <a:r>
              <a:rPr lang="fa-IR" dirty="0" err="1"/>
              <a:t>وابستگی‌های</a:t>
            </a:r>
            <a:r>
              <a:rPr lang="fa-IR" dirty="0"/>
              <a:t> </a:t>
            </a:r>
            <a:r>
              <a:rPr lang="fa-IR" dirty="0" err="1"/>
              <a:t>تابعی</a:t>
            </a:r>
            <a:endParaRPr lang="fa-IR" dirty="0"/>
          </a:p>
          <a:p>
            <a:pPr algn="r" rtl="1"/>
            <a:r>
              <a:rPr lang="fa-IR" dirty="0"/>
              <a:t>نرمال </a:t>
            </a:r>
            <a:r>
              <a:rPr lang="fa-IR" dirty="0" err="1"/>
              <a:t>فرم‌ها</a:t>
            </a:r>
            <a:endParaRPr lang="fa-IR" dirty="0"/>
          </a:p>
          <a:p>
            <a:pPr algn="r" rtl="1"/>
            <a:r>
              <a:rPr lang="fa-IR" dirty="0"/>
              <a:t>تئوری وابستگی </a:t>
            </a:r>
            <a:r>
              <a:rPr lang="fa-IR" dirty="0" err="1"/>
              <a:t>تابعی</a:t>
            </a:r>
            <a:endParaRPr lang="fa-IR" dirty="0"/>
          </a:p>
          <a:p>
            <a:pPr algn="r" rtl="1"/>
            <a:r>
              <a:rPr lang="fa-IR" dirty="0" err="1"/>
              <a:t>الگوریتم‌های</a:t>
            </a:r>
            <a:r>
              <a:rPr lang="fa-IR" dirty="0"/>
              <a:t> تجزیه جدول با </a:t>
            </a:r>
            <a:r>
              <a:rPr lang="fa-IR" dirty="0" err="1"/>
              <a:t>وابستگی‌های</a:t>
            </a:r>
            <a:r>
              <a:rPr lang="fa-IR" dirty="0"/>
              <a:t> </a:t>
            </a:r>
            <a:r>
              <a:rPr lang="fa-IR" dirty="0" err="1"/>
              <a:t>تابعی</a:t>
            </a:r>
            <a:endParaRPr lang="fa-IR" dirty="0"/>
          </a:p>
          <a:p>
            <a:pPr algn="r" rtl="1"/>
            <a:r>
              <a:rPr lang="fa-IR" dirty="0"/>
              <a:t>تجزیه با </a:t>
            </a:r>
            <a:r>
              <a:rPr lang="fa-IR" dirty="0" err="1"/>
              <a:t>وابستگی‌های</a:t>
            </a:r>
            <a:r>
              <a:rPr lang="fa-IR" dirty="0"/>
              <a:t> </a:t>
            </a:r>
            <a:r>
              <a:rPr lang="fa-IR" dirty="0" err="1"/>
              <a:t>چندمقداری</a:t>
            </a:r>
            <a:endParaRPr lang="fa-IR" dirty="0"/>
          </a:p>
          <a:p>
            <a:pPr algn="r" rtl="1"/>
            <a:r>
              <a:rPr lang="fa-IR" dirty="0" err="1"/>
              <a:t>نرمال‌فرم‌های</a:t>
            </a:r>
            <a:r>
              <a:rPr lang="fa-IR" dirty="0"/>
              <a:t> بیشتر</a:t>
            </a:r>
          </a:p>
          <a:p>
            <a:pPr algn="r" rtl="1"/>
            <a:r>
              <a:rPr lang="fa-IR" dirty="0" err="1"/>
              <a:t>دامنه‌های</a:t>
            </a:r>
            <a:r>
              <a:rPr lang="fa-IR" dirty="0"/>
              <a:t> اتمی و نرمال فرم اول</a:t>
            </a:r>
          </a:p>
          <a:p>
            <a:pPr algn="r" rtl="1"/>
            <a:r>
              <a:rPr lang="fa-IR" dirty="0"/>
              <a:t>فرایند طراحی پایگاه داده</a:t>
            </a:r>
          </a:p>
          <a:p>
            <a:pPr algn="r" rtl="1"/>
            <a:r>
              <a:rPr lang="fa-IR" dirty="0" err="1"/>
              <a:t>مدل‌سازی</a:t>
            </a:r>
            <a:r>
              <a:rPr lang="fa-IR" dirty="0"/>
              <a:t> </a:t>
            </a:r>
            <a:r>
              <a:rPr lang="fa-IR" dirty="0" err="1"/>
              <a:t>داده‌های</a:t>
            </a:r>
            <a:r>
              <a:rPr lang="fa-IR" dirty="0"/>
              <a:t> زمانی</a:t>
            </a:r>
            <a:endParaRPr lang="en-US" altLang="en-US" dirty="0"/>
          </a:p>
        </p:txBody>
      </p:sp>
    </p:spTree>
    <p:extLst>
      <p:ext uri="{BB962C8B-B14F-4D97-AF65-F5344CB8AC3E}">
        <p14:creationId xmlns:p14="http://schemas.microsoft.com/office/powerpoint/2010/main" val="10285207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Rectangle 3"/>
          <p:cNvSpPr>
            <a:spLocks noGrp="1" noChangeArrowheads="1"/>
          </p:cNvSpPr>
          <p:nvPr>
            <p:ph idx="1"/>
          </p:nvPr>
        </p:nvSpPr>
        <p:spPr>
          <a:xfrm>
            <a:off x="1858963" y="2798064"/>
            <a:ext cx="5589587" cy="866274"/>
          </a:xfrm>
        </p:spPr>
        <p:txBody>
          <a:bodyPr/>
          <a:lstStyle/>
          <a:p>
            <a:pPr algn="ctr">
              <a:buFont typeface="Monotype Sorts" charset="2"/>
              <a:buNone/>
              <a:defRPr/>
            </a:pPr>
            <a:r>
              <a:rPr lang="fa-IR" sz="3200" dirty="0"/>
              <a:t>مروری بر </a:t>
            </a:r>
            <a:r>
              <a:rPr lang="fa-IR" sz="3200" dirty="0" err="1"/>
              <a:t>نرمال‌سازی</a:t>
            </a:r>
            <a:endParaRPr lang="en-US" altLang="en-US" sz="3200" b="1" dirty="0">
              <a:solidFill>
                <a:srgbClr val="002060"/>
              </a:solidFill>
              <a:effectLst>
                <a:outerShdw blurRad="38100" dist="38100" dir="2700000" algn="tl">
                  <a:srgbClr val="C0C0C0"/>
                </a:outerShdw>
              </a:effectLst>
              <a:latin typeface="+mj-lt"/>
              <a:ea typeface="ＭＳ Ｐゴシック" pitchFamily="34" charset="-128"/>
              <a:cs typeface="+mj-cs"/>
            </a:endParaRPr>
          </a:p>
        </p:txBody>
      </p:sp>
    </p:spTree>
    <p:extLst>
      <p:ext uri="{BB962C8B-B14F-4D97-AF65-F5344CB8AC3E}">
        <p14:creationId xmlns:p14="http://schemas.microsoft.com/office/powerpoint/2010/main" val="1312319725"/>
      </p:ext>
    </p:extLst>
  </p:cSld>
  <p:clrMapOvr>
    <a:masterClrMapping/>
  </p:clrMapOvr>
  <p:transition spd="slow"/>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3" name="Title 1"/>
          <p:cNvSpPr>
            <a:spLocks noGrp="1"/>
          </p:cNvSpPr>
          <p:nvPr>
            <p:ph type="title"/>
          </p:nvPr>
        </p:nvSpPr>
        <p:spPr/>
        <p:txBody>
          <a:bodyPr anchor="ctr"/>
          <a:lstStyle/>
          <a:p>
            <a:pPr algn="ctr" rtl="1"/>
            <a:r>
              <a:rPr lang="fa-IR" altLang="en-US" sz="4400" b="1">
                <a:latin typeface="Titr" pitchFamily="2" charset="-78"/>
                <a:ea typeface="2  Titr"/>
                <a:cs typeface="2  Titr"/>
              </a:rPr>
              <a:t>جداول آنرمال</a:t>
            </a:r>
            <a:endParaRPr lang="en-US" altLang="en-US" sz="4400" b="1">
              <a:latin typeface="Titr" pitchFamily="2" charset="-78"/>
              <a:ea typeface="2  Titr"/>
              <a:cs typeface="2  Titr"/>
            </a:endParaRPr>
          </a:p>
        </p:txBody>
      </p:sp>
      <p:sp>
        <p:nvSpPr>
          <p:cNvPr id="143362" name="Content Placeholder 2"/>
          <p:cNvSpPr>
            <a:spLocks noGrp="1"/>
          </p:cNvSpPr>
          <p:nvPr>
            <p:ph idx="1"/>
          </p:nvPr>
        </p:nvSpPr>
        <p:spPr/>
        <p:txBody>
          <a:bodyPr>
            <a:normAutofit/>
          </a:bodyPr>
          <a:lstStyle/>
          <a:p>
            <a:pPr algn="r" rtl="1"/>
            <a:r>
              <a:rPr lang="fa-IR" sz="2800" dirty="0">
                <a:cs typeface="B Nazanin" panose="00000400000000000000" pitchFamily="2" charset="-78"/>
              </a:rPr>
              <a:t> </a:t>
            </a:r>
            <a:r>
              <a:rPr lang="fa-IR" sz="2800" b="1" dirty="0">
                <a:cs typeface="B Nazanin" panose="00000400000000000000" pitchFamily="2" charset="-78"/>
              </a:rPr>
              <a:t>نرمال سازی</a:t>
            </a:r>
          </a:p>
          <a:p>
            <a:pPr lvl="1" algn="r" rtl="1"/>
            <a:r>
              <a:rPr lang="fa-IR" sz="2400" dirty="0">
                <a:cs typeface="B Nazanin" panose="00000400000000000000" pitchFamily="2" charset="-78"/>
              </a:rPr>
              <a:t> روشی برای </a:t>
            </a:r>
            <a:r>
              <a:rPr lang="fa-IR" sz="2400" b="1" dirty="0">
                <a:cs typeface="B Nazanin" panose="00000400000000000000" pitchFamily="2" charset="-78"/>
              </a:rPr>
              <a:t>طراحی جداول </a:t>
            </a:r>
            <a:r>
              <a:rPr lang="fa-IR" sz="2400" dirty="0" err="1">
                <a:cs typeface="B Nazanin" panose="00000400000000000000" pitchFamily="2" charset="-78"/>
              </a:rPr>
              <a:t>پايگاه</a:t>
            </a:r>
            <a:r>
              <a:rPr lang="fa-IR" sz="2400" dirty="0">
                <a:cs typeface="B Nazanin" panose="00000400000000000000" pitchFamily="2" charset="-78"/>
              </a:rPr>
              <a:t> داده و داده ها </a:t>
            </a:r>
            <a:endParaRPr lang="en-US" sz="2400" dirty="0">
              <a:cs typeface="B Nazanin" panose="00000400000000000000" pitchFamily="2" charset="-78"/>
            </a:endParaRPr>
          </a:p>
          <a:p>
            <a:pPr lvl="1" algn="r" rtl="1"/>
            <a:r>
              <a:rPr lang="fa-IR" sz="2400" dirty="0">
                <a:cs typeface="B Nazanin" panose="00000400000000000000" pitchFamily="2" charset="-78"/>
              </a:rPr>
              <a:t>به </a:t>
            </a:r>
            <a:r>
              <a:rPr lang="fa-IR" sz="2400" dirty="0" err="1">
                <a:cs typeface="B Nazanin" panose="00000400000000000000" pitchFamily="2" charset="-78"/>
              </a:rPr>
              <a:t>طريقی</a:t>
            </a:r>
            <a:r>
              <a:rPr lang="fa-IR" sz="2400" dirty="0">
                <a:cs typeface="B Nazanin" panose="00000400000000000000" pitchFamily="2" charset="-78"/>
              </a:rPr>
              <a:t> که باعث کاهش </a:t>
            </a:r>
            <a:r>
              <a:rPr lang="fa-IR" sz="2400" b="1" dirty="0">
                <a:cs typeface="B Nazanin" panose="00000400000000000000" pitchFamily="2" charset="-78"/>
              </a:rPr>
              <a:t>افزونگی داده</a:t>
            </a:r>
            <a:endParaRPr lang="en-US" sz="2400" b="1" dirty="0">
              <a:cs typeface="B Nazanin" panose="00000400000000000000" pitchFamily="2" charset="-78"/>
            </a:endParaRPr>
          </a:p>
          <a:p>
            <a:pPr lvl="1" algn="r" rtl="1"/>
            <a:r>
              <a:rPr lang="fa-IR" sz="2400" dirty="0">
                <a:cs typeface="B Nazanin" panose="00000400000000000000" pitchFamily="2" charset="-78"/>
              </a:rPr>
              <a:t> رفع مشکلات </a:t>
            </a:r>
            <a:r>
              <a:rPr lang="fa-IR" sz="2400" b="1" dirty="0">
                <a:cs typeface="B Nazanin" panose="00000400000000000000" pitchFamily="2" charset="-78"/>
              </a:rPr>
              <a:t>ساختاری و </a:t>
            </a:r>
            <a:r>
              <a:rPr lang="fa-IR" sz="2400" b="1" dirty="0" err="1">
                <a:cs typeface="B Nazanin" panose="00000400000000000000" pitchFamily="2" charset="-78"/>
              </a:rPr>
              <a:t>آنومالی</a:t>
            </a:r>
            <a:endParaRPr lang="fa-IR" sz="2400" dirty="0">
              <a:cs typeface="B Nazanin" panose="00000400000000000000" pitchFamily="2" charset="-78"/>
            </a:endParaRPr>
          </a:p>
        </p:txBody>
      </p:sp>
      <p:sp>
        <p:nvSpPr>
          <p:cNvPr id="3" name="Slide Number Placeholder 2">
            <a:extLst>
              <a:ext uri="{FF2B5EF4-FFF2-40B4-BE49-F238E27FC236}">
                <a16:creationId xmlns:a16="http://schemas.microsoft.com/office/drawing/2014/main" id="{25D4E3E9-2887-4FCB-A0CF-A9EEB0E98D05}"/>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5</a:t>
            </a:fld>
            <a:endParaRPr lang="en-US"/>
          </a:p>
        </p:txBody>
      </p:sp>
    </p:spTree>
    <p:extLst>
      <p:ext uri="{BB962C8B-B14F-4D97-AF65-F5344CB8AC3E}">
        <p14:creationId xmlns:p14="http://schemas.microsoft.com/office/powerpoint/2010/main" val="35937335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3" name="Title 1"/>
          <p:cNvSpPr>
            <a:spLocks noGrp="1"/>
          </p:cNvSpPr>
          <p:nvPr>
            <p:ph type="title"/>
          </p:nvPr>
        </p:nvSpPr>
        <p:spPr/>
        <p:txBody>
          <a:bodyPr anchor="ctr"/>
          <a:lstStyle/>
          <a:p>
            <a:pPr algn="ctr" rtl="1"/>
            <a:r>
              <a:rPr lang="fa-IR" altLang="en-US" sz="4400" b="1">
                <a:latin typeface="Titr" pitchFamily="2" charset="-78"/>
                <a:ea typeface="2  Titr"/>
                <a:cs typeface="2  Titr"/>
              </a:rPr>
              <a:t>جداول آنرمال</a:t>
            </a:r>
            <a:endParaRPr lang="en-US" altLang="en-US" sz="4400" b="1">
              <a:latin typeface="Titr" pitchFamily="2" charset="-78"/>
              <a:ea typeface="2  Titr"/>
              <a:cs typeface="2  Titr"/>
            </a:endParaRPr>
          </a:p>
        </p:txBody>
      </p:sp>
      <p:sp>
        <p:nvSpPr>
          <p:cNvPr id="143362" name="Content Placeholder 2"/>
          <p:cNvSpPr>
            <a:spLocks noGrp="1"/>
          </p:cNvSpPr>
          <p:nvPr>
            <p:ph idx="1"/>
          </p:nvPr>
        </p:nvSpPr>
        <p:spPr/>
        <p:txBody>
          <a:bodyPr>
            <a:normAutofit/>
          </a:bodyPr>
          <a:lstStyle/>
          <a:p>
            <a:pPr algn="r" rtl="1"/>
            <a:r>
              <a:rPr lang="fa-IR" sz="2400" b="1" dirty="0">
                <a:cs typeface="B Nazanin" panose="00000400000000000000" pitchFamily="2" charset="-78"/>
              </a:rPr>
              <a:t>هدف از نرمال سازی </a:t>
            </a:r>
          </a:p>
          <a:p>
            <a:pPr lvl="1" algn="r" rtl="1"/>
            <a:r>
              <a:rPr lang="fa-IR" sz="3200" dirty="0">
                <a:cs typeface="B Nazanin" panose="00000400000000000000" pitchFamily="2" charset="-78"/>
              </a:rPr>
              <a:t>حذف افزونگی داده </a:t>
            </a:r>
          </a:p>
          <a:p>
            <a:pPr lvl="1" algn="r" rtl="1"/>
            <a:r>
              <a:rPr lang="fa-IR" sz="3200" dirty="0">
                <a:cs typeface="B Nazanin" panose="00000400000000000000" pitchFamily="2" charset="-78"/>
              </a:rPr>
              <a:t>باقی نگاه</a:t>
            </a:r>
            <a:r>
              <a:rPr lang="en-US" sz="3200" dirty="0">
                <a:cs typeface="B Nazanin" panose="00000400000000000000" pitchFamily="2" charset="-78"/>
              </a:rPr>
              <a:t> </a:t>
            </a:r>
            <a:r>
              <a:rPr lang="fa-IR" sz="3200" dirty="0">
                <a:cs typeface="B Nazanin" panose="00000400000000000000" pitchFamily="2" charset="-78"/>
              </a:rPr>
              <a:t>داشتن وابستگی بين داده های مرتبط است.</a:t>
            </a:r>
          </a:p>
          <a:p>
            <a:pPr lvl="1" algn="r" rtl="1"/>
            <a:r>
              <a:rPr lang="fa-IR" sz="3200" dirty="0">
                <a:cs typeface="B Nazanin" panose="00000400000000000000" pitchFamily="2" charset="-78"/>
              </a:rPr>
              <a:t> به </a:t>
            </a:r>
            <a:r>
              <a:rPr lang="fa-IR" sz="3200" dirty="0" err="1">
                <a:cs typeface="B Nazanin" panose="00000400000000000000" pitchFamily="2" charset="-78"/>
              </a:rPr>
              <a:t>اين</a:t>
            </a:r>
            <a:r>
              <a:rPr lang="fa-IR" sz="3200" dirty="0">
                <a:cs typeface="B Nazanin" panose="00000400000000000000" pitchFamily="2" charset="-78"/>
              </a:rPr>
              <a:t> طریق اندازه </a:t>
            </a:r>
            <a:r>
              <a:rPr lang="fa-IR" sz="3200" dirty="0" err="1">
                <a:cs typeface="B Nazanin" panose="00000400000000000000" pitchFamily="2" charset="-78"/>
              </a:rPr>
              <a:t>پايگاه</a:t>
            </a:r>
            <a:r>
              <a:rPr lang="fa-IR" sz="3200" dirty="0">
                <a:cs typeface="B Nazanin" panose="00000400000000000000" pitchFamily="2" charset="-78"/>
              </a:rPr>
              <a:t> داده را کاهش داده و </a:t>
            </a:r>
            <a:r>
              <a:rPr lang="fa-IR" sz="3200" dirty="0" err="1">
                <a:cs typeface="B Nazanin" panose="00000400000000000000" pitchFamily="2" charset="-78"/>
              </a:rPr>
              <a:t>ذخيره</a:t>
            </a:r>
            <a:r>
              <a:rPr lang="fa-IR" sz="3200" dirty="0">
                <a:cs typeface="B Nazanin" panose="00000400000000000000" pitchFamily="2" charset="-78"/>
              </a:rPr>
              <a:t> منطقی داده را </a:t>
            </a:r>
            <a:r>
              <a:rPr lang="fa-IR" sz="3200" dirty="0" err="1">
                <a:cs typeface="B Nazanin" panose="00000400000000000000" pitchFamily="2" charset="-78"/>
              </a:rPr>
              <a:t>تضمين</a:t>
            </a:r>
            <a:r>
              <a:rPr lang="fa-IR" sz="3200" dirty="0">
                <a:cs typeface="B Nazanin" panose="00000400000000000000" pitchFamily="2" charset="-78"/>
              </a:rPr>
              <a:t> می کند.</a:t>
            </a:r>
          </a:p>
        </p:txBody>
      </p:sp>
      <p:sp>
        <p:nvSpPr>
          <p:cNvPr id="3" name="Slide Number Placeholder 2">
            <a:extLst>
              <a:ext uri="{FF2B5EF4-FFF2-40B4-BE49-F238E27FC236}">
                <a16:creationId xmlns:a16="http://schemas.microsoft.com/office/drawing/2014/main" id="{02C3B07C-D2D1-4EFD-B62B-6D2053BAFC5F}"/>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6</a:t>
            </a:fld>
            <a:endParaRPr lang="en-US"/>
          </a:p>
        </p:txBody>
      </p:sp>
    </p:spTree>
    <p:extLst>
      <p:ext uri="{BB962C8B-B14F-4D97-AF65-F5344CB8AC3E}">
        <p14:creationId xmlns:p14="http://schemas.microsoft.com/office/powerpoint/2010/main" val="31010159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33AF14-6EAC-4C24-8AC5-F34CF29D928B}"/>
              </a:ext>
            </a:extLst>
          </p:cNvPr>
          <p:cNvSpPr>
            <a:spLocks noGrp="1"/>
          </p:cNvSpPr>
          <p:nvPr>
            <p:ph type="title"/>
          </p:nvPr>
        </p:nvSpPr>
        <p:spPr>
          <a:xfrm>
            <a:off x="625537" y="124671"/>
            <a:ext cx="8176727" cy="1609344"/>
          </a:xfrm>
        </p:spPr>
        <p:txBody>
          <a:bodyPr>
            <a:noAutofit/>
          </a:bodyPr>
          <a:lstStyle/>
          <a:p>
            <a:pPr algn="r" rtl="1"/>
            <a:r>
              <a:rPr lang="fa-IR" sz="2800" dirty="0">
                <a:solidFill>
                  <a:srgbClr val="000000"/>
                </a:solidFill>
                <a:latin typeface="Tahoma" panose="020B0604030504040204" pitchFamily="34" charset="0"/>
                <a:ea typeface="+mn-ea"/>
                <a:cs typeface="B Nazanin" panose="00000400000000000000" pitchFamily="2" charset="-78"/>
              </a:rPr>
              <a:t>مثال. جدول زير که اطلاعات مربوط به خريد مشتريان را دارد درنظر بگيريد:</a:t>
            </a:r>
            <a:br>
              <a:rPr lang="en-US" altLang="en-US" sz="2800" dirty="0">
                <a:solidFill>
                  <a:srgbClr val="000000"/>
                </a:solidFill>
                <a:latin typeface="Tahoma" panose="020B0604030504040204" pitchFamily="34" charset="0"/>
                <a:ea typeface="+mn-ea"/>
                <a:cs typeface="B Nazanin" panose="00000400000000000000" pitchFamily="2" charset="-78"/>
              </a:rPr>
            </a:br>
            <a:endParaRPr lang="en-US" sz="2800" dirty="0">
              <a:solidFill>
                <a:srgbClr val="000000"/>
              </a:solidFill>
              <a:latin typeface="Tahoma" panose="020B0604030504040204" pitchFamily="34" charset="0"/>
              <a:ea typeface="+mn-ea"/>
              <a:cs typeface="B Nazanin" panose="00000400000000000000" pitchFamily="2" charset="-78"/>
            </a:endParaRPr>
          </a:p>
        </p:txBody>
      </p:sp>
      <p:sp>
        <p:nvSpPr>
          <p:cNvPr id="143362" name="Content Placeholder 2"/>
          <p:cNvSpPr>
            <a:spLocks noGrp="1"/>
          </p:cNvSpPr>
          <p:nvPr>
            <p:ph idx="1"/>
          </p:nvPr>
        </p:nvSpPr>
        <p:spPr>
          <a:xfrm>
            <a:off x="625537" y="1371600"/>
            <a:ext cx="8229600" cy="4694237"/>
          </a:xfrm>
        </p:spPr>
        <p:txBody>
          <a:bodyPr>
            <a:normAutofit/>
          </a:bodyPr>
          <a:lstStyle/>
          <a:p>
            <a:pPr marL="0" lvl="0" indent="0" algn="r" rtl="1" eaLnBrk="0" fontAlgn="base" hangingPunct="0">
              <a:lnSpc>
                <a:spcPct val="100000"/>
              </a:lnSpc>
              <a:spcBef>
                <a:spcPct val="0"/>
              </a:spcBef>
              <a:spcAft>
                <a:spcPct val="0"/>
              </a:spcAft>
              <a:buClrTx/>
              <a:buSzTx/>
              <a:buNone/>
            </a:pPr>
            <a:r>
              <a:rPr lang="ar-SA" altLang="en-US" sz="3200" dirty="0">
                <a:solidFill>
                  <a:srgbClr val="000000"/>
                </a:solidFill>
                <a:latin typeface="Tahoma" panose="020B0604030504040204" pitchFamily="34" charset="0"/>
                <a:cs typeface="B Nazanin" panose="00000400000000000000" pitchFamily="2" charset="-78"/>
              </a:rPr>
              <a:t>همانطور که مشاهده می شود با هر فروش داده ها در جدول تکرار می شوند</a:t>
            </a:r>
            <a:r>
              <a:rPr lang="ar-SA" altLang="en-US" sz="1800" dirty="0">
                <a:solidFill>
                  <a:srgbClr val="000000"/>
                </a:solidFill>
                <a:latin typeface="Tahoma" panose="020B0604030504040204" pitchFamily="34" charset="0"/>
                <a:cs typeface="B Nazanin" panose="00000400000000000000" pitchFamily="2" charset="-78"/>
              </a:rPr>
              <a:t>. </a:t>
            </a:r>
            <a:endParaRPr lang="ar-SA" altLang="en-US" sz="3600" dirty="0">
              <a:latin typeface="Arial" panose="020B0604020202020204" pitchFamily="34" charset="0"/>
              <a:cs typeface="B Nazanin" panose="00000400000000000000" pitchFamily="2" charset="-78"/>
            </a:endParaRPr>
          </a:p>
        </p:txBody>
      </p:sp>
      <p:sp>
        <p:nvSpPr>
          <p:cNvPr id="3" name="Slide Number Placeholder 2">
            <a:extLst>
              <a:ext uri="{FF2B5EF4-FFF2-40B4-BE49-F238E27FC236}">
                <a16:creationId xmlns:a16="http://schemas.microsoft.com/office/drawing/2014/main" id="{F920533E-D739-4EA1-BD67-6314C5ED5554}"/>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7</a:t>
            </a:fld>
            <a:endParaRPr lang="en-US"/>
          </a:p>
        </p:txBody>
      </p:sp>
      <p:graphicFrame>
        <p:nvGraphicFramePr>
          <p:cNvPr id="8" name="Table 7">
            <a:extLst>
              <a:ext uri="{FF2B5EF4-FFF2-40B4-BE49-F238E27FC236}">
                <a16:creationId xmlns:a16="http://schemas.microsoft.com/office/drawing/2014/main" id="{D6BF207B-032B-4D46-8744-81983EA40E17}"/>
              </a:ext>
            </a:extLst>
          </p:cNvPr>
          <p:cNvGraphicFramePr>
            <a:graphicFrameLocks noGrp="1"/>
          </p:cNvGraphicFramePr>
          <p:nvPr/>
        </p:nvGraphicFramePr>
        <p:xfrm>
          <a:off x="81497" y="2964319"/>
          <a:ext cx="8981005" cy="2682351"/>
        </p:xfrm>
        <a:graphic>
          <a:graphicData uri="http://schemas.openxmlformats.org/drawingml/2006/table">
            <a:tbl>
              <a:tblPr firstRow="1" firstCol="1" bandRow="1">
                <a:tableStyleId>{616DA210-FB5B-4158-B5E0-FEB733F419BA}</a:tableStyleId>
              </a:tblPr>
              <a:tblGrid>
                <a:gridCol w="586937">
                  <a:extLst>
                    <a:ext uri="{9D8B030D-6E8A-4147-A177-3AD203B41FA5}">
                      <a16:colId xmlns:a16="http://schemas.microsoft.com/office/drawing/2014/main" val="234041042"/>
                    </a:ext>
                  </a:extLst>
                </a:gridCol>
                <a:gridCol w="940021">
                  <a:extLst>
                    <a:ext uri="{9D8B030D-6E8A-4147-A177-3AD203B41FA5}">
                      <a16:colId xmlns:a16="http://schemas.microsoft.com/office/drawing/2014/main" val="3415118693"/>
                    </a:ext>
                  </a:extLst>
                </a:gridCol>
                <a:gridCol w="922588">
                  <a:extLst>
                    <a:ext uri="{9D8B030D-6E8A-4147-A177-3AD203B41FA5}">
                      <a16:colId xmlns:a16="http://schemas.microsoft.com/office/drawing/2014/main" val="3881982512"/>
                    </a:ext>
                  </a:extLst>
                </a:gridCol>
                <a:gridCol w="461294">
                  <a:extLst>
                    <a:ext uri="{9D8B030D-6E8A-4147-A177-3AD203B41FA5}">
                      <a16:colId xmlns:a16="http://schemas.microsoft.com/office/drawing/2014/main" val="2484215510"/>
                    </a:ext>
                  </a:extLst>
                </a:gridCol>
                <a:gridCol w="682078">
                  <a:extLst>
                    <a:ext uri="{9D8B030D-6E8A-4147-A177-3AD203B41FA5}">
                      <a16:colId xmlns:a16="http://schemas.microsoft.com/office/drawing/2014/main" val="1297653461"/>
                    </a:ext>
                  </a:extLst>
                </a:gridCol>
                <a:gridCol w="1156146">
                  <a:extLst>
                    <a:ext uri="{9D8B030D-6E8A-4147-A177-3AD203B41FA5}">
                      <a16:colId xmlns:a16="http://schemas.microsoft.com/office/drawing/2014/main" val="3484224265"/>
                    </a:ext>
                  </a:extLst>
                </a:gridCol>
                <a:gridCol w="847841">
                  <a:extLst>
                    <a:ext uri="{9D8B030D-6E8A-4147-A177-3AD203B41FA5}">
                      <a16:colId xmlns:a16="http://schemas.microsoft.com/office/drawing/2014/main" val="3482110401"/>
                    </a:ext>
                  </a:extLst>
                </a:gridCol>
                <a:gridCol w="770764">
                  <a:extLst>
                    <a:ext uri="{9D8B030D-6E8A-4147-A177-3AD203B41FA5}">
                      <a16:colId xmlns:a16="http://schemas.microsoft.com/office/drawing/2014/main" val="1813858957"/>
                    </a:ext>
                  </a:extLst>
                </a:gridCol>
                <a:gridCol w="770764">
                  <a:extLst>
                    <a:ext uri="{9D8B030D-6E8A-4147-A177-3AD203B41FA5}">
                      <a16:colId xmlns:a16="http://schemas.microsoft.com/office/drawing/2014/main" val="1355875302"/>
                    </a:ext>
                  </a:extLst>
                </a:gridCol>
                <a:gridCol w="1310300">
                  <a:extLst>
                    <a:ext uri="{9D8B030D-6E8A-4147-A177-3AD203B41FA5}">
                      <a16:colId xmlns:a16="http://schemas.microsoft.com/office/drawing/2014/main" val="1675925667"/>
                    </a:ext>
                  </a:extLst>
                </a:gridCol>
                <a:gridCol w="532272">
                  <a:extLst>
                    <a:ext uri="{9D8B030D-6E8A-4147-A177-3AD203B41FA5}">
                      <a16:colId xmlns:a16="http://schemas.microsoft.com/office/drawing/2014/main" val="236614085"/>
                    </a:ext>
                  </a:extLst>
                </a:gridCol>
              </a:tblGrid>
              <a:tr h="531066">
                <a:tc>
                  <a:txBody>
                    <a:bodyPr/>
                    <a:lstStyle/>
                    <a:p>
                      <a:pPr marL="0" marR="0">
                        <a:lnSpc>
                          <a:spcPct val="107000"/>
                        </a:lnSpc>
                        <a:spcBef>
                          <a:spcPts val="0"/>
                        </a:spcBef>
                        <a:spcAft>
                          <a:spcPts val="0"/>
                        </a:spcAft>
                      </a:pPr>
                      <a:r>
                        <a:rPr lang="en-US" sz="1100" dirty="0">
                          <a:solidFill>
                            <a:schemeClr val="tx2">
                              <a:lumMod val="75000"/>
                            </a:schemeClr>
                          </a:solidFill>
                          <a:effectLst/>
                        </a:rPr>
                        <a:t>Sale 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SaleDate</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ProductNo</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Qty</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Amount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Salesrep</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CustomerNo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First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Last</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Address</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CreditLimit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378874611"/>
                  </a:ext>
                </a:extLst>
              </a:tr>
              <a:tr h="351027">
                <a:tc>
                  <a:txBody>
                    <a:bodyPr/>
                    <a:lstStyle/>
                    <a:p>
                      <a:pPr marL="0" marR="0">
                        <a:lnSpc>
                          <a:spcPct val="107000"/>
                        </a:lnSpc>
                        <a:spcBef>
                          <a:spcPts val="0"/>
                        </a:spcBef>
                        <a:spcAft>
                          <a:spcPts val="0"/>
                        </a:spcAft>
                      </a:pPr>
                      <a:r>
                        <a:rPr lang="en-US" sz="1050" b="1" dirty="0">
                          <a:effectLst/>
                        </a:rPr>
                        <a:t>12345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Aug 12 2002</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23.95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Dave Williams</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4649-4673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Richard</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Johnston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14 West Avenue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1000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720734119"/>
                  </a:ext>
                </a:extLst>
              </a:tr>
              <a:tr h="351027">
                <a:tc>
                  <a:txBody>
                    <a:bodyPr/>
                    <a:lstStyle/>
                    <a:p>
                      <a:pPr marL="0" marR="0">
                        <a:lnSpc>
                          <a:spcPct val="107000"/>
                        </a:lnSpc>
                        <a:spcBef>
                          <a:spcPts val="0"/>
                        </a:spcBef>
                        <a:spcAft>
                          <a:spcPts val="0"/>
                        </a:spcAft>
                      </a:pPr>
                      <a:r>
                        <a:rPr lang="en-US" sz="1050" b="1">
                          <a:effectLst/>
                        </a:rPr>
                        <a:t>12346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12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AQX88916</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167.65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1113-7741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Wayne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Jones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 York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020454084"/>
                  </a:ext>
                </a:extLst>
              </a:tr>
              <a:tr h="351027">
                <a:tc>
                  <a:txBody>
                    <a:bodyPr/>
                    <a:lstStyle/>
                    <a:p>
                      <a:pPr marL="0" marR="0">
                        <a:lnSpc>
                          <a:spcPct val="107000"/>
                        </a:lnSpc>
                        <a:spcBef>
                          <a:spcPts val="0"/>
                        </a:spcBef>
                        <a:spcAft>
                          <a:spcPts val="0"/>
                        </a:spcAft>
                      </a:pPr>
                      <a:r>
                        <a:rPr lang="en-US" sz="1050" b="1">
                          <a:effectLst/>
                        </a:rPr>
                        <a:t>12347</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AHL46785</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3705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5001.75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Li Qing</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995 Forth Street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241532585"/>
                  </a:ext>
                </a:extLst>
              </a:tr>
              <a:tr h="249059">
                <a:tc>
                  <a:txBody>
                    <a:bodyPr/>
                    <a:lstStyle/>
                    <a:p>
                      <a:pPr marL="0" marR="0">
                        <a:lnSpc>
                          <a:spcPct val="107000"/>
                        </a:lnSpc>
                        <a:spcBef>
                          <a:spcPts val="0"/>
                        </a:spcBef>
                        <a:spcAft>
                          <a:spcPts val="0"/>
                        </a:spcAft>
                      </a:pPr>
                      <a:r>
                        <a:rPr lang="en-US" sz="1050" b="1">
                          <a:effectLst/>
                        </a:rPr>
                        <a:t>12348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118.5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Sara Thompson</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gn="ctr">
                        <a:lnSpc>
                          <a:spcPct val="107000"/>
                        </a:lnSpc>
                        <a:spcBef>
                          <a:spcPts val="0"/>
                        </a:spcBef>
                        <a:spcAft>
                          <a:spcPts val="0"/>
                        </a:spcAft>
                      </a:pPr>
                      <a:r>
                        <a:rPr lang="en-US" sz="1050" b="1" dirty="0">
                          <a:effectLst/>
                        </a:rPr>
                        <a:t> &lt;</a:t>
                      </a:r>
                      <a:r>
                        <a:rPr lang="en-US" sz="1050" b="1" i="1" dirty="0">
                          <a:effectLst/>
                        </a:rPr>
                        <a:t>null&gt;</a:t>
                      </a:r>
                      <a:endParaRPr lang="en-US" sz="1050" b="1" i="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9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897738917"/>
                  </a:ext>
                </a:extLst>
              </a:tr>
              <a:tr h="249059">
                <a:tc>
                  <a:txBody>
                    <a:bodyPr/>
                    <a:lstStyle/>
                    <a:p>
                      <a:pPr marL="0" marR="0">
                        <a:lnSpc>
                          <a:spcPct val="107000"/>
                        </a:lnSpc>
                        <a:spcBef>
                          <a:spcPts val="0"/>
                        </a:spcBef>
                        <a:spcAft>
                          <a:spcPts val="0"/>
                        </a:spcAft>
                      </a:pPr>
                      <a:r>
                        <a:rPr lang="en-US" sz="1050" b="1">
                          <a:effectLst/>
                        </a:rPr>
                        <a:t>12349</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940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2227.8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 Forth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176984474"/>
                  </a:ext>
                </a:extLst>
              </a:tr>
              <a:tr h="249059">
                <a:tc>
                  <a:txBody>
                    <a:bodyPr/>
                    <a:lstStyle/>
                    <a:p>
                      <a:pPr marL="0" marR="0">
                        <a:lnSpc>
                          <a:spcPct val="107000"/>
                        </a:lnSpc>
                        <a:spcBef>
                          <a:spcPts val="0"/>
                        </a:spcBef>
                        <a:spcAft>
                          <a:spcPts val="0"/>
                        </a:spcAft>
                      </a:pPr>
                      <a:r>
                        <a:rPr lang="en-US" sz="1050" b="1">
                          <a:effectLst/>
                        </a:rPr>
                        <a:t>12350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99.54</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7671-3496</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Antonio</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Gonzales</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55B Granary Lane</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dirty="0">
                          <a:ln>
                            <a:noFill/>
                          </a:ln>
                          <a:solidFill>
                            <a:srgbClr val="000000"/>
                          </a:solidFill>
                          <a:effectLst/>
                          <a:uLnTx/>
                          <a:uFillTx/>
                          <a:latin typeface="Helvetica"/>
                          <a:ea typeface="+mn-ea"/>
                          <a:cs typeface="+mn-cs"/>
                        </a:rPr>
                        <a:t>&lt;</a:t>
                      </a:r>
                      <a:r>
                        <a:rPr kumimoji="0" lang="en-US" sz="900" b="1" i="1" u="none" strike="noStrike" kern="1200" cap="none" spc="0" normalizeH="0" baseline="0" noProof="0" dirty="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643762065"/>
                  </a:ext>
                </a:extLst>
              </a:tr>
              <a:tr h="351027">
                <a:tc>
                  <a:txBody>
                    <a:bodyPr/>
                    <a:lstStyle/>
                    <a:p>
                      <a:pPr marL="0" marR="0">
                        <a:lnSpc>
                          <a:spcPct val="107000"/>
                        </a:lnSpc>
                        <a:spcBef>
                          <a:spcPts val="0"/>
                        </a:spcBef>
                        <a:spcAft>
                          <a:spcPts val="0"/>
                        </a:spcAft>
                      </a:pPr>
                      <a:r>
                        <a:rPr lang="en-US" sz="1050" b="1" dirty="0">
                          <a:effectLst/>
                        </a:rPr>
                        <a:t>12351</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1317.25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Dave Williams</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6794-1674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Diane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Adams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364 East Road</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150</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34904673"/>
                  </a:ext>
                </a:extLst>
              </a:tr>
            </a:tbl>
          </a:graphicData>
        </a:graphic>
      </p:graphicFrame>
    </p:spTree>
    <p:extLst>
      <p:ext uri="{BB962C8B-B14F-4D97-AF65-F5344CB8AC3E}">
        <p14:creationId xmlns:p14="http://schemas.microsoft.com/office/powerpoint/2010/main" val="40697075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33AF14-6EAC-4C24-8AC5-F34CF29D928B}"/>
              </a:ext>
            </a:extLst>
          </p:cNvPr>
          <p:cNvSpPr>
            <a:spLocks noGrp="1"/>
          </p:cNvSpPr>
          <p:nvPr>
            <p:ph type="title"/>
          </p:nvPr>
        </p:nvSpPr>
        <p:spPr>
          <a:xfrm>
            <a:off x="685800" y="67056"/>
            <a:ext cx="8176727" cy="1100522"/>
          </a:xfrm>
        </p:spPr>
        <p:txBody>
          <a:bodyPr>
            <a:noAutofit/>
          </a:bodyPr>
          <a:lstStyle/>
          <a:p>
            <a:pPr algn="r" rtl="1"/>
            <a:r>
              <a:rPr lang="fa-IR" sz="2400" dirty="0">
                <a:solidFill>
                  <a:srgbClr val="000000"/>
                </a:solidFill>
                <a:latin typeface="Tahoma" panose="020B0604030504040204" pitchFamily="34" charset="0"/>
                <a:ea typeface="+mn-ea"/>
                <a:cs typeface="B Nazanin" panose="00000400000000000000" pitchFamily="2" charset="-78"/>
              </a:rPr>
              <a:t>مثال. جدول </a:t>
            </a:r>
            <a:r>
              <a:rPr lang="fa-IR" sz="2400" dirty="0" err="1">
                <a:solidFill>
                  <a:srgbClr val="000000"/>
                </a:solidFill>
                <a:latin typeface="Tahoma" panose="020B0604030504040204" pitchFamily="34" charset="0"/>
                <a:ea typeface="+mn-ea"/>
                <a:cs typeface="B Nazanin" panose="00000400000000000000" pitchFamily="2" charset="-78"/>
              </a:rPr>
              <a:t>زير</a:t>
            </a:r>
            <a:r>
              <a:rPr lang="fa-IR" sz="2400" dirty="0">
                <a:solidFill>
                  <a:srgbClr val="000000"/>
                </a:solidFill>
                <a:latin typeface="Tahoma" panose="020B0604030504040204" pitchFamily="34" charset="0"/>
                <a:ea typeface="+mn-ea"/>
                <a:cs typeface="B Nazanin" panose="00000400000000000000" pitchFamily="2" charset="-78"/>
              </a:rPr>
              <a:t> که اطلاعات مربوط به </a:t>
            </a:r>
            <a:r>
              <a:rPr lang="fa-IR" sz="2400" dirty="0" err="1">
                <a:solidFill>
                  <a:srgbClr val="000000"/>
                </a:solidFill>
                <a:latin typeface="Tahoma" panose="020B0604030504040204" pitchFamily="34" charset="0"/>
                <a:ea typeface="+mn-ea"/>
                <a:cs typeface="B Nazanin" panose="00000400000000000000" pitchFamily="2" charset="-78"/>
              </a:rPr>
              <a:t>خريد</a:t>
            </a:r>
            <a:r>
              <a:rPr lang="fa-IR" sz="2400" dirty="0">
                <a:solidFill>
                  <a:srgbClr val="000000"/>
                </a:solidFill>
                <a:latin typeface="Tahoma" panose="020B0604030504040204" pitchFamily="34" charset="0"/>
                <a:ea typeface="+mn-ea"/>
                <a:cs typeface="B Nazanin" panose="00000400000000000000" pitchFamily="2" charset="-78"/>
              </a:rPr>
              <a:t> </a:t>
            </a:r>
            <a:r>
              <a:rPr lang="fa-IR" sz="2400" dirty="0" err="1">
                <a:solidFill>
                  <a:srgbClr val="000000"/>
                </a:solidFill>
                <a:latin typeface="Tahoma" panose="020B0604030504040204" pitchFamily="34" charset="0"/>
                <a:ea typeface="+mn-ea"/>
                <a:cs typeface="B Nazanin" panose="00000400000000000000" pitchFamily="2" charset="-78"/>
              </a:rPr>
              <a:t>مشتريان</a:t>
            </a:r>
            <a:r>
              <a:rPr lang="fa-IR" sz="2400" dirty="0">
                <a:solidFill>
                  <a:srgbClr val="000000"/>
                </a:solidFill>
                <a:latin typeface="Tahoma" panose="020B0604030504040204" pitchFamily="34" charset="0"/>
                <a:ea typeface="+mn-ea"/>
                <a:cs typeface="B Nazanin" panose="00000400000000000000" pitchFamily="2" charset="-78"/>
              </a:rPr>
              <a:t> را دارد </a:t>
            </a:r>
            <a:r>
              <a:rPr lang="fa-IR" sz="2400" dirty="0" err="1">
                <a:solidFill>
                  <a:srgbClr val="000000"/>
                </a:solidFill>
                <a:latin typeface="Tahoma" panose="020B0604030504040204" pitchFamily="34" charset="0"/>
                <a:ea typeface="+mn-ea"/>
                <a:cs typeface="B Nazanin" panose="00000400000000000000" pitchFamily="2" charset="-78"/>
              </a:rPr>
              <a:t>درنظر</a:t>
            </a:r>
            <a:r>
              <a:rPr lang="fa-IR" sz="2400" dirty="0">
                <a:solidFill>
                  <a:srgbClr val="000000"/>
                </a:solidFill>
                <a:latin typeface="Tahoma" panose="020B0604030504040204" pitchFamily="34" charset="0"/>
                <a:ea typeface="+mn-ea"/>
                <a:cs typeface="B Nazanin" panose="00000400000000000000" pitchFamily="2" charset="-78"/>
              </a:rPr>
              <a:t> </a:t>
            </a:r>
            <a:r>
              <a:rPr lang="fa-IR" sz="2400" dirty="0" err="1">
                <a:solidFill>
                  <a:srgbClr val="000000"/>
                </a:solidFill>
                <a:latin typeface="Tahoma" panose="020B0604030504040204" pitchFamily="34" charset="0"/>
                <a:ea typeface="+mn-ea"/>
                <a:cs typeface="B Nazanin" panose="00000400000000000000" pitchFamily="2" charset="-78"/>
              </a:rPr>
              <a:t>بگيريد</a:t>
            </a:r>
            <a:r>
              <a:rPr lang="fa-IR" sz="2400" dirty="0">
                <a:solidFill>
                  <a:srgbClr val="000000"/>
                </a:solidFill>
                <a:latin typeface="Tahoma" panose="020B0604030504040204" pitchFamily="34" charset="0"/>
                <a:ea typeface="+mn-ea"/>
                <a:cs typeface="B Nazanin" panose="00000400000000000000" pitchFamily="2" charset="-78"/>
              </a:rPr>
              <a:t>:</a:t>
            </a:r>
            <a:br>
              <a:rPr lang="en-US" altLang="en-US" sz="2400" dirty="0">
                <a:solidFill>
                  <a:srgbClr val="000000"/>
                </a:solidFill>
                <a:latin typeface="Tahoma" panose="020B0604030504040204" pitchFamily="34" charset="0"/>
                <a:ea typeface="+mn-ea"/>
                <a:cs typeface="B Nazanin" panose="00000400000000000000" pitchFamily="2" charset="-78"/>
              </a:rPr>
            </a:br>
            <a:endParaRPr lang="en-US" sz="2400" dirty="0"/>
          </a:p>
        </p:txBody>
      </p:sp>
      <p:sp>
        <p:nvSpPr>
          <p:cNvPr id="143362" name="Content Placeholder 2"/>
          <p:cNvSpPr>
            <a:spLocks noGrp="1"/>
          </p:cNvSpPr>
          <p:nvPr>
            <p:ph idx="1"/>
          </p:nvPr>
        </p:nvSpPr>
        <p:spPr>
          <a:xfrm>
            <a:off x="378936" y="762000"/>
            <a:ext cx="8487747" cy="3581400"/>
          </a:xfrm>
        </p:spPr>
        <p:txBody>
          <a:bodyPr>
            <a:normAutofit/>
          </a:bodyPr>
          <a:lstStyle/>
          <a:p>
            <a:pPr marL="0" lvl="0" indent="0" algn="r" rtl="1" eaLnBrk="0" fontAlgn="base" hangingPunct="0">
              <a:lnSpc>
                <a:spcPct val="100000"/>
              </a:lnSpc>
              <a:spcBef>
                <a:spcPct val="0"/>
              </a:spcBef>
              <a:spcAft>
                <a:spcPct val="0"/>
              </a:spcAft>
              <a:buClrTx/>
              <a:buSzTx/>
              <a:buNone/>
            </a:pPr>
            <a:r>
              <a:rPr lang="ar-SA" altLang="en-US" dirty="0">
                <a:solidFill>
                  <a:srgbClr val="000000"/>
                </a:solidFill>
                <a:latin typeface="Tahoma" panose="020B0604030504040204" pitchFamily="34" charset="0"/>
                <a:cs typeface="B Nazanin" panose="00000400000000000000" pitchFamily="2" charset="-78"/>
              </a:rPr>
              <a:t>اين افزونگی </a:t>
            </a:r>
            <a:r>
              <a:rPr lang="ar-SA" altLang="en-US" b="1" dirty="0">
                <a:solidFill>
                  <a:srgbClr val="000000"/>
                </a:solidFill>
                <a:latin typeface="Tahoma" panose="020B0604030504040204" pitchFamily="34" charset="0"/>
                <a:cs typeface="B Nazanin" panose="00000400000000000000" pitchFamily="2" charset="-78"/>
              </a:rPr>
              <a:t>مشکلات</a:t>
            </a:r>
            <a:r>
              <a:rPr lang="ar-SA" altLang="en-US" dirty="0">
                <a:solidFill>
                  <a:srgbClr val="000000"/>
                </a:solidFill>
                <a:latin typeface="Tahoma" panose="020B0604030504040204" pitchFamily="34" charset="0"/>
                <a:cs typeface="B Nazanin" panose="00000400000000000000" pitchFamily="2" charset="-78"/>
              </a:rPr>
              <a:t> زير را می تواند ايجاد کند:</a:t>
            </a:r>
            <a:endParaRPr lang="en-US" altLang="en-US" sz="1200" dirty="0">
              <a:cs typeface="B Nazanin" panose="00000400000000000000" pitchFamily="2" charset="-78"/>
            </a:endParaRPr>
          </a:p>
          <a:p>
            <a:pPr algn="r" rtl="1" eaLnBrk="0" fontAlgn="base" hangingPunct="0">
              <a:lnSpc>
                <a:spcPct val="100000"/>
              </a:lnSpc>
              <a:spcBef>
                <a:spcPct val="0"/>
              </a:spcBef>
              <a:spcAft>
                <a:spcPct val="0"/>
              </a:spcAft>
              <a:buClrTx/>
            </a:pPr>
            <a:r>
              <a:rPr lang="fa-IR" altLang="en-US" dirty="0">
                <a:solidFill>
                  <a:srgbClr val="000000"/>
                </a:solidFill>
                <a:latin typeface="Arial" panose="020B0604020202020204" pitchFamily="34" charset="0"/>
                <a:cs typeface="B Nazanin" panose="00000400000000000000" pitchFamily="2" charset="-78"/>
              </a:rPr>
              <a:t> </a:t>
            </a:r>
            <a:r>
              <a:rPr lang="ar-SA" altLang="en-US" b="1" dirty="0">
                <a:solidFill>
                  <a:srgbClr val="000000"/>
                </a:solidFill>
                <a:latin typeface="Arial" panose="020B0604020202020204" pitchFamily="34" charset="0"/>
                <a:cs typeface="B Nazanin" panose="00000400000000000000" pitchFamily="2" charset="-78"/>
              </a:rPr>
              <a:t>هدر رفتن فضای ذخيره سازی.</a:t>
            </a:r>
            <a:endParaRPr lang="fa-IR" altLang="en-US" b="1" dirty="0">
              <a:solidFill>
                <a:srgbClr val="000000"/>
              </a:solidFill>
              <a:latin typeface="Arial" panose="020B0604020202020204" pitchFamily="34" charset="0"/>
              <a:cs typeface="B Nazanin" panose="00000400000000000000" pitchFamily="2" charset="-78"/>
            </a:endParaRPr>
          </a:p>
          <a:p>
            <a:pPr lvl="1" algn="r" rtl="1" eaLnBrk="0" fontAlgn="base" hangingPunct="0">
              <a:lnSpc>
                <a:spcPct val="100000"/>
              </a:lnSpc>
              <a:spcBef>
                <a:spcPct val="0"/>
              </a:spcBef>
              <a:spcAft>
                <a:spcPct val="0"/>
              </a:spcAft>
              <a:buClrTx/>
            </a:pPr>
            <a:r>
              <a:rPr lang="ar-SA" altLang="en-US" sz="1800" dirty="0">
                <a:solidFill>
                  <a:srgbClr val="000000"/>
                </a:solidFill>
                <a:latin typeface="Arial" panose="020B0604020202020204" pitchFamily="34" charset="0"/>
                <a:cs typeface="B Nazanin" panose="00000400000000000000" pitchFamily="2" charset="-78"/>
              </a:rPr>
              <a:t> با وجوديکه امروزه ديسک های چندصد گيگا بايتی وجود دارد چندين بار ذخيره يک داده غير ضروری است.</a:t>
            </a:r>
            <a:endParaRPr lang="fa-IR" altLang="en-US" sz="1800" dirty="0">
              <a:solidFill>
                <a:srgbClr val="000000"/>
              </a:solidFill>
              <a:latin typeface="Arial" panose="020B0604020202020204" pitchFamily="34" charset="0"/>
              <a:cs typeface="B Nazanin" panose="00000400000000000000" pitchFamily="2" charset="-78"/>
            </a:endParaRPr>
          </a:p>
          <a:p>
            <a:pPr algn="r" rtl="1" eaLnBrk="0" fontAlgn="base" hangingPunct="0">
              <a:lnSpc>
                <a:spcPct val="100000"/>
              </a:lnSpc>
              <a:spcBef>
                <a:spcPct val="0"/>
              </a:spcBef>
              <a:spcAft>
                <a:spcPct val="0"/>
              </a:spcAft>
              <a:buClrTx/>
            </a:pPr>
            <a:r>
              <a:rPr lang="ar-SA" altLang="en-US" b="1" dirty="0">
                <a:solidFill>
                  <a:srgbClr val="000000"/>
                </a:solidFill>
                <a:latin typeface="Arial" panose="020B0604020202020204" pitchFamily="34" charset="0"/>
                <a:cs typeface="B Nazanin" panose="00000400000000000000" pitchFamily="2" charset="-78"/>
              </a:rPr>
              <a:t>آنومالی در بهنگام سازی</a:t>
            </a:r>
            <a:endParaRPr lang="fa-IR" altLang="en-US" b="1" dirty="0">
              <a:solidFill>
                <a:srgbClr val="000000"/>
              </a:solidFill>
              <a:latin typeface="Arial" panose="020B0604020202020204" pitchFamily="34" charset="0"/>
              <a:cs typeface="B Nazanin" panose="00000400000000000000" pitchFamily="2" charset="-78"/>
            </a:endParaRPr>
          </a:p>
          <a:p>
            <a:pPr lvl="1" algn="r" rtl="1" eaLnBrk="0" fontAlgn="base" hangingPunct="0">
              <a:lnSpc>
                <a:spcPct val="100000"/>
              </a:lnSpc>
              <a:spcBef>
                <a:spcPct val="0"/>
              </a:spcBef>
              <a:spcAft>
                <a:spcPct val="0"/>
              </a:spcAft>
              <a:buClrTx/>
            </a:pPr>
            <a:r>
              <a:rPr lang="ar-SA" altLang="en-US" sz="1800" dirty="0">
                <a:solidFill>
                  <a:srgbClr val="000000"/>
                </a:solidFill>
                <a:latin typeface="Arial" panose="020B0604020202020204" pitchFamily="34" charset="0"/>
                <a:cs typeface="B Nazanin" panose="00000400000000000000" pitchFamily="2" charset="-78"/>
              </a:rPr>
              <a:t> اگر داده يک مشتری، مثلا آدرس، تغيير کند بايد در همه جاهائی که ذخيره شده است اين تغيير اعمال شود درغيراينصورت جامعيت نقص می شود.</a:t>
            </a:r>
            <a:endParaRPr lang="fa-IR" altLang="en-US" sz="1800" dirty="0">
              <a:solidFill>
                <a:srgbClr val="000000"/>
              </a:solidFill>
              <a:latin typeface="Arial" panose="020B0604020202020204" pitchFamily="34" charset="0"/>
              <a:cs typeface="B Nazanin" panose="00000400000000000000" pitchFamily="2" charset="-78"/>
            </a:endParaRPr>
          </a:p>
          <a:p>
            <a:pPr algn="r" rtl="1" eaLnBrk="0" fontAlgn="base" hangingPunct="0">
              <a:lnSpc>
                <a:spcPct val="100000"/>
              </a:lnSpc>
              <a:spcBef>
                <a:spcPct val="0"/>
              </a:spcBef>
              <a:spcAft>
                <a:spcPct val="0"/>
              </a:spcAft>
              <a:buClrTx/>
            </a:pPr>
            <a:r>
              <a:rPr lang="ar-SA" altLang="en-US" b="1" dirty="0">
                <a:solidFill>
                  <a:srgbClr val="000000"/>
                </a:solidFill>
                <a:latin typeface="Arial" panose="020B0604020202020204" pitchFamily="34" charset="0"/>
                <a:cs typeface="B Nazanin" panose="00000400000000000000" pitchFamily="2" charset="-78"/>
              </a:rPr>
              <a:t> آنومالی در حذف.</a:t>
            </a:r>
            <a:endParaRPr lang="fa-IR" altLang="en-US" b="1" dirty="0">
              <a:solidFill>
                <a:srgbClr val="000000"/>
              </a:solidFill>
              <a:latin typeface="Arial" panose="020B0604020202020204" pitchFamily="34" charset="0"/>
              <a:cs typeface="B Nazanin" panose="00000400000000000000" pitchFamily="2" charset="-78"/>
            </a:endParaRPr>
          </a:p>
          <a:p>
            <a:pPr lvl="1" algn="r" rtl="1" eaLnBrk="0" fontAlgn="base" hangingPunct="0">
              <a:lnSpc>
                <a:spcPct val="100000"/>
              </a:lnSpc>
              <a:spcBef>
                <a:spcPct val="0"/>
              </a:spcBef>
              <a:spcAft>
                <a:spcPct val="0"/>
              </a:spcAft>
              <a:buClrTx/>
            </a:pPr>
            <a:r>
              <a:rPr lang="ar-SA" altLang="en-US" sz="1800" dirty="0">
                <a:solidFill>
                  <a:srgbClr val="000000"/>
                </a:solidFill>
                <a:latin typeface="Arial" panose="020B0604020202020204" pitchFamily="34" charset="0"/>
                <a:cs typeface="B Nazanin" panose="00000400000000000000" pitchFamily="2" charset="-78"/>
              </a:rPr>
              <a:t> اگر اين جدول به منظور نگهداری مشخصات مشتريان باشد، اگر مشتری خريدش را پس بدهد و سطر مربوط به آن حذف شود کليه اطلاعات مشتری هم حذف می شود.</a:t>
            </a:r>
            <a:endParaRPr lang="fa-IR" altLang="en-US" sz="1800" dirty="0">
              <a:solidFill>
                <a:srgbClr val="000000"/>
              </a:solidFill>
              <a:latin typeface="Arial" panose="020B0604020202020204" pitchFamily="34" charset="0"/>
              <a:cs typeface="B Nazanin" panose="00000400000000000000" pitchFamily="2" charset="-78"/>
            </a:endParaRPr>
          </a:p>
          <a:p>
            <a:pPr algn="r" rtl="1" eaLnBrk="0" fontAlgn="base" hangingPunct="0">
              <a:lnSpc>
                <a:spcPct val="100000"/>
              </a:lnSpc>
              <a:spcBef>
                <a:spcPct val="0"/>
              </a:spcBef>
              <a:spcAft>
                <a:spcPct val="0"/>
              </a:spcAft>
              <a:buClrTx/>
            </a:pPr>
            <a:r>
              <a:rPr lang="ar-SA" altLang="en-US" b="1" dirty="0">
                <a:solidFill>
                  <a:srgbClr val="000000"/>
                </a:solidFill>
                <a:latin typeface="Arial" panose="020B0604020202020204" pitchFamily="34" charset="0"/>
                <a:cs typeface="B Nazanin" panose="00000400000000000000" pitchFamily="2" charset="-78"/>
              </a:rPr>
              <a:t> آنومالی در درج.</a:t>
            </a:r>
            <a:endParaRPr lang="fa-IR" altLang="en-US" b="1" dirty="0">
              <a:solidFill>
                <a:srgbClr val="000000"/>
              </a:solidFill>
              <a:latin typeface="Arial" panose="020B0604020202020204" pitchFamily="34" charset="0"/>
              <a:cs typeface="B Nazanin" panose="00000400000000000000" pitchFamily="2" charset="-78"/>
            </a:endParaRPr>
          </a:p>
          <a:p>
            <a:pPr lvl="1" algn="r" rtl="1" eaLnBrk="0" fontAlgn="base" hangingPunct="0">
              <a:lnSpc>
                <a:spcPct val="100000"/>
              </a:lnSpc>
              <a:spcBef>
                <a:spcPct val="0"/>
              </a:spcBef>
              <a:spcAft>
                <a:spcPct val="0"/>
              </a:spcAft>
              <a:buClrTx/>
            </a:pPr>
            <a:r>
              <a:rPr lang="ar-SA" altLang="en-US" sz="1800" dirty="0">
                <a:solidFill>
                  <a:srgbClr val="000000"/>
                </a:solidFill>
                <a:latin typeface="Arial" panose="020B0604020202020204" pitchFamily="34" charset="0"/>
                <a:cs typeface="B Nazanin" panose="00000400000000000000" pitchFamily="2" charset="-78"/>
              </a:rPr>
              <a:t> به همين صورت نمی توانيم مشخصات مشتری جديد را درج کنيم مگر اينکه کالائی خريده باشد.</a:t>
            </a:r>
          </a:p>
        </p:txBody>
      </p:sp>
      <p:sp>
        <p:nvSpPr>
          <p:cNvPr id="3" name="Slide Number Placeholder 2">
            <a:extLst>
              <a:ext uri="{FF2B5EF4-FFF2-40B4-BE49-F238E27FC236}">
                <a16:creationId xmlns:a16="http://schemas.microsoft.com/office/drawing/2014/main" id="{521053D8-F3C9-46BD-B3CC-6786F7F221B5}"/>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8</a:t>
            </a:fld>
            <a:endParaRPr lang="en-US"/>
          </a:p>
        </p:txBody>
      </p:sp>
      <p:graphicFrame>
        <p:nvGraphicFramePr>
          <p:cNvPr id="7" name="Table 6">
            <a:extLst>
              <a:ext uri="{FF2B5EF4-FFF2-40B4-BE49-F238E27FC236}">
                <a16:creationId xmlns:a16="http://schemas.microsoft.com/office/drawing/2014/main" id="{CF282F64-D4DA-4DCA-85C8-5AC415413ED5}"/>
              </a:ext>
            </a:extLst>
          </p:cNvPr>
          <p:cNvGraphicFramePr>
            <a:graphicFrameLocks noGrp="1"/>
          </p:cNvGraphicFramePr>
          <p:nvPr/>
        </p:nvGraphicFramePr>
        <p:xfrm>
          <a:off x="81497" y="3997587"/>
          <a:ext cx="8981005" cy="2682351"/>
        </p:xfrm>
        <a:graphic>
          <a:graphicData uri="http://schemas.openxmlformats.org/drawingml/2006/table">
            <a:tbl>
              <a:tblPr firstRow="1" firstCol="1" bandRow="1">
                <a:tableStyleId>{616DA210-FB5B-4158-B5E0-FEB733F419BA}</a:tableStyleId>
              </a:tblPr>
              <a:tblGrid>
                <a:gridCol w="586937">
                  <a:extLst>
                    <a:ext uri="{9D8B030D-6E8A-4147-A177-3AD203B41FA5}">
                      <a16:colId xmlns:a16="http://schemas.microsoft.com/office/drawing/2014/main" val="234041042"/>
                    </a:ext>
                  </a:extLst>
                </a:gridCol>
                <a:gridCol w="940021">
                  <a:extLst>
                    <a:ext uri="{9D8B030D-6E8A-4147-A177-3AD203B41FA5}">
                      <a16:colId xmlns:a16="http://schemas.microsoft.com/office/drawing/2014/main" val="3415118693"/>
                    </a:ext>
                  </a:extLst>
                </a:gridCol>
                <a:gridCol w="922588">
                  <a:extLst>
                    <a:ext uri="{9D8B030D-6E8A-4147-A177-3AD203B41FA5}">
                      <a16:colId xmlns:a16="http://schemas.microsoft.com/office/drawing/2014/main" val="3881982512"/>
                    </a:ext>
                  </a:extLst>
                </a:gridCol>
                <a:gridCol w="461294">
                  <a:extLst>
                    <a:ext uri="{9D8B030D-6E8A-4147-A177-3AD203B41FA5}">
                      <a16:colId xmlns:a16="http://schemas.microsoft.com/office/drawing/2014/main" val="2484215510"/>
                    </a:ext>
                  </a:extLst>
                </a:gridCol>
                <a:gridCol w="682078">
                  <a:extLst>
                    <a:ext uri="{9D8B030D-6E8A-4147-A177-3AD203B41FA5}">
                      <a16:colId xmlns:a16="http://schemas.microsoft.com/office/drawing/2014/main" val="1297653461"/>
                    </a:ext>
                  </a:extLst>
                </a:gridCol>
                <a:gridCol w="1156146">
                  <a:extLst>
                    <a:ext uri="{9D8B030D-6E8A-4147-A177-3AD203B41FA5}">
                      <a16:colId xmlns:a16="http://schemas.microsoft.com/office/drawing/2014/main" val="3484224265"/>
                    </a:ext>
                  </a:extLst>
                </a:gridCol>
                <a:gridCol w="847841">
                  <a:extLst>
                    <a:ext uri="{9D8B030D-6E8A-4147-A177-3AD203B41FA5}">
                      <a16:colId xmlns:a16="http://schemas.microsoft.com/office/drawing/2014/main" val="3482110401"/>
                    </a:ext>
                  </a:extLst>
                </a:gridCol>
                <a:gridCol w="770764">
                  <a:extLst>
                    <a:ext uri="{9D8B030D-6E8A-4147-A177-3AD203B41FA5}">
                      <a16:colId xmlns:a16="http://schemas.microsoft.com/office/drawing/2014/main" val="1813858957"/>
                    </a:ext>
                  </a:extLst>
                </a:gridCol>
                <a:gridCol w="770764">
                  <a:extLst>
                    <a:ext uri="{9D8B030D-6E8A-4147-A177-3AD203B41FA5}">
                      <a16:colId xmlns:a16="http://schemas.microsoft.com/office/drawing/2014/main" val="1355875302"/>
                    </a:ext>
                  </a:extLst>
                </a:gridCol>
                <a:gridCol w="1310300">
                  <a:extLst>
                    <a:ext uri="{9D8B030D-6E8A-4147-A177-3AD203B41FA5}">
                      <a16:colId xmlns:a16="http://schemas.microsoft.com/office/drawing/2014/main" val="1675925667"/>
                    </a:ext>
                  </a:extLst>
                </a:gridCol>
                <a:gridCol w="532272">
                  <a:extLst>
                    <a:ext uri="{9D8B030D-6E8A-4147-A177-3AD203B41FA5}">
                      <a16:colId xmlns:a16="http://schemas.microsoft.com/office/drawing/2014/main" val="236614085"/>
                    </a:ext>
                  </a:extLst>
                </a:gridCol>
              </a:tblGrid>
              <a:tr h="531066">
                <a:tc>
                  <a:txBody>
                    <a:bodyPr/>
                    <a:lstStyle/>
                    <a:p>
                      <a:pPr marL="0" marR="0">
                        <a:lnSpc>
                          <a:spcPct val="107000"/>
                        </a:lnSpc>
                        <a:spcBef>
                          <a:spcPts val="0"/>
                        </a:spcBef>
                        <a:spcAft>
                          <a:spcPts val="0"/>
                        </a:spcAft>
                      </a:pPr>
                      <a:r>
                        <a:rPr lang="en-US" sz="1100" dirty="0">
                          <a:solidFill>
                            <a:schemeClr val="tx2">
                              <a:lumMod val="75000"/>
                            </a:schemeClr>
                          </a:solidFill>
                          <a:effectLst/>
                        </a:rPr>
                        <a:t>Sale 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SaleDate</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ProductNo</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Qty</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Amount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Salesrep</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CustomerNo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First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Last</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Address</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CreditLimit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378874611"/>
                  </a:ext>
                </a:extLst>
              </a:tr>
              <a:tr h="351027">
                <a:tc>
                  <a:txBody>
                    <a:bodyPr/>
                    <a:lstStyle/>
                    <a:p>
                      <a:pPr marL="0" marR="0">
                        <a:lnSpc>
                          <a:spcPct val="107000"/>
                        </a:lnSpc>
                        <a:spcBef>
                          <a:spcPts val="0"/>
                        </a:spcBef>
                        <a:spcAft>
                          <a:spcPts val="0"/>
                        </a:spcAft>
                      </a:pPr>
                      <a:r>
                        <a:rPr lang="en-US" sz="1050" b="1" dirty="0">
                          <a:effectLst/>
                        </a:rPr>
                        <a:t>12345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Aug 12 2002</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23.95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Dave Williams</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4649-4673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Richard</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Johnston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14 West Avenue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1000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720734119"/>
                  </a:ext>
                </a:extLst>
              </a:tr>
              <a:tr h="351027">
                <a:tc>
                  <a:txBody>
                    <a:bodyPr/>
                    <a:lstStyle/>
                    <a:p>
                      <a:pPr marL="0" marR="0">
                        <a:lnSpc>
                          <a:spcPct val="107000"/>
                        </a:lnSpc>
                        <a:spcBef>
                          <a:spcPts val="0"/>
                        </a:spcBef>
                        <a:spcAft>
                          <a:spcPts val="0"/>
                        </a:spcAft>
                      </a:pPr>
                      <a:r>
                        <a:rPr lang="en-US" sz="1050" b="1">
                          <a:effectLst/>
                        </a:rPr>
                        <a:t>12346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12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AQX88916</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167.65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1113-7741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Wayne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Jones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 York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020454084"/>
                  </a:ext>
                </a:extLst>
              </a:tr>
              <a:tr h="351027">
                <a:tc>
                  <a:txBody>
                    <a:bodyPr/>
                    <a:lstStyle/>
                    <a:p>
                      <a:pPr marL="0" marR="0">
                        <a:lnSpc>
                          <a:spcPct val="107000"/>
                        </a:lnSpc>
                        <a:spcBef>
                          <a:spcPts val="0"/>
                        </a:spcBef>
                        <a:spcAft>
                          <a:spcPts val="0"/>
                        </a:spcAft>
                      </a:pPr>
                      <a:r>
                        <a:rPr lang="en-US" sz="1050" b="1">
                          <a:effectLst/>
                        </a:rPr>
                        <a:t>12347</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AHL46785</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3705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5001.75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Li Qing</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995 Forth Street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241532585"/>
                  </a:ext>
                </a:extLst>
              </a:tr>
              <a:tr h="249059">
                <a:tc>
                  <a:txBody>
                    <a:bodyPr/>
                    <a:lstStyle/>
                    <a:p>
                      <a:pPr marL="0" marR="0">
                        <a:lnSpc>
                          <a:spcPct val="107000"/>
                        </a:lnSpc>
                        <a:spcBef>
                          <a:spcPts val="0"/>
                        </a:spcBef>
                        <a:spcAft>
                          <a:spcPts val="0"/>
                        </a:spcAft>
                      </a:pPr>
                      <a:r>
                        <a:rPr lang="en-US" sz="1050" b="1">
                          <a:effectLst/>
                        </a:rPr>
                        <a:t>12348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118.5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Sara Thompson</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gn="ctr">
                        <a:lnSpc>
                          <a:spcPct val="107000"/>
                        </a:lnSpc>
                        <a:spcBef>
                          <a:spcPts val="0"/>
                        </a:spcBef>
                        <a:spcAft>
                          <a:spcPts val="0"/>
                        </a:spcAft>
                      </a:pPr>
                      <a:r>
                        <a:rPr lang="en-US" sz="1050" b="1" dirty="0">
                          <a:effectLst/>
                        </a:rPr>
                        <a:t> &lt;</a:t>
                      </a:r>
                      <a:r>
                        <a:rPr lang="en-US" sz="1050" b="1" i="1" dirty="0">
                          <a:effectLst/>
                        </a:rPr>
                        <a:t>null&gt;</a:t>
                      </a:r>
                      <a:endParaRPr lang="en-US" sz="1050" b="1" i="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9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897738917"/>
                  </a:ext>
                </a:extLst>
              </a:tr>
              <a:tr h="249059">
                <a:tc>
                  <a:txBody>
                    <a:bodyPr/>
                    <a:lstStyle/>
                    <a:p>
                      <a:pPr marL="0" marR="0">
                        <a:lnSpc>
                          <a:spcPct val="107000"/>
                        </a:lnSpc>
                        <a:spcBef>
                          <a:spcPts val="0"/>
                        </a:spcBef>
                        <a:spcAft>
                          <a:spcPts val="0"/>
                        </a:spcAft>
                      </a:pPr>
                      <a:r>
                        <a:rPr lang="en-US" sz="1050" b="1">
                          <a:effectLst/>
                        </a:rPr>
                        <a:t>12349</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940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2227.8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 Forth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176984474"/>
                  </a:ext>
                </a:extLst>
              </a:tr>
              <a:tr h="249059">
                <a:tc>
                  <a:txBody>
                    <a:bodyPr/>
                    <a:lstStyle/>
                    <a:p>
                      <a:pPr marL="0" marR="0">
                        <a:lnSpc>
                          <a:spcPct val="107000"/>
                        </a:lnSpc>
                        <a:spcBef>
                          <a:spcPts val="0"/>
                        </a:spcBef>
                        <a:spcAft>
                          <a:spcPts val="0"/>
                        </a:spcAft>
                      </a:pPr>
                      <a:r>
                        <a:rPr lang="en-US" sz="1050" b="1">
                          <a:effectLst/>
                        </a:rPr>
                        <a:t>12350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7671-3496</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Antonio</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Gonzales</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55B Granary Lane</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dirty="0">
                          <a:ln>
                            <a:noFill/>
                          </a:ln>
                          <a:solidFill>
                            <a:srgbClr val="000000"/>
                          </a:solidFill>
                          <a:effectLst/>
                          <a:uLnTx/>
                          <a:uFillTx/>
                          <a:latin typeface="Helvetica"/>
                          <a:ea typeface="+mn-ea"/>
                          <a:cs typeface="+mn-cs"/>
                        </a:rPr>
                        <a:t>&lt;</a:t>
                      </a:r>
                      <a:r>
                        <a:rPr kumimoji="0" lang="en-US" sz="900" b="1" i="1" u="none" strike="noStrike" kern="1200" cap="none" spc="0" normalizeH="0" baseline="0" noProof="0" dirty="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643762065"/>
                  </a:ext>
                </a:extLst>
              </a:tr>
              <a:tr h="351027">
                <a:tc>
                  <a:txBody>
                    <a:bodyPr/>
                    <a:lstStyle/>
                    <a:p>
                      <a:pPr marL="0" marR="0">
                        <a:lnSpc>
                          <a:spcPct val="107000"/>
                        </a:lnSpc>
                        <a:spcBef>
                          <a:spcPts val="0"/>
                        </a:spcBef>
                        <a:spcAft>
                          <a:spcPts val="0"/>
                        </a:spcAft>
                      </a:pPr>
                      <a:r>
                        <a:rPr lang="en-US" sz="1050" b="1" dirty="0">
                          <a:effectLst/>
                        </a:rPr>
                        <a:t>12351</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1317.25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Dave Williams</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6794-1674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Diane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Adams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364 East Road</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150</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34904673"/>
                  </a:ext>
                </a:extLst>
              </a:tr>
            </a:tbl>
          </a:graphicData>
        </a:graphic>
      </p:graphicFrame>
    </p:spTree>
    <p:extLst>
      <p:ext uri="{BB962C8B-B14F-4D97-AF65-F5344CB8AC3E}">
        <p14:creationId xmlns:p14="http://schemas.microsoft.com/office/powerpoint/2010/main" val="20990957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33AF14-6EAC-4C24-8AC5-F34CF29D928B}"/>
              </a:ext>
            </a:extLst>
          </p:cNvPr>
          <p:cNvSpPr>
            <a:spLocks noGrp="1"/>
          </p:cNvSpPr>
          <p:nvPr>
            <p:ph type="title"/>
          </p:nvPr>
        </p:nvSpPr>
        <p:spPr>
          <a:xfrm>
            <a:off x="592623" y="2624328"/>
            <a:ext cx="8176727" cy="1609344"/>
          </a:xfrm>
        </p:spPr>
        <p:txBody>
          <a:bodyPr>
            <a:noAutofit/>
          </a:bodyPr>
          <a:lstStyle/>
          <a:p>
            <a:pPr algn="r" rtl="1"/>
            <a:r>
              <a:rPr lang="fa-IR" sz="2400" dirty="0">
                <a:solidFill>
                  <a:srgbClr val="000000"/>
                </a:solidFill>
                <a:latin typeface="Tahoma" panose="020B0604030504040204" pitchFamily="34" charset="0"/>
                <a:ea typeface="+mn-ea"/>
                <a:cs typeface="B Nazanin" panose="00000400000000000000" pitchFamily="2" charset="-78"/>
              </a:rPr>
              <a:t>مثال. جدول </a:t>
            </a:r>
            <a:r>
              <a:rPr lang="fa-IR" sz="2400" dirty="0" err="1">
                <a:solidFill>
                  <a:srgbClr val="000000"/>
                </a:solidFill>
                <a:latin typeface="Tahoma" panose="020B0604030504040204" pitchFamily="34" charset="0"/>
                <a:ea typeface="+mn-ea"/>
                <a:cs typeface="B Nazanin" panose="00000400000000000000" pitchFamily="2" charset="-78"/>
              </a:rPr>
              <a:t>زير</a:t>
            </a:r>
            <a:r>
              <a:rPr lang="fa-IR" sz="2400" dirty="0">
                <a:solidFill>
                  <a:srgbClr val="000000"/>
                </a:solidFill>
                <a:latin typeface="Tahoma" panose="020B0604030504040204" pitchFamily="34" charset="0"/>
                <a:ea typeface="+mn-ea"/>
                <a:cs typeface="B Nazanin" panose="00000400000000000000" pitchFamily="2" charset="-78"/>
              </a:rPr>
              <a:t> که اطلاعات مربوط به </a:t>
            </a:r>
            <a:r>
              <a:rPr lang="fa-IR" sz="2400" dirty="0" err="1">
                <a:solidFill>
                  <a:srgbClr val="000000"/>
                </a:solidFill>
                <a:latin typeface="Tahoma" panose="020B0604030504040204" pitchFamily="34" charset="0"/>
                <a:ea typeface="+mn-ea"/>
                <a:cs typeface="B Nazanin" panose="00000400000000000000" pitchFamily="2" charset="-78"/>
              </a:rPr>
              <a:t>خريد</a:t>
            </a:r>
            <a:r>
              <a:rPr lang="fa-IR" sz="2400" dirty="0">
                <a:solidFill>
                  <a:srgbClr val="000000"/>
                </a:solidFill>
                <a:latin typeface="Tahoma" panose="020B0604030504040204" pitchFamily="34" charset="0"/>
                <a:ea typeface="+mn-ea"/>
                <a:cs typeface="B Nazanin" panose="00000400000000000000" pitchFamily="2" charset="-78"/>
              </a:rPr>
              <a:t> </a:t>
            </a:r>
            <a:r>
              <a:rPr lang="fa-IR" sz="2400" dirty="0" err="1">
                <a:solidFill>
                  <a:srgbClr val="000000"/>
                </a:solidFill>
                <a:latin typeface="Tahoma" panose="020B0604030504040204" pitchFamily="34" charset="0"/>
                <a:ea typeface="+mn-ea"/>
                <a:cs typeface="B Nazanin" panose="00000400000000000000" pitchFamily="2" charset="-78"/>
              </a:rPr>
              <a:t>مشتريان</a:t>
            </a:r>
            <a:r>
              <a:rPr lang="fa-IR" sz="2400" dirty="0">
                <a:solidFill>
                  <a:srgbClr val="000000"/>
                </a:solidFill>
                <a:latin typeface="Tahoma" panose="020B0604030504040204" pitchFamily="34" charset="0"/>
                <a:ea typeface="+mn-ea"/>
                <a:cs typeface="B Nazanin" panose="00000400000000000000" pitchFamily="2" charset="-78"/>
              </a:rPr>
              <a:t> را دارد </a:t>
            </a:r>
            <a:r>
              <a:rPr lang="fa-IR" sz="2400" dirty="0" err="1">
                <a:solidFill>
                  <a:srgbClr val="000000"/>
                </a:solidFill>
                <a:latin typeface="Tahoma" panose="020B0604030504040204" pitchFamily="34" charset="0"/>
                <a:ea typeface="+mn-ea"/>
                <a:cs typeface="B Nazanin" panose="00000400000000000000" pitchFamily="2" charset="-78"/>
              </a:rPr>
              <a:t>درنظر</a:t>
            </a:r>
            <a:r>
              <a:rPr lang="fa-IR" sz="2400" dirty="0">
                <a:solidFill>
                  <a:srgbClr val="000000"/>
                </a:solidFill>
                <a:latin typeface="Tahoma" panose="020B0604030504040204" pitchFamily="34" charset="0"/>
                <a:ea typeface="+mn-ea"/>
                <a:cs typeface="B Nazanin" panose="00000400000000000000" pitchFamily="2" charset="-78"/>
              </a:rPr>
              <a:t> </a:t>
            </a:r>
            <a:r>
              <a:rPr lang="fa-IR" sz="2400" dirty="0" err="1">
                <a:solidFill>
                  <a:srgbClr val="000000"/>
                </a:solidFill>
                <a:latin typeface="Tahoma" panose="020B0604030504040204" pitchFamily="34" charset="0"/>
                <a:ea typeface="+mn-ea"/>
                <a:cs typeface="B Nazanin" panose="00000400000000000000" pitchFamily="2" charset="-78"/>
              </a:rPr>
              <a:t>بگيريد</a:t>
            </a:r>
            <a:r>
              <a:rPr lang="fa-IR" sz="2400" dirty="0">
                <a:solidFill>
                  <a:srgbClr val="000000"/>
                </a:solidFill>
                <a:latin typeface="Tahoma" panose="020B0604030504040204" pitchFamily="34" charset="0"/>
                <a:ea typeface="+mn-ea"/>
                <a:cs typeface="B Nazanin" panose="00000400000000000000" pitchFamily="2" charset="-78"/>
              </a:rPr>
              <a:t>:</a:t>
            </a:r>
            <a:br>
              <a:rPr lang="en-US" altLang="en-US" sz="2400" dirty="0">
                <a:solidFill>
                  <a:srgbClr val="000000"/>
                </a:solidFill>
                <a:latin typeface="Tahoma" panose="020B0604030504040204" pitchFamily="34" charset="0"/>
                <a:ea typeface="+mn-ea"/>
                <a:cs typeface="B Nazanin" panose="00000400000000000000" pitchFamily="2" charset="-78"/>
              </a:rPr>
            </a:br>
            <a:endParaRPr lang="en-US" sz="2400" dirty="0"/>
          </a:p>
        </p:txBody>
      </p:sp>
      <p:sp>
        <p:nvSpPr>
          <p:cNvPr id="143362" name="Content Placeholder 2"/>
          <p:cNvSpPr>
            <a:spLocks noGrp="1"/>
          </p:cNvSpPr>
          <p:nvPr>
            <p:ph idx="1"/>
          </p:nvPr>
        </p:nvSpPr>
        <p:spPr>
          <a:xfrm>
            <a:off x="299471" y="381000"/>
            <a:ext cx="8295081" cy="4999037"/>
          </a:xfrm>
        </p:spPr>
        <p:txBody>
          <a:bodyPr>
            <a:normAutofit/>
          </a:bodyPr>
          <a:lstStyle/>
          <a:p>
            <a:pPr algn="r" rtl="1" eaLnBrk="0" fontAlgn="base" hangingPunct="0">
              <a:lnSpc>
                <a:spcPct val="100000"/>
              </a:lnSpc>
              <a:spcBef>
                <a:spcPct val="0"/>
              </a:spcBef>
              <a:spcAft>
                <a:spcPct val="0"/>
              </a:spcAft>
              <a:buClrTx/>
            </a:pPr>
            <a:r>
              <a:rPr lang="fa-IR" altLang="en-US" sz="2800" dirty="0">
                <a:latin typeface="Arial" panose="020B0604020202020204" pitchFamily="34" charset="0"/>
                <a:cs typeface="B Nazanin" panose="00000400000000000000" pitchFamily="2" charset="-78"/>
              </a:rPr>
              <a:t>راهکار:</a:t>
            </a:r>
          </a:p>
          <a:p>
            <a:pPr algn="r" rtl="1" eaLnBrk="0" fontAlgn="base" hangingPunct="0">
              <a:lnSpc>
                <a:spcPct val="100000"/>
              </a:lnSpc>
              <a:spcBef>
                <a:spcPct val="0"/>
              </a:spcBef>
              <a:spcAft>
                <a:spcPct val="0"/>
              </a:spcAft>
              <a:buClrTx/>
            </a:pPr>
            <a:r>
              <a:rPr lang="ar-SA" altLang="en-US" sz="2800" b="1" dirty="0">
                <a:solidFill>
                  <a:srgbClr val="000000"/>
                </a:solidFill>
                <a:latin typeface="Tahoma" panose="020B0604030504040204" pitchFamily="34" charset="0"/>
                <a:cs typeface="B Nazanin" panose="00000400000000000000" pitchFamily="2" charset="-78"/>
              </a:rPr>
              <a:t>جدا کردن داده های جدول </a:t>
            </a:r>
            <a:r>
              <a:rPr lang="fa-IR" altLang="en-US" sz="2800" dirty="0">
                <a:solidFill>
                  <a:srgbClr val="000000"/>
                </a:solidFill>
                <a:latin typeface="Tahoma" panose="020B0604030504040204" pitchFamily="34" charset="0"/>
                <a:cs typeface="B Nazanin" panose="00000400000000000000" pitchFamily="2" charset="-78"/>
              </a:rPr>
              <a:t>زیر</a:t>
            </a:r>
            <a:r>
              <a:rPr lang="ar-SA" altLang="en-US" sz="2800" dirty="0">
                <a:solidFill>
                  <a:srgbClr val="000000"/>
                </a:solidFill>
                <a:latin typeface="Tahoma" panose="020B0604030504040204" pitchFamily="34" charset="0"/>
                <a:cs typeface="B Nazanin" panose="00000400000000000000" pitchFamily="2" charset="-78"/>
              </a:rPr>
              <a:t> به جداول جداگانه افزونگی را کاهش می دهد</a:t>
            </a:r>
            <a:endParaRPr lang="fa-IR" altLang="en-US" sz="2800" dirty="0">
              <a:solidFill>
                <a:srgbClr val="000000"/>
              </a:solidFill>
              <a:latin typeface="Tahoma" panose="020B0604030504040204" pitchFamily="34" charset="0"/>
              <a:cs typeface="B Nazanin" panose="00000400000000000000" pitchFamily="2" charset="-78"/>
            </a:endParaRPr>
          </a:p>
          <a:p>
            <a:pPr algn="r" rtl="1" eaLnBrk="0" fontAlgn="base" hangingPunct="0">
              <a:lnSpc>
                <a:spcPct val="100000"/>
              </a:lnSpc>
              <a:spcBef>
                <a:spcPct val="0"/>
              </a:spcBef>
              <a:spcAft>
                <a:spcPct val="0"/>
              </a:spcAft>
              <a:buClrTx/>
            </a:pPr>
            <a:r>
              <a:rPr lang="ar-SA" altLang="en-US" sz="2800" dirty="0">
                <a:solidFill>
                  <a:srgbClr val="000000"/>
                </a:solidFill>
                <a:latin typeface="Tahoma" panose="020B0604030504040204" pitchFamily="34" charset="0"/>
                <a:cs typeface="B Nazanin" panose="00000400000000000000" pitchFamily="2" charset="-78"/>
              </a:rPr>
              <a:t>مواجهه با </a:t>
            </a:r>
            <a:r>
              <a:rPr lang="ar-SA" altLang="en-US" sz="2800" b="1" dirty="0">
                <a:solidFill>
                  <a:srgbClr val="000000"/>
                </a:solidFill>
                <a:latin typeface="Tahoma" panose="020B0604030504040204" pitchFamily="34" charset="0"/>
                <a:cs typeface="B Nazanin" panose="00000400000000000000" pitchFamily="2" charset="-78"/>
              </a:rPr>
              <a:t>آنومالی های فوق </a:t>
            </a:r>
            <a:r>
              <a:rPr lang="ar-SA" altLang="en-US" sz="2800" dirty="0">
                <a:solidFill>
                  <a:srgbClr val="000000"/>
                </a:solidFill>
                <a:latin typeface="Tahoma" panose="020B0604030504040204" pitchFamily="34" charset="0"/>
                <a:cs typeface="B Nazanin" panose="00000400000000000000" pitchFamily="2" charset="-78"/>
              </a:rPr>
              <a:t>را ساده تر می کند.</a:t>
            </a:r>
            <a:endParaRPr lang="fa-IR" altLang="en-US" sz="2800" dirty="0">
              <a:solidFill>
                <a:srgbClr val="000000"/>
              </a:solidFill>
              <a:latin typeface="Tahoma" panose="020B0604030504040204" pitchFamily="34" charset="0"/>
              <a:cs typeface="B Nazanin" panose="00000400000000000000" pitchFamily="2" charset="-78"/>
            </a:endParaRPr>
          </a:p>
          <a:p>
            <a:pPr algn="r" rtl="1" eaLnBrk="0" fontAlgn="base" hangingPunct="0">
              <a:lnSpc>
                <a:spcPct val="100000"/>
              </a:lnSpc>
              <a:spcBef>
                <a:spcPct val="0"/>
              </a:spcBef>
              <a:spcAft>
                <a:spcPct val="0"/>
              </a:spcAft>
              <a:buClrTx/>
            </a:pPr>
            <a:r>
              <a:rPr lang="ar-SA" altLang="en-US" sz="2800" dirty="0">
                <a:solidFill>
                  <a:srgbClr val="000000"/>
                </a:solidFill>
                <a:latin typeface="Tahoma" panose="020B0604030504040204" pitchFamily="34" charset="0"/>
                <a:cs typeface="B Nazanin" panose="00000400000000000000" pitchFamily="2" charset="-78"/>
              </a:rPr>
              <a:t> اين فرآيند را </a:t>
            </a:r>
            <a:r>
              <a:rPr lang="ar-SA" altLang="en-US" sz="2800" b="1" dirty="0">
                <a:solidFill>
                  <a:srgbClr val="000000"/>
                </a:solidFill>
                <a:latin typeface="Tahoma" panose="020B0604030504040204" pitchFamily="34" charset="0"/>
                <a:cs typeface="B Nazanin" panose="00000400000000000000" pitchFamily="2" charset="-78"/>
              </a:rPr>
              <a:t>نرمالسازی</a:t>
            </a:r>
            <a:r>
              <a:rPr lang="ar-SA" altLang="en-US" sz="2800" dirty="0">
                <a:solidFill>
                  <a:srgbClr val="000000"/>
                </a:solidFill>
                <a:latin typeface="Tahoma" panose="020B0604030504040204" pitchFamily="34" charset="0"/>
                <a:cs typeface="B Nazanin" panose="00000400000000000000" pitchFamily="2" charset="-78"/>
              </a:rPr>
              <a:t> می نامند.</a:t>
            </a:r>
            <a:endParaRPr lang="ar-SA" altLang="en-US" sz="4800" dirty="0">
              <a:latin typeface="Arial" panose="020B0604020202020204" pitchFamily="34" charset="0"/>
              <a:cs typeface="B Nazanin" panose="00000400000000000000" pitchFamily="2" charset="-78"/>
            </a:endParaRPr>
          </a:p>
          <a:p>
            <a:pPr algn="r" rtl="1" eaLnBrk="0" fontAlgn="base" hangingPunct="0">
              <a:lnSpc>
                <a:spcPct val="100000"/>
              </a:lnSpc>
              <a:spcBef>
                <a:spcPct val="0"/>
              </a:spcBef>
              <a:spcAft>
                <a:spcPct val="0"/>
              </a:spcAft>
              <a:buClrTx/>
            </a:pPr>
            <a:endParaRPr lang="ar-SA" altLang="en-US" sz="2800" dirty="0">
              <a:latin typeface="Arial" panose="020B0604020202020204" pitchFamily="34" charset="0"/>
              <a:cs typeface="B Nazanin" panose="00000400000000000000" pitchFamily="2" charset="-78"/>
            </a:endParaRPr>
          </a:p>
        </p:txBody>
      </p:sp>
      <p:sp>
        <p:nvSpPr>
          <p:cNvPr id="3" name="Slide Number Placeholder 2">
            <a:extLst>
              <a:ext uri="{FF2B5EF4-FFF2-40B4-BE49-F238E27FC236}">
                <a16:creationId xmlns:a16="http://schemas.microsoft.com/office/drawing/2014/main" id="{82B0C9E7-7385-46E1-8F44-40A33D4AB2EF}"/>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9</a:t>
            </a:fld>
            <a:endParaRPr lang="en-US"/>
          </a:p>
        </p:txBody>
      </p:sp>
      <p:graphicFrame>
        <p:nvGraphicFramePr>
          <p:cNvPr id="7" name="Table 6">
            <a:extLst>
              <a:ext uri="{FF2B5EF4-FFF2-40B4-BE49-F238E27FC236}">
                <a16:creationId xmlns:a16="http://schemas.microsoft.com/office/drawing/2014/main" id="{AA623E29-4F96-482A-AFB2-FECF5EB93828}"/>
              </a:ext>
            </a:extLst>
          </p:cNvPr>
          <p:cNvGraphicFramePr>
            <a:graphicFrameLocks noGrp="1"/>
          </p:cNvGraphicFramePr>
          <p:nvPr/>
        </p:nvGraphicFramePr>
        <p:xfrm>
          <a:off x="81497" y="3962400"/>
          <a:ext cx="8981005" cy="2682351"/>
        </p:xfrm>
        <a:graphic>
          <a:graphicData uri="http://schemas.openxmlformats.org/drawingml/2006/table">
            <a:tbl>
              <a:tblPr firstRow="1" firstCol="1" bandRow="1">
                <a:tableStyleId>{616DA210-FB5B-4158-B5E0-FEB733F419BA}</a:tableStyleId>
              </a:tblPr>
              <a:tblGrid>
                <a:gridCol w="586937">
                  <a:extLst>
                    <a:ext uri="{9D8B030D-6E8A-4147-A177-3AD203B41FA5}">
                      <a16:colId xmlns:a16="http://schemas.microsoft.com/office/drawing/2014/main" val="234041042"/>
                    </a:ext>
                  </a:extLst>
                </a:gridCol>
                <a:gridCol w="940021">
                  <a:extLst>
                    <a:ext uri="{9D8B030D-6E8A-4147-A177-3AD203B41FA5}">
                      <a16:colId xmlns:a16="http://schemas.microsoft.com/office/drawing/2014/main" val="3415118693"/>
                    </a:ext>
                  </a:extLst>
                </a:gridCol>
                <a:gridCol w="922588">
                  <a:extLst>
                    <a:ext uri="{9D8B030D-6E8A-4147-A177-3AD203B41FA5}">
                      <a16:colId xmlns:a16="http://schemas.microsoft.com/office/drawing/2014/main" val="3881982512"/>
                    </a:ext>
                  </a:extLst>
                </a:gridCol>
                <a:gridCol w="461294">
                  <a:extLst>
                    <a:ext uri="{9D8B030D-6E8A-4147-A177-3AD203B41FA5}">
                      <a16:colId xmlns:a16="http://schemas.microsoft.com/office/drawing/2014/main" val="2484215510"/>
                    </a:ext>
                  </a:extLst>
                </a:gridCol>
                <a:gridCol w="682078">
                  <a:extLst>
                    <a:ext uri="{9D8B030D-6E8A-4147-A177-3AD203B41FA5}">
                      <a16:colId xmlns:a16="http://schemas.microsoft.com/office/drawing/2014/main" val="1297653461"/>
                    </a:ext>
                  </a:extLst>
                </a:gridCol>
                <a:gridCol w="1156146">
                  <a:extLst>
                    <a:ext uri="{9D8B030D-6E8A-4147-A177-3AD203B41FA5}">
                      <a16:colId xmlns:a16="http://schemas.microsoft.com/office/drawing/2014/main" val="3484224265"/>
                    </a:ext>
                  </a:extLst>
                </a:gridCol>
                <a:gridCol w="847841">
                  <a:extLst>
                    <a:ext uri="{9D8B030D-6E8A-4147-A177-3AD203B41FA5}">
                      <a16:colId xmlns:a16="http://schemas.microsoft.com/office/drawing/2014/main" val="3482110401"/>
                    </a:ext>
                  </a:extLst>
                </a:gridCol>
                <a:gridCol w="770764">
                  <a:extLst>
                    <a:ext uri="{9D8B030D-6E8A-4147-A177-3AD203B41FA5}">
                      <a16:colId xmlns:a16="http://schemas.microsoft.com/office/drawing/2014/main" val="1813858957"/>
                    </a:ext>
                  </a:extLst>
                </a:gridCol>
                <a:gridCol w="770764">
                  <a:extLst>
                    <a:ext uri="{9D8B030D-6E8A-4147-A177-3AD203B41FA5}">
                      <a16:colId xmlns:a16="http://schemas.microsoft.com/office/drawing/2014/main" val="1355875302"/>
                    </a:ext>
                  </a:extLst>
                </a:gridCol>
                <a:gridCol w="1310300">
                  <a:extLst>
                    <a:ext uri="{9D8B030D-6E8A-4147-A177-3AD203B41FA5}">
                      <a16:colId xmlns:a16="http://schemas.microsoft.com/office/drawing/2014/main" val="1675925667"/>
                    </a:ext>
                  </a:extLst>
                </a:gridCol>
                <a:gridCol w="532272">
                  <a:extLst>
                    <a:ext uri="{9D8B030D-6E8A-4147-A177-3AD203B41FA5}">
                      <a16:colId xmlns:a16="http://schemas.microsoft.com/office/drawing/2014/main" val="236614085"/>
                    </a:ext>
                  </a:extLst>
                </a:gridCol>
              </a:tblGrid>
              <a:tr h="531066">
                <a:tc>
                  <a:txBody>
                    <a:bodyPr/>
                    <a:lstStyle/>
                    <a:p>
                      <a:pPr marL="0" marR="0">
                        <a:lnSpc>
                          <a:spcPct val="107000"/>
                        </a:lnSpc>
                        <a:spcBef>
                          <a:spcPts val="0"/>
                        </a:spcBef>
                        <a:spcAft>
                          <a:spcPts val="0"/>
                        </a:spcAft>
                      </a:pPr>
                      <a:r>
                        <a:rPr lang="en-US" sz="1100" dirty="0">
                          <a:solidFill>
                            <a:schemeClr val="tx2">
                              <a:lumMod val="75000"/>
                            </a:schemeClr>
                          </a:solidFill>
                          <a:effectLst/>
                        </a:rPr>
                        <a:t>Sale 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SaleDate</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ProductNo</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Qty</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Amount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Salesrep</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CustomerNo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First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Last</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Address</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CreditLimit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378874611"/>
                  </a:ext>
                </a:extLst>
              </a:tr>
              <a:tr h="351027">
                <a:tc>
                  <a:txBody>
                    <a:bodyPr/>
                    <a:lstStyle/>
                    <a:p>
                      <a:pPr marL="0" marR="0">
                        <a:lnSpc>
                          <a:spcPct val="107000"/>
                        </a:lnSpc>
                        <a:spcBef>
                          <a:spcPts val="0"/>
                        </a:spcBef>
                        <a:spcAft>
                          <a:spcPts val="0"/>
                        </a:spcAft>
                      </a:pPr>
                      <a:r>
                        <a:rPr lang="en-US" sz="1050" b="1" dirty="0">
                          <a:effectLst/>
                        </a:rPr>
                        <a:t>12345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Aug 12 2002</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23.95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Dave Williams</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4649-4673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Richard</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Johnston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14 West Avenue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1000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720734119"/>
                  </a:ext>
                </a:extLst>
              </a:tr>
              <a:tr h="351027">
                <a:tc>
                  <a:txBody>
                    <a:bodyPr/>
                    <a:lstStyle/>
                    <a:p>
                      <a:pPr marL="0" marR="0">
                        <a:lnSpc>
                          <a:spcPct val="107000"/>
                        </a:lnSpc>
                        <a:spcBef>
                          <a:spcPts val="0"/>
                        </a:spcBef>
                        <a:spcAft>
                          <a:spcPts val="0"/>
                        </a:spcAft>
                      </a:pPr>
                      <a:r>
                        <a:rPr lang="en-US" sz="1050" b="1">
                          <a:effectLst/>
                        </a:rPr>
                        <a:t>12346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12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AQX88916</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167.65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1113-7741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Wayne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Jones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 York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020454084"/>
                  </a:ext>
                </a:extLst>
              </a:tr>
              <a:tr h="351027">
                <a:tc>
                  <a:txBody>
                    <a:bodyPr/>
                    <a:lstStyle/>
                    <a:p>
                      <a:pPr marL="0" marR="0">
                        <a:lnSpc>
                          <a:spcPct val="107000"/>
                        </a:lnSpc>
                        <a:spcBef>
                          <a:spcPts val="0"/>
                        </a:spcBef>
                        <a:spcAft>
                          <a:spcPts val="0"/>
                        </a:spcAft>
                      </a:pPr>
                      <a:r>
                        <a:rPr lang="en-US" sz="1050" b="1">
                          <a:effectLst/>
                        </a:rPr>
                        <a:t>12347</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AHL46785</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3705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5001.75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Li Qing</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995 Forth Street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241532585"/>
                  </a:ext>
                </a:extLst>
              </a:tr>
              <a:tr h="249059">
                <a:tc>
                  <a:txBody>
                    <a:bodyPr/>
                    <a:lstStyle/>
                    <a:p>
                      <a:pPr marL="0" marR="0">
                        <a:lnSpc>
                          <a:spcPct val="107000"/>
                        </a:lnSpc>
                        <a:spcBef>
                          <a:spcPts val="0"/>
                        </a:spcBef>
                        <a:spcAft>
                          <a:spcPts val="0"/>
                        </a:spcAft>
                      </a:pPr>
                      <a:r>
                        <a:rPr lang="en-US" sz="1050" b="1">
                          <a:effectLst/>
                        </a:rPr>
                        <a:t>12348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118.5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Sara Thompson</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gn="ctr">
                        <a:lnSpc>
                          <a:spcPct val="107000"/>
                        </a:lnSpc>
                        <a:spcBef>
                          <a:spcPts val="0"/>
                        </a:spcBef>
                        <a:spcAft>
                          <a:spcPts val="0"/>
                        </a:spcAft>
                      </a:pPr>
                      <a:r>
                        <a:rPr lang="en-US" sz="1050" b="1" dirty="0">
                          <a:effectLst/>
                        </a:rPr>
                        <a:t> &lt;</a:t>
                      </a:r>
                      <a:r>
                        <a:rPr lang="en-US" sz="1050" b="1" i="1" dirty="0">
                          <a:effectLst/>
                        </a:rPr>
                        <a:t>null&gt;</a:t>
                      </a:r>
                      <a:endParaRPr lang="en-US" sz="1050" b="1" i="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9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897738917"/>
                  </a:ext>
                </a:extLst>
              </a:tr>
              <a:tr h="249059">
                <a:tc>
                  <a:txBody>
                    <a:bodyPr/>
                    <a:lstStyle/>
                    <a:p>
                      <a:pPr marL="0" marR="0">
                        <a:lnSpc>
                          <a:spcPct val="107000"/>
                        </a:lnSpc>
                        <a:spcBef>
                          <a:spcPts val="0"/>
                        </a:spcBef>
                        <a:spcAft>
                          <a:spcPts val="0"/>
                        </a:spcAft>
                      </a:pPr>
                      <a:r>
                        <a:rPr lang="en-US" sz="1050" b="1">
                          <a:effectLst/>
                        </a:rPr>
                        <a:t>12349</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940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2227.8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 Forth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176984474"/>
                  </a:ext>
                </a:extLst>
              </a:tr>
              <a:tr h="249059">
                <a:tc>
                  <a:txBody>
                    <a:bodyPr/>
                    <a:lstStyle/>
                    <a:p>
                      <a:pPr marL="0" marR="0">
                        <a:lnSpc>
                          <a:spcPct val="107000"/>
                        </a:lnSpc>
                        <a:spcBef>
                          <a:spcPts val="0"/>
                        </a:spcBef>
                        <a:spcAft>
                          <a:spcPts val="0"/>
                        </a:spcAft>
                      </a:pPr>
                      <a:r>
                        <a:rPr lang="en-US" sz="1050" b="1">
                          <a:effectLst/>
                        </a:rPr>
                        <a:t>12350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7671-3496</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Antonio</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Gonzales</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55B Granary Lane</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dirty="0">
                          <a:ln>
                            <a:noFill/>
                          </a:ln>
                          <a:solidFill>
                            <a:srgbClr val="000000"/>
                          </a:solidFill>
                          <a:effectLst/>
                          <a:uLnTx/>
                          <a:uFillTx/>
                          <a:latin typeface="Helvetica"/>
                          <a:ea typeface="+mn-ea"/>
                          <a:cs typeface="+mn-cs"/>
                        </a:rPr>
                        <a:t>&lt;</a:t>
                      </a:r>
                      <a:r>
                        <a:rPr kumimoji="0" lang="en-US" sz="900" b="1" i="1" u="none" strike="noStrike" kern="1200" cap="none" spc="0" normalizeH="0" baseline="0" noProof="0" dirty="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643762065"/>
                  </a:ext>
                </a:extLst>
              </a:tr>
              <a:tr h="351027">
                <a:tc>
                  <a:txBody>
                    <a:bodyPr/>
                    <a:lstStyle/>
                    <a:p>
                      <a:pPr marL="0" marR="0">
                        <a:lnSpc>
                          <a:spcPct val="107000"/>
                        </a:lnSpc>
                        <a:spcBef>
                          <a:spcPts val="0"/>
                        </a:spcBef>
                        <a:spcAft>
                          <a:spcPts val="0"/>
                        </a:spcAft>
                      </a:pPr>
                      <a:r>
                        <a:rPr lang="en-US" sz="1050" b="1" dirty="0">
                          <a:effectLst/>
                        </a:rPr>
                        <a:t>12351</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1317.25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Dave Williams</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6794-1674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Diane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Adams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364 East Road</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150</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34904673"/>
                  </a:ext>
                </a:extLst>
              </a:tr>
            </a:tbl>
          </a:graphicData>
        </a:graphic>
      </p:graphicFrame>
    </p:spTree>
    <p:extLst>
      <p:ext uri="{BB962C8B-B14F-4D97-AF65-F5344CB8AC3E}">
        <p14:creationId xmlns:p14="http://schemas.microsoft.com/office/powerpoint/2010/main" val="10117965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a:extLst>
              <a:ext uri="{FF2B5EF4-FFF2-40B4-BE49-F238E27FC236}">
                <a16:creationId xmlns:a16="http://schemas.microsoft.com/office/drawing/2014/main" id="{1DB579C8-752D-4166-967D-B79B656305A8}"/>
              </a:ext>
            </a:extLst>
          </p:cNvPr>
          <p:cNvSpPr>
            <a:spLocks noGrp="1" noChangeArrowheads="1"/>
          </p:cNvSpPr>
          <p:nvPr>
            <p:ph idx="1"/>
          </p:nvPr>
        </p:nvSpPr>
        <p:spPr bwMode="auto">
          <a:xfrm>
            <a:off x="552645" y="1247335"/>
            <a:ext cx="8153400" cy="48936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r" rtl="1">
              <a:lnSpc>
                <a:spcPct val="100000"/>
              </a:lnSpc>
              <a:buClrTx/>
            </a:pPr>
            <a:r>
              <a:rPr kumimoji="0" lang="ar-SA"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تئوری پايگاه داده درجه نرمالسازی جدول را با اصطلاح فرم های نرمال(</a:t>
            </a:r>
            <a:r>
              <a:rPr kumimoji="0" lang="en-US"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normal form</a:t>
            </a:r>
            <a:r>
              <a:rPr kumimoji="0" lang="fa-IR"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 </a:t>
            </a:r>
            <a:r>
              <a:rPr kumimoji="0" lang="ar-SA"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شرح می دهد. فرم های نرمال (يا بطور خلاصه </a:t>
            </a:r>
            <a:r>
              <a:rPr kumimoji="0" lang="en-US"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NF</a:t>
            </a:r>
            <a:r>
              <a:rPr kumimoji="0" lang="fa-IR"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 </a:t>
            </a:r>
            <a:r>
              <a:rPr kumimoji="0" lang="ar-SA"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معياری برای تعيين درجه نرمال جدول دراختيار می گذارد.</a:t>
            </a:r>
            <a:endParaRPr kumimoji="0" lang="en-US" altLang="en-US" sz="1600" b="0" i="0" u="none" strike="noStrike" cap="none" normalizeH="0" baseline="0" dirty="0">
              <a:ln>
                <a:noFill/>
              </a:ln>
              <a:solidFill>
                <a:schemeClr val="tx1"/>
              </a:solidFill>
              <a:effectLst/>
              <a:cs typeface="B Nazanin" panose="00000400000000000000" pitchFamily="2" charset="-78"/>
            </a:endParaRPr>
          </a:p>
          <a:p>
            <a:pPr algn="r" rtl="1">
              <a:lnSpc>
                <a:spcPct val="100000"/>
              </a:lnSpc>
              <a:buClrTx/>
            </a:pPr>
            <a:r>
              <a:rPr kumimoji="0" lang="ar-SA"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فرم های نرمال جداگانه روی هر جدول می توانند بکار بروند. پايگاه داده زمانی در فرم نرمال </a:t>
            </a:r>
            <a:r>
              <a:rPr kumimoji="0" lang="en-US"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n</a:t>
            </a:r>
            <a:r>
              <a:rPr kumimoji="0" lang="ar-SA"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 خواهد بود که کل جداول آن در فرم نرمال </a:t>
            </a:r>
            <a:r>
              <a:rPr kumimoji="0" lang="en-US"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n</a:t>
            </a:r>
            <a:r>
              <a:rPr kumimoji="0" lang="ar-SA"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 باشند.</a:t>
            </a:r>
            <a:endParaRPr kumimoji="0" lang="en-US" altLang="en-US" sz="1600" b="0" i="0" u="none" strike="noStrike" cap="none" normalizeH="0" baseline="0" dirty="0">
              <a:ln>
                <a:noFill/>
              </a:ln>
              <a:solidFill>
                <a:schemeClr val="tx1"/>
              </a:solidFill>
              <a:effectLst/>
              <a:cs typeface="B Nazanin" panose="00000400000000000000" pitchFamily="2" charset="-78"/>
            </a:endParaRPr>
          </a:p>
          <a:p>
            <a:pPr algn="r" rtl="1">
              <a:lnSpc>
                <a:spcPct val="100000"/>
              </a:lnSpc>
              <a:buClrTx/>
            </a:pPr>
            <a:r>
              <a:rPr kumimoji="0" lang="ar-SA"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فرم های نرمال عبارتند از:</a:t>
            </a:r>
            <a:endParaRPr kumimoji="0" lang="fa-IR"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endParaRPr>
          </a:p>
          <a:p>
            <a:pPr algn="l">
              <a:lnSpc>
                <a:spcPct val="100000"/>
              </a:lnSpc>
              <a:buClrTx/>
            </a:pPr>
            <a:r>
              <a:rPr kumimoji="0" lang="en-US" altLang="en-US" sz="2400" b="0" i="0" u="none" strike="noStrike" cap="none" normalizeH="0" baseline="0" dirty="0">
                <a:ln>
                  <a:noFill/>
                </a:ln>
                <a:solidFill>
                  <a:srgbClr val="000000"/>
                </a:solidFill>
                <a:effectLst/>
                <a:cs typeface="B Nazanin" panose="00000400000000000000" pitchFamily="2" charset="-78"/>
              </a:rPr>
              <a:t>• First Normal Form (1NF)</a:t>
            </a:r>
            <a:br>
              <a:rPr kumimoji="0" lang="en-US" altLang="en-US" sz="2400" b="0" i="0" u="none" strike="noStrike" cap="none" normalizeH="0" baseline="0" dirty="0">
                <a:ln>
                  <a:noFill/>
                </a:ln>
                <a:solidFill>
                  <a:srgbClr val="000000"/>
                </a:solidFill>
                <a:effectLst/>
                <a:cs typeface="B Nazanin" panose="00000400000000000000" pitchFamily="2" charset="-78"/>
              </a:rPr>
            </a:br>
            <a:r>
              <a:rPr kumimoji="0" lang="en-US" altLang="en-US" sz="2400" b="0" i="0" u="none" strike="noStrike" cap="none" normalizeH="0" baseline="0" dirty="0">
                <a:ln>
                  <a:noFill/>
                </a:ln>
                <a:solidFill>
                  <a:srgbClr val="000000"/>
                </a:solidFill>
                <a:effectLst/>
                <a:cs typeface="B Nazanin" panose="00000400000000000000" pitchFamily="2" charset="-78"/>
              </a:rPr>
              <a:t>• Second Normal Form (2NF)</a:t>
            </a:r>
            <a:br>
              <a:rPr kumimoji="0" lang="en-US" altLang="en-US" sz="2400" b="0" i="0" u="none" strike="noStrike" cap="none" normalizeH="0" baseline="0" dirty="0">
                <a:ln>
                  <a:noFill/>
                </a:ln>
                <a:solidFill>
                  <a:srgbClr val="000000"/>
                </a:solidFill>
                <a:effectLst/>
                <a:cs typeface="B Nazanin" panose="00000400000000000000" pitchFamily="2" charset="-78"/>
              </a:rPr>
            </a:br>
            <a:r>
              <a:rPr kumimoji="0" lang="en-US" altLang="en-US" sz="2400" b="0" i="0" u="none" strike="noStrike" cap="none" normalizeH="0" baseline="0" dirty="0">
                <a:ln>
                  <a:noFill/>
                </a:ln>
                <a:solidFill>
                  <a:srgbClr val="000000"/>
                </a:solidFill>
                <a:effectLst/>
                <a:cs typeface="B Nazanin" panose="00000400000000000000" pitchFamily="2" charset="-78"/>
              </a:rPr>
              <a:t>• Third Normal Form (3NF)</a:t>
            </a:r>
            <a:br>
              <a:rPr kumimoji="0" lang="en-US" altLang="en-US" sz="2400" b="0" i="0" u="none" strike="noStrike" cap="none" normalizeH="0" baseline="0" dirty="0">
                <a:ln>
                  <a:noFill/>
                </a:ln>
                <a:solidFill>
                  <a:srgbClr val="000000"/>
                </a:solidFill>
                <a:effectLst/>
                <a:cs typeface="B Nazanin" panose="00000400000000000000" pitchFamily="2" charset="-78"/>
              </a:rPr>
            </a:br>
            <a:r>
              <a:rPr kumimoji="0" lang="en-US" altLang="en-US" sz="2400" b="0" i="0" u="none" strike="noStrike" cap="none" normalizeH="0" baseline="0" dirty="0">
                <a:ln>
                  <a:noFill/>
                </a:ln>
                <a:solidFill>
                  <a:srgbClr val="000000"/>
                </a:solidFill>
                <a:effectLst/>
                <a:cs typeface="B Nazanin" panose="00000400000000000000" pitchFamily="2" charset="-78"/>
              </a:rPr>
              <a:t>• Forth Normal Form (4NF)</a:t>
            </a:r>
            <a:br>
              <a:rPr kumimoji="0" lang="en-US" altLang="en-US" sz="2400" b="0" i="0" u="none" strike="noStrike" cap="none" normalizeH="0" baseline="0" dirty="0">
                <a:ln>
                  <a:noFill/>
                </a:ln>
                <a:solidFill>
                  <a:srgbClr val="000000"/>
                </a:solidFill>
                <a:effectLst/>
                <a:cs typeface="B Nazanin" panose="00000400000000000000" pitchFamily="2" charset="-78"/>
              </a:rPr>
            </a:br>
            <a:r>
              <a:rPr kumimoji="0" lang="en-US" altLang="en-US" sz="2400" b="0" i="0" u="none" strike="noStrike" cap="none" normalizeH="0" baseline="0" dirty="0">
                <a:ln>
                  <a:noFill/>
                </a:ln>
                <a:solidFill>
                  <a:srgbClr val="000000"/>
                </a:solidFill>
                <a:effectLst/>
                <a:cs typeface="B Nazanin" panose="00000400000000000000" pitchFamily="2" charset="-78"/>
              </a:rPr>
              <a:t>• Boyce/Codd Normal Form (BCNF)</a:t>
            </a:r>
            <a:br>
              <a:rPr kumimoji="0" lang="en-US" altLang="en-US" sz="2400" b="0" i="0" u="none" strike="noStrike" cap="none" normalizeH="0" baseline="0" dirty="0">
                <a:ln>
                  <a:noFill/>
                </a:ln>
                <a:solidFill>
                  <a:srgbClr val="000000"/>
                </a:solidFill>
                <a:effectLst/>
                <a:cs typeface="B Nazanin" panose="00000400000000000000" pitchFamily="2" charset="-78"/>
              </a:rPr>
            </a:br>
            <a:r>
              <a:rPr kumimoji="0" lang="en-US" altLang="en-US" sz="2400" b="0" i="0" u="none" strike="noStrike" cap="none" normalizeH="0" baseline="0" dirty="0">
                <a:ln>
                  <a:noFill/>
                </a:ln>
                <a:solidFill>
                  <a:srgbClr val="000000"/>
                </a:solidFill>
                <a:effectLst/>
                <a:cs typeface="B Nazanin" panose="00000400000000000000" pitchFamily="2" charset="-78"/>
              </a:rPr>
              <a:t>• Fifth Normal Form (5NF)</a:t>
            </a:r>
            <a:br>
              <a:rPr kumimoji="0" lang="en-US" altLang="en-US" sz="2400" b="0" i="0" u="none" strike="noStrike" cap="none" normalizeH="0" baseline="0" dirty="0">
                <a:ln>
                  <a:noFill/>
                </a:ln>
                <a:solidFill>
                  <a:srgbClr val="000000"/>
                </a:solidFill>
                <a:effectLst/>
                <a:cs typeface="B Nazanin" panose="00000400000000000000" pitchFamily="2" charset="-78"/>
              </a:rPr>
            </a:br>
            <a:r>
              <a:rPr kumimoji="0" lang="en-US" altLang="en-US" sz="2400" b="0" i="0" u="none" strike="noStrike" cap="none" normalizeH="0" baseline="0" dirty="0">
                <a:ln>
                  <a:noFill/>
                </a:ln>
                <a:solidFill>
                  <a:srgbClr val="000000"/>
                </a:solidFill>
                <a:effectLst/>
                <a:cs typeface="B Nazanin" panose="00000400000000000000" pitchFamily="2" charset="-78"/>
              </a:rPr>
              <a:t>• Domain/Key Normal Form (DKNF)</a:t>
            </a:r>
            <a:endParaRPr kumimoji="0" lang="en-US" altLang="en-US" sz="5400" b="0" i="0" u="none" strike="noStrike" cap="none" normalizeH="0" baseline="0" dirty="0">
              <a:ln>
                <a:noFill/>
              </a:ln>
              <a:solidFill>
                <a:schemeClr val="tx1"/>
              </a:solidFill>
              <a:effectLst/>
              <a:cs typeface="B Nazanin" panose="00000400000000000000" pitchFamily="2" charset="-78"/>
            </a:endParaRPr>
          </a:p>
        </p:txBody>
      </p:sp>
      <p:sp>
        <p:nvSpPr>
          <p:cNvPr id="3" name="Slide Number Placeholder 2">
            <a:extLst>
              <a:ext uri="{FF2B5EF4-FFF2-40B4-BE49-F238E27FC236}">
                <a16:creationId xmlns:a16="http://schemas.microsoft.com/office/drawing/2014/main" id="{DFA7004B-8356-4F80-AE20-CB37A3D0AAD7}"/>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10</a:t>
            </a:fld>
            <a:endParaRPr lang="en-US"/>
          </a:p>
        </p:txBody>
      </p:sp>
    </p:spTree>
    <p:extLst>
      <p:ext uri="{BB962C8B-B14F-4D97-AF65-F5344CB8AC3E}">
        <p14:creationId xmlns:p14="http://schemas.microsoft.com/office/powerpoint/2010/main" val="13416245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3" name="Title 1"/>
          <p:cNvSpPr>
            <a:spLocks noGrp="1"/>
          </p:cNvSpPr>
          <p:nvPr>
            <p:ph type="title"/>
          </p:nvPr>
        </p:nvSpPr>
        <p:spPr/>
        <p:txBody>
          <a:bodyPr anchor="ctr"/>
          <a:lstStyle/>
          <a:p>
            <a:pPr algn="ctr" rtl="1"/>
            <a:r>
              <a:rPr lang="fa-IR" altLang="en-US" sz="4400" b="1" dirty="0">
                <a:latin typeface="Titr" pitchFamily="2" charset="-78"/>
                <a:ea typeface="2  Titr"/>
                <a:cs typeface="2  Titr"/>
              </a:rPr>
              <a:t>جداول آنرمال</a:t>
            </a:r>
            <a:endParaRPr lang="en-US" altLang="en-US" sz="4400" b="1" dirty="0">
              <a:latin typeface="Titr" pitchFamily="2" charset="-78"/>
              <a:ea typeface="2  Titr"/>
              <a:cs typeface="2  Titr"/>
            </a:endParaRPr>
          </a:p>
        </p:txBody>
      </p:sp>
      <p:sp>
        <p:nvSpPr>
          <p:cNvPr id="143362" name="Content Placeholder 2"/>
          <p:cNvSpPr>
            <a:spLocks noGrp="1"/>
          </p:cNvSpPr>
          <p:nvPr>
            <p:ph idx="1"/>
          </p:nvPr>
        </p:nvSpPr>
        <p:spPr/>
        <p:txBody>
          <a:bodyPr>
            <a:normAutofit/>
          </a:bodyPr>
          <a:lstStyle/>
          <a:p>
            <a:pPr algn="just" rtl="1"/>
            <a:r>
              <a:rPr lang="fa-IR" altLang="en-US" sz="2800" dirty="0">
                <a:ea typeface="Majalla UI"/>
                <a:cs typeface="B Nazanin" panose="00000400000000000000" pitchFamily="2" charset="-78"/>
              </a:rPr>
              <a:t>جداول آنرمال به جداولی اطلاق میشود که در برخورد هر سطر با هر ستون آن به جای یک مقدار </a:t>
            </a:r>
            <a:r>
              <a:rPr lang="fa-IR" altLang="en-US" sz="2800" b="1" dirty="0">
                <a:ea typeface="Majalla UI"/>
                <a:cs typeface="B Nazanin" panose="00000400000000000000" pitchFamily="2" charset="-78"/>
              </a:rPr>
              <a:t>اتمی</a:t>
            </a:r>
            <a:r>
              <a:rPr lang="fa-IR" altLang="en-US" sz="2800" dirty="0">
                <a:ea typeface="Majalla UI"/>
                <a:cs typeface="B Nazanin" panose="00000400000000000000" pitchFamily="2" charset="-78"/>
              </a:rPr>
              <a:t> و </a:t>
            </a:r>
            <a:r>
              <a:rPr lang="fa-IR" altLang="en-US" sz="2800" b="1" dirty="0">
                <a:ea typeface="Majalla UI"/>
                <a:cs typeface="B Nazanin" panose="00000400000000000000" pitchFamily="2" charset="-78"/>
              </a:rPr>
              <a:t>تجزیه ناپذیر</a:t>
            </a:r>
            <a:r>
              <a:rPr lang="fa-IR" altLang="en-US" sz="2800" dirty="0">
                <a:ea typeface="Majalla UI"/>
                <a:cs typeface="B Nazanin" panose="00000400000000000000" pitchFamily="2" charset="-78"/>
              </a:rPr>
              <a:t>، مجموعه ای از مقادیر وجود دارد (مانند </a:t>
            </a:r>
            <a:r>
              <a:rPr lang="en-US" altLang="en-US" sz="2800" dirty="0">
                <a:cs typeface="B Nazanin" panose="00000400000000000000" pitchFamily="2" charset="-78"/>
              </a:rPr>
              <a:t>Telephones</a:t>
            </a:r>
            <a:r>
              <a:rPr lang="fa-IR" altLang="en-US" sz="2800" dirty="0">
                <a:ea typeface="Majalla UI"/>
                <a:cs typeface="B Nazanin" panose="00000400000000000000" pitchFamily="2" charset="-78"/>
              </a:rPr>
              <a:t>)  </a:t>
            </a:r>
          </a:p>
          <a:p>
            <a:pPr algn="just" rtl="1"/>
            <a:endParaRPr lang="en-US" altLang="en-US" sz="2800" dirty="0">
              <a:cs typeface="B Nazanin" panose="00000400000000000000" pitchFamily="2" charset="-78"/>
            </a:endParaRPr>
          </a:p>
        </p:txBody>
      </p:sp>
      <p:sp>
        <p:nvSpPr>
          <p:cNvPr id="3" name="Slide Number Placeholder 2">
            <a:extLst>
              <a:ext uri="{FF2B5EF4-FFF2-40B4-BE49-F238E27FC236}">
                <a16:creationId xmlns:a16="http://schemas.microsoft.com/office/drawing/2014/main" id="{54B9C733-4B65-4CCD-A7C6-9A18DA315220}"/>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11</a:t>
            </a:fld>
            <a:endParaRPr lang="en-US"/>
          </a:p>
        </p:txBody>
      </p:sp>
      <p:graphicFrame>
        <p:nvGraphicFramePr>
          <p:cNvPr id="7" name="Table 6">
            <a:extLst>
              <a:ext uri="{FF2B5EF4-FFF2-40B4-BE49-F238E27FC236}">
                <a16:creationId xmlns:a16="http://schemas.microsoft.com/office/drawing/2014/main" id="{44DB1F9E-A88B-47DD-8831-6B37FCED7634}"/>
              </a:ext>
            </a:extLst>
          </p:cNvPr>
          <p:cNvGraphicFramePr>
            <a:graphicFrameLocks noGrp="1"/>
          </p:cNvGraphicFramePr>
          <p:nvPr/>
        </p:nvGraphicFramePr>
        <p:xfrm>
          <a:off x="901700" y="4645025"/>
          <a:ext cx="4953000" cy="1651000"/>
        </p:xfrm>
        <a:graphic>
          <a:graphicData uri="http://schemas.openxmlformats.org/drawingml/2006/table">
            <a:tbl>
              <a:tblPr firstRow="1" bandRow="1">
                <a:tableStyleId>{616DA210-FB5B-4158-B5E0-FEB733F419BA}</a:tableStyleId>
              </a:tblPr>
              <a:tblGrid>
                <a:gridCol w="1807176">
                  <a:extLst>
                    <a:ext uri="{9D8B030D-6E8A-4147-A177-3AD203B41FA5}">
                      <a16:colId xmlns:a16="http://schemas.microsoft.com/office/drawing/2014/main" val="20000"/>
                    </a:ext>
                  </a:extLst>
                </a:gridCol>
                <a:gridCol w="1360959">
                  <a:extLst>
                    <a:ext uri="{9D8B030D-6E8A-4147-A177-3AD203B41FA5}">
                      <a16:colId xmlns:a16="http://schemas.microsoft.com/office/drawing/2014/main" val="20001"/>
                    </a:ext>
                  </a:extLst>
                </a:gridCol>
                <a:gridCol w="1784865">
                  <a:extLst>
                    <a:ext uri="{9D8B030D-6E8A-4147-A177-3AD203B41FA5}">
                      <a16:colId xmlns:a16="http://schemas.microsoft.com/office/drawing/2014/main" val="20002"/>
                    </a:ext>
                  </a:extLst>
                </a:gridCol>
              </a:tblGrid>
              <a:tr h="370840">
                <a:tc>
                  <a:txBody>
                    <a:bodyPr/>
                    <a:lstStyle/>
                    <a:p>
                      <a:pPr algn="ctr"/>
                      <a:r>
                        <a:rPr lang="en-US" dirty="0"/>
                        <a:t>S#</a:t>
                      </a:r>
                    </a:p>
                  </a:txBody>
                  <a:tcPr anchor="ctr"/>
                </a:tc>
                <a:tc>
                  <a:txBody>
                    <a:bodyPr/>
                    <a:lstStyle/>
                    <a:p>
                      <a:pPr algn="ctr"/>
                      <a:r>
                        <a:rPr lang="en-US" dirty="0"/>
                        <a:t>Name</a:t>
                      </a:r>
                    </a:p>
                  </a:txBody>
                  <a:tcPr anchor="ctr"/>
                </a:tc>
                <a:tc>
                  <a:txBody>
                    <a:bodyPr/>
                    <a:lstStyle/>
                    <a:p>
                      <a:pPr algn="ctr"/>
                      <a:r>
                        <a:rPr lang="en-US" dirty="0"/>
                        <a:t>Telephones</a:t>
                      </a:r>
                    </a:p>
                  </a:txBody>
                  <a:tcPr anchor="ctr"/>
                </a:tc>
                <a:extLst>
                  <a:ext uri="{0D108BD9-81ED-4DB2-BD59-A6C34878D82A}">
                    <a16:rowId xmlns:a16="http://schemas.microsoft.com/office/drawing/2014/main" val="10000"/>
                  </a:ext>
                </a:extLst>
              </a:tr>
              <a:tr h="370840">
                <a:tc>
                  <a:txBody>
                    <a:bodyPr/>
                    <a:lstStyle/>
                    <a:p>
                      <a:pPr algn="ctr"/>
                      <a:r>
                        <a:rPr lang="fa-IR" dirty="0"/>
                        <a:t>7801</a:t>
                      </a:r>
                      <a:endParaRPr lang="en-US" dirty="0"/>
                    </a:p>
                  </a:txBody>
                  <a:tcPr/>
                </a:tc>
                <a:tc>
                  <a:txBody>
                    <a:bodyPr/>
                    <a:lstStyle/>
                    <a:p>
                      <a:pPr algn="ctr"/>
                      <a:r>
                        <a:rPr lang="fa-IR" dirty="0"/>
                        <a:t>آرش</a:t>
                      </a:r>
                      <a:endParaRPr lang="en-US" dirty="0"/>
                    </a:p>
                  </a:txBody>
                  <a:tcPr/>
                </a:tc>
                <a:tc>
                  <a:txBody>
                    <a:bodyPr/>
                    <a:lstStyle/>
                    <a:p>
                      <a:pPr algn="ctr" rtl="1"/>
                      <a:r>
                        <a:rPr lang="fa-IR" dirty="0"/>
                        <a:t>6262778-0311</a:t>
                      </a:r>
                    </a:p>
                    <a:p>
                      <a:pPr algn="ctr" rtl="1"/>
                      <a:r>
                        <a:rPr lang="fa-IR" dirty="0"/>
                        <a:t>5234-311-0913</a:t>
                      </a:r>
                      <a:endParaRPr lang="en-US" dirty="0"/>
                    </a:p>
                  </a:txBody>
                  <a:tcPr/>
                </a:tc>
                <a:extLst>
                  <a:ext uri="{0D108BD9-81ED-4DB2-BD59-A6C34878D82A}">
                    <a16:rowId xmlns:a16="http://schemas.microsoft.com/office/drawing/2014/main" val="10001"/>
                  </a:ext>
                </a:extLst>
              </a:tr>
              <a:tr h="370840">
                <a:tc>
                  <a:txBody>
                    <a:bodyPr/>
                    <a:lstStyle/>
                    <a:p>
                      <a:pPr algn="ctr"/>
                      <a:r>
                        <a:rPr lang="fa-IR" dirty="0"/>
                        <a:t>7902</a:t>
                      </a:r>
                      <a:endParaRPr lang="en-US" dirty="0"/>
                    </a:p>
                  </a:txBody>
                  <a:tcPr/>
                </a:tc>
                <a:tc>
                  <a:txBody>
                    <a:bodyPr/>
                    <a:lstStyle/>
                    <a:p>
                      <a:pPr algn="ctr"/>
                      <a:r>
                        <a:rPr lang="fa-IR" dirty="0"/>
                        <a:t>عسل</a:t>
                      </a:r>
                      <a:endParaRPr lang="en-US" dirty="0"/>
                    </a:p>
                  </a:txBody>
                  <a:tcPr/>
                </a:tc>
                <a:tc>
                  <a:txBody>
                    <a:bodyPr/>
                    <a:lstStyle/>
                    <a:p>
                      <a:pPr algn="ctr"/>
                      <a:r>
                        <a:rPr lang="fa-IR" dirty="0"/>
                        <a:t>2956677-021</a:t>
                      </a:r>
                    </a:p>
                    <a:p>
                      <a:pPr algn="ctr"/>
                      <a:r>
                        <a:rPr lang="fa-IR" dirty="0"/>
                        <a:t>4532-314-0912</a:t>
                      </a:r>
                      <a:endParaRPr lang="en-US" dirty="0"/>
                    </a:p>
                  </a:txBody>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8526674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3" name="Title 1"/>
          <p:cNvSpPr>
            <a:spLocks noGrp="1"/>
          </p:cNvSpPr>
          <p:nvPr>
            <p:ph type="title"/>
          </p:nvPr>
        </p:nvSpPr>
        <p:spPr/>
        <p:txBody>
          <a:bodyPr anchor="ctr"/>
          <a:lstStyle/>
          <a:p>
            <a:pPr algn="ctr" rtl="1"/>
            <a:r>
              <a:rPr lang="fa-IR" altLang="en-US" sz="4400" b="1" dirty="0">
                <a:latin typeface="Titr" pitchFamily="2" charset="-78"/>
                <a:ea typeface="2  Titr"/>
                <a:cs typeface="2  Titr"/>
              </a:rPr>
              <a:t>جداول آنرمال</a:t>
            </a:r>
            <a:endParaRPr lang="en-US" altLang="en-US" sz="4400" b="1" dirty="0">
              <a:latin typeface="Titr" pitchFamily="2" charset="-78"/>
              <a:ea typeface="2  Titr"/>
              <a:cs typeface="2  Titr"/>
            </a:endParaRPr>
          </a:p>
        </p:txBody>
      </p:sp>
      <p:sp>
        <p:nvSpPr>
          <p:cNvPr id="143362" name="Content Placeholder 2"/>
          <p:cNvSpPr>
            <a:spLocks noGrp="1"/>
          </p:cNvSpPr>
          <p:nvPr>
            <p:ph idx="1"/>
          </p:nvPr>
        </p:nvSpPr>
        <p:spPr/>
        <p:txBody>
          <a:bodyPr>
            <a:normAutofit/>
          </a:bodyPr>
          <a:lstStyle/>
          <a:p>
            <a:pPr algn="just" rtl="1"/>
            <a:r>
              <a:rPr lang="fa-IR" altLang="en-US" sz="2400" dirty="0">
                <a:ea typeface="Majalla UI"/>
                <a:cs typeface="B Nazanin" panose="00000400000000000000" pitchFamily="2" charset="-78"/>
              </a:rPr>
              <a:t>مهمترین عیب یک جدول آنرمال این است که برای هر یک از عملیات درج، حذف و اضافه به دو دسته عملیات درج تاپل و درج گروه اطلاعات مجموعه (</a:t>
            </a:r>
            <a:r>
              <a:rPr lang="en-US" altLang="en-US" sz="2400" dirty="0">
                <a:cs typeface="B Nazanin" panose="00000400000000000000" pitchFamily="2" charset="-78"/>
              </a:rPr>
              <a:t>Telephones</a:t>
            </a:r>
            <a:r>
              <a:rPr lang="fa-IR" altLang="en-US" sz="2400" dirty="0">
                <a:ea typeface="Majalla UI"/>
                <a:cs typeface="B Nazanin" panose="00000400000000000000" pitchFamily="2" charset="-78"/>
              </a:rPr>
              <a:t>) احتیاج است.</a:t>
            </a:r>
          </a:p>
          <a:p>
            <a:pPr algn="just" rtl="1"/>
            <a:endParaRPr lang="en-US" altLang="en-US" sz="2000" dirty="0">
              <a:cs typeface="B Nazanin" panose="00000400000000000000" pitchFamily="2" charset="-78"/>
            </a:endParaRPr>
          </a:p>
        </p:txBody>
      </p:sp>
      <p:sp>
        <p:nvSpPr>
          <p:cNvPr id="3" name="Slide Number Placeholder 2">
            <a:extLst>
              <a:ext uri="{FF2B5EF4-FFF2-40B4-BE49-F238E27FC236}">
                <a16:creationId xmlns:a16="http://schemas.microsoft.com/office/drawing/2014/main" id="{95F6FB10-596A-4193-B740-43B5D6B77228}"/>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12</a:t>
            </a:fld>
            <a:endParaRPr lang="en-US"/>
          </a:p>
        </p:txBody>
      </p:sp>
      <p:graphicFrame>
        <p:nvGraphicFramePr>
          <p:cNvPr id="5" name="Table 4"/>
          <p:cNvGraphicFramePr>
            <a:graphicFrameLocks noGrp="1"/>
          </p:cNvGraphicFramePr>
          <p:nvPr/>
        </p:nvGraphicFramePr>
        <p:xfrm>
          <a:off x="838200" y="3378201"/>
          <a:ext cx="4953000" cy="1651000"/>
        </p:xfrm>
        <a:graphic>
          <a:graphicData uri="http://schemas.openxmlformats.org/drawingml/2006/table">
            <a:tbl>
              <a:tblPr firstRow="1" bandRow="1">
                <a:tableStyleId>{616DA210-FB5B-4158-B5E0-FEB733F419BA}</a:tableStyleId>
              </a:tblPr>
              <a:tblGrid>
                <a:gridCol w="1807176">
                  <a:extLst>
                    <a:ext uri="{9D8B030D-6E8A-4147-A177-3AD203B41FA5}">
                      <a16:colId xmlns:a16="http://schemas.microsoft.com/office/drawing/2014/main" val="20000"/>
                    </a:ext>
                  </a:extLst>
                </a:gridCol>
                <a:gridCol w="1360959">
                  <a:extLst>
                    <a:ext uri="{9D8B030D-6E8A-4147-A177-3AD203B41FA5}">
                      <a16:colId xmlns:a16="http://schemas.microsoft.com/office/drawing/2014/main" val="20001"/>
                    </a:ext>
                  </a:extLst>
                </a:gridCol>
                <a:gridCol w="1784865">
                  <a:extLst>
                    <a:ext uri="{9D8B030D-6E8A-4147-A177-3AD203B41FA5}">
                      <a16:colId xmlns:a16="http://schemas.microsoft.com/office/drawing/2014/main" val="20002"/>
                    </a:ext>
                  </a:extLst>
                </a:gridCol>
              </a:tblGrid>
              <a:tr h="370840">
                <a:tc>
                  <a:txBody>
                    <a:bodyPr/>
                    <a:lstStyle/>
                    <a:p>
                      <a:pPr algn="ctr"/>
                      <a:r>
                        <a:rPr lang="en-US" dirty="0"/>
                        <a:t>S#</a:t>
                      </a:r>
                    </a:p>
                  </a:txBody>
                  <a:tcPr anchor="ctr"/>
                </a:tc>
                <a:tc>
                  <a:txBody>
                    <a:bodyPr/>
                    <a:lstStyle/>
                    <a:p>
                      <a:pPr algn="ctr"/>
                      <a:r>
                        <a:rPr lang="en-US" dirty="0"/>
                        <a:t>Name</a:t>
                      </a:r>
                    </a:p>
                  </a:txBody>
                  <a:tcPr anchor="ctr"/>
                </a:tc>
                <a:tc>
                  <a:txBody>
                    <a:bodyPr/>
                    <a:lstStyle/>
                    <a:p>
                      <a:pPr algn="ctr"/>
                      <a:r>
                        <a:rPr lang="en-US" dirty="0"/>
                        <a:t>Telephones</a:t>
                      </a:r>
                    </a:p>
                  </a:txBody>
                  <a:tcPr anchor="ctr"/>
                </a:tc>
                <a:extLst>
                  <a:ext uri="{0D108BD9-81ED-4DB2-BD59-A6C34878D82A}">
                    <a16:rowId xmlns:a16="http://schemas.microsoft.com/office/drawing/2014/main" val="10000"/>
                  </a:ext>
                </a:extLst>
              </a:tr>
              <a:tr h="370840">
                <a:tc>
                  <a:txBody>
                    <a:bodyPr/>
                    <a:lstStyle/>
                    <a:p>
                      <a:pPr algn="ctr"/>
                      <a:r>
                        <a:rPr lang="fa-IR" dirty="0"/>
                        <a:t>7801</a:t>
                      </a:r>
                      <a:endParaRPr lang="en-US" dirty="0"/>
                    </a:p>
                  </a:txBody>
                  <a:tcPr/>
                </a:tc>
                <a:tc>
                  <a:txBody>
                    <a:bodyPr/>
                    <a:lstStyle/>
                    <a:p>
                      <a:pPr algn="ctr"/>
                      <a:r>
                        <a:rPr lang="fa-IR" dirty="0"/>
                        <a:t>آرش</a:t>
                      </a:r>
                      <a:endParaRPr lang="en-US" dirty="0"/>
                    </a:p>
                  </a:txBody>
                  <a:tcPr/>
                </a:tc>
                <a:tc>
                  <a:txBody>
                    <a:bodyPr/>
                    <a:lstStyle/>
                    <a:p>
                      <a:pPr algn="ctr" rtl="1"/>
                      <a:r>
                        <a:rPr lang="fa-IR" dirty="0"/>
                        <a:t>6262778-0311</a:t>
                      </a:r>
                    </a:p>
                    <a:p>
                      <a:pPr algn="ctr" rtl="1"/>
                      <a:r>
                        <a:rPr lang="fa-IR" dirty="0"/>
                        <a:t>5234-311-0913</a:t>
                      </a:r>
                      <a:endParaRPr lang="en-US" dirty="0"/>
                    </a:p>
                  </a:txBody>
                  <a:tcPr/>
                </a:tc>
                <a:extLst>
                  <a:ext uri="{0D108BD9-81ED-4DB2-BD59-A6C34878D82A}">
                    <a16:rowId xmlns:a16="http://schemas.microsoft.com/office/drawing/2014/main" val="10001"/>
                  </a:ext>
                </a:extLst>
              </a:tr>
              <a:tr h="370840">
                <a:tc>
                  <a:txBody>
                    <a:bodyPr/>
                    <a:lstStyle/>
                    <a:p>
                      <a:pPr algn="ctr"/>
                      <a:r>
                        <a:rPr lang="fa-IR" dirty="0"/>
                        <a:t>7902</a:t>
                      </a:r>
                      <a:endParaRPr lang="en-US" dirty="0"/>
                    </a:p>
                  </a:txBody>
                  <a:tcPr/>
                </a:tc>
                <a:tc>
                  <a:txBody>
                    <a:bodyPr/>
                    <a:lstStyle/>
                    <a:p>
                      <a:pPr algn="ctr"/>
                      <a:r>
                        <a:rPr lang="fa-IR" dirty="0"/>
                        <a:t>عسل</a:t>
                      </a:r>
                      <a:endParaRPr lang="en-US" dirty="0"/>
                    </a:p>
                  </a:txBody>
                  <a:tcPr/>
                </a:tc>
                <a:tc>
                  <a:txBody>
                    <a:bodyPr/>
                    <a:lstStyle/>
                    <a:p>
                      <a:pPr algn="ctr"/>
                      <a:r>
                        <a:rPr lang="fa-IR" dirty="0"/>
                        <a:t>2956677-021</a:t>
                      </a:r>
                    </a:p>
                    <a:p>
                      <a:pPr algn="ctr"/>
                      <a:r>
                        <a:rPr lang="fa-IR" dirty="0"/>
                        <a:t>4532-314-0912</a:t>
                      </a:r>
                      <a:endParaRPr lang="en-US" dirty="0"/>
                    </a:p>
                  </a:txBody>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7789856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387" name="Title 1"/>
          <p:cNvSpPr>
            <a:spLocks noGrp="1"/>
          </p:cNvSpPr>
          <p:nvPr>
            <p:ph type="title"/>
          </p:nvPr>
        </p:nvSpPr>
        <p:spPr>
          <a:xfrm>
            <a:off x="304800" y="38099"/>
            <a:ext cx="8229600" cy="1143000"/>
          </a:xfrm>
        </p:spPr>
        <p:txBody>
          <a:bodyPr anchor="ctr"/>
          <a:lstStyle/>
          <a:p>
            <a:pPr algn="ctr" rtl="1"/>
            <a:r>
              <a:rPr lang="fa-IR" altLang="en-US" sz="4400" dirty="0">
                <a:latin typeface="Titr" pitchFamily="2" charset="-78"/>
                <a:ea typeface="2  Titr"/>
                <a:cs typeface="2  Titr"/>
              </a:rPr>
              <a:t>جدول نرمال ۱</a:t>
            </a:r>
            <a:endParaRPr lang="en-US" altLang="en-US" sz="4400" b="1" dirty="0">
              <a:latin typeface="Titr" pitchFamily="2" charset="-78"/>
              <a:ea typeface="2  Titr"/>
              <a:cs typeface="2  Titr"/>
            </a:endParaRPr>
          </a:p>
        </p:txBody>
      </p:sp>
      <p:sp>
        <p:nvSpPr>
          <p:cNvPr id="144386" name="Content Placeholder 2"/>
          <p:cNvSpPr>
            <a:spLocks noGrp="1"/>
          </p:cNvSpPr>
          <p:nvPr>
            <p:ph idx="1"/>
          </p:nvPr>
        </p:nvSpPr>
        <p:spPr>
          <a:xfrm>
            <a:off x="657514" y="1123950"/>
            <a:ext cx="8077200" cy="2971799"/>
          </a:xfrm>
        </p:spPr>
        <p:txBody>
          <a:bodyPr>
            <a:normAutofit/>
          </a:bodyPr>
          <a:lstStyle/>
          <a:p>
            <a:pPr algn="just" rtl="1"/>
            <a:r>
              <a:rPr lang="fa-IR" altLang="en-US" sz="2400" dirty="0">
                <a:ea typeface="Majalla UI"/>
                <a:cs typeface="B Nazanin" panose="00000400000000000000" pitchFamily="2" charset="-78"/>
              </a:rPr>
              <a:t>یک جدول نرمال1 است اگر در برخورد هر سطر با هر ستون به یک مقدار تجزیه ناپذیر برسیم</a:t>
            </a:r>
          </a:p>
          <a:p>
            <a:pPr algn="just" rtl="1"/>
            <a:r>
              <a:rPr lang="fa-IR" altLang="en-US" sz="2400" dirty="0">
                <a:ea typeface="Majalla UI"/>
                <a:cs typeface="B Nazanin" panose="00000400000000000000" pitchFamily="2" charset="-78"/>
              </a:rPr>
              <a:t>برای آنکه جدول آنرمال </a:t>
            </a:r>
            <a:r>
              <a:rPr lang="en-US" altLang="en-US" sz="2400" dirty="0">
                <a:cs typeface="B Nazanin" panose="00000400000000000000" pitchFamily="2" charset="-78"/>
              </a:rPr>
              <a:t>Student</a:t>
            </a:r>
            <a:r>
              <a:rPr lang="fa-IR" altLang="en-US" sz="2400" dirty="0">
                <a:ea typeface="Majalla UI"/>
                <a:cs typeface="B Nazanin" panose="00000400000000000000" pitchFamily="2" charset="-78"/>
              </a:rPr>
              <a:t> را به نرمال 1</a:t>
            </a:r>
            <a:r>
              <a:rPr lang="en-US" altLang="en-US" sz="2400" dirty="0">
                <a:cs typeface="B Nazanin" panose="00000400000000000000" pitchFamily="2" charset="-78"/>
              </a:rPr>
              <a:t> </a:t>
            </a:r>
            <a:r>
              <a:rPr lang="fa-IR" altLang="en-US" sz="2400" dirty="0">
                <a:ea typeface="Majalla UI"/>
                <a:cs typeface="B Nazanin" panose="00000400000000000000" pitchFamily="2" charset="-78"/>
              </a:rPr>
              <a:t>تبدیل کنیم، لازم است مقادیر ویژگیهای </a:t>
            </a:r>
            <a:r>
              <a:rPr lang="en-US" altLang="en-US" sz="2400" dirty="0">
                <a:cs typeface="B Nazanin" panose="00000400000000000000" pitchFamily="2" charset="-78"/>
              </a:rPr>
              <a:t>St#</a:t>
            </a:r>
            <a:r>
              <a:rPr lang="fa-IR" altLang="en-US" sz="2400" dirty="0">
                <a:ea typeface="Majalla UI"/>
                <a:cs typeface="B Nazanin" panose="00000400000000000000" pitchFamily="2" charset="-78"/>
              </a:rPr>
              <a:t> و </a:t>
            </a:r>
            <a:r>
              <a:rPr lang="en-US" altLang="en-US" sz="2400" dirty="0">
                <a:cs typeface="B Nazanin" panose="00000400000000000000" pitchFamily="2" charset="-78"/>
              </a:rPr>
              <a:t>Name</a:t>
            </a:r>
            <a:r>
              <a:rPr lang="fa-IR" altLang="en-US" sz="2400" dirty="0">
                <a:ea typeface="Majalla UI"/>
                <a:cs typeface="B Nazanin" panose="00000400000000000000" pitchFamily="2" charset="-78"/>
              </a:rPr>
              <a:t> را به ازاء هر شماره تلفن تکرار کنیم</a:t>
            </a:r>
          </a:p>
        </p:txBody>
      </p:sp>
      <p:sp>
        <p:nvSpPr>
          <p:cNvPr id="3" name="Slide Number Placeholder 2">
            <a:extLst>
              <a:ext uri="{FF2B5EF4-FFF2-40B4-BE49-F238E27FC236}">
                <a16:creationId xmlns:a16="http://schemas.microsoft.com/office/drawing/2014/main" id="{EBC4EB06-5C46-42D1-ABCD-EA1205A911A9}"/>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13</a:t>
            </a:fld>
            <a:endParaRPr lang="en-US"/>
          </a:p>
        </p:txBody>
      </p:sp>
      <p:graphicFrame>
        <p:nvGraphicFramePr>
          <p:cNvPr id="5" name="Table 4"/>
          <p:cNvGraphicFramePr>
            <a:graphicFrameLocks noGrp="1"/>
          </p:cNvGraphicFramePr>
          <p:nvPr/>
        </p:nvGraphicFramePr>
        <p:xfrm>
          <a:off x="838200" y="4038600"/>
          <a:ext cx="4953000" cy="1854200"/>
        </p:xfrm>
        <a:graphic>
          <a:graphicData uri="http://schemas.openxmlformats.org/drawingml/2006/table">
            <a:tbl>
              <a:tblPr firstRow="1" bandRow="1">
                <a:tableStyleId>{616DA210-FB5B-4158-B5E0-FEB733F419BA}</a:tableStyleId>
              </a:tblPr>
              <a:tblGrid>
                <a:gridCol w="1807176">
                  <a:extLst>
                    <a:ext uri="{9D8B030D-6E8A-4147-A177-3AD203B41FA5}">
                      <a16:colId xmlns:a16="http://schemas.microsoft.com/office/drawing/2014/main" val="20000"/>
                    </a:ext>
                  </a:extLst>
                </a:gridCol>
                <a:gridCol w="1360959">
                  <a:extLst>
                    <a:ext uri="{9D8B030D-6E8A-4147-A177-3AD203B41FA5}">
                      <a16:colId xmlns:a16="http://schemas.microsoft.com/office/drawing/2014/main" val="20001"/>
                    </a:ext>
                  </a:extLst>
                </a:gridCol>
                <a:gridCol w="1784865">
                  <a:extLst>
                    <a:ext uri="{9D8B030D-6E8A-4147-A177-3AD203B41FA5}">
                      <a16:colId xmlns:a16="http://schemas.microsoft.com/office/drawing/2014/main" val="20002"/>
                    </a:ext>
                  </a:extLst>
                </a:gridCol>
              </a:tblGrid>
              <a:tr h="370840">
                <a:tc>
                  <a:txBody>
                    <a:bodyPr/>
                    <a:lstStyle/>
                    <a:p>
                      <a:pPr algn="ctr"/>
                      <a:r>
                        <a:rPr lang="en-US" dirty="0"/>
                        <a:t>S#</a:t>
                      </a:r>
                    </a:p>
                  </a:txBody>
                  <a:tcPr anchor="ctr"/>
                </a:tc>
                <a:tc>
                  <a:txBody>
                    <a:bodyPr/>
                    <a:lstStyle/>
                    <a:p>
                      <a:pPr algn="ctr"/>
                      <a:r>
                        <a:rPr lang="en-US" dirty="0"/>
                        <a:t>Name</a:t>
                      </a:r>
                    </a:p>
                  </a:txBody>
                  <a:tcPr anchor="ctr"/>
                </a:tc>
                <a:tc>
                  <a:txBody>
                    <a:bodyPr/>
                    <a:lstStyle/>
                    <a:p>
                      <a:pPr algn="ctr"/>
                      <a:r>
                        <a:rPr lang="en-US" dirty="0"/>
                        <a:t>Telephones</a:t>
                      </a:r>
                    </a:p>
                  </a:txBody>
                  <a:tcPr anchor="ctr"/>
                </a:tc>
                <a:extLst>
                  <a:ext uri="{0D108BD9-81ED-4DB2-BD59-A6C34878D82A}">
                    <a16:rowId xmlns:a16="http://schemas.microsoft.com/office/drawing/2014/main" val="10000"/>
                  </a:ext>
                </a:extLst>
              </a:tr>
              <a:tr h="370840">
                <a:tc>
                  <a:txBody>
                    <a:bodyPr/>
                    <a:lstStyle/>
                    <a:p>
                      <a:pPr algn="ctr"/>
                      <a:r>
                        <a:rPr lang="fa-IR" dirty="0"/>
                        <a:t>7801</a:t>
                      </a:r>
                      <a:endParaRPr lang="en-US" dirty="0"/>
                    </a:p>
                  </a:txBody>
                  <a:tcPr/>
                </a:tc>
                <a:tc>
                  <a:txBody>
                    <a:bodyPr/>
                    <a:lstStyle/>
                    <a:p>
                      <a:pPr algn="ctr"/>
                      <a:r>
                        <a:rPr lang="fa-IR" dirty="0"/>
                        <a:t>آرش</a:t>
                      </a:r>
                      <a:endParaRPr lang="en-US" dirty="0"/>
                    </a:p>
                  </a:txBody>
                  <a:tcPr/>
                </a:tc>
                <a:tc>
                  <a:txBody>
                    <a:bodyPr/>
                    <a:lstStyle/>
                    <a:p>
                      <a:pPr algn="ctr" rtl="1"/>
                      <a:r>
                        <a:rPr lang="fa-IR" dirty="0"/>
                        <a:t>6262778-0311</a:t>
                      </a:r>
                    </a:p>
                  </a:txBody>
                  <a:tcPr/>
                </a:tc>
                <a:extLst>
                  <a:ext uri="{0D108BD9-81ED-4DB2-BD59-A6C34878D82A}">
                    <a16:rowId xmlns:a16="http://schemas.microsoft.com/office/drawing/2014/main" val="10001"/>
                  </a:ext>
                </a:extLst>
              </a:tr>
              <a:tr h="370840">
                <a:tc>
                  <a:txBody>
                    <a:bodyPr/>
                    <a:lstStyle/>
                    <a:p>
                      <a:pPr algn="ctr"/>
                      <a:r>
                        <a:rPr lang="fa-IR" dirty="0"/>
                        <a:t>7801</a:t>
                      </a:r>
                      <a:endParaRPr lang="en-US" dirty="0"/>
                    </a:p>
                  </a:txBody>
                  <a:tcPr/>
                </a:tc>
                <a:tc>
                  <a:txBody>
                    <a:bodyPr/>
                    <a:lstStyle/>
                    <a:p>
                      <a:pPr algn="ctr"/>
                      <a:r>
                        <a:rPr lang="fa-IR" dirty="0"/>
                        <a:t>آرش</a:t>
                      </a:r>
                      <a:endParaRPr lang="en-US" dirty="0"/>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dirty="0"/>
                        <a:t>5234-311-0913</a:t>
                      </a:r>
                      <a:endParaRPr lang="en-US" dirty="0"/>
                    </a:p>
                  </a:txBody>
                  <a:tcPr/>
                </a:tc>
                <a:extLst>
                  <a:ext uri="{0D108BD9-81ED-4DB2-BD59-A6C34878D82A}">
                    <a16:rowId xmlns:a16="http://schemas.microsoft.com/office/drawing/2014/main" val="10002"/>
                  </a:ext>
                </a:extLst>
              </a:tr>
              <a:tr h="370840">
                <a:tc>
                  <a:txBody>
                    <a:bodyPr/>
                    <a:lstStyle/>
                    <a:p>
                      <a:pPr algn="ctr"/>
                      <a:r>
                        <a:rPr lang="fa-IR" dirty="0"/>
                        <a:t>7902</a:t>
                      </a:r>
                      <a:endParaRPr lang="en-US" dirty="0"/>
                    </a:p>
                  </a:txBody>
                  <a:tcPr/>
                </a:tc>
                <a:tc>
                  <a:txBody>
                    <a:bodyPr/>
                    <a:lstStyle/>
                    <a:p>
                      <a:pPr algn="ctr"/>
                      <a:r>
                        <a:rPr lang="fa-IR" dirty="0"/>
                        <a:t>عسل</a:t>
                      </a:r>
                      <a:endParaRPr lang="en-US" dirty="0"/>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dirty="0"/>
                        <a:t>2956677-021</a:t>
                      </a:r>
                    </a:p>
                  </a:txBody>
                  <a:tcPr/>
                </a:tc>
                <a:extLst>
                  <a:ext uri="{0D108BD9-81ED-4DB2-BD59-A6C34878D82A}">
                    <a16:rowId xmlns:a16="http://schemas.microsoft.com/office/drawing/2014/main" val="10003"/>
                  </a:ext>
                </a:extLst>
              </a:tr>
              <a:tr h="370840">
                <a:tc>
                  <a:txBody>
                    <a:bodyPr/>
                    <a:lstStyle/>
                    <a:p>
                      <a:pPr algn="ctr"/>
                      <a:r>
                        <a:rPr lang="fa-IR" dirty="0"/>
                        <a:t>7902</a:t>
                      </a:r>
                      <a:endParaRPr lang="en-US" dirty="0"/>
                    </a:p>
                  </a:txBody>
                  <a:tcPr/>
                </a:tc>
                <a:tc>
                  <a:txBody>
                    <a:bodyPr/>
                    <a:lstStyle/>
                    <a:p>
                      <a:pPr algn="ctr"/>
                      <a:r>
                        <a:rPr lang="fa-IR" dirty="0"/>
                        <a:t>عسل</a:t>
                      </a:r>
                      <a:endParaRPr lang="en-US" dirty="0"/>
                    </a:p>
                  </a:txBody>
                  <a:tcPr/>
                </a:tc>
                <a:tc>
                  <a:txBody>
                    <a:bodyPr/>
                    <a:lstStyle/>
                    <a:p>
                      <a:pPr algn="ctr"/>
                      <a:r>
                        <a:rPr lang="fa-IR" dirty="0"/>
                        <a:t>4532-314-0912</a:t>
                      </a:r>
                      <a:endParaRPr lang="en-US" dirty="0"/>
                    </a:p>
                  </a:txBody>
                  <a:tcPr/>
                </a:tc>
                <a:extLst>
                  <a:ext uri="{0D108BD9-81ED-4DB2-BD59-A6C34878D82A}">
                    <a16:rowId xmlns:a16="http://schemas.microsoft.com/office/drawing/2014/main" val="10004"/>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0813B907-48AA-4289-A3C6-4D79FD134728}"/>
              </a:ext>
            </a:extLst>
          </p:cNvPr>
          <p:cNvSpPr>
            <a:spLocks noGrp="1"/>
          </p:cNvSpPr>
          <p:nvPr>
            <p:ph type="title"/>
          </p:nvPr>
        </p:nvSpPr>
        <p:spPr/>
        <p:txBody>
          <a:bodyPr>
            <a:noAutofit/>
          </a:bodyPr>
          <a:lstStyle/>
          <a:p>
            <a:pPr rtl="1"/>
            <a:r>
              <a:rPr lang="fa-IR" altLang="en-US" sz="2800" dirty="0">
                <a:latin typeface="Titr" pitchFamily="2" charset="-78"/>
                <a:ea typeface="2  Titr"/>
                <a:cs typeface="2  Titr"/>
              </a:rPr>
              <a:t>جدول نرمال ۱</a:t>
            </a:r>
            <a:endParaRPr lang="en-US" sz="2800" dirty="0">
              <a:solidFill>
                <a:schemeClr val="tx1"/>
              </a:solidFill>
              <a:cs typeface="B Nazanin" panose="00000400000000000000" pitchFamily="2" charset="-78"/>
            </a:endParaRPr>
          </a:p>
        </p:txBody>
      </p:sp>
      <p:sp>
        <p:nvSpPr>
          <p:cNvPr id="2" name="Content Placeholder 1">
            <a:extLst>
              <a:ext uri="{FF2B5EF4-FFF2-40B4-BE49-F238E27FC236}">
                <a16:creationId xmlns:a16="http://schemas.microsoft.com/office/drawing/2014/main" id="{383B8EF2-6006-486D-98B3-19EF5B698698}"/>
              </a:ext>
            </a:extLst>
          </p:cNvPr>
          <p:cNvSpPr>
            <a:spLocks noGrp="1"/>
          </p:cNvSpPr>
          <p:nvPr>
            <p:ph idx="1"/>
          </p:nvPr>
        </p:nvSpPr>
        <p:spPr/>
        <p:txBody>
          <a:bodyPr/>
          <a:lstStyle/>
          <a:p>
            <a:pPr algn="r" rtl="1"/>
            <a:r>
              <a:rPr lang="fa-IR" sz="3200" b="0" dirty="0">
                <a:solidFill>
                  <a:schemeClr val="tx1"/>
                </a:solidFill>
                <a:cs typeface="B Nazanin" panose="00000400000000000000" pitchFamily="2" charset="-78"/>
              </a:rPr>
              <a:t>مثال. جدول </a:t>
            </a:r>
            <a:r>
              <a:rPr lang="en-US" sz="3200" b="0" dirty="0">
                <a:solidFill>
                  <a:schemeClr val="tx1"/>
                </a:solidFill>
                <a:cs typeface="B Nazanin" panose="00000400000000000000" pitchFamily="2" charset="-78"/>
              </a:rPr>
              <a:t>ALL_SALES </a:t>
            </a:r>
            <a:r>
              <a:rPr lang="fa-IR" sz="3200" b="0" dirty="0">
                <a:solidFill>
                  <a:schemeClr val="tx1"/>
                </a:solidFill>
                <a:cs typeface="B Nazanin" panose="00000400000000000000" pitchFamily="2" charset="-78"/>
              </a:rPr>
              <a:t>که اطلاعات فروش را نگهداری می کند درنظر بگيريد. ایا در فرم نرمال اول هست ؟</a:t>
            </a:r>
            <a:endParaRPr lang="en-US" sz="3200" dirty="0"/>
          </a:p>
        </p:txBody>
      </p:sp>
      <p:sp>
        <p:nvSpPr>
          <p:cNvPr id="3" name="Slide Number Placeholder 2">
            <a:extLst>
              <a:ext uri="{FF2B5EF4-FFF2-40B4-BE49-F238E27FC236}">
                <a16:creationId xmlns:a16="http://schemas.microsoft.com/office/drawing/2014/main" id="{E7F38CCD-35B9-4443-9F8D-958C58E80E37}"/>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14</a:t>
            </a:fld>
            <a:endParaRPr lang="en-US"/>
          </a:p>
        </p:txBody>
      </p:sp>
      <p:graphicFrame>
        <p:nvGraphicFramePr>
          <p:cNvPr id="6" name="Table 5">
            <a:extLst>
              <a:ext uri="{FF2B5EF4-FFF2-40B4-BE49-F238E27FC236}">
                <a16:creationId xmlns:a16="http://schemas.microsoft.com/office/drawing/2014/main" id="{182B29F0-C134-4007-9D00-90827D3CC162}"/>
              </a:ext>
            </a:extLst>
          </p:cNvPr>
          <p:cNvGraphicFramePr>
            <a:graphicFrameLocks noGrp="1"/>
          </p:cNvGraphicFramePr>
          <p:nvPr/>
        </p:nvGraphicFramePr>
        <p:xfrm>
          <a:off x="81497" y="2894578"/>
          <a:ext cx="8981005" cy="2682351"/>
        </p:xfrm>
        <a:graphic>
          <a:graphicData uri="http://schemas.openxmlformats.org/drawingml/2006/table">
            <a:tbl>
              <a:tblPr firstRow="1" firstCol="1" bandRow="1">
                <a:tableStyleId>{616DA210-FB5B-4158-B5E0-FEB733F419BA}</a:tableStyleId>
              </a:tblPr>
              <a:tblGrid>
                <a:gridCol w="586937">
                  <a:extLst>
                    <a:ext uri="{9D8B030D-6E8A-4147-A177-3AD203B41FA5}">
                      <a16:colId xmlns:a16="http://schemas.microsoft.com/office/drawing/2014/main" val="234041042"/>
                    </a:ext>
                  </a:extLst>
                </a:gridCol>
                <a:gridCol w="940021">
                  <a:extLst>
                    <a:ext uri="{9D8B030D-6E8A-4147-A177-3AD203B41FA5}">
                      <a16:colId xmlns:a16="http://schemas.microsoft.com/office/drawing/2014/main" val="3415118693"/>
                    </a:ext>
                  </a:extLst>
                </a:gridCol>
                <a:gridCol w="922588">
                  <a:extLst>
                    <a:ext uri="{9D8B030D-6E8A-4147-A177-3AD203B41FA5}">
                      <a16:colId xmlns:a16="http://schemas.microsoft.com/office/drawing/2014/main" val="3881982512"/>
                    </a:ext>
                  </a:extLst>
                </a:gridCol>
                <a:gridCol w="461294">
                  <a:extLst>
                    <a:ext uri="{9D8B030D-6E8A-4147-A177-3AD203B41FA5}">
                      <a16:colId xmlns:a16="http://schemas.microsoft.com/office/drawing/2014/main" val="2484215510"/>
                    </a:ext>
                  </a:extLst>
                </a:gridCol>
                <a:gridCol w="682078">
                  <a:extLst>
                    <a:ext uri="{9D8B030D-6E8A-4147-A177-3AD203B41FA5}">
                      <a16:colId xmlns:a16="http://schemas.microsoft.com/office/drawing/2014/main" val="1297653461"/>
                    </a:ext>
                  </a:extLst>
                </a:gridCol>
                <a:gridCol w="1156146">
                  <a:extLst>
                    <a:ext uri="{9D8B030D-6E8A-4147-A177-3AD203B41FA5}">
                      <a16:colId xmlns:a16="http://schemas.microsoft.com/office/drawing/2014/main" val="3484224265"/>
                    </a:ext>
                  </a:extLst>
                </a:gridCol>
                <a:gridCol w="847841">
                  <a:extLst>
                    <a:ext uri="{9D8B030D-6E8A-4147-A177-3AD203B41FA5}">
                      <a16:colId xmlns:a16="http://schemas.microsoft.com/office/drawing/2014/main" val="3482110401"/>
                    </a:ext>
                  </a:extLst>
                </a:gridCol>
                <a:gridCol w="770764">
                  <a:extLst>
                    <a:ext uri="{9D8B030D-6E8A-4147-A177-3AD203B41FA5}">
                      <a16:colId xmlns:a16="http://schemas.microsoft.com/office/drawing/2014/main" val="1813858957"/>
                    </a:ext>
                  </a:extLst>
                </a:gridCol>
                <a:gridCol w="770764">
                  <a:extLst>
                    <a:ext uri="{9D8B030D-6E8A-4147-A177-3AD203B41FA5}">
                      <a16:colId xmlns:a16="http://schemas.microsoft.com/office/drawing/2014/main" val="1355875302"/>
                    </a:ext>
                  </a:extLst>
                </a:gridCol>
                <a:gridCol w="1310300">
                  <a:extLst>
                    <a:ext uri="{9D8B030D-6E8A-4147-A177-3AD203B41FA5}">
                      <a16:colId xmlns:a16="http://schemas.microsoft.com/office/drawing/2014/main" val="1675925667"/>
                    </a:ext>
                  </a:extLst>
                </a:gridCol>
                <a:gridCol w="532272">
                  <a:extLst>
                    <a:ext uri="{9D8B030D-6E8A-4147-A177-3AD203B41FA5}">
                      <a16:colId xmlns:a16="http://schemas.microsoft.com/office/drawing/2014/main" val="236614085"/>
                    </a:ext>
                  </a:extLst>
                </a:gridCol>
              </a:tblGrid>
              <a:tr h="531066">
                <a:tc>
                  <a:txBody>
                    <a:bodyPr/>
                    <a:lstStyle/>
                    <a:p>
                      <a:pPr marL="0" marR="0">
                        <a:lnSpc>
                          <a:spcPct val="107000"/>
                        </a:lnSpc>
                        <a:spcBef>
                          <a:spcPts val="0"/>
                        </a:spcBef>
                        <a:spcAft>
                          <a:spcPts val="0"/>
                        </a:spcAft>
                      </a:pPr>
                      <a:r>
                        <a:rPr lang="en-US" sz="1100" dirty="0">
                          <a:solidFill>
                            <a:schemeClr val="tx2">
                              <a:lumMod val="75000"/>
                            </a:schemeClr>
                          </a:solidFill>
                          <a:effectLst/>
                        </a:rPr>
                        <a:t>Sale 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SaleDate</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ProductNo</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Qty</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Amount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Salesrep</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CustomerNo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First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Last</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Address</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CreditLimit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378874611"/>
                  </a:ext>
                </a:extLst>
              </a:tr>
              <a:tr h="351027">
                <a:tc>
                  <a:txBody>
                    <a:bodyPr/>
                    <a:lstStyle/>
                    <a:p>
                      <a:pPr marL="0" marR="0">
                        <a:lnSpc>
                          <a:spcPct val="107000"/>
                        </a:lnSpc>
                        <a:spcBef>
                          <a:spcPts val="0"/>
                        </a:spcBef>
                        <a:spcAft>
                          <a:spcPts val="0"/>
                        </a:spcAft>
                      </a:pPr>
                      <a:r>
                        <a:rPr lang="en-US" sz="1050" b="1" dirty="0">
                          <a:effectLst/>
                        </a:rPr>
                        <a:t>12345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Aug 12 2002</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23.95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Dave Williams</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4649-4673</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Richard</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Johnston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14 West Avenue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1000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720734119"/>
                  </a:ext>
                </a:extLst>
              </a:tr>
              <a:tr h="351027">
                <a:tc>
                  <a:txBody>
                    <a:bodyPr/>
                    <a:lstStyle/>
                    <a:p>
                      <a:pPr marL="0" marR="0">
                        <a:lnSpc>
                          <a:spcPct val="107000"/>
                        </a:lnSpc>
                        <a:spcBef>
                          <a:spcPts val="0"/>
                        </a:spcBef>
                        <a:spcAft>
                          <a:spcPts val="0"/>
                        </a:spcAft>
                      </a:pPr>
                      <a:r>
                        <a:rPr lang="en-US" sz="1050" b="1">
                          <a:effectLst/>
                        </a:rPr>
                        <a:t>12346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12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AQX88916</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167.65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1113-7741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Wayne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Jones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 York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020454084"/>
                  </a:ext>
                </a:extLst>
              </a:tr>
              <a:tr h="351027">
                <a:tc>
                  <a:txBody>
                    <a:bodyPr/>
                    <a:lstStyle/>
                    <a:p>
                      <a:pPr marL="0" marR="0">
                        <a:lnSpc>
                          <a:spcPct val="107000"/>
                        </a:lnSpc>
                        <a:spcBef>
                          <a:spcPts val="0"/>
                        </a:spcBef>
                        <a:spcAft>
                          <a:spcPts val="0"/>
                        </a:spcAft>
                      </a:pPr>
                      <a:r>
                        <a:rPr lang="en-US" sz="1050" b="1">
                          <a:effectLst/>
                        </a:rPr>
                        <a:t>12347</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AHL46785</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3705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5001.75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Li Qing</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995 Forth Street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241532585"/>
                  </a:ext>
                </a:extLst>
              </a:tr>
              <a:tr h="249059">
                <a:tc>
                  <a:txBody>
                    <a:bodyPr/>
                    <a:lstStyle/>
                    <a:p>
                      <a:pPr marL="0" marR="0">
                        <a:lnSpc>
                          <a:spcPct val="107000"/>
                        </a:lnSpc>
                        <a:spcBef>
                          <a:spcPts val="0"/>
                        </a:spcBef>
                        <a:spcAft>
                          <a:spcPts val="0"/>
                        </a:spcAft>
                      </a:pPr>
                      <a:r>
                        <a:rPr lang="en-US" sz="1050" b="1">
                          <a:effectLst/>
                        </a:rPr>
                        <a:t>12348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118.5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Sara Thompson</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gn="ctr">
                        <a:lnSpc>
                          <a:spcPct val="107000"/>
                        </a:lnSpc>
                        <a:spcBef>
                          <a:spcPts val="0"/>
                        </a:spcBef>
                        <a:spcAft>
                          <a:spcPts val="0"/>
                        </a:spcAft>
                      </a:pPr>
                      <a:r>
                        <a:rPr lang="en-US" sz="1050" b="1" dirty="0">
                          <a:effectLst/>
                        </a:rPr>
                        <a:t> &lt;</a:t>
                      </a:r>
                      <a:r>
                        <a:rPr lang="en-US" sz="1050" b="1" i="1" dirty="0">
                          <a:effectLst/>
                        </a:rPr>
                        <a:t>null&gt;</a:t>
                      </a:r>
                      <a:endParaRPr lang="en-US" sz="1050" b="1" i="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9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897738917"/>
                  </a:ext>
                </a:extLst>
              </a:tr>
              <a:tr h="249059">
                <a:tc>
                  <a:txBody>
                    <a:bodyPr/>
                    <a:lstStyle/>
                    <a:p>
                      <a:pPr marL="0" marR="0">
                        <a:lnSpc>
                          <a:spcPct val="107000"/>
                        </a:lnSpc>
                        <a:spcBef>
                          <a:spcPts val="0"/>
                        </a:spcBef>
                        <a:spcAft>
                          <a:spcPts val="0"/>
                        </a:spcAft>
                      </a:pPr>
                      <a:r>
                        <a:rPr lang="en-US" sz="1050" b="1">
                          <a:effectLst/>
                        </a:rPr>
                        <a:t>12349</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940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2227.8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 Forth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176984474"/>
                  </a:ext>
                </a:extLst>
              </a:tr>
              <a:tr h="249059">
                <a:tc>
                  <a:txBody>
                    <a:bodyPr/>
                    <a:lstStyle/>
                    <a:p>
                      <a:pPr marL="0" marR="0">
                        <a:lnSpc>
                          <a:spcPct val="107000"/>
                        </a:lnSpc>
                        <a:spcBef>
                          <a:spcPts val="0"/>
                        </a:spcBef>
                        <a:spcAft>
                          <a:spcPts val="0"/>
                        </a:spcAft>
                      </a:pPr>
                      <a:r>
                        <a:rPr lang="en-US" sz="1050" b="1">
                          <a:effectLst/>
                        </a:rPr>
                        <a:t>12350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7671-3496</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Antonio</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Gonzales</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55B Granary Lane</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dirty="0">
                          <a:ln>
                            <a:noFill/>
                          </a:ln>
                          <a:solidFill>
                            <a:srgbClr val="000000"/>
                          </a:solidFill>
                          <a:effectLst/>
                          <a:uLnTx/>
                          <a:uFillTx/>
                          <a:latin typeface="Helvetica"/>
                          <a:ea typeface="+mn-ea"/>
                          <a:cs typeface="+mn-cs"/>
                        </a:rPr>
                        <a:t>&lt;</a:t>
                      </a:r>
                      <a:r>
                        <a:rPr kumimoji="0" lang="en-US" sz="900" b="1" i="1" u="none" strike="noStrike" kern="1200" cap="none" spc="0" normalizeH="0" baseline="0" noProof="0" dirty="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643762065"/>
                  </a:ext>
                </a:extLst>
              </a:tr>
              <a:tr h="351027">
                <a:tc>
                  <a:txBody>
                    <a:bodyPr/>
                    <a:lstStyle/>
                    <a:p>
                      <a:pPr marL="0" marR="0">
                        <a:lnSpc>
                          <a:spcPct val="107000"/>
                        </a:lnSpc>
                        <a:spcBef>
                          <a:spcPts val="0"/>
                        </a:spcBef>
                        <a:spcAft>
                          <a:spcPts val="0"/>
                        </a:spcAft>
                      </a:pPr>
                      <a:r>
                        <a:rPr lang="en-US" sz="1050" b="1" dirty="0">
                          <a:effectLst/>
                        </a:rPr>
                        <a:t>12351</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1317.25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Dave Williams</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6794-1674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Diane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Adams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364 East Road</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150</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34904673"/>
                  </a:ext>
                </a:extLst>
              </a:tr>
            </a:tbl>
          </a:graphicData>
        </a:graphic>
      </p:graphicFrame>
    </p:spTree>
    <p:extLst>
      <p:ext uri="{BB962C8B-B14F-4D97-AF65-F5344CB8AC3E}">
        <p14:creationId xmlns:p14="http://schemas.microsoft.com/office/powerpoint/2010/main" val="26735984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C9A42-0A3A-4B99-9DFA-3E10B1AB94F2}"/>
              </a:ext>
            </a:extLst>
          </p:cNvPr>
          <p:cNvSpPr>
            <a:spLocks noGrp="1"/>
          </p:cNvSpPr>
          <p:nvPr>
            <p:ph type="title"/>
          </p:nvPr>
        </p:nvSpPr>
        <p:spPr>
          <a:xfrm>
            <a:off x="768350" y="76200"/>
            <a:ext cx="8077200" cy="609600"/>
          </a:xfrm>
        </p:spPr>
        <p:txBody>
          <a:bodyPr/>
          <a:lstStyle/>
          <a:p>
            <a:r>
              <a:rPr lang="fa-IR" altLang="en-US" sz="2800" dirty="0">
                <a:latin typeface="Titr" pitchFamily="2" charset="-78"/>
                <a:ea typeface="2  Titr"/>
                <a:cs typeface="2  Titr"/>
              </a:rPr>
              <a:t>جدول نرمال ۱</a:t>
            </a:r>
            <a:endParaRPr lang="en-US" dirty="0"/>
          </a:p>
        </p:txBody>
      </p:sp>
      <p:sp>
        <p:nvSpPr>
          <p:cNvPr id="4" name="Content Placeholder 3">
            <a:extLst>
              <a:ext uri="{FF2B5EF4-FFF2-40B4-BE49-F238E27FC236}">
                <a16:creationId xmlns:a16="http://schemas.microsoft.com/office/drawing/2014/main" id="{8A8FC6A3-822A-4FF1-ADC2-33DF68E00865}"/>
              </a:ext>
            </a:extLst>
          </p:cNvPr>
          <p:cNvSpPr>
            <a:spLocks noGrp="1"/>
          </p:cNvSpPr>
          <p:nvPr>
            <p:ph idx="1"/>
          </p:nvPr>
        </p:nvSpPr>
        <p:spPr/>
        <p:txBody>
          <a:bodyPr/>
          <a:lstStyle/>
          <a:p>
            <a:pPr algn="r" rtl="1"/>
            <a:r>
              <a:rPr lang="fa-IR" sz="2800" b="0" dirty="0">
                <a:solidFill>
                  <a:schemeClr val="tx1"/>
                </a:solidFill>
                <a:cs typeface="B Nazanin" panose="00000400000000000000" pitchFamily="2" charset="-78"/>
              </a:rPr>
              <a:t>اين جدول در فرم اول نرمال هست چون هيچ کدام از ستون ها چندمقداری نيستند بنابراين نيازی نيست روی جدول کاری انجام دهيم بجز اينکه يک کليد انتخاب نمائيم.</a:t>
            </a:r>
            <a:endParaRPr lang="en-US" sz="2800" dirty="0"/>
          </a:p>
        </p:txBody>
      </p:sp>
      <p:sp>
        <p:nvSpPr>
          <p:cNvPr id="3" name="Slide Number Placeholder 2">
            <a:extLst>
              <a:ext uri="{FF2B5EF4-FFF2-40B4-BE49-F238E27FC236}">
                <a16:creationId xmlns:a16="http://schemas.microsoft.com/office/drawing/2014/main" id="{DEF78960-A74A-4BED-A793-691601E0C974}"/>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15</a:t>
            </a:fld>
            <a:endParaRPr lang="en-US"/>
          </a:p>
        </p:txBody>
      </p:sp>
      <p:graphicFrame>
        <p:nvGraphicFramePr>
          <p:cNvPr id="8" name="Table 7">
            <a:extLst>
              <a:ext uri="{FF2B5EF4-FFF2-40B4-BE49-F238E27FC236}">
                <a16:creationId xmlns:a16="http://schemas.microsoft.com/office/drawing/2014/main" id="{21CC956A-C55C-4659-A136-B873CF4218F0}"/>
              </a:ext>
            </a:extLst>
          </p:cNvPr>
          <p:cNvGraphicFramePr>
            <a:graphicFrameLocks noGrp="1"/>
          </p:cNvGraphicFramePr>
          <p:nvPr/>
        </p:nvGraphicFramePr>
        <p:xfrm>
          <a:off x="81497" y="2894578"/>
          <a:ext cx="8981005" cy="2682351"/>
        </p:xfrm>
        <a:graphic>
          <a:graphicData uri="http://schemas.openxmlformats.org/drawingml/2006/table">
            <a:tbl>
              <a:tblPr firstRow="1" firstCol="1" bandRow="1">
                <a:tableStyleId>{616DA210-FB5B-4158-B5E0-FEB733F419BA}</a:tableStyleId>
              </a:tblPr>
              <a:tblGrid>
                <a:gridCol w="586937">
                  <a:extLst>
                    <a:ext uri="{9D8B030D-6E8A-4147-A177-3AD203B41FA5}">
                      <a16:colId xmlns:a16="http://schemas.microsoft.com/office/drawing/2014/main" val="234041042"/>
                    </a:ext>
                  </a:extLst>
                </a:gridCol>
                <a:gridCol w="940021">
                  <a:extLst>
                    <a:ext uri="{9D8B030D-6E8A-4147-A177-3AD203B41FA5}">
                      <a16:colId xmlns:a16="http://schemas.microsoft.com/office/drawing/2014/main" val="3415118693"/>
                    </a:ext>
                  </a:extLst>
                </a:gridCol>
                <a:gridCol w="922588">
                  <a:extLst>
                    <a:ext uri="{9D8B030D-6E8A-4147-A177-3AD203B41FA5}">
                      <a16:colId xmlns:a16="http://schemas.microsoft.com/office/drawing/2014/main" val="3881982512"/>
                    </a:ext>
                  </a:extLst>
                </a:gridCol>
                <a:gridCol w="461294">
                  <a:extLst>
                    <a:ext uri="{9D8B030D-6E8A-4147-A177-3AD203B41FA5}">
                      <a16:colId xmlns:a16="http://schemas.microsoft.com/office/drawing/2014/main" val="2484215510"/>
                    </a:ext>
                  </a:extLst>
                </a:gridCol>
                <a:gridCol w="682078">
                  <a:extLst>
                    <a:ext uri="{9D8B030D-6E8A-4147-A177-3AD203B41FA5}">
                      <a16:colId xmlns:a16="http://schemas.microsoft.com/office/drawing/2014/main" val="1297653461"/>
                    </a:ext>
                  </a:extLst>
                </a:gridCol>
                <a:gridCol w="1156146">
                  <a:extLst>
                    <a:ext uri="{9D8B030D-6E8A-4147-A177-3AD203B41FA5}">
                      <a16:colId xmlns:a16="http://schemas.microsoft.com/office/drawing/2014/main" val="3484224265"/>
                    </a:ext>
                  </a:extLst>
                </a:gridCol>
                <a:gridCol w="847841">
                  <a:extLst>
                    <a:ext uri="{9D8B030D-6E8A-4147-A177-3AD203B41FA5}">
                      <a16:colId xmlns:a16="http://schemas.microsoft.com/office/drawing/2014/main" val="3482110401"/>
                    </a:ext>
                  </a:extLst>
                </a:gridCol>
                <a:gridCol w="770764">
                  <a:extLst>
                    <a:ext uri="{9D8B030D-6E8A-4147-A177-3AD203B41FA5}">
                      <a16:colId xmlns:a16="http://schemas.microsoft.com/office/drawing/2014/main" val="1813858957"/>
                    </a:ext>
                  </a:extLst>
                </a:gridCol>
                <a:gridCol w="770764">
                  <a:extLst>
                    <a:ext uri="{9D8B030D-6E8A-4147-A177-3AD203B41FA5}">
                      <a16:colId xmlns:a16="http://schemas.microsoft.com/office/drawing/2014/main" val="1355875302"/>
                    </a:ext>
                  </a:extLst>
                </a:gridCol>
                <a:gridCol w="1310300">
                  <a:extLst>
                    <a:ext uri="{9D8B030D-6E8A-4147-A177-3AD203B41FA5}">
                      <a16:colId xmlns:a16="http://schemas.microsoft.com/office/drawing/2014/main" val="1675925667"/>
                    </a:ext>
                  </a:extLst>
                </a:gridCol>
                <a:gridCol w="532272">
                  <a:extLst>
                    <a:ext uri="{9D8B030D-6E8A-4147-A177-3AD203B41FA5}">
                      <a16:colId xmlns:a16="http://schemas.microsoft.com/office/drawing/2014/main" val="236614085"/>
                    </a:ext>
                  </a:extLst>
                </a:gridCol>
              </a:tblGrid>
              <a:tr h="531066">
                <a:tc>
                  <a:txBody>
                    <a:bodyPr/>
                    <a:lstStyle/>
                    <a:p>
                      <a:pPr marL="0" marR="0">
                        <a:lnSpc>
                          <a:spcPct val="107000"/>
                        </a:lnSpc>
                        <a:spcBef>
                          <a:spcPts val="0"/>
                        </a:spcBef>
                        <a:spcAft>
                          <a:spcPts val="0"/>
                        </a:spcAft>
                      </a:pPr>
                      <a:r>
                        <a:rPr lang="en-US" sz="1100" dirty="0">
                          <a:solidFill>
                            <a:schemeClr val="tx2">
                              <a:lumMod val="75000"/>
                            </a:schemeClr>
                          </a:solidFill>
                          <a:effectLst/>
                        </a:rPr>
                        <a:t>Sale 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SaleDate</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ProductNo</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Qty</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Amount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Salesrep</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CustomerNo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First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Last</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Address</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CreditLimit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378874611"/>
                  </a:ext>
                </a:extLst>
              </a:tr>
              <a:tr h="351027">
                <a:tc>
                  <a:txBody>
                    <a:bodyPr/>
                    <a:lstStyle/>
                    <a:p>
                      <a:pPr marL="0" marR="0">
                        <a:lnSpc>
                          <a:spcPct val="107000"/>
                        </a:lnSpc>
                        <a:spcBef>
                          <a:spcPts val="0"/>
                        </a:spcBef>
                        <a:spcAft>
                          <a:spcPts val="0"/>
                        </a:spcAft>
                      </a:pPr>
                      <a:r>
                        <a:rPr lang="en-US" sz="1050" b="1" dirty="0">
                          <a:effectLst/>
                        </a:rPr>
                        <a:t>12345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Aug 12 2002</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23.95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Dave Williams</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4649-4673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Richard</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Johnston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14 West Avenue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1000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720734119"/>
                  </a:ext>
                </a:extLst>
              </a:tr>
              <a:tr h="351027">
                <a:tc>
                  <a:txBody>
                    <a:bodyPr/>
                    <a:lstStyle/>
                    <a:p>
                      <a:pPr marL="0" marR="0">
                        <a:lnSpc>
                          <a:spcPct val="107000"/>
                        </a:lnSpc>
                        <a:spcBef>
                          <a:spcPts val="0"/>
                        </a:spcBef>
                        <a:spcAft>
                          <a:spcPts val="0"/>
                        </a:spcAft>
                      </a:pPr>
                      <a:r>
                        <a:rPr lang="en-US" sz="1050" b="1">
                          <a:effectLst/>
                        </a:rPr>
                        <a:t>12346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12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AQX88916</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167.65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1113-7741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Wayne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Jones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 York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020454084"/>
                  </a:ext>
                </a:extLst>
              </a:tr>
              <a:tr h="351027">
                <a:tc>
                  <a:txBody>
                    <a:bodyPr/>
                    <a:lstStyle/>
                    <a:p>
                      <a:pPr marL="0" marR="0">
                        <a:lnSpc>
                          <a:spcPct val="107000"/>
                        </a:lnSpc>
                        <a:spcBef>
                          <a:spcPts val="0"/>
                        </a:spcBef>
                        <a:spcAft>
                          <a:spcPts val="0"/>
                        </a:spcAft>
                      </a:pPr>
                      <a:r>
                        <a:rPr lang="en-US" sz="1050" b="1">
                          <a:effectLst/>
                        </a:rPr>
                        <a:t>12347</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AHL46785</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3705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5001.75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Li Qing</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995 Forth Street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241532585"/>
                  </a:ext>
                </a:extLst>
              </a:tr>
              <a:tr h="249059">
                <a:tc>
                  <a:txBody>
                    <a:bodyPr/>
                    <a:lstStyle/>
                    <a:p>
                      <a:pPr marL="0" marR="0">
                        <a:lnSpc>
                          <a:spcPct val="107000"/>
                        </a:lnSpc>
                        <a:spcBef>
                          <a:spcPts val="0"/>
                        </a:spcBef>
                        <a:spcAft>
                          <a:spcPts val="0"/>
                        </a:spcAft>
                      </a:pPr>
                      <a:r>
                        <a:rPr lang="en-US" sz="1050" b="1">
                          <a:effectLst/>
                        </a:rPr>
                        <a:t>12348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118.5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Sara Thompson</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gn="ctr">
                        <a:lnSpc>
                          <a:spcPct val="107000"/>
                        </a:lnSpc>
                        <a:spcBef>
                          <a:spcPts val="0"/>
                        </a:spcBef>
                        <a:spcAft>
                          <a:spcPts val="0"/>
                        </a:spcAft>
                      </a:pPr>
                      <a:r>
                        <a:rPr lang="en-US" sz="1050" b="1" dirty="0">
                          <a:effectLst/>
                        </a:rPr>
                        <a:t> &lt;</a:t>
                      </a:r>
                      <a:r>
                        <a:rPr lang="en-US" sz="1050" b="1" i="1" dirty="0">
                          <a:effectLst/>
                        </a:rPr>
                        <a:t>null&gt;</a:t>
                      </a:r>
                      <a:endParaRPr lang="en-US" sz="1050" b="1" i="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9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897738917"/>
                  </a:ext>
                </a:extLst>
              </a:tr>
              <a:tr h="249059">
                <a:tc>
                  <a:txBody>
                    <a:bodyPr/>
                    <a:lstStyle/>
                    <a:p>
                      <a:pPr marL="0" marR="0">
                        <a:lnSpc>
                          <a:spcPct val="107000"/>
                        </a:lnSpc>
                        <a:spcBef>
                          <a:spcPts val="0"/>
                        </a:spcBef>
                        <a:spcAft>
                          <a:spcPts val="0"/>
                        </a:spcAft>
                      </a:pPr>
                      <a:r>
                        <a:rPr lang="en-US" sz="1050" b="1">
                          <a:effectLst/>
                        </a:rPr>
                        <a:t>12349</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940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2227.8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 Forth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176984474"/>
                  </a:ext>
                </a:extLst>
              </a:tr>
              <a:tr h="249059">
                <a:tc>
                  <a:txBody>
                    <a:bodyPr/>
                    <a:lstStyle/>
                    <a:p>
                      <a:pPr marL="0" marR="0">
                        <a:lnSpc>
                          <a:spcPct val="107000"/>
                        </a:lnSpc>
                        <a:spcBef>
                          <a:spcPts val="0"/>
                        </a:spcBef>
                        <a:spcAft>
                          <a:spcPts val="0"/>
                        </a:spcAft>
                      </a:pPr>
                      <a:r>
                        <a:rPr lang="en-US" sz="1050" b="1">
                          <a:effectLst/>
                        </a:rPr>
                        <a:t>12350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7671-3496</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Antonio</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Gonzales</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55B Granary Lane</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dirty="0">
                          <a:ln>
                            <a:noFill/>
                          </a:ln>
                          <a:solidFill>
                            <a:srgbClr val="000000"/>
                          </a:solidFill>
                          <a:effectLst/>
                          <a:uLnTx/>
                          <a:uFillTx/>
                          <a:latin typeface="Helvetica"/>
                          <a:ea typeface="+mn-ea"/>
                          <a:cs typeface="+mn-cs"/>
                        </a:rPr>
                        <a:t>&lt;</a:t>
                      </a:r>
                      <a:r>
                        <a:rPr kumimoji="0" lang="en-US" sz="900" b="1" i="1" u="none" strike="noStrike" kern="1200" cap="none" spc="0" normalizeH="0" baseline="0" noProof="0" dirty="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643762065"/>
                  </a:ext>
                </a:extLst>
              </a:tr>
              <a:tr h="351027">
                <a:tc>
                  <a:txBody>
                    <a:bodyPr/>
                    <a:lstStyle/>
                    <a:p>
                      <a:pPr marL="0" marR="0">
                        <a:lnSpc>
                          <a:spcPct val="107000"/>
                        </a:lnSpc>
                        <a:spcBef>
                          <a:spcPts val="0"/>
                        </a:spcBef>
                        <a:spcAft>
                          <a:spcPts val="0"/>
                        </a:spcAft>
                      </a:pPr>
                      <a:r>
                        <a:rPr lang="en-US" sz="1050" b="1" dirty="0">
                          <a:effectLst/>
                        </a:rPr>
                        <a:t>12351</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1317.25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Dave Williams</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6794-1674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Diane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Adams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364 East Road</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150</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34904673"/>
                  </a:ext>
                </a:extLst>
              </a:tr>
            </a:tbl>
          </a:graphicData>
        </a:graphic>
      </p:graphicFrame>
    </p:spTree>
    <p:extLst>
      <p:ext uri="{BB962C8B-B14F-4D97-AF65-F5344CB8AC3E}">
        <p14:creationId xmlns:p14="http://schemas.microsoft.com/office/powerpoint/2010/main" val="38227188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99B505-7B22-4D04-AFB6-0BBD2C26C34C}"/>
              </a:ext>
            </a:extLst>
          </p:cNvPr>
          <p:cNvSpPr>
            <a:spLocks noGrp="1"/>
          </p:cNvSpPr>
          <p:nvPr>
            <p:ph type="title"/>
          </p:nvPr>
        </p:nvSpPr>
        <p:spPr/>
        <p:txBody>
          <a:bodyPr/>
          <a:lstStyle/>
          <a:p>
            <a:r>
              <a:rPr lang="ar-SA" sz="2800" b="1" dirty="0">
                <a:effectLst/>
                <a:latin typeface="Times New Roman" panose="02020603050405020304" pitchFamily="18" charset="0"/>
                <a:ea typeface="Times New Roman" panose="02020603050405020304" pitchFamily="18" charset="0"/>
                <a:cs typeface="B Nazanin" panose="00000400000000000000" pitchFamily="2" charset="-78"/>
              </a:rPr>
              <a:t>وابستگی تابعی</a:t>
            </a:r>
            <a:r>
              <a:rPr lang="en-US" sz="2800" b="1" dirty="0">
                <a:effectLst/>
                <a:latin typeface="Times New Roman" panose="02020603050405020304" pitchFamily="18" charset="0"/>
                <a:ea typeface="Times New Roman" panose="02020603050405020304" pitchFamily="18" charset="0"/>
                <a:cs typeface="B Nazanin" panose="00000400000000000000" pitchFamily="2" charset="-78"/>
              </a:rPr>
              <a:t> (Functional Dependency) </a:t>
            </a:r>
            <a:r>
              <a:rPr lang="ar-SA" sz="2800" b="1" dirty="0">
                <a:effectLst/>
                <a:latin typeface="Times New Roman" panose="02020603050405020304" pitchFamily="18" charset="0"/>
                <a:ea typeface="Times New Roman" panose="02020603050405020304" pitchFamily="18" charset="0"/>
                <a:cs typeface="B Nazanin" panose="00000400000000000000" pitchFamily="2" charset="-78"/>
              </a:rPr>
              <a:t>در پایگاه داده</a:t>
            </a:r>
            <a:endParaRPr lang="en-US" dirty="0"/>
          </a:p>
        </p:txBody>
      </p:sp>
      <p:sp>
        <p:nvSpPr>
          <p:cNvPr id="3" name="Content Placeholder 2">
            <a:extLst>
              <a:ext uri="{FF2B5EF4-FFF2-40B4-BE49-F238E27FC236}">
                <a16:creationId xmlns:a16="http://schemas.microsoft.com/office/drawing/2014/main" id="{1BC9B834-96AB-4CB7-BAA8-A5220B848B9C}"/>
              </a:ext>
            </a:extLst>
          </p:cNvPr>
          <p:cNvSpPr>
            <a:spLocks noGrp="1"/>
          </p:cNvSpPr>
          <p:nvPr>
            <p:ph idx="1"/>
          </p:nvPr>
        </p:nvSpPr>
        <p:spPr>
          <a:xfrm>
            <a:off x="304800" y="838200"/>
            <a:ext cx="8540749" cy="5544493"/>
          </a:xfrm>
        </p:spPr>
        <p:txBody>
          <a:bodyPr/>
          <a:lstStyle/>
          <a:p>
            <a:pPr marL="0" marR="0" algn="r" rtl="1">
              <a:lnSpc>
                <a:spcPct val="107000"/>
              </a:lnSpc>
              <a:spcBef>
                <a:spcPts val="0"/>
              </a:spcBef>
              <a:spcAft>
                <a:spcPts val="800"/>
              </a:spcAft>
            </a:pPr>
            <a:r>
              <a:rPr lang="ar-SA" sz="2400" b="1" dirty="0">
                <a:effectLst/>
                <a:latin typeface="Times New Roman" panose="02020603050405020304" pitchFamily="18" charset="0"/>
                <a:ea typeface="Times New Roman" panose="02020603050405020304" pitchFamily="18" charset="0"/>
                <a:cs typeface="B Nazanin" panose="00000400000000000000" pitchFamily="2" charset="-78"/>
              </a:rPr>
              <a:t>وابستگی تابعی</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(FD)</a:t>
            </a:r>
            <a:r>
              <a:rPr lang="fa-IR" sz="2400" dirty="0">
                <a:effectLst/>
                <a:latin typeface="Times New Roman" panose="02020603050405020304" pitchFamily="18" charset="0"/>
                <a:ea typeface="Times New Roman" panose="02020603050405020304" pitchFamily="18" charset="0"/>
                <a:cs typeface="B Nazanin" panose="00000400000000000000" pitchFamily="2" charset="-78"/>
              </a:rPr>
              <a:t> صفت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Y</a:t>
            </a:r>
            <a:r>
              <a:rPr lang="fa-IR" sz="2400" dirty="0">
                <a:effectLst/>
                <a:latin typeface="Times New Roman" panose="02020603050405020304" pitchFamily="18" charset="0"/>
                <a:ea typeface="Times New Roman" panose="02020603050405020304" pitchFamily="18" charset="0"/>
                <a:cs typeface="B Nazanin" panose="00000400000000000000" pitchFamily="2" charset="-78"/>
              </a:rPr>
              <a:t> با صفت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X</a:t>
            </a:r>
            <a:r>
              <a:rPr lang="fa-IR" sz="2400" dirty="0">
                <a:effectLst/>
                <a:latin typeface="Times New Roman" panose="02020603050405020304" pitchFamily="18" charset="0"/>
                <a:ea typeface="Times New Roman" panose="02020603050405020304" pitchFamily="18" charset="0"/>
                <a:cs typeface="B Nazanin" panose="00000400000000000000" pitchFamily="2" charset="-78"/>
              </a:rPr>
              <a:t> وابستگی تابعی دارد  اگر و فقط اگر در طول حیاط رابطه به هر مقدار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X</a:t>
            </a:r>
            <a:r>
              <a:rPr lang="fa-IR" sz="2400" dirty="0">
                <a:effectLst/>
                <a:latin typeface="Times New Roman" panose="02020603050405020304" pitchFamily="18" charset="0"/>
                <a:ea typeface="Times New Roman" panose="02020603050405020304" pitchFamily="18" charset="0"/>
                <a:cs typeface="B Nazanin" panose="00000400000000000000" pitchFamily="2" charset="-78"/>
              </a:rPr>
              <a:t> دقیقا یک مقدار از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Y</a:t>
            </a:r>
            <a:r>
              <a:rPr lang="fa-IR" sz="2400" dirty="0">
                <a:effectLst/>
                <a:latin typeface="Times New Roman" panose="02020603050405020304" pitchFamily="18" charset="0"/>
                <a:ea typeface="Times New Roman" panose="02020603050405020304" pitchFamily="18" charset="0"/>
                <a:cs typeface="B Nazanin" panose="00000400000000000000" pitchFamily="2" charset="-78"/>
              </a:rPr>
              <a:t> متناظر باشد که میگوییم صفت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X</a:t>
            </a:r>
            <a:r>
              <a:rPr lang="fa-IR" sz="2400" dirty="0">
                <a:effectLst/>
                <a:latin typeface="Times New Roman" panose="02020603050405020304" pitchFamily="18" charset="0"/>
                <a:ea typeface="Times New Roman" panose="02020603050405020304" pitchFamily="18" charset="0"/>
                <a:cs typeface="B Nazanin" panose="00000400000000000000" pitchFamily="2" charset="-78"/>
              </a:rPr>
              <a:t> صفت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Y</a:t>
            </a:r>
            <a:r>
              <a:rPr lang="fa-IR" sz="2400" dirty="0">
                <a:effectLst/>
                <a:latin typeface="Times New Roman" panose="02020603050405020304" pitchFamily="18" charset="0"/>
                <a:ea typeface="Times New Roman" panose="02020603050405020304" pitchFamily="18" charset="0"/>
                <a:cs typeface="B Nazanin" panose="00000400000000000000" pitchFamily="2" charset="-78"/>
              </a:rPr>
              <a:t> را تعیین می کند. </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2400" b="1" dirty="0">
                <a:effectLst/>
                <a:latin typeface="Times New Roman" panose="02020603050405020304" pitchFamily="18" charset="0"/>
                <a:ea typeface="Times New Roman" panose="02020603050405020304" pitchFamily="18" charset="0"/>
                <a:cs typeface="B Nazanin" panose="00000400000000000000" pitchFamily="2" charset="-78"/>
              </a:rPr>
              <a:t>تعریف</a:t>
            </a:r>
            <a:r>
              <a:rPr lang="en-US" sz="2400" b="1" dirty="0">
                <a:effectLst/>
                <a:latin typeface="Times New Roman" panose="02020603050405020304" pitchFamily="18" charset="0"/>
                <a:ea typeface="Times New Roman" panose="02020603050405020304" pitchFamily="18" charset="0"/>
                <a:cs typeface="B Nazanin" panose="00000400000000000000" pitchFamily="2" charset="-78"/>
              </a:rPr>
              <a:t>:</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اگر صفت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X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صفت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Y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را تعیین کند، گفته می‌شود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Y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به صورت </a:t>
            </a:r>
            <a:r>
              <a:rPr lang="ar-SA" sz="2400" b="1" dirty="0">
                <a:effectLst/>
                <a:latin typeface="Times New Roman" panose="02020603050405020304" pitchFamily="18" charset="0"/>
                <a:ea typeface="Times New Roman" panose="02020603050405020304" pitchFamily="18" charset="0"/>
                <a:cs typeface="B Nazanin" panose="00000400000000000000" pitchFamily="2" charset="-78"/>
              </a:rPr>
              <a:t>تابعی وابسته</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 به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X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است و به صورت زیر نمایش داده می‌شود</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0"/>
              </a:spcAft>
            </a:pP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X →Y</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در اینجا</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X </a:t>
            </a:r>
            <a:r>
              <a:rPr lang="ar-SA" sz="2400" b="1" dirty="0">
                <a:effectLst/>
                <a:latin typeface="Times New Roman" panose="02020603050405020304" pitchFamily="18" charset="0"/>
                <a:ea typeface="Times New Roman" panose="02020603050405020304" pitchFamily="18" charset="0"/>
                <a:cs typeface="B Nazanin" panose="00000400000000000000" pitchFamily="2" charset="-78"/>
              </a:rPr>
              <a:t>تعیین‌کننده</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(Determinant)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نام دارد</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Y </a:t>
            </a:r>
            <a:r>
              <a:rPr lang="ar-SA" sz="2400" b="1" dirty="0">
                <a:effectLst/>
                <a:latin typeface="Times New Roman" panose="02020603050405020304" pitchFamily="18" charset="0"/>
                <a:ea typeface="Times New Roman" panose="02020603050405020304" pitchFamily="18" charset="0"/>
                <a:cs typeface="B Nazanin" panose="00000400000000000000" pitchFamily="2" charset="-78"/>
              </a:rPr>
              <a:t>وابسته</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(Dependent)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نام دارد</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endParaRPr lang="en-US" sz="2800" dirty="0"/>
          </a:p>
        </p:txBody>
      </p:sp>
      <p:graphicFrame>
        <p:nvGraphicFramePr>
          <p:cNvPr id="4" name="Table 4">
            <a:extLst>
              <a:ext uri="{FF2B5EF4-FFF2-40B4-BE49-F238E27FC236}">
                <a16:creationId xmlns:a16="http://schemas.microsoft.com/office/drawing/2014/main" id="{453D0BFA-E719-45CD-9155-FC706FFA9B52}"/>
              </a:ext>
            </a:extLst>
          </p:cNvPr>
          <p:cNvGraphicFramePr>
            <a:graphicFrameLocks noGrp="1"/>
          </p:cNvGraphicFramePr>
          <p:nvPr/>
        </p:nvGraphicFramePr>
        <p:xfrm>
          <a:off x="267075" y="4953000"/>
          <a:ext cx="3200400" cy="1097280"/>
        </p:xfrm>
        <a:graphic>
          <a:graphicData uri="http://schemas.openxmlformats.org/drawingml/2006/table">
            <a:tbl>
              <a:tblPr firstRow="1" bandRow="1">
                <a:tableStyleId>{616DA210-FB5B-4158-B5E0-FEB733F419BA}</a:tableStyleId>
              </a:tblPr>
              <a:tblGrid>
                <a:gridCol w="1066800">
                  <a:extLst>
                    <a:ext uri="{9D8B030D-6E8A-4147-A177-3AD203B41FA5}">
                      <a16:colId xmlns:a16="http://schemas.microsoft.com/office/drawing/2014/main" val="2053521913"/>
                    </a:ext>
                  </a:extLst>
                </a:gridCol>
                <a:gridCol w="1066800">
                  <a:extLst>
                    <a:ext uri="{9D8B030D-6E8A-4147-A177-3AD203B41FA5}">
                      <a16:colId xmlns:a16="http://schemas.microsoft.com/office/drawing/2014/main" val="1634407040"/>
                    </a:ext>
                  </a:extLst>
                </a:gridCol>
                <a:gridCol w="1066800">
                  <a:extLst>
                    <a:ext uri="{9D8B030D-6E8A-4147-A177-3AD203B41FA5}">
                      <a16:colId xmlns:a16="http://schemas.microsoft.com/office/drawing/2014/main" val="3912256160"/>
                    </a:ext>
                  </a:extLst>
                </a:gridCol>
              </a:tblGrid>
              <a:tr h="355600">
                <a:tc>
                  <a:txBody>
                    <a:bodyPr/>
                    <a:lstStyle/>
                    <a:p>
                      <a:r>
                        <a:rPr lang="fa-IR" dirty="0"/>
                        <a:t>شماره</a:t>
                      </a:r>
                      <a:endParaRPr lang="en-US" dirty="0"/>
                    </a:p>
                  </a:txBody>
                  <a:tcPr/>
                </a:tc>
                <a:tc>
                  <a:txBody>
                    <a:bodyPr/>
                    <a:lstStyle/>
                    <a:p>
                      <a:r>
                        <a:rPr lang="fa-IR" dirty="0"/>
                        <a:t>نام</a:t>
                      </a:r>
                      <a:endParaRPr lang="en-US" dirty="0"/>
                    </a:p>
                  </a:txBody>
                  <a:tcPr/>
                </a:tc>
                <a:tc>
                  <a:txBody>
                    <a:bodyPr/>
                    <a:lstStyle/>
                    <a:p>
                      <a:r>
                        <a:rPr lang="fa-IR" dirty="0"/>
                        <a:t>فامیل</a:t>
                      </a:r>
                      <a:endParaRPr lang="en-US" dirty="0"/>
                    </a:p>
                  </a:txBody>
                  <a:tcPr/>
                </a:tc>
                <a:extLst>
                  <a:ext uri="{0D108BD9-81ED-4DB2-BD59-A6C34878D82A}">
                    <a16:rowId xmlns:a16="http://schemas.microsoft.com/office/drawing/2014/main" val="2854973544"/>
                  </a:ext>
                </a:extLst>
              </a:tr>
              <a:tr h="355600">
                <a:tc>
                  <a:txBody>
                    <a:bodyPr/>
                    <a:lstStyle/>
                    <a:p>
                      <a:r>
                        <a:rPr lang="fa-IR" dirty="0"/>
                        <a:t>۱۱</a:t>
                      </a:r>
                      <a:endParaRPr lang="en-US" dirty="0"/>
                    </a:p>
                  </a:txBody>
                  <a:tcPr/>
                </a:tc>
                <a:tc>
                  <a:txBody>
                    <a:bodyPr/>
                    <a:lstStyle/>
                    <a:p>
                      <a:r>
                        <a:rPr lang="fa-IR" dirty="0"/>
                        <a:t>اکبر</a:t>
                      </a:r>
                      <a:endParaRPr lang="en-US" dirty="0"/>
                    </a:p>
                  </a:txBody>
                  <a:tcPr/>
                </a:tc>
                <a:tc>
                  <a:txBody>
                    <a:bodyPr/>
                    <a:lstStyle/>
                    <a:p>
                      <a:r>
                        <a:rPr lang="fa-IR" dirty="0"/>
                        <a:t>حسینی</a:t>
                      </a:r>
                      <a:endParaRPr lang="en-US" dirty="0"/>
                    </a:p>
                  </a:txBody>
                  <a:tcPr/>
                </a:tc>
                <a:extLst>
                  <a:ext uri="{0D108BD9-81ED-4DB2-BD59-A6C34878D82A}">
                    <a16:rowId xmlns:a16="http://schemas.microsoft.com/office/drawing/2014/main" val="1039871227"/>
                  </a:ext>
                </a:extLst>
              </a:tr>
              <a:tr h="355600">
                <a:tc>
                  <a:txBody>
                    <a:bodyPr/>
                    <a:lstStyle/>
                    <a:p>
                      <a:r>
                        <a:rPr lang="fa-IR" dirty="0"/>
                        <a:t>۲۲</a:t>
                      </a:r>
                      <a:endParaRPr lang="en-US" dirty="0"/>
                    </a:p>
                  </a:txBody>
                  <a:tcPr/>
                </a:tc>
                <a:tc>
                  <a:txBody>
                    <a:bodyPr/>
                    <a:lstStyle/>
                    <a:p>
                      <a:r>
                        <a:rPr lang="fa-IR" dirty="0"/>
                        <a:t>اکبر</a:t>
                      </a:r>
                      <a:endParaRPr lang="en-US" dirty="0"/>
                    </a:p>
                  </a:txBody>
                  <a:tcPr/>
                </a:tc>
                <a:tc>
                  <a:txBody>
                    <a:bodyPr/>
                    <a:lstStyle/>
                    <a:p>
                      <a:r>
                        <a:rPr lang="fa-IR" dirty="0"/>
                        <a:t>کریمی</a:t>
                      </a:r>
                      <a:endParaRPr lang="en-US" dirty="0"/>
                    </a:p>
                  </a:txBody>
                  <a:tcPr/>
                </a:tc>
                <a:extLst>
                  <a:ext uri="{0D108BD9-81ED-4DB2-BD59-A6C34878D82A}">
                    <a16:rowId xmlns:a16="http://schemas.microsoft.com/office/drawing/2014/main" val="3483005539"/>
                  </a:ext>
                </a:extLst>
              </a:tr>
            </a:tbl>
          </a:graphicData>
        </a:graphic>
      </p:graphicFrame>
    </p:spTree>
    <p:extLst>
      <p:ext uri="{BB962C8B-B14F-4D97-AF65-F5344CB8AC3E}">
        <p14:creationId xmlns:p14="http://schemas.microsoft.com/office/powerpoint/2010/main" val="40208002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99B505-7B22-4D04-AFB6-0BBD2C26C34C}"/>
              </a:ext>
            </a:extLst>
          </p:cNvPr>
          <p:cNvSpPr>
            <a:spLocks noGrp="1"/>
          </p:cNvSpPr>
          <p:nvPr>
            <p:ph type="title"/>
          </p:nvPr>
        </p:nvSpPr>
        <p:spPr/>
        <p:txBody>
          <a:bodyPr/>
          <a:lstStyle/>
          <a:p>
            <a:r>
              <a:rPr lang="ar-SA" sz="2800" b="1" dirty="0">
                <a:effectLst/>
                <a:latin typeface="Times New Roman" panose="02020603050405020304" pitchFamily="18" charset="0"/>
                <a:ea typeface="Times New Roman" panose="02020603050405020304" pitchFamily="18" charset="0"/>
                <a:cs typeface="B Nazanin" panose="00000400000000000000" pitchFamily="2" charset="-78"/>
              </a:rPr>
              <a:t>وابستگی تابعی</a:t>
            </a:r>
            <a:r>
              <a:rPr lang="en-US" sz="2800" b="1" dirty="0">
                <a:effectLst/>
                <a:latin typeface="Times New Roman" panose="02020603050405020304" pitchFamily="18" charset="0"/>
                <a:ea typeface="Times New Roman" panose="02020603050405020304" pitchFamily="18" charset="0"/>
                <a:cs typeface="B Nazanin" panose="00000400000000000000" pitchFamily="2" charset="-78"/>
              </a:rPr>
              <a:t> (Functional Dependency) </a:t>
            </a:r>
            <a:r>
              <a:rPr lang="ar-SA" sz="2800" b="1" dirty="0">
                <a:effectLst/>
                <a:latin typeface="Times New Roman" panose="02020603050405020304" pitchFamily="18" charset="0"/>
                <a:ea typeface="Times New Roman" panose="02020603050405020304" pitchFamily="18" charset="0"/>
                <a:cs typeface="B Nazanin" panose="00000400000000000000" pitchFamily="2" charset="-78"/>
              </a:rPr>
              <a:t>در پایگاه داده</a:t>
            </a:r>
            <a:endParaRPr lang="en-US" dirty="0"/>
          </a:p>
        </p:txBody>
      </p:sp>
      <p:sp>
        <p:nvSpPr>
          <p:cNvPr id="3" name="Content Placeholder 2">
            <a:extLst>
              <a:ext uri="{FF2B5EF4-FFF2-40B4-BE49-F238E27FC236}">
                <a16:creationId xmlns:a16="http://schemas.microsoft.com/office/drawing/2014/main" id="{1BC9B834-96AB-4CB7-BAA8-A5220B848B9C}"/>
              </a:ext>
            </a:extLst>
          </p:cNvPr>
          <p:cNvSpPr>
            <a:spLocks noGrp="1"/>
          </p:cNvSpPr>
          <p:nvPr>
            <p:ph idx="1"/>
          </p:nvPr>
        </p:nvSpPr>
        <p:spPr>
          <a:xfrm>
            <a:off x="304800" y="838200"/>
            <a:ext cx="8540749" cy="5544493"/>
          </a:xfrm>
        </p:spPr>
        <p:txBody>
          <a:bodyPr/>
          <a:lstStyle/>
          <a:p>
            <a:pPr marL="0" marR="0" algn="r" rtl="1"/>
            <a:r>
              <a:rPr lang="en-US" sz="2400" dirty="0">
                <a:effectLst/>
                <a:latin typeface="Times New Roman" panose="02020603050405020304" pitchFamily="18" charset="0"/>
                <a:ea typeface="Times New Roman" panose="02020603050405020304" pitchFamily="18" charset="0"/>
              </a:rPr>
              <a:t>FD1: </a:t>
            </a:r>
            <a:r>
              <a:rPr lang="en-US" sz="2400" dirty="0" err="1">
                <a:effectLst/>
                <a:latin typeface="Times New Roman" panose="02020603050405020304" pitchFamily="18" charset="0"/>
                <a:ea typeface="Times New Roman" panose="02020603050405020304" pitchFamily="18" charset="0"/>
              </a:rPr>
              <a:t>StudentID</a:t>
            </a:r>
            <a:r>
              <a:rPr lang="en-US" sz="2400" dirty="0">
                <a:effectLst/>
                <a:latin typeface="Times New Roman" panose="02020603050405020304" pitchFamily="18" charset="0"/>
                <a:ea typeface="Times New Roman" panose="02020603050405020304" pitchFamily="18" charset="0"/>
              </a:rPr>
              <a:t> → </a:t>
            </a:r>
            <a:r>
              <a:rPr lang="en-US" sz="2400" dirty="0" err="1">
                <a:effectLst/>
                <a:latin typeface="Times New Roman" panose="02020603050405020304" pitchFamily="18" charset="0"/>
                <a:ea typeface="Times New Roman" panose="02020603050405020304" pitchFamily="18" charset="0"/>
              </a:rPr>
              <a:t>StudentName</a:t>
            </a:r>
            <a:br>
              <a:rPr lang="en-US" sz="2400" dirty="0">
                <a:effectLst/>
                <a:latin typeface="Times New Roman" panose="02020603050405020304" pitchFamily="18" charset="0"/>
                <a:ea typeface="Times New Roman" panose="02020603050405020304" pitchFamily="18" charset="0"/>
              </a:rPr>
            </a:br>
            <a:r>
              <a:rPr lang="ar-SA" sz="2400" dirty="0">
                <a:effectLst/>
                <a:latin typeface="Times New Roman" panose="02020603050405020304" pitchFamily="18" charset="0"/>
                <a:ea typeface="Times New Roman" panose="02020603050405020304" pitchFamily="18" charset="0"/>
              </a:rPr>
              <a:t>با دانستن</a:t>
            </a:r>
            <a:r>
              <a:rPr lang="en-US" sz="2400" dirty="0">
                <a:effectLst/>
                <a:latin typeface="Times New Roman" panose="02020603050405020304" pitchFamily="18" charset="0"/>
                <a:ea typeface="Times New Roman" panose="02020603050405020304" pitchFamily="18" charset="0"/>
              </a:rPr>
              <a:t> </a:t>
            </a:r>
            <a:r>
              <a:rPr lang="en-US" sz="2400" dirty="0" err="1">
                <a:effectLst/>
                <a:latin typeface="Times New Roman" panose="02020603050405020304" pitchFamily="18" charset="0"/>
                <a:ea typeface="Times New Roman" panose="02020603050405020304" pitchFamily="18" charset="0"/>
              </a:rPr>
              <a:t>StudentID</a:t>
            </a:r>
            <a:r>
              <a:rPr lang="ar-SA" sz="2400" dirty="0">
                <a:effectLst/>
                <a:latin typeface="Times New Roman" panose="02020603050405020304" pitchFamily="18" charset="0"/>
                <a:ea typeface="Times New Roman" panose="02020603050405020304" pitchFamily="18" charset="0"/>
              </a:rPr>
              <a:t>، می‌توانیم به‌طور منحصربه‌فرد</a:t>
            </a:r>
            <a:r>
              <a:rPr lang="en-US" sz="2400" dirty="0">
                <a:effectLst/>
                <a:latin typeface="Times New Roman" panose="02020603050405020304" pitchFamily="18" charset="0"/>
                <a:ea typeface="Times New Roman" panose="02020603050405020304" pitchFamily="18" charset="0"/>
              </a:rPr>
              <a:t> </a:t>
            </a:r>
            <a:r>
              <a:rPr lang="en-US" sz="2400" dirty="0" err="1">
                <a:effectLst/>
                <a:latin typeface="Times New Roman" panose="02020603050405020304" pitchFamily="18" charset="0"/>
                <a:ea typeface="Times New Roman" panose="02020603050405020304" pitchFamily="18" charset="0"/>
              </a:rPr>
              <a:t>StudentName</a:t>
            </a:r>
            <a:r>
              <a:rPr lang="en-US" sz="2400" dirty="0">
                <a:effectLst/>
                <a:latin typeface="Times New Roman" panose="02020603050405020304" pitchFamily="18" charset="0"/>
                <a:ea typeface="Times New Roman" panose="02020603050405020304" pitchFamily="18" charset="0"/>
              </a:rPr>
              <a:t> </a:t>
            </a:r>
            <a:r>
              <a:rPr lang="ar-SA" sz="2400" dirty="0">
                <a:effectLst/>
                <a:latin typeface="Times New Roman" panose="02020603050405020304" pitchFamily="18" charset="0"/>
                <a:ea typeface="Times New Roman" panose="02020603050405020304" pitchFamily="18" charset="0"/>
              </a:rPr>
              <a:t>را تعیین کنیم</a:t>
            </a:r>
            <a:r>
              <a:rPr lang="en-US" sz="2400" dirty="0">
                <a:effectLst/>
                <a:latin typeface="Times New Roman" panose="02020603050405020304" pitchFamily="18" charset="0"/>
                <a:ea typeface="Times New Roman" panose="02020603050405020304" pitchFamily="18" charset="0"/>
              </a:rPr>
              <a:t>.</a:t>
            </a:r>
          </a:p>
          <a:p>
            <a:pPr marL="0" marR="0" algn="r" rtl="1"/>
            <a:r>
              <a:rPr lang="en-US" sz="2400" dirty="0">
                <a:effectLst/>
                <a:latin typeface="Times New Roman" panose="02020603050405020304" pitchFamily="18" charset="0"/>
                <a:ea typeface="Times New Roman" panose="02020603050405020304" pitchFamily="18" charset="0"/>
              </a:rPr>
              <a:t>FD2: </a:t>
            </a:r>
            <a:r>
              <a:rPr lang="en-US" sz="2400" dirty="0" err="1">
                <a:effectLst/>
                <a:latin typeface="Times New Roman" panose="02020603050405020304" pitchFamily="18" charset="0"/>
                <a:ea typeface="Times New Roman" panose="02020603050405020304" pitchFamily="18" charset="0"/>
              </a:rPr>
              <a:t>StudentID</a:t>
            </a:r>
            <a:r>
              <a:rPr lang="en-US" sz="2400" dirty="0">
                <a:effectLst/>
                <a:latin typeface="Times New Roman" panose="02020603050405020304" pitchFamily="18" charset="0"/>
                <a:ea typeface="Times New Roman" panose="02020603050405020304" pitchFamily="18" charset="0"/>
              </a:rPr>
              <a:t> → Course</a:t>
            </a:r>
            <a:br>
              <a:rPr lang="en-US" sz="2400" dirty="0">
                <a:effectLst/>
                <a:latin typeface="Times New Roman" panose="02020603050405020304" pitchFamily="18" charset="0"/>
                <a:ea typeface="Times New Roman" panose="02020603050405020304" pitchFamily="18" charset="0"/>
              </a:rPr>
            </a:br>
            <a:r>
              <a:rPr lang="ar-SA" sz="2400" dirty="0">
                <a:effectLst/>
                <a:latin typeface="Times New Roman" panose="02020603050405020304" pitchFamily="18" charset="0"/>
                <a:ea typeface="Times New Roman" panose="02020603050405020304" pitchFamily="18" charset="0"/>
              </a:rPr>
              <a:t>با دانستن</a:t>
            </a:r>
            <a:r>
              <a:rPr lang="en-US" sz="2400" dirty="0">
                <a:effectLst/>
                <a:latin typeface="Times New Roman" panose="02020603050405020304" pitchFamily="18" charset="0"/>
                <a:ea typeface="Times New Roman" panose="02020603050405020304" pitchFamily="18" charset="0"/>
              </a:rPr>
              <a:t> </a:t>
            </a:r>
            <a:r>
              <a:rPr lang="en-US" sz="2400" dirty="0" err="1">
                <a:effectLst/>
                <a:latin typeface="Times New Roman" panose="02020603050405020304" pitchFamily="18" charset="0"/>
                <a:ea typeface="Times New Roman" panose="02020603050405020304" pitchFamily="18" charset="0"/>
              </a:rPr>
              <a:t>StudentID</a:t>
            </a:r>
            <a:r>
              <a:rPr lang="ar-SA" sz="2400" dirty="0">
                <a:effectLst/>
                <a:latin typeface="Times New Roman" panose="02020603050405020304" pitchFamily="18" charset="0"/>
                <a:ea typeface="Times New Roman" panose="02020603050405020304" pitchFamily="18" charset="0"/>
              </a:rPr>
              <a:t>، می‌توانیم</a:t>
            </a:r>
            <a:r>
              <a:rPr lang="en-US" sz="2400" dirty="0">
                <a:effectLst/>
                <a:latin typeface="Times New Roman" panose="02020603050405020304" pitchFamily="18" charset="0"/>
                <a:ea typeface="Times New Roman" panose="02020603050405020304" pitchFamily="18" charset="0"/>
              </a:rPr>
              <a:t> Course </a:t>
            </a:r>
            <a:r>
              <a:rPr lang="ar-SA" sz="2400" dirty="0">
                <a:effectLst/>
                <a:latin typeface="Times New Roman" panose="02020603050405020304" pitchFamily="18" charset="0"/>
                <a:ea typeface="Times New Roman" panose="02020603050405020304" pitchFamily="18" charset="0"/>
              </a:rPr>
              <a:t>را تعیین کنیم</a:t>
            </a:r>
            <a:r>
              <a:rPr lang="en-US" sz="2400" dirty="0">
                <a:effectLst/>
                <a:latin typeface="Times New Roman" panose="02020603050405020304" pitchFamily="18" charset="0"/>
                <a:ea typeface="Times New Roman" panose="02020603050405020304" pitchFamily="18" charset="0"/>
              </a:rPr>
              <a:t>.</a:t>
            </a:r>
          </a:p>
          <a:p>
            <a:pPr marL="0" marR="0" algn="r" rtl="1">
              <a:lnSpc>
                <a:spcPct val="107000"/>
              </a:lnSpc>
              <a:spcBef>
                <a:spcPts val="0"/>
              </a:spcBef>
              <a:spcAft>
                <a:spcPts val="800"/>
              </a:spcAft>
            </a:pPr>
            <a:r>
              <a:rPr lang="en-US" sz="1800" dirty="0">
                <a:effectLst/>
                <a:latin typeface="Calibri" panose="020F0502020204030204" pitchFamily="34" charset="0"/>
                <a:ea typeface="Calibri" panose="020F0502020204030204" pitchFamily="34" charset="0"/>
                <a:cs typeface="Arial" panose="020B0604020202020204" pitchFamily="34" charset="0"/>
              </a:rPr>
              <a:t> </a:t>
            </a:r>
          </a:p>
          <a:p>
            <a:endParaRPr lang="en-US" sz="3600" dirty="0"/>
          </a:p>
        </p:txBody>
      </p:sp>
      <p:graphicFrame>
        <p:nvGraphicFramePr>
          <p:cNvPr id="4" name="Table 3">
            <a:extLst>
              <a:ext uri="{FF2B5EF4-FFF2-40B4-BE49-F238E27FC236}">
                <a16:creationId xmlns:a16="http://schemas.microsoft.com/office/drawing/2014/main" id="{60E03FE7-2BCE-43FC-B32E-2FAD0B479C85}"/>
              </a:ext>
            </a:extLst>
          </p:cNvPr>
          <p:cNvGraphicFramePr>
            <a:graphicFrameLocks noGrp="1"/>
          </p:cNvGraphicFramePr>
          <p:nvPr/>
        </p:nvGraphicFramePr>
        <p:xfrm>
          <a:off x="1828800" y="2958174"/>
          <a:ext cx="5257800" cy="1288415"/>
        </p:xfrm>
        <a:graphic>
          <a:graphicData uri="http://schemas.openxmlformats.org/drawingml/2006/table">
            <a:tbl>
              <a:tblPr firstRow="1" firstCol="1" bandRow="1">
                <a:tableStyleId>{616DA210-FB5B-4158-B5E0-FEB733F419BA}</a:tableStyleId>
              </a:tblPr>
              <a:tblGrid>
                <a:gridCol w="1752600">
                  <a:extLst>
                    <a:ext uri="{9D8B030D-6E8A-4147-A177-3AD203B41FA5}">
                      <a16:colId xmlns:a16="http://schemas.microsoft.com/office/drawing/2014/main" val="1657430916"/>
                    </a:ext>
                  </a:extLst>
                </a:gridCol>
                <a:gridCol w="1752600">
                  <a:extLst>
                    <a:ext uri="{9D8B030D-6E8A-4147-A177-3AD203B41FA5}">
                      <a16:colId xmlns:a16="http://schemas.microsoft.com/office/drawing/2014/main" val="1333989764"/>
                    </a:ext>
                  </a:extLst>
                </a:gridCol>
                <a:gridCol w="1752600">
                  <a:extLst>
                    <a:ext uri="{9D8B030D-6E8A-4147-A177-3AD203B41FA5}">
                      <a16:colId xmlns:a16="http://schemas.microsoft.com/office/drawing/2014/main" val="4212799806"/>
                    </a:ext>
                  </a:extLst>
                </a:gridCol>
              </a:tblGrid>
              <a:tr h="266700">
                <a:tc>
                  <a:txBody>
                    <a:bodyPr/>
                    <a:lstStyle/>
                    <a:p>
                      <a:pPr marL="0" marR="0" algn="ctr" rtl="1">
                        <a:lnSpc>
                          <a:spcPct val="107000"/>
                        </a:lnSpc>
                        <a:spcBef>
                          <a:spcPts val="0"/>
                        </a:spcBef>
                        <a:spcAft>
                          <a:spcPts val="0"/>
                        </a:spcAft>
                      </a:pPr>
                      <a:r>
                        <a:rPr lang="en-US" sz="2000" dirty="0" err="1">
                          <a:effectLst/>
                          <a:latin typeface="Times New Roman" panose="02020603050405020304" pitchFamily="18" charset="0"/>
                          <a:ea typeface="Times New Roman" panose="02020603050405020304" pitchFamily="18" charset="0"/>
                          <a:cs typeface="B Nazanin" panose="00000400000000000000" pitchFamily="2" charset="-78"/>
                        </a:rPr>
                        <a:t>StudentID</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tc>
                  <a:txBody>
                    <a:bodyPr/>
                    <a:lstStyle/>
                    <a:p>
                      <a:pPr marL="0" marR="0" algn="ctr" rtl="1">
                        <a:lnSpc>
                          <a:spcPct val="107000"/>
                        </a:lnSpc>
                        <a:spcBef>
                          <a:spcPts val="0"/>
                        </a:spcBef>
                        <a:spcAft>
                          <a:spcPts val="0"/>
                        </a:spcAft>
                      </a:pPr>
                      <a:r>
                        <a:rPr lang="en-US" sz="2000" dirty="0" err="1">
                          <a:effectLst/>
                          <a:latin typeface="Times New Roman" panose="02020603050405020304" pitchFamily="18" charset="0"/>
                          <a:ea typeface="Times New Roman" panose="02020603050405020304" pitchFamily="18" charset="0"/>
                          <a:cs typeface="B Nazanin" panose="00000400000000000000" pitchFamily="2" charset="-78"/>
                        </a:rPr>
                        <a:t>StudentName</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tc>
                  <a:txBody>
                    <a:bodyPr/>
                    <a:lstStyle/>
                    <a:p>
                      <a:pPr marL="0" marR="0" algn="ctr" rtl="1">
                        <a:lnSpc>
                          <a:spcPct val="107000"/>
                        </a:lnSpc>
                        <a:spcBef>
                          <a:spcPts val="0"/>
                        </a:spcBef>
                        <a:spcAft>
                          <a:spcPts val="0"/>
                        </a:spcAft>
                      </a:pPr>
                      <a:r>
                        <a:rPr lang="en-US" sz="2000" dirty="0">
                          <a:effectLst/>
                          <a:latin typeface="Times New Roman" panose="02020603050405020304" pitchFamily="18" charset="0"/>
                          <a:ea typeface="Times New Roman" panose="02020603050405020304" pitchFamily="18" charset="0"/>
                          <a:cs typeface="B Nazanin" panose="00000400000000000000" pitchFamily="2" charset="-78"/>
                        </a:rPr>
                        <a:t>Course</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extLst>
                  <a:ext uri="{0D108BD9-81ED-4DB2-BD59-A6C34878D82A}">
                    <a16:rowId xmlns:a16="http://schemas.microsoft.com/office/drawing/2014/main" val="1240795872"/>
                  </a:ext>
                </a:extLst>
              </a:tr>
              <a:tr h="266700">
                <a:tc>
                  <a:txBody>
                    <a:bodyPr/>
                    <a:lstStyle/>
                    <a:p>
                      <a:pPr marL="0" marR="0" algn="ctr" rtl="1">
                        <a:lnSpc>
                          <a:spcPct val="107000"/>
                        </a:lnSpc>
                        <a:spcBef>
                          <a:spcPts val="0"/>
                        </a:spcBef>
                        <a:spcAft>
                          <a:spcPts val="0"/>
                        </a:spcAft>
                      </a:pPr>
                      <a:r>
                        <a:rPr lang="en-US" sz="2000" dirty="0">
                          <a:effectLst/>
                          <a:cs typeface="B Nazanin" panose="00000400000000000000" pitchFamily="2" charset="-78"/>
                        </a:rPr>
                        <a:t>101</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tc>
                  <a:txBody>
                    <a:bodyPr/>
                    <a:lstStyle/>
                    <a:p>
                      <a:pPr marL="0" marR="0" algn="r" rtl="1">
                        <a:lnSpc>
                          <a:spcPct val="107000"/>
                        </a:lnSpc>
                        <a:spcBef>
                          <a:spcPts val="0"/>
                        </a:spcBef>
                        <a:spcAft>
                          <a:spcPts val="0"/>
                        </a:spcAft>
                      </a:pPr>
                      <a:r>
                        <a:rPr lang="ar-SA" sz="2000">
                          <a:effectLst/>
                          <a:cs typeface="B Nazanin" panose="00000400000000000000" pitchFamily="2" charset="-78"/>
                        </a:rPr>
                        <a:t>آلیس</a:t>
                      </a:r>
                      <a:endParaRPr lang="en-US" sz="180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tc>
                  <a:txBody>
                    <a:bodyPr/>
                    <a:lstStyle/>
                    <a:p>
                      <a:pPr marL="0" marR="0" algn="r" rtl="1">
                        <a:lnSpc>
                          <a:spcPct val="107000"/>
                        </a:lnSpc>
                        <a:spcBef>
                          <a:spcPts val="0"/>
                        </a:spcBef>
                        <a:spcAft>
                          <a:spcPts val="0"/>
                        </a:spcAft>
                      </a:pPr>
                      <a:r>
                        <a:rPr lang="ar-SA" sz="2000" dirty="0">
                          <a:effectLst/>
                          <a:cs typeface="B Nazanin" panose="00000400000000000000" pitchFamily="2" charset="-78"/>
                        </a:rPr>
                        <a:t>ریاضی</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extLst>
                  <a:ext uri="{0D108BD9-81ED-4DB2-BD59-A6C34878D82A}">
                    <a16:rowId xmlns:a16="http://schemas.microsoft.com/office/drawing/2014/main" val="3165658722"/>
                  </a:ext>
                </a:extLst>
              </a:tr>
              <a:tr h="266700">
                <a:tc>
                  <a:txBody>
                    <a:bodyPr/>
                    <a:lstStyle/>
                    <a:p>
                      <a:pPr marL="0" marR="0" algn="ctr" rtl="1">
                        <a:lnSpc>
                          <a:spcPct val="107000"/>
                        </a:lnSpc>
                        <a:spcBef>
                          <a:spcPts val="0"/>
                        </a:spcBef>
                        <a:spcAft>
                          <a:spcPts val="0"/>
                        </a:spcAft>
                      </a:pPr>
                      <a:r>
                        <a:rPr lang="en-US" sz="2000" dirty="0">
                          <a:effectLst/>
                          <a:cs typeface="B Nazanin" panose="00000400000000000000" pitchFamily="2" charset="-78"/>
                        </a:rPr>
                        <a:t>102</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tc>
                  <a:txBody>
                    <a:bodyPr/>
                    <a:lstStyle/>
                    <a:p>
                      <a:pPr marL="0" marR="0" algn="r" rtl="1">
                        <a:lnSpc>
                          <a:spcPct val="107000"/>
                        </a:lnSpc>
                        <a:spcBef>
                          <a:spcPts val="0"/>
                        </a:spcBef>
                        <a:spcAft>
                          <a:spcPts val="0"/>
                        </a:spcAft>
                      </a:pPr>
                      <a:r>
                        <a:rPr lang="ar-SA" sz="2000" dirty="0">
                          <a:effectLst/>
                          <a:cs typeface="B Nazanin" panose="00000400000000000000" pitchFamily="2" charset="-78"/>
                        </a:rPr>
                        <a:t>باب</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tc>
                  <a:txBody>
                    <a:bodyPr/>
                    <a:lstStyle/>
                    <a:p>
                      <a:pPr marL="0" marR="0" algn="r" rtl="1">
                        <a:lnSpc>
                          <a:spcPct val="107000"/>
                        </a:lnSpc>
                        <a:spcBef>
                          <a:spcPts val="0"/>
                        </a:spcBef>
                        <a:spcAft>
                          <a:spcPts val="0"/>
                        </a:spcAft>
                      </a:pPr>
                      <a:r>
                        <a:rPr lang="ar-SA" sz="2000">
                          <a:effectLst/>
                          <a:cs typeface="B Nazanin" panose="00000400000000000000" pitchFamily="2" charset="-78"/>
                        </a:rPr>
                        <a:t>فیزیک</a:t>
                      </a:r>
                      <a:endParaRPr lang="en-US" sz="180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extLst>
                  <a:ext uri="{0D108BD9-81ED-4DB2-BD59-A6C34878D82A}">
                    <a16:rowId xmlns:a16="http://schemas.microsoft.com/office/drawing/2014/main" val="863158277"/>
                  </a:ext>
                </a:extLst>
              </a:tr>
              <a:tr h="266700">
                <a:tc>
                  <a:txBody>
                    <a:bodyPr/>
                    <a:lstStyle/>
                    <a:p>
                      <a:pPr marL="0" marR="0" algn="ctr" rtl="1">
                        <a:lnSpc>
                          <a:spcPct val="107000"/>
                        </a:lnSpc>
                        <a:spcBef>
                          <a:spcPts val="0"/>
                        </a:spcBef>
                        <a:spcAft>
                          <a:spcPts val="0"/>
                        </a:spcAft>
                      </a:pPr>
                      <a:r>
                        <a:rPr lang="en-US" sz="2000" dirty="0">
                          <a:effectLst/>
                          <a:cs typeface="B Nazanin" panose="00000400000000000000" pitchFamily="2" charset="-78"/>
                        </a:rPr>
                        <a:t>103</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tc>
                  <a:txBody>
                    <a:bodyPr/>
                    <a:lstStyle/>
                    <a:p>
                      <a:pPr marL="0" marR="0" algn="r" rtl="1">
                        <a:lnSpc>
                          <a:spcPct val="107000"/>
                        </a:lnSpc>
                        <a:spcBef>
                          <a:spcPts val="0"/>
                        </a:spcBef>
                        <a:spcAft>
                          <a:spcPts val="0"/>
                        </a:spcAft>
                      </a:pPr>
                      <a:r>
                        <a:rPr lang="ar-SA" sz="2000" dirty="0">
                          <a:effectLst/>
                          <a:cs typeface="B Nazanin" panose="00000400000000000000" pitchFamily="2" charset="-78"/>
                        </a:rPr>
                        <a:t>چارلی</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tc>
                  <a:txBody>
                    <a:bodyPr/>
                    <a:lstStyle/>
                    <a:p>
                      <a:pPr marL="0" marR="0" algn="r" rtl="1">
                        <a:lnSpc>
                          <a:spcPct val="107000"/>
                        </a:lnSpc>
                        <a:spcBef>
                          <a:spcPts val="0"/>
                        </a:spcBef>
                        <a:spcAft>
                          <a:spcPts val="0"/>
                        </a:spcAft>
                      </a:pPr>
                      <a:r>
                        <a:rPr lang="ar-SA" sz="2000" dirty="0">
                          <a:effectLst/>
                          <a:cs typeface="B Nazanin" panose="00000400000000000000" pitchFamily="2" charset="-78"/>
                        </a:rPr>
                        <a:t>شیمی</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extLst>
                  <a:ext uri="{0D108BD9-81ED-4DB2-BD59-A6C34878D82A}">
                    <a16:rowId xmlns:a16="http://schemas.microsoft.com/office/drawing/2014/main" val="3877869186"/>
                  </a:ext>
                </a:extLst>
              </a:tr>
            </a:tbl>
          </a:graphicData>
        </a:graphic>
      </p:graphicFrame>
      <p:sp>
        <p:nvSpPr>
          <p:cNvPr id="6" name="TextBox 5">
            <a:extLst>
              <a:ext uri="{FF2B5EF4-FFF2-40B4-BE49-F238E27FC236}">
                <a16:creationId xmlns:a16="http://schemas.microsoft.com/office/drawing/2014/main" id="{05E8647D-DC26-4EDD-86BB-E98AC4AC94BF}"/>
              </a:ext>
            </a:extLst>
          </p:cNvPr>
          <p:cNvSpPr txBox="1"/>
          <p:nvPr/>
        </p:nvSpPr>
        <p:spPr>
          <a:xfrm>
            <a:off x="381000" y="4495800"/>
            <a:ext cx="8458200" cy="1660134"/>
          </a:xfrm>
          <a:prstGeom prst="rect">
            <a:avLst/>
          </a:prstGeom>
          <a:noFill/>
        </p:spPr>
        <p:txBody>
          <a:bodyPr wrap="square">
            <a:spAutoFit/>
          </a:bodyPr>
          <a:lstStyle/>
          <a:p>
            <a:pPr marL="0" marR="0" algn="r" rtl="1">
              <a:lnSpc>
                <a:spcPct val="107000"/>
              </a:lnSpc>
              <a:spcBef>
                <a:spcPts val="0"/>
              </a:spcBef>
              <a:spcAft>
                <a:spcPts val="800"/>
              </a:spcAft>
            </a:pPr>
            <a:r>
              <a:rPr lang="ar-SA" sz="2800" dirty="0">
                <a:effectLst/>
                <a:latin typeface="Calibri" panose="020F0502020204030204" pitchFamily="34" charset="0"/>
                <a:ea typeface="Calibri" panose="020F0502020204030204" pitchFamily="34" charset="0"/>
                <a:cs typeface="B Nazanin" panose="00000400000000000000" pitchFamily="2" charset="-78"/>
              </a:rPr>
              <a:t>اگر</a:t>
            </a:r>
            <a:r>
              <a:rPr lang="en-US" sz="2800" dirty="0">
                <a:effectLst/>
                <a:latin typeface="Calibri" panose="020F0502020204030204" pitchFamily="34" charset="0"/>
                <a:ea typeface="Calibri" panose="020F0502020204030204" pitchFamily="34" charset="0"/>
                <a:cs typeface="B Nazanin" panose="00000400000000000000" pitchFamily="2" charset="-78"/>
              </a:rPr>
              <a:t> B </a:t>
            </a:r>
            <a:r>
              <a:rPr lang="ar-SA" sz="2800" dirty="0">
                <a:effectLst/>
                <a:latin typeface="Calibri" panose="020F0502020204030204" pitchFamily="34" charset="0"/>
                <a:ea typeface="Calibri" panose="020F0502020204030204" pitchFamily="34" charset="0"/>
                <a:cs typeface="B Nazanin" panose="00000400000000000000" pitchFamily="2" charset="-78"/>
              </a:rPr>
              <a:t>زیرمجموعه</a:t>
            </a:r>
            <a:r>
              <a:rPr lang="en-US" sz="2800" dirty="0">
                <a:effectLst/>
                <a:latin typeface="Calibri" panose="020F0502020204030204" pitchFamily="34" charset="0"/>
                <a:ea typeface="Calibri" panose="020F0502020204030204" pitchFamily="34" charset="0"/>
                <a:cs typeface="B Nazanin" panose="00000400000000000000" pitchFamily="2" charset="-78"/>
              </a:rPr>
              <a:t> A </a:t>
            </a:r>
            <a:r>
              <a:rPr lang="ar-SA" sz="2800" dirty="0">
                <a:effectLst/>
                <a:latin typeface="Calibri" panose="020F0502020204030204" pitchFamily="34" charset="0"/>
                <a:ea typeface="Calibri" panose="020F0502020204030204" pitchFamily="34" charset="0"/>
                <a:cs typeface="B Nazanin" panose="00000400000000000000" pitchFamily="2" charset="-78"/>
              </a:rPr>
              <a:t>باشد، </a:t>
            </a:r>
            <a:r>
              <a:rPr lang="en-US" sz="2800" dirty="0">
                <a:effectLst/>
                <a:latin typeface="Calibri" panose="020F0502020204030204" pitchFamily="34" charset="0"/>
                <a:ea typeface="Calibri" panose="020F0502020204030204" pitchFamily="34" charset="0"/>
                <a:cs typeface="B Nazanin" panose="00000400000000000000" pitchFamily="2" charset="-78"/>
              </a:rPr>
              <a:t>A-&gt;B</a:t>
            </a:r>
            <a:r>
              <a:rPr lang="en-US" sz="2800" dirty="0">
                <a:effectLst/>
                <a:latin typeface="Arial" panose="020B0604020202020204" pitchFamily="34" charset="0"/>
                <a:ea typeface="Calibri" panose="020F0502020204030204" pitchFamily="34" charset="0"/>
                <a:cs typeface="B Nazanin" panose="00000400000000000000" pitchFamily="2" charset="-78"/>
              </a:rPr>
              <a:t> </a:t>
            </a:r>
            <a:r>
              <a:rPr lang="ar-SA" sz="2800" dirty="0">
                <a:effectLst/>
                <a:latin typeface="Calibri" panose="020F0502020204030204" pitchFamily="34" charset="0"/>
                <a:ea typeface="Calibri" panose="020F0502020204030204" pitchFamily="34" charset="0"/>
                <a:cs typeface="B Nazanin" panose="00000400000000000000" pitchFamily="2" charset="-78"/>
              </a:rPr>
              <a:t>را وابستگي تابعي بدیهي مي نامیم</a:t>
            </a:r>
            <a:r>
              <a:rPr lang="en-US" sz="2800" dirty="0">
                <a:effectLst/>
                <a:latin typeface="Calibri" panose="020F0502020204030204" pitchFamily="34" charset="0"/>
                <a:ea typeface="Calibri" panose="020F0502020204030204" pitchFamily="34" charset="0"/>
                <a:cs typeface="B Nazanin" panose="00000400000000000000" pitchFamily="2" charset="-78"/>
              </a:rPr>
              <a:t>. </a:t>
            </a:r>
          </a:p>
          <a:p>
            <a:pPr marL="0" marR="0" algn="r" rtl="1">
              <a:lnSpc>
                <a:spcPct val="107000"/>
              </a:lnSpc>
              <a:spcBef>
                <a:spcPts val="0"/>
              </a:spcBef>
              <a:spcAft>
                <a:spcPts val="800"/>
              </a:spcAft>
            </a:pPr>
            <a:r>
              <a:rPr lang="ar-SA" sz="2800" dirty="0">
                <a:effectLst/>
                <a:latin typeface="Calibri" panose="020F0502020204030204" pitchFamily="34" charset="0"/>
                <a:ea typeface="Calibri" panose="020F0502020204030204" pitchFamily="34" charset="0"/>
                <a:cs typeface="B Nazanin" panose="00000400000000000000" pitchFamily="2" charset="-78"/>
              </a:rPr>
              <a:t> مثال</a:t>
            </a:r>
            <a:r>
              <a:rPr lang="en-US" sz="2800" dirty="0">
                <a:effectLst/>
                <a:latin typeface="Calibri" panose="020F0502020204030204" pitchFamily="34" charset="0"/>
                <a:ea typeface="Calibri" panose="020F0502020204030204" pitchFamily="34" charset="0"/>
                <a:cs typeface="B Nazanin" panose="00000400000000000000" pitchFamily="2" charset="-78"/>
              </a:rPr>
              <a:t>:</a:t>
            </a:r>
          </a:p>
          <a:p>
            <a:pPr marL="0" marR="0" algn="r" rtl="1">
              <a:lnSpc>
                <a:spcPct val="107000"/>
              </a:lnSpc>
              <a:spcBef>
                <a:spcPts val="0"/>
              </a:spcBef>
              <a:spcAft>
                <a:spcPts val="800"/>
              </a:spcAft>
            </a:pPr>
            <a:r>
              <a:rPr lang="en-US" sz="2800" dirty="0">
                <a:effectLst/>
                <a:latin typeface="Calibri" panose="020F0502020204030204" pitchFamily="34" charset="0"/>
                <a:ea typeface="Calibri" panose="020F0502020204030204" pitchFamily="34" charset="0"/>
                <a:cs typeface="B Nazanin" panose="00000400000000000000" pitchFamily="2" charset="-78"/>
              </a:rPr>
              <a:t>(</a:t>
            </a:r>
            <a:r>
              <a:rPr lang="en-US" sz="2800" dirty="0" err="1">
                <a:effectLst/>
                <a:latin typeface="Calibri" panose="020F0502020204030204" pitchFamily="34" charset="0"/>
                <a:ea typeface="Calibri" panose="020F0502020204030204" pitchFamily="34" charset="0"/>
                <a:cs typeface="B Nazanin" panose="00000400000000000000" pitchFamily="2" charset="-78"/>
              </a:rPr>
              <a:t>Sname,avg</a:t>
            </a:r>
            <a:r>
              <a:rPr lang="en-US" sz="2800" dirty="0">
                <a:effectLst/>
                <a:latin typeface="Calibri" panose="020F0502020204030204" pitchFamily="34" charset="0"/>
                <a:ea typeface="Calibri" panose="020F0502020204030204" pitchFamily="34" charset="0"/>
                <a:cs typeface="B Nazanin" panose="00000400000000000000" pitchFamily="2" charset="-78"/>
              </a:rPr>
              <a:t>)-&gt;avg</a:t>
            </a:r>
          </a:p>
        </p:txBody>
      </p:sp>
    </p:spTree>
    <p:extLst>
      <p:ext uri="{BB962C8B-B14F-4D97-AF65-F5344CB8AC3E}">
        <p14:creationId xmlns:p14="http://schemas.microsoft.com/office/powerpoint/2010/main" val="5967558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2290" name="Rectangle 2"/>
          <p:cNvSpPr>
            <a:spLocks noGrp="1" noChangeArrowheads="1"/>
          </p:cNvSpPr>
          <p:nvPr>
            <p:ph type="title"/>
          </p:nvPr>
        </p:nvSpPr>
        <p:spPr/>
        <p:txBody>
          <a:bodyPr/>
          <a:lstStyle/>
          <a:p>
            <a:pPr>
              <a:defRPr/>
            </a:pPr>
            <a:r>
              <a:rPr lang="fa-IR" dirty="0" err="1"/>
              <a:t>ویژگی‌های</a:t>
            </a:r>
            <a:r>
              <a:rPr lang="fa-IR" dirty="0"/>
              <a:t> یک طراحی </a:t>
            </a:r>
            <a:r>
              <a:rPr lang="fa-IR" dirty="0" err="1"/>
              <a:t>رابطه‌ای</a:t>
            </a:r>
            <a:r>
              <a:rPr lang="fa-IR" dirty="0"/>
              <a:t> خوب</a:t>
            </a:r>
            <a:endParaRPr lang="en-US" altLang="en-US" sz="2800" dirty="0">
              <a:effectLst>
                <a:outerShdw blurRad="38100" dist="38100" dir="2700000" algn="tl">
                  <a:srgbClr val="C0C0C0"/>
                </a:outerShdw>
              </a:effectLst>
              <a:ea typeface="ＭＳ Ｐゴシック" pitchFamily="34" charset="-128"/>
            </a:endParaRPr>
          </a:p>
        </p:txBody>
      </p:sp>
      <p:sp>
        <p:nvSpPr>
          <p:cNvPr id="8195" name="Rectangle 3"/>
          <p:cNvSpPr>
            <a:spLocks noGrp="1" noChangeArrowheads="1"/>
          </p:cNvSpPr>
          <p:nvPr>
            <p:ph idx="1"/>
          </p:nvPr>
        </p:nvSpPr>
        <p:spPr>
          <a:xfrm>
            <a:off x="752020" y="1111060"/>
            <a:ext cx="7661585" cy="5020788"/>
          </a:xfrm>
        </p:spPr>
        <p:txBody>
          <a:bodyPr/>
          <a:lstStyle/>
          <a:p>
            <a:pPr algn="r" rtl="1"/>
            <a:r>
              <a:rPr lang="fa-IR" sz="1800" dirty="0"/>
              <a:t>فرض کنید جدول </a:t>
            </a:r>
            <a:r>
              <a:rPr lang="en-US" sz="1800" dirty="0"/>
              <a:t>instructor </a:t>
            </a:r>
            <a:r>
              <a:rPr lang="fa-IR" sz="1800" dirty="0"/>
              <a:t>و </a:t>
            </a:r>
            <a:r>
              <a:rPr lang="en-US" sz="1800" dirty="0"/>
              <a:t>department </a:t>
            </a:r>
            <a:r>
              <a:rPr lang="fa-IR" sz="1800" dirty="0"/>
              <a:t>را یکی کنیم و جدولی به نام </a:t>
            </a:r>
            <a:r>
              <a:rPr lang="en-US" sz="1800" dirty="0" err="1"/>
              <a:t>in_dep</a:t>
            </a:r>
            <a:r>
              <a:rPr lang="en-US" sz="1800" dirty="0"/>
              <a:t> </a:t>
            </a:r>
            <a:r>
              <a:rPr lang="fa-IR" sz="1800" dirty="0"/>
              <a:t>بسازیم. </a:t>
            </a:r>
          </a:p>
          <a:p>
            <a:pPr algn="r" rtl="1"/>
            <a:endParaRPr lang="fa-IR" altLang="en-US" sz="1800" i="1" dirty="0"/>
          </a:p>
          <a:p>
            <a:pPr algn="r" rtl="1"/>
            <a:endParaRPr lang="fa-IR" altLang="en-US" sz="1800" i="1" dirty="0"/>
          </a:p>
          <a:p>
            <a:pPr algn="r" rtl="1"/>
            <a:endParaRPr lang="en-US" altLang="en-US" sz="1700" i="1" dirty="0"/>
          </a:p>
          <a:p>
            <a:endParaRPr lang="en-US" altLang="en-US" sz="1700" i="1" dirty="0"/>
          </a:p>
          <a:p>
            <a:endParaRPr lang="en-US" altLang="en-US" sz="1700" i="1" dirty="0"/>
          </a:p>
          <a:p>
            <a:endParaRPr lang="en-US" altLang="en-US" sz="1700" i="1" dirty="0"/>
          </a:p>
          <a:p>
            <a:endParaRPr lang="en-US" altLang="en-US" sz="1700" i="1" dirty="0"/>
          </a:p>
          <a:p>
            <a:endParaRPr lang="en-US" altLang="en-US" sz="1700" i="1" dirty="0"/>
          </a:p>
          <a:p>
            <a:endParaRPr lang="en-US" altLang="en-US" sz="1700" i="1" dirty="0"/>
          </a:p>
          <a:p>
            <a:endParaRPr lang="en-US" altLang="en-US" sz="1700" i="1" dirty="0"/>
          </a:p>
          <a:p>
            <a:pPr algn="r" rtl="1"/>
            <a:endParaRPr lang="en-US" altLang="en-US" sz="2000" dirty="0"/>
          </a:p>
          <a:p>
            <a:endParaRPr lang="fa-IR" altLang="en-US" sz="2000" i="1" dirty="0"/>
          </a:p>
          <a:p>
            <a:endParaRPr lang="en-US" altLang="en-US" sz="2000" i="1" dirty="0"/>
          </a:p>
        </p:txBody>
      </p:sp>
      <p:pic>
        <p:nvPicPr>
          <p:cNvPr id="8196" name="Picture 5" descr="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95009" y="1938289"/>
            <a:ext cx="4553982" cy="27326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a:spLocks noChangeArrowheads="1"/>
          </p:cNvSpPr>
          <p:nvPr/>
        </p:nvSpPr>
        <p:spPr bwMode="auto">
          <a:xfrm>
            <a:off x="887104" y="5882184"/>
            <a:ext cx="766158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285750" indent="-285750">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buClr>
                <a:srgbClr val="002060"/>
              </a:buClr>
              <a:buSzPct val="100000"/>
            </a:pPr>
            <a:endParaRPr lang="en-US" altLang="en-US" sz="2000" dirty="0"/>
          </a:p>
        </p:txBody>
      </p:sp>
      <p:sp>
        <p:nvSpPr>
          <p:cNvPr id="4" name="TextBox 3">
            <a:extLst>
              <a:ext uri="{FF2B5EF4-FFF2-40B4-BE49-F238E27FC236}">
                <a16:creationId xmlns:a16="http://schemas.microsoft.com/office/drawing/2014/main" id="{D87D01CA-2722-50AB-32B0-B0EFC718DBC1}"/>
              </a:ext>
            </a:extLst>
          </p:cNvPr>
          <p:cNvSpPr txBox="1"/>
          <p:nvPr/>
        </p:nvSpPr>
        <p:spPr>
          <a:xfrm>
            <a:off x="234950" y="5190979"/>
            <a:ext cx="8374478" cy="1200329"/>
          </a:xfrm>
          <a:prstGeom prst="rect">
            <a:avLst/>
          </a:prstGeom>
          <a:noFill/>
        </p:spPr>
        <p:txBody>
          <a:bodyPr wrap="square">
            <a:spAutoFit/>
          </a:bodyPr>
          <a:lstStyle/>
          <a:p>
            <a:pPr algn="r" rtl="1"/>
            <a:r>
              <a:rPr lang="fa-IR" sz="2400" dirty="0">
                <a:cs typeface="B Nazanin" panose="00000400000000000000" pitchFamily="2" charset="-78"/>
              </a:rPr>
              <a:t>این کار باعث تکرار اطلاعات می‌شود و در مواردی مجبور می‌شویم </a:t>
            </a:r>
            <a:r>
              <a:rPr lang="en-US" sz="2400" dirty="0">
                <a:cs typeface="B Nazanin" panose="00000400000000000000" pitchFamily="2" charset="-78"/>
              </a:rPr>
              <a:t>NULL </a:t>
            </a:r>
            <a:r>
              <a:rPr lang="fa-IR" sz="2400" dirty="0">
                <a:cs typeface="B Nazanin" panose="00000400000000000000" pitchFamily="2" charset="-78"/>
              </a:rPr>
              <a:t>وارد کنیم (مثلاً وقتی دپارتمانی استاد ندارد).</a:t>
            </a:r>
            <a:endParaRPr lang="en-US" altLang="en-US" sz="2400" i="1" dirty="0">
              <a:cs typeface="B Nazanin" panose="00000400000000000000" pitchFamily="2" charset="-78"/>
            </a:endParaRPr>
          </a:p>
          <a:p>
            <a:pPr algn="r" rtl="1"/>
            <a:endParaRPr lang="en-US" altLang="en-US" sz="2400" i="1" dirty="0">
              <a:cs typeface="B Nazanin" panose="00000400000000000000" pitchFamily="2" charset="-78"/>
            </a:endParaRPr>
          </a:p>
        </p:txBody>
      </p:sp>
    </p:spTree>
    <p:extLst>
      <p:ext uri="{BB962C8B-B14F-4D97-AF65-F5344CB8AC3E}">
        <p14:creationId xmlns:p14="http://schemas.microsoft.com/office/powerpoint/2010/main" val="422424437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nodeType="withEffect">
                                  <p:stCondLst>
                                    <p:cond delay="0"/>
                                  </p:stCondLst>
                                  <p:childTnLst>
                                    <p:set>
                                      <p:cBhvr>
                                        <p:cTn id="6" dur="1" fill="hold">
                                          <p:stCondLst>
                                            <p:cond delay="0"/>
                                          </p:stCondLst>
                                        </p:cTn>
                                        <p:tgtEl>
                                          <p:spTgt spid="8196"/>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nodePh="1">
                                  <p:stCondLst>
                                    <p:cond delay="0"/>
                                  </p:stCondLst>
                                  <p:endCondLst>
                                    <p:cond evt="begin" delay="0">
                                      <p:tn val="9"/>
                                    </p:cond>
                                  </p:end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99B505-7B22-4D04-AFB6-0BBD2C26C34C}"/>
              </a:ext>
            </a:extLst>
          </p:cNvPr>
          <p:cNvSpPr>
            <a:spLocks noGrp="1"/>
          </p:cNvSpPr>
          <p:nvPr>
            <p:ph type="title"/>
          </p:nvPr>
        </p:nvSpPr>
        <p:spPr/>
        <p:txBody>
          <a:bodyPr/>
          <a:lstStyle/>
          <a:p>
            <a:r>
              <a:rPr lang="ar-SA" sz="2800" b="1" dirty="0">
                <a:effectLst/>
                <a:latin typeface="Times New Roman" panose="02020603050405020304" pitchFamily="18" charset="0"/>
                <a:ea typeface="Times New Roman" panose="02020603050405020304" pitchFamily="18" charset="0"/>
                <a:cs typeface="B Nazanin" panose="00000400000000000000" pitchFamily="2" charset="-78"/>
              </a:rPr>
              <a:t>وابستگی تابعی</a:t>
            </a:r>
            <a:r>
              <a:rPr lang="en-US" sz="2800" b="1" dirty="0">
                <a:effectLst/>
                <a:latin typeface="Times New Roman" panose="02020603050405020304" pitchFamily="18" charset="0"/>
                <a:ea typeface="Times New Roman" panose="02020603050405020304" pitchFamily="18" charset="0"/>
                <a:cs typeface="B Nazanin" panose="00000400000000000000" pitchFamily="2" charset="-78"/>
              </a:rPr>
              <a:t> (Functional Dependency) </a:t>
            </a:r>
            <a:r>
              <a:rPr lang="ar-SA" sz="2800" b="1" dirty="0">
                <a:effectLst/>
                <a:latin typeface="Times New Roman" panose="02020603050405020304" pitchFamily="18" charset="0"/>
                <a:ea typeface="Times New Roman" panose="02020603050405020304" pitchFamily="18" charset="0"/>
                <a:cs typeface="B Nazanin" panose="00000400000000000000" pitchFamily="2" charset="-78"/>
              </a:rPr>
              <a:t>در پایگاه داده</a:t>
            </a:r>
            <a:endParaRPr lang="en-US" dirty="0"/>
          </a:p>
        </p:txBody>
      </p:sp>
      <p:sp>
        <p:nvSpPr>
          <p:cNvPr id="3" name="Content Placeholder 2">
            <a:extLst>
              <a:ext uri="{FF2B5EF4-FFF2-40B4-BE49-F238E27FC236}">
                <a16:creationId xmlns:a16="http://schemas.microsoft.com/office/drawing/2014/main" id="{1BC9B834-96AB-4CB7-BAA8-A5220B848B9C}"/>
              </a:ext>
            </a:extLst>
          </p:cNvPr>
          <p:cNvSpPr>
            <a:spLocks noGrp="1"/>
          </p:cNvSpPr>
          <p:nvPr>
            <p:ph idx="1"/>
          </p:nvPr>
        </p:nvSpPr>
        <p:spPr>
          <a:xfrm>
            <a:off x="304800" y="838200"/>
            <a:ext cx="8540749" cy="5544493"/>
          </a:xfrm>
        </p:spPr>
        <p:txBody>
          <a:bodyPr/>
          <a:lstStyle/>
          <a:p>
            <a:pPr algn="r" rtl="1"/>
            <a:r>
              <a:rPr lang="fa-IR" sz="2800" dirty="0"/>
              <a:t>وابستگی تابعی کامل </a:t>
            </a:r>
            <a:r>
              <a:rPr lang="en-US" sz="2800" dirty="0"/>
              <a:t>FFD</a:t>
            </a:r>
          </a:p>
          <a:p>
            <a:pPr algn="r" rtl="1"/>
            <a:r>
              <a:rPr lang="fa-IR" sz="2800" dirty="0"/>
              <a:t>صفت خاصه </a:t>
            </a:r>
            <a:r>
              <a:rPr lang="en-US" sz="2800" dirty="0"/>
              <a:t>y </a:t>
            </a:r>
            <a:r>
              <a:rPr lang="fa-IR" sz="2800" dirty="0"/>
              <a:t> به صفت خاصه </a:t>
            </a:r>
            <a:r>
              <a:rPr lang="en-US" sz="2800" dirty="0"/>
              <a:t>x </a:t>
            </a:r>
            <a:r>
              <a:rPr lang="fa-IR" sz="2800" dirty="0"/>
              <a:t> وابستگی تابعی کامل دارد اگر </a:t>
            </a:r>
            <a:r>
              <a:rPr lang="en-US" sz="2800" dirty="0"/>
              <a:t>y</a:t>
            </a:r>
            <a:r>
              <a:rPr lang="fa-IR" sz="2800" dirty="0"/>
              <a:t> به </a:t>
            </a:r>
            <a:r>
              <a:rPr lang="en-US" sz="2800" dirty="0"/>
              <a:t>x </a:t>
            </a:r>
            <a:r>
              <a:rPr lang="fa-IR" sz="2800" dirty="0"/>
              <a:t> وابسته باشد ولی با هیچ یک از زیرمجموعه‌های </a:t>
            </a:r>
            <a:r>
              <a:rPr lang="en-US" sz="2800" dirty="0"/>
              <a:t>x</a:t>
            </a:r>
            <a:r>
              <a:rPr lang="fa-IR" sz="2800" dirty="0"/>
              <a:t> وابستگی تابعی نداشته باشد. </a:t>
            </a:r>
            <a:endParaRPr lang="en-US" sz="2800" dirty="0"/>
          </a:p>
          <a:p>
            <a:pPr algn="r" rtl="1"/>
            <a:r>
              <a:rPr lang="fa-IR" sz="2800" dirty="0"/>
              <a:t>رابطه دانشجوی زیر را درنظر بگیرید</a:t>
            </a:r>
          </a:p>
          <a:p>
            <a:pPr algn="r" rtl="1"/>
            <a:r>
              <a:rPr lang="en-US" sz="2800" dirty="0"/>
              <a:t>S#,SNAME, City, AVG, Department</a:t>
            </a:r>
            <a:endParaRPr lang="fa-IR" sz="2800" dirty="0"/>
          </a:p>
          <a:p>
            <a:pPr algn="r" rtl="1"/>
            <a:r>
              <a:rPr lang="fa-IR" sz="2800" dirty="0"/>
              <a:t>وابستگی تابعی زیر وجود دارد</a:t>
            </a:r>
          </a:p>
          <a:p>
            <a:pPr algn="ctr" rtl="1"/>
            <a:r>
              <a:rPr lang="en-US" sz="2800" dirty="0"/>
              <a:t>(S#,SNAME)-&gt;City</a:t>
            </a:r>
            <a:endParaRPr lang="fa-IR" sz="2800" dirty="0"/>
          </a:p>
          <a:p>
            <a:pPr algn="r" rtl="1"/>
            <a:r>
              <a:rPr lang="fa-IR" sz="2800" dirty="0"/>
              <a:t>آیا وابستگی تابعی کامل هست؟</a:t>
            </a:r>
          </a:p>
          <a:p>
            <a:pPr algn="r" rtl="1"/>
            <a:r>
              <a:rPr lang="fa-IR" sz="2800" dirty="0"/>
              <a:t>اگر برای تمامی صفت‌های </a:t>
            </a:r>
            <a:r>
              <a:rPr lang="en-US" sz="2800" dirty="0"/>
              <a:t>B</a:t>
            </a:r>
            <a:r>
              <a:rPr lang="fa-IR" sz="2800" dirty="0"/>
              <a:t> داشته باشیم </a:t>
            </a:r>
            <a:r>
              <a:rPr lang="en-US" sz="2800" dirty="0"/>
              <a:t>A-&gt;B</a:t>
            </a:r>
            <a:r>
              <a:rPr lang="fa-IR" sz="2800" dirty="0"/>
              <a:t> انگاه </a:t>
            </a:r>
            <a:r>
              <a:rPr lang="en-US" sz="2800" dirty="0"/>
              <a:t>A</a:t>
            </a:r>
            <a:r>
              <a:rPr lang="fa-IR" sz="2800" dirty="0"/>
              <a:t> ابر کلید هست. </a:t>
            </a:r>
            <a:endParaRPr lang="en-US" sz="2800" dirty="0"/>
          </a:p>
        </p:txBody>
      </p:sp>
    </p:spTree>
    <p:extLst>
      <p:ext uri="{BB962C8B-B14F-4D97-AF65-F5344CB8AC3E}">
        <p14:creationId xmlns:p14="http://schemas.microsoft.com/office/powerpoint/2010/main" val="32851514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99B505-7B22-4D04-AFB6-0BBD2C26C34C}"/>
              </a:ext>
            </a:extLst>
          </p:cNvPr>
          <p:cNvSpPr>
            <a:spLocks noGrp="1"/>
          </p:cNvSpPr>
          <p:nvPr>
            <p:ph type="title"/>
          </p:nvPr>
        </p:nvSpPr>
        <p:spPr/>
        <p:txBody>
          <a:bodyPr/>
          <a:lstStyle/>
          <a:p>
            <a:r>
              <a:rPr lang="ar-SA" sz="2800" b="1" dirty="0">
                <a:effectLst/>
                <a:latin typeface="Times New Roman" panose="02020603050405020304" pitchFamily="18" charset="0"/>
                <a:ea typeface="Times New Roman" panose="02020603050405020304" pitchFamily="18" charset="0"/>
                <a:cs typeface="B Nazanin" panose="00000400000000000000" pitchFamily="2" charset="-78"/>
              </a:rPr>
              <a:t>وابستگی تابعی</a:t>
            </a:r>
            <a:r>
              <a:rPr lang="en-US" sz="2800" b="1" dirty="0">
                <a:effectLst/>
                <a:latin typeface="Times New Roman" panose="02020603050405020304" pitchFamily="18" charset="0"/>
                <a:ea typeface="Times New Roman" panose="02020603050405020304" pitchFamily="18" charset="0"/>
                <a:cs typeface="B Nazanin" panose="00000400000000000000" pitchFamily="2" charset="-78"/>
              </a:rPr>
              <a:t> (Functional Dependency) </a:t>
            </a:r>
            <a:r>
              <a:rPr lang="ar-SA" sz="2800" b="1" dirty="0">
                <a:effectLst/>
                <a:latin typeface="Times New Roman" panose="02020603050405020304" pitchFamily="18" charset="0"/>
                <a:ea typeface="Times New Roman" panose="02020603050405020304" pitchFamily="18" charset="0"/>
                <a:cs typeface="B Nazanin" panose="00000400000000000000" pitchFamily="2" charset="-78"/>
              </a:rPr>
              <a:t>در پایگاه داده</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1BC9B834-96AB-4CB7-BAA8-A5220B848B9C}"/>
                  </a:ext>
                </a:extLst>
              </p:cNvPr>
              <p:cNvSpPr>
                <a:spLocks noGrp="1"/>
              </p:cNvSpPr>
              <p:nvPr>
                <p:ph idx="1"/>
              </p:nvPr>
            </p:nvSpPr>
            <p:spPr>
              <a:xfrm>
                <a:off x="304800" y="838200"/>
                <a:ext cx="8540749" cy="5544493"/>
              </a:xfrm>
            </p:spPr>
            <p:txBody>
              <a:bodyPr/>
              <a:lstStyle/>
              <a:p>
                <a:pPr marL="0" marR="0" algn="r" rtl="1">
                  <a:lnSpc>
                    <a:spcPct val="107000"/>
                  </a:lnSpc>
                  <a:spcBef>
                    <a:spcPts val="0"/>
                  </a:spcBef>
                  <a:spcAft>
                    <a:spcPts val="800"/>
                  </a:spcAft>
                </a:pPr>
                <a:r>
                  <a:rPr lang="ar-SA" sz="3600" dirty="0">
                    <a:effectLst/>
                    <a:latin typeface="Calibri" panose="020F0502020204030204" pitchFamily="34" charset="0"/>
                    <a:ea typeface="Calibri" panose="020F0502020204030204" pitchFamily="34" charset="0"/>
                  </a:rPr>
                  <a:t>اگر</a:t>
                </a:r>
                <a:r>
                  <a:rPr lang="en-US" sz="3600" dirty="0">
                    <a:effectLst/>
                    <a:latin typeface="Calibri" panose="020F0502020204030204" pitchFamily="34" charset="0"/>
                    <a:ea typeface="Calibri" panose="020F0502020204030204" pitchFamily="34" charset="0"/>
                  </a:rPr>
                  <a:t> F </a:t>
                </a:r>
                <a:r>
                  <a:rPr lang="ar-SA" sz="3600" dirty="0">
                    <a:effectLst/>
                    <a:latin typeface="Calibri" panose="020F0502020204030204" pitchFamily="34" charset="0"/>
                    <a:ea typeface="Calibri" panose="020F0502020204030204" pitchFamily="34" charset="0"/>
                  </a:rPr>
                  <a:t>یک مجموعه از وابستگي هاي تابعي باشد آنگاه مجموعه تمام وابستگي هاي تابعي که از آن منتج مي شود را</a:t>
                </a:r>
                <a:r>
                  <a:rPr lang="fa-IR" sz="3600" dirty="0">
                    <a:effectLst/>
                    <a:latin typeface="Calibri" panose="020F0502020204030204" pitchFamily="34" charset="0"/>
                    <a:ea typeface="Calibri" panose="020F0502020204030204" pitchFamily="34" charset="0"/>
                  </a:rPr>
                  <a:t> مجموعه پوششی </a:t>
                </a:r>
                <a:r>
                  <a:rPr lang="en-US" sz="3600" dirty="0">
                    <a:effectLst/>
                    <a:latin typeface="Calibri" panose="020F0502020204030204" pitchFamily="34" charset="0"/>
                    <a:ea typeface="Calibri" panose="020F0502020204030204" pitchFamily="34" charset="0"/>
                  </a:rPr>
                  <a:t>f</a:t>
                </a:r>
                <a:r>
                  <a:rPr lang="fa-IR" sz="3600" dirty="0">
                    <a:effectLst/>
                    <a:latin typeface="Calibri" panose="020F0502020204030204" pitchFamily="34" charset="0"/>
                    <a:ea typeface="Calibri" panose="020F0502020204030204" pitchFamily="34" charset="0"/>
                  </a:rPr>
                  <a:t> می‌نامیم و با </a:t>
                </a:r>
                <a14:m>
                  <m:oMath xmlns:m="http://schemas.openxmlformats.org/officeDocument/2006/math">
                    <m:sSup>
                      <m:sSupPr>
                        <m:ctrlPr>
                          <a:rPr lang="en-US" sz="3600" i="1">
                            <a:effectLst/>
                            <a:latin typeface="Cambria Math" panose="02040503050406030204" pitchFamily="18" charset="0"/>
                            <a:ea typeface="Calibri" panose="020F0502020204030204" pitchFamily="34" charset="0"/>
                            <a:cs typeface="Arial" panose="020B0604020202020204" pitchFamily="34" charset="0"/>
                          </a:rPr>
                        </m:ctrlPr>
                      </m:sSupPr>
                      <m:e>
                        <m:r>
                          <a:rPr lang="en-US" sz="3600" i="1">
                            <a:effectLst/>
                            <a:latin typeface="Cambria Math" panose="02040503050406030204" pitchFamily="18" charset="0"/>
                            <a:ea typeface="Calibri" panose="020F0502020204030204" pitchFamily="34" charset="0"/>
                            <a:cs typeface="Arial" panose="020B0604020202020204" pitchFamily="34" charset="0"/>
                          </a:rPr>
                          <m:t>𝑓</m:t>
                        </m:r>
                      </m:e>
                      <m:sup>
                        <m:r>
                          <a:rPr lang="en-US" sz="3600" i="1">
                            <a:effectLst/>
                            <a:latin typeface="Cambria Math" panose="02040503050406030204" pitchFamily="18" charset="0"/>
                            <a:ea typeface="Calibri" panose="020F0502020204030204" pitchFamily="34" charset="0"/>
                            <a:cs typeface="Arial" panose="020B0604020202020204" pitchFamily="34" charset="0"/>
                          </a:rPr>
                          <m:t>+</m:t>
                        </m:r>
                      </m:sup>
                    </m:sSup>
                  </m:oMath>
                </a14:m>
                <a:r>
                  <a:rPr lang="en-US" sz="3600" dirty="0">
                    <a:effectLst/>
                    <a:latin typeface="Arial" panose="020B0604020202020204" pitchFamily="34" charset="0"/>
                    <a:ea typeface="Calibri" panose="020F0502020204030204" pitchFamily="34" charset="0"/>
                  </a:rPr>
                  <a:t> </a:t>
                </a:r>
                <a:r>
                  <a:rPr lang="ar-SA" sz="3600" dirty="0">
                    <a:effectLst/>
                    <a:latin typeface="Arial" panose="020B0604020202020204" pitchFamily="34" charset="0"/>
                    <a:ea typeface="Calibri" panose="020F0502020204030204" pitchFamily="34" charset="0"/>
                  </a:rPr>
                  <a:t>نمایش مي دهیم</a:t>
                </a:r>
                <a:r>
                  <a:rPr lang="en-US" sz="3600" dirty="0">
                    <a:effectLst/>
                    <a:latin typeface="Calibri" panose="020F0502020204030204" pitchFamily="34" charset="0"/>
                    <a:ea typeface="Calibri" panose="020F0502020204030204" pitchFamily="34" charset="0"/>
                  </a:rPr>
                  <a:t>. </a:t>
                </a:r>
              </a:p>
            </p:txBody>
          </p:sp>
        </mc:Choice>
        <mc:Fallback>
          <p:sp>
            <p:nvSpPr>
              <p:cNvPr id="3" name="Content Placeholder 2">
                <a:extLst>
                  <a:ext uri="{FF2B5EF4-FFF2-40B4-BE49-F238E27FC236}">
                    <a16:creationId xmlns:a16="http://schemas.microsoft.com/office/drawing/2014/main" id="{1BC9B834-96AB-4CB7-BAA8-A5220B848B9C}"/>
                  </a:ext>
                </a:extLst>
              </p:cNvPr>
              <p:cNvSpPr>
                <a:spLocks noGrp="1" noRot="1" noChangeAspect="1" noMove="1" noResize="1" noEditPoints="1" noAdjustHandles="1" noChangeArrowheads="1" noChangeShapeType="1" noTextEdit="1"/>
              </p:cNvSpPr>
              <p:nvPr>
                <p:ph idx="1"/>
              </p:nvPr>
            </p:nvSpPr>
            <p:spPr>
              <a:xfrm>
                <a:off x="304800" y="838200"/>
                <a:ext cx="8540749" cy="5544493"/>
              </a:xfrm>
              <a:blipFill>
                <a:blip r:embed="rId3"/>
                <a:stretch>
                  <a:fillRect l="-2284" t="-2530" r="-2355"/>
                </a:stretch>
              </a:blipFill>
            </p:spPr>
            <p:txBody>
              <a:bodyPr/>
              <a:lstStyle/>
              <a:p>
                <a:r>
                  <a:rPr lang="en-US">
                    <a:noFill/>
                  </a:rPr>
                  <a:t> </a:t>
                </a:r>
              </a:p>
            </p:txBody>
          </p:sp>
        </mc:Fallback>
      </mc:AlternateContent>
    </p:spTree>
    <p:extLst>
      <p:ext uri="{BB962C8B-B14F-4D97-AF65-F5344CB8AC3E}">
        <p14:creationId xmlns:p14="http://schemas.microsoft.com/office/powerpoint/2010/main" val="34602886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BB516-14A3-4CD5-8A39-7DB80DEF1FFB}"/>
              </a:ext>
            </a:extLst>
          </p:cNvPr>
          <p:cNvSpPr>
            <a:spLocks noGrp="1"/>
          </p:cNvSpPr>
          <p:nvPr>
            <p:ph type="title"/>
          </p:nvPr>
        </p:nvSpPr>
        <p:spPr/>
        <p:txBody>
          <a:bodyPr/>
          <a:lstStyle/>
          <a:p>
            <a:pPr marL="0" marR="0" rtl="1">
              <a:lnSpc>
                <a:spcPct val="107000"/>
              </a:lnSpc>
              <a:spcBef>
                <a:spcPts val="0"/>
              </a:spcBef>
              <a:spcAft>
                <a:spcPts val="800"/>
              </a:spcAft>
            </a:pPr>
            <a:r>
              <a:rPr lang="ar-SA" sz="2800" dirty="0">
                <a:effectLst/>
                <a:latin typeface="Calibri" panose="020F0502020204030204" pitchFamily="34" charset="0"/>
                <a:ea typeface="Calibri" panose="020F0502020204030204" pitchFamily="34" charset="0"/>
                <a:cs typeface="B Nazanin" panose="00000400000000000000" pitchFamily="2" charset="-78"/>
              </a:rPr>
              <a:t>قواعد استنتاج آرمسترانگ </a:t>
            </a:r>
            <a:endParaRPr lang="en-US" sz="2800" dirty="0">
              <a:effectLst/>
              <a:latin typeface="Calibri" panose="020F0502020204030204" pitchFamily="34" charset="0"/>
              <a:ea typeface="Calibri" panose="020F050202020403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95691051-C460-4EFA-87A0-0E24828FB890}"/>
              </a:ext>
            </a:extLst>
          </p:cNvPr>
          <p:cNvSpPr>
            <a:spLocks noGrp="1"/>
          </p:cNvSpPr>
          <p:nvPr>
            <p:ph idx="1"/>
          </p:nvPr>
        </p:nvSpPr>
        <p:spPr>
          <a:xfrm>
            <a:off x="76200" y="1169988"/>
            <a:ext cx="8769349" cy="5383212"/>
          </a:xfrm>
        </p:spPr>
        <p:txBody>
          <a:bodyPr/>
          <a:lstStyle/>
          <a:p>
            <a:pPr marL="342900" marR="0" lvl="0" indent="-342900" algn="r" rtl="1">
              <a:lnSpc>
                <a:spcPct val="107000"/>
              </a:lnSpc>
              <a:spcBef>
                <a:spcPts val="0"/>
              </a:spcBef>
              <a:spcAft>
                <a:spcPts val="800"/>
              </a:spcAft>
              <a:buFont typeface="+mj-lt"/>
              <a:buAutoNum type="arabicPeriod"/>
            </a:pPr>
            <a:r>
              <a:rPr lang="en-US" sz="3200" dirty="0">
                <a:effectLst/>
                <a:latin typeface="Calibri" panose="020F0502020204030204" pitchFamily="34" charset="0"/>
                <a:ea typeface="Calibri" panose="020F0502020204030204" pitchFamily="34" charset="0"/>
                <a:cs typeface="B Nazanin" panose="00000400000000000000" pitchFamily="2" charset="-78"/>
              </a:rPr>
              <a:t>if B</a:t>
            </a:r>
            <a:r>
              <a:rPr lang="en-US" sz="3200" dirty="0">
                <a:effectLst/>
                <a:latin typeface="Cambria Math" panose="02040503050406030204" pitchFamily="18" charset="0"/>
                <a:ea typeface="Calibri" panose="020F0502020204030204" pitchFamily="34" charset="0"/>
                <a:cs typeface="B Nazanin" panose="00000400000000000000" pitchFamily="2" charset="-78"/>
              </a:rPr>
              <a:t>⊆</a:t>
            </a:r>
            <a:r>
              <a:rPr lang="en-US" sz="3200" dirty="0">
                <a:effectLst/>
                <a:latin typeface="Calibri" panose="020F0502020204030204" pitchFamily="34" charset="0"/>
                <a:ea typeface="Calibri" panose="020F0502020204030204" pitchFamily="34" charset="0"/>
                <a:cs typeface="B Nazanin" panose="00000400000000000000" pitchFamily="2" charset="-78"/>
              </a:rPr>
              <a:t>A then A→B </a:t>
            </a:r>
            <a:r>
              <a:rPr lang="en-US" sz="3200" dirty="0">
                <a:effectLst/>
                <a:latin typeface="Cambria Math" panose="02040503050406030204" pitchFamily="18" charset="0"/>
                <a:ea typeface="Calibri" panose="020F0502020204030204" pitchFamily="34" charset="0"/>
                <a:cs typeface="B Nazanin" panose="00000400000000000000" pitchFamily="2" charset="-78"/>
              </a:rPr>
              <a:t>⇒</a:t>
            </a:r>
            <a:r>
              <a:rPr lang="en-US" sz="3200" dirty="0">
                <a:effectLst/>
                <a:latin typeface="Calibri" panose="020F0502020204030204" pitchFamily="34" charset="0"/>
                <a:ea typeface="Calibri" panose="020F0502020204030204" pitchFamily="34" charset="0"/>
                <a:cs typeface="B Nazanin" panose="00000400000000000000" pitchFamily="2" charset="-78"/>
              </a:rPr>
              <a:t> A→A </a:t>
            </a:r>
            <a:r>
              <a:rPr lang="fa-IR" sz="3200" dirty="0">
                <a:effectLst/>
                <a:latin typeface="Calibri" panose="020F0502020204030204" pitchFamily="34" charset="0"/>
                <a:ea typeface="Calibri" panose="020F0502020204030204" pitchFamily="34" charset="0"/>
                <a:cs typeface="B Nazanin" panose="00000400000000000000" pitchFamily="2" charset="-78"/>
              </a:rPr>
              <a:t>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 قاعده</a:t>
            </a:r>
            <a:r>
              <a:rPr lang="fa-IR" sz="3200" dirty="0">
                <a:solidFill>
                  <a:srgbClr val="FF0000"/>
                </a:solidFill>
                <a:latin typeface="Calibri" panose="020F0502020204030204" pitchFamily="34" charset="0"/>
                <a:ea typeface="Calibri" panose="020F0502020204030204" pitchFamily="34" charset="0"/>
              </a:rPr>
              <a:t>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انعکاسی</a:t>
            </a:r>
            <a:endParaRPr lang="en-US" sz="3200" dirty="0">
              <a:solidFill>
                <a:srgbClr val="FF0000"/>
              </a:solidFill>
              <a:effectLst/>
              <a:latin typeface="Calibri" panose="020F0502020204030204" pitchFamily="34" charset="0"/>
              <a:ea typeface="Calibri" panose="020F0502020204030204" pitchFamily="34" charset="0"/>
              <a:cs typeface="Arial" panose="020B0604020202020204" pitchFamily="34" charset="0"/>
            </a:endParaRPr>
          </a:p>
          <a:p>
            <a:pPr lvl="0" algn="r" rtl="1">
              <a:lnSpc>
                <a:spcPct val="107000"/>
              </a:lnSpc>
              <a:spcBef>
                <a:spcPts val="0"/>
              </a:spcBef>
              <a:spcAft>
                <a:spcPts val="800"/>
              </a:spcAft>
              <a:buFont typeface="+mj-lt"/>
              <a:buAutoNum type="arabicPeriod"/>
            </a:pPr>
            <a:r>
              <a:rPr lang="en-US" sz="3200" dirty="0">
                <a:effectLst/>
                <a:latin typeface="Calibri" panose="020F0502020204030204" pitchFamily="34" charset="0"/>
                <a:ea typeface="Calibri" panose="020F0502020204030204" pitchFamily="34" charset="0"/>
                <a:cs typeface="B Nazanin" panose="00000400000000000000" pitchFamily="2" charset="-78"/>
              </a:rPr>
              <a:t>   if A→B and B→C then A→C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تراگذاري یا </a:t>
            </a:r>
            <a:r>
              <a:rPr lang="ar-SA" sz="3200" dirty="0">
                <a:solidFill>
                  <a:srgbClr val="FF0000"/>
                </a:solidFill>
                <a:latin typeface="Calibri" panose="020F0502020204030204" pitchFamily="34" charset="0"/>
                <a:ea typeface="Calibri" panose="020F0502020204030204" pitchFamily="34" charset="0"/>
              </a:rPr>
              <a:t>قاعده</a:t>
            </a:r>
            <a:r>
              <a:rPr lang="fa-IR" sz="3200" dirty="0">
                <a:solidFill>
                  <a:srgbClr val="FF0000"/>
                </a:solidFill>
                <a:latin typeface="Calibri" panose="020F0502020204030204" pitchFamily="34" charset="0"/>
                <a:ea typeface="Calibri" panose="020F0502020204030204" pitchFamily="34" charset="0"/>
              </a:rPr>
              <a:t> </a:t>
            </a:r>
            <a:r>
              <a:rPr lang="ar-SA" sz="3200" dirty="0">
                <a:solidFill>
                  <a:srgbClr val="FF0000"/>
                </a:solidFill>
                <a:latin typeface="Calibri" panose="020F0502020204030204" pitchFamily="34" charset="0"/>
                <a:ea typeface="Calibri" panose="020F0502020204030204" pitchFamily="34" charset="0"/>
              </a:rPr>
              <a:t>تعدي</a:t>
            </a:r>
            <a:endParaRPr lang="en-US" sz="3200" dirty="0">
              <a:solidFill>
                <a:srgbClr val="FF0000"/>
              </a:solidFill>
              <a:effectLst/>
              <a:latin typeface="Calibri" panose="020F0502020204030204" pitchFamily="34" charset="0"/>
              <a:ea typeface="Calibri" panose="020F0502020204030204" pitchFamily="34" charset="0"/>
              <a:cs typeface="Arial" panose="020B0604020202020204" pitchFamily="34" charset="0"/>
            </a:endParaRPr>
          </a:p>
          <a:p>
            <a:pPr lvl="0" algn="r" rtl="1">
              <a:lnSpc>
                <a:spcPct val="107000"/>
              </a:lnSpc>
              <a:spcBef>
                <a:spcPts val="0"/>
              </a:spcBef>
              <a:spcAft>
                <a:spcPts val="800"/>
              </a:spcAft>
              <a:buFont typeface="+mj-lt"/>
              <a:buAutoNum type="arabicPeriod"/>
            </a:pPr>
            <a:r>
              <a:rPr lang="en-US" sz="3200" dirty="0">
                <a:effectLst/>
                <a:latin typeface="Calibri" panose="020F0502020204030204" pitchFamily="34" charset="0"/>
                <a:ea typeface="Calibri" panose="020F0502020204030204" pitchFamily="34" charset="0"/>
                <a:cs typeface="B Nazanin" panose="00000400000000000000" pitchFamily="2" charset="-78"/>
              </a:rPr>
              <a:t> if A→B then (A,C)→(B,C) </a:t>
            </a:r>
            <a:r>
              <a:rPr lang="fa-IR" sz="3200" dirty="0">
                <a:effectLst/>
                <a:latin typeface="Calibri" panose="020F0502020204030204" pitchFamily="34" charset="0"/>
                <a:ea typeface="Calibri" panose="020F0502020204030204" pitchFamily="34" charset="0"/>
                <a:cs typeface="B Nazanin" panose="00000400000000000000" pitchFamily="2" charset="-78"/>
              </a:rPr>
              <a:t>             </a:t>
            </a:r>
            <a:r>
              <a:rPr lang="ar-SA" sz="3200" dirty="0">
                <a:solidFill>
                  <a:srgbClr val="FF0000"/>
                </a:solidFill>
                <a:latin typeface="Calibri" panose="020F0502020204030204" pitchFamily="34" charset="0"/>
                <a:ea typeface="Calibri" panose="020F0502020204030204" pitchFamily="34" charset="0"/>
              </a:rPr>
              <a:t>قاعده</a:t>
            </a:r>
            <a:r>
              <a:rPr lang="fa-IR" sz="3200" dirty="0">
                <a:solidFill>
                  <a:srgbClr val="FF0000"/>
                </a:solidFill>
                <a:latin typeface="Calibri" panose="020F0502020204030204" pitchFamily="34" charset="0"/>
                <a:ea typeface="Calibri" panose="020F0502020204030204" pitchFamily="34" charset="0"/>
              </a:rPr>
              <a:t> </a:t>
            </a:r>
            <a:r>
              <a:rPr lang="ar-SA" sz="3200" dirty="0">
                <a:solidFill>
                  <a:srgbClr val="FF0000"/>
                </a:solidFill>
                <a:latin typeface="Calibri" panose="020F0502020204030204" pitchFamily="34" charset="0"/>
                <a:ea typeface="Calibri" panose="020F0502020204030204" pitchFamily="34" charset="0"/>
              </a:rPr>
              <a:t>افزایش</a:t>
            </a:r>
            <a:endParaRPr lang="en-US" sz="3200" dirty="0">
              <a:solidFill>
                <a:srgbClr val="FF0000"/>
              </a:solidFill>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pPr>
            <a:r>
              <a:rPr lang="en-US" sz="3200" dirty="0">
                <a:effectLst/>
                <a:latin typeface="Calibri" panose="020F0502020204030204" pitchFamily="34" charset="0"/>
                <a:ea typeface="Calibri" panose="020F0502020204030204" pitchFamily="34" charset="0"/>
                <a:cs typeface="B Nazanin" panose="00000400000000000000" pitchFamily="2" charset="-78"/>
              </a:rPr>
              <a:t> if A→(B,C) then A→B and A→C </a:t>
            </a:r>
            <a:r>
              <a:rPr lang="fa-IR" sz="3200" dirty="0">
                <a:effectLst/>
                <a:latin typeface="Calibri" panose="020F0502020204030204" pitchFamily="34" charset="0"/>
                <a:ea typeface="Calibri" panose="020F0502020204030204" pitchFamily="34" charset="0"/>
                <a:cs typeface="B Nazanin" panose="00000400000000000000" pitchFamily="2" charset="-78"/>
              </a:rPr>
              <a:t>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قاعده</a:t>
            </a:r>
            <a:r>
              <a:rPr lang="fa-IR"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تجزیه </a:t>
            </a:r>
            <a:endParaRPr lang="en-US" sz="3200" dirty="0">
              <a:solidFill>
                <a:srgbClr val="FF0000"/>
              </a:solidFill>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pPr>
            <a:r>
              <a:rPr lang="en-US" sz="3200" dirty="0">
                <a:effectLst/>
                <a:latin typeface="Calibri" panose="020F0502020204030204" pitchFamily="34" charset="0"/>
                <a:ea typeface="Calibri" panose="020F0502020204030204" pitchFamily="34" charset="0"/>
                <a:cs typeface="B Nazanin" panose="00000400000000000000" pitchFamily="2" charset="-78"/>
              </a:rPr>
              <a:t> if A→B and C→D then (A,C)→(B,D)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قاعده</a:t>
            </a:r>
            <a:r>
              <a:rPr lang="fa-IR"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ترکیب</a:t>
            </a:r>
            <a:endParaRPr lang="en-US" sz="3200" dirty="0">
              <a:solidFill>
                <a:srgbClr val="FF0000"/>
              </a:solidFill>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pPr>
            <a:r>
              <a:rPr lang="en-US" sz="3200" dirty="0">
                <a:effectLst/>
                <a:latin typeface="Calibri" panose="020F0502020204030204" pitchFamily="34" charset="0"/>
                <a:ea typeface="Calibri" panose="020F0502020204030204" pitchFamily="34" charset="0"/>
                <a:cs typeface="B Nazanin" panose="00000400000000000000" pitchFamily="2" charset="-78"/>
              </a:rPr>
              <a:t>if A→B and A→C then A→(B,C) </a:t>
            </a:r>
            <a:r>
              <a:rPr lang="fa-IR" sz="3200" dirty="0">
                <a:effectLst/>
                <a:latin typeface="Calibri" panose="020F0502020204030204" pitchFamily="34" charset="0"/>
                <a:ea typeface="Calibri" panose="020F0502020204030204" pitchFamily="34" charset="0"/>
                <a:cs typeface="B Nazanin" panose="00000400000000000000" pitchFamily="2" charset="-78"/>
              </a:rPr>
              <a:t>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قاعده</a:t>
            </a:r>
            <a:r>
              <a:rPr lang="fa-IR"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اجتماع</a:t>
            </a:r>
            <a:endParaRPr lang="en-US" sz="3200" dirty="0">
              <a:solidFill>
                <a:srgbClr val="FF0000"/>
              </a:solidFill>
              <a:effectLst/>
              <a:latin typeface="Calibri" panose="020F0502020204030204" pitchFamily="34" charset="0"/>
              <a:ea typeface="Calibri" panose="020F0502020204030204" pitchFamily="34" charset="0"/>
              <a:cs typeface="Arial" panose="020B0604020202020204" pitchFamily="34" charset="0"/>
            </a:endParaRPr>
          </a:p>
          <a:p>
            <a:pPr lvl="0" algn="r" rtl="1">
              <a:lnSpc>
                <a:spcPct val="107000"/>
              </a:lnSpc>
              <a:spcBef>
                <a:spcPts val="0"/>
              </a:spcBef>
              <a:spcAft>
                <a:spcPts val="800"/>
              </a:spcAft>
              <a:buFont typeface="+mj-lt"/>
              <a:buAutoNum type="arabicPeriod"/>
            </a:pPr>
            <a:r>
              <a:rPr lang="en-US" sz="3200" dirty="0">
                <a:effectLst/>
                <a:latin typeface="B Nazanin" panose="00000400000000000000" pitchFamily="2" charset="-78"/>
                <a:ea typeface="Calibri" panose="020F0502020204030204" pitchFamily="34" charset="0"/>
                <a:cs typeface="Arial" panose="020B0604020202020204" pitchFamily="34" charset="0"/>
              </a:rPr>
              <a:t> </a:t>
            </a:r>
            <a:r>
              <a:rPr lang="en-US" sz="3200" dirty="0">
                <a:effectLst/>
                <a:latin typeface="Calibri" panose="020F0502020204030204" pitchFamily="34" charset="0"/>
                <a:ea typeface="Calibri" panose="020F0502020204030204" pitchFamily="34" charset="0"/>
                <a:cs typeface="B Nazanin" panose="00000400000000000000" pitchFamily="2" charset="-78"/>
              </a:rPr>
              <a:t> if A→B and (B,C)→D then (A,C)→D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قاعده</a:t>
            </a:r>
            <a:r>
              <a:rPr lang="fa-IR" sz="3200" dirty="0">
                <a:solidFill>
                  <a:srgbClr val="FF0000"/>
                </a:solidFill>
                <a:latin typeface="Calibri" panose="020F0502020204030204" pitchFamily="34" charset="0"/>
                <a:ea typeface="Calibri" panose="020F0502020204030204" pitchFamily="34" charset="0"/>
              </a:rPr>
              <a:t> </a:t>
            </a:r>
            <a:r>
              <a:rPr lang="ar-SA" sz="3200" dirty="0">
                <a:solidFill>
                  <a:srgbClr val="FF0000"/>
                </a:solidFill>
                <a:latin typeface="Calibri" panose="020F0502020204030204" pitchFamily="34" charset="0"/>
                <a:ea typeface="Calibri" panose="020F0502020204030204" pitchFamily="34" charset="0"/>
              </a:rPr>
              <a:t>شبه</a:t>
            </a:r>
            <a:r>
              <a:rPr lang="fa-IR"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 </a:t>
            </a:r>
            <a:r>
              <a:rPr lang="ar-SA" sz="3200" dirty="0">
                <a:solidFill>
                  <a:srgbClr val="FF0000"/>
                </a:solidFill>
                <a:latin typeface="Calibri" panose="020F0502020204030204" pitchFamily="34" charset="0"/>
                <a:ea typeface="Calibri" panose="020F0502020204030204" pitchFamily="34" charset="0"/>
              </a:rPr>
              <a:t>تعدي</a:t>
            </a:r>
            <a:endParaRPr lang="en-US" sz="3200" dirty="0">
              <a:solidFill>
                <a:srgbClr val="FF0000"/>
              </a:solidFill>
              <a:effectLst/>
              <a:latin typeface="Calibri" panose="020F050202020403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41472766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3B64CB-E89F-4E8D-8216-A7FFEE5ED315}"/>
              </a:ext>
            </a:extLst>
          </p:cNvPr>
          <p:cNvSpPr>
            <a:spLocks noGrp="1"/>
          </p:cNvSpPr>
          <p:nvPr>
            <p:ph type="title"/>
          </p:nvPr>
        </p:nvSpPr>
        <p:spPr/>
        <p:txBody>
          <a:bodyPr/>
          <a:lstStyle/>
          <a:p>
            <a:r>
              <a:rPr lang="ar-SA" sz="2800" dirty="0">
                <a:effectLst/>
                <a:latin typeface="Calibri" panose="020F0502020204030204" pitchFamily="34" charset="0"/>
                <a:ea typeface="Calibri" panose="020F0502020204030204" pitchFamily="34" charset="0"/>
                <a:cs typeface="B Nazanin" panose="00000400000000000000" pitchFamily="2" charset="-78"/>
              </a:rPr>
              <a:t>کاربردهاي قواعد آرمسترانگ </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C86202B-345E-4733-82F6-2F3CEFAC242A}"/>
                  </a:ext>
                </a:extLst>
              </p:cNvPr>
              <p:cNvSpPr>
                <a:spLocks noGrp="1"/>
              </p:cNvSpPr>
              <p:nvPr>
                <p:ph idx="1"/>
              </p:nvPr>
            </p:nvSpPr>
            <p:spPr/>
            <p:txBody>
              <a:bodyPr/>
              <a:lstStyle/>
              <a:p>
                <a:pPr marL="0" marR="0" algn="r" rtl="1">
                  <a:lnSpc>
                    <a:spcPct val="107000"/>
                  </a:lnSpc>
                  <a:spcBef>
                    <a:spcPts val="0"/>
                  </a:spcBef>
                  <a:spcAft>
                    <a:spcPts val="800"/>
                  </a:spcAft>
                </a:pPr>
                <a:r>
                  <a:rPr lang="fa-IR" sz="2800" dirty="0">
                    <a:effectLst/>
                    <a:latin typeface="Calibri" panose="020F0502020204030204" pitchFamily="34" charset="0"/>
                    <a:ea typeface="Calibri" panose="020F0502020204030204" pitchFamily="34" charset="0"/>
                  </a:rPr>
                  <a:t>۱) </a:t>
                </a:r>
                <a:r>
                  <a:rPr lang="ar-SA" sz="2800" dirty="0">
                    <a:effectLst/>
                    <a:latin typeface="Calibri" panose="020F0502020204030204" pitchFamily="34" charset="0"/>
                    <a:ea typeface="Calibri" panose="020F0502020204030204" pitchFamily="34" charset="0"/>
                  </a:rPr>
                  <a:t>محاسبه بستار صفت </a:t>
                </a:r>
                <a:r>
                  <a:rPr lang="en-US" sz="2800" dirty="0">
                    <a:effectLst/>
                    <a:latin typeface="Calibri" panose="020F0502020204030204" pitchFamily="34" charset="0"/>
                    <a:ea typeface="Calibri" panose="020F0502020204030204" pitchFamily="34" charset="0"/>
                  </a:rPr>
                  <a:t> A</a:t>
                </a:r>
                <a:r>
                  <a:rPr lang="fa-IR" sz="2800" dirty="0">
                    <a:effectLst/>
                    <a:latin typeface="Calibri" panose="020F0502020204030204" pitchFamily="34" charset="0"/>
                    <a:ea typeface="Calibri" panose="020F0502020204030204" pitchFamily="34" charset="0"/>
                  </a:rPr>
                  <a:t> : </a:t>
                </a:r>
                <a14:m>
                  <m:oMath xmlns:m="http://schemas.openxmlformats.org/officeDocument/2006/math">
                    <m:sSup>
                      <m:sSupPr>
                        <m:ctrlPr>
                          <a:rPr lang="en-US" sz="2800" i="1">
                            <a:effectLst/>
                            <a:latin typeface="Cambria Math" panose="02040503050406030204" pitchFamily="18" charset="0"/>
                            <a:ea typeface="Calibri" panose="020F0502020204030204" pitchFamily="34" charset="0"/>
                          </a:rPr>
                        </m:ctrlPr>
                      </m:sSupPr>
                      <m:e>
                        <m:r>
                          <a:rPr lang="en-US" sz="2800" i="1">
                            <a:effectLst/>
                            <a:latin typeface="Cambria Math" panose="02040503050406030204" pitchFamily="18" charset="0"/>
                            <a:ea typeface="Calibri" panose="020F0502020204030204" pitchFamily="34" charset="0"/>
                          </a:rPr>
                          <m:t>𝐴</m:t>
                        </m:r>
                      </m:e>
                      <m:sup>
                        <m:r>
                          <a:rPr lang="en-US" sz="2800" i="1">
                            <a:effectLst/>
                            <a:latin typeface="Cambria Math" panose="02040503050406030204" pitchFamily="18" charset="0"/>
                            <a:ea typeface="Calibri" panose="020F0502020204030204" pitchFamily="34" charset="0"/>
                          </a:rPr>
                          <m:t>+</m:t>
                        </m:r>
                      </m:sup>
                    </m:sSup>
                  </m:oMath>
                </a14:m>
                <a:endParaRPr lang="en-US" sz="2800" dirty="0">
                  <a:effectLst/>
                  <a:latin typeface="Calibri" panose="020F0502020204030204" pitchFamily="34" charset="0"/>
                  <a:ea typeface="Calibri" panose="020F0502020204030204" pitchFamily="34" charset="0"/>
                </a:endParaRPr>
              </a:p>
              <a:p>
                <a:pPr marL="400050" lvl="1" algn="r" rtl="1">
                  <a:lnSpc>
                    <a:spcPct val="107000"/>
                  </a:lnSpc>
                  <a:spcBef>
                    <a:spcPts val="0"/>
                  </a:spcBef>
                  <a:spcAft>
                    <a:spcPts val="800"/>
                  </a:spcAft>
                </a:pPr>
                <a:r>
                  <a:rPr lang="ar-SA" sz="2800" dirty="0">
                    <a:effectLst/>
                    <a:latin typeface="Calibri" panose="020F0502020204030204" pitchFamily="34" charset="0"/>
                    <a:ea typeface="Calibri" panose="020F0502020204030204" pitchFamily="34" charset="0"/>
                  </a:rPr>
                  <a:t>مجموعه تمام صفاتی که با</a:t>
                </a:r>
                <a:r>
                  <a:rPr lang="en-US" sz="2800" dirty="0">
                    <a:effectLst/>
                    <a:latin typeface="Calibri" panose="020F0502020204030204" pitchFamily="34" charset="0"/>
                    <a:ea typeface="Calibri" panose="020F0502020204030204" pitchFamily="34" charset="0"/>
                  </a:rPr>
                  <a:t> A</a:t>
                </a:r>
                <a:r>
                  <a:rPr lang="ar-SA" sz="2800" dirty="0">
                    <a:effectLst/>
                    <a:latin typeface="Calibri" panose="020F0502020204030204" pitchFamily="34" charset="0"/>
                    <a:ea typeface="Calibri" panose="020F0502020204030204" pitchFamily="34" charset="0"/>
                  </a:rPr>
                  <a:t>، وابستگی تابعی دارند</a:t>
                </a:r>
                <a:endParaRPr lang="en-US" sz="2800" dirty="0">
                  <a:effectLst/>
                  <a:latin typeface="Calibri" panose="020F0502020204030204" pitchFamily="34" charset="0"/>
                  <a:ea typeface="Calibri" panose="020F0502020204030204" pitchFamily="34" charset="0"/>
                </a:endParaRPr>
              </a:p>
              <a:p>
                <a:pPr marL="400050" lvl="1" algn="r" rtl="1">
                  <a:lnSpc>
                    <a:spcPct val="107000"/>
                  </a:lnSpc>
                  <a:spcBef>
                    <a:spcPts val="0"/>
                  </a:spcBef>
                  <a:spcAft>
                    <a:spcPts val="800"/>
                  </a:spcAft>
                </a:pPr>
                <a:r>
                  <a:rPr lang="fa-IR" sz="2800" dirty="0">
                    <a:effectLst/>
                    <a:latin typeface="Calibri" panose="020F0502020204030204" pitchFamily="34" charset="0"/>
                    <a:ea typeface="Calibri" panose="020F0502020204030204" pitchFamily="34" charset="0"/>
                  </a:rPr>
                  <a:t>نکته: اگر </a:t>
                </a:r>
                <a14:m>
                  <m:oMath xmlns:m="http://schemas.openxmlformats.org/officeDocument/2006/math">
                    <m:sSup>
                      <m:sSupPr>
                        <m:ctrlPr>
                          <a:rPr lang="en-US" sz="2800" i="1">
                            <a:effectLst/>
                            <a:latin typeface="Cambria Math" panose="02040503050406030204" pitchFamily="18" charset="0"/>
                            <a:ea typeface="Calibri" panose="020F0502020204030204" pitchFamily="34" charset="0"/>
                          </a:rPr>
                        </m:ctrlPr>
                      </m:sSupPr>
                      <m:e>
                        <m:r>
                          <a:rPr lang="en-US" sz="2800" i="1">
                            <a:effectLst/>
                            <a:latin typeface="Cambria Math" panose="02040503050406030204" pitchFamily="18" charset="0"/>
                            <a:ea typeface="Calibri" panose="020F0502020204030204" pitchFamily="34" charset="0"/>
                          </a:rPr>
                          <m:t>𝐴</m:t>
                        </m:r>
                      </m:e>
                      <m:sup>
                        <m:r>
                          <a:rPr lang="fa-IR" sz="2800" b="0" i="1" smtClean="0">
                            <a:effectLst/>
                            <a:latin typeface="Cambria Math" panose="02040503050406030204" pitchFamily="18" charset="0"/>
                            <a:ea typeface="Calibri" panose="020F0502020204030204" pitchFamily="34" charset="0"/>
                          </a:rPr>
                          <m:t>+</m:t>
                        </m:r>
                      </m:sup>
                    </m:sSup>
                    <m:r>
                      <a:rPr lang="en-US" sz="2800" i="1">
                        <a:effectLst/>
                        <a:latin typeface="Cambria Math" panose="02040503050406030204" pitchFamily="18" charset="0"/>
                        <a:ea typeface="Calibri" panose="020F0502020204030204" pitchFamily="34" charset="0"/>
                      </a:rPr>
                      <m:t>=</m:t>
                    </m:r>
                    <m:sSub>
                      <m:sSubPr>
                        <m:ctrlPr>
                          <a:rPr lang="en-US" sz="2800" i="1">
                            <a:effectLst/>
                            <a:latin typeface="Cambria Math" panose="02040503050406030204" pitchFamily="18" charset="0"/>
                            <a:ea typeface="Calibri" panose="020F0502020204030204" pitchFamily="34" charset="0"/>
                          </a:rPr>
                        </m:ctrlPr>
                      </m:sSubPr>
                      <m:e>
                        <m:r>
                          <a:rPr lang="en-US" sz="2800" i="1">
                            <a:effectLst/>
                            <a:latin typeface="Cambria Math" panose="02040503050406030204" pitchFamily="18" charset="0"/>
                            <a:ea typeface="Calibri" panose="020F0502020204030204" pitchFamily="34" charset="0"/>
                          </a:rPr>
                          <m:t>𝐻</m:t>
                        </m:r>
                      </m:e>
                      <m:sub>
                        <m:r>
                          <a:rPr lang="en-US" sz="2800" i="1">
                            <a:effectLst/>
                            <a:latin typeface="Cambria Math" panose="02040503050406030204" pitchFamily="18" charset="0"/>
                            <a:ea typeface="Calibri" panose="020F0502020204030204" pitchFamily="34" charset="0"/>
                          </a:rPr>
                          <m:t>𝑅</m:t>
                        </m:r>
                      </m:sub>
                    </m:sSub>
                  </m:oMath>
                </a14:m>
                <a:r>
                  <a:rPr lang="en-US" sz="2800" dirty="0">
                    <a:effectLst/>
                    <a:latin typeface="Calibri" panose="020F0502020204030204" pitchFamily="34" charset="0"/>
                    <a:ea typeface="Times New Roman" panose="02020603050405020304" pitchFamily="18" charset="0"/>
                  </a:rPr>
                  <a:t> </a:t>
                </a:r>
                <a:r>
                  <a:rPr lang="en-US" sz="2800" dirty="0">
                    <a:effectLst/>
                    <a:latin typeface="B Nazanin" panose="00000400000000000000" pitchFamily="2" charset="-78"/>
                    <a:ea typeface="Times New Roman" panose="02020603050405020304" pitchFamily="18" charset="0"/>
                  </a:rPr>
                  <a:t> </a:t>
                </a:r>
                <a:r>
                  <a:rPr lang="fa-IR" sz="2800" dirty="0">
                    <a:latin typeface="B Nazanin" panose="00000400000000000000" pitchFamily="2" charset="-78"/>
                    <a:ea typeface="Times New Roman" panose="02020603050405020304" pitchFamily="18" charset="0"/>
                  </a:rPr>
                  <a:t>در این صورت</a:t>
                </a:r>
                <a:r>
                  <a:rPr lang="fa-IR" sz="2800" dirty="0">
                    <a:effectLst/>
                    <a:latin typeface="Calibri" panose="020F0502020204030204" pitchFamily="34" charset="0"/>
                    <a:ea typeface="Times New Roman" panose="02020603050405020304" pitchFamily="18" charset="0"/>
                  </a:rPr>
                  <a:t> </a:t>
                </a:r>
                <a:r>
                  <a:rPr lang="en-US" sz="2800" dirty="0">
                    <a:effectLst/>
                    <a:latin typeface="Calibri" panose="020F0502020204030204" pitchFamily="34" charset="0"/>
                    <a:ea typeface="Times New Roman" panose="02020603050405020304" pitchFamily="18" charset="0"/>
                  </a:rPr>
                  <a:t>A</a:t>
                </a:r>
                <a:r>
                  <a:rPr lang="fa-IR" sz="2800" dirty="0">
                    <a:effectLst/>
                    <a:latin typeface="Calibri" panose="020F0502020204030204" pitchFamily="34" charset="0"/>
                    <a:ea typeface="Times New Roman" panose="02020603050405020304" pitchFamily="18" charset="0"/>
                  </a:rPr>
                  <a:t> سوپر کلید (الگوریتم تشخیص سوپر کلید)</a:t>
                </a:r>
                <a:endParaRPr lang="en-US" sz="2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800"/>
                  </a:spcAft>
                </a:pPr>
                <a:r>
                  <a:rPr lang="fa-IR" sz="2800" dirty="0">
                    <a:effectLst/>
                    <a:latin typeface="Calibri" panose="020F0502020204030204" pitchFamily="34" charset="0"/>
                    <a:ea typeface="Times New Roman" panose="02020603050405020304" pitchFamily="18" charset="0"/>
                  </a:rPr>
                  <a:t>۲) محاسبه بستار مجموعه وابستگی‌های تابعی یک رابطه : </a:t>
                </a:r>
                <a14:m>
                  <m:oMath xmlns:m="http://schemas.openxmlformats.org/officeDocument/2006/math">
                    <m:sSup>
                      <m:sSupPr>
                        <m:ctrlPr>
                          <a:rPr lang="en-US" sz="28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n-US" sz="2800" i="1">
                            <a:effectLst/>
                            <a:latin typeface="Cambria Math" panose="02040503050406030204" pitchFamily="18" charset="0"/>
                            <a:ea typeface="Times New Roman" panose="02020603050405020304" pitchFamily="18" charset="0"/>
                            <a:cs typeface="Calibri" panose="020F0502020204030204" pitchFamily="34" charset="0"/>
                          </a:rPr>
                          <m:t>𝐹</m:t>
                        </m:r>
                      </m:e>
                      <m:sup>
                        <m:r>
                          <a:rPr lang="en-US" sz="2800" i="1">
                            <a:effectLst/>
                            <a:latin typeface="Cambria Math" panose="02040503050406030204" pitchFamily="18" charset="0"/>
                            <a:ea typeface="Times New Roman" panose="02020603050405020304" pitchFamily="18" charset="0"/>
                            <a:cs typeface="Calibri" panose="020F0502020204030204" pitchFamily="34" charset="0"/>
                          </a:rPr>
                          <m:t>+</m:t>
                        </m:r>
                      </m:sup>
                    </m:sSup>
                  </m:oMath>
                </a14:m>
                <a:endParaRPr lang="en-US" sz="2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800"/>
                  </a:spcAft>
                </a:pPr>
                <a:r>
                  <a:rPr lang="ar-SA" sz="2800" dirty="0">
                    <a:effectLst/>
                    <a:latin typeface="Calibri" panose="020F0502020204030204" pitchFamily="34" charset="0"/>
                    <a:ea typeface="Calibri" panose="020F0502020204030204" pitchFamily="34" charset="0"/>
                  </a:rPr>
                  <a:t>مجموعه تمام</a:t>
                </a:r>
                <a:r>
                  <a:rPr lang="en-US" sz="2800" dirty="0">
                    <a:effectLst/>
                    <a:latin typeface="Calibri" panose="020F0502020204030204" pitchFamily="34" charset="0"/>
                    <a:ea typeface="Calibri" panose="020F0502020204030204" pitchFamily="34" charset="0"/>
                  </a:rPr>
                  <a:t> FD</a:t>
                </a:r>
                <a:r>
                  <a:rPr lang="ar-SA" sz="2800" dirty="0">
                    <a:effectLst/>
                    <a:latin typeface="Calibri" panose="020F0502020204030204" pitchFamily="34" charset="0"/>
                    <a:ea typeface="Calibri" panose="020F0502020204030204" pitchFamily="34" charset="0"/>
                  </a:rPr>
                  <a:t>هایی که از</a:t>
                </a:r>
                <a:r>
                  <a:rPr lang="en-US" sz="2800" dirty="0">
                    <a:effectLst/>
                    <a:latin typeface="Calibri" panose="020F0502020204030204" pitchFamily="34" charset="0"/>
                    <a:ea typeface="Calibri" panose="020F0502020204030204" pitchFamily="34" charset="0"/>
                  </a:rPr>
                  <a:t> F </a:t>
                </a:r>
                <a:r>
                  <a:rPr lang="ar-SA" sz="2800" dirty="0">
                    <a:effectLst/>
                    <a:latin typeface="Calibri" panose="020F0502020204030204" pitchFamily="34" charset="0"/>
                    <a:ea typeface="Calibri" panose="020F0502020204030204" pitchFamily="34" charset="0"/>
                  </a:rPr>
                  <a:t>منطقاً استنتاج میشوند</a:t>
                </a:r>
                <a:endParaRPr lang="en-US" sz="2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800"/>
                  </a:spcAft>
                </a:pPr>
                <a:r>
                  <a:rPr lang="en-US" sz="2800" dirty="0">
                    <a:effectLst/>
                    <a:latin typeface="Calibri" panose="020F0502020204030204" pitchFamily="34" charset="0"/>
                    <a:ea typeface="Calibri" panose="020F0502020204030204" pitchFamily="34" charset="0"/>
                  </a:rPr>
                  <a:t>: F={A→B, B→C} </a:t>
                </a:r>
                <a:r>
                  <a:rPr lang="en-US" sz="2800" dirty="0">
                    <a:effectLst/>
                    <a:latin typeface="Cambria Math" panose="02040503050406030204" pitchFamily="18" charset="0"/>
                    <a:ea typeface="Calibri" panose="020F0502020204030204" pitchFamily="34" charset="0"/>
                  </a:rPr>
                  <a:t>⇒</a:t>
                </a:r>
                <a:r>
                  <a:rPr lang="en-US" sz="2800" dirty="0">
                    <a:effectLst/>
                    <a:latin typeface="Calibri" panose="020F0502020204030204" pitchFamily="34" charset="0"/>
                    <a:ea typeface="Calibri" panose="020F0502020204030204" pitchFamily="34" charset="0"/>
                  </a:rPr>
                  <a:t> </a:t>
                </a:r>
                <a14:m>
                  <m:oMath xmlns:m="http://schemas.openxmlformats.org/officeDocument/2006/math">
                    <m:sSup>
                      <m:sSupPr>
                        <m:ctrlPr>
                          <a:rPr lang="en-US" sz="2800" i="1">
                            <a:effectLst/>
                            <a:latin typeface="Cambria Math" panose="02040503050406030204" pitchFamily="18" charset="0"/>
                            <a:ea typeface="Calibri" panose="020F0502020204030204" pitchFamily="34" charset="0"/>
                          </a:rPr>
                        </m:ctrlPr>
                      </m:sSupPr>
                      <m:e>
                        <m:r>
                          <a:rPr lang="en-US" sz="2800" i="1">
                            <a:effectLst/>
                            <a:latin typeface="Cambria Math" panose="02040503050406030204" pitchFamily="18" charset="0"/>
                            <a:ea typeface="Calibri" panose="020F0502020204030204" pitchFamily="34" charset="0"/>
                          </a:rPr>
                          <m:t>𝐹</m:t>
                        </m:r>
                      </m:e>
                      <m:sup>
                        <m:r>
                          <a:rPr lang="en-US" sz="2800" i="1">
                            <a:effectLst/>
                            <a:latin typeface="Cambria Math" panose="02040503050406030204" pitchFamily="18" charset="0"/>
                            <a:ea typeface="Calibri" panose="020F0502020204030204" pitchFamily="34" charset="0"/>
                          </a:rPr>
                          <m:t>+</m:t>
                        </m:r>
                      </m:sup>
                    </m:sSup>
                  </m:oMath>
                </a14:m>
                <a:r>
                  <a:rPr lang="en-US" sz="2800" dirty="0">
                    <a:effectLst/>
                    <a:latin typeface="Calibri" panose="020F0502020204030204" pitchFamily="34" charset="0"/>
                    <a:ea typeface="Calibri" panose="020F0502020204030204" pitchFamily="34" charset="0"/>
                  </a:rPr>
                  <a:t>={A→B, B→C, A→C, (A,C)→(B,C), …}</a:t>
                </a:r>
              </a:p>
              <a:p>
                <a:pPr marL="0" marR="0" algn="r" rtl="1">
                  <a:lnSpc>
                    <a:spcPct val="107000"/>
                  </a:lnSpc>
                  <a:spcBef>
                    <a:spcPts val="0"/>
                  </a:spcBef>
                  <a:spcAft>
                    <a:spcPts val="800"/>
                  </a:spcAft>
                </a:pPr>
                <a:r>
                  <a:rPr lang="en-US" sz="2800" dirty="0">
                    <a:effectLst/>
                    <a:latin typeface="Calibri" panose="020F0502020204030204" pitchFamily="34" charset="0"/>
                    <a:ea typeface="Calibri" panose="020F0502020204030204" pitchFamily="34" charset="0"/>
                  </a:rPr>
                  <a:t> </a:t>
                </a:r>
              </a:p>
              <a:p>
                <a:endParaRPr lang="en-US" sz="3200" dirty="0"/>
              </a:p>
            </p:txBody>
          </p:sp>
        </mc:Choice>
        <mc:Fallback>
          <p:sp>
            <p:nvSpPr>
              <p:cNvPr id="3" name="Content Placeholder 2">
                <a:extLst>
                  <a:ext uri="{FF2B5EF4-FFF2-40B4-BE49-F238E27FC236}">
                    <a16:creationId xmlns:a16="http://schemas.microsoft.com/office/drawing/2014/main" id="{5C86202B-345E-4733-82F6-2F3CEFAC242A}"/>
                  </a:ext>
                </a:extLst>
              </p:cNvPr>
              <p:cNvSpPr>
                <a:spLocks noGrp="1" noRot="1" noChangeAspect="1" noMove="1" noResize="1" noEditPoints="1" noAdjustHandles="1" noChangeArrowheads="1" noChangeShapeType="1" noTextEdit="1"/>
              </p:cNvSpPr>
              <p:nvPr>
                <p:ph idx="1"/>
              </p:nvPr>
            </p:nvSpPr>
            <p:spPr>
              <a:blipFill>
                <a:blip r:embed="rId3"/>
                <a:stretch>
                  <a:fillRect l="-1426" t="-1728" r="-1568"/>
                </a:stretch>
              </a:blipFill>
            </p:spPr>
            <p:txBody>
              <a:bodyPr/>
              <a:lstStyle/>
              <a:p>
                <a:r>
                  <a:rPr lang="en-US">
                    <a:noFill/>
                  </a:rPr>
                  <a:t> </a:t>
                </a:r>
              </a:p>
            </p:txBody>
          </p:sp>
        </mc:Fallback>
      </mc:AlternateContent>
    </p:spTree>
    <p:extLst>
      <p:ext uri="{BB962C8B-B14F-4D97-AF65-F5344CB8AC3E}">
        <p14:creationId xmlns:p14="http://schemas.microsoft.com/office/powerpoint/2010/main" val="93074648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66032AA4-40D5-4AC1-91F9-0EBA4EE097F2}"/>
                  </a:ext>
                </a:extLst>
              </p:cNvPr>
              <p:cNvSpPr>
                <a:spLocks noGrp="1"/>
              </p:cNvSpPr>
              <p:nvPr>
                <p:ph type="title"/>
              </p:nvPr>
            </p:nvSpPr>
            <p:spPr/>
            <p:txBody>
              <a:bodyPr/>
              <a:lstStyle/>
              <a:p>
                <a:r>
                  <a:rPr lang="en-US" dirty="0"/>
                  <a:t>Finding </a:t>
                </a:r>
                <a14:m>
                  <m:oMath xmlns:m="http://schemas.openxmlformats.org/officeDocument/2006/math">
                    <m:sSup>
                      <m:sSupPr>
                        <m:ctrlPr>
                          <a:rPr lang="en-US" b="1" i="1" dirty="0" smtClean="0">
                            <a:latin typeface="Cambria Math" panose="02040503050406030204" pitchFamily="18" charset="0"/>
                          </a:rPr>
                        </m:ctrlPr>
                      </m:sSupPr>
                      <m:e>
                        <m:r>
                          <a:rPr lang="en-US" i="1" dirty="0" smtClean="0">
                            <a:latin typeface="Cambria Math" panose="02040503050406030204" pitchFamily="18" charset="0"/>
                          </a:rPr>
                          <m:t>𝐹</m:t>
                        </m:r>
                      </m:e>
                      <m:sup>
                        <m:r>
                          <a:rPr lang="en-US" b="1" i="1" dirty="0" smtClean="0">
                            <a:latin typeface="Cambria Math" panose="02040503050406030204" pitchFamily="18" charset="0"/>
                          </a:rPr>
                          <m:t>+</m:t>
                        </m:r>
                      </m:sup>
                    </m:sSup>
                  </m:oMath>
                </a14:m>
                <a:endParaRPr lang="en-US" dirty="0"/>
              </a:p>
            </p:txBody>
          </p:sp>
        </mc:Choice>
        <mc:Fallback xmlns="">
          <p:sp>
            <p:nvSpPr>
              <p:cNvPr id="2" name="Title 1">
                <a:extLst>
                  <a:ext uri="{FF2B5EF4-FFF2-40B4-BE49-F238E27FC236}">
                    <a16:creationId xmlns:a16="http://schemas.microsoft.com/office/drawing/2014/main" id="{66032AA4-40D5-4AC1-91F9-0EBA4EE097F2}"/>
                  </a:ext>
                </a:extLst>
              </p:cNvPr>
              <p:cNvSpPr>
                <a:spLocks noGrp="1" noRot="1" noChangeAspect="1" noMove="1" noResize="1" noEditPoints="1" noAdjustHandles="1" noChangeArrowheads="1" noChangeShapeType="1" noTextEdit="1"/>
              </p:cNvSpPr>
              <p:nvPr>
                <p:ph type="title"/>
              </p:nvPr>
            </p:nvSpPr>
            <p:spPr>
              <a:blipFill>
                <a:blip r:embed="rId3"/>
                <a:stretch>
                  <a:fillRect b="-340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60C413B-6DB0-4CE5-8701-74432755B856}"/>
                  </a:ext>
                </a:extLst>
              </p:cNvPr>
              <p:cNvSpPr>
                <a:spLocks noGrp="1"/>
              </p:cNvSpPr>
              <p:nvPr>
                <p:ph idx="1"/>
              </p:nvPr>
            </p:nvSpPr>
            <p:spPr>
              <a:xfrm>
                <a:off x="228600" y="609600"/>
                <a:ext cx="8616949" cy="5773093"/>
              </a:xfrm>
            </p:spPr>
            <p:txBody>
              <a:bodyPr/>
              <a:lstStyle/>
              <a:p>
                <a:pPr algn="r" rtl="1"/>
                <a:endParaRPr lang="fa-IR" sz="2400" b="1" dirty="0"/>
              </a:p>
              <a:p>
                <a:pPr algn="r" rtl="1"/>
                <a:r>
                  <a:rPr lang="fa-IR" sz="2400" b="1" dirty="0"/>
                  <a:t>اگر رابطه ی</a:t>
                </a:r>
                <a:r>
                  <a:rPr lang="en-US" sz="2400" dirty="0"/>
                  <a:t> R(A,B,C,D)</a:t>
                </a:r>
                <a:r>
                  <a:rPr lang="fa-IR" sz="2400" dirty="0"/>
                  <a:t> با وابستگی های تابعی </a:t>
                </a:r>
                <a:r>
                  <a:rPr lang="en-US" sz="2400" dirty="0"/>
                  <a:t>F</a:t>
                </a:r>
                <a:r>
                  <a:rPr lang="fa-IR" sz="2400" dirty="0"/>
                  <a:t> را داشته باشیم. </a:t>
                </a:r>
                <a:r>
                  <a:rPr lang="fa-IR" sz="2400" b="1" dirty="0"/>
                  <a:t> </a:t>
                </a:r>
                <a:endParaRPr lang="en-US" sz="2400" b="1" dirty="0"/>
              </a:p>
              <a:p>
                <a:pPr>
                  <a:buFont typeface="+mj-lt"/>
                  <a:buAutoNum type="arabicPeriod"/>
                </a:pPr>
                <a:r>
                  <a:rPr lang="en-US" sz="2400" dirty="0"/>
                  <a:t>A→B</a:t>
                </a:r>
              </a:p>
              <a:p>
                <a:pPr>
                  <a:buFont typeface="+mj-lt"/>
                  <a:buAutoNum type="arabicPeriod"/>
                </a:pPr>
                <a:r>
                  <a:rPr lang="en-US" sz="2400" dirty="0"/>
                  <a:t>B→C</a:t>
                </a:r>
              </a:p>
              <a:p>
                <a:pPr>
                  <a:buFont typeface="+mj-lt"/>
                  <a:buAutoNum type="arabicPeriod"/>
                </a:pPr>
                <a:r>
                  <a:rPr lang="en-US" sz="2400" dirty="0"/>
                  <a:t>A→D</a:t>
                </a:r>
              </a:p>
              <a:p>
                <a:pPr marL="0" marR="0" algn="r" rtl="1">
                  <a:lnSpc>
                    <a:spcPct val="107000"/>
                  </a:lnSpc>
                  <a:spcBef>
                    <a:spcPts val="0"/>
                  </a:spcBef>
                  <a:spcAft>
                    <a:spcPts val="800"/>
                  </a:spcAft>
                </a:pPr>
                <a:r>
                  <a:rPr lang="fa-IR" sz="2400" dirty="0">
                    <a:latin typeface="Times New Roman" panose="02020603050405020304" pitchFamily="18" charset="0"/>
                  </a:rPr>
                  <a:t>پیدا کردن </a:t>
                </a:r>
                <a14:m>
                  <m:oMath xmlns:m="http://schemas.openxmlformats.org/officeDocument/2006/math">
                    <m:sSup>
                      <m:sSupPr>
                        <m:ctrlPr>
                          <a:rPr lang="en-US" sz="2400" b="0" i="1" smtClean="0">
                            <a:latin typeface="Cambria Math" panose="02040503050406030204" pitchFamily="18" charset="0"/>
                            <a:cs typeface="Arial" panose="020B0604020202020204" pitchFamily="34" charset="0"/>
                          </a:rPr>
                        </m:ctrlPr>
                      </m:sSupPr>
                      <m:e>
                        <m:r>
                          <a:rPr lang="en-US" sz="2400" b="0" i="1" smtClean="0">
                            <a:latin typeface="Cambria Math" panose="02040503050406030204" pitchFamily="18" charset="0"/>
                            <a:cs typeface="Arial" panose="020B0604020202020204" pitchFamily="34" charset="0"/>
                          </a:rPr>
                          <m:t>𝐹</m:t>
                        </m:r>
                      </m:e>
                      <m:sup>
                        <m:r>
                          <a:rPr lang="en-US" sz="2400" b="0" i="1" smtClean="0">
                            <a:latin typeface="Cambria Math" panose="02040503050406030204" pitchFamily="18" charset="0"/>
                            <a:cs typeface="Arial" panose="020B0604020202020204" pitchFamily="34" charset="0"/>
                          </a:rPr>
                          <m:t>+</m:t>
                        </m:r>
                      </m:sup>
                    </m:sSup>
                    <m:r>
                      <a:rPr lang="en-US" sz="2400" b="0" i="1" smtClean="0">
                        <a:latin typeface="Cambria Math" panose="02040503050406030204" pitchFamily="18" charset="0"/>
                        <a:cs typeface="Arial" panose="020B0604020202020204" pitchFamily="34" charset="0"/>
                      </a:rPr>
                      <m:t> </m:t>
                    </m:r>
                  </m:oMath>
                </a14:m>
                <a:r>
                  <a:rPr lang="fa-IR" sz="2400" dirty="0">
                    <a:latin typeface="Times New Roman" panose="02020603050405020304" pitchFamily="18" charset="0"/>
                  </a:rPr>
                  <a:t>- بستار مجموعه شامل تمام وابستگی‌های تابعی مشتق شده است. </a:t>
                </a:r>
              </a:p>
              <a:p>
                <a:pPr lvl="1" indent="-342900">
                  <a:lnSpc>
                    <a:spcPct val="107000"/>
                  </a:lnSpc>
                  <a:spcBef>
                    <a:spcPts val="0"/>
                  </a:spcBef>
                  <a:spcAft>
                    <a:spcPts val="800"/>
                  </a:spcAft>
                  <a:buFont typeface="+mj-lt"/>
                  <a:buAutoNum type="arabicPeriod"/>
                  <a:tabLst>
                    <a:tab pos="457200" algn="l"/>
                  </a:tabLst>
                </a:pPr>
                <a:r>
                  <a:rPr lang="en-US" sz="2400" dirty="0">
                    <a:effectLst/>
                    <a:latin typeface="Times New Roman" panose="02020603050405020304" pitchFamily="18" charset="0"/>
                    <a:ea typeface="Times New Roman" panose="02020603050405020304" pitchFamily="18" charset="0"/>
                  </a:rPr>
                  <a:t>A→B</a:t>
                </a:r>
                <a:endParaRPr lang="en-US" sz="2400" dirty="0">
                  <a:effectLst/>
                  <a:latin typeface="Calibri" panose="020F0502020204030204" pitchFamily="34" charset="0"/>
                  <a:ea typeface="Calibri" panose="020F0502020204030204" pitchFamily="34" charset="0"/>
                </a:endParaRPr>
              </a:p>
              <a:p>
                <a:pPr lvl="1" indent="-342900">
                  <a:lnSpc>
                    <a:spcPct val="107000"/>
                  </a:lnSpc>
                  <a:spcBef>
                    <a:spcPts val="0"/>
                  </a:spcBef>
                  <a:spcAft>
                    <a:spcPts val="800"/>
                  </a:spcAft>
                  <a:buFont typeface="+mj-lt"/>
                  <a:buAutoNum type="arabicPeriod"/>
                  <a:tabLst>
                    <a:tab pos="457200" algn="l"/>
                  </a:tabLst>
                </a:pPr>
                <a:r>
                  <a:rPr lang="en-US" sz="2400" dirty="0">
                    <a:effectLst/>
                    <a:latin typeface="Times New Roman" panose="02020603050405020304" pitchFamily="18" charset="0"/>
                    <a:ea typeface="Times New Roman" panose="02020603050405020304" pitchFamily="18" charset="0"/>
                  </a:rPr>
                  <a:t>B→C</a:t>
                </a:r>
                <a:endParaRPr lang="en-US" sz="2400" dirty="0">
                  <a:effectLst/>
                  <a:latin typeface="Calibri" panose="020F0502020204030204" pitchFamily="34" charset="0"/>
                  <a:ea typeface="Calibri" panose="020F0502020204030204" pitchFamily="34" charset="0"/>
                </a:endParaRPr>
              </a:p>
              <a:p>
                <a:pPr lvl="1" indent="-342900">
                  <a:lnSpc>
                    <a:spcPct val="107000"/>
                  </a:lnSpc>
                  <a:spcBef>
                    <a:spcPts val="0"/>
                  </a:spcBef>
                  <a:spcAft>
                    <a:spcPts val="800"/>
                  </a:spcAft>
                  <a:buFont typeface="+mj-lt"/>
                  <a:buAutoNum type="arabicPeriod"/>
                  <a:tabLst>
                    <a:tab pos="457200" algn="l"/>
                  </a:tabLst>
                </a:pPr>
                <a:r>
                  <a:rPr lang="en-US" sz="2400" dirty="0">
                    <a:effectLst/>
                    <a:latin typeface="Times New Roman" panose="02020603050405020304" pitchFamily="18" charset="0"/>
                    <a:ea typeface="Times New Roman" panose="02020603050405020304" pitchFamily="18" charset="0"/>
                  </a:rPr>
                  <a:t>A→D</a:t>
                </a:r>
                <a:endParaRPr lang="en-US" sz="2400" dirty="0">
                  <a:effectLst/>
                  <a:latin typeface="Calibri" panose="020F0502020204030204" pitchFamily="34" charset="0"/>
                  <a:ea typeface="Calibri" panose="020F0502020204030204" pitchFamily="34" charset="0"/>
                </a:endParaRPr>
              </a:p>
              <a:p>
                <a:pPr lvl="1" indent="-342900">
                  <a:lnSpc>
                    <a:spcPct val="107000"/>
                  </a:lnSpc>
                  <a:spcBef>
                    <a:spcPts val="0"/>
                  </a:spcBef>
                  <a:spcAft>
                    <a:spcPts val="800"/>
                  </a:spcAft>
                  <a:buFont typeface="+mj-lt"/>
                  <a:buAutoNum type="arabicPeriod"/>
                  <a:tabLst>
                    <a:tab pos="457200" algn="l"/>
                  </a:tabLst>
                </a:pPr>
                <a:r>
                  <a:rPr lang="en-US" sz="2400" dirty="0">
                    <a:effectLst/>
                    <a:latin typeface="Times New Roman" panose="02020603050405020304" pitchFamily="18" charset="0"/>
                    <a:ea typeface="Times New Roman" panose="02020603050405020304" pitchFamily="18" charset="0"/>
                  </a:rPr>
                  <a:t>A→CA (</a:t>
                </a:r>
                <a:r>
                  <a:rPr lang="fa-IR" sz="2400" dirty="0"/>
                  <a:t>تعدی</a:t>
                </a:r>
                <a:r>
                  <a:rPr lang="en-US" sz="2400" dirty="0">
                    <a:effectLst/>
                    <a:latin typeface="Times New Roman" panose="02020603050405020304" pitchFamily="18" charset="0"/>
                    <a:ea typeface="Times New Roman" panose="02020603050405020304" pitchFamily="18" charset="0"/>
                  </a:rPr>
                  <a:t>)</a:t>
                </a:r>
                <a:endParaRPr lang="en-US" sz="2400" dirty="0">
                  <a:effectLst/>
                  <a:latin typeface="Calibri" panose="020F0502020204030204" pitchFamily="34" charset="0"/>
                  <a:ea typeface="Calibri" panose="020F0502020204030204" pitchFamily="34" charset="0"/>
                </a:endParaRPr>
              </a:p>
              <a:p>
                <a:pPr lvl="1" indent="-342900">
                  <a:lnSpc>
                    <a:spcPct val="107000"/>
                  </a:lnSpc>
                  <a:spcBef>
                    <a:spcPts val="0"/>
                  </a:spcBef>
                  <a:spcAft>
                    <a:spcPts val="800"/>
                  </a:spcAft>
                  <a:buFont typeface="+mj-lt"/>
                  <a:buAutoNum type="arabicPeriod"/>
                  <a:tabLst>
                    <a:tab pos="457200" algn="l"/>
                  </a:tabLst>
                </a:pPr>
                <a:r>
                  <a:rPr lang="en-US" sz="2400" dirty="0">
                    <a:effectLst/>
                    <a:latin typeface="Times New Roman" panose="02020603050405020304" pitchFamily="18" charset="0"/>
                    <a:ea typeface="Times New Roman" panose="02020603050405020304" pitchFamily="18" charset="0"/>
                  </a:rPr>
                  <a:t>A→BCA (</a:t>
                </a:r>
                <a:r>
                  <a:rPr lang="fa-IR" sz="2400" dirty="0"/>
                  <a:t>افزایش</a:t>
                </a:r>
                <a:r>
                  <a:rPr lang="en-US" sz="2400" dirty="0">
                    <a:effectLst/>
                    <a:latin typeface="Times New Roman" panose="02020603050405020304" pitchFamily="18" charset="0"/>
                    <a:ea typeface="Times New Roman" panose="02020603050405020304" pitchFamily="18" charset="0"/>
                  </a:rPr>
                  <a:t>)</a:t>
                </a:r>
                <a:endParaRPr lang="en-US" sz="2400" dirty="0">
                  <a:effectLst/>
                  <a:latin typeface="Calibri" panose="020F0502020204030204" pitchFamily="34" charset="0"/>
                  <a:ea typeface="Calibri" panose="020F0502020204030204" pitchFamily="34" charset="0"/>
                </a:endParaRPr>
              </a:p>
              <a:p>
                <a:pPr lvl="1" indent="-342900">
                  <a:lnSpc>
                    <a:spcPct val="107000"/>
                  </a:lnSpc>
                  <a:spcBef>
                    <a:spcPts val="0"/>
                  </a:spcBef>
                  <a:spcAft>
                    <a:spcPts val="800"/>
                  </a:spcAft>
                  <a:buFont typeface="+mj-lt"/>
                  <a:buAutoNum type="arabicPeriod"/>
                  <a:tabLst>
                    <a:tab pos="457200" algn="l"/>
                  </a:tabLst>
                </a:pPr>
                <a:r>
                  <a:rPr lang="en-US" sz="2400" dirty="0">
                    <a:effectLst/>
                    <a:latin typeface="Times New Roman" panose="02020603050405020304" pitchFamily="18" charset="0"/>
                    <a:ea typeface="Times New Roman" panose="02020603050405020304" pitchFamily="18" charset="0"/>
                  </a:rPr>
                  <a:t>A→BCDA (</a:t>
                </a:r>
                <a:r>
                  <a:rPr lang="fa-IR" sz="2400" dirty="0"/>
                  <a:t>ترکیب وابستگی‌</a:t>
                </a:r>
                <a:r>
                  <a:rPr lang="en-US" sz="2400" dirty="0">
                    <a:effectLst/>
                    <a:latin typeface="Times New Roman" panose="02020603050405020304" pitchFamily="18" charset="0"/>
                    <a:ea typeface="Times New Roman" panose="02020603050405020304" pitchFamily="18" charset="0"/>
                  </a:rPr>
                  <a:t>)</a:t>
                </a:r>
                <a:endParaRPr lang="en-US" sz="2400" dirty="0">
                  <a:effectLst/>
                  <a:latin typeface="Calibri" panose="020F0502020204030204" pitchFamily="34" charset="0"/>
                  <a:ea typeface="Calibri" panose="020F0502020204030204" pitchFamily="34" charset="0"/>
                </a:endParaRPr>
              </a:p>
              <a:p>
                <a:endParaRPr lang="en-US" sz="2400" dirty="0"/>
              </a:p>
            </p:txBody>
          </p:sp>
        </mc:Choice>
        <mc:Fallback>
          <p:sp>
            <p:nvSpPr>
              <p:cNvPr id="3" name="Content Placeholder 2">
                <a:extLst>
                  <a:ext uri="{FF2B5EF4-FFF2-40B4-BE49-F238E27FC236}">
                    <a16:creationId xmlns:a16="http://schemas.microsoft.com/office/drawing/2014/main" id="{960C413B-6DB0-4CE5-8701-74432755B856}"/>
                  </a:ext>
                </a:extLst>
              </p:cNvPr>
              <p:cNvSpPr>
                <a:spLocks noGrp="1" noRot="1" noChangeAspect="1" noMove="1" noResize="1" noEditPoints="1" noAdjustHandles="1" noChangeArrowheads="1" noChangeShapeType="1" noTextEdit="1"/>
              </p:cNvSpPr>
              <p:nvPr>
                <p:ph idx="1"/>
              </p:nvPr>
            </p:nvSpPr>
            <p:spPr>
              <a:xfrm>
                <a:off x="228600" y="609600"/>
                <a:ext cx="8616949" cy="5773093"/>
              </a:xfrm>
              <a:blipFill>
                <a:blip r:embed="rId4"/>
                <a:stretch>
                  <a:fillRect l="-1203" r="-1132" b="-2851"/>
                </a:stretch>
              </a:blipFill>
            </p:spPr>
            <p:txBody>
              <a:bodyPr/>
              <a:lstStyle/>
              <a:p>
                <a:r>
                  <a:rPr lang="en-US">
                    <a:noFill/>
                  </a:rPr>
                  <a:t> </a:t>
                </a:r>
              </a:p>
            </p:txBody>
          </p:sp>
        </mc:Fallback>
      </mc:AlternateContent>
    </p:spTree>
    <p:extLst>
      <p:ext uri="{BB962C8B-B14F-4D97-AF65-F5344CB8AC3E}">
        <p14:creationId xmlns:p14="http://schemas.microsoft.com/office/powerpoint/2010/main" val="34793832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0817F6-793F-4DBF-8583-A356EE99B788}"/>
              </a:ext>
            </a:extLst>
          </p:cNvPr>
          <p:cNvSpPr>
            <a:spLocks noGrp="1"/>
          </p:cNvSpPr>
          <p:nvPr>
            <p:ph type="title"/>
          </p:nvPr>
        </p:nvSpPr>
        <p:spPr/>
        <p:txBody>
          <a:bodyPr/>
          <a:lstStyle/>
          <a:p>
            <a:r>
              <a:rPr lang="en-US" dirty="0"/>
              <a:t> </a:t>
            </a:r>
            <a:r>
              <a:rPr lang="en-US" altLang="en-US" dirty="0"/>
              <a:t>(</a:t>
            </a:r>
            <a:r>
              <a:rPr lang="en-US" altLang="en-US" dirty="0" bmk=""/>
              <a:t>2NF) Second Normal Form</a:t>
            </a:r>
            <a:endParaRPr lang="en-US" dirty="0"/>
          </a:p>
        </p:txBody>
      </p:sp>
      <p:sp>
        <p:nvSpPr>
          <p:cNvPr id="3" name="Content Placeholder 2">
            <a:extLst>
              <a:ext uri="{FF2B5EF4-FFF2-40B4-BE49-F238E27FC236}">
                <a16:creationId xmlns:a16="http://schemas.microsoft.com/office/drawing/2014/main" id="{099CCA28-973E-4EC0-8175-1F2DB5D43125}"/>
              </a:ext>
            </a:extLst>
          </p:cNvPr>
          <p:cNvSpPr>
            <a:spLocks noGrp="1"/>
          </p:cNvSpPr>
          <p:nvPr>
            <p:ph idx="1"/>
          </p:nvPr>
        </p:nvSpPr>
        <p:spPr/>
        <p:txBody>
          <a:bodyPr/>
          <a:lstStyle/>
          <a:p>
            <a:pPr marL="0" marR="0" algn="r" rtl="1">
              <a:lnSpc>
                <a:spcPct val="107000"/>
              </a:lnSpc>
              <a:spcBef>
                <a:spcPts val="0"/>
              </a:spcBef>
              <a:spcAft>
                <a:spcPts val="800"/>
              </a:spcAft>
            </a:pPr>
            <a:r>
              <a:rPr lang="ar-SA" sz="2800" b="1" dirty="0">
                <a:effectLst/>
                <a:latin typeface="Calibri" panose="020F0502020204030204" pitchFamily="34" charset="0"/>
                <a:ea typeface="Times New Roman" panose="02020603050405020304" pitchFamily="18" charset="0"/>
              </a:rPr>
              <a:t>تعریف </a:t>
            </a:r>
            <a:r>
              <a:rPr lang="en-US" sz="2800" b="1" dirty="0">
                <a:effectLst/>
                <a:latin typeface="Times New Roman" panose="02020603050405020304" pitchFamily="18" charset="0"/>
                <a:ea typeface="Times New Roman" panose="02020603050405020304" pitchFamily="18" charset="0"/>
              </a:rPr>
              <a:t>NF</a:t>
            </a:r>
            <a:r>
              <a:rPr lang="ar-SA" sz="2800" b="1" dirty="0">
                <a:latin typeface="Calibri" panose="020F0502020204030204" pitchFamily="34" charset="0"/>
                <a:ea typeface="Times New Roman" panose="02020603050405020304" pitchFamily="18" charset="0"/>
              </a:rPr>
              <a:t>2</a:t>
            </a:r>
            <a:endParaRPr lang="en-US" sz="2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2800" dirty="0">
                <a:effectLst/>
                <a:latin typeface="Calibri" panose="020F0502020204030204" pitchFamily="34" charset="0"/>
                <a:ea typeface="Times New Roman" panose="02020603050405020304" pitchFamily="18" charset="0"/>
              </a:rPr>
              <a:t>جدول باید ابتدا در </a:t>
            </a:r>
            <a:r>
              <a:rPr lang="en-US" sz="2800" b="1" dirty="0">
                <a:effectLst/>
                <a:latin typeface="Times New Roman" panose="02020603050405020304" pitchFamily="18" charset="0"/>
                <a:ea typeface="Times New Roman" panose="02020603050405020304" pitchFamily="18" charset="0"/>
              </a:rPr>
              <a:t>1NF</a:t>
            </a:r>
            <a:r>
              <a:rPr lang="en-US" sz="2800" dirty="0">
                <a:effectLst/>
                <a:latin typeface="Times New Roman" panose="02020603050405020304" pitchFamily="18" charset="0"/>
                <a:ea typeface="Times New Roman" panose="02020603050405020304" pitchFamily="18" charset="0"/>
              </a:rPr>
              <a:t> </a:t>
            </a:r>
            <a:r>
              <a:rPr lang="ar-SA" sz="2800" dirty="0">
                <a:effectLst/>
                <a:latin typeface="Calibri" panose="020F0502020204030204" pitchFamily="34" charset="0"/>
                <a:ea typeface="Times New Roman" panose="02020603050405020304" pitchFamily="18" charset="0"/>
              </a:rPr>
              <a:t>باشد </a:t>
            </a:r>
            <a:endParaRPr lang="en-US" sz="2800" dirty="0">
              <a:effectLst/>
              <a:latin typeface="Calibri" panose="020F0502020204030204" pitchFamily="34" charset="0"/>
              <a:ea typeface="Times New Roman" panose="02020603050405020304" pitchFamily="18"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2800" b="1" dirty="0">
                <a:effectLst/>
                <a:latin typeface="Calibri" panose="020F0502020204030204" pitchFamily="34" charset="0"/>
                <a:ea typeface="Times New Roman" panose="02020603050405020304" pitchFamily="18" charset="0"/>
              </a:rPr>
              <a:t>تمام صفات غیر کلیدی</a:t>
            </a:r>
            <a:r>
              <a:rPr lang="ar-SA" sz="2800" dirty="0">
                <a:effectLst/>
                <a:latin typeface="Calibri" panose="020F0502020204030204" pitchFamily="34" charset="0"/>
                <a:ea typeface="Times New Roman" panose="02020603050405020304" pitchFamily="18" charset="0"/>
              </a:rPr>
              <a:t> باید به طور کامل به کل کلید اصلی وابسته باشند (نه فقط بخشی از کلید اصلی). اگر وابستگی جزئی وجود داشته باشد، جدول به 2</a:t>
            </a:r>
            <a:r>
              <a:rPr lang="en-US" sz="2800" dirty="0">
                <a:effectLst/>
                <a:latin typeface="Times New Roman" panose="02020603050405020304" pitchFamily="18" charset="0"/>
                <a:ea typeface="Times New Roman" panose="02020603050405020304" pitchFamily="18" charset="0"/>
              </a:rPr>
              <a:t>NF </a:t>
            </a:r>
            <a:r>
              <a:rPr lang="ar-SA" sz="2800" dirty="0">
                <a:effectLst/>
                <a:latin typeface="Calibri" panose="020F0502020204030204" pitchFamily="34" charset="0"/>
                <a:ea typeface="Times New Roman" panose="02020603050405020304" pitchFamily="18" charset="0"/>
              </a:rPr>
              <a:t>نمی‌رسد</a:t>
            </a:r>
            <a:r>
              <a:rPr lang="en-US" sz="2800" dirty="0">
                <a:effectLst/>
                <a:latin typeface="Times New Roman" panose="02020603050405020304" pitchFamily="18" charset="0"/>
                <a:ea typeface="Times New Roman" panose="02020603050405020304" pitchFamily="18" charset="0"/>
              </a:rPr>
              <a:t>.</a:t>
            </a:r>
            <a:endParaRPr lang="en-US" sz="2800" dirty="0">
              <a:effectLst/>
              <a:latin typeface="Calibri" panose="020F0502020204030204" pitchFamily="34" charset="0"/>
              <a:ea typeface="Calibri" panose="020F0502020204030204" pitchFamily="34" charset="0"/>
            </a:endParaRPr>
          </a:p>
          <a:p>
            <a:pPr marL="0" marR="0" indent="0" algn="r" rtl="1">
              <a:lnSpc>
                <a:spcPct val="107000"/>
              </a:lnSpc>
              <a:spcBef>
                <a:spcPts val="0"/>
              </a:spcBef>
              <a:spcAft>
                <a:spcPts val="800"/>
              </a:spcAft>
              <a:buNone/>
            </a:pPr>
            <a:br>
              <a:rPr lang="en-US" altLang="en-US" sz="2800" b="0" dirty="0">
                <a:solidFill>
                  <a:schemeClr val="tx1"/>
                </a:solidFill>
              </a:rPr>
            </a:br>
            <a:r>
              <a:rPr lang="ar-SA" altLang="en-US" sz="2800" b="0" dirty="0">
                <a:solidFill>
                  <a:srgbClr val="000000"/>
                </a:solidFill>
                <a:latin typeface="Tahoma" panose="020B0604030504040204" pitchFamily="34" charset="0"/>
              </a:rPr>
              <a:t>ستون </a:t>
            </a:r>
            <a:r>
              <a:rPr lang="en-US" altLang="en-US" sz="2800" b="0" dirty="0">
                <a:solidFill>
                  <a:srgbClr val="000000"/>
                </a:solidFill>
                <a:latin typeface="Tahoma" panose="020B0604030504040204" pitchFamily="34" charset="0"/>
              </a:rPr>
              <a:t>Y</a:t>
            </a:r>
            <a:r>
              <a:rPr lang="ar-SA" altLang="en-US" sz="2800" b="0" dirty="0">
                <a:solidFill>
                  <a:srgbClr val="000000"/>
                </a:solidFill>
                <a:latin typeface="Tahoma" panose="020B0604030504040204" pitchFamily="34" charset="0"/>
              </a:rPr>
              <a:t> با ستون </a:t>
            </a:r>
            <a:r>
              <a:rPr lang="en-US" altLang="en-US" sz="2800" b="0" dirty="0">
                <a:solidFill>
                  <a:srgbClr val="000000"/>
                </a:solidFill>
                <a:latin typeface="Tahoma" panose="020B0604030504040204" pitchFamily="34" charset="0"/>
              </a:rPr>
              <a:t>X</a:t>
            </a:r>
            <a:r>
              <a:rPr lang="ar-SA" altLang="en-US" sz="2800" b="0" dirty="0">
                <a:solidFill>
                  <a:srgbClr val="000000"/>
                </a:solidFill>
                <a:latin typeface="Tahoma" panose="020B0604030504040204" pitchFamily="34" charset="0"/>
              </a:rPr>
              <a:t> در يک رابطه وابستگی تا</a:t>
            </a:r>
            <a:r>
              <a:rPr lang="fa-IR" altLang="en-US" sz="2800" b="0" dirty="0">
                <a:solidFill>
                  <a:srgbClr val="000000"/>
                </a:solidFill>
                <a:latin typeface="Tahoma" panose="020B0604030504040204" pitchFamily="34" charset="0"/>
              </a:rPr>
              <a:t>ب</a:t>
            </a:r>
            <a:r>
              <a:rPr lang="ar-SA" altLang="en-US" sz="2800" b="0" dirty="0">
                <a:solidFill>
                  <a:srgbClr val="000000"/>
                </a:solidFill>
                <a:latin typeface="Tahoma" panose="020B0604030504040204" pitchFamily="34" charset="0"/>
              </a:rPr>
              <a:t>عی (</a:t>
            </a:r>
            <a:r>
              <a:rPr lang="en-US" altLang="en-US" sz="2800" b="0" dirty="0">
                <a:solidFill>
                  <a:srgbClr val="000000"/>
                </a:solidFill>
                <a:latin typeface="Tahoma" panose="020B0604030504040204" pitchFamily="34" charset="0"/>
              </a:rPr>
              <a:t>functional dependency</a:t>
            </a:r>
            <a:r>
              <a:rPr lang="ar-SA" altLang="en-US" sz="2800" b="0" dirty="0">
                <a:solidFill>
                  <a:srgbClr val="000000"/>
                </a:solidFill>
                <a:latin typeface="Tahoma" panose="020B0604030504040204" pitchFamily="34" charset="0"/>
              </a:rPr>
              <a:t>) دارد اگروفقط اگر به ازای هر مقدار در </a:t>
            </a:r>
            <a:r>
              <a:rPr lang="en-US" altLang="en-US" sz="2800" b="0" dirty="0">
                <a:solidFill>
                  <a:srgbClr val="000000"/>
                </a:solidFill>
                <a:latin typeface="Tahoma" panose="020B0604030504040204" pitchFamily="34" charset="0"/>
              </a:rPr>
              <a:t>X</a:t>
            </a:r>
            <a:r>
              <a:rPr lang="ar-SA" altLang="en-US" sz="2800" b="0" dirty="0">
                <a:solidFill>
                  <a:srgbClr val="000000"/>
                </a:solidFill>
                <a:latin typeface="Tahoma" panose="020B0604030504040204" pitchFamily="34" charset="0"/>
              </a:rPr>
              <a:t> دقيقا يک مقدار در </a:t>
            </a:r>
            <a:r>
              <a:rPr lang="en-US" altLang="en-US" sz="2800" b="0" dirty="0">
                <a:solidFill>
                  <a:srgbClr val="000000"/>
                </a:solidFill>
                <a:latin typeface="Tahoma" panose="020B0604030504040204" pitchFamily="34" charset="0"/>
              </a:rPr>
              <a:t>Y</a:t>
            </a:r>
            <a:r>
              <a:rPr lang="ar-SA" altLang="en-US" sz="2800" b="0" dirty="0">
                <a:solidFill>
                  <a:srgbClr val="000000"/>
                </a:solidFill>
                <a:latin typeface="Tahoma" panose="020B0604030504040204" pitchFamily="34" charset="0"/>
              </a:rPr>
              <a:t> متناظر با آن وجود داشته باشد. که به صورت </a:t>
            </a:r>
            <a:r>
              <a:rPr lang="en-US" altLang="en-US" sz="2800" b="0" dirty="0">
                <a:solidFill>
                  <a:srgbClr val="000000"/>
                </a:solidFill>
                <a:latin typeface="Tahoma" panose="020B0604030504040204" pitchFamily="34" charset="0"/>
              </a:rPr>
              <a:t>X→Y</a:t>
            </a:r>
            <a:r>
              <a:rPr lang="ar-SA" altLang="en-US" sz="2800" b="0" dirty="0">
                <a:solidFill>
                  <a:srgbClr val="000000"/>
                </a:solidFill>
                <a:latin typeface="Tahoma" panose="020B0604030504040204" pitchFamily="34" charset="0"/>
              </a:rPr>
              <a:t> نشان داده می شود.</a:t>
            </a:r>
            <a:br>
              <a:rPr lang="en-US" altLang="en-US" sz="2800" b="0" dirty="0">
                <a:solidFill>
                  <a:schemeClr val="tx1"/>
                </a:solidFill>
              </a:rPr>
            </a:br>
            <a:br>
              <a:rPr lang="en-US" altLang="en-US" sz="2800" b="0" dirty="0">
                <a:solidFill>
                  <a:schemeClr val="tx1"/>
                </a:solidFill>
              </a:rPr>
            </a:br>
            <a:br>
              <a:rPr lang="en-US" altLang="en-US" sz="2800" b="0" dirty="0">
                <a:solidFill>
                  <a:schemeClr val="tx1"/>
                </a:solidFill>
                <a:latin typeface="Arial" panose="020B0604020202020204" pitchFamily="34" charset="0"/>
              </a:rPr>
            </a:br>
            <a:br>
              <a:rPr lang="en-US" altLang="en-US" sz="2800" b="0" dirty="0">
                <a:solidFill>
                  <a:schemeClr val="tx1"/>
                </a:solidFill>
                <a:latin typeface="Arial" panose="020B0604020202020204" pitchFamily="34" charset="0"/>
              </a:rPr>
            </a:br>
            <a:endParaRPr lang="en-US" sz="2800" dirty="0"/>
          </a:p>
        </p:txBody>
      </p:sp>
    </p:spTree>
    <p:extLst>
      <p:ext uri="{BB962C8B-B14F-4D97-AF65-F5344CB8AC3E}">
        <p14:creationId xmlns:p14="http://schemas.microsoft.com/office/powerpoint/2010/main" val="16631228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FE179B-AD57-478B-A5E9-7B94415F2252}"/>
              </a:ext>
            </a:extLst>
          </p:cNvPr>
          <p:cNvSpPr>
            <a:spLocks noGrp="1"/>
          </p:cNvSpPr>
          <p:nvPr>
            <p:ph idx="1"/>
          </p:nvPr>
        </p:nvSpPr>
        <p:spPr>
          <a:xfrm>
            <a:off x="289711" y="784547"/>
            <a:ext cx="8555839" cy="5288905"/>
          </a:xfrm>
        </p:spPr>
        <p:txBody>
          <a:bodyPr/>
          <a:lstStyle/>
          <a:p>
            <a:pPr marL="0" indent="0" algn="r" rtl="1">
              <a:buNone/>
            </a:pPr>
            <a:r>
              <a:rPr lang="fa-IR" altLang="en-US" sz="2800" b="0" dirty="0">
                <a:solidFill>
                  <a:schemeClr val="tx1"/>
                </a:solidFill>
                <a:cs typeface="B Nazanin" panose="00000400000000000000" pitchFamily="2" charset="-78"/>
              </a:rPr>
              <a:t>آیا جدول زیر</a:t>
            </a:r>
            <a:r>
              <a:rPr lang="fa-IR" altLang="en-US" sz="2800" dirty="0"/>
              <a:t> </a:t>
            </a:r>
            <a:r>
              <a:rPr lang="en-US" altLang="en-US" sz="2800" dirty="0"/>
              <a:t>2NF</a:t>
            </a:r>
            <a:r>
              <a:rPr lang="fa-IR" altLang="en-US" sz="2800" dirty="0"/>
              <a:t> هست ؟</a:t>
            </a:r>
            <a:endParaRPr lang="en-US" altLang="en-US" sz="2800" dirty="0"/>
          </a:p>
          <a:p>
            <a:pPr marL="0" indent="0" algn="r" rtl="1">
              <a:buNone/>
            </a:pPr>
            <a:endParaRPr lang="en-US" sz="2800" dirty="0"/>
          </a:p>
        </p:txBody>
      </p:sp>
      <p:sp>
        <p:nvSpPr>
          <p:cNvPr id="4" name="Title 1">
            <a:extLst>
              <a:ext uri="{FF2B5EF4-FFF2-40B4-BE49-F238E27FC236}">
                <a16:creationId xmlns:a16="http://schemas.microsoft.com/office/drawing/2014/main" id="{659B7AB1-AE20-4768-8313-47668E2CF93F}"/>
              </a:ext>
            </a:extLst>
          </p:cNvPr>
          <p:cNvSpPr>
            <a:spLocks noGrp="1"/>
          </p:cNvSpPr>
          <p:nvPr>
            <p:ph type="title"/>
          </p:nvPr>
        </p:nvSpPr>
        <p:spPr>
          <a:xfrm>
            <a:off x="768350" y="117475"/>
            <a:ext cx="8077200" cy="609600"/>
          </a:xfrm>
        </p:spPr>
        <p:txBody>
          <a:bodyPr/>
          <a:lstStyle/>
          <a:p>
            <a:r>
              <a:rPr lang="fa-IR" altLang="en-US" sz="2800" dirty="0">
                <a:latin typeface="Titr" pitchFamily="2" charset="-78"/>
                <a:ea typeface="2  Titr"/>
                <a:cs typeface="2  Titr"/>
              </a:rPr>
              <a:t>جدول نرمال ۲</a:t>
            </a:r>
            <a:endParaRPr lang="en-US" dirty="0"/>
          </a:p>
        </p:txBody>
      </p:sp>
      <p:graphicFrame>
        <p:nvGraphicFramePr>
          <p:cNvPr id="5" name="Table 4">
            <a:extLst>
              <a:ext uri="{FF2B5EF4-FFF2-40B4-BE49-F238E27FC236}">
                <a16:creationId xmlns:a16="http://schemas.microsoft.com/office/drawing/2014/main" id="{D021EF03-A87F-40B5-A3E5-F77913EFB47E}"/>
              </a:ext>
            </a:extLst>
          </p:cNvPr>
          <p:cNvGraphicFramePr>
            <a:graphicFrameLocks noGrp="1"/>
          </p:cNvGraphicFramePr>
          <p:nvPr>
            <p:extLst>
              <p:ext uri="{D42A27DB-BD31-4B8C-83A1-F6EECF244321}">
                <p14:modId xmlns:p14="http://schemas.microsoft.com/office/powerpoint/2010/main" val="3371507309"/>
              </p:ext>
            </p:extLst>
          </p:nvPr>
        </p:nvGraphicFramePr>
        <p:xfrm>
          <a:off x="74799" y="2111188"/>
          <a:ext cx="8994401" cy="4127186"/>
        </p:xfrm>
        <a:graphic>
          <a:graphicData uri="http://schemas.openxmlformats.org/drawingml/2006/table">
            <a:tbl>
              <a:tblPr firstRow="1" firstCol="1" bandRow="1">
                <a:tableStyleId>{616DA210-FB5B-4158-B5E0-FEB733F419BA}</a:tableStyleId>
              </a:tblPr>
              <a:tblGrid>
                <a:gridCol w="587812">
                  <a:extLst>
                    <a:ext uri="{9D8B030D-6E8A-4147-A177-3AD203B41FA5}">
                      <a16:colId xmlns:a16="http://schemas.microsoft.com/office/drawing/2014/main" val="234041042"/>
                    </a:ext>
                  </a:extLst>
                </a:gridCol>
                <a:gridCol w="941423">
                  <a:extLst>
                    <a:ext uri="{9D8B030D-6E8A-4147-A177-3AD203B41FA5}">
                      <a16:colId xmlns:a16="http://schemas.microsoft.com/office/drawing/2014/main" val="3415118693"/>
                    </a:ext>
                  </a:extLst>
                </a:gridCol>
                <a:gridCol w="923965">
                  <a:extLst>
                    <a:ext uri="{9D8B030D-6E8A-4147-A177-3AD203B41FA5}">
                      <a16:colId xmlns:a16="http://schemas.microsoft.com/office/drawing/2014/main" val="3881982512"/>
                    </a:ext>
                  </a:extLst>
                </a:gridCol>
                <a:gridCol w="461981">
                  <a:extLst>
                    <a:ext uri="{9D8B030D-6E8A-4147-A177-3AD203B41FA5}">
                      <a16:colId xmlns:a16="http://schemas.microsoft.com/office/drawing/2014/main" val="2484215510"/>
                    </a:ext>
                  </a:extLst>
                </a:gridCol>
                <a:gridCol w="683096">
                  <a:extLst>
                    <a:ext uri="{9D8B030D-6E8A-4147-A177-3AD203B41FA5}">
                      <a16:colId xmlns:a16="http://schemas.microsoft.com/office/drawing/2014/main" val="1297653461"/>
                    </a:ext>
                  </a:extLst>
                </a:gridCol>
                <a:gridCol w="1157871">
                  <a:extLst>
                    <a:ext uri="{9D8B030D-6E8A-4147-A177-3AD203B41FA5}">
                      <a16:colId xmlns:a16="http://schemas.microsoft.com/office/drawing/2014/main" val="3484224265"/>
                    </a:ext>
                  </a:extLst>
                </a:gridCol>
                <a:gridCol w="849106">
                  <a:extLst>
                    <a:ext uri="{9D8B030D-6E8A-4147-A177-3AD203B41FA5}">
                      <a16:colId xmlns:a16="http://schemas.microsoft.com/office/drawing/2014/main" val="3482110401"/>
                    </a:ext>
                  </a:extLst>
                </a:gridCol>
                <a:gridCol w="771913">
                  <a:extLst>
                    <a:ext uri="{9D8B030D-6E8A-4147-A177-3AD203B41FA5}">
                      <a16:colId xmlns:a16="http://schemas.microsoft.com/office/drawing/2014/main" val="1813858957"/>
                    </a:ext>
                  </a:extLst>
                </a:gridCol>
                <a:gridCol w="771913">
                  <a:extLst>
                    <a:ext uri="{9D8B030D-6E8A-4147-A177-3AD203B41FA5}">
                      <a16:colId xmlns:a16="http://schemas.microsoft.com/office/drawing/2014/main" val="1355875302"/>
                    </a:ext>
                  </a:extLst>
                </a:gridCol>
                <a:gridCol w="1312254">
                  <a:extLst>
                    <a:ext uri="{9D8B030D-6E8A-4147-A177-3AD203B41FA5}">
                      <a16:colId xmlns:a16="http://schemas.microsoft.com/office/drawing/2014/main" val="1675925667"/>
                    </a:ext>
                  </a:extLst>
                </a:gridCol>
                <a:gridCol w="533067">
                  <a:extLst>
                    <a:ext uri="{9D8B030D-6E8A-4147-A177-3AD203B41FA5}">
                      <a16:colId xmlns:a16="http://schemas.microsoft.com/office/drawing/2014/main" val="236614085"/>
                    </a:ext>
                  </a:extLst>
                </a:gridCol>
              </a:tblGrid>
              <a:tr h="671281">
                <a:tc>
                  <a:txBody>
                    <a:bodyPr/>
                    <a:lstStyle/>
                    <a:p>
                      <a:pPr marL="0" marR="0">
                        <a:lnSpc>
                          <a:spcPct val="107000"/>
                        </a:lnSpc>
                        <a:spcBef>
                          <a:spcPts val="0"/>
                        </a:spcBef>
                        <a:spcAft>
                          <a:spcPts val="0"/>
                        </a:spcAft>
                      </a:pPr>
                      <a:r>
                        <a:rPr lang="en-US" sz="1400" dirty="0">
                          <a:solidFill>
                            <a:schemeClr val="tx2">
                              <a:lumMod val="75000"/>
                            </a:schemeClr>
                          </a:solidFill>
                          <a:effectLst/>
                        </a:rPr>
                        <a:t>Sale No</a:t>
                      </a:r>
                      <a:endParaRPr lang="en-US" sz="14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400" dirty="0" err="1">
                          <a:solidFill>
                            <a:schemeClr val="tx2">
                              <a:lumMod val="75000"/>
                            </a:schemeClr>
                          </a:solidFill>
                          <a:effectLst/>
                        </a:rPr>
                        <a:t>SaleDate</a:t>
                      </a:r>
                      <a:endParaRPr lang="en-US" sz="1400" dirty="0">
                        <a:solidFill>
                          <a:schemeClr val="tx2">
                            <a:lumMod val="75000"/>
                          </a:schemeClr>
                        </a:solidFill>
                        <a:effectLst/>
                      </a:endParaRPr>
                    </a:p>
                    <a:p>
                      <a:pPr marL="0" marR="0">
                        <a:lnSpc>
                          <a:spcPct val="107000"/>
                        </a:lnSpc>
                        <a:spcBef>
                          <a:spcPts val="0"/>
                        </a:spcBef>
                        <a:spcAft>
                          <a:spcPts val="0"/>
                        </a:spcAft>
                      </a:pPr>
                      <a:r>
                        <a:rPr lang="en-US" sz="1400" dirty="0">
                          <a:solidFill>
                            <a:schemeClr val="tx2">
                              <a:lumMod val="75000"/>
                            </a:schemeClr>
                          </a:solidFill>
                          <a:effectLst/>
                        </a:rPr>
                        <a:t> </a:t>
                      </a:r>
                      <a:endParaRPr lang="en-US" sz="14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400" dirty="0" err="1">
                          <a:solidFill>
                            <a:schemeClr val="tx2">
                              <a:lumMod val="75000"/>
                            </a:schemeClr>
                          </a:solidFill>
                          <a:effectLst/>
                        </a:rPr>
                        <a:t>ProductNo</a:t>
                      </a:r>
                      <a:endParaRPr lang="en-US" sz="1400" dirty="0">
                        <a:solidFill>
                          <a:schemeClr val="tx2">
                            <a:lumMod val="75000"/>
                          </a:schemeClr>
                        </a:solidFill>
                        <a:effectLst/>
                      </a:endParaRPr>
                    </a:p>
                    <a:p>
                      <a:pPr marL="0" marR="0">
                        <a:lnSpc>
                          <a:spcPct val="107000"/>
                        </a:lnSpc>
                        <a:spcBef>
                          <a:spcPts val="0"/>
                        </a:spcBef>
                        <a:spcAft>
                          <a:spcPts val="0"/>
                        </a:spcAft>
                      </a:pPr>
                      <a:r>
                        <a:rPr lang="en-US" sz="1400" dirty="0">
                          <a:solidFill>
                            <a:schemeClr val="tx2">
                              <a:lumMod val="75000"/>
                            </a:schemeClr>
                          </a:solidFill>
                          <a:effectLst/>
                        </a:rPr>
                        <a:t> </a:t>
                      </a:r>
                      <a:endParaRPr lang="en-US" sz="14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400">
                          <a:solidFill>
                            <a:schemeClr val="tx2">
                              <a:lumMod val="75000"/>
                            </a:schemeClr>
                          </a:solidFill>
                          <a:effectLst/>
                        </a:rPr>
                        <a:t>Qty</a:t>
                      </a:r>
                      <a:endParaRPr lang="en-US" sz="14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400" dirty="0">
                          <a:solidFill>
                            <a:schemeClr val="tx2">
                              <a:lumMod val="75000"/>
                            </a:schemeClr>
                          </a:solidFill>
                          <a:effectLst/>
                        </a:rPr>
                        <a:t>Amount</a:t>
                      </a:r>
                      <a:endParaRPr lang="en-US" sz="14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400" dirty="0" err="1">
                          <a:solidFill>
                            <a:schemeClr val="tx2">
                              <a:lumMod val="75000"/>
                            </a:schemeClr>
                          </a:solidFill>
                          <a:effectLst/>
                        </a:rPr>
                        <a:t>Salesrep</a:t>
                      </a:r>
                      <a:endParaRPr lang="en-US" sz="14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400" dirty="0" err="1">
                          <a:solidFill>
                            <a:schemeClr val="tx2">
                              <a:lumMod val="75000"/>
                            </a:schemeClr>
                          </a:solidFill>
                          <a:effectLst/>
                        </a:rPr>
                        <a:t>CustomerNo</a:t>
                      </a:r>
                      <a:endParaRPr lang="en-US" sz="14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400" dirty="0">
                          <a:solidFill>
                            <a:schemeClr val="tx2">
                              <a:lumMod val="75000"/>
                            </a:schemeClr>
                          </a:solidFill>
                          <a:effectLst/>
                        </a:rPr>
                        <a:t>First</a:t>
                      </a:r>
                      <a:endParaRPr lang="en-US" sz="14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400">
                          <a:solidFill>
                            <a:schemeClr val="tx2">
                              <a:lumMod val="75000"/>
                            </a:schemeClr>
                          </a:solidFill>
                          <a:effectLst/>
                        </a:rPr>
                        <a:t>Last</a:t>
                      </a:r>
                      <a:endParaRPr lang="en-US" sz="14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400" dirty="0">
                          <a:solidFill>
                            <a:schemeClr val="tx2">
                              <a:lumMod val="75000"/>
                            </a:schemeClr>
                          </a:solidFill>
                          <a:effectLst/>
                        </a:rPr>
                        <a:t>Address</a:t>
                      </a:r>
                      <a:endParaRPr lang="en-US" sz="14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400" dirty="0" err="1">
                          <a:solidFill>
                            <a:schemeClr val="tx2">
                              <a:lumMod val="75000"/>
                            </a:schemeClr>
                          </a:solidFill>
                          <a:effectLst/>
                        </a:rPr>
                        <a:t>CreditLimit</a:t>
                      </a:r>
                      <a:endParaRPr lang="en-US" sz="14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378874611"/>
                  </a:ext>
                </a:extLst>
              </a:tr>
              <a:tr h="443708">
                <a:tc>
                  <a:txBody>
                    <a:bodyPr/>
                    <a:lstStyle/>
                    <a:p>
                      <a:pPr marL="0" marR="0">
                        <a:lnSpc>
                          <a:spcPct val="107000"/>
                        </a:lnSpc>
                        <a:spcBef>
                          <a:spcPts val="0"/>
                        </a:spcBef>
                        <a:spcAft>
                          <a:spcPts val="0"/>
                        </a:spcAft>
                      </a:pPr>
                      <a:r>
                        <a:rPr lang="en-US" sz="1200" b="1" dirty="0">
                          <a:effectLst/>
                        </a:rPr>
                        <a:t>12345</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Aug 12 2002</a:t>
                      </a:r>
                    </a:p>
                    <a:p>
                      <a:pPr marL="0" marR="0">
                        <a:lnSpc>
                          <a:spcPct val="107000"/>
                        </a:lnSpc>
                        <a:spcBef>
                          <a:spcPts val="0"/>
                        </a:spcBef>
                        <a:spcAft>
                          <a:spcPts val="0"/>
                        </a:spcAft>
                      </a:pPr>
                      <a:r>
                        <a:rPr lang="en-US" sz="1200" b="1" dirty="0">
                          <a:effectLst/>
                        </a:rPr>
                        <a:t> </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AQX88916</a:t>
                      </a:r>
                    </a:p>
                    <a:p>
                      <a:pPr marL="0" marR="0">
                        <a:lnSpc>
                          <a:spcPct val="107000"/>
                        </a:lnSpc>
                        <a:spcBef>
                          <a:spcPts val="0"/>
                        </a:spcBef>
                        <a:spcAft>
                          <a:spcPts val="0"/>
                        </a:spcAft>
                      </a:pPr>
                      <a:r>
                        <a:rPr lang="en-US" sz="1200" b="1">
                          <a:effectLst/>
                        </a:rPr>
                        <a:t> </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1</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23.95</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Dave Williams</a:t>
                      </a:r>
                    </a:p>
                    <a:p>
                      <a:pPr marL="0" marR="0">
                        <a:lnSpc>
                          <a:spcPct val="107000"/>
                        </a:lnSpc>
                        <a:spcBef>
                          <a:spcPts val="0"/>
                        </a:spcBef>
                        <a:spcAft>
                          <a:spcPts val="0"/>
                        </a:spcAft>
                      </a:pPr>
                      <a:r>
                        <a:rPr lang="en-US" sz="1200" b="1">
                          <a:effectLst/>
                        </a:rPr>
                        <a:t> </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4649-4673</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Richard</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Johnston</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14 West Avenue</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1000</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720734119"/>
                  </a:ext>
                </a:extLst>
              </a:tr>
              <a:tr h="443708">
                <a:tc>
                  <a:txBody>
                    <a:bodyPr/>
                    <a:lstStyle/>
                    <a:p>
                      <a:pPr marL="0" marR="0">
                        <a:lnSpc>
                          <a:spcPct val="107000"/>
                        </a:lnSpc>
                        <a:spcBef>
                          <a:spcPts val="0"/>
                        </a:spcBef>
                        <a:spcAft>
                          <a:spcPts val="0"/>
                        </a:spcAft>
                      </a:pPr>
                      <a:r>
                        <a:rPr lang="en-US" sz="1200" b="1">
                          <a:effectLst/>
                        </a:rPr>
                        <a:t>12346</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Aug 12 2002</a:t>
                      </a:r>
                    </a:p>
                    <a:p>
                      <a:pPr marL="0" marR="0">
                        <a:lnSpc>
                          <a:spcPct val="107000"/>
                        </a:lnSpc>
                        <a:spcBef>
                          <a:spcPts val="0"/>
                        </a:spcBef>
                        <a:spcAft>
                          <a:spcPts val="0"/>
                        </a:spcAft>
                      </a:pPr>
                      <a:r>
                        <a:rPr lang="en-US" sz="1200" b="1">
                          <a:effectLst/>
                        </a:rPr>
                        <a:t> </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AQX88916</a:t>
                      </a:r>
                    </a:p>
                    <a:p>
                      <a:pPr marL="0" marR="0">
                        <a:lnSpc>
                          <a:spcPct val="107000"/>
                        </a:lnSpc>
                        <a:spcBef>
                          <a:spcPts val="0"/>
                        </a:spcBef>
                        <a:spcAft>
                          <a:spcPts val="0"/>
                        </a:spcAft>
                      </a:pPr>
                      <a:r>
                        <a:rPr lang="en-US" sz="1200" b="1" dirty="0">
                          <a:effectLst/>
                        </a:rPr>
                        <a:t> </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7</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167.65</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Sara Thompson</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1113-7741</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Wayne</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Jones</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42 York Street</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1050" b="1" i="0" u="none" strike="noStrike" kern="1200" cap="none" spc="0" normalizeH="0" baseline="0" noProof="0">
                          <a:ln>
                            <a:noFill/>
                          </a:ln>
                          <a:solidFill>
                            <a:srgbClr val="000000"/>
                          </a:solidFill>
                          <a:effectLst/>
                          <a:uLnTx/>
                          <a:uFillTx/>
                          <a:latin typeface="Helvetica"/>
                          <a:ea typeface="+mn-ea"/>
                          <a:cs typeface="+mn-cs"/>
                        </a:rPr>
                        <a:t>&lt;</a:t>
                      </a:r>
                      <a:r>
                        <a:rPr kumimoji="0" lang="en-US" sz="1050" b="1" i="1" u="none" strike="noStrike" kern="1200" cap="none" spc="0" normalizeH="0" baseline="0" noProof="0">
                          <a:ln>
                            <a:noFill/>
                          </a:ln>
                          <a:solidFill>
                            <a:srgbClr val="000000"/>
                          </a:solidFill>
                          <a:effectLst/>
                          <a:uLnTx/>
                          <a:uFillTx/>
                          <a:latin typeface="Helvetica"/>
                          <a:ea typeface="+mn-ea"/>
                          <a:cs typeface="+mn-cs"/>
                        </a:rPr>
                        <a:t>null&gt;</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020454084"/>
                  </a:ext>
                </a:extLst>
              </a:tr>
              <a:tr h="443708">
                <a:tc>
                  <a:txBody>
                    <a:bodyPr/>
                    <a:lstStyle/>
                    <a:p>
                      <a:pPr marL="0" marR="0">
                        <a:lnSpc>
                          <a:spcPct val="107000"/>
                        </a:lnSpc>
                        <a:spcBef>
                          <a:spcPts val="0"/>
                        </a:spcBef>
                        <a:spcAft>
                          <a:spcPts val="0"/>
                        </a:spcAft>
                      </a:pPr>
                      <a:r>
                        <a:rPr lang="en-US" sz="1200" b="1">
                          <a:effectLst/>
                        </a:rPr>
                        <a:t>12347</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Aug 13 2002</a:t>
                      </a:r>
                    </a:p>
                    <a:p>
                      <a:pPr marL="0" marR="0">
                        <a:lnSpc>
                          <a:spcPct val="107000"/>
                        </a:lnSpc>
                        <a:spcBef>
                          <a:spcPts val="0"/>
                        </a:spcBef>
                        <a:spcAft>
                          <a:spcPts val="0"/>
                        </a:spcAft>
                      </a:pPr>
                      <a:r>
                        <a:rPr lang="en-US" sz="1200" b="1">
                          <a:effectLst/>
                        </a:rPr>
                        <a:t> </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AHL46785</a:t>
                      </a:r>
                    </a:p>
                    <a:p>
                      <a:pPr marL="0" marR="0">
                        <a:lnSpc>
                          <a:spcPct val="107000"/>
                        </a:lnSpc>
                        <a:spcBef>
                          <a:spcPts val="0"/>
                        </a:spcBef>
                        <a:spcAft>
                          <a:spcPts val="0"/>
                        </a:spcAft>
                      </a:pPr>
                      <a:r>
                        <a:rPr lang="en-US" sz="1200" b="1">
                          <a:effectLst/>
                        </a:rPr>
                        <a:t> </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3705</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5001.75</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Li Qing</a:t>
                      </a:r>
                    </a:p>
                    <a:p>
                      <a:pPr marL="0" marR="0">
                        <a:lnSpc>
                          <a:spcPct val="107000"/>
                        </a:lnSpc>
                        <a:spcBef>
                          <a:spcPts val="0"/>
                        </a:spcBef>
                        <a:spcAft>
                          <a:spcPts val="0"/>
                        </a:spcAft>
                      </a:pPr>
                      <a:r>
                        <a:rPr lang="en-US" sz="1200" b="1" dirty="0">
                          <a:effectLst/>
                        </a:rPr>
                        <a:t> </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1166-3461</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Amelia</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Waverley</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995 Forth Street</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1050" b="1" i="0" u="none" strike="noStrike" kern="1200" cap="none" spc="0" normalizeH="0" baseline="0" noProof="0">
                          <a:ln>
                            <a:noFill/>
                          </a:ln>
                          <a:solidFill>
                            <a:srgbClr val="000000"/>
                          </a:solidFill>
                          <a:effectLst/>
                          <a:uLnTx/>
                          <a:uFillTx/>
                          <a:latin typeface="Helvetica"/>
                          <a:ea typeface="+mn-ea"/>
                          <a:cs typeface="+mn-cs"/>
                        </a:rPr>
                        <a:t>&lt;</a:t>
                      </a:r>
                      <a:r>
                        <a:rPr kumimoji="0" lang="en-US" sz="1050" b="1" i="1" u="none" strike="noStrike" kern="1200" cap="none" spc="0" normalizeH="0" baseline="0" noProof="0">
                          <a:ln>
                            <a:noFill/>
                          </a:ln>
                          <a:solidFill>
                            <a:srgbClr val="000000"/>
                          </a:solidFill>
                          <a:effectLst/>
                          <a:uLnTx/>
                          <a:uFillTx/>
                          <a:latin typeface="Helvetica"/>
                          <a:ea typeface="+mn-ea"/>
                          <a:cs typeface="+mn-cs"/>
                        </a:rPr>
                        <a:t>null&gt;</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241532585"/>
                  </a:ext>
                </a:extLst>
              </a:tr>
              <a:tr h="314817">
                <a:tc>
                  <a:txBody>
                    <a:bodyPr/>
                    <a:lstStyle/>
                    <a:p>
                      <a:pPr marL="0" marR="0">
                        <a:lnSpc>
                          <a:spcPct val="107000"/>
                        </a:lnSpc>
                        <a:spcBef>
                          <a:spcPts val="0"/>
                        </a:spcBef>
                        <a:spcAft>
                          <a:spcPts val="0"/>
                        </a:spcAft>
                      </a:pPr>
                      <a:r>
                        <a:rPr lang="en-US" sz="1200" b="1">
                          <a:effectLst/>
                        </a:rPr>
                        <a:t>12348</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Aug 13 2002</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DHU69863</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50</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118.5</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Sara Thompson</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gn="ctr">
                        <a:lnSpc>
                          <a:spcPct val="107000"/>
                        </a:lnSpc>
                        <a:spcBef>
                          <a:spcPts val="0"/>
                        </a:spcBef>
                        <a:spcAft>
                          <a:spcPts val="0"/>
                        </a:spcAft>
                      </a:pPr>
                      <a:r>
                        <a:rPr lang="en-US" sz="1200" b="1" dirty="0">
                          <a:effectLst/>
                        </a:rPr>
                        <a:t> &lt;</a:t>
                      </a:r>
                      <a:r>
                        <a:rPr lang="en-US" sz="1200" b="1" i="1" dirty="0">
                          <a:effectLst/>
                        </a:rPr>
                        <a:t>null&gt;</a:t>
                      </a:r>
                      <a:endParaRPr lang="en-US" sz="1200" b="1" i="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 &lt;</a:t>
                      </a:r>
                      <a:r>
                        <a:rPr lang="en-US" sz="1200" b="1" i="1" dirty="0">
                          <a:effectLst/>
                        </a:rPr>
                        <a:t>null&gt;</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 &lt;</a:t>
                      </a:r>
                      <a:r>
                        <a:rPr lang="en-US" sz="1200" b="1" i="1" dirty="0">
                          <a:effectLst/>
                        </a:rPr>
                        <a:t>null&gt;</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 &lt;</a:t>
                      </a:r>
                      <a:r>
                        <a:rPr lang="en-US" sz="1200" b="1" i="1" dirty="0">
                          <a:effectLst/>
                        </a:rPr>
                        <a:t>null&gt;</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1050" b="1" i="0" u="none" strike="noStrike" kern="1200" cap="none" spc="0" normalizeH="0" baseline="0" noProof="0">
                          <a:ln>
                            <a:noFill/>
                          </a:ln>
                          <a:solidFill>
                            <a:srgbClr val="000000"/>
                          </a:solidFill>
                          <a:effectLst/>
                          <a:uLnTx/>
                          <a:uFillTx/>
                          <a:latin typeface="Helvetica"/>
                          <a:ea typeface="+mn-ea"/>
                          <a:cs typeface="+mn-cs"/>
                        </a:rPr>
                        <a:t>&lt;</a:t>
                      </a:r>
                      <a:r>
                        <a:rPr kumimoji="0" lang="en-US" sz="105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897738917"/>
                  </a:ext>
                </a:extLst>
              </a:tr>
              <a:tr h="314817">
                <a:tc>
                  <a:txBody>
                    <a:bodyPr/>
                    <a:lstStyle/>
                    <a:p>
                      <a:pPr marL="0" marR="0">
                        <a:lnSpc>
                          <a:spcPct val="107000"/>
                        </a:lnSpc>
                        <a:spcBef>
                          <a:spcPts val="0"/>
                        </a:spcBef>
                        <a:spcAft>
                          <a:spcPts val="0"/>
                        </a:spcAft>
                      </a:pPr>
                      <a:r>
                        <a:rPr lang="en-US" sz="1200" b="1">
                          <a:effectLst/>
                        </a:rPr>
                        <a:t>12349</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Aug 14 2002</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DHU69863</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940</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2227.8</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Sara Thompson</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1166-3461</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Amelia</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Waverley</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995 Forth Street</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1050" b="1" i="0" u="none" strike="noStrike" kern="1200" cap="none" spc="0" normalizeH="0" baseline="0" noProof="0">
                          <a:ln>
                            <a:noFill/>
                          </a:ln>
                          <a:solidFill>
                            <a:srgbClr val="000000"/>
                          </a:solidFill>
                          <a:effectLst/>
                          <a:uLnTx/>
                          <a:uFillTx/>
                          <a:latin typeface="Helvetica"/>
                          <a:ea typeface="+mn-ea"/>
                          <a:cs typeface="+mn-cs"/>
                        </a:rPr>
                        <a:t>&lt;</a:t>
                      </a:r>
                      <a:r>
                        <a:rPr kumimoji="0" lang="en-US" sz="1050" b="1" i="1" u="none" strike="noStrike" kern="1200" cap="none" spc="0" normalizeH="0" baseline="0" noProof="0">
                          <a:ln>
                            <a:noFill/>
                          </a:ln>
                          <a:solidFill>
                            <a:srgbClr val="000000"/>
                          </a:solidFill>
                          <a:effectLst/>
                          <a:uLnTx/>
                          <a:uFillTx/>
                          <a:latin typeface="Helvetica"/>
                          <a:ea typeface="+mn-ea"/>
                          <a:cs typeface="+mn-cs"/>
                        </a:rPr>
                        <a:t>null&gt;</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176984474"/>
                  </a:ext>
                </a:extLst>
              </a:tr>
              <a:tr h="314817">
                <a:tc>
                  <a:txBody>
                    <a:bodyPr/>
                    <a:lstStyle/>
                    <a:p>
                      <a:pPr marL="0" marR="0">
                        <a:lnSpc>
                          <a:spcPct val="107000"/>
                        </a:lnSpc>
                        <a:spcBef>
                          <a:spcPts val="0"/>
                        </a:spcBef>
                        <a:spcAft>
                          <a:spcPts val="0"/>
                        </a:spcAft>
                      </a:pPr>
                      <a:r>
                        <a:rPr lang="en-US" sz="1200" b="1">
                          <a:effectLst/>
                        </a:rPr>
                        <a:t>12350</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Aug 14 2002</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DHU69863</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42</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99.54</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Sara Thompson</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7671-3496</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Antonio</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Gonzales</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55B Granary Lane</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1050" b="1" i="0" u="none" strike="noStrike" kern="1200" cap="none" spc="0" normalizeH="0" baseline="0" noProof="0" dirty="0">
                          <a:ln>
                            <a:noFill/>
                          </a:ln>
                          <a:solidFill>
                            <a:srgbClr val="000000"/>
                          </a:solidFill>
                          <a:effectLst/>
                          <a:uLnTx/>
                          <a:uFillTx/>
                          <a:latin typeface="Helvetica"/>
                          <a:ea typeface="+mn-ea"/>
                          <a:cs typeface="+mn-cs"/>
                        </a:rPr>
                        <a:t>&lt;</a:t>
                      </a:r>
                      <a:r>
                        <a:rPr kumimoji="0" lang="en-US" sz="1050" b="1" i="1" u="none" strike="noStrike" kern="1200" cap="none" spc="0" normalizeH="0" baseline="0" noProof="0" dirty="0">
                          <a:ln>
                            <a:noFill/>
                          </a:ln>
                          <a:solidFill>
                            <a:srgbClr val="000000"/>
                          </a:solidFill>
                          <a:effectLst/>
                          <a:uLnTx/>
                          <a:uFillTx/>
                          <a:latin typeface="Helvetica"/>
                          <a:ea typeface="+mn-ea"/>
                          <a:cs typeface="+mn-cs"/>
                        </a:rPr>
                        <a:t>null&gt;</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643762065"/>
                  </a:ext>
                </a:extLst>
              </a:tr>
              <a:tr h="443708">
                <a:tc>
                  <a:txBody>
                    <a:bodyPr/>
                    <a:lstStyle/>
                    <a:p>
                      <a:pPr marL="0" marR="0">
                        <a:lnSpc>
                          <a:spcPct val="107000"/>
                        </a:lnSpc>
                        <a:spcBef>
                          <a:spcPts val="0"/>
                        </a:spcBef>
                        <a:spcAft>
                          <a:spcPts val="0"/>
                        </a:spcAft>
                      </a:pPr>
                      <a:r>
                        <a:rPr lang="en-US" sz="1200" b="1" dirty="0">
                          <a:effectLst/>
                        </a:rPr>
                        <a:t>12351</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Aug 14 2002</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AQX88916</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55</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1317.25</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Dave Williams</a:t>
                      </a:r>
                    </a:p>
                    <a:p>
                      <a:pPr marL="0" marR="0">
                        <a:lnSpc>
                          <a:spcPct val="107000"/>
                        </a:lnSpc>
                        <a:spcBef>
                          <a:spcPts val="0"/>
                        </a:spcBef>
                        <a:spcAft>
                          <a:spcPts val="0"/>
                        </a:spcAft>
                      </a:pPr>
                      <a:r>
                        <a:rPr lang="en-US" sz="1200" b="1" dirty="0">
                          <a:effectLst/>
                        </a:rPr>
                        <a:t> </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6794-1674</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Diane</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Adams</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364 East Road</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150</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34904673"/>
                  </a:ext>
                </a:extLst>
              </a:tr>
            </a:tbl>
          </a:graphicData>
        </a:graphic>
      </p:graphicFrame>
    </p:spTree>
    <p:extLst>
      <p:ext uri="{BB962C8B-B14F-4D97-AF65-F5344CB8AC3E}">
        <p14:creationId xmlns:p14="http://schemas.microsoft.com/office/powerpoint/2010/main" val="6469418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4338" name="Rectangle 2"/>
          <p:cNvSpPr>
            <a:spLocks noGrp="1" noChangeArrowheads="1"/>
          </p:cNvSpPr>
          <p:nvPr>
            <p:ph type="title"/>
          </p:nvPr>
        </p:nvSpPr>
        <p:spPr>
          <a:xfrm>
            <a:off x="878078" y="117475"/>
            <a:ext cx="8077200" cy="609600"/>
          </a:xfrm>
        </p:spPr>
        <p:txBody>
          <a:bodyPr/>
          <a:lstStyle/>
          <a:p>
            <a:pPr>
              <a:defRPr/>
            </a:pPr>
            <a:r>
              <a:rPr lang="fa-IR" dirty="0"/>
              <a:t>یک </a:t>
            </a:r>
            <a:r>
              <a:rPr lang="fa-IR" dirty="0" err="1"/>
              <a:t>شِمای</a:t>
            </a:r>
            <a:r>
              <a:rPr lang="fa-IR" dirty="0"/>
              <a:t> ترکیبی بدون تکرار</a:t>
            </a:r>
            <a:endParaRPr lang="en-US" altLang="en-US" sz="2800" dirty="0">
              <a:effectLst>
                <a:outerShdw blurRad="38100" dist="38100" dir="2700000" algn="tl">
                  <a:srgbClr val="C0C0C0"/>
                </a:outerShdw>
              </a:effectLst>
              <a:ea typeface="ＭＳ Ｐゴシック" pitchFamily="34" charset="-128"/>
            </a:endParaRPr>
          </a:p>
        </p:txBody>
      </p:sp>
      <p:sp>
        <p:nvSpPr>
          <p:cNvPr id="9219" name="Rectangle 3"/>
          <p:cNvSpPr>
            <a:spLocks noGrp="1" noChangeArrowheads="1"/>
          </p:cNvSpPr>
          <p:nvPr>
            <p:ph idx="1"/>
          </p:nvPr>
        </p:nvSpPr>
        <p:spPr>
          <a:xfrm>
            <a:off x="152400" y="1705471"/>
            <a:ext cx="8802878" cy="4390529"/>
          </a:xfrm>
        </p:spPr>
        <p:txBody>
          <a:bodyPr/>
          <a:lstStyle/>
          <a:p>
            <a:pPr algn="r" rtl="1"/>
            <a:r>
              <a:rPr lang="fa-IR" sz="3200" dirty="0"/>
              <a:t>در نظر بگیرید جدول </a:t>
            </a:r>
            <a:r>
              <a:rPr lang="en-US" sz="3200" dirty="0" err="1"/>
              <a:t>sec_class</a:t>
            </a:r>
            <a:r>
              <a:rPr lang="en-US" sz="3200" dirty="0"/>
              <a:t> </a:t>
            </a:r>
            <a:r>
              <a:rPr lang="fa-IR" sz="3200" dirty="0"/>
              <a:t>و </a:t>
            </a:r>
            <a:r>
              <a:rPr lang="en-US" sz="3200" dirty="0"/>
              <a:t>section </a:t>
            </a:r>
            <a:r>
              <a:rPr lang="fa-IR" sz="3200" dirty="0"/>
              <a:t>را ترکیب کنیم</a:t>
            </a:r>
            <a:endParaRPr lang="en-US" altLang="en-US" sz="3200" dirty="0"/>
          </a:p>
          <a:p>
            <a:pPr lvl="1"/>
            <a:r>
              <a:rPr lang="en-US" altLang="en-US" sz="2800" i="1" dirty="0" err="1"/>
              <a:t>sec_class</a:t>
            </a:r>
            <a:r>
              <a:rPr lang="en-US" altLang="en-US" sz="2800" i="1" dirty="0"/>
              <a:t>(</a:t>
            </a:r>
            <a:r>
              <a:rPr lang="en-US" altLang="en-US" sz="2800" i="1" dirty="0" err="1"/>
              <a:t>sec_id</a:t>
            </a:r>
            <a:r>
              <a:rPr lang="en-US" altLang="en-US" sz="2800" i="1" dirty="0"/>
              <a:t>, building, </a:t>
            </a:r>
            <a:r>
              <a:rPr lang="en-US" altLang="en-US" sz="2800" i="1" dirty="0" err="1"/>
              <a:t>room_number</a:t>
            </a:r>
            <a:r>
              <a:rPr lang="en-US" altLang="en-US" sz="2800" i="1" dirty="0"/>
              <a:t>)</a:t>
            </a:r>
            <a:r>
              <a:rPr lang="en-US" altLang="en-US" sz="2800" dirty="0"/>
              <a:t> and </a:t>
            </a:r>
          </a:p>
          <a:p>
            <a:pPr lvl="1"/>
            <a:r>
              <a:rPr lang="en-US" altLang="en-US" sz="2800" i="1" dirty="0"/>
              <a:t>section(</a:t>
            </a:r>
            <a:r>
              <a:rPr lang="en-US" altLang="en-US" sz="2800" i="1" dirty="0" err="1"/>
              <a:t>course_id</a:t>
            </a:r>
            <a:r>
              <a:rPr lang="en-US" altLang="en-US" sz="2800" i="1" dirty="0"/>
              <a:t>, </a:t>
            </a:r>
            <a:r>
              <a:rPr lang="en-US" altLang="en-US" sz="2800" i="1" dirty="0" err="1"/>
              <a:t>sec_id</a:t>
            </a:r>
            <a:r>
              <a:rPr lang="en-US" altLang="en-US" sz="2800" i="1" dirty="0"/>
              <a:t>, semester, year) </a:t>
            </a:r>
          </a:p>
          <a:p>
            <a:pPr lvl="1">
              <a:buFont typeface="Monotype Sorts" pitchFamily="-84" charset="2"/>
              <a:buNone/>
            </a:pPr>
            <a:r>
              <a:rPr lang="en-US" altLang="en-US" sz="2800" dirty="0"/>
              <a:t>into one relation</a:t>
            </a:r>
          </a:p>
          <a:p>
            <a:pPr lvl="1"/>
            <a:r>
              <a:rPr lang="en-US" altLang="en-US" sz="2800" i="1" dirty="0"/>
              <a:t>section(</a:t>
            </a:r>
            <a:r>
              <a:rPr lang="en-US" altLang="en-US" sz="2800" i="1" dirty="0" err="1"/>
              <a:t>course_id</a:t>
            </a:r>
            <a:r>
              <a:rPr lang="en-US" altLang="en-US" sz="2800" i="1" dirty="0"/>
              <a:t>, </a:t>
            </a:r>
            <a:r>
              <a:rPr lang="en-US" altLang="en-US" sz="2800" i="1" dirty="0" err="1"/>
              <a:t>sec_id</a:t>
            </a:r>
            <a:r>
              <a:rPr lang="en-US" altLang="en-US" sz="2800" i="1" dirty="0"/>
              <a:t>, semester, year, </a:t>
            </a:r>
            <a:br>
              <a:rPr lang="en-US" altLang="en-US" sz="2800" i="1" dirty="0"/>
            </a:br>
            <a:r>
              <a:rPr lang="en-US" altLang="en-US" sz="2800" i="1" dirty="0"/>
              <a:t>               building, </a:t>
            </a:r>
            <a:r>
              <a:rPr lang="en-US" altLang="en-US" sz="2800" i="1" dirty="0" err="1"/>
              <a:t>room_number</a:t>
            </a:r>
            <a:r>
              <a:rPr lang="en-US" altLang="en-US" sz="2800" i="1" dirty="0"/>
              <a:t>)</a:t>
            </a:r>
          </a:p>
          <a:p>
            <a:pPr algn="r" rtl="1"/>
            <a:r>
              <a:rPr lang="fa-IR" sz="3200" dirty="0"/>
              <a:t>در این حالت تکراری رخ </a:t>
            </a:r>
            <a:r>
              <a:rPr lang="fa-IR" sz="3200" dirty="0" err="1"/>
              <a:t>نمی‌دهد</a:t>
            </a:r>
            <a:endParaRPr lang="en-US" altLang="en-US" sz="3200" dirty="0"/>
          </a:p>
        </p:txBody>
      </p:sp>
      <p:sp>
        <p:nvSpPr>
          <p:cNvPr id="2" name="TextBox 1"/>
          <p:cNvSpPr txBox="1"/>
          <p:nvPr/>
        </p:nvSpPr>
        <p:spPr>
          <a:xfrm>
            <a:off x="152400" y="1128045"/>
            <a:ext cx="8839200" cy="461665"/>
          </a:xfrm>
          <a:prstGeom prst="rect">
            <a:avLst/>
          </a:prstGeom>
          <a:noFill/>
        </p:spPr>
        <p:txBody>
          <a:bodyPr wrap="square" rtlCol="0">
            <a:spAutoFit/>
          </a:bodyPr>
          <a:lstStyle/>
          <a:p>
            <a:pPr algn="r" rtl="1"/>
            <a:r>
              <a:rPr lang="fa-IR" sz="2400" dirty="0">
                <a:cs typeface="B Nazanin" panose="00000400000000000000" pitchFamily="2" charset="-78"/>
              </a:rPr>
              <a:t>همه ترکیب‌ها الزاماً باعث تکرار اطلاعات نمی‌شوند.</a:t>
            </a:r>
            <a:endParaRPr lang="en-US" sz="2400" dirty="0">
              <a:cs typeface="B Nazanin" panose="00000400000000000000" pitchFamily="2" charset="-78"/>
            </a:endParaRPr>
          </a:p>
        </p:txBody>
      </p:sp>
    </p:spTree>
    <p:extLst>
      <p:ext uri="{BB962C8B-B14F-4D97-AF65-F5344CB8AC3E}">
        <p14:creationId xmlns:p14="http://schemas.microsoft.com/office/powerpoint/2010/main" val="3098888607"/>
      </p:ext>
    </p:extLst>
  </p:cSld>
  <p:clrMapOvr>
    <a:masterClrMapping/>
  </p:clrMapOvr>
  <p:transition spd="slow"/>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FE179B-AD57-478B-A5E9-7B94415F2252}"/>
              </a:ext>
            </a:extLst>
          </p:cNvPr>
          <p:cNvSpPr>
            <a:spLocks noGrp="1"/>
          </p:cNvSpPr>
          <p:nvPr>
            <p:ph idx="1"/>
          </p:nvPr>
        </p:nvSpPr>
        <p:spPr>
          <a:xfrm>
            <a:off x="606126" y="457201"/>
            <a:ext cx="8537874" cy="5428754"/>
          </a:xfrm>
        </p:spPr>
        <p:txBody>
          <a:bodyPr/>
          <a:lstStyle/>
          <a:p>
            <a:pPr marL="0" marR="0" algn="r" rtl="1">
              <a:lnSpc>
                <a:spcPct val="107000"/>
              </a:lnSpc>
              <a:spcBef>
                <a:spcPts val="0"/>
              </a:spcBef>
              <a:spcAft>
                <a:spcPts val="800"/>
              </a:spcAft>
            </a:pPr>
            <a:r>
              <a:rPr lang="ar-SA" dirty="0">
                <a:solidFill>
                  <a:srgbClr val="000000"/>
                </a:solidFill>
                <a:latin typeface="Tahoma" panose="020B0604030504040204" pitchFamily="34" charset="0"/>
              </a:rPr>
              <a:t>با کلید اصلی ترکیبی </a:t>
            </a:r>
            <a:r>
              <a:rPr lang="en-US" dirty="0">
                <a:solidFill>
                  <a:srgbClr val="000000"/>
                </a:solidFill>
                <a:latin typeface="Tahoma" panose="020B0604030504040204" pitchFamily="34" charset="0"/>
              </a:rPr>
              <a:t>(</a:t>
            </a:r>
            <a:r>
              <a:rPr lang="en-US" dirty="0" err="1">
                <a:solidFill>
                  <a:srgbClr val="000000"/>
                </a:solidFill>
                <a:latin typeface="Tahoma" panose="020B0604030504040204" pitchFamily="34" charset="0"/>
              </a:rPr>
              <a:t>SaleNo</a:t>
            </a:r>
            <a:r>
              <a:rPr lang="en-US" dirty="0">
                <a:solidFill>
                  <a:srgbClr val="000000"/>
                </a:solidFill>
                <a:latin typeface="Tahoma" panose="020B0604030504040204" pitchFamily="34" charset="0"/>
              </a:rPr>
              <a:t>, </a:t>
            </a:r>
            <a:r>
              <a:rPr lang="en-US" dirty="0" err="1">
                <a:solidFill>
                  <a:srgbClr val="000000"/>
                </a:solidFill>
                <a:latin typeface="Tahoma" panose="020B0604030504040204" pitchFamily="34" charset="0"/>
              </a:rPr>
              <a:t>ProductNo</a:t>
            </a:r>
            <a:r>
              <a:rPr lang="en-US" dirty="0">
                <a:solidFill>
                  <a:srgbClr val="000000"/>
                </a:solidFill>
                <a:latin typeface="Tahoma" panose="020B0604030504040204" pitchFamily="34" charset="0"/>
              </a:rPr>
              <a:t>, </a:t>
            </a:r>
            <a:r>
              <a:rPr lang="en-US" dirty="0" err="1">
                <a:solidFill>
                  <a:srgbClr val="000000"/>
                </a:solidFill>
                <a:latin typeface="Tahoma" panose="020B0604030504040204" pitchFamily="34" charset="0"/>
              </a:rPr>
              <a:t>CustomerNo</a:t>
            </a:r>
            <a:r>
              <a:rPr lang="en-US" dirty="0">
                <a:solidFill>
                  <a:srgbClr val="000000"/>
                </a:solidFill>
                <a:latin typeface="Tahoma" panose="020B0604030504040204" pitchFamily="34" charset="0"/>
              </a:rPr>
              <a:t>)</a:t>
            </a:r>
            <a:r>
              <a:rPr lang="ar-SA" dirty="0">
                <a:solidFill>
                  <a:srgbClr val="000000"/>
                </a:solidFill>
                <a:latin typeface="Tahoma" panose="020B0604030504040204" pitchFamily="34" charset="0"/>
              </a:rPr>
              <a:t>، وابستگی صفات غیر کلیدی را بررسی می‌کنیم</a:t>
            </a:r>
            <a:r>
              <a:rPr lang="en-US" dirty="0">
                <a:solidFill>
                  <a:srgbClr val="000000"/>
                </a:solidFill>
                <a:latin typeface="Tahoma" panose="020B0604030504040204" pitchFamily="34" charset="0"/>
              </a:rPr>
              <a:t>:</a:t>
            </a:r>
          </a:p>
          <a:p>
            <a:pPr marL="342900" marR="0" lvl="0" indent="-342900" algn="r" rtl="1">
              <a:lnSpc>
                <a:spcPct val="107000"/>
              </a:lnSpc>
              <a:spcBef>
                <a:spcPts val="0"/>
              </a:spcBef>
              <a:spcAft>
                <a:spcPts val="800"/>
              </a:spcAft>
              <a:buFont typeface="+mj-lt"/>
              <a:buAutoNum type="arabicPeriod"/>
              <a:tabLst>
                <a:tab pos="457200" algn="l"/>
              </a:tabLst>
            </a:pPr>
            <a:r>
              <a:rPr lang="en-US" sz="1600" dirty="0">
                <a:solidFill>
                  <a:srgbClr val="000000"/>
                </a:solidFill>
                <a:latin typeface="Tahoma" panose="020B0604030504040204" pitchFamily="34" charset="0"/>
              </a:rPr>
              <a:t>First</a:t>
            </a:r>
            <a:r>
              <a:rPr lang="ar-SA" sz="1600" dirty="0">
                <a:solidFill>
                  <a:srgbClr val="000000"/>
                </a:solidFill>
                <a:latin typeface="Tahoma" panose="020B0604030504040204" pitchFamily="34" charset="0"/>
              </a:rPr>
              <a:t>، </a:t>
            </a:r>
            <a:r>
              <a:rPr lang="en-US" sz="1600" dirty="0">
                <a:solidFill>
                  <a:srgbClr val="000000"/>
                </a:solidFill>
                <a:latin typeface="Tahoma" panose="020B0604030504040204" pitchFamily="34" charset="0"/>
              </a:rPr>
              <a:t>Last</a:t>
            </a:r>
            <a:r>
              <a:rPr lang="ar-SA" sz="1600" dirty="0">
                <a:solidFill>
                  <a:srgbClr val="000000"/>
                </a:solidFill>
                <a:latin typeface="Tahoma" panose="020B0604030504040204" pitchFamily="34" charset="0"/>
              </a:rPr>
              <a:t>، </a:t>
            </a:r>
            <a:r>
              <a:rPr lang="en-US" sz="1600" dirty="0">
                <a:solidFill>
                  <a:srgbClr val="000000"/>
                </a:solidFill>
                <a:latin typeface="Tahoma" panose="020B0604030504040204" pitchFamily="34" charset="0"/>
              </a:rPr>
              <a:t>Address</a:t>
            </a:r>
            <a:r>
              <a:rPr lang="ar-SA" sz="1600" dirty="0">
                <a:solidFill>
                  <a:srgbClr val="000000"/>
                </a:solidFill>
                <a:latin typeface="Tahoma" panose="020B0604030504040204" pitchFamily="34" charset="0"/>
              </a:rPr>
              <a:t>، </a:t>
            </a:r>
            <a:r>
              <a:rPr lang="en-US" sz="1600" dirty="0">
                <a:solidFill>
                  <a:srgbClr val="000000"/>
                </a:solidFill>
                <a:latin typeface="Tahoma" panose="020B0604030504040204" pitchFamily="34" charset="0"/>
              </a:rPr>
              <a:t>Credit Limit:</a:t>
            </a: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600" dirty="0">
                <a:solidFill>
                  <a:srgbClr val="000000"/>
                </a:solidFill>
                <a:latin typeface="Tahoma" panose="020B0604030504040204" pitchFamily="34" charset="0"/>
              </a:rPr>
              <a:t>این صفات فقط به </a:t>
            </a:r>
            <a:r>
              <a:rPr lang="en-US" sz="1600" dirty="0" err="1">
                <a:solidFill>
                  <a:srgbClr val="000000"/>
                </a:solidFill>
                <a:latin typeface="Tahoma" panose="020B0604030504040204" pitchFamily="34" charset="0"/>
              </a:rPr>
              <a:t>CustomerNo</a:t>
            </a:r>
            <a:r>
              <a:rPr lang="en-US" sz="1600" dirty="0">
                <a:solidFill>
                  <a:srgbClr val="000000"/>
                </a:solidFill>
                <a:latin typeface="Tahoma" panose="020B0604030504040204" pitchFamily="34" charset="0"/>
              </a:rPr>
              <a:t> </a:t>
            </a:r>
            <a:r>
              <a:rPr lang="ar-SA" sz="1600" dirty="0">
                <a:solidFill>
                  <a:srgbClr val="000000"/>
                </a:solidFill>
                <a:latin typeface="Tahoma" panose="020B0604030504040204" pitchFamily="34" charset="0"/>
              </a:rPr>
              <a:t>وابسته هستند و به کل کلید ترکیبی </a:t>
            </a:r>
            <a:r>
              <a:rPr lang="en-US" sz="1600" dirty="0">
                <a:solidFill>
                  <a:srgbClr val="000000"/>
                </a:solidFill>
                <a:latin typeface="Tahoma" panose="020B0604030504040204" pitchFamily="34" charset="0"/>
              </a:rPr>
              <a:t>(</a:t>
            </a:r>
            <a:r>
              <a:rPr lang="en-US" sz="1600" dirty="0" err="1">
                <a:solidFill>
                  <a:srgbClr val="000000"/>
                </a:solidFill>
                <a:latin typeface="Tahoma" panose="020B0604030504040204" pitchFamily="34" charset="0"/>
              </a:rPr>
              <a:t>SaleNo</a:t>
            </a:r>
            <a:r>
              <a:rPr lang="en-US" sz="1600" dirty="0">
                <a:solidFill>
                  <a:srgbClr val="000000"/>
                </a:solidFill>
                <a:latin typeface="Tahoma" panose="020B0604030504040204" pitchFamily="34" charset="0"/>
              </a:rPr>
              <a:t>, </a:t>
            </a:r>
            <a:r>
              <a:rPr lang="en-US" sz="1600" dirty="0" err="1">
                <a:solidFill>
                  <a:srgbClr val="000000"/>
                </a:solidFill>
                <a:latin typeface="Tahoma" panose="020B0604030504040204" pitchFamily="34" charset="0"/>
              </a:rPr>
              <a:t>ProductNo</a:t>
            </a:r>
            <a:r>
              <a:rPr lang="en-US" sz="1600" dirty="0">
                <a:solidFill>
                  <a:srgbClr val="000000"/>
                </a:solidFill>
                <a:latin typeface="Tahoma" panose="020B0604030504040204" pitchFamily="34" charset="0"/>
              </a:rPr>
              <a:t>, </a:t>
            </a:r>
            <a:r>
              <a:rPr lang="en-US" sz="1600" dirty="0" err="1">
                <a:solidFill>
                  <a:srgbClr val="000000"/>
                </a:solidFill>
                <a:latin typeface="Tahoma" panose="020B0604030504040204" pitchFamily="34" charset="0"/>
              </a:rPr>
              <a:t>CustomerNo</a:t>
            </a:r>
            <a:r>
              <a:rPr lang="en-US" sz="1600" dirty="0">
                <a:solidFill>
                  <a:srgbClr val="000000"/>
                </a:solidFill>
                <a:latin typeface="Tahoma" panose="020B0604030504040204" pitchFamily="34" charset="0"/>
              </a:rPr>
              <a:t>) </a:t>
            </a:r>
            <a:r>
              <a:rPr lang="ar-SA" sz="1600" dirty="0">
                <a:solidFill>
                  <a:srgbClr val="000000"/>
                </a:solidFill>
                <a:latin typeface="Tahoma" panose="020B0604030504040204" pitchFamily="34" charset="0"/>
              </a:rPr>
              <a:t>وابسته نیستند</a:t>
            </a:r>
            <a:r>
              <a:rPr lang="en-US" sz="1600" dirty="0">
                <a:solidFill>
                  <a:srgbClr val="000000"/>
                </a:solidFill>
                <a:latin typeface="Tahoma" panose="020B0604030504040204" pitchFamily="34" charset="0"/>
              </a:rPr>
              <a:t>.</a:t>
            </a: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600" dirty="0">
                <a:solidFill>
                  <a:srgbClr val="000000"/>
                </a:solidFill>
                <a:latin typeface="Tahoma" panose="020B0604030504040204" pitchFamily="34" charset="0"/>
              </a:rPr>
              <a:t>این موضوع باعث ایجاد وابستگی جزئی می‌شود و فرم 2</a:t>
            </a:r>
            <a:r>
              <a:rPr lang="en-US" sz="1600" dirty="0">
                <a:solidFill>
                  <a:srgbClr val="000000"/>
                </a:solidFill>
                <a:latin typeface="Tahoma" panose="020B0604030504040204" pitchFamily="34" charset="0"/>
              </a:rPr>
              <a:t>NF </a:t>
            </a:r>
            <a:r>
              <a:rPr lang="ar-SA" sz="1600" dirty="0">
                <a:solidFill>
                  <a:srgbClr val="000000"/>
                </a:solidFill>
                <a:latin typeface="Tahoma" panose="020B0604030504040204" pitchFamily="34" charset="0"/>
              </a:rPr>
              <a:t>را نقض می‌کند</a:t>
            </a:r>
            <a:r>
              <a:rPr lang="en-US" sz="11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05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r" rtl="1">
              <a:lnSpc>
                <a:spcPct val="107000"/>
              </a:lnSpc>
              <a:spcBef>
                <a:spcPts val="0"/>
              </a:spcBef>
              <a:spcAft>
                <a:spcPts val="800"/>
              </a:spcAft>
              <a:buFont typeface="+mj-lt"/>
              <a:buAutoNum type="arabicPeriod"/>
              <a:tabLst>
                <a:tab pos="457200" algn="l"/>
              </a:tabLst>
            </a:pPr>
            <a:r>
              <a:rPr lang="en-US" sz="1600" dirty="0" err="1">
                <a:solidFill>
                  <a:srgbClr val="000000"/>
                </a:solidFill>
                <a:latin typeface="Tahoma" panose="020B0604030504040204" pitchFamily="34" charset="0"/>
              </a:rPr>
              <a:t>Salesrep</a:t>
            </a:r>
            <a:r>
              <a:rPr lang="en-US" sz="1100" dirty="0">
                <a:effectLst/>
                <a:latin typeface="Times New Roman" panose="02020603050405020304" pitchFamily="18" charset="0"/>
                <a:ea typeface="Times New Roman" panose="02020603050405020304" pitchFamily="18" charset="0"/>
                <a:cs typeface="B Nazanin" panose="00000400000000000000" pitchFamily="2" charset="-78"/>
              </a:rPr>
              <a:t>:</a:t>
            </a:r>
            <a:r>
              <a:rPr lang="ar-SA" sz="1600" dirty="0">
                <a:solidFill>
                  <a:srgbClr val="000000"/>
                </a:solidFill>
                <a:latin typeface="Tahoma" panose="020B0604030504040204" pitchFamily="34" charset="0"/>
              </a:rPr>
              <a:t>فقط به </a:t>
            </a:r>
            <a:r>
              <a:rPr lang="en-US" sz="1600" dirty="0">
                <a:solidFill>
                  <a:srgbClr val="000000"/>
                </a:solidFill>
                <a:latin typeface="Tahoma" panose="020B0604030504040204" pitchFamily="34" charset="0"/>
              </a:rPr>
              <a:t> </a:t>
            </a:r>
            <a:r>
              <a:rPr lang="en-US" sz="1600" dirty="0" err="1">
                <a:solidFill>
                  <a:srgbClr val="000000"/>
                </a:solidFill>
                <a:latin typeface="Tahoma" panose="020B0604030504040204" pitchFamily="34" charset="0"/>
              </a:rPr>
              <a:t>SaleNo</a:t>
            </a:r>
            <a:r>
              <a:rPr lang="en-US" sz="1600" dirty="0">
                <a:solidFill>
                  <a:srgbClr val="000000"/>
                </a:solidFill>
                <a:latin typeface="Tahoma" panose="020B0604030504040204" pitchFamily="34" charset="0"/>
              </a:rPr>
              <a:t> </a:t>
            </a:r>
            <a:r>
              <a:rPr lang="ar-SA" sz="1600" dirty="0">
                <a:solidFill>
                  <a:srgbClr val="000000"/>
                </a:solidFill>
                <a:latin typeface="Tahoma" panose="020B0604030504040204" pitchFamily="34" charset="0"/>
              </a:rPr>
              <a:t>وابسته است (با فرض اینکه هر فروش نماینده فروش خاصی دارد) و به کل کلید ترکیبی </a:t>
            </a:r>
            <a:r>
              <a:rPr lang="en-US" sz="1600" dirty="0">
                <a:solidFill>
                  <a:srgbClr val="000000"/>
                </a:solidFill>
                <a:latin typeface="Tahoma" panose="020B0604030504040204" pitchFamily="34" charset="0"/>
              </a:rPr>
              <a:t>(</a:t>
            </a:r>
            <a:r>
              <a:rPr lang="en-US" sz="1600" dirty="0" err="1">
                <a:solidFill>
                  <a:srgbClr val="000000"/>
                </a:solidFill>
                <a:latin typeface="Tahoma" panose="020B0604030504040204" pitchFamily="34" charset="0"/>
              </a:rPr>
              <a:t>SaleNo</a:t>
            </a:r>
            <a:r>
              <a:rPr lang="en-US" sz="1600" dirty="0">
                <a:solidFill>
                  <a:srgbClr val="000000"/>
                </a:solidFill>
                <a:latin typeface="Tahoma" panose="020B0604030504040204" pitchFamily="34" charset="0"/>
              </a:rPr>
              <a:t>, </a:t>
            </a:r>
            <a:r>
              <a:rPr lang="en-US" sz="1600" dirty="0" err="1">
                <a:solidFill>
                  <a:srgbClr val="000000"/>
                </a:solidFill>
                <a:latin typeface="Tahoma" panose="020B0604030504040204" pitchFamily="34" charset="0"/>
              </a:rPr>
              <a:t>ProductNo</a:t>
            </a:r>
            <a:r>
              <a:rPr lang="en-US" sz="1600" dirty="0">
                <a:solidFill>
                  <a:srgbClr val="000000"/>
                </a:solidFill>
                <a:latin typeface="Tahoma" panose="020B0604030504040204" pitchFamily="34" charset="0"/>
              </a:rPr>
              <a:t>, </a:t>
            </a:r>
            <a:r>
              <a:rPr lang="en-US" sz="1600" dirty="0" err="1">
                <a:solidFill>
                  <a:srgbClr val="000000"/>
                </a:solidFill>
                <a:latin typeface="Tahoma" panose="020B0604030504040204" pitchFamily="34" charset="0"/>
              </a:rPr>
              <a:t>CustomerNo</a:t>
            </a:r>
            <a:r>
              <a:rPr lang="en-US" sz="1600" dirty="0">
                <a:solidFill>
                  <a:srgbClr val="000000"/>
                </a:solidFill>
                <a:latin typeface="Tahoma" panose="020B0604030504040204" pitchFamily="34" charset="0"/>
              </a:rPr>
              <a:t>) </a:t>
            </a:r>
            <a:r>
              <a:rPr lang="ar-SA" sz="1600" dirty="0">
                <a:solidFill>
                  <a:srgbClr val="000000"/>
                </a:solidFill>
                <a:latin typeface="Tahoma" panose="020B0604030504040204" pitchFamily="34" charset="0"/>
              </a:rPr>
              <a:t>وابسته نیست</a:t>
            </a:r>
            <a:r>
              <a:rPr lang="en-US" sz="1600" dirty="0">
                <a:solidFill>
                  <a:srgbClr val="000000"/>
                </a:solidFill>
                <a:latin typeface="Tahoma" panose="020B0604030504040204" pitchFamily="34" charset="0"/>
              </a:rPr>
              <a:t>.</a:t>
            </a: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600" dirty="0">
                <a:solidFill>
                  <a:srgbClr val="000000"/>
                </a:solidFill>
                <a:latin typeface="Tahoma" panose="020B0604030504040204" pitchFamily="34" charset="0"/>
              </a:rPr>
              <a:t>این نیز یک وابستگی جزئی است که فرم 2</a:t>
            </a:r>
            <a:r>
              <a:rPr lang="en-US" sz="1600" dirty="0">
                <a:solidFill>
                  <a:srgbClr val="000000"/>
                </a:solidFill>
                <a:latin typeface="Tahoma" panose="020B0604030504040204" pitchFamily="34" charset="0"/>
              </a:rPr>
              <a:t>NF </a:t>
            </a:r>
            <a:r>
              <a:rPr lang="ar-SA" sz="1600" dirty="0">
                <a:solidFill>
                  <a:srgbClr val="000000"/>
                </a:solidFill>
                <a:latin typeface="Tahoma" panose="020B0604030504040204" pitchFamily="34" charset="0"/>
              </a:rPr>
              <a:t>را نقض می‌کند</a:t>
            </a:r>
            <a:r>
              <a:rPr lang="en-US" sz="1600" dirty="0">
                <a:solidFill>
                  <a:srgbClr val="000000"/>
                </a:solidFill>
                <a:latin typeface="Tahoma" panose="020B0604030504040204" pitchFamily="34" charset="0"/>
              </a:rPr>
              <a:t>.</a:t>
            </a:r>
          </a:p>
          <a:p>
            <a:pPr marL="342900" marR="0" lvl="0" indent="-342900" algn="r" rtl="1">
              <a:lnSpc>
                <a:spcPct val="107000"/>
              </a:lnSpc>
              <a:spcBef>
                <a:spcPts val="0"/>
              </a:spcBef>
              <a:spcAft>
                <a:spcPts val="800"/>
              </a:spcAft>
              <a:buFont typeface="+mj-lt"/>
              <a:buAutoNum type="arabicPeriod"/>
              <a:tabLst>
                <a:tab pos="457200" algn="l"/>
              </a:tabLst>
            </a:pPr>
            <a:r>
              <a:rPr lang="en-US" sz="1100" dirty="0">
                <a:effectLst/>
                <a:latin typeface="Times New Roman" panose="02020603050405020304" pitchFamily="18" charset="0"/>
                <a:ea typeface="Times New Roman" panose="02020603050405020304" pitchFamily="18" charset="0"/>
                <a:cs typeface="B Nazanin" panose="00000400000000000000" pitchFamily="2" charset="-78"/>
              </a:rPr>
              <a:t>:</a:t>
            </a:r>
            <a:r>
              <a:rPr lang="en-US" sz="1600" dirty="0">
                <a:solidFill>
                  <a:srgbClr val="000000"/>
                </a:solidFill>
                <a:latin typeface="Tahoma" panose="020B0604030504040204" pitchFamily="34" charset="0"/>
              </a:rPr>
              <a:t>Amount </a:t>
            </a:r>
            <a:r>
              <a:rPr lang="ar-SA" sz="1600" dirty="0">
                <a:solidFill>
                  <a:srgbClr val="000000"/>
                </a:solidFill>
                <a:latin typeface="Tahoma" panose="020B0604030504040204" pitchFamily="34" charset="0"/>
              </a:rPr>
              <a:t>به </a:t>
            </a:r>
            <a:r>
              <a:rPr lang="en-US" sz="1600" dirty="0" err="1">
                <a:solidFill>
                  <a:srgbClr val="000000"/>
                </a:solidFill>
                <a:latin typeface="Tahoma" panose="020B0604030504040204" pitchFamily="34" charset="0"/>
              </a:rPr>
              <a:t>ProductNo</a:t>
            </a:r>
            <a:r>
              <a:rPr lang="en-US" sz="1600" dirty="0">
                <a:solidFill>
                  <a:srgbClr val="000000"/>
                </a:solidFill>
                <a:latin typeface="Tahoma" panose="020B0604030504040204" pitchFamily="34" charset="0"/>
              </a:rPr>
              <a:t> </a:t>
            </a:r>
            <a:r>
              <a:rPr lang="ar-SA" sz="1600" dirty="0">
                <a:solidFill>
                  <a:srgbClr val="000000"/>
                </a:solidFill>
                <a:latin typeface="Tahoma" panose="020B0604030504040204" pitchFamily="34" charset="0"/>
              </a:rPr>
              <a:t>و به </a:t>
            </a:r>
            <a:r>
              <a:rPr lang="en-US" sz="1600" dirty="0">
                <a:solidFill>
                  <a:srgbClr val="000000"/>
                </a:solidFill>
                <a:latin typeface="Tahoma" panose="020B0604030504040204" pitchFamily="34" charset="0"/>
              </a:rPr>
              <a:t>Qty </a:t>
            </a:r>
            <a:r>
              <a:rPr lang="ar-SA" sz="1600" dirty="0">
                <a:solidFill>
                  <a:srgbClr val="000000"/>
                </a:solidFill>
                <a:latin typeface="Tahoma" panose="020B0604030504040204" pitchFamily="34" charset="0"/>
              </a:rPr>
              <a:t>وابسته است، بنابراین به درستی به بخشی از کلید وابسته است. این مورد فرم 2</a:t>
            </a:r>
            <a:r>
              <a:rPr lang="en-US" sz="1600" dirty="0">
                <a:solidFill>
                  <a:srgbClr val="000000"/>
                </a:solidFill>
                <a:latin typeface="Tahoma" panose="020B0604030504040204" pitchFamily="34" charset="0"/>
              </a:rPr>
              <a:t>NF </a:t>
            </a:r>
            <a:r>
              <a:rPr lang="ar-SA" sz="1600" dirty="0">
                <a:solidFill>
                  <a:srgbClr val="000000"/>
                </a:solidFill>
                <a:latin typeface="Tahoma" panose="020B0604030504040204" pitchFamily="34" charset="0"/>
              </a:rPr>
              <a:t>را نقض نمی‌کند</a:t>
            </a:r>
            <a:r>
              <a:rPr lang="en-US" sz="1600" dirty="0">
                <a:solidFill>
                  <a:srgbClr val="000000"/>
                </a:solidFill>
                <a:latin typeface="Tahoma" panose="020B0604030504040204" pitchFamily="34" charset="0"/>
              </a:rPr>
              <a:t>.</a:t>
            </a:r>
          </a:p>
          <a:p>
            <a:pPr marL="0" marR="0" algn="r" rtl="1">
              <a:lnSpc>
                <a:spcPct val="107000"/>
              </a:lnSpc>
              <a:spcBef>
                <a:spcPts val="0"/>
              </a:spcBef>
              <a:spcAft>
                <a:spcPts val="800"/>
              </a:spcAft>
            </a:pPr>
            <a:r>
              <a:rPr lang="en-US" sz="1050" dirty="0">
                <a:effectLst/>
                <a:latin typeface="Calibri" panose="020F0502020204030204" pitchFamily="34" charset="0"/>
                <a:ea typeface="Calibri" panose="020F0502020204030204" pitchFamily="34" charset="0"/>
                <a:cs typeface="B Nazanin" panose="00000400000000000000" pitchFamily="2" charset="-78"/>
              </a:rPr>
              <a:t> </a:t>
            </a:r>
            <a:r>
              <a:rPr lang="ar-SA" altLang="en-US" sz="1600" dirty="0">
                <a:solidFill>
                  <a:srgbClr val="000000"/>
                </a:solidFill>
                <a:latin typeface="Tahoma" panose="020B0604030504040204" pitchFamily="34" charset="0"/>
                <a:cs typeface="B Nazanin" panose="00000400000000000000" pitchFamily="2" charset="-78"/>
              </a:rPr>
              <a:t>توجه کنيد اگر کليدهای کانديد در جدول</a:t>
            </a:r>
            <a:r>
              <a:rPr lang="fa-IR" altLang="en-US" sz="1600" dirty="0">
                <a:solidFill>
                  <a:srgbClr val="000000"/>
                </a:solidFill>
                <a:latin typeface="Tahoma" panose="020B0604030504040204" pitchFamily="34" charset="0"/>
                <a:cs typeface="B Nazanin" panose="00000400000000000000" pitchFamily="2" charset="-78"/>
              </a:rPr>
              <a:t>،</a:t>
            </a:r>
            <a:r>
              <a:rPr lang="ar-SA" altLang="en-US" sz="1600" dirty="0">
                <a:solidFill>
                  <a:srgbClr val="000000"/>
                </a:solidFill>
                <a:latin typeface="Tahoma" panose="020B0604030504040204" pitchFamily="34" charset="0"/>
                <a:cs typeface="B Nazanin" panose="00000400000000000000" pitchFamily="2" charset="-78"/>
              </a:rPr>
              <a:t> ترکيبی نباشند يعنی تنها شامل يک ستون باشند بلافاصله می گوئيم جدول 2</a:t>
            </a:r>
            <a:r>
              <a:rPr lang="en-US" altLang="en-US" sz="1600" dirty="0">
                <a:solidFill>
                  <a:srgbClr val="000000"/>
                </a:solidFill>
                <a:latin typeface="Tahoma" panose="020B0604030504040204" pitchFamily="34" charset="0"/>
                <a:cs typeface="B Nazanin" panose="00000400000000000000" pitchFamily="2" charset="-78"/>
              </a:rPr>
              <a:t>NF</a:t>
            </a:r>
            <a:r>
              <a:rPr lang="ar-SA" altLang="en-US" sz="1600" dirty="0">
                <a:solidFill>
                  <a:srgbClr val="000000"/>
                </a:solidFill>
                <a:latin typeface="Tahoma" panose="020B0604030504040204" pitchFamily="34" charset="0"/>
                <a:cs typeface="B Nazanin" panose="00000400000000000000" pitchFamily="2" charset="-78"/>
              </a:rPr>
              <a:t> است.</a:t>
            </a:r>
            <a:br>
              <a:rPr lang="en-US" altLang="en-US" sz="1600" dirty="0">
                <a:solidFill>
                  <a:schemeClr val="tx1"/>
                </a:solidFill>
                <a:cs typeface="B Nazanin" panose="00000400000000000000" pitchFamily="2" charset="-78"/>
              </a:rPr>
            </a:br>
            <a:br>
              <a:rPr lang="en-US" altLang="en-US" sz="1600" dirty="0">
                <a:solidFill>
                  <a:schemeClr val="tx1"/>
                </a:solidFill>
                <a:latin typeface="Arial" panose="020B0604020202020204" pitchFamily="34" charset="0"/>
                <a:cs typeface="B Nazanin" panose="00000400000000000000" pitchFamily="2" charset="-78"/>
              </a:rPr>
            </a:br>
            <a:br>
              <a:rPr lang="en-US" altLang="en-US" sz="1600" dirty="0">
                <a:solidFill>
                  <a:schemeClr val="tx1"/>
                </a:solidFill>
                <a:latin typeface="Arial" panose="020B0604020202020204" pitchFamily="34" charset="0"/>
                <a:cs typeface="B Nazanin" panose="00000400000000000000" pitchFamily="2" charset="-78"/>
              </a:rPr>
            </a:br>
            <a:endParaRPr lang="en-US" sz="1600" dirty="0"/>
          </a:p>
        </p:txBody>
      </p:sp>
      <p:sp>
        <p:nvSpPr>
          <p:cNvPr id="4" name="Title 1">
            <a:extLst>
              <a:ext uri="{FF2B5EF4-FFF2-40B4-BE49-F238E27FC236}">
                <a16:creationId xmlns:a16="http://schemas.microsoft.com/office/drawing/2014/main" id="{659B7AB1-AE20-4768-8313-47668E2CF93F}"/>
              </a:ext>
            </a:extLst>
          </p:cNvPr>
          <p:cNvSpPr>
            <a:spLocks noGrp="1"/>
          </p:cNvSpPr>
          <p:nvPr>
            <p:ph type="title"/>
          </p:nvPr>
        </p:nvSpPr>
        <p:spPr>
          <a:xfrm>
            <a:off x="606126" y="-152400"/>
            <a:ext cx="8077200" cy="609600"/>
          </a:xfrm>
        </p:spPr>
        <p:txBody>
          <a:bodyPr/>
          <a:lstStyle/>
          <a:p>
            <a:r>
              <a:rPr lang="fa-IR" altLang="en-US" sz="2800" dirty="0">
                <a:latin typeface="Titr" pitchFamily="2" charset="-78"/>
                <a:ea typeface="2  Titr"/>
                <a:cs typeface="2  Titr"/>
              </a:rPr>
              <a:t>جدول نرمال ۲</a:t>
            </a:r>
            <a:endParaRPr lang="en-US" dirty="0"/>
          </a:p>
        </p:txBody>
      </p:sp>
      <p:graphicFrame>
        <p:nvGraphicFramePr>
          <p:cNvPr id="5" name="Table 4">
            <a:extLst>
              <a:ext uri="{FF2B5EF4-FFF2-40B4-BE49-F238E27FC236}">
                <a16:creationId xmlns:a16="http://schemas.microsoft.com/office/drawing/2014/main" id="{D021EF03-A87F-40B5-A3E5-F77913EFB47E}"/>
              </a:ext>
            </a:extLst>
          </p:cNvPr>
          <p:cNvGraphicFramePr>
            <a:graphicFrameLocks noGrp="1"/>
          </p:cNvGraphicFramePr>
          <p:nvPr>
            <p:extLst>
              <p:ext uri="{D42A27DB-BD31-4B8C-83A1-F6EECF244321}">
                <p14:modId xmlns:p14="http://schemas.microsoft.com/office/powerpoint/2010/main" val="3816221329"/>
              </p:ext>
            </p:extLst>
          </p:nvPr>
        </p:nvGraphicFramePr>
        <p:xfrm>
          <a:off x="139944" y="4132122"/>
          <a:ext cx="8864112" cy="2725878"/>
        </p:xfrm>
        <a:graphic>
          <a:graphicData uri="http://schemas.openxmlformats.org/drawingml/2006/table">
            <a:tbl>
              <a:tblPr firstRow="1" firstCol="1" bandRow="1">
                <a:tableStyleId>{616DA210-FB5B-4158-B5E0-FEB733F419BA}</a:tableStyleId>
              </a:tblPr>
              <a:tblGrid>
                <a:gridCol w="579298">
                  <a:extLst>
                    <a:ext uri="{9D8B030D-6E8A-4147-A177-3AD203B41FA5}">
                      <a16:colId xmlns:a16="http://schemas.microsoft.com/office/drawing/2014/main" val="234041042"/>
                    </a:ext>
                  </a:extLst>
                </a:gridCol>
                <a:gridCol w="927786">
                  <a:extLst>
                    <a:ext uri="{9D8B030D-6E8A-4147-A177-3AD203B41FA5}">
                      <a16:colId xmlns:a16="http://schemas.microsoft.com/office/drawing/2014/main" val="3415118693"/>
                    </a:ext>
                  </a:extLst>
                </a:gridCol>
                <a:gridCol w="910580">
                  <a:extLst>
                    <a:ext uri="{9D8B030D-6E8A-4147-A177-3AD203B41FA5}">
                      <a16:colId xmlns:a16="http://schemas.microsoft.com/office/drawing/2014/main" val="3881982512"/>
                    </a:ext>
                  </a:extLst>
                </a:gridCol>
                <a:gridCol w="455290">
                  <a:extLst>
                    <a:ext uri="{9D8B030D-6E8A-4147-A177-3AD203B41FA5}">
                      <a16:colId xmlns:a16="http://schemas.microsoft.com/office/drawing/2014/main" val="2484215510"/>
                    </a:ext>
                  </a:extLst>
                </a:gridCol>
                <a:gridCol w="673200">
                  <a:extLst>
                    <a:ext uri="{9D8B030D-6E8A-4147-A177-3AD203B41FA5}">
                      <a16:colId xmlns:a16="http://schemas.microsoft.com/office/drawing/2014/main" val="1297653461"/>
                    </a:ext>
                  </a:extLst>
                </a:gridCol>
                <a:gridCol w="1141099">
                  <a:extLst>
                    <a:ext uri="{9D8B030D-6E8A-4147-A177-3AD203B41FA5}">
                      <a16:colId xmlns:a16="http://schemas.microsoft.com/office/drawing/2014/main" val="3484224265"/>
                    </a:ext>
                  </a:extLst>
                </a:gridCol>
                <a:gridCol w="836806">
                  <a:extLst>
                    <a:ext uri="{9D8B030D-6E8A-4147-A177-3AD203B41FA5}">
                      <a16:colId xmlns:a16="http://schemas.microsoft.com/office/drawing/2014/main" val="3482110401"/>
                    </a:ext>
                  </a:extLst>
                </a:gridCol>
                <a:gridCol w="760732">
                  <a:extLst>
                    <a:ext uri="{9D8B030D-6E8A-4147-A177-3AD203B41FA5}">
                      <a16:colId xmlns:a16="http://schemas.microsoft.com/office/drawing/2014/main" val="1813858957"/>
                    </a:ext>
                  </a:extLst>
                </a:gridCol>
                <a:gridCol w="760732">
                  <a:extLst>
                    <a:ext uri="{9D8B030D-6E8A-4147-A177-3AD203B41FA5}">
                      <a16:colId xmlns:a16="http://schemas.microsoft.com/office/drawing/2014/main" val="1355875302"/>
                    </a:ext>
                  </a:extLst>
                </a:gridCol>
                <a:gridCol w="1293245">
                  <a:extLst>
                    <a:ext uri="{9D8B030D-6E8A-4147-A177-3AD203B41FA5}">
                      <a16:colId xmlns:a16="http://schemas.microsoft.com/office/drawing/2014/main" val="1675925667"/>
                    </a:ext>
                  </a:extLst>
                </a:gridCol>
                <a:gridCol w="525344">
                  <a:extLst>
                    <a:ext uri="{9D8B030D-6E8A-4147-A177-3AD203B41FA5}">
                      <a16:colId xmlns:a16="http://schemas.microsoft.com/office/drawing/2014/main" val="236614085"/>
                    </a:ext>
                  </a:extLst>
                </a:gridCol>
              </a:tblGrid>
              <a:tr h="389586">
                <a:tc>
                  <a:txBody>
                    <a:bodyPr/>
                    <a:lstStyle/>
                    <a:p>
                      <a:pPr marL="0" marR="0">
                        <a:lnSpc>
                          <a:spcPct val="107000"/>
                        </a:lnSpc>
                        <a:spcBef>
                          <a:spcPts val="0"/>
                        </a:spcBef>
                        <a:spcAft>
                          <a:spcPts val="0"/>
                        </a:spcAft>
                      </a:pPr>
                      <a:r>
                        <a:rPr lang="en-US" sz="1100" dirty="0">
                          <a:solidFill>
                            <a:schemeClr val="tx2">
                              <a:lumMod val="75000"/>
                            </a:schemeClr>
                          </a:solidFill>
                          <a:effectLst/>
                        </a:rPr>
                        <a:t>Sale 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SaleDate</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ProductNo</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Qty</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Amount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Salesrep</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CustomerNo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First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Last</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Address</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CreditLimit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378874611"/>
                  </a:ext>
                </a:extLst>
              </a:tr>
              <a:tr h="257511">
                <a:tc>
                  <a:txBody>
                    <a:bodyPr/>
                    <a:lstStyle/>
                    <a:p>
                      <a:pPr marL="0" marR="0">
                        <a:lnSpc>
                          <a:spcPct val="107000"/>
                        </a:lnSpc>
                        <a:spcBef>
                          <a:spcPts val="0"/>
                        </a:spcBef>
                        <a:spcAft>
                          <a:spcPts val="0"/>
                        </a:spcAft>
                      </a:pPr>
                      <a:r>
                        <a:rPr lang="en-US" sz="1050" b="1" dirty="0">
                          <a:effectLst/>
                        </a:rPr>
                        <a:t>12345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Aug 12 2002</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23.95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Dave Williams</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4649-4673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Richard</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Johnston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14 West Avenue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1000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720734119"/>
                  </a:ext>
                </a:extLst>
              </a:tr>
              <a:tr h="257511">
                <a:tc>
                  <a:txBody>
                    <a:bodyPr/>
                    <a:lstStyle/>
                    <a:p>
                      <a:pPr marL="0" marR="0">
                        <a:lnSpc>
                          <a:spcPct val="107000"/>
                        </a:lnSpc>
                        <a:spcBef>
                          <a:spcPts val="0"/>
                        </a:spcBef>
                        <a:spcAft>
                          <a:spcPts val="0"/>
                        </a:spcAft>
                      </a:pPr>
                      <a:r>
                        <a:rPr lang="en-US" sz="1050" b="1">
                          <a:effectLst/>
                        </a:rPr>
                        <a:t>12346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12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AQX88916</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167.65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1113-7741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Wayne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Jones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 York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020454084"/>
                  </a:ext>
                </a:extLst>
              </a:tr>
              <a:tr h="257511">
                <a:tc>
                  <a:txBody>
                    <a:bodyPr/>
                    <a:lstStyle/>
                    <a:p>
                      <a:pPr marL="0" marR="0">
                        <a:lnSpc>
                          <a:spcPct val="107000"/>
                        </a:lnSpc>
                        <a:spcBef>
                          <a:spcPts val="0"/>
                        </a:spcBef>
                        <a:spcAft>
                          <a:spcPts val="0"/>
                        </a:spcAft>
                      </a:pPr>
                      <a:r>
                        <a:rPr lang="en-US" sz="1050" b="1">
                          <a:effectLst/>
                        </a:rPr>
                        <a:t>12347</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AHL46785</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3705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5001.75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Li Qing</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995 Forth Street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241532585"/>
                  </a:ext>
                </a:extLst>
              </a:tr>
              <a:tr h="182708">
                <a:tc>
                  <a:txBody>
                    <a:bodyPr/>
                    <a:lstStyle/>
                    <a:p>
                      <a:pPr marL="0" marR="0">
                        <a:lnSpc>
                          <a:spcPct val="107000"/>
                        </a:lnSpc>
                        <a:spcBef>
                          <a:spcPts val="0"/>
                        </a:spcBef>
                        <a:spcAft>
                          <a:spcPts val="0"/>
                        </a:spcAft>
                      </a:pPr>
                      <a:r>
                        <a:rPr lang="en-US" sz="1050" b="1">
                          <a:effectLst/>
                        </a:rPr>
                        <a:t>12348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118.5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Sara Thompson</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gn="ctr">
                        <a:lnSpc>
                          <a:spcPct val="107000"/>
                        </a:lnSpc>
                        <a:spcBef>
                          <a:spcPts val="0"/>
                        </a:spcBef>
                        <a:spcAft>
                          <a:spcPts val="0"/>
                        </a:spcAft>
                      </a:pPr>
                      <a:r>
                        <a:rPr lang="en-US" sz="1050" b="1" dirty="0">
                          <a:effectLst/>
                        </a:rPr>
                        <a:t> &lt;</a:t>
                      </a:r>
                      <a:r>
                        <a:rPr lang="en-US" sz="1050" b="1" i="1" dirty="0">
                          <a:effectLst/>
                        </a:rPr>
                        <a:t>null&gt;</a:t>
                      </a:r>
                      <a:endParaRPr lang="en-US" sz="1050" b="1" i="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9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897738917"/>
                  </a:ext>
                </a:extLst>
              </a:tr>
              <a:tr h="182708">
                <a:tc>
                  <a:txBody>
                    <a:bodyPr/>
                    <a:lstStyle/>
                    <a:p>
                      <a:pPr marL="0" marR="0">
                        <a:lnSpc>
                          <a:spcPct val="107000"/>
                        </a:lnSpc>
                        <a:spcBef>
                          <a:spcPts val="0"/>
                        </a:spcBef>
                        <a:spcAft>
                          <a:spcPts val="0"/>
                        </a:spcAft>
                      </a:pPr>
                      <a:r>
                        <a:rPr lang="en-US" sz="1050" b="1">
                          <a:effectLst/>
                        </a:rPr>
                        <a:t>12349</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940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2227.8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 Forth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176984474"/>
                  </a:ext>
                </a:extLst>
              </a:tr>
              <a:tr h="182708">
                <a:tc>
                  <a:txBody>
                    <a:bodyPr/>
                    <a:lstStyle/>
                    <a:p>
                      <a:pPr marL="0" marR="0">
                        <a:lnSpc>
                          <a:spcPct val="107000"/>
                        </a:lnSpc>
                        <a:spcBef>
                          <a:spcPts val="0"/>
                        </a:spcBef>
                        <a:spcAft>
                          <a:spcPts val="0"/>
                        </a:spcAft>
                      </a:pPr>
                      <a:r>
                        <a:rPr lang="en-US" sz="1050" b="1">
                          <a:effectLst/>
                        </a:rPr>
                        <a:t>12350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7671-3496</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Antonio</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Gonzales</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55B Granary Lane</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dirty="0">
                          <a:ln>
                            <a:noFill/>
                          </a:ln>
                          <a:solidFill>
                            <a:srgbClr val="000000"/>
                          </a:solidFill>
                          <a:effectLst/>
                          <a:uLnTx/>
                          <a:uFillTx/>
                          <a:latin typeface="Helvetica"/>
                          <a:ea typeface="+mn-ea"/>
                          <a:cs typeface="+mn-cs"/>
                        </a:rPr>
                        <a:t>&lt;</a:t>
                      </a:r>
                      <a:r>
                        <a:rPr kumimoji="0" lang="en-US" sz="900" b="1" i="1" u="none" strike="noStrike" kern="1200" cap="none" spc="0" normalizeH="0" baseline="0" noProof="0" dirty="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643762065"/>
                  </a:ext>
                </a:extLst>
              </a:tr>
              <a:tr h="257511">
                <a:tc>
                  <a:txBody>
                    <a:bodyPr/>
                    <a:lstStyle/>
                    <a:p>
                      <a:pPr marL="0" marR="0">
                        <a:lnSpc>
                          <a:spcPct val="107000"/>
                        </a:lnSpc>
                        <a:spcBef>
                          <a:spcPts val="0"/>
                        </a:spcBef>
                        <a:spcAft>
                          <a:spcPts val="0"/>
                        </a:spcAft>
                      </a:pPr>
                      <a:r>
                        <a:rPr lang="en-US" sz="1050" b="1" dirty="0">
                          <a:effectLst/>
                        </a:rPr>
                        <a:t>12351</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1317.25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Dave Williams</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6794-1674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Diane</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Adams</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364 East Road</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150</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34904673"/>
                  </a:ext>
                </a:extLst>
              </a:tr>
            </a:tbl>
          </a:graphicData>
        </a:graphic>
      </p:graphicFrame>
    </p:spTree>
    <p:extLst>
      <p:ext uri="{BB962C8B-B14F-4D97-AF65-F5344CB8AC3E}">
        <p14:creationId xmlns:p14="http://schemas.microsoft.com/office/powerpoint/2010/main" val="328404388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58D47E9-91E9-482F-99AF-121B4E079C36}"/>
              </a:ext>
            </a:extLst>
          </p:cNvPr>
          <p:cNvSpPr>
            <a:spLocks noChangeArrowheads="1"/>
          </p:cNvSpPr>
          <p:nvPr/>
        </p:nvSpPr>
        <p:spPr bwMode="auto">
          <a:xfrm>
            <a:off x="0" y="0"/>
            <a:ext cx="9144000" cy="15875"/>
          </a:xfrm>
          <a:prstGeom prst="rect">
            <a:avLst/>
          </a:prstGeom>
          <a:solidFill>
            <a:srgbClr val="000000"/>
          </a:solidFill>
          <a:ln w="9525">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6" name="Title 5">
            <a:extLst>
              <a:ext uri="{FF2B5EF4-FFF2-40B4-BE49-F238E27FC236}">
                <a16:creationId xmlns:a16="http://schemas.microsoft.com/office/drawing/2014/main" id="{B50BDF58-3945-4703-A505-AFBEF21903A3}"/>
              </a:ext>
            </a:extLst>
          </p:cNvPr>
          <p:cNvSpPr>
            <a:spLocks noGrp="1"/>
          </p:cNvSpPr>
          <p:nvPr>
            <p:ph type="title"/>
          </p:nvPr>
        </p:nvSpPr>
        <p:spPr>
          <a:xfrm>
            <a:off x="1095375" y="-1066800"/>
            <a:ext cx="7772400" cy="5105400"/>
          </a:xfrm>
        </p:spPr>
        <p:txBody>
          <a:bodyPr>
            <a:noAutofit/>
          </a:bodyPr>
          <a:lstStyle/>
          <a:p>
            <a:pPr algn="r" rtl="1"/>
            <a:r>
              <a:rPr lang="fa-IR" sz="2000" b="0" dirty="0">
                <a:cs typeface="B Nazanin" panose="00000400000000000000" pitchFamily="2" charset="-78"/>
              </a:rPr>
              <a:t>مثال. جدول </a:t>
            </a:r>
            <a:r>
              <a:rPr lang="en-US" sz="2000" b="0" dirty="0">
                <a:cs typeface="B Nazanin" panose="00000400000000000000" pitchFamily="2" charset="-78"/>
              </a:rPr>
              <a:t>ALL_SALES </a:t>
            </a:r>
            <a:r>
              <a:rPr lang="fa-IR" sz="2000" b="0" dirty="0">
                <a:cs typeface="B Nazanin" panose="00000400000000000000" pitchFamily="2" charset="-78"/>
              </a:rPr>
              <a:t>را درنظر بگيريد:</a:t>
            </a:r>
            <a:br>
              <a:rPr lang="fa-IR" sz="2000" b="0" dirty="0">
                <a:cs typeface="B Nazanin" panose="00000400000000000000" pitchFamily="2" charset="-78"/>
              </a:rPr>
            </a:br>
            <a:br>
              <a:rPr lang="fa-IR" sz="2000" b="0" dirty="0">
                <a:cs typeface="B Nazanin" panose="00000400000000000000" pitchFamily="2" charset="-78"/>
              </a:rPr>
            </a:br>
            <a:br>
              <a:rPr lang="fa-IR" sz="2000" b="0" dirty="0">
                <a:cs typeface="B Nazanin" panose="00000400000000000000" pitchFamily="2" charset="-78"/>
              </a:rPr>
            </a:br>
            <a:br>
              <a:rPr lang="en-US" sz="2000" dirty="0">
                <a:cs typeface="B Nazanin" panose="00000400000000000000" pitchFamily="2" charset="-78"/>
              </a:rPr>
            </a:br>
            <a:r>
              <a:rPr lang="fa-IR" sz="2000" b="0" dirty="0">
                <a:cs typeface="B Nazanin" panose="00000400000000000000" pitchFamily="2" charset="-78"/>
              </a:rPr>
              <a:t>مشاهده می شود بعضی از ستون ها بهم مرتبط هستند و توسط بخشی از کليد مشخص می شوند. به عبارت ديگر بعضی ستون ها با زيرمجموعه ای از کليد وابستگی تابعی دارند:</a:t>
            </a:r>
            <a:br>
              <a:rPr lang="fa-IR" sz="2000" b="0" dirty="0">
                <a:cs typeface="B Nazanin" panose="00000400000000000000" pitchFamily="2" charset="-78"/>
              </a:rPr>
            </a:br>
            <a:br>
              <a:rPr lang="fa-IR" sz="2000" b="0" dirty="0">
                <a:cs typeface="B Nazanin" panose="00000400000000000000" pitchFamily="2" charset="-78"/>
              </a:rPr>
            </a:br>
            <a:br>
              <a:rPr lang="fa-IR" sz="2000" b="0" dirty="0">
                <a:cs typeface="B Nazanin" panose="00000400000000000000" pitchFamily="2" charset="-78"/>
              </a:rPr>
            </a:br>
            <a:br>
              <a:rPr lang="en-US" sz="2000" dirty="0">
                <a:cs typeface="B Nazanin" panose="00000400000000000000" pitchFamily="2" charset="-78"/>
              </a:rPr>
            </a:br>
            <a:br>
              <a:rPr lang="en-US" sz="2000" dirty="0">
                <a:cs typeface="B Nazanin" panose="00000400000000000000" pitchFamily="2" charset="-78"/>
              </a:rPr>
            </a:br>
            <a:endParaRPr lang="en-US" sz="2000" dirty="0">
              <a:cs typeface="B Nazanin" panose="00000400000000000000" pitchFamily="2" charset="-78"/>
            </a:endParaRPr>
          </a:p>
        </p:txBody>
      </p:sp>
      <p:sp>
        <p:nvSpPr>
          <p:cNvPr id="9" name="Slide Number Placeholder 8">
            <a:extLst>
              <a:ext uri="{FF2B5EF4-FFF2-40B4-BE49-F238E27FC236}">
                <a16:creationId xmlns:a16="http://schemas.microsoft.com/office/drawing/2014/main" id="{05E59686-4629-481C-A6E5-ECA0394DA4F9}"/>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28</a:t>
            </a:fld>
            <a:endParaRPr lang="en-US"/>
          </a:p>
        </p:txBody>
      </p:sp>
      <p:sp>
        <p:nvSpPr>
          <p:cNvPr id="4" name="Rectangle 3">
            <a:extLst>
              <a:ext uri="{FF2B5EF4-FFF2-40B4-BE49-F238E27FC236}">
                <a16:creationId xmlns:a16="http://schemas.microsoft.com/office/drawing/2014/main" id="{C3E5D3F8-2F16-4DBE-91F0-071A27DBCBB5}"/>
              </a:ext>
            </a:extLst>
          </p:cNvPr>
          <p:cNvSpPr/>
          <p:nvPr/>
        </p:nvSpPr>
        <p:spPr>
          <a:xfrm>
            <a:off x="371475" y="2642474"/>
            <a:ext cx="8686800" cy="1015663"/>
          </a:xfrm>
          <a:prstGeom prst="rect">
            <a:avLst/>
          </a:prstGeom>
        </p:spPr>
        <p:txBody>
          <a:bodyPr wrap="square">
            <a:spAutoFit/>
          </a:bodyPr>
          <a:lstStyle/>
          <a:p>
            <a:r>
              <a:rPr lang="en-US" sz="2000" dirty="0" err="1"/>
              <a:t>ProductNo</a:t>
            </a:r>
            <a:r>
              <a:rPr lang="en-US" sz="2000" dirty="0"/>
              <a:t> → {Description, </a:t>
            </a:r>
            <a:r>
              <a:rPr lang="en-US" sz="2000" dirty="0" err="1"/>
              <a:t>ReorderLevel</a:t>
            </a:r>
            <a:r>
              <a:rPr lang="en-US" sz="2000" dirty="0"/>
              <a:t>, Price, </a:t>
            </a:r>
            <a:r>
              <a:rPr lang="en-US" sz="2000" dirty="0" err="1"/>
              <a:t>QtyInStock</a:t>
            </a:r>
            <a:r>
              <a:rPr lang="en-US" sz="2000" dirty="0"/>
              <a:t>}</a:t>
            </a:r>
            <a:br>
              <a:rPr lang="en-US" sz="2000" dirty="0"/>
            </a:br>
            <a:r>
              <a:rPr lang="en-US" sz="2000" dirty="0" err="1"/>
              <a:t>CustomerNo</a:t>
            </a:r>
            <a:r>
              <a:rPr lang="en-US" sz="2000" dirty="0"/>
              <a:t> → {</a:t>
            </a:r>
            <a:r>
              <a:rPr lang="en-US" sz="2000" dirty="0" err="1"/>
              <a:t>Customer_Name</a:t>
            </a:r>
            <a:r>
              <a:rPr lang="en-US" sz="2000" dirty="0"/>
              <a:t>, </a:t>
            </a:r>
            <a:r>
              <a:rPr lang="en-US" sz="2000" dirty="0" err="1"/>
              <a:t>CreditLimit</a:t>
            </a:r>
            <a:r>
              <a:rPr lang="en-US" sz="2000" dirty="0"/>
              <a:t>}</a:t>
            </a:r>
            <a:br>
              <a:rPr lang="en-US" sz="2000" dirty="0"/>
            </a:br>
            <a:r>
              <a:rPr lang="en-US" sz="2000" dirty="0" err="1"/>
              <a:t>SaleNo</a:t>
            </a:r>
            <a:r>
              <a:rPr lang="en-US" sz="2000" dirty="0"/>
              <a:t> → {Date, </a:t>
            </a:r>
            <a:r>
              <a:rPr lang="en-US" sz="2000" dirty="0" err="1"/>
              <a:t>CustomerNo</a:t>
            </a:r>
            <a:r>
              <a:rPr lang="en-US" sz="2000" dirty="0"/>
              <a:t>, </a:t>
            </a:r>
            <a:r>
              <a:rPr lang="en-US" sz="2000" dirty="0" err="1"/>
              <a:t>ProductNo</a:t>
            </a:r>
            <a:r>
              <a:rPr lang="en-US" sz="2000" dirty="0"/>
              <a:t>, Qty, Amount, </a:t>
            </a:r>
            <a:r>
              <a:rPr lang="en-US" sz="2000" dirty="0" err="1"/>
              <a:t>Salesrep</a:t>
            </a:r>
            <a:r>
              <a:rPr lang="en-US" sz="2000" dirty="0"/>
              <a:t>}</a:t>
            </a:r>
          </a:p>
        </p:txBody>
      </p:sp>
      <p:sp>
        <p:nvSpPr>
          <p:cNvPr id="5" name="Rectangle 4">
            <a:extLst>
              <a:ext uri="{FF2B5EF4-FFF2-40B4-BE49-F238E27FC236}">
                <a16:creationId xmlns:a16="http://schemas.microsoft.com/office/drawing/2014/main" id="{A3C649F2-B8DB-4A47-9B59-3BCC462679B1}"/>
              </a:ext>
            </a:extLst>
          </p:cNvPr>
          <p:cNvSpPr/>
          <p:nvPr/>
        </p:nvSpPr>
        <p:spPr>
          <a:xfrm>
            <a:off x="365919" y="1162734"/>
            <a:ext cx="8534400" cy="707886"/>
          </a:xfrm>
          <a:prstGeom prst="rect">
            <a:avLst/>
          </a:prstGeom>
        </p:spPr>
        <p:txBody>
          <a:bodyPr wrap="square">
            <a:spAutoFit/>
          </a:bodyPr>
          <a:lstStyle/>
          <a:p>
            <a:r>
              <a:rPr lang="en-US" sz="2000" dirty="0"/>
              <a:t>ALL_SALES(</a:t>
            </a:r>
            <a:r>
              <a:rPr lang="en-US" sz="2000" u="sng" dirty="0" err="1"/>
              <a:t>SaleNo</a:t>
            </a:r>
            <a:r>
              <a:rPr lang="en-US" sz="2000" u="sng" dirty="0"/>
              <a:t>, </a:t>
            </a:r>
            <a:r>
              <a:rPr lang="en-US" sz="2000" u="sng" dirty="0" err="1"/>
              <a:t>ProductNo</a:t>
            </a:r>
            <a:r>
              <a:rPr lang="en-US" sz="2000" u="sng" dirty="0"/>
              <a:t>, </a:t>
            </a:r>
            <a:r>
              <a:rPr lang="en-US" sz="2000" u="sng" dirty="0" err="1"/>
              <a:t>CustomerNo</a:t>
            </a:r>
            <a:r>
              <a:rPr lang="en-US" sz="2000" dirty="0"/>
              <a:t>, </a:t>
            </a:r>
            <a:r>
              <a:rPr lang="en-US" sz="2000" dirty="0" err="1"/>
              <a:t>SaleDate</a:t>
            </a:r>
            <a:r>
              <a:rPr lang="en-US" sz="2000" dirty="0"/>
              <a:t>, </a:t>
            </a:r>
            <a:r>
              <a:rPr lang="en-US" sz="2000" dirty="0" err="1"/>
              <a:t>QtyInStock</a:t>
            </a:r>
            <a:r>
              <a:rPr lang="en-US" sz="2000" dirty="0"/>
              <a:t>, Description, Price, </a:t>
            </a:r>
            <a:r>
              <a:rPr lang="en-US" sz="2000" dirty="0" err="1"/>
              <a:t>Customer_Name</a:t>
            </a:r>
            <a:r>
              <a:rPr lang="en-US" sz="2000" dirty="0"/>
              <a:t>, </a:t>
            </a:r>
            <a:r>
              <a:rPr lang="en-US" sz="2000" dirty="0" err="1"/>
              <a:t>CreditLimit</a:t>
            </a:r>
            <a:r>
              <a:rPr lang="en-US" sz="2000" dirty="0"/>
              <a:t>, Amount, </a:t>
            </a:r>
            <a:r>
              <a:rPr lang="en-US" sz="2000" dirty="0" err="1"/>
              <a:t>Salesrep</a:t>
            </a:r>
            <a:r>
              <a:rPr lang="en-US" sz="2000" dirty="0"/>
              <a:t>)</a:t>
            </a:r>
          </a:p>
        </p:txBody>
      </p:sp>
      <p:graphicFrame>
        <p:nvGraphicFramePr>
          <p:cNvPr id="11" name="Table 10">
            <a:extLst>
              <a:ext uri="{FF2B5EF4-FFF2-40B4-BE49-F238E27FC236}">
                <a16:creationId xmlns:a16="http://schemas.microsoft.com/office/drawing/2014/main" id="{3D5B73AA-01E9-4543-BD2F-8FB1E4FACC44}"/>
              </a:ext>
            </a:extLst>
          </p:cNvPr>
          <p:cNvGraphicFramePr>
            <a:graphicFrameLocks noGrp="1"/>
          </p:cNvGraphicFramePr>
          <p:nvPr/>
        </p:nvGraphicFramePr>
        <p:xfrm>
          <a:off x="333375" y="4155401"/>
          <a:ext cx="8599489" cy="2572424"/>
        </p:xfrm>
        <a:graphic>
          <a:graphicData uri="http://schemas.openxmlformats.org/drawingml/2006/table">
            <a:tbl>
              <a:tblPr firstRow="1" firstCol="1" bandRow="1"/>
              <a:tblGrid>
                <a:gridCol w="563802">
                  <a:extLst>
                    <a:ext uri="{9D8B030D-6E8A-4147-A177-3AD203B41FA5}">
                      <a16:colId xmlns:a16="http://schemas.microsoft.com/office/drawing/2014/main" val="3634866909"/>
                    </a:ext>
                  </a:extLst>
                </a:gridCol>
                <a:gridCol w="900264">
                  <a:extLst>
                    <a:ext uri="{9D8B030D-6E8A-4147-A177-3AD203B41FA5}">
                      <a16:colId xmlns:a16="http://schemas.microsoft.com/office/drawing/2014/main" val="4176574813"/>
                    </a:ext>
                  </a:extLst>
                </a:gridCol>
                <a:gridCol w="885108">
                  <a:extLst>
                    <a:ext uri="{9D8B030D-6E8A-4147-A177-3AD203B41FA5}">
                      <a16:colId xmlns:a16="http://schemas.microsoft.com/office/drawing/2014/main" val="3413149126"/>
                    </a:ext>
                  </a:extLst>
                </a:gridCol>
                <a:gridCol w="436492">
                  <a:extLst>
                    <a:ext uri="{9D8B030D-6E8A-4147-A177-3AD203B41FA5}">
                      <a16:colId xmlns:a16="http://schemas.microsoft.com/office/drawing/2014/main" val="649026262"/>
                    </a:ext>
                  </a:extLst>
                </a:gridCol>
                <a:gridCol w="654737">
                  <a:extLst>
                    <a:ext uri="{9D8B030D-6E8A-4147-A177-3AD203B41FA5}">
                      <a16:colId xmlns:a16="http://schemas.microsoft.com/office/drawing/2014/main" val="4081517296"/>
                    </a:ext>
                  </a:extLst>
                </a:gridCol>
                <a:gridCol w="1103354">
                  <a:extLst>
                    <a:ext uri="{9D8B030D-6E8A-4147-A177-3AD203B41FA5}">
                      <a16:colId xmlns:a16="http://schemas.microsoft.com/office/drawing/2014/main" val="3577044718"/>
                    </a:ext>
                  </a:extLst>
                </a:gridCol>
                <a:gridCol w="812359">
                  <a:extLst>
                    <a:ext uri="{9D8B030D-6E8A-4147-A177-3AD203B41FA5}">
                      <a16:colId xmlns:a16="http://schemas.microsoft.com/office/drawing/2014/main" val="2289919263"/>
                    </a:ext>
                  </a:extLst>
                </a:gridCol>
                <a:gridCol w="739610">
                  <a:extLst>
                    <a:ext uri="{9D8B030D-6E8A-4147-A177-3AD203B41FA5}">
                      <a16:colId xmlns:a16="http://schemas.microsoft.com/office/drawing/2014/main" val="1565915294"/>
                    </a:ext>
                  </a:extLst>
                </a:gridCol>
                <a:gridCol w="739610">
                  <a:extLst>
                    <a:ext uri="{9D8B030D-6E8A-4147-A177-3AD203B41FA5}">
                      <a16:colId xmlns:a16="http://schemas.microsoft.com/office/drawing/2014/main" val="816195333"/>
                    </a:ext>
                  </a:extLst>
                </a:gridCol>
                <a:gridCol w="1254913">
                  <a:extLst>
                    <a:ext uri="{9D8B030D-6E8A-4147-A177-3AD203B41FA5}">
                      <a16:colId xmlns:a16="http://schemas.microsoft.com/office/drawing/2014/main" val="1416750868"/>
                    </a:ext>
                  </a:extLst>
                </a:gridCol>
                <a:gridCol w="509240">
                  <a:extLst>
                    <a:ext uri="{9D8B030D-6E8A-4147-A177-3AD203B41FA5}">
                      <a16:colId xmlns:a16="http://schemas.microsoft.com/office/drawing/2014/main" val="4016761913"/>
                    </a:ext>
                  </a:extLst>
                </a:gridCol>
              </a:tblGrid>
              <a:tr h="508671">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Sale No</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SaleDate</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ProductNo</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Qty</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Amount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Salesrep</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CustomerNo</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First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Last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Address</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CreditLimit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49978478"/>
                  </a:ext>
                </a:extLst>
              </a:tr>
              <a:tr h="337046">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12 2002</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AQX88916</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23.95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Dave Williams</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4649-4673</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Richard</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Johnston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14 West Avenue</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1000</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512329316"/>
                  </a:ext>
                </a:extLst>
              </a:tr>
              <a:tr h="337046">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12346</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12 2002</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AQX88916</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7</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167.65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Sara Thompson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1113-7741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Wayne</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Jones</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42 York Street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73686634"/>
                  </a:ext>
                </a:extLst>
              </a:tr>
              <a:tr h="337046">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12347</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13 2002</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AHL46785</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3705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5001.75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Li Qing</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1166-3461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Amelia</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Waverley</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995 Forth Street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3491820568"/>
                  </a:ext>
                </a:extLst>
              </a:tr>
              <a:tr h="238523">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12348</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13 2002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DHU69863</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50</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118.5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Sara Thompson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&lt;</a:t>
                      </a:r>
                      <a:r>
                        <a:rPr lang="en-US" sz="1000" b="1" i="1" u="none" strike="noStrike" kern="1200">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&lt;</a:t>
                      </a:r>
                      <a:r>
                        <a:rPr lang="en-US" sz="1000" b="1" i="1" u="none" strike="noStrike" kern="1200">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&lt;</a:t>
                      </a:r>
                      <a:r>
                        <a:rPr lang="en-US" sz="1000" b="1" i="1" u="none" strike="noStrike" kern="1200">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&lt;</a:t>
                      </a:r>
                      <a:r>
                        <a:rPr lang="en-US" sz="1000" b="1" i="1" u="none" strike="noStrike" kern="1200">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24983069"/>
                  </a:ext>
                </a:extLst>
              </a:tr>
              <a:tr h="238523">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12349</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14 2002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DHU69863</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940</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2227.8</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Sara Thompson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1166-3461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Amelia</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Waverley</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995 Forth Street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405715733"/>
                  </a:ext>
                </a:extLst>
              </a:tr>
              <a:tr h="238523">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12350</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14 2002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DHU69863</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42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99.54</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Sara Thompson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7671-3496</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Antonio</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Gonzales</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55B Granary Lane</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72171564"/>
                  </a:ext>
                </a:extLst>
              </a:tr>
              <a:tr h="337046">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12351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14 2002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AQX88916</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55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1317.25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Dave Williams</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6794-1674</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Diane</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Adams</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364 East Road</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dirty="0">
                          <a:solidFill>
                            <a:srgbClr val="000000"/>
                          </a:solidFill>
                          <a:effectLst/>
                          <a:latin typeface="Helvetica" panose="020B0604020202020204" pitchFamily="34" charset="0"/>
                        </a:rPr>
                        <a:t>150</a:t>
                      </a:r>
                      <a:endParaRPr lang="en-US" sz="1700" b="0" i="0" u="none" strike="noStrike" dirty="0">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1359192006"/>
                  </a:ext>
                </a:extLst>
              </a:tr>
            </a:tbl>
          </a:graphicData>
        </a:graphic>
      </p:graphicFrame>
    </p:spTree>
    <p:extLst>
      <p:ext uri="{BB962C8B-B14F-4D97-AF65-F5344CB8AC3E}">
        <p14:creationId xmlns:p14="http://schemas.microsoft.com/office/powerpoint/2010/main" val="37214527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58D47E9-91E9-482F-99AF-121B4E079C36}"/>
              </a:ext>
            </a:extLst>
          </p:cNvPr>
          <p:cNvSpPr>
            <a:spLocks noChangeArrowheads="1"/>
          </p:cNvSpPr>
          <p:nvPr/>
        </p:nvSpPr>
        <p:spPr bwMode="auto">
          <a:xfrm>
            <a:off x="0" y="0"/>
            <a:ext cx="9144000" cy="15875"/>
          </a:xfrm>
          <a:prstGeom prst="rect">
            <a:avLst/>
          </a:prstGeom>
          <a:solidFill>
            <a:srgbClr val="000000"/>
          </a:solidFill>
          <a:ln w="9525">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6" name="Title 5">
            <a:extLst>
              <a:ext uri="{FF2B5EF4-FFF2-40B4-BE49-F238E27FC236}">
                <a16:creationId xmlns:a16="http://schemas.microsoft.com/office/drawing/2014/main" id="{B50BDF58-3945-4703-A505-AFBEF21903A3}"/>
              </a:ext>
            </a:extLst>
          </p:cNvPr>
          <p:cNvSpPr>
            <a:spLocks noGrp="1"/>
          </p:cNvSpPr>
          <p:nvPr>
            <p:ph type="title"/>
          </p:nvPr>
        </p:nvSpPr>
        <p:spPr>
          <a:xfrm>
            <a:off x="1120859" y="-1137321"/>
            <a:ext cx="7772400" cy="1984379"/>
          </a:xfrm>
        </p:spPr>
        <p:txBody>
          <a:bodyPr>
            <a:noAutofit/>
          </a:bodyPr>
          <a:lstStyle/>
          <a:p>
            <a:pPr algn="r" rtl="1"/>
            <a:r>
              <a:rPr lang="fa-IR" sz="2000" b="0" dirty="0">
                <a:cs typeface="B Nazanin" panose="00000400000000000000" pitchFamily="2" charset="-78"/>
              </a:rPr>
              <a:t>با جدا کردن اين ستون ها به جداول جداگانه به فرم دوم نرمال می رسيم.</a:t>
            </a:r>
            <a:endParaRPr lang="en-US" sz="2000" dirty="0">
              <a:cs typeface="B Nazanin" panose="00000400000000000000" pitchFamily="2" charset="-78"/>
            </a:endParaRPr>
          </a:p>
        </p:txBody>
      </p:sp>
      <p:sp>
        <p:nvSpPr>
          <p:cNvPr id="9" name="Slide Number Placeholder 8">
            <a:extLst>
              <a:ext uri="{FF2B5EF4-FFF2-40B4-BE49-F238E27FC236}">
                <a16:creationId xmlns:a16="http://schemas.microsoft.com/office/drawing/2014/main" id="{E8A1EF70-2383-49DE-A504-D1E123EED235}"/>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29</a:t>
            </a:fld>
            <a:endParaRPr lang="en-US"/>
          </a:p>
        </p:txBody>
      </p:sp>
      <p:sp>
        <p:nvSpPr>
          <p:cNvPr id="3" name="Rectangle 2">
            <a:extLst>
              <a:ext uri="{FF2B5EF4-FFF2-40B4-BE49-F238E27FC236}">
                <a16:creationId xmlns:a16="http://schemas.microsoft.com/office/drawing/2014/main" id="{86CFD693-8CB8-40E1-BE3A-00D16DFB52F1}"/>
              </a:ext>
            </a:extLst>
          </p:cNvPr>
          <p:cNvSpPr/>
          <p:nvPr/>
        </p:nvSpPr>
        <p:spPr>
          <a:xfrm>
            <a:off x="272255" y="1285435"/>
            <a:ext cx="8599488" cy="1015663"/>
          </a:xfrm>
          <a:prstGeom prst="rect">
            <a:avLst/>
          </a:prstGeom>
        </p:spPr>
        <p:txBody>
          <a:bodyPr wrap="square">
            <a:spAutoFit/>
          </a:bodyPr>
          <a:lstStyle/>
          <a:p>
            <a:pPr marL="285750" indent="-285750">
              <a:buFont typeface="Arial" panose="020B0604020202020204" pitchFamily="34" charset="0"/>
              <a:buChar char="•"/>
            </a:pPr>
            <a:r>
              <a:rPr lang="en-US" sz="2000" dirty="0"/>
              <a:t>PRODUCT(</a:t>
            </a:r>
            <a:r>
              <a:rPr lang="en-US" sz="2000" u="sng" dirty="0" err="1"/>
              <a:t>ProductNo</a:t>
            </a:r>
            <a:r>
              <a:rPr lang="en-US" sz="2000" dirty="0"/>
              <a:t>, Description, Price, </a:t>
            </a:r>
            <a:r>
              <a:rPr lang="en-US" sz="2000" dirty="0" err="1"/>
              <a:t>QtyInStock</a:t>
            </a:r>
            <a:r>
              <a:rPr lang="en-US" sz="2000" dirty="0"/>
              <a:t>)</a:t>
            </a:r>
            <a:endParaRPr lang="fa-IR" sz="2000" dirty="0"/>
          </a:p>
          <a:p>
            <a:pPr marL="285750" indent="-285750">
              <a:buFont typeface="Arial" panose="020B0604020202020204" pitchFamily="34" charset="0"/>
              <a:buChar char="•"/>
            </a:pPr>
            <a:r>
              <a:rPr lang="en-US" sz="2000" dirty="0"/>
              <a:t>CUSTOMER(</a:t>
            </a:r>
            <a:r>
              <a:rPr lang="en-US" sz="2000" u="sng" dirty="0" err="1"/>
              <a:t>CustomerNo</a:t>
            </a:r>
            <a:r>
              <a:rPr lang="en-US" sz="2000" dirty="0"/>
              <a:t>, </a:t>
            </a:r>
            <a:r>
              <a:rPr lang="en-US" sz="2000" dirty="0" err="1"/>
              <a:t>Customer_Name</a:t>
            </a:r>
            <a:r>
              <a:rPr lang="en-US" sz="2000" dirty="0"/>
              <a:t>, </a:t>
            </a:r>
            <a:r>
              <a:rPr lang="en-US" sz="2000" dirty="0" err="1"/>
              <a:t>CreditLimit</a:t>
            </a:r>
            <a:r>
              <a:rPr lang="en-US" sz="2000" dirty="0"/>
              <a:t>)</a:t>
            </a:r>
            <a:endParaRPr lang="fa-IR" sz="2000" dirty="0"/>
          </a:p>
          <a:p>
            <a:pPr marL="285750" indent="-285750">
              <a:buFont typeface="Arial" panose="020B0604020202020204" pitchFamily="34" charset="0"/>
              <a:buChar char="•"/>
            </a:pPr>
            <a:r>
              <a:rPr lang="en-US" sz="2000" dirty="0"/>
              <a:t>SALE(</a:t>
            </a:r>
            <a:r>
              <a:rPr lang="en-US" sz="2000" u="sng" dirty="0" err="1"/>
              <a:t>SaleNo</a:t>
            </a:r>
            <a:r>
              <a:rPr lang="en-US" sz="2000" dirty="0"/>
              <a:t>, Date, </a:t>
            </a:r>
            <a:r>
              <a:rPr lang="en-US" sz="2000" dirty="0" err="1"/>
              <a:t>CustomerNo</a:t>
            </a:r>
            <a:r>
              <a:rPr lang="en-US" sz="2000" dirty="0"/>
              <a:t>, </a:t>
            </a:r>
            <a:r>
              <a:rPr lang="en-US" sz="2000" dirty="0" err="1"/>
              <a:t>ProductNo</a:t>
            </a:r>
            <a:r>
              <a:rPr lang="en-US" sz="2000" dirty="0"/>
              <a:t>, Qty, Amount, </a:t>
            </a:r>
            <a:r>
              <a:rPr lang="en-US" sz="2000" dirty="0" err="1"/>
              <a:t>Salesrep</a:t>
            </a:r>
            <a:r>
              <a:rPr lang="en-US" sz="2000" dirty="0"/>
              <a:t>)</a:t>
            </a:r>
          </a:p>
        </p:txBody>
      </p:sp>
      <p:graphicFrame>
        <p:nvGraphicFramePr>
          <p:cNvPr id="4" name="Table 3">
            <a:extLst>
              <a:ext uri="{FF2B5EF4-FFF2-40B4-BE49-F238E27FC236}">
                <a16:creationId xmlns:a16="http://schemas.microsoft.com/office/drawing/2014/main" id="{98AD0AB8-E44D-4320-BF91-CD914F19F5F1}"/>
              </a:ext>
            </a:extLst>
          </p:cNvPr>
          <p:cNvGraphicFramePr>
            <a:graphicFrameLocks noGrp="1"/>
          </p:cNvGraphicFramePr>
          <p:nvPr/>
        </p:nvGraphicFramePr>
        <p:xfrm>
          <a:off x="272255" y="3662620"/>
          <a:ext cx="8599489" cy="2572424"/>
        </p:xfrm>
        <a:graphic>
          <a:graphicData uri="http://schemas.openxmlformats.org/drawingml/2006/table">
            <a:tbl>
              <a:tblPr firstRow="1" firstCol="1" bandRow="1"/>
              <a:tblGrid>
                <a:gridCol w="563802">
                  <a:extLst>
                    <a:ext uri="{9D8B030D-6E8A-4147-A177-3AD203B41FA5}">
                      <a16:colId xmlns:a16="http://schemas.microsoft.com/office/drawing/2014/main" val="3944945673"/>
                    </a:ext>
                  </a:extLst>
                </a:gridCol>
                <a:gridCol w="900264">
                  <a:extLst>
                    <a:ext uri="{9D8B030D-6E8A-4147-A177-3AD203B41FA5}">
                      <a16:colId xmlns:a16="http://schemas.microsoft.com/office/drawing/2014/main" val="2714837217"/>
                    </a:ext>
                  </a:extLst>
                </a:gridCol>
                <a:gridCol w="885108">
                  <a:extLst>
                    <a:ext uri="{9D8B030D-6E8A-4147-A177-3AD203B41FA5}">
                      <a16:colId xmlns:a16="http://schemas.microsoft.com/office/drawing/2014/main" val="194842666"/>
                    </a:ext>
                  </a:extLst>
                </a:gridCol>
                <a:gridCol w="436492">
                  <a:extLst>
                    <a:ext uri="{9D8B030D-6E8A-4147-A177-3AD203B41FA5}">
                      <a16:colId xmlns:a16="http://schemas.microsoft.com/office/drawing/2014/main" val="538555613"/>
                    </a:ext>
                  </a:extLst>
                </a:gridCol>
                <a:gridCol w="654737">
                  <a:extLst>
                    <a:ext uri="{9D8B030D-6E8A-4147-A177-3AD203B41FA5}">
                      <a16:colId xmlns:a16="http://schemas.microsoft.com/office/drawing/2014/main" val="2034242651"/>
                    </a:ext>
                  </a:extLst>
                </a:gridCol>
                <a:gridCol w="1103354">
                  <a:extLst>
                    <a:ext uri="{9D8B030D-6E8A-4147-A177-3AD203B41FA5}">
                      <a16:colId xmlns:a16="http://schemas.microsoft.com/office/drawing/2014/main" val="4222582750"/>
                    </a:ext>
                  </a:extLst>
                </a:gridCol>
                <a:gridCol w="812359">
                  <a:extLst>
                    <a:ext uri="{9D8B030D-6E8A-4147-A177-3AD203B41FA5}">
                      <a16:colId xmlns:a16="http://schemas.microsoft.com/office/drawing/2014/main" val="472645087"/>
                    </a:ext>
                  </a:extLst>
                </a:gridCol>
                <a:gridCol w="739610">
                  <a:extLst>
                    <a:ext uri="{9D8B030D-6E8A-4147-A177-3AD203B41FA5}">
                      <a16:colId xmlns:a16="http://schemas.microsoft.com/office/drawing/2014/main" val="109886400"/>
                    </a:ext>
                  </a:extLst>
                </a:gridCol>
                <a:gridCol w="739610">
                  <a:extLst>
                    <a:ext uri="{9D8B030D-6E8A-4147-A177-3AD203B41FA5}">
                      <a16:colId xmlns:a16="http://schemas.microsoft.com/office/drawing/2014/main" val="1703494103"/>
                    </a:ext>
                  </a:extLst>
                </a:gridCol>
                <a:gridCol w="1254913">
                  <a:extLst>
                    <a:ext uri="{9D8B030D-6E8A-4147-A177-3AD203B41FA5}">
                      <a16:colId xmlns:a16="http://schemas.microsoft.com/office/drawing/2014/main" val="3278350128"/>
                    </a:ext>
                  </a:extLst>
                </a:gridCol>
                <a:gridCol w="509240">
                  <a:extLst>
                    <a:ext uri="{9D8B030D-6E8A-4147-A177-3AD203B41FA5}">
                      <a16:colId xmlns:a16="http://schemas.microsoft.com/office/drawing/2014/main" val="805615455"/>
                    </a:ext>
                  </a:extLst>
                </a:gridCol>
              </a:tblGrid>
              <a:tr h="508671">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Sale No</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SaleDate</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ProductNo</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Qty</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Amount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Salesrep</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CustomerNo</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First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Last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Address</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CreditLimit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45776751"/>
                  </a:ext>
                </a:extLst>
              </a:tr>
              <a:tr h="337046">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12 2002</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AQX88916</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23.95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Dave Williams</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4649-4673</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Richard</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Johnston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14 West Avenue</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1000</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3014252598"/>
                  </a:ext>
                </a:extLst>
              </a:tr>
              <a:tr h="337046">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12346</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12 2002</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AQX88916</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7</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167.65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Sara Thompson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1113-7741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dirty="0">
                          <a:solidFill>
                            <a:srgbClr val="000000"/>
                          </a:solidFill>
                          <a:effectLst/>
                          <a:latin typeface="Helvetica" panose="020B0604020202020204" pitchFamily="34" charset="0"/>
                        </a:rPr>
                        <a:t>Wayne</a:t>
                      </a:r>
                      <a:endParaRPr lang="en-US" sz="1700" b="0" i="0" u="none" strike="noStrike" dirty="0">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Jones</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42 York Street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38569920"/>
                  </a:ext>
                </a:extLst>
              </a:tr>
              <a:tr h="337046">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12347</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13 2002</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AHL46785</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3705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5001.75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Li Qing</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1166-3461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Amelia</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Waverley</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995 Forth Street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3276016436"/>
                  </a:ext>
                </a:extLst>
              </a:tr>
              <a:tr h="238523">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12348</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13 2002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DHU69863</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50</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118.5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Sara Thompson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&lt;</a:t>
                      </a:r>
                      <a:r>
                        <a:rPr lang="en-US" sz="1000" b="1" i="1" u="none" strike="noStrike" kern="1200">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&lt;</a:t>
                      </a:r>
                      <a:r>
                        <a:rPr lang="en-US" sz="1000" b="1" i="1" u="none" strike="noStrike" kern="1200">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&lt;</a:t>
                      </a:r>
                      <a:r>
                        <a:rPr lang="en-US" sz="1000" b="1" i="1" u="none" strike="noStrike" kern="1200">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&lt;</a:t>
                      </a:r>
                      <a:r>
                        <a:rPr lang="en-US" sz="1000" b="1" i="1" u="none" strike="noStrike" kern="1200">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821485268"/>
                  </a:ext>
                </a:extLst>
              </a:tr>
              <a:tr h="238523">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12349</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14 2002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DHU69863</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940</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2227.8</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Sara Thompson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1166-3461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Amelia</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Waverley</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995 Forth Street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3978466850"/>
                  </a:ext>
                </a:extLst>
              </a:tr>
              <a:tr h="238523">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12350</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14 2002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DHU69863</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42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99.54</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Sara Thompson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7671-3496</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Antonio</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Gonzales</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55B Granary Lane</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880675617"/>
                  </a:ext>
                </a:extLst>
              </a:tr>
              <a:tr h="337046">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12351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14 2002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AQX88916</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55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1317.25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Dave Williams</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6794-1674</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Diane</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Adams</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364 East Road</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dirty="0">
                          <a:solidFill>
                            <a:srgbClr val="000000"/>
                          </a:solidFill>
                          <a:effectLst/>
                          <a:latin typeface="Helvetica" panose="020B0604020202020204" pitchFamily="34" charset="0"/>
                        </a:rPr>
                        <a:t>150</a:t>
                      </a:r>
                      <a:endParaRPr lang="en-US" sz="1700" b="0" i="0" u="none" strike="noStrike" dirty="0">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1544192728"/>
                  </a:ext>
                </a:extLst>
              </a:tr>
            </a:tbl>
          </a:graphicData>
        </a:graphic>
      </p:graphicFrame>
    </p:spTree>
    <p:extLst>
      <p:ext uri="{BB962C8B-B14F-4D97-AF65-F5344CB8AC3E}">
        <p14:creationId xmlns:p14="http://schemas.microsoft.com/office/powerpoint/2010/main" val="10633492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11" name="Title 1"/>
          <p:cNvSpPr>
            <a:spLocks noGrp="1"/>
          </p:cNvSpPr>
          <p:nvPr>
            <p:ph type="title"/>
          </p:nvPr>
        </p:nvSpPr>
        <p:spPr/>
        <p:txBody>
          <a:bodyPr anchor="ctr"/>
          <a:lstStyle/>
          <a:p>
            <a:pPr algn="ctr" rtl="1"/>
            <a:r>
              <a:rPr lang="fa-IR" altLang="en-US" sz="4400" dirty="0">
                <a:latin typeface="Titr" pitchFamily="2" charset="-78"/>
                <a:ea typeface="2  Titr"/>
                <a:cs typeface="2  Titr"/>
              </a:rPr>
              <a:t>جدول نرمال ۲</a:t>
            </a:r>
            <a:endParaRPr lang="en-US" altLang="en-US" sz="4400" b="1" dirty="0">
              <a:latin typeface="Titr" pitchFamily="2" charset="-78"/>
              <a:ea typeface="2  Titr"/>
              <a:cs typeface="2  Titr"/>
            </a:endParaRPr>
          </a:p>
        </p:txBody>
      </p:sp>
      <p:sp>
        <p:nvSpPr>
          <p:cNvPr id="145410" name="Content Placeholder 2"/>
          <p:cNvSpPr>
            <a:spLocks noGrp="1"/>
          </p:cNvSpPr>
          <p:nvPr>
            <p:ph idx="1"/>
          </p:nvPr>
        </p:nvSpPr>
        <p:spPr/>
        <p:txBody>
          <a:bodyPr/>
          <a:lstStyle/>
          <a:p>
            <a:pPr algn="just" rtl="1"/>
            <a:r>
              <a:rPr lang="fa-IR" altLang="en-US" sz="2800" dirty="0">
                <a:ea typeface="Majalla UI"/>
                <a:cs typeface="B Nazanin" panose="00000400000000000000" pitchFamily="2" charset="-78"/>
              </a:rPr>
              <a:t>یک جدول نرمال2 است اگر:</a:t>
            </a:r>
          </a:p>
          <a:p>
            <a:pPr lvl="1" algn="just" rtl="1"/>
            <a:r>
              <a:rPr lang="fa-IR" altLang="en-US" sz="2400" dirty="0">
                <a:ea typeface="Majalla UI"/>
                <a:cs typeface="B Nazanin" panose="00000400000000000000" pitchFamily="2" charset="-78"/>
              </a:rPr>
              <a:t>نرمال1 باشد </a:t>
            </a:r>
          </a:p>
          <a:p>
            <a:pPr lvl="1" algn="just" rtl="1"/>
            <a:r>
              <a:rPr lang="fa-IR" altLang="en-US" sz="2400" dirty="0">
                <a:ea typeface="Majalla UI"/>
                <a:cs typeface="B Nazanin" panose="00000400000000000000" pitchFamily="2" charset="-78"/>
              </a:rPr>
              <a:t>در آن هیچ وابستگی جزئی به کلید اصلی وجود نداشته باشد. به عبارت دیگر، هیچ ویژگی جدول تنها به قسمتی از کلید اصلی وابستگی نداشته باشد.</a:t>
            </a:r>
          </a:p>
          <a:p>
            <a:pPr lvl="1" algn="just" rtl="1"/>
            <a:endParaRPr lang="fa-IR" altLang="en-US" dirty="0">
              <a:ea typeface="Majalla UI"/>
              <a:cs typeface="B Nazanin" panose="00000400000000000000" pitchFamily="2" charset="-78"/>
            </a:endParaRPr>
          </a:p>
          <a:p>
            <a:pPr algn="just" rtl="1"/>
            <a:endParaRPr lang="fa-IR" altLang="en-US" dirty="0">
              <a:ea typeface="Majalla UI"/>
              <a:cs typeface="B Nazanin" panose="00000400000000000000" pitchFamily="2" charset="-78"/>
            </a:endParaRPr>
          </a:p>
          <a:p>
            <a:pPr algn="just" rtl="1"/>
            <a:endParaRPr lang="fa-IR" altLang="en-US" dirty="0">
              <a:ea typeface="Majalla UI"/>
              <a:cs typeface="B Nazanin" panose="00000400000000000000" pitchFamily="2" charset="-78"/>
            </a:endParaRPr>
          </a:p>
          <a:p>
            <a:pPr algn="just" rtl="1"/>
            <a:endParaRPr lang="fa-IR" altLang="en-US" dirty="0">
              <a:ea typeface="Majalla UI"/>
              <a:cs typeface="B Nazanin" panose="00000400000000000000" pitchFamily="2" charset="-78"/>
            </a:endParaRPr>
          </a:p>
          <a:p>
            <a:pPr algn="just" rtl="1"/>
            <a:endParaRPr lang="fa-IR" altLang="en-US" dirty="0">
              <a:ea typeface="Majalla UI"/>
              <a:cs typeface="B Nazanin" panose="00000400000000000000" pitchFamily="2" charset="-78"/>
            </a:endParaRPr>
          </a:p>
          <a:p>
            <a:pPr algn="just" rtl="1"/>
            <a:endParaRPr lang="fa-IR" altLang="en-US" dirty="0">
              <a:ea typeface="Majalla UI"/>
              <a:cs typeface="B Nazanin" panose="00000400000000000000" pitchFamily="2" charset="-78"/>
            </a:endParaRPr>
          </a:p>
        </p:txBody>
      </p:sp>
      <p:sp>
        <p:nvSpPr>
          <p:cNvPr id="3" name="Slide Number Placeholder 2">
            <a:extLst>
              <a:ext uri="{FF2B5EF4-FFF2-40B4-BE49-F238E27FC236}">
                <a16:creationId xmlns:a16="http://schemas.microsoft.com/office/drawing/2014/main" id="{20A4AFE0-6ACD-4C94-967B-D87C9FF4C0D7}"/>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30</a:t>
            </a:fld>
            <a:endParaRPr lang="en-US"/>
          </a:p>
        </p:txBody>
      </p:sp>
      <p:graphicFrame>
        <p:nvGraphicFramePr>
          <p:cNvPr id="5" name="Table 4"/>
          <p:cNvGraphicFramePr>
            <a:graphicFrameLocks noGrp="1"/>
          </p:cNvGraphicFramePr>
          <p:nvPr/>
        </p:nvGraphicFramePr>
        <p:xfrm>
          <a:off x="948130" y="3177058"/>
          <a:ext cx="7238998" cy="2225676"/>
        </p:xfrm>
        <a:graphic>
          <a:graphicData uri="http://schemas.openxmlformats.org/drawingml/2006/table">
            <a:tbl>
              <a:tblPr firstRow="1" bandRow="1">
                <a:tableStyleId>{616DA210-FB5B-4158-B5E0-FEB733F419BA}</a:tableStyleId>
              </a:tblPr>
              <a:tblGrid>
                <a:gridCol w="774647">
                  <a:extLst>
                    <a:ext uri="{9D8B030D-6E8A-4147-A177-3AD203B41FA5}">
                      <a16:colId xmlns:a16="http://schemas.microsoft.com/office/drawing/2014/main" val="20000"/>
                    </a:ext>
                  </a:extLst>
                </a:gridCol>
                <a:gridCol w="852112">
                  <a:extLst>
                    <a:ext uri="{9D8B030D-6E8A-4147-A177-3AD203B41FA5}">
                      <a16:colId xmlns:a16="http://schemas.microsoft.com/office/drawing/2014/main" val="20001"/>
                    </a:ext>
                  </a:extLst>
                </a:gridCol>
                <a:gridCol w="852112">
                  <a:extLst>
                    <a:ext uri="{9D8B030D-6E8A-4147-A177-3AD203B41FA5}">
                      <a16:colId xmlns:a16="http://schemas.microsoft.com/office/drawing/2014/main" val="20002"/>
                    </a:ext>
                  </a:extLst>
                </a:gridCol>
                <a:gridCol w="1712128">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990599">
                  <a:extLst>
                    <a:ext uri="{9D8B030D-6E8A-4147-A177-3AD203B41FA5}">
                      <a16:colId xmlns:a16="http://schemas.microsoft.com/office/drawing/2014/main" val="20006"/>
                    </a:ext>
                  </a:extLst>
                </a:gridCol>
              </a:tblGrid>
              <a:tr h="370946">
                <a:tc>
                  <a:txBody>
                    <a:bodyPr/>
                    <a:lstStyle/>
                    <a:p>
                      <a:pPr algn="ctr"/>
                      <a:r>
                        <a:rPr lang="en-US" sz="1800" dirty="0"/>
                        <a:t>S#</a:t>
                      </a:r>
                    </a:p>
                  </a:txBody>
                  <a:tcPr marT="45733" marB="45733" anchor="ctr"/>
                </a:tc>
                <a:tc>
                  <a:txBody>
                    <a:bodyPr/>
                    <a:lstStyle/>
                    <a:p>
                      <a:pPr algn="ctr"/>
                      <a:r>
                        <a:rPr lang="en-US" sz="1800" dirty="0"/>
                        <a:t>Name</a:t>
                      </a:r>
                    </a:p>
                  </a:txBody>
                  <a:tcPr marT="45733" marB="45733" anchor="ctr"/>
                </a:tc>
                <a:tc>
                  <a:txBody>
                    <a:bodyPr/>
                    <a:lstStyle/>
                    <a:p>
                      <a:pPr algn="ctr"/>
                      <a:r>
                        <a:rPr lang="en-US" sz="1800" dirty="0" err="1"/>
                        <a:t>Crs</a:t>
                      </a:r>
                      <a:r>
                        <a:rPr lang="en-US" sz="1800" dirty="0"/>
                        <a:t>#</a:t>
                      </a:r>
                    </a:p>
                  </a:txBody>
                  <a:tcPr marT="45733" marB="45733" anchor="ctr"/>
                </a:tc>
                <a:tc>
                  <a:txBody>
                    <a:bodyPr/>
                    <a:lstStyle/>
                    <a:p>
                      <a:pPr algn="ctr"/>
                      <a:r>
                        <a:rPr lang="en-US" sz="1800" dirty="0" err="1"/>
                        <a:t>Cname</a:t>
                      </a:r>
                      <a:endParaRPr lang="en-US" sz="1800" dirty="0"/>
                    </a:p>
                  </a:txBody>
                  <a:tcPr marT="45733" marB="45733" anchor="ctr"/>
                </a:tc>
                <a:tc>
                  <a:txBody>
                    <a:bodyPr/>
                    <a:lstStyle/>
                    <a:p>
                      <a:pPr algn="ctr"/>
                      <a:r>
                        <a:rPr lang="en-US" sz="1800" dirty="0"/>
                        <a:t>Unit</a:t>
                      </a:r>
                    </a:p>
                  </a:txBody>
                  <a:tcPr marT="45733" marB="45733" anchor="ctr"/>
                </a:tc>
                <a:tc>
                  <a:txBody>
                    <a:bodyPr/>
                    <a:lstStyle/>
                    <a:p>
                      <a:pPr algn="ctr"/>
                      <a:r>
                        <a:rPr lang="en-US" sz="1800" dirty="0"/>
                        <a:t>Grade</a:t>
                      </a:r>
                    </a:p>
                  </a:txBody>
                  <a:tcPr marT="45733" marB="45733" anchor="ctr"/>
                </a:tc>
                <a:tc>
                  <a:txBody>
                    <a:bodyPr/>
                    <a:lstStyle/>
                    <a:p>
                      <a:pPr algn="ctr"/>
                      <a:r>
                        <a:rPr lang="en-US" sz="1800" dirty="0"/>
                        <a:t>Term</a:t>
                      </a:r>
                    </a:p>
                  </a:txBody>
                  <a:tcPr marT="45733" marB="45733" anchor="ctr"/>
                </a:tc>
                <a:extLst>
                  <a:ext uri="{0D108BD9-81ED-4DB2-BD59-A6C34878D82A}">
                    <a16:rowId xmlns:a16="http://schemas.microsoft.com/office/drawing/2014/main" val="10000"/>
                  </a:ext>
                </a:extLst>
              </a:tr>
              <a:tr h="370946">
                <a:tc>
                  <a:txBody>
                    <a:bodyPr/>
                    <a:lstStyle/>
                    <a:p>
                      <a:pPr algn="ctr"/>
                      <a:r>
                        <a:rPr lang="fa-IR" sz="1800" dirty="0"/>
                        <a:t>7801</a:t>
                      </a:r>
                      <a:endParaRPr lang="en-US" sz="1800" dirty="0"/>
                    </a:p>
                  </a:txBody>
                  <a:tcPr marT="45733" marB="45733"/>
                </a:tc>
                <a:tc>
                  <a:txBody>
                    <a:bodyPr/>
                    <a:lstStyle/>
                    <a:p>
                      <a:pPr algn="ctr"/>
                      <a:r>
                        <a:rPr lang="fa-IR" sz="1800" dirty="0"/>
                        <a:t>علی</a:t>
                      </a:r>
                      <a:endParaRPr lang="en-US" sz="1800" dirty="0"/>
                    </a:p>
                  </a:txBody>
                  <a:tcPr marT="45733" marB="45733"/>
                </a:tc>
                <a:tc>
                  <a:txBody>
                    <a:bodyPr/>
                    <a:lstStyle/>
                    <a:p>
                      <a:pPr algn="ctr"/>
                      <a:r>
                        <a:rPr lang="fa-IR" sz="1800" dirty="0"/>
                        <a:t>1400</a:t>
                      </a:r>
                      <a:endParaRPr lang="en-US" sz="1800" dirty="0"/>
                    </a:p>
                  </a:txBody>
                  <a:tcPr marT="45733" marB="45733"/>
                </a:tc>
                <a:tc>
                  <a:txBody>
                    <a:bodyPr/>
                    <a:lstStyle/>
                    <a:p>
                      <a:pPr algn="ctr"/>
                      <a:r>
                        <a:rPr lang="fa-IR" sz="1800" dirty="0"/>
                        <a:t>پایگاه داده</a:t>
                      </a:r>
                      <a:endParaRPr lang="en-US" sz="1800" dirty="0"/>
                    </a:p>
                  </a:txBody>
                  <a:tcPr marT="45733" marB="45733"/>
                </a:tc>
                <a:tc>
                  <a:txBody>
                    <a:bodyPr/>
                    <a:lstStyle/>
                    <a:p>
                      <a:pPr algn="ctr"/>
                      <a:r>
                        <a:rPr lang="en-US" sz="1800" dirty="0"/>
                        <a:t>3</a:t>
                      </a:r>
                    </a:p>
                  </a:txBody>
                  <a:tcPr marT="45733" marB="45733"/>
                </a:tc>
                <a:tc>
                  <a:txBody>
                    <a:bodyPr/>
                    <a:lstStyle/>
                    <a:p>
                      <a:pPr algn="ctr"/>
                      <a:r>
                        <a:rPr lang="fa-IR" sz="1800" dirty="0"/>
                        <a:t>20</a:t>
                      </a:r>
                      <a:endParaRPr lang="en-US" sz="1800" dirty="0"/>
                    </a:p>
                  </a:txBody>
                  <a:tcPr marT="45733" marB="45733"/>
                </a:tc>
                <a:tc>
                  <a:txBody>
                    <a:bodyPr/>
                    <a:lstStyle/>
                    <a:p>
                      <a:pPr algn="ctr" rtl="1"/>
                      <a:r>
                        <a:rPr lang="fa-IR" sz="1800" dirty="0"/>
                        <a:t>2-79</a:t>
                      </a:r>
                    </a:p>
                  </a:txBody>
                  <a:tcPr marT="45733" marB="45733"/>
                </a:tc>
                <a:extLst>
                  <a:ext uri="{0D108BD9-81ED-4DB2-BD59-A6C34878D82A}">
                    <a16:rowId xmlns:a16="http://schemas.microsoft.com/office/drawing/2014/main" val="10001"/>
                  </a:ext>
                </a:extLst>
              </a:tr>
              <a:tr h="370946">
                <a:tc>
                  <a:txBody>
                    <a:bodyPr/>
                    <a:lstStyle/>
                    <a:p>
                      <a:pPr algn="ctr"/>
                      <a:r>
                        <a:rPr lang="fa-IR" sz="1800" dirty="0"/>
                        <a:t>7801</a:t>
                      </a:r>
                      <a:endParaRPr lang="en-US" sz="1800" dirty="0"/>
                    </a:p>
                  </a:txBody>
                  <a:tcPr marT="45733" marB="45733"/>
                </a:tc>
                <a:tc>
                  <a:txBody>
                    <a:bodyPr/>
                    <a:lstStyle/>
                    <a:p>
                      <a:pPr algn="ctr"/>
                      <a:r>
                        <a:rPr lang="fa-IR" sz="1800" dirty="0"/>
                        <a:t>علی</a:t>
                      </a:r>
                      <a:endParaRPr lang="en-US" sz="1800" dirty="0"/>
                    </a:p>
                  </a:txBody>
                  <a:tcPr marT="45733" marB="45733"/>
                </a:tc>
                <a:tc>
                  <a:txBody>
                    <a:bodyPr/>
                    <a:lstStyle/>
                    <a:p>
                      <a:pPr algn="ctr"/>
                      <a:r>
                        <a:rPr lang="fa-IR" sz="1800" dirty="0"/>
                        <a:t>1500</a:t>
                      </a:r>
                      <a:endParaRPr lang="en-US" sz="1800" dirty="0"/>
                    </a:p>
                  </a:txBody>
                  <a:tcPr marT="45733" marB="45733"/>
                </a:tc>
                <a:tc>
                  <a:txBody>
                    <a:bodyPr/>
                    <a:lstStyle/>
                    <a:p>
                      <a:pPr algn="ctr"/>
                      <a:r>
                        <a:rPr lang="fa-IR" sz="1800" dirty="0"/>
                        <a:t>ریاضی 1</a:t>
                      </a:r>
                      <a:endParaRPr lang="en-US" sz="1800" dirty="0"/>
                    </a:p>
                  </a:txBody>
                  <a:tcPr marT="45733" marB="45733"/>
                </a:tc>
                <a:tc>
                  <a:txBody>
                    <a:bodyPr/>
                    <a:lstStyle/>
                    <a:p>
                      <a:pPr algn="ctr"/>
                      <a:r>
                        <a:rPr lang="en-US" sz="1800" dirty="0"/>
                        <a:t>3</a:t>
                      </a:r>
                    </a:p>
                  </a:txBody>
                  <a:tcPr marT="45733" marB="45733"/>
                </a:tc>
                <a:tc>
                  <a:txBody>
                    <a:bodyPr/>
                    <a:lstStyle/>
                    <a:p>
                      <a:pPr algn="ctr"/>
                      <a:r>
                        <a:rPr lang="fa-IR" sz="1800" dirty="0"/>
                        <a:t>10</a:t>
                      </a:r>
                      <a:endParaRPr lang="en-US" sz="1800" dirty="0"/>
                    </a:p>
                  </a:txBody>
                  <a:tcPr marT="45733" marB="45733"/>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sz="1800" dirty="0"/>
                        <a:t>1-80</a:t>
                      </a:r>
                      <a:endParaRPr lang="en-US" sz="1800" dirty="0"/>
                    </a:p>
                  </a:txBody>
                  <a:tcPr marT="45733" marB="45733"/>
                </a:tc>
                <a:extLst>
                  <a:ext uri="{0D108BD9-81ED-4DB2-BD59-A6C34878D82A}">
                    <a16:rowId xmlns:a16="http://schemas.microsoft.com/office/drawing/2014/main" val="10002"/>
                  </a:ext>
                </a:extLst>
              </a:tr>
              <a:tr h="370946">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sz="1800" dirty="0"/>
                        <a:t>7801</a:t>
                      </a:r>
                      <a:endParaRPr lang="en-US" sz="1800" dirty="0"/>
                    </a:p>
                  </a:txBody>
                  <a:tcPr marT="45733" marB="45733"/>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sz="1800" dirty="0"/>
                        <a:t>علی</a:t>
                      </a:r>
                      <a:endParaRPr lang="en-US" sz="1800" dirty="0"/>
                    </a:p>
                  </a:txBody>
                  <a:tcPr marT="45733" marB="45733"/>
                </a:tc>
                <a:tc>
                  <a:txBody>
                    <a:bodyPr/>
                    <a:lstStyle/>
                    <a:p>
                      <a:pPr algn="ctr"/>
                      <a:r>
                        <a:rPr lang="fa-IR" sz="1800" dirty="0"/>
                        <a:t>1600</a:t>
                      </a:r>
                      <a:endParaRPr lang="en-US" sz="1800" dirty="0"/>
                    </a:p>
                  </a:txBody>
                  <a:tcPr marT="45733" marB="45733"/>
                </a:tc>
                <a:tc>
                  <a:txBody>
                    <a:bodyPr/>
                    <a:lstStyle/>
                    <a:p>
                      <a:pPr algn="ctr"/>
                      <a:r>
                        <a:rPr lang="fa-IR" sz="1800" dirty="0"/>
                        <a:t>تجزیه و تحلیل</a:t>
                      </a:r>
                      <a:endParaRPr lang="en-US" sz="1800" dirty="0"/>
                    </a:p>
                  </a:txBody>
                  <a:tcPr marT="45733" marB="45733"/>
                </a:tc>
                <a:tc>
                  <a:txBody>
                    <a:bodyPr/>
                    <a:lstStyle/>
                    <a:p>
                      <a:pPr algn="ctr"/>
                      <a:r>
                        <a:rPr lang="en-US" sz="1800" dirty="0"/>
                        <a:t>3</a:t>
                      </a:r>
                    </a:p>
                  </a:txBody>
                  <a:tcPr marT="45733" marB="45733"/>
                </a:tc>
                <a:tc>
                  <a:txBody>
                    <a:bodyPr/>
                    <a:lstStyle/>
                    <a:p>
                      <a:pPr algn="ctr"/>
                      <a:r>
                        <a:rPr lang="fa-IR" sz="1800" dirty="0"/>
                        <a:t>20</a:t>
                      </a:r>
                      <a:endParaRPr lang="en-US" sz="1800" dirty="0"/>
                    </a:p>
                  </a:txBody>
                  <a:tcPr marT="45733" marB="45733"/>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sz="1800" dirty="0"/>
                        <a:t>1-80</a:t>
                      </a:r>
                      <a:endParaRPr lang="en-US" sz="1800" dirty="0"/>
                    </a:p>
                  </a:txBody>
                  <a:tcPr marT="45733" marB="45733"/>
                </a:tc>
                <a:extLst>
                  <a:ext uri="{0D108BD9-81ED-4DB2-BD59-A6C34878D82A}">
                    <a16:rowId xmlns:a16="http://schemas.microsoft.com/office/drawing/2014/main" val="10003"/>
                  </a:ext>
                </a:extLst>
              </a:tr>
              <a:tr h="370946">
                <a:tc>
                  <a:txBody>
                    <a:bodyPr/>
                    <a:lstStyle/>
                    <a:p>
                      <a:pPr algn="ctr"/>
                      <a:r>
                        <a:rPr lang="fa-IR" sz="1800" dirty="0"/>
                        <a:t>7902</a:t>
                      </a:r>
                      <a:endParaRPr lang="en-US" sz="1800" dirty="0"/>
                    </a:p>
                  </a:txBody>
                  <a:tcPr marT="45733" marB="45733"/>
                </a:tc>
                <a:tc>
                  <a:txBody>
                    <a:bodyPr/>
                    <a:lstStyle/>
                    <a:p>
                      <a:pPr algn="ctr"/>
                      <a:r>
                        <a:rPr lang="fa-IR" sz="1800" dirty="0"/>
                        <a:t>عسل</a:t>
                      </a:r>
                      <a:endParaRPr lang="en-US" sz="1800" dirty="0"/>
                    </a:p>
                  </a:txBody>
                  <a:tcPr marT="45733" marB="45733"/>
                </a:tc>
                <a:tc>
                  <a:txBody>
                    <a:bodyPr/>
                    <a:lstStyle/>
                    <a:p>
                      <a:pPr algn="ctr"/>
                      <a:r>
                        <a:rPr lang="fa-IR" sz="1800" dirty="0"/>
                        <a:t>1400</a:t>
                      </a:r>
                      <a:endParaRPr lang="en-US" sz="1800" dirty="0"/>
                    </a:p>
                  </a:txBody>
                  <a:tcPr marT="45733" marB="45733"/>
                </a:tc>
                <a:tc>
                  <a:txBody>
                    <a:bodyPr/>
                    <a:lstStyle/>
                    <a:p>
                      <a:pPr algn="ctr"/>
                      <a:r>
                        <a:rPr lang="fa-IR" sz="1800" dirty="0"/>
                        <a:t>پایگاه داده </a:t>
                      </a:r>
                      <a:endParaRPr lang="en-US" sz="1800" dirty="0"/>
                    </a:p>
                  </a:txBody>
                  <a:tcPr marT="45733" marB="45733"/>
                </a:tc>
                <a:tc>
                  <a:txBody>
                    <a:bodyPr/>
                    <a:lstStyle/>
                    <a:p>
                      <a:pPr algn="ctr"/>
                      <a:r>
                        <a:rPr lang="en-US" sz="1800" dirty="0"/>
                        <a:t>3</a:t>
                      </a:r>
                    </a:p>
                  </a:txBody>
                  <a:tcPr marT="45733" marB="45733"/>
                </a:tc>
                <a:tc>
                  <a:txBody>
                    <a:bodyPr/>
                    <a:lstStyle/>
                    <a:p>
                      <a:pPr algn="ctr"/>
                      <a:r>
                        <a:rPr lang="fa-IR" sz="1800" dirty="0"/>
                        <a:t>7</a:t>
                      </a:r>
                      <a:endParaRPr lang="en-US" sz="1800" dirty="0"/>
                    </a:p>
                  </a:txBody>
                  <a:tcPr marT="45733" marB="45733"/>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sz="1800" dirty="0"/>
                        <a:t>1-80</a:t>
                      </a:r>
                    </a:p>
                  </a:txBody>
                  <a:tcPr marT="45733" marB="45733"/>
                </a:tc>
                <a:extLst>
                  <a:ext uri="{0D108BD9-81ED-4DB2-BD59-A6C34878D82A}">
                    <a16:rowId xmlns:a16="http://schemas.microsoft.com/office/drawing/2014/main" val="10004"/>
                  </a:ext>
                </a:extLst>
              </a:tr>
              <a:tr h="370946">
                <a:tc>
                  <a:txBody>
                    <a:bodyPr/>
                    <a:lstStyle/>
                    <a:p>
                      <a:pPr algn="ctr"/>
                      <a:r>
                        <a:rPr lang="fa-IR" sz="1800" dirty="0"/>
                        <a:t>7902</a:t>
                      </a:r>
                      <a:endParaRPr lang="en-US" sz="1800" dirty="0"/>
                    </a:p>
                  </a:txBody>
                  <a:tcPr marT="45733" marB="45733"/>
                </a:tc>
                <a:tc>
                  <a:txBody>
                    <a:bodyPr/>
                    <a:lstStyle/>
                    <a:p>
                      <a:pPr algn="ctr"/>
                      <a:r>
                        <a:rPr lang="fa-IR" sz="1800" dirty="0"/>
                        <a:t>عسل</a:t>
                      </a:r>
                      <a:endParaRPr lang="en-US" sz="1800" dirty="0"/>
                    </a:p>
                  </a:txBody>
                  <a:tcPr marT="45733" marB="45733"/>
                </a:tc>
                <a:tc>
                  <a:txBody>
                    <a:bodyPr/>
                    <a:lstStyle/>
                    <a:p>
                      <a:pPr algn="ctr"/>
                      <a:r>
                        <a:rPr lang="fa-IR" sz="1800" dirty="0"/>
                        <a:t>1700</a:t>
                      </a:r>
                      <a:endParaRPr lang="en-US" sz="1800" dirty="0"/>
                    </a:p>
                  </a:txBody>
                  <a:tcPr marT="45733" marB="45733"/>
                </a:tc>
                <a:tc>
                  <a:txBody>
                    <a:bodyPr/>
                    <a:lstStyle/>
                    <a:p>
                      <a:pPr algn="ctr"/>
                      <a:r>
                        <a:rPr lang="fa-IR" sz="1800" dirty="0"/>
                        <a:t>تربیت بدنی</a:t>
                      </a:r>
                      <a:endParaRPr lang="en-US" sz="1800" dirty="0"/>
                    </a:p>
                  </a:txBody>
                  <a:tcPr marT="45733" marB="45733"/>
                </a:tc>
                <a:tc>
                  <a:txBody>
                    <a:bodyPr/>
                    <a:lstStyle/>
                    <a:p>
                      <a:pPr algn="ctr"/>
                      <a:r>
                        <a:rPr lang="en-US" sz="1800" dirty="0"/>
                        <a:t>1</a:t>
                      </a:r>
                    </a:p>
                  </a:txBody>
                  <a:tcPr marT="45733" marB="45733"/>
                </a:tc>
                <a:tc>
                  <a:txBody>
                    <a:bodyPr/>
                    <a:lstStyle/>
                    <a:p>
                      <a:pPr algn="ctr"/>
                      <a:r>
                        <a:rPr lang="fa-IR" sz="1800" dirty="0"/>
                        <a:t>20</a:t>
                      </a:r>
                      <a:endParaRPr lang="en-US" sz="1800" dirty="0"/>
                    </a:p>
                  </a:txBody>
                  <a:tcPr marT="45733" marB="45733"/>
                </a:tc>
                <a:tc>
                  <a:txBody>
                    <a:bodyPr/>
                    <a:lstStyle/>
                    <a:p>
                      <a:pPr algn="ctr"/>
                      <a:r>
                        <a:rPr lang="fa-IR" sz="1800" dirty="0"/>
                        <a:t>1-80</a:t>
                      </a:r>
                      <a:endParaRPr lang="en-US" sz="1800" dirty="0"/>
                    </a:p>
                  </a:txBody>
                  <a:tcPr marT="45733" marB="45733"/>
                </a:tc>
                <a:extLst>
                  <a:ext uri="{0D108BD9-81ED-4DB2-BD59-A6C34878D82A}">
                    <a16:rowId xmlns:a16="http://schemas.microsoft.com/office/drawing/2014/main" val="10005"/>
                  </a:ext>
                </a:extLst>
              </a:tr>
            </a:tbl>
          </a:graphicData>
        </a:graphic>
      </p:graphicFrame>
      <p:sp>
        <p:nvSpPr>
          <p:cNvPr id="7" name="TextBox 6">
            <a:extLst>
              <a:ext uri="{FF2B5EF4-FFF2-40B4-BE49-F238E27FC236}">
                <a16:creationId xmlns:a16="http://schemas.microsoft.com/office/drawing/2014/main" id="{C504E865-2F12-4573-9DB8-3760670619B1}"/>
              </a:ext>
            </a:extLst>
          </p:cNvPr>
          <p:cNvSpPr txBox="1"/>
          <p:nvPr/>
        </p:nvSpPr>
        <p:spPr>
          <a:xfrm>
            <a:off x="457200" y="5764212"/>
            <a:ext cx="8229600" cy="369332"/>
          </a:xfrm>
          <a:prstGeom prst="rect">
            <a:avLst/>
          </a:prstGeom>
          <a:noFill/>
        </p:spPr>
        <p:txBody>
          <a:bodyPr wrap="square">
            <a:spAutoFit/>
          </a:bodyPr>
          <a:lstStyle/>
          <a:p>
            <a:pPr algn="just" rtl="1"/>
            <a:r>
              <a:rPr lang="fa-IR" altLang="en-US" dirty="0">
                <a:ea typeface="Majalla UI"/>
                <a:cs typeface="B Nazanin" panose="00000400000000000000" pitchFamily="2" charset="-78"/>
              </a:rPr>
              <a:t> </a:t>
            </a:r>
            <a:r>
              <a:rPr lang="fa-IR" altLang="en-US" sz="1800" dirty="0">
                <a:ea typeface="Majalla UI"/>
                <a:cs typeface="B Nazanin" panose="00000400000000000000" pitchFamily="2" charset="-78"/>
              </a:rPr>
              <a:t>بخشی از جدول فوق وابسته به </a:t>
            </a:r>
            <a:r>
              <a:rPr lang="en-US" altLang="en-US" sz="1800" dirty="0" err="1">
                <a:cs typeface="B Nazanin" panose="00000400000000000000" pitchFamily="2" charset="-78"/>
              </a:rPr>
              <a:t>Crs</a:t>
            </a:r>
            <a:r>
              <a:rPr lang="en-US" altLang="en-US" sz="1800" dirty="0">
                <a:cs typeface="B Nazanin" panose="00000400000000000000" pitchFamily="2" charset="-78"/>
              </a:rPr>
              <a:t>#</a:t>
            </a:r>
            <a:r>
              <a:rPr lang="fa-IR" altLang="en-US" sz="1800" dirty="0">
                <a:ea typeface="Majalla UI"/>
                <a:cs typeface="B Nazanin" panose="00000400000000000000" pitchFamily="2" charset="-78"/>
              </a:rPr>
              <a:t> است و بخش دیگر وابسته به </a:t>
            </a:r>
            <a:r>
              <a:rPr lang="en-US" altLang="en-US" sz="1800" dirty="0">
                <a:cs typeface="B Nazanin" panose="00000400000000000000" pitchFamily="2" charset="-78"/>
              </a:rPr>
              <a:t>S#</a:t>
            </a:r>
            <a:r>
              <a:rPr lang="fa-IR" altLang="en-US" sz="1800" dirty="0">
                <a:ea typeface="Majalla UI"/>
                <a:cs typeface="B Nazanin" panose="00000400000000000000" pitchFamily="2" charset="-78"/>
              </a:rPr>
              <a:t> است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11" name="Title 1"/>
          <p:cNvSpPr>
            <a:spLocks noGrp="1"/>
          </p:cNvSpPr>
          <p:nvPr>
            <p:ph type="title"/>
          </p:nvPr>
        </p:nvSpPr>
        <p:spPr/>
        <p:txBody>
          <a:bodyPr anchor="ctr"/>
          <a:lstStyle/>
          <a:p>
            <a:pPr algn="ctr" rtl="1"/>
            <a:r>
              <a:rPr lang="fa-IR" altLang="en-US" sz="4400" dirty="0">
                <a:latin typeface="Titr" pitchFamily="2" charset="-78"/>
                <a:ea typeface="2  Titr"/>
                <a:cs typeface="2  Titr"/>
              </a:rPr>
              <a:t>جدول نرمال ۳</a:t>
            </a:r>
            <a:endParaRPr lang="en-US" altLang="en-US" sz="4400" b="1" dirty="0">
              <a:latin typeface="Titr" pitchFamily="2" charset="-78"/>
              <a:ea typeface="2  Titr"/>
              <a:cs typeface="2  Titr"/>
            </a:endParaRPr>
          </a:p>
        </p:txBody>
      </p:sp>
      <p:sp>
        <p:nvSpPr>
          <p:cNvPr id="145410" name="Content Placeholder 2"/>
          <p:cNvSpPr>
            <a:spLocks noGrp="1"/>
          </p:cNvSpPr>
          <p:nvPr>
            <p:ph idx="1"/>
          </p:nvPr>
        </p:nvSpPr>
        <p:spPr>
          <a:xfrm>
            <a:off x="0" y="990600"/>
            <a:ext cx="8845550" cy="5392094"/>
          </a:xfrm>
        </p:spPr>
        <p:txBody>
          <a:bodyPr>
            <a:normAutofit/>
          </a:bodyPr>
          <a:lstStyle/>
          <a:p>
            <a:pPr algn="r" rtl="1"/>
            <a:r>
              <a:rPr lang="fa-IR" sz="2800" dirty="0">
                <a:cs typeface="B Nazanin" panose="00000400000000000000" pitchFamily="2" charset="-78"/>
              </a:rPr>
              <a:t>يک جدول در فرم سوم نرمال </a:t>
            </a:r>
            <a:r>
              <a:rPr lang="en-US" sz="2800" dirty="0">
                <a:cs typeface="B Nazanin" panose="00000400000000000000" pitchFamily="2" charset="-78"/>
              </a:rPr>
              <a:t>3NF</a:t>
            </a:r>
            <a:r>
              <a:rPr lang="fa-IR" sz="2800" dirty="0">
                <a:cs typeface="B Nazanin" panose="00000400000000000000" pitchFamily="2" charset="-78"/>
              </a:rPr>
              <a:t>است اگر ا</a:t>
            </a:r>
            <a:r>
              <a:rPr lang="fa-IR" sz="2800" b="1" dirty="0">
                <a:cs typeface="B Nazanin" panose="00000400000000000000" pitchFamily="2" charset="-78"/>
              </a:rPr>
              <a:t>ولا </a:t>
            </a:r>
            <a:r>
              <a:rPr lang="en-US" sz="2800" b="1" dirty="0">
                <a:cs typeface="B Nazanin" panose="00000400000000000000" pitchFamily="2" charset="-78"/>
              </a:rPr>
              <a:t>2NF </a:t>
            </a:r>
            <a:r>
              <a:rPr lang="fa-IR" sz="2800" b="1" dirty="0">
                <a:cs typeface="B Nazanin" panose="00000400000000000000" pitchFamily="2" charset="-78"/>
              </a:rPr>
              <a:t>باشد</a:t>
            </a:r>
            <a:r>
              <a:rPr lang="fa-IR" sz="2800" dirty="0">
                <a:cs typeface="B Nazanin" panose="00000400000000000000" pitchFamily="2" charset="-78"/>
              </a:rPr>
              <a:t>، ثانيا </a:t>
            </a:r>
            <a:r>
              <a:rPr lang="fa-IR" sz="2800" b="1" dirty="0">
                <a:cs typeface="B Nazanin" panose="00000400000000000000" pitchFamily="2" charset="-78"/>
              </a:rPr>
              <a:t>کليه صفات خاصه </a:t>
            </a:r>
            <a:r>
              <a:rPr lang="fa-IR" sz="2800" dirty="0">
                <a:cs typeface="B Nazanin" panose="00000400000000000000" pitchFamily="2" charset="-78"/>
              </a:rPr>
              <a:t>غير کليد در جدول </a:t>
            </a:r>
            <a:r>
              <a:rPr lang="fa-IR" sz="2800" b="1" dirty="0">
                <a:cs typeface="B Nazanin" panose="00000400000000000000" pitchFamily="2" charset="-78"/>
              </a:rPr>
              <a:t>با کليد اصلی </a:t>
            </a:r>
            <a:r>
              <a:rPr lang="fa-IR" sz="2800" dirty="0">
                <a:cs typeface="B Nazanin" panose="00000400000000000000" pitchFamily="2" charset="-78"/>
              </a:rPr>
              <a:t>وابستگی </a:t>
            </a:r>
            <a:r>
              <a:rPr lang="fa-IR" sz="2800" b="1" dirty="0">
                <a:cs typeface="B Nazanin" panose="00000400000000000000" pitchFamily="2" charset="-78"/>
              </a:rPr>
              <a:t>تابعی غير تعدی </a:t>
            </a:r>
            <a:r>
              <a:rPr lang="fa-IR" sz="2800" dirty="0">
                <a:cs typeface="B Nazanin" panose="00000400000000000000" pitchFamily="2" charset="-78"/>
              </a:rPr>
              <a:t>داشته باشند.</a:t>
            </a:r>
          </a:p>
          <a:p>
            <a:pPr algn="r" rtl="1"/>
            <a:r>
              <a:rPr lang="fa-IR" sz="2800" dirty="0">
                <a:cs typeface="B Nazanin" panose="00000400000000000000" pitchFamily="2" charset="-78"/>
              </a:rPr>
              <a:t>وابستگی تعدی </a:t>
            </a:r>
            <a:r>
              <a:rPr lang="en-US" sz="2800" dirty="0">
                <a:cs typeface="B Nazanin" panose="00000400000000000000" pitchFamily="2" charset="-78"/>
              </a:rPr>
              <a:t>transitive dependency </a:t>
            </a:r>
            <a:r>
              <a:rPr lang="fa-IR" sz="2800" dirty="0">
                <a:cs typeface="B Nazanin" panose="00000400000000000000" pitchFamily="2" charset="-78"/>
              </a:rPr>
              <a:t>يک وابستگی تابعی غير مستقيم است که در آن </a:t>
            </a:r>
            <a:r>
              <a:rPr lang="en-US" sz="2800" dirty="0">
                <a:cs typeface="B Nazanin" panose="00000400000000000000" pitchFamily="2" charset="-78"/>
              </a:rPr>
              <a:t>X→Z </a:t>
            </a:r>
            <a:r>
              <a:rPr lang="fa-IR" sz="2800" dirty="0">
                <a:cs typeface="B Nazanin" panose="00000400000000000000" pitchFamily="2" charset="-78"/>
              </a:rPr>
              <a:t>است اگر </a:t>
            </a:r>
            <a:r>
              <a:rPr lang="en-US" sz="2800" dirty="0">
                <a:cs typeface="B Nazanin" panose="00000400000000000000" pitchFamily="2" charset="-78"/>
              </a:rPr>
              <a:t>X→Y </a:t>
            </a:r>
            <a:r>
              <a:rPr lang="fa-IR" sz="2800" dirty="0">
                <a:cs typeface="B Nazanin" panose="00000400000000000000" pitchFamily="2" charset="-78"/>
              </a:rPr>
              <a:t>و </a:t>
            </a:r>
            <a:r>
              <a:rPr lang="en-US" sz="2800" dirty="0">
                <a:cs typeface="B Nazanin" panose="00000400000000000000" pitchFamily="2" charset="-78"/>
              </a:rPr>
              <a:t>Y→Z </a:t>
            </a:r>
            <a:r>
              <a:rPr lang="fa-IR" sz="2800" dirty="0">
                <a:cs typeface="B Nazanin" panose="00000400000000000000" pitchFamily="2" charset="-78"/>
              </a:rPr>
              <a:t>باشد.</a:t>
            </a:r>
          </a:p>
          <a:p>
            <a:pPr algn="r" rtl="1"/>
            <a:r>
              <a:rPr lang="fa-IR" sz="2800" dirty="0">
                <a:cs typeface="B Nazanin" panose="00000400000000000000" pitchFamily="2" charset="-78"/>
              </a:rPr>
              <a:t>در فرم سوم نرمال کليه ستون های جدول مستقيما توسط کليد اصلی مشخص می شوند.</a:t>
            </a:r>
          </a:p>
          <a:p>
            <a:pPr algn="r" rtl="1"/>
            <a:r>
              <a:rPr lang="fa-IR" sz="2800" dirty="0">
                <a:cs typeface="B Nazanin" panose="00000400000000000000" pitchFamily="2" charset="-78"/>
              </a:rPr>
              <a:t> با </a:t>
            </a:r>
            <a:r>
              <a:rPr lang="fa-IR" sz="2800" b="1" dirty="0">
                <a:cs typeface="B Nazanin" panose="00000400000000000000" pitchFamily="2" charset="-78"/>
              </a:rPr>
              <a:t>حذف فيلدهائی که وابستگی مستقيم با کليد ندارند </a:t>
            </a:r>
            <a:r>
              <a:rPr lang="fa-IR" sz="2800" dirty="0">
                <a:cs typeface="B Nazanin" panose="00000400000000000000" pitchFamily="2" charset="-78"/>
              </a:rPr>
              <a:t>به فرم سوم نرمال می رسيم. برای اين کار گروهی از ستون های جدول را که مقدارشان برای بيش از يک رکورد تکرار می شود را در جدول جداگانه ای قرار دهيد.</a:t>
            </a:r>
          </a:p>
          <a:p>
            <a:pPr algn="r" rtl="1"/>
            <a:endParaRPr lang="fa-IR" altLang="en-US" sz="2800" dirty="0">
              <a:ea typeface="Majalla UI"/>
              <a:cs typeface="B Nazanin" panose="00000400000000000000" pitchFamily="2" charset="-78"/>
            </a:endParaRPr>
          </a:p>
        </p:txBody>
      </p:sp>
      <p:sp>
        <p:nvSpPr>
          <p:cNvPr id="3" name="Slide Number Placeholder 2">
            <a:extLst>
              <a:ext uri="{FF2B5EF4-FFF2-40B4-BE49-F238E27FC236}">
                <a16:creationId xmlns:a16="http://schemas.microsoft.com/office/drawing/2014/main" id="{B48A8EBA-C0E8-47D6-8E5F-0EFCBFA744C8}"/>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31</a:t>
            </a:fld>
            <a:endParaRPr lang="en-US"/>
          </a:p>
        </p:txBody>
      </p:sp>
    </p:spTree>
    <p:extLst>
      <p:ext uri="{BB962C8B-B14F-4D97-AF65-F5344CB8AC3E}">
        <p14:creationId xmlns:p14="http://schemas.microsoft.com/office/powerpoint/2010/main" val="26532863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435" name="Title 1"/>
          <p:cNvSpPr>
            <a:spLocks noGrp="1"/>
          </p:cNvSpPr>
          <p:nvPr>
            <p:ph type="title"/>
          </p:nvPr>
        </p:nvSpPr>
        <p:spPr/>
        <p:txBody>
          <a:bodyPr anchor="ctr"/>
          <a:lstStyle/>
          <a:p>
            <a:pPr algn="ctr" rtl="1"/>
            <a:r>
              <a:rPr lang="fa-IR" altLang="en-US" sz="4400" dirty="0">
                <a:latin typeface="Titr" pitchFamily="2" charset="-78"/>
                <a:ea typeface="2  Titr"/>
                <a:cs typeface="2  Titr"/>
              </a:rPr>
              <a:t>جدول نرمال ۳</a:t>
            </a:r>
            <a:endParaRPr lang="en-US" altLang="en-US" sz="4400" b="1" dirty="0">
              <a:latin typeface="Titr" pitchFamily="2" charset="-78"/>
              <a:ea typeface="2  Titr"/>
              <a:cs typeface="2  Titr"/>
            </a:endParaRPr>
          </a:p>
        </p:txBody>
      </p:sp>
      <p:sp>
        <p:nvSpPr>
          <p:cNvPr id="3" name="Content Placeholder 2"/>
          <p:cNvSpPr>
            <a:spLocks noGrp="1"/>
          </p:cNvSpPr>
          <p:nvPr>
            <p:ph idx="1"/>
          </p:nvPr>
        </p:nvSpPr>
        <p:spPr/>
        <p:txBody>
          <a:bodyPr>
            <a:normAutofit/>
          </a:bodyPr>
          <a:lstStyle/>
          <a:p>
            <a:pPr marL="274320" indent="-274320" algn="just" rtl="1" fontAlgn="auto">
              <a:spcAft>
                <a:spcPts val="0"/>
              </a:spcAft>
              <a:buClr>
                <a:schemeClr val="accent3"/>
              </a:buClr>
              <a:buFont typeface="Wingdings 2"/>
              <a:buChar char=""/>
              <a:defRPr/>
            </a:pPr>
            <a:r>
              <a:rPr lang="fa-IR" sz="2800" dirty="0">
                <a:cs typeface="B Nazanin" panose="00000400000000000000" pitchFamily="2" charset="-78"/>
              </a:rPr>
              <a:t>یک جدول نرمال3 است اگر:</a:t>
            </a:r>
          </a:p>
          <a:p>
            <a:pPr marL="640080" lvl="1" indent="-246888" algn="just" rtl="1" fontAlgn="auto">
              <a:spcAft>
                <a:spcPts val="0"/>
              </a:spcAft>
              <a:buFont typeface="Wingdings 2"/>
              <a:buChar char=""/>
              <a:defRPr/>
            </a:pPr>
            <a:r>
              <a:rPr lang="fa-IR" sz="2400" dirty="0">
                <a:cs typeface="B Nazanin" panose="00000400000000000000" pitchFamily="2" charset="-78"/>
              </a:rPr>
              <a:t>نرمال2 باشد </a:t>
            </a:r>
          </a:p>
          <a:p>
            <a:pPr marL="640080" lvl="1" indent="-246888" algn="just" rtl="1" fontAlgn="auto">
              <a:spcAft>
                <a:spcPts val="0"/>
              </a:spcAft>
              <a:buFont typeface="Wingdings 2"/>
              <a:buChar char=""/>
              <a:defRPr/>
            </a:pPr>
            <a:r>
              <a:rPr lang="fa-IR" sz="2400" dirty="0">
                <a:cs typeface="B Nazanin" panose="00000400000000000000" pitchFamily="2" charset="-78"/>
              </a:rPr>
              <a:t>در آن هیچ وابستگی تعدی (وابستگی با واسطه) در آن وجود نداشته باشد. به عبارت دیگر، در آن هیچ ویژگی غیر کلیدی به ویژگی غیر کلیدی دیگر وابستگی تابعی نداشته باشد.</a:t>
            </a:r>
          </a:p>
          <a:p>
            <a:pPr marL="274320" indent="-274320" algn="just" rtl="1" fontAlgn="auto">
              <a:spcAft>
                <a:spcPts val="0"/>
              </a:spcAft>
              <a:buClr>
                <a:schemeClr val="accent3"/>
              </a:buClr>
              <a:buFont typeface="Wingdings 2"/>
              <a:buChar char=""/>
              <a:defRPr/>
            </a:pPr>
            <a:endParaRPr lang="fa-IR" dirty="0">
              <a:cs typeface="B Nazanin" panose="00000400000000000000" pitchFamily="2" charset="-78"/>
            </a:endParaRPr>
          </a:p>
          <a:p>
            <a:pPr marL="274320" indent="-274320" algn="just" rtl="1" fontAlgn="auto">
              <a:spcAft>
                <a:spcPts val="0"/>
              </a:spcAft>
              <a:buClr>
                <a:schemeClr val="accent3"/>
              </a:buClr>
              <a:buFont typeface="Wingdings 2"/>
              <a:buChar char=""/>
              <a:defRPr/>
            </a:pPr>
            <a:endParaRPr lang="fa-IR" dirty="0">
              <a:cs typeface="B Nazanin" panose="00000400000000000000" pitchFamily="2" charset="-78"/>
            </a:endParaRPr>
          </a:p>
          <a:p>
            <a:pPr marL="274320" indent="-274320" algn="just" rtl="1" fontAlgn="auto">
              <a:spcAft>
                <a:spcPts val="0"/>
              </a:spcAft>
              <a:buClr>
                <a:schemeClr val="accent3"/>
              </a:buClr>
              <a:buFont typeface="Wingdings 2"/>
              <a:buChar char=""/>
              <a:defRPr/>
            </a:pPr>
            <a:endParaRPr lang="fa-IR" dirty="0">
              <a:cs typeface="B Nazanin" panose="00000400000000000000" pitchFamily="2" charset="-78"/>
            </a:endParaRPr>
          </a:p>
          <a:p>
            <a:pPr marL="274320" indent="-274320" algn="just" rtl="1" fontAlgn="auto">
              <a:spcAft>
                <a:spcPts val="0"/>
              </a:spcAft>
              <a:buClr>
                <a:schemeClr val="accent3"/>
              </a:buClr>
              <a:buFont typeface="Wingdings 2"/>
              <a:buChar char=""/>
              <a:defRPr/>
            </a:pPr>
            <a:endParaRPr lang="fa-IR" dirty="0">
              <a:cs typeface="B Nazanin" panose="00000400000000000000" pitchFamily="2" charset="-78"/>
            </a:endParaRPr>
          </a:p>
          <a:p>
            <a:pPr marL="274320" indent="-274320" fontAlgn="auto">
              <a:spcAft>
                <a:spcPts val="0"/>
              </a:spcAft>
              <a:buClr>
                <a:schemeClr val="accent3"/>
              </a:buClr>
              <a:buFont typeface="Wingdings 2"/>
              <a:buChar char=""/>
              <a:defRPr/>
            </a:pPr>
            <a:endParaRPr lang="fa-IR" dirty="0">
              <a:cs typeface="B Nazanin" panose="00000400000000000000" pitchFamily="2" charset="-78"/>
            </a:endParaRPr>
          </a:p>
        </p:txBody>
      </p:sp>
      <p:sp>
        <p:nvSpPr>
          <p:cNvPr id="4" name="Slide Number Placeholder 3">
            <a:extLst>
              <a:ext uri="{FF2B5EF4-FFF2-40B4-BE49-F238E27FC236}">
                <a16:creationId xmlns:a16="http://schemas.microsoft.com/office/drawing/2014/main" id="{B3DD5900-62AA-4792-B743-5CABA8AE3F58}"/>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32</a:t>
            </a:fld>
            <a:endParaRPr lang="en-US"/>
          </a:p>
        </p:txBody>
      </p:sp>
      <p:graphicFrame>
        <p:nvGraphicFramePr>
          <p:cNvPr id="5" name="Table 4"/>
          <p:cNvGraphicFramePr>
            <a:graphicFrameLocks noGrp="1"/>
          </p:cNvGraphicFramePr>
          <p:nvPr/>
        </p:nvGraphicFramePr>
        <p:xfrm>
          <a:off x="781050" y="3276600"/>
          <a:ext cx="6477000" cy="1482724"/>
        </p:xfrm>
        <a:graphic>
          <a:graphicData uri="http://schemas.openxmlformats.org/drawingml/2006/table">
            <a:tbl>
              <a:tblPr firstRow="1" bandRow="1">
                <a:tableStyleId>{616DA210-FB5B-4158-B5E0-FEB733F419BA}</a:tableStyleId>
              </a:tblPr>
              <a:tblGrid>
                <a:gridCol w="1145751">
                  <a:extLst>
                    <a:ext uri="{9D8B030D-6E8A-4147-A177-3AD203B41FA5}">
                      <a16:colId xmlns:a16="http://schemas.microsoft.com/office/drawing/2014/main" val="20000"/>
                    </a:ext>
                  </a:extLst>
                </a:gridCol>
                <a:gridCol w="1140247">
                  <a:extLst>
                    <a:ext uri="{9D8B030D-6E8A-4147-A177-3AD203B41FA5}">
                      <a16:colId xmlns:a16="http://schemas.microsoft.com/office/drawing/2014/main" val="20001"/>
                    </a:ext>
                  </a:extLst>
                </a:gridCol>
                <a:gridCol w="1676401">
                  <a:extLst>
                    <a:ext uri="{9D8B030D-6E8A-4147-A177-3AD203B41FA5}">
                      <a16:colId xmlns:a16="http://schemas.microsoft.com/office/drawing/2014/main" val="20002"/>
                    </a:ext>
                  </a:extLst>
                </a:gridCol>
                <a:gridCol w="2514601">
                  <a:extLst>
                    <a:ext uri="{9D8B030D-6E8A-4147-A177-3AD203B41FA5}">
                      <a16:colId xmlns:a16="http://schemas.microsoft.com/office/drawing/2014/main" val="20003"/>
                    </a:ext>
                  </a:extLst>
                </a:gridCol>
              </a:tblGrid>
              <a:tr h="370681">
                <a:tc>
                  <a:txBody>
                    <a:bodyPr/>
                    <a:lstStyle/>
                    <a:p>
                      <a:pPr algn="ctr"/>
                      <a:r>
                        <a:rPr lang="en-US" sz="1800" dirty="0"/>
                        <a:t>Prof#</a:t>
                      </a:r>
                    </a:p>
                  </a:txBody>
                  <a:tcPr marT="45700" marB="45700" anchor="ctr"/>
                </a:tc>
                <a:tc>
                  <a:txBody>
                    <a:bodyPr/>
                    <a:lstStyle/>
                    <a:p>
                      <a:pPr algn="ctr"/>
                      <a:r>
                        <a:rPr lang="en-US" sz="1800" dirty="0" err="1"/>
                        <a:t>Pname</a:t>
                      </a:r>
                      <a:endParaRPr lang="en-US" sz="1800" dirty="0"/>
                    </a:p>
                  </a:txBody>
                  <a:tcPr marT="45700" marB="45700" anchor="ctr"/>
                </a:tc>
                <a:tc>
                  <a:txBody>
                    <a:bodyPr/>
                    <a:lstStyle/>
                    <a:p>
                      <a:pPr algn="ctr"/>
                      <a:r>
                        <a:rPr lang="en-US" sz="1800" dirty="0" err="1"/>
                        <a:t>LastDegree</a:t>
                      </a:r>
                      <a:endParaRPr lang="en-US" sz="1800" dirty="0"/>
                    </a:p>
                  </a:txBody>
                  <a:tcPr marT="45700" marB="45700" anchor="ctr"/>
                </a:tc>
                <a:tc>
                  <a:txBody>
                    <a:bodyPr/>
                    <a:lstStyle/>
                    <a:p>
                      <a:pPr algn="ctr"/>
                      <a:r>
                        <a:rPr lang="en-US" sz="1800" dirty="0" err="1"/>
                        <a:t>LastDegreeName</a:t>
                      </a:r>
                      <a:endParaRPr lang="en-US" sz="1800" dirty="0"/>
                    </a:p>
                  </a:txBody>
                  <a:tcPr marT="45700" marB="45700" anchor="ctr"/>
                </a:tc>
                <a:extLst>
                  <a:ext uri="{0D108BD9-81ED-4DB2-BD59-A6C34878D82A}">
                    <a16:rowId xmlns:a16="http://schemas.microsoft.com/office/drawing/2014/main" val="10000"/>
                  </a:ext>
                </a:extLst>
              </a:tr>
              <a:tr h="370681">
                <a:tc>
                  <a:txBody>
                    <a:bodyPr/>
                    <a:lstStyle/>
                    <a:p>
                      <a:pPr algn="ctr"/>
                      <a:r>
                        <a:rPr lang="fa-IR" sz="1800" dirty="0"/>
                        <a:t>7801</a:t>
                      </a:r>
                      <a:endParaRPr lang="en-US" sz="1800" dirty="0"/>
                    </a:p>
                  </a:txBody>
                  <a:tcPr marT="45700" marB="45700"/>
                </a:tc>
                <a:tc>
                  <a:txBody>
                    <a:bodyPr/>
                    <a:lstStyle/>
                    <a:p>
                      <a:pPr algn="ctr"/>
                      <a:r>
                        <a:rPr lang="fa-IR" sz="1800" dirty="0"/>
                        <a:t>علی</a:t>
                      </a:r>
                      <a:endParaRPr lang="en-US" sz="1800" dirty="0"/>
                    </a:p>
                  </a:txBody>
                  <a:tcPr marT="45700" marB="45700"/>
                </a:tc>
                <a:tc>
                  <a:txBody>
                    <a:bodyPr/>
                    <a:lstStyle/>
                    <a:p>
                      <a:pPr algn="ctr"/>
                      <a:r>
                        <a:rPr lang="fa-IR" sz="1800" dirty="0"/>
                        <a:t>2</a:t>
                      </a:r>
                      <a:endParaRPr lang="en-US" sz="1800" dirty="0"/>
                    </a:p>
                  </a:txBody>
                  <a:tcPr marT="45700" marB="45700"/>
                </a:tc>
                <a:tc>
                  <a:txBody>
                    <a:bodyPr/>
                    <a:lstStyle/>
                    <a:p>
                      <a:pPr algn="ctr"/>
                      <a:r>
                        <a:rPr lang="fa-IR" sz="1800" dirty="0"/>
                        <a:t>کاردانی</a:t>
                      </a:r>
                      <a:endParaRPr lang="en-US" sz="1800" dirty="0"/>
                    </a:p>
                  </a:txBody>
                  <a:tcPr marT="45700" marB="45700"/>
                </a:tc>
                <a:extLst>
                  <a:ext uri="{0D108BD9-81ED-4DB2-BD59-A6C34878D82A}">
                    <a16:rowId xmlns:a16="http://schemas.microsoft.com/office/drawing/2014/main" val="10001"/>
                  </a:ext>
                </a:extLst>
              </a:tr>
              <a:tr h="370681">
                <a:tc>
                  <a:txBody>
                    <a:bodyPr/>
                    <a:lstStyle/>
                    <a:p>
                      <a:pPr algn="ctr"/>
                      <a:r>
                        <a:rPr lang="fa-IR" sz="1800" dirty="0"/>
                        <a:t>7802</a:t>
                      </a:r>
                      <a:endParaRPr lang="en-US" sz="1800" dirty="0"/>
                    </a:p>
                  </a:txBody>
                  <a:tcPr marT="45700" marB="45700"/>
                </a:tc>
                <a:tc>
                  <a:txBody>
                    <a:bodyPr/>
                    <a:lstStyle/>
                    <a:p>
                      <a:pPr algn="ctr"/>
                      <a:r>
                        <a:rPr lang="fa-IR" sz="1800" dirty="0"/>
                        <a:t>آرش</a:t>
                      </a:r>
                      <a:endParaRPr lang="en-US" sz="1800" dirty="0"/>
                    </a:p>
                  </a:txBody>
                  <a:tcPr marT="45700" marB="45700"/>
                </a:tc>
                <a:tc>
                  <a:txBody>
                    <a:bodyPr/>
                    <a:lstStyle/>
                    <a:p>
                      <a:pPr algn="ctr"/>
                      <a:r>
                        <a:rPr lang="fa-IR" sz="1800" dirty="0"/>
                        <a:t>2</a:t>
                      </a:r>
                      <a:endParaRPr lang="en-US" sz="1800" dirty="0"/>
                    </a:p>
                  </a:txBody>
                  <a:tcPr marT="45700" marB="45700"/>
                </a:tc>
                <a:tc>
                  <a:txBody>
                    <a:bodyPr/>
                    <a:lstStyle/>
                    <a:p>
                      <a:pPr algn="ctr"/>
                      <a:r>
                        <a:rPr lang="fa-IR" sz="1800" dirty="0"/>
                        <a:t>کاردانی</a:t>
                      </a:r>
                      <a:endParaRPr lang="en-US" sz="1800" dirty="0"/>
                    </a:p>
                  </a:txBody>
                  <a:tcPr marT="45700" marB="45700"/>
                </a:tc>
                <a:extLst>
                  <a:ext uri="{0D108BD9-81ED-4DB2-BD59-A6C34878D82A}">
                    <a16:rowId xmlns:a16="http://schemas.microsoft.com/office/drawing/2014/main" val="10002"/>
                  </a:ext>
                </a:extLst>
              </a:tr>
              <a:tr h="370681">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sz="1800" dirty="0"/>
                        <a:t>7803</a:t>
                      </a:r>
                      <a:endParaRPr lang="en-US" sz="1800" dirty="0"/>
                    </a:p>
                  </a:txBody>
                  <a:tcPr marT="45700" marB="45700"/>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sz="1800" dirty="0"/>
                        <a:t>عسل</a:t>
                      </a:r>
                      <a:endParaRPr lang="en-US" sz="1800" dirty="0"/>
                    </a:p>
                  </a:txBody>
                  <a:tcPr marT="45700" marB="45700"/>
                </a:tc>
                <a:tc>
                  <a:txBody>
                    <a:bodyPr/>
                    <a:lstStyle/>
                    <a:p>
                      <a:pPr algn="ctr"/>
                      <a:r>
                        <a:rPr lang="fa-IR" sz="1800" dirty="0"/>
                        <a:t>4</a:t>
                      </a:r>
                      <a:endParaRPr lang="en-US" sz="1800" dirty="0"/>
                    </a:p>
                  </a:txBody>
                  <a:tcPr marT="45700" marB="45700"/>
                </a:tc>
                <a:tc>
                  <a:txBody>
                    <a:bodyPr/>
                    <a:lstStyle/>
                    <a:p>
                      <a:pPr algn="ctr"/>
                      <a:r>
                        <a:rPr lang="fa-IR" sz="1800" dirty="0"/>
                        <a:t>فوق لیسانس</a:t>
                      </a:r>
                      <a:endParaRPr lang="en-US" sz="1800" dirty="0"/>
                    </a:p>
                  </a:txBody>
                  <a:tcPr marT="45700" marB="45700"/>
                </a:tc>
                <a:extLst>
                  <a:ext uri="{0D108BD9-81ED-4DB2-BD59-A6C34878D82A}">
                    <a16:rowId xmlns:a16="http://schemas.microsoft.com/office/drawing/2014/main" val="10003"/>
                  </a:ext>
                </a:extLst>
              </a:tr>
            </a:tbl>
          </a:graphicData>
        </a:graphic>
      </p:graphicFrame>
      <p:sp>
        <p:nvSpPr>
          <p:cNvPr id="7" name="TextBox 6">
            <a:extLst>
              <a:ext uri="{FF2B5EF4-FFF2-40B4-BE49-F238E27FC236}">
                <a16:creationId xmlns:a16="http://schemas.microsoft.com/office/drawing/2014/main" id="{BEDE9A4B-DDD9-4376-97AC-4AB13BAF0CF4}"/>
              </a:ext>
            </a:extLst>
          </p:cNvPr>
          <p:cNvSpPr txBox="1"/>
          <p:nvPr/>
        </p:nvSpPr>
        <p:spPr>
          <a:xfrm>
            <a:off x="289710" y="5070735"/>
            <a:ext cx="8473290" cy="923330"/>
          </a:xfrm>
          <a:prstGeom prst="rect">
            <a:avLst/>
          </a:prstGeom>
          <a:noFill/>
        </p:spPr>
        <p:txBody>
          <a:bodyPr wrap="square">
            <a:spAutoFit/>
          </a:bodyPr>
          <a:lstStyle/>
          <a:p>
            <a:pPr marL="274320" indent="-274320" algn="just" rtl="1" fontAlgn="auto">
              <a:spcAft>
                <a:spcPts val="0"/>
              </a:spcAft>
              <a:buClr>
                <a:schemeClr val="accent3"/>
              </a:buClr>
              <a:buFont typeface="Wingdings 2"/>
              <a:buChar char=""/>
              <a:defRPr/>
            </a:pPr>
            <a:r>
              <a:rPr lang="fa-IR" dirty="0">
                <a:cs typeface="B Nazanin" panose="00000400000000000000" pitchFamily="2" charset="-78"/>
              </a:rPr>
              <a:t>برای آنکه این جدول نرمال 3 شود به صورت زیر تبدیل میشود:</a:t>
            </a:r>
          </a:p>
          <a:p>
            <a:pPr marL="274320" indent="-274320" fontAlgn="auto">
              <a:spcAft>
                <a:spcPts val="0"/>
              </a:spcAft>
              <a:buClr>
                <a:schemeClr val="accent3"/>
              </a:buClr>
              <a:buFont typeface="Wingdings 2"/>
              <a:buChar char=""/>
              <a:defRPr/>
            </a:pPr>
            <a:r>
              <a:rPr lang="en-US" dirty="0">
                <a:cs typeface="B Nazanin" panose="00000400000000000000" pitchFamily="2" charset="-78"/>
              </a:rPr>
              <a:t>Prof(Prof#, </a:t>
            </a:r>
            <a:r>
              <a:rPr lang="en-US" dirty="0" err="1">
                <a:cs typeface="B Nazanin" panose="00000400000000000000" pitchFamily="2" charset="-78"/>
              </a:rPr>
              <a:t>Pname</a:t>
            </a:r>
            <a:r>
              <a:rPr lang="en-US" dirty="0">
                <a:cs typeface="B Nazanin" panose="00000400000000000000" pitchFamily="2" charset="-78"/>
              </a:rPr>
              <a:t>, </a:t>
            </a:r>
            <a:r>
              <a:rPr lang="en-US" dirty="0" err="1">
                <a:cs typeface="B Nazanin" panose="00000400000000000000" pitchFamily="2" charset="-78"/>
              </a:rPr>
              <a:t>LastDegree</a:t>
            </a:r>
            <a:r>
              <a:rPr lang="en-US" dirty="0">
                <a:cs typeface="B Nazanin" panose="00000400000000000000" pitchFamily="2" charset="-78"/>
              </a:rPr>
              <a:t>)</a:t>
            </a:r>
          </a:p>
          <a:p>
            <a:pPr marL="274320" indent="-274320" fontAlgn="auto">
              <a:spcAft>
                <a:spcPts val="0"/>
              </a:spcAft>
              <a:buClr>
                <a:schemeClr val="accent3"/>
              </a:buClr>
              <a:buFont typeface="Wingdings 2"/>
              <a:buChar char=""/>
              <a:defRPr/>
            </a:pPr>
            <a:r>
              <a:rPr lang="en-US" dirty="0">
                <a:cs typeface="B Nazanin" panose="00000400000000000000" pitchFamily="2" charset="-78"/>
              </a:rPr>
              <a:t>Degree(</a:t>
            </a:r>
            <a:r>
              <a:rPr lang="en-US" dirty="0" err="1">
                <a:cs typeface="B Nazanin" panose="00000400000000000000" pitchFamily="2" charset="-78"/>
              </a:rPr>
              <a:t>LastDegree</a:t>
            </a:r>
            <a:r>
              <a:rPr lang="en-US" dirty="0">
                <a:cs typeface="B Nazanin" panose="00000400000000000000" pitchFamily="2" charset="-78"/>
              </a:rPr>
              <a:t>#, </a:t>
            </a:r>
            <a:r>
              <a:rPr lang="en-US" dirty="0" err="1">
                <a:cs typeface="B Nazanin" panose="00000400000000000000" pitchFamily="2" charset="-78"/>
              </a:rPr>
              <a:t>LastDegreeName</a:t>
            </a:r>
            <a:r>
              <a:rPr lang="en-US" dirty="0">
                <a:cs typeface="B Nazanin" panose="00000400000000000000" pitchFamily="2" charset="-78"/>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FD43B8-AEC3-41A9-8285-569D02D5ABED}"/>
              </a:ext>
            </a:extLst>
          </p:cNvPr>
          <p:cNvSpPr>
            <a:spLocks noGrp="1"/>
          </p:cNvSpPr>
          <p:nvPr>
            <p:ph idx="1"/>
          </p:nvPr>
        </p:nvSpPr>
        <p:spPr>
          <a:xfrm>
            <a:off x="190500" y="727075"/>
            <a:ext cx="8655050" cy="5633374"/>
          </a:xfrm>
        </p:spPr>
        <p:txBody>
          <a:bodyPr>
            <a:normAutofit/>
          </a:bodyPr>
          <a:lstStyle/>
          <a:p>
            <a:pPr algn="r" rtl="1"/>
            <a:r>
              <a:rPr lang="fa-IR" sz="2000" dirty="0">
                <a:cs typeface="B Nazanin" panose="00000400000000000000" pitchFamily="2" charset="-78"/>
              </a:rPr>
              <a:t>مثال. فرض کنيد جدول </a:t>
            </a:r>
            <a:r>
              <a:rPr lang="en-US" sz="2000" dirty="0">
                <a:cs typeface="B Nazanin" panose="00000400000000000000" pitchFamily="2" charset="-78"/>
              </a:rPr>
              <a:t>PRODUCT </a:t>
            </a:r>
            <a:r>
              <a:rPr lang="fa-IR" sz="2000" dirty="0">
                <a:cs typeface="B Nazanin" panose="00000400000000000000" pitchFamily="2" charset="-78"/>
              </a:rPr>
              <a:t>به صورت زير جزئيات توليد کننده هر محصول را دارا باشد:</a:t>
            </a:r>
          </a:p>
          <a:p>
            <a:pPr algn="l"/>
            <a:r>
              <a:rPr lang="en-US" sz="2000" b="1" dirty="0">
                <a:cs typeface="B Nazanin" panose="00000400000000000000" pitchFamily="2" charset="-78"/>
              </a:rPr>
              <a:t>PRODUCT(</a:t>
            </a:r>
            <a:r>
              <a:rPr lang="en-US" sz="2000" b="1" u="sng" dirty="0" err="1">
                <a:cs typeface="B Nazanin" panose="00000400000000000000" pitchFamily="2" charset="-78"/>
              </a:rPr>
              <a:t>ProductNo</a:t>
            </a:r>
            <a:r>
              <a:rPr lang="en-US" sz="2000" b="1" dirty="0">
                <a:cs typeface="B Nazanin" panose="00000400000000000000" pitchFamily="2" charset="-78"/>
              </a:rPr>
              <a:t>, Description, </a:t>
            </a:r>
            <a:r>
              <a:rPr lang="en-US" sz="2000" b="1" dirty="0" err="1">
                <a:cs typeface="B Nazanin" panose="00000400000000000000" pitchFamily="2" charset="-78"/>
              </a:rPr>
              <a:t>ReorderLevel</a:t>
            </a:r>
            <a:r>
              <a:rPr lang="en-US" sz="2000" b="1" dirty="0">
                <a:cs typeface="B Nazanin" panose="00000400000000000000" pitchFamily="2" charset="-78"/>
              </a:rPr>
              <a:t>, Price, </a:t>
            </a:r>
            <a:r>
              <a:rPr lang="en-US" sz="2000" b="1" dirty="0" err="1">
                <a:cs typeface="B Nazanin" panose="00000400000000000000" pitchFamily="2" charset="-78"/>
              </a:rPr>
              <a:t>QtyInStock</a:t>
            </a:r>
            <a:r>
              <a:rPr lang="en-US" sz="2000" b="1" dirty="0">
                <a:cs typeface="B Nazanin" panose="00000400000000000000" pitchFamily="2" charset="-78"/>
              </a:rPr>
              <a:t>, </a:t>
            </a:r>
            <a:r>
              <a:rPr lang="en-US" sz="2000" b="1" dirty="0" err="1">
                <a:cs typeface="B Nazanin" panose="00000400000000000000" pitchFamily="2" charset="-78"/>
              </a:rPr>
              <a:t>SupplierCode</a:t>
            </a:r>
            <a:r>
              <a:rPr lang="en-US" sz="2000" b="1" dirty="0">
                <a:cs typeface="B Nazanin" panose="00000400000000000000" pitchFamily="2" charset="-78"/>
              </a:rPr>
              <a:t>, </a:t>
            </a:r>
            <a:r>
              <a:rPr lang="en-US" sz="2000" b="1" dirty="0" err="1">
                <a:cs typeface="B Nazanin" panose="00000400000000000000" pitchFamily="2" charset="-78"/>
              </a:rPr>
              <a:t>SupplierName</a:t>
            </a:r>
            <a:r>
              <a:rPr lang="en-US" sz="2000" b="1" dirty="0">
                <a:cs typeface="B Nazanin" panose="00000400000000000000" pitchFamily="2" charset="-78"/>
              </a:rPr>
              <a:t>, </a:t>
            </a:r>
            <a:r>
              <a:rPr lang="en-US" sz="2000" b="1" dirty="0" err="1">
                <a:cs typeface="B Nazanin" panose="00000400000000000000" pitchFamily="2" charset="-78"/>
              </a:rPr>
              <a:t>SupplierAddress</a:t>
            </a:r>
            <a:r>
              <a:rPr lang="en-US" sz="2000" b="1" dirty="0">
                <a:cs typeface="B Nazanin" panose="00000400000000000000" pitchFamily="2" charset="-78"/>
              </a:rPr>
              <a:t>)</a:t>
            </a:r>
          </a:p>
          <a:p>
            <a:pPr algn="r" rtl="1"/>
            <a:endParaRPr lang="en-US" sz="2000" dirty="0">
              <a:cs typeface="B Nazanin" panose="00000400000000000000" pitchFamily="2" charset="-78"/>
            </a:endParaRPr>
          </a:p>
        </p:txBody>
      </p:sp>
      <p:sp>
        <p:nvSpPr>
          <p:cNvPr id="4" name="Slide Number Placeholder 3">
            <a:extLst>
              <a:ext uri="{FF2B5EF4-FFF2-40B4-BE49-F238E27FC236}">
                <a16:creationId xmlns:a16="http://schemas.microsoft.com/office/drawing/2014/main" id="{5D856993-8E12-458F-B7D7-C5EDBD35E4B3}"/>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33</a:t>
            </a:fld>
            <a:endParaRPr lang="en-US"/>
          </a:p>
        </p:txBody>
      </p:sp>
      <p:sp>
        <p:nvSpPr>
          <p:cNvPr id="5" name="TextBox 4">
            <a:extLst>
              <a:ext uri="{FF2B5EF4-FFF2-40B4-BE49-F238E27FC236}">
                <a16:creationId xmlns:a16="http://schemas.microsoft.com/office/drawing/2014/main" id="{0D29A58F-009E-4713-8964-793CD3A7DDE6}"/>
              </a:ext>
            </a:extLst>
          </p:cNvPr>
          <p:cNvSpPr txBox="1"/>
          <p:nvPr/>
        </p:nvSpPr>
        <p:spPr>
          <a:xfrm>
            <a:off x="190500" y="2274019"/>
            <a:ext cx="8610600" cy="2862322"/>
          </a:xfrm>
          <a:prstGeom prst="rect">
            <a:avLst/>
          </a:prstGeom>
          <a:noFill/>
        </p:spPr>
        <p:txBody>
          <a:bodyPr wrap="square">
            <a:spAutoFit/>
          </a:bodyPr>
          <a:lstStyle/>
          <a:p>
            <a:pPr algn="r" rtl="1"/>
            <a:r>
              <a:rPr lang="fa-IR" sz="2000" dirty="0">
                <a:cs typeface="B Nazanin" panose="00000400000000000000" pitchFamily="2" charset="-78"/>
              </a:rPr>
              <a:t>اين جدول کليد اصلی تک ستونی دارد بنابراين 2</a:t>
            </a:r>
            <a:r>
              <a:rPr lang="en-US" sz="2000" dirty="0">
                <a:cs typeface="B Nazanin" panose="00000400000000000000" pitchFamily="2" charset="-78"/>
              </a:rPr>
              <a:t>NF </a:t>
            </a:r>
            <a:r>
              <a:rPr lang="fa-IR" sz="2000" dirty="0">
                <a:cs typeface="B Nazanin" panose="00000400000000000000" pitchFamily="2" charset="-78"/>
              </a:rPr>
              <a:t>است. اگر توليد کننده چندين محصول را توليد کند فيلدهای </a:t>
            </a:r>
            <a:r>
              <a:rPr lang="en-US" sz="2000" dirty="0" err="1">
                <a:cs typeface="B Nazanin" panose="00000400000000000000" pitchFamily="2" charset="-78"/>
              </a:rPr>
              <a:t>SupplierName</a:t>
            </a:r>
            <a:r>
              <a:rPr lang="en-US" sz="2000" dirty="0">
                <a:cs typeface="B Nazanin" panose="00000400000000000000" pitchFamily="2" charset="-78"/>
              </a:rPr>
              <a:t> </a:t>
            </a:r>
            <a:r>
              <a:rPr lang="fa-IR" sz="2000" dirty="0">
                <a:cs typeface="B Nazanin" panose="00000400000000000000" pitchFamily="2" charset="-78"/>
              </a:rPr>
              <a:t>و </a:t>
            </a:r>
            <a:r>
              <a:rPr lang="en-US" sz="2000" dirty="0" err="1">
                <a:cs typeface="B Nazanin" panose="00000400000000000000" pitchFamily="2" charset="-78"/>
              </a:rPr>
              <a:t>SupplierAddress</a:t>
            </a:r>
            <a:r>
              <a:rPr lang="en-US" sz="2000" dirty="0">
                <a:cs typeface="B Nazanin" panose="00000400000000000000" pitchFamily="2" charset="-78"/>
              </a:rPr>
              <a:t> </a:t>
            </a:r>
            <a:r>
              <a:rPr lang="fa-IR" sz="2000" dirty="0">
                <a:cs typeface="B Nazanin" panose="00000400000000000000" pitchFamily="2" charset="-78"/>
              </a:rPr>
              <a:t>برای هر محصول تکرار می شود زيرا وابستگی تعدی با کليد اصلی دارند.</a:t>
            </a:r>
            <a:endParaRPr lang="en-US" sz="2000" dirty="0">
              <a:cs typeface="B Nazanin" panose="00000400000000000000" pitchFamily="2" charset="-78"/>
            </a:endParaRPr>
          </a:p>
          <a:p>
            <a:pPr algn="r" rtl="1"/>
            <a:endParaRPr lang="fa-IR" sz="2000" dirty="0">
              <a:cs typeface="B Nazanin" panose="00000400000000000000" pitchFamily="2" charset="-78"/>
            </a:endParaRPr>
          </a:p>
          <a:p>
            <a:pPr algn="l"/>
            <a:r>
              <a:rPr lang="en-US" sz="2000" b="1" dirty="0" err="1">
                <a:cs typeface="B Nazanin" panose="00000400000000000000" pitchFamily="2" charset="-78"/>
              </a:rPr>
              <a:t>ProductNo</a:t>
            </a:r>
            <a:r>
              <a:rPr lang="en-US" sz="2000" b="1" dirty="0">
                <a:cs typeface="B Nazanin" panose="00000400000000000000" pitchFamily="2" charset="-78"/>
              </a:rPr>
              <a:t> → </a:t>
            </a:r>
            <a:r>
              <a:rPr lang="en-US" sz="2000" b="1" dirty="0" err="1">
                <a:cs typeface="B Nazanin" panose="00000400000000000000" pitchFamily="2" charset="-78"/>
              </a:rPr>
              <a:t>SupplierCode</a:t>
            </a:r>
            <a:r>
              <a:rPr lang="en-US" sz="2000" b="1" dirty="0">
                <a:cs typeface="B Nazanin" panose="00000400000000000000" pitchFamily="2" charset="-78"/>
              </a:rPr>
              <a:t> → {</a:t>
            </a:r>
            <a:r>
              <a:rPr lang="en-US" sz="2000" b="1" dirty="0" err="1">
                <a:cs typeface="B Nazanin" panose="00000400000000000000" pitchFamily="2" charset="-78"/>
              </a:rPr>
              <a:t>SupplierName</a:t>
            </a:r>
            <a:r>
              <a:rPr lang="en-US" sz="2000" b="1" dirty="0">
                <a:cs typeface="B Nazanin" panose="00000400000000000000" pitchFamily="2" charset="-78"/>
              </a:rPr>
              <a:t>, </a:t>
            </a:r>
            <a:r>
              <a:rPr lang="en-US" sz="2000" b="1" dirty="0" err="1">
                <a:cs typeface="B Nazanin" panose="00000400000000000000" pitchFamily="2" charset="-78"/>
              </a:rPr>
              <a:t>SupplierAddress</a:t>
            </a:r>
            <a:r>
              <a:rPr lang="en-US" sz="2000" b="1" dirty="0">
                <a:cs typeface="B Nazanin" panose="00000400000000000000" pitchFamily="2" charset="-78"/>
              </a:rPr>
              <a:t>}</a:t>
            </a:r>
          </a:p>
          <a:p>
            <a:pPr algn="l"/>
            <a:endParaRPr lang="en-US" sz="2000" b="1" dirty="0">
              <a:cs typeface="B Nazanin" panose="00000400000000000000" pitchFamily="2" charset="-78"/>
            </a:endParaRPr>
          </a:p>
          <a:p>
            <a:pPr algn="r" rtl="1"/>
            <a:r>
              <a:rPr lang="fa-IR" sz="2000" dirty="0">
                <a:cs typeface="B Nazanin" panose="00000400000000000000" pitchFamily="2" charset="-78"/>
              </a:rPr>
              <a:t>با حذف اين ستون ها و تقسيم جدول به صورت زير به فرم سوم نرمال می رسيم. توجه کنيد که </a:t>
            </a:r>
            <a:r>
              <a:rPr lang="en-US" sz="2000" dirty="0" err="1">
                <a:cs typeface="B Nazanin" panose="00000400000000000000" pitchFamily="2" charset="-78"/>
              </a:rPr>
              <a:t>SupplierCode</a:t>
            </a:r>
            <a:r>
              <a:rPr lang="en-US" sz="2000" dirty="0">
                <a:cs typeface="B Nazanin" panose="00000400000000000000" pitchFamily="2" charset="-78"/>
              </a:rPr>
              <a:t> </a:t>
            </a:r>
            <a:r>
              <a:rPr lang="fa-IR" sz="2000" dirty="0">
                <a:cs typeface="B Nazanin" panose="00000400000000000000" pitchFamily="2" charset="-78"/>
              </a:rPr>
              <a:t>در جدول </a:t>
            </a:r>
            <a:r>
              <a:rPr lang="en-US" sz="2000" dirty="0">
                <a:cs typeface="B Nazanin" panose="00000400000000000000" pitchFamily="2" charset="-78"/>
              </a:rPr>
              <a:t>PRODUCT </a:t>
            </a:r>
            <a:r>
              <a:rPr lang="fa-IR" sz="2000" dirty="0">
                <a:cs typeface="B Nazanin" panose="00000400000000000000" pitchFamily="2" charset="-78"/>
              </a:rPr>
              <a:t>به عنوان کليد خارجی باقی می ماند.</a:t>
            </a:r>
          </a:p>
          <a:p>
            <a:pPr algn="l"/>
            <a:endParaRPr lang="en-US" b="1" dirty="0">
              <a:cs typeface="B Nazanin" panose="00000400000000000000" pitchFamily="2" charset="-78"/>
            </a:endParaRPr>
          </a:p>
        </p:txBody>
      </p:sp>
      <p:sp>
        <p:nvSpPr>
          <p:cNvPr id="7" name="TextBox 6">
            <a:extLst>
              <a:ext uri="{FF2B5EF4-FFF2-40B4-BE49-F238E27FC236}">
                <a16:creationId xmlns:a16="http://schemas.microsoft.com/office/drawing/2014/main" id="{37CB1894-5212-453A-A5F7-4CDEA3A2FEC1}"/>
              </a:ext>
            </a:extLst>
          </p:cNvPr>
          <p:cNvSpPr txBox="1"/>
          <p:nvPr/>
        </p:nvSpPr>
        <p:spPr>
          <a:xfrm>
            <a:off x="190500" y="5029200"/>
            <a:ext cx="8896350" cy="923330"/>
          </a:xfrm>
          <a:prstGeom prst="rect">
            <a:avLst/>
          </a:prstGeom>
          <a:noFill/>
        </p:spPr>
        <p:txBody>
          <a:bodyPr wrap="square">
            <a:spAutoFit/>
          </a:bodyPr>
          <a:lstStyle/>
          <a:p>
            <a:pPr algn="l"/>
            <a:r>
              <a:rPr lang="en-US" sz="1800" b="1" dirty="0">
                <a:cs typeface="B Nazanin" panose="00000400000000000000" pitchFamily="2" charset="-78"/>
              </a:rPr>
              <a:t>PRODUCT(</a:t>
            </a:r>
            <a:r>
              <a:rPr lang="en-US" sz="1800" b="1" u="sng" dirty="0" err="1">
                <a:cs typeface="B Nazanin" panose="00000400000000000000" pitchFamily="2" charset="-78"/>
              </a:rPr>
              <a:t>ProductNo</a:t>
            </a:r>
            <a:r>
              <a:rPr lang="en-US" sz="1800" b="1" dirty="0">
                <a:cs typeface="B Nazanin" panose="00000400000000000000" pitchFamily="2" charset="-78"/>
              </a:rPr>
              <a:t>, Description, </a:t>
            </a:r>
            <a:r>
              <a:rPr lang="en-US" sz="1800" b="1" dirty="0" err="1">
                <a:cs typeface="B Nazanin" panose="00000400000000000000" pitchFamily="2" charset="-78"/>
              </a:rPr>
              <a:t>ReorderLevel</a:t>
            </a:r>
            <a:r>
              <a:rPr lang="en-US" sz="1800" b="1" dirty="0">
                <a:cs typeface="B Nazanin" panose="00000400000000000000" pitchFamily="2" charset="-78"/>
              </a:rPr>
              <a:t>, Price, </a:t>
            </a:r>
            <a:r>
              <a:rPr lang="en-US" sz="1800" b="1" dirty="0" err="1">
                <a:cs typeface="B Nazanin" panose="00000400000000000000" pitchFamily="2" charset="-78"/>
              </a:rPr>
              <a:t>QtyInStock</a:t>
            </a:r>
            <a:r>
              <a:rPr lang="en-US" sz="1800" b="1" dirty="0">
                <a:cs typeface="B Nazanin" panose="00000400000000000000" pitchFamily="2" charset="-78"/>
              </a:rPr>
              <a:t>, </a:t>
            </a:r>
            <a:r>
              <a:rPr lang="en-US" sz="1800" b="1" dirty="0" err="1">
                <a:cs typeface="B Nazanin" panose="00000400000000000000" pitchFamily="2" charset="-78"/>
              </a:rPr>
              <a:t>SupplierCode</a:t>
            </a:r>
            <a:r>
              <a:rPr lang="en-US" sz="1800" b="1" dirty="0">
                <a:cs typeface="B Nazanin" panose="00000400000000000000" pitchFamily="2" charset="-78"/>
              </a:rPr>
              <a:t>)</a:t>
            </a:r>
            <a:br>
              <a:rPr lang="en-US" sz="1800" b="1" dirty="0">
                <a:cs typeface="B Nazanin" panose="00000400000000000000" pitchFamily="2" charset="-78"/>
              </a:rPr>
            </a:br>
            <a:r>
              <a:rPr lang="en-US" sz="1800" b="1" dirty="0">
                <a:cs typeface="B Nazanin" panose="00000400000000000000" pitchFamily="2" charset="-78"/>
              </a:rPr>
              <a:t>SUPPLIER(</a:t>
            </a:r>
            <a:r>
              <a:rPr lang="en-US" sz="1800" b="1" u="sng" dirty="0" err="1">
                <a:cs typeface="B Nazanin" panose="00000400000000000000" pitchFamily="2" charset="-78"/>
              </a:rPr>
              <a:t>SupplierCode</a:t>
            </a:r>
            <a:r>
              <a:rPr lang="en-US" sz="1800" b="1" dirty="0">
                <a:cs typeface="B Nazanin" panose="00000400000000000000" pitchFamily="2" charset="-78"/>
              </a:rPr>
              <a:t>, </a:t>
            </a:r>
            <a:r>
              <a:rPr lang="en-US" sz="1800" b="1" dirty="0" err="1">
                <a:cs typeface="B Nazanin" panose="00000400000000000000" pitchFamily="2" charset="-78"/>
              </a:rPr>
              <a:t>SupplierName</a:t>
            </a:r>
            <a:r>
              <a:rPr lang="en-US" sz="1800" b="1" dirty="0">
                <a:cs typeface="B Nazanin" panose="00000400000000000000" pitchFamily="2" charset="-78"/>
              </a:rPr>
              <a:t>, </a:t>
            </a:r>
            <a:r>
              <a:rPr lang="en-US" sz="1800" b="1" dirty="0" err="1">
                <a:cs typeface="B Nazanin" panose="00000400000000000000" pitchFamily="2" charset="-78"/>
              </a:rPr>
              <a:t>SupplierAddress</a:t>
            </a:r>
            <a:r>
              <a:rPr lang="en-US" sz="1800" b="1" dirty="0">
                <a:cs typeface="B Nazanin" panose="00000400000000000000" pitchFamily="2" charset="-78"/>
              </a:rPr>
              <a:t>)</a:t>
            </a:r>
          </a:p>
        </p:txBody>
      </p:sp>
      <p:sp>
        <p:nvSpPr>
          <p:cNvPr id="6" name="Title 1">
            <a:extLst>
              <a:ext uri="{FF2B5EF4-FFF2-40B4-BE49-F238E27FC236}">
                <a16:creationId xmlns:a16="http://schemas.microsoft.com/office/drawing/2014/main" id="{54A5317B-7066-4DC2-A479-6E9240196B51}"/>
              </a:ext>
            </a:extLst>
          </p:cNvPr>
          <p:cNvSpPr>
            <a:spLocks noGrp="1"/>
          </p:cNvSpPr>
          <p:nvPr>
            <p:ph type="title"/>
          </p:nvPr>
        </p:nvSpPr>
        <p:spPr>
          <a:xfrm>
            <a:off x="768350" y="117475"/>
            <a:ext cx="8077200" cy="609600"/>
          </a:xfrm>
        </p:spPr>
        <p:txBody>
          <a:bodyPr anchor="ctr"/>
          <a:lstStyle/>
          <a:p>
            <a:pPr algn="ctr" rtl="1"/>
            <a:r>
              <a:rPr lang="fa-IR" altLang="en-US" sz="4400" dirty="0">
                <a:latin typeface="Titr" pitchFamily="2" charset="-78"/>
                <a:ea typeface="2  Titr"/>
                <a:cs typeface="2  Titr"/>
              </a:rPr>
              <a:t>جدول نرمال ۳</a:t>
            </a:r>
            <a:endParaRPr lang="en-US" altLang="en-US" sz="4400" b="1" dirty="0">
              <a:latin typeface="Titr" pitchFamily="2" charset="-78"/>
              <a:ea typeface="2  Titr"/>
              <a:cs typeface="2  Titr"/>
            </a:endParaRPr>
          </a:p>
        </p:txBody>
      </p:sp>
    </p:spTree>
    <p:extLst>
      <p:ext uri="{BB962C8B-B14F-4D97-AF65-F5344CB8AC3E}">
        <p14:creationId xmlns:p14="http://schemas.microsoft.com/office/powerpoint/2010/main" val="1713415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9" name="Title 1"/>
          <p:cNvSpPr>
            <a:spLocks noGrp="1"/>
          </p:cNvSpPr>
          <p:nvPr>
            <p:ph type="title"/>
          </p:nvPr>
        </p:nvSpPr>
        <p:spPr>
          <a:xfrm>
            <a:off x="457200" y="685800"/>
            <a:ext cx="8229600" cy="1143000"/>
          </a:xfrm>
        </p:spPr>
        <p:txBody>
          <a:bodyPr anchor="ctr"/>
          <a:lstStyle/>
          <a:p>
            <a:pPr algn="ctr" rtl="1"/>
            <a:r>
              <a:rPr lang="fa-IR" altLang="en-US" sz="4400" b="1">
                <a:latin typeface="Titr" pitchFamily="2" charset="-78"/>
                <a:ea typeface="2  Titr"/>
                <a:cs typeface="2  Titr"/>
              </a:rPr>
              <a:t>جداول نرمال</a:t>
            </a:r>
            <a:r>
              <a:rPr lang="en-US" altLang="en-US" sz="4400" b="1">
                <a:latin typeface="Titr" pitchFamily="2" charset="-78"/>
                <a:ea typeface="2  Titr"/>
                <a:cs typeface="2  Titr"/>
              </a:rPr>
              <a:t>BCNF </a:t>
            </a:r>
          </a:p>
        </p:txBody>
      </p:sp>
      <p:sp>
        <p:nvSpPr>
          <p:cNvPr id="147458" name="Content Placeholder 2"/>
          <p:cNvSpPr>
            <a:spLocks noGrp="1"/>
          </p:cNvSpPr>
          <p:nvPr>
            <p:ph idx="1"/>
          </p:nvPr>
        </p:nvSpPr>
        <p:spPr>
          <a:xfrm>
            <a:off x="76200" y="1752599"/>
            <a:ext cx="8614756" cy="4777365"/>
          </a:xfrm>
        </p:spPr>
        <p:txBody>
          <a:bodyPr>
            <a:noAutofit/>
          </a:bodyPr>
          <a:lstStyle/>
          <a:p>
            <a:pPr algn="just" rtl="1"/>
            <a:r>
              <a:rPr lang="fa-IR" altLang="en-US" sz="3200" dirty="0">
                <a:ea typeface="Majalla UI"/>
                <a:cs typeface="B Nazanin" panose="00000400000000000000" pitchFamily="2" charset="-78"/>
              </a:rPr>
              <a:t>یک جدول نرمال</a:t>
            </a:r>
            <a:r>
              <a:rPr lang="en-US" altLang="en-US" sz="3200" dirty="0">
                <a:cs typeface="B Nazanin" panose="00000400000000000000" pitchFamily="2" charset="-78"/>
              </a:rPr>
              <a:t>BCNF</a:t>
            </a:r>
            <a:r>
              <a:rPr lang="fa-IR" altLang="en-US" sz="3200" dirty="0">
                <a:ea typeface="Majalla UI"/>
                <a:cs typeface="B Nazanin" panose="00000400000000000000" pitchFamily="2" charset="-78"/>
              </a:rPr>
              <a:t>است اگروتنها اگر کلیه تعیین کننده های (</a:t>
            </a:r>
            <a:r>
              <a:rPr lang="en-US" altLang="en-US" sz="3200" dirty="0">
                <a:cs typeface="B Nazanin" panose="00000400000000000000" pitchFamily="2" charset="-78"/>
              </a:rPr>
              <a:t>Determinant</a:t>
            </a:r>
            <a:r>
              <a:rPr lang="fa-IR" altLang="en-US" sz="3200" dirty="0">
                <a:ea typeface="Majalla UI"/>
                <a:cs typeface="B Nazanin" panose="00000400000000000000" pitchFamily="2" charset="-78"/>
              </a:rPr>
              <a:t>) آن، کلید کاندیدا باشند. یعنی هر رابطه </a:t>
            </a:r>
            <a:r>
              <a:rPr lang="en-US" altLang="en-US" sz="3200" dirty="0">
                <a:cs typeface="B Nazanin" panose="00000400000000000000" pitchFamily="2" charset="-78"/>
              </a:rPr>
              <a:t>A-&gt;B</a:t>
            </a:r>
            <a:r>
              <a:rPr lang="fa-IR" altLang="en-US" sz="3200" dirty="0">
                <a:ea typeface="Majalla UI"/>
                <a:cs typeface="B Nazanin" panose="00000400000000000000" pitchFamily="2" charset="-78"/>
              </a:rPr>
              <a:t> در جدول وجود داشته باشد </a:t>
            </a:r>
            <a:r>
              <a:rPr lang="en-US" altLang="en-US" sz="3200" dirty="0">
                <a:cs typeface="B Nazanin" panose="00000400000000000000" pitchFamily="2" charset="-78"/>
              </a:rPr>
              <a:t>A</a:t>
            </a:r>
            <a:r>
              <a:rPr lang="fa-IR" altLang="en-US" sz="3200" dirty="0">
                <a:ea typeface="Majalla UI"/>
                <a:cs typeface="B Nazanin" panose="00000400000000000000" pitchFamily="2" charset="-78"/>
              </a:rPr>
              <a:t> کلید کاندیدا باشد</a:t>
            </a:r>
            <a:r>
              <a:rPr lang="en-US" altLang="en-US" sz="3200" dirty="0">
                <a:ea typeface="Majalla UI"/>
                <a:cs typeface="B Nazanin" panose="00000400000000000000" pitchFamily="2" charset="-78"/>
              </a:rPr>
              <a:t>.</a:t>
            </a:r>
            <a:endParaRPr lang="fa-IR" altLang="en-US" sz="3200" dirty="0">
              <a:ea typeface="Majalla UI"/>
              <a:cs typeface="B Nazanin" panose="00000400000000000000" pitchFamily="2" charset="-78"/>
            </a:endParaRPr>
          </a:p>
        </p:txBody>
      </p:sp>
      <p:sp>
        <p:nvSpPr>
          <p:cNvPr id="3" name="Slide Number Placeholder 2">
            <a:extLst>
              <a:ext uri="{FF2B5EF4-FFF2-40B4-BE49-F238E27FC236}">
                <a16:creationId xmlns:a16="http://schemas.microsoft.com/office/drawing/2014/main" id="{3912FC48-26F3-4848-BBE3-05E4687419AB}"/>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9" name="Title 1"/>
          <p:cNvSpPr>
            <a:spLocks noGrp="1"/>
          </p:cNvSpPr>
          <p:nvPr>
            <p:ph type="title"/>
          </p:nvPr>
        </p:nvSpPr>
        <p:spPr>
          <a:xfrm>
            <a:off x="465838" y="0"/>
            <a:ext cx="8229600" cy="1143000"/>
          </a:xfrm>
        </p:spPr>
        <p:txBody>
          <a:bodyPr anchor="ctr"/>
          <a:lstStyle/>
          <a:p>
            <a:pPr algn="ctr" rtl="1"/>
            <a:r>
              <a:rPr lang="fa-IR" altLang="en-US" sz="4400" b="1" dirty="0">
                <a:latin typeface="Titr" pitchFamily="2" charset="-78"/>
                <a:ea typeface="2  Titr"/>
                <a:cs typeface="2  Titr"/>
              </a:rPr>
              <a:t>جداول نرمال</a:t>
            </a:r>
            <a:r>
              <a:rPr lang="en-US" altLang="en-US" sz="4400" b="1" dirty="0">
                <a:latin typeface="Titr" pitchFamily="2" charset="-78"/>
                <a:ea typeface="2  Titr"/>
                <a:cs typeface="2  Titr"/>
              </a:rPr>
              <a:t>BCNF </a:t>
            </a:r>
          </a:p>
        </p:txBody>
      </p:sp>
      <p:sp>
        <p:nvSpPr>
          <p:cNvPr id="147458" name="Content Placeholder 2"/>
          <p:cNvSpPr>
            <a:spLocks noGrp="1"/>
          </p:cNvSpPr>
          <p:nvPr>
            <p:ph idx="1"/>
          </p:nvPr>
        </p:nvSpPr>
        <p:spPr>
          <a:xfrm>
            <a:off x="76200" y="1143000"/>
            <a:ext cx="8763000" cy="5386965"/>
          </a:xfrm>
        </p:spPr>
        <p:txBody>
          <a:bodyPr>
            <a:noAutofit/>
          </a:bodyPr>
          <a:lstStyle/>
          <a:p>
            <a:pPr marL="0" marR="0" algn="r" rtl="1">
              <a:lnSpc>
                <a:spcPct val="107000"/>
              </a:lnSpc>
              <a:spcBef>
                <a:spcPts val="0"/>
              </a:spcBef>
              <a:spcAft>
                <a:spcPts val="800"/>
              </a:spcAft>
            </a:pPr>
            <a:r>
              <a:rPr lang="en-US" sz="2400" b="1" dirty="0">
                <a:effectLst/>
                <a:latin typeface="Times New Roman" panose="02020603050405020304" pitchFamily="18" charset="0"/>
                <a:ea typeface="Times New Roman" panose="02020603050405020304" pitchFamily="18" charset="0"/>
                <a:cs typeface="B Nazanin" panose="00000400000000000000" pitchFamily="2" charset="-78"/>
              </a:rPr>
              <a:t>BCNF (Boyce-Codd Normal Form)</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یکی از سطوح بالای نرمال‌سازی در پایگاه داده است که برای کاهش انحرافات و مشکلات ناشی از تکرار داده‌ها طراحی شده است</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 BCNF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در حقیقت یک شکل اصلاح‌شده از </a:t>
            </a:r>
            <a:r>
              <a:rPr lang="en-US" sz="2400" b="1" dirty="0">
                <a:effectLst/>
                <a:latin typeface="Times New Roman" panose="02020603050405020304" pitchFamily="18" charset="0"/>
                <a:ea typeface="Times New Roman" panose="02020603050405020304" pitchFamily="18" charset="0"/>
                <a:cs typeface="B Nazanin" panose="00000400000000000000" pitchFamily="2" charset="-78"/>
              </a:rPr>
              <a:t>3NF (Third Normal Form)</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است که شرایط سختگیرانه‌تری را برای روابط در پایگاه داده وضع می‌کند</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a:t>
            </a:r>
          </a:p>
          <a:p>
            <a:pPr marL="0" marR="0" algn="r" rtl="1">
              <a:lnSpc>
                <a:spcPct val="107000"/>
              </a:lnSpc>
              <a:spcBef>
                <a:spcPts val="0"/>
              </a:spcBef>
              <a:spcAft>
                <a:spcPts val="800"/>
              </a:spcAft>
            </a:pPr>
            <a:r>
              <a:rPr lang="ar-SA" sz="2400" b="1" dirty="0">
                <a:effectLst/>
                <a:latin typeface="Times New Roman" panose="02020603050405020304" pitchFamily="18" charset="0"/>
                <a:ea typeface="Times New Roman" panose="02020603050405020304" pitchFamily="18" charset="0"/>
                <a:cs typeface="B Nazanin" panose="00000400000000000000" pitchFamily="2" charset="-78"/>
              </a:rPr>
              <a:t>شرایط</a:t>
            </a:r>
            <a:r>
              <a:rPr lang="en-US" sz="2400" b="1" dirty="0">
                <a:effectLst/>
                <a:latin typeface="Times New Roman" panose="02020603050405020304" pitchFamily="18" charset="0"/>
                <a:ea typeface="Times New Roman" panose="02020603050405020304" pitchFamily="18" charset="0"/>
                <a:cs typeface="B Nazanin" panose="00000400000000000000" pitchFamily="2" charset="-78"/>
              </a:rPr>
              <a:t> BCNF:</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یک رابطه</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 (Table)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در</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 BCNF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قرار دارد اگر برای هر وابستگی تابعی </a:t>
            </a:r>
            <a:r>
              <a:rPr lang="en-US" sz="2400" b="1" dirty="0">
                <a:effectLst/>
                <a:latin typeface="Times New Roman" panose="02020603050405020304" pitchFamily="18" charset="0"/>
                <a:ea typeface="Times New Roman" panose="02020603050405020304" pitchFamily="18" charset="0"/>
                <a:cs typeface="B Nazanin" panose="00000400000000000000" pitchFamily="2" charset="-78"/>
              </a:rPr>
              <a:t>X → Y</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در آن رابطه، یکی از شرایط زیر برقرار باشد</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en-US" sz="2400" b="1" dirty="0">
                <a:effectLst/>
                <a:latin typeface="Times New Roman" panose="02020603050405020304" pitchFamily="18" charset="0"/>
                <a:ea typeface="Times New Roman" panose="02020603050405020304" pitchFamily="18" charset="0"/>
                <a:cs typeface="B Nazanin" panose="00000400000000000000" pitchFamily="2" charset="-78"/>
              </a:rPr>
              <a:t>X</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باید یک سوپرکلید باشد، یعنی مجموعه‌ای از ویژگی‌ها</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 (attributes)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که می‌تواند به طور منحصر به فرد هر سطر را شناسایی کند</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در غیر این صورت، باید وابستگی‌های غیرضروری (جزئی) وجود نداشته باشد</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endParaRPr lang="en-US" sz="2400" dirty="0">
              <a:effectLst/>
              <a:latin typeface="Calibri" panose="020F0502020204030204" pitchFamily="34" charset="0"/>
              <a:ea typeface="Calibri" panose="020F0502020204030204" pitchFamily="34" charset="0"/>
              <a:cs typeface="Arial" panose="020B0604020202020204" pitchFamily="34" charset="0"/>
            </a:endParaRPr>
          </a:p>
        </p:txBody>
      </p:sp>
      <p:sp>
        <p:nvSpPr>
          <p:cNvPr id="3" name="Slide Number Placeholder 2">
            <a:extLst>
              <a:ext uri="{FF2B5EF4-FFF2-40B4-BE49-F238E27FC236}">
                <a16:creationId xmlns:a16="http://schemas.microsoft.com/office/drawing/2014/main" id="{3912FC48-26F3-4848-BBE3-05E4687419AB}"/>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35</a:t>
            </a:fld>
            <a:endParaRPr lang="en-US"/>
          </a:p>
        </p:txBody>
      </p:sp>
    </p:spTree>
    <p:extLst>
      <p:ext uri="{BB962C8B-B14F-4D97-AF65-F5344CB8AC3E}">
        <p14:creationId xmlns:p14="http://schemas.microsoft.com/office/powerpoint/2010/main" val="154490546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9" name="Title 1"/>
          <p:cNvSpPr>
            <a:spLocks noGrp="1"/>
          </p:cNvSpPr>
          <p:nvPr>
            <p:ph type="title"/>
          </p:nvPr>
        </p:nvSpPr>
        <p:spPr>
          <a:xfrm>
            <a:off x="461356" y="102124"/>
            <a:ext cx="8229600" cy="1143000"/>
          </a:xfrm>
        </p:spPr>
        <p:txBody>
          <a:bodyPr anchor="ctr"/>
          <a:lstStyle/>
          <a:p>
            <a:pPr algn="ctr" rtl="1"/>
            <a:r>
              <a:rPr lang="fa-IR" altLang="en-US" sz="4400" b="1" dirty="0">
                <a:latin typeface="Titr" pitchFamily="2" charset="-78"/>
                <a:ea typeface="2  Titr"/>
                <a:cs typeface="2  Titr"/>
              </a:rPr>
              <a:t>جداول نرمال</a:t>
            </a:r>
            <a:r>
              <a:rPr lang="en-US" altLang="en-US" sz="4400" b="1" dirty="0">
                <a:latin typeface="Titr" pitchFamily="2" charset="-78"/>
                <a:ea typeface="2  Titr"/>
                <a:cs typeface="2  Titr"/>
              </a:rPr>
              <a:t>BCNF </a:t>
            </a:r>
          </a:p>
        </p:txBody>
      </p:sp>
      <p:sp>
        <p:nvSpPr>
          <p:cNvPr id="147458" name="Content Placeholder 2"/>
          <p:cNvSpPr>
            <a:spLocks noGrp="1"/>
          </p:cNvSpPr>
          <p:nvPr>
            <p:ph idx="1"/>
          </p:nvPr>
        </p:nvSpPr>
        <p:spPr>
          <a:xfrm>
            <a:off x="76200" y="1066801"/>
            <a:ext cx="8686800" cy="5463164"/>
          </a:xfrm>
        </p:spPr>
        <p:txBody>
          <a:bodyPr>
            <a:noAutofit/>
          </a:bodyPr>
          <a:lstStyle/>
          <a:p>
            <a:pPr marL="0" marR="0" lvl="0" indent="0" algn="r" defTabSz="914400" rtl="1" eaLnBrk="0" fontAlgn="base" latinLnBrk="0" hangingPunct="0">
              <a:lnSpc>
                <a:spcPct val="100000"/>
              </a:lnSpc>
              <a:spcBef>
                <a:spcPct val="0"/>
              </a:spcBef>
              <a:spcAft>
                <a:spcPct val="0"/>
              </a:spcAft>
              <a:buClrTx/>
              <a:buSzTx/>
              <a:buFontTx/>
              <a:buNone/>
              <a:tabLst/>
            </a:pP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فرض کنید یک جدول به نام </a:t>
            </a:r>
            <a:r>
              <a:rPr kumimoji="0" lang="en-US" altLang="en-US" sz="2400" b="1" i="0" u="none" strike="noStrike" cap="none" normalizeH="0" baseline="0" dirty="0" err="1">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Student_Course</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a:t>
            </a: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داریم که اطلاعات مربوط به دانشجویان و دوره‌هایی که در آن‌ها ثبت‌نام کرده‌اند را ذخیره می‌کند</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a:t>
            </a:r>
            <a:endParaRPr kumimoji="0" lang="en-US" altLang="en-US" sz="1000" b="0" i="0" u="none" strike="noStrike" cap="none" normalizeH="0" baseline="0" dirty="0">
              <a:ln>
                <a:noFill/>
              </a:ln>
              <a:solidFill>
                <a:schemeClr val="tx1"/>
              </a:solidFill>
              <a:effectLst/>
            </a:endParaRPr>
          </a:p>
          <a:p>
            <a:pPr marL="0" marR="0" lvl="0" indent="0" algn="r" defTabSz="914400" rtl="1" eaLnBrk="0" fontAlgn="base" latinLnBrk="0" hangingPunct="0">
              <a:lnSpc>
                <a:spcPct val="100000"/>
              </a:lnSpc>
              <a:spcBef>
                <a:spcPct val="0"/>
              </a:spcBef>
              <a:spcAft>
                <a:spcPct val="0"/>
              </a:spcAft>
              <a:buClrTx/>
              <a:buSzTx/>
              <a:buFontTx/>
              <a:buNone/>
              <a:tabLst/>
            </a:pPr>
            <a:r>
              <a:rPr kumimoji="0" lang="ar-SA" altLang="en-US" sz="2400" dirty="0">
                <a:latin typeface="Times New Roman" panose="02020603050405020304" pitchFamily="18" charset="0"/>
              </a:rPr>
              <a:t>در این جدول، وابستگی‌های تابعی </a:t>
            </a: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به شکل زیر هستند</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a:t>
            </a:r>
            <a:endParaRPr kumimoji="0" lang="en-US" altLang="en-US" sz="1000" b="0" i="0" u="none" strike="noStrike" cap="none" normalizeH="0" baseline="0" dirty="0">
              <a:ln>
                <a:noFill/>
              </a:ln>
              <a:solidFill>
                <a:schemeClr val="tx1"/>
              </a:solidFill>
              <a:effectLst/>
            </a:endParaRPr>
          </a:p>
          <a:p>
            <a:pPr marL="0" marR="0" lvl="0" indent="0" algn="r" defTabSz="914400" rtl="1" eaLnBrk="0" fontAlgn="base" latinLnBrk="0" hangingPunct="0">
              <a:lnSpc>
                <a:spcPct val="100000"/>
              </a:lnSpc>
              <a:spcBef>
                <a:spcPct val="0"/>
              </a:spcBef>
              <a:spcAft>
                <a:spcPct val="0"/>
              </a:spcAft>
              <a:buClrTx/>
              <a:buSzTx/>
              <a:buFontTx/>
              <a:buAutoNum type="arabicPeriod"/>
              <a:tabLst/>
            </a:pPr>
            <a:r>
              <a:rPr kumimoji="0" lang="en-US" altLang="en-US" sz="2400" b="1" i="0" u="none" strike="noStrike" cap="none" normalizeH="0" baseline="0" dirty="0" err="1">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Student_ID</a:t>
            </a:r>
            <a:r>
              <a:rPr kumimoji="0" lang="en-US" altLang="en-US" sz="2400" b="1"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a:t>
            </a:r>
            <a:r>
              <a:rPr kumimoji="0" lang="en-US" altLang="en-US" sz="2400" b="1" i="0" u="none" strike="noStrike" cap="none" normalizeH="0" baseline="0" dirty="0" err="1">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Course_ID</a:t>
            </a:r>
            <a:r>
              <a:rPr kumimoji="0" lang="en-US" altLang="en-US" sz="2400" b="1"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 Instructor</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a:t>
            </a: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برای هر ترکیب منحصر به فرد از دانشجو و دوره، استاد مشخص است</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a:t>
            </a:r>
            <a:endParaRPr kumimoji="0" lang="en-US" altLang="en-US" b="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Arial" panose="020B0604020202020204" pitchFamily="34" charset="0"/>
            </a:endParaRPr>
          </a:p>
          <a:p>
            <a:pPr marL="0" marR="0" lvl="0" indent="0" algn="r" defTabSz="914400" rtl="1" eaLnBrk="0" fontAlgn="base" latinLnBrk="0" hangingPunct="0">
              <a:lnSpc>
                <a:spcPct val="100000"/>
              </a:lnSpc>
              <a:spcBef>
                <a:spcPct val="0"/>
              </a:spcBef>
              <a:spcAft>
                <a:spcPct val="0"/>
              </a:spcAft>
              <a:buClrTx/>
              <a:buSzTx/>
              <a:buFontTx/>
              <a:buAutoNum type="arabicPeriod"/>
              <a:tabLst/>
            </a:pPr>
            <a:r>
              <a:rPr kumimoji="0" lang="en-US" altLang="en-US" sz="2400" b="1" i="0" u="none" strike="noStrike" cap="none" normalizeH="0" baseline="0" dirty="0" err="1">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Course_ID</a:t>
            </a:r>
            <a:r>
              <a:rPr kumimoji="0" lang="en-US" altLang="en-US" sz="2400" b="1"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 Instructor</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a:t>
            </a: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هر دوره یک استاد ثابت دارد</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a:t>
            </a:r>
            <a:endParaRPr kumimoji="0" lang="en-US" altLang="en-US" sz="1000" b="0" i="0" u="none" strike="noStrike" cap="none" normalizeH="0" baseline="0" dirty="0">
              <a:ln>
                <a:noFill/>
              </a:ln>
              <a:solidFill>
                <a:schemeClr val="tx1"/>
              </a:solidFill>
              <a:effectLst/>
            </a:endParaRPr>
          </a:p>
        </p:txBody>
      </p:sp>
      <p:sp>
        <p:nvSpPr>
          <p:cNvPr id="3" name="Slide Number Placeholder 2">
            <a:extLst>
              <a:ext uri="{FF2B5EF4-FFF2-40B4-BE49-F238E27FC236}">
                <a16:creationId xmlns:a16="http://schemas.microsoft.com/office/drawing/2014/main" id="{3912FC48-26F3-4848-BBE3-05E4687419AB}"/>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36</a:t>
            </a:fld>
            <a:endParaRPr lang="en-US"/>
          </a:p>
        </p:txBody>
      </p:sp>
      <p:graphicFrame>
        <p:nvGraphicFramePr>
          <p:cNvPr id="2" name="Table 1">
            <a:extLst>
              <a:ext uri="{FF2B5EF4-FFF2-40B4-BE49-F238E27FC236}">
                <a16:creationId xmlns:a16="http://schemas.microsoft.com/office/drawing/2014/main" id="{DCB33D59-BE8A-4FC5-AD38-946C988570CC}"/>
              </a:ext>
            </a:extLst>
          </p:cNvPr>
          <p:cNvGraphicFramePr>
            <a:graphicFrameLocks noGrp="1"/>
          </p:cNvGraphicFramePr>
          <p:nvPr/>
        </p:nvGraphicFramePr>
        <p:xfrm>
          <a:off x="1447800" y="4724400"/>
          <a:ext cx="5791200" cy="1295400"/>
        </p:xfrm>
        <a:graphic>
          <a:graphicData uri="http://schemas.openxmlformats.org/drawingml/2006/table">
            <a:tbl>
              <a:tblPr firstRow="1" firstCol="1" bandRow="1">
                <a:tableStyleId>{616DA210-FB5B-4158-B5E0-FEB733F419BA}</a:tableStyleId>
              </a:tblPr>
              <a:tblGrid>
                <a:gridCol w="1447800">
                  <a:extLst>
                    <a:ext uri="{9D8B030D-6E8A-4147-A177-3AD203B41FA5}">
                      <a16:colId xmlns:a16="http://schemas.microsoft.com/office/drawing/2014/main" val="1872423692"/>
                    </a:ext>
                  </a:extLst>
                </a:gridCol>
                <a:gridCol w="1447800">
                  <a:extLst>
                    <a:ext uri="{9D8B030D-6E8A-4147-A177-3AD203B41FA5}">
                      <a16:colId xmlns:a16="http://schemas.microsoft.com/office/drawing/2014/main" val="1361009028"/>
                    </a:ext>
                  </a:extLst>
                </a:gridCol>
                <a:gridCol w="1447800">
                  <a:extLst>
                    <a:ext uri="{9D8B030D-6E8A-4147-A177-3AD203B41FA5}">
                      <a16:colId xmlns:a16="http://schemas.microsoft.com/office/drawing/2014/main" val="3774693116"/>
                    </a:ext>
                  </a:extLst>
                </a:gridCol>
                <a:gridCol w="1447800">
                  <a:extLst>
                    <a:ext uri="{9D8B030D-6E8A-4147-A177-3AD203B41FA5}">
                      <a16:colId xmlns:a16="http://schemas.microsoft.com/office/drawing/2014/main" val="3463808896"/>
                    </a:ext>
                  </a:extLst>
                </a:gridCol>
              </a:tblGrid>
              <a:tr h="323850">
                <a:tc>
                  <a:txBody>
                    <a:bodyPr/>
                    <a:lstStyle/>
                    <a:p>
                      <a:pPr marL="0" marR="0" algn="ctr" rtl="1">
                        <a:lnSpc>
                          <a:spcPct val="107000"/>
                        </a:lnSpc>
                        <a:spcBef>
                          <a:spcPts val="0"/>
                        </a:spcBef>
                        <a:spcAft>
                          <a:spcPts val="0"/>
                        </a:spcAft>
                      </a:pPr>
                      <a:r>
                        <a:rPr lang="en-US" sz="1200" dirty="0" err="1">
                          <a:effectLst/>
                        </a:rPr>
                        <a:t>Student_ID</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err="1">
                          <a:effectLst/>
                        </a:rPr>
                        <a:t>Course_ID</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Instructor</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Semester</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006917758"/>
                  </a:ext>
                </a:extLst>
              </a:tr>
              <a:tr h="323850">
                <a:tc>
                  <a:txBody>
                    <a:bodyPr/>
                    <a:lstStyle/>
                    <a:p>
                      <a:pPr marL="0" marR="0" algn="r" rtl="1">
                        <a:lnSpc>
                          <a:spcPct val="107000"/>
                        </a:lnSpc>
                        <a:spcBef>
                          <a:spcPts val="0"/>
                        </a:spcBef>
                        <a:spcAft>
                          <a:spcPts val="0"/>
                        </a:spcAft>
                      </a:pPr>
                      <a:r>
                        <a:rPr lang="en-US" sz="1200">
                          <a:effectLst/>
                        </a:rPr>
                        <a:t>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101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Dr. A</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Fall 2024</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662875176"/>
                  </a:ext>
                </a:extLst>
              </a:tr>
              <a:tr h="323850">
                <a:tc>
                  <a:txBody>
                    <a:bodyPr/>
                    <a:lstStyle/>
                    <a:p>
                      <a:pPr marL="0" marR="0" algn="r" rtl="1">
                        <a:lnSpc>
                          <a:spcPct val="107000"/>
                        </a:lnSpc>
                        <a:spcBef>
                          <a:spcPts val="0"/>
                        </a:spcBef>
                        <a:spcAft>
                          <a:spcPts val="0"/>
                        </a:spcAft>
                      </a:pPr>
                      <a:r>
                        <a:rPr lang="en-US" sz="1200">
                          <a:effectLst/>
                        </a:rPr>
                        <a:t>2</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102</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Dr. B</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Spring 2024</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546994876"/>
                  </a:ext>
                </a:extLst>
              </a:tr>
              <a:tr h="323850">
                <a:tc>
                  <a:txBody>
                    <a:bodyPr/>
                    <a:lstStyle/>
                    <a:p>
                      <a:pPr marL="0" marR="0" algn="r" rtl="1">
                        <a:lnSpc>
                          <a:spcPct val="107000"/>
                        </a:lnSpc>
                        <a:spcBef>
                          <a:spcPts val="0"/>
                        </a:spcBef>
                        <a:spcAft>
                          <a:spcPts val="0"/>
                        </a:spcAft>
                      </a:pPr>
                      <a:r>
                        <a:rPr lang="en-US" sz="1200">
                          <a:effectLst/>
                        </a:rPr>
                        <a:t>3</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101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Dr. A</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dirty="0">
                          <a:effectLst/>
                        </a:rPr>
                        <a:t>Fall 2024</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840469740"/>
                  </a:ext>
                </a:extLst>
              </a:tr>
            </a:tbl>
          </a:graphicData>
        </a:graphic>
      </p:graphicFrame>
      <p:sp>
        <p:nvSpPr>
          <p:cNvPr id="7" name="TextBox 6">
            <a:extLst>
              <a:ext uri="{FF2B5EF4-FFF2-40B4-BE49-F238E27FC236}">
                <a16:creationId xmlns:a16="http://schemas.microsoft.com/office/drawing/2014/main" id="{DEC1ACF0-AB03-4ABA-8644-CAEB46AFA86A}"/>
              </a:ext>
            </a:extLst>
          </p:cNvPr>
          <p:cNvSpPr txBox="1"/>
          <p:nvPr/>
        </p:nvSpPr>
        <p:spPr>
          <a:xfrm>
            <a:off x="0" y="3429000"/>
            <a:ext cx="8690955" cy="1200329"/>
          </a:xfrm>
          <a:prstGeom prst="rect">
            <a:avLst/>
          </a:prstGeom>
          <a:noFill/>
        </p:spPr>
        <p:txBody>
          <a:bodyPr wrap="square">
            <a:spAutoFit/>
          </a:bodyPr>
          <a:lstStyle/>
          <a:p>
            <a:pPr marL="0" marR="0" lvl="0" indent="0" algn="r" defTabSz="914400" rtl="1" eaLnBrk="0" fontAlgn="base" latinLnBrk="0" hangingPunct="0">
              <a:lnSpc>
                <a:spcPct val="100000"/>
              </a:lnSpc>
              <a:spcBef>
                <a:spcPct val="0"/>
              </a:spcBef>
              <a:spcAft>
                <a:spcPct val="0"/>
              </a:spcAft>
              <a:buClrTx/>
              <a:buSzTx/>
              <a:buFontTx/>
              <a:buNone/>
              <a:tabLst/>
            </a:pP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مشکل این است که در این جدول، </a:t>
            </a:r>
            <a:r>
              <a:rPr kumimoji="0" lang="en-US" altLang="en-US" sz="2400" b="1" i="0" u="none" strike="noStrike" cap="none" normalizeH="0" baseline="0" dirty="0" err="1">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Course_ID</a:t>
            </a:r>
            <a:r>
              <a:rPr kumimoji="0" lang="en-US" altLang="en-US" sz="2400" b="1"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 Instructor</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a:t>
            </a: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نشان‌دهنده یک وابستگی است که باید در</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BCNF </a:t>
            </a: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تجزیه شود زیرا </a:t>
            </a:r>
            <a:r>
              <a:rPr kumimoji="0" lang="en-US" altLang="en-US" sz="2400" b="1" i="0" u="none" strike="noStrike" cap="none" normalizeH="0" baseline="0" dirty="0" err="1">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Course_ID</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a:t>
            </a: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یک سوپرکلید نیست (این تنها بخشی از کلید ترکیبی است)</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a:t>
            </a:r>
            <a:endParaRPr kumimoji="0" lang="en-US" altLang="en-US" sz="3600" b="0" i="0" u="none" strike="noStrike" cap="none" normalizeH="0" baseline="0" dirty="0">
              <a:ln>
                <a:noFill/>
              </a:ln>
              <a:solidFill>
                <a:schemeClr val="tx1"/>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09817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9" name="Title 1"/>
          <p:cNvSpPr>
            <a:spLocks noGrp="1"/>
          </p:cNvSpPr>
          <p:nvPr>
            <p:ph type="title"/>
          </p:nvPr>
        </p:nvSpPr>
        <p:spPr>
          <a:xfrm>
            <a:off x="457200" y="42078"/>
            <a:ext cx="8229600" cy="1143000"/>
          </a:xfrm>
        </p:spPr>
        <p:txBody>
          <a:bodyPr anchor="ctr"/>
          <a:lstStyle/>
          <a:p>
            <a:pPr algn="ctr" rtl="1"/>
            <a:r>
              <a:rPr lang="fa-IR" altLang="en-US" sz="4400" b="1" dirty="0">
                <a:latin typeface="Titr" pitchFamily="2" charset="-78"/>
                <a:ea typeface="2  Titr"/>
                <a:cs typeface="2  Titr"/>
              </a:rPr>
              <a:t>تبدیل به جدول نرمال</a:t>
            </a:r>
            <a:r>
              <a:rPr lang="en-US" altLang="en-US" sz="4400" b="1" dirty="0">
                <a:latin typeface="Titr" pitchFamily="2" charset="-78"/>
                <a:ea typeface="2  Titr"/>
                <a:cs typeface="2  Titr"/>
              </a:rPr>
              <a:t>BCNF </a:t>
            </a:r>
          </a:p>
        </p:txBody>
      </p:sp>
      <p:sp>
        <p:nvSpPr>
          <p:cNvPr id="147458" name="Content Placeholder 2"/>
          <p:cNvSpPr>
            <a:spLocks noGrp="1"/>
          </p:cNvSpPr>
          <p:nvPr>
            <p:ph idx="1"/>
          </p:nvPr>
        </p:nvSpPr>
        <p:spPr>
          <a:xfrm>
            <a:off x="76200" y="943147"/>
            <a:ext cx="8763000" cy="5586818"/>
          </a:xfrm>
        </p:spPr>
        <p:txBody>
          <a:bodyPr>
            <a:noAutofit/>
          </a:bodyPr>
          <a:lstStyle/>
          <a:p>
            <a:pPr marL="0" marR="0" lvl="0" indent="0" algn="r" defTabSz="914400" rtl="1" eaLnBrk="0" fontAlgn="base" latinLnBrk="0" hangingPunct="0">
              <a:lnSpc>
                <a:spcPct val="100000"/>
              </a:lnSpc>
              <a:spcBef>
                <a:spcPct val="0"/>
              </a:spcBef>
              <a:spcAft>
                <a:spcPct val="0"/>
              </a:spcAft>
              <a:buClrTx/>
              <a:buSzTx/>
              <a:buFontTx/>
              <a:buAutoNum type="arabicPeriod"/>
              <a:tabLst/>
            </a:pPr>
            <a:r>
              <a:rPr kumimoji="0" lang="ar-SA" altLang="en-US" sz="28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جدول </a:t>
            </a:r>
            <a:r>
              <a:rPr kumimoji="0" lang="en-US" altLang="en-US" sz="2800" b="1"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Course</a:t>
            </a:r>
            <a:r>
              <a:rPr kumimoji="0" lang="en-US" altLang="en-US" sz="28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a:t>
            </a:r>
            <a:r>
              <a:rPr kumimoji="0" lang="ar-SA" altLang="en-US" sz="28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که اطلاعات دوره‌ها و استادها را ذخیره می‌کند</a:t>
            </a:r>
            <a:r>
              <a:rPr kumimoji="0" lang="en-US" altLang="en-US" sz="28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a:t>
            </a:r>
            <a:endParaRPr kumimoji="0" lang="en-US" altLang="en-US" sz="800" b="0" i="0" u="none" strike="noStrike" cap="none" normalizeH="0" baseline="0" dirty="0">
              <a:ln>
                <a:noFill/>
              </a:ln>
              <a:solidFill>
                <a:schemeClr val="tx1"/>
              </a:solidFill>
              <a:effectLst/>
            </a:endParaRPr>
          </a:p>
          <a:p>
            <a:pPr marL="0" marR="0" lvl="0" indent="0" algn="r" defTabSz="914400" rtl="1" eaLnBrk="0" fontAlgn="base" latinLnBrk="0" hangingPunct="0">
              <a:lnSpc>
                <a:spcPct val="100000"/>
              </a:lnSpc>
              <a:spcBef>
                <a:spcPct val="0"/>
              </a:spcBef>
              <a:spcAft>
                <a:spcPct val="0"/>
              </a:spcAft>
              <a:buClrTx/>
              <a:buSzTx/>
              <a:buFontTx/>
              <a:buAutoNum type="arabicPeriod"/>
              <a:tabLst/>
            </a:pPr>
            <a:r>
              <a:rPr kumimoji="0" lang="ar-SA" altLang="en-US" sz="28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جدول </a:t>
            </a:r>
            <a:r>
              <a:rPr kumimoji="0" lang="en-US" altLang="en-US" sz="2800" b="1" i="0" u="none" strike="noStrike" cap="none" normalizeH="0" baseline="0" dirty="0" err="1">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Student_Course</a:t>
            </a:r>
            <a:r>
              <a:rPr kumimoji="0" lang="en-US" altLang="en-US" sz="28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a:t>
            </a:r>
            <a:r>
              <a:rPr kumimoji="0" lang="ar-SA" altLang="en-US" sz="28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که اطلاعات مربوط به دانشجویان و دوره‌ها را نگهداری می‌کند</a:t>
            </a:r>
            <a:r>
              <a:rPr kumimoji="0" lang="en-US" altLang="en-US" sz="28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a:t>
            </a:r>
            <a:endParaRPr kumimoji="0" lang="en-US" altLang="en-US" sz="800" b="0" i="0" u="none" strike="noStrike" cap="none" normalizeH="0" baseline="0" dirty="0">
              <a:ln>
                <a:noFill/>
              </a:ln>
              <a:solidFill>
                <a:schemeClr val="tx1"/>
              </a:solidFill>
              <a:effectLst/>
            </a:endParaRPr>
          </a:p>
          <a:p>
            <a:pPr marL="0" marR="0" lvl="0" indent="0" algn="r" defTabSz="914400" rtl="1" eaLnBrk="0" fontAlgn="base" latinLnBrk="0" hangingPunct="0">
              <a:lnSpc>
                <a:spcPct val="100000"/>
              </a:lnSpc>
              <a:spcBef>
                <a:spcPct val="0"/>
              </a:spcBef>
              <a:spcAft>
                <a:spcPct val="0"/>
              </a:spcAft>
              <a:buClrTx/>
              <a:buSzTx/>
              <a:buFontTx/>
              <a:buNone/>
              <a:tabLst/>
            </a:pPr>
            <a:r>
              <a:rPr kumimoji="0" lang="ar-SA" altLang="en-US" sz="28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در این حالت، هر جدول به</a:t>
            </a:r>
            <a:r>
              <a:rPr kumimoji="0" lang="en-US" altLang="en-US" sz="28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BCNF </a:t>
            </a:r>
            <a:r>
              <a:rPr kumimoji="0" lang="ar-SA" altLang="en-US" sz="28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رسیده است، زیرا در هیچ‌کدام از جداول، وابستگی تابعی وجود ندارد که ویژگی‌های چپ آن‌ها سوپرکلید نباشد</a:t>
            </a:r>
            <a:r>
              <a:rPr kumimoji="0" lang="en-US" altLang="en-US" sz="28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a:t>
            </a:r>
            <a:endParaRPr kumimoji="0" lang="en-US" altLang="en-US" sz="4000" b="0" i="0" u="none" strike="noStrike" cap="none" normalizeH="0" baseline="0" dirty="0">
              <a:ln>
                <a:noFill/>
              </a:ln>
              <a:solidFill>
                <a:schemeClr val="tx1"/>
              </a:solidFill>
              <a:effectLst/>
              <a:latin typeface="Arial" panose="020B0604020202020204" pitchFamily="34" charset="0"/>
              <a:cs typeface="Arial" panose="020B0604020202020204" pitchFamily="34" charset="0"/>
            </a:endParaRPr>
          </a:p>
          <a:p>
            <a:pPr marL="0" marR="0" lvl="0" indent="0" algn="r" defTabSz="914400" rtl="1" eaLnBrk="0" fontAlgn="base" latinLnBrk="0" hangingPunct="0">
              <a:lnSpc>
                <a:spcPct val="100000"/>
              </a:lnSpc>
              <a:spcBef>
                <a:spcPct val="0"/>
              </a:spcBef>
              <a:spcAft>
                <a:spcPct val="0"/>
              </a:spcAft>
              <a:buClrTx/>
              <a:buSzTx/>
              <a:buFontTx/>
              <a:buNone/>
              <a:tabLst/>
            </a:pPr>
            <a:endParaRPr kumimoji="0" lang="en-US" altLang="en-US" sz="2800" b="0" i="0" u="none" strike="noStrike" cap="none" normalizeH="0" baseline="0" dirty="0">
              <a:ln>
                <a:noFill/>
              </a:ln>
              <a:solidFill>
                <a:schemeClr val="tx1"/>
              </a:solidFill>
              <a:effectLst/>
              <a:latin typeface="Arial" panose="020B0604020202020204" pitchFamily="34" charset="0"/>
              <a:cs typeface="Arial" panose="020B0604020202020204" pitchFamily="34" charset="0"/>
            </a:endParaRPr>
          </a:p>
        </p:txBody>
      </p:sp>
      <p:sp>
        <p:nvSpPr>
          <p:cNvPr id="3" name="Slide Number Placeholder 2">
            <a:extLst>
              <a:ext uri="{FF2B5EF4-FFF2-40B4-BE49-F238E27FC236}">
                <a16:creationId xmlns:a16="http://schemas.microsoft.com/office/drawing/2014/main" id="{3912FC48-26F3-4848-BBE3-05E4687419AB}"/>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37</a:t>
            </a:fld>
            <a:endParaRPr lang="en-US"/>
          </a:p>
        </p:txBody>
      </p:sp>
      <p:graphicFrame>
        <p:nvGraphicFramePr>
          <p:cNvPr id="4" name="Table 3">
            <a:extLst>
              <a:ext uri="{FF2B5EF4-FFF2-40B4-BE49-F238E27FC236}">
                <a16:creationId xmlns:a16="http://schemas.microsoft.com/office/drawing/2014/main" id="{C158B4EA-476D-402D-A1EF-C767CD4B2E5C}"/>
              </a:ext>
            </a:extLst>
          </p:cNvPr>
          <p:cNvGraphicFramePr>
            <a:graphicFrameLocks noGrp="1"/>
          </p:cNvGraphicFramePr>
          <p:nvPr/>
        </p:nvGraphicFramePr>
        <p:xfrm>
          <a:off x="304800" y="4426380"/>
          <a:ext cx="2640106" cy="916974"/>
        </p:xfrm>
        <a:graphic>
          <a:graphicData uri="http://schemas.openxmlformats.org/drawingml/2006/table">
            <a:tbl>
              <a:tblPr firstRow="1" firstCol="1" bandRow="1">
                <a:tableStyleId>{616DA210-FB5B-4158-B5E0-FEB733F419BA}</a:tableStyleId>
              </a:tblPr>
              <a:tblGrid>
                <a:gridCol w="1320053">
                  <a:extLst>
                    <a:ext uri="{9D8B030D-6E8A-4147-A177-3AD203B41FA5}">
                      <a16:colId xmlns:a16="http://schemas.microsoft.com/office/drawing/2014/main" val="1480427199"/>
                    </a:ext>
                  </a:extLst>
                </a:gridCol>
                <a:gridCol w="1320053">
                  <a:extLst>
                    <a:ext uri="{9D8B030D-6E8A-4147-A177-3AD203B41FA5}">
                      <a16:colId xmlns:a16="http://schemas.microsoft.com/office/drawing/2014/main" val="364619874"/>
                    </a:ext>
                  </a:extLst>
                </a:gridCol>
              </a:tblGrid>
              <a:tr h="305658">
                <a:tc>
                  <a:txBody>
                    <a:bodyPr/>
                    <a:lstStyle/>
                    <a:p>
                      <a:pPr marL="0" marR="0" algn="ctr" rtl="1">
                        <a:lnSpc>
                          <a:spcPct val="107000"/>
                        </a:lnSpc>
                        <a:spcBef>
                          <a:spcPts val="0"/>
                        </a:spcBef>
                        <a:spcAft>
                          <a:spcPts val="0"/>
                        </a:spcAft>
                      </a:pPr>
                      <a:r>
                        <a:rPr lang="en-US" sz="1600" dirty="0" err="1">
                          <a:effectLst/>
                        </a:rPr>
                        <a:t>Course_ID</a:t>
                      </a:r>
                      <a:endParaRPr lang="en-US" sz="14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600">
                          <a:effectLst/>
                        </a:rPr>
                        <a:t>Instructor</a:t>
                      </a:r>
                      <a:endParaRPr lang="en-US" sz="140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2549653639"/>
                  </a:ext>
                </a:extLst>
              </a:tr>
              <a:tr h="305658">
                <a:tc>
                  <a:txBody>
                    <a:bodyPr/>
                    <a:lstStyle/>
                    <a:p>
                      <a:pPr marL="0" marR="0" algn="ctr" rtl="1">
                        <a:lnSpc>
                          <a:spcPct val="107000"/>
                        </a:lnSpc>
                        <a:spcBef>
                          <a:spcPts val="0"/>
                        </a:spcBef>
                        <a:spcAft>
                          <a:spcPts val="0"/>
                        </a:spcAft>
                      </a:pPr>
                      <a:r>
                        <a:rPr lang="en-US" sz="1600" dirty="0">
                          <a:effectLst/>
                        </a:rPr>
                        <a:t>101</a:t>
                      </a:r>
                      <a:endParaRPr lang="en-US" sz="14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600" dirty="0">
                          <a:effectLst/>
                        </a:rPr>
                        <a:t>Dr. A</a:t>
                      </a:r>
                      <a:endParaRPr lang="en-US" sz="14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3902150322"/>
                  </a:ext>
                </a:extLst>
              </a:tr>
              <a:tr h="305658">
                <a:tc>
                  <a:txBody>
                    <a:bodyPr/>
                    <a:lstStyle/>
                    <a:p>
                      <a:pPr marL="0" marR="0" algn="ctr" rtl="1">
                        <a:lnSpc>
                          <a:spcPct val="107000"/>
                        </a:lnSpc>
                        <a:spcBef>
                          <a:spcPts val="0"/>
                        </a:spcBef>
                        <a:spcAft>
                          <a:spcPts val="0"/>
                        </a:spcAft>
                      </a:pPr>
                      <a:r>
                        <a:rPr lang="en-US" sz="1600">
                          <a:effectLst/>
                        </a:rPr>
                        <a:t>102</a:t>
                      </a:r>
                      <a:endParaRPr lang="en-US" sz="140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600" dirty="0">
                          <a:effectLst/>
                        </a:rPr>
                        <a:t>Dr. B</a:t>
                      </a:r>
                      <a:endParaRPr lang="en-US" sz="14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2224336818"/>
                  </a:ext>
                </a:extLst>
              </a:tr>
            </a:tbl>
          </a:graphicData>
        </a:graphic>
      </p:graphicFrame>
      <p:graphicFrame>
        <p:nvGraphicFramePr>
          <p:cNvPr id="5" name="Table 4">
            <a:extLst>
              <a:ext uri="{FF2B5EF4-FFF2-40B4-BE49-F238E27FC236}">
                <a16:creationId xmlns:a16="http://schemas.microsoft.com/office/drawing/2014/main" id="{3D5BC913-FBBF-489B-9BD5-9F6DD7235939}"/>
              </a:ext>
            </a:extLst>
          </p:cNvPr>
          <p:cNvGraphicFramePr>
            <a:graphicFrameLocks noGrp="1"/>
          </p:cNvGraphicFramePr>
          <p:nvPr/>
        </p:nvGraphicFramePr>
        <p:xfrm>
          <a:off x="4878669" y="4289363"/>
          <a:ext cx="3956049" cy="1191008"/>
        </p:xfrm>
        <a:graphic>
          <a:graphicData uri="http://schemas.openxmlformats.org/drawingml/2006/table">
            <a:tbl>
              <a:tblPr firstRow="1" firstCol="1" bandRow="1">
                <a:tableStyleId>{616DA210-FB5B-4158-B5E0-FEB733F419BA}</a:tableStyleId>
              </a:tblPr>
              <a:tblGrid>
                <a:gridCol w="1318683">
                  <a:extLst>
                    <a:ext uri="{9D8B030D-6E8A-4147-A177-3AD203B41FA5}">
                      <a16:colId xmlns:a16="http://schemas.microsoft.com/office/drawing/2014/main" val="3316396909"/>
                    </a:ext>
                  </a:extLst>
                </a:gridCol>
                <a:gridCol w="1318683">
                  <a:extLst>
                    <a:ext uri="{9D8B030D-6E8A-4147-A177-3AD203B41FA5}">
                      <a16:colId xmlns:a16="http://schemas.microsoft.com/office/drawing/2014/main" val="3678757581"/>
                    </a:ext>
                  </a:extLst>
                </a:gridCol>
                <a:gridCol w="1318683">
                  <a:extLst>
                    <a:ext uri="{9D8B030D-6E8A-4147-A177-3AD203B41FA5}">
                      <a16:colId xmlns:a16="http://schemas.microsoft.com/office/drawing/2014/main" val="541035167"/>
                    </a:ext>
                  </a:extLst>
                </a:gridCol>
              </a:tblGrid>
              <a:tr h="285750">
                <a:tc>
                  <a:txBody>
                    <a:bodyPr/>
                    <a:lstStyle/>
                    <a:p>
                      <a:pPr marL="0" marR="0" algn="ctr" rtl="1">
                        <a:lnSpc>
                          <a:spcPct val="107000"/>
                        </a:lnSpc>
                        <a:spcBef>
                          <a:spcPts val="0"/>
                        </a:spcBef>
                        <a:spcAft>
                          <a:spcPts val="0"/>
                        </a:spcAft>
                      </a:pPr>
                      <a:r>
                        <a:rPr lang="en-US" sz="1800" dirty="0" err="1">
                          <a:effectLst/>
                        </a:rPr>
                        <a:t>Student_ID</a:t>
                      </a:r>
                      <a:endParaRPr lang="en-US" sz="16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800" dirty="0" err="1">
                          <a:effectLst/>
                        </a:rPr>
                        <a:t>Course_ID</a:t>
                      </a:r>
                      <a:endParaRPr lang="en-US" sz="16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800" dirty="0">
                          <a:effectLst/>
                        </a:rPr>
                        <a:t>Semester</a:t>
                      </a:r>
                      <a:endParaRPr lang="en-US" sz="16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3319053270"/>
                  </a:ext>
                </a:extLst>
              </a:tr>
              <a:tr h="285750">
                <a:tc>
                  <a:txBody>
                    <a:bodyPr/>
                    <a:lstStyle/>
                    <a:p>
                      <a:pPr marL="0" marR="0" algn="ctr" rtl="1">
                        <a:lnSpc>
                          <a:spcPct val="107000"/>
                        </a:lnSpc>
                        <a:spcBef>
                          <a:spcPts val="0"/>
                        </a:spcBef>
                        <a:spcAft>
                          <a:spcPts val="0"/>
                        </a:spcAft>
                      </a:pPr>
                      <a:r>
                        <a:rPr lang="en-US" sz="1800" dirty="0">
                          <a:effectLst/>
                        </a:rPr>
                        <a:t>1</a:t>
                      </a:r>
                      <a:endParaRPr lang="en-US" sz="16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800" dirty="0">
                          <a:effectLst/>
                        </a:rPr>
                        <a:t>101</a:t>
                      </a:r>
                      <a:endParaRPr lang="en-US" sz="16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800">
                          <a:effectLst/>
                        </a:rPr>
                        <a:t>Fall 2024</a:t>
                      </a:r>
                      <a:endParaRPr lang="en-US" sz="160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2644173297"/>
                  </a:ext>
                </a:extLst>
              </a:tr>
              <a:tr h="285750">
                <a:tc>
                  <a:txBody>
                    <a:bodyPr/>
                    <a:lstStyle/>
                    <a:p>
                      <a:pPr marL="0" marR="0" algn="ctr" rtl="1">
                        <a:lnSpc>
                          <a:spcPct val="107000"/>
                        </a:lnSpc>
                        <a:spcBef>
                          <a:spcPts val="0"/>
                        </a:spcBef>
                        <a:spcAft>
                          <a:spcPts val="0"/>
                        </a:spcAft>
                      </a:pPr>
                      <a:r>
                        <a:rPr lang="en-US" sz="1800">
                          <a:effectLst/>
                        </a:rPr>
                        <a:t>2</a:t>
                      </a:r>
                      <a:endParaRPr lang="en-US" sz="160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800" dirty="0">
                          <a:effectLst/>
                        </a:rPr>
                        <a:t>102</a:t>
                      </a:r>
                      <a:endParaRPr lang="en-US" sz="16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800" dirty="0">
                          <a:effectLst/>
                        </a:rPr>
                        <a:t>Spring 2024</a:t>
                      </a:r>
                      <a:endParaRPr lang="en-US" sz="16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2538534930"/>
                  </a:ext>
                </a:extLst>
              </a:tr>
              <a:tr h="285750">
                <a:tc>
                  <a:txBody>
                    <a:bodyPr/>
                    <a:lstStyle/>
                    <a:p>
                      <a:pPr marL="0" marR="0" algn="ctr" rtl="1">
                        <a:lnSpc>
                          <a:spcPct val="107000"/>
                        </a:lnSpc>
                        <a:spcBef>
                          <a:spcPts val="0"/>
                        </a:spcBef>
                        <a:spcAft>
                          <a:spcPts val="0"/>
                        </a:spcAft>
                      </a:pPr>
                      <a:r>
                        <a:rPr lang="en-US" sz="1800">
                          <a:effectLst/>
                        </a:rPr>
                        <a:t>3</a:t>
                      </a:r>
                      <a:endParaRPr lang="en-US" sz="160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800">
                          <a:effectLst/>
                        </a:rPr>
                        <a:t>101</a:t>
                      </a:r>
                      <a:endParaRPr lang="en-US" sz="160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800" dirty="0">
                          <a:effectLst/>
                        </a:rPr>
                        <a:t>Fall 2024</a:t>
                      </a:r>
                      <a:endParaRPr lang="en-US" sz="16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2247098130"/>
                  </a:ext>
                </a:extLst>
              </a:tr>
            </a:tbl>
          </a:graphicData>
        </a:graphic>
      </p:graphicFrame>
    </p:spTree>
    <p:extLst>
      <p:ext uri="{BB962C8B-B14F-4D97-AF65-F5344CB8AC3E}">
        <p14:creationId xmlns:p14="http://schemas.microsoft.com/office/powerpoint/2010/main" val="17791935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9" name="Title 1"/>
          <p:cNvSpPr>
            <a:spLocks noGrp="1"/>
          </p:cNvSpPr>
          <p:nvPr>
            <p:ph type="title"/>
          </p:nvPr>
        </p:nvSpPr>
        <p:spPr>
          <a:xfrm>
            <a:off x="339725" y="-21515"/>
            <a:ext cx="8229600" cy="1143000"/>
          </a:xfrm>
        </p:spPr>
        <p:txBody>
          <a:bodyPr anchor="ctr"/>
          <a:lstStyle/>
          <a:p>
            <a:pPr algn="ctr" rtl="1"/>
            <a:r>
              <a:rPr lang="fa-IR" altLang="en-US" sz="4400" b="1" dirty="0">
                <a:latin typeface="Titr" pitchFamily="2" charset="-78"/>
                <a:ea typeface="2  Titr"/>
                <a:cs typeface="2  Titr"/>
              </a:rPr>
              <a:t>جداول نرمال</a:t>
            </a:r>
            <a:r>
              <a:rPr lang="en-US" altLang="en-US" sz="4400" b="1" dirty="0">
                <a:latin typeface="Titr" pitchFamily="2" charset="-78"/>
                <a:ea typeface="2  Titr"/>
                <a:cs typeface="2  Titr"/>
              </a:rPr>
              <a:t>BCNF </a:t>
            </a:r>
          </a:p>
        </p:txBody>
      </p:sp>
      <p:sp>
        <p:nvSpPr>
          <p:cNvPr id="147458" name="Content Placeholder 2"/>
          <p:cNvSpPr>
            <a:spLocks noGrp="1"/>
          </p:cNvSpPr>
          <p:nvPr>
            <p:ph idx="1"/>
          </p:nvPr>
        </p:nvSpPr>
        <p:spPr>
          <a:xfrm>
            <a:off x="892174" y="1081881"/>
            <a:ext cx="8077200" cy="4694237"/>
          </a:xfrm>
        </p:spPr>
        <p:txBody>
          <a:bodyPr>
            <a:noAutofit/>
          </a:bodyPr>
          <a:lstStyle/>
          <a:p>
            <a:pPr algn="just" rtl="1"/>
            <a:r>
              <a:rPr lang="fa-IR" altLang="en-US" sz="3200" dirty="0">
                <a:ea typeface="Majalla UI"/>
              </a:rPr>
              <a:t>آیا </a:t>
            </a:r>
            <a:r>
              <a:rPr lang="en-US" altLang="en-US" sz="3200" dirty="0">
                <a:ea typeface="Majalla UI"/>
              </a:rPr>
              <a:t>BCNF</a:t>
            </a:r>
            <a:r>
              <a:rPr lang="fa-IR" altLang="en-US" sz="3200" dirty="0">
                <a:ea typeface="Majalla UI"/>
              </a:rPr>
              <a:t> هست ؟</a:t>
            </a:r>
          </a:p>
        </p:txBody>
      </p:sp>
      <p:sp>
        <p:nvSpPr>
          <p:cNvPr id="3" name="Slide Number Placeholder 2">
            <a:extLst>
              <a:ext uri="{FF2B5EF4-FFF2-40B4-BE49-F238E27FC236}">
                <a16:creationId xmlns:a16="http://schemas.microsoft.com/office/drawing/2014/main" id="{1C50D837-745F-4778-8BE8-E695559A03E1}"/>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38</a:t>
            </a:fld>
            <a:endParaRPr lang="en-US"/>
          </a:p>
        </p:txBody>
      </p:sp>
      <p:graphicFrame>
        <p:nvGraphicFramePr>
          <p:cNvPr id="5" name="Table 4"/>
          <p:cNvGraphicFramePr>
            <a:graphicFrameLocks noGrp="1"/>
          </p:cNvGraphicFramePr>
          <p:nvPr/>
        </p:nvGraphicFramePr>
        <p:xfrm>
          <a:off x="174625" y="2857625"/>
          <a:ext cx="3657600" cy="3596796"/>
        </p:xfrm>
        <a:graphic>
          <a:graphicData uri="http://schemas.openxmlformats.org/drawingml/2006/table">
            <a:tbl>
              <a:tblPr firstRow="1" bandRow="1">
                <a:tableStyleId>{616DA210-FB5B-4158-B5E0-FEB733F419BA}</a:tableStyleId>
              </a:tblPr>
              <a:tblGrid>
                <a:gridCol w="740229">
                  <a:extLst>
                    <a:ext uri="{9D8B030D-6E8A-4147-A177-3AD203B41FA5}">
                      <a16:colId xmlns:a16="http://schemas.microsoft.com/office/drawing/2014/main" val="20000"/>
                    </a:ext>
                  </a:extLst>
                </a:gridCol>
                <a:gridCol w="1393371">
                  <a:extLst>
                    <a:ext uri="{9D8B030D-6E8A-4147-A177-3AD203B41FA5}">
                      <a16:colId xmlns:a16="http://schemas.microsoft.com/office/drawing/2014/main" val="20001"/>
                    </a:ext>
                  </a:extLst>
                </a:gridCol>
                <a:gridCol w="1524000">
                  <a:extLst>
                    <a:ext uri="{9D8B030D-6E8A-4147-A177-3AD203B41FA5}">
                      <a16:colId xmlns:a16="http://schemas.microsoft.com/office/drawing/2014/main" val="20002"/>
                    </a:ext>
                  </a:extLst>
                </a:gridCol>
              </a:tblGrid>
              <a:tr h="370946">
                <a:tc>
                  <a:txBody>
                    <a:bodyPr/>
                    <a:lstStyle/>
                    <a:p>
                      <a:pPr marL="0" algn="ctr" defTabSz="457200" rtl="0" eaLnBrk="1" latinLnBrk="0" hangingPunct="1"/>
                      <a:r>
                        <a:rPr lang="en-US" sz="2000" b="1" kern="1200" dirty="0">
                          <a:solidFill>
                            <a:schemeClr val="tx1"/>
                          </a:solidFill>
                          <a:latin typeface="+mn-lt"/>
                          <a:ea typeface="+mn-ea"/>
                          <a:cs typeface="B Nazanin" panose="00000400000000000000" pitchFamily="2" charset="-78"/>
                        </a:rPr>
                        <a:t>S#</a:t>
                      </a:r>
                    </a:p>
                  </a:txBody>
                  <a:tcPr marT="45733" marB="45733" anchor="ctr"/>
                </a:tc>
                <a:tc>
                  <a:txBody>
                    <a:bodyPr/>
                    <a:lstStyle/>
                    <a:p>
                      <a:pPr marL="0" algn="ctr" defTabSz="457200" rtl="0" eaLnBrk="1" latinLnBrk="0" hangingPunct="1"/>
                      <a:r>
                        <a:rPr lang="en-US" sz="2000" b="1" kern="1200" dirty="0">
                          <a:solidFill>
                            <a:schemeClr val="tx1"/>
                          </a:solidFill>
                          <a:latin typeface="+mn-lt"/>
                          <a:ea typeface="+mn-ea"/>
                          <a:cs typeface="B Nazanin" panose="00000400000000000000" pitchFamily="2" charset="-78"/>
                        </a:rPr>
                        <a:t>Field</a:t>
                      </a:r>
                    </a:p>
                  </a:txBody>
                  <a:tcPr marT="45733" marB="45733" anchor="ctr"/>
                </a:tc>
                <a:tc>
                  <a:txBody>
                    <a:bodyPr/>
                    <a:lstStyle/>
                    <a:p>
                      <a:pPr marL="0" algn="ctr" defTabSz="457200" rtl="0" eaLnBrk="1" latinLnBrk="0" hangingPunct="1"/>
                      <a:r>
                        <a:rPr lang="en-US" sz="2000" b="1" kern="1200" dirty="0">
                          <a:solidFill>
                            <a:schemeClr val="tx1"/>
                          </a:solidFill>
                          <a:latin typeface="+mn-lt"/>
                          <a:ea typeface="+mn-ea"/>
                          <a:cs typeface="B Nazanin" panose="00000400000000000000" pitchFamily="2" charset="-78"/>
                        </a:rPr>
                        <a:t>Tutor</a:t>
                      </a:r>
                    </a:p>
                  </a:txBody>
                  <a:tcPr marT="45733" marB="45733" anchor="ctr"/>
                </a:tc>
                <a:extLst>
                  <a:ext uri="{0D108BD9-81ED-4DB2-BD59-A6C34878D82A}">
                    <a16:rowId xmlns:a16="http://schemas.microsoft.com/office/drawing/2014/main" val="10000"/>
                  </a:ext>
                </a:extLst>
              </a:tr>
              <a:tr h="370946">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7801</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مهندس کامپیوتر</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مهندس رضائی</a:t>
                      </a:r>
                      <a:endParaRPr lang="en-US" sz="2000" b="1" kern="1200" dirty="0">
                        <a:solidFill>
                          <a:schemeClr val="tx1"/>
                        </a:solidFill>
                        <a:latin typeface="+mn-lt"/>
                        <a:ea typeface="+mn-ea"/>
                        <a:cs typeface="B Nazanin" panose="00000400000000000000" pitchFamily="2" charset="-78"/>
                      </a:endParaRPr>
                    </a:p>
                  </a:txBody>
                  <a:tcPr marT="45733" marB="45733"/>
                </a:tc>
                <a:extLst>
                  <a:ext uri="{0D108BD9-81ED-4DB2-BD59-A6C34878D82A}">
                    <a16:rowId xmlns:a16="http://schemas.microsoft.com/office/drawing/2014/main" val="10001"/>
                  </a:ext>
                </a:extLst>
              </a:tr>
              <a:tr h="370946">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7801</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ریاضی محض</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آرش ریاضیدان</a:t>
                      </a:r>
                      <a:endParaRPr lang="en-US" sz="2000" b="1" kern="1200" dirty="0">
                        <a:solidFill>
                          <a:schemeClr val="tx1"/>
                        </a:solidFill>
                        <a:latin typeface="+mn-lt"/>
                        <a:ea typeface="+mn-ea"/>
                        <a:cs typeface="B Nazanin" panose="00000400000000000000" pitchFamily="2" charset="-78"/>
                      </a:endParaRPr>
                    </a:p>
                  </a:txBody>
                  <a:tcPr marT="45733" marB="45733"/>
                </a:tc>
                <a:extLst>
                  <a:ext uri="{0D108BD9-81ED-4DB2-BD59-A6C34878D82A}">
                    <a16:rowId xmlns:a16="http://schemas.microsoft.com/office/drawing/2014/main" val="10002"/>
                  </a:ext>
                </a:extLst>
              </a:tr>
              <a:tr h="370946">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7801</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هنر</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گلناز هنردوست</a:t>
                      </a:r>
                      <a:endParaRPr lang="en-US" sz="2000" b="1" kern="1200" dirty="0">
                        <a:solidFill>
                          <a:schemeClr val="tx1"/>
                        </a:solidFill>
                        <a:latin typeface="+mn-lt"/>
                        <a:ea typeface="+mn-ea"/>
                        <a:cs typeface="B Nazanin" panose="00000400000000000000" pitchFamily="2" charset="-78"/>
                      </a:endParaRPr>
                    </a:p>
                  </a:txBody>
                  <a:tcPr marT="45733" marB="45733"/>
                </a:tc>
                <a:extLst>
                  <a:ext uri="{0D108BD9-81ED-4DB2-BD59-A6C34878D82A}">
                    <a16:rowId xmlns:a16="http://schemas.microsoft.com/office/drawing/2014/main" val="10003"/>
                  </a:ext>
                </a:extLst>
              </a:tr>
              <a:tr h="370946">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7902</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مهندس کامپیوتر</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مجید رضائی</a:t>
                      </a:r>
                      <a:endParaRPr lang="en-US" sz="2000" b="1" kern="1200" dirty="0">
                        <a:solidFill>
                          <a:schemeClr val="tx1"/>
                        </a:solidFill>
                        <a:latin typeface="+mn-lt"/>
                        <a:ea typeface="+mn-ea"/>
                        <a:cs typeface="B Nazanin" panose="00000400000000000000" pitchFamily="2" charset="-78"/>
                      </a:endParaRPr>
                    </a:p>
                  </a:txBody>
                  <a:tcPr marT="45733" marB="45733"/>
                </a:tc>
                <a:extLst>
                  <a:ext uri="{0D108BD9-81ED-4DB2-BD59-A6C34878D82A}">
                    <a16:rowId xmlns:a16="http://schemas.microsoft.com/office/drawing/2014/main" val="10004"/>
                  </a:ext>
                </a:extLst>
              </a:tr>
              <a:tr h="370946">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fa-IR" sz="2000" b="1" kern="1200" dirty="0">
                          <a:solidFill>
                            <a:schemeClr val="tx1"/>
                          </a:solidFill>
                          <a:latin typeface="+mn-lt"/>
                          <a:ea typeface="+mn-ea"/>
                          <a:cs typeface="B Nazanin" panose="00000400000000000000" pitchFamily="2" charset="-78"/>
                        </a:rPr>
                        <a:t>7803</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fa-IR" sz="2000" b="1" kern="1200" dirty="0">
                          <a:solidFill>
                            <a:schemeClr val="tx1"/>
                          </a:solidFill>
                          <a:latin typeface="+mn-lt"/>
                          <a:ea typeface="+mn-ea"/>
                          <a:cs typeface="B Nazanin" panose="00000400000000000000" pitchFamily="2" charset="-78"/>
                        </a:rPr>
                        <a:t>مهندس کامپیوتر</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پروین صبا</a:t>
                      </a:r>
                      <a:endParaRPr lang="en-US" sz="2000" b="1" kern="1200" dirty="0">
                        <a:solidFill>
                          <a:schemeClr val="tx1"/>
                        </a:solidFill>
                        <a:latin typeface="+mn-lt"/>
                        <a:ea typeface="+mn-ea"/>
                        <a:cs typeface="B Nazanin" panose="00000400000000000000" pitchFamily="2" charset="-78"/>
                      </a:endParaRPr>
                    </a:p>
                  </a:txBody>
                  <a:tcPr marT="45733" marB="45733"/>
                </a:tc>
                <a:extLst>
                  <a:ext uri="{0D108BD9-81ED-4DB2-BD59-A6C34878D82A}">
                    <a16:rowId xmlns:a16="http://schemas.microsoft.com/office/drawing/2014/main" val="10005"/>
                  </a:ext>
                </a:extLst>
              </a:tr>
            </a:tbl>
          </a:graphicData>
        </a:graphic>
      </p:graphicFrame>
      <p:sp>
        <p:nvSpPr>
          <p:cNvPr id="9" name="TextBox 8">
            <a:extLst>
              <a:ext uri="{FF2B5EF4-FFF2-40B4-BE49-F238E27FC236}">
                <a16:creationId xmlns:a16="http://schemas.microsoft.com/office/drawing/2014/main" id="{5E0A068F-73AB-487C-A4E6-BAA61F54E507}"/>
              </a:ext>
            </a:extLst>
          </p:cNvPr>
          <p:cNvSpPr txBox="1"/>
          <p:nvPr/>
        </p:nvSpPr>
        <p:spPr>
          <a:xfrm>
            <a:off x="339725" y="1618301"/>
            <a:ext cx="8664574" cy="830997"/>
          </a:xfrm>
          <a:prstGeom prst="rect">
            <a:avLst/>
          </a:prstGeom>
          <a:noFill/>
        </p:spPr>
        <p:txBody>
          <a:bodyPr wrap="square">
            <a:spAutoFit/>
          </a:bodyPr>
          <a:lstStyle/>
          <a:p>
            <a:pPr algn="just" rtl="1"/>
            <a:r>
              <a:rPr lang="fa-IR" altLang="en-US" sz="2400" dirty="0">
                <a:ea typeface="Majalla UI"/>
                <a:cs typeface="B Nazanin" panose="00000400000000000000" pitchFamily="2" charset="-78"/>
              </a:rPr>
              <a:t>در جدول زیر دو کلید کاندیدای </a:t>
            </a:r>
            <a:r>
              <a:rPr lang="en-US" altLang="en-US" sz="2400" dirty="0">
                <a:cs typeface="B Nazanin" panose="00000400000000000000" pitchFamily="2" charset="-78"/>
              </a:rPr>
              <a:t>S#+Field</a:t>
            </a:r>
            <a:r>
              <a:rPr lang="fa-IR" altLang="en-US" sz="2400" dirty="0">
                <a:ea typeface="Majalla UI"/>
                <a:cs typeface="B Nazanin" panose="00000400000000000000" pitchFamily="2" charset="-78"/>
              </a:rPr>
              <a:t> و </a:t>
            </a:r>
            <a:r>
              <a:rPr lang="en-US" altLang="en-US" sz="2400" dirty="0">
                <a:cs typeface="B Nazanin" panose="00000400000000000000" pitchFamily="2" charset="-78"/>
              </a:rPr>
              <a:t>S#+Tutor</a:t>
            </a:r>
            <a:r>
              <a:rPr lang="fa-IR" altLang="en-US" sz="2400" dirty="0">
                <a:ea typeface="Majalla UI"/>
                <a:cs typeface="B Nazanin" panose="00000400000000000000" pitchFamily="2" charset="-78"/>
              </a:rPr>
              <a:t> و نیز داریم </a:t>
            </a:r>
            <a:r>
              <a:rPr lang="en-US" altLang="en-US" sz="2400" dirty="0">
                <a:cs typeface="B Nazanin" panose="00000400000000000000" pitchFamily="2" charset="-78"/>
              </a:rPr>
              <a:t>Tutor-&gt;Field</a:t>
            </a:r>
            <a:r>
              <a:rPr lang="fa-IR" altLang="en-US" sz="2400" dirty="0">
                <a:ea typeface="Majalla UI"/>
                <a:cs typeface="B Nazanin" panose="00000400000000000000" pitchFamily="2" charset="-78"/>
              </a:rPr>
              <a:t> بنابراین میتواند به دو جدول تقسیم شود</a:t>
            </a:r>
          </a:p>
        </p:txBody>
      </p:sp>
    </p:spTree>
    <p:extLst>
      <p:ext uri="{BB962C8B-B14F-4D97-AF65-F5344CB8AC3E}">
        <p14:creationId xmlns:p14="http://schemas.microsoft.com/office/powerpoint/2010/main" val="1634929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6386" name="Rectangle 2"/>
          <p:cNvSpPr>
            <a:spLocks noGrp="1" noChangeArrowheads="1"/>
          </p:cNvSpPr>
          <p:nvPr>
            <p:ph type="title"/>
          </p:nvPr>
        </p:nvSpPr>
        <p:spPr/>
        <p:txBody>
          <a:bodyPr/>
          <a:lstStyle/>
          <a:p>
            <a:pPr rtl="1">
              <a:defRPr/>
            </a:pPr>
            <a:r>
              <a:rPr lang="fa-IR" dirty="0"/>
              <a:t>تجزیه (</a:t>
            </a:r>
            <a:r>
              <a:rPr lang="en-US" dirty="0"/>
              <a:t>Decomposition</a:t>
            </a:r>
            <a:r>
              <a:rPr lang="fa-IR" dirty="0"/>
              <a:t>)</a:t>
            </a:r>
            <a:endParaRPr lang="en-US" altLang="en-US" sz="2800" dirty="0">
              <a:effectLst>
                <a:outerShdw blurRad="38100" dist="38100" dir="2700000" algn="tl">
                  <a:srgbClr val="C0C0C0"/>
                </a:outerShdw>
              </a:effectLst>
              <a:ea typeface="ＭＳ Ｐゴシック" pitchFamily="34" charset="-128"/>
            </a:endParaRPr>
          </a:p>
        </p:txBody>
      </p:sp>
      <p:sp>
        <p:nvSpPr>
          <p:cNvPr id="10243" name="Rectangle 3"/>
          <p:cNvSpPr>
            <a:spLocks noGrp="1" noChangeArrowheads="1"/>
          </p:cNvSpPr>
          <p:nvPr>
            <p:ph idx="1"/>
          </p:nvPr>
        </p:nvSpPr>
        <p:spPr>
          <a:xfrm>
            <a:off x="139700" y="1093788"/>
            <a:ext cx="8705850" cy="5484812"/>
          </a:xfrm>
        </p:spPr>
        <p:txBody>
          <a:bodyPr/>
          <a:lstStyle/>
          <a:p>
            <a:pPr algn="r" rtl="1"/>
            <a:r>
              <a:rPr lang="fa-IR" dirty="0"/>
              <a:t>همه تجزیه‌ها خوب نیستند. فرض کنیم که ما جدول را این‌گونه تجزیه کنیم:</a:t>
            </a:r>
          </a:p>
          <a:p>
            <a:pPr marL="0" indent="0" rtl="1">
              <a:buNone/>
            </a:pPr>
            <a:br>
              <a:rPr lang="en-US" altLang="en-US" dirty="0"/>
            </a:br>
            <a:r>
              <a:rPr lang="en-US" altLang="en-US" dirty="0"/>
              <a:t>       </a:t>
            </a:r>
            <a:r>
              <a:rPr lang="en-US" altLang="en-US" i="1" dirty="0"/>
              <a:t>employee(ID, name, street, city, salary)</a:t>
            </a:r>
            <a:r>
              <a:rPr lang="en-US" altLang="en-US" dirty="0"/>
              <a:t>  </a:t>
            </a:r>
          </a:p>
          <a:p>
            <a:pPr>
              <a:buFont typeface="Monotype Sorts" pitchFamily="-84" charset="2"/>
              <a:buNone/>
            </a:pPr>
            <a:r>
              <a:rPr lang="en-US" altLang="en-US" dirty="0"/>
              <a:t>       into</a:t>
            </a:r>
          </a:p>
          <a:p>
            <a:pPr>
              <a:buFont typeface="Monotype Sorts" pitchFamily="-84" charset="2"/>
              <a:buNone/>
            </a:pPr>
            <a:r>
              <a:rPr lang="en-US" altLang="en-US" dirty="0"/>
              <a:t>	       </a:t>
            </a:r>
            <a:r>
              <a:rPr lang="en-US" altLang="en-US" i="1" dirty="0"/>
              <a:t>employee1</a:t>
            </a:r>
            <a:r>
              <a:rPr lang="en-US" altLang="en-US" dirty="0"/>
              <a:t> (</a:t>
            </a:r>
            <a:r>
              <a:rPr lang="en-US" altLang="en-US" i="1" dirty="0"/>
              <a:t>ID</a:t>
            </a:r>
            <a:r>
              <a:rPr lang="en-US" altLang="en-US" dirty="0"/>
              <a:t>, </a:t>
            </a:r>
            <a:r>
              <a:rPr lang="en-US" altLang="en-US" i="1" dirty="0"/>
              <a:t>name</a:t>
            </a:r>
            <a:r>
              <a:rPr lang="en-US" altLang="en-US" dirty="0"/>
              <a:t>)</a:t>
            </a:r>
          </a:p>
          <a:p>
            <a:pPr>
              <a:buFont typeface="Monotype Sorts" pitchFamily="-84" charset="2"/>
              <a:buNone/>
            </a:pPr>
            <a:r>
              <a:rPr lang="en-US" altLang="en-US" dirty="0"/>
              <a:t>	       </a:t>
            </a:r>
            <a:r>
              <a:rPr lang="en-US" altLang="en-US" i="1" dirty="0"/>
              <a:t>employee2</a:t>
            </a:r>
            <a:r>
              <a:rPr lang="en-US" altLang="en-US" dirty="0"/>
              <a:t> (</a:t>
            </a:r>
            <a:r>
              <a:rPr lang="en-US" altLang="en-US" i="1" dirty="0"/>
              <a:t>name</a:t>
            </a:r>
            <a:r>
              <a:rPr lang="en-US" altLang="en-US" dirty="0"/>
              <a:t>, </a:t>
            </a:r>
            <a:r>
              <a:rPr lang="en-US" altLang="en-US" i="1" dirty="0"/>
              <a:t>street, city, salary</a:t>
            </a:r>
            <a:r>
              <a:rPr lang="en-US" altLang="en-US" dirty="0"/>
              <a:t>)</a:t>
            </a:r>
          </a:p>
          <a:p>
            <a:pPr>
              <a:buFont typeface="Monotype Sorts" pitchFamily="-84" charset="2"/>
              <a:buNone/>
            </a:pPr>
            <a:endParaRPr lang="en-US" altLang="en-US" dirty="0"/>
          </a:p>
          <a:p>
            <a:pPr algn="r" rtl="1">
              <a:buFont typeface="Monotype Sorts" pitchFamily="-84" charset="2"/>
              <a:buNone/>
            </a:pPr>
            <a:r>
              <a:rPr lang="fa-IR" dirty="0"/>
              <a:t>مشکل زمانی </a:t>
            </a:r>
            <a:r>
              <a:rPr lang="fa-IR" dirty="0" err="1"/>
              <a:t>به‌وجود</a:t>
            </a:r>
            <a:r>
              <a:rPr lang="fa-IR" dirty="0"/>
              <a:t> </a:t>
            </a:r>
            <a:r>
              <a:rPr lang="fa-IR" dirty="0" err="1"/>
              <a:t>می‌آید</a:t>
            </a:r>
            <a:r>
              <a:rPr lang="fa-IR" dirty="0"/>
              <a:t> که دو کارمند نام یکسان داشته باشند.</a:t>
            </a:r>
          </a:p>
          <a:p>
            <a:pPr algn="r" rtl="1">
              <a:buFont typeface="Monotype Sorts" pitchFamily="-84" charset="2"/>
              <a:buNone/>
            </a:pPr>
            <a:r>
              <a:rPr lang="fa-IR" dirty="0"/>
              <a:t>اسلاید بعدی نشان </a:t>
            </a:r>
            <a:r>
              <a:rPr lang="fa-IR" dirty="0" err="1"/>
              <a:t>می‌دهد</a:t>
            </a:r>
            <a:r>
              <a:rPr lang="fa-IR" dirty="0"/>
              <a:t> که در این حالت اطلاعات از دست </a:t>
            </a:r>
            <a:r>
              <a:rPr lang="fa-IR" dirty="0" err="1"/>
              <a:t>می‌رود</a:t>
            </a:r>
            <a:r>
              <a:rPr lang="fa-IR" dirty="0"/>
              <a:t> ــ یعنی دیگر </a:t>
            </a:r>
            <a:r>
              <a:rPr lang="fa-IR" dirty="0" err="1"/>
              <a:t>نمی‌توانیم</a:t>
            </a:r>
            <a:r>
              <a:rPr lang="fa-IR" dirty="0"/>
              <a:t> جدول اصلی </a:t>
            </a:r>
            <a:r>
              <a:rPr lang="en-US" dirty="0"/>
              <a:t>employee </a:t>
            </a:r>
            <a:r>
              <a:rPr lang="fa-IR" dirty="0"/>
              <a:t>را دوباره بازسازی کنیم ــ و به همین دلیل این کار یک «تجزیه دارای اتلاف» (</a:t>
            </a:r>
            <a:r>
              <a:rPr lang="en-US" dirty="0"/>
              <a:t>lossy decomposition) </a:t>
            </a:r>
            <a:r>
              <a:rPr lang="fa-IR" dirty="0"/>
              <a:t>است.</a:t>
            </a:r>
            <a:endParaRPr lang="en-US" altLang="en-US" dirty="0"/>
          </a:p>
        </p:txBody>
      </p:sp>
    </p:spTree>
    <p:extLst>
      <p:ext uri="{BB962C8B-B14F-4D97-AF65-F5344CB8AC3E}">
        <p14:creationId xmlns:p14="http://schemas.microsoft.com/office/powerpoint/2010/main" val="21732034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8434" name="Rectangle 2"/>
          <p:cNvSpPr>
            <a:spLocks noGrp="1" noChangeArrowheads="1"/>
          </p:cNvSpPr>
          <p:nvPr>
            <p:ph type="title"/>
          </p:nvPr>
        </p:nvSpPr>
        <p:spPr/>
        <p:txBody>
          <a:bodyPr/>
          <a:lstStyle/>
          <a:p>
            <a:pPr>
              <a:defRPr/>
            </a:pPr>
            <a:r>
              <a:rPr lang="fa-IR" dirty="0"/>
              <a:t>یک تجزیه دارای اتلاف</a:t>
            </a:r>
            <a:endParaRPr lang="en-US" altLang="en-US" sz="2800" dirty="0">
              <a:effectLst>
                <a:outerShdw blurRad="38100" dist="38100" dir="2700000" algn="tl">
                  <a:srgbClr val="C0C0C0"/>
                </a:outerShdw>
              </a:effectLst>
              <a:ea typeface="ＭＳ Ｐゴシック" pitchFamily="34" charset="-128"/>
            </a:endParaRPr>
          </a:p>
        </p:txBody>
      </p:sp>
      <p:pic>
        <p:nvPicPr>
          <p:cNvPr id="11267" name="Picture 5" descr="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35684" y="903344"/>
            <a:ext cx="6173216" cy="56537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19564470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6386" name="Rectangle 2"/>
          <p:cNvSpPr>
            <a:spLocks noGrp="1" noChangeArrowheads="1"/>
          </p:cNvSpPr>
          <p:nvPr>
            <p:ph type="title"/>
          </p:nvPr>
        </p:nvSpPr>
        <p:spPr/>
        <p:txBody>
          <a:bodyPr/>
          <a:lstStyle/>
          <a:p>
            <a:pPr>
              <a:defRPr/>
            </a:pPr>
            <a:r>
              <a:rPr lang="fa-IR" dirty="0"/>
              <a:t>تجزیه بدون اتلاف</a:t>
            </a:r>
            <a:endParaRPr lang="en-US" altLang="en-US" sz="2800" dirty="0">
              <a:effectLst>
                <a:outerShdw blurRad="38100" dist="38100" dir="2700000" algn="tl">
                  <a:srgbClr val="C0C0C0"/>
                </a:outerShdw>
              </a:effectLst>
              <a:ea typeface="ＭＳ Ｐゴシック" pitchFamily="34" charset="-128"/>
            </a:endParaRPr>
          </a:p>
        </p:txBody>
      </p:sp>
      <p:sp>
        <p:nvSpPr>
          <p:cNvPr id="12291" name="Rectangle 3"/>
          <p:cNvSpPr>
            <a:spLocks noGrp="1" noChangeArrowheads="1"/>
          </p:cNvSpPr>
          <p:nvPr>
            <p:ph idx="1"/>
          </p:nvPr>
        </p:nvSpPr>
        <p:spPr>
          <a:xfrm>
            <a:off x="768351" y="1093789"/>
            <a:ext cx="7522210" cy="4160964"/>
          </a:xfrm>
        </p:spPr>
        <p:txBody>
          <a:bodyPr/>
          <a:lstStyle/>
          <a:p>
            <a:pPr algn="r" rtl="1"/>
            <a:r>
              <a:rPr lang="fa-IR" sz="1800" dirty="0"/>
              <a:t>فرض کنید </a:t>
            </a:r>
            <a:r>
              <a:rPr lang="en-US" sz="1800" b="1" dirty="0"/>
              <a:t>R</a:t>
            </a:r>
            <a:r>
              <a:rPr lang="en-US" sz="1800" dirty="0"/>
              <a:t> </a:t>
            </a:r>
            <a:r>
              <a:rPr lang="fa-IR" sz="1800" dirty="0"/>
              <a:t>یک </a:t>
            </a:r>
            <a:r>
              <a:rPr lang="fa-IR" sz="1800" dirty="0" err="1"/>
              <a:t>شِمای</a:t>
            </a:r>
            <a:r>
              <a:rPr lang="fa-IR" sz="1800" dirty="0"/>
              <a:t> رابطه باشد و </a:t>
            </a:r>
            <a:r>
              <a:rPr lang="en-US" sz="1800" b="1" dirty="0"/>
              <a:t>R1</a:t>
            </a:r>
            <a:r>
              <a:rPr lang="en-US" sz="1800" dirty="0"/>
              <a:t> </a:t>
            </a:r>
            <a:r>
              <a:rPr lang="fa-IR" sz="1800" dirty="0"/>
              <a:t>و </a:t>
            </a:r>
            <a:r>
              <a:rPr lang="en-US" sz="1800" b="1" dirty="0"/>
              <a:t>R2</a:t>
            </a:r>
            <a:r>
              <a:rPr lang="en-US" sz="1800" dirty="0"/>
              <a:t> </a:t>
            </a:r>
            <a:r>
              <a:rPr lang="fa-IR" sz="1800" dirty="0"/>
              <a:t>یک تجزیه (تقسیم) از </a:t>
            </a:r>
            <a:r>
              <a:rPr lang="en-US" sz="1800" b="1" dirty="0"/>
              <a:t>R</a:t>
            </a:r>
            <a:r>
              <a:rPr lang="en-US" sz="1800" dirty="0"/>
              <a:t> </a:t>
            </a:r>
            <a:r>
              <a:rPr lang="fa-IR" sz="1800" dirty="0"/>
              <a:t>را تشکیل دهند؛ یعنی:</a:t>
            </a:r>
            <a:r>
              <a:rPr lang="en-US" altLang="en-US" sz="1700" dirty="0"/>
              <a:t>. R = </a:t>
            </a:r>
            <a:r>
              <a:rPr lang="en-US" altLang="en-US" sz="1700" i="1" dirty="0"/>
              <a:t>R</a:t>
            </a:r>
            <a:r>
              <a:rPr lang="en-US" altLang="en-US" sz="1700" i="1" baseline="-25000" dirty="0"/>
              <a:t>1 </a:t>
            </a:r>
            <a:r>
              <a:rPr lang="en-US" altLang="en-US" sz="1700" dirty="0"/>
              <a:t> U </a:t>
            </a:r>
            <a:r>
              <a:rPr lang="en-US" altLang="en-US" sz="1700" i="1" dirty="0"/>
              <a:t>R</a:t>
            </a:r>
            <a:r>
              <a:rPr lang="en-US" altLang="en-US" sz="1700" i="1" baseline="-25000" dirty="0"/>
              <a:t>2</a:t>
            </a:r>
            <a:endParaRPr lang="en-US" altLang="en-US" sz="1700" dirty="0"/>
          </a:p>
          <a:p>
            <a:pPr algn="r" rtl="1"/>
            <a:r>
              <a:rPr lang="fa-IR" sz="1800" dirty="0"/>
              <a:t>می‌گوییم این تجزیه </a:t>
            </a:r>
            <a:r>
              <a:rPr lang="fa-IR" sz="1800" b="1" dirty="0"/>
              <a:t>بدون اتلاف اطلاعات </a:t>
            </a:r>
            <a:r>
              <a:rPr lang="en-US" sz="1800" b="1" dirty="0"/>
              <a:t>lossless</a:t>
            </a:r>
            <a:r>
              <a:rPr lang="en-US" sz="1800" dirty="0"/>
              <a:t> </a:t>
            </a:r>
            <a:r>
              <a:rPr lang="fa-IR" sz="1800" dirty="0"/>
              <a:t>است اگر با جایگزین کردن </a:t>
            </a:r>
            <a:r>
              <a:rPr lang="en-US" sz="1800" dirty="0"/>
              <a:t>R </a:t>
            </a:r>
            <a:r>
              <a:rPr lang="fa-IR" sz="1800" dirty="0"/>
              <a:t>با دو </a:t>
            </a:r>
            <a:r>
              <a:rPr lang="fa-IR" sz="1800" dirty="0" err="1"/>
              <a:t>رابطهٔ</a:t>
            </a:r>
            <a:r>
              <a:rPr lang="fa-IR" sz="1800" dirty="0"/>
              <a:t> </a:t>
            </a:r>
            <a:r>
              <a:rPr lang="en-US" sz="1800" dirty="0"/>
              <a:t>R1 </a:t>
            </a:r>
            <a:r>
              <a:rPr lang="fa-IR" sz="1800" dirty="0"/>
              <a:t>و </a:t>
            </a:r>
            <a:r>
              <a:rPr lang="en-US" sz="1800" dirty="0"/>
              <a:t>R2 </a:t>
            </a:r>
            <a:r>
              <a:rPr lang="fa-IR" sz="1800" b="1" dirty="0"/>
              <a:t>هیچ اطلاعاتی از دست نرود</a:t>
            </a:r>
            <a:r>
              <a:rPr lang="fa-IR" sz="1800" dirty="0"/>
              <a:t>.</a:t>
            </a:r>
          </a:p>
          <a:p>
            <a:pPr algn="r" rtl="1"/>
            <a:r>
              <a:rPr lang="fa-IR" sz="1800" dirty="0" err="1"/>
              <a:t>به‌صورت</a:t>
            </a:r>
            <a:r>
              <a:rPr lang="fa-IR" sz="1800" dirty="0"/>
              <a:t> رسمی:</a:t>
            </a:r>
          </a:p>
          <a:p>
            <a:pPr algn="r" rtl="1"/>
            <a:r>
              <a:rPr lang="en-US" altLang="en-US" sz="1700" dirty="0">
                <a:latin typeface="Times New Roman" panose="02020603050405020304" pitchFamily="18" charset="0"/>
                <a:sym typeface="Symbol" panose="05050102010706020507" pitchFamily="18" charset="2"/>
              </a:rPr>
              <a:t>              </a:t>
            </a:r>
            <a:r>
              <a:rPr lang="en-US" altLang="en-US" sz="1700" baseline="-25000" dirty="0">
                <a:latin typeface="Times New Roman" panose="02020603050405020304" pitchFamily="18" charset="0"/>
                <a:sym typeface="Symbol" panose="05050102010706020507" pitchFamily="18" charset="2"/>
              </a:rPr>
              <a:t>R</a:t>
            </a:r>
            <a:r>
              <a:rPr lang="en-US" altLang="en-US" sz="1700" baseline="-50000" dirty="0">
                <a:latin typeface="Times New Roman" panose="02020603050405020304" pitchFamily="18" charset="0"/>
                <a:sym typeface="Symbol" panose="05050102010706020507" pitchFamily="18" charset="2"/>
              </a:rPr>
              <a:t>1</a:t>
            </a:r>
            <a:r>
              <a:rPr lang="en-US" altLang="en-US" sz="1700" dirty="0">
                <a:latin typeface="Times New Roman" panose="02020603050405020304" pitchFamily="18" charset="0"/>
                <a:sym typeface="Symbol" panose="05050102010706020507" pitchFamily="18" charset="2"/>
              </a:rPr>
              <a:t> (r)      </a:t>
            </a:r>
            <a:r>
              <a:rPr lang="en-US" altLang="en-US" sz="1700" baseline="-25000" dirty="0">
                <a:latin typeface="Times New Roman" panose="02020603050405020304" pitchFamily="18" charset="0"/>
                <a:sym typeface="Symbol" panose="05050102010706020507" pitchFamily="18" charset="2"/>
              </a:rPr>
              <a:t>R</a:t>
            </a:r>
            <a:r>
              <a:rPr lang="en-US" altLang="en-US" sz="1700" baseline="-50000" dirty="0">
                <a:latin typeface="Times New Roman" panose="02020603050405020304" pitchFamily="18" charset="0"/>
                <a:sym typeface="Symbol" panose="05050102010706020507" pitchFamily="18" charset="2"/>
              </a:rPr>
              <a:t>2</a:t>
            </a:r>
            <a:r>
              <a:rPr lang="en-US" altLang="en-US" sz="1700" dirty="0">
                <a:latin typeface="Times New Roman" panose="02020603050405020304" pitchFamily="18" charset="0"/>
                <a:sym typeface="Symbol" panose="05050102010706020507" pitchFamily="18" charset="2"/>
              </a:rPr>
              <a:t> (r) = </a:t>
            </a:r>
            <a:r>
              <a:rPr lang="en-US" altLang="en-US" sz="1700" i="1" dirty="0">
                <a:latin typeface="Times New Roman" panose="02020603050405020304" pitchFamily="18" charset="0"/>
                <a:sym typeface="Symbol" panose="05050102010706020507" pitchFamily="18" charset="2"/>
              </a:rPr>
              <a:t>r</a:t>
            </a:r>
          </a:p>
          <a:p>
            <a:pPr algn="r" rtl="1"/>
            <a:r>
              <a:rPr lang="fa-IR" sz="1800" dirty="0"/>
              <a:t>و برعکس، یک تجزیه </a:t>
            </a:r>
            <a:r>
              <a:rPr lang="fa-IR" sz="1800" b="1" dirty="0"/>
              <a:t>دارای اتلاف </a:t>
            </a:r>
            <a:r>
              <a:rPr lang="en-US" sz="1800" b="1" dirty="0"/>
              <a:t>lossy</a:t>
            </a:r>
            <a:r>
              <a:rPr lang="en-US" sz="1800" dirty="0"/>
              <a:t> </a:t>
            </a:r>
            <a:r>
              <a:rPr lang="fa-IR" sz="1800" dirty="0"/>
              <a:t>است اگر:</a:t>
            </a:r>
          </a:p>
          <a:p>
            <a:pPr algn="r" rtl="1"/>
            <a:r>
              <a:rPr lang="en-US" altLang="en-US" sz="1700" dirty="0">
                <a:latin typeface="Times New Roman" panose="02020603050405020304" pitchFamily="18" charset="0"/>
                <a:sym typeface="Symbol" panose="05050102010706020507" pitchFamily="18" charset="2"/>
              </a:rPr>
              <a:t>     r     </a:t>
            </a:r>
            <a:r>
              <a:rPr lang="en-US" altLang="en-US" sz="1700" baseline="-25000" dirty="0">
                <a:latin typeface="Times New Roman" panose="02020603050405020304" pitchFamily="18" charset="0"/>
                <a:sym typeface="Symbol" panose="05050102010706020507" pitchFamily="18" charset="2"/>
              </a:rPr>
              <a:t>R</a:t>
            </a:r>
            <a:r>
              <a:rPr lang="en-US" altLang="en-US" sz="1700" baseline="-50000" dirty="0">
                <a:latin typeface="Times New Roman" panose="02020603050405020304" pitchFamily="18" charset="0"/>
                <a:sym typeface="Symbol" panose="05050102010706020507" pitchFamily="18" charset="2"/>
              </a:rPr>
              <a:t>1</a:t>
            </a:r>
            <a:r>
              <a:rPr lang="en-US" altLang="en-US" sz="1700" dirty="0">
                <a:latin typeface="Times New Roman" panose="02020603050405020304" pitchFamily="18" charset="0"/>
                <a:sym typeface="Symbol" panose="05050102010706020507" pitchFamily="18" charset="2"/>
              </a:rPr>
              <a:t> (r)      </a:t>
            </a:r>
            <a:r>
              <a:rPr lang="en-US" altLang="en-US" sz="1700" baseline="-25000" dirty="0">
                <a:latin typeface="Times New Roman" panose="02020603050405020304" pitchFamily="18" charset="0"/>
                <a:sym typeface="Symbol" panose="05050102010706020507" pitchFamily="18" charset="2"/>
              </a:rPr>
              <a:t>R</a:t>
            </a:r>
            <a:r>
              <a:rPr lang="en-US" altLang="en-US" sz="1700" baseline="-50000" dirty="0">
                <a:latin typeface="Times New Roman" panose="02020603050405020304" pitchFamily="18" charset="0"/>
                <a:sym typeface="Symbol" panose="05050102010706020507" pitchFamily="18" charset="2"/>
              </a:rPr>
              <a:t>2</a:t>
            </a:r>
            <a:r>
              <a:rPr lang="en-US" altLang="en-US" sz="1700" dirty="0">
                <a:latin typeface="Times New Roman" panose="02020603050405020304" pitchFamily="18" charset="0"/>
                <a:sym typeface="Symbol" panose="05050102010706020507" pitchFamily="18" charset="2"/>
              </a:rPr>
              <a:t> (r) = </a:t>
            </a:r>
            <a:r>
              <a:rPr lang="en-US" altLang="en-US" sz="1700" i="1" dirty="0">
                <a:latin typeface="Times New Roman" panose="02020603050405020304" pitchFamily="18" charset="0"/>
                <a:sym typeface="Symbol" panose="05050102010706020507" pitchFamily="18" charset="2"/>
              </a:rPr>
              <a:t>r</a:t>
            </a:r>
            <a:r>
              <a:rPr lang="en-US" altLang="en-US" sz="1700" dirty="0">
                <a:latin typeface="Times New Roman" panose="02020603050405020304" pitchFamily="18" charset="0"/>
                <a:sym typeface="Symbol" panose="05050102010706020507" pitchFamily="18" charset="2"/>
              </a:rPr>
              <a:t> </a:t>
            </a:r>
            <a:endParaRPr lang="en-US" altLang="en-US" sz="1700" dirty="0"/>
          </a:p>
        </p:txBody>
      </p:sp>
      <p:sp>
        <p:nvSpPr>
          <p:cNvPr id="12292" name="Freeform 19"/>
          <p:cNvSpPr>
            <a:spLocks/>
          </p:cNvSpPr>
          <p:nvPr/>
        </p:nvSpPr>
        <p:spPr bwMode="auto">
          <a:xfrm>
            <a:off x="6673695" y="2863696"/>
            <a:ext cx="142875" cy="142875"/>
          </a:xfrm>
          <a:custGeom>
            <a:avLst/>
            <a:gdLst>
              <a:gd name="T0" fmla="*/ 0 w 182"/>
              <a:gd name="T1" fmla="*/ 0 h 182"/>
              <a:gd name="T2" fmla="*/ 0 w 182"/>
              <a:gd name="T3" fmla="*/ 2147483647 h 182"/>
              <a:gd name="T4" fmla="*/ 2147483647 w 182"/>
              <a:gd name="T5" fmla="*/ 0 h 182"/>
              <a:gd name="T6" fmla="*/ 2147483647 w 182"/>
              <a:gd name="T7" fmla="*/ 2147483647 h 182"/>
              <a:gd name="T8" fmla="*/ 0 w 182"/>
              <a:gd name="T9" fmla="*/ 0 h 182"/>
              <a:gd name="T10" fmla="*/ 0 60000 65536"/>
              <a:gd name="T11" fmla="*/ 0 60000 65536"/>
              <a:gd name="T12" fmla="*/ 0 60000 65536"/>
              <a:gd name="T13" fmla="*/ 0 60000 65536"/>
              <a:gd name="T14" fmla="*/ 0 60000 65536"/>
              <a:gd name="T15" fmla="*/ 0 w 182"/>
              <a:gd name="T16" fmla="*/ 0 h 182"/>
              <a:gd name="T17" fmla="*/ 182 w 182"/>
              <a:gd name="T18" fmla="*/ 182 h 182"/>
            </a:gdLst>
            <a:ahLst/>
            <a:cxnLst>
              <a:cxn ang="T10">
                <a:pos x="T0" y="T1"/>
              </a:cxn>
              <a:cxn ang="T11">
                <a:pos x="T2" y="T3"/>
              </a:cxn>
              <a:cxn ang="T12">
                <a:pos x="T4" y="T5"/>
              </a:cxn>
              <a:cxn ang="T13">
                <a:pos x="T6" y="T7"/>
              </a:cxn>
              <a:cxn ang="T14">
                <a:pos x="T8" y="T9"/>
              </a:cxn>
            </a:cxnLst>
            <a:rect l="T15" t="T16" r="T17" b="T18"/>
            <a:pathLst>
              <a:path w="182" h="182">
                <a:moveTo>
                  <a:pt x="0" y="0"/>
                </a:moveTo>
                <a:lnTo>
                  <a:pt x="0" y="182"/>
                </a:lnTo>
                <a:lnTo>
                  <a:pt x="182" y="0"/>
                </a:lnTo>
                <a:lnTo>
                  <a:pt x="182" y="182"/>
                </a:lnTo>
                <a:lnTo>
                  <a:pt x="0" y="0"/>
                </a:lnTo>
                <a:close/>
              </a:path>
            </a:pathLst>
          </a:custGeom>
          <a:noFill/>
          <a:ln w="12700">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2293" name="Freeform 19"/>
          <p:cNvSpPr>
            <a:spLocks/>
          </p:cNvSpPr>
          <p:nvPr/>
        </p:nvSpPr>
        <p:spPr bwMode="auto">
          <a:xfrm>
            <a:off x="6602257" y="3561591"/>
            <a:ext cx="142875" cy="142875"/>
          </a:xfrm>
          <a:custGeom>
            <a:avLst/>
            <a:gdLst>
              <a:gd name="T0" fmla="*/ 0 w 182"/>
              <a:gd name="T1" fmla="*/ 0 h 182"/>
              <a:gd name="T2" fmla="*/ 0 w 182"/>
              <a:gd name="T3" fmla="*/ 2147483647 h 182"/>
              <a:gd name="T4" fmla="*/ 2147483647 w 182"/>
              <a:gd name="T5" fmla="*/ 0 h 182"/>
              <a:gd name="T6" fmla="*/ 2147483647 w 182"/>
              <a:gd name="T7" fmla="*/ 2147483647 h 182"/>
              <a:gd name="T8" fmla="*/ 0 w 182"/>
              <a:gd name="T9" fmla="*/ 0 h 182"/>
              <a:gd name="T10" fmla="*/ 0 60000 65536"/>
              <a:gd name="T11" fmla="*/ 0 60000 65536"/>
              <a:gd name="T12" fmla="*/ 0 60000 65536"/>
              <a:gd name="T13" fmla="*/ 0 60000 65536"/>
              <a:gd name="T14" fmla="*/ 0 60000 65536"/>
              <a:gd name="T15" fmla="*/ 0 w 182"/>
              <a:gd name="T16" fmla="*/ 0 h 182"/>
              <a:gd name="T17" fmla="*/ 182 w 182"/>
              <a:gd name="T18" fmla="*/ 182 h 182"/>
            </a:gdLst>
            <a:ahLst/>
            <a:cxnLst>
              <a:cxn ang="T10">
                <a:pos x="T0" y="T1"/>
              </a:cxn>
              <a:cxn ang="T11">
                <a:pos x="T2" y="T3"/>
              </a:cxn>
              <a:cxn ang="T12">
                <a:pos x="T4" y="T5"/>
              </a:cxn>
              <a:cxn ang="T13">
                <a:pos x="T6" y="T7"/>
              </a:cxn>
              <a:cxn ang="T14">
                <a:pos x="T8" y="T9"/>
              </a:cxn>
            </a:cxnLst>
            <a:rect l="T15" t="T16" r="T17" b="T18"/>
            <a:pathLst>
              <a:path w="182" h="182">
                <a:moveTo>
                  <a:pt x="0" y="0"/>
                </a:moveTo>
                <a:lnTo>
                  <a:pt x="0" y="182"/>
                </a:lnTo>
                <a:lnTo>
                  <a:pt x="182" y="0"/>
                </a:lnTo>
                <a:lnTo>
                  <a:pt x="182" y="182"/>
                </a:lnTo>
                <a:lnTo>
                  <a:pt x="0" y="0"/>
                </a:lnTo>
                <a:close/>
              </a:path>
            </a:pathLst>
          </a:custGeom>
          <a:noFill/>
          <a:ln w="12700">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Tree>
    <p:extLst>
      <p:ext uri="{BB962C8B-B14F-4D97-AF65-F5344CB8AC3E}">
        <p14:creationId xmlns:p14="http://schemas.microsoft.com/office/powerpoint/2010/main" val="17017801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0482" name="Rectangle 2"/>
          <p:cNvSpPr>
            <a:spLocks noGrp="1" noChangeArrowheads="1"/>
          </p:cNvSpPr>
          <p:nvPr>
            <p:ph type="title"/>
          </p:nvPr>
        </p:nvSpPr>
        <p:spPr>
          <a:xfrm>
            <a:off x="628650" y="252413"/>
            <a:ext cx="8534400" cy="457200"/>
          </a:xfrm>
        </p:spPr>
        <p:txBody>
          <a:bodyPr/>
          <a:lstStyle/>
          <a:p>
            <a:pPr>
              <a:defRPr/>
            </a:pPr>
            <a:r>
              <a:rPr lang="fa-IR" dirty="0"/>
              <a:t>مثال یک تجزیه بدون اتلاف</a:t>
            </a:r>
            <a:endParaRPr lang="en-US" altLang="en-US" sz="2800" dirty="0">
              <a:effectLst>
                <a:outerShdw blurRad="38100" dist="38100" dir="2700000" algn="tl">
                  <a:srgbClr val="C0C0C0"/>
                </a:outerShdw>
              </a:effectLst>
              <a:ea typeface="ＭＳ Ｐゴシック" pitchFamily="34" charset="-128"/>
            </a:endParaRPr>
          </a:p>
        </p:txBody>
      </p:sp>
      <p:sp>
        <p:nvSpPr>
          <p:cNvPr id="13315" name="Rectangle 3"/>
          <p:cNvSpPr>
            <a:spLocks noGrp="1" noChangeArrowheads="1"/>
          </p:cNvSpPr>
          <p:nvPr>
            <p:ph idx="1"/>
          </p:nvPr>
        </p:nvSpPr>
        <p:spPr>
          <a:xfrm>
            <a:off x="772359" y="1095375"/>
            <a:ext cx="7541522" cy="830961"/>
          </a:xfrm>
        </p:spPr>
        <p:txBody>
          <a:bodyPr/>
          <a:lstStyle/>
          <a:p>
            <a:pPr algn="r" rtl="1">
              <a:tabLst>
                <a:tab pos="2336800" algn="l"/>
                <a:tab pos="3765550" algn="l"/>
              </a:tabLst>
            </a:pPr>
            <a:r>
              <a:rPr lang="fa-IR" sz="1800" dirty="0"/>
              <a:t>مثال </a:t>
            </a:r>
            <a:r>
              <a:rPr lang="en-US" sz="1800" dirty="0"/>
              <a:t>R=(A,B,C) </a:t>
            </a:r>
            <a:r>
              <a:rPr lang="fa-IR" sz="1800" dirty="0"/>
              <a:t>و تجزیه به </a:t>
            </a:r>
            <a:r>
              <a:rPr lang="en-US" sz="1800" dirty="0"/>
              <a:t>A,B </a:t>
            </a:r>
            <a:r>
              <a:rPr lang="fa-IR" sz="1800" dirty="0"/>
              <a:t>و </a:t>
            </a:r>
            <a:r>
              <a:rPr lang="en-US" sz="1800" dirty="0"/>
              <a:t>B,C</a:t>
            </a:r>
            <a:endParaRPr lang="en-US" altLang="en-US" sz="1700" dirty="0"/>
          </a:p>
        </p:txBody>
      </p:sp>
      <p:pic>
        <p:nvPicPr>
          <p:cNvPr id="13316" name="Picture 30" descr="C:\Users\as668\Desktop\Judi\7_02 figure.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53750" y="2312098"/>
            <a:ext cx="5963049" cy="39611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904014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6626" name="Rectangle 2"/>
          <p:cNvSpPr>
            <a:spLocks noGrp="1" noChangeArrowheads="1"/>
          </p:cNvSpPr>
          <p:nvPr>
            <p:ph type="title"/>
          </p:nvPr>
        </p:nvSpPr>
        <p:spPr>
          <a:xfrm>
            <a:off x="771525" y="185738"/>
            <a:ext cx="8372475" cy="598487"/>
          </a:xfrm>
        </p:spPr>
        <p:txBody>
          <a:bodyPr/>
          <a:lstStyle/>
          <a:p>
            <a:pPr>
              <a:defRPr/>
            </a:pPr>
            <a:r>
              <a:rPr lang="fa-IR" dirty="0"/>
              <a:t>تئوری </a:t>
            </a:r>
            <a:r>
              <a:rPr lang="fa-IR" dirty="0" err="1"/>
              <a:t>نرمال‌سازی</a:t>
            </a:r>
            <a:endParaRPr lang="en-US" altLang="en-US" sz="2800" dirty="0">
              <a:effectLst>
                <a:outerShdw blurRad="38100" dist="38100" dir="2700000" algn="tl">
                  <a:srgbClr val="C0C0C0"/>
                </a:outerShdw>
              </a:effectLst>
              <a:ea typeface="ＭＳ Ｐゴシック" pitchFamily="34" charset="-128"/>
            </a:endParaRPr>
          </a:p>
        </p:txBody>
      </p:sp>
      <p:sp>
        <p:nvSpPr>
          <p:cNvPr id="14339" name="Rectangle 3"/>
          <p:cNvSpPr>
            <a:spLocks noGrp="1" noChangeArrowheads="1"/>
          </p:cNvSpPr>
          <p:nvPr>
            <p:ph idx="1"/>
          </p:nvPr>
        </p:nvSpPr>
        <p:spPr>
          <a:xfrm>
            <a:off x="246743" y="1132114"/>
            <a:ext cx="8650514" cy="5355772"/>
          </a:xfrm>
        </p:spPr>
        <p:txBody>
          <a:bodyPr/>
          <a:lstStyle/>
          <a:p>
            <a:pPr algn="r" rtl="1"/>
            <a:r>
              <a:rPr lang="fa-IR" sz="2400" dirty="0"/>
              <a:t>تشخیص </a:t>
            </a:r>
            <a:r>
              <a:rPr lang="fa-IR" sz="2400" dirty="0" err="1"/>
              <a:t>این‌که</a:t>
            </a:r>
            <a:r>
              <a:rPr lang="fa-IR" sz="2400" dirty="0"/>
              <a:t> یک رابطه </a:t>
            </a:r>
            <a:r>
              <a:rPr lang="en-US" sz="2400" dirty="0"/>
              <a:t>Relation)</a:t>
            </a:r>
            <a:r>
              <a:rPr lang="fa-IR" sz="2400" dirty="0"/>
              <a:t>)</a:t>
            </a:r>
            <a:r>
              <a:rPr lang="en-US" sz="2400" dirty="0"/>
              <a:t> </a:t>
            </a:r>
            <a:r>
              <a:rPr lang="fa-IR" sz="2400" dirty="0"/>
              <a:t>به نام </a:t>
            </a:r>
            <a:r>
              <a:rPr lang="en-US" sz="2400" dirty="0"/>
              <a:t>R </a:t>
            </a:r>
            <a:r>
              <a:rPr lang="fa-IR" sz="2400" dirty="0"/>
              <a:t>در «فرم خوب» قرار دارد یا نه.</a:t>
            </a:r>
          </a:p>
          <a:p>
            <a:pPr algn="r" rtl="1"/>
            <a:r>
              <a:rPr lang="fa-IR" sz="2400" dirty="0"/>
              <a:t>اگر رابطه </a:t>
            </a:r>
            <a:r>
              <a:rPr lang="en-US" sz="2400" dirty="0"/>
              <a:t>R </a:t>
            </a:r>
            <a:r>
              <a:rPr lang="fa-IR" sz="2400" dirty="0"/>
              <a:t>در فرم خوب نباشد، آن را به مجموعه‌ای از رابطه‌ها </a:t>
            </a:r>
            <a:r>
              <a:rPr lang="en-US" sz="2400" dirty="0"/>
              <a:t>R1, R2, ..., Rn </a:t>
            </a:r>
            <a:r>
              <a:rPr lang="fa-IR" sz="2400" dirty="0"/>
              <a:t>تجزیه </a:t>
            </a:r>
            <a:r>
              <a:rPr lang="fa-IR" sz="2400" dirty="0" err="1"/>
              <a:t>می‌کنیم</a:t>
            </a:r>
            <a:r>
              <a:rPr lang="fa-IR" sz="2400" dirty="0"/>
              <a:t>، </a:t>
            </a:r>
            <a:r>
              <a:rPr lang="fa-IR" sz="2400" dirty="0" err="1"/>
              <a:t>به‌گونه‌ای</a:t>
            </a:r>
            <a:r>
              <a:rPr lang="fa-IR" sz="2400" dirty="0"/>
              <a:t> که:</a:t>
            </a:r>
          </a:p>
          <a:p>
            <a:pPr lvl="1" algn="r" rtl="1"/>
            <a:r>
              <a:rPr lang="fa-IR" sz="2400" dirty="0"/>
              <a:t>هر یک از </a:t>
            </a:r>
            <a:r>
              <a:rPr lang="fa-IR" sz="2400" dirty="0" err="1"/>
              <a:t>رابطه‌های</a:t>
            </a:r>
            <a:r>
              <a:rPr lang="fa-IR" sz="2400" dirty="0"/>
              <a:t> حاصل در فرم خوب باشند</a:t>
            </a:r>
          </a:p>
          <a:p>
            <a:pPr lvl="1" algn="r" rtl="1"/>
            <a:r>
              <a:rPr lang="fa-IR" sz="2400" dirty="0"/>
              <a:t>این تجزیه بدونِ اتلاف اطلاعات </a:t>
            </a:r>
            <a:r>
              <a:rPr lang="en-US" sz="2400" dirty="0"/>
              <a:t>Lossless </a:t>
            </a:r>
            <a:r>
              <a:rPr lang="fa-IR" sz="2400" dirty="0"/>
              <a:t> باشد</a:t>
            </a:r>
          </a:p>
          <a:p>
            <a:pPr algn="r" rtl="1"/>
            <a:r>
              <a:rPr lang="fa-IR" sz="2400" dirty="0"/>
              <a:t>تئوری ما بر پایه موارد زیر است:</a:t>
            </a:r>
          </a:p>
          <a:p>
            <a:pPr lvl="1" algn="r" rtl="1"/>
            <a:r>
              <a:rPr lang="fa-IR" sz="2400" dirty="0" err="1"/>
              <a:t>وابستگی‌های</a:t>
            </a:r>
            <a:r>
              <a:rPr lang="fa-IR" sz="2400" dirty="0"/>
              <a:t> </a:t>
            </a:r>
            <a:r>
              <a:rPr lang="fa-IR" sz="2400" dirty="0" err="1"/>
              <a:t>تابعی</a:t>
            </a:r>
            <a:endParaRPr lang="fa-IR" sz="2400" dirty="0"/>
          </a:p>
          <a:p>
            <a:pPr lvl="1" algn="r" rtl="1"/>
            <a:r>
              <a:rPr lang="fa-IR" sz="2400" dirty="0" err="1"/>
              <a:t>وابستگی‌های</a:t>
            </a:r>
            <a:r>
              <a:rPr lang="fa-IR" sz="2400" dirty="0"/>
              <a:t> </a:t>
            </a:r>
            <a:r>
              <a:rPr lang="fa-IR" sz="2400" dirty="0" err="1"/>
              <a:t>چندمقداری</a:t>
            </a:r>
            <a:endParaRPr lang="en-US" altLang="en-US" sz="2400" dirty="0"/>
          </a:p>
        </p:txBody>
      </p:sp>
    </p:spTree>
    <p:extLst>
      <p:ext uri="{BB962C8B-B14F-4D97-AF65-F5344CB8AC3E}">
        <p14:creationId xmlns:p14="http://schemas.microsoft.com/office/powerpoint/2010/main" val="5254949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8674" name="Rectangle 2"/>
          <p:cNvSpPr>
            <a:spLocks noGrp="1" noChangeArrowheads="1"/>
          </p:cNvSpPr>
          <p:nvPr>
            <p:ph type="title"/>
          </p:nvPr>
        </p:nvSpPr>
        <p:spPr>
          <a:xfrm>
            <a:off x="768350" y="98425"/>
            <a:ext cx="8077200" cy="609600"/>
          </a:xfrm>
        </p:spPr>
        <p:txBody>
          <a:bodyPr/>
          <a:lstStyle/>
          <a:p>
            <a:pPr>
              <a:defRPr/>
            </a:pPr>
            <a:r>
              <a:rPr lang="fa-IR" dirty="0" err="1"/>
              <a:t>وابستگی‌های</a:t>
            </a:r>
            <a:r>
              <a:rPr lang="fa-IR" dirty="0"/>
              <a:t> </a:t>
            </a:r>
            <a:r>
              <a:rPr lang="fa-IR" dirty="0" err="1"/>
              <a:t>تابعی</a:t>
            </a:r>
            <a:endParaRPr lang="en-US" altLang="en-US" sz="2800" dirty="0">
              <a:effectLst>
                <a:outerShdw blurRad="38100" dist="38100" dir="2700000" algn="tl">
                  <a:srgbClr val="C0C0C0"/>
                </a:outerShdw>
              </a:effectLst>
              <a:ea typeface="ＭＳ Ｐゴシック" pitchFamily="34" charset="-128"/>
            </a:endParaRPr>
          </a:p>
        </p:txBody>
      </p:sp>
      <p:sp>
        <p:nvSpPr>
          <p:cNvPr id="15363" name="Rectangle 3"/>
          <p:cNvSpPr>
            <a:spLocks noGrp="1" noChangeArrowheads="1"/>
          </p:cNvSpPr>
          <p:nvPr>
            <p:ph idx="1"/>
          </p:nvPr>
        </p:nvSpPr>
        <p:spPr>
          <a:xfrm>
            <a:off x="362857" y="1106423"/>
            <a:ext cx="8650514" cy="5410491"/>
          </a:xfrm>
        </p:spPr>
        <p:txBody>
          <a:bodyPr/>
          <a:lstStyle/>
          <a:p>
            <a:pPr algn="r" rtl="1"/>
            <a:r>
              <a:rPr lang="fa-IR" sz="2800" dirty="0"/>
              <a:t>در دنیای واقعی معمولاً </a:t>
            </a:r>
            <a:r>
              <a:rPr lang="fa-IR" sz="2800" dirty="0" err="1"/>
              <a:t>مجموعه‌ای</a:t>
            </a:r>
            <a:r>
              <a:rPr lang="fa-IR" sz="2800" dirty="0"/>
              <a:t> از </a:t>
            </a:r>
            <a:r>
              <a:rPr lang="fa-IR" sz="2800" dirty="0" err="1"/>
              <a:t>محدودیت‌ها</a:t>
            </a:r>
            <a:r>
              <a:rPr lang="fa-IR" sz="2800" dirty="0"/>
              <a:t> (قوانین) روی </a:t>
            </a:r>
            <a:r>
              <a:rPr lang="fa-IR" sz="2800" dirty="0" err="1"/>
              <a:t>داده‌ها</a:t>
            </a:r>
            <a:r>
              <a:rPr lang="fa-IR" sz="2800" dirty="0"/>
              <a:t> وجود دارد.</a:t>
            </a:r>
            <a:br>
              <a:rPr lang="fa-IR" sz="2800" dirty="0"/>
            </a:br>
            <a:r>
              <a:rPr lang="fa-IR" sz="2800" dirty="0"/>
              <a:t>برای مثال، برخی از محدودیت‌هایی که انتظار می‌رود در یک پایگاه داده دانشگاه برقرار باشند، عبارت‌اند از:</a:t>
            </a:r>
          </a:p>
          <a:p>
            <a:pPr algn="r" rtl="1"/>
            <a:r>
              <a:rPr lang="fa-IR" sz="2800" b="1" dirty="0"/>
              <a:t>دانشجوها و اساتید با شناسه </a:t>
            </a:r>
            <a:r>
              <a:rPr lang="en-US" sz="2800" b="1" dirty="0"/>
              <a:t>ID </a:t>
            </a:r>
            <a:r>
              <a:rPr lang="fa-IR" sz="2800" b="1" dirty="0"/>
              <a:t>خود </a:t>
            </a:r>
            <a:r>
              <a:rPr lang="fa-IR" sz="2800" b="1" dirty="0" err="1"/>
              <a:t>به‌طور</a:t>
            </a:r>
            <a:r>
              <a:rPr lang="fa-IR" sz="2800" b="1" dirty="0"/>
              <a:t> </a:t>
            </a:r>
            <a:r>
              <a:rPr lang="fa-IR" sz="2800" b="1" dirty="0" err="1"/>
              <a:t>یکتایی</a:t>
            </a:r>
            <a:r>
              <a:rPr lang="fa-IR" sz="2800" b="1" dirty="0"/>
              <a:t> شناسایی </a:t>
            </a:r>
            <a:r>
              <a:rPr lang="fa-IR" sz="2800" b="1" dirty="0" err="1"/>
              <a:t>می‌شوند</a:t>
            </a:r>
            <a:r>
              <a:rPr lang="fa-IR" sz="2800" b="1" dirty="0"/>
              <a:t>.</a:t>
            </a:r>
            <a:br>
              <a:rPr lang="fa-IR" sz="2800" dirty="0"/>
            </a:br>
            <a:r>
              <a:rPr lang="fa-IR" sz="2800" dirty="0"/>
              <a:t>یعنی هیچ دو دانشجو یا استاد </a:t>
            </a:r>
            <a:r>
              <a:rPr lang="fa-IR" sz="2800" dirty="0" err="1"/>
              <a:t>نمی‌توانند</a:t>
            </a:r>
            <a:r>
              <a:rPr lang="fa-IR" sz="2800" dirty="0"/>
              <a:t> </a:t>
            </a:r>
            <a:r>
              <a:rPr lang="en-US" sz="2800" dirty="0"/>
              <a:t>ID </a:t>
            </a:r>
            <a:r>
              <a:rPr lang="fa-IR" sz="2800" dirty="0"/>
              <a:t>یکسان داشته باشند.</a:t>
            </a:r>
          </a:p>
          <a:p>
            <a:pPr algn="r" rtl="1"/>
            <a:r>
              <a:rPr lang="fa-IR" sz="2800" dirty="0"/>
              <a:t>هر دانشجو و هر استاد فقط یک نام دارد.</a:t>
            </a:r>
          </a:p>
          <a:p>
            <a:pPr algn="r" rtl="1"/>
            <a:r>
              <a:rPr lang="fa-IR" sz="2800" dirty="0"/>
              <a:t>هر استاد و هر دانشجو (</a:t>
            </a:r>
            <a:r>
              <a:rPr lang="fa-IR" sz="2800" dirty="0" err="1"/>
              <a:t>به‌طور</a:t>
            </a:r>
            <a:r>
              <a:rPr lang="fa-IR" sz="2800" dirty="0"/>
              <a:t> اصلی) فقط به یک دپارتمان وابسته است.</a:t>
            </a:r>
          </a:p>
          <a:p>
            <a:pPr algn="r" rtl="1"/>
            <a:r>
              <a:rPr lang="fa-IR" sz="2800" dirty="0"/>
              <a:t>هر دپارتمان فقط یک مقدار برای بودجه خود دارد و تنها یک ساختمان به آن اختصاص داده شده است.</a:t>
            </a:r>
          </a:p>
        </p:txBody>
      </p:sp>
    </p:spTree>
    <p:extLst>
      <p:ext uri="{BB962C8B-B14F-4D97-AF65-F5344CB8AC3E}">
        <p14:creationId xmlns:p14="http://schemas.microsoft.com/office/powerpoint/2010/main" val="68786271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8674" name="Rectangle 2"/>
          <p:cNvSpPr>
            <a:spLocks noGrp="1" noChangeArrowheads="1"/>
          </p:cNvSpPr>
          <p:nvPr>
            <p:ph type="title"/>
          </p:nvPr>
        </p:nvSpPr>
        <p:spPr>
          <a:xfrm>
            <a:off x="768350" y="98425"/>
            <a:ext cx="8077200" cy="609600"/>
          </a:xfrm>
        </p:spPr>
        <p:txBody>
          <a:bodyPr/>
          <a:lstStyle/>
          <a:p>
            <a:pPr>
              <a:defRPr/>
            </a:pPr>
            <a:r>
              <a:rPr lang="fa-IR" dirty="0" err="1"/>
              <a:t>وابستگی‌های</a:t>
            </a:r>
            <a:r>
              <a:rPr lang="fa-IR" dirty="0"/>
              <a:t> </a:t>
            </a:r>
            <a:r>
              <a:rPr lang="fa-IR" dirty="0" err="1"/>
              <a:t>تابعی</a:t>
            </a:r>
            <a:r>
              <a:rPr lang="fa-IR" dirty="0"/>
              <a:t> – ادامه</a:t>
            </a:r>
            <a:endParaRPr lang="en-US" altLang="en-US" sz="2800" dirty="0">
              <a:effectLst>
                <a:outerShdw blurRad="38100" dist="38100" dir="2700000" algn="tl">
                  <a:srgbClr val="C0C0C0"/>
                </a:outerShdw>
              </a:effectLst>
              <a:ea typeface="ＭＳ Ｐゴシック" pitchFamily="34" charset="-128"/>
            </a:endParaRPr>
          </a:p>
        </p:txBody>
      </p:sp>
      <p:sp>
        <p:nvSpPr>
          <p:cNvPr id="16387" name="Rectangle 3"/>
          <p:cNvSpPr>
            <a:spLocks noGrp="1" noChangeArrowheads="1"/>
          </p:cNvSpPr>
          <p:nvPr>
            <p:ph idx="1"/>
          </p:nvPr>
        </p:nvSpPr>
        <p:spPr>
          <a:xfrm>
            <a:off x="508000" y="1142557"/>
            <a:ext cx="7880096" cy="4706700"/>
          </a:xfrm>
        </p:spPr>
        <p:txBody>
          <a:bodyPr/>
          <a:lstStyle/>
          <a:p>
            <a:pPr algn="r" rtl="1"/>
            <a:r>
              <a:rPr lang="fa-IR" sz="2800" dirty="0"/>
              <a:t>یک نمونه </a:t>
            </a:r>
            <a:r>
              <a:rPr lang="en-US" sz="2800" dirty="0"/>
              <a:t>instance </a:t>
            </a:r>
            <a:r>
              <a:rPr lang="fa-IR" sz="2800" dirty="0"/>
              <a:t>از یک رابطه که تمام این </a:t>
            </a:r>
            <a:r>
              <a:rPr lang="fa-IR" sz="2800" dirty="0" err="1"/>
              <a:t>محدودیت‌های</a:t>
            </a:r>
            <a:r>
              <a:rPr lang="fa-IR" sz="2800" dirty="0"/>
              <a:t> دنیای واقعی را رعایت کند، «نمونه معتبر» آن رابطه نامیده </a:t>
            </a:r>
            <a:r>
              <a:rPr lang="fa-IR" sz="2800" dirty="0" err="1"/>
              <a:t>می‌شود</a:t>
            </a:r>
            <a:r>
              <a:rPr lang="fa-IR" sz="2800" dirty="0"/>
              <a:t>.</a:t>
            </a:r>
            <a:br>
              <a:rPr lang="fa-IR" sz="2800" dirty="0"/>
            </a:br>
            <a:r>
              <a:rPr lang="fa-IR" sz="2800" dirty="0"/>
              <a:t>یک پایگاه داده زمانی معتبر است که همه </a:t>
            </a:r>
            <a:r>
              <a:rPr lang="fa-IR" sz="2800" dirty="0" err="1"/>
              <a:t>رابطه‌های</a:t>
            </a:r>
            <a:r>
              <a:rPr lang="fa-IR" sz="2800" dirty="0"/>
              <a:t> داخل آن </a:t>
            </a:r>
            <a:r>
              <a:rPr lang="fa-IR" sz="2800" dirty="0" err="1"/>
              <a:t>نمونه‌های</a:t>
            </a:r>
            <a:r>
              <a:rPr lang="fa-IR" sz="2800" dirty="0"/>
              <a:t> معتبر باشند.</a:t>
            </a:r>
          </a:p>
          <a:p>
            <a:pPr algn="r" rtl="1"/>
            <a:r>
              <a:rPr lang="fa-IR" sz="2800" dirty="0"/>
              <a:t>این محدودیت‌ها روی مجموعه رابطه‌های معتبر اعمال می‌شوند و تعیین می‌کنند که:</a:t>
            </a:r>
            <a:br>
              <a:rPr lang="fa-IR" sz="2800" dirty="0"/>
            </a:br>
            <a:r>
              <a:rPr lang="fa-IR" sz="2800" dirty="0"/>
              <a:t>مقدار یک سری از ویژگی‌ها </a:t>
            </a:r>
            <a:r>
              <a:rPr lang="en-US" sz="2800" dirty="0"/>
              <a:t>attributes </a:t>
            </a:r>
            <a:r>
              <a:rPr lang="fa-IR" sz="2800" dirty="0"/>
              <a:t>باید مقدار مجموعه دیگری از </a:t>
            </a:r>
            <a:r>
              <a:rPr lang="fa-IR" sz="2800" dirty="0" err="1"/>
              <a:t>ویژگی‌ها</a:t>
            </a:r>
            <a:r>
              <a:rPr lang="fa-IR" sz="2800" dirty="0"/>
              <a:t> را </a:t>
            </a:r>
            <a:r>
              <a:rPr lang="fa-IR" sz="2800" dirty="0" err="1"/>
              <a:t>به‌طور</a:t>
            </a:r>
            <a:r>
              <a:rPr lang="fa-IR" sz="2800" dirty="0"/>
              <a:t> یکتا مشخص کند.</a:t>
            </a:r>
          </a:p>
          <a:p>
            <a:pPr algn="r" rtl="1"/>
            <a:r>
              <a:rPr lang="fa-IR" sz="2800" dirty="0"/>
              <a:t>درواقع، وابستگی تابعی یک شکل تعمیم‌یافته از مفهوم کلید </a:t>
            </a:r>
            <a:r>
              <a:rPr lang="en-US" sz="2800" dirty="0"/>
              <a:t>Key </a:t>
            </a:r>
            <a:r>
              <a:rPr lang="fa-IR" sz="2800" dirty="0"/>
              <a:t>است.</a:t>
            </a:r>
          </a:p>
        </p:txBody>
      </p:sp>
    </p:spTree>
    <p:extLst>
      <p:ext uri="{BB962C8B-B14F-4D97-AF65-F5344CB8AC3E}">
        <p14:creationId xmlns:p14="http://schemas.microsoft.com/office/powerpoint/2010/main" val="243218244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0722" name="Rectangle 2"/>
          <p:cNvSpPr>
            <a:spLocks noGrp="1" noChangeArrowheads="1"/>
          </p:cNvSpPr>
          <p:nvPr>
            <p:ph type="title"/>
          </p:nvPr>
        </p:nvSpPr>
        <p:spPr/>
        <p:txBody>
          <a:bodyPr/>
          <a:lstStyle/>
          <a:p>
            <a:pPr>
              <a:defRPr/>
            </a:pPr>
            <a:r>
              <a:rPr lang="fa-IR" altLang="en-US" sz="2800" dirty="0">
                <a:effectLst>
                  <a:outerShdw blurRad="38100" dist="38100" dir="2700000" algn="tl">
                    <a:srgbClr val="C0C0C0"/>
                  </a:outerShdw>
                </a:effectLst>
                <a:ea typeface="ＭＳ Ｐゴシック" pitchFamily="34" charset="-128"/>
              </a:rPr>
              <a:t>مفهوم </a:t>
            </a:r>
            <a:r>
              <a:rPr lang="fa-IR" dirty="0" err="1"/>
              <a:t>وابستگی‌های</a:t>
            </a:r>
            <a:r>
              <a:rPr lang="fa-IR" dirty="0"/>
              <a:t> </a:t>
            </a:r>
            <a:r>
              <a:rPr lang="fa-IR" dirty="0" err="1"/>
              <a:t>تابعی</a:t>
            </a:r>
            <a:r>
              <a:rPr lang="fa-IR" dirty="0"/>
              <a:t> </a:t>
            </a:r>
            <a:endParaRPr lang="en-US" altLang="en-US" sz="2800" dirty="0">
              <a:effectLst>
                <a:outerShdw blurRad="38100" dist="38100" dir="2700000" algn="tl">
                  <a:srgbClr val="C0C0C0"/>
                </a:outerShdw>
              </a:effectLst>
              <a:ea typeface="ＭＳ Ｐゴシック" pitchFamily="34" charset="-128"/>
            </a:endParaRPr>
          </a:p>
        </p:txBody>
      </p:sp>
      <p:sp>
        <p:nvSpPr>
          <p:cNvPr id="17411" name="Rectangle 3"/>
          <p:cNvSpPr>
            <a:spLocks noGrp="1" noChangeArrowheads="1"/>
          </p:cNvSpPr>
          <p:nvPr>
            <p:ph idx="1"/>
          </p:nvPr>
        </p:nvSpPr>
        <p:spPr>
          <a:xfrm>
            <a:off x="188685" y="1001485"/>
            <a:ext cx="8795657" cy="5544457"/>
          </a:xfrm>
        </p:spPr>
        <p:txBody>
          <a:bodyPr/>
          <a:lstStyle/>
          <a:p>
            <a:pPr algn="r" rtl="1">
              <a:lnSpc>
                <a:spcPct val="90000"/>
              </a:lnSpc>
              <a:tabLst>
                <a:tab pos="2917825" algn="ctr"/>
              </a:tabLst>
            </a:pPr>
            <a:r>
              <a:rPr lang="fa-IR" sz="2400" dirty="0"/>
              <a:t>فرض کنید </a:t>
            </a:r>
            <a:r>
              <a:rPr lang="en-US" sz="2400" dirty="0"/>
              <a:t>R </a:t>
            </a:r>
            <a:r>
              <a:rPr lang="fa-IR" sz="2400" dirty="0"/>
              <a:t>یک </a:t>
            </a:r>
            <a:r>
              <a:rPr lang="fa-IR" sz="2400" dirty="0" err="1"/>
              <a:t>اسکیما</a:t>
            </a:r>
            <a:r>
              <a:rPr lang="fa-IR" sz="2400" dirty="0"/>
              <a:t> (طرح) </a:t>
            </a:r>
            <a:r>
              <a:rPr lang="fa-IR" sz="2400" dirty="0" err="1"/>
              <a:t>رابطه‌ای</a:t>
            </a:r>
            <a:r>
              <a:rPr lang="fa-IR" sz="2400" dirty="0"/>
              <a:t> باشد.</a:t>
            </a:r>
            <a:br>
              <a:rPr lang="fa-IR" sz="2400" dirty="0"/>
            </a:br>
            <a:r>
              <a:rPr lang="fa-IR" sz="2400" dirty="0"/>
              <a:t>  </a:t>
            </a:r>
            <a:r>
              <a:rPr lang="el-GR" sz="2400" dirty="0"/>
              <a:t>α ⊆ </a:t>
            </a:r>
            <a:r>
              <a:rPr lang="en-US" sz="2400" dirty="0"/>
              <a:t>R </a:t>
            </a:r>
            <a:r>
              <a:rPr lang="fa-IR" sz="2400" dirty="0"/>
              <a:t>و </a:t>
            </a:r>
            <a:r>
              <a:rPr lang="el-GR" sz="2400" dirty="0"/>
              <a:t>β ⊆ </a:t>
            </a:r>
            <a:r>
              <a:rPr lang="en-US" sz="2400" dirty="0"/>
              <a:t>R</a:t>
            </a:r>
            <a:br>
              <a:rPr lang="en-US" sz="2400" dirty="0"/>
            </a:br>
            <a:endParaRPr lang="fa-IR" sz="2400" dirty="0"/>
          </a:p>
          <a:p>
            <a:pPr algn="r" rtl="1">
              <a:lnSpc>
                <a:spcPct val="90000"/>
              </a:lnSpc>
              <a:tabLst>
                <a:tab pos="2917825" algn="ctr"/>
              </a:tabLst>
            </a:pPr>
            <a:r>
              <a:rPr lang="fa-IR" sz="2400" dirty="0"/>
              <a:t>وابستگی </a:t>
            </a:r>
            <a:r>
              <a:rPr lang="fa-IR" sz="2400" dirty="0" err="1"/>
              <a:t>تابعی</a:t>
            </a:r>
            <a:br>
              <a:rPr lang="fa-IR" sz="2400" dirty="0"/>
            </a:br>
            <a:r>
              <a:rPr lang="fa-IR" sz="2400" dirty="0"/>
              <a:t>  </a:t>
            </a:r>
            <a:r>
              <a:rPr lang="el-GR" sz="2400" dirty="0"/>
              <a:t>α → β</a:t>
            </a:r>
            <a:br>
              <a:rPr lang="el-GR" sz="2400" dirty="0"/>
            </a:br>
            <a:endParaRPr lang="fa-IR" sz="2400" dirty="0"/>
          </a:p>
          <a:p>
            <a:pPr algn="r" rtl="1">
              <a:lnSpc>
                <a:spcPct val="90000"/>
              </a:lnSpc>
              <a:tabLst>
                <a:tab pos="2917825" algn="ctr"/>
              </a:tabLst>
            </a:pPr>
            <a:r>
              <a:rPr lang="fa-IR" sz="2400" dirty="0"/>
              <a:t>روی </a:t>
            </a:r>
            <a:r>
              <a:rPr lang="en-US" sz="2400" dirty="0"/>
              <a:t>R </a:t>
            </a:r>
            <a:r>
              <a:rPr lang="fa-IR" sz="2400" dirty="0"/>
              <a:t>برقرار است </a:t>
            </a:r>
            <a:r>
              <a:rPr lang="fa-IR" sz="2400" b="1" dirty="0"/>
              <a:t>اگر و تنها اگر</a:t>
            </a:r>
            <a:r>
              <a:rPr lang="fa-IR" sz="2400" dirty="0"/>
              <a:t> برای هر نمونه قانونی </a:t>
            </a:r>
            <a:r>
              <a:rPr lang="en-US" sz="2400" dirty="0"/>
              <a:t>r(R)، </a:t>
            </a:r>
            <a:r>
              <a:rPr lang="fa-IR" sz="2400" dirty="0" err="1"/>
              <a:t>هرگاه</a:t>
            </a:r>
            <a:r>
              <a:rPr lang="fa-IR" sz="2400" dirty="0"/>
              <a:t> دو </a:t>
            </a:r>
            <a:r>
              <a:rPr lang="fa-IR" sz="2400" dirty="0" err="1"/>
              <a:t>تاپل</a:t>
            </a:r>
            <a:r>
              <a:rPr lang="fa-IR" sz="2400" dirty="0"/>
              <a:t> </a:t>
            </a:r>
            <a:r>
              <a:rPr lang="en-US" sz="2400" dirty="0"/>
              <a:t>t1 </a:t>
            </a:r>
            <a:r>
              <a:rPr lang="fa-IR" sz="2400" dirty="0"/>
              <a:t>و </a:t>
            </a:r>
            <a:r>
              <a:rPr lang="en-US" sz="2400" dirty="0"/>
              <a:t>t2 </a:t>
            </a:r>
            <a:r>
              <a:rPr lang="fa-IR" sz="2400" dirty="0"/>
              <a:t>از </a:t>
            </a:r>
            <a:r>
              <a:rPr lang="en-US" sz="2400" dirty="0"/>
              <a:t>r </a:t>
            </a:r>
            <a:r>
              <a:rPr lang="fa-IR" sz="2400" dirty="0"/>
              <a:t>روی </a:t>
            </a:r>
            <a:r>
              <a:rPr lang="fa-IR" sz="2400" dirty="0" err="1"/>
              <a:t>صفت‌های</a:t>
            </a:r>
            <a:r>
              <a:rPr lang="fa-IR" sz="2400" dirty="0"/>
              <a:t> مجموعه </a:t>
            </a:r>
            <a:r>
              <a:rPr lang="el-GR" sz="2400" dirty="0"/>
              <a:t>α </a:t>
            </a:r>
            <a:r>
              <a:rPr lang="fa-IR" sz="2400" dirty="0"/>
              <a:t>با هم برابر باشند، آن دو </a:t>
            </a:r>
            <a:r>
              <a:rPr lang="fa-IR" sz="2400" dirty="0" err="1"/>
              <a:t>تاپل</a:t>
            </a:r>
            <a:r>
              <a:rPr lang="fa-IR" sz="2400" dirty="0"/>
              <a:t> روی </a:t>
            </a:r>
            <a:r>
              <a:rPr lang="fa-IR" sz="2400" dirty="0" err="1"/>
              <a:t>صفت‌های</a:t>
            </a:r>
            <a:r>
              <a:rPr lang="fa-IR" sz="2400" dirty="0"/>
              <a:t> مجموعه </a:t>
            </a:r>
            <a:r>
              <a:rPr lang="el-GR" sz="2400" dirty="0"/>
              <a:t>β </a:t>
            </a:r>
            <a:r>
              <a:rPr lang="fa-IR" sz="2400" dirty="0"/>
              <a:t>هم با هم برابر باشند. به عبارتی:</a:t>
            </a:r>
          </a:p>
          <a:p>
            <a:pPr algn="r" rtl="1">
              <a:lnSpc>
                <a:spcPct val="90000"/>
              </a:lnSpc>
              <a:tabLst>
                <a:tab pos="2917825" algn="ctr"/>
              </a:tabLst>
            </a:pPr>
            <a:br>
              <a:rPr lang="fa-IR" sz="2400" dirty="0"/>
            </a:br>
            <a:r>
              <a:rPr lang="fa-IR" sz="2400" dirty="0"/>
              <a:t>  اگر </a:t>
            </a:r>
            <a:r>
              <a:rPr lang="en-US" sz="2400" dirty="0"/>
              <a:t>t1[</a:t>
            </a:r>
            <a:r>
              <a:rPr lang="el-GR" sz="2400" dirty="0"/>
              <a:t>α] = </a:t>
            </a:r>
            <a:r>
              <a:rPr lang="en-US" sz="2400" dirty="0"/>
              <a:t>t2[</a:t>
            </a:r>
            <a:r>
              <a:rPr lang="el-GR" sz="2400" dirty="0"/>
              <a:t>α] </a:t>
            </a:r>
            <a:r>
              <a:rPr lang="fa-IR" sz="2400" dirty="0"/>
              <a:t>آنگاه </a:t>
            </a:r>
            <a:r>
              <a:rPr lang="en-US" sz="2400" dirty="0"/>
              <a:t>t1[</a:t>
            </a:r>
            <a:r>
              <a:rPr lang="el-GR" sz="2400" dirty="0"/>
              <a:t>β] = </a:t>
            </a:r>
            <a:r>
              <a:rPr lang="en-US" sz="2400" dirty="0"/>
              <a:t>t2[</a:t>
            </a:r>
            <a:r>
              <a:rPr lang="el-GR" sz="2400" dirty="0"/>
              <a:t>β]</a:t>
            </a:r>
            <a:br>
              <a:rPr lang="el-GR" sz="2400" dirty="0"/>
            </a:br>
            <a:endParaRPr lang="fa-IR" sz="2400" dirty="0"/>
          </a:p>
          <a:p>
            <a:pPr algn="r" rtl="1">
              <a:lnSpc>
                <a:spcPct val="90000"/>
              </a:lnSpc>
              <a:tabLst>
                <a:tab pos="2917825" algn="ctr"/>
              </a:tabLst>
            </a:pPr>
            <a:r>
              <a:rPr lang="fa-IR" sz="2400" dirty="0"/>
              <a:t>مثال: </a:t>
            </a:r>
            <a:r>
              <a:rPr lang="fa-IR" sz="2400" dirty="0" err="1"/>
              <a:t>رابطه‌ای</a:t>
            </a:r>
            <a:r>
              <a:rPr lang="fa-IR" sz="2400" dirty="0"/>
              <a:t> به نام </a:t>
            </a:r>
            <a:r>
              <a:rPr lang="en-US" sz="2400" dirty="0"/>
              <a:t>r(A,B) </a:t>
            </a:r>
            <a:r>
              <a:rPr lang="fa-IR" sz="2400" dirty="0"/>
              <a:t>را در نظر بگیرید با یک نمونه مشخص.</a:t>
            </a:r>
            <a:br>
              <a:rPr lang="fa-IR" sz="2400" dirty="0"/>
            </a:br>
            <a:r>
              <a:rPr lang="fa-IR" sz="2400" dirty="0"/>
              <a:t>روی این نمونه، وابستگی </a:t>
            </a:r>
            <a:r>
              <a:rPr lang="en-US" sz="2400" dirty="0"/>
              <a:t>B → A </a:t>
            </a:r>
            <a:r>
              <a:rPr lang="fa-IR" sz="2400" dirty="0"/>
              <a:t>برقرار است؛ اما </a:t>
            </a:r>
            <a:r>
              <a:rPr lang="en-US" sz="2400" dirty="0"/>
              <a:t>A → B </a:t>
            </a:r>
            <a:r>
              <a:rPr lang="fa-IR" sz="2400" dirty="0"/>
              <a:t>برقرار نیست.</a:t>
            </a:r>
            <a:endParaRPr lang="en-US" altLang="en-US" sz="3200" i="1" dirty="0">
              <a:sym typeface="Symbol" panose="05050102010706020507" pitchFamily="18" charset="2"/>
            </a:endParaRPr>
          </a:p>
        </p:txBody>
      </p:sp>
      <p:graphicFrame>
        <p:nvGraphicFramePr>
          <p:cNvPr id="3" name="Table 2">
            <a:extLst>
              <a:ext uri="{FF2B5EF4-FFF2-40B4-BE49-F238E27FC236}">
                <a16:creationId xmlns:a16="http://schemas.microsoft.com/office/drawing/2014/main" id="{28B3E0DD-EBFA-D31A-B756-BEEA85E98DB7}"/>
              </a:ext>
            </a:extLst>
          </p:cNvPr>
          <p:cNvGraphicFramePr>
            <a:graphicFrameLocks noGrp="1"/>
          </p:cNvGraphicFramePr>
          <p:nvPr>
            <p:extLst>
              <p:ext uri="{D42A27DB-BD31-4B8C-83A1-F6EECF244321}">
                <p14:modId xmlns:p14="http://schemas.microsoft.com/office/powerpoint/2010/main" val="694167135"/>
              </p:ext>
            </p:extLst>
          </p:nvPr>
        </p:nvGraphicFramePr>
        <p:xfrm>
          <a:off x="188685" y="4105029"/>
          <a:ext cx="1500554" cy="1557216"/>
        </p:xfrm>
        <a:graphic>
          <a:graphicData uri="http://schemas.openxmlformats.org/drawingml/2006/table">
            <a:tbl>
              <a:tblPr firstRow="1" bandRow="1">
                <a:tableStyleId>{85BE263C-DBD7-4A20-BB59-AAB30ACAA65A}</a:tableStyleId>
              </a:tblPr>
              <a:tblGrid>
                <a:gridCol w="750277">
                  <a:extLst>
                    <a:ext uri="{9D8B030D-6E8A-4147-A177-3AD203B41FA5}">
                      <a16:colId xmlns:a16="http://schemas.microsoft.com/office/drawing/2014/main" val="2631685623"/>
                    </a:ext>
                  </a:extLst>
                </a:gridCol>
                <a:gridCol w="750277">
                  <a:extLst>
                    <a:ext uri="{9D8B030D-6E8A-4147-A177-3AD203B41FA5}">
                      <a16:colId xmlns:a16="http://schemas.microsoft.com/office/drawing/2014/main" val="2932344076"/>
                    </a:ext>
                  </a:extLst>
                </a:gridCol>
              </a:tblGrid>
              <a:tr h="389304">
                <a:tc>
                  <a:txBody>
                    <a:bodyPr/>
                    <a:lstStyle/>
                    <a:p>
                      <a:pPr algn="ctr"/>
                      <a:r>
                        <a:rPr lang="en-US" dirty="0"/>
                        <a:t>A</a:t>
                      </a:r>
                    </a:p>
                  </a:txBody>
                  <a:tcPr/>
                </a:tc>
                <a:tc>
                  <a:txBody>
                    <a:bodyPr/>
                    <a:lstStyle/>
                    <a:p>
                      <a:pPr algn="ctr"/>
                      <a:r>
                        <a:rPr lang="en-US" dirty="0"/>
                        <a:t>B</a:t>
                      </a:r>
                    </a:p>
                  </a:txBody>
                  <a:tcPr/>
                </a:tc>
                <a:extLst>
                  <a:ext uri="{0D108BD9-81ED-4DB2-BD59-A6C34878D82A}">
                    <a16:rowId xmlns:a16="http://schemas.microsoft.com/office/drawing/2014/main" val="4222122866"/>
                  </a:ext>
                </a:extLst>
              </a:tr>
              <a:tr h="389304">
                <a:tc>
                  <a:txBody>
                    <a:bodyPr/>
                    <a:lstStyle/>
                    <a:p>
                      <a:pPr algn="ctr"/>
                      <a:r>
                        <a:rPr lang="en-US" dirty="0"/>
                        <a:t>1</a:t>
                      </a:r>
                    </a:p>
                  </a:txBody>
                  <a:tcPr/>
                </a:tc>
                <a:tc>
                  <a:txBody>
                    <a:bodyPr/>
                    <a:lstStyle/>
                    <a:p>
                      <a:pPr algn="ctr"/>
                      <a:r>
                        <a:rPr lang="en-US" dirty="0"/>
                        <a:t>4</a:t>
                      </a:r>
                    </a:p>
                  </a:txBody>
                  <a:tcPr/>
                </a:tc>
                <a:extLst>
                  <a:ext uri="{0D108BD9-81ED-4DB2-BD59-A6C34878D82A}">
                    <a16:rowId xmlns:a16="http://schemas.microsoft.com/office/drawing/2014/main" val="2406087946"/>
                  </a:ext>
                </a:extLst>
              </a:tr>
              <a:tr h="389304">
                <a:tc>
                  <a:txBody>
                    <a:bodyPr/>
                    <a:lstStyle/>
                    <a:p>
                      <a:pPr algn="ctr"/>
                      <a:r>
                        <a:rPr lang="en-US" dirty="0"/>
                        <a:t>1</a:t>
                      </a:r>
                    </a:p>
                  </a:txBody>
                  <a:tcPr/>
                </a:tc>
                <a:tc>
                  <a:txBody>
                    <a:bodyPr/>
                    <a:lstStyle/>
                    <a:p>
                      <a:pPr algn="ctr"/>
                      <a:r>
                        <a:rPr lang="en-US" dirty="0"/>
                        <a:t>5</a:t>
                      </a:r>
                    </a:p>
                  </a:txBody>
                  <a:tcPr/>
                </a:tc>
                <a:extLst>
                  <a:ext uri="{0D108BD9-81ED-4DB2-BD59-A6C34878D82A}">
                    <a16:rowId xmlns:a16="http://schemas.microsoft.com/office/drawing/2014/main" val="483526984"/>
                  </a:ext>
                </a:extLst>
              </a:tr>
              <a:tr h="389304">
                <a:tc>
                  <a:txBody>
                    <a:bodyPr/>
                    <a:lstStyle/>
                    <a:p>
                      <a:pPr algn="ctr"/>
                      <a:r>
                        <a:rPr lang="en-US" dirty="0"/>
                        <a:t>3</a:t>
                      </a:r>
                    </a:p>
                  </a:txBody>
                  <a:tcPr/>
                </a:tc>
                <a:tc>
                  <a:txBody>
                    <a:bodyPr/>
                    <a:lstStyle/>
                    <a:p>
                      <a:pPr algn="ctr"/>
                      <a:r>
                        <a:rPr lang="en-US" dirty="0"/>
                        <a:t>7</a:t>
                      </a:r>
                    </a:p>
                  </a:txBody>
                  <a:tcPr/>
                </a:tc>
                <a:extLst>
                  <a:ext uri="{0D108BD9-81ED-4DB2-BD59-A6C34878D82A}">
                    <a16:rowId xmlns:a16="http://schemas.microsoft.com/office/drawing/2014/main" val="3432425648"/>
                  </a:ext>
                </a:extLst>
              </a:tr>
            </a:tbl>
          </a:graphicData>
        </a:graphic>
      </p:graphicFrame>
    </p:spTree>
    <p:extLst>
      <p:ext uri="{BB962C8B-B14F-4D97-AF65-F5344CB8AC3E}">
        <p14:creationId xmlns:p14="http://schemas.microsoft.com/office/powerpoint/2010/main" val="14157501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9394" name="Rectangle 2"/>
          <p:cNvSpPr>
            <a:spLocks noGrp="1" noChangeArrowheads="1"/>
          </p:cNvSpPr>
          <p:nvPr>
            <p:ph type="title"/>
          </p:nvPr>
        </p:nvSpPr>
        <p:spPr>
          <a:xfrm>
            <a:off x="955866" y="266700"/>
            <a:ext cx="7924800" cy="457200"/>
          </a:xfrm>
        </p:spPr>
        <p:txBody>
          <a:bodyPr/>
          <a:lstStyle/>
          <a:p>
            <a:pPr>
              <a:defRPr/>
            </a:pPr>
            <a:r>
              <a:rPr lang="fa-IR" dirty="0"/>
              <a:t>بسته </a:t>
            </a:r>
            <a:r>
              <a:rPr lang="fa-IR" dirty="0" err="1"/>
              <a:t>مجموعه‌ای</a:t>
            </a:r>
            <a:r>
              <a:rPr lang="fa-IR" dirty="0"/>
              <a:t> از </a:t>
            </a:r>
            <a:r>
              <a:rPr lang="fa-IR" dirty="0" err="1"/>
              <a:t>وابستگی‌های</a:t>
            </a:r>
            <a:r>
              <a:rPr lang="fa-IR" dirty="0"/>
              <a:t> </a:t>
            </a:r>
            <a:r>
              <a:rPr lang="fa-IR" dirty="0" err="1"/>
              <a:t>تابعی</a:t>
            </a:r>
            <a:endParaRPr lang="en-US" altLang="en-US" sz="2800" dirty="0">
              <a:effectLst>
                <a:outerShdw blurRad="38100" dist="38100" dir="2700000" algn="tl">
                  <a:srgbClr val="C0C0C0"/>
                </a:outerShdw>
              </a:effectLst>
              <a:ea typeface="ＭＳ Ｐゴシック" pitchFamily="34" charset="-128"/>
            </a:endParaRPr>
          </a:p>
        </p:txBody>
      </p:sp>
      <p:sp>
        <p:nvSpPr>
          <p:cNvPr id="18435" name="Rectangle 3"/>
          <p:cNvSpPr>
            <a:spLocks noGrp="1" noChangeArrowheads="1"/>
          </p:cNvSpPr>
          <p:nvPr>
            <p:ph idx="1"/>
          </p:nvPr>
        </p:nvSpPr>
        <p:spPr>
          <a:xfrm>
            <a:off x="402454" y="1217613"/>
            <a:ext cx="7924800" cy="5081587"/>
          </a:xfrm>
        </p:spPr>
        <p:txBody>
          <a:bodyPr/>
          <a:lstStyle/>
          <a:p>
            <a:pPr algn="r" rtl="1"/>
            <a:r>
              <a:rPr lang="fa-IR" sz="2800" dirty="0"/>
              <a:t>با داشتن یک مجموعه </a:t>
            </a:r>
            <a:r>
              <a:rPr lang="en-US" sz="2800" dirty="0"/>
              <a:t>F </a:t>
            </a:r>
            <a:r>
              <a:rPr lang="fa-IR" sz="2800" dirty="0"/>
              <a:t>از </a:t>
            </a:r>
            <a:r>
              <a:rPr lang="fa-IR" sz="2800" dirty="0" err="1"/>
              <a:t>وابستگی‌های</a:t>
            </a:r>
            <a:r>
              <a:rPr lang="fa-IR" sz="2800" dirty="0"/>
              <a:t> </a:t>
            </a:r>
            <a:r>
              <a:rPr lang="fa-IR" sz="2800" dirty="0" err="1"/>
              <a:t>تابعی</a:t>
            </a:r>
            <a:r>
              <a:rPr lang="fa-IR" sz="2800" dirty="0"/>
              <a:t>، برخی </a:t>
            </a:r>
            <a:r>
              <a:rPr lang="fa-IR" sz="2800" dirty="0" err="1"/>
              <a:t>وابستگی‌های</a:t>
            </a:r>
            <a:r>
              <a:rPr lang="fa-IR" sz="2800" dirty="0"/>
              <a:t> </a:t>
            </a:r>
            <a:r>
              <a:rPr lang="fa-IR" sz="2800" dirty="0" err="1"/>
              <a:t>تابعی</a:t>
            </a:r>
            <a:r>
              <a:rPr lang="fa-IR" sz="2800" dirty="0"/>
              <a:t> دیگر وجود دارند که </a:t>
            </a:r>
            <a:r>
              <a:rPr lang="fa-IR" sz="2800" dirty="0" err="1"/>
              <a:t>به‌صورت</a:t>
            </a:r>
            <a:r>
              <a:rPr lang="fa-IR" sz="2800" dirty="0"/>
              <a:t> منطقی از </a:t>
            </a:r>
            <a:r>
              <a:rPr lang="en-US" sz="2800" dirty="0"/>
              <a:t>F </a:t>
            </a:r>
            <a:r>
              <a:rPr lang="fa-IR" sz="2800" dirty="0"/>
              <a:t>نتیجه </a:t>
            </a:r>
            <a:r>
              <a:rPr lang="fa-IR" sz="2800" dirty="0" err="1"/>
              <a:t>می‌شوند</a:t>
            </a:r>
            <a:r>
              <a:rPr lang="fa-IR" sz="2800" dirty="0"/>
              <a:t>.</a:t>
            </a:r>
          </a:p>
          <a:p>
            <a:pPr algn="r" rtl="1"/>
            <a:r>
              <a:rPr lang="en-US" altLang="en-US" sz="2800" dirty="0"/>
              <a:t> If  </a:t>
            </a:r>
            <a:r>
              <a:rPr lang="en-US" altLang="en-US" sz="2800" i="1" dirty="0"/>
              <a:t>A</a:t>
            </a:r>
            <a:r>
              <a:rPr lang="en-US" altLang="en-US" sz="2800" dirty="0"/>
              <a:t> </a:t>
            </a:r>
            <a:r>
              <a:rPr lang="en-US" altLang="en-US" sz="2800" dirty="0">
                <a:sym typeface="Symbol" panose="05050102010706020507" pitchFamily="18" charset="2"/>
              </a:rPr>
              <a:t></a:t>
            </a:r>
            <a:r>
              <a:rPr lang="en-US" altLang="en-US" sz="2800" dirty="0">
                <a:sym typeface="Monotype Sorts" pitchFamily="-84" charset="2"/>
              </a:rPr>
              <a:t> </a:t>
            </a:r>
            <a:r>
              <a:rPr lang="en-US" altLang="en-US" sz="2800" i="1" dirty="0">
                <a:sym typeface="Monotype Sorts" pitchFamily="-84" charset="2"/>
              </a:rPr>
              <a:t>B</a:t>
            </a:r>
            <a:r>
              <a:rPr lang="en-US" altLang="en-US" sz="2800" dirty="0">
                <a:sym typeface="Monotype Sorts" pitchFamily="-84" charset="2"/>
              </a:rPr>
              <a:t> and  </a:t>
            </a:r>
            <a:r>
              <a:rPr lang="en-US" altLang="en-US" sz="2800" i="1" dirty="0">
                <a:sym typeface="Monotype Sorts" pitchFamily="-84" charset="2"/>
              </a:rPr>
              <a:t>B</a:t>
            </a:r>
            <a:r>
              <a:rPr lang="en-US" altLang="en-US" sz="2800" dirty="0">
                <a:sym typeface="Monotype Sorts" pitchFamily="-84" charset="2"/>
              </a:rPr>
              <a:t> </a:t>
            </a:r>
            <a:r>
              <a:rPr lang="en-US" altLang="en-US" sz="2800" dirty="0">
                <a:sym typeface="Symbol" panose="05050102010706020507" pitchFamily="18" charset="2"/>
              </a:rPr>
              <a:t></a:t>
            </a:r>
            <a:r>
              <a:rPr lang="en-US" altLang="en-US" sz="2800" dirty="0">
                <a:sym typeface="Monotype Sorts" pitchFamily="-84" charset="2"/>
              </a:rPr>
              <a:t> </a:t>
            </a:r>
            <a:r>
              <a:rPr lang="en-US" altLang="en-US" sz="2800" i="1" dirty="0">
                <a:sym typeface="Monotype Sorts" pitchFamily="-84" charset="2"/>
              </a:rPr>
              <a:t>C</a:t>
            </a:r>
            <a:r>
              <a:rPr lang="en-US" altLang="en-US" sz="2800" dirty="0">
                <a:sym typeface="Monotype Sorts" pitchFamily="-84" charset="2"/>
              </a:rPr>
              <a:t>,  then we can infer that </a:t>
            </a:r>
            <a:r>
              <a:rPr lang="en-US" altLang="en-US" sz="2800" i="1" dirty="0">
                <a:sym typeface="Monotype Sorts" pitchFamily="-84" charset="2"/>
              </a:rPr>
              <a:t>A</a:t>
            </a:r>
            <a:r>
              <a:rPr lang="en-US" altLang="en-US" sz="2800" dirty="0">
                <a:sym typeface="Monotype Sorts" pitchFamily="-84" charset="2"/>
              </a:rPr>
              <a:t> </a:t>
            </a:r>
            <a:r>
              <a:rPr lang="en-US" altLang="en-US" sz="2800" dirty="0">
                <a:sym typeface="Symbol" panose="05050102010706020507" pitchFamily="18" charset="2"/>
              </a:rPr>
              <a:t></a:t>
            </a:r>
            <a:r>
              <a:rPr lang="en-US" altLang="en-US" sz="2800" dirty="0">
                <a:sym typeface="Monotype Sorts" pitchFamily="-84" charset="2"/>
              </a:rPr>
              <a:t> C</a:t>
            </a:r>
          </a:p>
          <a:p>
            <a:pPr lvl="1"/>
            <a:r>
              <a:rPr lang="en-US" altLang="en-US" sz="2800" dirty="0">
                <a:sym typeface="Monotype Sorts" pitchFamily="-84" charset="2"/>
              </a:rPr>
              <a:t>etc.</a:t>
            </a:r>
            <a:endParaRPr lang="en-US" altLang="en-US" sz="2800" dirty="0"/>
          </a:p>
          <a:p>
            <a:pPr algn="r" rtl="1"/>
            <a:r>
              <a:rPr lang="fa-IR" sz="2800" dirty="0"/>
              <a:t>مجموعه تمام </a:t>
            </a:r>
            <a:r>
              <a:rPr lang="fa-IR" sz="2800" dirty="0" err="1"/>
              <a:t>وابستگی‌های</a:t>
            </a:r>
            <a:r>
              <a:rPr lang="fa-IR" sz="2800" dirty="0"/>
              <a:t> </a:t>
            </a:r>
            <a:r>
              <a:rPr lang="fa-IR" sz="2800" dirty="0" err="1"/>
              <a:t>تابعی</a:t>
            </a:r>
            <a:r>
              <a:rPr lang="fa-IR" sz="2800" dirty="0"/>
              <a:t> که از نظر منطقی از </a:t>
            </a:r>
            <a:r>
              <a:rPr lang="en-US" sz="2800" dirty="0"/>
              <a:t>F </a:t>
            </a:r>
            <a:r>
              <a:rPr lang="fa-IR" sz="2800" dirty="0"/>
              <a:t>نتیجه </a:t>
            </a:r>
            <a:r>
              <a:rPr lang="fa-IR" sz="2800" dirty="0" err="1"/>
              <a:t>می‌شوند</a:t>
            </a:r>
            <a:r>
              <a:rPr lang="fa-IR" sz="2800" dirty="0"/>
              <a:t>، </a:t>
            </a:r>
            <a:r>
              <a:rPr lang="fa-IR" sz="2800" dirty="0" err="1"/>
              <a:t>بستارِ</a:t>
            </a:r>
            <a:r>
              <a:rPr lang="fa-IR" sz="2800" dirty="0"/>
              <a:t> </a:t>
            </a:r>
            <a:r>
              <a:rPr lang="en-US" sz="2800" dirty="0"/>
              <a:t>F </a:t>
            </a:r>
            <a:r>
              <a:rPr lang="fa-IR" sz="2800" dirty="0"/>
              <a:t>نام دارد.</a:t>
            </a:r>
          </a:p>
          <a:p>
            <a:pPr algn="r" rtl="1"/>
            <a:r>
              <a:rPr lang="fa-IR" sz="2800" dirty="0" err="1"/>
              <a:t>بستار</a:t>
            </a:r>
            <a:r>
              <a:rPr lang="fa-IR" sz="2800" dirty="0"/>
              <a:t> </a:t>
            </a:r>
            <a:r>
              <a:rPr lang="en-US" sz="2800" dirty="0"/>
              <a:t>F </a:t>
            </a:r>
            <a:r>
              <a:rPr lang="fa-IR" sz="2800" dirty="0"/>
              <a:t>را با نماد </a:t>
            </a:r>
            <a:r>
              <a:rPr lang="en-US" sz="2800" dirty="0"/>
              <a:t>F⁺ </a:t>
            </a:r>
            <a:r>
              <a:rPr lang="fa-IR" sz="2800" dirty="0"/>
              <a:t>نمایش </a:t>
            </a:r>
            <a:r>
              <a:rPr lang="fa-IR" sz="2800" dirty="0" err="1"/>
              <a:t>می‌دهیم</a:t>
            </a:r>
            <a:r>
              <a:rPr lang="fa-IR" sz="2800" dirty="0"/>
              <a:t>.</a:t>
            </a:r>
            <a:endParaRPr lang="en-US" altLang="en-US" sz="3600" dirty="0">
              <a:sym typeface="Greek Symbols"/>
            </a:endParaRPr>
          </a:p>
        </p:txBody>
      </p:sp>
    </p:spTree>
    <p:extLst>
      <p:ext uri="{BB962C8B-B14F-4D97-AF65-F5344CB8AC3E}">
        <p14:creationId xmlns:p14="http://schemas.microsoft.com/office/powerpoint/2010/main" val="425141443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2770" name="Rectangle 2"/>
          <p:cNvSpPr>
            <a:spLocks noGrp="1" noChangeArrowheads="1"/>
          </p:cNvSpPr>
          <p:nvPr>
            <p:ph type="title"/>
          </p:nvPr>
        </p:nvSpPr>
        <p:spPr/>
        <p:txBody>
          <a:bodyPr/>
          <a:lstStyle/>
          <a:p>
            <a:pPr>
              <a:defRPr/>
            </a:pPr>
            <a:r>
              <a:rPr lang="fa-IR" dirty="0" err="1"/>
              <a:t>کلیدها</a:t>
            </a:r>
            <a:r>
              <a:rPr lang="fa-IR" dirty="0"/>
              <a:t> و </a:t>
            </a:r>
            <a:r>
              <a:rPr lang="fa-IR" dirty="0" err="1"/>
              <a:t>وابستگی‌های</a:t>
            </a:r>
            <a:r>
              <a:rPr lang="fa-IR" dirty="0"/>
              <a:t> </a:t>
            </a:r>
            <a:r>
              <a:rPr lang="fa-IR" dirty="0" err="1"/>
              <a:t>تابعی</a:t>
            </a:r>
            <a:endParaRPr lang="en-US" altLang="en-US" sz="2800" dirty="0">
              <a:effectLst>
                <a:outerShdw blurRad="38100" dist="38100" dir="2700000" algn="tl">
                  <a:srgbClr val="C0C0C0"/>
                </a:outerShdw>
              </a:effectLst>
              <a:ea typeface="ＭＳ Ｐゴシック" pitchFamily="34" charset="-128"/>
            </a:endParaRPr>
          </a:p>
        </p:txBody>
      </p:sp>
      <p:sp>
        <p:nvSpPr>
          <p:cNvPr id="19459" name="Rectangle 3"/>
          <p:cNvSpPr>
            <a:spLocks noGrp="1" noChangeArrowheads="1"/>
          </p:cNvSpPr>
          <p:nvPr>
            <p:ph idx="1"/>
          </p:nvPr>
        </p:nvSpPr>
        <p:spPr>
          <a:xfrm>
            <a:off x="116114" y="717811"/>
            <a:ext cx="9027886" cy="5422378"/>
          </a:xfrm>
        </p:spPr>
        <p:txBody>
          <a:bodyPr/>
          <a:lstStyle/>
          <a:p>
            <a:pPr algn="r" rtl="1">
              <a:tabLst>
                <a:tab pos="1250950" algn="l"/>
                <a:tab pos="2173288" algn="l"/>
                <a:tab pos="3378200" algn="l"/>
              </a:tabLst>
            </a:pPr>
            <a:r>
              <a:rPr lang="en-US" dirty="0"/>
              <a:t>K </a:t>
            </a:r>
            <a:r>
              <a:rPr lang="fa-IR" dirty="0"/>
              <a:t>یک </a:t>
            </a:r>
            <a:r>
              <a:rPr lang="fa-IR" dirty="0" err="1"/>
              <a:t>اَبَرکلید</a:t>
            </a:r>
            <a:r>
              <a:rPr lang="fa-IR" dirty="0"/>
              <a:t> برای </a:t>
            </a:r>
            <a:r>
              <a:rPr lang="fa-IR" dirty="0" err="1"/>
              <a:t>شِمای</a:t>
            </a:r>
            <a:r>
              <a:rPr lang="fa-IR" dirty="0"/>
              <a:t> رابطه </a:t>
            </a:r>
            <a:r>
              <a:rPr lang="en-US" dirty="0"/>
              <a:t>R </a:t>
            </a:r>
            <a:r>
              <a:rPr lang="fa-IR" dirty="0"/>
              <a:t>است </a:t>
            </a:r>
            <a:r>
              <a:rPr lang="fa-IR" b="1" dirty="0"/>
              <a:t>اگر و تنها اگر</a:t>
            </a:r>
            <a:r>
              <a:rPr lang="fa-IR" dirty="0"/>
              <a:t> بتواند همه </a:t>
            </a:r>
            <a:r>
              <a:rPr lang="fa-IR" dirty="0" err="1"/>
              <a:t>ویژگی‌های</a:t>
            </a:r>
            <a:r>
              <a:rPr lang="fa-IR" dirty="0"/>
              <a:t> </a:t>
            </a:r>
            <a:r>
              <a:rPr lang="en-US" dirty="0"/>
              <a:t>R </a:t>
            </a:r>
            <a:r>
              <a:rPr lang="fa-IR" dirty="0"/>
              <a:t>را تعیین کند.</a:t>
            </a:r>
          </a:p>
          <a:p>
            <a:pPr algn="r" rtl="1">
              <a:tabLst>
                <a:tab pos="1250950" algn="l"/>
                <a:tab pos="2173288" algn="l"/>
                <a:tab pos="3378200" algn="l"/>
              </a:tabLst>
            </a:pPr>
            <a:r>
              <a:rPr lang="en-US" dirty="0"/>
              <a:t>K </a:t>
            </a:r>
            <a:r>
              <a:rPr lang="fa-IR" dirty="0"/>
              <a:t>یک کلید نامزد برای </a:t>
            </a:r>
            <a:r>
              <a:rPr lang="en-US" dirty="0"/>
              <a:t>R </a:t>
            </a:r>
            <a:r>
              <a:rPr lang="fa-IR" dirty="0"/>
              <a:t>است </a:t>
            </a:r>
            <a:r>
              <a:rPr lang="fa-IR" b="1" dirty="0"/>
              <a:t>اگر و تنها اگر</a:t>
            </a:r>
            <a:r>
              <a:rPr lang="fa-IR" dirty="0"/>
              <a:t>:</a:t>
            </a:r>
            <a:r>
              <a:rPr lang="en-US" altLang="en-US" dirty="0">
                <a:sym typeface="Monotype Sorts" pitchFamily="-84" charset="2"/>
              </a:rPr>
              <a:t> </a:t>
            </a:r>
          </a:p>
          <a:p>
            <a:pPr lvl="1">
              <a:tabLst>
                <a:tab pos="1250950" algn="l"/>
                <a:tab pos="2173288" algn="l"/>
                <a:tab pos="3378200" algn="l"/>
              </a:tabLst>
            </a:pPr>
            <a:r>
              <a:rPr lang="en-US" altLang="en-US" sz="2400" i="1" dirty="0">
                <a:sym typeface="Monotype Sorts" pitchFamily="-84" charset="2"/>
              </a:rPr>
              <a:t>K </a:t>
            </a:r>
            <a:r>
              <a:rPr lang="en-US" altLang="en-US" sz="2400" dirty="0">
                <a:sym typeface="Symbol" panose="05050102010706020507" pitchFamily="18" charset="2"/>
              </a:rPr>
              <a:t></a:t>
            </a:r>
            <a:r>
              <a:rPr lang="en-US" altLang="en-US" sz="2400" dirty="0">
                <a:sym typeface="Monotype Sorts" pitchFamily="-84" charset="2"/>
              </a:rPr>
              <a:t> </a:t>
            </a:r>
            <a:r>
              <a:rPr lang="en-US" altLang="en-US" sz="2400" i="1" dirty="0">
                <a:sym typeface="Monotype Sorts" pitchFamily="-84" charset="2"/>
              </a:rPr>
              <a:t>R</a:t>
            </a:r>
            <a:r>
              <a:rPr lang="en-US" altLang="en-US" sz="2400" dirty="0">
                <a:sym typeface="Monotype Sorts" pitchFamily="-84" charset="2"/>
              </a:rPr>
              <a:t>, and</a:t>
            </a:r>
          </a:p>
          <a:p>
            <a:pPr lvl="1">
              <a:tabLst>
                <a:tab pos="1250950" algn="l"/>
                <a:tab pos="2173288" algn="l"/>
                <a:tab pos="3378200" algn="l"/>
              </a:tabLst>
            </a:pPr>
            <a:r>
              <a:rPr lang="en-US" altLang="en-US" sz="2400" dirty="0">
                <a:sym typeface="Monotype Sorts" pitchFamily="-84" charset="2"/>
              </a:rPr>
              <a:t>for no </a:t>
            </a:r>
            <a:r>
              <a:rPr lang="en-US" altLang="en-US" sz="2400" dirty="0">
                <a:sym typeface="Symbol" panose="05050102010706020507" pitchFamily="18" charset="2"/>
              </a:rPr>
              <a:t>  </a:t>
            </a:r>
            <a:r>
              <a:rPr lang="en-US" altLang="en-US" sz="2400" i="1" dirty="0">
                <a:sym typeface="Symbol" panose="05050102010706020507" pitchFamily="18" charset="2"/>
              </a:rPr>
              <a:t>K, </a:t>
            </a:r>
            <a:r>
              <a:rPr lang="en-US" altLang="en-US" sz="2400" dirty="0">
                <a:sym typeface="Symbol" panose="05050102010706020507" pitchFamily="18" charset="2"/>
              </a:rPr>
              <a:t> </a:t>
            </a:r>
            <a:r>
              <a:rPr lang="en-US" altLang="en-US" sz="2400" dirty="0">
                <a:sym typeface="Monotype Sorts" pitchFamily="-84" charset="2"/>
              </a:rPr>
              <a:t> </a:t>
            </a:r>
            <a:r>
              <a:rPr lang="en-US" altLang="en-US" sz="2400" i="1" dirty="0">
                <a:sym typeface="Monotype Sorts" pitchFamily="-84" charset="2"/>
              </a:rPr>
              <a:t>R</a:t>
            </a:r>
          </a:p>
          <a:p>
            <a:pPr algn="r" rtl="1">
              <a:tabLst>
                <a:tab pos="1250950" algn="l"/>
                <a:tab pos="2173288" algn="l"/>
                <a:tab pos="3378200" algn="l"/>
              </a:tabLst>
            </a:pPr>
            <a:r>
              <a:rPr lang="fa-IR" sz="2400" dirty="0" err="1"/>
              <a:t>وابستگی‌های</a:t>
            </a:r>
            <a:r>
              <a:rPr lang="fa-IR" sz="2400" dirty="0"/>
              <a:t> </a:t>
            </a:r>
            <a:r>
              <a:rPr lang="fa-IR" sz="2400" dirty="0" err="1"/>
              <a:t>تابعی</a:t>
            </a:r>
            <a:r>
              <a:rPr lang="fa-IR" sz="2400" dirty="0"/>
              <a:t> به ما اجازه </a:t>
            </a:r>
            <a:r>
              <a:rPr lang="fa-IR" sz="2400" dirty="0" err="1"/>
              <a:t>می‌دهند</a:t>
            </a:r>
            <a:r>
              <a:rPr lang="fa-IR" sz="2400" dirty="0"/>
              <a:t> قیود و </a:t>
            </a:r>
            <a:r>
              <a:rPr lang="fa-IR" sz="2400" dirty="0" err="1"/>
              <a:t>محدودیت‌هایی</a:t>
            </a:r>
            <a:r>
              <a:rPr lang="fa-IR" sz="2400" dirty="0"/>
              <a:t> را بیان کنیم که با استفاده از </a:t>
            </a:r>
            <a:r>
              <a:rPr lang="fa-IR" sz="2400" dirty="0" err="1"/>
              <a:t>اَبَرکلیدها</a:t>
            </a:r>
            <a:r>
              <a:rPr lang="fa-IR" sz="2400" dirty="0"/>
              <a:t> قابل بیان نیستند. برای مثال، در </a:t>
            </a:r>
            <a:r>
              <a:rPr lang="fa-IR" sz="2400" dirty="0" err="1"/>
              <a:t>شِمای</a:t>
            </a:r>
            <a:r>
              <a:rPr lang="fa-IR" sz="2400" dirty="0"/>
              <a:t> زیر:</a:t>
            </a:r>
            <a:endParaRPr lang="en-US" altLang="en-US" sz="2400" dirty="0"/>
          </a:p>
          <a:p>
            <a:pPr>
              <a:buFont typeface="Monotype Sorts" pitchFamily="-84" charset="2"/>
              <a:buNone/>
              <a:tabLst>
                <a:tab pos="1250950" algn="l"/>
                <a:tab pos="2173288" algn="l"/>
                <a:tab pos="3378200" algn="l"/>
              </a:tabLst>
            </a:pPr>
            <a:r>
              <a:rPr lang="en-US" altLang="en-US" sz="2400" dirty="0"/>
              <a:t>	      </a:t>
            </a:r>
            <a:r>
              <a:rPr lang="en-US" altLang="en-US" sz="2400" i="1" dirty="0" err="1"/>
              <a:t>in_dep</a:t>
            </a:r>
            <a:r>
              <a:rPr lang="en-US" altLang="en-US" sz="2400" i="1" dirty="0"/>
              <a:t> </a:t>
            </a:r>
            <a:r>
              <a:rPr lang="en-US" altLang="en-US" sz="2400" dirty="0"/>
              <a:t>(</a:t>
            </a:r>
            <a:r>
              <a:rPr lang="en-US" altLang="en-US" sz="2400" i="1" u="sng" dirty="0"/>
              <a:t>ID, </a:t>
            </a:r>
            <a:r>
              <a:rPr lang="en-US" altLang="en-US" sz="2400" i="1" dirty="0"/>
              <a:t>name, salary</a:t>
            </a:r>
            <a:r>
              <a:rPr lang="en-US" altLang="en-US" sz="2400" i="1" u="sng" dirty="0"/>
              <a:t>, </a:t>
            </a:r>
            <a:r>
              <a:rPr lang="en-US" altLang="en-US" sz="2400" i="1" u="sng" dirty="0" err="1"/>
              <a:t>dept_name</a:t>
            </a:r>
            <a:r>
              <a:rPr lang="en-US" altLang="en-US" sz="2400" i="1" u="sng" dirty="0"/>
              <a:t>, </a:t>
            </a:r>
            <a:r>
              <a:rPr lang="en-US" altLang="en-US" sz="2400" i="1" dirty="0"/>
              <a:t>building, budget </a:t>
            </a:r>
            <a:r>
              <a:rPr lang="en-US" altLang="en-US" sz="2400" dirty="0"/>
              <a:t>)</a:t>
            </a:r>
            <a:r>
              <a:rPr lang="en-US" altLang="en-US" sz="2400" i="1" dirty="0"/>
              <a:t>.</a:t>
            </a:r>
          </a:p>
          <a:p>
            <a:pPr algn="r" rtl="1">
              <a:buFont typeface="Monotype Sorts" pitchFamily="-84" charset="2"/>
              <a:buNone/>
              <a:tabLst>
                <a:tab pos="1250950" algn="l"/>
                <a:tab pos="2173288" algn="l"/>
                <a:tab pos="3378200" algn="l"/>
              </a:tabLst>
            </a:pPr>
            <a:r>
              <a:rPr lang="fa-IR" sz="2400" dirty="0"/>
              <a:t>انتظار داریم این </a:t>
            </a:r>
            <a:r>
              <a:rPr lang="fa-IR" sz="2400" dirty="0" err="1"/>
              <a:t>وابستگی‌های</a:t>
            </a:r>
            <a:r>
              <a:rPr lang="fa-IR" sz="2400" dirty="0"/>
              <a:t> </a:t>
            </a:r>
            <a:r>
              <a:rPr lang="fa-IR" sz="2400" dirty="0" err="1"/>
              <a:t>تابعی</a:t>
            </a:r>
            <a:r>
              <a:rPr lang="fa-IR" sz="2400" dirty="0"/>
              <a:t> برقرار باشند:</a:t>
            </a:r>
            <a:endParaRPr lang="fa-IR" altLang="en-US" sz="2400" dirty="0"/>
          </a:p>
          <a:p>
            <a:pPr>
              <a:buFont typeface="Monotype Sorts" pitchFamily="-84" charset="2"/>
              <a:buNone/>
              <a:tabLst>
                <a:tab pos="1250950" algn="l"/>
                <a:tab pos="2173288" algn="l"/>
                <a:tab pos="3378200" algn="l"/>
              </a:tabLst>
            </a:pPr>
            <a:r>
              <a:rPr lang="en-US" altLang="en-US" sz="2400" dirty="0"/>
              <a:t>	                          </a:t>
            </a:r>
            <a:r>
              <a:rPr lang="en-US" altLang="en-US" sz="2400" i="1" dirty="0" err="1"/>
              <a:t>dept_name</a:t>
            </a:r>
            <a:r>
              <a:rPr lang="en-US" altLang="en-US" sz="2400" dirty="0">
                <a:sym typeface="Symbol" panose="05050102010706020507" pitchFamily="18" charset="2"/>
              </a:rPr>
              <a:t></a:t>
            </a:r>
            <a:r>
              <a:rPr lang="en-US" altLang="en-US" sz="2400" dirty="0">
                <a:sym typeface="Monotype Sorts" pitchFamily="-84" charset="2"/>
              </a:rPr>
              <a:t> </a:t>
            </a:r>
            <a:r>
              <a:rPr lang="en-US" altLang="en-US" sz="2400" i="1" dirty="0">
                <a:sym typeface="Monotype Sorts" pitchFamily="-84" charset="2"/>
              </a:rPr>
              <a:t>building</a:t>
            </a:r>
          </a:p>
          <a:p>
            <a:pPr>
              <a:buFont typeface="Monotype Sorts" pitchFamily="-84" charset="2"/>
              <a:buNone/>
              <a:tabLst>
                <a:tab pos="1250950" algn="l"/>
                <a:tab pos="2173288" algn="l"/>
                <a:tab pos="3378200" algn="l"/>
              </a:tabLst>
            </a:pPr>
            <a:r>
              <a:rPr lang="en-US" altLang="en-US" sz="2400" i="1" dirty="0">
                <a:sym typeface="Monotype Sorts" pitchFamily="-84" charset="2"/>
              </a:rPr>
              <a:t>                               ID </a:t>
            </a:r>
            <a:r>
              <a:rPr lang="en-US" altLang="en-US" sz="2400" dirty="0">
                <a:sym typeface="Wingdings" panose="05000000000000000000" pitchFamily="2" charset="2"/>
              </a:rPr>
              <a:t></a:t>
            </a:r>
            <a:r>
              <a:rPr lang="en-US" altLang="en-US" sz="2400" i="1" dirty="0">
                <a:sym typeface="Wingdings" panose="05000000000000000000" pitchFamily="2" charset="2"/>
              </a:rPr>
              <a:t> building</a:t>
            </a:r>
            <a:endParaRPr lang="en-US" altLang="en-US" sz="2400" i="1" dirty="0">
              <a:sym typeface="Monotype Sorts" pitchFamily="-84" charset="2"/>
            </a:endParaRPr>
          </a:p>
          <a:p>
            <a:pPr algn="r" rtl="1">
              <a:buNone/>
              <a:tabLst>
                <a:tab pos="1250950" algn="l"/>
                <a:tab pos="2173288" algn="l"/>
                <a:tab pos="3378200" algn="l"/>
              </a:tabLst>
            </a:pPr>
            <a:r>
              <a:rPr lang="en-US" altLang="en-US" sz="2400" i="1" dirty="0">
                <a:sym typeface="Monotype Sorts" pitchFamily="-84" charset="2"/>
              </a:rPr>
              <a:t>	</a:t>
            </a:r>
            <a:r>
              <a:rPr lang="fa-IR" sz="2400" dirty="0"/>
              <a:t>اما انتظار </a:t>
            </a:r>
            <a:r>
              <a:rPr lang="fa-IR" sz="2400" b="1" dirty="0" err="1"/>
              <a:t>نمی‌رود</a:t>
            </a:r>
            <a:r>
              <a:rPr lang="fa-IR" sz="2400" dirty="0"/>
              <a:t> که وابستگی زیر برقرار باشد:</a:t>
            </a:r>
            <a:endParaRPr lang="en-US" altLang="en-US" sz="2400" dirty="0">
              <a:sym typeface="Monotype Sorts" pitchFamily="-84" charset="2"/>
            </a:endParaRPr>
          </a:p>
          <a:p>
            <a:pPr>
              <a:buFont typeface="Monotype Sorts" pitchFamily="-84" charset="2"/>
              <a:buNone/>
              <a:tabLst>
                <a:tab pos="1250950" algn="l"/>
                <a:tab pos="2173288" algn="l"/>
                <a:tab pos="3378200" algn="l"/>
              </a:tabLst>
            </a:pPr>
            <a:r>
              <a:rPr lang="en-US" altLang="en-US" sz="2400" dirty="0">
                <a:sym typeface="Monotype Sorts" pitchFamily="-84" charset="2"/>
              </a:rPr>
              <a:t>			</a:t>
            </a:r>
            <a:r>
              <a:rPr lang="en-US" altLang="en-US" sz="2400" i="1" dirty="0" err="1">
                <a:sym typeface="Monotype Sorts" pitchFamily="-84" charset="2"/>
              </a:rPr>
              <a:t>dept_name</a:t>
            </a:r>
            <a:r>
              <a:rPr lang="en-US" altLang="en-US" sz="2400" i="1" dirty="0">
                <a:sym typeface="Monotype Sorts" pitchFamily="-84" charset="2"/>
              </a:rPr>
              <a:t> </a:t>
            </a:r>
            <a:r>
              <a:rPr lang="en-US" altLang="en-US" sz="2400" dirty="0">
                <a:sym typeface="Symbol" panose="05050102010706020507" pitchFamily="18" charset="2"/>
              </a:rPr>
              <a:t></a:t>
            </a:r>
            <a:r>
              <a:rPr lang="en-US" altLang="en-US" sz="2400" dirty="0">
                <a:sym typeface="Monotype Sorts" pitchFamily="-84" charset="2"/>
              </a:rPr>
              <a:t> </a:t>
            </a:r>
            <a:r>
              <a:rPr lang="en-US" altLang="en-US" sz="2400" i="1" dirty="0">
                <a:sym typeface="Monotype Sorts" pitchFamily="-84" charset="2"/>
              </a:rPr>
              <a:t>salary</a:t>
            </a:r>
          </a:p>
          <a:p>
            <a:pPr>
              <a:buFont typeface="Monotype Sorts" pitchFamily="-84" charset="2"/>
              <a:buNone/>
              <a:tabLst>
                <a:tab pos="1250950" algn="l"/>
                <a:tab pos="2173288" algn="l"/>
                <a:tab pos="3378200" algn="l"/>
              </a:tabLst>
            </a:pPr>
            <a:endParaRPr lang="en-US" altLang="en-US" sz="3200" i="1" dirty="0">
              <a:sym typeface="Monotype Sorts" pitchFamily="-84" charset="2"/>
            </a:endParaRPr>
          </a:p>
        </p:txBody>
      </p:sp>
    </p:spTree>
    <p:extLst>
      <p:ext uri="{BB962C8B-B14F-4D97-AF65-F5344CB8AC3E}">
        <p14:creationId xmlns:p14="http://schemas.microsoft.com/office/powerpoint/2010/main" val="267847372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4818"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Use of Functional Dependencies</a:t>
            </a:r>
          </a:p>
        </p:txBody>
      </p:sp>
      <p:sp>
        <p:nvSpPr>
          <p:cNvPr id="20483" name="Rectangle 3"/>
          <p:cNvSpPr>
            <a:spLocks noGrp="1" noChangeArrowheads="1"/>
          </p:cNvSpPr>
          <p:nvPr>
            <p:ph idx="1"/>
          </p:nvPr>
        </p:nvSpPr>
        <p:spPr>
          <a:xfrm>
            <a:off x="272999" y="1032997"/>
            <a:ext cx="8362553" cy="5341454"/>
          </a:xfrm>
        </p:spPr>
        <p:txBody>
          <a:bodyPr/>
          <a:lstStyle/>
          <a:p>
            <a:pPr algn="r" rtl="1"/>
            <a:r>
              <a:rPr lang="fa-IR" sz="2400" dirty="0"/>
              <a:t>ما از </a:t>
            </a:r>
            <a:r>
              <a:rPr lang="fa-IR" sz="2400" dirty="0" err="1"/>
              <a:t>وابستگی‌های</a:t>
            </a:r>
            <a:r>
              <a:rPr lang="fa-IR" sz="2400" dirty="0"/>
              <a:t> </a:t>
            </a:r>
            <a:r>
              <a:rPr lang="fa-IR" sz="2400" dirty="0" err="1"/>
              <a:t>تابعی</a:t>
            </a:r>
            <a:r>
              <a:rPr lang="fa-IR" sz="2400" dirty="0"/>
              <a:t> برای این کارها استفاده </a:t>
            </a:r>
            <a:r>
              <a:rPr lang="fa-IR" sz="2400" dirty="0" err="1"/>
              <a:t>می‌کنیم</a:t>
            </a:r>
            <a:r>
              <a:rPr lang="fa-IR" sz="2400" dirty="0"/>
              <a:t>:</a:t>
            </a:r>
            <a:endParaRPr lang="en-US" altLang="en-US" sz="2400" dirty="0"/>
          </a:p>
          <a:p>
            <a:pPr lvl="1" algn="r" rtl="1"/>
            <a:r>
              <a:rPr lang="fa-IR" sz="2400" dirty="0"/>
              <a:t>برای بررسی </a:t>
            </a:r>
            <a:r>
              <a:rPr lang="fa-IR" sz="2400" dirty="0" err="1"/>
              <a:t>رابطه‌ها</a:t>
            </a:r>
            <a:r>
              <a:rPr lang="fa-IR" sz="2400" dirty="0"/>
              <a:t> تا ببینیم آیا تحت </a:t>
            </a:r>
            <a:r>
              <a:rPr lang="fa-IR" sz="2400" dirty="0" err="1"/>
              <a:t>مجموعه‌ای</a:t>
            </a:r>
            <a:r>
              <a:rPr lang="fa-IR" sz="2400" dirty="0"/>
              <a:t> از </a:t>
            </a:r>
            <a:r>
              <a:rPr lang="fa-IR" sz="2400" dirty="0" err="1"/>
              <a:t>وابستگی‌های</a:t>
            </a:r>
            <a:r>
              <a:rPr lang="fa-IR" sz="2400" dirty="0"/>
              <a:t> </a:t>
            </a:r>
            <a:r>
              <a:rPr lang="fa-IR" sz="2400" dirty="0" err="1"/>
              <a:t>تابعی</a:t>
            </a:r>
            <a:r>
              <a:rPr lang="fa-IR" sz="2400" dirty="0"/>
              <a:t> معتبر هستند یا نه.</a:t>
            </a:r>
            <a:endParaRPr lang="en-US" altLang="en-US" sz="2400" dirty="0"/>
          </a:p>
          <a:p>
            <a:pPr lvl="2" algn="r" rtl="1"/>
            <a:r>
              <a:rPr lang="en-US" altLang="en-US" sz="2400" dirty="0"/>
              <a:t> </a:t>
            </a:r>
            <a:r>
              <a:rPr lang="fa-IR" sz="2400" dirty="0"/>
              <a:t>اگر رابطه </a:t>
            </a:r>
            <a:r>
              <a:rPr lang="en-US" sz="2400" dirty="0"/>
              <a:t>r </a:t>
            </a:r>
            <a:r>
              <a:rPr lang="fa-IR" sz="2400" dirty="0"/>
              <a:t>تحت مجموعه </a:t>
            </a:r>
            <a:r>
              <a:rPr lang="en-US" sz="2400" dirty="0"/>
              <a:t>F </a:t>
            </a:r>
            <a:r>
              <a:rPr lang="fa-IR" sz="2400" dirty="0"/>
              <a:t>معتبر باشد، </a:t>
            </a:r>
            <a:r>
              <a:rPr lang="fa-IR" sz="2400" dirty="0" err="1"/>
              <a:t>می‌گوییم</a:t>
            </a:r>
            <a:r>
              <a:rPr lang="fa-IR" sz="2400" dirty="0"/>
              <a:t> </a:t>
            </a:r>
            <a:r>
              <a:rPr lang="en-US" sz="2400" dirty="0"/>
              <a:t>r، </a:t>
            </a:r>
            <a:r>
              <a:rPr lang="fa-IR" sz="2400" dirty="0" err="1"/>
              <a:t>وابستگی‌های</a:t>
            </a:r>
            <a:r>
              <a:rPr lang="fa-IR" sz="2400" dirty="0"/>
              <a:t> </a:t>
            </a:r>
            <a:r>
              <a:rPr lang="fa-IR" sz="2400" dirty="0" err="1"/>
              <a:t>تابعی</a:t>
            </a:r>
            <a:r>
              <a:rPr lang="fa-IR" sz="2400" dirty="0"/>
              <a:t> </a:t>
            </a:r>
            <a:r>
              <a:rPr lang="en-US" sz="2400" dirty="0"/>
              <a:t>F </a:t>
            </a:r>
            <a:r>
              <a:rPr lang="fa-IR" sz="2400" dirty="0"/>
              <a:t>را </a:t>
            </a:r>
            <a:r>
              <a:rPr lang="fa-IR" sz="2400" dirty="0" err="1"/>
              <a:t>ارضا</a:t>
            </a:r>
            <a:r>
              <a:rPr lang="fa-IR" sz="2400" dirty="0"/>
              <a:t> </a:t>
            </a:r>
            <a:r>
              <a:rPr lang="fa-IR" sz="2400" dirty="0" err="1"/>
              <a:t>می‌کند</a:t>
            </a:r>
            <a:r>
              <a:rPr lang="fa-IR" sz="2400" dirty="0"/>
              <a:t>.</a:t>
            </a:r>
            <a:endParaRPr lang="en-US" altLang="en-US" sz="2400" dirty="0"/>
          </a:p>
          <a:p>
            <a:pPr lvl="1" algn="r" rtl="1"/>
            <a:r>
              <a:rPr lang="fa-IR" sz="2400" dirty="0"/>
              <a:t>برای </a:t>
            </a:r>
            <a:r>
              <a:rPr lang="fa-IR" sz="2400" dirty="0" err="1"/>
              <a:t>مشخص‌کردن</a:t>
            </a:r>
            <a:r>
              <a:rPr lang="fa-IR" sz="2400" dirty="0"/>
              <a:t> </a:t>
            </a:r>
            <a:r>
              <a:rPr lang="fa-IR" sz="2400" dirty="0" err="1"/>
              <a:t>محدودیت‌ها</a:t>
            </a:r>
            <a:r>
              <a:rPr lang="fa-IR" sz="2400" dirty="0"/>
              <a:t> روی مجموعه </a:t>
            </a:r>
            <a:r>
              <a:rPr lang="fa-IR" sz="2400" dirty="0" err="1"/>
              <a:t>رابطه‌های</a:t>
            </a:r>
            <a:r>
              <a:rPr lang="fa-IR" sz="2400" dirty="0"/>
              <a:t> معتبر.</a:t>
            </a:r>
            <a:endParaRPr lang="en-US" altLang="en-US" sz="2400" dirty="0"/>
          </a:p>
          <a:p>
            <a:pPr lvl="2" algn="r" rtl="1"/>
            <a:r>
              <a:rPr lang="fa-IR" sz="2400" dirty="0" err="1"/>
              <a:t>می‌گوییم</a:t>
            </a:r>
            <a:r>
              <a:rPr lang="fa-IR" sz="2400" dirty="0"/>
              <a:t> </a:t>
            </a:r>
            <a:r>
              <a:rPr lang="en-US" sz="2400" dirty="0"/>
              <a:t>F </a:t>
            </a:r>
            <a:r>
              <a:rPr lang="fa-IR" sz="2400" dirty="0"/>
              <a:t>روی </a:t>
            </a:r>
            <a:r>
              <a:rPr lang="en-US" sz="2400" dirty="0"/>
              <a:t>R </a:t>
            </a:r>
            <a:r>
              <a:rPr lang="fa-IR" sz="2400" dirty="0"/>
              <a:t>برقرار است اگر تمام </a:t>
            </a:r>
            <a:r>
              <a:rPr lang="fa-IR" sz="2400" dirty="0" err="1"/>
              <a:t>رابطه‌های</a:t>
            </a:r>
            <a:r>
              <a:rPr lang="fa-IR" sz="2400" dirty="0"/>
              <a:t> معتبر روی </a:t>
            </a:r>
            <a:r>
              <a:rPr lang="en-US" sz="2400" dirty="0"/>
              <a:t>R، </a:t>
            </a:r>
            <a:r>
              <a:rPr lang="fa-IR" sz="2400" dirty="0" err="1"/>
              <a:t>وابستگی‌های</a:t>
            </a:r>
            <a:r>
              <a:rPr lang="fa-IR" sz="2400" dirty="0"/>
              <a:t> </a:t>
            </a:r>
            <a:r>
              <a:rPr lang="fa-IR" sz="2400" dirty="0" err="1"/>
              <a:t>تابعی</a:t>
            </a:r>
            <a:r>
              <a:rPr lang="fa-IR" sz="2400" dirty="0"/>
              <a:t> </a:t>
            </a:r>
            <a:r>
              <a:rPr lang="en-US" sz="2400" dirty="0"/>
              <a:t>F </a:t>
            </a:r>
            <a:r>
              <a:rPr lang="fa-IR" sz="2400" dirty="0"/>
              <a:t>را </a:t>
            </a:r>
            <a:r>
              <a:rPr lang="fa-IR" sz="2400" dirty="0" err="1"/>
              <a:t>ارضا</a:t>
            </a:r>
            <a:r>
              <a:rPr lang="fa-IR" sz="2400" dirty="0"/>
              <a:t> کنند.</a:t>
            </a:r>
            <a:endParaRPr lang="en-US" altLang="en-US" sz="2400" i="1" dirty="0"/>
          </a:p>
          <a:p>
            <a:pPr algn="r" rtl="1"/>
            <a:r>
              <a:rPr lang="fa-IR" sz="2400" dirty="0"/>
              <a:t>نکته: ممکن است یک نمونه مشخص از یک طرح رابطه، یک وابستگی </a:t>
            </a:r>
            <a:r>
              <a:rPr lang="fa-IR" sz="2400" dirty="0" err="1"/>
              <a:t>تابعی</a:t>
            </a:r>
            <a:r>
              <a:rPr lang="fa-IR" sz="2400" dirty="0"/>
              <a:t> را </a:t>
            </a:r>
            <a:r>
              <a:rPr lang="fa-IR" sz="2400" dirty="0" err="1"/>
              <a:t>ارضا</a:t>
            </a:r>
            <a:r>
              <a:rPr lang="fa-IR" sz="2400" dirty="0"/>
              <a:t> کند، حتی اگر آن وابستگی </a:t>
            </a:r>
            <a:r>
              <a:rPr lang="fa-IR" sz="2400" dirty="0" err="1"/>
              <a:t>تابعی</a:t>
            </a:r>
            <a:r>
              <a:rPr lang="fa-IR" sz="2400" dirty="0"/>
              <a:t> در تمام </a:t>
            </a:r>
            <a:r>
              <a:rPr lang="fa-IR" sz="2400" dirty="0" err="1"/>
              <a:t>نمونه‌های</a:t>
            </a:r>
            <a:r>
              <a:rPr lang="fa-IR" sz="2400" dirty="0"/>
              <a:t> معتبر برقرار نباشد.</a:t>
            </a:r>
            <a:r>
              <a:rPr lang="en-US" altLang="en-US" sz="2400" dirty="0"/>
              <a:t>  </a:t>
            </a:r>
          </a:p>
          <a:p>
            <a:pPr lvl="1" algn="r" rtl="1"/>
            <a:r>
              <a:rPr lang="fa-IR" sz="2400" dirty="0"/>
              <a:t>برای مثال، یک نمونه خاص از رابطه </a:t>
            </a:r>
            <a:r>
              <a:rPr lang="en-US" sz="2400" dirty="0"/>
              <a:t>instructor </a:t>
            </a:r>
            <a:r>
              <a:rPr lang="fa-IR" sz="2400" dirty="0"/>
              <a:t>ممکن است </a:t>
            </a:r>
            <a:r>
              <a:rPr lang="fa-IR" sz="2400" dirty="0" err="1"/>
              <a:t>به‌صورت</a:t>
            </a:r>
            <a:r>
              <a:rPr lang="fa-IR" sz="2400" dirty="0"/>
              <a:t> اتفاقی وابستگی</a:t>
            </a:r>
            <a:r>
              <a:rPr lang="en-US" altLang="en-US" sz="2400" dirty="0"/>
              <a:t> </a:t>
            </a:r>
            <a:br>
              <a:rPr lang="en-US" altLang="en-US" sz="2400" dirty="0"/>
            </a:br>
            <a:r>
              <a:rPr lang="en-US" altLang="en-US" sz="2400" dirty="0"/>
              <a:t>               </a:t>
            </a:r>
            <a:r>
              <a:rPr lang="en-US" altLang="en-US" sz="2400" i="1" dirty="0"/>
              <a:t>name </a:t>
            </a:r>
            <a:r>
              <a:rPr lang="en-US" altLang="en-US" sz="2400" dirty="0">
                <a:sym typeface="Symbol" panose="05050102010706020507" pitchFamily="18" charset="2"/>
              </a:rPr>
              <a:t></a:t>
            </a:r>
            <a:r>
              <a:rPr lang="en-US" altLang="en-US" sz="2400" dirty="0">
                <a:sym typeface="Monotype Sorts" pitchFamily="-84" charset="2"/>
              </a:rPr>
              <a:t> </a:t>
            </a:r>
            <a:r>
              <a:rPr lang="en-US" altLang="en-US" sz="2400" i="1" dirty="0">
                <a:sym typeface="Monotype Sorts" pitchFamily="-84" charset="2"/>
              </a:rPr>
              <a:t>ID.</a:t>
            </a:r>
          </a:p>
        </p:txBody>
      </p:sp>
    </p:spTree>
    <p:extLst>
      <p:ext uri="{BB962C8B-B14F-4D97-AF65-F5344CB8AC3E}">
        <p14:creationId xmlns:p14="http://schemas.microsoft.com/office/powerpoint/2010/main" val="88239571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6866"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Trivial Functional Dependencies</a:t>
            </a:r>
          </a:p>
        </p:txBody>
      </p:sp>
      <p:sp>
        <p:nvSpPr>
          <p:cNvPr id="21507" name="Rectangle 3"/>
          <p:cNvSpPr>
            <a:spLocks noGrp="1" noChangeArrowheads="1"/>
          </p:cNvSpPr>
          <p:nvPr>
            <p:ph idx="1"/>
          </p:nvPr>
        </p:nvSpPr>
        <p:spPr>
          <a:xfrm>
            <a:off x="406400" y="1175247"/>
            <a:ext cx="7814322" cy="5123953"/>
          </a:xfrm>
        </p:spPr>
        <p:txBody>
          <a:bodyPr/>
          <a:lstStyle/>
          <a:p>
            <a:pPr algn="r" rtl="1"/>
            <a:r>
              <a:rPr lang="fa-IR" sz="3200" dirty="0"/>
              <a:t>یک وابستگی </a:t>
            </a:r>
            <a:r>
              <a:rPr lang="fa-IR" sz="3200" dirty="0" err="1"/>
              <a:t>تابعی</a:t>
            </a:r>
            <a:r>
              <a:rPr lang="fa-IR" sz="3200" dirty="0"/>
              <a:t> زمانی بدیهی است که در تمام </a:t>
            </a:r>
            <a:r>
              <a:rPr lang="fa-IR" sz="3200" dirty="0" err="1"/>
              <a:t>نمونه‌های</a:t>
            </a:r>
            <a:r>
              <a:rPr lang="fa-IR" sz="3200" dirty="0"/>
              <a:t> </a:t>
            </a:r>
            <a:r>
              <a:rPr lang="fa-IR" sz="3200" dirty="0" err="1"/>
              <a:t>ممکنِ</a:t>
            </a:r>
            <a:r>
              <a:rPr lang="fa-IR" sz="3200" dirty="0"/>
              <a:t> یک رابطه برقرار باشد.</a:t>
            </a:r>
            <a:endParaRPr lang="fa-IR" altLang="en-US" sz="3200" dirty="0">
              <a:sym typeface="Monotype Sorts" pitchFamily="-84" charset="2"/>
            </a:endParaRPr>
          </a:p>
          <a:p>
            <a:pPr algn="r" rtl="1"/>
            <a:r>
              <a:rPr lang="fa-IR" altLang="en-US" sz="3200" dirty="0">
                <a:sym typeface="Monotype Sorts" pitchFamily="-84" charset="2"/>
              </a:rPr>
              <a:t>مثال:</a:t>
            </a:r>
            <a:endParaRPr lang="en-US" altLang="en-US" sz="3200" i="1" dirty="0">
              <a:sym typeface="Monotype Sorts" pitchFamily="-84" charset="2"/>
            </a:endParaRPr>
          </a:p>
          <a:p>
            <a:pPr lvl="1"/>
            <a:r>
              <a:rPr lang="en-US" altLang="en-US" sz="2800" i="1" dirty="0">
                <a:sym typeface="Monotype Sorts" pitchFamily="-84" charset="2"/>
              </a:rPr>
              <a:t> ID, name</a:t>
            </a:r>
            <a:r>
              <a:rPr lang="en-US" altLang="en-US" sz="2800" i="1" dirty="0"/>
              <a:t> </a:t>
            </a:r>
            <a:r>
              <a:rPr lang="en-US" altLang="en-US" sz="2800" dirty="0">
                <a:sym typeface="Symbol" panose="05050102010706020507" pitchFamily="18" charset="2"/>
              </a:rPr>
              <a:t></a:t>
            </a:r>
            <a:r>
              <a:rPr lang="en-US" altLang="en-US" sz="2800" dirty="0">
                <a:sym typeface="Monotype Sorts" pitchFamily="-84" charset="2"/>
              </a:rPr>
              <a:t> </a:t>
            </a:r>
            <a:r>
              <a:rPr lang="en-US" altLang="en-US" sz="2800" i="1" dirty="0">
                <a:sym typeface="Monotype Sorts" pitchFamily="-84" charset="2"/>
              </a:rPr>
              <a:t>ID</a:t>
            </a:r>
          </a:p>
          <a:p>
            <a:pPr lvl="1"/>
            <a:r>
              <a:rPr lang="en-US" altLang="en-US" sz="2800" i="1" dirty="0">
                <a:sym typeface="Monotype Sorts" pitchFamily="-84" charset="2"/>
              </a:rPr>
              <a:t> name </a:t>
            </a:r>
            <a:r>
              <a:rPr lang="en-US" altLang="en-US" sz="2800" dirty="0">
                <a:sym typeface="Symbol" panose="05050102010706020507" pitchFamily="18" charset="2"/>
              </a:rPr>
              <a:t></a:t>
            </a:r>
            <a:r>
              <a:rPr lang="en-US" altLang="en-US" sz="2800" dirty="0">
                <a:sym typeface="Monotype Sorts" pitchFamily="-84" charset="2"/>
              </a:rPr>
              <a:t> </a:t>
            </a:r>
            <a:r>
              <a:rPr lang="en-US" altLang="en-US" sz="2800" i="1" dirty="0">
                <a:sym typeface="Monotype Sorts" pitchFamily="-84" charset="2"/>
              </a:rPr>
              <a:t>name</a:t>
            </a:r>
          </a:p>
          <a:p>
            <a:pPr algn="r" rtl="1"/>
            <a:r>
              <a:rPr lang="fa-IR" sz="3200" dirty="0" err="1"/>
              <a:t>به‌طور</a:t>
            </a:r>
            <a:r>
              <a:rPr lang="fa-IR" sz="3200" dirty="0"/>
              <a:t> کلی</a:t>
            </a:r>
            <a:r>
              <a:rPr lang="en-US" altLang="en-US" sz="3200" dirty="0">
                <a:sym typeface="Monotype Sorts" pitchFamily="-84" charset="2"/>
              </a:rPr>
              <a:t>, </a:t>
            </a:r>
            <a:r>
              <a:rPr lang="en-US" altLang="en-US" sz="3200" dirty="0">
                <a:sym typeface="Symbol" panose="05050102010706020507" pitchFamily="18" charset="2"/>
              </a:rPr>
              <a:t> </a:t>
            </a:r>
            <a:r>
              <a:rPr lang="en-US" altLang="en-US" sz="3200" dirty="0">
                <a:sym typeface="Monotype Sorts" pitchFamily="-84" charset="2"/>
              </a:rPr>
              <a:t> </a:t>
            </a:r>
            <a:r>
              <a:rPr lang="en-US" altLang="en-US" sz="3200" i="1" dirty="0">
                <a:sym typeface="Symbol" panose="05050102010706020507" pitchFamily="18" charset="2"/>
              </a:rPr>
              <a:t> </a:t>
            </a:r>
            <a:r>
              <a:rPr lang="fa-IR" sz="3200" dirty="0"/>
              <a:t>زمانی بدیهی است که </a:t>
            </a:r>
            <a:r>
              <a:rPr lang="en-US" altLang="en-US" sz="3200" i="1" dirty="0">
                <a:sym typeface="Symbol" panose="05050102010706020507" pitchFamily="18" charset="2"/>
              </a:rPr>
              <a:t></a:t>
            </a:r>
            <a:r>
              <a:rPr lang="en-US" altLang="en-US" sz="3200" dirty="0">
                <a:sym typeface="Symbol" panose="05050102010706020507" pitchFamily="18" charset="2"/>
              </a:rPr>
              <a:t>   </a:t>
            </a:r>
            <a:br>
              <a:rPr lang="en-US" altLang="en-US" sz="3600" i="1" dirty="0">
                <a:sym typeface="Symbol" panose="05050102010706020507" pitchFamily="18" charset="2"/>
              </a:rPr>
            </a:br>
            <a:r>
              <a:rPr lang="en-US" altLang="en-US" sz="3600" i="1" dirty="0">
                <a:sym typeface="Symbol" panose="05050102010706020507" pitchFamily="18" charset="2"/>
              </a:rPr>
              <a:t> </a:t>
            </a:r>
          </a:p>
          <a:p>
            <a:endParaRPr lang="en-US" altLang="en-US" sz="3600" dirty="0"/>
          </a:p>
        </p:txBody>
      </p:sp>
    </p:spTree>
    <p:extLst>
      <p:ext uri="{BB962C8B-B14F-4D97-AF65-F5344CB8AC3E}">
        <p14:creationId xmlns:p14="http://schemas.microsoft.com/office/powerpoint/2010/main" val="95180625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3970"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Lossless Decomposition</a:t>
            </a:r>
          </a:p>
        </p:txBody>
      </p:sp>
      <p:sp>
        <p:nvSpPr>
          <p:cNvPr id="22531" name="Rectangle 3"/>
          <p:cNvSpPr>
            <a:spLocks noGrp="1" noChangeArrowheads="1"/>
          </p:cNvSpPr>
          <p:nvPr>
            <p:ph idx="1"/>
          </p:nvPr>
        </p:nvSpPr>
        <p:spPr>
          <a:xfrm>
            <a:off x="294444" y="1030514"/>
            <a:ext cx="8551106" cy="5065486"/>
          </a:xfrm>
        </p:spPr>
        <p:txBody>
          <a:bodyPr/>
          <a:lstStyle/>
          <a:p>
            <a:pPr algn="r" rtl="1">
              <a:tabLst>
                <a:tab pos="2292350" algn="l"/>
                <a:tab pos="2976563" algn="l"/>
              </a:tabLst>
            </a:pPr>
            <a:r>
              <a:rPr lang="fa-IR" dirty="0"/>
              <a:t>ما می‌توانیم از وابستگی‌های تابعی استفاده کنیم تا مشخص کنیم چه زمانی یک تجزیه بدون اتلاف</a:t>
            </a:r>
            <a:r>
              <a:rPr lang="en-US" dirty="0"/>
              <a:t> </a:t>
            </a:r>
            <a:r>
              <a:rPr lang="fa-IR" dirty="0"/>
              <a:t>است.</a:t>
            </a:r>
            <a:r>
              <a:rPr lang="en-US" altLang="en-US" dirty="0"/>
              <a:t>  </a:t>
            </a:r>
          </a:p>
          <a:p>
            <a:pPr algn="r" rtl="1">
              <a:tabLst>
                <a:tab pos="2292350" algn="l"/>
                <a:tab pos="2976563" algn="l"/>
              </a:tabLst>
            </a:pPr>
            <a:r>
              <a:rPr lang="fa-IR" dirty="0"/>
              <a:t>برای حالتی که </a:t>
            </a:r>
            <a:r>
              <a:rPr lang="en-US" dirty="0"/>
              <a:t>R = (R1, R2) </a:t>
            </a:r>
            <a:r>
              <a:rPr lang="fa-IR" dirty="0"/>
              <a:t>باشد، لازم است که برای همه </a:t>
            </a:r>
            <a:r>
              <a:rPr lang="fa-IR" dirty="0" err="1"/>
              <a:t>رابطه‌های</a:t>
            </a:r>
            <a:r>
              <a:rPr lang="fa-IR" dirty="0"/>
              <a:t> ممکن </a:t>
            </a:r>
            <a:r>
              <a:rPr lang="en-US" dirty="0"/>
              <a:t>r </a:t>
            </a:r>
            <a:r>
              <a:rPr lang="fa-IR" dirty="0"/>
              <a:t>روی </a:t>
            </a:r>
            <a:r>
              <a:rPr lang="fa-IR" dirty="0" err="1"/>
              <a:t>شِمای</a:t>
            </a:r>
            <a:r>
              <a:rPr lang="fa-IR" dirty="0"/>
              <a:t> </a:t>
            </a:r>
            <a:r>
              <a:rPr lang="en-US" dirty="0"/>
              <a:t>R،</a:t>
            </a:r>
            <a:endParaRPr lang="en-US" altLang="en-US" i="1" dirty="0"/>
          </a:p>
          <a:p>
            <a:pPr algn="r" rtl="1">
              <a:buFont typeface="Monotype Sorts" pitchFamily="-84" charset="2"/>
              <a:buNone/>
              <a:tabLst>
                <a:tab pos="2292350" algn="l"/>
                <a:tab pos="2976563" algn="l"/>
              </a:tabLst>
            </a:pPr>
            <a:r>
              <a:rPr lang="en-US" altLang="en-US" baseline="-25000" dirty="0"/>
              <a:t>		</a:t>
            </a:r>
            <a:r>
              <a:rPr lang="en-US" altLang="en-US" i="1" dirty="0"/>
              <a:t>r = </a:t>
            </a:r>
            <a:r>
              <a:rPr lang="en-US" altLang="en-US" dirty="0">
                <a:sym typeface="Symbol" panose="05050102010706020507" pitchFamily="18" charset="2"/>
              </a:rPr>
              <a:t></a:t>
            </a:r>
            <a:r>
              <a:rPr lang="en-US" altLang="en-US" i="1" baseline="-25000" dirty="0">
                <a:sym typeface="Symbol" panose="05050102010706020507" pitchFamily="18" charset="2"/>
              </a:rPr>
              <a:t>R1</a:t>
            </a:r>
            <a:r>
              <a:rPr lang="en-US" altLang="en-US" baseline="-25000" dirty="0">
                <a:sym typeface="Symbol" panose="05050102010706020507" pitchFamily="18" charset="2"/>
              </a:rPr>
              <a:t> </a:t>
            </a:r>
            <a:r>
              <a:rPr lang="en-US" altLang="en-US" dirty="0">
                <a:sym typeface="Symbol" panose="05050102010706020507" pitchFamily="18" charset="2"/>
              </a:rPr>
              <a:t>(</a:t>
            </a:r>
            <a:r>
              <a:rPr lang="en-US" altLang="en-US" i="1" dirty="0">
                <a:sym typeface="Symbol" panose="05050102010706020507" pitchFamily="18" charset="2"/>
              </a:rPr>
              <a:t>r </a:t>
            </a:r>
            <a:r>
              <a:rPr lang="en-US" altLang="en-US" dirty="0">
                <a:sym typeface="Symbol" panose="05050102010706020507" pitchFamily="18" charset="2"/>
              </a:rPr>
              <a:t>)    </a:t>
            </a:r>
            <a:r>
              <a:rPr lang="en-US" altLang="en-US" i="1" baseline="-25000" dirty="0">
                <a:sym typeface="Symbol" panose="05050102010706020507" pitchFamily="18" charset="2"/>
              </a:rPr>
              <a:t>R2</a:t>
            </a:r>
            <a:r>
              <a:rPr lang="en-US" altLang="en-US" baseline="-25000" dirty="0">
                <a:sym typeface="Symbol" panose="05050102010706020507" pitchFamily="18" charset="2"/>
              </a:rPr>
              <a:t> </a:t>
            </a:r>
            <a:r>
              <a:rPr lang="en-US" altLang="en-US" dirty="0">
                <a:sym typeface="Symbol" panose="05050102010706020507" pitchFamily="18" charset="2"/>
              </a:rPr>
              <a:t>(</a:t>
            </a:r>
            <a:r>
              <a:rPr lang="en-US" altLang="en-US" i="1" dirty="0">
                <a:sym typeface="Symbol" panose="05050102010706020507" pitchFamily="18" charset="2"/>
              </a:rPr>
              <a:t>r </a:t>
            </a:r>
            <a:r>
              <a:rPr lang="en-US" altLang="en-US" dirty="0">
                <a:sym typeface="Symbol" panose="05050102010706020507" pitchFamily="18" charset="2"/>
              </a:rPr>
              <a:t>) </a:t>
            </a:r>
          </a:p>
          <a:p>
            <a:pPr algn="r" rtl="1">
              <a:tabLst>
                <a:tab pos="2292350" algn="l"/>
                <a:tab pos="2976563" algn="l"/>
              </a:tabLst>
            </a:pPr>
            <a:r>
              <a:rPr lang="fa-IR" dirty="0"/>
              <a:t>تجزیه </a:t>
            </a:r>
            <a:r>
              <a:rPr lang="en-US" dirty="0"/>
              <a:t>R </a:t>
            </a:r>
            <a:r>
              <a:rPr lang="fa-IR" dirty="0"/>
              <a:t>به </a:t>
            </a:r>
            <a:r>
              <a:rPr lang="en-US" dirty="0"/>
              <a:t>R1 </a:t>
            </a:r>
            <a:r>
              <a:rPr lang="fa-IR" dirty="0"/>
              <a:t>و </a:t>
            </a:r>
            <a:r>
              <a:rPr lang="en-US" dirty="0"/>
              <a:t>R2 </a:t>
            </a:r>
            <a:r>
              <a:rPr lang="fa-IR" dirty="0"/>
              <a:t>یک تجزیه بدون اتلاف است اگر حداقل یکی از </a:t>
            </a:r>
            <a:r>
              <a:rPr lang="fa-IR" dirty="0" err="1"/>
              <a:t>وابستگی‌های</a:t>
            </a:r>
            <a:r>
              <a:rPr lang="fa-IR" dirty="0"/>
              <a:t> زیر در </a:t>
            </a:r>
            <a:r>
              <a:rPr lang="en-US" dirty="0"/>
              <a:t>F⁺ </a:t>
            </a:r>
            <a:r>
              <a:rPr lang="fa-IR" dirty="0"/>
              <a:t>وجود داشته باشد:</a:t>
            </a:r>
            <a:endParaRPr lang="en-US" altLang="en-US" dirty="0"/>
          </a:p>
          <a:p>
            <a:pPr lvl="1" algn="r" rtl="1">
              <a:tabLst>
                <a:tab pos="2292350" algn="l"/>
                <a:tab pos="2976563" algn="l"/>
              </a:tabLst>
            </a:pPr>
            <a:r>
              <a:rPr lang="en-US" altLang="en-US" i="1" dirty="0"/>
              <a:t>R</a:t>
            </a:r>
            <a:r>
              <a:rPr lang="en-US" altLang="en-US" baseline="-25000" dirty="0"/>
              <a:t>1</a:t>
            </a:r>
            <a:r>
              <a:rPr lang="en-US" altLang="en-US" dirty="0"/>
              <a:t> </a:t>
            </a:r>
            <a:r>
              <a:rPr lang="en-US" altLang="en-US" dirty="0">
                <a:sym typeface="Symbol" panose="05050102010706020507" pitchFamily="18" charset="2"/>
              </a:rPr>
              <a:t> </a:t>
            </a:r>
            <a:r>
              <a:rPr lang="en-US" altLang="en-US" i="1" dirty="0"/>
              <a:t>R</a:t>
            </a:r>
            <a:r>
              <a:rPr lang="en-US" altLang="en-US" baseline="-25000" dirty="0"/>
              <a:t>2</a:t>
            </a:r>
            <a:r>
              <a:rPr lang="en-US" altLang="en-US" dirty="0"/>
              <a:t> </a:t>
            </a:r>
            <a:r>
              <a:rPr lang="en-US" altLang="en-US" dirty="0">
                <a:sym typeface="Symbol" panose="05050102010706020507" pitchFamily="18" charset="2"/>
              </a:rPr>
              <a:t></a:t>
            </a:r>
            <a:r>
              <a:rPr lang="en-US" altLang="en-US" dirty="0">
                <a:sym typeface="Monotype Sorts" pitchFamily="-84" charset="2"/>
              </a:rPr>
              <a:t> </a:t>
            </a:r>
            <a:r>
              <a:rPr lang="en-US" altLang="en-US" i="1" dirty="0"/>
              <a:t>R</a:t>
            </a:r>
            <a:r>
              <a:rPr lang="en-US" altLang="en-US" baseline="-25000" dirty="0"/>
              <a:t>1</a:t>
            </a:r>
          </a:p>
          <a:p>
            <a:pPr lvl="1" algn="r" rtl="1">
              <a:tabLst>
                <a:tab pos="2292350" algn="l"/>
                <a:tab pos="2976563" algn="l"/>
              </a:tabLst>
            </a:pPr>
            <a:r>
              <a:rPr lang="en-US" altLang="en-US" i="1" dirty="0"/>
              <a:t>R</a:t>
            </a:r>
            <a:r>
              <a:rPr lang="en-US" altLang="en-US" baseline="-25000" dirty="0"/>
              <a:t>1</a:t>
            </a:r>
            <a:r>
              <a:rPr lang="en-US" altLang="en-US" dirty="0"/>
              <a:t> </a:t>
            </a:r>
            <a:r>
              <a:rPr lang="en-US" altLang="en-US" dirty="0">
                <a:sym typeface="Symbol" panose="05050102010706020507" pitchFamily="18" charset="2"/>
              </a:rPr>
              <a:t> </a:t>
            </a:r>
            <a:r>
              <a:rPr lang="en-US" altLang="en-US" i="1" dirty="0"/>
              <a:t>R</a:t>
            </a:r>
            <a:r>
              <a:rPr lang="en-US" altLang="en-US" baseline="-25000" dirty="0"/>
              <a:t>2</a:t>
            </a:r>
            <a:r>
              <a:rPr lang="en-US" altLang="en-US" dirty="0"/>
              <a:t> </a:t>
            </a:r>
            <a:r>
              <a:rPr lang="en-US" altLang="en-US" dirty="0">
                <a:sym typeface="Symbol" panose="05050102010706020507" pitchFamily="18" charset="2"/>
              </a:rPr>
              <a:t></a:t>
            </a:r>
            <a:r>
              <a:rPr lang="en-US" altLang="en-US" dirty="0">
                <a:sym typeface="Monotype Sorts" pitchFamily="-84" charset="2"/>
              </a:rPr>
              <a:t> </a:t>
            </a:r>
            <a:r>
              <a:rPr lang="en-US" altLang="en-US" i="1" dirty="0"/>
              <a:t>R</a:t>
            </a:r>
            <a:r>
              <a:rPr lang="en-US" altLang="en-US" baseline="-25000" dirty="0"/>
              <a:t>2</a:t>
            </a:r>
            <a:endParaRPr lang="en-US" altLang="en-US" dirty="0"/>
          </a:p>
          <a:p>
            <a:pPr algn="r" rtl="1">
              <a:tabLst>
                <a:tab pos="2292350" algn="l"/>
                <a:tab pos="2976563" algn="l"/>
              </a:tabLst>
            </a:pPr>
            <a:r>
              <a:rPr lang="fa-IR" dirty="0" err="1"/>
              <a:t>وابستگی‌های</a:t>
            </a:r>
            <a:r>
              <a:rPr lang="fa-IR" dirty="0"/>
              <a:t> </a:t>
            </a:r>
            <a:r>
              <a:rPr lang="fa-IR" dirty="0" err="1"/>
              <a:t>تابعی</a:t>
            </a:r>
            <a:r>
              <a:rPr lang="fa-IR" dirty="0"/>
              <a:t> بالا یک شرط کافی برای تجزیه بدون اتلاف هستند؛</a:t>
            </a:r>
            <a:br>
              <a:rPr lang="fa-IR" dirty="0"/>
            </a:br>
            <a:r>
              <a:rPr lang="fa-IR" dirty="0"/>
              <a:t>و این </a:t>
            </a:r>
            <a:r>
              <a:rPr lang="fa-IR" dirty="0" err="1"/>
              <a:t>وابستگی‌ها</a:t>
            </a:r>
            <a:r>
              <a:rPr lang="fa-IR" dirty="0"/>
              <a:t> زمانی شرط لازم هم هستند که همه </a:t>
            </a:r>
            <a:r>
              <a:rPr lang="fa-IR" dirty="0" err="1"/>
              <a:t>محدودیت‌ها</a:t>
            </a:r>
            <a:r>
              <a:rPr lang="fa-IR" dirty="0"/>
              <a:t>، وابستگی </a:t>
            </a:r>
            <a:r>
              <a:rPr lang="fa-IR" dirty="0" err="1"/>
              <a:t>تابعی</a:t>
            </a:r>
            <a:r>
              <a:rPr lang="fa-IR" dirty="0"/>
              <a:t> باشند.</a:t>
            </a:r>
            <a:endParaRPr lang="en-US" altLang="en-US" dirty="0">
              <a:sym typeface="Symbol" panose="05050102010706020507" pitchFamily="18" charset="2"/>
            </a:endParaRPr>
          </a:p>
        </p:txBody>
      </p:sp>
      <p:sp>
        <p:nvSpPr>
          <p:cNvPr id="22532" name="Freeform 4"/>
          <p:cNvSpPr>
            <a:spLocks/>
          </p:cNvSpPr>
          <p:nvPr/>
        </p:nvSpPr>
        <p:spPr bwMode="auto">
          <a:xfrm>
            <a:off x="7334093" y="2334703"/>
            <a:ext cx="142875" cy="142875"/>
          </a:xfrm>
          <a:custGeom>
            <a:avLst/>
            <a:gdLst>
              <a:gd name="T0" fmla="*/ 0 w 182"/>
              <a:gd name="T1" fmla="*/ 0 h 182"/>
              <a:gd name="T2" fmla="*/ 0 w 182"/>
              <a:gd name="T3" fmla="*/ 2147483647 h 182"/>
              <a:gd name="T4" fmla="*/ 2147483647 w 182"/>
              <a:gd name="T5" fmla="*/ 0 h 182"/>
              <a:gd name="T6" fmla="*/ 2147483647 w 182"/>
              <a:gd name="T7" fmla="*/ 2147483647 h 182"/>
              <a:gd name="T8" fmla="*/ 0 w 182"/>
              <a:gd name="T9" fmla="*/ 0 h 182"/>
              <a:gd name="T10" fmla="*/ 0 60000 65536"/>
              <a:gd name="T11" fmla="*/ 0 60000 65536"/>
              <a:gd name="T12" fmla="*/ 0 60000 65536"/>
              <a:gd name="T13" fmla="*/ 0 60000 65536"/>
              <a:gd name="T14" fmla="*/ 0 60000 65536"/>
              <a:gd name="T15" fmla="*/ 0 w 182"/>
              <a:gd name="T16" fmla="*/ 0 h 182"/>
              <a:gd name="T17" fmla="*/ 182 w 182"/>
              <a:gd name="T18" fmla="*/ 182 h 182"/>
            </a:gdLst>
            <a:ahLst/>
            <a:cxnLst>
              <a:cxn ang="T10">
                <a:pos x="T0" y="T1"/>
              </a:cxn>
              <a:cxn ang="T11">
                <a:pos x="T2" y="T3"/>
              </a:cxn>
              <a:cxn ang="T12">
                <a:pos x="T4" y="T5"/>
              </a:cxn>
              <a:cxn ang="T13">
                <a:pos x="T6" y="T7"/>
              </a:cxn>
              <a:cxn ang="T14">
                <a:pos x="T8" y="T9"/>
              </a:cxn>
            </a:cxnLst>
            <a:rect l="T15" t="T16" r="T17" b="T18"/>
            <a:pathLst>
              <a:path w="182" h="182">
                <a:moveTo>
                  <a:pt x="0" y="0"/>
                </a:moveTo>
                <a:lnTo>
                  <a:pt x="0" y="182"/>
                </a:lnTo>
                <a:lnTo>
                  <a:pt x="182" y="0"/>
                </a:lnTo>
                <a:lnTo>
                  <a:pt x="182" y="182"/>
                </a:lnTo>
                <a:lnTo>
                  <a:pt x="0" y="0"/>
                </a:lnTo>
                <a:close/>
              </a:path>
            </a:pathLst>
          </a:custGeom>
          <a:noFill/>
          <a:ln w="12700">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Tree>
    <p:extLst>
      <p:ext uri="{BB962C8B-B14F-4D97-AF65-F5344CB8AC3E}">
        <p14:creationId xmlns:p14="http://schemas.microsoft.com/office/powerpoint/2010/main" val="84209910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E9A56-8A37-DD40-F17E-180ED42CB652}"/>
            </a:ext>
          </a:extLst>
        </p:cNvPr>
        <p:cNvGrpSpPr/>
        <p:nvPr/>
      </p:nvGrpSpPr>
      <p:grpSpPr>
        <a:xfrm>
          <a:off x="0" y="0"/>
          <a:ext cx="0" cy="0"/>
          <a:chOff x="0" y="0"/>
          <a:chExt cx="0" cy="0"/>
        </a:xfrm>
      </p:grpSpPr>
      <p:sp>
        <p:nvSpPr>
          <p:cNvPr id="723970" name="Rectangle 2">
            <a:extLst>
              <a:ext uri="{FF2B5EF4-FFF2-40B4-BE49-F238E27FC236}">
                <a16:creationId xmlns:a16="http://schemas.microsoft.com/office/drawing/2014/main" id="{7D2507A6-0BBE-9BA8-3F79-FB52C9FB1FB3}"/>
              </a:ext>
            </a:extLst>
          </p:cNvPr>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Lossless Decomposition</a:t>
            </a:r>
          </a:p>
        </p:txBody>
      </p:sp>
      <mc:AlternateContent xmlns:mc="http://schemas.openxmlformats.org/markup-compatibility/2006" xmlns:a14="http://schemas.microsoft.com/office/drawing/2010/main">
        <mc:Choice Requires="a14">
          <p:sp>
            <p:nvSpPr>
              <p:cNvPr id="22531" name="Rectangle 3">
                <a:extLst>
                  <a:ext uri="{FF2B5EF4-FFF2-40B4-BE49-F238E27FC236}">
                    <a16:creationId xmlns:a16="http://schemas.microsoft.com/office/drawing/2014/main" id="{7237A793-BDF0-40D1-CFAE-D6939C0CD28A}"/>
                  </a:ext>
                </a:extLst>
              </p:cNvPr>
              <p:cNvSpPr>
                <a:spLocks noGrp="1" noChangeArrowheads="1"/>
              </p:cNvSpPr>
              <p:nvPr>
                <p:ph idx="1"/>
              </p:nvPr>
            </p:nvSpPr>
            <p:spPr>
              <a:xfrm>
                <a:off x="294444" y="1030514"/>
                <a:ext cx="8551106" cy="5065486"/>
              </a:xfrm>
            </p:spPr>
            <p:txBody>
              <a:bodyPr/>
              <a:lstStyle/>
              <a:p>
                <a:pPr algn="r" rtl="1"/>
                <a:r>
                  <a:rPr lang="fa-IR" b="1" dirty="0"/>
                  <a:t>قاعده دقیق تجزیه بدون اتلاف</a:t>
                </a:r>
              </a:p>
              <a:p>
                <a:pPr algn="r" rtl="1"/>
                <a:r>
                  <a:rPr lang="fa-IR" dirty="0"/>
                  <a:t>برای تجزیه‌ی یک رابطه </a:t>
                </a:r>
                <a14:m>
                  <m:oMath xmlns:m="http://schemas.openxmlformats.org/officeDocument/2006/math">
                    <m:r>
                      <a:rPr lang="fa-IR" i="1">
                        <a:latin typeface="Cambria Math" panose="02040503050406030204" pitchFamily="18" charset="0"/>
                      </a:rPr>
                      <m:t>𝑅</m:t>
                    </m:r>
                  </m:oMath>
                </a14:m>
                <a:r>
                  <a:rPr lang="fa-IR" dirty="0"/>
                  <a:t>به دو رابطه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oMath>
                </a14:m>
                <a:r>
                  <a:rPr lang="fa-IR" dirty="0"/>
                  <a:t>و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2</m:t>
                        </m:r>
                      </m:sub>
                    </m:sSub>
                  </m:oMath>
                </a14:m>
                <a:r>
                  <a:rPr lang="fa-IR" dirty="0"/>
                  <a:t>، اگر </a:t>
                </a:r>
                <a:r>
                  <a:rPr lang="fa-IR" b="1" dirty="0"/>
                  <a:t>حداقل یکی</a:t>
                </a:r>
                <a:r>
                  <a:rPr lang="fa-IR" dirty="0"/>
                  <a:t> از شرایط زیر برقرار باشد، تجزیه </a:t>
                </a:r>
                <a:r>
                  <a:rPr lang="fa-IR" b="1" dirty="0"/>
                  <a:t>بدون اتلاف</a:t>
                </a:r>
                <a:r>
                  <a:rPr lang="fa-IR" dirty="0"/>
                  <a:t> است:</a:t>
                </a:r>
              </a:p>
              <a:p>
                <a:pPr algn="r" rtl="1"/>
                <a14:m>
                  <m:oMath xmlns:m="http://schemas.openxmlformats.org/officeDocument/2006/math">
                    <m:d>
                      <m:dPr>
                        <m:ctrlPr>
                          <a:rPr lang="fa-IR" i="1">
                            <a:latin typeface="Cambria Math" panose="02040503050406030204" pitchFamily="18" charset="0"/>
                          </a:rPr>
                        </m:ctrlPr>
                      </m:dPr>
                      <m:e>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2</m:t>
                            </m:r>
                          </m:sub>
                        </m:sSub>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r>
                      <a:rPr lang="fa-IR">
                        <a:latin typeface="Cambria Math" panose="02040503050406030204" pitchFamily="18" charset="0"/>
                      </a:rPr>
                      <m:t> </m:t>
                    </m:r>
                    <m:r>
                      <m:rPr>
                        <m:nor/>
                      </m:rPr>
                      <a:rPr lang="fa-IR" i="1"/>
                      <m:t>یا</m:t>
                    </m:r>
                    <m:r>
                      <a:rPr lang="fa-IR">
                        <a:latin typeface="Cambria Math" panose="02040503050406030204" pitchFamily="18" charset="0"/>
                      </a:rPr>
                      <m:t> </m:t>
                    </m:r>
                    <m:d>
                      <m:dPr>
                        <m:ctrlPr>
                          <a:rPr lang="fa-IR" i="1">
                            <a:latin typeface="Cambria Math" panose="02040503050406030204" pitchFamily="18" charset="0"/>
                          </a:rPr>
                        </m:ctrlPr>
                      </m:dPr>
                      <m:e>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2</m:t>
                            </m:r>
                          </m:sub>
                        </m:sSub>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2</m:t>
                        </m:r>
                      </m:sub>
                    </m:sSub>
                  </m:oMath>
                </a14:m>
                <a:endParaRPr lang="fa-IR" b="0" dirty="0"/>
              </a:p>
              <a:p>
                <a:pPr algn="r" rtl="1"/>
                <a:r>
                  <a:rPr lang="fa-IR" dirty="0"/>
                  <a:t>یعنی:</a:t>
                </a:r>
              </a:p>
              <a:p>
                <a:pPr algn="r" rtl="1"/>
                <a:r>
                  <a:rPr lang="fa-IR" dirty="0"/>
                  <a:t>اشتراک دو رابطه، </a:t>
                </a:r>
                <a:r>
                  <a:rPr lang="fa-IR" b="1" dirty="0"/>
                  <a:t>کلید یکی از آن‌ها</a:t>
                </a:r>
                <a:r>
                  <a:rPr lang="fa-IR" dirty="0"/>
                  <a:t> باشد.</a:t>
                </a:r>
                <a:br>
                  <a:rPr lang="fa-IR" dirty="0"/>
                </a:br>
                <a:endParaRPr lang="fa-IR" dirty="0"/>
              </a:p>
              <a:p>
                <a:pPr algn="r" rtl="1"/>
                <a:r>
                  <a:rPr lang="fa-IR" b="1" dirty="0"/>
                  <a:t>تفسیر ساده</a:t>
                </a:r>
              </a:p>
              <a:p>
                <a:pPr algn="r" rtl="1"/>
                <a:r>
                  <a:rPr lang="fa-IR" dirty="0"/>
                  <a:t>اگر اشتراک بتواند </a:t>
                </a:r>
                <a:r>
                  <a:rPr lang="fa-IR" b="1" dirty="0"/>
                  <a:t>کل </a:t>
                </a:r>
                <a:r>
                  <a:rPr lang="en-US" b="1" dirty="0"/>
                  <a:t>R1</a:t>
                </a:r>
                <a:r>
                  <a:rPr lang="en-US" dirty="0"/>
                  <a:t> </a:t>
                </a:r>
                <a:r>
                  <a:rPr lang="fa-IR" dirty="0"/>
                  <a:t>را بسازد → بدون اتلاف</a:t>
                </a:r>
              </a:p>
              <a:p>
                <a:pPr algn="r" rtl="1"/>
                <a:r>
                  <a:rPr lang="fa-IR" dirty="0"/>
                  <a:t>اگر اشتراک بتواند </a:t>
                </a:r>
                <a:r>
                  <a:rPr lang="fa-IR" b="1" dirty="0"/>
                  <a:t>کل </a:t>
                </a:r>
                <a:r>
                  <a:rPr lang="en-US" b="1" dirty="0"/>
                  <a:t>R2</a:t>
                </a:r>
                <a:r>
                  <a:rPr lang="en-US" dirty="0"/>
                  <a:t> </a:t>
                </a:r>
                <a:r>
                  <a:rPr lang="fa-IR" dirty="0"/>
                  <a:t>را بسازد → بدون اتلاف</a:t>
                </a:r>
              </a:p>
              <a:p>
                <a:pPr algn="r" rtl="1"/>
                <a:r>
                  <a:rPr lang="fa-IR" b="1" dirty="0"/>
                  <a:t>نیازی نیست هر دو با هم برقرار باشند</a:t>
                </a:r>
                <a:endParaRPr lang="fa-IR" dirty="0"/>
              </a:p>
            </p:txBody>
          </p:sp>
        </mc:Choice>
        <mc:Fallback xmlns="">
          <p:sp>
            <p:nvSpPr>
              <p:cNvPr id="22531" name="Rectangle 3">
                <a:extLst>
                  <a:ext uri="{FF2B5EF4-FFF2-40B4-BE49-F238E27FC236}">
                    <a16:creationId xmlns:a16="http://schemas.microsoft.com/office/drawing/2014/main" id="{7237A793-BDF0-40D1-CFAE-D6939C0CD28A}"/>
                  </a:ext>
                </a:extLst>
              </p:cNvPr>
              <p:cNvSpPr>
                <a:spLocks noGrp="1" noRot="1" noChangeAspect="1" noMove="1" noResize="1" noEditPoints="1" noAdjustHandles="1" noChangeArrowheads="1" noChangeShapeType="1" noTextEdit="1"/>
              </p:cNvSpPr>
              <p:nvPr>
                <p:ph idx="1"/>
              </p:nvPr>
            </p:nvSpPr>
            <p:spPr>
              <a:xfrm>
                <a:off x="294444" y="1030514"/>
                <a:ext cx="8551106" cy="5065486"/>
              </a:xfrm>
              <a:blipFill>
                <a:blip r:embed="rId3"/>
                <a:stretch>
                  <a:fillRect t="-1685" r="-855"/>
                </a:stretch>
              </a:blipFill>
            </p:spPr>
            <p:txBody>
              <a:bodyPr/>
              <a:lstStyle/>
              <a:p>
                <a:r>
                  <a:rPr lang="en-US">
                    <a:noFill/>
                  </a:rPr>
                  <a:t> </a:t>
                </a:r>
              </a:p>
            </p:txBody>
          </p:sp>
        </mc:Fallback>
      </mc:AlternateContent>
    </p:spTree>
    <p:extLst>
      <p:ext uri="{BB962C8B-B14F-4D97-AF65-F5344CB8AC3E}">
        <p14:creationId xmlns:p14="http://schemas.microsoft.com/office/powerpoint/2010/main" val="355865389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BDB9D-CA4E-756B-D263-86F87A57A2A8}"/>
            </a:ext>
          </a:extLst>
        </p:cNvPr>
        <p:cNvGrpSpPr/>
        <p:nvPr/>
      </p:nvGrpSpPr>
      <p:grpSpPr>
        <a:xfrm>
          <a:off x="0" y="0"/>
          <a:ext cx="0" cy="0"/>
          <a:chOff x="0" y="0"/>
          <a:chExt cx="0" cy="0"/>
        </a:xfrm>
      </p:grpSpPr>
      <p:sp>
        <p:nvSpPr>
          <p:cNvPr id="723970" name="Rectangle 2">
            <a:extLst>
              <a:ext uri="{FF2B5EF4-FFF2-40B4-BE49-F238E27FC236}">
                <a16:creationId xmlns:a16="http://schemas.microsoft.com/office/drawing/2014/main" id="{14F91890-0B77-9870-313F-D13C1D3E9D69}"/>
              </a:ext>
            </a:extLst>
          </p:cNvPr>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Lossless Decomposition</a:t>
            </a:r>
          </a:p>
        </p:txBody>
      </p:sp>
      <mc:AlternateContent xmlns:mc="http://schemas.openxmlformats.org/markup-compatibility/2006" xmlns:a14="http://schemas.microsoft.com/office/drawing/2010/main">
        <mc:Choice Requires="a14">
          <p:sp>
            <p:nvSpPr>
              <p:cNvPr id="22531" name="Rectangle 3">
                <a:extLst>
                  <a:ext uri="{FF2B5EF4-FFF2-40B4-BE49-F238E27FC236}">
                    <a16:creationId xmlns:a16="http://schemas.microsoft.com/office/drawing/2014/main" id="{6A452F4A-FBE8-F064-7E29-25382118AF68}"/>
                  </a:ext>
                </a:extLst>
              </p:cNvPr>
              <p:cNvSpPr>
                <a:spLocks noGrp="1" noChangeArrowheads="1"/>
              </p:cNvSpPr>
              <p:nvPr>
                <p:ph idx="1"/>
              </p:nvPr>
            </p:nvSpPr>
            <p:spPr>
              <a:xfrm>
                <a:off x="294444" y="1030513"/>
                <a:ext cx="8551106" cy="5581301"/>
              </a:xfrm>
            </p:spPr>
            <p:txBody>
              <a:bodyPr/>
              <a:lstStyle/>
              <a:p>
                <a:pPr algn="r" rtl="1"/>
                <a:r>
                  <a:rPr lang="fa-IR" b="1" dirty="0"/>
                  <a:t>مثال</a:t>
                </a:r>
              </a:p>
              <a:p>
                <a:pPr algn="r" rtl="1"/>
                <a:r>
                  <a:rPr lang="fa-IR" b="1" dirty="0"/>
                  <a:t>حالت اول:</a:t>
                </a:r>
              </a:p>
              <a:p>
                <a:pPr algn="l"/>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A</m:t>
                    </m:r>
                    <m:r>
                      <a:rPr lang="en-US" b="0" i="0" smtClean="0">
                        <a:latin typeface="Cambria Math" panose="02040503050406030204" pitchFamily="18" charset="0"/>
                      </a:rPr>
                      <m:t>,</m:t>
                    </m:r>
                    <m:r>
                      <m:rPr>
                        <m:sty m:val="p"/>
                      </m:rPr>
                      <a:rPr lang="en-US" b="0" i="0" smtClean="0">
                        <a:latin typeface="Cambria Math" panose="02040503050406030204" pitchFamily="18" charset="0"/>
                      </a:rPr>
                      <m:t>B</m:t>
                    </m:r>
                    <m:r>
                      <a:rPr lang="en-US" b="0" i="0" smtClean="0">
                        <a:latin typeface="Cambria Math" panose="02040503050406030204" pitchFamily="18" charset="0"/>
                      </a:rPr>
                      <m:t>),</m:t>
                    </m:r>
                    <m:r>
                      <m:rPr>
                        <m:nor/>
                      </m:rPr>
                      <a:rPr lang="fa-IR" i="1"/>
                      <m:t>  </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rPr>
                      <m:t>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oMath>
                </a14:m>
                <a:endParaRPr lang="fa-IR" b="0" dirty="0"/>
              </a:p>
              <a:p>
                <a:pPr algn="l"/>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2</m:t>
                        </m:r>
                      </m:sub>
                    </m:sSub>
                    <m:r>
                      <a:rPr lang="fa-IR">
                        <a:latin typeface="Cambria Math" panose="02040503050406030204" pitchFamily="18" charset="0"/>
                      </a:rPr>
                      <m:t>=</m:t>
                    </m:r>
                    <m:d>
                      <m:dPr>
                        <m:begChr m:val="{"/>
                        <m:endChr m:val="}"/>
                        <m:ctrlPr>
                          <a:rPr lang="fa-IR" i="1">
                            <a:latin typeface="Cambria Math" panose="02040503050406030204" pitchFamily="18" charset="0"/>
                          </a:rPr>
                        </m:ctrlPr>
                      </m:dPr>
                      <m:e>
                        <m:r>
                          <a:rPr lang="fa-IR" i="1">
                            <a:latin typeface="Cambria Math" panose="02040503050406030204" pitchFamily="18" charset="0"/>
                          </a:rPr>
                          <m:t>𝐵</m:t>
                        </m:r>
                      </m:e>
                    </m:d>
                    <m:r>
                      <a:rPr lang="fa-IR">
                        <a:latin typeface="Cambria Math" panose="02040503050406030204" pitchFamily="18" charset="0"/>
                      </a:rPr>
                      <m:t>,</m:t>
                    </m:r>
                    <m:r>
                      <m:rPr>
                        <m:nor/>
                      </m:rPr>
                      <a:rPr lang="fa-IR" i="1"/>
                      <m:t>  </m:t>
                    </m:r>
                    <m:r>
                      <a:rPr lang="fa-IR" i="1">
                        <a:latin typeface="Cambria Math" panose="02040503050406030204" pitchFamily="18" charset="0"/>
                      </a:rPr>
                      <m:t>𝐵</m:t>
                    </m:r>
                    <m:r>
                      <a:rPr lang="fa-IR">
                        <a:latin typeface="Cambria Math" panose="02040503050406030204" pitchFamily="18" charset="0"/>
                      </a:rPr>
                      <m:t>→</m:t>
                    </m:r>
                    <m:r>
                      <a:rPr lang="fa-IR" i="1">
                        <a:latin typeface="Cambria Math" panose="02040503050406030204" pitchFamily="18" charset="0"/>
                      </a:rPr>
                      <m:t>𝐵𝐶</m:t>
                    </m:r>
                  </m:oMath>
                </a14:m>
                <a:endParaRPr lang="fa-IR" b="0" dirty="0"/>
              </a:p>
              <a:p>
                <a:pPr algn="r" rtl="1"/>
                <a:r>
                  <a:rPr lang="fa-IR" dirty="0"/>
                  <a:t>اشتراک کل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2</m:t>
                        </m:r>
                      </m:sub>
                    </m:sSub>
                  </m:oMath>
                </a14:m>
                <a:r>
                  <a:rPr lang="fa-IR" dirty="0"/>
                  <a:t>را تعیین می‌کند</a:t>
                </a:r>
                <a:br>
                  <a:rPr lang="fa-IR" dirty="0"/>
                </a:br>
                <a:r>
                  <a:rPr lang="fa-IR" dirty="0"/>
                  <a:t>✔ تجزیه بدون اتلاف</a:t>
                </a:r>
              </a:p>
              <a:p>
                <a:pPr algn="r" rtl="1"/>
                <a:r>
                  <a:rPr lang="fa-IR" b="1" dirty="0"/>
                  <a:t>حالت دوم:</a:t>
                </a:r>
              </a:p>
              <a:p>
                <a:pPr algn="r" rtl="1"/>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d>
                      <m:dPr>
                        <m:sepChr m:val=","/>
                        <m:ctrlPr>
                          <a:rPr lang="fa-IR" i="1">
                            <a:latin typeface="Cambria Math" panose="02040503050406030204" pitchFamily="18" charset="0"/>
                          </a:rPr>
                        </m:ctrlPr>
                      </m:dPr>
                      <m:e>
                        <m:r>
                          <a:rPr lang="fa-IR" i="1">
                            <a:latin typeface="Cambria Math" panose="02040503050406030204" pitchFamily="18" charset="0"/>
                          </a:rPr>
                          <m:t>𝐴</m:t>
                        </m:r>
                      </m:e>
                      <m:e>
                        <m:r>
                          <a:rPr lang="fa-IR" i="1">
                            <a:latin typeface="Cambria Math" panose="02040503050406030204" pitchFamily="18" charset="0"/>
                          </a:rPr>
                          <m:t>𝐵</m:t>
                        </m:r>
                      </m:e>
                    </m:d>
                    <m:r>
                      <a:rPr lang="fa-IR">
                        <a:latin typeface="Cambria Math" panose="02040503050406030204" pitchFamily="18" charset="0"/>
                      </a:rPr>
                      <m:t>,</m:t>
                    </m:r>
                    <m:r>
                      <m:rPr>
                        <m:nor/>
                      </m:rPr>
                      <a:rPr lang="fa-IR" i="1"/>
                      <m:t>  </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2</m:t>
                        </m:r>
                      </m:sub>
                    </m:sSub>
                    <m:d>
                      <m:dPr>
                        <m:sepChr m:val=","/>
                        <m:ctrlPr>
                          <a:rPr lang="fa-IR" i="1">
                            <a:latin typeface="Cambria Math" panose="02040503050406030204" pitchFamily="18" charset="0"/>
                          </a:rPr>
                        </m:ctrlPr>
                      </m:dPr>
                      <m:e>
                        <m:r>
                          <a:rPr lang="fa-IR" i="1">
                            <a:latin typeface="Cambria Math" panose="02040503050406030204" pitchFamily="18" charset="0"/>
                          </a:rPr>
                          <m:t>𝐴</m:t>
                        </m:r>
                      </m:e>
                      <m:e>
                        <m:r>
                          <a:rPr lang="fa-IR" i="1">
                            <a:latin typeface="Cambria Math" panose="02040503050406030204" pitchFamily="18" charset="0"/>
                          </a:rPr>
                          <m:t>𝐶</m:t>
                        </m:r>
                      </m:e>
                    </m:d>
                  </m:oMath>
                </a14:m>
                <a:endParaRPr lang="fa-IR" b="0" dirty="0"/>
              </a:p>
              <a:p>
                <a:pPr algn="r" rtl="1"/>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2</m:t>
                        </m:r>
                      </m:sub>
                    </m:sSub>
                    <m:r>
                      <a:rPr lang="fa-IR">
                        <a:latin typeface="Cambria Math" panose="02040503050406030204" pitchFamily="18" charset="0"/>
                      </a:rPr>
                      <m:t>=</m:t>
                    </m:r>
                    <m:d>
                      <m:dPr>
                        <m:begChr m:val="{"/>
                        <m:endChr m:val="}"/>
                        <m:ctrlPr>
                          <a:rPr lang="fa-IR" i="1">
                            <a:latin typeface="Cambria Math" panose="02040503050406030204" pitchFamily="18" charset="0"/>
                          </a:rPr>
                        </m:ctrlPr>
                      </m:dPr>
                      <m:e>
                        <m:r>
                          <a:rPr lang="fa-IR" i="1">
                            <a:latin typeface="Cambria Math" panose="02040503050406030204" pitchFamily="18" charset="0"/>
                          </a:rPr>
                          <m:t>𝐴</m:t>
                        </m:r>
                      </m:e>
                    </m:d>
                    <m:r>
                      <a:rPr lang="fa-IR">
                        <a:latin typeface="Cambria Math" panose="02040503050406030204" pitchFamily="18" charset="0"/>
                      </a:rPr>
                      <m:t>,</m:t>
                    </m:r>
                    <m:r>
                      <m:rPr>
                        <m:nor/>
                      </m:rPr>
                      <a:rPr lang="fa-IR" i="1"/>
                      <m:t>  </m:t>
                    </m:r>
                    <m:r>
                      <a:rPr lang="fa-IR" i="1">
                        <a:latin typeface="Cambria Math" panose="02040503050406030204" pitchFamily="18" charset="0"/>
                      </a:rPr>
                      <m:t>𝐴</m:t>
                    </m:r>
                    <m:r>
                      <a:rPr lang="fa-IR">
                        <a:latin typeface="Cambria Math" panose="02040503050406030204" pitchFamily="18" charset="0"/>
                      </a:rPr>
                      <m:t>→</m:t>
                    </m:r>
                    <m:r>
                      <a:rPr lang="fa-IR" i="1">
                        <a:latin typeface="Cambria Math" panose="02040503050406030204" pitchFamily="18" charset="0"/>
                      </a:rPr>
                      <m:t>𝐴𝐵</m:t>
                    </m:r>
                  </m:oMath>
                </a14:m>
                <a:endParaRPr lang="fa-IR" b="0" dirty="0"/>
              </a:p>
              <a:p>
                <a:pPr algn="r" rtl="1"/>
                <a:r>
                  <a:rPr lang="fa-IR" dirty="0"/>
                  <a:t>اشتراک کل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oMath>
                </a14:m>
                <a:r>
                  <a:rPr lang="fa-IR" dirty="0"/>
                  <a:t>را تعیین می‌کند</a:t>
                </a:r>
                <a:br>
                  <a:rPr lang="fa-IR" dirty="0"/>
                </a:br>
                <a:r>
                  <a:rPr lang="fa-IR" dirty="0"/>
                  <a:t>✔ تجزیه بدون اتلاف</a:t>
                </a:r>
              </a:p>
              <a:p>
                <a:pPr algn="ctr" rtl="1"/>
                <a:r>
                  <a:rPr lang="fa-IR" b="1" dirty="0"/>
                  <a:t>نتیجه نهایی (نکته امتحانی مهم)</a:t>
                </a:r>
              </a:p>
              <a:p>
                <a:pPr algn="r" rtl="1"/>
                <a:r>
                  <a:rPr lang="fa-IR" b="1" dirty="0"/>
                  <a:t>وجود یکی از دو شرط کافی است.</a:t>
                </a:r>
                <a:br>
                  <a:rPr lang="fa-IR" dirty="0"/>
                </a:br>
                <a:r>
                  <a:rPr lang="fa-IR" dirty="0"/>
                  <a:t>اگر هیچ‌کدام برقرار نباشد، تجزیه </a:t>
                </a:r>
                <a:r>
                  <a:rPr lang="fa-IR" b="1" dirty="0"/>
                  <a:t>با اتلاف</a:t>
                </a:r>
                <a:r>
                  <a:rPr lang="fa-IR" dirty="0"/>
                  <a:t> است.</a:t>
                </a:r>
              </a:p>
            </p:txBody>
          </p:sp>
        </mc:Choice>
        <mc:Fallback xmlns="">
          <p:sp>
            <p:nvSpPr>
              <p:cNvPr id="22531" name="Rectangle 3">
                <a:extLst>
                  <a:ext uri="{FF2B5EF4-FFF2-40B4-BE49-F238E27FC236}">
                    <a16:creationId xmlns:a16="http://schemas.microsoft.com/office/drawing/2014/main" id="{6A452F4A-FBE8-F064-7E29-25382118AF68}"/>
                  </a:ext>
                </a:extLst>
              </p:cNvPr>
              <p:cNvSpPr>
                <a:spLocks noGrp="1" noRot="1" noChangeAspect="1" noMove="1" noResize="1" noEditPoints="1" noAdjustHandles="1" noChangeArrowheads="1" noChangeShapeType="1" noTextEdit="1"/>
              </p:cNvSpPr>
              <p:nvPr>
                <p:ph idx="1"/>
              </p:nvPr>
            </p:nvSpPr>
            <p:spPr>
              <a:xfrm>
                <a:off x="294444" y="1030513"/>
                <a:ext cx="8551106" cy="5581301"/>
              </a:xfrm>
              <a:blipFill>
                <a:blip r:embed="rId3"/>
                <a:stretch>
                  <a:fillRect l="-784" t="-1528" r="-855"/>
                </a:stretch>
              </a:blipFill>
            </p:spPr>
            <p:txBody>
              <a:bodyPr/>
              <a:lstStyle/>
              <a:p>
                <a:r>
                  <a:rPr lang="en-US">
                    <a:noFill/>
                  </a:rPr>
                  <a:t> </a:t>
                </a:r>
              </a:p>
            </p:txBody>
          </p:sp>
        </mc:Fallback>
      </mc:AlternateContent>
    </p:spTree>
    <p:extLst>
      <p:ext uri="{BB962C8B-B14F-4D97-AF65-F5344CB8AC3E}">
        <p14:creationId xmlns:p14="http://schemas.microsoft.com/office/powerpoint/2010/main" val="390262186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56C4EB49-0EEB-CEA9-3AC5-573D6B93876C}"/>
            </a:ext>
          </a:extLst>
        </p:cNvPr>
        <p:cNvGrpSpPr/>
        <p:nvPr/>
      </p:nvGrpSpPr>
      <p:grpSpPr>
        <a:xfrm>
          <a:off x="0" y="0"/>
          <a:ext cx="0" cy="0"/>
          <a:chOff x="0" y="0"/>
          <a:chExt cx="0" cy="0"/>
        </a:xfrm>
      </p:grpSpPr>
      <p:sp>
        <p:nvSpPr>
          <p:cNvPr id="926722" name="Rectangle 2">
            <a:extLst>
              <a:ext uri="{FF2B5EF4-FFF2-40B4-BE49-F238E27FC236}">
                <a16:creationId xmlns:a16="http://schemas.microsoft.com/office/drawing/2014/main" id="{08EB07B8-5719-9759-1221-1ADAC5DB0161}"/>
              </a:ext>
            </a:extLst>
          </p:cNvPr>
          <p:cNvSpPr>
            <a:spLocks noGrp="1" noChangeArrowheads="1"/>
          </p:cNvSpPr>
          <p:nvPr>
            <p:ph type="title"/>
          </p:nvPr>
        </p:nvSpPr>
        <p:spPr/>
        <p:txBody>
          <a:bodyPr/>
          <a:lstStyle/>
          <a:p>
            <a:pPr>
              <a:defRPr/>
            </a:pPr>
            <a:r>
              <a:rPr lang="en-US" sz="2800" dirty="0">
                <a:ea typeface="ＭＳ Ｐゴシック" pitchFamily="34" charset="-128"/>
              </a:rPr>
              <a:t>Example</a:t>
            </a:r>
          </a:p>
        </p:txBody>
      </p:sp>
      <p:sp>
        <p:nvSpPr>
          <p:cNvPr id="926723" name="Rectangle 3">
            <a:extLst>
              <a:ext uri="{FF2B5EF4-FFF2-40B4-BE49-F238E27FC236}">
                <a16:creationId xmlns:a16="http://schemas.microsoft.com/office/drawing/2014/main" id="{E1D8F4C5-A577-C1FA-CEA4-3451CD42644A}"/>
              </a:ext>
            </a:extLst>
          </p:cNvPr>
          <p:cNvSpPr>
            <a:spLocks noGrp="1" noChangeArrowheads="1"/>
          </p:cNvSpPr>
          <p:nvPr>
            <p:ph idx="1"/>
          </p:nvPr>
        </p:nvSpPr>
        <p:spPr>
          <a:xfrm>
            <a:off x="508000" y="972458"/>
            <a:ext cx="8337549" cy="5573486"/>
          </a:xfrm>
        </p:spPr>
        <p:txBody>
          <a:bodyPr/>
          <a:lstStyle/>
          <a:p>
            <a:pPr marL="0" indent="0" algn="r" rtl="1">
              <a:buNone/>
            </a:pPr>
            <a:r>
              <a:rPr lang="fa-IR" sz="1800" dirty="0"/>
              <a:t>رابطه زیر را داریم:</a:t>
            </a:r>
          </a:p>
          <a:p>
            <a:pPr marL="0" indent="0" algn="r" rtl="1">
              <a:buNone/>
            </a:pPr>
            <a:r>
              <a:rPr lang="en-US" sz="1800" dirty="0"/>
              <a:t>R(A, B, C)</a:t>
            </a:r>
          </a:p>
          <a:p>
            <a:pPr marL="0" indent="0" algn="r" rtl="1">
              <a:buNone/>
            </a:pPr>
            <a:r>
              <a:rPr lang="fa-IR" sz="1800" dirty="0"/>
              <a:t>وابستگی‌های تابعی:</a:t>
            </a:r>
          </a:p>
          <a:p>
            <a:pPr marL="0" indent="0" algn="r" rtl="1">
              <a:buNone/>
            </a:pPr>
            <a:r>
              <a:rPr lang="en-US" sz="1800" dirty="0"/>
              <a:t>F = { A → B , B → C }</a:t>
            </a:r>
          </a:p>
          <a:p>
            <a:pPr marL="0" indent="0" algn="r" rtl="1">
              <a:buNone/>
            </a:pPr>
            <a:r>
              <a:rPr lang="fa-IR" sz="1800" dirty="0"/>
              <a:t>یعنی:</a:t>
            </a:r>
          </a:p>
          <a:p>
            <a:pPr marL="0" indent="0" algn="r" rtl="1">
              <a:buNone/>
            </a:pPr>
            <a:r>
              <a:rPr lang="fa-IR" sz="1800" dirty="0"/>
              <a:t>با دانستن </a:t>
            </a:r>
            <a:r>
              <a:rPr lang="en-US" sz="1800" dirty="0"/>
              <a:t>A </a:t>
            </a:r>
            <a:r>
              <a:rPr lang="fa-IR" sz="1800" dirty="0"/>
              <a:t>مقدار </a:t>
            </a:r>
            <a:r>
              <a:rPr lang="en-US" sz="1800" dirty="0"/>
              <a:t>B </a:t>
            </a:r>
            <a:r>
              <a:rPr lang="fa-IR" sz="1800" dirty="0"/>
              <a:t>مشخص می‌شود.</a:t>
            </a:r>
          </a:p>
          <a:p>
            <a:pPr marL="0" indent="0" algn="r" rtl="1">
              <a:buNone/>
            </a:pPr>
            <a:r>
              <a:rPr lang="fa-IR" sz="1800" dirty="0"/>
              <a:t>با دانستن </a:t>
            </a:r>
            <a:r>
              <a:rPr lang="en-US" sz="1800" dirty="0"/>
              <a:t>B </a:t>
            </a:r>
            <a:r>
              <a:rPr lang="fa-IR" sz="1800" dirty="0"/>
              <a:t>مقدار </a:t>
            </a:r>
            <a:r>
              <a:rPr lang="en-US" sz="1800" dirty="0"/>
              <a:t>C </a:t>
            </a:r>
            <a:r>
              <a:rPr lang="fa-IR" sz="1800" dirty="0"/>
              <a:t>مشخص می‌شود.</a:t>
            </a:r>
          </a:p>
          <a:p>
            <a:pPr marL="0" indent="0" algn="r" rtl="1">
              <a:buNone/>
            </a:pPr>
            <a:r>
              <a:rPr lang="fa-IR" sz="1800" dirty="0"/>
              <a:t>در نتیجه به‌صورت زنجیره‌ای:</a:t>
            </a:r>
            <a:br>
              <a:rPr lang="fa-IR" sz="1800" dirty="0"/>
            </a:br>
            <a:r>
              <a:rPr lang="en-US" sz="1800" dirty="0"/>
              <a:t>A → C </a:t>
            </a:r>
            <a:r>
              <a:rPr lang="fa-IR" sz="1800" dirty="0"/>
              <a:t>نیز برقرار است.</a:t>
            </a:r>
            <a:endParaRPr lang="en-US" sz="1800" dirty="0"/>
          </a:p>
          <a:p>
            <a:pPr marL="0" indent="0" algn="r" rtl="1">
              <a:buNone/>
            </a:pPr>
            <a:endParaRPr lang="fa-IR" sz="1800" dirty="0"/>
          </a:p>
        </p:txBody>
      </p:sp>
    </p:spTree>
    <p:extLst>
      <p:ext uri="{BB962C8B-B14F-4D97-AF65-F5344CB8AC3E}">
        <p14:creationId xmlns:p14="http://schemas.microsoft.com/office/powerpoint/2010/main" val="332985918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AC43F246-0072-AEDE-3C56-61819D632CF2}"/>
            </a:ext>
          </a:extLst>
        </p:cNvPr>
        <p:cNvGrpSpPr/>
        <p:nvPr/>
      </p:nvGrpSpPr>
      <p:grpSpPr>
        <a:xfrm>
          <a:off x="0" y="0"/>
          <a:ext cx="0" cy="0"/>
          <a:chOff x="0" y="0"/>
          <a:chExt cx="0" cy="0"/>
        </a:xfrm>
      </p:grpSpPr>
      <p:sp>
        <p:nvSpPr>
          <p:cNvPr id="926722" name="Rectangle 2">
            <a:extLst>
              <a:ext uri="{FF2B5EF4-FFF2-40B4-BE49-F238E27FC236}">
                <a16:creationId xmlns:a16="http://schemas.microsoft.com/office/drawing/2014/main" id="{2402B2FA-52F9-73ED-2DEB-9ECDFC030872}"/>
              </a:ext>
            </a:extLst>
          </p:cNvPr>
          <p:cNvSpPr>
            <a:spLocks noGrp="1" noChangeArrowheads="1"/>
          </p:cNvSpPr>
          <p:nvPr>
            <p:ph type="title"/>
          </p:nvPr>
        </p:nvSpPr>
        <p:spPr/>
        <p:txBody>
          <a:bodyPr/>
          <a:lstStyle/>
          <a:p>
            <a:pPr>
              <a:defRPr/>
            </a:pPr>
            <a:r>
              <a:rPr lang="en-US" sz="2800" dirty="0">
                <a:ea typeface="ＭＳ Ｐゴシック" pitchFamily="34" charset="-128"/>
              </a:rPr>
              <a:t>Example</a:t>
            </a:r>
          </a:p>
        </p:txBody>
      </p:sp>
      <p:sp>
        <p:nvSpPr>
          <p:cNvPr id="926723" name="Rectangle 3">
            <a:extLst>
              <a:ext uri="{FF2B5EF4-FFF2-40B4-BE49-F238E27FC236}">
                <a16:creationId xmlns:a16="http://schemas.microsoft.com/office/drawing/2014/main" id="{4F7DA3A5-E1C9-02EB-0E3B-F269923E87F1}"/>
              </a:ext>
            </a:extLst>
          </p:cNvPr>
          <p:cNvSpPr>
            <a:spLocks noGrp="1" noChangeArrowheads="1"/>
          </p:cNvSpPr>
          <p:nvPr>
            <p:ph idx="1"/>
          </p:nvPr>
        </p:nvSpPr>
        <p:spPr>
          <a:xfrm>
            <a:off x="508000" y="972458"/>
            <a:ext cx="8337549" cy="5573486"/>
          </a:xfrm>
        </p:spPr>
        <p:txBody>
          <a:bodyPr/>
          <a:lstStyle/>
          <a:p>
            <a:pPr marL="0" indent="0" algn="r" rtl="1">
              <a:buNone/>
            </a:pPr>
            <a:r>
              <a:rPr lang="fa-IR" sz="1600" dirty="0"/>
              <a:t>رابطه زیر را داریم:</a:t>
            </a:r>
            <a:r>
              <a:rPr lang="en-US" sz="1600" dirty="0"/>
              <a:t> R(A, B, C)</a:t>
            </a:r>
          </a:p>
          <a:p>
            <a:pPr marL="0" indent="0" algn="r" rtl="1">
              <a:buNone/>
            </a:pPr>
            <a:r>
              <a:rPr lang="fa-IR" sz="1600" dirty="0"/>
              <a:t>وابستگی‌های تابعی:</a:t>
            </a:r>
          </a:p>
          <a:p>
            <a:pPr marL="0" indent="0" algn="r" rtl="1">
              <a:buNone/>
            </a:pPr>
            <a:r>
              <a:rPr lang="en-US" sz="1600" dirty="0"/>
              <a:t>F = { A → B , B → C }</a:t>
            </a:r>
          </a:p>
          <a:p>
            <a:pPr marL="0" indent="0" algn="r" rtl="1">
              <a:buNone/>
            </a:pPr>
            <a:endParaRPr lang="fa-IR" sz="110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4E738E69-009A-1B18-8794-6B30B36DA979}"/>
                  </a:ext>
                </a:extLst>
              </p:cNvPr>
              <p:cNvSpPr txBox="1"/>
              <p:nvPr/>
            </p:nvSpPr>
            <p:spPr>
              <a:xfrm>
                <a:off x="99989" y="2859259"/>
                <a:ext cx="4572000" cy="3416320"/>
              </a:xfrm>
              <a:prstGeom prst="rect">
                <a:avLst/>
              </a:prstGeom>
              <a:noFill/>
            </p:spPr>
            <p:txBody>
              <a:bodyPr wrap="square">
                <a:spAutoFit/>
              </a:bodyPr>
              <a:lstStyle/>
              <a:p>
                <a:pPr algn="r" rtl="1">
                  <a:buNone/>
                </a:pPr>
                <a:r>
                  <a:rPr lang="fa-IR" sz="1800" b="1" dirty="0">
                    <a:cs typeface="B Nazanin" panose="00000400000000000000" pitchFamily="2" charset="-78"/>
                  </a:rPr>
                  <a:t>حالت دوم: تجزیه به </a:t>
                </a:r>
                <a:r>
                  <a:rPr lang="en-US" sz="1800" b="1" dirty="0">
                    <a:cs typeface="B Nazanin" panose="00000400000000000000" pitchFamily="2" charset="-78"/>
                  </a:rPr>
                  <a:t>R1 </a:t>
                </a:r>
                <a:r>
                  <a:rPr lang="fa-IR" sz="1800" b="1" dirty="0">
                    <a:cs typeface="B Nazanin" panose="00000400000000000000" pitchFamily="2" charset="-78"/>
                  </a:rPr>
                  <a:t>و </a:t>
                </a:r>
                <a:r>
                  <a:rPr lang="en-US" sz="1800" b="1" dirty="0">
                    <a:cs typeface="B Nazanin" panose="00000400000000000000" pitchFamily="2" charset="-78"/>
                  </a:rPr>
                  <a:t>R2</a:t>
                </a:r>
              </a:p>
              <a:p>
                <a:pPr rtl="1">
                  <a:buNone/>
                </a:pPr>
                <a:r>
                  <a:rPr lang="en-US" sz="1800" dirty="0">
                    <a:cs typeface="B Nazanin" panose="00000400000000000000" pitchFamily="2" charset="-78"/>
                  </a:rPr>
                  <a:t>R1(A, B)</a:t>
                </a:r>
                <a:br>
                  <a:rPr lang="en-US" sz="1800" dirty="0">
                    <a:cs typeface="B Nazanin" panose="00000400000000000000" pitchFamily="2" charset="-78"/>
                  </a:rPr>
                </a:br>
                <a:r>
                  <a:rPr lang="en-US" sz="1800" dirty="0">
                    <a:cs typeface="B Nazanin" panose="00000400000000000000" pitchFamily="2" charset="-78"/>
                  </a:rPr>
                  <a:t>R2(A, C)</a:t>
                </a:r>
              </a:p>
              <a:p>
                <a:pPr algn="r" rtl="1">
                  <a:buNone/>
                </a:pPr>
                <a:r>
                  <a:rPr lang="fa-IR" sz="1800" dirty="0">
                    <a:cs typeface="B Nazanin" panose="00000400000000000000" pitchFamily="2" charset="-78"/>
                  </a:rPr>
                  <a:t>شرط تجزیه بدون اتلاف</a:t>
                </a:r>
              </a:p>
              <a:p>
                <a:pPr algn="r" rtl="1">
                  <a:buFont typeface="Arial" panose="020B0604020202020204" pitchFamily="34" charset="0"/>
                  <a:buChar char="•"/>
                </a:pPr>
                <a:r>
                  <a:rPr lang="fa-IR" sz="1800" dirty="0">
                    <a:cs typeface="B Nazanin" panose="00000400000000000000" pitchFamily="2" charset="-78"/>
                  </a:rPr>
                  <a:t>اشتراک:</a:t>
                </a:r>
              </a:p>
              <a:p>
                <a:pPr algn="r" rtl="1">
                  <a:buNone/>
                </a:pPr>
                <a14:m>
                  <m:oMathPara xmlns:m="http://schemas.openxmlformats.org/officeDocument/2006/math">
                    <m:oMathParaPr>
                      <m:jc m:val="centerGroup"/>
                    </m:oMathParaPr>
                    <m:oMath xmlns:m="http://schemas.openxmlformats.org/officeDocument/2006/math">
                      <m:r>
                        <a:rPr lang="fa-IR" sz="1800" b="0" i="1" smtClean="0">
                          <a:latin typeface="Cambria Math" panose="02040503050406030204" pitchFamily="18" charset="0"/>
                        </a:rPr>
                        <m:t>𝑅</m:t>
                      </m:r>
                      <m:r>
                        <a:rPr lang="fa-IR" sz="1800" b="0" i="0" smtClean="0">
                          <a:latin typeface="Cambria Math" panose="02040503050406030204" pitchFamily="18" charset="0"/>
                        </a:rPr>
                        <m:t>1</m:t>
                      </m:r>
                      <m:r>
                        <a:rPr lang="fa-IR" sz="1800" b="0" i="0" smtClean="0">
                          <a:latin typeface="Cambria Math" panose="02040503050406030204" pitchFamily="18" charset="0"/>
                        </a:rPr>
                        <m:t>∩</m:t>
                      </m:r>
                      <m:r>
                        <a:rPr lang="fa-IR" sz="1800" b="0" i="1" smtClean="0">
                          <a:latin typeface="Cambria Math" panose="02040503050406030204" pitchFamily="18" charset="0"/>
                        </a:rPr>
                        <m:t>𝑅</m:t>
                      </m:r>
                      <m:r>
                        <a:rPr lang="fa-IR" sz="1800" b="0" i="0" smtClean="0">
                          <a:latin typeface="Cambria Math" panose="02040503050406030204" pitchFamily="18" charset="0"/>
                        </a:rPr>
                        <m:t>2</m:t>
                      </m:r>
                      <m:r>
                        <a:rPr lang="fa-IR" sz="1800" b="0" i="0" smtClean="0">
                          <a:latin typeface="Cambria Math" panose="02040503050406030204" pitchFamily="18" charset="0"/>
                        </a:rPr>
                        <m:t>=</m:t>
                      </m:r>
                      <m:d>
                        <m:dPr>
                          <m:begChr m:val="{"/>
                          <m:endChr m:val="}"/>
                          <m:ctrlPr>
                            <a:rPr lang="fa-IR" sz="1800" i="1">
                              <a:latin typeface="Cambria Math" panose="02040503050406030204" pitchFamily="18" charset="0"/>
                            </a:rPr>
                          </m:ctrlPr>
                        </m:dPr>
                        <m:e>
                          <m:r>
                            <a:rPr lang="fa-IR" sz="1800" b="0" i="1" smtClean="0">
                              <a:latin typeface="Cambria Math" panose="02040503050406030204" pitchFamily="18" charset="0"/>
                            </a:rPr>
                            <m:t>𝐴</m:t>
                          </m:r>
                        </m:e>
                      </m:d>
                    </m:oMath>
                  </m:oMathPara>
                </a14:m>
                <a:endParaRPr lang="fa-IR" sz="1800" dirty="0">
                  <a:cs typeface="B Nazanin" panose="00000400000000000000" pitchFamily="2" charset="-78"/>
                </a:endParaRPr>
              </a:p>
              <a:p>
                <a:pPr algn="r" rtl="1">
                  <a:buFont typeface="Arial" panose="020B0604020202020204" pitchFamily="34" charset="0"/>
                  <a:buChar char="•"/>
                </a:pPr>
                <a:r>
                  <a:rPr lang="fa-IR" sz="1800" dirty="0">
                    <a:cs typeface="B Nazanin" panose="00000400000000000000" pitchFamily="2" charset="-78"/>
                  </a:rPr>
                  <a:t>بررسی وابستگی:</a:t>
                </a:r>
              </a:p>
              <a:p>
                <a:pPr algn="r" rtl="1">
                  <a:buNone/>
                </a:pPr>
                <a14:m>
                  <m:oMathPara xmlns:m="http://schemas.openxmlformats.org/officeDocument/2006/math">
                    <m:oMathParaPr>
                      <m:jc m:val="centerGroup"/>
                    </m:oMathParaPr>
                    <m:oMath xmlns:m="http://schemas.openxmlformats.org/officeDocument/2006/math">
                      <m:r>
                        <a:rPr lang="fa-IR" sz="1800" b="0" i="1" smtClean="0">
                          <a:latin typeface="Cambria Math" panose="02040503050406030204" pitchFamily="18" charset="0"/>
                        </a:rPr>
                        <m:t>𝐴</m:t>
                      </m:r>
                      <m:r>
                        <a:rPr lang="fa-IR" sz="1800" b="0" i="0" smtClean="0">
                          <a:latin typeface="Cambria Math" panose="02040503050406030204" pitchFamily="18" charset="0"/>
                        </a:rPr>
                        <m:t>→</m:t>
                      </m:r>
                      <m:r>
                        <a:rPr lang="fa-IR" sz="1800" b="0" i="1" smtClean="0">
                          <a:latin typeface="Cambria Math" panose="02040503050406030204" pitchFamily="18" charset="0"/>
                        </a:rPr>
                        <m:t>𝐴𝐵</m:t>
                      </m:r>
                    </m:oMath>
                  </m:oMathPara>
                </a14:m>
                <a:endParaRPr lang="fa-IR" sz="1800" dirty="0">
                  <a:cs typeface="B Nazanin" panose="00000400000000000000" pitchFamily="2" charset="-78"/>
                </a:endParaRPr>
              </a:p>
              <a:p>
                <a:pPr algn="r" rtl="1">
                  <a:buNone/>
                </a:pPr>
                <a:r>
                  <a:rPr lang="fa-IR" sz="1800" dirty="0">
                    <a:cs typeface="B Nazanin" panose="00000400000000000000" pitchFamily="2" charset="-78"/>
                  </a:rPr>
                  <a:t>یعنی با دانستن </a:t>
                </a:r>
                <a:r>
                  <a:rPr lang="en-US" sz="1800" dirty="0">
                    <a:cs typeface="B Nazanin" panose="00000400000000000000" pitchFamily="2" charset="-78"/>
                  </a:rPr>
                  <a:t>A </a:t>
                </a:r>
                <a:r>
                  <a:rPr lang="fa-IR" sz="1800" dirty="0">
                    <a:cs typeface="B Nazanin" panose="00000400000000000000" pitchFamily="2" charset="-78"/>
                  </a:rPr>
                  <a:t>می‌توان کل </a:t>
                </a:r>
                <a:r>
                  <a:rPr lang="en-US" sz="1800" dirty="0">
                    <a:cs typeface="B Nazanin" panose="00000400000000000000" pitchFamily="2" charset="-78"/>
                  </a:rPr>
                  <a:t>R1(A, B) </a:t>
                </a:r>
                <a:r>
                  <a:rPr lang="fa-IR" sz="1800" dirty="0">
                    <a:cs typeface="B Nazanin" panose="00000400000000000000" pitchFamily="2" charset="-78"/>
                  </a:rPr>
                  <a:t>را به‌دست آورد.</a:t>
                </a:r>
              </a:p>
              <a:p>
                <a:pPr algn="r" rtl="1">
                  <a:buNone/>
                </a:pPr>
                <a:r>
                  <a:rPr lang="fa-IR" sz="1800" dirty="0">
                    <a:cs typeface="B Nazanin" panose="00000400000000000000" pitchFamily="2" charset="-78"/>
                  </a:rPr>
                  <a:t>نتیجه</a:t>
                </a:r>
              </a:p>
              <a:p>
                <a:pPr algn="r" rtl="1">
                  <a:buNone/>
                </a:pPr>
                <a:r>
                  <a:rPr lang="fa-IR" sz="1800" dirty="0">
                    <a:cs typeface="B Nazanin" panose="00000400000000000000" pitchFamily="2" charset="-78"/>
                  </a:rPr>
                  <a:t>این تجزیه هم بدون اتلاف است، چون اشتراک </a:t>
                </a:r>
                <a:r>
                  <a:rPr lang="en-US" sz="1800" dirty="0">
                    <a:cs typeface="B Nazanin" panose="00000400000000000000" pitchFamily="2" charset="-78"/>
                  </a:rPr>
                  <a:t>A </a:t>
                </a:r>
                <a:r>
                  <a:rPr lang="fa-IR" sz="1800" dirty="0">
                    <a:cs typeface="B Nazanin" panose="00000400000000000000" pitchFamily="2" charset="-78"/>
                  </a:rPr>
                  <a:t>یک کلید برای </a:t>
                </a:r>
                <a:r>
                  <a:rPr lang="en-US" sz="1800" dirty="0">
                    <a:cs typeface="B Nazanin" panose="00000400000000000000" pitchFamily="2" charset="-78"/>
                  </a:rPr>
                  <a:t>R1 </a:t>
                </a:r>
                <a:r>
                  <a:rPr lang="fa-IR" sz="1800" dirty="0">
                    <a:cs typeface="B Nazanin" panose="00000400000000000000" pitchFamily="2" charset="-78"/>
                  </a:rPr>
                  <a:t>است.</a:t>
                </a:r>
              </a:p>
            </p:txBody>
          </p:sp>
        </mc:Choice>
        <mc:Fallback xmlns="">
          <p:sp>
            <p:nvSpPr>
              <p:cNvPr id="3" name="TextBox 2">
                <a:extLst>
                  <a:ext uri="{FF2B5EF4-FFF2-40B4-BE49-F238E27FC236}">
                    <a16:creationId xmlns:a16="http://schemas.microsoft.com/office/drawing/2014/main" id="{4E738E69-009A-1B18-8794-6B30B36DA979}"/>
                  </a:ext>
                </a:extLst>
              </p:cNvPr>
              <p:cNvSpPr txBox="1">
                <a:spLocks noRot="1" noChangeAspect="1" noMove="1" noResize="1" noEditPoints="1" noAdjustHandles="1" noChangeArrowheads="1" noChangeShapeType="1" noTextEdit="1"/>
              </p:cNvSpPr>
              <p:nvPr/>
            </p:nvSpPr>
            <p:spPr>
              <a:xfrm>
                <a:off x="99989" y="2859259"/>
                <a:ext cx="4572000" cy="3416320"/>
              </a:xfrm>
              <a:prstGeom prst="rect">
                <a:avLst/>
              </a:prstGeom>
              <a:blipFill>
                <a:blip r:embed="rId3"/>
                <a:stretch>
                  <a:fillRect l="-2000" t="-1607" r="-1333" b="-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6EC2F15-2D3D-AE0D-E782-89211AF5E56C}"/>
                  </a:ext>
                </a:extLst>
              </p:cNvPr>
              <p:cNvSpPr txBox="1"/>
              <p:nvPr/>
            </p:nvSpPr>
            <p:spPr>
              <a:xfrm>
                <a:off x="5098023" y="2539218"/>
                <a:ext cx="3806826" cy="3908762"/>
              </a:xfrm>
              <a:prstGeom prst="rect">
                <a:avLst/>
              </a:prstGeom>
              <a:noFill/>
            </p:spPr>
            <p:txBody>
              <a:bodyPr wrap="square">
                <a:spAutoFit/>
              </a:bodyPr>
              <a:lstStyle/>
              <a:p>
                <a:pPr marL="0" indent="0" algn="r" rtl="1">
                  <a:buNone/>
                </a:pPr>
                <a:r>
                  <a:rPr lang="fa-IR" sz="1600" b="1" dirty="0">
                    <a:cs typeface="B Nazanin" panose="00000400000000000000" pitchFamily="2" charset="-78"/>
                  </a:rPr>
                  <a:t>حالت اول: تجزیه به </a:t>
                </a:r>
                <a:r>
                  <a:rPr lang="en-US" sz="1600" b="1" dirty="0">
                    <a:cs typeface="B Nazanin" panose="00000400000000000000" pitchFamily="2" charset="-78"/>
                  </a:rPr>
                  <a:t>R1 </a:t>
                </a:r>
                <a:r>
                  <a:rPr lang="fa-IR" sz="1600" b="1" dirty="0">
                    <a:cs typeface="B Nazanin" panose="00000400000000000000" pitchFamily="2" charset="-78"/>
                  </a:rPr>
                  <a:t>و </a:t>
                </a:r>
                <a:r>
                  <a:rPr lang="en-US" sz="1600" b="1" dirty="0">
                    <a:cs typeface="B Nazanin" panose="00000400000000000000" pitchFamily="2" charset="-78"/>
                  </a:rPr>
                  <a:t>R2</a:t>
                </a:r>
              </a:p>
              <a:p>
                <a:pPr marL="0" indent="0" algn="l">
                  <a:buNone/>
                </a:pPr>
                <a:r>
                  <a:rPr lang="en-US" sz="1600" dirty="0">
                    <a:cs typeface="B Nazanin" panose="00000400000000000000" pitchFamily="2" charset="-78"/>
                  </a:rPr>
                  <a:t>R1(A, B)</a:t>
                </a:r>
                <a:br>
                  <a:rPr lang="en-US" sz="1600" dirty="0">
                    <a:cs typeface="B Nazanin" panose="00000400000000000000" pitchFamily="2" charset="-78"/>
                  </a:rPr>
                </a:br>
                <a:r>
                  <a:rPr lang="en-US" sz="1600" dirty="0">
                    <a:cs typeface="B Nazanin" panose="00000400000000000000" pitchFamily="2" charset="-78"/>
                  </a:rPr>
                  <a:t>R2(B, C)</a:t>
                </a:r>
              </a:p>
              <a:p>
                <a:pPr marL="0" indent="0" algn="r" rtl="1">
                  <a:buNone/>
                </a:pPr>
                <a:r>
                  <a:rPr lang="fa-IR" sz="1600" b="1" dirty="0">
                    <a:cs typeface="B Nazanin" panose="00000400000000000000" pitchFamily="2" charset="-78"/>
                  </a:rPr>
                  <a:t>شرط تجزیه بدون اتلاف</a:t>
                </a:r>
              </a:p>
              <a:p>
                <a:pPr marL="0" indent="0" algn="r" rtl="1">
                  <a:buNone/>
                </a:pPr>
                <a:r>
                  <a:rPr lang="fa-IR" sz="1600" dirty="0">
                    <a:cs typeface="B Nazanin" panose="00000400000000000000" pitchFamily="2" charset="-78"/>
                  </a:rPr>
                  <a:t>برای بدون اتلاف بودن تجزیه، باید اشتراک دو رابطه بتواند یکی از آن‌ها را تعیین کند.</a:t>
                </a:r>
              </a:p>
              <a:p>
                <a:pPr marL="0" indent="0" algn="r" rtl="1">
                  <a:buNone/>
                </a:pPr>
                <a:r>
                  <a:rPr lang="fa-IR" sz="1600" dirty="0">
                    <a:cs typeface="B Nazanin" panose="00000400000000000000" pitchFamily="2" charset="-78"/>
                  </a:rPr>
                  <a:t>اشتراک:</a:t>
                </a:r>
              </a:p>
              <a:p>
                <a:pPr marL="0" indent="0" algn="r" rtl="1">
                  <a:buNone/>
                </a:pPr>
                <a14:m>
                  <m:oMathPara xmlns:m="http://schemas.openxmlformats.org/officeDocument/2006/math">
                    <m:oMathParaPr>
                      <m:jc m:val="centerGroup"/>
                    </m:oMathParaPr>
                    <m:oMath xmlns:m="http://schemas.openxmlformats.org/officeDocument/2006/math">
                      <m:r>
                        <a:rPr lang="fa-IR" i="1">
                          <a:latin typeface="Cambria Math" panose="02040503050406030204" pitchFamily="18" charset="0"/>
                        </a:rPr>
                        <m:t>𝑅</m:t>
                      </m:r>
                      <m:r>
                        <a:rPr lang="fa-IR">
                          <a:latin typeface="Cambria Math" panose="02040503050406030204" pitchFamily="18" charset="0"/>
                        </a:rPr>
                        <m:t>1</m:t>
                      </m:r>
                      <m:r>
                        <a:rPr lang="fa-IR">
                          <a:latin typeface="Cambria Math" panose="02040503050406030204" pitchFamily="18" charset="0"/>
                        </a:rPr>
                        <m:t>∩</m:t>
                      </m:r>
                      <m:r>
                        <a:rPr lang="fa-IR" i="1">
                          <a:latin typeface="Cambria Math" panose="02040503050406030204" pitchFamily="18" charset="0"/>
                        </a:rPr>
                        <m:t>𝑅</m:t>
                      </m:r>
                      <m:r>
                        <a:rPr lang="fa-IR">
                          <a:latin typeface="Cambria Math" panose="02040503050406030204" pitchFamily="18" charset="0"/>
                        </a:rPr>
                        <m:t>2</m:t>
                      </m:r>
                      <m:r>
                        <a:rPr lang="fa-IR">
                          <a:latin typeface="Cambria Math" panose="02040503050406030204" pitchFamily="18" charset="0"/>
                        </a:rPr>
                        <m:t>=</m:t>
                      </m:r>
                      <m:d>
                        <m:dPr>
                          <m:begChr m:val="{"/>
                          <m:endChr m:val="}"/>
                          <m:ctrlPr>
                            <a:rPr lang="fa-IR" i="1">
                              <a:latin typeface="Cambria Math" panose="02040503050406030204" pitchFamily="18" charset="0"/>
                            </a:rPr>
                          </m:ctrlPr>
                        </m:dPr>
                        <m:e>
                          <m:r>
                            <a:rPr lang="fa-IR" i="1">
                              <a:latin typeface="Cambria Math" panose="02040503050406030204" pitchFamily="18" charset="0"/>
                            </a:rPr>
                            <m:t>𝐵</m:t>
                          </m:r>
                        </m:e>
                      </m:d>
                    </m:oMath>
                  </m:oMathPara>
                </a14:m>
                <a:endParaRPr lang="fa-IR" sz="1600" dirty="0">
                  <a:cs typeface="B Nazanin" panose="00000400000000000000" pitchFamily="2" charset="-78"/>
                </a:endParaRPr>
              </a:p>
              <a:p>
                <a:pPr marL="0" indent="0" algn="r" rtl="1">
                  <a:buNone/>
                </a:pPr>
                <a:r>
                  <a:rPr lang="fa-IR" sz="1600" dirty="0">
                    <a:cs typeface="B Nazanin" panose="00000400000000000000" pitchFamily="2" charset="-78"/>
                  </a:rPr>
                  <a:t>بررسی وابستگی:</a:t>
                </a:r>
              </a:p>
              <a:p>
                <a:pPr marL="0" indent="0" algn="r" rtl="1">
                  <a:buNone/>
                </a:pPr>
                <a14:m>
                  <m:oMathPara xmlns:m="http://schemas.openxmlformats.org/officeDocument/2006/math">
                    <m:oMathParaPr>
                      <m:jc m:val="centerGroup"/>
                    </m:oMathParaPr>
                    <m:oMath xmlns:m="http://schemas.openxmlformats.org/officeDocument/2006/math">
                      <m:r>
                        <a:rPr lang="fa-IR" sz="2400" i="1">
                          <a:latin typeface="Cambria Math" panose="02040503050406030204" pitchFamily="18" charset="0"/>
                        </a:rPr>
                        <m:t>𝐵</m:t>
                      </m:r>
                      <m:r>
                        <a:rPr lang="fa-IR" sz="2400">
                          <a:latin typeface="Cambria Math" panose="02040503050406030204" pitchFamily="18" charset="0"/>
                        </a:rPr>
                        <m:t>→</m:t>
                      </m:r>
                      <m:r>
                        <a:rPr lang="fa-IR" sz="2400" i="1">
                          <a:latin typeface="Cambria Math" panose="02040503050406030204" pitchFamily="18" charset="0"/>
                        </a:rPr>
                        <m:t>𝐵𝐶</m:t>
                      </m:r>
                    </m:oMath>
                  </m:oMathPara>
                </a14:m>
                <a:endParaRPr lang="fa-IR" sz="1200" dirty="0">
                  <a:cs typeface="B Nazanin" panose="00000400000000000000" pitchFamily="2" charset="-78"/>
                </a:endParaRPr>
              </a:p>
              <a:p>
                <a:pPr marL="0" indent="0" algn="r" rtl="1">
                  <a:buNone/>
                </a:pPr>
                <a:r>
                  <a:rPr lang="fa-IR" sz="1600" dirty="0">
                    <a:cs typeface="B Nazanin" panose="00000400000000000000" pitchFamily="2" charset="-78"/>
                  </a:rPr>
                  <a:t>یعنی با دانستن </a:t>
                </a:r>
                <a:r>
                  <a:rPr lang="en-US" sz="1600" b="1" dirty="0">
                    <a:cs typeface="B Nazanin" panose="00000400000000000000" pitchFamily="2" charset="-78"/>
                  </a:rPr>
                  <a:t>B</a:t>
                </a:r>
                <a:r>
                  <a:rPr lang="en-US" sz="1600" dirty="0">
                    <a:cs typeface="B Nazanin" panose="00000400000000000000" pitchFamily="2" charset="-78"/>
                  </a:rPr>
                  <a:t> </a:t>
                </a:r>
                <a:r>
                  <a:rPr lang="fa-IR" sz="1600" dirty="0">
                    <a:cs typeface="B Nazanin" panose="00000400000000000000" pitchFamily="2" charset="-78"/>
                  </a:rPr>
                  <a:t>می‌توان کل </a:t>
                </a:r>
                <a:r>
                  <a:rPr lang="en-US" sz="1600" b="1" dirty="0">
                    <a:cs typeface="B Nazanin" panose="00000400000000000000" pitchFamily="2" charset="-78"/>
                  </a:rPr>
                  <a:t>R2(B, C)</a:t>
                </a:r>
                <a:r>
                  <a:rPr lang="en-US" sz="1600" dirty="0">
                    <a:cs typeface="B Nazanin" panose="00000400000000000000" pitchFamily="2" charset="-78"/>
                  </a:rPr>
                  <a:t> </a:t>
                </a:r>
                <a:r>
                  <a:rPr lang="fa-IR" sz="1600" dirty="0">
                    <a:cs typeface="B Nazanin" panose="00000400000000000000" pitchFamily="2" charset="-78"/>
                  </a:rPr>
                  <a:t>را به‌دست آورد.</a:t>
                </a:r>
              </a:p>
              <a:p>
                <a:pPr marL="0" indent="0" algn="r" rtl="1">
                  <a:buNone/>
                </a:pPr>
                <a:r>
                  <a:rPr lang="fa-IR" sz="1600" b="1" dirty="0">
                    <a:cs typeface="B Nazanin" panose="00000400000000000000" pitchFamily="2" charset="-78"/>
                  </a:rPr>
                  <a:t>نتیجه</a:t>
                </a:r>
              </a:p>
              <a:p>
                <a:pPr marL="0" indent="0" algn="r" rtl="1">
                  <a:buNone/>
                </a:pPr>
                <a:r>
                  <a:rPr lang="fa-IR" sz="1600" dirty="0">
                    <a:cs typeface="B Nazanin" panose="00000400000000000000" pitchFamily="2" charset="-78"/>
                  </a:rPr>
                  <a:t>این تجزیه </a:t>
                </a:r>
                <a:r>
                  <a:rPr lang="fa-IR" sz="1600" b="1" dirty="0">
                    <a:cs typeface="B Nazanin" panose="00000400000000000000" pitchFamily="2" charset="-78"/>
                  </a:rPr>
                  <a:t>بدون اتلاف</a:t>
                </a:r>
                <a:r>
                  <a:rPr lang="fa-IR" sz="1600" dirty="0">
                    <a:cs typeface="B Nazanin" panose="00000400000000000000" pitchFamily="2" charset="-78"/>
                  </a:rPr>
                  <a:t> است، چون اشتراک </a:t>
                </a:r>
                <a:r>
                  <a:rPr lang="en-US" sz="1600" b="1" dirty="0">
                    <a:cs typeface="B Nazanin" panose="00000400000000000000" pitchFamily="2" charset="-78"/>
                  </a:rPr>
                  <a:t>B</a:t>
                </a:r>
                <a:r>
                  <a:rPr lang="en-US" sz="1600" dirty="0">
                    <a:cs typeface="B Nazanin" panose="00000400000000000000" pitchFamily="2" charset="-78"/>
                  </a:rPr>
                  <a:t> </a:t>
                </a:r>
                <a:r>
                  <a:rPr lang="fa-IR" sz="1600" dirty="0">
                    <a:cs typeface="B Nazanin" panose="00000400000000000000" pitchFamily="2" charset="-78"/>
                  </a:rPr>
                  <a:t>یک کلید برای </a:t>
                </a:r>
                <a:r>
                  <a:rPr lang="en-US" sz="1600" b="1" dirty="0">
                    <a:cs typeface="B Nazanin" panose="00000400000000000000" pitchFamily="2" charset="-78"/>
                  </a:rPr>
                  <a:t>R2</a:t>
                </a:r>
                <a:r>
                  <a:rPr lang="en-US" sz="1600" dirty="0">
                    <a:cs typeface="B Nazanin" panose="00000400000000000000" pitchFamily="2" charset="-78"/>
                  </a:rPr>
                  <a:t> </a:t>
                </a:r>
                <a:r>
                  <a:rPr lang="fa-IR" sz="1600" dirty="0">
                    <a:cs typeface="B Nazanin" panose="00000400000000000000" pitchFamily="2" charset="-78"/>
                  </a:rPr>
                  <a:t>است.</a:t>
                </a:r>
                <a:endParaRPr lang="fa-IR" sz="1100" dirty="0">
                  <a:cs typeface="B Nazanin" panose="00000400000000000000" pitchFamily="2" charset="-78"/>
                </a:endParaRPr>
              </a:p>
            </p:txBody>
          </p:sp>
        </mc:Choice>
        <mc:Fallback xmlns="">
          <p:sp>
            <p:nvSpPr>
              <p:cNvPr id="5" name="TextBox 4">
                <a:extLst>
                  <a:ext uri="{FF2B5EF4-FFF2-40B4-BE49-F238E27FC236}">
                    <a16:creationId xmlns:a16="http://schemas.microsoft.com/office/drawing/2014/main" id="{D6EC2F15-2D3D-AE0D-E782-89211AF5E56C}"/>
                  </a:ext>
                </a:extLst>
              </p:cNvPr>
              <p:cNvSpPr txBox="1">
                <a:spLocks noRot="1" noChangeAspect="1" noMove="1" noResize="1" noEditPoints="1" noAdjustHandles="1" noChangeArrowheads="1" noChangeShapeType="1" noTextEdit="1"/>
              </p:cNvSpPr>
              <p:nvPr/>
            </p:nvSpPr>
            <p:spPr>
              <a:xfrm>
                <a:off x="5098023" y="2539218"/>
                <a:ext cx="3806826" cy="3908762"/>
              </a:xfrm>
              <a:prstGeom prst="rect">
                <a:avLst/>
              </a:prstGeom>
              <a:blipFill>
                <a:blip r:embed="rId4"/>
                <a:stretch>
                  <a:fillRect l="-800" t="-1092" r="-800" b="-1404"/>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0630FDA6-7B47-96D3-A942-DBB23E8835EF}"/>
              </a:ext>
            </a:extLst>
          </p:cNvPr>
          <p:cNvSpPr/>
          <p:nvPr/>
        </p:nvSpPr>
        <p:spPr bwMode="auto">
          <a:xfrm>
            <a:off x="4804117" y="1659988"/>
            <a:ext cx="161778" cy="4768947"/>
          </a:xfrm>
          <a:prstGeom prst="rect">
            <a:avLst/>
          </a:prstGeom>
          <a:solidFill>
            <a:schemeClr val="accent1"/>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a:ln>
                <a:noFill/>
              </a:ln>
              <a:solidFill>
                <a:schemeClr val="tx1"/>
              </a:solidFill>
              <a:effectLst/>
              <a:latin typeface="Helvetica" charset="0"/>
            </a:endParaRPr>
          </a:p>
        </p:txBody>
      </p:sp>
    </p:spTree>
    <p:extLst>
      <p:ext uri="{BB962C8B-B14F-4D97-AF65-F5344CB8AC3E}">
        <p14:creationId xmlns:p14="http://schemas.microsoft.com/office/powerpoint/2010/main" val="103833799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8066" name="Rectangle 2"/>
          <p:cNvSpPr>
            <a:spLocks noGrp="1" noChangeArrowheads="1"/>
          </p:cNvSpPr>
          <p:nvPr>
            <p:ph type="title"/>
          </p:nvPr>
        </p:nvSpPr>
        <p:spPr>
          <a:xfrm>
            <a:off x="709613" y="296949"/>
            <a:ext cx="7993062" cy="441325"/>
          </a:xfrm>
        </p:spPr>
        <p:txBody>
          <a:bodyPr/>
          <a:lstStyle/>
          <a:p>
            <a:pPr>
              <a:defRPr/>
            </a:pPr>
            <a:r>
              <a:rPr lang="en-US" altLang="en-US" sz="2800" dirty="0">
                <a:effectLst>
                  <a:outerShdw blurRad="38100" dist="38100" dir="2700000" algn="tl">
                    <a:srgbClr val="C0C0C0"/>
                  </a:outerShdw>
                </a:effectLst>
                <a:ea typeface="ＭＳ Ｐゴシック" pitchFamily="34" charset="-128"/>
              </a:rPr>
              <a:t>Dependency Preservation</a:t>
            </a:r>
          </a:p>
        </p:txBody>
      </p:sp>
      <p:sp>
        <p:nvSpPr>
          <p:cNvPr id="49155" name="Rectangle 3"/>
          <p:cNvSpPr>
            <a:spLocks noGrp="1" noChangeArrowheads="1"/>
          </p:cNvSpPr>
          <p:nvPr>
            <p:ph idx="1"/>
          </p:nvPr>
        </p:nvSpPr>
        <p:spPr>
          <a:xfrm>
            <a:off x="362857" y="1093787"/>
            <a:ext cx="7805783" cy="5350555"/>
          </a:xfrm>
        </p:spPr>
        <p:txBody>
          <a:bodyPr/>
          <a:lstStyle/>
          <a:p>
            <a:pPr algn="r" rtl="1"/>
            <a:r>
              <a:rPr lang="fa-IR" sz="2800" dirty="0"/>
              <a:t>بررسی </a:t>
            </a:r>
            <a:r>
              <a:rPr lang="fa-IR" sz="2800" dirty="0" err="1"/>
              <a:t>محدودیت‌های</a:t>
            </a:r>
            <a:r>
              <a:rPr lang="fa-IR" sz="2800" dirty="0"/>
              <a:t> وابستگی </a:t>
            </a:r>
            <a:r>
              <a:rPr lang="fa-IR" sz="2800" dirty="0" err="1"/>
              <a:t>تابعی</a:t>
            </a:r>
            <a:r>
              <a:rPr lang="fa-IR" sz="2800" dirty="0"/>
              <a:t> هر بار که پایگاه داده </a:t>
            </a:r>
            <a:r>
              <a:rPr lang="fa-IR" sz="2800" dirty="0" err="1"/>
              <a:t>به‌روزرسانی</a:t>
            </a:r>
            <a:r>
              <a:rPr lang="fa-IR" sz="2800" dirty="0"/>
              <a:t> </a:t>
            </a:r>
            <a:r>
              <a:rPr lang="fa-IR" sz="2800" dirty="0" err="1"/>
              <a:t>می‌شود</a:t>
            </a:r>
            <a:r>
              <a:rPr lang="fa-IR" sz="2800" dirty="0"/>
              <a:t> </a:t>
            </a:r>
            <a:r>
              <a:rPr lang="fa-IR" sz="2800" dirty="0" err="1"/>
              <a:t>می‌تواند</a:t>
            </a:r>
            <a:r>
              <a:rPr lang="fa-IR" sz="2800" dirty="0"/>
              <a:t> بسیار پرهزینه باشد.</a:t>
            </a:r>
          </a:p>
          <a:p>
            <a:pPr algn="r" rtl="1"/>
            <a:r>
              <a:rPr lang="fa-IR" sz="2800" dirty="0"/>
              <a:t>مفید است که پایگاه داده به </a:t>
            </a:r>
            <a:r>
              <a:rPr lang="fa-IR" sz="2800" dirty="0" err="1"/>
              <a:t>گونه‌ای</a:t>
            </a:r>
            <a:r>
              <a:rPr lang="fa-IR" sz="2800" dirty="0"/>
              <a:t> طراحی شود که بتوان </a:t>
            </a:r>
            <a:r>
              <a:rPr lang="fa-IR" sz="2800" dirty="0" err="1"/>
              <a:t>محدودیت‌ها</a:t>
            </a:r>
            <a:r>
              <a:rPr lang="fa-IR" sz="2800" dirty="0"/>
              <a:t> را </a:t>
            </a:r>
            <a:r>
              <a:rPr lang="fa-IR" sz="2800" dirty="0" err="1"/>
              <a:t>به‌صورت</a:t>
            </a:r>
            <a:r>
              <a:rPr lang="fa-IR" sz="2800" dirty="0"/>
              <a:t> کارآمد و سریع بررسی کرد.</a:t>
            </a:r>
          </a:p>
          <a:p>
            <a:pPr algn="r" rtl="1"/>
            <a:r>
              <a:rPr lang="fa-IR" sz="2800" dirty="0"/>
              <a:t>اگر بررسی یک وابستگی </a:t>
            </a:r>
            <a:r>
              <a:rPr lang="fa-IR" sz="2800" dirty="0" err="1"/>
              <a:t>تابعی</a:t>
            </a:r>
            <a:r>
              <a:rPr lang="fa-IR" sz="2800" dirty="0"/>
              <a:t> تنها با استفاده از یک رابطه قابل انجام باشد، هزینه بررسی آن بسیار کم خواهد بود.</a:t>
            </a:r>
          </a:p>
          <a:p>
            <a:pPr algn="r" rtl="1"/>
            <a:r>
              <a:rPr lang="fa-IR" sz="2800" dirty="0"/>
              <a:t>هنگام تجزیه یک رابطه ممکن است وضعیت </a:t>
            </a:r>
            <a:r>
              <a:rPr lang="fa-IR" sz="2800" dirty="0" err="1"/>
              <a:t>به‌گونه‌ای</a:t>
            </a:r>
            <a:r>
              <a:rPr lang="fa-IR" sz="2800" dirty="0"/>
              <a:t> شود که برای بررسی یک وابستگی </a:t>
            </a:r>
            <a:r>
              <a:rPr lang="fa-IR" sz="2800" dirty="0" err="1"/>
              <a:t>تابعی</a:t>
            </a:r>
            <a:r>
              <a:rPr lang="fa-IR" sz="2800" dirty="0"/>
              <a:t> مجبور به انجام ضرب دکارتی باشیم.</a:t>
            </a:r>
          </a:p>
          <a:p>
            <a:pPr algn="r" rtl="1"/>
            <a:r>
              <a:rPr lang="fa-IR" sz="2800" dirty="0" err="1"/>
              <a:t>تجزیه‌ای</a:t>
            </a:r>
            <a:r>
              <a:rPr lang="fa-IR" sz="2800" dirty="0"/>
              <a:t> که اجرای وابستگی </a:t>
            </a:r>
            <a:r>
              <a:rPr lang="fa-IR" sz="2800" dirty="0" err="1"/>
              <a:t>تابعی</a:t>
            </a:r>
            <a:r>
              <a:rPr lang="fa-IR" sz="2800" dirty="0"/>
              <a:t> را از نظر </a:t>
            </a:r>
            <a:r>
              <a:rPr lang="fa-IR" sz="2800" dirty="0" err="1"/>
              <a:t>محاسباتی</a:t>
            </a:r>
            <a:r>
              <a:rPr lang="fa-IR" sz="2800" dirty="0"/>
              <a:t> دشوار کند، «</a:t>
            </a:r>
            <a:r>
              <a:rPr lang="fa-IR" sz="2800" dirty="0" err="1"/>
              <a:t>حفظ‌کننده</a:t>
            </a:r>
            <a:r>
              <a:rPr lang="fa-IR" sz="2800" dirty="0"/>
              <a:t> وابستگی» محسوب </a:t>
            </a:r>
            <a:r>
              <a:rPr lang="fa-IR" sz="2800" dirty="0" err="1"/>
              <a:t>نمی‌شود</a:t>
            </a:r>
            <a:r>
              <a:rPr lang="fa-IR" sz="2800" dirty="0"/>
              <a:t>.</a:t>
            </a:r>
          </a:p>
        </p:txBody>
      </p:sp>
    </p:spTree>
    <p:extLst>
      <p:ext uri="{BB962C8B-B14F-4D97-AF65-F5344CB8AC3E}">
        <p14:creationId xmlns:p14="http://schemas.microsoft.com/office/powerpoint/2010/main" val="32602570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8066" name="Rectangle 2"/>
          <p:cNvSpPr>
            <a:spLocks noGrp="1" noChangeArrowheads="1"/>
          </p:cNvSpPr>
          <p:nvPr>
            <p:ph type="title"/>
          </p:nvPr>
        </p:nvSpPr>
        <p:spPr>
          <a:xfrm>
            <a:off x="709613" y="264699"/>
            <a:ext cx="7993062" cy="497639"/>
          </a:xfrm>
        </p:spPr>
        <p:txBody>
          <a:bodyPr/>
          <a:lstStyle/>
          <a:p>
            <a:pPr>
              <a:defRPr/>
            </a:pPr>
            <a:r>
              <a:rPr lang="en-US" altLang="en-US" sz="2800" dirty="0">
                <a:effectLst>
                  <a:outerShdw blurRad="38100" dist="38100" dir="2700000" algn="tl">
                    <a:srgbClr val="C0C0C0"/>
                  </a:outerShdw>
                </a:effectLst>
                <a:ea typeface="ＭＳ Ｐゴシック" pitchFamily="34" charset="-128"/>
              </a:rPr>
              <a:t>Dependency Preservation Example</a:t>
            </a:r>
          </a:p>
        </p:txBody>
      </p:sp>
      <p:sp>
        <p:nvSpPr>
          <p:cNvPr id="49155" name="Rectangle 3"/>
          <p:cNvSpPr>
            <a:spLocks noGrp="1" noChangeArrowheads="1"/>
          </p:cNvSpPr>
          <p:nvPr>
            <p:ph idx="1"/>
          </p:nvPr>
        </p:nvSpPr>
        <p:spPr>
          <a:xfrm>
            <a:off x="781235" y="1093788"/>
            <a:ext cx="7814125" cy="5314046"/>
          </a:xfrm>
        </p:spPr>
        <p:txBody>
          <a:bodyPr/>
          <a:lstStyle/>
          <a:p>
            <a:pPr algn="r" rtl="1">
              <a:defRPr/>
            </a:pPr>
            <a:r>
              <a:rPr lang="fa-IR" dirty="0"/>
              <a:t>در یک </a:t>
            </a:r>
            <a:r>
              <a:rPr lang="fa-IR" dirty="0" err="1"/>
              <a:t>شِما</a:t>
            </a:r>
            <a:r>
              <a:rPr lang="fa-IR" dirty="0"/>
              <a:t>:</a:t>
            </a:r>
            <a:endParaRPr lang="en-US" altLang="en-US" sz="1800" dirty="0"/>
          </a:p>
          <a:p>
            <a:pPr rtl="1">
              <a:buFont typeface="Monotype Sorts" pitchFamily="-84" charset="2"/>
              <a:buNone/>
              <a:defRPr/>
            </a:pPr>
            <a:r>
              <a:rPr lang="en-US" altLang="en-US" sz="1800" dirty="0"/>
              <a:t>         </a:t>
            </a:r>
            <a:r>
              <a:rPr lang="en-US" altLang="en-US" sz="1800" i="1" dirty="0"/>
              <a:t>dept_advisor(s_ID, i_ID, </a:t>
            </a:r>
            <a:r>
              <a:rPr lang="en-US" altLang="en-US" sz="1800" i="1" dirty="0">
                <a:sym typeface="Symbol" pitchFamily="18" charset="2"/>
              </a:rPr>
              <a:t>dept </a:t>
            </a:r>
            <a:r>
              <a:rPr lang="en-US" altLang="en-US" sz="1800" i="1" dirty="0"/>
              <a:t>_name</a:t>
            </a:r>
            <a:r>
              <a:rPr lang="en-US" altLang="en-US" sz="1800" dirty="0"/>
              <a:t>)</a:t>
            </a:r>
          </a:p>
          <a:p>
            <a:pPr algn="r" rtl="1">
              <a:defRPr/>
            </a:pPr>
            <a:r>
              <a:rPr lang="fa-IR" dirty="0"/>
              <a:t>و با </a:t>
            </a:r>
            <a:r>
              <a:rPr lang="fa-IR" dirty="0" err="1"/>
              <a:t>وابستگی‌های</a:t>
            </a:r>
            <a:r>
              <a:rPr lang="fa-IR" dirty="0"/>
              <a:t> </a:t>
            </a:r>
            <a:r>
              <a:rPr lang="fa-IR" dirty="0" err="1"/>
              <a:t>تابعی</a:t>
            </a:r>
            <a:r>
              <a:rPr lang="fa-IR" dirty="0"/>
              <a:t> زیر:</a:t>
            </a:r>
            <a:endParaRPr lang="en-US" altLang="en-US" sz="1800" dirty="0"/>
          </a:p>
          <a:p>
            <a:pPr rtl="1">
              <a:buFont typeface="Monotype Sorts" pitchFamily="-84" charset="2"/>
              <a:buNone/>
              <a:defRPr/>
            </a:pPr>
            <a:r>
              <a:rPr lang="en-US" altLang="en-US" sz="1800" dirty="0"/>
              <a:t>             </a:t>
            </a:r>
            <a:r>
              <a:rPr lang="en-US" altLang="en-US" sz="1800" i="1" dirty="0"/>
              <a:t>i_ID</a:t>
            </a:r>
            <a:r>
              <a:rPr lang="en-US" altLang="en-US" sz="1800" dirty="0"/>
              <a:t> </a:t>
            </a:r>
            <a:r>
              <a:rPr lang="en-US" altLang="en-US" sz="1800" dirty="0">
                <a:sym typeface="Symbol" pitchFamily="18" charset="2"/>
              </a:rPr>
              <a:t> </a:t>
            </a:r>
            <a:r>
              <a:rPr lang="en-US" altLang="en-US" sz="1800" i="1" dirty="0">
                <a:sym typeface="Symbol" pitchFamily="18" charset="2"/>
              </a:rPr>
              <a:t>dept_name</a:t>
            </a:r>
          </a:p>
          <a:p>
            <a:pPr rtl="1">
              <a:buFont typeface="Monotype Sorts" pitchFamily="-84" charset="2"/>
              <a:buNone/>
              <a:defRPr/>
            </a:pPr>
            <a:r>
              <a:rPr lang="en-US" altLang="en-US" sz="1800" dirty="0"/>
              <a:t>             </a:t>
            </a:r>
            <a:r>
              <a:rPr lang="en-US" altLang="en-US" sz="1800" i="1" dirty="0"/>
              <a:t>s_ID, </a:t>
            </a:r>
            <a:r>
              <a:rPr lang="en-US" altLang="en-US" sz="1800" i="1" dirty="0">
                <a:sym typeface="Symbol" pitchFamily="18" charset="2"/>
              </a:rPr>
              <a:t>dept_name</a:t>
            </a:r>
            <a:r>
              <a:rPr lang="en-US" altLang="en-US" sz="1800" i="1" dirty="0"/>
              <a:t> </a:t>
            </a:r>
            <a:r>
              <a:rPr lang="en-US" altLang="en-US" sz="1800" dirty="0">
                <a:sym typeface="Symbol" pitchFamily="18" charset="2"/>
              </a:rPr>
              <a:t> </a:t>
            </a:r>
            <a:r>
              <a:rPr lang="en-US" altLang="en-US" sz="1800" i="1" dirty="0" err="1">
                <a:sym typeface="Symbol" pitchFamily="18" charset="2"/>
              </a:rPr>
              <a:t>i_ID</a:t>
            </a:r>
            <a:endParaRPr lang="en-US" altLang="en-US" sz="1800" i="1" dirty="0">
              <a:sym typeface="Symbol" pitchFamily="18" charset="2"/>
            </a:endParaRPr>
          </a:p>
          <a:p>
            <a:pPr marL="0" indent="0" algn="r" rtl="1">
              <a:buNone/>
              <a:defRPr/>
            </a:pPr>
            <a:r>
              <a:rPr lang="fa-IR" dirty="0"/>
              <a:t>در طراحی بالا مجبور هستیم نام دپارتمان را برای هر بار که یک استاد در رابطه </a:t>
            </a:r>
            <a:r>
              <a:rPr lang="en-US" dirty="0" err="1"/>
              <a:t>dept_advisor</a:t>
            </a:r>
            <a:r>
              <a:rPr lang="en-US" dirty="0"/>
              <a:t> </a:t>
            </a:r>
            <a:r>
              <a:rPr lang="fa-IR" dirty="0"/>
              <a:t>ظاهر </a:t>
            </a:r>
            <a:r>
              <a:rPr lang="fa-IR" dirty="0" err="1"/>
              <a:t>می‌شود</a:t>
            </a:r>
            <a:r>
              <a:rPr lang="fa-IR" dirty="0"/>
              <a:t>، تکرار کنیم.</a:t>
            </a:r>
            <a:r>
              <a:rPr lang="en-US" altLang="en-US" sz="1800" dirty="0">
                <a:sym typeface="Symbol" pitchFamily="18" charset="2"/>
              </a:rPr>
              <a:t>  </a:t>
            </a:r>
          </a:p>
          <a:p>
            <a:pPr algn="r" rtl="1">
              <a:defRPr/>
            </a:pPr>
            <a:r>
              <a:rPr lang="fa-IR" dirty="0"/>
              <a:t>برای رفع این مشکل باید رابطه </a:t>
            </a:r>
            <a:r>
              <a:rPr lang="en-US" dirty="0" err="1"/>
              <a:t>dept_advisor</a:t>
            </a:r>
            <a:r>
              <a:rPr lang="en-US" dirty="0"/>
              <a:t> </a:t>
            </a:r>
            <a:r>
              <a:rPr lang="fa-IR" dirty="0"/>
              <a:t>را تجزیه کنیم.</a:t>
            </a:r>
            <a:endParaRPr lang="en-US" altLang="en-US" sz="1800" i="1" dirty="0"/>
          </a:p>
          <a:p>
            <a:pPr algn="r" rtl="1">
              <a:defRPr/>
            </a:pPr>
            <a:r>
              <a:rPr lang="fa-IR" dirty="0"/>
              <a:t>اما هر </a:t>
            </a:r>
            <a:r>
              <a:rPr lang="fa-IR" dirty="0" err="1"/>
              <a:t>تجزیه‌ای</a:t>
            </a:r>
            <a:r>
              <a:rPr lang="fa-IR" dirty="0"/>
              <a:t> انجام دهیم، تمام صفات موجود در وابستگی</a:t>
            </a:r>
            <a:endParaRPr lang="en-US" altLang="en-US" sz="1800" dirty="0">
              <a:sym typeface="Symbol" pitchFamily="18" charset="2"/>
            </a:endParaRPr>
          </a:p>
          <a:p>
            <a:pPr rtl="1">
              <a:buFont typeface="Monotype Sorts" pitchFamily="-84" charset="2"/>
              <a:buNone/>
              <a:defRPr/>
            </a:pPr>
            <a:r>
              <a:rPr lang="en-US" altLang="en-US" sz="1800" dirty="0">
                <a:sym typeface="Symbol" pitchFamily="18" charset="2"/>
              </a:rPr>
              <a:t>            </a:t>
            </a:r>
            <a:r>
              <a:rPr lang="en-US" altLang="en-US" sz="1800" i="1" dirty="0"/>
              <a:t>s_ID, </a:t>
            </a:r>
            <a:r>
              <a:rPr lang="en-US" altLang="en-US" sz="1800" i="1" dirty="0">
                <a:sym typeface="Symbol" pitchFamily="18" charset="2"/>
              </a:rPr>
              <a:t>dept_name</a:t>
            </a:r>
            <a:r>
              <a:rPr lang="en-US" altLang="en-US" sz="1800" i="1" dirty="0"/>
              <a:t> </a:t>
            </a:r>
            <a:r>
              <a:rPr lang="en-US" altLang="en-US" sz="1800" i="1" dirty="0">
                <a:sym typeface="Symbol" pitchFamily="18" charset="2"/>
              </a:rPr>
              <a:t> </a:t>
            </a:r>
            <a:r>
              <a:rPr lang="en-US" altLang="en-US" sz="1800" i="1" dirty="0" err="1">
                <a:sym typeface="Symbol" pitchFamily="18" charset="2"/>
              </a:rPr>
              <a:t>i_ID</a:t>
            </a:r>
            <a:endParaRPr lang="fa-IR" altLang="en-US" sz="1800" i="1" dirty="0">
              <a:sym typeface="Symbol" pitchFamily="18" charset="2"/>
            </a:endParaRPr>
          </a:p>
          <a:p>
            <a:pPr algn="r" rtl="1">
              <a:buFont typeface="Monotype Sorts" pitchFamily="-84" charset="2"/>
              <a:buNone/>
              <a:defRPr/>
            </a:pPr>
            <a:r>
              <a:rPr lang="fa-IR" dirty="0"/>
              <a:t>در یک رابطه واحد باقی نخواهند ماند.</a:t>
            </a:r>
            <a:endParaRPr lang="en-US" altLang="en-US" sz="1800" i="1" dirty="0">
              <a:sym typeface="Symbol" pitchFamily="18" charset="2"/>
            </a:endParaRPr>
          </a:p>
          <a:p>
            <a:pPr algn="r" rtl="1">
              <a:defRPr/>
            </a:pPr>
            <a:r>
              <a:rPr lang="fa-IR" dirty="0"/>
              <a:t>به همین دلیل، ترکیب حاصل </a:t>
            </a:r>
            <a:r>
              <a:rPr lang="fa-IR" dirty="0" err="1"/>
              <a:t>وابستگی‌ها</a:t>
            </a:r>
            <a:r>
              <a:rPr lang="fa-IR" dirty="0"/>
              <a:t> را حفظ </a:t>
            </a:r>
            <a:r>
              <a:rPr lang="fa-IR" dirty="0" err="1"/>
              <a:t>نمی‌کند</a:t>
            </a:r>
            <a:r>
              <a:rPr lang="fa-IR" dirty="0"/>
              <a:t> (</a:t>
            </a:r>
            <a:r>
              <a:rPr lang="en-US" dirty="0"/>
              <a:t>dependency preserving </a:t>
            </a:r>
            <a:r>
              <a:rPr lang="fa-IR" dirty="0"/>
              <a:t>نیست).</a:t>
            </a:r>
            <a:endParaRPr lang="en-US" altLang="en-US" sz="1800" dirty="0">
              <a:sym typeface="Symbol" pitchFamily="18" charset="2"/>
            </a:endParaRPr>
          </a:p>
          <a:p>
            <a:pPr>
              <a:buFont typeface="Monotype Sorts" pitchFamily="-84" charset="2"/>
              <a:buNone/>
              <a:defRPr/>
            </a:pPr>
            <a:endParaRPr lang="en-US" altLang="en-US" sz="1800" dirty="0">
              <a:sym typeface="Symbol" pitchFamily="18" charset="2"/>
            </a:endParaRPr>
          </a:p>
          <a:p>
            <a:pPr>
              <a:defRPr/>
            </a:pPr>
            <a:endParaRPr lang="en-US" altLang="en-US" sz="2400" dirty="0"/>
          </a:p>
        </p:txBody>
      </p:sp>
    </p:spTree>
    <p:extLst>
      <p:ext uri="{BB962C8B-B14F-4D97-AF65-F5344CB8AC3E}">
        <p14:creationId xmlns:p14="http://schemas.microsoft.com/office/powerpoint/2010/main" val="192780877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Rectangle 3"/>
          <p:cNvSpPr>
            <a:spLocks noGrp="1" noChangeArrowheads="1"/>
          </p:cNvSpPr>
          <p:nvPr>
            <p:ph idx="1"/>
          </p:nvPr>
        </p:nvSpPr>
        <p:spPr>
          <a:xfrm>
            <a:off x="2885243" y="2286000"/>
            <a:ext cx="3901320" cy="1479550"/>
          </a:xfrm>
        </p:spPr>
        <p:txBody>
          <a:bodyPr/>
          <a:lstStyle/>
          <a:p>
            <a:pPr algn="ctr">
              <a:buFont typeface="Monotype Sorts" charset="2"/>
              <a:buNone/>
              <a:defRPr/>
            </a:pPr>
            <a:r>
              <a:rPr lang="fa-IR" sz="3200" dirty="0" err="1"/>
              <a:t>نرمال‌فرم‌ها</a:t>
            </a:r>
            <a:endParaRPr lang="en-US" altLang="en-US" sz="3200" b="1" dirty="0">
              <a:solidFill>
                <a:srgbClr val="002060"/>
              </a:solidFill>
              <a:effectLst>
                <a:outerShdw blurRad="38100" dist="38100" dir="2700000" algn="tl">
                  <a:srgbClr val="C0C0C0"/>
                </a:outerShdw>
              </a:effectLst>
              <a:latin typeface="+mj-lt"/>
              <a:ea typeface="ＭＳ Ｐゴシック" pitchFamily="34" charset="-128"/>
              <a:cs typeface="+mj-cs"/>
            </a:endParaRPr>
          </a:p>
        </p:txBody>
      </p:sp>
    </p:spTree>
    <p:extLst>
      <p:ext uri="{BB962C8B-B14F-4D97-AF65-F5344CB8AC3E}">
        <p14:creationId xmlns:p14="http://schemas.microsoft.com/office/powerpoint/2010/main" val="2015827623"/>
      </p:ext>
    </p:extLst>
  </p:cSld>
  <p:clrMapOvr>
    <a:masterClrMapping/>
  </p:clrMapOvr>
  <p:transition spd="slow"/>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861FF6-2091-A497-22FA-BCD6F27FFD28}"/>
            </a:ext>
          </a:extLst>
        </p:cNvPr>
        <p:cNvGrpSpPr/>
        <p:nvPr/>
      </p:nvGrpSpPr>
      <p:grpSpPr>
        <a:xfrm>
          <a:off x="0" y="0"/>
          <a:ext cx="0" cy="0"/>
          <a:chOff x="0" y="0"/>
          <a:chExt cx="0" cy="0"/>
        </a:xfrm>
      </p:grpSpPr>
      <p:sp>
        <p:nvSpPr>
          <p:cNvPr id="683010" name="Rectangle 2">
            <a:extLst>
              <a:ext uri="{FF2B5EF4-FFF2-40B4-BE49-F238E27FC236}">
                <a16:creationId xmlns:a16="http://schemas.microsoft.com/office/drawing/2014/main" id="{369C3D21-8A9E-D2DF-81B6-AFE41E5BF00D}"/>
              </a:ext>
            </a:extLst>
          </p:cNvPr>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Boyce-Codd Normal Form</a:t>
            </a:r>
          </a:p>
        </p:txBody>
      </p:sp>
      <mc:AlternateContent xmlns:mc="http://schemas.openxmlformats.org/markup-compatibility/2006" xmlns:a14="http://schemas.microsoft.com/office/drawing/2010/main">
        <mc:Choice Requires="a14">
          <p:sp>
            <p:nvSpPr>
              <p:cNvPr id="683011" name="Rectangle 3">
                <a:extLst>
                  <a:ext uri="{FF2B5EF4-FFF2-40B4-BE49-F238E27FC236}">
                    <a16:creationId xmlns:a16="http://schemas.microsoft.com/office/drawing/2014/main" id="{4933B197-8116-700A-7519-08F4946A0A67}"/>
                  </a:ext>
                </a:extLst>
              </p:cNvPr>
              <p:cNvSpPr>
                <a:spLocks noGrp="1" noChangeArrowheads="1"/>
              </p:cNvSpPr>
              <p:nvPr>
                <p:ph idx="1"/>
              </p:nvPr>
            </p:nvSpPr>
            <p:spPr>
              <a:xfrm>
                <a:off x="768350" y="1163638"/>
                <a:ext cx="7541149" cy="5328601"/>
              </a:xfrm>
            </p:spPr>
            <p:txBody>
              <a:bodyPr/>
              <a:lstStyle/>
              <a:p>
                <a:pPr algn="r" rtl="1"/>
                <a:r>
                  <a:rPr lang="fa-IR" sz="2400" dirty="0"/>
                  <a:t>تعریف ساده </a:t>
                </a:r>
                <a:r>
                  <a:rPr lang="en-US" sz="2400" dirty="0"/>
                  <a:t>BCNF:</a:t>
                </a:r>
              </a:p>
              <a:p>
                <a:pPr algn="r" rtl="1"/>
                <a:r>
                  <a:rPr lang="fa-IR" sz="2400" dirty="0"/>
                  <a:t>یک رابطه در </a:t>
                </a:r>
                <a:r>
                  <a:rPr lang="en-US" sz="2400" dirty="0"/>
                  <a:t>BCNF </a:t>
                </a:r>
                <a:r>
                  <a:rPr lang="fa-IR" sz="2400" dirty="0"/>
                  <a:t>است اگر </a:t>
                </a:r>
                <a:r>
                  <a:rPr lang="fa-IR" sz="2400" b="1" dirty="0"/>
                  <a:t>در هر وابستگی تابعی </a:t>
                </a:r>
                <a14:m>
                  <m:oMath xmlns:m="http://schemas.openxmlformats.org/officeDocument/2006/math">
                    <m:r>
                      <a:rPr lang="fa-IR" i="1">
                        <a:latin typeface="Cambria Math" panose="02040503050406030204" pitchFamily="18" charset="0"/>
                      </a:rPr>
                      <m:t>𝑋</m:t>
                    </m:r>
                    <m:r>
                      <a:rPr lang="fa-IR">
                        <a:latin typeface="Cambria Math" panose="02040503050406030204" pitchFamily="18" charset="0"/>
                      </a:rPr>
                      <m:t>→</m:t>
                    </m:r>
                    <m:r>
                      <a:rPr lang="fa-IR" i="1">
                        <a:latin typeface="Cambria Math" panose="02040503050406030204" pitchFamily="18" charset="0"/>
                      </a:rPr>
                      <m:t>𝑌</m:t>
                    </m:r>
                  </m:oMath>
                </a14:m>
                <a:r>
                  <a:rPr lang="fa-IR" sz="2400" b="1" dirty="0"/>
                  <a:t>، مجموعه </a:t>
                </a:r>
                <a14:m>
                  <m:oMath xmlns:m="http://schemas.openxmlformats.org/officeDocument/2006/math">
                    <m:r>
                      <a:rPr lang="fa-IR" i="1">
                        <a:latin typeface="Cambria Math" panose="02040503050406030204" pitchFamily="18" charset="0"/>
                      </a:rPr>
                      <m:t>𝑋</m:t>
                    </m:r>
                  </m:oMath>
                </a14:m>
                <a:r>
                  <a:rPr lang="fa-IR" sz="2400" b="1" dirty="0"/>
                  <a:t>ابرکلید باشد.</a:t>
                </a:r>
                <a:endParaRPr lang="fa-IR" sz="2400" dirty="0"/>
              </a:p>
            </p:txBody>
          </p:sp>
        </mc:Choice>
        <mc:Fallback xmlns="">
          <p:sp>
            <p:nvSpPr>
              <p:cNvPr id="683011" name="Rectangle 3">
                <a:extLst>
                  <a:ext uri="{FF2B5EF4-FFF2-40B4-BE49-F238E27FC236}">
                    <a16:creationId xmlns:a16="http://schemas.microsoft.com/office/drawing/2014/main" id="{4933B197-8116-700A-7519-08F4946A0A67}"/>
                  </a:ext>
                </a:extLst>
              </p:cNvPr>
              <p:cNvSpPr>
                <a:spLocks noGrp="1" noRot="1" noChangeAspect="1" noMove="1" noResize="1" noEditPoints="1" noAdjustHandles="1" noChangeArrowheads="1" noChangeShapeType="1" noTextEdit="1"/>
              </p:cNvSpPr>
              <p:nvPr>
                <p:ph idx="1"/>
              </p:nvPr>
            </p:nvSpPr>
            <p:spPr>
              <a:xfrm>
                <a:off x="768350" y="1163638"/>
                <a:ext cx="7541149" cy="5328601"/>
              </a:xfrm>
              <a:blipFill>
                <a:blip r:embed="rId3"/>
                <a:stretch>
                  <a:fillRect l="-728" t="-1716" r="-1374"/>
                </a:stretch>
              </a:blipFill>
            </p:spPr>
            <p:txBody>
              <a:bodyPr/>
              <a:lstStyle/>
              <a:p>
                <a:r>
                  <a:rPr lang="en-US">
                    <a:noFill/>
                  </a:rPr>
                  <a:t> </a:t>
                </a:r>
              </a:p>
            </p:txBody>
          </p:sp>
        </mc:Fallback>
      </mc:AlternateContent>
    </p:spTree>
    <p:extLst>
      <p:ext uri="{BB962C8B-B14F-4D97-AF65-F5344CB8AC3E}">
        <p14:creationId xmlns:p14="http://schemas.microsoft.com/office/powerpoint/2010/main" val="282784950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6830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68301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3011" grpId="0" build="p" autoUpdateAnimBg="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3010"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Boyce-Codd Normal Form</a:t>
            </a:r>
          </a:p>
        </p:txBody>
      </p:sp>
      <p:sp>
        <p:nvSpPr>
          <p:cNvPr id="683011" name="Rectangle 3"/>
          <p:cNvSpPr>
            <a:spLocks noGrp="1" noChangeArrowheads="1"/>
          </p:cNvSpPr>
          <p:nvPr>
            <p:ph idx="1"/>
          </p:nvPr>
        </p:nvSpPr>
        <p:spPr>
          <a:xfrm>
            <a:off x="768350" y="1163638"/>
            <a:ext cx="7541149" cy="5328601"/>
          </a:xfrm>
        </p:spPr>
        <p:txBody>
          <a:bodyPr/>
          <a:lstStyle/>
          <a:p>
            <a:pPr algn="r" rtl="1">
              <a:lnSpc>
                <a:spcPct val="90000"/>
              </a:lnSpc>
            </a:pPr>
            <a:r>
              <a:rPr lang="fa-IR" sz="2400" dirty="0"/>
              <a:t>یک </a:t>
            </a:r>
            <a:r>
              <a:rPr lang="fa-IR" sz="2400" dirty="0" err="1"/>
              <a:t>شِمای</a:t>
            </a:r>
            <a:r>
              <a:rPr lang="fa-IR" sz="2400" dirty="0"/>
              <a:t> </a:t>
            </a:r>
            <a:r>
              <a:rPr lang="fa-IR" sz="2400" dirty="0" err="1"/>
              <a:t>رابطه‌ای</a:t>
            </a:r>
            <a:r>
              <a:rPr lang="fa-IR" sz="2400" dirty="0"/>
              <a:t> </a:t>
            </a:r>
            <a:r>
              <a:rPr lang="en-US" sz="2400" dirty="0"/>
              <a:t>R </a:t>
            </a:r>
            <a:r>
              <a:rPr lang="fa-IR" sz="2400" dirty="0"/>
              <a:t>نسبت به </a:t>
            </a:r>
            <a:r>
              <a:rPr lang="fa-IR" sz="2400" dirty="0" err="1"/>
              <a:t>مجموعه‌ای</a:t>
            </a:r>
            <a:r>
              <a:rPr lang="fa-IR" sz="2400" dirty="0"/>
              <a:t> از </a:t>
            </a:r>
            <a:r>
              <a:rPr lang="fa-IR" sz="2400" dirty="0" err="1"/>
              <a:t>وابستگی‌های</a:t>
            </a:r>
            <a:r>
              <a:rPr lang="fa-IR" sz="2400" dirty="0"/>
              <a:t> </a:t>
            </a:r>
            <a:r>
              <a:rPr lang="fa-IR" sz="2400" dirty="0" err="1"/>
              <a:t>تابعی</a:t>
            </a:r>
            <a:r>
              <a:rPr lang="fa-IR" sz="2400" dirty="0"/>
              <a:t> </a:t>
            </a:r>
            <a:r>
              <a:rPr lang="en-US" sz="2400" dirty="0"/>
              <a:t>F </a:t>
            </a:r>
            <a:r>
              <a:rPr lang="fa-IR" sz="2400" dirty="0"/>
              <a:t>در نرمال فرم بویس–کاد </a:t>
            </a:r>
            <a:r>
              <a:rPr lang="en-US" sz="2400" dirty="0"/>
              <a:t>BCNF </a:t>
            </a:r>
            <a:r>
              <a:rPr lang="fa-IR" sz="2400" dirty="0"/>
              <a:t>قرار دارد اگر برای تمام </a:t>
            </a:r>
            <a:r>
              <a:rPr lang="fa-IR" sz="2400" dirty="0" err="1"/>
              <a:t>وابستگی‌های</a:t>
            </a:r>
            <a:r>
              <a:rPr lang="fa-IR" sz="2400" dirty="0"/>
              <a:t> </a:t>
            </a:r>
            <a:r>
              <a:rPr lang="fa-IR" sz="2400" dirty="0" err="1"/>
              <a:t>تابعی</a:t>
            </a:r>
            <a:r>
              <a:rPr lang="fa-IR" sz="2400" dirty="0"/>
              <a:t> موجود در </a:t>
            </a:r>
            <a:r>
              <a:rPr lang="en-US" sz="2400" dirty="0"/>
              <a:t>F⁺ </a:t>
            </a:r>
            <a:r>
              <a:rPr lang="fa-IR" sz="2400" dirty="0"/>
              <a:t>که به صورت:</a:t>
            </a:r>
            <a:r>
              <a:rPr lang="en-US" altLang="en-US" dirty="0"/>
              <a:t> </a:t>
            </a:r>
          </a:p>
          <a:p>
            <a:pPr rtl="1">
              <a:buFont typeface="Monotype Sorts" pitchFamily="-84" charset="2"/>
              <a:buNone/>
            </a:pPr>
            <a:r>
              <a:rPr lang="en-US" altLang="en-US" dirty="0">
                <a:sym typeface="Symbol" panose="05050102010706020507" pitchFamily="18" charset="2"/>
              </a:rPr>
              <a:t>                 </a:t>
            </a:r>
            <a:r>
              <a:rPr lang="en-US" altLang="en-US" dirty="0">
                <a:sym typeface="Greek Symbols"/>
              </a:rPr>
              <a:t> </a:t>
            </a:r>
            <a:r>
              <a:rPr lang="en-US" altLang="en-US" dirty="0">
                <a:sym typeface="Symbol" panose="05050102010706020507" pitchFamily="18" charset="2"/>
              </a:rPr>
              <a:t></a:t>
            </a:r>
            <a:r>
              <a:rPr lang="en-US" altLang="en-US" dirty="0">
                <a:sym typeface="Monotype Sorts" pitchFamily="-84" charset="2"/>
              </a:rPr>
              <a:t> </a:t>
            </a:r>
            <a:r>
              <a:rPr lang="en-US" altLang="en-US" i="1" dirty="0">
                <a:sym typeface="Symbol" panose="05050102010706020507" pitchFamily="18" charset="2"/>
              </a:rPr>
              <a:t></a:t>
            </a:r>
            <a:endParaRPr lang="en-US" altLang="en-US" i="1" dirty="0">
              <a:sym typeface="Greek Symbols"/>
            </a:endParaRPr>
          </a:p>
          <a:p>
            <a:pPr algn="r" rtl="1">
              <a:buFont typeface="Monotype Sorts" pitchFamily="-84" charset="2"/>
              <a:buNone/>
            </a:pPr>
            <a:r>
              <a:rPr lang="en-US" altLang="en-US" i="1" dirty="0">
                <a:sym typeface="Greek Symbols"/>
              </a:rPr>
              <a:t>      </a:t>
            </a:r>
            <a:r>
              <a:rPr lang="fa-IR" sz="2400" dirty="0"/>
              <a:t>هستند و </a:t>
            </a:r>
            <a:r>
              <a:rPr lang="el-GR" sz="2400" dirty="0"/>
              <a:t>α </a:t>
            </a:r>
            <a:r>
              <a:rPr lang="fa-IR" sz="2400" dirty="0"/>
              <a:t>و </a:t>
            </a:r>
            <a:r>
              <a:rPr lang="el-GR" sz="2400" dirty="0"/>
              <a:t>β </a:t>
            </a:r>
            <a:r>
              <a:rPr lang="fa-IR" sz="2400" dirty="0"/>
              <a:t>هر دو </a:t>
            </a:r>
            <a:r>
              <a:rPr lang="fa-IR" sz="2400" dirty="0" err="1"/>
              <a:t>زیرمجموعه‌ای</a:t>
            </a:r>
            <a:r>
              <a:rPr lang="fa-IR" sz="2400" dirty="0"/>
              <a:t> از </a:t>
            </a:r>
            <a:r>
              <a:rPr lang="en-US" sz="2400" dirty="0"/>
              <a:t>R </a:t>
            </a:r>
            <a:r>
              <a:rPr lang="fa-IR" sz="2400" dirty="0"/>
              <a:t>هستند، حداقل یکی از شروط زیر برقرار باشد:</a:t>
            </a:r>
            <a:endParaRPr lang="en-US" altLang="en-US" dirty="0">
              <a:sym typeface="Symbol" panose="05050102010706020507" pitchFamily="18" charset="2"/>
            </a:endParaRPr>
          </a:p>
          <a:p>
            <a:pPr lvl="1" algn="r" rtl="1"/>
            <a:r>
              <a:rPr lang="fa-IR" sz="2400" dirty="0"/>
              <a:t>وابستگی </a:t>
            </a:r>
            <a:r>
              <a:rPr lang="el-GR" sz="2400" b="1" dirty="0"/>
              <a:t>α → β</a:t>
            </a:r>
            <a:r>
              <a:rPr lang="el-GR" sz="2400" dirty="0"/>
              <a:t> </a:t>
            </a:r>
            <a:r>
              <a:rPr lang="fa-IR" sz="2400" dirty="0"/>
              <a:t>بدیهی باشد (یعنی </a:t>
            </a:r>
            <a:r>
              <a:rPr lang="el-GR" sz="2400" dirty="0"/>
              <a:t>β </a:t>
            </a:r>
            <a:r>
              <a:rPr lang="fa-IR" sz="2400" dirty="0" err="1"/>
              <a:t>زیرمجموعه‌ای</a:t>
            </a:r>
            <a:r>
              <a:rPr lang="fa-IR" sz="2400" dirty="0"/>
              <a:t> از </a:t>
            </a:r>
            <a:r>
              <a:rPr lang="el-GR" sz="2400" dirty="0"/>
              <a:t>α </a:t>
            </a:r>
            <a:r>
              <a:rPr lang="fa-IR" sz="2400" dirty="0"/>
              <a:t>باشد)</a:t>
            </a:r>
            <a:endParaRPr lang="en-US" altLang="en-US" dirty="0">
              <a:sym typeface="Greek Symbols"/>
            </a:endParaRPr>
          </a:p>
          <a:p>
            <a:pPr lvl="1" algn="r" rtl="1"/>
            <a:r>
              <a:rPr lang="el-GR" sz="2400" dirty="0"/>
              <a:t>α </a:t>
            </a:r>
            <a:r>
              <a:rPr lang="fa-IR" sz="2400" dirty="0"/>
              <a:t>یک </a:t>
            </a:r>
            <a:r>
              <a:rPr lang="fa-IR" sz="2400" b="1" dirty="0"/>
              <a:t>ابرکلید</a:t>
            </a:r>
            <a:r>
              <a:rPr lang="fa-IR" sz="2400" dirty="0"/>
              <a:t> برای </a:t>
            </a:r>
            <a:r>
              <a:rPr lang="en-US" sz="2400" dirty="0"/>
              <a:t>R </a:t>
            </a:r>
            <a:r>
              <a:rPr lang="fa-IR" sz="2400" dirty="0"/>
              <a:t>باشد. اگر وابستگی تابعی وجود دارد باید آن ابرکلید باشد. </a:t>
            </a:r>
            <a:endParaRPr lang="en-US" altLang="en-US" i="1" dirty="0">
              <a:sym typeface="Greek Symbols"/>
            </a:endParaRPr>
          </a:p>
          <a:p>
            <a:pPr algn="r" rtl="1"/>
            <a:endParaRPr lang="en-US" altLang="en-US" sz="2800" i="1" dirty="0">
              <a:sym typeface="Greek Symbols"/>
            </a:endParaRPr>
          </a:p>
          <a:p>
            <a:pPr algn="r" rtl="1"/>
            <a:endParaRPr lang="en-US" altLang="en-US" sz="2800" dirty="0">
              <a:sym typeface="Symbol" panose="05050102010706020507" pitchFamily="18" charset="2"/>
            </a:endParaRPr>
          </a:p>
        </p:txBody>
      </p:sp>
    </p:spTree>
    <p:extLst>
      <p:ext uri="{BB962C8B-B14F-4D97-AF65-F5344CB8AC3E}">
        <p14:creationId xmlns:p14="http://schemas.microsoft.com/office/powerpoint/2010/main" val="265138625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683011">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683011">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683011">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499"/>
                                          </p:stCondLst>
                                        </p:cTn>
                                        <p:tgtEl>
                                          <p:spTgt spid="683011">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499"/>
                                          </p:stCondLst>
                                        </p:cTn>
                                        <p:tgtEl>
                                          <p:spTgt spid="683011">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3011" grpId="0" build="p" autoUpdateAnimBg="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3010"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Boyce-Codd Normal Form (Cont.)</a:t>
            </a:r>
          </a:p>
        </p:txBody>
      </p:sp>
      <p:sp>
        <p:nvSpPr>
          <p:cNvPr id="683011" name="Rectangle 3"/>
          <p:cNvSpPr>
            <a:spLocks noGrp="1" noChangeArrowheads="1"/>
          </p:cNvSpPr>
          <p:nvPr>
            <p:ph idx="1"/>
          </p:nvPr>
        </p:nvSpPr>
        <p:spPr>
          <a:xfrm>
            <a:off x="684536" y="1881092"/>
            <a:ext cx="7774928" cy="5201992"/>
          </a:xfrm>
        </p:spPr>
        <p:txBody>
          <a:bodyPr/>
          <a:lstStyle/>
          <a:p>
            <a:pPr algn="r" rtl="1">
              <a:lnSpc>
                <a:spcPct val="90000"/>
              </a:lnSpc>
            </a:pPr>
            <a:r>
              <a:rPr lang="fa-IR" dirty="0"/>
              <a:t>مثالِ یک شِمایی که در </a:t>
            </a:r>
            <a:r>
              <a:rPr lang="en-US" dirty="0"/>
              <a:t>BCNF </a:t>
            </a:r>
            <a:r>
              <a:rPr lang="fa-IR" dirty="0"/>
              <a:t>نیست:</a:t>
            </a:r>
            <a:endParaRPr lang="en-US" altLang="en-US" dirty="0"/>
          </a:p>
          <a:p>
            <a:pPr algn="r" rtl="1">
              <a:buFont typeface="Monotype Sorts" pitchFamily="-84" charset="2"/>
              <a:buNone/>
            </a:pPr>
            <a:r>
              <a:rPr lang="en-US" altLang="en-US" dirty="0"/>
              <a:t> </a:t>
            </a:r>
            <a:r>
              <a:rPr lang="fa-IR" altLang="en-US" dirty="0"/>
              <a:t>زیرا:</a:t>
            </a:r>
            <a:endParaRPr lang="en-US" altLang="en-US" dirty="0"/>
          </a:p>
          <a:p>
            <a:pPr lvl="1" algn="r" rtl="1"/>
            <a:r>
              <a:rPr lang="en-US" altLang="en-US" i="1" dirty="0" err="1"/>
              <a:t>dept_name</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building, budget  </a:t>
            </a:r>
          </a:p>
          <a:p>
            <a:pPr lvl="2" algn="r" rtl="1"/>
            <a:r>
              <a:rPr lang="fa-IR" sz="2400" dirty="0"/>
              <a:t>در رابطه </a:t>
            </a:r>
            <a:r>
              <a:rPr lang="en-US" sz="2400" b="1" dirty="0" err="1"/>
              <a:t>in_dep</a:t>
            </a:r>
            <a:r>
              <a:rPr lang="en-US" sz="2400" dirty="0"/>
              <a:t> </a:t>
            </a:r>
            <a:r>
              <a:rPr lang="fa-IR" sz="2400" dirty="0"/>
              <a:t>برقرار است.</a:t>
            </a:r>
            <a:endParaRPr lang="en-US" altLang="en-US" i="1" dirty="0">
              <a:sym typeface="Monotype Sorts" pitchFamily="-84" charset="2"/>
            </a:endParaRPr>
          </a:p>
          <a:p>
            <a:pPr lvl="2" algn="r" rtl="1"/>
            <a:r>
              <a:rPr lang="fa-IR" altLang="en-US" dirty="0">
                <a:sym typeface="Monotype Sorts" pitchFamily="-84" charset="2"/>
              </a:rPr>
              <a:t>ولی</a:t>
            </a:r>
            <a:endParaRPr lang="en-US" altLang="en-US" dirty="0">
              <a:sym typeface="Monotype Sorts" pitchFamily="-84" charset="2"/>
            </a:endParaRPr>
          </a:p>
          <a:p>
            <a:pPr lvl="1" algn="r" rtl="1"/>
            <a:r>
              <a:rPr lang="en-US" sz="2400" b="1" dirty="0" err="1"/>
              <a:t>dept_name</a:t>
            </a:r>
            <a:r>
              <a:rPr lang="en-US" sz="2400" dirty="0"/>
              <a:t> </a:t>
            </a:r>
            <a:r>
              <a:rPr lang="fa-IR" sz="2400" dirty="0"/>
              <a:t>یک اَبَرکلید نیست.</a:t>
            </a:r>
            <a:endParaRPr lang="en-US" altLang="en-US" dirty="0">
              <a:sym typeface="Monotype Sorts" pitchFamily="-84" charset="2"/>
            </a:endParaRPr>
          </a:p>
          <a:p>
            <a:pPr marL="0" indent="0" algn="r" rtl="1">
              <a:buNone/>
            </a:pPr>
            <a:r>
              <a:rPr lang="fa-IR" sz="2400" dirty="0"/>
              <a:t>وقتی </a:t>
            </a:r>
            <a:r>
              <a:rPr lang="en-US" sz="2400" b="1" dirty="0" err="1"/>
              <a:t>in_dep</a:t>
            </a:r>
            <a:r>
              <a:rPr lang="en-US" sz="2400" dirty="0"/>
              <a:t> </a:t>
            </a:r>
            <a:r>
              <a:rPr lang="fa-IR" sz="2400" dirty="0"/>
              <a:t>را به دو رابطه </a:t>
            </a:r>
            <a:r>
              <a:rPr lang="en-US" sz="2400" i="1" dirty="0"/>
              <a:t>instructor</a:t>
            </a:r>
            <a:r>
              <a:rPr lang="en-US" sz="2400" dirty="0"/>
              <a:t> </a:t>
            </a:r>
            <a:r>
              <a:rPr lang="fa-IR" sz="2400" dirty="0"/>
              <a:t>و </a:t>
            </a:r>
            <a:r>
              <a:rPr lang="en-US" sz="2400" i="1" dirty="0"/>
              <a:t>department</a:t>
            </a:r>
            <a:r>
              <a:rPr lang="en-US" sz="2400" dirty="0"/>
              <a:t> </a:t>
            </a:r>
            <a:r>
              <a:rPr lang="fa-IR" sz="2400" dirty="0"/>
              <a:t>تجزیه می‌کنیم،</a:t>
            </a:r>
            <a:r>
              <a:rPr lang="en-US" altLang="en-US" i="1" dirty="0">
                <a:sym typeface="Monotype Sorts" pitchFamily="-84" charset="2"/>
              </a:rPr>
              <a:t> </a:t>
            </a:r>
          </a:p>
          <a:p>
            <a:pPr lvl="1" algn="r" rtl="1"/>
            <a:r>
              <a:rPr lang="fa-IR" sz="2400" dirty="0"/>
              <a:t>رابطه </a:t>
            </a:r>
            <a:r>
              <a:rPr lang="en-US" sz="2400" b="1" dirty="0"/>
              <a:t>instructor</a:t>
            </a:r>
            <a:r>
              <a:rPr lang="en-US" sz="2400" dirty="0"/>
              <a:t> </a:t>
            </a:r>
            <a:r>
              <a:rPr lang="fa-IR" sz="2400" dirty="0"/>
              <a:t>در </a:t>
            </a:r>
            <a:r>
              <a:rPr lang="en-US" sz="2400" dirty="0"/>
              <a:t>BCNF </a:t>
            </a:r>
            <a:r>
              <a:rPr lang="fa-IR" sz="2400" dirty="0"/>
              <a:t>است.</a:t>
            </a:r>
            <a:endParaRPr lang="en-US" altLang="en-US" dirty="0">
              <a:sym typeface="Monotype Sorts" pitchFamily="-84" charset="2"/>
            </a:endParaRPr>
          </a:p>
          <a:p>
            <a:pPr lvl="1" algn="r" rtl="1"/>
            <a:r>
              <a:rPr lang="fa-IR" sz="2400" dirty="0"/>
              <a:t>رابطه </a:t>
            </a:r>
            <a:r>
              <a:rPr lang="en-US" sz="2400" b="1" dirty="0"/>
              <a:t>department</a:t>
            </a:r>
            <a:r>
              <a:rPr lang="en-US" sz="2400" dirty="0"/>
              <a:t> </a:t>
            </a:r>
            <a:r>
              <a:rPr lang="fa-IR" sz="2400" dirty="0"/>
              <a:t>نیز در </a:t>
            </a:r>
            <a:r>
              <a:rPr lang="en-US" sz="2400" dirty="0"/>
              <a:t>BCNF </a:t>
            </a:r>
            <a:r>
              <a:rPr lang="fa-IR" sz="2400" dirty="0"/>
              <a:t>است.</a:t>
            </a:r>
            <a:endParaRPr lang="en-US" altLang="en-US" dirty="0">
              <a:sym typeface="Monotype Sorts" pitchFamily="-84" charset="2"/>
            </a:endParaRPr>
          </a:p>
          <a:p>
            <a:pPr>
              <a:buFont typeface="Monotype Sorts" pitchFamily="-84" charset="2"/>
              <a:buNone/>
            </a:pPr>
            <a:endParaRPr lang="en-US" altLang="en-US" sz="2800" dirty="0">
              <a:sym typeface="Monotype Sorts" pitchFamily="-84" charset="2"/>
            </a:endParaRPr>
          </a:p>
          <a:p>
            <a:pPr>
              <a:buFont typeface="Monotype Sorts" pitchFamily="-84" charset="2"/>
              <a:buNone/>
            </a:pPr>
            <a:endParaRPr lang="en-US" altLang="en-US" sz="2800" dirty="0">
              <a:sym typeface="Monotype Sorts" pitchFamily="-84" charset="2"/>
            </a:endParaRPr>
          </a:p>
          <a:p>
            <a:endParaRPr lang="en-US" altLang="en-US" sz="2800" i="1" dirty="0">
              <a:sym typeface="Greek Symbols"/>
            </a:endParaRPr>
          </a:p>
          <a:p>
            <a:endParaRPr lang="en-US" altLang="en-US" sz="2800" dirty="0">
              <a:sym typeface="Symbol" panose="05050102010706020507" pitchFamily="18" charset="2"/>
            </a:endParaRPr>
          </a:p>
        </p:txBody>
      </p:sp>
      <p:sp>
        <p:nvSpPr>
          <p:cNvPr id="3" name="TextBox 2">
            <a:extLst>
              <a:ext uri="{FF2B5EF4-FFF2-40B4-BE49-F238E27FC236}">
                <a16:creationId xmlns:a16="http://schemas.microsoft.com/office/drawing/2014/main" id="{C570F802-196A-24F2-862D-364577000F07}"/>
              </a:ext>
            </a:extLst>
          </p:cNvPr>
          <p:cNvSpPr txBox="1"/>
          <p:nvPr/>
        </p:nvSpPr>
        <p:spPr>
          <a:xfrm>
            <a:off x="112540" y="1262097"/>
            <a:ext cx="6766561" cy="341632"/>
          </a:xfrm>
          <a:prstGeom prst="rect">
            <a:avLst/>
          </a:prstGeom>
          <a:noFill/>
        </p:spPr>
        <p:txBody>
          <a:bodyPr wrap="square">
            <a:spAutoFit/>
          </a:bodyPr>
          <a:lstStyle/>
          <a:p>
            <a:pPr algn="l">
              <a:lnSpc>
                <a:spcPct val="90000"/>
              </a:lnSpc>
            </a:pPr>
            <a:r>
              <a:rPr lang="en-US" altLang="en-US" sz="1800" i="1" dirty="0" err="1"/>
              <a:t>in_dep</a:t>
            </a:r>
            <a:r>
              <a:rPr lang="en-US" altLang="en-US" sz="1800" i="1" dirty="0"/>
              <a:t> </a:t>
            </a:r>
            <a:r>
              <a:rPr lang="en-US" altLang="en-US" sz="1800" dirty="0"/>
              <a:t>(</a:t>
            </a:r>
            <a:r>
              <a:rPr lang="en-US" altLang="en-US" sz="1800" i="1" u="sng" dirty="0"/>
              <a:t>ID, </a:t>
            </a:r>
            <a:r>
              <a:rPr lang="en-US" altLang="en-US" sz="1800" i="1" dirty="0"/>
              <a:t>name, salary</a:t>
            </a:r>
            <a:r>
              <a:rPr lang="en-US" altLang="en-US" sz="1800" i="1" u="sng" dirty="0"/>
              <a:t>, </a:t>
            </a:r>
            <a:r>
              <a:rPr lang="en-US" altLang="en-US" sz="1800" i="1" u="sng" dirty="0" err="1"/>
              <a:t>dept_name</a:t>
            </a:r>
            <a:r>
              <a:rPr lang="en-US" altLang="en-US" sz="1800" i="1" u="sng" dirty="0"/>
              <a:t>, </a:t>
            </a:r>
            <a:r>
              <a:rPr lang="en-US" altLang="en-US" sz="1800" i="1" dirty="0"/>
              <a:t>building, budget </a:t>
            </a:r>
            <a:r>
              <a:rPr lang="en-US" altLang="en-US" sz="1800" dirty="0"/>
              <a:t>)</a:t>
            </a:r>
            <a:endParaRPr lang="fa-IR" altLang="en-US" sz="1800" dirty="0"/>
          </a:p>
        </p:txBody>
      </p:sp>
    </p:spTree>
    <p:extLst>
      <p:ext uri="{BB962C8B-B14F-4D97-AF65-F5344CB8AC3E}">
        <p14:creationId xmlns:p14="http://schemas.microsoft.com/office/powerpoint/2010/main" val="1120745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830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83011">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83011">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83011">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83011">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83011">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83011">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83011">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83011">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3011" grpId="0"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3010"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Decomposing a Schema into BCNF</a:t>
            </a:r>
          </a:p>
        </p:txBody>
      </p:sp>
      <p:sp>
        <p:nvSpPr>
          <p:cNvPr id="683011" name="Rectangle 3"/>
          <p:cNvSpPr>
            <a:spLocks noGrp="1" noChangeArrowheads="1"/>
          </p:cNvSpPr>
          <p:nvPr>
            <p:ph idx="1"/>
          </p:nvPr>
        </p:nvSpPr>
        <p:spPr>
          <a:xfrm>
            <a:off x="768350" y="1163639"/>
            <a:ext cx="7399106" cy="4334953"/>
          </a:xfrm>
        </p:spPr>
        <p:txBody>
          <a:bodyPr/>
          <a:lstStyle/>
          <a:p>
            <a:pPr algn="r" rtl="1">
              <a:lnSpc>
                <a:spcPct val="90000"/>
              </a:lnSpc>
            </a:pPr>
            <a:r>
              <a:rPr lang="fa-IR" sz="2400" dirty="0"/>
              <a:t>فرض میکنیم </a:t>
            </a:r>
            <a:r>
              <a:rPr lang="en-US" sz="2400" dirty="0"/>
              <a:t>R </a:t>
            </a:r>
            <a:r>
              <a:rPr lang="fa-IR" sz="2400" dirty="0"/>
              <a:t>یک </a:t>
            </a:r>
            <a:r>
              <a:rPr lang="fa-IR" sz="2400" dirty="0" err="1"/>
              <a:t>شِمای</a:t>
            </a:r>
            <a:r>
              <a:rPr lang="fa-IR" sz="2400" dirty="0"/>
              <a:t> رابطه باشد که در </a:t>
            </a:r>
            <a:r>
              <a:rPr lang="en-US" sz="2400" dirty="0"/>
              <a:t>BCNF </a:t>
            </a:r>
            <a:r>
              <a:rPr lang="fa-IR" sz="2400" dirty="0"/>
              <a:t>نیست.</a:t>
            </a:r>
            <a:br>
              <a:rPr lang="fa-IR" sz="2400" dirty="0"/>
            </a:br>
            <a:r>
              <a:rPr lang="fa-IR" sz="2400" dirty="0"/>
              <a:t>اگر </a:t>
            </a:r>
            <a:r>
              <a:rPr lang="el-GR" sz="2400" dirty="0"/>
              <a:t>α → β </a:t>
            </a:r>
            <a:r>
              <a:rPr lang="fa-IR" sz="2400" dirty="0" err="1"/>
              <a:t>وابستگیِ</a:t>
            </a:r>
            <a:r>
              <a:rPr lang="fa-IR" sz="2400" dirty="0"/>
              <a:t> </a:t>
            </a:r>
            <a:r>
              <a:rPr lang="fa-IR" sz="2400" dirty="0" err="1"/>
              <a:t>تابعی‌ای</a:t>
            </a:r>
            <a:r>
              <a:rPr lang="fa-IR" sz="2400" dirty="0"/>
              <a:t> باشد که باعث </a:t>
            </a:r>
            <a:r>
              <a:rPr lang="fa-IR" sz="2400" b="1" dirty="0"/>
              <a:t>نقض</a:t>
            </a:r>
            <a:r>
              <a:rPr lang="fa-IR" sz="2400" dirty="0"/>
              <a:t> </a:t>
            </a:r>
            <a:r>
              <a:rPr lang="en-US" sz="2400" dirty="0"/>
              <a:t>BCNF </a:t>
            </a:r>
            <a:r>
              <a:rPr lang="fa-IR" sz="2400" dirty="0"/>
              <a:t>شده است.</a:t>
            </a:r>
            <a:endParaRPr lang="en-US" altLang="en-US" dirty="0"/>
          </a:p>
          <a:p>
            <a:pPr algn="r" rtl="1">
              <a:lnSpc>
                <a:spcPct val="90000"/>
              </a:lnSpc>
            </a:pPr>
            <a:r>
              <a:rPr lang="fa-IR" sz="1800" dirty="0"/>
              <a:t>ما </a:t>
            </a:r>
            <a:r>
              <a:rPr lang="en-US" sz="1800" dirty="0"/>
              <a:t>R </a:t>
            </a:r>
            <a:r>
              <a:rPr lang="fa-IR" sz="1800" dirty="0"/>
              <a:t>را به دو رابطه تجزیه </a:t>
            </a:r>
            <a:r>
              <a:rPr lang="fa-IR" sz="1800" dirty="0" err="1"/>
              <a:t>می‌کنیم</a:t>
            </a:r>
            <a:r>
              <a:rPr lang="fa-IR" sz="1800" dirty="0"/>
              <a:t>:</a:t>
            </a:r>
            <a:endParaRPr lang="en-US" altLang="en-US" sz="1700" dirty="0"/>
          </a:p>
          <a:p>
            <a:pPr lvl="1" algn="r" rtl="1">
              <a:lnSpc>
                <a:spcPct val="90000"/>
              </a:lnSpc>
              <a:buFont typeface="Times" panose="02020603050405020304" pitchFamily="18" charset="0"/>
              <a:buChar char="•"/>
            </a:pPr>
            <a:r>
              <a:rPr lang="en-US" altLang="en-US" sz="1700" dirty="0"/>
              <a:t>(</a:t>
            </a:r>
            <a:r>
              <a:rPr lang="en-US" altLang="en-US" sz="1700" dirty="0">
                <a:sym typeface="Symbol" panose="05050102010706020507" pitchFamily="18" charset="2"/>
              </a:rPr>
              <a:t></a:t>
            </a:r>
            <a:r>
              <a:rPr lang="en-US" altLang="en-US" sz="1700" dirty="0">
                <a:sym typeface="Greek Symbols"/>
              </a:rPr>
              <a:t> U </a:t>
            </a:r>
            <a:r>
              <a:rPr lang="en-US" altLang="en-US" sz="1700" dirty="0">
                <a:sym typeface="Symbol" panose="05050102010706020507" pitchFamily="18" charset="2"/>
              </a:rPr>
              <a:t></a:t>
            </a:r>
            <a:r>
              <a:rPr lang="en-US" altLang="en-US" sz="1700" i="1" dirty="0">
                <a:sym typeface="Symbol" panose="05050102010706020507" pitchFamily="18" charset="2"/>
              </a:rPr>
              <a:t> </a:t>
            </a:r>
            <a:r>
              <a:rPr lang="en-US" altLang="en-US" sz="1700" dirty="0">
                <a:sym typeface="Symbol" panose="05050102010706020507" pitchFamily="18" charset="2"/>
              </a:rPr>
              <a:t>)</a:t>
            </a:r>
            <a:r>
              <a:rPr lang="fa-IR" altLang="en-US" sz="1700" dirty="0">
                <a:sym typeface="Symbol" panose="05050102010706020507" pitchFamily="18" charset="2"/>
              </a:rPr>
              <a:t> در یک رابطه جدید</a:t>
            </a:r>
            <a:endParaRPr lang="en-US" altLang="en-US" sz="1700" dirty="0"/>
          </a:p>
          <a:p>
            <a:pPr lvl="1" algn="r" rtl="1">
              <a:lnSpc>
                <a:spcPct val="90000"/>
              </a:lnSpc>
              <a:buFont typeface="Times" panose="02020603050405020304" pitchFamily="18" charset="0"/>
              <a:buChar char="•"/>
            </a:pPr>
            <a:r>
              <a:rPr lang="en-US" altLang="en-US" sz="1700" dirty="0"/>
              <a:t>( </a:t>
            </a:r>
            <a:r>
              <a:rPr lang="en-US" altLang="en-US" sz="1700" i="1" dirty="0"/>
              <a:t>R</a:t>
            </a:r>
            <a:r>
              <a:rPr lang="en-US" altLang="en-US" sz="1700" dirty="0"/>
              <a:t> - ( </a:t>
            </a:r>
            <a:r>
              <a:rPr lang="en-US" altLang="en-US" sz="1700" i="1" dirty="0">
                <a:sym typeface="Symbol" panose="05050102010706020507" pitchFamily="18" charset="2"/>
              </a:rPr>
              <a:t> - </a:t>
            </a:r>
            <a:r>
              <a:rPr lang="en-US" altLang="en-US" sz="1700" dirty="0">
                <a:sym typeface="Symbol" panose="05050102010706020507" pitchFamily="18" charset="2"/>
              </a:rPr>
              <a:t> ) )</a:t>
            </a:r>
            <a:r>
              <a:rPr lang="fa-IR" altLang="en-US" sz="1700" dirty="0">
                <a:sym typeface="Symbol" panose="05050102010706020507" pitchFamily="18" charset="2"/>
              </a:rPr>
              <a:t> در یک رابطه جدید</a:t>
            </a:r>
            <a:endParaRPr lang="en-US" altLang="en-US" sz="1700" dirty="0"/>
          </a:p>
          <a:p>
            <a:pPr algn="r" rtl="1">
              <a:lnSpc>
                <a:spcPct val="90000"/>
              </a:lnSpc>
            </a:pPr>
            <a:r>
              <a:rPr lang="fa-IR" sz="1800" dirty="0"/>
              <a:t>در مثال ما یعنی </a:t>
            </a:r>
            <a:r>
              <a:rPr lang="en-US" sz="1800" dirty="0" err="1"/>
              <a:t>in_dep</a:t>
            </a:r>
            <a:r>
              <a:rPr lang="fa-IR" sz="1800" dirty="0"/>
              <a:t>:</a:t>
            </a:r>
            <a:endParaRPr lang="en-US" altLang="en-US" sz="1700" dirty="0"/>
          </a:p>
          <a:p>
            <a:pPr lvl="1" algn="r" rtl="1">
              <a:lnSpc>
                <a:spcPct val="90000"/>
              </a:lnSpc>
            </a:pPr>
            <a:r>
              <a:rPr lang="en-US" altLang="en-US" sz="1700" dirty="0">
                <a:sym typeface="Symbol" panose="05050102010706020507" pitchFamily="18" charset="2"/>
              </a:rPr>
              <a:t> = </a:t>
            </a:r>
            <a:r>
              <a:rPr lang="en-US" altLang="en-US" sz="1700" i="1" dirty="0" err="1">
                <a:sym typeface="Symbol" panose="05050102010706020507" pitchFamily="18" charset="2"/>
              </a:rPr>
              <a:t>dept_name</a:t>
            </a:r>
            <a:endParaRPr lang="en-US" altLang="en-US" sz="1700" dirty="0">
              <a:sym typeface="Symbol" panose="05050102010706020507" pitchFamily="18" charset="2"/>
            </a:endParaRPr>
          </a:p>
          <a:p>
            <a:pPr lvl="1" algn="r" rtl="1">
              <a:lnSpc>
                <a:spcPct val="90000"/>
              </a:lnSpc>
            </a:pPr>
            <a:r>
              <a:rPr lang="en-US" altLang="en-US" sz="1700" i="1" dirty="0">
                <a:sym typeface="Symbol" panose="05050102010706020507" pitchFamily="18" charset="2"/>
              </a:rPr>
              <a:t> </a:t>
            </a:r>
            <a:r>
              <a:rPr lang="en-US" altLang="en-US" sz="1700" dirty="0">
                <a:sym typeface="Symbol" panose="05050102010706020507" pitchFamily="18" charset="2"/>
              </a:rPr>
              <a:t>=</a:t>
            </a:r>
            <a:r>
              <a:rPr lang="en-US" altLang="en-US" sz="1700" i="1" dirty="0">
                <a:sym typeface="Symbol" panose="05050102010706020507" pitchFamily="18" charset="2"/>
              </a:rPr>
              <a:t> building, budget</a:t>
            </a:r>
          </a:p>
          <a:p>
            <a:pPr lvl="1" algn="r" rtl="1">
              <a:lnSpc>
                <a:spcPct val="90000"/>
              </a:lnSpc>
              <a:buFont typeface="Monotype Sorts" pitchFamily="-84" charset="2"/>
              <a:buNone/>
            </a:pPr>
            <a:r>
              <a:rPr lang="fa-IR" sz="1800" dirty="0"/>
              <a:t>و </a:t>
            </a:r>
            <a:r>
              <a:rPr lang="en-US" sz="1800" dirty="0" err="1"/>
              <a:t>in_dep</a:t>
            </a:r>
            <a:r>
              <a:rPr lang="en-US" sz="1800" dirty="0"/>
              <a:t> </a:t>
            </a:r>
            <a:r>
              <a:rPr lang="fa-IR" sz="1800" dirty="0"/>
              <a:t>جایگزین </a:t>
            </a:r>
            <a:r>
              <a:rPr lang="fa-IR" sz="1800" dirty="0" err="1"/>
              <a:t>می‌شود</a:t>
            </a:r>
            <a:r>
              <a:rPr lang="fa-IR" sz="1800" dirty="0"/>
              <a:t> با:</a:t>
            </a:r>
            <a:endParaRPr lang="en-US" altLang="en-US" sz="1700" dirty="0"/>
          </a:p>
          <a:p>
            <a:pPr lvl="1" algn="r" rtl="1">
              <a:lnSpc>
                <a:spcPct val="90000"/>
              </a:lnSpc>
            </a:pPr>
            <a:r>
              <a:rPr lang="en-US" altLang="en-US" sz="1700" dirty="0"/>
              <a:t> (</a:t>
            </a:r>
            <a:r>
              <a:rPr lang="en-US" altLang="en-US" sz="1700" dirty="0">
                <a:sym typeface="Symbol" panose="05050102010706020507" pitchFamily="18" charset="2"/>
              </a:rPr>
              <a:t></a:t>
            </a:r>
            <a:r>
              <a:rPr lang="en-US" altLang="en-US" sz="1700" dirty="0">
                <a:sym typeface="Greek Symbols"/>
              </a:rPr>
              <a:t> U </a:t>
            </a:r>
            <a:r>
              <a:rPr lang="en-US" altLang="en-US" sz="1700" dirty="0">
                <a:sym typeface="Symbol" panose="05050102010706020507" pitchFamily="18" charset="2"/>
              </a:rPr>
              <a:t></a:t>
            </a:r>
            <a:r>
              <a:rPr lang="en-US" altLang="en-US" sz="1700" i="1" dirty="0">
                <a:sym typeface="Symbol" panose="05050102010706020507" pitchFamily="18" charset="2"/>
              </a:rPr>
              <a:t> </a:t>
            </a:r>
            <a:r>
              <a:rPr lang="en-US" altLang="en-US" sz="1700" dirty="0">
                <a:sym typeface="Symbol" panose="05050102010706020507" pitchFamily="18" charset="2"/>
              </a:rPr>
              <a:t>) = ( </a:t>
            </a:r>
            <a:r>
              <a:rPr lang="en-US" altLang="en-US" sz="1700" i="1" dirty="0" err="1">
                <a:sym typeface="Symbol" panose="05050102010706020507" pitchFamily="18" charset="2"/>
              </a:rPr>
              <a:t>dept_name</a:t>
            </a:r>
            <a:r>
              <a:rPr lang="en-US" altLang="en-US" sz="1700" i="1" dirty="0">
                <a:sym typeface="Symbol" panose="05050102010706020507" pitchFamily="18" charset="2"/>
              </a:rPr>
              <a:t>, building, budget</a:t>
            </a:r>
            <a:r>
              <a:rPr lang="en-US" altLang="en-US" sz="1700" dirty="0">
                <a:sym typeface="Symbol" panose="05050102010706020507" pitchFamily="18" charset="2"/>
              </a:rPr>
              <a:t> )</a:t>
            </a:r>
          </a:p>
          <a:p>
            <a:pPr lvl="1" algn="r" rtl="1">
              <a:lnSpc>
                <a:spcPct val="90000"/>
              </a:lnSpc>
            </a:pPr>
            <a:r>
              <a:rPr lang="en-US" altLang="en-US" sz="1700" dirty="0"/>
              <a:t>( </a:t>
            </a:r>
            <a:r>
              <a:rPr lang="en-US" altLang="en-US" sz="1700" i="1" dirty="0"/>
              <a:t>R</a:t>
            </a:r>
            <a:r>
              <a:rPr lang="en-US" altLang="en-US" sz="1700" dirty="0"/>
              <a:t> - ( </a:t>
            </a:r>
            <a:r>
              <a:rPr lang="en-US" altLang="en-US" sz="1700" i="1" dirty="0">
                <a:sym typeface="Symbol" panose="05050102010706020507" pitchFamily="18" charset="2"/>
              </a:rPr>
              <a:t> - </a:t>
            </a:r>
            <a:r>
              <a:rPr lang="en-US" altLang="en-US" sz="1700" dirty="0">
                <a:sym typeface="Symbol" panose="05050102010706020507" pitchFamily="18" charset="2"/>
              </a:rPr>
              <a:t> ) ) = ( </a:t>
            </a:r>
            <a:r>
              <a:rPr lang="en-US" altLang="en-US" sz="1700" i="1" dirty="0">
                <a:sym typeface="Symbol" panose="05050102010706020507" pitchFamily="18" charset="2"/>
              </a:rPr>
              <a:t>ID, name, </a:t>
            </a:r>
            <a:r>
              <a:rPr lang="en-US" altLang="en-US" sz="1700" i="1" dirty="0" err="1">
                <a:sym typeface="Symbol" panose="05050102010706020507" pitchFamily="18" charset="2"/>
              </a:rPr>
              <a:t>dept_name</a:t>
            </a:r>
            <a:r>
              <a:rPr lang="en-US" altLang="en-US" sz="1700" i="1" dirty="0">
                <a:sym typeface="Symbol" panose="05050102010706020507" pitchFamily="18" charset="2"/>
              </a:rPr>
              <a:t>, salary</a:t>
            </a:r>
            <a:r>
              <a:rPr lang="en-US" altLang="en-US" sz="1700" dirty="0">
                <a:sym typeface="Symbol" panose="05050102010706020507" pitchFamily="18" charset="2"/>
              </a:rPr>
              <a:t> )</a:t>
            </a:r>
          </a:p>
        </p:txBody>
      </p:sp>
    </p:spTree>
    <p:extLst>
      <p:ext uri="{BB962C8B-B14F-4D97-AF65-F5344CB8AC3E}">
        <p14:creationId xmlns:p14="http://schemas.microsoft.com/office/powerpoint/2010/main" val="346254830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6830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683011">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499"/>
                                          </p:stCondLst>
                                        </p:cTn>
                                        <p:tgtEl>
                                          <p:spTgt spid="683011">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499"/>
                                          </p:stCondLst>
                                        </p:cTn>
                                        <p:tgtEl>
                                          <p:spTgt spid="683011">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683011">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499"/>
                                          </p:stCondLst>
                                        </p:cTn>
                                        <p:tgtEl>
                                          <p:spTgt spid="683011">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499"/>
                                          </p:stCondLst>
                                        </p:cTn>
                                        <p:tgtEl>
                                          <p:spTgt spid="683011">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499"/>
                                          </p:stCondLst>
                                        </p:cTn>
                                        <p:tgtEl>
                                          <p:spTgt spid="683011">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499"/>
                                          </p:stCondLst>
                                        </p:cTn>
                                        <p:tgtEl>
                                          <p:spTgt spid="683011">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499"/>
                                          </p:stCondLst>
                                        </p:cTn>
                                        <p:tgtEl>
                                          <p:spTgt spid="683011">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3011" grpId="0" build="p" autoUpdateAnimBg="0"/>
    </p:bldLst>
  </p:timing>
</p:sld>
</file>

<file path=ppt/slides/slide6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924674" name="Rectangle 2"/>
          <p:cNvSpPr>
            <a:spLocks noGrp="1" noChangeArrowheads="1"/>
          </p:cNvSpPr>
          <p:nvPr>
            <p:ph type="title"/>
          </p:nvPr>
        </p:nvSpPr>
        <p:spPr/>
        <p:txBody>
          <a:bodyPr/>
          <a:lstStyle/>
          <a:p>
            <a:pPr>
              <a:defRPr/>
            </a:pPr>
            <a:r>
              <a:rPr lang="en-US" sz="2800" dirty="0">
                <a:ea typeface="ＭＳ Ｐゴシック" pitchFamily="34" charset="-128"/>
              </a:rPr>
              <a:t>Example</a:t>
            </a:r>
          </a:p>
        </p:txBody>
      </p:sp>
      <p:sp>
        <p:nvSpPr>
          <p:cNvPr id="924675" name="Rectangle 3"/>
          <p:cNvSpPr>
            <a:spLocks noGrp="1" noChangeArrowheads="1"/>
          </p:cNvSpPr>
          <p:nvPr>
            <p:ph idx="1"/>
          </p:nvPr>
        </p:nvSpPr>
        <p:spPr>
          <a:xfrm>
            <a:off x="768351" y="1093789"/>
            <a:ext cx="7607554" cy="4502340"/>
          </a:xfrm>
        </p:spPr>
        <p:txBody>
          <a:bodyPr/>
          <a:lstStyle/>
          <a:p>
            <a:pPr>
              <a:tabLst>
                <a:tab pos="2054225" algn="l"/>
              </a:tabLst>
            </a:pPr>
            <a:r>
              <a:rPr lang="en-US" altLang="en-US" sz="1700" i="1" dirty="0"/>
              <a:t>R = (A, B, C)</a:t>
            </a:r>
            <a:br>
              <a:rPr lang="en-US" altLang="en-US" sz="1700" i="1" dirty="0"/>
            </a:br>
            <a:r>
              <a:rPr lang="en-US" altLang="en-US" sz="1700" i="1" dirty="0"/>
              <a:t>F = {A </a:t>
            </a:r>
            <a:r>
              <a:rPr lang="en-US" altLang="en-US" sz="1700" dirty="0">
                <a:sym typeface="Symbol" panose="05050102010706020507" pitchFamily="18" charset="2"/>
              </a:rPr>
              <a:t></a:t>
            </a:r>
            <a:r>
              <a:rPr lang="en-US" altLang="en-US" sz="1700" dirty="0">
                <a:sym typeface="Monotype Sorts" pitchFamily="-84" charset="2"/>
              </a:rPr>
              <a:t> </a:t>
            </a:r>
            <a:r>
              <a:rPr lang="en-US" altLang="en-US" sz="1700" i="1" dirty="0">
                <a:sym typeface="Monotype Sorts" pitchFamily="-84" charset="2"/>
              </a:rPr>
              <a:t>B, B </a:t>
            </a:r>
            <a:r>
              <a:rPr lang="en-US" altLang="en-US" sz="1700" dirty="0">
                <a:sym typeface="Symbol" panose="05050102010706020507" pitchFamily="18" charset="2"/>
              </a:rPr>
              <a:t></a:t>
            </a:r>
            <a:r>
              <a:rPr lang="en-US" altLang="en-US" sz="1700" dirty="0">
                <a:sym typeface="Monotype Sorts" pitchFamily="-84" charset="2"/>
              </a:rPr>
              <a:t> </a:t>
            </a:r>
            <a:r>
              <a:rPr lang="en-US" altLang="en-US" sz="1700" i="1" dirty="0">
                <a:sym typeface="Monotype Sorts" pitchFamily="-84" charset="2"/>
              </a:rPr>
              <a:t>C)</a:t>
            </a:r>
            <a:endParaRPr lang="en-US" altLang="en-US" sz="1700" dirty="0">
              <a:sym typeface="Monotype Sorts" pitchFamily="-84" charset="2"/>
            </a:endParaRPr>
          </a:p>
          <a:p>
            <a:pPr>
              <a:tabLst>
                <a:tab pos="2054225" algn="l"/>
              </a:tabLst>
            </a:pPr>
            <a:r>
              <a:rPr lang="en-US" altLang="en-US" sz="1700" i="1" dirty="0">
                <a:sym typeface="Monotype Sorts" pitchFamily="-84" charset="2"/>
              </a:rPr>
              <a:t>R</a:t>
            </a:r>
            <a:r>
              <a:rPr lang="en-US" altLang="en-US" sz="1700" baseline="-25000" dirty="0">
                <a:sym typeface="Monotype Sorts" pitchFamily="-84" charset="2"/>
              </a:rPr>
              <a:t>1</a:t>
            </a:r>
            <a:r>
              <a:rPr lang="en-US" altLang="en-US" sz="1700" i="1" dirty="0">
                <a:sym typeface="Monotype Sorts" pitchFamily="-84" charset="2"/>
              </a:rPr>
              <a:t> = (A, B),   R</a:t>
            </a:r>
            <a:r>
              <a:rPr lang="en-US" altLang="en-US" sz="1700" baseline="-25000" dirty="0">
                <a:sym typeface="Monotype Sorts" pitchFamily="-84" charset="2"/>
              </a:rPr>
              <a:t>2</a:t>
            </a:r>
            <a:r>
              <a:rPr lang="en-US" altLang="en-US" sz="1700" i="1" dirty="0">
                <a:sym typeface="Monotype Sorts" pitchFamily="-84" charset="2"/>
              </a:rPr>
              <a:t> = (B, C)</a:t>
            </a:r>
          </a:p>
          <a:p>
            <a:pPr lvl="1">
              <a:tabLst>
                <a:tab pos="2054225" algn="l"/>
              </a:tabLst>
            </a:pPr>
            <a:r>
              <a:rPr lang="fa-IR" sz="1800" dirty="0"/>
              <a:t>:تجزیه </a:t>
            </a:r>
            <a:r>
              <a:rPr lang="fa-IR" sz="1800" dirty="0" err="1"/>
              <a:t>بدون‌ِاتلافِ‌ِ</a:t>
            </a:r>
            <a:r>
              <a:rPr lang="fa-IR" sz="1800" dirty="0"/>
              <a:t> پیوست</a:t>
            </a:r>
            <a:endParaRPr lang="en-US" altLang="en-US" sz="1700" dirty="0">
              <a:sym typeface="Monotype Sorts" pitchFamily="-84" charset="2"/>
            </a:endParaRPr>
          </a:p>
          <a:p>
            <a:pPr lvl="1">
              <a:buFont typeface="Monotype Sorts" pitchFamily="-84" charset="2"/>
              <a:buNone/>
              <a:tabLst>
                <a:tab pos="2054225" algn="l"/>
              </a:tabLst>
            </a:pPr>
            <a:r>
              <a:rPr lang="en-US" altLang="en-US" sz="1700" dirty="0">
                <a:sym typeface="Monotype Sorts" pitchFamily="-84" charset="2"/>
              </a:rPr>
              <a:t>		 </a:t>
            </a:r>
            <a:r>
              <a:rPr lang="en-US" altLang="en-US" sz="1700" i="1" dirty="0">
                <a:sym typeface="Monotype Sorts" pitchFamily="-84" charset="2"/>
              </a:rPr>
              <a:t>R</a:t>
            </a:r>
            <a:r>
              <a:rPr lang="en-US" altLang="en-US" sz="1700" baseline="-25000" dirty="0">
                <a:sym typeface="Monotype Sorts" pitchFamily="-84" charset="2"/>
              </a:rPr>
              <a:t>1  </a:t>
            </a:r>
            <a:r>
              <a:rPr lang="en-US" altLang="en-US" sz="1700" dirty="0">
                <a:sym typeface="Symbol" panose="05050102010706020507" pitchFamily="18" charset="2"/>
              </a:rPr>
              <a:t> </a:t>
            </a:r>
            <a:r>
              <a:rPr lang="en-US" altLang="en-US" sz="1700" i="1" dirty="0">
                <a:sym typeface="Monotype Sorts" pitchFamily="-84" charset="2"/>
              </a:rPr>
              <a:t>R</a:t>
            </a:r>
            <a:r>
              <a:rPr lang="en-US" altLang="en-US" sz="1700" baseline="-25000" dirty="0">
                <a:sym typeface="Monotype Sorts" pitchFamily="-84" charset="2"/>
              </a:rPr>
              <a:t>2</a:t>
            </a:r>
            <a:r>
              <a:rPr lang="en-US" altLang="en-US" sz="1700" i="1" dirty="0">
                <a:sym typeface="Monotype Sorts" pitchFamily="-84" charset="2"/>
              </a:rPr>
              <a:t> = </a:t>
            </a:r>
            <a:r>
              <a:rPr lang="en-US" altLang="en-US" sz="1700" dirty="0">
                <a:sym typeface="Monotype Sorts" pitchFamily="-84" charset="2"/>
              </a:rPr>
              <a:t>{</a:t>
            </a:r>
            <a:r>
              <a:rPr lang="en-US" altLang="en-US" sz="1700" i="1" dirty="0">
                <a:sym typeface="Monotype Sorts" pitchFamily="-84" charset="2"/>
              </a:rPr>
              <a:t>B</a:t>
            </a:r>
            <a:r>
              <a:rPr lang="en-US" altLang="en-US" sz="1700" dirty="0">
                <a:sym typeface="Monotype Sorts" pitchFamily="-84" charset="2"/>
              </a:rPr>
              <a:t>}</a:t>
            </a:r>
            <a:r>
              <a:rPr lang="en-US" altLang="en-US" sz="1700" i="1" dirty="0">
                <a:sym typeface="Monotype Sorts" pitchFamily="-84" charset="2"/>
              </a:rPr>
              <a:t>   </a:t>
            </a:r>
            <a:r>
              <a:rPr lang="en-US" altLang="en-US" sz="1700" dirty="0">
                <a:sym typeface="Monotype Sorts" pitchFamily="-84" charset="2"/>
              </a:rPr>
              <a:t>and </a:t>
            </a:r>
            <a:r>
              <a:rPr lang="en-US" altLang="en-US" sz="1700" i="1" dirty="0">
                <a:sym typeface="Monotype Sorts" pitchFamily="-84" charset="2"/>
              </a:rPr>
              <a:t>B </a:t>
            </a:r>
            <a:r>
              <a:rPr lang="en-US" altLang="en-US" sz="1700" dirty="0">
                <a:sym typeface="Symbol" panose="05050102010706020507" pitchFamily="18" charset="2"/>
              </a:rPr>
              <a:t></a:t>
            </a:r>
            <a:r>
              <a:rPr lang="en-US" altLang="en-US" sz="1700" dirty="0">
                <a:sym typeface="Monotype Sorts" pitchFamily="-84" charset="2"/>
              </a:rPr>
              <a:t> </a:t>
            </a:r>
            <a:r>
              <a:rPr lang="en-US" altLang="en-US" sz="1700" i="1" dirty="0">
                <a:sym typeface="Monotype Sorts" pitchFamily="-84" charset="2"/>
              </a:rPr>
              <a:t>BC</a:t>
            </a:r>
          </a:p>
          <a:p>
            <a:pPr lvl="1">
              <a:tabLst>
                <a:tab pos="2054225" algn="l"/>
              </a:tabLst>
            </a:pPr>
            <a:r>
              <a:rPr lang="fa-IR" sz="1800" dirty="0"/>
              <a:t>:</a:t>
            </a:r>
            <a:r>
              <a:rPr lang="fa-IR" sz="1800" dirty="0" err="1"/>
              <a:t>حفظ‌کننده</a:t>
            </a:r>
            <a:r>
              <a:rPr lang="fa-IR" sz="1800" dirty="0"/>
              <a:t> </a:t>
            </a:r>
            <a:r>
              <a:rPr lang="fa-IR" sz="1800" dirty="0" err="1"/>
              <a:t>وابستگی‌ها</a:t>
            </a:r>
            <a:endParaRPr lang="en-US" altLang="en-US" sz="1700" dirty="0">
              <a:sym typeface="Monotype Sorts" pitchFamily="-84" charset="2"/>
            </a:endParaRPr>
          </a:p>
          <a:p>
            <a:pPr>
              <a:tabLst>
                <a:tab pos="2054225" algn="l"/>
              </a:tabLst>
            </a:pPr>
            <a:r>
              <a:rPr lang="en-US" altLang="en-US" sz="1700" i="1" dirty="0">
                <a:sym typeface="Monotype Sorts" pitchFamily="-84" charset="2"/>
              </a:rPr>
              <a:t>R</a:t>
            </a:r>
            <a:r>
              <a:rPr lang="en-US" altLang="en-US" sz="1700" i="1" baseline="-25000" dirty="0">
                <a:sym typeface="Monotype Sorts" pitchFamily="-84" charset="2"/>
              </a:rPr>
              <a:t>1 </a:t>
            </a:r>
            <a:r>
              <a:rPr lang="en-US" altLang="en-US" sz="1700" i="1" dirty="0">
                <a:sym typeface="Monotype Sorts" pitchFamily="-84" charset="2"/>
              </a:rPr>
              <a:t>= (A, B),   R</a:t>
            </a:r>
            <a:r>
              <a:rPr lang="en-US" altLang="en-US" sz="1700" baseline="-25000" dirty="0">
                <a:sym typeface="Monotype Sorts" pitchFamily="-84" charset="2"/>
              </a:rPr>
              <a:t>2</a:t>
            </a:r>
            <a:r>
              <a:rPr lang="en-US" altLang="en-US" sz="1700" i="1" dirty="0">
                <a:sym typeface="Monotype Sorts" pitchFamily="-84" charset="2"/>
              </a:rPr>
              <a:t> = (A, C)</a:t>
            </a:r>
          </a:p>
          <a:p>
            <a:pPr lvl="1">
              <a:tabLst>
                <a:tab pos="2054225" algn="l"/>
              </a:tabLst>
            </a:pPr>
            <a:r>
              <a:rPr lang="fa-IR" sz="1600" dirty="0"/>
              <a:t>:تجزیه </a:t>
            </a:r>
            <a:r>
              <a:rPr lang="fa-IR" sz="1600" dirty="0" err="1"/>
              <a:t>بدون‌ِاتلافِ‌ِ</a:t>
            </a:r>
            <a:r>
              <a:rPr lang="fa-IR" sz="1600" dirty="0"/>
              <a:t> پیوست</a:t>
            </a:r>
            <a:endParaRPr lang="en-US" altLang="en-US" sz="1700" dirty="0">
              <a:sym typeface="Monotype Sorts" pitchFamily="-84" charset="2"/>
            </a:endParaRPr>
          </a:p>
          <a:p>
            <a:pPr lvl="1">
              <a:buFont typeface="Monotype Sorts" pitchFamily="-84" charset="2"/>
              <a:buNone/>
              <a:tabLst>
                <a:tab pos="2054225" algn="l"/>
              </a:tabLst>
            </a:pPr>
            <a:r>
              <a:rPr lang="en-US" altLang="en-US" sz="1700" dirty="0">
                <a:sym typeface="Monotype Sorts" pitchFamily="-84" charset="2"/>
              </a:rPr>
              <a:t>		 </a:t>
            </a:r>
            <a:r>
              <a:rPr lang="en-US" altLang="en-US" sz="1700" i="1" dirty="0">
                <a:sym typeface="Monotype Sorts" pitchFamily="-84" charset="2"/>
              </a:rPr>
              <a:t>R</a:t>
            </a:r>
            <a:r>
              <a:rPr lang="en-US" altLang="en-US" sz="1700" baseline="-25000" dirty="0">
                <a:sym typeface="Monotype Sorts" pitchFamily="-84" charset="2"/>
              </a:rPr>
              <a:t>1  </a:t>
            </a:r>
            <a:r>
              <a:rPr lang="en-US" altLang="en-US" sz="1700" dirty="0">
                <a:sym typeface="Symbol" panose="05050102010706020507" pitchFamily="18" charset="2"/>
              </a:rPr>
              <a:t> </a:t>
            </a:r>
            <a:r>
              <a:rPr lang="en-US" altLang="en-US" sz="1700" i="1" dirty="0">
                <a:sym typeface="Monotype Sorts" pitchFamily="-84" charset="2"/>
              </a:rPr>
              <a:t>R</a:t>
            </a:r>
            <a:r>
              <a:rPr lang="en-US" altLang="en-US" sz="1700" baseline="-25000" dirty="0">
                <a:sym typeface="Monotype Sorts" pitchFamily="-84" charset="2"/>
              </a:rPr>
              <a:t>2</a:t>
            </a:r>
            <a:r>
              <a:rPr lang="en-US" altLang="en-US" sz="1700" i="1" dirty="0">
                <a:sym typeface="Monotype Sorts" pitchFamily="-84" charset="2"/>
              </a:rPr>
              <a:t> =</a:t>
            </a:r>
            <a:r>
              <a:rPr lang="en-US" altLang="en-US" sz="1700" dirty="0">
                <a:sym typeface="Monotype Sorts" pitchFamily="-84" charset="2"/>
              </a:rPr>
              <a:t> {</a:t>
            </a:r>
            <a:r>
              <a:rPr lang="en-US" altLang="en-US" sz="1700" i="1" dirty="0">
                <a:sym typeface="Monotype Sorts" pitchFamily="-84" charset="2"/>
              </a:rPr>
              <a:t>A</a:t>
            </a:r>
            <a:r>
              <a:rPr lang="en-US" altLang="en-US" sz="1700" dirty="0">
                <a:sym typeface="Monotype Sorts" pitchFamily="-84" charset="2"/>
              </a:rPr>
              <a:t>}</a:t>
            </a:r>
            <a:r>
              <a:rPr lang="en-US" altLang="en-US" sz="1700" i="1" dirty="0">
                <a:sym typeface="Monotype Sorts" pitchFamily="-84" charset="2"/>
              </a:rPr>
              <a:t> </a:t>
            </a:r>
            <a:r>
              <a:rPr lang="en-US" altLang="en-US" sz="1700" dirty="0">
                <a:sym typeface="Monotype Sorts" pitchFamily="-84" charset="2"/>
              </a:rPr>
              <a:t>and </a:t>
            </a:r>
            <a:r>
              <a:rPr lang="en-US" altLang="en-US" sz="1700" i="1" dirty="0">
                <a:sym typeface="Monotype Sorts" pitchFamily="-84" charset="2"/>
              </a:rPr>
              <a:t>A </a:t>
            </a:r>
            <a:r>
              <a:rPr lang="en-US" altLang="en-US" sz="1700" dirty="0">
                <a:sym typeface="Symbol" panose="05050102010706020507" pitchFamily="18" charset="2"/>
              </a:rPr>
              <a:t></a:t>
            </a:r>
            <a:r>
              <a:rPr lang="en-US" altLang="en-US" sz="1700" dirty="0">
                <a:sym typeface="Monotype Sorts" pitchFamily="-84" charset="2"/>
              </a:rPr>
              <a:t> A</a:t>
            </a:r>
            <a:r>
              <a:rPr lang="en-US" altLang="en-US" sz="1700" i="1" dirty="0">
                <a:sym typeface="Monotype Sorts" pitchFamily="-84" charset="2"/>
              </a:rPr>
              <a:t>B</a:t>
            </a:r>
          </a:p>
          <a:p>
            <a:pPr lvl="1">
              <a:tabLst>
                <a:tab pos="2054225" algn="l"/>
              </a:tabLst>
            </a:pPr>
            <a:r>
              <a:rPr lang="fa-IR" sz="1800" dirty="0" err="1"/>
              <a:t>غیرِ</a:t>
            </a:r>
            <a:r>
              <a:rPr lang="fa-IR" sz="1800" dirty="0"/>
              <a:t> </a:t>
            </a:r>
            <a:r>
              <a:rPr lang="fa-IR" sz="1800" dirty="0" err="1"/>
              <a:t>حفظ‌کننده</a:t>
            </a:r>
            <a:r>
              <a:rPr lang="fa-IR" sz="1800" dirty="0"/>
              <a:t> وابستگی</a:t>
            </a:r>
            <a:br>
              <a:rPr lang="en-US" altLang="en-US" sz="1700" dirty="0">
                <a:sym typeface="Monotype Sorts" pitchFamily="-84" charset="2"/>
              </a:rPr>
            </a:br>
            <a:r>
              <a:rPr lang="en-US" altLang="en-US" sz="1700" dirty="0">
                <a:sym typeface="Monotype Sorts" pitchFamily="-84" charset="2"/>
              </a:rPr>
              <a:t>(</a:t>
            </a:r>
            <a:r>
              <a:rPr lang="fa-IR" altLang="en-US" sz="1700" dirty="0">
                <a:sym typeface="Monotype Sorts" pitchFamily="-84" charset="2"/>
              </a:rPr>
              <a:t>نمیتوانیم بگیم</a:t>
            </a:r>
            <a:r>
              <a:rPr lang="en-US" altLang="en-US" sz="1700" i="1" dirty="0">
                <a:sym typeface="Monotype Sorts" pitchFamily="-84" charset="2"/>
              </a:rPr>
              <a:t>B </a:t>
            </a:r>
            <a:r>
              <a:rPr lang="en-US" altLang="en-US" sz="1700" dirty="0">
                <a:sym typeface="Symbol" panose="05050102010706020507" pitchFamily="18" charset="2"/>
              </a:rPr>
              <a:t></a:t>
            </a:r>
            <a:r>
              <a:rPr lang="en-US" altLang="en-US" sz="1700" dirty="0">
                <a:sym typeface="Monotype Sorts" pitchFamily="-84" charset="2"/>
              </a:rPr>
              <a:t> </a:t>
            </a:r>
            <a:r>
              <a:rPr lang="en-US" altLang="en-US" sz="1700" i="1" dirty="0">
                <a:sym typeface="Monotype Sorts" pitchFamily="-84" charset="2"/>
              </a:rPr>
              <a:t>C </a:t>
            </a:r>
            <a:r>
              <a:rPr lang="fa-IR" altLang="en-US" sz="1700" dirty="0">
                <a:sym typeface="Monotype Sorts" pitchFamily="-84" charset="2"/>
              </a:rPr>
              <a:t>بدون محا</a:t>
            </a:r>
            <a:r>
              <a:rPr lang="fa-IR" sz="1600" dirty="0"/>
              <a:t>سبه</a:t>
            </a:r>
            <a:r>
              <a:rPr lang="en-US" altLang="en-US" sz="1700" i="1" dirty="0">
                <a:sym typeface="Monotype Sorts" pitchFamily="-84" charset="2"/>
              </a:rPr>
              <a:t>R</a:t>
            </a:r>
            <a:r>
              <a:rPr lang="en-US" altLang="en-US" sz="1700" i="1" baseline="-25000" dirty="0">
                <a:sym typeface="Monotype Sorts" pitchFamily="-84" charset="2"/>
              </a:rPr>
              <a:t>1 </a:t>
            </a:r>
            <a:r>
              <a:rPr lang="en-US" altLang="en-US" sz="1700" dirty="0">
                <a:sym typeface="Monotype Sorts" pitchFamily="-84" charset="2"/>
              </a:rPr>
              <a:t>    </a:t>
            </a:r>
            <a:r>
              <a:rPr lang="en-US" altLang="en-US" sz="1700" i="1" dirty="0">
                <a:sym typeface="Monotype Sorts" pitchFamily="-84" charset="2"/>
              </a:rPr>
              <a:t>R</a:t>
            </a:r>
            <a:r>
              <a:rPr lang="en-US" altLang="en-US" sz="1700" baseline="-25000" dirty="0">
                <a:sym typeface="Monotype Sorts" pitchFamily="-84" charset="2"/>
              </a:rPr>
              <a:t>2</a:t>
            </a:r>
            <a:r>
              <a:rPr lang="en-US" altLang="en-US" sz="1700" dirty="0">
                <a:sym typeface="Monotype Sorts" pitchFamily="-84" charset="2"/>
              </a:rPr>
              <a:t>)</a:t>
            </a:r>
          </a:p>
        </p:txBody>
      </p:sp>
      <p:pic>
        <p:nvPicPr>
          <p:cNvPr id="30724"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54525" y="4512499"/>
            <a:ext cx="234950" cy="234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0527531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924675">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499"/>
                                          </p:stCondLst>
                                        </p:cTn>
                                        <p:tgtEl>
                                          <p:spTgt spid="924675">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499"/>
                                          </p:stCondLst>
                                        </p:cTn>
                                        <p:tgtEl>
                                          <p:spTgt spid="924675">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499"/>
                                          </p:stCondLst>
                                        </p:cTn>
                                        <p:tgtEl>
                                          <p:spTgt spid="924675">
                                            <p:txEl>
                                              <p:pRg st="4" end="4"/>
                                            </p:txEl>
                                          </p:spTgt>
                                        </p:tgtEl>
                                        <p:attrNameLst>
                                          <p:attrName>style.visibility</p:attrName>
                                        </p:attrNameLst>
                                      </p:cBhvr>
                                      <p:to>
                                        <p:strVal val="visible"/>
                                      </p:to>
                                    </p:set>
                                  </p:childTnLst>
                                </p:cTn>
                              </p:par>
                            </p:childTnLst>
                          </p:cTn>
                        </p:par>
                      </p:childTnLst>
                    </p:cTn>
                  </p:par>
                  <p:par>
                    <p:cTn id="13" fill="hold" nodeType="clickPar">
                      <p:stCondLst>
                        <p:cond delay="indefinite"/>
                      </p:stCondLst>
                      <p:childTnLst>
                        <p:par>
                          <p:cTn id="14" fill="hold" nodeType="withGroup">
                            <p:stCondLst>
                              <p:cond delay="0"/>
                            </p:stCondLst>
                            <p:childTnLst>
                              <p:par>
                                <p:cTn id="15" presetID="1" presetClass="entr" presetSubtype="0" fill="hold" grpId="0" nodeType="clickEffect">
                                  <p:stCondLst>
                                    <p:cond delay="0"/>
                                  </p:stCondLst>
                                  <p:childTnLst>
                                    <p:set>
                                      <p:cBhvr>
                                        <p:cTn id="16" dur="1" fill="hold">
                                          <p:stCondLst>
                                            <p:cond delay="499"/>
                                          </p:stCondLst>
                                        </p:cTn>
                                        <p:tgtEl>
                                          <p:spTgt spid="924675">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499"/>
                                          </p:stCondLst>
                                        </p:cTn>
                                        <p:tgtEl>
                                          <p:spTgt spid="924675">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499"/>
                                          </p:stCondLst>
                                        </p:cTn>
                                        <p:tgtEl>
                                          <p:spTgt spid="924675">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499"/>
                                          </p:stCondLst>
                                        </p:cTn>
                                        <p:tgtEl>
                                          <p:spTgt spid="92467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4675" grpId="0" build="p" autoUpdateAnimBg="0"/>
    </p:bldLst>
  </p:timing>
</p:sld>
</file>

<file path=ppt/slides/slide64.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C29FC1C7-0EF1-ABF2-A907-F60C51B29897}"/>
            </a:ext>
          </a:extLst>
        </p:cNvPr>
        <p:cNvGrpSpPr/>
        <p:nvPr/>
      </p:nvGrpSpPr>
      <p:grpSpPr>
        <a:xfrm>
          <a:off x="0" y="0"/>
          <a:ext cx="0" cy="0"/>
          <a:chOff x="0" y="0"/>
          <a:chExt cx="0" cy="0"/>
        </a:xfrm>
      </p:grpSpPr>
      <p:sp>
        <p:nvSpPr>
          <p:cNvPr id="924674" name="Rectangle 2">
            <a:extLst>
              <a:ext uri="{FF2B5EF4-FFF2-40B4-BE49-F238E27FC236}">
                <a16:creationId xmlns:a16="http://schemas.microsoft.com/office/drawing/2014/main" id="{DA222D16-10C4-8E6A-0E29-C51EC35EACAF}"/>
              </a:ext>
            </a:extLst>
          </p:cNvPr>
          <p:cNvSpPr>
            <a:spLocks noGrp="1" noChangeArrowheads="1"/>
          </p:cNvSpPr>
          <p:nvPr>
            <p:ph type="title"/>
          </p:nvPr>
        </p:nvSpPr>
        <p:spPr/>
        <p:txBody>
          <a:bodyPr/>
          <a:lstStyle/>
          <a:p>
            <a:pPr>
              <a:defRPr/>
            </a:pPr>
            <a:r>
              <a:rPr lang="en-US" sz="2800" dirty="0">
                <a:ea typeface="ＭＳ Ｐゴシック" pitchFamily="34" charset="-128"/>
              </a:rPr>
              <a:t>Example: Is it BCNF?</a:t>
            </a:r>
          </a:p>
        </p:txBody>
      </p:sp>
      <mc:AlternateContent xmlns:mc="http://schemas.openxmlformats.org/markup-compatibility/2006" xmlns:a14="http://schemas.microsoft.com/office/drawing/2010/main">
        <mc:Choice Requires="a14">
          <p:sp>
            <p:nvSpPr>
              <p:cNvPr id="924675" name="Rectangle 3">
                <a:extLst>
                  <a:ext uri="{FF2B5EF4-FFF2-40B4-BE49-F238E27FC236}">
                    <a16:creationId xmlns:a16="http://schemas.microsoft.com/office/drawing/2014/main" id="{DF8B3AAB-F40D-5C9C-BDC1-C0876D37ECFA}"/>
                  </a:ext>
                </a:extLst>
              </p:cNvPr>
              <p:cNvSpPr>
                <a:spLocks noGrp="1" noChangeArrowheads="1"/>
              </p:cNvSpPr>
              <p:nvPr>
                <p:ph idx="1"/>
              </p:nvPr>
            </p:nvSpPr>
            <p:spPr>
              <a:xfrm>
                <a:off x="885698" y="2430220"/>
                <a:ext cx="7607554" cy="4502340"/>
              </a:xfrm>
            </p:spPr>
            <p:txBody>
              <a:bodyPr/>
              <a:lstStyle/>
              <a:p>
                <a:pPr algn="r" rtl="1">
                  <a:tabLst>
                    <a:tab pos="2054225" algn="l"/>
                  </a:tabLst>
                </a:pPr>
                <a:r>
                  <a:rPr lang="fa-IR" sz="1800" dirty="0"/>
                  <a:t>بررسی وابستگی‌ها:</a:t>
                </a:r>
                <a:endParaRPr lang="en-US" sz="1800" dirty="0"/>
              </a:p>
              <a:p>
                <a:pPr algn="r" rtl="1"/>
                <a:r>
                  <a:rPr lang="en-US" sz="1800" dirty="0"/>
                  <a:t>A→B</a:t>
                </a:r>
                <a:br>
                  <a:rPr lang="en-US" sz="1800" dirty="0"/>
                </a:br>
                <a:r>
                  <a:rPr lang="en-US" sz="1800" dirty="0"/>
                  <a:t>✔️ </a:t>
                </a:r>
                <a14:m>
                  <m:oMath xmlns:m="http://schemas.openxmlformats.org/officeDocument/2006/math">
                    <m:r>
                      <a:rPr lang="en-US" i="1">
                        <a:latin typeface="Cambria Math" panose="02040503050406030204" pitchFamily="18" charset="0"/>
                      </a:rPr>
                      <m:t>𝐴</m:t>
                    </m:r>
                  </m:oMath>
                </a14:m>
                <a:r>
                  <a:rPr lang="fa-IR" sz="1800" dirty="0"/>
                  <a:t>کلید است (چون </a:t>
                </a:r>
                <a14:m>
                  <m:oMath xmlns:m="http://schemas.openxmlformats.org/officeDocument/2006/math">
                    <m:r>
                      <a:rPr lang="fa-IR" i="1">
                        <a:latin typeface="Cambria Math" panose="02040503050406030204" pitchFamily="18" charset="0"/>
                      </a:rPr>
                      <m:t>𝐴</m:t>
                    </m:r>
                    <m:r>
                      <a:rPr lang="fa-IR">
                        <a:latin typeface="Cambria Math" panose="02040503050406030204" pitchFamily="18" charset="0"/>
                      </a:rPr>
                      <m:t>→</m:t>
                    </m:r>
                    <m:r>
                      <a:rPr lang="fa-IR" i="1">
                        <a:latin typeface="Cambria Math" panose="02040503050406030204" pitchFamily="18" charset="0"/>
                      </a:rPr>
                      <m:t>𝐵𝐶</m:t>
                    </m:r>
                  </m:oMath>
                </a14:m>
                <a:r>
                  <a:rPr lang="fa-IR" sz="1800" dirty="0"/>
                  <a:t>)</a:t>
                </a:r>
              </a:p>
              <a:p>
                <a:pPr algn="r" rtl="1"/>
                <a14:m>
                  <m:oMath xmlns:m="http://schemas.openxmlformats.org/officeDocument/2006/math">
                    <m:r>
                      <a:rPr lang="fa-IR" i="1">
                        <a:latin typeface="Cambria Math" panose="02040503050406030204" pitchFamily="18" charset="0"/>
                      </a:rPr>
                      <m:t>𝐵</m:t>
                    </m:r>
                    <m:r>
                      <a:rPr lang="fa-IR">
                        <a:latin typeface="Cambria Math" panose="02040503050406030204" pitchFamily="18" charset="0"/>
                      </a:rPr>
                      <m:t>→</m:t>
                    </m:r>
                    <m:r>
                      <a:rPr lang="fa-IR" i="1">
                        <a:latin typeface="Cambria Math" panose="02040503050406030204" pitchFamily="18" charset="0"/>
                      </a:rPr>
                      <m:t>𝐶</m:t>
                    </m:r>
                  </m:oMath>
                </a14:m>
                <a:br>
                  <a:rPr lang="fa-IR" sz="1800" dirty="0"/>
                </a:br>
                <a:r>
                  <a:rPr lang="en-US" sz="1800" dirty="0"/>
                  <a:t>❌ </a:t>
                </a:r>
                <a14:m>
                  <m:oMath xmlns:m="http://schemas.openxmlformats.org/officeDocument/2006/math">
                    <m:r>
                      <a:rPr lang="en-US" i="1">
                        <a:latin typeface="Cambria Math" panose="02040503050406030204" pitchFamily="18" charset="0"/>
                      </a:rPr>
                      <m:t>𝐵</m:t>
                    </m:r>
                  </m:oMath>
                </a14:m>
                <a:r>
                  <a:rPr lang="fa-IR" sz="1800" dirty="0"/>
                  <a:t>کلید نیست</a:t>
                </a:r>
              </a:p>
              <a:p>
                <a:pPr algn="r" rtl="1"/>
                <a:r>
                  <a:rPr lang="fa-IR" sz="1800" dirty="0"/>
                  <a:t>پس:</a:t>
                </a:r>
              </a:p>
              <a:p>
                <a:pPr algn="r" rtl="1"/>
                <a14:m>
                  <m:oMath xmlns:m="http://schemas.openxmlformats.org/officeDocument/2006/math">
                    <m:r>
                      <a:rPr lang="fa-IR" i="1">
                        <a:latin typeface="Cambria Math" panose="02040503050406030204" pitchFamily="18" charset="0"/>
                      </a:rPr>
                      <m:t>𝑅</m:t>
                    </m:r>
                    <m:d>
                      <m:dPr>
                        <m:sepChr m:val=","/>
                        <m:ctrlPr>
                          <a:rPr lang="fa-IR" i="1">
                            <a:latin typeface="Cambria Math" panose="02040503050406030204" pitchFamily="18" charset="0"/>
                          </a:rPr>
                        </m:ctrlPr>
                      </m:dPr>
                      <m:e>
                        <m:r>
                          <a:rPr lang="fa-IR" i="1">
                            <a:latin typeface="Cambria Math" panose="02040503050406030204" pitchFamily="18" charset="0"/>
                          </a:rPr>
                          <m:t>𝐴</m:t>
                        </m:r>
                      </m:e>
                      <m:e>
                        <m:r>
                          <a:rPr lang="fa-IR" i="1">
                            <a:latin typeface="Cambria Math" panose="02040503050406030204" pitchFamily="18" charset="0"/>
                          </a:rPr>
                          <m:t>𝐵</m:t>
                        </m:r>
                      </m:e>
                      <m:e>
                        <m:r>
                          <a:rPr lang="fa-IR" i="1">
                            <a:latin typeface="Cambria Math" panose="02040503050406030204" pitchFamily="18" charset="0"/>
                          </a:rPr>
                          <m:t>𝐶</m:t>
                        </m:r>
                      </m:e>
                    </m:d>
                    <m:r>
                      <a:rPr lang="fa-IR">
                        <a:latin typeface="Cambria Math" panose="02040503050406030204" pitchFamily="18" charset="0"/>
                      </a:rPr>
                      <m:t>∉</m:t>
                    </m:r>
                    <m:r>
                      <a:rPr lang="fa-IR" i="1">
                        <a:latin typeface="Cambria Math" panose="02040503050406030204" pitchFamily="18" charset="0"/>
                      </a:rPr>
                      <m:t>𝐵𝐶𝑁𝐹</m:t>
                    </m:r>
                  </m:oMath>
                </a14:m>
                <a:endParaRPr lang="en-US" sz="1800" dirty="0"/>
              </a:p>
              <a:p>
                <a:pPr algn="r" rtl="1"/>
                <a:r>
                  <a:rPr lang="fa-IR" sz="1800" dirty="0"/>
                  <a:t>چه کنیم ؟</a:t>
                </a:r>
              </a:p>
              <a:p>
                <a:pPr algn="r" rtl="1">
                  <a:tabLst>
                    <a:tab pos="2054225" algn="l"/>
                  </a:tabLst>
                </a:pPr>
                <a:endParaRPr lang="en-US" altLang="en-US" sz="1700" dirty="0">
                  <a:sym typeface="Monotype Sorts" pitchFamily="-84" charset="2"/>
                </a:endParaRPr>
              </a:p>
            </p:txBody>
          </p:sp>
        </mc:Choice>
        <mc:Fallback xmlns="">
          <p:sp>
            <p:nvSpPr>
              <p:cNvPr id="924675" name="Rectangle 3">
                <a:extLst>
                  <a:ext uri="{FF2B5EF4-FFF2-40B4-BE49-F238E27FC236}">
                    <a16:creationId xmlns:a16="http://schemas.microsoft.com/office/drawing/2014/main" id="{DF8B3AAB-F40D-5C9C-BDC1-C0876D37ECFA}"/>
                  </a:ext>
                </a:extLst>
              </p:cNvPr>
              <p:cNvSpPr>
                <a:spLocks noGrp="1" noRot="1" noChangeAspect="1" noMove="1" noResize="1" noEditPoints="1" noAdjustHandles="1" noChangeArrowheads="1" noChangeShapeType="1" noTextEdit="1"/>
              </p:cNvSpPr>
              <p:nvPr>
                <p:ph idx="1"/>
              </p:nvPr>
            </p:nvSpPr>
            <p:spPr>
              <a:xfrm>
                <a:off x="885698" y="2430220"/>
                <a:ext cx="7607554" cy="4502340"/>
              </a:xfrm>
              <a:blipFill>
                <a:blip r:embed="rId3"/>
                <a:stretch>
                  <a:fillRect t="-1355" r="-962"/>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4794F489-D6B8-AFC5-4511-7B910A4E3C62}"/>
              </a:ext>
            </a:extLst>
          </p:cNvPr>
          <p:cNvSpPr txBox="1"/>
          <p:nvPr/>
        </p:nvSpPr>
        <p:spPr>
          <a:xfrm>
            <a:off x="611945" y="1437939"/>
            <a:ext cx="4572000" cy="584775"/>
          </a:xfrm>
          <a:prstGeom prst="rect">
            <a:avLst/>
          </a:prstGeom>
          <a:noFill/>
        </p:spPr>
        <p:txBody>
          <a:bodyPr wrap="square">
            <a:spAutoFit/>
          </a:bodyPr>
          <a:lstStyle/>
          <a:p>
            <a:pPr>
              <a:tabLst>
                <a:tab pos="2054225" algn="l"/>
              </a:tabLst>
            </a:pPr>
            <a:r>
              <a:rPr lang="en-US" altLang="en-US" sz="1600" i="1" dirty="0"/>
              <a:t>R = (A, B, C)</a:t>
            </a:r>
            <a:br>
              <a:rPr lang="en-US" altLang="en-US" sz="1600" i="1" dirty="0"/>
            </a:br>
            <a:r>
              <a:rPr lang="en-US" altLang="en-US" sz="1600" i="1" dirty="0"/>
              <a:t>F = {A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B, B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C)</a:t>
            </a:r>
          </a:p>
        </p:txBody>
      </p:sp>
    </p:spTree>
    <p:extLst>
      <p:ext uri="{BB962C8B-B14F-4D97-AF65-F5344CB8AC3E}">
        <p14:creationId xmlns:p14="http://schemas.microsoft.com/office/powerpoint/2010/main" val="359444589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F492B8B8-D3BD-1F7D-87D9-A0BC0FAE4258}"/>
            </a:ext>
          </a:extLst>
        </p:cNvPr>
        <p:cNvGrpSpPr/>
        <p:nvPr/>
      </p:nvGrpSpPr>
      <p:grpSpPr>
        <a:xfrm>
          <a:off x="0" y="0"/>
          <a:ext cx="0" cy="0"/>
          <a:chOff x="0" y="0"/>
          <a:chExt cx="0" cy="0"/>
        </a:xfrm>
      </p:grpSpPr>
      <p:sp>
        <p:nvSpPr>
          <p:cNvPr id="924674" name="Rectangle 2">
            <a:extLst>
              <a:ext uri="{FF2B5EF4-FFF2-40B4-BE49-F238E27FC236}">
                <a16:creationId xmlns:a16="http://schemas.microsoft.com/office/drawing/2014/main" id="{BDDEF104-BEE5-C5D8-7E79-08B3540005AF}"/>
              </a:ext>
            </a:extLst>
          </p:cNvPr>
          <p:cNvSpPr>
            <a:spLocks noGrp="1" noChangeArrowheads="1"/>
          </p:cNvSpPr>
          <p:nvPr>
            <p:ph type="title"/>
          </p:nvPr>
        </p:nvSpPr>
        <p:spPr/>
        <p:txBody>
          <a:bodyPr/>
          <a:lstStyle/>
          <a:p>
            <a:pPr>
              <a:defRPr/>
            </a:pPr>
            <a:r>
              <a:rPr lang="en-US" sz="2800" dirty="0">
                <a:ea typeface="ＭＳ Ｐゴシック" pitchFamily="34" charset="-128"/>
              </a:rPr>
              <a:t>Example</a:t>
            </a:r>
          </a:p>
        </p:txBody>
      </p:sp>
      <mc:AlternateContent xmlns:mc="http://schemas.openxmlformats.org/markup-compatibility/2006" xmlns:a14="http://schemas.microsoft.com/office/drawing/2010/main">
        <mc:Choice Requires="a14">
          <p:sp>
            <p:nvSpPr>
              <p:cNvPr id="924675" name="Rectangle 3">
                <a:extLst>
                  <a:ext uri="{FF2B5EF4-FFF2-40B4-BE49-F238E27FC236}">
                    <a16:creationId xmlns:a16="http://schemas.microsoft.com/office/drawing/2014/main" id="{09666F0F-E521-EE22-AD15-0E6FCD2F6C2D}"/>
                  </a:ext>
                </a:extLst>
              </p:cNvPr>
              <p:cNvSpPr>
                <a:spLocks noGrp="1" noChangeArrowheads="1"/>
              </p:cNvSpPr>
              <p:nvPr>
                <p:ph idx="1"/>
              </p:nvPr>
            </p:nvSpPr>
            <p:spPr>
              <a:xfrm>
                <a:off x="768351" y="1093789"/>
                <a:ext cx="7607554" cy="4502340"/>
              </a:xfrm>
            </p:spPr>
            <p:txBody>
              <a:bodyPr/>
              <a:lstStyle/>
              <a:p>
                <a:r>
                  <a:rPr lang="fa-IR" sz="1800" b="1" dirty="0"/>
                  <a:t>رابطه و وابستگی‌ها</a:t>
                </a:r>
              </a:p>
              <a:p>
                <a:r>
                  <a:rPr lang="fa-IR" sz="1800" dirty="0"/>
                  <a:t>رابطه اصلی:</a:t>
                </a:r>
              </a:p>
              <a:p>
                <a14:m>
                  <m:oMath xmlns:m="http://schemas.openxmlformats.org/officeDocument/2006/math">
                    <m:r>
                      <a:rPr lang="fa-IR" i="1">
                        <a:latin typeface="Cambria Math" panose="02040503050406030204" pitchFamily="18" charset="0"/>
                      </a:rPr>
                      <m:t>𝑅</m:t>
                    </m:r>
                    <m:d>
                      <m:dPr>
                        <m:sepChr m:val=","/>
                        <m:ctrlPr>
                          <a:rPr lang="fa-IR" i="1">
                            <a:latin typeface="Cambria Math" panose="02040503050406030204" pitchFamily="18" charset="0"/>
                          </a:rPr>
                        </m:ctrlPr>
                      </m:dPr>
                      <m:e>
                        <m:r>
                          <a:rPr lang="fa-IR" i="1">
                            <a:latin typeface="Cambria Math" panose="02040503050406030204" pitchFamily="18" charset="0"/>
                          </a:rPr>
                          <m:t>𝐴</m:t>
                        </m:r>
                      </m:e>
                      <m:e>
                        <m:r>
                          <a:rPr lang="fa-IR" i="1">
                            <a:latin typeface="Cambria Math" panose="02040503050406030204" pitchFamily="18" charset="0"/>
                          </a:rPr>
                          <m:t>𝐵</m:t>
                        </m:r>
                      </m:e>
                      <m:e>
                        <m:r>
                          <a:rPr lang="fa-IR" i="1">
                            <a:latin typeface="Cambria Math" panose="02040503050406030204" pitchFamily="18" charset="0"/>
                          </a:rPr>
                          <m:t>𝐶</m:t>
                        </m:r>
                      </m:e>
                    </m:d>
                  </m:oMath>
                </a14:m>
                <a:endParaRPr lang="fa-IR" sz="1800" dirty="0"/>
              </a:p>
              <a:p>
                <a:r>
                  <a:rPr lang="fa-IR" sz="1800" dirty="0"/>
                  <a:t>وابستگی‌های تابعی:</a:t>
                </a:r>
              </a:p>
              <a:p>
                <a14:m>
                  <m:oMath xmlns:m="http://schemas.openxmlformats.org/officeDocument/2006/math">
                    <m:r>
                      <a:rPr lang="fa-IR" i="1">
                        <a:latin typeface="Cambria Math" panose="02040503050406030204" pitchFamily="18" charset="0"/>
                      </a:rPr>
                      <m:t>𝐹</m:t>
                    </m:r>
                    <m:r>
                      <a:rPr lang="fa-IR">
                        <a:latin typeface="Cambria Math" panose="02040503050406030204" pitchFamily="18" charset="0"/>
                      </a:rPr>
                      <m:t>=</m:t>
                    </m:r>
                    <m:r>
                      <a:rPr lang="en-US" i="1">
                        <a:latin typeface="Cambria Math" panose="02040503050406030204" pitchFamily="18" charset="0"/>
                      </a:rPr>
                      <m:t>{</m:t>
                    </m:r>
                    <m:r>
                      <a:rPr lang="en-US" i="1">
                        <a:latin typeface="Cambria Math" panose="02040503050406030204" pitchFamily="18" charset="0"/>
                      </a:rPr>
                      <m:t>𝐴</m:t>
                    </m:r>
                    <m:r>
                      <a:rPr lang="fa-IR">
                        <a:latin typeface="Cambria Math" panose="02040503050406030204" pitchFamily="18" charset="0"/>
                      </a:rPr>
                      <m:t>→</m:t>
                    </m:r>
                    <m:r>
                      <m:rPr>
                        <m:sty m:val="p"/>
                      </m:rPr>
                      <a:rPr lang="en-US">
                        <a:latin typeface="Cambria Math" panose="02040503050406030204" pitchFamily="18" charset="0"/>
                      </a:rPr>
                      <m:t>B</m:t>
                    </m:r>
                    <m:r>
                      <a:rPr lang="en-US">
                        <a:latin typeface="Cambria Math" panose="02040503050406030204" pitchFamily="18" charset="0"/>
                      </a:rPr>
                      <m:t>, </m:t>
                    </m:r>
                    <m:r>
                      <m:rPr>
                        <m:sty m:val="p"/>
                      </m:rPr>
                      <a:rPr lang="en-US">
                        <a:latin typeface="Cambria Math" panose="02040503050406030204" pitchFamily="18" charset="0"/>
                      </a:rPr>
                      <m:t>B</m:t>
                    </m:r>
                    <m:r>
                      <a:rPr lang="fa-IR">
                        <a:latin typeface="Cambria Math" panose="02040503050406030204" pitchFamily="18" charset="0"/>
                      </a:rPr>
                      <m:t>→</m:t>
                    </m:r>
                    <m:r>
                      <m:rPr>
                        <m:sty m:val="p"/>
                      </m:rPr>
                      <a:rPr lang="en-US">
                        <a:latin typeface="Cambria Math" panose="02040503050406030204" pitchFamily="18" charset="0"/>
                      </a:rPr>
                      <m:t>C</m:t>
                    </m:r>
                    <m:r>
                      <a:rPr lang="en-US" i="1">
                        <a:latin typeface="Cambria Math" panose="02040503050406030204" pitchFamily="18" charset="0"/>
                      </a:rPr>
                      <m:t>}</m:t>
                    </m:r>
                  </m:oMath>
                </a14:m>
                <a:endParaRPr lang="fa-IR" sz="1800" dirty="0"/>
              </a:p>
            </p:txBody>
          </p:sp>
        </mc:Choice>
        <mc:Fallback xmlns="">
          <p:sp>
            <p:nvSpPr>
              <p:cNvPr id="924675" name="Rectangle 3">
                <a:extLst>
                  <a:ext uri="{FF2B5EF4-FFF2-40B4-BE49-F238E27FC236}">
                    <a16:creationId xmlns:a16="http://schemas.microsoft.com/office/drawing/2014/main" id="{09666F0F-E521-EE22-AD15-0E6FCD2F6C2D}"/>
                  </a:ext>
                </a:extLst>
              </p:cNvPr>
              <p:cNvSpPr>
                <a:spLocks noGrp="1" noRot="1" noChangeAspect="1" noMove="1" noResize="1" noEditPoints="1" noAdjustHandles="1" noChangeArrowheads="1" noChangeShapeType="1" noTextEdit="1"/>
              </p:cNvSpPr>
              <p:nvPr>
                <p:ph idx="1"/>
              </p:nvPr>
            </p:nvSpPr>
            <p:spPr>
              <a:xfrm>
                <a:off x="768351" y="1093789"/>
                <a:ext cx="7607554" cy="4502340"/>
              </a:xfrm>
              <a:blipFill>
                <a:blip r:embed="rId3"/>
                <a:stretch>
                  <a:fillRect l="-881" t="-16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BAD62D09-C0EF-BA97-9FDC-E5C16168DC57}"/>
                  </a:ext>
                </a:extLst>
              </p:cNvPr>
              <p:cNvSpPr txBox="1"/>
              <p:nvPr/>
            </p:nvSpPr>
            <p:spPr>
              <a:xfrm>
                <a:off x="4273550" y="3344959"/>
                <a:ext cx="4572000" cy="584775"/>
              </a:xfrm>
              <a:prstGeom prst="rect">
                <a:avLst/>
              </a:prstGeom>
              <a:noFill/>
            </p:spPr>
            <p:txBody>
              <a:bodyPr wrap="square">
                <a:spAutoFit/>
              </a:bodyPr>
              <a:lstStyle/>
              <a:p>
                <a:pPr algn="r" rtl="1">
                  <a:buNone/>
                </a:pPr>
                <a:r>
                  <a:rPr lang="fa-IR" b="1" dirty="0">
                    <a:cs typeface="B Nazanin" panose="00000400000000000000" pitchFamily="2" charset="-78"/>
                  </a:rPr>
                  <a:t>تجزیه اول</a:t>
                </a:r>
              </a:p>
              <a:p>
                <a:pPr algn="r" rtl="1">
                  <a:buNone/>
                </a:pPr>
                <a14:m>
                  <m:oMathPara xmlns:m="http://schemas.openxmlformats.org/officeDocument/2006/math">
                    <m:oMathParaPr>
                      <m:jc m:val="centerGroup"/>
                    </m:oMathParaPr>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0">
                              <a:latin typeface="Cambria Math" panose="02040503050406030204" pitchFamily="18" charset="0"/>
                            </a:rPr>
                            <m:t>1</m:t>
                          </m:r>
                        </m:sub>
                      </m:sSub>
                      <m:d>
                        <m:dPr>
                          <m:sepChr m:val=","/>
                          <m:ctrlPr>
                            <a:rPr lang="fa-IR" i="1">
                              <a:latin typeface="Cambria Math" panose="02040503050406030204" pitchFamily="18" charset="0"/>
                            </a:rPr>
                          </m:ctrlPr>
                        </m:dPr>
                        <m:e>
                          <m:r>
                            <a:rPr lang="fa-IR" i="1">
                              <a:latin typeface="Cambria Math" panose="02040503050406030204" pitchFamily="18" charset="0"/>
                            </a:rPr>
                            <m:t>𝐴</m:t>
                          </m:r>
                        </m:e>
                        <m:e>
                          <m:r>
                            <a:rPr lang="fa-IR" i="1">
                              <a:latin typeface="Cambria Math" panose="02040503050406030204" pitchFamily="18" charset="0"/>
                            </a:rPr>
                            <m:t>𝐵</m:t>
                          </m:r>
                        </m:e>
                      </m:d>
                      <m:r>
                        <a:rPr lang="fa-IR" i="0">
                          <a:latin typeface="Cambria Math" panose="02040503050406030204" pitchFamily="18" charset="0"/>
                        </a:rPr>
                        <m:t>, </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0">
                              <a:latin typeface="Cambria Math" panose="02040503050406030204" pitchFamily="18" charset="0"/>
                            </a:rPr>
                            <m:t>2</m:t>
                          </m:r>
                        </m:sub>
                      </m:sSub>
                      <m:d>
                        <m:dPr>
                          <m:sepChr m:val=","/>
                          <m:ctrlPr>
                            <a:rPr lang="fa-IR" i="1">
                              <a:latin typeface="Cambria Math" panose="02040503050406030204" pitchFamily="18" charset="0"/>
                            </a:rPr>
                          </m:ctrlPr>
                        </m:dPr>
                        <m:e>
                          <m:r>
                            <a:rPr lang="fa-IR" i="1">
                              <a:latin typeface="Cambria Math" panose="02040503050406030204" pitchFamily="18" charset="0"/>
                            </a:rPr>
                            <m:t>𝐵</m:t>
                          </m:r>
                        </m:e>
                        <m:e>
                          <m:r>
                            <a:rPr lang="fa-IR" i="1">
                              <a:latin typeface="Cambria Math" panose="02040503050406030204" pitchFamily="18" charset="0"/>
                            </a:rPr>
                            <m:t>𝐶</m:t>
                          </m:r>
                        </m:e>
                      </m:d>
                    </m:oMath>
                  </m:oMathPara>
                </a14:m>
                <a:endParaRPr lang="fa-IR" dirty="0">
                  <a:cs typeface="B Nazanin" panose="00000400000000000000" pitchFamily="2" charset="-78"/>
                </a:endParaRPr>
              </a:p>
            </p:txBody>
          </p:sp>
        </mc:Choice>
        <mc:Fallback xmlns="">
          <p:sp>
            <p:nvSpPr>
              <p:cNvPr id="3" name="TextBox 2">
                <a:extLst>
                  <a:ext uri="{FF2B5EF4-FFF2-40B4-BE49-F238E27FC236}">
                    <a16:creationId xmlns:a16="http://schemas.microsoft.com/office/drawing/2014/main" id="{BAD62D09-C0EF-BA97-9FDC-E5C16168DC57}"/>
                  </a:ext>
                </a:extLst>
              </p:cNvPr>
              <p:cNvSpPr txBox="1">
                <a:spLocks noRot="1" noChangeAspect="1" noMove="1" noResize="1" noEditPoints="1" noAdjustHandles="1" noChangeArrowheads="1" noChangeShapeType="1" noTextEdit="1"/>
              </p:cNvSpPr>
              <p:nvPr/>
            </p:nvSpPr>
            <p:spPr>
              <a:xfrm>
                <a:off x="4273550" y="3344959"/>
                <a:ext cx="4572000" cy="584775"/>
              </a:xfrm>
              <a:prstGeom prst="rect">
                <a:avLst/>
              </a:prstGeom>
              <a:blipFill>
                <a:blip r:embed="rId4"/>
                <a:stretch>
                  <a:fillRect t="-3125" r="-8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E2423B0-CF07-745E-CF60-76B3C96952CF}"/>
                  </a:ext>
                </a:extLst>
              </p:cNvPr>
              <p:cNvSpPr txBox="1"/>
              <p:nvPr/>
            </p:nvSpPr>
            <p:spPr>
              <a:xfrm>
                <a:off x="422031" y="4340353"/>
                <a:ext cx="3381874" cy="1323439"/>
              </a:xfrm>
              <a:prstGeom prst="rect">
                <a:avLst/>
              </a:prstGeom>
              <a:noFill/>
            </p:spPr>
            <p:txBody>
              <a:bodyPr wrap="square">
                <a:spAutoFit/>
              </a:bodyPr>
              <a:lstStyle/>
              <a:p>
                <a:pPr algn="r" rtl="1">
                  <a:buNone/>
                </a:pPr>
                <a:r>
                  <a:rPr lang="fa-IR" b="1" dirty="0">
                    <a:cs typeface="B Nazanin" panose="00000400000000000000" pitchFamily="2" charset="-78"/>
                  </a:rPr>
                  <a:t>2) حفظ‌کننده وابستگی‌ها</a:t>
                </a:r>
              </a:p>
              <a:p>
                <a:pPr algn="r" rtl="1">
                  <a:buFont typeface="Arial" panose="020B0604020202020204" pitchFamily="34" charset="0"/>
                  <a:buChar char="•"/>
                </a:pPr>
                <a:r>
                  <a:rPr lang="fa-IR" dirty="0">
                    <a:cs typeface="B Nazanin" panose="00000400000000000000" pitchFamily="2" charset="-78"/>
                  </a:rPr>
                  <a:t>وابستگی </a:t>
                </a:r>
                <a14:m>
                  <m:oMath xmlns:m="http://schemas.openxmlformats.org/officeDocument/2006/math">
                    <m:r>
                      <a:rPr lang="fa-IR" i="1">
                        <a:latin typeface="Cambria Math" panose="02040503050406030204" pitchFamily="18" charset="0"/>
                      </a:rPr>
                      <m:t>𝐴</m:t>
                    </m:r>
                    <m:r>
                      <a:rPr lang="fa-IR" i="0">
                        <a:latin typeface="Cambria Math" panose="02040503050406030204" pitchFamily="18" charset="0"/>
                      </a:rPr>
                      <m:t>→</m:t>
                    </m:r>
                    <m:r>
                      <a:rPr lang="fa-IR" i="1">
                        <a:latin typeface="Cambria Math" panose="02040503050406030204" pitchFamily="18" charset="0"/>
                      </a:rPr>
                      <m:t>𝐵</m:t>
                    </m:r>
                  </m:oMath>
                </a14:m>
                <a:r>
                  <a:rPr lang="fa-IR" dirty="0">
                    <a:cs typeface="B Nazanin" panose="00000400000000000000" pitchFamily="2" charset="-78"/>
                  </a:rPr>
                  <a:t>کاملاً در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0">
                            <a:latin typeface="Cambria Math" panose="02040503050406030204" pitchFamily="18" charset="0"/>
                          </a:rPr>
                          <m:t>1</m:t>
                        </m:r>
                      </m:sub>
                    </m:sSub>
                  </m:oMath>
                </a14:m>
                <a:r>
                  <a:rPr lang="fa-IR" dirty="0">
                    <a:cs typeface="B Nazanin" panose="00000400000000000000" pitchFamily="2" charset="-78"/>
                  </a:rPr>
                  <a:t>قابل بررسی است.</a:t>
                </a:r>
              </a:p>
              <a:p>
                <a:pPr algn="r" rtl="1">
                  <a:buFont typeface="Arial" panose="020B0604020202020204" pitchFamily="34" charset="0"/>
                  <a:buChar char="•"/>
                </a:pPr>
                <a:r>
                  <a:rPr lang="fa-IR" dirty="0">
                    <a:cs typeface="B Nazanin" panose="00000400000000000000" pitchFamily="2" charset="-78"/>
                  </a:rPr>
                  <a:t>وابستگی </a:t>
                </a:r>
                <a14:m>
                  <m:oMath xmlns:m="http://schemas.openxmlformats.org/officeDocument/2006/math">
                    <m:r>
                      <a:rPr lang="fa-IR" i="1">
                        <a:latin typeface="Cambria Math" panose="02040503050406030204" pitchFamily="18" charset="0"/>
                      </a:rPr>
                      <m:t>𝐵</m:t>
                    </m:r>
                    <m:r>
                      <a:rPr lang="fa-IR" i="0">
                        <a:latin typeface="Cambria Math" panose="02040503050406030204" pitchFamily="18" charset="0"/>
                      </a:rPr>
                      <m:t>→</m:t>
                    </m:r>
                    <m:r>
                      <a:rPr lang="fa-IR" i="1">
                        <a:latin typeface="Cambria Math" panose="02040503050406030204" pitchFamily="18" charset="0"/>
                      </a:rPr>
                      <m:t>𝐶</m:t>
                    </m:r>
                  </m:oMath>
                </a14:m>
                <a:r>
                  <a:rPr lang="fa-IR" dirty="0">
                    <a:cs typeface="B Nazanin" panose="00000400000000000000" pitchFamily="2" charset="-78"/>
                  </a:rPr>
                  <a:t>کاملاً در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0">
                            <a:latin typeface="Cambria Math" panose="02040503050406030204" pitchFamily="18" charset="0"/>
                          </a:rPr>
                          <m:t>2</m:t>
                        </m:r>
                      </m:sub>
                    </m:sSub>
                  </m:oMath>
                </a14:m>
                <a:r>
                  <a:rPr lang="fa-IR" dirty="0">
                    <a:cs typeface="B Nazanin" panose="00000400000000000000" pitchFamily="2" charset="-78"/>
                  </a:rPr>
                  <a:t>قابل بررسی است.</a:t>
                </a:r>
              </a:p>
              <a:p>
                <a:pPr algn="r" rtl="1">
                  <a:buNone/>
                </a:pPr>
                <a:r>
                  <a:rPr lang="fa-IR" dirty="0">
                    <a:cs typeface="B Nazanin" panose="00000400000000000000" pitchFamily="2" charset="-78"/>
                  </a:rPr>
                  <a:t>✔ تمام وابستگی‌ها </a:t>
                </a:r>
                <a:r>
                  <a:rPr lang="fa-IR" b="1" dirty="0">
                    <a:cs typeface="B Nazanin" panose="00000400000000000000" pitchFamily="2" charset="-78"/>
                  </a:rPr>
                  <a:t>بدون </a:t>
                </a:r>
                <a:r>
                  <a:rPr lang="en-US" b="1" dirty="0">
                    <a:cs typeface="B Nazanin" panose="00000400000000000000" pitchFamily="2" charset="-78"/>
                  </a:rPr>
                  <a:t>Join</a:t>
                </a:r>
                <a:r>
                  <a:rPr lang="en-US" dirty="0">
                    <a:cs typeface="B Nazanin" panose="00000400000000000000" pitchFamily="2" charset="-78"/>
                  </a:rPr>
                  <a:t> </a:t>
                </a:r>
                <a:r>
                  <a:rPr lang="fa-IR" dirty="0">
                    <a:cs typeface="B Nazanin" panose="00000400000000000000" pitchFamily="2" charset="-78"/>
                  </a:rPr>
                  <a:t>قابل کنترل‌اند.</a:t>
                </a:r>
                <a:br>
                  <a:rPr lang="fa-IR" dirty="0">
                    <a:cs typeface="B Nazanin" panose="00000400000000000000" pitchFamily="2" charset="-78"/>
                  </a:rPr>
                </a:br>
                <a:r>
                  <a:rPr lang="fa-IR" dirty="0">
                    <a:cs typeface="B Nazanin" panose="00000400000000000000" pitchFamily="2" charset="-78"/>
                  </a:rPr>
                  <a:t>✔ </a:t>
                </a:r>
                <a:r>
                  <a:rPr lang="fa-IR" b="1" dirty="0">
                    <a:cs typeface="B Nazanin" panose="00000400000000000000" pitchFamily="2" charset="-78"/>
                  </a:rPr>
                  <a:t>تجزیه حفظ‌کننده وابستگی‌ها</a:t>
                </a:r>
                <a:endParaRPr lang="fa-IR" dirty="0">
                  <a:cs typeface="B Nazanin" panose="00000400000000000000" pitchFamily="2" charset="-78"/>
                </a:endParaRPr>
              </a:p>
            </p:txBody>
          </p:sp>
        </mc:Choice>
        <mc:Fallback xmlns="">
          <p:sp>
            <p:nvSpPr>
              <p:cNvPr id="5" name="TextBox 4">
                <a:extLst>
                  <a:ext uri="{FF2B5EF4-FFF2-40B4-BE49-F238E27FC236}">
                    <a16:creationId xmlns:a16="http://schemas.microsoft.com/office/drawing/2014/main" id="{FE2423B0-CF07-745E-CF60-76B3C96952CF}"/>
                  </a:ext>
                </a:extLst>
              </p:cNvPr>
              <p:cNvSpPr txBox="1">
                <a:spLocks noRot="1" noChangeAspect="1" noMove="1" noResize="1" noEditPoints="1" noAdjustHandles="1" noChangeArrowheads="1" noChangeShapeType="1" noTextEdit="1"/>
              </p:cNvSpPr>
              <p:nvPr/>
            </p:nvSpPr>
            <p:spPr>
              <a:xfrm>
                <a:off x="422031" y="4340353"/>
                <a:ext cx="3381874" cy="1323439"/>
              </a:xfrm>
              <a:prstGeom prst="rect">
                <a:avLst/>
              </a:prstGeom>
              <a:blipFill>
                <a:blip r:embed="rId5"/>
                <a:stretch>
                  <a:fillRect t="-1382" r="-1261" b="-64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2116B7C-F02D-D016-D44E-439F88759970}"/>
                  </a:ext>
                </a:extLst>
              </p:cNvPr>
              <p:cNvSpPr txBox="1"/>
              <p:nvPr/>
            </p:nvSpPr>
            <p:spPr>
              <a:xfrm>
                <a:off x="3890206" y="3787115"/>
                <a:ext cx="4955344" cy="2308324"/>
              </a:xfrm>
              <a:prstGeom prst="rect">
                <a:avLst/>
              </a:prstGeom>
              <a:noFill/>
            </p:spPr>
            <p:txBody>
              <a:bodyPr wrap="square">
                <a:spAutoFit/>
              </a:bodyPr>
              <a:lstStyle/>
              <a:p>
                <a:pPr algn="r" rtl="1">
                  <a:buNone/>
                </a:pPr>
                <a:endParaRPr lang="fa-IR" dirty="0">
                  <a:cs typeface="B Nazanin" panose="00000400000000000000" pitchFamily="2" charset="-78"/>
                </a:endParaRPr>
              </a:p>
              <a:p>
                <a:pPr algn="r" rtl="1">
                  <a:buNone/>
                </a:pPr>
                <a:r>
                  <a:rPr lang="fa-IR" b="1" dirty="0">
                    <a:cs typeface="B Nazanin" panose="00000400000000000000" pitchFamily="2" charset="-78"/>
                  </a:rPr>
                  <a:t>1) تجزیه بدون اتلاف پیوست</a:t>
                </a:r>
              </a:p>
              <a:p>
                <a:pPr algn="r" rtl="1">
                  <a:buFont typeface="Arial" panose="020B0604020202020204" pitchFamily="34" charset="0"/>
                  <a:buChar char="•"/>
                </a:pPr>
                <a:r>
                  <a:rPr lang="fa-IR" dirty="0">
                    <a:cs typeface="B Nazanin" panose="00000400000000000000" pitchFamily="2" charset="-78"/>
                  </a:rPr>
                  <a:t>اشتراک:</a:t>
                </a:r>
              </a:p>
              <a:p>
                <a:pPr algn="r" rtl="1">
                  <a:buNone/>
                </a:pPr>
                <a14:m>
                  <m:oMathPara xmlns:m="http://schemas.openxmlformats.org/officeDocument/2006/math">
                    <m:oMathParaPr>
                      <m:jc m:val="centerGroup"/>
                    </m:oMathParaPr>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0">
                              <a:latin typeface="Cambria Math" panose="02040503050406030204" pitchFamily="18" charset="0"/>
                            </a:rPr>
                            <m:t>1</m:t>
                          </m:r>
                        </m:sub>
                      </m:sSub>
                      <m:r>
                        <a:rPr lang="fa-IR" i="0">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0">
                              <a:latin typeface="Cambria Math" panose="02040503050406030204" pitchFamily="18" charset="0"/>
                            </a:rPr>
                            <m:t>2</m:t>
                          </m:r>
                        </m:sub>
                      </m:sSub>
                      <m:r>
                        <a:rPr lang="fa-IR" i="0">
                          <a:latin typeface="Cambria Math" panose="02040503050406030204" pitchFamily="18" charset="0"/>
                        </a:rPr>
                        <m:t>=</m:t>
                      </m:r>
                      <m:d>
                        <m:dPr>
                          <m:begChr m:val="{"/>
                          <m:endChr m:val="}"/>
                          <m:ctrlPr>
                            <a:rPr lang="fa-IR" i="1">
                              <a:latin typeface="Cambria Math" panose="02040503050406030204" pitchFamily="18" charset="0"/>
                            </a:rPr>
                          </m:ctrlPr>
                        </m:dPr>
                        <m:e>
                          <m:r>
                            <a:rPr lang="fa-IR" i="1">
                              <a:latin typeface="Cambria Math" panose="02040503050406030204" pitchFamily="18" charset="0"/>
                            </a:rPr>
                            <m:t>𝐵</m:t>
                          </m:r>
                        </m:e>
                      </m:d>
                    </m:oMath>
                  </m:oMathPara>
                </a14:m>
                <a:endParaRPr lang="fa-IR" dirty="0">
                  <a:cs typeface="B Nazanin" panose="00000400000000000000" pitchFamily="2" charset="-78"/>
                </a:endParaRPr>
              </a:p>
              <a:p>
                <a:pPr algn="r" rtl="1">
                  <a:buFont typeface="Arial" panose="020B0604020202020204" pitchFamily="34" charset="0"/>
                  <a:buChar char="•"/>
                </a:pPr>
                <a:r>
                  <a:rPr lang="fa-IR" dirty="0">
                    <a:cs typeface="B Nazanin" panose="00000400000000000000" pitchFamily="2" charset="-78"/>
                  </a:rPr>
                  <a:t>وابستگی:</a:t>
                </a:r>
              </a:p>
              <a:p>
                <a:pPr algn="r" rtl="1">
                  <a:buNone/>
                </a:pPr>
                <a14:m>
                  <m:oMathPara xmlns:m="http://schemas.openxmlformats.org/officeDocument/2006/math">
                    <m:oMathParaPr>
                      <m:jc m:val="centerGroup"/>
                    </m:oMathParaPr>
                    <m:oMath xmlns:m="http://schemas.openxmlformats.org/officeDocument/2006/math">
                      <m:r>
                        <a:rPr lang="fa-IR" i="1">
                          <a:latin typeface="Cambria Math" panose="02040503050406030204" pitchFamily="18" charset="0"/>
                        </a:rPr>
                        <m:t>𝐵</m:t>
                      </m:r>
                      <m:r>
                        <a:rPr lang="fa-IR" i="0">
                          <a:latin typeface="Cambria Math" panose="02040503050406030204" pitchFamily="18" charset="0"/>
                        </a:rPr>
                        <m:t>→</m:t>
                      </m:r>
                      <m:r>
                        <a:rPr lang="fa-IR" i="1">
                          <a:latin typeface="Cambria Math" panose="02040503050406030204" pitchFamily="18" charset="0"/>
                        </a:rPr>
                        <m:t>𝐵𝐶</m:t>
                      </m:r>
                    </m:oMath>
                  </m:oMathPara>
                </a14:m>
                <a:endParaRPr lang="fa-IR" dirty="0">
                  <a:cs typeface="B Nazanin" panose="00000400000000000000" pitchFamily="2" charset="-78"/>
                </a:endParaRPr>
              </a:p>
              <a:p>
                <a:pPr algn="r" rtl="1">
                  <a:buNone/>
                </a:pPr>
                <a:r>
                  <a:rPr lang="fa-IR" dirty="0">
                    <a:cs typeface="B Nazanin" panose="00000400000000000000" pitchFamily="2" charset="-78"/>
                  </a:rPr>
                  <a:t>چون </a:t>
                </a:r>
                <a:r>
                  <a:rPr lang="en-US" b="1" dirty="0">
                    <a:cs typeface="B Nazanin" panose="00000400000000000000" pitchFamily="2" charset="-78"/>
                  </a:rPr>
                  <a:t>B </a:t>
                </a:r>
                <a:r>
                  <a:rPr lang="fa-IR" b="1" dirty="0">
                    <a:cs typeface="B Nazanin" panose="00000400000000000000" pitchFamily="2" charset="-78"/>
                  </a:rPr>
                  <a:t>کلید رابطه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0">
                            <a:latin typeface="Cambria Math" panose="02040503050406030204" pitchFamily="18" charset="0"/>
                          </a:rPr>
                          <m:t>2</m:t>
                        </m:r>
                      </m:sub>
                    </m:sSub>
                    <m:d>
                      <m:dPr>
                        <m:sepChr m:val=","/>
                        <m:ctrlPr>
                          <a:rPr lang="fa-IR" i="1">
                            <a:latin typeface="Cambria Math" panose="02040503050406030204" pitchFamily="18" charset="0"/>
                          </a:rPr>
                        </m:ctrlPr>
                      </m:dPr>
                      <m:e>
                        <m:r>
                          <a:rPr lang="fa-IR" i="1">
                            <a:latin typeface="Cambria Math" panose="02040503050406030204" pitchFamily="18" charset="0"/>
                          </a:rPr>
                          <m:t>𝐵</m:t>
                        </m:r>
                      </m:e>
                      <m:e>
                        <m:r>
                          <a:rPr lang="fa-IR" i="1">
                            <a:latin typeface="Cambria Math" panose="02040503050406030204" pitchFamily="18" charset="0"/>
                          </a:rPr>
                          <m:t>𝐶</m:t>
                        </m:r>
                      </m:e>
                    </m:d>
                  </m:oMath>
                </a14:m>
                <a:r>
                  <a:rPr lang="fa-IR" dirty="0">
                    <a:cs typeface="B Nazanin" panose="00000400000000000000" pitchFamily="2" charset="-78"/>
                  </a:rPr>
                  <a:t>است، اتصال طبیعی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0">
                            <a:latin typeface="Cambria Math" panose="02040503050406030204" pitchFamily="18" charset="0"/>
                          </a:rPr>
                          <m:t>1</m:t>
                        </m:r>
                      </m:sub>
                    </m:sSub>
                  </m:oMath>
                </a14:m>
                <a:r>
                  <a:rPr lang="fa-IR" dirty="0">
                    <a:cs typeface="B Nazanin" panose="00000400000000000000" pitchFamily="2" charset="-78"/>
                  </a:rPr>
                  <a:t>و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0">
                            <a:latin typeface="Cambria Math" panose="02040503050406030204" pitchFamily="18" charset="0"/>
                          </a:rPr>
                          <m:t>2</m:t>
                        </m:r>
                      </m:sub>
                    </m:sSub>
                  </m:oMath>
                </a14:m>
                <a:r>
                  <a:rPr lang="fa-IR" dirty="0">
                    <a:cs typeface="B Nazanin" panose="00000400000000000000" pitchFamily="2" charset="-78"/>
                  </a:rPr>
                  <a:t>اطلاعات را از دست نمی‌دهد.</a:t>
                </a:r>
              </a:p>
              <a:p>
                <a:pPr algn="r" rtl="1">
                  <a:buNone/>
                </a:pPr>
                <a:r>
                  <a:rPr lang="fa-IR" dirty="0">
                    <a:cs typeface="B Nazanin" panose="00000400000000000000" pitchFamily="2" charset="-78"/>
                  </a:rPr>
                  <a:t>✔ </a:t>
                </a:r>
                <a:r>
                  <a:rPr lang="fa-IR" b="1" dirty="0">
                    <a:cs typeface="B Nazanin" panose="00000400000000000000" pitchFamily="2" charset="-78"/>
                  </a:rPr>
                  <a:t>تجزیه بدون اتلاف</a:t>
                </a:r>
                <a:endParaRPr lang="fa-IR" dirty="0">
                  <a:cs typeface="B Nazanin" panose="00000400000000000000" pitchFamily="2" charset="-78"/>
                </a:endParaRPr>
              </a:p>
            </p:txBody>
          </p:sp>
        </mc:Choice>
        <mc:Fallback xmlns="">
          <p:sp>
            <p:nvSpPr>
              <p:cNvPr id="7" name="TextBox 6">
                <a:extLst>
                  <a:ext uri="{FF2B5EF4-FFF2-40B4-BE49-F238E27FC236}">
                    <a16:creationId xmlns:a16="http://schemas.microsoft.com/office/drawing/2014/main" id="{E2116B7C-F02D-D016-D44E-439F88759970}"/>
                  </a:ext>
                </a:extLst>
              </p:cNvPr>
              <p:cNvSpPr txBox="1">
                <a:spLocks noRot="1" noChangeAspect="1" noMove="1" noResize="1" noEditPoints="1" noAdjustHandles="1" noChangeArrowheads="1" noChangeShapeType="1" noTextEdit="1"/>
              </p:cNvSpPr>
              <p:nvPr/>
            </p:nvSpPr>
            <p:spPr>
              <a:xfrm>
                <a:off x="3890206" y="3787115"/>
                <a:ext cx="4955344" cy="2308324"/>
              </a:xfrm>
              <a:prstGeom prst="rect">
                <a:avLst/>
              </a:prstGeom>
              <a:blipFill>
                <a:blip r:embed="rId6"/>
                <a:stretch>
                  <a:fillRect r="-861" b="-3166"/>
                </a:stretch>
              </a:blipFill>
            </p:spPr>
            <p:txBody>
              <a:bodyPr/>
              <a:lstStyle/>
              <a:p>
                <a:r>
                  <a:rPr lang="en-US">
                    <a:noFill/>
                  </a:rPr>
                  <a:t> </a:t>
                </a:r>
              </a:p>
            </p:txBody>
          </p:sp>
        </mc:Fallback>
      </mc:AlternateContent>
    </p:spTree>
    <p:extLst>
      <p:ext uri="{BB962C8B-B14F-4D97-AF65-F5344CB8AC3E}">
        <p14:creationId xmlns:p14="http://schemas.microsoft.com/office/powerpoint/2010/main" val="1177683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p:bldP spid="7" grpId="0"/>
    </p:bldLst>
  </p:timing>
</p:sld>
</file>

<file path=ppt/slides/slide66.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446307C4-124F-8232-139B-25E34215BE06}"/>
            </a:ext>
          </a:extLst>
        </p:cNvPr>
        <p:cNvGrpSpPr/>
        <p:nvPr/>
      </p:nvGrpSpPr>
      <p:grpSpPr>
        <a:xfrm>
          <a:off x="0" y="0"/>
          <a:ext cx="0" cy="0"/>
          <a:chOff x="0" y="0"/>
          <a:chExt cx="0" cy="0"/>
        </a:xfrm>
      </p:grpSpPr>
      <p:sp>
        <p:nvSpPr>
          <p:cNvPr id="924674" name="Rectangle 2">
            <a:extLst>
              <a:ext uri="{FF2B5EF4-FFF2-40B4-BE49-F238E27FC236}">
                <a16:creationId xmlns:a16="http://schemas.microsoft.com/office/drawing/2014/main" id="{AFC7C6FB-6C42-F982-5483-E6C1EA7D2851}"/>
              </a:ext>
            </a:extLst>
          </p:cNvPr>
          <p:cNvSpPr>
            <a:spLocks noGrp="1" noChangeArrowheads="1"/>
          </p:cNvSpPr>
          <p:nvPr>
            <p:ph type="title"/>
          </p:nvPr>
        </p:nvSpPr>
        <p:spPr/>
        <p:txBody>
          <a:bodyPr/>
          <a:lstStyle/>
          <a:p>
            <a:pPr>
              <a:defRPr/>
            </a:pPr>
            <a:r>
              <a:rPr lang="en-US" sz="2800" dirty="0">
                <a:ea typeface="ＭＳ Ｐゴシック" pitchFamily="34" charset="-128"/>
              </a:rPr>
              <a:t>Example</a:t>
            </a:r>
          </a:p>
        </p:txBody>
      </p:sp>
      <mc:AlternateContent xmlns:mc="http://schemas.openxmlformats.org/markup-compatibility/2006" xmlns:a14="http://schemas.microsoft.com/office/drawing/2010/main">
        <mc:Choice Requires="a14">
          <p:sp>
            <p:nvSpPr>
              <p:cNvPr id="924675" name="Rectangle 3">
                <a:extLst>
                  <a:ext uri="{FF2B5EF4-FFF2-40B4-BE49-F238E27FC236}">
                    <a16:creationId xmlns:a16="http://schemas.microsoft.com/office/drawing/2014/main" id="{829A558C-FF9B-E4ED-7894-E349DFD23B8A}"/>
                  </a:ext>
                </a:extLst>
              </p:cNvPr>
              <p:cNvSpPr>
                <a:spLocks noGrp="1" noChangeArrowheads="1"/>
              </p:cNvSpPr>
              <p:nvPr>
                <p:ph idx="1"/>
              </p:nvPr>
            </p:nvSpPr>
            <p:spPr>
              <a:xfrm>
                <a:off x="768351" y="1093789"/>
                <a:ext cx="7607554" cy="2085509"/>
              </a:xfrm>
            </p:spPr>
            <p:txBody>
              <a:bodyPr/>
              <a:lstStyle/>
              <a:p>
                <a:r>
                  <a:rPr lang="fa-IR" sz="1800" b="1" dirty="0"/>
                  <a:t>رابطه و وابستگی‌ها</a:t>
                </a:r>
              </a:p>
              <a:p>
                <a:r>
                  <a:rPr lang="fa-IR" sz="1800" dirty="0"/>
                  <a:t>رابطه اصلی:</a:t>
                </a:r>
              </a:p>
              <a:p>
                <a14:m>
                  <m:oMath xmlns:m="http://schemas.openxmlformats.org/officeDocument/2006/math">
                    <m:r>
                      <a:rPr lang="fa-IR" i="1">
                        <a:latin typeface="Cambria Math" panose="02040503050406030204" pitchFamily="18" charset="0"/>
                      </a:rPr>
                      <m:t>𝑅</m:t>
                    </m:r>
                    <m:d>
                      <m:dPr>
                        <m:sepChr m:val=","/>
                        <m:ctrlPr>
                          <a:rPr lang="fa-IR" i="1">
                            <a:latin typeface="Cambria Math" panose="02040503050406030204" pitchFamily="18" charset="0"/>
                          </a:rPr>
                        </m:ctrlPr>
                      </m:dPr>
                      <m:e>
                        <m:r>
                          <a:rPr lang="fa-IR" i="1">
                            <a:latin typeface="Cambria Math" panose="02040503050406030204" pitchFamily="18" charset="0"/>
                          </a:rPr>
                          <m:t>𝐴</m:t>
                        </m:r>
                      </m:e>
                      <m:e>
                        <m:r>
                          <a:rPr lang="fa-IR" i="1">
                            <a:latin typeface="Cambria Math" panose="02040503050406030204" pitchFamily="18" charset="0"/>
                          </a:rPr>
                          <m:t>𝐵</m:t>
                        </m:r>
                      </m:e>
                      <m:e>
                        <m:r>
                          <a:rPr lang="fa-IR" i="1">
                            <a:latin typeface="Cambria Math" panose="02040503050406030204" pitchFamily="18" charset="0"/>
                          </a:rPr>
                          <m:t>𝐶</m:t>
                        </m:r>
                      </m:e>
                    </m:d>
                  </m:oMath>
                </a14:m>
                <a:endParaRPr lang="fa-IR" sz="1800" dirty="0"/>
              </a:p>
              <a:p>
                <a:r>
                  <a:rPr lang="fa-IR" sz="1800" dirty="0"/>
                  <a:t>وابستگی‌های تابعی:</a:t>
                </a:r>
              </a:p>
              <a:p>
                <a14:m>
                  <m:oMath xmlns:m="http://schemas.openxmlformats.org/officeDocument/2006/math">
                    <m:r>
                      <a:rPr lang="fa-IR" i="1">
                        <a:latin typeface="Cambria Math" panose="02040503050406030204" pitchFamily="18" charset="0"/>
                      </a:rPr>
                      <m:t>𝐹</m:t>
                    </m:r>
                    <m:r>
                      <a:rPr lang="fa-IR">
                        <a:latin typeface="Cambria Math" panose="02040503050406030204" pitchFamily="18" charset="0"/>
                      </a:rPr>
                      <m:t>=</m:t>
                    </m:r>
                    <m:r>
                      <a:rPr lang="en-US" b="0" i="1" smtClean="0">
                        <a:latin typeface="Cambria Math" panose="02040503050406030204" pitchFamily="18" charset="0"/>
                      </a:rPr>
                      <m:t>{</m:t>
                    </m:r>
                    <m:r>
                      <a:rPr lang="en-US" b="0" i="1" smtClean="0">
                        <a:latin typeface="Cambria Math" panose="02040503050406030204" pitchFamily="18" charset="0"/>
                      </a:rPr>
                      <m:t>𝐴</m:t>
                    </m:r>
                    <m:r>
                      <a:rPr lang="fa-IR">
                        <a:latin typeface="Cambria Math" panose="02040503050406030204" pitchFamily="18" charset="0"/>
                      </a:rPr>
                      <m:t>→</m:t>
                    </m:r>
                    <m:r>
                      <m:rPr>
                        <m:sty m:val="p"/>
                      </m:rPr>
                      <a:rPr lang="en-US" b="0" i="0" smtClean="0">
                        <a:latin typeface="Cambria Math" panose="02040503050406030204" pitchFamily="18" charset="0"/>
                      </a:rPr>
                      <m:t>B</m:t>
                    </m:r>
                    <m:r>
                      <a:rPr lang="en-US" b="0" i="0" smtClean="0">
                        <a:latin typeface="Cambria Math" panose="02040503050406030204" pitchFamily="18" charset="0"/>
                      </a:rPr>
                      <m:t>, </m:t>
                    </m:r>
                    <m:r>
                      <m:rPr>
                        <m:sty m:val="p"/>
                      </m:rPr>
                      <a:rPr lang="en-US" b="0" i="0" smtClean="0">
                        <a:latin typeface="Cambria Math" panose="02040503050406030204" pitchFamily="18" charset="0"/>
                      </a:rPr>
                      <m:t>B</m:t>
                    </m:r>
                    <m:r>
                      <a:rPr lang="fa-IR">
                        <a:latin typeface="Cambria Math" panose="02040503050406030204" pitchFamily="18" charset="0"/>
                      </a:rPr>
                      <m:t>→</m:t>
                    </m:r>
                    <m:r>
                      <m:rPr>
                        <m:sty m:val="p"/>
                      </m:rPr>
                      <a:rPr lang="en-US" b="0" i="0" smtClean="0">
                        <a:latin typeface="Cambria Math" panose="02040503050406030204" pitchFamily="18" charset="0"/>
                      </a:rPr>
                      <m:t>C</m:t>
                    </m:r>
                    <m:r>
                      <a:rPr lang="en-US" b="0" i="1" smtClean="0">
                        <a:latin typeface="Cambria Math" panose="02040503050406030204" pitchFamily="18" charset="0"/>
                      </a:rPr>
                      <m:t>}</m:t>
                    </m:r>
                  </m:oMath>
                </a14:m>
                <a:endParaRPr lang="fa-IR" sz="1800" b="0" dirty="0"/>
              </a:p>
            </p:txBody>
          </p:sp>
        </mc:Choice>
        <mc:Fallback xmlns="">
          <p:sp>
            <p:nvSpPr>
              <p:cNvPr id="924675" name="Rectangle 3">
                <a:extLst>
                  <a:ext uri="{FF2B5EF4-FFF2-40B4-BE49-F238E27FC236}">
                    <a16:creationId xmlns:a16="http://schemas.microsoft.com/office/drawing/2014/main" id="{829A558C-FF9B-E4ED-7894-E349DFD23B8A}"/>
                  </a:ext>
                </a:extLst>
              </p:cNvPr>
              <p:cNvSpPr>
                <a:spLocks noGrp="1" noRot="1" noChangeAspect="1" noMove="1" noResize="1" noEditPoints="1" noAdjustHandles="1" noChangeArrowheads="1" noChangeShapeType="1" noTextEdit="1"/>
              </p:cNvSpPr>
              <p:nvPr>
                <p:ph idx="1"/>
              </p:nvPr>
            </p:nvSpPr>
            <p:spPr>
              <a:xfrm>
                <a:off x="768351" y="1093789"/>
                <a:ext cx="7607554" cy="2085509"/>
              </a:xfrm>
              <a:blipFill>
                <a:blip r:embed="rId3"/>
                <a:stretch>
                  <a:fillRect l="-881" t="-349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BD407FC-1DEE-2889-2E57-AA74EC32D0AC}"/>
                  </a:ext>
                </a:extLst>
              </p:cNvPr>
              <p:cNvSpPr txBox="1"/>
              <p:nvPr/>
            </p:nvSpPr>
            <p:spPr>
              <a:xfrm>
                <a:off x="4273550" y="1482992"/>
                <a:ext cx="4572000" cy="830997"/>
              </a:xfrm>
              <a:prstGeom prst="rect">
                <a:avLst/>
              </a:prstGeom>
              <a:noFill/>
            </p:spPr>
            <p:txBody>
              <a:bodyPr wrap="square">
                <a:spAutoFit/>
              </a:bodyPr>
              <a:lstStyle/>
              <a:p>
                <a:pPr algn="r" rtl="1"/>
                <a:r>
                  <a:rPr lang="fa-IR" b="1" dirty="0">
                    <a:cs typeface="B Nazanin" panose="00000400000000000000" pitchFamily="2" charset="-78"/>
                  </a:rPr>
                  <a:t>تجزیه دوم</a:t>
                </a:r>
              </a:p>
              <a:p>
                <a:pPr algn="r" rtl="1"/>
                <a14:m>
                  <m:oMathPara xmlns:m="http://schemas.openxmlformats.org/officeDocument/2006/math">
                    <m:oMathParaPr>
                      <m:jc m:val="centerGroup"/>
                    </m:oMathParaPr>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d>
                        <m:dPr>
                          <m:sepChr m:val=","/>
                          <m:ctrlPr>
                            <a:rPr lang="fa-IR" i="1">
                              <a:latin typeface="Cambria Math" panose="02040503050406030204" pitchFamily="18" charset="0"/>
                            </a:rPr>
                          </m:ctrlPr>
                        </m:dPr>
                        <m:e>
                          <m:r>
                            <a:rPr lang="fa-IR" i="1">
                              <a:latin typeface="Cambria Math" panose="02040503050406030204" pitchFamily="18" charset="0"/>
                            </a:rPr>
                            <m:t>𝐴</m:t>
                          </m:r>
                        </m:e>
                        <m:e>
                          <m:r>
                            <a:rPr lang="fa-IR" i="1">
                              <a:latin typeface="Cambria Math" panose="02040503050406030204" pitchFamily="18" charset="0"/>
                            </a:rPr>
                            <m:t>𝐵</m:t>
                          </m:r>
                        </m:e>
                      </m:d>
                    </m:oMath>
                  </m:oMathPara>
                </a14:m>
                <a:endParaRPr lang="en-US" dirty="0">
                  <a:cs typeface="B Nazanin" panose="00000400000000000000" pitchFamily="2" charset="-78"/>
                </a:endParaRPr>
              </a:p>
              <a:p>
                <a:pPr algn="r" rtl="1"/>
                <a14:m>
                  <m:oMathPara xmlns:m="http://schemas.openxmlformats.org/officeDocument/2006/math">
                    <m:oMathParaPr>
                      <m:jc m:val="centerGroup"/>
                    </m:oMathParaPr>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2</m:t>
                          </m:r>
                        </m:sub>
                      </m:sSub>
                      <m:d>
                        <m:dPr>
                          <m:sepChr m:val=","/>
                          <m:ctrlPr>
                            <a:rPr lang="fa-IR" i="1">
                              <a:latin typeface="Cambria Math" panose="02040503050406030204" pitchFamily="18" charset="0"/>
                            </a:rPr>
                          </m:ctrlPr>
                        </m:dPr>
                        <m:e>
                          <m:r>
                            <a:rPr lang="fa-IR" i="1">
                              <a:latin typeface="Cambria Math" panose="02040503050406030204" pitchFamily="18" charset="0"/>
                            </a:rPr>
                            <m:t>𝐴</m:t>
                          </m:r>
                        </m:e>
                        <m:e>
                          <m:r>
                            <a:rPr lang="fa-IR" i="1">
                              <a:latin typeface="Cambria Math" panose="02040503050406030204" pitchFamily="18" charset="0"/>
                            </a:rPr>
                            <m:t>𝐶</m:t>
                          </m:r>
                        </m:e>
                      </m:d>
                    </m:oMath>
                  </m:oMathPara>
                </a14:m>
                <a:endParaRPr lang="fa-IR" dirty="0">
                  <a:cs typeface="B Nazanin" panose="00000400000000000000" pitchFamily="2" charset="-78"/>
                </a:endParaRPr>
              </a:p>
            </p:txBody>
          </p:sp>
        </mc:Choice>
        <mc:Fallback xmlns="">
          <p:sp>
            <p:nvSpPr>
              <p:cNvPr id="3" name="TextBox 2">
                <a:extLst>
                  <a:ext uri="{FF2B5EF4-FFF2-40B4-BE49-F238E27FC236}">
                    <a16:creationId xmlns:a16="http://schemas.microsoft.com/office/drawing/2014/main" id="{6BD407FC-1DEE-2889-2E57-AA74EC32D0AC}"/>
                  </a:ext>
                </a:extLst>
              </p:cNvPr>
              <p:cNvSpPr txBox="1">
                <a:spLocks noRot="1" noChangeAspect="1" noMove="1" noResize="1" noEditPoints="1" noAdjustHandles="1" noChangeArrowheads="1" noChangeShapeType="1" noTextEdit="1"/>
              </p:cNvSpPr>
              <p:nvPr/>
            </p:nvSpPr>
            <p:spPr>
              <a:xfrm>
                <a:off x="4273550" y="1482992"/>
                <a:ext cx="4572000" cy="830997"/>
              </a:xfrm>
              <a:prstGeom prst="rect">
                <a:avLst/>
              </a:prstGeom>
              <a:blipFill>
                <a:blip r:embed="rId4"/>
                <a:stretch>
                  <a:fillRect t="-2190" r="-8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FA3F8C0-33EE-0B63-94CA-D55385769DC3}"/>
                  </a:ext>
                </a:extLst>
              </p:cNvPr>
              <p:cNvSpPr txBox="1"/>
              <p:nvPr/>
            </p:nvSpPr>
            <p:spPr>
              <a:xfrm>
                <a:off x="-98475" y="3559126"/>
                <a:ext cx="3587261" cy="2308324"/>
              </a:xfrm>
              <a:prstGeom prst="rect">
                <a:avLst/>
              </a:prstGeom>
              <a:noFill/>
            </p:spPr>
            <p:txBody>
              <a:bodyPr wrap="square">
                <a:spAutoFit/>
              </a:bodyPr>
              <a:lstStyle/>
              <a:p>
                <a:pPr algn="r" rtl="1"/>
                <a:r>
                  <a:rPr lang="fa-IR" b="1" dirty="0">
                    <a:cs typeface="B Nazanin" panose="00000400000000000000" pitchFamily="2" charset="-78"/>
                  </a:rPr>
                  <a:t>2) غیرِ حفظ‌کننده وابستگی‌ها</a:t>
                </a:r>
              </a:p>
              <a:p>
                <a:pPr algn="r" rtl="1"/>
                <a:r>
                  <a:rPr lang="fa-IR" dirty="0">
                    <a:cs typeface="B Nazanin" panose="00000400000000000000" pitchFamily="2" charset="-78"/>
                  </a:rPr>
                  <a:t>وابستگی </a:t>
                </a:r>
                <a14:m>
                  <m:oMath xmlns:m="http://schemas.openxmlformats.org/officeDocument/2006/math">
                    <m:r>
                      <a:rPr lang="fa-IR" i="1">
                        <a:latin typeface="Cambria Math" panose="02040503050406030204" pitchFamily="18" charset="0"/>
                      </a:rPr>
                      <m:t>𝐴</m:t>
                    </m:r>
                    <m:r>
                      <a:rPr lang="fa-IR">
                        <a:latin typeface="Cambria Math" panose="02040503050406030204" pitchFamily="18" charset="0"/>
                      </a:rPr>
                      <m:t>→</m:t>
                    </m:r>
                    <m:r>
                      <a:rPr lang="fa-IR" i="1">
                        <a:latin typeface="Cambria Math" panose="02040503050406030204" pitchFamily="18" charset="0"/>
                      </a:rPr>
                      <m:t>𝐵</m:t>
                    </m:r>
                  </m:oMath>
                </a14:m>
                <a:r>
                  <a:rPr lang="fa-IR" dirty="0">
                    <a:cs typeface="B Nazanin" panose="00000400000000000000" pitchFamily="2" charset="-78"/>
                  </a:rPr>
                  <a:t>در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oMath>
                </a14:m>
                <a:r>
                  <a:rPr lang="fa-IR" dirty="0">
                    <a:cs typeface="B Nazanin" panose="00000400000000000000" pitchFamily="2" charset="-78"/>
                  </a:rPr>
                  <a:t>موجود است.</a:t>
                </a:r>
              </a:p>
              <a:p>
                <a:pPr algn="r" rtl="1"/>
                <a:r>
                  <a:rPr lang="fa-IR" dirty="0">
                    <a:cs typeface="B Nazanin" panose="00000400000000000000" pitchFamily="2" charset="-78"/>
                  </a:rPr>
                  <a:t>اما وابستگی مهم:</a:t>
                </a:r>
              </a:p>
              <a:p>
                <a:pPr algn="r" rtl="1"/>
                <a14:m>
                  <m:oMathPara xmlns:m="http://schemas.openxmlformats.org/officeDocument/2006/math">
                    <m:oMathParaPr>
                      <m:jc m:val="centerGroup"/>
                    </m:oMathParaPr>
                    <m:oMath xmlns:m="http://schemas.openxmlformats.org/officeDocument/2006/math">
                      <m:r>
                        <a:rPr lang="fa-IR" i="1">
                          <a:latin typeface="Cambria Math" panose="02040503050406030204" pitchFamily="18" charset="0"/>
                        </a:rPr>
                        <m:t>𝐵</m:t>
                      </m:r>
                      <m:r>
                        <a:rPr lang="fa-IR">
                          <a:latin typeface="Cambria Math" panose="02040503050406030204" pitchFamily="18" charset="0"/>
                        </a:rPr>
                        <m:t>→</m:t>
                      </m:r>
                      <m:r>
                        <a:rPr lang="fa-IR" i="1">
                          <a:latin typeface="Cambria Math" panose="02040503050406030204" pitchFamily="18" charset="0"/>
                        </a:rPr>
                        <m:t>𝐶</m:t>
                      </m:r>
                    </m:oMath>
                  </m:oMathPara>
                </a14:m>
                <a:endParaRPr lang="fa-IR" dirty="0">
                  <a:cs typeface="B Nazanin" panose="00000400000000000000" pitchFamily="2" charset="-78"/>
                </a:endParaRPr>
              </a:p>
              <a:p>
                <a:pPr algn="r" rtl="1"/>
                <a:r>
                  <a:rPr lang="fa-IR" dirty="0">
                    <a:cs typeface="B Nazanin" panose="00000400000000000000" pitchFamily="2" charset="-78"/>
                  </a:rPr>
                  <a:t>در هیچ‌کدام از روابط به‌تنهایی وجود ندارد:</a:t>
                </a:r>
              </a:p>
              <a:p>
                <a:pPr algn="r" rtl="1"/>
                <a:r>
                  <a:rPr lang="fa-IR" dirty="0">
                    <a:cs typeface="B Nazanin" panose="00000400000000000000" pitchFamily="2" charset="-78"/>
                  </a:rPr>
                  <a:t>در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d>
                      <m:dPr>
                        <m:sepChr m:val=","/>
                        <m:ctrlPr>
                          <a:rPr lang="fa-IR" i="1">
                            <a:latin typeface="Cambria Math" panose="02040503050406030204" pitchFamily="18" charset="0"/>
                          </a:rPr>
                        </m:ctrlPr>
                      </m:dPr>
                      <m:e>
                        <m:r>
                          <a:rPr lang="fa-IR" i="1">
                            <a:latin typeface="Cambria Math" panose="02040503050406030204" pitchFamily="18" charset="0"/>
                          </a:rPr>
                          <m:t>𝐴</m:t>
                        </m:r>
                      </m:e>
                      <m:e>
                        <m:r>
                          <a:rPr lang="fa-IR" i="1">
                            <a:latin typeface="Cambria Math" panose="02040503050406030204" pitchFamily="18" charset="0"/>
                          </a:rPr>
                          <m:t>𝐵</m:t>
                        </m:r>
                      </m:e>
                    </m:d>
                  </m:oMath>
                </a14:m>
                <a:r>
                  <a:rPr lang="fa-IR" dirty="0">
                    <a:cs typeface="B Nazanin" panose="00000400000000000000" pitchFamily="2" charset="-78"/>
                  </a:rPr>
                  <a:t>صفت </a:t>
                </a:r>
                <a:r>
                  <a:rPr lang="en-US" b="1" dirty="0">
                    <a:cs typeface="B Nazanin" panose="00000400000000000000" pitchFamily="2" charset="-78"/>
                  </a:rPr>
                  <a:t>C</a:t>
                </a:r>
                <a:r>
                  <a:rPr lang="en-US" dirty="0">
                    <a:cs typeface="B Nazanin" panose="00000400000000000000" pitchFamily="2" charset="-78"/>
                  </a:rPr>
                  <a:t> </a:t>
                </a:r>
                <a:r>
                  <a:rPr lang="fa-IR" dirty="0">
                    <a:cs typeface="B Nazanin" panose="00000400000000000000" pitchFamily="2" charset="-78"/>
                  </a:rPr>
                  <a:t>نیست.</a:t>
                </a:r>
              </a:p>
              <a:p>
                <a:pPr algn="r" rtl="1"/>
                <a:r>
                  <a:rPr lang="fa-IR" dirty="0">
                    <a:cs typeface="B Nazanin" panose="00000400000000000000" pitchFamily="2" charset="-78"/>
                  </a:rPr>
                  <a:t>در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2</m:t>
                        </m:r>
                      </m:sub>
                    </m:sSub>
                    <m:d>
                      <m:dPr>
                        <m:sepChr m:val=","/>
                        <m:ctrlPr>
                          <a:rPr lang="fa-IR" i="1">
                            <a:latin typeface="Cambria Math" panose="02040503050406030204" pitchFamily="18" charset="0"/>
                          </a:rPr>
                        </m:ctrlPr>
                      </m:dPr>
                      <m:e>
                        <m:r>
                          <a:rPr lang="fa-IR" i="1">
                            <a:latin typeface="Cambria Math" panose="02040503050406030204" pitchFamily="18" charset="0"/>
                          </a:rPr>
                          <m:t>𝐴</m:t>
                        </m:r>
                      </m:e>
                      <m:e>
                        <m:r>
                          <a:rPr lang="fa-IR" i="1">
                            <a:latin typeface="Cambria Math" panose="02040503050406030204" pitchFamily="18" charset="0"/>
                          </a:rPr>
                          <m:t>𝐶</m:t>
                        </m:r>
                      </m:e>
                    </m:d>
                  </m:oMath>
                </a14:m>
                <a:r>
                  <a:rPr lang="fa-IR" dirty="0">
                    <a:cs typeface="B Nazanin" panose="00000400000000000000" pitchFamily="2" charset="-78"/>
                  </a:rPr>
                  <a:t>صفت </a:t>
                </a:r>
                <a:r>
                  <a:rPr lang="en-US" b="1" dirty="0">
                    <a:cs typeface="B Nazanin" panose="00000400000000000000" pitchFamily="2" charset="-78"/>
                  </a:rPr>
                  <a:t>B</a:t>
                </a:r>
                <a:r>
                  <a:rPr lang="en-US" dirty="0">
                    <a:cs typeface="B Nazanin" panose="00000400000000000000" pitchFamily="2" charset="-78"/>
                  </a:rPr>
                  <a:t> </a:t>
                </a:r>
                <a:r>
                  <a:rPr lang="fa-IR" dirty="0">
                    <a:cs typeface="B Nazanin" panose="00000400000000000000" pitchFamily="2" charset="-78"/>
                  </a:rPr>
                  <a:t>نیست.</a:t>
                </a:r>
              </a:p>
              <a:p>
                <a:pPr algn="r" rtl="1"/>
                <a:r>
                  <a:rPr lang="en-US" dirty="0">
                    <a:cs typeface="B Nazanin" panose="00000400000000000000" pitchFamily="2" charset="-78"/>
                  </a:rPr>
                  <a:t>❌ </a:t>
                </a:r>
                <a:r>
                  <a:rPr lang="fa-IR" dirty="0">
                    <a:cs typeface="B Nazanin" panose="00000400000000000000" pitchFamily="2" charset="-78"/>
                  </a:rPr>
                  <a:t>بنابراین </a:t>
                </a:r>
                <a:r>
                  <a:rPr lang="fa-IR" b="1" dirty="0">
                    <a:cs typeface="B Nazanin" panose="00000400000000000000" pitchFamily="2" charset="-78"/>
                  </a:rPr>
                  <a:t>نمی‌توان وابستگی </a:t>
                </a:r>
                <a14:m>
                  <m:oMath xmlns:m="http://schemas.openxmlformats.org/officeDocument/2006/math">
                    <m:r>
                      <a:rPr lang="fa-IR" i="1">
                        <a:latin typeface="Cambria Math" panose="02040503050406030204" pitchFamily="18" charset="0"/>
                      </a:rPr>
                      <m:t>𝐵</m:t>
                    </m:r>
                    <m:r>
                      <a:rPr lang="fa-IR">
                        <a:latin typeface="Cambria Math" panose="02040503050406030204" pitchFamily="18" charset="0"/>
                      </a:rPr>
                      <m:t>→</m:t>
                    </m:r>
                    <m:r>
                      <a:rPr lang="fa-IR" i="1">
                        <a:latin typeface="Cambria Math" panose="02040503050406030204" pitchFamily="18" charset="0"/>
                      </a:rPr>
                      <m:t>𝐶</m:t>
                    </m:r>
                  </m:oMath>
                </a14:m>
                <a:r>
                  <a:rPr lang="fa-IR" b="1" dirty="0">
                    <a:cs typeface="B Nazanin" panose="00000400000000000000" pitchFamily="2" charset="-78"/>
                  </a:rPr>
                  <a:t>را بدون </a:t>
                </a:r>
                <a:r>
                  <a:rPr lang="en-US" b="1" dirty="0">
                    <a:cs typeface="B Nazanin" panose="00000400000000000000" pitchFamily="2" charset="-78"/>
                  </a:rPr>
                  <a:t>Join </a:t>
                </a:r>
                <a:r>
                  <a:rPr lang="fa-IR" b="1" dirty="0">
                    <a:cs typeface="B Nazanin" panose="00000400000000000000" pitchFamily="2" charset="-78"/>
                  </a:rPr>
                  <a:t>گرفتن از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oMath>
                </a14:m>
                <a:r>
                  <a:rPr lang="fa-IR" b="1" dirty="0">
                    <a:cs typeface="B Nazanin" panose="00000400000000000000" pitchFamily="2" charset="-78"/>
                  </a:rPr>
                  <a:t>و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2</m:t>
                        </m:r>
                      </m:sub>
                    </m:sSub>
                  </m:oMath>
                </a14:m>
                <a:r>
                  <a:rPr lang="fa-IR" b="1" dirty="0">
                    <a:cs typeface="B Nazanin" panose="00000400000000000000" pitchFamily="2" charset="-78"/>
                  </a:rPr>
                  <a:t>بررسی کرد</a:t>
                </a:r>
                <a:r>
                  <a:rPr lang="fa-IR" dirty="0">
                    <a:cs typeface="B Nazanin" panose="00000400000000000000" pitchFamily="2" charset="-78"/>
                  </a:rPr>
                  <a:t>.</a:t>
                </a:r>
              </a:p>
            </p:txBody>
          </p:sp>
        </mc:Choice>
        <mc:Fallback xmlns="">
          <p:sp>
            <p:nvSpPr>
              <p:cNvPr id="5" name="TextBox 4">
                <a:extLst>
                  <a:ext uri="{FF2B5EF4-FFF2-40B4-BE49-F238E27FC236}">
                    <a16:creationId xmlns:a16="http://schemas.microsoft.com/office/drawing/2014/main" id="{EFA3F8C0-33EE-0B63-94CA-D55385769DC3}"/>
                  </a:ext>
                </a:extLst>
              </p:cNvPr>
              <p:cNvSpPr txBox="1">
                <a:spLocks noRot="1" noChangeAspect="1" noMove="1" noResize="1" noEditPoints="1" noAdjustHandles="1" noChangeArrowheads="1" noChangeShapeType="1" noTextEdit="1"/>
              </p:cNvSpPr>
              <p:nvPr/>
            </p:nvSpPr>
            <p:spPr>
              <a:xfrm>
                <a:off x="-98475" y="3559126"/>
                <a:ext cx="3587261" cy="2308324"/>
              </a:xfrm>
              <a:prstGeom prst="rect">
                <a:avLst/>
              </a:prstGeom>
              <a:blipFill>
                <a:blip r:embed="rId5"/>
                <a:stretch>
                  <a:fillRect t="-792" r="-1020" b="-290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A36F55F-7C12-FF81-5A04-3B76CBD39875}"/>
                  </a:ext>
                </a:extLst>
              </p:cNvPr>
              <p:cNvSpPr txBox="1"/>
              <p:nvPr/>
            </p:nvSpPr>
            <p:spPr>
              <a:xfrm>
                <a:off x="3890206" y="3559126"/>
                <a:ext cx="5148286" cy="1815882"/>
              </a:xfrm>
              <a:prstGeom prst="rect">
                <a:avLst/>
              </a:prstGeom>
              <a:noFill/>
            </p:spPr>
            <p:txBody>
              <a:bodyPr wrap="square">
                <a:spAutoFit/>
              </a:bodyPr>
              <a:lstStyle/>
              <a:p>
                <a:pPr algn="r" rtl="1"/>
                <a:r>
                  <a:rPr lang="fa-IR" b="1" dirty="0">
                    <a:cs typeface="B Nazanin" panose="00000400000000000000" pitchFamily="2" charset="-78"/>
                  </a:rPr>
                  <a:t>1) تجزیه بدون اتلاف پیوست</a:t>
                </a:r>
              </a:p>
              <a:p>
                <a:pPr algn="r" rtl="1"/>
                <a:r>
                  <a:rPr lang="fa-IR" dirty="0">
                    <a:cs typeface="B Nazanin" panose="00000400000000000000" pitchFamily="2" charset="-78"/>
                  </a:rPr>
                  <a:t>اشتراک:</a:t>
                </a:r>
              </a:p>
              <a:p>
                <a:pPr algn="r" rtl="1"/>
                <a14:m>
                  <m:oMathPara xmlns:m="http://schemas.openxmlformats.org/officeDocument/2006/math">
                    <m:oMathParaPr>
                      <m:jc m:val="centerGroup"/>
                    </m:oMathParaPr>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2</m:t>
                          </m:r>
                        </m:sub>
                      </m:sSub>
                      <m:r>
                        <a:rPr lang="fa-IR">
                          <a:latin typeface="Cambria Math" panose="02040503050406030204" pitchFamily="18" charset="0"/>
                        </a:rPr>
                        <m:t>=</m:t>
                      </m:r>
                      <m:d>
                        <m:dPr>
                          <m:begChr m:val="{"/>
                          <m:endChr m:val="}"/>
                          <m:ctrlPr>
                            <a:rPr lang="fa-IR" i="1">
                              <a:latin typeface="Cambria Math" panose="02040503050406030204" pitchFamily="18" charset="0"/>
                            </a:rPr>
                          </m:ctrlPr>
                        </m:dPr>
                        <m:e>
                          <m:r>
                            <a:rPr lang="fa-IR" i="1">
                              <a:latin typeface="Cambria Math" panose="02040503050406030204" pitchFamily="18" charset="0"/>
                            </a:rPr>
                            <m:t>𝐴</m:t>
                          </m:r>
                        </m:e>
                      </m:d>
                    </m:oMath>
                  </m:oMathPara>
                </a14:m>
                <a:endParaRPr lang="fa-IR" dirty="0">
                  <a:cs typeface="B Nazanin" panose="00000400000000000000" pitchFamily="2" charset="-78"/>
                </a:endParaRPr>
              </a:p>
              <a:p>
                <a:pPr algn="r" rtl="1"/>
                <a:r>
                  <a:rPr lang="fa-IR" dirty="0">
                    <a:cs typeface="B Nazanin" panose="00000400000000000000" pitchFamily="2" charset="-78"/>
                  </a:rPr>
                  <a:t>وابستگی:</a:t>
                </a:r>
              </a:p>
              <a:p>
                <a:pPr algn="r" rtl="1"/>
                <a14:m>
                  <m:oMathPara xmlns:m="http://schemas.openxmlformats.org/officeDocument/2006/math">
                    <m:oMathParaPr>
                      <m:jc m:val="centerGroup"/>
                    </m:oMathParaPr>
                    <m:oMath xmlns:m="http://schemas.openxmlformats.org/officeDocument/2006/math">
                      <m:r>
                        <a:rPr lang="fa-IR" i="1">
                          <a:latin typeface="Cambria Math" panose="02040503050406030204" pitchFamily="18" charset="0"/>
                        </a:rPr>
                        <m:t>𝐴</m:t>
                      </m:r>
                      <m:r>
                        <a:rPr lang="fa-IR">
                          <a:latin typeface="Cambria Math" panose="02040503050406030204" pitchFamily="18" charset="0"/>
                        </a:rPr>
                        <m:t>→</m:t>
                      </m:r>
                      <m:r>
                        <a:rPr lang="fa-IR" i="1">
                          <a:latin typeface="Cambria Math" panose="02040503050406030204" pitchFamily="18" charset="0"/>
                        </a:rPr>
                        <m:t>𝐴𝐵</m:t>
                      </m:r>
                    </m:oMath>
                  </m:oMathPara>
                </a14:m>
                <a:endParaRPr lang="fa-IR" dirty="0">
                  <a:cs typeface="B Nazanin" panose="00000400000000000000" pitchFamily="2" charset="-78"/>
                </a:endParaRPr>
              </a:p>
              <a:p>
                <a:pPr algn="r" rtl="1"/>
                <a:r>
                  <a:rPr lang="fa-IR" dirty="0">
                    <a:cs typeface="B Nazanin" panose="00000400000000000000" pitchFamily="2" charset="-78"/>
                  </a:rPr>
                  <a:t>چون </a:t>
                </a:r>
                <a:r>
                  <a:rPr lang="en-US" b="1" dirty="0">
                    <a:cs typeface="B Nazanin" panose="00000400000000000000" pitchFamily="2" charset="-78"/>
                  </a:rPr>
                  <a:t>A </a:t>
                </a:r>
                <a:r>
                  <a:rPr lang="fa-IR" b="1" dirty="0">
                    <a:cs typeface="B Nazanin" panose="00000400000000000000" pitchFamily="2" charset="-78"/>
                  </a:rPr>
                  <a:t>کلید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oMath>
                </a14:m>
                <a:r>
                  <a:rPr lang="fa-IR" dirty="0">
                    <a:cs typeface="B Nazanin" panose="00000400000000000000" pitchFamily="2" charset="-78"/>
                  </a:rPr>
                  <a:t>است، اتصال طبیعی بدون از دست رفتن داده انجام می‌شود.</a:t>
                </a:r>
              </a:p>
              <a:p>
                <a:pPr algn="r" rtl="1"/>
                <a:r>
                  <a:rPr lang="fa-IR" dirty="0">
                    <a:cs typeface="B Nazanin" panose="00000400000000000000" pitchFamily="2" charset="-78"/>
                  </a:rPr>
                  <a:t>✔ </a:t>
                </a:r>
                <a:r>
                  <a:rPr lang="fa-IR" b="1" dirty="0">
                    <a:cs typeface="B Nazanin" panose="00000400000000000000" pitchFamily="2" charset="-78"/>
                  </a:rPr>
                  <a:t>تجزیه بدون اتلاف</a:t>
                </a:r>
                <a:endParaRPr lang="fa-IR" dirty="0">
                  <a:cs typeface="B Nazanin" panose="00000400000000000000" pitchFamily="2" charset="-78"/>
                </a:endParaRPr>
              </a:p>
            </p:txBody>
          </p:sp>
        </mc:Choice>
        <mc:Fallback xmlns="">
          <p:sp>
            <p:nvSpPr>
              <p:cNvPr id="7" name="TextBox 6">
                <a:extLst>
                  <a:ext uri="{FF2B5EF4-FFF2-40B4-BE49-F238E27FC236}">
                    <a16:creationId xmlns:a16="http://schemas.microsoft.com/office/drawing/2014/main" id="{9A36F55F-7C12-FF81-5A04-3B76CBD39875}"/>
                  </a:ext>
                </a:extLst>
              </p:cNvPr>
              <p:cNvSpPr txBox="1">
                <a:spLocks noRot="1" noChangeAspect="1" noMove="1" noResize="1" noEditPoints="1" noAdjustHandles="1" noChangeArrowheads="1" noChangeShapeType="1" noTextEdit="1"/>
              </p:cNvSpPr>
              <p:nvPr/>
            </p:nvSpPr>
            <p:spPr>
              <a:xfrm>
                <a:off x="3890206" y="3559126"/>
                <a:ext cx="5148286" cy="1815882"/>
              </a:xfrm>
              <a:prstGeom prst="rect">
                <a:avLst/>
              </a:prstGeom>
              <a:blipFill>
                <a:blip r:embed="rId6"/>
                <a:stretch>
                  <a:fillRect t="-1007" r="-710" b="-4362"/>
                </a:stretch>
              </a:blipFill>
            </p:spPr>
            <p:txBody>
              <a:bodyPr/>
              <a:lstStyle/>
              <a:p>
                <a:r>
                  <a:rPr lang="en-US">
                    <a:noFill/>
                  </a:rPr>
                  <a:t> </a:t>
                </a:r>
              </a:p>
            </p:txBody>
          </p:sp>
        </mc:Fallback>
      </mc:AlternateContent>
    </p:spTree>
    <p:extLst>
      <p:ext uri="{BB962C8B-B14F-4D97-AF65-F5344CB8AC3E}">
        <p14:creationId xmlns:p14="http://schemas.microsoft.com/office/powerpoint/2010/main" val="3308408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p:bldP spid="7" grpId="0"/>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5058"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BCNF and Dependency Preservation</a:t>
            </a:r>
          </a:p>
        </p:txBody>
      </p:sp>
      <p:sp>
        <p:nvSpPr>
          <p:cNvPr id="24579" name="Rectangle 3"/>
          <p:cNvSpPr>
            <a:spLocks noGrp="1" noChangeArrowheads="1"/>
          </p:cNvSpPr>
          <p:nvPr>
            <p:ph idx="1"/>
          </p:nvPr>
        </p:nvSpPr>
        <p:spPr>
          <a:xfrm>
            <a:off x="768351" y="1093788"/>
            <a:ext cx="7612170" cy="5075000"/>
          </a:xfrm>
        </p:spPr>
        <p:txBody>
          <a:bodyPr/>
          <a:lstStyle/>
          <a:p>
            <a:pPr algn="r" rtl="1">
              <a:defRPr/>
            </a:pPr>
            <a:r>
              <a:rPr lang="fa-IR" sz="1800" dirty="0"/>
              <a:t>همیشه ممکن نیست که </a:t>
            </a:r>
            <a:r>
              <a:rPr lang="fa-IR" sz="1800" dirty="0" err="1"/>
              <a:t>هم‌زمان</a:t>
            </a:r>
            <a:r>
              <a:rPr lang="fa-IR" sz="1800" dirty="0"/>
              <a:t> به </a:t>
            </a:r>
            <a:r>
              <a:rPr lang="en-US" sz="1800" dirty="0"/>
              <a:t>BCNF </a:t>
            </a:r>
            <a:r>
              <a:rPr lang="fa-IR" sz="1800" dirty="0"/>
              <a:t>و حفظ </a:t>
            </a:r>
            <a:r>
              <a:rPr lang="fa-IR" sz="1800" dirty="0" err="1"/>
              <a:t>وابستگی‌ها</a:t>
            </a:r>
            <a:r>
              <a:rPr lang="fa-IR" sz="1800" dirty="0"/>
              <a:t> برسیم.</a:t>
            </a:r>
            <a:endParaRPr lang="en-US" altLang="en-US" sz="1700" dirty="0"/>
          </a:p>
          <a:p>
            <a:pPr algn="r" rtl="1">
              <a:defRPr/>
            </a:pPr>
            <a:r>
              <a:rPr lang="fa-IR" sz="1800" dirty="0"/>
              <a:t>یک </a:t>
            </a:r>
            <a:r>
              <a:rPr lang="fa-IR" sz="1800" dirty="0" err="1"/>
              <a:t>شِما</a:t>
            </a:r>
            <a:r>
              <a:rPr lang="fa-IR" sz="1800" dirty="0"/>
              <a:t> را در نظر بگیرید:</a:t>
            </a:r>
            <a:endParaRPr lang="en-US" altLang="en-US" sz="1700" dirty="0"/>
          </a:p>
          <a:p>
            <a:pPr algn="r" rtl="1">
              <a:buFont typeface="Monotype Sorts" pitchFamily="-84" charset="2"/>
              <a:buNone/>
              <a:defRPr/>
            </a:pPr>
            <a:r>
              <a:rPr lang="en-US" altLang="en-US" sz="1700" dirty="0"/>
              <a:t>         </a:t>
            </a:r>
            <a:r>
              <a:rPr lang="en-US" altLang="en-US" sz="1700" i="1" dirty="0" err="1"/>
              <a:t>dept_advisor</a:t>
            </a:r>
            <a:r>
              <a:rPr lang="en-US" altLang="en-US" sz="1700" i="1" dirty="0"/>
              <a:t>(</a:t>
            </a:r>
            <a:r>
              <a:rPr lang="en-US" altLang="en-US" sz="1700" i="1" dirty="0" err="1"/>
              <a:t>s_ID</a:t>
            </a:r>
            <a:r>
              <a:rPr lang="en-US" altLang="en-US" sz="1700" i="1" dirty="0"/>
              <a:t>, </a:t>
            </a:r>
            <a:r>
              <a:rPr lang="en-US" altLang="en-US" sz="1700" i="1" dirty="0" err="1"/>
              <a:t>i_ID</a:t>
            </a:r>
            <a:r>
              <a:rPr lang="en-US" altLang="en-US" sz="1700" i="1" dirty="0"/>
              <a:t>, </a:t>
            </a:r>
            <a:r>
              <a:rPr lang="en-US" altLang="en-US" sz="1700" i="1" dirty="0" err="1"/>
              <a:t>department_name</a:t>
            </a:r>
            <a:r>
              <a:rPr lang="en-US" altLang="en-US" sz="1700" dirty="0"/>
              <a:t>)</a:t>
            </a:r>
          </a:p>
          <a:p>
            <a:pPr algn="r" rtl="1">
              <a:defRPr/>
            </a:pPr>
            <a:r>
              <a:rPr lang="fa-IR" sz="1800" dirty="0"/>
              <a:t>با </a:t>
            </a:r>
            <a:r>
              <a:rPr lang="fa-IR" sz="1800" dirty="0" err="1"/>
              <a:t>وابستگی‌های</a:t>
            </a:r>
            <a:r>
              <a:rPr lang="fa-IR" sz="1800" dirty="0"/>
              <a:t> </a:t>
            </a:r>
            <a:r>
              <a:rPr lang="fa-IR" sz="1800" dirty="0" err="1"/>
              <a:t>تابعی</a:t>
            </a:r>
            <a:r>
              <a:rPr lang="fa-IR" sz="1800" dirty="0"/>
              <a:t>:</a:t>
            </a:r>
            <a:endParaRPr lang="en-US" altLang="en-US" sz="1700" dirty="0"/>
          </a:p>
          <a:p>
            <a:pPr algn="r" rtl="1">
              <a:buFont typeface="Monotype Sorts" pitchFamily="-84" charset="2"/>
              <a:buNone/>
              <a:defRPr/>
            </a:pPr>
            <a:r>
              <a:rPr lang="en-US" altLang="en-US" sz="1700" dirty="0"/>
              <a:t>             </a:t>
            </a:r>
            <a:r>
              <a:rPr lang="en-US" altLang="en-US" sz="1700" i="1" dirty="0"/>
              <a:t>i_ID</a:t>
            </a:r>
            <a:r>
              <a:rPr lang="en-US" altLang="en-US" sz="1700" dirty="0"/>
              <a:t> </a:t>
            </a:r>
            <a:r>
              <a:rPr lang="en-US" altLang="en-US" sz="1700" dirty="0">
                <a:sym typeface="Symbol" pitchFamily="18" charset="2"/>
              </a:rPr>
              <a:t> </a:t>
            </a:r>
            <a:r>
              <a:rPr lang="en-US" altLang="en-US" sz="1700" i="1" dirty="0">
                <a:sym typeface="Symbol" pitchFamily="18" charset="2"/>
              </a:rPr>
              <a:t>dept_name</a:t>
            </a:r>
          </a:p>
          <a:p>
            <a:pPr algn="r" rtl="1">
              <a:buFont typeface="Monotype Sorts" pitchFamily="-84" charset="2"/>
              <a:buNone/>
              <a:defRPr/>
            </a:pPr>
            <a:r>
              <a:rPr lang="en-US" altLang="en-US" sz="1700" dirty="0"/>
              <a:t>             </a:t>
            </a:r>
            <a:r>
              <a:rPr lang="en-US" altLang="en-US" sz="1700" i="1" dirty="0"/>
              <a:t>s_ID, </a:t>
            </a:r>
            <a:r>
              <a:rPr lang="en-US" altLang="en-US" sz="1700" i="1" dirty="0">
                <a:sym typeface="Symbol" pitchFamily="18" charset="2"/>
              </a:rPr>
              <a:t>dept_name</a:t>
            </a:r>
            <a:r>
              <a:rPr lang="en-US" altLang="en-US" sz="1700" i="1" dirty="0"/>
              <a:t> </a:t>
            </a:r>
            <a:r>
              <a:rPr lang="en-US" altLang="en-US" sz="1700" dirty="0">
                <a:sym typeface="Symbol" pitchFamily="18" charset="2"/>
              </a:rPr>
              <a:t> </a:t>
            </a:r>
            <a:r>
              <a:rPr lang="en-US" altLang="en-US" sz="1700" i="1" dirty="0">
                <a:sym typeface="Symbol" pitchFamily="18" charset="2"/>
              </a:rPr>
              <a:t>i_ID</a:t>
            </a:r>
          </a:p>
          <a:p>
            <a:pPr algn="r" rtl="1">
              <a:defRPr/>
            </a:pPr>
            <a:r>
              <a:rPr lang="fa-IR" sz="1800" dirty="0"/>
              <a:t>جدول </a:t>
            </a:r>
            <a:r>
              <a:rPr lang="en-US" sz="1800" dirty="0" err="1"/>
              <a:t>dept_advisor</a:t>
            </a:r>
            <a:r>
              <a:rPr lang="en-US" sz="1800" dirty="0"/>
              <a:t> </a:t>
            </a:r>
            <a:r>
              <a:rPr lang="fa-IR" sz="1800" dirty="0"/>
              <a:t>در </a:t>
            </a:r>
            <a:r>
              <a:rPr lang="en-US" sz="1800" dirty="0"/>
              <a:t>BCNF </a:t>
            </a:r>
            <a:r>
              <a:rPr lang="fa-IR" sz="1800" dirty="0"/>
              <a:t>نیست.</a:t>
            </a:r>
            <a:endParaRPr lang="en-US" altLang="en-US" sz="1700" dirty="0"/>
          </a:p>
          <a:p>
            <a:pPr lvl="1" algn="r" rtl="1">
              <a:defRPr/>
            </a:pPr>
            <a:r>
              <a:rPr lang="en-US" altLang="en-US" sz="1700" dirty="0"/>
              <a:t> </a:t>
            </a:r>
            <a:r>
              <a:rPr lang="en-US" sz="1800" dirty="0" err="1"/>
              <a:t>i_ID</a:t>
            </a:r>
            <a:r>
              <a:rPr lang="en-US" sz="1800" dirty="0"/>
              <a:t> </a:t>
            </a:r>
            <a:r>
              <a:rPr lang="fa-IR" sz="1800" dirty="0"/>
              <a:t>یک </a:t>
            </a:r>
            <a:r>
              <a:rPr lang="fa-IR" sz="1800" dirty="0" err="1"/>
              <a:t>ابرکلید</a:t>
            </a:r>
            <a:r>
              <a:rPr lang="fa-IR" sz="1800" dirty="0"/>
              <a:t> نیست.</a:t>
            </a:r>
            <a:endParaRPr lang="en-US" altLang="en-US" sz="1700" dirty="0"/>
          </a:p>
          <a:p>
            <a:pPr marL="0" indent="0" algn="r" rtl="1">
              <a:buNone/>
              <a:defRPr/>
            </a:pPr>
            <a:r>
              <a:rPr lang="fa-IR" sz="1800" dirty="0"/>
              <a:t>هر </a:t>
            </a:r>
            <a:r>
              <a:rPr lang="fa-IR" sz="1800" dirty="0" err="1"/>
              <a:t>تجزیه‌ای</a:t>
            </a:r>
            <a:r>
              <a:rPr lang="fa-IR" sz="1800" dirty="0"/>
              <a:t> از </a:t>
            </a:r>
            <a:r>
              <a:rPr lang="en-US" sz="1800" dirty="0" err="1"/>
              <a:t>dept_advisor</a:t>
            </a:r>
            <a:r>
              <a:rPr lang="en-US" sz="1800" dirty="0"/>
              <a:t> </a:t>
            </a:r>
            <a:r>
              <a:rPr lang="fa-IR" sz="1800" dirty="0"/>
              <a:t>شامل همه صفات موجود در وابستگی</a:t>
            </a:r>
            <a:endParaRPr lang="en-US" altLang="en-US" sz="1700" dirty="0">
              <a:sym typeface="Symbol" pitchFamily="18" charset="2"/>
            </a:endParaRPr>
          </a:p>
          <a:p>
            <a:pPr algn="r" rtl="1">
              <a:buFont typeface="Monotype Sorts" pitchFamily="-84" charset="2"/>
              <a:buNone/>
              <a:defRPr/>
            </a:pPr>
            <a:r>
              <a:rPr lang="en-US" altLang="en-US" sz="1700" dirty="0">
                <a:sym typeface="Symbol" pitchFamily="18" charset="2"/>
              </a:rPr>
              <a:t>            </a:t>
            </a:r>
            <a:r>
              <a:rPr lang="en-US" altLang="en-US" sz="1700" i="1" dirty="0"/>
              <a:t>s_ID, </a:t>
            </a:r>
            <a:r>
              <a:rPr lang="en-US" altLang="en-US" sz="1700" i="1" dirty="0">
                <a:sym typeface="Symbol" pitchFamily="18" charset="2"/>
              </a:rPr>
              <a:t>dept_name</a:t>
            </a:r>
            <a:r>
              <a:rPr lang="en-US" altLang="en-US" sz="1700" i="1" dirty="0"/>
              <a:t> </a:t>
            </a:r>
            <a:r>
              <a:rPr lang="en-US" altLang="en-US" sz="1700" i="1" dirty="0">
                <a:sym typeface="Symbol" pitchFamily="18" charset="2"/>
              </a:rPr>
              <a:t> </a:t>
            </a:r>
            <a:r>
              <a:rPr lang="en-US" altLang="en-US" sz="1700" i="1" dirty="0" err="1">
                <a:sym typeface="Symbol" pitchFamily="18" charset="2"/>
              </a:rPr>
              <a:t>i_ID</a:t>
            </a:r>
            <a:endParaRPr lang="fa-IR" altLang="en-US" sz="1700" i="1" dirty="0">
              <a:sym typeface="Symbol" pitchFamily="18" charset="2"/>
            </a:endParaRPr>
          </a:p>
          <a:p>
            <a:pPr algn="r" rtl="1">
              <a:buFont typeface="Monotype Sorts" pitchFamily="-84" charset="2"/>
              <a:buNone/>
              <a:defRPr/>
            </a:pPr>
            <a:r>
              <a:rPr lang="fa-IR" sz="1800" dirty="0"/>
              <a:t>نخواهد بود.</a:t>
            </a:r>
            <a:endParaRPr lang="en-US" altLang="en-US" sz="1700" i="1" dirty="0">
              <a:sym typeface="Symbol" pitchFamily="18" charset="2"/>
            </a:endParaRPr>
          </a:p>
          <a:p>
            <a:pPr marL="0" indent="0" algn="r" rtl="1">
              <a:buNone/>
              <a:defRPr/>
            </a:pPr>
            <a:r>
              <a:rPr lang="fa-IR" sz="1800" dirty="0"/>
              <a:t>بنابراین این </a:t>
            </a:r>
            <a:r>
              <a:rPr lang="fa-IR" sz="1800" dirty="0" err="1"/>
              <a:t>تجمیع</a:t>
            </a:r>
            <a:r>
              <a:rPr lang="fa-IR" sz="1800" dirty="0"/>
              <a:t> </a:t>
            </a:r>
            <a:r>
              <a:rPr lang="fa-IR" sz="1800" i="1" dirty="0" err="1"/>
              <a:t>وابستگی‌ها</a:t>
            </a:r>
            <a:r>
              <a:rPr lang="fa-IR" sz="1800" i="1" dirty="0"/>
              <a:t> را حفظ </a:t>
            </a:r>
            <a:r>
              <a:rPr lang="fa-IR" sz="1800" i="1" dirty="0" err="1"/>
              <a:t>نمی‌کند</a:t>
            </a:r>
            <a:endParaRPr lang="en-US" altLang="en-US" sz="1700" dirty="0">
              <a:ea typeface="ＭＳ Ｐゴシック" pitchFamily="34" charset="-128"/>
            </a:endParaRPr>
          </a:p>
        </p:txBody>
      </p:sp>
    </p:spTree>
    <p:extLst>
      <p:ext uri="{BB962C8B-B14F-4D97-AF65-F5344CB8AC3E}">
        <p14:creationId xmlns:p14="http://schemas.microsoft.com/office/powerpoint/2010/main" val="269036718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7106"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Third Normal Form</a:t>
            </a:r>
          </a:p>
        </p:txBody>
      </p:sp>
      <p:sp>
        <p:nvSpPr>
          <p:cNvPr id="32771" name="Rectangle 3"/>
          <p:cNvSpPr>
            <a:spLocks noGrp="1" noChangeArrowheads="1"/>
          </p:cNvSpPr>
          <p:nvPr>
            <p:ph idx="1"/>
          </p:nvPr>
        </p:nvSpPr>
        <p:spPr>
          <a:xfrm>
            <a:off x="768350" y="1093788"/>
            <a:ext cx="7621048" cy="4903787"/>
          </a:xfrm>
        </p:spPr>
        <p:txBody>
          <a:bodyPr/>
          <a:lstStyle/>
          <a:p>
            <a:pPr algn="r" rtl="1">
              <a:tabLst>
                <a:tab pos="2738438" algn="l"/>
              </a:tabLst>
            </a:pPr>
            <a:r>
              <a:rPr lang="fa-IR" dirty="0"/>
              <a:t>یک </a:t>
            </a:r>
            <a:r>
              <a:rPr lang="fa-IR" dirty="0" err="1"/>
              <a:t>شِمای</a:t>
            </a:r>
            <a:r>
              <a:rPr lang="fa-IR" dirty="0"/>
              <a:t> رابطه </a:t>
            </a:r>
            <a:r>
              <a:rPr lang="en-US" dirty="0"/>
              <a:t>R </a:t>
            </a:r>
            <a:r>
              <a:rPr lang="fa-IR" dirty="0"/>
              <a:t>در نرمال‌فرم سوم </a:t>
            </a:r>
            <a:r>
              <a:rPr lang="en-US" dirty="0"/>
              <a:t>3NF</a:t>
            </a:r>
            <a:r>
              <a:rPr lang="fa-IR" dirty="0"/>
              <a:t> </a:t>
            </a:r>
            <a:r>
              <a:rPr lang="en-US" dirty="0"/>
              <a:t> </a:t>
            </a:r>
            <a:r>
              <a:rPr lang="fa-IR" dirty="0"/>
              <a:t>است اگر برای تمام </a:t>
            </a:r>
            <a:r>
              <a:rPr lang="fa-IR" dirty="0" err="1"/>
              <a:t>وابستگی‌های</a:t>
            </a:r>
            <a:r>
              <a:rPr lang="fa-IR" dirty="0"/>
              <a:t> </a:t>
            </a:r>
            <a:r>
              <a:rPr lang="fa-IR" dirty="0" err="1"/>
              <a:t>تابعی</a:t>
            </a:r>
            <a:r>
              <a:rPr lang="fa-IR" dirty="0"/>
              <a:t>:</a:t>
            </a:r>
            <a:endParaRPr lang="en-US" altLang="en-US" sz="1800" dirty="0"/>
          </a:p>
          <a:p>
            <a:pPr algn="r" rtl="1">
              <a:buFont typeface="Monotype Sorts" pitchFamily="-84" charset="2"/>
              <a:buNone/>
              <a:tabLst>
                <a:tab pos="2738438" algn="l"/>
              </a:tabLst>
            </a:pPr>
            <a:r>
              <a:rPr lang="en-US" altLang="en-US" sz="1800" dirty="0"/>
              <a:t>		</a:t>
            </a:r>
            <a:r>
              <a:rPr lang="en-US" altLang="en-US" sz="2400" dirty="0">
                <a:sym typeface="Symbol" panose="05050102010706020507" pitchFamily="18" charset="2"/>
              </a:rPr>
              <a:t></a:t>
            </a:r>
            <a:r>
              <a:rPr lang="en-US" altLang="en-US" sz="2400" dirty="0">
                <a:sym typeface="Greek Symbols"/>
              </a:rPr>
              <a:t> </a:t>
            </a:r>
            <a:r>
              <a:rPr lang="en-US" altLang="en-US" sz="2400" dirty="0">
                <a:sym typeface="Symbol" panose="05050102010706020507" pitchFamily="18" charset="2"/>
              </a:rPr>
              <a:t></a:t>
            </a:r>
            <a:r>
              <a:rPr lang="en-US" altLang="en-US" sz="2400" dirty="0">
                <a:sym typeface="Monotype Sorts" pitchFamily="-84" charset="2"/>
              </a:rPr>
              <a:t> </a:t>
            </a:r>
            <a:r>
              <a:rPr lang="en-US" altLang="en-US" sz="2400" i="1" dirty="0">
                <a:sym typeface="Symbol" panose="05050102010706020507" pitchFamily="18" charset="2"/>
              </a:rPr>
              <a:t></a:t>
            </a:r>
            <a:r>
              <a:rPr lang="en-US" altLang="en-US" sz="2400" dirty="0">
                <a:sym typeface="Monotype Sorts" pitchFamily="-84" charset="2"/>
              </a:rPr>
              <a:t> in </a:t>
            </a:r>
            <a:r>
              <a:rPr lang="en-US" altLang="en-US" sz="2400" i="1" dirty="0">
                <a:sym typeface="Monotype Sorts" pitchFamily="-84" charset="2"/>
              </a:rPr>
              <a:t>F</a:t>
            </a:r>
            <a:r>
              <a:rPr lang="en-US" altLang="en-US" sz="2400" baseline="30000" dirty="0">
                <a:sym typeface="Monotype Sorts" pitchFamily="-84" charset="2"/>
              </a:rPr>
              <a:t>+</a:t>
            </a:r>
          </a:p>
          <a:p>
            <a:pPr algn="r" rtl="1">
              <a:buFont typeface="Monotype Sorts" pitchFamily="-84" charset="2"/>
              <a:buNone/>
              <a:tabLst>
                <a:tab pos="2738438" algn="l"/>
              </a:tabLst>
            </a:pPr>
            <a:r>
              <a:rPr lang="en-US" altLang="en-US" sz="900" dirty="0">
                <a:sym typeface="Monotype Sorts" pitchFamily="-84" charset="2"/>
              </a:rPr>
              <a:t> </a:t>
            </a:r>
            <a:br>
              <a:rPr lang="en-US" altLang="en-US" sz="1800" dirty="0">
                <a:sym typeface="Monotype Sorts" pitchFamily="-84" charset="2"/>
              </a:rPr>
            </a:br>
            <a:r>
              <a:rPr lang="fa-IR" dirty="0"/>
              <a:t>حداقل یکی از شروط زیر برقرار باشد:</a:t>
            </a:r>
            <a:endParaRPr lang="en-US" altLang="en-US" sz="1800" dirty="0">
              <a:sym typeface="Monotype Sorts" pitchFamily="-84" charset="2"/>
            </a:endParaRPr>
          </a:p>
          <a:p>
            <a:pPr lvl="1" algn="r" rtl="1">
              <a:tabLst>
                <a:tab pos="2738438" algn="l"/>
              </a:tabLst>
            </a:pPr>
            <a:r>
              <a:rPr lang="en-US" altLang="en-US" sz="1800" dirty="0">
                <a:sym typeface="Symbol" panose="05050102010706020507" pitchFamily="18" charset="2"/>
              </a:rPr>
              <a:t></a:t>
            </a:r>
            <a:r>
              <a:rPr lang="en-US" altLang="en-US" sz="1800" dirty="0">
                <a:sym typeface="Greek Symbols"/>
              </a:rPr>
              <a:t> </a:t>
            </a:r>
            <a:r>
              <a:rPr lang="en-US" altLang="en-US" sz="1800" dirty="0">
                <a:sym typeface="Symbol" panose="05050102010706020507" pitchFamily="18" charset="2"/>
              </a:rPr>
              <a:t></a:t>
            </a:r>
            <a:r>
              <a:rPr lang="en-US" altLang="en-US" sz="1800" dirty="0">
                <a:sym typeface="Monotype Sorts" pitchFamily="-84" charset="2"/>
              </a:rPr>
              <a:t> </a:t>
            </a:r>
            <a:r>
              <a:rPr lang="en-US" altLang="en-US" sz="1800" i="1" dirty="0">
                <a:sym typeface="Symbol" panose="05050102010706020507" pitchFamily="18" charset="2"/>
              </a:rPr>
              <a:t></a:t>
            </a:r>
            <a:r>
              <a:rPr lang="en-US" altLang="en-US" sz="1800" i="1" dirty="0">
                <a:sym typeface="Greek Symbols"/>
              </a:rPr>
              <a:t> </a:t>
            </a:r>
            <a:r>
              <a:rPr lang="fa-IR" dirty="0"/>
              <a:t>بدیهی است </a:t>
            </a:r>
            <a:r>
              <a:rPr lang="en-US" altLang="en-US" sz="1800" dirty="0">
                <a:sym typeface="Greek Symbols"/>
              </a:rPr>
              <a:t>(i.e., </a:t>
            </a:r>
            <a:r>
              <a:rPr lang="en-US" altLang="en-US" sz="1800" i="1" dirty="0">
                <a:sym typeface="Symbol" panose="05050102010706020507" pitchFamily="18" charset="2"/>
              </a:rPr>
              <a:t></a:t>
            </a:r>
            <a:r>
              <a:rPr lang="en-US" altLang="en-US" sz="1800" i="1" dirty="0">
                <a:sym typeface="Greek Symbols"/>
              </a:rPr>
              <a:t> </a:t>
            </a:r>
            <a:r>
              <a:rPr lang="en-US" altLang="en-US" sz="1800" dirty="0">
                <a:sym typeface="Symbol" panose="05050102010706020507" pitchFamily="18" charset="2"/>
              </a:rPr>
              <a:t> </a:t>
            </a:r>
            <a:r>
              <a:rPr lang="en-US" altLang="en-US" sz="1800" dirty="0">
                <a:sym typeface="Greek Symbols"/>
              </a:rPr>
              <a:t>)</a:t>
            </a:r>
          </a:p>
          <a:p>
            <a:pPr lvl="1" algn="r" rtl="1">
              <a:tabLst>
                <a:tab pos="2738438" algn="l"/>
              </a:tabLst>
            </a:pPr>
            <a:r>
              <a:rPr lang="el-GR" dirty="0"/>
              <a:t>α </a:t>
            </a:r>
            <a:r>
              <a:rPr lang="fa-IR" dirty="0"/>
              <a:t>یک </a:t>
            </a:r>
            <a:r>
              <a:rPr lang="fa-IR" dirty="0" err="1"/>
              <a:t>اَبَرکلید</a:t>
            </a:r>
            <a:r>
              <a:rPr lang="fa-IR" dirty="0"/>
              <a:t> برای </a:t>
            </a:r>
            <a:r>
              <a:rPr lang="en-US" dirty="0"/>
              <a:t>R </a:t>
            </a:r>
            <a:r>
              <a:rPr lang="fa-IR" dirty="0"/>
              <a:t>باشد.</a:t>
            </a:r>
            <a:endParaRPr lang="en-US" altLang="en-US" sz="1800" dirty="0">
              <a:sym typeface="Greek Symbols"/>
            </a:endParaRPr>
          </a:p>
          <a:p>
            <a:pPr marL="457200" lvl="1" indent="0" algn="r" rtl="1">
              <a:buNone/>
              <a:tabLst>
                <a:tab pos="2738438" algn="l"/>
              </a:tabLst>
            </a:pPr>
            <a:r>
              <a:rPr lang="fa-IR" dirty="0"/>
              <a:t>هر ویژگی </a:t>
            </a:r>
            <a:r>
              <a:rPr lang="en-US" dirty="0"/>
              <a:t>A </a:t>
            </a:r>
            <a:r>
              <a:rPr lang="fa-IR" dirty="0"/>
              <a:t>در </a:t>
            </a:r>
            <a:r>
              <a:rPr lang="el-GR" dirty="0"/>
              <a:t>β – α </a:t>
            </a:r>
            <a:r>
              <a:rPr lang="fa-IR" dirty="0"/>
              <a:t>در یکی از کلیدهای کاندیدای </a:t>
            </a:r>
            <a:r>
              <a:rPr lang="en-US" dirty="0"/>
              <a:t>R </a:t>
            </a:r>
            <a:r>
              <a:rPr lang="fa-IR" dirty="0"/>
              <a:t>وجود داشته باشد.</a:t>
            </a:r>
            <a:endParaRPr lang="en-US" altLang="en-US" sz="1800" i="1" dirty="0">
              <a:sym typeface="Greek Symbols"/>
            </a:endParaRPr>
          </a:p>
          <a:p>
            <a:pPr lvl="1" algn="r" rtl="1">
              <a:buFont typeface="Monotype Sorts" pitchFamily="-84" charset="2"/>
              <a:buNone/>
              <a:tabLst>
                <a:tab pos="2738438" algn="l"/>
              </a:tabLst>
            </a:pPr>
            <a:r>
              <a:rPr lang="en-US" altLang="en-US" sz="1800" i="1" dirty="0">
                <a:sym typeface="Greek Symbols"/>
              </a:rPr>
              <a:t>   </a:t>
            </a:r>
            <a:r>
              <a:rPr lang="fa-IR" dirty="0"/>
              <a:t>توجه: هر ویژگی ممکن است در کلید کاندیدای متفاوتی قرار داشته باشد.</a:t>
            </a:r>
            <a:endParaRPr lang="en-US" altLang="en-US" sz="1800" i="1" dirty="0">
              <a:sym typeface="Greek Symbols"/>
            </a:endParaRPr>
          </a:p>
          <a:p>
            <a:pPr algn="r" rtl="1">
              <a:tabLst>
                <a:tab pos="2738438" algn="l"/>
              </a:tabLst>
            </a:pPr>
            <a:r>
              <a:rPr lang="fa-IR" dirty="0"/>
              <a:t>اگر یک رابطه در </a:t>
            </a:r>
            <a:r>
              <a:rPr lang="en-US" dirty="0"/>
              <a:t>BCNF </a:t>
            </a:r>
            <a:r>
              <a:rPr lang="fa-IR" dirty="0"/>
              <a:t>باشد، </a:t>
            </a:r>
            <a:r>
              <a:rPr lang="fa-IR" dirty="0" err="1"/>
              <a:t>به‌طور</a:t>
            </a:r>
            <a:r>
              <a:rPr lang="fa-IR" dirty="0"/>
              <a:t> خودکار در 3</a:t>
            </a:r>
            <a:r>
              <a:rPr lang="en-US" dirty="0"/>
              <a:t>NF </a:t>
            </a:r>
            <a:r>
              <a:rPr lang="fa-IR" dirty="0"/>
              <a:t>هم هست (چون در </a:t>
            </a:r>
            <a:r>
              <a:rPr lang="en-US" dirty="0"/>
              <a:t>BCNF </a:t>
            </a:r>
            <a:r>
              <a:rPr lang="fa-IR" dirty="0"/>
              <a:t>یکی از دو شرط اول همیشه برقرار است).</a:t>
            </a:r>
            <a:endParaRPr lang="en-US" altLang="en-US" sz="1800" dirty="0">
              <a:sym typeface="Greek Symbols"/>
            </a:endParaRPr>
          </a:p>
          <a:p>
            <a:pPr algn="r" rtl="1">
              <a:tabLst>
                <a:tab pos="2738438" algn="l"/>
              </a:tabLst>
            </a:pPr>
            <a:r>
              <a:rPr lang="fa-IR" dirty="0"/>
              <a:t>شرط سوم یک </a:t>
            </a:r>
            <a:r>
              <a:rPr lang="fa-IR" dirty="0" err="1"/>
              <a:t>نرم‌سازی</a:t>
            </a:r>
            <a:r>
              <a:rPr lang="fa-IR" dirty="0"/>
              <a:t> </a:t>
            </a:r>
            <a:r>
              <a:rPr lang="fa-IR" dirty="0" err="1"/>
              <a:t>حداقلی</a:t>
            </a:r>
            <a:r>
              <a:rPr lang="fa-IR" dirty="0"/>
              <a:t> نسبت به </a:t>
            </a:r>
            <a:r>
              <a:rPr lang="en-US" dirty="0"/>
              <a:t>BCNF </a:t>
            </a:r>
            <a:r>
              <a:rPr lang="fa-IR" dirty="0"/>
              <a:t>است تا حفظ </a:t>
            </a:r>
            <a:r>
              <a:rPr lang="fa-IR" dirty="0" err="1"/>
              <a:t>وابستگی‌ها</a:t>
            </a:r>
            <a:r>
              <a:rPr lang="fa-IR" dirty="0"/>
              <a:t> تضمین شود (بعداً </a:t>
            </a:r>
            <a:r>
              <a:rPr lang="fa-IR" dirty="0" err="1"/>
              <a:t>دلیلش</a:t>
            </a:r>
            <a:r>
              <a:rPr lang="fa-IR" dirty="0"/>
              <a:t> را خواهیم دید).</a:t>
            </a:r>
            <a:endParaRPr lang="en-US" altLang="en-US" sz="1800" dirty="0"/>
          </a:p>
          <a:p>
            <a:pPr>
              <a:tabLst>
                <a:tab pos="2738438" algn="l"/>
              </a:tabLst>
            </a:pPr>
            <a:endParaRPr lang="en-US" altLang="en-US" sz="2400" dirty="0">
              <a:sym typeface="Greek Symbols"/>
            </a:endParaRPr>
          </a:p>
        </p:txBody>
      </p:sp>
    </p:spTree>
    <p:extLst>
      <p:ext uri="{BB962C8B-B14F-4D97-AF65-F5344CB8AC3E}">
        <p14:creationId xmlns:p14="http://schemas.microsoft.com/office/powerpoint/2010/main" val="295696651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8066" name="Rectangle 2"/>
          <p:cNvSpPr>
            <a:spLocks noGrp="1" noChangeArrowheads="1"/>
          </p:cNvSpPr>
          <p:nvPr>
            <p:ph type="title"/>
          </p:nvPr>
        </p:nvSpPr>
        <p:spPr>
          <a:xfrm>
            <a:off x="709613" y="98425"/>
            <a:ext cx="8015287" cy="625475"/>
          </a:xfrm>
        </p:spPr>
        <p:txBody>
          <a:bodyPr/>
          <a:lstStyle/>
          <a:p>
            <a:pPr>
              <a:defRPr/>
            </a:pPr>
            <a:r>
              <a:rPr lang="en-US" sz="2800" dirty="0">
                <a:ea typeface="ＭＳ Ｐゴシック" pitchFamily="34" charset="-128"/>
              </a:rPr>
              <a:t>3NF Example</a:t>
            </a:r>
            <a:endParaRPr lang="en-US" altLang="en-US" sz="2800" dirty="0">
              <a:effectLst>
                <a:outerShdw blurRad="38100" dist="38100" dir="2700000" algn="tl">
                  <a:srgbClr val="C0C0C0"/>
                </a:outerShdw>
              </a:effectLst>
              <a:ea typeface="ＭＳ Ｐゴシック" pitchFamily="34" charset="-128"/>
            </a:endParaRPr>
          </a:p>
        </p:txBody>
      </p:sp>
      <p:sp>
        <p:nvSpPr>
          <p:cNvPr id="33795" name="Rectangle 3"/>
          <p:cNvSpPr>
            <a:spLocks noGrp="1" noChangeArrowheads="1"/>
          </p:cNvSpPr>
          <p:nvPr>
            <p:ph idx="1"/>
          </p:nvPr>
        </p:nvSpPr>
        <p:spPr>
          <a:xfrm>
            <a:off x="762953" y="1093788"/>
            <a:ext cx="8015287" cy="4490148"/>
          </a:xfrm>
        </p:spPr>
        <p:txBody>
          <a:bodyPr/>
          <a:lstStyle/>
          <a:p>
            <a:pPr algn="r" rtl="1"/>
            <a:r>
              <a:rPr lang="fa-IR" sz="1800" dirty="0"/>
              <a:t>یک </a:t>
            </a:r>
            <a:r>
              <a:rPr lang="fa-IR" sz="1800" dirty="0" err="1"/>
              <a:t>شِما</a:t>
            </a:r>
            <a:r>
              <a:rPr lang="fa-IR" sz="1800" dirty="0"/>
              <a:t> را در نظر بگیرید:</a:t>
            </a:r>
            <a:endParaRPr lang="en-US" altLang="en-US" sz="1700" dirty="0"/>
          </a:p>
          <a:p>
            <a:pPr algn="r" rtl="1">
              <a:buFont typeface="Monotype Sorts" pitchFamily="-84" charset="2"/>
              <a:buNone/>
            </a:pPr>
            <a:r>
              <a:rPr lang="en-US" altLang="en-US" sz="1700" dirty="0"/>
              <a:t>         </a:t>
            </a:r>
            <a:r>
              <a:rPr lang="en-US" altLang="en-US" sz="1700" i="1" dirty="0" err="1"/>
              <a:t>dept_advisor</a:t>
            </a:r>
            <a:r>
              <a:rPr lang="en-US" altLang="en-US" sz="1700" i="1" dirty="0"/>
              <a:t>(</a:t>
            </a:r>
            <a:r>
              <a:rPr lang="en-US" altLang="en-US" sz="1700" i="1" dirty="0" err="1"/>
              <a:t>s_ID</a:t>
            </a:r>
            <a:r>
              <a:rPr lang="en-US" altLang="en-US" sz="1700" i="1" dirty="0"/>
              <a:t>, </a:t>
            </a:r>
            <a:r>
              <a:rPr lang="en-US" altLang="en-US" sz="1700" i="1" dirty="0" err="1"/>
              <a:t>i_ID</a:t>
            </a:r>
            <a:r>
              <a:rPr lang="en-US" altLang="en-US" sz="1700" i="1" dirty="0"/>
              <a:t>, </a:t>
            </a:r>
            <a:r>
              <a:rPr lang="en-US" altLang="en-US" sz="1700" i="1" dirty="0" err="1"/>
              <a:t>dept_name</a:t>
            </a:r>
            <a:r>
              <a:rPr lang="en-US" altLang="en-US" sz="1700" dirty="0"/>
              <a:t>)</a:t>
            </a:r>
          </a:p>
          <a:p>
            <a:pPr algn="r" rtl="1"/>
            <a:r>
              <a:rPr lang="fa-IR" sz="1800" dirty="0"/>
              <a:t>با </a:t>
            </a:r>
            <a:r>
              <a:rPr lang="fa-IR" sz="1800" dirty="0" err="1"/>
              <a:t>وابستگی‌های</a:t>
            </a:r>
            <a:r>
              <a:rPr lang="fa-IR" sz="1800" dirty="0"/>
              <a:t> </a:t>
            </a:r>
            <a:r>
              <a:rPr lang="fa-IR" sz="1800" dirty="0" err="1"/>
              <a:t>تابعی</a:t>
            </a:r>
            <a:r>
              <a:rPr lang="fa-IR" sz="1800" dirty="0"/>
              <a:t>:</a:t>
            </a:r>
            <a:endParaRPr lang="en-US" altLang="en-US" sz="1700" dirty="0"/>
          </a:p>
          <a:p>
            <a:pPr algn="r" rtl="1">
              <a:buFont typeface="Monotype Sorts" pitchFamily="-84" charset="2"/>
              <a:buNone/>
            </a:pPr>
            <a:r>
              <a:rPr lang="en-US" altLang="en-US" sz="1700" dirty="0"/>
              <a:t>             </a:t>
            </a:r>
            <a:r>
              <a:rPr lang="en-US" altLang="en-US" sz="1700" i="1" dirty="0" err="1"/>
              <a:t>i_ID</a:t>
            </a:r>
            <a:r>
              <a:rPr lang="en-US" altLang="en-US" sz="1700" dirty="0"/>
              <a:t> </a:t>
            </a:r>
            <a:r>
              <a:rPr lang="en-US" altLang="en-US" sz="1700" dirty="0">
                <a:sym typeface="Symbol" panose="05050102010706020507" pitchFamily="18" charset="2"/>
              </a:rPr>
              <a:t> </a:t>
            </a:r>
            <a:r>
              <a:rPr lang="en-US" altLang="en-US" sz="1700" i="1" dirty="0" err="1">
                <a:sym typeface="Symbol" panose="05050102010706020507" pitchFamily="18" charset="2"/>
              </a:rPr>
              <a:t>dept_name</a:t>
            </a:r>
            <a:endParaRPr lang="en-US" altLang="en-US" sz="1700" i="1" dirty="0">
              <a:sym typeface="Symbol" panose="05050102010706020507" pitchFamily="18" charset="2"/>
            </a:endParaRPr>
          </a:p>
          <a:p>
            <a:pPr algn="r" rtl="1">
              <a:buFont typeface="Monotype Sorts" pitchFamily="-84" charset="2"/>
              <a:buNone/>
            </a:pPr>
            <a:r>
              <a:rPr lang="en-US" altLang="en-US" sz="1700" dirty="0"/>
              <a:t>             </a:t>
            </a:r>
            <a:r>
              <a:rPr lang="en-US" altLang="en-US" sz="1700" i="1" dirty="0" err="1"/>
              <a:t>s_ID</a:t>
            </a:r>
            <a:r>
              <a:rPr lang="en-US" altLang="en-US" sz="1700" i="1" dirty="0"/>
              <a:t>, </a:t>
            </a:r>
            <a:r>
              <a:rPr lang="en-US" altLang="en-US" sz="1700" i="1" dirty="0" err="1">
                <a:sym typeface="Symbol" panose="05050102010706020507" pitchFamily="18" charset="2"/>
              </a:rPr>
              <a:t>dept_name</a:t>
            </a:r>
            <a:r>
              <a:rPr lang="en-US" altLang="en-US" sz="1700" i="1" dirty="0"/>
              <a:t> </a:t>
            </a:r>
            <a:r>
              <a:rPr lang="en-US" altLang="en-US" sz="1700" dirty="0">
                <a:sym typeface="Symbol" panose="05050102010706020507" pitchFamily="18" charset="2"/>
              </a:rPr>
              <a:t> </a:t>
            </a:r>
            <a:r>
              <a:rPr lang="en-US" altLang="en-US" sz="1700" i="1" dirty="0" err="1">
                <a:sym typeface="Symbol" panose="05050102010706020507" pitchFamily="18" charset="2"/>
              </a:rPr>
              <a:t>i_ID</a:t>
            </a:r>
            <a:endParaRPr lang="en-US" altLang="en-US" sz="1700" i="1" dirty="0">
              <a:sym typeface="Symbol" panose="05050102010706020507" pitchFamily="18" charset="2"/>
            </a:endParaRPr>
          </a:p>
          <a:p>
            <a:pPr algn="r" rtl="1"/>
            <a:r>
              <a:rPr lang="en-US" altLang="en-US" sz="1700" dirty="0">
                <a:sym typeface="Monotype Sorts" pitchFamily="-84" charset="2"/>
              </a:rPr>
              <a:t>Two candidate keys =  {</a:t>
            </a:r>
            <a:r>
              <a:rPr lang="en-US" altLang="en-US" sz="1700" i="1" dirty="0" err="1"/>
              <a:t>s_ID</a:t>
            </a:r>
            <a:r>
              <a:rPr lang="en-US" altLang="en-US" sz="1700" i="1" dirty="0"/>
              <a:t>, </a:t>
            </a:r>
            <a:r>
              <a:rPr lang="en-US" altLang="en-US" sz="1700" i="1" dirty="0" err="1">
                <a:sym typeface="Symbol" panose="05050102010706020507" pitchFamily="18" charset="2"/>
              </a:rPr>
              <a:t>dept_name</a:t>
            </a:r>
            <a:r>
              <a:rPr lang="en-US" altLang="en-US" sz="1700" dirty="0">
                <a:sym typeface="Symbol" panose="05050102010706020507" pitchFamily="18" charset="2"/>
              </a:rPr>
              <a:t>}, {</a:t>
            </a:r>
            <a:r>
              <a:rPr lang="en-US" altLang="en-US" sz="1700" i="1" dirty="0" err="1"/>
              <a:t>s_ID</a:t>
            </a:r>
            <a:r>
              <a:rPr lang="en-US" altLang="en-US" sz="1700" i="1" dirty="0"/>
              <a:t>,</a:t>
            </a:r>
            <a:r>
              <a:rPr lang="en-US" altLang="en-US" sz="1700" i="1" dirty="0">
                <a:sym typeface="Symbol" panose="05050102010706020507" pitchFamily="18" charset="2"/>
              </a:rPr>
              <a:t> </a:t>
            </a:r>
            <a:r>
              <a:rPr lang="en-US" altLang="en-US" sz="1700" i="1" dirty="0" err="1">
                <a:sym typeface="Symbol" panose="05050102010706020507" pitchFamily="18" charset="2"/>
              </a:rPr>
              <a:t>i_ID</a:t>
            </a:r>
            <a:r>
              <a:rPr lang="en-US" altLang="en-US" sz="1700" i="1" dirty="0">
                <a:sym typeface="Symbol" panose="05050102010706020507" pitchFamily="18" charset="2"/>
              </a:rPr>
              <a:t> </a:t>
            </a:r>
            <a:r>
              <a:rPr lang="en-US" altLang="en-US" sz="1700" dirty="0">
                <a:sym typeface="Symbol" panose="05050102010706020507" pitchFamily="18" charset="2"/>
              </a:rPr>
              <a:t>}</a:t>
            </a:r>
            <a:endParaRPr lang="en-US" altLang="en-US" sz="1700" dirty="0">
              <a:sym typeface="Monotype Sorts" pitchFamily="-84" charset="2"/>
            </a:endParaRPr>
          </a:p>
          <a:p>
            <a:pPr algn="r" rtl="1"/>
            <a:r>
              <a:rPr lang="fa-IR" sz="1800" dirty="0"/>
              <a:t>قبلاً دیدیم که </a:t>
            </a:r>
            <a:r>
              <a:rPr lang="en-US" sz="1800" dirty="0" err="1"/>
              <a:t>dept_advisor</a:t>
            </a:r>
            <a:r>
              <a:rPr lang="en-US" sz="1800" dirty="0"/>
              <a:t> </a:t>
            </a:r>
            <a:r>
              <a:rPr lang="fa-IR" sz="1800" dirty="0"/>
              <a:t>در </a:t>
            </a:r>
            <a:r>
              <a:rPr lang="en-US" sz="1800" dirty="0"/>
              <a:t>BCNF </a:t>
            </a:r>
            <a:r>
              <a:rPr lang="fa-IR" sz="1800" dirty="0"/>
              <a:t>نیست.</a:t>
            </a:r>
            <a:endParaRPr lang="en-US" altLang="en-US" sz="1700" dirty="0">
              <a:sym typeface="Monotype Sorts" pitchFamily="-84" charset="2"/>
            </a:endParaRPr>
          </a:p>
          <a:p>
            <a:pPr algn="r" rtl="1"/>
            <a:r>
              <a:rPr lang="fa-IR" sz="1800" dirty="0"/>
              <a:t>اما این رابطه در </a:t>
            </a:r>
            <a:r>
              <a:rPr lang="en-US" sz="1800" dirty="0"/>
              <a:t>3NF</a:t>
            </a:r>
            <a:r>
              <a:rPr lang="fa-IR" sz="1800" dirty="0"/>
              <a:t>قرار دارد.</a:t>
            </a:r>
            <a:endParaRPr lang="en-US" altLang="en-US" sz="1700" dirty="0">
              <a:sym typeface="Monotype Sorts" pitchFamily="-84" charset="2"/>
            </a:endParaRPr>
          </a:p>
          <a:p>
            <a:pPr marL="457200" lvl="1" indent="0" algn="r" rtl="1">
              <a:buNone/>
            </a:pPr>
            <a:r>
              <a:rPr lang="fa-IR" sz="1800" dirty="0"/>
              <a:t>ترکیب </a:t>
            </a:r>
            <a:r>
              <a:rPr lang="en-US" sz="1800" dirty="0" err="1"/>
              <a:t>s_ID</a:t>
            </a:r>
            <a:r>
              <a:rPr lang="en-US" sz="1800" dirty="0"/>
              <a:t> </a:t>
            </a:r>
            <a:r>
              <a:rPr lang="fa-IR" sz="1800" dirty="0"/>
              <a:t>و </a:t>
            </a:r>
            <a:r>
              <a:rPr lang="en-US" sz="1800" dirty="0" err="1"/>
              <a:t>dept_name</a:t>
            </a:r>
            <a:r>
              <a:rPr lang="en-US" sz="1800" dirty="0"/>
              <a:t> </a:t>
            </a:r>
            <a:r>
              <a:rPr lang="fa-IR" sz="1800" dirty="0"/>
              <a:t>یک </a:t>
            </a:r>
            <a:r>
              <a:rPr lang="fa-IR" sz="1800" dirty="0" err="1"/>
              <a:t>اَبَرکلید</a:t>
            </a:r>
            <a:r>
              <a:rPr lang="fa-IR" sz="1800" dirty="0"/>
              <a:t> است.</a:t>
            </a:r>
            <a:endParaRPr lang="en-US" altLang="en-US" sz="1700" dirty="0">
              <a:sym typeface="Monotype Sorts" pitchFamily="-84" charset="2"/>
            </a:endParaRPr>
          </a:p>
          <a:p>
            <a:pPr lvl="1" algn="r" rtl="1"/>
            <a:r>
              <a:rPr lang="en-US" altLang="en-US" sz="1700" dirty="0"/>
              <a:t> </a:t>
            </a:r>
            <a:r>
              <a:rPr lang="en-US" altLang="en-US" sz="1700" i="1" dirty="0" err="1"/>
              <a:t>i_ID</a:t>
            </a:r>
            <a:r>
              <a:rPr lang="en-US" altLang="en-US" sz="1700" dirty="0"/>
              <a:t> </a:t>
            </a:r>
            <a:r>
              <a:rPr lang="en-US" altLang="en-US" sz="1700" dirty="0">
                <a:sym typeface="Symbol" panose="05050102010706020507" pitchFamily="18" charset="2"/>
              </a:rPr>
              <a:t> </a:t>
            </a:r>
            <a:r>
              <a:rPr lang="en-US" altLang="en-US" sz="1700" i="1" dirty="0" err="1">
                <a:sym typeface="Symbol" panose="05050102010706020507" pitchFamily="18" charset="2"/>
              </a:rPr>
              <a:t>dept_name</a:t>
            </a:r>
            <a:r>
              <a:rPr lang="en-US" altLang="en-US" sz="1700" dirty="0">
                <a:sym typeface="Monotype Sorts" pitchFamily="-84" charset="2"/>
              </a:rPr>
              <a:t> </a:t>
            </a:r>
            <a:r>
              <a:rPr lang="en-US" altLang="en-US" sz="1700" i="1" dirty="0">
                <a:sym typeface="Monotype Sorts" pitchFamily="-84" charset="2"/>
              </a:rPr>
              <a:t> </a:t>
            </a:r>
            <a:r>
              <a:rPr lang="fa-IR" altLang="en-US" sz="1700" i="1" dirty="0">
                <a:sym typeface="Monotype Sorts" pitchFamily="-84" charset="2"/>
              </a:rPr>
              <a:t>و </a:t>
            </a:r>
            <a:r>
              <a:rPr lang="en-US" sz="1800" dirty="0" err="1"/>
              <a:t>i_ID</a:t>
            </a:r>
            <a:r>
              <a:rPr lang="fa-IR" sz="1800" dirty="0"/>
              <a:t> یک </a:t>
            </a:r>
            <a:r>
              <a:rPr lang="fa-IR" sz="1800" dirty="0" err="1"/>
              <a:t>ابرکلید</a:t>
            </a:r>
            <a:r>
              <a:rPr lang="fa-IR" sz="1800" dirty="0"/>
              <a:t> نیست اما:</a:t>
            </a:r>
          </a:p>
          <a:p>
            <a:pPr lvl="1" algn="r" rtl="1"/>
            <a:r>
              <a:rPr lang="en-US" sz="1800" dirty="0"/>
              <a:t>{ </a:t>
            </a:r>
            <a:r>
              <a:rPr lang="en-US" sz="1800" dirty="0" err="1"/>
              <a:t>dept_name</a:t>
            </a:r>
            <a:r>
              <a:rPr lang="en-US" sz="1800" dirty="0"/>
              <a:t>} – {</a:t>
            </a:r>
            <a:r>
              <a:rPr lang="en-US" sz="1800" dirty="0" err="1"/>
              <a:t>i_ID</a:t>
            </a:r>
            <a:r>
              <a:rPr lang="en-US" sz="1800" dirty="0"/>
              <a:t> } = {</a:t>
            </a:r>
            <a:r>
              <a:rPr lang="en-US" sz="1800" dirty="0" err="1"/>
              <a:t>dept_name</a:t>
            </a:r>
            <a:r>
              <a:rPr lang="en-US" sz="1800" dirty="0"/>
              <a:t> } and</a:t>
            </a:r>
            <a:endParaRPr lang="en-US" altLang="en-US" sz="1700" dirty="0">
              <a:sym typeface="Monotype Sorts" pitchFamily="-84" charset="2"/>
            </a:endParaRPr>
          </a:p>
          <a:p>
            <a:pPr lvl="2" algn="r" rtl="1"/>
            <a:r>
              <a:rPr lang="fa-IR" sz="1800" dirty="0"/>
              <a:t>و </a:t>
            </a:r>
            <a:r>
              <a:rPr lang="en-US" sz="1800" dirty="0" err="1"/>
              <a:t>dept_name</a:t>
            </a:r>
            <a:r>
              <a:rPr lang="en-US" sz="1800" dirty="0"/>
              <a:t> </a:t>
            </a:r>
            <a:r>
              <a:rPr lang="fa-IR" sz="1800" dirty="0"/>
              <a:t>در یک کلید کاندید قرار دارد.</a:t>
            </a:r>
            <a:endParaRPr lang="en-US" altLang="en-US" sz="1700" i="1" dirty="0">
              <a:sym typeface="Greek Symbols"/>
            </a:endParaRPr>
          </a:p>
          <a:p>
            <a:pPr>
              <a:buFont typeface="Monotype Sorts" pitchFamily="-84" charset="2"/>
              <a:buNone/>
            </a:pPr>
            <a:endParaRPr lang="en-US" altLang="en-US" sz="2000" i="1" dirty="0">
              <a:sym typeface="Symbol" panose="05050102010706020507" pitchFamily="18" charset="2"/>
            </a:endParaRPr>
          </a:p>
          <a:p>
            <a:pPr>
              <a:buFont typeface="Monotype Sorts" pitchFamily="-84" charset="2"/>
              <a:buNone/>
            </a:pPr>
            <a:endParaRPr lang="en-US" altLang="en-US" sz="2000" dirty="0">
              <a:sym typeface="Symbol" panose="05050102010706020507" pitchFamily="18" charset="2"/>
            </a:endParaRPr>
          </a:p>
          <a:p>
            <a:endParaRPr lang="en-US" altLang="en-US" sz="2000" dirty="0"/>
          </a:p>
        </p:txBody>
      </p:sp>
    </p:spTree>
    <p:extLst>
      <p:ext uri="{BB962C8B-B14F-4D97-AF65-F5344CB8AC3E}">
        <p14:creationId xmlns:p14="http://schemas.microsoft.com/office/powerpoint/2010/main" val="425303328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8290" name="Rectangle 2"/>
          <p:cNvSpPr>
            <a:spLocks noGrp="1" noChangeArrowheads="1"/>
          </p:cNvSpPr>
          <p:nvPr>
            <p:ph type="title"/>
          </p:nvPr>
        </p:nvSpPr>
        <p:spPr>
          <a:xfrm>
            <a:off x="781050" y="174963"/>
            <a:ext cx="8077200" cy="609600"/>
          </a:xfrm>
        </p:spPr>
        <p:txBody>
          <a:bodyPr/>
          <a:lstStyle/>
          <a:p>
            <a:pPr>
              <a:defRPr/>
            </a:pPr>
            <a:r>
              <a:rPr lang="en-US" sz="2800" dirty="0">
                <a:ea typeface="ＭＳ Ｐゴシック" pitchFamily="34" charset="-128"/>
              </a:rPr>
              <a:t>Redundancy in 3NF</a:t>
            </a:r>
          </a:p>
        </p:txBody>
      </p:sp>
      <p:sp>
        <p:nvSpPr>
          <p:cNvPr id="34819" name="Rectangle 10"/>
          <p:cNvSpPr>
            <a:spLocks noGrp="1" noChangeArrowheads="1"/>
          </p:cNvSpPr>
          <p:nvPr>
            <p:ph idx="1"/>
          </p:nvPr>
        </p:nvSpPr>
        <p:spPr>
          <a:xfrm>
            <a:off x="781050" y="1130542"/>
            <a:ext cx="7716774" cy="5123954"/>
          </a:xfrm>
        </p:spPr>
        <p:txBody>
          <a:bodyPr/>
          <a:lstStyle/>
          <a:p>
            <a:pPr algn="r" rtl="1"/>
            <a:r>
              <a:rPr lang="fa-IR" sz="1800" dirty="0"/>
              <a:t>به </a:t>
            </a:r>
            <a:r>
              <a:rPr lang="fa-IR" sz="1800" dirty="0" err="1"/>
              <a:t>شِمای</a:t>
            </a:r>
            <a:r>
              <a:rPr lang="fa-IR" sz="1800" dirty="0"/>
              <a:t> </a:t>
            </a:r>
            <a:r>
              <a:rPr lang="en-US" sz="1800" dirty="0"/>
              <a:t>R </a:t>
            </a:r>
            <a:r>
              <a:rPr lang="fa-IR" sz="1800" dirty="0"/>
              <a:t>در زیر توجه کنید که در حالت نرمال سوم </a:t>
            </a:r>
            <a:r>
              <a:rPr lang="en-US" sz="1800" dirty="0"/>
              <a:t>3NF</a:t>
            </a:r>
            <a:r>
              <a:rPr lang="fa-IR" sz="1800" dirty="0"/>
              <a:t>قرار دارد.</a:t>
            </a:r>
            <a:endParaRPr lang="en-US" altLang="en-US" sz="1700" dirty="0"/>
          </a:p>
          <a:p>
            <a:pPr marL="0" indent="0">
              <a:buNone/>
            </a:pPr>
            <a:endParaRPr lang="en-US" altLang="en-US" sz="1700" dirty="0"/>
          </a:p>
          <a:p>
            <a:endParaRPr lang="en-US" altLang="en-US" sz="1700" dirty="0"/>
          </a:p>
          <a:p>
            <a:endParaRPr lang="en-US" altLang="en-US" sz="1700" dirty="0"/>
          </a:p>
          <a:p>
            <a:endParaRPr lang="en-US" altLang="en-US" sz="1700" dirty="0"/>
          </a:p>
          <a:p>
            <a:endParaRPr lang="en-US" altLang="en-US" sz="1700" dirty="0"/>
          </a:p>
          <a:p>
            <a:endParaRPr lang="en-US" altLang="en-US" sz="1700" dirty="0"/>
          </a:p>
          <a:p>
            <a:pPr marL="0" indent="0">
              <a:buNone/>
            </a:pPr>
            <a:endParaRPr lang="en-US" altLang="en-US" sz="1700" dirty="0"/>
          </a:p>
          <a:p>
            <a:pPr algn="r" rtl="1"/>
            <a:r>
              <a:rPr lang="fa-IR" sz="1800" dirty="0"/>
              <a:t>مشکل این جدول چیست؟</a:t>
            </a:r>
            <a:endParaRPr lang="en-US" altLang="en-US" sz="1700" dirty="0"/>
          </a:p>
          <a:p>
            <a:pPr marL="0" indent="0">
              <a:buNone/>
            </a:pPr>
            <a:endParaRPr lang="en-US" altLang="en-US" sz="1700" dirty="0"/>
          </a:p>
        </p:txBody>
      </p:sp>
      <p:sp>
        <p:nvSpPr>
          <p:cNvPr id="34822" name="TextBox 1"/>
          <p:cNvSpPr txBox="1">
            <a:spLocks noChangeArrowheads="1"/>
          </p:cNvSpPr>
          <p:nvPr/>
        </p:nvSpPr>
        <p:spPr bwMode="auto">
          <a:xfrm>
            <a:off x="781051" y="1530989"/>
            <a:ext cx="6717030" cy="8925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42900" indent="-342900">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marL="800100" lvl="1" indent="-342900">
              <a:spcBef>
                <a:spcPts val="0"/>
              </a:spcBef>
              <a:buClr>
                <a:srgbClr val="F5960B"/>
              </a:buClr>
              <a:buSzPct val="110000"/>
              <a:buFont typeface="Arial" panose="020B0604020202020204" pitchFamily="34" charset="0"/>
              <a:buChar char="•"/>
            </a:pPr>
            <a:r>
              <a:rPr lang="en-US" altLang="en-US" sz="1700" i="1" dirty="0"/>
              <a:t>R = </a:t>
            </a:r>
            <a:r>
              <a:rPr lang="en-US" altLang="en-US" sz="1700" dirty="0"/>
              <a:t>(</a:t>
            </a:r>
            <a:r>
              <a:rPr lang="en-US" altLang="en-US" sz="1700" i="1" dirty="0"/>
              <a:t>J, K, L </a:t>
            </a:r>
            <a:r>
              <a:rPr lang="en-US" altLang="en-US" sz="1700" dirty="0"/>
              <a:t>)</a:t>
            </a:r>
            <a:endParaRPr lang="en-US" altLang="en-US" sz="1700" i="1" dirty="0"/>
          </a:p>
          <a:p>
            <a:pPr marL="800100" lvl="1" indent="-342900">
              <a:spcBef>
                <a:spcPts val="0"/>
              </a:spcBef>
              <a:buClr>
                <a:srgbClr val="F5960B"/>
              </a:buClr>
              <a:buSzPct val="110000"/>
              <a:buFont typeface="Arial" panose="020B0604020202020204" pitchFamily="34" charset="0"/>
              <a:buChar char="•"/>
            </a:pPr>
            <a:r>
              <a:rPr lang="en-US" altLang="en-US" sz="1700" i="1" dirty="0"/>
              <a:t>F = </a:t>
            </a:r>
            <a:r>
              <a:rPr lang="en-US" altLang="en-US" sz="1700" dirty="0"/>
              <a:t>{</a:t>
            </a:r>
            <a:r>
              <a:rPr lang="en-US" altLang="en-US" sz="1700" i="1" dirty="0"/>
              <a:t>JK </a:t>
            </a:r>
            <a:r>
              <a:rPr lang="en-US" altLang="en-US" sz="1700" dirty="0">
                <a:sym typeface="Symbol" panose="05050102010706020507" pitchFamily="18" charset="2"/>
              </a:rPr>
              <a:t></a:t>
            </a:r>
            <a:r>
              <a:rPr lang="en-US" altLang="en-US" sz="1700" dirty="0">
                <a:sym typeface="Monotype Sorts" pitchFamily="-84" charset="2"/>
              </a:rPr>
              <a:t> </a:t>
            </a:r>
            <a:r>
              <a:rPr lang="en-US" altLang="en-US" sz="1700" i="1" dirty="0">
                <a:sym typeface="Monotype Sorts" pitchFamily="-84" charset="2"/>
              </a:rPr>
              <a:t>L, L </a:t>
            </a:r>
            <a:r>
              <a:rPr lang="en-US" altLang="en-US" sz="1700" dirty="0">
                <a:sym typeface="Symbol" panose="05050102010706020507" pitchFamily="18" charset="2"/>
              </a:rPr>
              <a:t></a:t>
            </a:r>
            <a:r>
              <a:rPr lang="en-US" altLang="en-US" sz="1700" dirty="0">
                <a:sym typeface="Monotype Sorts" pitchFamily="-84" charset="2"/>
              </a:rPr>
              <a:t> </a:t>
            </a:r>
            <a:r>
              <a:rPr lang="en-US" altLang="en-US" sz="1700" i="1" dirty="0">
                <a:sym typeface="Monotype Sorts" pitchFamily="-84" charset="2"/>
              </a:rPr>
              <a:t>K </a:t>
            </a:r>
            <a:r>
              <a:rPr lang="en-US" altLang="en-US" sz="1700" dirty="0">
                <a:sym typeface="Monotype Sorts" pitchFamily="-84" charset="2"/>
              </a:rPr>
              <a:t>}</a:t>
            </a:r>
          </a:p>
          <a:p>
            <a:pPr marL="800100" lvl="1" indent="-342900">
              <a:spcBef>
                <a:spcPts val="0"/>
              </a:spcBef>
              <a:buClr>
                <a:srgbClr val="F5960B"/>
              </a:buClr>
              <a:buSzPct val="110000"/>
              <a:buFont typeface="Arial" panose="020B0604020202020204" pitchFamily="34" charset="0"/>
              <a:buChar char="•"/>
            </a:pPr>
            <a:r>
              <a:rPr lang="fa-IR" sz="1800" dirty="0"/>
              <a:t>و یک جدول نمونه</a:t>
            </a:r>
            <a:r>
              <a:rPr lang="en-US" sz="1800" dirty="0"/>
              <a:t>:</a:t>
            </a:r>
            <a:endParaRPr lang="en-US" altLang="en-US" sz="1700" dirty="0">
              <a:sym typeface="Monotype Sorts" pitchFamily="-84" charset="2"/>
            </a:endParaRPr>
          </a:p>
        </p:txBody>
      </p:sp>
      <p:sp>
        <p:nvSpPr>
          <p:cNvPr id="4" name="TextBox 3"/>
          <p:cNvSpPr txBox="1">
            <a:spLocks noChangeArrowheads="1"/>
          </p:cNvSpPr>
          <p:nvPr/>
        </p:nvSpPr>
        <p:spPr bwMode="auto">
          <a:xfrm>
            <a:off x="436625" y="4266097"/>
            <a:ext cx="7472935"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42900" indent="-342900">
              <a:defRPr sz="1600">
                <a:solidFill>
                  <a:schemeClr val="tx1"/>
                </a:solidFill>
                <a:latin typeface="Helvetica" panose="020B0604020202020204" pitchFamily="34" charset="0"/>
                <a:ea typeface="MS PGothic" panose="020B0600070205080204" pitchFamily="34" charset="-128"/>
              </a:defRPr>
            </a:lvl1pPr>
            <a:lvl2pPr>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marL="800100" lvl="1" indent="-342900" algn="r" rtl="1">
              <a:buClr>
                <a:srgbClr val="FF9933"/>
              </a:buClr>
              <a:buSzPct val="110000"/>
              <a:buFont typeface="Arial" panose="020B0604020202020204" pitchFamily="34" charset="0"/>
              <a:buChar char="•"/>
            </a:pPr>
            <a:r>
              <a:rPr lang="fa-IR" sz="1800" dirty="0"/>
              <a:t>تکرار اطلاعات</a:t>
            </a:r>
            <a:endParaRPr lang="en-US" altLang="en-US" sz="1700" dirty="0"/>
          </a:p>
          <a:p>
            <a:pPr marL="800100" lvl="1" indent="-342900" algn="r" rtl="1">
              <a:buClr>
                <a:srgbClr val="FF9933"/>
              </a:buClr>
              <a:buSzPct val="110000"/>
              <a:buFont typeface="Arial" panose="020B0604020202020204" pitchFamily="34" charset="0"/>
              <a:buChar char="•"/>
            </a:pPr>
            <a:r>
              <a:rPr lang="fa-IR" sz="1800" dirty="0"/>
              <a:t>نیاز به استفاده از مقدارهای </a:t>
            </a:r>
            <a:r>
              <a:rPr lang="en-US" sz="1800" dirty="0"/>
              <a:t>)NULL </a:t>
            </a:r>
            <a:r>
              <a:rPr lang="fa-IR" sz="1800" dirty="0"/>
              <a:t>برای مثال، برای نمایش </a:t>
            </a:r>
            <a:r>
              <a:rPr lang="fa-IR" sz="1800" dirty="0" err="1"/>
              <a:t>رابطهٔ</a:t>
            </a:r>
            <a:r>
              <a:rPr lang="fa-IR" sz="1800" dirty="0"/>
              <a:t> </a:t>
            </a:r>
            <a:r>
              <a:rPr lang="en-US" sz="1800" dirty="0"/>
              <a:t>l2 </a:t>
            </a:r>
            <a:r>
              <a:rPr lang="fa-IR" sz="1800" dirty="0"/>
              <a:t>و </a:t>
            </a:r>
            <a:r>
              <a:rPr lang="en-US" sz="1800" dirty="0"/>
              <a:t>k2 </a:t>
            </a:r>
            <a:r>
              <a:rPr lang="fa-IR" sz="1800" dirty="0"/>
              <a:t>زمانی که مقدار </a:t>
            </a:r>
            <a:r>
              <a:rPr lang="fa-IR" sz="1800" dirty="0" err="1"/>
              <a:t>متناظر</a:t>
            </a:r>
            <a:r>
              <a:rPr lang="fa-IR" sz="1800" dirty="0"/>
              <a:t> </a:t>
            </a:r>
            <a:r>
              <a:rPr lang="en-US" sz="1800" dirty="0"/>
              <a:t>J </a:t>
            </a:r>
            <a:r>
              <a:rPr lang="fa-IR" sz="1800" dirty="0"/>
              <a:t>وجود ندارد)</a:t>
            </a:r>
            <a:endParaRPr lang="en-US" altLang="en-US" sz="1700" dirty="0"/>
          </a:p>
        </p:txBody>
      </p:sp>
      <p:pic>
        <p:nvPicPr>
          <p:cNvPr id="3" name="Picture 2"/>
          <p:cNvPicPr>
            <a:picLocks noChangeAspect="1"/>
          </p:cNvPicPr>
          <p:nvPr/>
        </p:nvPicPr>
        <p:blipFill>
          <a:blip r:embed="rId3"/>
          <a:stretch>
            <a:fillRect/>
          </a:stretch>
        </p:blipFill>
        <p:spPr>
          <a:xfrm>
            <a:off x="3189539" y="2591903"/>
            <a:ext cx="933450" cy="1190625"/>
          </a:xfrm>
          <a:prstGeom prst="rect">
            <a:avLst/>
          </a:prstGeom>
        </p:spPr>
      </p:pic>
    </p:spTree>
    <p:extLst>
      <p:ext uri="{BB962C8B-B14F-4D97-AF65-F5344CB8AC3E}">
        <p14:creationId xmlns:p14="http://schemas.microsoft.com/office/powerpoint/2010/main" val="372737091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9154" name="Rectangle 2"/>
          <p:cNvSpPr>
            <a:spLocks noGrp="1" noChangeArrowheads="1"/>
          </p:cNvSpPr>
          <p:nvPr>
            <p:ph type="title"/>
          </p:nvPr>
        </p:nvSpPr>
        <p:spPr>
          <a:xfrm>
            <a:off x="1317625" y="184150"/>
            <a:ext cx="6969125" cy="500063"/>
          </a:xfrm>
        </p:spPr>
        <p:txBody>
          <a:bodyPr/>
          <a:lstStyle/>
          <a:p>
            <a:pPr>
              <a:defRPr/>
            </a:pPr>
            <a:r>
              <a:rPr lang="en-US" altLang="en-US" sz="2800" dirty="0">
                <a:effectLst>
                  <a:outerShdw blurRad="38100" dist="38100" dir="2700000" algn="tl">
                    <a:srgbClr val="C0C0C0"/>
                  </a:outerShdw>
                </a:effectLst>
                <a:ea typeface="ＭＳ Ｐゴシック" pitchFamily="34" charset="-128"/>
              </a:rPr>
              <a:t>Comparison of BCNF and 3NF</a:t>
            </a:r>
          </a:p>
        </p:txBody>
      </p:sp>
      <p:sp>
        <p:nvSpPr>
          <p:cNvPr id="35843" name="Rectangle 3"/>
          <p:cNvSpPr>
            <a:spLocks noGrp="1" noChangeArrowheads="1"/>
          </p:cNvSpPr>
          <p:nvPr>
            <p:ph idx="1"/>
          </p:nvPr>
        </p:nvSpPr>
        <p:spPr>
          <a:xfrm>
            <a:off x="781236" y="1093788"/>
            <a:ext cx="7599285" cy="2661348"/>
          </a:xfrm>
        </p:spPr>
        <p:txBody>
          <a:bodyPr/>
          <a:lstStyle/>
          <a:p>
            <a:pPr algn="r" rtl="1"/>
            <a:r>
              <a:rPr lang="fa-IR" sz="1800" dirty="0" err="1"/>
              <a:t>مزیت‌های</a:t>
            </a:r>
            <a:r>
              <a:rPr lang="fa-IR" sz="1800" dirty="0"/>
              <a:t> </a:t>
            </a:r>
            <a:r>
              <a:rPr lang="fa-IR" sz="1800" dirty="0" err="1"/>
              <a:t>نرمال‌فرم</a:t>
            </a:r>
            <a:r>
              <a:rPr lang="fa-IR" sz="1800" dirty="0"/>
              <a:t> سوم </a:t>
            </a:r>
            <a:r>
              <a:rPr lang="en-US" sz="1800" dirty="0"/>
              <a:t>3NF</a:t>
            </a:r>
            <a:r>
              <a:rPr lang="fa-IR" sz="1800" dirty="0"/>
              <a:t>نسبت به </a:t>
            </a:r>
            <a:r>
              <a:rPr lang="en-US" sz="1800" dirty="0"/>
              <a:t>BCNF.</a:t>
            </a:r>
            <a:r>
              <a:rPr lang="fa-IR" sz="1800" dirty="0"/>
              <a:t> همیشه </a:t>
            </a:r>
            <a:r>
              <a:rPr lang="fa-IR" sz="1800" dirty="0" err="1"/>
              <a:t>می‌توان</a:t>
            </a:r>
            <a:r>
              <a:rPr lang="fa-IR" sz="1800" dirty="0"/>
              <a:t> یک طراحی </a:t>
            </a:r>
            <a:r>
              <a:rPr lang="en-US" sz="1800" dirty="0"/>
              <a:t>3NF</a:t>
            </a:r>
            <a:r>
              <a:rPr lang="fa-IR" sz="1800" dirty="0"/>
              <a:t>به دست آورد بدون اینکه خاصیت </a:t>
            </a:r>
            <a:r>
              <a:rPr lang="fa-IR" sz="1800" dirty="0" err="1"/>
              <a:t>بی‌اتلاف</a:t>
            </a:r>
            <a:r>
              <a:rPr lang="fa-IR" sz="1800" dirty="0"/>
              <a:t> بودن یا حفظ </a:t>
            </a:r>
            <a:r>
              <a:rPr lang="fa-IR" sz="1800" dirty="0" err="1"/>
              <a:t>وابستگی‌ها</a:t>
            </a:r>
            <a:r>
              <a:rPr lang="fa-IR" sz="1800" dirty="0"/>
              <a:t> از بین برود.</a:t>
            </a:r>
            <a:endParaRPr lang="en-US" altLang="en-US" sz="1700" dirty="0"/>
          </a:p>
          <a:p>
            <a:pPr algn="r" rtl="1"/>
            <a:r>
              <a:rPr lang="fa-IR" sz="1800" dirty="0"/>
              <a:t>معایب</a:t>
            </a:r>
            <a:r>
              <a:rPr lang="en-US" sz="1800" dirty="0"/>
              <a:t>3NF</a:t>
            </a:r>
            <a:endParaRPr lang="en-US" altLang="en-US" sz="1700" dirty="0"/>
          </a:p>
          <a:p>
            <a:pPr lvl="1" algn="r" rtl="1"/>
            <a:r>
              <a:rPr lang="fa-IR" sz="1800" dirty="0"/>
              <a:t>ممکن است مجبور شویم از مقدارهای تهی </a:t>
            </a:r>
            <a:r>
              <a:rPr lang="en-US" sz="1800" dirty="0"/>
              <a:t>(NULL) </a:t>
            </a:r>
            <a:r>
              <a:rPr lang="fa-IR" sz="1800" dirty="0"/>
              <a:t>برای نمایش برخی از روابط معنادار میان </a:t>
            </a:r>
            <a:r>
              <a:rPr lang="fa-IR" sz="1800" dirty="0" err="1"/>
              <a:t>داده‌ها</a:t>
            </a:r>
            <a:r>
              <a:rPr lang="fa-IR" sz="1800" dirty="0"/>
              <a:t> استفاده کنیم.</a:t>
            </a:r>
            <a:endParaRPr lang="en-US" altLang="en-US" sz="1700" dirty="0"/>
          </a:p>
          <a:p>
            <a:pPr marL="457200" lvl="1" indent="0" algn="r" rtl="1">
              <a:buNone/>
            </a:pPr>
            <a:r>
              <a:rPr lang="fa-IR" sz="1800" dirty="0"/>
              <a:t>مشکل تکرار اطلاعات وجود دارد.</a:t>
            </a:r>
            <a:endParaRPr lang="en-US" altLang="en-US" sz="1700" dirty="0"/>
          </a:p>
          <a:p>
            <a:pPr algn="r" rtl="1">
              <a:buFont typeface="Monotype Sorts" pitchFamily="-84" charset="2"/>
              <a:buNone/>
            </a:pPr>
            <a:endParaRPr lang="en-US" altLang="en-US" sz="2000" dirty="0"/>
          </a:p>
        </p:txBody>
      </p:sp>
    </p:spTree>
    <p:extLst>
      <p:ext uri="{BB962C8B-B14F-4D97-AF65-F5344CB8AC3E}">
        <p14:creationId xmlns:p14="http://schemas.microsoft.com/office/powerpoint/2010/main" val="239892444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9154" name="Rectangle 2"/>
          <p:cNvSpPr>
            <a:spLocks noGrp="1" noChangeArrowheads="1"/>
          </p:cNvSpPr>
          <p:nvPr>
            <p:ph type="title"/>
          </p:nvPr>
        </p:nvSpPr>
        <p:spPr>
          <a:xfrm>
            <a:off x="1317625" y="184150"/>
            <a:ext cx="6969125" cy="500063"/>
          </a:xfrm>
        </p:spPr>
        <p:txBody>
          <a:bodyPr/>
          <a:lstStyle/>
          <a:p>
            <a:pPr>
              <a:defRPr/>
            </a:pPr>
            <a:r>
              <a:rPr lang="en-US" altLang="en-US" sz="2800" dirty="0">
                <a:effectLst>
                  <a:outerShdw blurRad="38100" dist="38100" dir="2700000" algn="tl">
                    <a:srgbClr val="C0C0C0"/>
                  </a:outerShdw>
                </a:effectLst>
                <a:ea typeface="ＭＳ Ｐゴシック" pitchFamily="34" charset="-128"/>
              </a:rPr>
              <a:t>Goals of Normalization</a:t>
            </a:r>
          </a:p>
        </p:txBody>
      </p:sp>
      <p:sp>
        <p:nvSpPr>
          <p:cNvPr id="36867" name="Rectangle 3"/>
          <p:cNvSpPr>
            <a:spLocks noGrp="1" noChangeArrowheads="1"/>
          </p:cNvSpPr>
          <p:nvPr>
            <p:ph idx="1"/>
          </p:nvPr>
        </p:nvSpPr>
        <p:spPr>
          <a:xfrm>
            <a:off x="772359" y="1093789"/>
            <a:ext cx="7401846" cy="2844227"/>
          </a:xfrm>
        </p:spPr>
        <p:txBody>
          <a:bodyPr/>
          <a:lstStyle/>
          <a:p>
            <a:pPr algn="r" rtl="1"/>
            <a:r>
              <a:rPr lang="fa-IR" sz="1800" dirty="0"/>
              <a:t>یک رابطه </a:t>
            </a:r>
            <a:r>
              <a:rPr lang="en-US" sz="1800" dirty="0"/>
              <a:t>R </a:t>
            </a:r>
            <a:r>
              <a:rPr lang="fa-IR" sz="1800" dirty="0"/>
              <a:t>با </a:t>
            </a:r>
            <a:r>
              <a:rPr lang="fa-IR" sz="1800" dirty="0" err="1"/>
              <a:t>مجموعه‌ای</a:t>
            </a:r>
            <a:r>
              <a:rPr lang="fa-IR" sz="1800" dirty="0"/>
              <a:t> از </a:t>
            </a:r>
            <a:r>
              <a:rPr lang="fa-IR" sz="1800" dirty="0" err="1"/>
              <a:t>وابستگی‌های</a:t>
            </a:r>
            <a:r>
              <a:rPr lang="fa-IR" sz="1800" dirty="0"/>
              <a:t> </a:t>
            </a:r>
            <a:r>
              <a:rPr lang="fa-IR" sz="1800" dirty="0" err="1"/>
              <a:t>تابعی</a:t>
            </a:r>
            <a:r>
              <a:rPr lang="fa-IR" sz="1800" dirty="0"/>
              <a:t> </a:t>
            </a:r>
            <a:r>
              <a:rPr lang="en-US" sz="1800" dirty="0"/>
              <a:t>F </a:t>
            </a:r>
            <a:r>
              <a:rPr lang="fa-IR" sz="1800" dirty="0"/>
              <a:t>در نظر بگیرید.</a:t>
            </a:r>
          </a:p>
          <a:p>
            <a:pPr algn="r" rtl="1"/>
            <a:r>
              <a:rPr lang="fa-IR" sz="1800" dirty="0"/>
              <a:t>تصمیم بگیر که آیا طرح رابطه </a:t>
            </a:r>
            <a:r>
              <a:rPr lang="en-US" sz="1800" dirty="0"/>
              <a:t>R </a:t>
            </a:r>
            <a:r>
              <a:rPr lang="fa-IR" sz="1800" dirty="0"/>
              <a:t>در «وضعیت خوب» قرار دارد یا نه.</a:t>
            </a:r>
          </a:p>
          <a:p>
            <a:pPr algn="r" rtl="1"/>
            <a:r>
              <a:rPr lang="fa-IR" sz="1800" dirty="0"/>
              <a:t>اگر یک طرح رابطه </a:t>
            </a:r>
            <a:r>
              <a:rPr lang="en-US" sz="1800" dirty="0"/>
              <a:t>R </a:t>
            </a:r>
            <a:r>
              <a:rPr lang="fa-IR" sz="1800" dirty="0"/>
              <a:t>در «وضعیت خوب» نباشد، باید آن را به </a:t>
            </a:r>
            <a:r>
              <a:rPr lang="fa-IR" sz="1800" dirty="0" err="1"/>
              <a:t>مجموعه‌ای</a:t>
            </a:r>
            <a:r>
              <a:rPr lang="fa-IR" sz="1800" dirty="0"/>
              <a:t> از </a:t>
            </a:r>
            <a:r>
              <a:rPr lang="fa-IR" sz="1800" dirty="0" err="1"/>
              <a:t>طرح‌های</a:t>
            </a:r>
            <a:r>
              <a:rPr lang="fa-IR" sz="1800" dirty="0"/>
              <a:t> </a:t>
            </a:r>
            <a:r>
              <a:rPr lang="fa-IR" sz="1800" dirty="0" err="1"/>
              <a:t>رابطه‌ای</a:t>
            </a:r>
            <a:r>
              <a:rPr lang="fa-IR" sz="1800" dirty="0"/>
              <a:t> {</a:t>
            </a:r>
            <a:r>
              <a:rPr lang="en-US" sz="1800" dirty="0"/>
              <a:t>R1 , R2 , … , Rn} </a:t>
            </a:r>
            <a:r>
              <a:rPr lang="fa-IR" sz="1800" dirty="0"/>
              <a:t>تجزیه کنیم </a:t>
            </a:r>
            <a:r>
              <a:rPr lang="fa-IR" sz="1800" dirty="0" err="1"/>
              <a:t>به‌طوری‌که</a:t>
            </a:r>
            <a:r>
              <a:rPr lang="fa-IR" sz="1800" dirty="0"/>
              <a:t>:</a:t>
            </a:r>
          </a:p>
          <a:p>
            <a:pPr algn="r" rtl="1"/>
            <a:r>
              <a:rPr lang="fa-IR" sz="1800" dirty="0"/>
              <a:t>هر طرح </a:t>
            </a:r>
            <a:r>
              <a:rPr lang="fa-IR" sz="1800" dirty="0" err="1"/>
              <a:t>رابطه‌ای</a:t>
            </a:r>
            <a:r>
              <a:rPr lang="fa-IR" sz="1800" dirty="0"/>
              <a:t> در وضعیت خوب باشد.</a:t>
            </a:r>
          </a:p>
          <a:p>
            <a:pPr algn="r" rtl="1"/>
            <a:r>
              <a:rPr lang="fa-IR" sz="1800" dirty="0"/>
              <a:t>تجزیه، یک تجزیه بدون از </a:t>
            </a:r>
            <a:r>
              <a:rPr lang="fa-IR" sz="1800" dirty="0" err="1"/>
              <a:t>دست‌رفتن</a:t>
            </a:r>
            <a:r>
              <a:rPr lang="fa-IR" sz="1800" dirty="0"/>
              <a:t> اطلاعات </a:t>
            </a:r>
            <a:r>
              <a:rPr lang="en-US" sz="1800" dirty="0"/>
              <a:t>(lossless) </a:t>
            </a:r>
            <a:r>
              <a:rPr lang="fa-IR" sz="1800" dirty="0"/>
              <a:t>باشد.</a:t>
            </a:r>
          </a:p>
          <a:p>
            <a:pPr algn="r" rtl="1"/>
            <a:r>
              <a:rPr lang="fa-IR" sz="1800" dirty="0" err="1"/>
              <a:t>ترجیحاً</a:t>
            </a:r>
            <a:r>
              <a:rPr lang="fa-IR" sz="1800" dirty="0"/>
              <a:t> تجزیه باید </a:t>
            </a:r>
            <a:r>
              <a:rPr lang="fa-IR" sz="1800" dirty="0" err="1"/>
              <a:t>وابستگی‌ها</a:t>
            </a:r>
            <a:r>
              <a:rPr lang="fa-IR" sz="1800" dirty="0"/>
              <a:t> را نیز حفظ کند.</a:t>
            </a:r>
          </a:p>
        </p:txBody>
      </p:sp>
    </p:spTree>
    <p:extLst>
      <p:ext uri="{BB962C8B-B14F-4D97-AF65-F5344CB8AC3E}">
        <p14:creationId xmlns:p14="http://schemas.microsoft.com/office/powerpoint/2010/main" val="85893801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1202" name="Rectangle 2"/>
          <p:cNvSpPr>
            <a:spLocks noGrp="1" noChangeArrowheads="1"/>
          </p:cNvSpPr>
          <p:nvPr>
            <p:ph type="title"/>
          </p:nvPr>
        </p:nvSpPr>
        <p:spPr>
          <a:xfrm>
            <a:off x="1422400" y="125766"/>
            <a:ext cx="7124700" cy="635000"/>
          </a:xfrm>
        </p:spPr>
        <p:txBody>
          <a:bodyPr/>
          <a:lstStyle/>
          <a:p>
            <a:pPr>
              <a:defRPr/>
            </a:pPr>
            <a:r>
              <a:rPr lang="en-US" altLang="en-US" sz="2800" dirty="0">
                <a:effectLst>
                  <a:outerShdw blurRad="38100" dist="38100" dir="2700000" algn="tl">
                    <a:srgbClr val="C0C0C0"/>
                  </a:outerShdw>
                </a:effectLst>
                <a:ea typeface="ＭＳ Ｐゴシック" pitchFamily="34" charset="-128"/>
              </a:rPr>
              <a:t>How good is BCNF?</a:t>
            </a:r>
          </a:p>
        </p:txBody>
      </p:sp>
      <p:sp>
        <p:nvSpPr>
          <p:cNvPr id="37891" name="Rectangle 3"/>
          <p:cNvSpPr>
            <a:spLocks noGrp="1" noChangeArrowheads="1"/>
          </p:cNvSpPr>
          <p:nvPr>
            <p:ph idx="1"/>
          </p:nvPr>
        </p:nvSpPr>
        <p:spPr>
          <a:xfrm>
            <a:off x="772357" y="1093789"/>
            <a:ext cx="7469436" cy="2454084"/>
          </a:xfrm>
        </p:spPr>
        <p:txBody>
          <a:bodyPr/>
          <a:lstStyle/>
          <a:p>
            <a:pPr algn="r" rtl="1">
              <a:tabLst>
                <a:tab pos="2976563" algn="ctr"/>
              </a:tabLst>
            </a:pPr>
            <a:r>
              <a:rPr lang="fa-IR" sz="1800" dirty="0"/>
              <a:t>برخی از </a:t>
            </a:r>
            <a:r>
              <a:rPr lang="fa-IR" sz="1800" dirty="0" err="1"/>
              <a:t>طرح‌های</a:t>
            </a:r>
            <a:r>
              <a:rPr lang="fa-IR" sz="1800" dirty="0"/>
              <a:t> </a:t>
            </a:r>
            <a:r>
              <a:rPr lang="fa-IR" sz="1800" dirty="0" err="1"/>
              <a:t>پایگاه‌داده</a:t>
            </a:r>
            <a:r>
              <a:rPr lang="fa-IR" sz="1800" dirty="0"/>
              <a:t> که در </a:t>
            </a:r>
            <a:r>
              <a:rPr lang="en-US" sz="1800" dirty="0"/>
              <a:t>BCNF </a:t>
            </a:r>
            <a:r>
              <a:rPr lang="fa-IR" sz="1800" dirty="0"/>
              <a:t>قرار دارند، ممکن است </a:t>
            </a:r>
            <a:r>
              <a:rPr lang="fa-IR" sz="1800" dirty="0" err="1"/>
              <a:t>به‌نظر</a:t>
            </a:r>
            <a:r>
              <a:rPr lang="fa-IR" sz="1800" dirty="0"/>
              <a:t> نرسد که </a:t>
            </a:r>
            <a:r>
              <a:rPr lang="fa-IR" sz="1800" dirty="0" err="1"/>
              <a:t>به‌طور</a:t>
            </a:r>
            <a:r>
              <a:rPr lang="fa-IR" sz="1800" dirty="0"/>
              <a:t> کافی نرمال </a:t>
            </a:r>
            <a:r>
              <a:rPr lang="fa-IR" sz="1800" dirty="0" err="1"/>
              <a:t>شده‌اند</a:t>
            </a:r>
            <a:r>
              <a:rPr lang="fa-IR" sz="1800" dirty="0"/>
              <a:t>.</a:t>
            </a:r>
            <a:br>
              <a:rPr lang="fa-IR" sz="1800" dirty="0"/>
            </a:br>
            <a:r>
              <a:rPr lang="fa-IR" sz="1800" dirty="0"/>
              <a:t>رابطه زیر را در نظر بگیرید:</a:t>
            </a:r>
            <a:br>
              <a:rPr lang="fa-IR" sz="1800" dirty="0"/>
            </a:br>
            <a:r>
              <a:rPr lang="en-US" sz="1800" dirty="0" err="1"/>
              <a:t>inst_info</a:t>
            </a:r>
            <a:r>
              <a:rPr lang="en-US" sz="1800" dirty="0"/>
              <a:t> (ID, </a:t>
            </a:r>
            <a:r>
              <a:rPr lang="en-US" sz="1800" dirty="0" err="1"/>
              <a:t>child_name</a:t>
            </a:r>
            <a:r>
              <a:rPr lang="en-US" sz="1800" dirty="0"/>
              <a:t>, phone)</a:t>
            </a:r>
            <a:br>
              <a:rPr lang="en-US" sz="1800" dirty="0"/>
            </a:br>
            <a:r>
              <a:rPr lang="fa-IR" sz="1800" dirty="0"/>
              <a:t>در این رابطه ممکن است یک استاد بیش از یک شماره تلفن داشته باشد و همچنین چندین فرزند داشته باشد.</a:t>
            </a:r>
            <a:br>
              <a:rPr lang="fa-IR" sz="1800" dirty="0"/>
            </a:br>
            <a:r>
              <a:rPr lang="fa-IR" sz="1800" dirty="0" err="1"/>
              <a:t>نمونه‌ای</a:t>
            </a:r>
            <a:r>
              <a:rPr lang="fa-IR" sz="1800" dirty="0"/>
              <a:t> از </a:t>
            </a:r>
            <a:r>
              <a:rPr lang="fa-IR" sz="1800" dirty="0" err="1"/>
              <a:t>داده‌ها</a:t>
            </a:r>
            <a:r>
              <a:rPr lang="fa-IR" sz="1800" dirty="0"/>
              <a:t> (</a:t>
            </a:r>
            <a:r>
              <a:rPr lang="en-US" sz="1800" dirty="0"/>
              <a:t>instance) </a:t>
            </a:r>
            <a:r>
              <a:rPr lang="fa-IR" sz="1800" dirty="0"/>
              <a:t>برای </a:t>
            </a:r>
            <a:r>
              <a:rPr lang="en-US" sz="1800" dirty="0" err="1"/>
              <a:t>inst_info</a:t>
            </a:r>
            <a:r>
              <a:rPr lang="en-US" sz="1800" dirty="0"/>
              <a:t>:</a:t>
            </a:r>
            <a:endParaRPr lang="en-US" altLang="en-US" sz="1700" dirty="0"/>
          </a:p>
          <a:p>
            <a:pPr algn="r" rtl="1">
              <a:buFont typeface="Monotype Sorts" pitchFamily="-84" charset="2"/>
              <a:buNone/>
              <a:tabLst>
                <a:tab pos="2976563" algn="ctr"/>
              </a:tabLst>
            </a:pPr>
            <a:endParaRPr lang="en-US" altLang="en-US" sz="1700" dirty="0"/>
          </a:p>
        </p:txBody>
      </p:sp>
      <p:pic>
        <p:nvPicPr>
          <p:cNvPr id="37892" name="Picture 11" descr="C:\Users\as668\Desktop\Judi-Done\7_100.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57855" y="3648464"/>
            <a:ext cx="3536569" cy="152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8953527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How good is BCNF? (Cont.)</a:t>
            </a:r>
          </a:p>
        </p:txBody>
      </p:sp>
      <p:sp>
        <p:nvSpPr>
          <p:cNvPr id="38914" name="Rectangle 2"/>
          <p:cNvSpPr>
            <a:spLocks noGrp="1" noChangeArrowheads="1"/>
          </p:cNvSpPr>
          <p:nvPr>
            <p:ph idx="1"/>
          </p:nvPr>
        </p:nvSpPr>
        <p:spPr>
          <a:xfrm>
            <a:off x="768350" y="1133475"/>
            <a:ext cx="7594415" cy="2314575"/>
          </a:xfrm>
        </p:spPr>
        <p:txBody>
          <a:bodyPr/>
          <a:lstStyle/>
          <a:p>
            <a:pPr algn="r" rtl="1">
              <a:tabLst>
                <a:tab pos="1993900" algn="l"/>
              </a:tabLst>
            </a:pPr>
            <a:r>
              <a:rPr lang="fa-IR" sz="1800" dirty="0"/>
              <a:t>هیچ وابستگی </a:t>
            </a:r>
            <a:r>
              <a:rPr lang="fa-IR" sz="1800" dirty="0" err="1"/>
              <a:t>تابعی</a:t>
            </a:r>
            <a:r>
              <a:rPr lang="fa-IR" sz="1800" dirty="0"/>
              <a:t> </a:t>
            </a:r>
            <a:r>
              <a:rPr lang="fa-IR" sz="1800" dirty="0" err="1"/>
              <a:t>غیر‌بدیهی‌ای</a:t>
            </a:r>
            <a:r>
              <a:rPr lang="fa-IR" sz="1800" dirty="0"/>
              <a:t> وجود ندارد و بنابراین این رابطه در </a:t>
            </a:r>
            <a:r>
              <a:rPr lang="en-US" sz="1800" dirty="0"/>
              <a:t>BCNF </a:t>
            </a:r>
            <a:r>
              <a:rPr lang="fa-IR" sz="1800" dirty="0"/>
              <a:t>قرار دارد.</a:t>
            </a:r>
            <a:endParaRPr kumimoji="0" lang="fa-IR" sz="1700" dirty="0"/>
          </a:p>
          <a:p>
            <a:pPr algn="r" rtl="1">
              <a:tabLst>
                <a:tab pos="1993900" algn="l"/>
              </a:tabLst>
            </a:pPr>
            <a:r>
              <a:rPr lang="fa-IR" sz="1800" dirty="0" err="1"/>
              <a:t>ناهنجاری‌های</a:t>
            </a:r>
            <a:r>
              <a:rPr lang="fa-IR" sz="1800" dirty="0"/>
              <a:t> درج — یعنی، اگر شماره تلفن </a:t>
            </a:r>
            <a:r>
              <a:rPr lang="fa-IR" dirty="0"/>
              <a:t>981-992-3443</a:t>
            </a:r>
            <a:r>
              <a:rPr lang="fa-IR" sz="1800" dirty="0"/>
              <a:t> را به </a:t>
            </a:r>
            <a:r>
              <a:rPr lang="fa-IR" sz="1800" dirty="0" err="1"/>
              <a:t>شناسه</a:t>
            </a:r>
            <a:r>
              <a:rPr lang="fa-IR" sz="1800" dirty="0"/>
              <a:t> </a:t>
            </a:r>
            <a:r>
              <a:rPr lang="fa-IR" dirty="0"/>
              <a:t>99999</a:t>
            </a:r>
            <a:r>
              <a:rPr lang="fa-IR" sz="1800" dirty="0"/>
              <a:t> اضافه کنیم، مجبوریم دو رکورد اضافه کنیم:</a:t>
            </a:r>
            <a:endParaRPr kumimoji="0" lang="en-US" altLang="en-US" sz="1700" dirty="0"/>
          </a:p>
          <a:p>
            <a:pPr algn="r" rtl="1">
              <a:buFont typeface="Monotype Sorts" pitchFamily="-84" charset="2"/>
              <a:buNone/>
              <a:tabLst>
                <a:tab pos="1993900" algn="l"/>
              </a:tabLst>
            </a:pPr>
            <a:r>
              <a:rPr kumimoji="0" lang="en-US" altLang="en-US" sz="1700" dirty="0"/>
              <a:t>		(99999, David,   981-992-3443)</a:t>
            </a:r>
            <a:br>
              <a:rPr kumimoji="0" lang="en-US" altLang="en-US" sz="1700" dirty="0"/>
            </a:br>
            <a:r>
              <a:rPr kumimoji="0" lang="en-US" altLang="en-US" sz="1700" dirty="0"/>
              <a:t>	(99999, William, 981-992-3443)</a:t>
            </a:r>
            <a:br>
              <a:rPr kumimoji="0" lang="en-US" altLang="en-US" sz="1700" dirty="0"/>
            </a:br>
            <a:endParaRPr kumimoji="0" lang="en-US" altLang="en-US" sz="1700" dirty="0"/>
          </a:p>
        </p:txBody>
      </p:sp>
    </p:spTree>
    <p:extLst>
      <p:ext uri="{BB962C8B-B14F-4D97-AF65-F5344CB8AC3E}">
        <p14:creationId xmlns:p14="http://schemas.microsoft.com/office/powerpoint/2010/main" val="22365846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5310" name="Rectangle 14"/>
          <p:cNvSpPr>
            <a:spLocks noGrp="1" noChangeArrowheads="1"/>
          </p:cNvSpPr>
          <p:nvPr>
            <p:ph type="title"/>
          </p:nvPr>
        </p:nvSpPr>
        <p:spPr>
          <a:xfrm>
            <a:off x="958788" y="119063"/>
            <a:ext cx="7804212" cy="576262"/>
          </a:xfrm>
        </p:spPr>
        <p:txBody>
          <a:bodyPr/>
          <a:lstStyle/>
          <a:p>
            <a:pPr>
              <a:defRPr/>
            </a:pPr>
            <a:r>
              <a:rPr lang="en-US" altLang="en-US" sz="2800" dirty="0">
                <a:effectLst>
                  <a:outerShdw blurRad="38100" dist="38100" dir="2700000" algn="tl">
                    <a:srgbClr val="C0C0C0"/>
                  </a:outerShdw>
                </a:effectLst>
                <a:ea typeface="ＭＳ Ｐゴシック" pitchFamily="34" charset="-128"/>
              </a:rPr>
              <a:t>Higher Normal Forms </a:t>
            </a:r>
          </a:p>
        </p:txBody>
      </p:sp>
      <p:sp>
        <p:nvSpPr>
          <p:cNvPr id="39938" name="Rectangle 2"/>
          <p:cNvSpPr>
            <a:spLocks noGrp="1" noChangeArrowheads="1"/>
          </p:cNvSpPr>
          <p:nvPr>
            <p:ph idx="1"/>
          </p:nvPr>
        </p:nvSpPr>
        <p:spPr>
          <a:xfrm>
            <a:off x="772359" y="1020763"/>
            <a:ext cx="7252558" cy="4646612"/>
          </a:xfrm>
        </p:spPr>
        <p:txBody>
          <a:bodyPr/>
          <a:lstStyle/>
          <a:p>
            <a:pPr algn="r" rtl="1"/>
            <a:r>
              <a:rPr lang="fa-IR" sz="1800" dirty="0"/>
              <a:t>بهتر است </a:t>
            </a:r>
            <a:r>
              <a:rPr lang="fa-IR" sz="1800" dirty="0" err="1"/>
              <a:t>رابطهٔ</a:t>
            </a:r>
            <a:r>
              <a:rPr lang="fa-IR" sz="1800" dirty="0"/>
              <a:t> </a:t>
            </a:r>
            <a:r>
              <a:rPr lang="en-US" sz="1800" b="1" dirty="0" err="1"/>
              <a:t>inst_info</a:t>
            </a:r>
            <a:r>
              <a:rPr lang="en-US" sz="1800" dirty="0"/>
              <a:t> </a:t>
            </a:r>
            <a:r>
              <a:rPr lang="fa-IR" sz="1800" dirty="0"/>
              <a:t>را به شکل زیر تجزیه کنیم:</a:t>
            </a:r>
            <a:endParaRPr lang="en-US" altLang="en-US" sz="1700" dirty="0"/>
          </a:p>
          <a:p>
            <a:pPr lvl="1" algn="r" rtl="1"/>
            <a:r>
              <a:rPr lang="en-US" altLang="en-US" sz="1700" i="1" dirty="0" err="1"/>
              <a:t>inst_child</a:t>
            </a:r>
            <a:r>
              <a:rPr lang="en-US" altLang="en-US" sz="1700" dirty="0"/>
              <a:t>:</a:t>
            </a:r>
          </a:p>
          <a:p>
            <a:pPr lvl="1" algn="r" rtl="1"/>
            <a:endParaRPr lang="en-US" altLang="en-US" sz="1700" dirty="0"/>
          </a:p>
          <a:p>
            <a:pPr lvl="1" algn="r" rtl="1">
              <a:buFont typeface="Monotype Sorts" pitchFamily="-84" charset="2"/>
              <a:buNone/>
            </a:pPr>
            <a:endParaRPr lang="en-US" altLang="en-US" sz="1700" dirty="0"/>
          </a:p>
          <a:p>
            <a:pPr lvl="1" algn="r" rtl="1">
              <a:buFont typeface="Monotype Sorts" pitchFamily="-84" charset="2"/>
              <a:buNone/>
            </a:pPr>
            <a:endParaRPr lang="en-US" altLang="en-US" sz="1700" dirty="0"/>
          </a:p>
          <a:p>
            <a:pPr lvl="1" algn="r" rtl="1"/>
            <a:r>
              <a:rPr lang="en-US" altLang="en-US" sz="1700" i="1" dirty="0" err="1"/>
              <a:t>inst_phone</a:t>
            </a:r>
            <a:r>
              <a:rPr lang="en-US" altLang="en-US" sz="1700" i="1" dirty="0"/>
              <a:t>:</a:t>
            </a:r>
          </a:p>
          <a:p>
            <a:pPr algn="r" rtl="1"/>
            <a:endParaRPr lang="en-US" altLang="en-US" sz="1700" dirty="0"/>
          </a:p>
          <a:p>
            <a:pPr algn="r" rtl="1"/>
            <a:endParaRPr lang="en-US" altLang="en-US" sz="1700" dirty="0"/>
          </a:p>
          <a:p>
            <a:pPr marL="0" indent="0" algn="r" rtl="1">
              <a:buNone/>
            </a:pPr>
            <a:endParaRPr lang="en-US" altLang="en-US" sz="1700" dirty="0"/>
          </a:p>
          <a:p>
            <a:pPr algn="r" rtl="1"/>
            <a:r>
              <a:rPr lang="fa-IR" sz="1800" dirty="0"/>
              <a:t>این موضوع نشان </a:t>
            </a:r>
            <a:r>
              <a:rPr lang="fa-IR" sz="1800" dirty="0" err="1"/>
              <a:t>می‌دهد</a:t>
            </a:r>
            <a:r>
              <a:rPr lang="fa-IR" sz="1800" dirty="0"/>
              <a:t> که به </a:t>
            </a:r>
            <a:r>
              <a:rPr lang="fa-IR" sz="1800" dirty="0" err="1"/>
              <a:t>نرمال‌فرم‌های</a:t>
            </a:r>
            <a:r>
              <a:rPr lang="fa-IR" sz="1800" dirty="0"/>
              <a:t> بالاتری مثل </a:t>
            </a:r>
            <a:r>
              <a:rPr lang="fa-IR" sz="1800" dirty="0" err="1"/>
              <a:t>نرمال‌فرم</a:t>
            </a:r>
            <a:r>
              <a:rPr lang="fa-IR" sz="1800" dirty="0"/>
              <a:t> چهارم</a:t>
            </a:r>
            <a:r>
              <a:rPr lang="en-US" sz="1800" dirty="0"/>
              <a:t>4NF </a:t>
            </a:r>
            <a:r>
              <a:rPr lang="fa-IR" sz="1800" dirty="0"/>
              <a:t>نیاز داریم، که در ادامه با آن آشنا خواهیم شد.</a:t>
            </a:r>
            <a:endParaRPr lang="en-US" altLang="en-US" sz="1700" dirty="0"/>
          </a:p>
        </p:txBody>
      </p:sp>
      <p:pic>
        <p:nvPicPr>
          <p:cNvPr id="39940" name="Picture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182368" y="1835421"/>
            <a:ext cx="1975676" cy="8281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941" name="Picture 3"/>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2206752" y="3299428"/>
            <a:ext cx="1939354" cy="7825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65727520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32F65-38F2-FEFE-2FDD-F85B2E1D17B7}"/>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7AE6B84D-483B-42FE-A663-5A24A3D84638}"/>
              </a:ext>
            </a:extLst>
          </p:cNvPr>
          <p:cNvSpPr>
            <a:spLocks noGrp="1"/>
          </p:cNvSpPr>
          <p:nvPr>
            <p:ph type="title"/>
          </p:nvPr>
        </p:nvSpPr>
        <p:spPr/>
        <p:txBody>
          <a:bodyPr/>
          <a:lstStyle/>
          <a:p>
            <a:r>
              <a:rPr lang="fa-IR" sz="2800" b="1" dirty="0">
                <a:cs typeface="B Nazanin" panose="00000400000000000000" pitchFamily="2" charset="-78"/>
              </a:rPr>
              <a:t>معايب نرمال سازی</a:t>
            </a:r>
            <a:endParaRPr lang="en-US" dirty="0"/>
          </a:p>
        </p:txBody>
      </p:sp>
      <p:sp>
        <p:nvSpPr>
          <p:cNvPr id="3" name="Content Placeholder 2">
            <a:extLst>
              <a:ext uri="{FF2B5EF4-FFF2-40B4-BE49-F238E27FC236}">
                <a16:creationId xmlns:a16="http://schemas.microsoft.com/office/drawing/2014/main" id="{76611E7B-6A14-1A23-B1C1-FABB52DB54E7}"/>
              </a:ext>
            </a:extLst>
          </p:cNvPr>
          <p:cNvSpPr>
            <a:spLocks noGrp="1"/>
          </p:cNvSpPr>
          <p:nvPr>
            <p:ph idx="1"/>
          </p:nvPr>
        </p:nvSpPr>
        <p:spPr/>
        <p:txBody>
          <a:bodyPr>
            <a:normAutofit/>
          </a:bodyPr>
          <a:lstStyle/>
          <a:p>
            <a:pPr algn="r" rtl="1"/>
            <a:r>
              <a:rPr lang="fa-IR" sz="3200" dirty="0">
                <a:cs typeface="B Nazanin" panose="00000400000000000000" pitchFamily="2" charset="-78"/>
              </a:rPr>
              <a:t>نرمال سازی تکنيک مهمی برای طراحی پايگاه داده های کارآمد است اما در ضمنی که افزونگی داده را کاهش می دهد زیرا:</a:t>
            </a:r>
          </a:p>
          <a:p>
            <a:pPr lvl="1" algn="r" rtl="1"/>
            <a:r>
              <a:rPr lang="fa-IR" sz="2800" dirty="0">
                <a:cs typeface="B Nazanin" panose="00000400000000000000" pitchFamily="2" charset="-78"/>
              </a:rPr>
              <a:t> سبب </a:t>
            </a:r>
            <a:r>
              <a:rPr lang="fa-IR" sz="2800" b="1" dirty="0">
                <a:cs typeface="B Nazanin" panose="00000400000000000000" pitchFamily="2" charset="-78"/>
              </a:rPr>
              <a:t>کاهش سرعت اجرای </a:t>
            </a:r>
            <a:r>
              <a:rPr lang="fa-IR" sz="2800" dirty="0">
                <a:cs typeface="B Nazanin" panose="00000400000000000000" pitchFamily="2" charset="-78"/>
              </a:rPr>
              <a:t>سيستم می شود.</a:t>
            </a:r>
          </a:p>
          <a:p>
            <a:pPr lvl="1" algn="r" rtl="1"/>
            <a:r>
              <a:rPr lang="fa-IR" sz="2800" dirty="0">
                <a:cs typeface="B Nazanin" panose="00000400000000000000" pitchFamily="2" charset="-78"/>
              </a:rPr>
              <a:t> درجات بالای نرمال معمولا </a:t>
            </a:r>
            <a:r>
              <a:rPr lang="fa-IR" sz="2800" b="1" dirty="0">
                <a:cs typeface="B Nazanin" panose="00000400000000000000" pitchFamily="2" charset="-78"/>
              </a:rPr>
              <a:t>جدوال بيشتر </a:t>
            </a:r>
            <a:r>
              <a:rPr lang="fa-IR" sz="2800" dirty="0">
                <a:cs typeface="B Nazanin" panose="00000400000000000000" pitchFamily="2" charset="-78"/>
              </a:rPr>
              <a:t>را می </a:t>
            </a:r>
            <a:r>
              <a:rPr lang="fa-IR" sz="2800" dirty="0" err="1">
                <a:cs typeface="B Nazanin" panose="00000400000000000000" pitchFamily="2" charset="-78"/>
              </a:rPr>
              <a:t>طلبند</a:t>
            </a:r>
            <a:r>
              <a:rPr lang="fa-IR" sz="2800" dirty="0">
                <a:cs typeface="B Nazanin" panose="00000400000000000000" pitchFamily="2" charset="-78"/>
              </a:rPr>
              <a:t>.</a:t>
            </a:r>
          </a:p>
          <a:p>
            <a:pPr lvl="1" algn="r" rtl="1"/>
            <a:r>
              <a:rPr lang="fa-IR" sz="2800" dirty="0">
                <a:cs typeface="B Nazanin" panose="00000400000000000000" pitchFamily="2" charset="-78"/>
              </a:rPr>
              <a:t> برای پاسخ به پرس و جوها گاهی بايد </a:t>
            </a:r>
            <a:r>
              <a:rPr lang="fa-IR" sz="2800" b="1" dirty="0">
                <a:cs typeface="B Nazanin" panose="00000400000000000000" pitchFamily="2" charset="-78"/>
              </a:rPr>
              <a:t>کليه جداول تقسيم شده </a:t>
            </a:r>
            <a:r>
              <a:rPr lang="fa-IR" sz="2800" dirty="0">
                <a:cs typeface="B Nazanin" panose="00000400000000000000" pitchFamily="2" charset="-78"/>
              </a:rPr>
              <a:t>دوباره </a:t>
            </a:r>
            <a:r>
              <a:rPr lang="fa-IR" sz="2800" b="1" dirty="0">
                <a:cs typeface="B Nazanin" panose="00000400000000000000" pitchFamily="2" charset="-78"/>
              </a:rPr>
              <a:t>با هم الحاق شوند</a:t>
            </a:r>
          </a:p>
          <a:p>
            <a:pPr lvl="2" algn="r" rtl="1"/>
            <a:r>
              <a:rPr lang="fa-IR" sz="2800" dirty="0">
                <a:cs typeface="B Nazanin" panose="00000400000000000000" pitchFamily="2" charset="-78"/>
              </a:rPr>
              <a:t> در کاربردهائی که زمان پاسخ مهم است (نظير وب) مطلوب نيست.</a:t>
            </a:r>
          </a:p>
          <a:p>
            <a:pPr algn="r"/>
            <a:endParaRPr lang="en-US" sz="3200" dirty="0">
              <a:cs typeface="B Nazanin" panose="00000400000000000000" pitchFamily="2" charset="-78"/>
            </a:endParaRPr>
          </a:p>
        </p:txBody>
      </p:sp>
      <p:sp>
        <p:nvSpPr>
          <p:cNvPr id="5" name="Slide Number Placeholder 4">
            <a:extLst>
              <a:ext uri="{FF2B5EF4-FFF2-40B4-BE49-F238E27FC236}">
                <a16:creationId xmlns:a16="http://schemas.microsoft.com/office/drawing/2014/main" id="{3EE799E7-68C6-C73E-A739-B920ED2D0B5E}"/>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76</a:t>
            </a:fld>
            <a:endParaRPr lang="en-US"/>
          </a:p>
        </p:txBody>
      </p:sp>
    </p:spTree>
    <p:extLst>
      <p:ext uri="{BB962C8B-B14F-4D97-AF65-F5344CB8AC3E}">
        <p14:creationId xmlns:p14="http://schemas.microsoft.com/office/powerpoint/2010/main" val="304383771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CAF647-A6DA-A232-C309-BD94A85C52A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54B16AF-38B1-07DD-F79A-7174DAFFE764}"/>
              </a:ext>
            </a:extLst>
          </p:cNvPr>
          <p:cNvSpPr>
            <a:spLocks noGrp="1"/>
          </p:cNvSpPr>
          <p:nvPr>
            <p:ph type="title"/>
          </p:nvPr>
        </p:nvSpPr>
        <p:spPr/>
        <p:txBody>
          <a:bodyPr/>
          <a:lstStyle/>
          <a:p>
            <a:r>
              <a:rPr lang="fa-IR" sz="2800" b="1" dirty="0">
                <a:cs typeface="B Nazanin" panose="00000400000000000000" pitchFamily="2" charset="-78"/>
              </a:rPr>
              <a:t>معايب نرمال سازی</a:t>
            </a:r>
            <a:endParaRPr lang="en-US" dirty="0"/>
          </a:p>
        </p:txBody>
      </p:sp>
      <p:sp>
        <p:nvSpPr>
          <p:cNvPr id="3" name="Content Placeholder 2">
            <a:extLst>
              <a:ext uri="{FF2B5EF4-FFF2-40B4-BE49-F238E27FC236}">
                <a16:creationId xmlns:a16="http://schemas.microsoft.com/office/drawing/2014/main" id="{A054BA70-E7A3-2FE4-0DE4-6E0618C7F40F}"/>
              </a:ext>
            </a:extLst>
          </p:cNvPr>
          <p:cNvSpPr>
            <a:spLocks noGrp="1"/>
          </p:cNvSpPr>
          <p:nvPr>
            <p:ph idx="1"/>
          </p:nvPr>
        </p:nvSpPr>
        <p:spPr>
          <a:xfrm>
            <a:off x="149225" y="872653"/>
            <a:ext cx="8845549" cy="5315893"/>
          </a:xfrm>
        </p:spPr>
        <p:txBody>
          <a:bodyPr>
            <a:normAutofit/>
          </a:bodyPr>
          <a:lstStyle/>
          <a:p>
            <a:pPr algn="r" rtl="1"/>
            <a:r>
              <a:rPr lang="fa-IR" sz="3200" dirty="0" err="1">
                <a:cs typeface="B Nazanin" panose="00000400000000000000" pitchFamily="2" charset="-78"/>
              </a:rPr>
              <a:t>بالاترين</a:t>
            </a:r>
            <a:r>
              <a:rPr lang="fa-IR" sz="3200" dirty="0">
                <a:cs typeface="B Nazanin" panose="00000400000000000000" pitchFamily="2" charset="-78"/>
              </a:rPr>
              <a:t> سطح نرمال سازی باید با توجه به عمليات کاربردی درنظر گرفته شود:</a:t>
            </a:r>
          </a:p>
          <a:p>
            <a:pPr lvl="1" algn="r" rtl="1"/>
            <a:r>
              <a:rPr lang="fa-IR" sz="2800" dirty="0">
                <a:cs typeface="B Nazanin" panose="00000400000000000000" pitchFamily="2" charset="-78"/>
              </a:rPr>
              <a:t> در پايگاه داده هايی که </a:t>
            </a:r>
            <a:r>
              <a:rPr lang="fa-IR" sz="2800" b="1" dirty="0">
                <a:cs typeface="B Nazanin" panose="00000400000000000000" pitchFamily="2" charset="-78"/>
              </a:rPr>
              <a:t>بيشتر خواندنی </a:t>
            </a:r>
            <a:r>
              <a:rPr lang="fa-IR" sz="2800" dirty="0">
                <a:cs typeface="B Nazanin" panose="00000400000000000000" pitchFamily="2" charset="-78"/>
              </a:rPr>
              <a:t>هستند و افزونگی داده در آنها مشکل </a:t>
            </a:r>
            <a:r>
              <a:rPr lang="fa-IR" sz="2800" b="1" dirty="0">
                <a:cs typeface="B Nazanin" panose="00000400000000000000" pitchFamily="2" charset="-78"/>
              </a:rPr>
              <a:t>حادی</a:t>
            </a:r>
            <a:r>
              <a:rPr lang="fa-IR" sz="2800" dirty="0">
                <a:cs typeface="B Nazanin" panose="00000400000000000000" pitchFamily="2" charset="-78"/>
              </a:rPr>
              <a:t> </a:t>
            </a:r>
            <a:r>
              <a:rPr lang="fa-IR" sz="2800" b="1" dirty="0">
                <a:cs typeface="B Nazanin" panose="00000400000000000000" pitchFamily="2" charset="-78"/>
              </a:rPr>
              <a:t>نيست</a:t>
            </a:r>
            <a:r>
              <a:rPr lang="fa-IR" sz="2800" dirty="0">
                <a:cs typeface="B Nazanin" panose="00000400000000000000" pitchFamily="2" charset="-78"/>
              </a:rPr>
              <a:t>، مانند داده های کاتالوگ يک سايت تجارت الکترونيکی، می توان سطح نرمالسازی را کاهش داد. به اين عمل </a:t>
            </a:r>
            <a:r>
              <a:rPr lang="en-US" sz="2800" b="1" dirty="0">
                <a:cs typeface="B Nazanin" panose="00000400000000000000" pitchFamily="2" charset="-78"/>
              </a:rPr>
              <a:t>denormalization</a:t>
            </a:r>
            <a:r>
              <a:rPr lang="en-US" sz="2800" dirty="0">
                <a:cs typeface="B Nazanin" panose="00000400000000000000" pitchFamily="2" charset="-78"/>
              </a:rPr>
              <a:t> </a:t>
            </a:r>
            <a:r>
              <a:rPr lang="fa-IR" sz="2800" dirty="0">
                <a:cs typeface="B Nazanin" panose="00000400000000000000" pitchFamily="2" charset="-78"/>
              </a:rPr>
              <a:t>می </a:t>
            </a:r>
            <a:r>
              <a:rPr lang="fa-IR" sz="2800" dirty="0" err="1">
                <a:cs typeface="B Nazanin" panose="00000400000000000000" pitchFamily="2" charset="-78"/>
              </a:rPr>
              <a:t>گويند</a:t>
            </a:r>
            <a:r>
              <a:rPr lang="fa-IR" sz="2800" dirty="0">
                <a:cs typeface="B Nazanin" panose="00000400000000000000" pitchFamily="2" charset="-78"/>
              </a:rPr>
              <a:t>.</a:t>
            </a:r>
          </a:p>
          <a:p>
            <a:pPr lvl="1" algn="r" rtl="1"/>
            <a:r>
              <a:rPr lang="fa-IR" sz="2800" dirty="0">
                <a:cs typeface="B Nazanin" panose="00000400000000000000" pitchFamily="2" charset="-78"/>
              </a:rPr>
              <a:t>در کاربردهائی که درگير </a:t>
            </a:r>
            <a:r>
              <a:rPr lang="fa-IR" sz="2800" b="1" dirty="0">
                <a:cs typeface="B Nazanin" panose="00000400000000000000" pitchFamily="2" charset="-78"/>
              </a:rPr>
              <a:t>داده های مهم </a:t>
            </a:r>
            <a:r>
              <a:rPr lang="fa-IR" sz="2800" dirty="0">
                <a:cs typeface="B Nazanin" panose="00000400000000000000" pitchFamily="2" charset="-78"/>
              </a:rPr>
              <a:t>مانند داده های مالی هستند که </a:t>
            </a:r>
            <a:r>
              <a:rPr lang="fa-IR" sz="2800" b="1" dirty="0">
                <a:cs typeface="B Nazanin" panose="00000400000000000000" pitchFamily="2" charset="-78"/>
              </a:rPr>
              <a:t>دائما</a:t>
            </a:r>
            <a:r>
              <a:rPr lang="fa-IR" sz="2800" dirty="0">
                <a:cs typeface="B Nazanin" panose="00000400000000000000" pitchFamily="2" charset="-78"/>
              </a:rPr>
              <a:t> در حال </a:t>
            </a:r>
            <a:r>
              <a:rPr lang="fa-IR" sz="2800" b="1" dirty="0">
                <a:cs typeface="B Nazanin" panose="00000400000000000000" pitchFamily="2" charset="-78"/>
              </a:rPr>
              <a:t>تغييرند</a:t>
            </a:r>
            <a:r>
              <a:rPr lang="fa-IR" sz="2800" dirty="0">
                <a:cs typeface="B Nazanin" panose="00000400000000000000" pitchFamily="2" charset="-78"/>
              </a:rPr>
              <a:t> و بايد سازگار باقی بمانند، احتمالا سعی می شود </a:t>
            </a:r>
            <a:r>
              <a:rPr lang="fa-IR" sz="2800" b="1" dirty="0">
                <a:cs typeface="B Nazanin" panose="00000400000000000000" pitchFamily="2" charset="-78"/>
              </a:rPr>
              <a:t>به سطوح بالاتر نرمال برسند حتی</a:t>
            </a:r>
            <a:r>
              <a:rPr lang="fa-IR" sz="2800" dirty="0">
                <a:cs typeface="B Nazanin" panose="00000400000000000000" pitchFamily="2" charset="-78"/>
              </a:rPr>
              <a:t> </a:t>
            </a:r>
            <a:r>
              <a:rPr lang="fa-IR" sz="2800" b="1" dirty="0">
                <a:cs typeface="B Nazanin" panose="00000400000000000000" pitchFamily="2" charset="-78"/>
              </a:rPr>
              <a:t>اگر سرعت پايگاه داده کم </a:t>
            </a:r>
            <a:r>
              <a:rPr lang="fa-IR" sz="2800" dirty="0">
                <a:cs typeface="B Nazanin" panose="00000400000000000000" pitchFamily="2" charset="-78"/>
              </a:rPr>
              <a:t>شود.</a:t>
            </a:r>
          </a:p>
          <a:p>
            <a:pPr algn="r"/>
            <a:endParaRPr lang="en-US" sz="3200" dirty="0">
              <a:cs typeface="B Nazanin" panose="00000400000000000000" pitchFamily="2" charset="-78"/>
            </a:endParaRPr>
          </a:p>
        </p:txBody>
      </p:sp>
      <p:sp>
        <p:nvSpPr>
          <p:cNvPr id="6" name="Slide Number Placeholder 5">
            <a:extLst>
              <a:ext uri="{FF2B5EF4-FFF2-40B4-BE49-F238E27FC236}">
                <a16:creationId xmlns:a16="http://schemas.microsoft.com/office/drawing/2014/main" id="{D597C497-0696-69D7-93FF-33DE47FB9446}"/>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77</a:t>
            </a:fld>
            <a:endParaRPr lang="en-US"/>
          </a:p>
        </p:txBody>
      </p:sp>
    </p:spTree>
    <p:extLst>
      <p:ext uri="{BB962C8B-B14F-4D97-AF65-F5344CB8AC3E}">
        <p14:creationId xmlns:p14="http://schemas.microsoft.com/office/powerpoint/2010/main" val="222674093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5F50BD-E0FF-CD04-2CDB-1F5C163283F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4B9DCB2-D89E-C33B-8949-8C4271E62C61}"/>
              </a:ext>
            </a:extLst>
          </p:cNvPr>
          <p:cNvSpPr>
            <a:spLocks noGrp="1"/>
          </p:cNvSpPr>
          <p:nvPr>
            <p:ph type="title"/>
          </p:nvPr>
        </p:nvSpPr>
        <p:spPr/>
        <p:txBody>
          <a:bodyPr/>
          <a:lstStyle/>
          <a:p>
            <a:r>
              <a:rPr lang="fa-IR" sz="2800" b="1" dirty="0">
                <a:cs typeface="B Nazanin" panose="00000400000000000000" pitchFamily="2" charset="-78"/>
              </a:rPr>
              <a:t>معايب نرمال سازی</a:t>
            </a:r>
            <a:endParaRPr lang="en-US" dirty="0"/>
          </a:p>
        </p:txBody>
      </p:sp>
      <p:sp>
        <p:nvSpPr>
          <p:cNvPr id="3" name="Content Placeholder 2">
            <a:extLst>
              <a:ext uri="{FF2B5EF4-FFF2-40B4-BE49-F238E27FC236}">
                <a16:creationId xmlns:a16="http://schemas.microsoft.com/office/drawing/2014/main" id="{8EEA3A2C-413E-E533-B56F-4CD726F78D25}"/>
              </a:ext>
            </a:extLst>
          </p:cNvPr>
          <p:cNvSpPr>
            <a:spLocks noGrp="1"/>
          </p:cNvSpPr>
          <p:nvPr>
            <p:ph idx="1"/>
          </p:nvPr>
        </p:nvSpPr>
        <p:spPr>
          <a:xfrm>
            <a:off x="320191" y="1295400"/>
            <a:ext cx="8555839" cy="5288905"/>
          </a:xfrm>
        </p:spPr>
        <p:txBody>
          <a:bodyPr>
            <a:normAutofit/>
          </a:bodyPr>
          <a:lstStyle/>
          <a:p>
            <a:pPr algn="r" rtl="1"/>
            <a:r>
              <a:rPr lang="fa-IR" sz="3200" dirty="0">
                <a:cs typeface="B Nazanin" panose="00000400000000000000" pitchFamily="2" charset="-78"/>
              </a:rPr>
              <a:t>گاهی با توجه به وضعيت ممکن است داده ها از چند پايگاه داده نرمال شده استخراج شوند و در يک انبار داده غير نرمال قرار گيرد. </a:t>
            </a:r>
          </a:p>
          <a:p>
            <a:pPr lvl="1" algn="r" rtl="1"/>
            <a:r>
              <a:rPr lang="fa-IR" sz="3000" dirty="0" err="1">
                <a:cs typeface="B Nazanin" panose="00000400000000000000" pitchFamily="2" charset="-78"/>
              </a:rPr>
              <a:t>اين</a:t>
            </a:r>
            <a:r>
              <a:rPr lang="fa-IR" sz="3000" dirty="0">
                <a:cs typeface="B Nazanin" panose="00000400000000000000" pitchFamily="2" charset="-78"/>
              </a:rPr>
              <a:t> روش برای مخزن داده </a:t>
            </a:r>
            <a:r>
              <a:rPr lang="en-US" sz="3000" b="1" dirty="0">
                <a:cs typeface="B Nazanin" panose="00000400000000000000" pitchFamily="2" charset="-78"/>
              </a:rPr>
              <a:t>Data warehouse </a:t>
            </a:r>
            <a:r>
              <a:rPr lang="fa-IR" sz="3000" dirty="0">
                <a:cs typeface="B Nazanin" panose="00000400000000000000" pitchFamily="2" charset="-78"/>
              </a:rPr>
              <a:t>استاندارد خوبی است.</a:t>
            </a:r>
          </a:p>
          <a:p>
            <a:pPr algn="r"/>
            <a:endParaRPr lang="en-US" sz="3200" dirty="0">
              <a:cs typeface="B Nazanin" panose="00000400000000000000" pitchFamily="2" charset="-78"/>
            </a:endParaRPr>
          </a:p>
        </p:txBody>
      </p:sp>
      <p:sp>
        <p:nvSpPr>
          <p:cNvPr id="8" name="Slide Number Placeholder 7">
            <a:extLst>
              <a:ext uri="{FF2B5EF4-FFF2-40B4-BE49-F238E27FC236}">
                <a16:creationId xmlns:a16="http://schemas.microsoft.com/office/drawing/2014/main" id="{DA1B48FD-C04A-504D-43A5-F7BA530AD6B5}"/>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78</a:t>
            </a:fld>
            <a:endParaRPr lang="en-US"/>
          </a:p>
        </p:txBody>
      </p:sp>
    </p:spTree>
    <p:extLst>
      <p:ext uri="{BB962C8B-B14F-4D97-AF65-F5344CB8AC3E}">
        <p14:creationId xmlns:p14="http://schemas.microsoft.com/office/powerpoint/2010/main" val="393840719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B1BE9-F25C-3D5E-AFB1-C605DEBC33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B4E320-1881-FBE2-6EC9-AFF3A5144695}"/>
              </a:ext>
            </a:extLst>
          </p:cNvPr>
          <p:cNvSpPr>
            <a:spLocks noGrp="1"/>
          </p:cNvSpPr>
          <p:nvPr>
            <p:ph type="title"/>
          </p:nvPr>
        </p:nvSpPr>
        <p:spPr/>
        <p:txBody>
          <a:bodyPr/>
          <a:lstStyle/>
          <a:p>
            <a:r>
              <a:rPr lang="fa-IR" dirty="0"/>
              <a:t>غیرنرمال سازی</a:t>
            </a:r>
            <a:endParaRPr lang="en-US" dirty="0"/>
          </a:p>
        </p:txBody>
      </p:sp>
      <p:sp>
        <p:nvSpPr>
          <p:cNvPr id="3" name="Content Placeholder 2">
            <a:extLst>
              <a:ext uri="{FF2B5EF4-FFF2-40B4-BE49-F238E27FC236}">
                <a16:creationId xmlns:a16="http://schemas.microsoft.com/office/drawing/2014/main" id="{EF77271E-8D9E-312F-677E-19E0EA25AA98}"/>
              </a:ext>
            </a:extLst>
          </p:cNvPr>
          <p:cNvSpPr>
            <a:spLocks noGrp="1"/>
          </p:cNvSpPr>
          <p:nvPr>
            <p:ph idx="1"/>
          </p:nvPr>
        </p:nvSpPr>
        <p:spPr/>
        <p:txBody>
          <a:bodyPr/>
          <a:lstStyle/>
          <a:p>
            <a:pPr marL="0" marR="0" algn="r" rtl="1">
              <a:lnSpc>
                <a:spcPct val="107000"/>
              </a:lnSpc>
              <a:spcBef>
                <a:spcPts val="0"/>
              </a:spcBef>
              <a:spcAft>
                <a:spcPts val="800"/>
              </a:spcAft>
            </a:pPr>
            <a:r>
              <a:rPr lang="ar-SA" sz="1800" b="1" dirty="0">
                <a:effectLst/>
                <a:latin typeface="Calibri" panose="020F0502020204030204" pitchFamily="34" charset="0"/>
                <a:ea typeface="Times New Roman" panose="02020603050405020304" pitchFamily="18" charset="0"/>
              </a:rPr>
              <a:t>سناریو: برنامه تجارت الکترونیک</a:t>
            </a:r>
            <a:endParaRPr lang="en-US" sz="1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rPr>
              <a:t>فرض کنید یک پایگاه داده برای یک پلتفرم تجارت الکترونیک طراحی می‌کنید با ساختار عادی‌شده زیر</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800" b="1" dirty="0">
                <a:effectLst/>
                <a:latin typeface="Calibri" panose="020F0502020204030204" pitchFamily="34" charset="0"/>
                <a:ea typeface="Times New Roman" panose="02020603050405020304" pitchFamily="18" charset="0"/>
              </a:rPr>
              <a:t>جدول محصولات</a:t>
            </a:r>
            <a:r>
              <a:rPr lang="en-US" sz="1800" dirty="0">
                <a:effectLst/>
                <a:latin typeface="Times New Roman" panose="02020603050405020304" pitchFamily="18" charset="0"/>
                <a:ea typeface="Times New Roman" panose="02020603050405020304" pitchFamily="18" charset="0"/>
              </a:rPr>
              <a:t>:</a:t>
            </a:r>
          </a:p>
          <a:p>
            <a:pPr algn="r" rtl="1">
              <a:lnSpc>
                <a:spcPct val="107000"/>
              </a:lnSpc>
              <a:spcBef>
                <a:spcPts val="0"/>
              </a:spcBef>
              <a:spcAft>
                <a:spcPts val="800"/>
              </a:spcAft>
              <a:buFont typeface="+mj-lt"/>
              <a:buAutoNum type="arabicPeriod"/>
              <a:tabLst>
                <a:tab pos="457200" algn="l"/>
              </a:tabLst>
            </a:pPr>
            <a:endParaRPr lang="en-US" sz="1800" b="1" dirty="0">
              <a:latin typeface="Calibri" panose="020F0502020204030204" pitchFamily="34" charset="0"/>
              <a:ea typeface="Times New Roman" panose="02020603050405020304" pitchFamily="18" charset="0"/>
            </a:endParaRPr>
          </a:p>
          <a:p>
            <a:pPr algn="r" rtl="1">
              <a:lnSpc>
                <a:spcPct val="107000"/>
              </a:lnSpc>
              <a:spcBef>
                <a:spcPts val="0"/>
              </a:spcBef>
              <a:spcAft>
                <a:spcPts val="800"/>
              </a:spcAft>
              <a:buFont typeface="+mj-lt"/>
              <a:buAutoNum type="arabicPeriod"/>
              <a:tabLst>
                <a:tab pos="457200" algn="l"/>
              </a:tabLst>
            </a:pPr>
            <a:r>
              <a:rPr lang="ar-SA" sz="1800" b="1" dirty="0">
                <a:effectLst/>
                <a:latin typeface="Calibri" panose="020F0502020204030204" pitchFamily="34" charset="0"/>
                <a:ea typeface="Times New Roman" panose="02020603050405020304" pitchFamily="18" charset="0"/>
              </a:rPr>
              <a:t>جدول دسته‌بندی‌ها</a:t>
            </a:r>
            <a:r>
              <a:rPr lang="en-US" sz="1800" dirty="0">
                <a:effectLst/>
                <a:latin typeface="Times New Roman" panose="02020603050405020304" pitchFamily="18" charset="0"/>
                <a:ea typeface="Times New Roman" panose="02020603050405020304" pitchFamily="18" charset="0"/>
              </a:rPr>
              <a:t>:</a:t>
            </a:r>
          </a:p>
          <a:p>
            <a:pPr algn="r" rtl="1">
              <a:lnSpc>
                <a:spcPct val="107000"/>
              </a:lnSpc>
              <a:spcBef>
                <a:spcPts val="0"/>
              </a:spcBef>
              <a:spcAft>
                <a:spcPts val="800"/>
              </a:spcAft>
              <a:buFont typeface="+mj-lt"/>
              <a:buAutoNum type="arabicPeriod"/>
              <a:tabLst>
                <a:tab pos="457200" algn="l"/>
              </a:tabLst>
            </a:pPr>
            <a:endParaRPr lang="en-US" sz="1800" b="1" dirty="0">
              <a:effectLst/>
              <a:latin typeface="Calibri" panose="020F0502020204030204" pitchFamily="34" charset="0"/>
              <a:ea typeface="Times New Roman" panose="02020603050405020304" pitchFamily="18" charset="0"/>
            </a:endParaRPr>
          </a:p>
          <a:p>
            <a:pPr algn="r" rtl="1">
              <a:lnSpc>
                <a:spcPct val="107000"/>
              </a:lnSpc>
              <a:spcBef>
                <a:spcPts val="0"/>
              </a:spcBef>
              <a:spcAft>
                <a:spcPts val="800"/>
              </a:spcAft>
              <a:buFont typeface="+mj-lt"/>
              <a:buAutoNum type="arabicPeriod"/>
              <a:tabLst>
                <a:tab pos="457200" algn="l"/>
              </a:tabLst>
            </a:pPr>
            <a:r>
              <a:rPr lang="ar-SA" sz="1800" b="1" dirty="0">
                <a:effectLst/>
                <a:latin typeface="Calibri" panose="020F0502020204030204" pitchFamily="34" charset="0"/>
                <a:ea typeface="Times New Roman" panose="02020603050405020304" pitchFamily="18" charset="0"/>
              </a:rPr>
              <a:t>جدول سفارش‌ها</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800"/>
              </a:spcAft>
            </a:pPr>
            <a:r>
              <a:rPr lang="ar-SA" sz="1800" b="1" dirty="0">
                <a:effectLst/>
                <a:latin typeface="Calibri" panose="020F0502020204030204" pitchFamily="34" charset="0"/>
                <a:ea typeface="Times New Roman" panose="02020603050405020304" pitchFamily="18" charset="0"/>
              </a:rPr>
              <a:t>کوئری در ساختار عادی‌شده</a:t>
            </a:r>
            <a:r>
              <a:rPr lang="en-US" sz="1800" b="1"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rPr>
              <a:t>برای تولید گزارشی از سفارش‌ها به همراه نام محصولات و دسته‌بندی آن‌ها، به چندین اتصال نیاز دارید</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effectLst/>
                <a:latin typeface="Courier New" panose="02070309020205020404" pitchFamily="49" charset="0"/>
                <a:ea typeface="Times New Roman" panose="02020603050405020304" pitchFamily="18" charset="0"/>
              </a:rPr>
              <a:t> </a:t>
            </a:r>
            <a:endParaRPr lang="en-US" sz="1800" dirty="0">
              <a:effectLst/>
              <a:latin typeface="Calibri" panose="020F0502020204030204" pitchFamily="34" charset="0"/>
              <a:ea typeface="Calibri" panose="020F0502020204030204" pitchFamily="34" charset="0"/>
            </a:endParaRPr>
          </a:p>
          <a:p>
            <a:pPr marL="0" marR="0" indent="0">
              <a:lnSpc>
                <a:spcPct val="107000"/>
              </a:lnSpc>
              <a:spcBef>
                <a:spcPts val="0"/>
              </a:spcBef>
              <a:spcAft>
                <a:spcPts val="0"/>
              </a:spcAft>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effectLst/>
                <a:latin typeface="Courier New" panose="02070309020205020404" pitchFamily="49" charset="0"/>
                <a:ea typeface="Times New Roman" panose="02020603050405020304" pitchFamily="18" charset="0"/>
              </a:rPr>
              <a:t>SELECT </a:t>
            </a:r>
            <a:r>
              <a:rPr lang="en-US" sz="1800" dirty="0" err="1">
                <a:effectLst/>
                <a:latin typeface="Courier New" panose="02070309020205020404" pitchFamily="49" charset="0"/>
                <a:ea typeface="Times New Roman" panose="02020603050405020304" pitchFamily="18" charset="0"/>
              </a:rPr>
              <a:t>o.OrderID</a:t>
            </a:r>
            <a:r>
              <a:rPr lang="en-US" sz="1800" dirty="0">
                <a:effectLst/>
                <a:latin typeface="Courier New" panose="02070309020205020404" pitchFamily="49" charset="0"/>
                <a:ea typeface="Times New Roman" panose="02020603050405020304" pitchFamily="18" charset="0"/>
              </a:rPr>
              <a:t>, </a:t>
            </a:r>
            <a:r>
              <a:rPr lang="en-US" sz="1800" dirty="0" err="1">
                <a:effectLst/>
                <a:latin typeface="Courier New" panose="02070309020205020404" pitchFamily="49" charset="0"/>
                <a:ea typeface="Times New Roman" panose="02020603050405020304" pitchFamily="18" charset="0"/>
              </a:rPr>
              <a:t>o.CustomerID</a:t>
            </a:r>
            <a:r>
              <a:rPr lang="en-US" sz="1800" dirty="0">
                <a:effectLst/>
                <a:latin typeface="Courier New" panose="02070309020205020404" pitchFamily="49" charset="0"/>
                <a:ea typeface="Times New Roman" panose="02020603050405020304" pitchFamily="18" charset="0"/>
              </a:rPr>
              <a:t>, </a:t>
            </a:r>
            <a:r>
              <a:rPr lang="en-US" sz="1800" dirty="0" err="1">
                <a:effectLst/>
                <a:latin typeface="Courier New" panose="02070309020205020404" pitchFamily="49" charset="0"/>
                <a:ea typeface="Times New Roman" panose="02020603050405020304" pitchFamily="18" charset="0"/>
              </a:rPr>
              <a:t>p.ProductName</a:t>
            </a:r>
            <a:r>
              <a:rPr lang="en-US" sz="1800" dirty="0">
                <a:effectLst/>
                <a:latin typeface="Courier New" panose="02070309020205020404" pitchFamily="49" charset="0"/>
                <a:ea typeface="Times New Roman" panose="02020603050405020304" pitchFamily="18" charset="0"/>
              </a:rPr>
              <a:t>, </a:t>
            </a:r>
            <a:r>
              <a:rPr lang="en-US" sz="1800" dirty="0" err="1">
                <a:effectLst/>
                <a:latin typeface="Courier New" panose="02070309020205020404" pitchFamily="49" charset="0"/>
                <a:ea typeface="Times New Roman" panose="02020603050405020304" pitchFamily="18" charset="0"/>
              </a:rPr>
              <a:t>c.CategoryName</a:t>
            </a:r>
            <a:r>
              <a:rPr lang="en-US" sz="1800" dirty="0">
                <a:effectLst/>
                <a:latin typeface="Courier New" panose="02070309020205020404" pitchFamily="49" charset="0"/>
                <a:ea typeface="Times New Roman" panose="02020603050405020304" pitchFamily="18" charset="0"/>
              </a:rPr>
              <a:t>, </a:t>
            </a:r>
            <a:r>
              <a:rPr lang="en-US" sz="1800" dirty="0" err="1">
                <a:effectLst/>
                <a:latin typeface="Courier New" panose="02070309020205020404" pitchFamily="49" charset="0"/>
                <a:ea typeface="Times New Roman" panose="02020603050405020304" pitchFamily="18" charset="0"/>
              </a:rPr>
              <a:t>o.OrderDate</a:t>
            </a:r>
            <a:endParaRPr lang="en-US" sz="1800" dirty="0">
              <a:effectLst/>
              <a:latin typeface="Calibri" panose="020F0502020204030204" pitchFamily="34" charset="0"/>
              <a:ea typeface="Calibri" panose="020F0502020204030204" pitchFamily="34" charset="0"/>
            </a:endParaRPr>
          </a:p>
          <a:p>
            <a:pPr marL="0" marR="0" indent="0">
              <a:lnSpc>
                <a:spcPct val="107000"/>
              </a:lnSpc>
              <a:spcBef>
                <a:spcPts val="0"/>
              </a:spcBef>
              <a:spcAft>
                <a:spcPts val="0"/>
              </a:spcAft>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effectLst/>
                <a:latin typeface="Courier New" panose="02070309020205020404" pitchFamily="49" charset="0"/>
                <a:ea typeface="Times New Roman" panose="02020603050405020304" pitchFamily="18" charset="0"/>
              </a:rPr>
              <a:t>FROM Orders o</a:t>
            </a:r>
            <a:endParaRPr lang="en-US" sz="1800" dirty="0">
              <a:effectLst/>
              <a:latin typeface="Calibri" panose="020F0502020204030204" pitchFamily="34" charset="0"/>
              <a:ea typeface="Calibri" panose="020F0502020204030204" pitchFamily="34" charset="0"/>
            </a:endParaRPr>
          </a:p>
          <a:p>
            <a:pPr marL="0" marR="0" indent="0">
              <a:lnSpc>
                <a:spcPct val="107000"/>
              </a:lnSpc>
              <a:spcBef>
                <a:spcPts val="0"/>
              </a:spcBef>
              <a:spcAft>
                <a:spcPts val="0"/>
              </a:spcAft>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effectLst/>
                <a:latin typeface="Courier New" panose="02070309020205020404" pitchFamily="49" charset="0"/>
                <a:ea typeface="Times New Roman" panose="02020603050405020304" pitchFamily="18" charset="0"/>
              </a:rPr>
              <a:t>JOIN Products p ON </a:t>
            </a:r>
            <a:r>
              <a:rPr lang="en-US" sz="1800" dirty="0" err="1">
                <a:effectLst/>
                <a:latin typeface="Courier New" panose="02070309020205020404" pitchFamily="49" charset="0"/>
                <a:ea typeface="Times New Roman" panose="02020603050405020304" pitchFamily="18" charset="0"/>
              </a:rPr>
              <a:t>o.ProductID</a:t>
            </a:r>
            <a:r>
              <a:rPr lang="en-US" sz="1800" dirty="0">
                <a:effectLst/>
                <a:latin typeface="Courier New" panose="02070309020205020404" pitchFamily="49" charset="0"/>
                <a:ea typeface="Times New Roman" panose="02020603050405020304" pitchFamily="18" charset="0"/>
              </a:rPr>
              <a:t> = </a:t>
            </a:r>
            <a:r>
              <a:rPr lang="en-US" sz="1800" dirty="0" err="1">
                <a:effectLst/>
                <a:latin typeface="Courier New" panose="02070309020205020404" pitchFamily="49" charset="0"/>
                <a:ea typeface="Times New Roman" panose="02020603050405020304" pitchFamily="18" charset="0"/>
              </a:rPr>
              <a:t>p.ProductID</a:t>
            </a:r>
            <a:endParaRPr lang="en-US" sz="1800" dirty="0">
              <a:effectLst/>
              <a:latin typeface="Calibri" panose="020F0502020204030204" pitchFamily="34" charset="0"/>
              <a:ea typeface="Calibri" panose="020F0502020204030204" pitchFamily="34" charset="0"/>
            </a:endParaRPr>
          </a:p>
          <a:p>
            <a:pPr marL="0" marR="0" indent="0">
              <a:lnSpc>
                <a:spcPct val="107000"/>
              </a:lnSpc>
              <a:spcBef>
                <a:spcPts val="0"/>
              </a:spcBef>
              <a:spcAft>
                <a:spcPts val="0"/>
              </a:spcAft>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effectLst/>
                <a:latin typeface="Courier New" panose="02070309020205020404" pitchFamily="49" charset="0"/>
                <a:ea typeface="Times New Roman" panose="02020603050405020304" pitchFamily="18" charset="0"/>
              </a:rPr>
              <a:t>JOIN Categories c ON </a:t>
            </a:r>
            <a:r>
              <a:rPr lang="en-US" sz="1800" dirty="0" err="1">
                <a:effectLst/>
                <a:latin typeface="Courier New" panose="02070309020205020404" pitchFamily="49" charset="0"/>
                <a:ea typeface="Times New Roman" panose="02020603050405020304" pitchFamily="18" charset="0"/>
              </a:rPr>
              <a:t>p.CategoryID</a:t>
            </a:r>
            <a:r>
              <a:rPr lang="en-US" sz="1800" dirty="0">
                <a:effectLst/>
                <a:latin typeface="Courier New" panose="02070309020205020404" pitchFamily="49" charset="0"/>
                <a:ea typeface="Times New Roman" panose="02020603050405020304" pitchFamily="18" charset="0"/>
              </a:rPr>
              <a:t> = </a:t>
            </a:r>
            <a:r>
              <a:rPr lang="en-US" sz="1800" dirty="0" err="1">
                <a:effectLst/>
                <a:latin typeface="Courier New" panose="02070309020205020404" pitchFamily="49" charset="0"/>
                <a:ea typeface="Times New Roman" panose="02020603050405020304" pitchFamily="18" charset="0"/>
              </a:rPr>
              <a:t>c.CategoryID</a:t>
            </a:r>
            <a:r>
              <a:rPr lang="en-US" sz="1800" dirty="0">
                <a:effectLst/>
                <a:latin typeface="Courier New" panose="02070309020205020404" pitchFamily="49"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0" indent="0" algn="r" rtl="1">
              <a:lnSpc>
                <a:spcPct val="107000"/>
              </a:lnSpc>
              <a:spcBef>
                <a:spcPts val="0"/>
              </a:spcBef>
              <a:spcAft>
                <a:spcPts val="800"/>
              </a:spcAft>
              <a:buNone/>
              <a:tabLst>
                <a:tab pos="457200" algn="l"/>
              </a:tabLst>
            </a:pPr>
            <a:endParaRPr lang="en-US" sz="1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endParaRPr lang="en-US" sz="1800" dirty="0">
              <a:effectLst/>
              <a:latin typeface="Calibri" panose="020F0502020204030204" pitchFamily="34" charset="0"/>
              <a:ea typeface="Calibri" panose="020F0502020204030204" pitchFamily="34" charset="0"/>
            </a:endParaRPr>
          </a:p>
          <a:p>
            <a:endParaRPr lang="en-US" dirty="0"/>
          </a:p>
        </p:txBody>
      </p:sp>
      <p:graphicFrame>
        <p:nvGraphicFramePr>
          <p:cNvPr id="12" name="Table 11">
            <a:extLst>
              <a:ext uri="{FF2B5EF4-FFF2-40B4-BE49-F238E27FC236}">
                <a16:creationId xmlns:a16="http://schemas.microsoft.com/office/drawing/2014/main" id="{3412E0A7-B815-0502-B6AC-F2EA0F659FEA}"/>
              </a:ext>
            </a:extLst>
          </p:cNvPr>
          <p:cNvGraphicFramePr>
            <a:graphicFrameLocks noGrp="1"/>
          </p:cNvGraphicFramePr>
          <p:nvPr/>
        </p:nvGraphicFramePr>
        <p:xfrm>
          <a:off x="111124" y="1993679"/>
          <a:ext cx="3546477" cy="557595"/>
        </p:xfrm>
        <a:graphic>
          <a:graphicData uri="http://schemas.openxmlformats.org/drawingml/2006/table">
            <a:tbl>
              <a:tblPr firstRow="1" firstCol="1" bandRow="1">
                <a:tableStyleId>{ED083AE6-46FA-4A59-8FB0-9F97EB10719F}</a:tableStyleId>
              </a:tblPr>
              <a:tblGrid>
                <a:gridCol w="1182159">
                  <a:extLst>
                    <a:ext uri="{9D8B030D-6E8A-4147-A177-3AD203B41FA5}">
                      <a16:colId xmlns:a16="http://schemas.microsoft.com/office/drawing/2014/main" val="1235473423"/>
                    </a:ext>
                  </a:extLst>
                </a:gridCol>
                <a:gridCol w="1182159">
                  <a:extLst>
                    <a:ext uri="{9D8B030D-6E8A-4147-A177-3AD203B41FA5}">
                      <a16:colId xmlns:a16="http://schemas.microsoft.com/office/drawing/2014/main" val="1202750622"/>
                    </a:ext>
                  </a:extLst>
                </a:gridCol>
                <a:gridCol w="1182159">
                  <a:extLst>
                    <a:ext uri="{9D8B030D-6E8A-4147-A177-3AD203B41FA5}">
                      <a16:colId xmlns:a16="http://schemas.microsoft.com/office/drawing/2014/main" val="4198869385"/>
                    </a:ext>
                  </a:extLst>
                </a:gridCol>
              </a:tblGrid>
              <a:tr h="152400">
                <a:tc>
                  <a:txBody>
                    <a:bodyPr/>
                    <a:lstStyle/>
                    <a:p>
                      <a:pPr marL="0" marR="0" algn="ctr" rtl="1">
                        <a:lnSpc>
                          <a:spcPct val="107000"/>
                        </a:lnSpc>
                        <a:spcBef>
                          <a:spcPts val="0"/>
                        </a:spcBef>
                        <a:spcAft>
                          <a:spcPts val="0"/>
                        </a:spcAft>
                      </a:pPr>
                      <a:r>
                        <a:rPr lang="en-US" sz="1200" dirty="0" err="1">
                          <a:effectLst/>
                        </a:rPr>
                        <a:t>ProductID</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ProductName</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err="1">
                          <a:effectLst/>
                        </a:rPr>
                        <a:t>CategoryID</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218030473"/>
                  </a:ext>
                </a:extLst>
              </a:tr>
              <a:tr h="152400">
                <a:tc>
                  <a:txBody>
                    <a:bodyPr/>
                    <a:lstStyle/>
                    <a:p>
                      <a:pPr marL="0" marR="0" algn="ctr" rtl="1">
                        <a:lnSpc>
                          <a:spcPct val="107000"/>
                        </a:lnSpc>
                        <a:spcBef>
                          <a:spcPts val="0"/>
                        </a:spcBef>
                        <a:spcAft>
                          <a:spcPts val="0"/>
                        </a:spcAft>
                      </a:pPr>
                      <a:r>
                        <a:rPr lang="en-US" sz="1200" dirty="0">
                          <a:effectLst/>
                        </a:rPr>
                        <a:t>101</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Laptop</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1</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699340066"/>
                  </a:ext>
                </a:extLst>
              </a:tr>
              <a:tr h="152400">
                <a:tc>
                  <a:txBody>
                    <a:bodyPr/>
                    <a:lstStyle/>
                    <a:p>
                      <a:pPr marL="0" marR="0" algn="ctr" rtl="1">
                        <a:lnSpc>
                          <a:spcPct val="107000"/>
                        </a:lnSpc>
                        <a:spcBef>
                          <a:spcPts val="0"/>
                        </a:spcBef>
                        <a:spcAft>
                          <a:spcPts val="0"/>
                        </a:spcAft>
                      </a:pPr>
                      <a:r>
                        <a:rPr lang="en-US" sz="1200">
                          <a:effectLst/>
                        </a:rPr>
                        <a:t>102</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Smartphone</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2</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723662244"/>
                  </a:ext>
                </a:extLst>
              </a:tr>
            </a:tbl>
          </a:graphicData>
        </a:graphic>
      </p:graphicFrame>
      <p:graphicFrame>
        <p:nvGraphicFramePr>
          <p:cNvPr id="13" name="Table 12">
            <a:extLst>
              <a:ext uri="{FF2B5EF4-FFF2-40B4-BE49-F238E27FC236}">
                <a16:creationId xmlns:a16="http://schemas.microsoft.com/office/drawing/2014/main" id="{3515C590-C099-4A24-7176-0E0AB9524266}"/>
              </a:ext>
            </a:extLst>
          </p:cNvPr>
          <p:cNvGraphicFramePr>
            <a:graphicFrameLocks noGrp="1"/>
          </p:cNvGraphicFramePr>
          <p:nvPr/>
        </p:nvGraphicFramePr>
        <p:xfrm>
          <a:off x="111124" y="2639189"/>
          <a:ext cx="3546476" cy="557595"/>
        </p:xfrm>
        <a:graphic>
          <a:graphicData uri="http://schemas.openxmlformats.org/drawingml/2006/table">
            <a:tbl>
              <a:tblPr firstRow="1" firstCol="1" bandRow="1">
                <a:tableStyleId>{ED083AE6-46FA-4A59-8FB0-9F97EB10719F}</a:tableStyleId>
              </a:tblPr>
              <a:tblGrid>
                <a:gridCol w="1184276">
                  <a:extLst>
                    <a:ext uri="{9D8B030D-6E8A-4147-A177-3AD203B41FA5}">
                      <a16:colId xmlns:a16="http://schemas.microsoft.com/office/drawing/2014/main" val="1622456379"/>
                    </a:ext>
                  </a:extLst>
                </a:gridCol>
                <a:gridCol w="2362200">
                  <a:extLst>
                    <a:ext uri="{9D8B030D-6E8A-4147-A177-3AD203B41FA5}">
                      <a16:colId xmlns:a16="http://schemas.microsoft.com/office/drawing/2014/main" val="61613750"/>
                    </a:ext>
                  </a:extLst>
                </a:gridCol>
              </a:tblGrid>
              <a:tr h="139362">
                <a:tc>
                  <a:txBody>
                    <a:bodyPr/>
                    <a:lstStyle/>
                    <a:p>
                      <a:pPr marL="0" marR="0" algn="ctr" rtl="1">
                        <a:lnSpc>
                          <a:spcPct val="107000"/>
                        </a:lnSpc>
                        <a:spcBef>
                          <a:spcPts val="0"/>
                        </a:spcBef>
                        <a:spcAft>
                          <a:spcPts val="0"/>
                        </a:spcAft>
                      </a:pPr>
                      <a:r>
                        <a:rPr lang="en-US" sz="1200">
                          <a:effectLst/>
                        </a:rPr>
                        <a:t>CategoryID</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err="1">
                          <a:effectLst/>
                        </a:rPr>
                        <a:t>CategoryName</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87068640"/>
                  </a:ext>
                </a:extLst>
              </a:tr>
              <a:tr h="176443">
                <a:tc>
                  <a:txBody>
                    <a:bodyPr/>
                    <a:lstStyle/>
                    <a:p>
                      <a:pPr marL="0" marR="0" algn="l" rtl="1">
                        <a:lnSpc>
                          <a:spcPct val="107000"/>
                        </a:lnSpc>
                        <a:spcBef>
                          <a:spcPts val="0"/>
                        </a:spcBef>
                        <a:spcAft>
                          <a:spcPts val="0"/>
                        </a:spcAft>
                      </a:pPr>
                      <a:r>
                        <a:rPr lang="en-US" sz="1200">
                          <a:effectLst/>
                        </a:rPr>
                        <a:t>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Electronics</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924559959"/>
                  </a:ext>
                </a:extLst>
              </a:tr>
              <a:tr h="139362">
                <a:tc>
                  <a:txBody>
                    <a:bodyPr/>
                    <a:lstStyle/>
                    <a:p>
                      <a:pPr marL="0" marR="0" algn="l" rtl="1">
                        <a:lnSpc>
                          <a:spcPct val="107000"/>
                        </a:lnSpc>
                        <a:spcBef>
                          <a:spcPts val="0"/>
                        </a:spcBef>
                        <a:spcAft>
                          <a:spcPts val="0"/>
                        </a:spcAft>
                      </a:pPr>
                      <a:r>
                        <a:rPr lang="en-US" sz="1200">
                          <a:effectLst/>
                        </a:rPr>
                        <a:t>2</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Mobile Phones</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571630733"/>
                  </a:ext>
                </a:extLst>
              </a:tr>
            </a:tbl>
          </a:graphicData>
        </a:graphic>
      </p:graphicFrame>
      <p:graphicFrame>
        <p:nvGraphicFramePr>
          <p:cNvPr id="14" name="Table 13">
            <a:extLst>
              <a:ext uri="{FF2B5EF4-FFF2-40B4-BE49-F238E27FC236}">
                <a16:creationId xmlns:a16="http://schemas.microsoft.com/office/drawing/2014/main" id="{5ED08A43-A064-4FB5-7E84-84076662FD64}"/>
              </a:ext>
            </a:extLst>
          </p:cNvPr>
          <p:cNvGraphicFramePr>
            <a:graphicFrameLocks noGrp="1"/>
          </p:cNvGraphicFramePr>
          <p:nvPr/>
        </p:nvGraphicFramePr>
        <p:xfrm>
          <a:off x="111124" y="3307837"/>
          <a:ext cx="3546476" cy="763144"/>
        </p:xfrm>
        <a:graphic>
          <a:graphicData uri="http://schemas.openxmlformats.org/drawingml/2006/table">
            <a:tbl>
              <a:tblPr firstRow="1" firstCol="1" bandRow="1">
                <a:tableStyleId>{616DA210-FB5B-4158-B5E0-FEB733F419BA}</a:tableStyleId>
              </a:tblPr>
              <a:tblGrid>
                <a:gridCol w="886619">
                  <a:extLst>
                    <a:ext uri="{9D8B030D-6E8A-4147-A177-3AD203B41FA5}">
                      <a16:colId xmlns:a16="http://schemas.microsoft.com/office/drawing/2014/main" val="3146431108"/>
                    </a:ext>
                  </a:extLst>
                </a:gridCol>
                <a:gridCol w="886619">
                  <a:extLst>
                    <a:ext uri="{9D8B030D-6E8A-4147-A177-3AD203B41FA5}">
                      <a16:colId xmlns:a16="http://schemas.microsoft.com/office/drawing/2014/main" val="3946736539"/>
                    </a:ext>
                  </a:extLst>
                </a:gridCol>
                <a:gridCol w="886619">
                  <a:extLst>
                    <a:ext uri="{9D8B030D-6E8A-4147-A177-3AD203B41FA5}">
                      <a16:colId xmlns:a16="http://schemas.microsoft.com/office/drawing/2014/main" val="3160786388"/>
                    </a:ext>
                  </a:extLst>
                </a:gridCol>
                <a:gridCol w="886619">
                  <a:extLst>
                    <a:ext uri="{9D8B030D-6E8A-4147-A177-3AD203B41FA5}">
                      <a16:colId xmlns:a16="http://schemas.microsoft.com/office/drawing/2014/main" val="1968294350"/>
                    </a:ext>
                  </a:extLst>
                </a:gridCol>
              </a:tblGrid>
              <a:tr h="278797">
                <a:tc>
                  <a:txBody>
                    <a:bodyPr/>
                    <a:lstStyle/>
                    <a:p>
                      <a:pPr marL="0" marR="0" algn="ctr" rtl="1">
                        <a:lnSpc>
                          <a:spcPct val="107000"/>
                        </a:lnSpc>
                        <a:spcBef>
                          <a:spcPts val="0"/>
                        </a:spcBef>
                        <a:spcAft>
                          <a:spcPts val="0"/>
                        </a:spcAft>
                      </a:pPr>
                      <a:r>
                        <a:rPr lang="en-US" sz="1200">
                          <a:effectLst/>
                        </a:rPr>
                        <a:t>OrderID</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CustomerID</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err="1">
                          <a:effectLst/>
                        </a:rPr>
                        <a:t>ProductID</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err="1">
                          <a:effectLst/>
                        </a:rPr>
                        <a:t>OrderDate</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970366617"/>
                  </a:ext>
                </a:extLst>
              </a:tr>
              <a:tr h="278797">
                <a:tc>
                  <a:txBody>
                    <a:bodyPr/>
                    <a:lstStyle/>
                    <a:p>
                      <a:pPr marL="0" marR="0" algn="ctr" rtl="1">
                        <a:lnSpc>
                          <a:spcPct val="107000"/>
                        </a:lnSpc>
                        <a:spcBef>
                          <a:spcPts val="0"/>
                        </a:spcBef>
                        <a:spcAft>
                          <a:spcPts val="0"/>
                        </a:spcAft>
                      </a:pPr>
                      <a:r>
                        <a:rPr lang="en-US" sz="1200">
                          <a:effectLst/>
                        </a:rPr>
                        <a:t>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201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101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2024-12-01</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383058912"/>
                  </a:ext>
                </a:extLst>
              </a:tr>
            </a:tbl>
          </a:graphicData>
        </a:graphic>
      </p:graphicFrame>
    </p:spTree>
    <p:extLst>
      <p:ext uri="{BB962C8B-B14F-4D97-AF65-F5344CB8AC3E}">
        <p14:creationId xmlns:p14="http://schemas.microsoft.com/office/powerpoint/2010/main" val="271172707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5531D9-C5AC-FFF0-8FEB-90158B81FC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310F2D-B0E5-443E-5871-F42227BD1DF7}"/>
              </a:ext>
            </a:extLst>
          </p:cNvPr>
          <p:cNvSpPr>
            <a:spLocks noGrp="1"/>
          </p:cNvSpPr>
          <p:nvPr>
            <p:ph type="title"/>
          </p:nvPr>
        </p:nvSpPr>
        <p:spPr/>
        <p:txBody>
          <a:bodyPr/>
          <a:lstStyle/>
          <a:p>
            <a:r>
              <a:rPr lang="fa-IR" dirty="0"/>
              <a:t>غیرنرمال سازی</a:t>
            </a:r>
            <a:endParaRPr lang="en-US" dirty="0"/>
          </a:p>
        </p:txBody>
      </p:sp>
      <p:sp>
        <p:nvSpPr>
          <p:cNvPr id="3" name="Content Placeholder 2">
            <a:extLst>
              <a:ext uri="{FF2B5EF4-FFF2-40B4-BE49-F238E27FC236}">
                <a16:creationId xmlns:a16="http://schemas.microsoft.com/office/drawing/2014/main" id="{B4C7C578-4025-B0D4-F808-6AFA6BC4BF76}"/>
              </a:ext>
            </a:extLst>
          </p:cNvPr>
          <p:cNvSpPr>
            <a:spLocks noGrp="1"/>
          </p:cNvSpPr>
          <p:nvPr>
            <p:ph idx="1"/>
          </p:nvPr>
        </p:nvSpPr>
        <p:spPr>
          <a:xfrm>
            <a:off x="76200" y="1066800"/>
            <a:ext cx="8915400" cy="5334000"/>
          </a:xfrm>
        </p:spPr>
        <p:txBody>
          <a:bodyPr/>
          <a:lstStyle/>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rPr>
              <a:t>برای بهینه‌سازی عملکرد، می‌توانید داده‌های دسته‌بندی را مستقیماً در جدول </a:t>
            </a:r>
            <a:r>
              <a:rPr lang="ar-SA" sz="1800" b="1" dirty="0">
                <a:effectLst/>
                <a:latin typeface="Calibri" panose="020F0502020204030204" pitchFamily="34" charset="0"/>
                <a:ea typeface="Times New Roman" panose="02020603050405020304" pitchFamily="18" charset="0"/>
              </a:rPr>
              <a:t>محصولات</a:t>
            </a:r>
            <a:r>
              <a:rPr lang="ar-SA" sz="1800" dirty="0">
                <a:effectLst/>
                <a:latin typeface="Calibri" panose="020F0502020204030204" pitchFamily="34" charset="0"/>
                <a:ea typeface="Times New Roman" panose="02020603050405020304" pitchFamily="18" charset="0"/>
              </a:rPr>
              <a:t> ذخیره کنید و جزئیات محصول و دسته‌بندی را به جدول </a:t>
            </a:r>
            <a:r>
              <a:rPr lang="ar-SA" sz="1800" b="1" dirty="0">
                <a:effectLst/>
                <a:latin typeface="Calibri" panose="020F0502020204030204" pitchFamily="34" charset="0"/>
                <a:ea typeface="Times New Roman" panose="02020603050405020304" pitchFamily="18" charset="0"/>
              </a:rPr>
              <a:t>سفارش‌ها</a:t>
            </a:r>
            <a:r>
              <a:rPr lang="ar-SA" sz="1800" dirty="0">
                <a:effectLst/>
                <a:latin typeface="Calibri" panose="020F0502020204030204" pitchFamily="34" charset="0"/>
                <a:ea typeface="Times New Roman" panose="02020603050405020304" pitchFamily="18" charset="0"/>
              </a:rPr>
              <a:t> اضافه کنید</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800" b="1" dirty="0">
                <a:effectLst/>
                <a:latin typeface="Calibri" panose="020F0502020204030204" pitchFamily="34" charset="0"/>
                <a:ea typeface="Times New Roman" panose="02020603050405020304" pitchFamily="18" charset="0"/>
              </a:rPr>
              <a:t>جدول محصولات </a:t>
            </a:r>
            <a:r>
              <a:rPr lang="fa-IR" sz="1800" b="1" dirty="0">
                <a:effectLst/>
                <a:latin typeface="Calibri" panose="020F0502020204030204" pitchFamily="34" charset="0"/>
                <a:ea typeface="Times New Roman" panose="02020603050405020304" pitchFamily="18" charset="0"/>
              </a:rPr>
              <a:t>غیرنرمال شده</a:t>
            </a:r>
            <a:r>
              <a:rPr lang="en-US" sz="1800" dirty="0">
                <a:effectLst/>
                <a:latin typeface="Times New Roman" panose="02020603050405020304" pitchFamily="18" charset="0"/>
                <a:ea typeface="Times New Roman" panose="02020603050405020304" pitchFamily="18" charset="0"/>
              </a:rPr>
              <a:t>:</a:t>
            </a:r>
            <a:endParaRPr lang="fa-IR" sz="1800" dirty="0">
              <a:effectLst/>
              <a:latin typeface="Times New Roman" panose="02020603050405020304" pitchFamily="18" charset="0"/>
              <a:ea typeface="Times New Roman" panose="02020603050405020304" pitchFamily="18" charset="0"/>
            </a:endParaRPr>
          </a:p>
          <a:p>
            <a:pPr algn="r" rtl="1">
              <a:lnSpc>
                <a:spcPct val="107000"/>
              </a:lnSpc>
              <a:spcBef>
                <a:spcPts val="0"/>
              </a:spcBef>
              <a:spcAft>
                <a:spcPts val="800"/>
              </a:spcAft>
              <a:buFont typeface="+mj-lt"/>
              <a:buAutoNum type="arabicPeriod"/>
              <a:tabLst>
                <a:tab pos="457200" algn="l"/>
              </a:tabLst>
            </a:pPr>
            <a:r>
              <a:rPr lang="ar-SA" sz="1800" b="1" dirty="0">
                <a:effectLst/>
                <a:latin typeface="Calibri" panose="020F0502020204030204" pitchFamily="34" charset="0"/>
                <a:ea typeface="Times New Roman" panose="02020603050405020304" pitchFamily="18" charset="0"/>
              </a:rPr>
              <a:t>جدول سفارش‌ها </a:t>
            </a:r>
            <a:r>
              <a:rPr lang="fa-IR" sz="1800" b="1" dirty="0">
                <a:latin typeface="Calibri" panose="020F0502020204030204" pitchFamily="34" charset="0"/>
                <a:ea typeface="Times New Roman" panose="02020603050405020304" pitchFamily="18" charset="0"/>
              </a:rPr>
              <a:t>غیرنرمال‌شده</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800"/>
              </a:spcAft>
            </a:pPr>
            <a:r>
              <a:rPr lang="ar-SA" sz="1800" b="1" dirty="0">
                <a:effectLst/>
                <a:latin typeface="Calibri" panose="020F0502020204030204" pitchFamily="34" charset="0"/>
                <a:ea typeface="Times New Roman" panose="02020603050405020304" pitchFamily="18" charset="0"/>
              </a:rPr>
              <a:t>مزایای غیرعادی‌سازی</a:t>
            </a:r>
            <a:r>
              <a:rPr lang="en-US" sz="1800" b="1"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800" b="1" dirty="0">
                <a:effectLst/>
                <a:latin typeface="Calibri" panose="020F0502020204030204" pitchFamily="34" charset="0"/>
                <a:ea typeface="Times New Roman" panose="02020603050405020304" pitchFamily="18" charset="0"/>
              </a:rPr>
              <a:t>کوئری‌های ساده‌تر</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457200" marR="0">
              <a:lnSpc>
                <a:spcPct val="107000"/>
              </a:lnSpc>
              <a:spcBef>
                <a:spcPts val="0"/>
              </a:spcBef>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effectLst/>
                <a:latin typeface="Courier New" panose="02070309020205020404" pitchFamily="49" charset="0"/>
                <a:ea typeface="Times New Roman" panose="02020603050405020304" pitchFamily="18" charset="0"/>
              </a:rPr>
              <a:t>SELECT </a:t>
            </a:r>
            <a:r>
              <a:rPr lang="en-US" sz="1800" dirty="0" err="1">
                <a:effectLst/>
                <a:latin typeface="Courier New" panose="02070309020205020404" pitchFamily="49" charset="0"/>
                <a:ea typeface="Times New Roman" panose="02020603050405020304" pitchFamily="18" charset="0"/>
              </a:rPr>
              <a:t>OrderID</a:t>
            </a:r>
            <a:r>
              <a:rPr lang="en-US" sz="1800" dirty="0">
                <a:effectLst/>
                <a:latin typeface="Courier New" panose="02070309020205020404" pitchFamily="49" charset="0"/>
                <a:ea typeface="Times New Roman" panose="02020603050405020304" pitchFamily="18" charset="0"/>
              </a:rPr>
              <a:t>, </a:t>
            </a:r>
            <a:r>
              <a:rPr lang="en-US" sz="1800" dirty="0" err="1">
                <a:effectLst/>
                <a:latin typeface="Courier New" panose="02070309020205020404" pitchFamily="49" charset="0"/>
                <a:ea typeface="Times New Roman" panose="02020603050405020304" pitchFamily="18" charset="0"/>
              </a:rPr>
              <a:t>CustomerID</a:t>
            </a:r>
            <a:r>
              <a:rPr lang="en-US" sz="1800" dirty="0">
                <a:effectLst/>
                <a:latin typeface="Courier New" panose="02070309020205020404" pitchFamily="49" charset="0"/>
                <a:ea typeface="Times New Roman" panose="02020603050405020304" pitchFamily="18" charset="0"/>
              </a:rPr>
              <a:t>, ProductName, </a:t>
            </a:r>
            <a:r>
              <a:rPr lang="en-US" sz="1800" dirty="0" err="1">
                <a:effectLst/>
                <a:latin typeface="Courier New" panose="02070309020205020404" pitchFamily="49" charset="0"/>
                <a:ea typeface="Times New Roman" panose="02020603050405020304" pitchFamily="18" charset="0"/>
              </a:rPr>
              <a:t>CategoryName</a:t>
            </a:r>
            <a:r>
              <a:rPr lang="en-US" sz="1800" dirty="0">
                <a:effectLst/>
                <a:latin typeface="Courier New" panose="02070309020205020404" pitchFamily="49" charset="0"/>
                <a:ea typeface="Times New Roman" panose="02020603050405020304" pitchFamily="18" charset="0"/>
              </a:rPr>
              <a:t>, </a:t>
            </a:r>
            <a:r>
              <a:rPr lang="en-US" sz="1800" dirty="0" err="1">
                <a:effectLst/>
                <a:latin typeface="Courier New" panose="02070309020205020404" pitchFamily="49" charset="0"/>
                <a:ea typeface="Times New Roman" panose="02020603050405020304" pitchFamily="18" charset="0"/>
              </a:rPr>
              <a:t>OrderDate</a:t>
            </a:r>
            <a:r>
              <a:rPr lang="en-US" sz="1800" dirty="0">
                <a:effectLst/>
                <a:latin typeface="Courier New" panose="02070309020205020404" pitchFamily="49" charset="0"/>
                <a:ea typeface="Times New Roman" panose="02020603050405020304" pitchFamily="18" charset="0"/>
              </a:rPr>
              <a:t> FROM Orders;</a:t>
            </a:r>
            <a:endParaRPr lang="en-US" sz="1800" dirty="0">
              <a:effectLst/>
              <a:latin typeface="Calibri" panose="020F0502020204030204" pitchFamily="34" charset="0"/>
              <a:ea typeface="Calibri" panose="020F0502020204030204" pitchFamily="34" charset="0"/>
            </a:endParaRPr>
          </a:p>
          <a:p>
            <a:pPr marL="45720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rPr>
              <a:t>این کوئری هیچ </a:t>
            </a:r>
            <a:r>
              <a:rPr lang="fa-IR" sz="1800" dirty="0">
                <a:effectLst/>
                <a:latin typeface="Calibri" panose="020F0502020204030204" pitchFamily="34" charset="0"/>
                <a:ea typeface="Times New Roman" panose="02020603050405020304" pitchFamily="18" charset="0"/>
              </a:rPr>
              <a:t>پیوندی</a:t>
            </a:r>
            <a:r>
              <a:rPr lang="ar-SA" sz="1800" dirty="0">
                <a:effectLst/>
                <a:latin typeface="Calibri" panose="020F0502020204030204" pitchFamily="34" charset="0"/>
                <a:ea typeface="Times New Roman" panose="02020603050405020304" pitchFamily="18" charset="0"/>
              </a:rPr>
              <a:t> ندارد</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startAt="2"/>
              <a:tabLst>
                <a:tab pos="457200" algn="l"/>
              </a:tabLst>
            </a:pPr>
            <a:r>
              <a:rPr lang="ar-SA" sz="1800" b="1" dirty="0">
                <a:effectLst/>
                <a:latin typeface="Calibri" panose="020F0502020204030204" pitchFamily="34" charset="0"/>
                <a:ea typeface="Times New Roman" panose="02020603050405020304" pitchFamily="18" charset="0"/>
              </a:rPr>
              <a:t>بهبود عملکرد کوئری</a:t>
            </a:r>
            <a:r>
              <a:rPr lang="en-US" sz="1800" dirty="0">
                <a:effectLst/>
                <a:latin typeface="Times New Roman" panose="02020603050405020304" pitchFamily="18" charset="0"/>
                <a:ea typeface="Times New Roman" panose="02020603050405020304" pitchFamily="18" charset="0"/>
              </a:rPr>
              <a:t>: </a:t>
            </a:r>
            <a:r>
              <a:rPr lang="ar-SA" sz="1800" dirty="0">
                <a:effectLst/>
                <a:latin typeface="Calibri" panose="020F0502020204030204" pitchFamily="34" charset="0"/>
                <a:ea typeface="Times New Roman" panose="02020603050405020304" pitchFamily="18" charset="0"/>
              </a:rPr>
              <a:t>از آنجا که اتصالات حذف شده‌اند، بازیابی داده‌ها سریع‌تر انجام می‌شود، به‌ویژه برای مجموعه داده‌های بزرگ در محیط‌های پرترافیک</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800"/>
              </a:spcAft>
            </a:pPr>
            <a:r>
              <a:rPr lang="ar-SA" sz="1800" b="1" dirty="0">
                <a:effectLst/>
                <a:latin typeface="Calibri" panose="020F0502020204030204" pitchFamily="34" charset="0"/>
                <a:ea typeface="Times New Roman" panose="02020603050405020304" pitchFamily="18" charset="0"/>
              </a:rPr>
              <a:t>معایب</a:t>
            </a:r>
            <a:r>
              <a:rPr lang="en-US" sz="1800" b="1"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800" b="1" dirty="0">
                <a:effectLst/>
                <a:latin typeface="Calibri" panose="020F0502020204030204" pitchFamily="34" charset="0"/>
                <a:ea typeface="Times New Roman" panose="02020603050405020304" pitchFamily="18" charset="0"/>
              </a:rPr>
              <a:t>افزونگی</a:t>
            </a:r>
            <a:r>
              <a:rPr lang="en-US" sz="1800" dirty="0">
                <a:effectLst/>
                <a:latin typeface="Times New Roman" panose="02020603050405020304" pitchFamily="18" charset="0"/>
                <a:ea typeface="Times New Roman" panose="02020603050405020304" pitchFamily="18" charset="0"/>
              </a:rPr>
              <a:t>: </a:t>
            </a:r>
            <a:r>
              <a:rPr lang="ar-SA" sz="1800" dirty="0">
                <a:effectLst/>
                <a:latin typeface="Calibri" panose="020F0502020204030204" pitchFamily="34" charset="0"/>
                <a:ea typeface="Times New Roman" panose="02020603050405020304" pitchFamily="18" charset="0"/>
              </a:rPr>
              <a:t>اگر نام دسته‌بندی تغییر کند</a:t>
            </a:r>
            <a:r>
              <a:rPr lang="en-US" sz="1800">
                <a:effectLst/>
                <a:latin typeface="Times New Roman" panose="02020603050405020304" pitchFamily="18" charset="0"/>
                <a:ea typeface="Times New Roman" panose="02020603050405020304" pitchFamily="18" charset="0"/>
              </a:rPr>
              <a:t> </a:t>
            </a:r>
            <a:r>
              <a:rPr lang="ar-SA" sz="1800">
                <a:effectLst/>
                <a:latin typeface="Calibri" panose="020F0502020204030204" pitchFamily="34" charset="0"/>
                <a:ea typeface="Times New Roman" panose="02020603050405020304" pitchFamily="18" charset="0"/>
              </a:rPr>
              <a:t>مثلاً</a:t>
            </a:r>
            <a:r>
              <a:rPr lang="en-US" sz="1800" dirty="0">
                <a:effectLst/>
                <a:latin typeface="Times New Roman" panose="02020603050405020304" pitchFamily="18" charset="0"/>
                <a:ea typeface="Times New Roman" panose="02020603050405020304" pitchFamily="18" charset="0"/>
              </a:rPr>
              <a:t> "Electronics" </a:t>
            </a:r>
            <a:r>
              <a:rPr lang="ar-SA" sz="1800" dirty="0">
                <a:effectLst/>
                <a:latin typeface="Calibri" panose="020F0502020204030204" pitchFamily="34" charset="0"/>
                <a:ea typeface="Times New Roman" panose="02020603050405020304" pitchFamily="18" charset="0"/>
              </a:rPr>
              <a:t>به</a:t>
            </a:r>
            <a:r>
              <a:rPr lang="en-US" sz="1800" dirty="0">
                <a:effectLst/>
                <a:latin typeface="Times New Roman" panose="02020603050405020304" pitchFamily="18" charset="0"/>
                <a:ea typeface="Times New Roman" panose="02020603050405020304" pitchFamily="18" charset="0"/>
              </a:rPr>
              <a:t> "Electronic Devices“ </a:t>
            </a:r>
            <a:r>
              <a:rPr lang="ar-SA" sz="1800" dirty="0">
                <a:effectLst/>
                <a:latin typeface="Calibri" panose="020F0502020204030204" pitchFamily="34" charset="0"/>
                <a:ea typeface="Times New Roman" panose="02020603050405020304" pitchFamily="18" charset="0"/>
              </a:rPr>
              <a:t>، باید در مکان‌های مختلف به‌روزرسانی شود</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800" b="1" dirty="0">
                <a:effectLst/>
                <a:latin typeface="Calibri" panose="020F0502020204030204" pitchFamily="34" charset="0"/>
                <a:ea typeface="Times New Roman" panose="02020603050405020304" pitchFamily="18" charset="0"/>
              </a:rPr>
              <a:t>احتمال ناسازگاری داده‌ها</a:t>
            </a:r>
            <a:r>
              <a:rPr lang="en-US" sz="1800" dirty="0">
                <a:effectLst/>
                <a:latin typeface="Times New Roman" panose="02020603050405020304" pitchFamily="18" charset="0"/>
                <a:ea typeface="Times New Roman" panose="02020603050405020304" pitchFamily="18" charset="0"/>
              </a:rPr>
              <a:t>: </a:t>
            </a:r>
            <a:r>
              <a:rPr lang="ar-SA" sz="1800" dirty="0">
                <a:effectLst/>
                <a:latin typeface="Calibri" panose="020F0502020204030204" pitchFamily="34" charset="0"/>
                <a:ea typeface="Times New Roman" panose="02020603050405020304" pitchFamily="18" charset="0"/>
              </a:rPr>
              <a:t>اگر به‌درستی مدیریت نشود، غیرعادی‌سازی ممکن است منجر به داده‌های ناسازگار شود</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0"/>
              </a:spcAft>
            </a:pPr>
            <a:r>
              <a:rPr lang="en-US" sz="1800" dirty="0">
                <a:effectLst/>
                <a:latin typeface="Times New Roman" panose="02020603050405020304" pitchFamily="18" charset="0"/>
                <a:ea typeface="Times New Roman" panose="02020603050405020304" pitchFamily="18" charset="0"/>
              </a:rPr>
              <a:t> </a:t>
            </a:r>
            <a:endParaRPr lang="en-US" sz="1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endParaRPr lang="en-US" sz="1800" dirty="0">
              <a:effectLst/>
              <a:latin typeface="Calibri" panose="020F0502020204030204" pitchFamily="34" charset="0"/>
              <a:ea typeface="Calibri" panose="020F0502020204030204" pitchFamily="34" charset="0"/>
            </a:endParaRPr>
          </a:p>
        </p:txBody>
      </p:sp>
      <p:graphicFrame>
        <p:nvGraphicFramePr>
          <p:cNvPr id="4" name="Table 3">
            <a:extLst>
              <a:ext uri="{FF2B5EF4-FFF2-40B4-BE49-F238E27FC236}">
                <a16:creationId xmlns:a16="http://schemas.microsoft.com/office/drawing/2014/main" id="{19D23A43-D1A8-2B9B-C83B-0FDC96D8B335}"/>
              </a:ext>
            </a:extLst>
          </p:cNvPr>
          <p:cNvGraphicFramePr>
            <a:graphicFrameLocks noGrp="1"/>
          </p:cNvGraphicFramePr>
          <p:nvPr/>
        </p:nvGraphicFramePr>
        <p:xfrm>
          <a:off x="426720" y="1665096"/>
          <a:ext cx="3812616" cy="722886"/>
        </p:xfrm>
        <a:graphic>
          <a:graphicData uri="http://schemas.openxmlformats.org/drawingml/2006/table">
            <a:tbl>
              <a:tblPr firstRow="1" firstCol="1" bandRow="1">
                <a:tableStyleId>{616DA210-FB5B-4158-B5E0-FEB733F419BA}</a:tableStyleId>
              </a:tblPr>
              <a:tblGrid>
                <a:gridCol w="1005690">
                  <a:extLst>
                    <a:ext uri="{9D8B030D-6E8A-4147-A177-3AD203B41FA5}">
                      <a16:colId xmlns:a16="http://schemas.microsoft.com/office/drawing/2014/main" val="2715011988"/>
                    </a:ext>
                  </a:extLst>
                </a:gridCol>
                <a:gridCol w="1536054">
                  <a:extLst>
                    <a:ext uri="{9D8B030D-6E8A-4147-A177-3AD203B41FA5}">
                      <a16:colId xmlns:a16="http://schemas.microsoft.com/office/drawing/2014/main" val="2671341726"/>
                    </a:ext>
                  </a:extLst>
                </a:gridCol>
                <a:gridCol w="1270872">
                  <a:extLst>
                    <a:ext uri="{9D8B030D-6E8A-4147-A177-3AD203B41FA5}">
                      <a16:colId xmlns:a16="http://schemas.microsoft.com/office/drawing/2014/main" val="4063200182"/>
                    </a:ext>
                  </a:extLst>
                </a:gridCol>
              </a:tblGrid>
              <a:tr h="240962">
                <a:tc>
                  <a:txBody>
                    <a:bodyPr/>
                    <a:lstStyle/>
                    <a:p>
                      <a:pPr marL="0" marR="0" algn="ctr" rtl="1">
                        <a:lnSpc>
                          <a:spcPct val="107000"/>
                        </a:lnSpc>
                        <a:spcBef>
                          <a:spcPts val="0"/>
                        </a:spcBef>
                        <a:spcAft>
                          <a:spcPts val="0"/>
                        </a:spcAft>
                      </a:pPr>
                      <a:r>
                        <a:rPr lang="en-US" sz="1200">
                          <a:effectLst/>
                        </a:rPr>
                        <a:t>ProductID</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ProductName</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CategoryName</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033665246"/>
                  </a:ext>
                </a:extLst>
              </a:tr>
              <a:tr h="240962">
                <a:tc>
                  <a:txBody>
                    <a:bodyPr/>
                    <a:lstStyle/>
                    <a:p>
                      <a:pPr marL="0" marR="0" algn="r" rtl="1">
                        <a:lnSpc>
                          <a:spcPct val="107000"/>
                        </a:lnSpc>
                        <a:spcBef>
                          <a:spcPts val="0"/>
                        </a:spcBef>
                        <a:spcAft>
                          <a:spcPts val="0"/>
                        </a:spcAft>
                      </a:pPr>
                      <a:r>
                        <a:rPr lang="en-US" sz="1200">
                          <a:effectLst/>
                        </a:rPr>
                        <a:t>101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dirty="0">
                          <a:effectLst/>
                        </a:rPr>
                        <a:t>Laptop</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Electronics</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8281518"/>
                  </a:ext>
                </a:extLst>
              </a:tr>
              <a:tr h="240962">
                <a:tc>
                  <a:txBody>
                    <a:bodyPr/>
                    <a:lstStyle/>
                    <a:p>
                      <a:pPr marL="0" marR="0" algn="r" rtl="1">
                        <a:lnSpc>
                          <a:spcPct val="107000"/>
                        </a:lnSpc>
                        <a:spcBef>
                          <a:spcPts val="0"/>
                        </a:spcBef>
                        <a:spcAft>
                          <a:spcPts val="0"/>
                        </a:spcAft>
                      </a:pPr>
                      <a:r>
                        <a:rPr lang="en-US" sz="1200">
                          <a:effectLst/>
                        </a:rPr>
                        <a:t>102</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Smartphone</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dirty="0">
                          <a:effectLst/>
                        </a:rPr>
                        <a:t>Mobile Phones</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293629095"/>
                  </a:ext>
                </a:extLst>
              </a:tr>
            </a:tbl>
          </a:graphicData>
        </a:graphic>
      </p:graphicFrame>
      <p:graphicFrame>
        <p:nvGraphicFramePr>
          <p:cNvPr id="5" name="Table 4">
            <a:extLst>
              <a:ext uri="{FF2B5EF4-FFF2-40B4-BE49-F238E27FC236}">
                <a16:creationId xmlns:a16="http://schemas.microsoft.com/office/drawing/2014/main" id="{E65FDF57-3A6C-F7EA-47E1-74FBA47EE17A}"/>
              </a:ext>
            </a:extLst>
          </p:cNvPr>
          <p:cNvGraphicFramePr>
            <a:graphicFrameLocks noGrp="1"/>
          </p:cNvGraphicFramePr>
          <p:nvPr/>
        </p:nvGraphicFramePr>
        <p:xfrm>
          <a:off x="426720" y="2440585"/>
          <a:ext cx="5029200" cy="567691"/>
        </p:xfrm>
        <a:graphic>
          <a:graphicData uri="http://schemas.openxmlformats.org/drawingml/2006/table">
            <a:tbl>
              <a:tblPr firstRow="1" firstCol="1" bandRow="1">
                <a:tableStyleId>{616DA210-FB5B-4158-B5E0-FEB733F419BA}</a:tableStyleId>
              </a:tblPr>
              <a:tblGrid>
                <a:gridCol w="1005840">
                  <a:extLst>
                    <a:ext uri="{9D8B030D-6E8A-4147-A177-3AD203B41FA5}">
                      <a16:colId xmlns:a16="http://schemas.microsoft.com/office/drawing/2014/main" val="3793962895"/>
                    </a:ext>
                  </a:extLst>
                </a:gridCol>
                <a:gridCol w="1005840">
                  <a:extLst>
                    <a:ext uri="{9D8B030D-6E8A-4147-A177-3AD203B41FA5}">
                      <a16:colId xmlns:a16="http://schemas.microsoft.com/office/drawing/2014/main" val="3845221951"/>
                    </a:ext>
                  </a:extLst>
                </a:gridCol>
                <a:gridCol w="1005840">
                  <a:extLst>
                    <a:ext uri="{9D8B030D-6E8A-4147-A177-3AD203B41FA5}">
                      <a16:colId xmlns:a16="http://schemas.microsoft.com/office/drawing/2014/main" val="238199953"/>
                    </a:ext>
                  </a:extLst>
                </a:gridCol>
                <a:gridCol w="1005840">
                  <a:extLst>
                    <a:ext uri="{9D8B030D-6E8A-4147-A177-3AD203B41FA5}">
                      <a16:colId xmlns:a16="http://schemas.microsoft.com/office/drawing/2014/main" val="2746223179"/>
                    </a:ext>
                  </a:extLst>
                </a:gridCol>
                <a:gridCol w="1005840">
                  <a:extLst>
                    <a:ext uri="{9D8B030D-6E8A-4147-A177-3AD203B41FA5}">
                      <a16:colId xmlns:a16="http://schemas.microsoft.com/office/drawing/2014/main" val="1675421290"/>
                    </a:ext>
                  </a:extLst>
                </a:gridCol>
              </a:tblGrid>
              <a:tr h="186119">
                <a:tc>
                  <a:txBody>
                    <a:bodyPr/>
                    <a:lstStyle/>
                    <a:p>
                      <a:pPr marL="0" marR="0" algn="ctr" rtl="1">
                        <a:lnSpc>
                          <a:spcPct val="107000"/>
                        </a:lnSpc>
                        <a:spcBef>
                          <a:spcPts val="0"/>
                        </a:spcBef>
                        <a:spcAft>
                          <a:spcPts val="0"/>
                        </a:spcAft>
                      </a:pPr>
                      <a:r>
                        <a:rPr lang="en-US" sz="1200">
                          <a:effectLst/>
                        </a:rPr>
                        <a:t>OrderID</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CustomerID</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ProductName</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CategoryName</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OrderDate</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022269398"/>
                  </a:ext>
                </a:extLst>
              </a:tr>
              <a:tr h="186119">
                <a:tc>
                  <a:txBody>
                    <a:bodyPr/>
                    <a:lstStyle/>
                    <a:p>
                      <a:pPr marL="0" marR="0" algn="r" rtl="1">
                        <a:lnSpc>
                          <a:spcPct val="107000"/>
                        </a:lnSpc>
                        <a:spcBef>
                          <a:spcPts val="0"/>
                        </a:spcBef>
                        <a:spcAft>
                          <a:spcPts val="0"/>
                        </a:spcAft>
                      </a:pPr>
                      <a:r>
                        <a:rPr lang="en-US" sz="1200">
                          <a:effectLst/>
                        </a:rPr>
                        <a:t>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201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Laptop</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Electronics</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dirty="0">
                          <a:effectLst/>
                        </a:rPr>
                        <a:t>2024-12-01</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43415204"/>
                  </a:ext>
                </a:extLst>
              </a:tr>
            </a:tbl>
          </a:graphicData>
        </a:graphic>
      </p:graphicFrame>
    </p:spTree>
    <p:extLst>
      <p:ext uri="{BB962C8B-B14F-4D97-AF65-F5344CB8AC3E}">
        <p14:creationId xmlns:p14="http://schemas.microsoft.com/office/powerpoint/2010/main" val="427578011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95" name="Rectangle 3"/>
          <p:cNvSpPr>
            <a:spLocks noGrp="1" noChangeArrowheads="1"/>
          </p:cNvSpPr>
          <p:nvPr>
            <p:ph idx="1"/>
          </p:nvPr>
        </p:nvSpPr>
        <p:spPr>
          <a:xfrm>
            <a:off x="1670067" y="2927700"/>
            <a:ext cx="6364461" cy="607980"/>
          </a:xfrm>
        </p:spPr>
        <p:txBody>
          <a:bodyPr/>
          <a:lstStyle/>
          <a:p>
            <a:pPr algn="ctr">
              <a:buFont typeface="Monotype Sorts" charset="2"/>
              <a:buNone/>
              <a:defRPr/>
            </a:pPr>
            <a:r>
              <a:rPr lang="fa-IR" sz="3200" dirty="0"/>
              <a:t>نظریه وابستگی </a:t>
            </a:r>
            <a:r>
              <a:rPr lang="fa-IR" sz="3200" dirty="0" err="1"/>
              <a:t>تابعی</a:t>
            </a:r>
            <a:endParaRPr lang="en-US" altLang="en-US" sz="3200" b="1" dirty="0">
              <a:solidFill>
                <a:srgbClr val="002060"/>
              </a:solidFill>
              <a:effectLst>
                <a:outerShdw blurRad="38100" dist="38100" dir="2700000" algn="tl">
                  <a:srgbClr val="C0C0C0"/>
                </a:outerShdw>
              </a:effectLst>
              <a:latin typeface="+mj-lt"/>
              <a:ea typeface="ＭＳ Ｐゴシック" pitchFamily="34" charset="-128"/>
              <a:cs typeface="+mj-cs"/>
            </a:endParaRPr>
          </a:p>
        </p:txBody>
      </p:sp>
    </p:spTree>
    <p:extLst>
      <p:ext uri="{BB962C8B-B14F-4D97-AF65-F5344CB8AC3E}">
        <p14:creationId xmlns:p14="http://schemas.microsoft.com/office/powerpoint/2010/main" val="2254219019"/>
      </p:ext>
    </p:extLst>
  </p:cSld>
  <p:clrMapOvr>
    <a:masterClrMapping/>
  </p:clrMapOvr>
  <p:transition spd="slow"/>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7346"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Functional-Dependency Theory Roadmap</a:t>
            </a:r>
          </a:p>
        </p:txBody>
      </p:sp>
      <p:sp>
        <p:nvSpPr>
          <p:cNvPr id="41987" name="Rectangle 3"/>
          <p:cNvSpPr>
            <a:spLocks noGrp="1" noChangeArrowheads="1"/>
          </p:cNvSpPr>
          <p:nvPr>
            <p:ph idx="1"/>
          </p:nvPr>
        </p:nvSpPr>
        <p:spPr>
          <a:xfrm>
            <a:off x="768351" y="1123950"/>
            <a:ext cx="7523394" cy="2365208"/>
          </a:xfrm>
        </p:spPr>
        <p:txBody>
          <a:bodyPr/>
          <a:lstStyle/>
          <a:p>
            <a:pPr algn="r" rtl="1"/>
            <a:r>
              <a:rPr lang="fa-IR" dirty="0"/>
              <a:t>حالا به نظریه رسمی </a:t>
            </a:r>
            <a:r>
              <a:rPr lang="fa-IR" dirty="0" err="1"/>
              <a:t>می‌پردازیم</a:t>
            </a:r>
            <a:r>
              <a:rPr lang="fa-IR" dirty="0"/>
              <a:t> که مشخص </a:t>
            </a:r>
            <a:r>
              <a:rPr lang="fa-IR" dirty="0" err="1"/>
              <a:t>می‌کند</a:t>
            </a:r>
            <a:r>
              <a:rPr lang="fa-IR" dirty="0"/>
              <a:t> کدام </a:t>
            </a:r>
            <a:r>
              <a:rPr lang="fa-IR" dirty="0" err="1"/>
              <a:t>وابستگی‌های</a:t>
            </a:r>
            <a:r>
              <a:rPr lang="fa-IR" dirty="0"/>
              <a:t> </a:t>
            </a:r>
            <a:r>
              <a:rPr lang="fa-IR" dirty="0" err="1"/>
              <a:t>تابعی</a:t>
            </a:r>
            <a:r>
              <a:rPr lang="fa-IR" dirty="0"/>
              <a:t> </a:t>
            </a:r>
            <a:r>
              <a:rPr lang="fa-IR" dirty="0" err="1"/>
              <a:t>به‌صورت</a:t>
            </a:r>
            <a:r>
              <a:rPr lang="fa-IR" dirty="0"/>
              <a:t> منطقی از یک مجموعه وابستگی </a:t>
            </a:r>
            <a:r>
              <a:rPr lang="fa-IR" dirty="0" err="1"/>
              <a:t>تابعی</a:t>
            </a:r>
            <a:r>
              <a:rPr lang="fa-IR" dirty="0"/>
              <a:t> نتیجه </a:t>
            </a:r>
            <a:r>
              <a:rPr lang="fa-IR" dirty="0" err="1"/>
              <a:t>می‌شوند</a:t>
            </a:r>
            <a:r>
              <a:rPr lang="fa-IR" dirty="0"/>
              <a:t>.</a:t>
            </a:r>
            <a:endParaRPr lang="en-US" altLang="en-US" dirty="0"/>
          </a:p>
          <a:p>
            <a:pPr algn="r" rtl="1"/>
            <a:r>
              <a:rPr lang="fa-IR" dirty="0"/>
              <a:t>سپس </a:t>
            </a:r>
            <a:r>
              <a:rPr lang="fa-IR" dirty="0" err="1"/>
              <a:t>الگوریتم‌هایی</a:t>
            </a:r>
            <a:r>
              <a:rPr lang="fa-IR" dirty="0"/>
              <a:t> را ارائه </a:t>
            </a:r>
            <a:r>
              <a:rPr lang="fa-IR" dirty="0" err="1"/>
              <a:t>می‌کنیم</a:t>
            </a:r>
            <a:r>
              <a:rPr lang="fa-IR" dirty="0"/>
              <a:t> که </a:t>
            </a:r>
            <a:r>
              <a:rPr lang="fa-IR" dirty="0" err="1"/>
              <a:t>تجزیه‌های</a:t>
            </a:r>
            <a:r>
              <a:rPr lang="fa-IR" dirty="0"/>
              <a:t> </a:t>
            </a:r>
            <a:r>
              <a:rPr lang="fa-IR" dirty="0" err="1"/>
              <a:t>بی‌اتلاف</a:t>
            </a:r>
            <a:r>
              <a:rPr lang="fa-IR" dirty="0"/>
              <a:t> به </a:t>
            </a:r>
            <a:r>
              <a:rPr lang="en-US" dirty="0"/>
              <a:t>BCNF </a:t>
            </a:r>
            <a:r>
              <a:rPr lang="fa-IR" dirty="0"/>
              <a:t>و</a:t>
            </a:r>
            <a:r>
              <a:rPr lang="en-US" dirty="0"/>
              <a:t>3NF </a:t>
            </a:r>
            <a:r>
              <a:rPr lang="fa-IR" dirty="0"/>
              <a:t>تولید </a:t>
            </a:r>
            <a:r>
              <a:rPr lang="fa-IR" dirty="0" err="1"/>
              <a:t>می‌کنند</a:t>
            </a:r>
            <a:r>
              <a:rPr lang="fa-IR" dirty="0"/>
              <a:t>.</a:t>
            </a:r>
            <a:endParaRPr lang="en-US" dirty="0"/>
          </a:p>
          <a:p>
            <a:pPr algn="r" rtl="1"/>
            <a:r>
              <a:rPr lang="fa-IR" dirty="0"/>
              <a:t>سپس </a:t>
            </a:r>
            <a:r>
              <a:rPr lang="fa-IR" dirty="0" err="1"/>
              <a:t>الگوریتم‌هایی</a:t>
            </a:r>
            <a:r>
              <a:rPr lang="fa-IR" dirty="0"/>
              <a:t> را ارائه </a:t>
            </a:r>
            <a:r>
              <a:rPr lang="fa-IR" dirty="0" err="1"/>
              <a:t>می‌کنیم</a:t>
            </a:r>
            <a:r>
              <a:rPr lang="fa-IR" dirty="0"/>
              <a:t> تا بررسی کنیم آیا یک تجزیه، </a:t>
            </a:r>
            <a:r>
              <a:rPr lang="fa-IR" dirty="0" err="1"/>
              <a:t>وابستگی‌ها</a:t>
            </a:r>
            <a:r>
              <a:rPr lang="fa-IR" dirty="0"/>
              <a:t> را حفظ </a:t>
            </a:r>
            <a:r>
              <a:rPr lang="fa-IR" dirty="0" err="1"/>
              <a:t>می‌کند</a:t>
            </a:r>
            <a:r>
              <a:rPr lang="fa-IR" dirty="0"/>
              <a:t> یا نه.</a:t>
            </a:r>
            <a:endParaRPr lang="en-US" alt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9394" name="Rectangle 2"/>
          <p:cNvSpPr>
            <a:spLocks noGrp="1" noChangeArrowheads="1"/>
          </p:cNvSpPr>
          <p:nvPr>
            <p:ph type="title"/>
          </p:nvPr>
        </p:nvSpPr>
        <p:spPr>
          <a:xfrm>
            <a:off x="882234" y="302796"/>
            <a:ext cx="7924800" cy="457200"/>
          </a:xfrm>
        </p:spPr>
        <p:txBody>
          <a:bodyPr/>
          <a:lstStyle/>
          <a:p>
            <a:pPr>
              <a:defRPr/>
            </a:pPr>
            <a:r>
              <a:rPr lang="en-US" altLang="en-US" sz="2800" dirty="0">
                <a:effectLst>
                  <a:outerShdw blurRad="38100" dist="38100" dir="2700000" algn="tl">
                    <a:srgbClr val="C0C0C0"/>
                  </a:outerShdw>
                </a:effectLst>
                <a:ea typeface="ＭＳ Ｐゴシック" pitchFamily="34" charset="-128"/>
              </a:rPr>
              <a:t>Closure of a Set of Functional Dependencies</a:t>
            </a:r>
          </a:p>
        </p:txBody>
      </p:sp>
      <p:sp>
        <p:nvSpPr>
          <p:cNvPr id="43011" name="Rectangle 3"/>
          <p:cNvSpPr>
            <a:spLocks noGrp="1" noChangeArrowheads="1"/>
          </p:cNvSpPr>
          <p:nvPr>
            <p:ph idx="1"/>
          </p:nvPr>
        </p:nvSpPr>
        <p:spPr>
          <a:xfrm>
            <a:off x="772357" y="1137711"/>
            <a:ext cx="7705817" cy="3008404"/>
          </a:xfrm>
        </p:spPr>
        <p:txBody>
          <a:bodyPr/>
          <a:lstStyle/>
          <a:p>
            <a:pPr algn="r" rtl="1"/>
            <a:r>
              <a:rPr lang="fa-IR" dirty="0"/>
              <a:t>اگر </a:t>
            </a:r>
            <a:r>
              <a:rPr lang="fa-IR" dirty="0" err="1"/>
              <a:t>مجموعه‌ای</a:t>
            </a:r>
            <a:r>
              <a:rPr lang="fa-IR" dirty="0"/>
              <a:t> </a:t>
            </a:r>
            <a:r>
              <a:rPr lang="en-US" dirty="0"/>
              <a:t>F </a:t>
            </a:r>
            <a:r>
              <a:rPr lang="fa-IR" dirty="0"/>
              <a:t>از </a:t>
            </a:r>
            <a:r>
              <a:rPr lang="fa-IR" dirty="0" err="1"/>
              <a:t>وابستگی‌های</a:t>
            </a:r>
            <a:r>
              <a:rPr lang="fa-IR" dirty="0"/>
              <a:t> </a:t>
            </a:r>
            <a:r>
              <a:rPr lang="fa-IR" dirty="0" err="1"/>
              <a:t>تابعی</a:t>
            </a:r>
            <a:r>
              <a:rPr lang="fa-IR" dirty="0"/>
              <a:t> داشته باشیم، </a:t>
            </a:r>
            <a:r>
              <a:rPr lang="fa-IR" dirty="0" err="1"/>
              <a:t>یک‌سری</a:t>
            </a:r>
            <a:r>
              <a:rPr lang="fa-IR" dirty="0"/>
              <a:t> </a:t>
            </a:r>
            <a:r>
              <a:rPr lang="fa-IR" dirty="0" err="1"/>
              <a:t>وابستگی‌های</a:t>
            </a:r>
            <a:r>
              <a:rPr lang="fa-IR" dirty="0"/>
              <a:t> </a:t>
            </a:r>
            <a:r>
              <a:rPr lang="fa-IR" dirty="0" err="1"/>
              <a:t>تابعی</a:t>
            </a:r>
            <a:r>
              <a:rPr lang="fa-IR" dirty="0"/>
              <a:t> دیگر هم وجود دارند که </a:t>
            </a:r>
            <a:r>
              <a:rPr lang="fa-IR" dirty="0" err="1"/>
              <a:t>به‌صورت</a:t>
            </a:r>
            <a:r>
              <a:rPr lang="fa-IR" dirty="0"/>
              <a:t> منطقی از </a:t>
            </a:r>
            <a:r>
              <a:rPr lang="en-US" dirty="0"/>
              <a:t>F </a:t>
            </a:r>
            <a:r>
              <a:rPr lang="fa-IR" dirty="0"/>
              <a:t>نتیجه </a:t>
            </a:r>
            <a:r>
              <a:rPr lang="fa-IR" dirty="0" err="1"/>
              <a:t>می‌شوند</a:t>
            </a:r>
            <a:r>
              <a:rPr lang="fa-IR" dirty="0"/>
              <a:t>.</a:t>
            </a:r>
            <a:endParaRPr lang="en-US" altLang="en-US" dirty="0"/>
          </a:p>
          <a:p>
            <a:pPr lvl="1" algn="r" rtl="1"/>
            <a:r>
              <a:rPr lang="en-US" altLang="en-US" dirty="0"/>
              <a:t> </a:t>
            </a:r>
            <a:r>
              <a:rPr lang="fa-IR" altLang="en-US" dirty="0"/>
              <a:t>اگر</a:t>
            </a:r>
            <a:r>
              <a:rPr lang="en-US" altLang="en-US" dirty="0"/>
              <a:t> </a:t>
            </a:r>
            <a:r>
              <a:rPr lang="en-US" altLang="en-US" i="1" dirty="0"/>
              <a:t>A</a:t>
            </a:r>
            <a:r>
              <a:rPr lang="en-US" altLang="en-US" dirty="0"/>
              <a:t>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B</a:t>
            </a:r>
            <a:r>
              <a:rPr lang="en-US" altLang="en-US" dirty="0">
                <a:sym typeface="Monotype Sorts" pitchFamily="-84" charset="2"/>
              </a:rPr>
              <a:t> and  </a:t>
            </a:r>
            <a:r>
              <a:rPr lang="en-US" altLang="en-US" i="1" dirty="0">
                <a:sym typeface="Monotype Sorts" pitchFamily="-84" charset="2"/>
              </a:rPr>
              <a:t>B</a:t>
            </a:r>
            <a:r>
              <a:rPr lang="en-US" altLang="en-US" dirty="0">
                <a:sym typeface="Monotype Sorts" pitchFamily="-84" charset="2"/>
              </a:rPr>
              <a:t>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C</a:t>
            </a:r>
            <a:r>
              <a:rPr lang="en-US" altLang="en-US" dirty="0">
                <a:sym typeface="Monotype Sorts" pitchFamily="-84" charset="2"/>
              </a:rPr>
              <a:t>, </a:t>
            </a:r>
            <a:r>
              <a:rPr lang="fa-IR" dirty="0" err="1"/>
              <a:t>می‌توان</a:t>
            </a:r>
            <a:r>
              <a:rPr lang="fa-IR" dirty="0"/>
              <a:t> نتیجه گرفت که</a:t>
            </a:r>
            <a:r>
              <a:rPr lang="en-US" altLang="en-US" i="1" dirty="0">
                <a:sym typeface="Monotype Sorts" pitchFamily="-84" charset="2"/>
              </a:rPr>
              <a:t>A</a:t>
            </a:r>
            <a:r>
              <a:rPr lang="en-US" altLang="en-US" dirty="0">
                <a:sym typeface="Monotype Sorts" pitchFamily="-84" charset="2"/>
              </a:rPr>
              <a:t> </a:t>
            </a:r>
            <a:r>
              <a:rPr lang="en-US" altLang="en-US" dirty="0">
                <a:sym typeface="Symbol" panose="05050102010706020507" pitchFamily="18" charset="2"/>
              </a:rPr>
              <a:t></a:t>
            </a:r>
            <a:r>
              <a:rPr lang="en-US" altLang="en-US" dirty="0">
                <a:sym typeface="Monotype Sorts" pitchFamily="-84" charset="2"/>
              </a:rPr>
              <a:t> C</a:t>
            </a:r>
          </a:p>
          <a:p>
            <a:pPr lvl="1" algn="r" rtl="1"/>
            <a:r>
              <a:rPr lang="fa-IR" altLang="en-US" dirty="0">
                <a:sym typeface="Monotype Sorts" pitchFamily="-84" charset="2"/>
              </a:rPr>
              <a:t>و…</a:t>
            </a:r>
            <a:endParaRPr lang="en-US" altLang="en-US" dirty="0"/>
          </a:p>
          <a:p>
            <a:pPr algn="r" rtl="1"/>
            <a:r>
              <a:rPr lang="fa-IR" dirty="0"/>
              <a:t>مجموعه تمام </a:t>
            </a:r>
            <a:r>
              <a:rPr lang="fa-IR" dirty="0" err="1"/>
              <a:t>وابستگی‌های</a:t>
            </a:r>
            <a:r>
              <a:rPr lang="fa-IR" dirty="0"/>
              <a:t> </a:t>
            </a:r>
            <a:r>
              <a:rPr lang="fa-IR" dirty="0" err="1"/>
              <a:t>تابعی</a:t>
            </a:r>
            <a:r>
              <a:rPr lang="fa-IR" dirty="0"/>
              <a:t> که </a:t>
            </a:r>
            <a:r>
              <a:rPr lang="fa-IR" dirty="0" err="1"/>
              <a:t>به‌صورت</a:t>
            </a:r>
            <a:r>
              <a:rPr lang="fa-IR" dirty="0"/>
              <a:t> منطقی از </a:t>
            </a:r>
            <a:r>
              <a:rPr lang="en-US" dirty="0"/>
              <a:t>F </a:t>
            </a:r>
            <a:r>
              <a:rPr lang="fa-IR" dirty="0" err="1"/>
              <a:t>به‌دست</a:t>
            </a:r>
            <a:r>
              <a:rPr lang="fa-IR" dirty="0"/>
              <a:t> </a:t>
            </a:r>
            <a:r>
              <a:rPr lang="fa-IR" dirty="0" err="1"/>
              <a:t>می‌آیند</a:t>
            </a:r>
            <a:r>
              <a:rPr lang="fa-IR" dirty="0"/>
              <a:t>، </a:t>
            </a:r>
            <a:r>
              <a:rPr lang="fa-IR" dirty="0" err="1"/>
              <a:t>بستارِ</a:t>
            </a:r>
            <a:r>
              <a:rPr lang="fa-IR" dirty="0"/>
              <a:t> </a:t>
            </a:r>
            <a:r>
              <a:rPr lang="en-US" dirty="0"/>
              <a:t>F </a:t>
            </a:r>
            <a:r>
              <a:rPr lang="fa-IR" dirty="0"/>
              <a:t>نامیده </a:t>
            </a:r>
            <a:r>
              <a:rPr lang="fa-IR" dirty="0" err="1"/>
              <a:t>می‌شود</a:t>
            </a:r>
            <a:r>
              <a:rPr lang="fa-IR" dirty="0"/>
              <a:t>.</a:t>
            </a:r>
          </a:p>
          <a:p>
            <a:pPr algn="r" rtl="1"/>
            <a:r>
              <a:rPr lang="fa-IR" dirty="0" err="1"/>
              <a:t>بستارِ</a:t>
            </a:r>
            <a:r>
              <a:rPr lang="fa-IR" dirty="0"/>
              <a:t> </a:t>
            </a:r>
            <a:r>
              <a:rPr lang="en-US" dirty="0"/>
              <a:t>F </a:t>
            </a:r>
            <a:r>
              <a:rPr lang="fa-IR" dirty="0"/>
              <a:t>را با نماد </a:t>
            </a:r>
            <a:r>
              <a:rPr lang="en-US" b="1" dirty="0"/>
              <a:t>F+</a:t>
            </a:r>
            <a:r>
              <a:rPr lang="en-US" dirty="0"/>
              <a:t> </a:t>
            </a:r>
            <a:r>
              <a:rPr lang="fa-IR" dirty="0"/>
              <a:t>نمایش </a:t>
            </a:r>
            <a:r>
              <a:rPr lang="fa-IR" dirty="0" err="1"/>
              <a:t>می‌دهیم</a:t>
            </a:r>
            <a:r>
              <a:rPr lang="fa-IR" dirty="0"/>
              <a:t>.</a:t>
            </a:r>
            <a:endParaRPr lang="en-US" altLang="en-US" i="1" dirty="0">
              <a:solidFill>
                <a:srgbClr val="000099"/>
              </a:solidFill>
            </a:endParaRPr>
          </a:p>
          <a:p>
            <a:pPr algn="r" rtl="1"/>
            <a:endParaRPr lang="en-US" altLang="en-US" dirty="0">
              <a:sym typeface="Greek Symbols"/>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22" name="Rectangle 2"/>
          <p:cNvSpPr>
            <a:spLocks noGrp="1" noChangeArrowheads="1"/>
          </p:cNvSpPr>
          <p:nvPr>
            <p:ph type="title"/>
          </p:nvPr>
        </p:nvSpPr>
        <p:spPr>
          <a:xfrm>
            <a:off x="977900" y="304800"/>
            <a:ext cx="7924800" cy="457200"/>
          </a:xfrm>
        </p:spPr>
        <p:txBody>
          <a:bodyPr/>
          <a:lstStyle/>
          <a:p>
            <a:pPr>
              <a:defRPr/>
            </a:pPr>
            <a:r>
              <a:rPr lang="en-US" altLang="en-US" sz="2800" dirty="0">
                <a:effectLst>
                  <a:outerShdw blurRad="38100" dist="38100" dir="2700000" algn="tl">
                    <a:srgbClr val="C0C0C0"/>
                  </a:outerShdw>
                </a:effectLst>
                <a:ea typeface="ＭＳ Ｐゴシック" pitchFamily="34" charset="-128"/>
              </a:rPr>
              <a:t>Closure of a Set of Functional Dependencies</a:t>
            </a:r>
          </a:p>
        </p:txBody>
      </p:sp>
      <p:sp>
        <p:nvSpPr>
          <p:cNvPr id="44035" name="Rectangle 3"/>
          <p:cNvSpPr>
            <a:spLocks noGrp="1" noChangeArrowheads="1"/>
          </p:cNvSpPr>
          <p:nvPr>
            <p:ph idx="1"/>
          </p:nvPr>
        </p:nvSpPr>
        <p:spPr>
          <a:xfrm>
            <a:off x="772358" y="1124904"/>
            <a:ext cx="7741327" cy="3105654"/>
          </a:xfrm>
        </p:spPr>
        <p:txBody>
          <a:bodyPr/>
          <a:lstStyle/>
          <a:p>
            <a:pPr algn="r" rtl="1"/>
            <a:r>
              <a:rPr lang="fa-IR" dirty="0" err="1"/>
              <a:t>می‌توانیم</a:t>
            </a:r>
            <a:r>
              <a:rPr lang="fa-IR" dirty="0"/>
              <a:t> </a:t>
            </a:r>
            <a:r>
              <a:rPr lang="en-US" dirty="0"/>
              <a:t>)F+ </a:t>
            </a:r>
            <a:r>
              <a:rPr lang="fa-IR" dirty="0" err="1"/>
              <a:t>بستار</a:t>
            </a:r>
            <a:r>
              <a:rPr lang="fa-IR" dirty="0"/>
              <a:t> مجموعه </a:t>
            </a:r>
            <a:r>
              <a:rPr lang="en-US" dirty="0"/>
              <a:t>F</a:t>
            </a:r>
            <a:r>
              <a:rPr lang="fa-IR" dirty="0"/>
              <a:t> </a:t>
            </a:r>
            <a:r>
              <a:rPr lang="en-US" dirty="0"/>
              <a:t>( </a:t>
            </a:r>
            <a:r>
              <a:rPr lang="fa-IR" dirty="0"/>
              <a:t>را با اعمال مکرر اصول </a:t>
            </a:r>
            <a:r>
              <a:rPr lang="fa-IR" dirty="0" err="1"/>
              <a:t>آرمسترانگ</a:t>
            </a:r>
            <a:r>
              <a:rPr lang="fa-IR" dirty="0"/>
              <a:t> محاسبه کنیم.</a:t>
            </a:r>
            <a:endParaRPr lang="en-US" altLang="ja-JP" b="1" dirty="0">
              <a:solidFill>
                <a:srgbClr val="000099"/>
              </a:solidFill>
            </a:endParaRPr>
          </a:p>
          <a:p>
            <a:pPr lvl="1" algn="r" rtl="1"/>
            <a:r>
              <a:rPr lang="fa-IR" dirty="0"/>
              <a:t>قاعده بازتابی: </a:t>
            </a:r>
            <a:r>
              <a:rPr lang="en-US" altLang="en-US" dirty="0"/>
              <a:t>if </a:t>
            </a:r>
            <a:r>
              <a:rPr lang="en-US" altLang="en-US" i="1" dirty="0">
                <a:sym typeface="Symbol" panose="05050102010706020507" pitchFamily="18" charset="2"/>
              </a:rPr>
              <a:t></a:t>
            </a:r>
            <a:r>
              <a:rPr lang="en-US" altLang="en-US" dirty="0">
                <a:sym typeface="Symbol" panose="05050102010706020507" pitchFamily="18" charset="2"/>
              </a:rPr>
              <a:t>  , then  </a:t>
            </a:r>
            <a:r>
              <a:rPr lang="en-US" altLang="en-US" dirty="0">
                <a:sym typeface="Monotype Sorts" pitchFamily="-84" charset="2"/>
              </a:rPr>
              <a:t> </a:t>
            </a:r>
            <a:r>
              <a:rPr lang="en-US" altLang="en-US" i="1" dirty="0">
                <a:sym typeface="Symbol" panose="05050102010706020507" pitchFamily="18" charset="2"/>
              </a:rPr>
              <a:t>  </a:t>
            </a:r>
            <a:endParaRPr lang="en-US" altLang="en-US" dirty="0">
              <a:sym typeface="Symbol" panose="05050102010706020507" pitchFamily="18" charset="2"/>
            </a:endParaRPr>
          </a:p>
          <a:p>
            <a:pPr lvl="1" algn="r" rtl="1"/>
            <a:r>
              <a:rPr lang="fa-IR" dirty="0"/>
              <a:t>قاعده تقویت (گسترش): </a:t>
            </a:r>
            <a:r>
              <a:rPr lang="en-US" altLang="en-US" dirty="0">
                <a:sym typeface="Symbol" panose="05050102010706020507" pitchFamily="18" charset="2"/>
              </a:rPr>
              <a:t>if  </a:t>
            </a:r>
            <a:r>
              <a:rPr lang="en-US" altLang="en-US" dirty="0">
                <a:sym typeface="Monotype Sorts" pitchFamily="-84" charset="2"/>
              </a:rPr>
              <a:t> </a:t>
            </a:r>
            <a:r>
              <a:rPr lang="en-US" altLang="en-US" i="1" dirty="0">
                <a:sym typeface="Symbol" panose="05050102010706020507" pitchFamily="18" charset="2"/>
              </a:rPr>
              <a:t>, </a:t>
            </a:r>
            <a:r>
              <a:rPr lang="en-US" altLang="en-US" dirty="0">
                <a:sym typeface="Symbol" panose="05050102010706020507" pitchFamily="18" charset="2"/>
              </a:rPr>
              <a:t>then </a:t>
            </a:r>
            <a:r>
              <a:rPr lang="en-US" altLang="en-US" dirty="0">
                <a:sym typeface="Greek Symbols"/>
              </a:rPr>
              <a:t> </a:t>
            </a:r>
            <a:r>
              <a:rPr lang="en-US" altLang="en-US" dirty="0">
                <a:sym typeface="Symbol" panose="05050102010706020507" pitchFamily="18" charset="2"/>
              </a:rPr>
              <a:t> </a:t>
            </a:r>
            <a:r>
              <a:rPr lang="en-US" altLang="en-US" dirty="0">
                <a:sym typeface="Monotype Sorts" pitchFamily="-84" charset="2"/>
              </a:rPr>
              <a:t> </a:t>
            </a:r>
            <a:r>
              <a:rPr lang="en-US" altLang="en-US" dirty="0">
                <a:sym typeface="Symbol" panose="05050102010706020507" pitchFamily="18" charset="2"/>
              </a:rPr>
              <a:t> </a:t>
            </a:r>
            <a:r>
              <a:rPr lang="en-US" altLang="en-US" dirty="0">
                <a:sym typeface="Monotype Sorts" pitchFamily="-84" charset="2"/>
              </a:rPr>
              <a:t> </a:t>
            </a:r>
            <a:r>
              <a:rPr lang="en-US" altLang="en-US" i="1" dirty="0">
                <a:sym typeface="Symbol" panose="05050102010706020507" pitchFamily="18" charset="2"/>
              </a:rPr>
              <a:t></a:t>
            </a:r>
            <a:endParaRPr lang="en-US" altLang="en-US" dirty="0">
              <a:sym typeface="Symbol" panose="05050102010706020507" pitchFamily="18" charset="2"/>
            </a:endParaRPr>
          </a:p>
          <a:p>
            <a:pPr lvl="1" algn="r" rtl="1"/>
            <a:r>
              <a:rPr lang="fa-IR" dirty="0"/>
              <a:t>قاعده تعدی: </a:t>
            </a:r>
            <a:r>
              <a:rPr lang="en-US" altLang="en-US" dirty="0">
                <a:sym typeface="Symbol" panose="05050102010706020507" pitchFamily="18" charset="2"/>
              </a:rPr>
              <a:t>if  </a:t>
            </a:r>
            <a:r>
              <a:rPr lang="en-US" altLang="en-US" dirty="0">
                <a:sym typeface="Monotype Sorts" pitchFamily="-84" charset="2"/>
              </a:rPr>
              <a:t> </a:t>
            </a:r>
            <a:r>
              <a:rPr lang="en-US" altLang="en-US" i="1" dirty="0">
                <a:sym typeface="Symbol" panose="05050102010706020507" pitchFamily="18" charset="2"/>
              </a:rPr>
              <a:t>, </a:t>
            </a:r>
            <a:r>
              <a:rPr lang="en-US" altLang="en-US" dirty="0">
                <a:sym typeface="Symbol" panose="05050102010706020507" pitchFamily="18" charset="2"/>
              </a:rPr>
              <a:t>and </a:t>
            </a:r>
            <a:r>
              <a:rPr lang="en-US" altLang="en-US" i="1" dirty="0">
                <a:sym typeface="Symbol" panose="05050102010706020507" pitchFamily="18" charset="2"/>
              </a:rPr>
              <a:t> </a:t>
            </a:r>
            <a:r>
              <a:rPr lang="en-US" altLang="en-US" dirty="0">
                <a:sym typeface="Symbol" panose="05050102010706020507" pitchFamily="18" charset="2"/>
              </a:rPr>
              <a:t> </a:t>
            </a:r>
            <a:r>
              <a:rPr lang="en-US" altLang="en-US" dirty="0">
                <a:sym typeface="Monotype Sorts" pitchFamily="-84" charset="2"/>
              </a:rPr>
              <a:t>, then </a:t>
            </a:r>
            <a:r>
              <a:rPr lang="en-US" altLang="en-US" dirty="0">
                <a:sym typeface="Symbol" panose="05050102010706020507" pitchFamily="18" charset="2"/>
              </a:rPr>
              <a:t> </a:t>
            </a:r>
            <a:r>
              <a:rPr lang="en-US" altLang="en-US" dirty="0">
                <a:sym typeface="Monotype Sorts" pitchFamily="-84" charset="2"/>
              </a:rPr>
              <a:t> </a:t>
            </a:r>
            <a:r>
              <a:rPr lang="en-US" altLang="en-US" dirty="0">
                <a:sym typeface="Symbol" panose="05050102010706020507" pitchFamily="18" charset="2"/>
              </a:rPr>
              <a:t> </a:t>
            </a:r>
            <a:endParaRPr lang="en-US" altLang="en-US" b="1" dirty="0">
              <a:sym typeface="Greek Symbols"/>
            </a:endParaRPr>
          </a:p>
          <a:p>
            <a:pPr algn="r" rtl="1"/>
            <a:r>
              <a:rPr lang="fa-IR" dirty="0"/>
              <a:t>این قواعد «درست» هستند</a:t>
            </a:r>
            <a:endParaRPr lang="en-US" altLang="en-US" dirty="0">
              <a:sym typeface="Greek Symbols"/>
            </a:endParaRPr>
          </a:p>
          <a:p>
            <a:pPr lvl="1" algn="r" rtl="1"/>
            <a:r>
              <a:rPr lang="fa-IR" dirty="0"/>
              <a:t>یعنی فقط </a:t>
            </a:r>
            <a:r>
              <a:rPr lang="fa-IR" dirty="0" err="1"/>
              <a:t>وابستگی‌هایی</a:t>
            </a:r>
            <a:r>
              <a:rPr lang="fa-IR" dirty="0"/>
              <a:t> را تولید </a:t>
            </a:r>
            <a:r>
              <a:rPr lang="fa-IR" dirty="0" err="1"/>
              <a:t>می‌کنند</a:t>
            </a:r>
            <a:r>
              <a:rPr lang="fa-IR" dirty="0"/>
              <a:t> که واقعاً </a:t>
            </a:r>
            <a:r>
              <a:rPr lang="fa-IR" dirty="0" err="1"/>
              <a:t>برقرارند</a:t>
            </a:r>
            <a:r>
              <a:rPr lang="fa-IR" dirty="0"/>
              <a:t>.</a:t>
            </a:r>
            <a:endParaRPr lang="en-US" dirty="0"/>
          </a:p>
          <a:p>
            <a:pPr lvl="1" algn="r" rtl="1"/>
            <a:r>
              <a:rPr lang="fa-IR" dirty="0"/>
              <a:t>و «کامل» هستند — یعنی همه </a:t>
            </a:r>
            <a:r>
              <a:rPr lang="fa-IR" dirty="0" err="1"/>
              <a:t>وابستگی‌های</a:t>
            </a:r>
            <a:r>
              <a:rPr lang="fa-IR" dirty="0"/>
              <a:t> </a:t>
            </a:r>
            <a:r>
              <a:rPr lang="fa-IR" dirty="0" err="1"/>
              <a:t>تابعی‌ای</a:t>
            </a:r>
            <a:r>
              <a:rPr lang="fa-IR" dirty="0"/>
              <a:t> را که برقرار </a:t>
            </a:r>
            <a:r>
              <a:rPr lang="fa-IR" dirty="0" err="1"/>
              <a:t>می‌شوند</a:t>
            </a:r>
            <a:r>
              <a:rPr lang="fa-IR" dirty="0"/>
              <a:t> تولید </a:t>
            </a:r>
            <a:r>
              <a:rPr lang="fa-IR" dirty="0" err="1"/>
              <a:t>می‌کنند</a:t>
            </a:r>
            <a:r>
              <a:rPr lang="fa-IR" dirty="0"/>
              <a:t>.</a:t>
            </a:r>
            <a:endParaRPr lang="en-US" altLang="en-US" dirty="0">
              <a:sym typeface="Greek Symbols"/>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1442"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Example of </a:t>
            </a:r>
            <a:r>
              <a:rPr lang="en-US" altLang="en-US" dirty="0">
                <a:sym typeface="MS LineDraw"/>
              </a:rPr>
              <a:t> </a:t>
            </a:r>
            <a:r>
              <a:rPr lang="en-US" altLang="en-US" i="1" dirty="0">
                <a:sym typeface="MS LineDraw"/>
              </a:rPr>
              <a:t>F</a:t>
            </a:r>
            <a:r>
              <a:rPr lang="en-US" altLang="en-US" baseline="30000" dirty="0">
                <a:sym typeface="MS LineDraw"/>
              </a:rPr>
              <a:t>+</a:t>
            </a:r>
            <a:endParaRPr lang="en-US" altLang="en-US" dirty="0">
              <a:effectLst>
                <a:outerShdw blurRad="38100" dist="38100" dir="2700000" algn="tl">
                  <a:srgbClr val="C0C0C0"/>
                </a:outerShdw>
              </a:effectLst>
              <a:ea typeface="ＭＳ Ｐゴシック" pitchFamily="34" charset="-128"/>
            </a:endParaRPr>
          </a:p>
        </p:txBody>
      </p:sp>
      <p:sp>
        <p:nvSpPr>
          <p:cNvPr id="701443" name="Rectangle 3"/>
          <p:cNvSpPr>
            <a:spLocks noGrp="1" noChangeArrowheads="1"/>
          </p:cNvSpPr>
          <p:nvPr>
            <p:ph idx="1"/>
          </p:nvPr>
        </p:nvSpPr>
        <p:spPr>
          <a:xfrm>
            <a:off x="768350" y="1107803"/>
            <a:ext cx="7873858" cy="4975225"/>
          </a:xfrm>
        </p:spPr>
        <p:txBody>
          <a:bodyPr/>
          <a:lstStyle/>
          <a:p>
            <a:pPr>
              <a:tabLst>
                <a:tab pos="803275" algn="l"/>
              </a:tabLst>
            </a:pPr>
            <a:r>
              <a:rPr lang="en-US" altLang="en-US" i="1" dirty="0"/>
              <a:t>R = (A, B, C, G, H, I)</a:t>
            </a:r>
            <a:br>
              <a:rPr lang="en-US" altLang="en-US" i="1" dirty="0"/>
            </a:br>
            <a:r>
              <a:rPr lang="en-US" altLang="en-US" i="1" dirty="0"/>
              <a:t>F = </a:t>
            </a:r>
            <a:r>
              <a:rPr lang="en-US" altLang="en-US" dirty="0"/>
              <a:t>{ </a:t>
            </a:r>
            <a:r>
              <a:rPr lang="en-US" altLang="en-US" i="1" dirty="0">
                <a:sym typeface="Iconic Symbols Ext"/>
              </a:rPr>
              <a:t>A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B</a:t>
            </a:r>
            <a:br>
              <a:rPr lang="en-US" altLang="en-US" i="1" dirty="0">
                <a:sym typeface="Monotype Sorts" pitchFamily="-84" charset="2"/>
              </a:rPr>
            </a:br>
            <a:r>
              <a:rPr lang="en-US" altLang="en-US" i="1" dirty="0">
                <a:sym typeface="Monotype Sorts" pitchFamily="-84" charset="2"/>
              </a:rPr>
              <a:t>	 </a:t>
            </a:r>
            <a:r>
              <a:rPr lang="en-US" altLang="en-US" i="1" dirty="0">
                <a:sym typeface="Iconic Symbols Ext"/>
              </a:rPr>
              <a:t>A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C</a:t>
            </a:r>
            <a:br>
              <a:rPr lang="en-US" altLang="en-US" i="1" dirty="0">
                <a:sym typeface="Monotype Sorts" pitchFamily="-84" charset="2"/>
              </a:rPr>
            </a:br>
            <a:r>
              <a:rPr lang="en-US" altLang="en-US" i="1" dirty="0">
                <a:sym typeface="Monotype Sorts" pitchFamily="-84" charset="2"/>
              </a:rPr>
              <a:t>	</a:t>
            </a:r>
            <a:r>
              <a:rPr lang="en-US" altLang="en-US" i="1" dirty="0">
                <a:sym typeface="Iconic Symbols Ext"/>
              </a:rPr>
              <a:t>CG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H</a:t>
            </a:r>
            <a:br>
              <a:rPr lang="en-US" altLang="en-US" i="1" dirty="0">
                <a:sym typeface="Monotype Sorts" pitchFamily="-84" charset="2"/>
              </a:rPr>
            </a:br>
            <a:r>
              <a:rPr lang="en-US" altLang="en-US" i="1" dirty="0">
                <a:sym typeface="Monotype Sorts" pitchFamily="-84" charset="2"/>
              </a:rPr>
              <a:t>	</a:t>
            </a:r>
            <a:r>
              <a:rPr lang="en-US" altLang="en-US" i="1" dirty="0">
                <a:sym typeface="Iconic Symbols Ext"/>
              </a:rPr>
              <a:t>CG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I</a:t>
            </a:r>
            <a:br>
              <a:rPr lang="en-US" altLang="en-US" i="1" dirty="0">
                <a:sym typeface="Monotype Sorts" pitchFamily="-84" charset="2"/>
              </a:rPr>
            </a:br>
            <a:r>
              <a:rPr lang="en-US" altLang="en-US" i="1" dirty="0">
                <a:sym typeface="Monotype Sorts" pitchFamily="-84" charset="2"/>
              </a:rPr>
              <a:t>	 </a:t>
            </a:r>
            <a:r>
              <a:rPr lang="en-US" altLang="en-US" i="1" dirty="0">
                <a:sym typeface="Iconic Symbols Ext"/>
              </a:rPr>
              <a:t>B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H</a:t>
            </a:r>
            <a:r>
              <a:rPr lang="en-US" altLang="en-US" dirty="0">
                <a:sym typeface="Monotype Sorts" pitchFamily="-84" charset="2"/>
              </a:rPr>
              <a:t>}</a:t>
            </a:r>
            <a:endParaRPr lang="en-US" altLang="en-US" dirty="0">
              <a:sym typeface="MS LineDraw"/>
            </a:endParaRPr>
          </a:p>
          <a:p>
            <a:pPr algn="r" rtl="1">
              <a:tabLst>
                <a:tab pos="803275" algn="l"/>
              </a:tabLst>
            </a:pPr>
            <a:r>
              <a:rPr lang="fa-IR" dirty="0"/>
              <a:t>برخی اعضای </a:t>
            </a:r>
            <a:r>
              <a:rPr lang="en-US" dirty="0"/>
              <a:t>F⁺ </a:t>
            </a:r>
            <a:r>
              <a:rPr lang="fa-IR" dirty="0" err="1"/>
              <a:t>عبارت‌اند</a:t>
            </a:r>
            <a:r>
              <a:rPr lang="fa-IR" dirty="0"/>
              <a:t> از:</a:t>
            </a:r>
            <a:endParaRPr lang="en-US" altLang="en-US" dirty="0">
              <a:sym typeface="MS LineDraw"/>
            </a:endParaRPr>
          </a:p>
          <a:p>
            <a:pPr lvl="1">
              <a:tabLst>
                <a:tab pos="803275" algn="l"/>
              </a:tabLst>
            </a:pPr>
            <a:r>
              <a:rPr lang="en-US" altLang="en-US" i="1" dirty="0">
                <a:sym typeface="Monotype Sorts" pitchFamily="-84" charset="2"/>
              </a:rPr>
              <a:t>A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H        </a:t>
            </a:r>
          </a:p>
          <a:p>
            <a:pPr lvl="2">
              <a:tabLst>
                <a:tab pos="803275" algn="l"/>
              </a:tabLst>
            </a:pPr>
            <a:r>
              <a:rPr lang="fa-IR" altLang="en-US" dirty="0">
                <a:sym typeface="Monotype Sorts" pitchFamily="-84" charset="2"/>
              </a:rPr>
              <a:t>از این ها نتیجه میگیریم</a:t>
            </a:r>
            <a:r>
              <a:rPr lang="en-US" altLang="en-US" i="1" dirty="0">
                <a:sym typeface="Iconic Symbols Ext"/>
              </a:rPr>
              <a:t>A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B and </a:t>
            </a:r>
            <a:r>
              <a:rPr lang="en-US" altLang="en-US" i="1" dirty="0">
                <a:sym typeface="Iconic Symbols Ext"/>
              </a:rPr>
              <a:t>B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H</a:t>
            </a:r>
          </a:p>
          <a:p>
            <a:pPr lvl="1">
              <a:tabLst>
                <a:tab pos="803275" algn="l"/>
              </a:tabLst>
            </a:pPr>
            <a:r>
              <a:rPr lang="en-US" altLang="en-US" i="1" dirty="0">
                <a:sym typeface="Monotype Sorts" pitchFamily="-84" charset="2"/>
              </a:rPr>
              <a:t>AG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I       </a:t>
            </a:r>
            <a:endParaRPr lang="en-US" altLang="en-US" dirty="0">
              <a:sym typeface="Monotype Sorts" pitchFamily="-84" charset="2"/>
            </a:endParaRPr>
          </a:p>
          <a:p>
            <a:pPr lvl="2">
              <a:tabLst>
                <a:tab pos="803275" algn="l"/>
              </a:tabLst>
            </a:pPr>
            <a:r>
              <a:rPr lang="fa-IR" dirty="0"/>
              <a:t>با افزودن</a:t>
            </a:r>
            <a:r>
              <a:rPr lang="en-US" altLang="en-US" i="1" dirty="0">
                <a:sym typeface="Iconic Symbols Ext"/>
              </a:rPr>
              <a:t>A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C </a:t>
            </a:r>
            <a:r>
              <a:rPr lang="fa-IR" altLang="en-US" dirty="0">
                <a:sym typeface="Monotype Sorts" pitchFamily="-84" charset="2"/>
              </a:rPr>
              <a:t>به</a:t>
            </a:r>
            <a:r>
              <a:rPr lang="en-US" altLang="en-US" dirty="0">
                <a:sym typeface="Monotype Sorts" pitchFamily="-84" charset="2"/>
              </a:rPr>
              <a:t> G, </a:t>
            </a:r>
            <a:r>
              <a:rPr lang="fa-IR" dirty="0"/>
              <a:t>نتیجه </a:t>
            </a:r>
            <a:r>
              <a:rPr lang="fa-IR" dirty="0" err="1"/>
              <a:t>می‌گیریم</a:t>
            </a:r>
            <a:r>
              <a:rPr lang="en-US" altLang="en-US" i="1" dirty="0">
                <a:sym typeface="Iconic Symbols Ext"/>
              </a:rPr>
              <a:t>AG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CG </a:t>
            </a:r>
            <a:br>
              <a:rPr lang="en-US" altLang="en-US" i="1" dirty="0">
                <a:sym typeface="Monotype Sorts" pitchFamily="-84" charset="2"/>
              </a:rPr>
            </a:br>
            <a:r>
              <a:rPr lang="en-US" altLang="en-US" i="1" dirty="0">
                <a:sym typeface="Monotype Sorts" pitchFamily="-84" charset="2"/>
              </a:rPr>
              <a:t>                   </a:t>
            </a:r>
            <a:r>
              <a:rPr lang="fa-IR" dirty="0"/>
              <a:t>سپس با</a:t>
            </a:r>
            <a:r>
              <a:rPr lang="en-US" altLang="en-US" i="1" dirty="0">
                <a:sym typeface="Iconic Symbols Ext"/>
              </a:rPr>
              <a:t>CG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I </a:t>
            </a:r>
          </a:p>
          <a:p>
            <a:pPr lvl="1">
              <a:tabLst>
                <a:tab pos="803275" algn="l"/>
              </a:tabLst>
            </a:pPr>
            <a:r>
              <a:rPr lang="en-US" altLang="en-US" i="1" dirty="0">
                <a:sym typeface="Monotype Sorts" pitchFamily="-84" charset="2"/>
              </a:rPr>
              <a:t>CG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HI     </a:t>
            </a:r>
            <a:endParaRPr lang="en-US" altLang="en-US" dirty="0">
              <a:sym typeface="Monotype Sorts" pitchFamily="-84" charset="2"/>
            </a:endParaRPr>
          </a:p>
          <a:p>
            <a:pPr lvl="2">
              <a:tabLst>
                <a:tab pos="803275" algn="l"/>
              </a:tabLst>
            </a:pPr>
            <a:r>
              <a:rPr lang="fa-IR" altLang="en-US" dirty="0">
                <a:sym typeface="Monotype Sorts" pitchFamily="-84" charset="2"/>
              </a:rPr>
              <a:t>با افزودن</a:t>
            </a:r>
            <a:r>
              <a:rPr lang="en-US" altLang="en-US" i="1" dirty="0">
                <a:sym typeface="Iconic Symbols Ext"/>
              </a:rPr>
              <a:t>CG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I </a:t>
            </a:r>
            <a:r>
              <a:rPr lang="fa-IR" altLang="en-US" dirty="0">
                <a:sym typeface="Monotype Sorts" pitchFamily="-84" charset="2"/>
              </a:rPr>
              <a:t>نتیجه میگیریم</a:t>
            </a:r>
            <a:r>
              <a:rPr lang="en-US" altLang="en-US" i="1" dirty="0">
                <a:sym typeface="Iconic Symbols Ext"/>
              </a:rPr>
              <a:t>CG </a:t>
            </a:r>
            <a:r>
              <a:rPr lang="en-US" altLang="en-US" dirty="0">
                <a:sym typeface="Symbol" panose="05050102010706020507" pitchFamily="18" charset="2"/>
              </a:rPr>
              <a:t></a:t>
            </a:r>
            <a:r>
              <a:rPr lang="en-US" altLang="en-US" dirty="0">
                <a:sym typeface="Monotype Sorts" pitchFamily="-84" charset="2"/>
              </a:rPr>
              <a:t> CG</a:t>
            </a:r>
            <a:r>
              <a:rPr lang="en-US" altLang="en-US" i="1" dirty="0">
                <a:sym typeface="Monotype Sorts" pitchFamily="-84" charset="2"/>
              </a:rPr>
              <a:t>I, </a:t>
            </a:r>
          </a:p>
          <a:p>
            <a:pPr lvl="2">
              <a:buFont typeface="Webdings" panose="05030102010509060703" pitchFamily="18" charset="2"/>
              <a:buNone/>
              <a:tabLst>
                <a:tab pos="803275" algn="l"/>
              </a:tabLst>
            </a:pPr>
            <a:r>
              <a:rPr lang="en-US" altLang="en-US" dirty="0">
                <a:sym typeface="Monotype Sorts" pitchFamily="-84" charset="2"/>
              </a:rPr>
              <a:t>    </a:t>
            </a:r>
            <a:r>
              <a:rPr lang="fa-IR" altLang="en-US" dirty="0">
                <a:sym typeface="Monotype Sorts" pitchFamily="-84" charset="2"/>
              </a:rPr>
              <a:t>و افزودن</a:t>
            </a:r>
            <a:r>
              <a:rPr lang="en-US" altLang="en-US" i="1" dirty="0">
                <a:sym typeface="Iconic Symbols Ext"/>
              </a:rPr>
              <a:t>CG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H </a:t>
            </a:r>
            <a:r>
              <a:rPr lang="fa-IR" altLang="en-US" dirty="0">
                <a:sym typeface="Monotype Sorts" pitchFamily="-84" charset="2"/>
              </a:rPr>
              <a:t>نتیجه میگیریم</a:t>
            </a:r>
            <a:r>
              <a:rPr lang="en-US" altLang="en-US" i="1" dirty="0">
                <a:sym typeface="Iconic Symbols Ext"/>
              </a:rPr>
              <a:t>CGI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HI, </a:t>
            </a:r>
          </a:p>
          <a:p>
            <a:pPr lvl="2">
              <a:buFont typeface="Webdings" panose="05030102010509060703" pitchFamily="18" charset="2"/>
              <a:buNone/>
              <a:tabLst>
                <a:tab pos="803275" algn="l"/>
              </a:tabLst>
            </a:pPr>
            <a:r>
              <a:rPr lang="en-US" altLang="en-US" i="1" dirty="0">
                <a:sym typeface="Monotype Sorts" pitchFamily="-84" charset="2"/>
              </a:rPr>
              <a:t>                         </a:t>
            </a:r>
            <a:endParaRPr lang="en-US" altLang="en-US" dirty="0">
              <a:sym typeface="Monotype Sorts" pitchFamily="-84" charset="2"/>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70144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701443">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701443">
                                            <p:txEl>
                                              <p:pRg st="2" end="2"/>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701443">
                                            <p:txEl>
                                              <p:pRg st="3" end="3"/>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701443">
                                            <p:txEl>
                                              <p:pRg st="4" end="4"/>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499"/>
                                          </p:stCondLst>
                                        </p:cTn>
                                        <p:tgtEl>
                                          <p:spTgt spid="701443">
                                            <p:txEl>
                                              <p:pRg st="5" end="5"/>
                                            </p:txEl>
                                          </p:spTgt>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701443">
                                            <p:txEl>
                                              <p:pRg st="6" end="6"/>
                                            </p:txEl>
                                          </p:spTgt>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grpId="0" nodeType="clickEffect">
                                  <p:stCondLst>
                                    <p:cond delay="0"/>
                                  </p:stCondLst>
                                  <p:childTnLst>
                                    <p:set>
                                      <p:cBhvr>
                                        <p:cTn id="34" dur="1" fill="hold">
                                          <p:stCondLst>
                                            <p:cond delay="499"/>
                                          </p:stCondLst>
                                        </p:cTn>
                                        <p:tgtEl>
                                          <p:spTgt spid="701443">
                                            <p:txEl>
                                              <p:pRg st="7" end="7"/>
                                            </p:txEl>
                                          </p:spTgt>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grpId="0" nodeType="clickEffect">
                                  <p:stCondLst>
                                    <p:cond delay="0"/>
                                  </p:stCondLst>
                                  <p:childTnLst>
                                    <p:set>
                                      <p:cBhvr>
                                        <p:cTn id="38" dur="1" fill="hold">
                                          <p:stCondLst>
                                            <p:cond delay="499"/>
                                          </p:stCondLst>
                                        </p:cTn>
                                        <p:tgtEl>
                                          <p:spTgt spid="701443">
                                            <p:txEl>
                                              <p:pRg st="8" end="8"/>
                                            </p:txEl>
                                          </p:spTgt>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grpId="0" nodeType="clickEffect">
                                  <p:stCondLst>
                                    <p:cond delay="0"/>
                                  </p:stCondLst>
                                  <p:childTnLst>
                                    <p:set>
                                      <p:cBhvr>
                                        <p:cTn id="42" dur="1" fill="hold">
                                          <p:stCondLst>
                                            <p:cond delay="499"/>
                                          </p:stCondLst>
                                        </p:cTn>
                                        <p:tgtEl>
                                          <p:spTgt spid="70144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1443" grpId="0" build="p" bldLvl="3" autoUpdateAnimBg="0"/>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5538" name="Rectangle 2"/>
          <p:cNvSpPr>
            <a:spLocks noGrp="1" noChangeArrowheads="1"/>
          </p:cNvSpPr>
          <p:nvPr>
            <p:ph type="title"/>
          </p:nvPr>
        </p:nvSpPr>
        <p:spPr>
          <a:xfrm>
            <a:off x="863600" y="161925"/>
            <a:ext cx="8077200" cy="609600"/>
          </a:xfrm>
        </p:spPr>
        <p:txBody>
          <a:bodyPr/>
          <a:lstStyle/>
          <a:p>
            <a:pPr>
              <a:defRPr/>
            </a:pPr>
            <a:r>
              <a:rPr lang="en-US" altLang="en-US" sz="2800" dirty="0">
                <a:effectLst>
                  <a:outerShdw blurRad="38100" dist="38100" dir="2700000" algn="tl">
                    <a:srgbClr val="C0C0C0"/>
                  </a:outerShdw>
                </a:effectLst>
                <a:ea typeface="ＭＳ Ｐゴシック" pitchFamily="34" charset="-128"/>
              </a:rPr>
              <a:t>Closure of Functional Dependencies (Cont.)</a:t>
            </a:r>
          </a:p>
        </p:txBody>
      </p:sp>
      <p:sp>
        <p:nvSpPr>
          <p:cNvPr id="46083" name="Rectangle 3"/>
          <p:cNvSpPr>
            <a:spLocks noGrp="1" noChangeArrowheads="1"/>
          </p:cNvSpPr>
          <p:nvPr>
            <p:ph idx="1"/>
          </p:nvPr>
        </p:nvSpPr>
        <p:spPr>
          <a:xfrm>
            <a:off x="772358" y="1118693"/>
            <a:ext cx="7285646" cy="4004451"/>
          </a:xfrm>
        </p:spPr>
        <p:txBody>
          <a:bodyPr/>
          <a:lstStyle/>
          <a:p>
            <a:pPr algn="r" rtl="1"/>
            <a:r>
              <a:rPr lang="fa-IR" altLang="en-US" dirty="0"/>
              <a:t>قوانین اضافی:</a:t>
            </a:r>
            <a:endParaRPr lang="en-US" altLang="en-US" dirty="0"/>
          </a:p>
          <a:p>
            <a:pPr lvl="1" algn="r" rtl="1"/>
            <a:r>
              <a:rPr lang="fa-IR" dirty="0"/>
              <a:t>قانون اتحاد:</a:t>
            </a:r>
            <a:r>
              <a:rPr lang="en-US" altLang="en-US" dirty="0">
                <a:sym typeface="Symbol" panose="05050102010706020507" pitchFamily="18" charset="2"/>
              </a:rPr>
              <a:t> </a:t>
            </a:r>
            <a:r>
              <a:rPr lang="fa-IR" dirty="0"/>
              <a:t>گر </a:t>
            </a:r>
            <a:r>
              <a:rPr lang="el-GR" dirty="0"/>
              <a:t>α → β </a:t>
            </a:r>
            <a:r>
              <a:rPr lang="fa-IR" dirty="0"/>
              <a:t>برقرار باشد و </a:t>
            </a:r>
            <a:r>
              <a:rPr lang="el-GR" dirty="0"/>
              <a:t>α → γ </a:t>
            </a:r>
            <a:r>
              <a:rPr lang="fa-IR" dirty="0"/>
              <a:t>برقرار باشد، آنگاه </a:t>
            </a:r>
            <a:r>
              <a:rPr lang="el-GR" dirty="0"/>
              <a:t>α → βγ </a:t>
            </a:r>
            <a:r>
              <a:rPr lang="fa-IR" dirty="0"/>
              <a:t>برقرار است.</a:t>
            </a:r>
            <a:endParaRPr lang="en-US" altLang="en-US" dirty="0">
              <a:sym typeface="Greek Symbols"/>
            </a:endParaRPr>
          </a:p>
          <a:p>
            <a:pPr lvl="1" algn="r" rtl="1"/>
            <a:r>
              <a:rPr lang="fa-IR" dirty="0"/>
              <a:t>قانون تجزیه: اگر </a:t>
            </a:r>
            <a:r>
              <a:rPr lang="el-GR" dirty="0"/>
              <a:t>α → βγ </a:t>
            </a:r>
            <a:r>
              <a:rPr lang="fa-IR" dirty="0"/>
              <a:t>برقرار باشد، آنگاه </a:t>
            </a:r>
            <a:r>
              <a:rPr lang="el-GR" dirty="0"/>
              <a:t>α → β </a:t>
            </a:r>
            <a:r>
              <a:rPr lang="fa-IR" dirty="0"/>
              <a:t>برقرار است و </a:t>
            </a:r>
            <a:r>
              <a:rPr lang="el-GR" dirty="0"/>
              <a:t>α → γ </a:t>
            </a:r>
            <a:r>
              <a:rPr lang="fa-IR" dirty="0"/>
              <a:t>نیز برقرار است.</a:t>
            </a:r>
            <a:endParaRPr lang="en-US" altLang="en-US" dirty="0">
              <a:sym typeface="Monotype Sorts" pitchFamily="-84" charset="2"/>
            </a:endParaRPr>
          </a:p>
          <a:p>
            <a:pPr lvl="1" algn="r" rtl="1"/>
            <a:r>
              <a:rPr lang="fa-IR" dirty="0"/>
              <a:t>قانون </a:t>
            </a:r>
            <a:r>
              <a:rPr lang="fa-IR" dirty="0" err="1"/>
              <a:t>شبه‌تراگذری</a:t>
            </a:r>
            <a:r>
              <a:rPr lang="fa-IR" dirty="0"/>
              <a:t>: اگر </a:t>
            </a:r>
            <a:r>
              <a:rPr lang="el-GR" dirty="0"/>
              <a:t>α → β </a:t>
            </a:r>
            <a:r>
              <a:rPr lang="fa-IR" dirty="0"/>
              <a:t>برقرار باشد و </a:t>
            </a:r>
            <a:r>
              <a:rPr lang="el-GR" dirty="0"/>
              <a:t>γβ → δ </a:t>
            </a:r>
            <a:r>
              <a:rPr lang="fa-IR" dirty="0"/>
              <a:t>برقرار باشد، آنگاه </a:t>
            </a:r>
            <a:r>
              <a:rPr lang="el-GR" dirty="0"/>
              <a:t>αγ → δ </a:t>
            </a:r>
            <a:r>
              <a:rPr lang="fa-IR" dirty="0"/>
              <a:t>برقرار است.</a:t>
            </a:r>
            <a:endParaRPr lang="en-US" altLang="en-US" dirty="0">
              <a:sym typeface="Greek Symbols"/>
            </a:endParaRPr>
          </a:p>
          <a:p>
            <a:pPr algn="r" rtl="1"/>
            <a:r>
              <a:rPr lang="fa-IR" dirty="0"/>
              <a:t>قوانین بالا را </a:t>
            </a:r>
            <a:r>
              <a:rPr lang="fa-IR" dirty="0" err="1"/>
              <a:t>می‌توان</a:t>
            </a:r>
            <a:r>
              <a:rPr lang="fa-IR" dirty="0"/>
              <a:t> از روی اصول </a:t>
            </a:r>
            <a:r>
              <a:rPr lang="fa-IR" dirty="0" err="1"/>
              <a:t>آرمسترانگ</a:t>
            </a:r>
            <a:r>
              <a:rPr lang="fa-IR" dirty="0"/>
              <a:t> استنتاج کرد.</a:t>
            </a:r>
            <a:endParaRPr lang="en-US" altLang="en-US" dirty="0">
              <a:sym typeface="Greek Symbols"/>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07586"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Procedure for Computing F</a:t>
            </a:r>
            <a:r>
              <a:rPr lang="en-US" altLang="en-US" baseline="30000" dirty="0">
                <a:effectLst>
                  <a:outerShdw blurRad="38100" dist="38100" dir="2700000" algn="tl">
                    <a:srgbClr val="C0C0C0"/>
                  </a:outerShdw>
                </a:effectLst>
                <a:ea typeface="ＭＳ Ｐゴシック" pitchFamily="34" charset="-128"/>
              </a:rPr>
              <a:t>+</a:t>
            </a:r>
            <a:endParaRPr lang="en-US" altLang="en-US" dirty="0">
              <a:effectLst>
                <a:outerShdw blurRad="38100" dist="38100" dir="2700000" algn="tl">
                  <a:srgbClr val="C0C0C0"/>
                </a:outerShdw>
              </a:effectLst>
              <a:ea typeface="ＭＳ Ｐゴシック" pitchFamily="34" charset="-128"/>
            </a:endParaRPr>
          </a:p>
        </p:txBody>
      </p:sp>
      <p:sp>
        <p:nvSpPr>
          <p:cNvPr id="707587" name="Rectangle 3"/>
          <p:cNvSpPr>
            <a:spLocks noGrp="1" noChangeArrowheads="1"/>
          </p:cNvSpPr>
          <p:nvPr>
            <p:ph idx="1"/>
          </p:nvPr>
        </p:nvSpPr>
        <p:spPr>
          <a:xfrm>
            <a:off x="768351" y="1152525"/>
            <a:ext cx="7709824" cy="3720264"/>
          </a:xfrm>
        </p:spPr>
        <p:txBody>
          <a:bodyPr/>
          <a:lstStyle/>
          <a:p>
            <a:pPr algn="r" rtl="1">
              <a:tabLst>
                <a:tab pos="1027113" algn="l"/>
                <a:tab pos="1547813" algn="l"/>
                <a:tab pos="1771650" algn="l"/>
                <a:tab pos="2054225" algn="l"/>
                <a:tab pos="3140075" algn="ctr"/>
              </a:tabLst>
            </a:pPr>
            <a:r>
              <a:rPr lang="fa-IR" dirty="0"/>
              <a:t>برای محاسبه </a:t>
            </a:r>
            <a:r>
              <a:rPr lang="fa-IR" dirty="0" err="1"/>
              <a:t>بسته‌ی</a:t>
            </a:r>
            <a:r>
              <a:rPr lang="fa-IR" dirty="0"/>
              <a:t> </a:t>
            </a:r>
            <a:r>
              <a:rPr lang="fa-IR" dirty="0" err="1"/>
              <a:t>مجموعه‌ای</a:t>
            </a:r>
            <a:r>
              <a:rPr lang="fa-IR" dirty="0"/>
              <a:t> از </a:t>
            </a:r>
            <a:r>
              <a:rPr lang="fa-IR" dirty="0" err="1"/>
              <a:t>وابستگی‌های</a:t>
            </a:r>
            <a:r>
              <a:rPr lang="fa-IR" dirty="0"/>
              <a:t> </a:t>
            </a:r>
            <a:r>
              <a:rPr lang="fa-IR" dirty="0" err="1"/>
              <a:t>تابعی</a:t>
            </a:r>
            <a:r>
              <a:rPr lang="en-US" dirty="0"/>
              <a:t>F</a:t>
            </a:r>
            <a:r>
              <a:rPr lang="fa-IR" dirty="0"/>
              <a:t> </a:t>
            </a:r>
            <a:r>
              <a:rPr lang="en-US" dirty="0"/>
              <a:t>:</a:t>
            </a:r>
            <a:endParaRPr lang="en-US" altLang="en-US" i="1" dirty="0"/>
          </a:p>
          <a:p>
            <a:pPr algn="r" rtl="1">
              <a:buFont typeface="Monotype Sorts" pitchFamily="-84" charset="2"/>
              <a:buNone/>
            </a:pPr>
            <a:r>
              <a:rPr lang="en-US" altLang="en-US" i="1" dirty="0"/>
              <a:t>         F </a:t>
            </a:r>
            <a:r>
              <a:rPr lang="en-US" altLang="en-US" baseline="30000" dirty="0"/>
              <a:t>+</a:t>
            </a:r>
            <a:r>
              <a:rPr lang="en-US" altLang="en-US" dirty="0"/>
              <a:t> = </a:t>
            </a:r>
            <a:r>
              <a:rPr lang="en-US" altLang="en-US" i="1" dirty="0"/>
              <a:t>F</a:t>
            </a:r>
            <a:br>
              <a:rPr lang="en-US" altLang="en-US" dirty="0"/>
            </a:br>
            <a:r>
              <a:rPr lang="en-US" altLang="en-US" dirty="0"/>
              <a:t>    </a:t>
            </a:r>
            <a:r>
              <a:rPr lang="fa-IR" altLang="en-US" b="1" dirty="0"/>
              <a:t>تکرار کن:</a:t>
            </a:r>
            <a:br>
              <a:rPr lang="en-US" altLang="en-US" dirty="0"/>
            </a:br>
            <a:r>
              <a:rPr lang="en-US" altLang="en-US" dirty="0"/>
              <a:t>	</a:t>
            </a:r>
            <a:r>
              <a:rPr lang="fa-IR" dirty="0"/>
              <a:t>برای هر وابستگی </a:t>
            </a:r>
            <a:r>
              <a:rPr lang="fa-IR" dirty="0" err="1"/>
              <a:t>تابعی</a:t>
            </a:r>
            <a:r>
              <a:rPr lang="fa-IR" dirty="0"/>
              <a:t> </a:t>
            </a:r>
            <a:r>
              <a:rPr lang="en-US" dirty="0"/>
              <a:t>f </a:t>
            </a:r>
            <a:r>
              <a:rPr lang="fa-IR" dirty="0"/>
              <a:t>در </a:t>
            </a:r>
            <a:r>
              <a:rPr lang="en-US" dirty="0"/>
              <a:t>F+،</a:t>
            </a:r>
            <a:br>
              <a:rPr lang="en-US" altLang="en-US" baseline="30000" dirty="0"/>
            </a:br>
            <a:r>
              <a:rPr lang="en-US" altLang="en-US" baseline="30000" dirty="0"/>
              <a:t>	</a:t>
            </a:r>
            <a:r>
              <a:rPr lang="en-US" altLang="en-US" dirty="0"/>
              <a:t>       </a:t>
            </a:r>
            <a:r>
              <a:rPr lang="fa-IR" dirty="0"/>
              <a:t>قوانین بازتابی و بسط (افزایشی) را روی </a:t>
            </a:r>
            <a:r>
              <a:rPr lang="en-US" dirty="0"/>
              <a:t>f </a:t>
            </a:r>
            <a:r>
              <a:rPr lang="fa-IR" dirty="0"/>
              <a:t>اعمال کن،</a:t>
            </a:r>
            <a:br>
              <a:rPr lang="en-US" altLang="en-US" i="1" dirty="0"/>
            </a:br>
            <a:r>
              <a:rPr lang="en-US" altLang="en-US" i="1" dirty="0"/>
              <a:t>	       </a:t>
            </a:r>
            <a:r>
              <a:rPr lang="fa-IR" dirty="0" err="1"/>
              <a:t>وابستگی‌های</a:t>
            </a:r>
            <a:r>
              <a:rPr lang="fa-IR" dirty="0"/>
              <a:t> </a:t>
            </a:r>
            <a:r>
              <a:rPr lang="fa-IR" dirty="0" err="1"/>
              <a:t>تابعی</a:t>
            </a:r>
            <a:r>
              <a:rPr lang="fa-IR" dirty="0"/>
              <a:t> </a:t>
            </a:r>
            <a:r>
              <a:rPr lang="fa-IR" dirty="0" err="1"/>
              <a:t>به‌دست‌آمده</a:t>
            </a:r>
            <a:r>
              <a:rPr lang="fa-IR" dirty="0"/>
              <a:t> را به </a:t>
            </a:r>
            <a:r>
              <a:rPr lang="en-US" dirty="0"/>
              <a:t>F+ </a:t>
            </a:r>
            <a:r>
              <a:rPr lang="fa-IR" dirty="0"/>
              <a:t>اضافه کن.</a:t>
            </a:r>
            <a:br>
              <a:rPr lang="en-US" altLang="en-US" baseline="30000" dirty="0"/>
            </a:br>
            <a:r>
              <a:rPr lang="en-US" altLang="en-US" baseline="30000" dirty="0"/>
              <a:t>	</a:t>
            </a:r>
            <a:r>
              <a:rPr lang="fa-IR" dirty="0"/>
              <a:t>برای هر جفت وابستگی </a:t>
            </a:r>
            <a:r>
              <a:rPr lang="fa-IR" dirty="0" err="1"/>
              <a:t>تابعی</a:t>
            </a:r>
            <a:r>
              <a:rPr lang="fa-IR" dirty="0"/>
              <a:t> </a:t>
            </a:r>
            <a:r>
              <a:rPr lang="en-US" dirty="0"/>
              <a:t>f1 </a:t>
            </a:r>
            <a:r>
              <a:rPr lang="fa-IR" dirty="0"/>
              <a:t>و </a:t>
            </a:r>
            <a:r>
              <a:rPr lang="en-US" dirty="0"/>
              <a:t>f2 </a:t>
            </a:r>
            <a:r>
              <a:rPr lang="fa-IR" dirty="0"/>
              <a:t>در </a:t>
            </a:r>
            <a:r>
              <a:rPr lang="en-US" dirty="0"/>
              <a:t>F+،</a:t>
            </a:r>
            <a:br>
              <a:rPr lang="en-US" altLang="en-US" baseline="30000" dirty="0"/>
            </a:br>
            <a:r>
              <a:rPr lang="en-US" altLang="en-US" baseline="30000" dirty="0"/>
              <a:t>	</a:t>
            </a:r>
            <a:r>
              <a:rPr lang="en-US" altLang="en-US" dirty="0"/>
              <a:t>       </a:t>
            </a:r>
            <a:r>
              <a:rPr lang="fa-IR" dirty="0"/>
              <a:t>اگر </a:t>
            </a:r>
            <a:r>
              <a:rPr lang="en-US" dirty="0"/>
              <a:t>f1 </a:t>
            </a:r>
            <a:r>
              <a:rPr lang="fa-IR" dirty="0"/>
              <a:t>و </a:t>
            </a:r>
            <a:r>
              <a:rPr lang="en-US" dirty="0"/>
              <a:t>f2 </a:t>
            </a:r>
            <a:r>
              <a:rPr lang="fa-IR" dirty="0"/>
              <a:t>با استفاده از قانون </a:t>
            </a:r>
            <a:r>
              <a:rPr lang="fa-IR" dirty="0" err="1"/>
              <a:t>گذارایی</a:t>
            </a:r>
            <a:r>
              <a:rPr lang="fa-IR" dirty="0"/>
              <a:t> قابل ترکیب باشند،</a:t>
            </a:r>
            <a:br>
              <a:rPr lang="en-US" altLang="en-US" dirty="0"/>
            </a:br>
            <a:r>
              <a:rPr lang="en-US" altLang="en-US" dirty="0"/>
              <a:t>	             </a:t>
            </a:r>
            <a:r>
              <a:rPr lang="fa-IR" dirty="0"/>
              <a:t>پس وابستگی </a:t>
            </a:r>
            <a:r>
              <a:rPr lang="fa-IR" dirty="0" err="1"/>
              <a:t>تابعی</a:t>
            </a:r>
            <a:r>
              <a:rPr lang="fa-IR" dirty="0"/>
              <a:t> </a:t>
            </a:r>
            <a:r>
              <a:rPr lang="fa-IR" dirty="0" err="1"/>
              <a:t>به‌دست‌آمده</a:t>
            </a:r>
            <a:r>
              <a:rPr lang="fa-IR" dirty="0"/>
              <a:t> را به </a:t>
            </a:r>
            <a:r>
              <a:rPr lang="en-US" dirty="0"/>
              <a:t>F+ </a:t>
            </a:r>
            <a:r>
              <a:rPr lang="fa-IR" dirty="0"/>
              <a:t>اضافه کن.</a:t>
            </a:r>
            <a:br>
              <a:rPr lang="en-US" altLang="en-US" baseline="30000" dirty="0"/>
            </a:br>
            <a:r>
              <a:rPr lang="en-US" altLang="en-US" baseline="30000" dirty="0"/>
              <a:t>       </a:t>
            </a:r>
            <a:r>
              <a:rPr lang="fa-IR" dirty="0"/>
              <a:t>تا زمانی که </a:t>
            </a:r>
            <a:r>
              <a:rPr lang="en-US" dirty="0"/>
              <a:t>F+ </a:t>
            </a:r>
            <a:r>
              <a:rPr lang="fa-IR" dirty="0"/>
              <a:t>دیگر تغییری نکند.</a:t>
            </a:r>
            <a:endParaRPr lang="en-US" altLang="en-US" dirty="0"/>
          </a:p>
          <a:p>
            <a:pPr algn="r" rtl="1">
              <a:buFont typeface="Monotype Sorts" pitchFamily="-84" charset="2"/>
              <a:buNone/>
            </a:pPr>
            <a:endParaRPr lang="en-US" altLang="en-US" dirty="0"/>
          </a:p>
          <a:p>
            <a:pPr algn="r" rtl="1"/>
            <a:r>
              <a:rPr lang="en-US" altLang="en-US" b="1" dirty="0"/>
              <a:t> </a:t>
            </a:r>
            <a:r>
              <a:rPr lang="fa-IR" dirty="0"/>
              <a:t>توجه: بعداً یک روش جایگزین برای این کار خواهیم دید.</a:t>
            </a:r>
            <a:endParaRPr lang="en-US" altLang="en-US" i="1" baseline="-25000" dirty="0"/>
          </a:p>
          <a:p>
            <a:pPr algn="r" rtl="1">
              <a:tabLst>
                <a:tab pos="1027113" algn="l"/>
                <a:tab pos="1547813" algn="l"/>
                <a:tab pos="1771650" algn="l"/>
                <a:tab pos="2054225" algn="l"/>
                <a:tab pos="3140075" algn="ctr"/>
              </a:tabLst>
            </a:pPr>
            <a:endParaRPr lang="en-US" altLang="en-US" i="1" dirty="0">
              <a:sym typeface="Greek Symbol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70758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70758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70758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7587" grpId="0" build="p" autoUpdateAnimBg="0"/>
    </p:bldLst>
  </p:timing>
</p:sld>
</file>

<file path=ppt/slides/slide8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07586"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Closure of Attribute Sets</a:t>
            </a:r>
          </a:p>
        </p:txBody>
      </p:sp>
      <p:sp>
        <p:nvSpPr>
          <p:cNvPr id="707587" name="Rectangle 3"/>
          <p:cNvSpPr>
            <a:spLocks noGrp="1" noChangeArrowheads="1"/>
          </p:cNvSpPr>
          <p:nvPr>
            <p:ph idx="1"/>
          </p:nvPr>
        </p:nvSpPr>
        <p:spPr>
          <a:xfrm>
            <a:off x="768350" y="1152526"/>
            <a:ext cx="7674313" cy="2938212"/>
          </a:xfrm>
        </p:spPr>
        <p:txBody>
          <a:bodyPr/>
          <a:lstStyle/>
          <a:p>
            <a:pPr algn="r" rtl="1">
              <a:tabLst>
                <a:tab pos="1027113" algn="l"/>
                <a:tab pos="1547813" algn="l"/>
                <a:tab pos="1771650" algn="l"/>
                <a:tab pos="2054225" algn="l"/>
                <a:tab pos="3140075" algn="ctr"/>
              </a:tabLst>
            </a:pPr>
            <a:r>
              <a:rPr lang="fa-IR" dirty="0"/>
              <a:t>با داشتن یک مجموعه ویژگی </a:t>
            </a:r>
            <a:r>
              <a:rPr lang="en-US" b="1" dirty="0"/>
              <a:t>a</a:t>
            </a:r>
            <a:r>
              <a:rPr lang="en-US" dirty="0"/>
              <a:t>، </a:t>
            </a:r>
            <a:r>
              <a:rPr lang="fa-IR" dirty="0"/>
              <a:t>بسته </a:t>
            </a:r>
            <a:r>
              <a:rPr lang="en-US" dirty="0"/>
              <a:t>a </a:t>
            </a:r>
            <a:r>
              <a:rPr lang="fa-IR" dirty="0"/>
              <a:t>تحت </a:t>
            </a:r>
            <a:r>
              <a:rPr lang="en-US" dirty="0"/>
              <a:t>)F </a:t>
            </a:r>
            <a:r>
              <a:rPr lang="fa-IR" dirty="0"/>
              <a:t>که با </a:t>
            </a:r>
            <a:r>
              <a:rPr lang="en-US" dirty="0"/>
              <a:t>a⁺ </a:t>
            </a:r>
            <a:r>
              <a:rPr lang="fa-IR" dirty="0"/>
              <a:t>نشان داده </a:t>
            </a:r>
            <a:r>
              <a:rPr lang="fa-IR" dirty="0" err="1"/>
              <a:t>می‌شود</a:t>
            </a:r>
            <a:r>
              <a:rPr lang="fa-IR" dirty="0"/>
              <a:t>) </a:t>
            </a:r>
            <a:r>
              <a:rPr lang="fa-IR" dirty="0" err="1"/>
              <a:t>مجموعه‌ای</a:t>
            </a:r>
            <a:r>
              <a:rPr lang="fa-IR" dirty="0"/>
              <a:t> از </a:t>
            </a:r>
            <a:r>
              <a:rPr lang="fa-IR" dirty="0" err="1"/>
              <a:t>ویژگی‌ها</a:t>
            </a:r>
            <a:r>
              <a:rPr lang="fa-IR" dirty="0"/>
              <a:t> است که </a:t>
            </a:r>
            <a:r>
              <a:rPr lang="fa-IR" dirty="0" err="1"/>
              <a:t>به‌صورت</a:t>
            </a:r>
            <a:r>
              <a:rPr lang="fa-IR" dirty="0"/>
              <a:t> </a:t>
            </a:r>
            <a:r>
              <a:rPr lang="fa-IR" dirty="0" err="1"/>
              <a:t>تابعی</a:t>
            </a:r>
            <a:r>
              <a:rPr lang="fa-IR" dirty="0"/>
              <a:t> توسط </a:t>
            </a:r>
            <a:r>
              <a:rPr lang="en-US" b="1" dirty="0"/>
              <a:t>a</a:t>
            </a:r>
            <a:r>
              <a:rPr lang="en-US" dirty="0"/>
              <a:t> </a:t>
            </a:r>
            <a:r>
              <a:rPr lang="fa-IR" dirty="0"/>
              <a:t>تحت </a:t>
            </a:r>
            <a:r>
              <a:rPr lang="en-US" dirty="0"/>
              <a:t>F </a:t>
            </a:r>
            <a:r>
              <a:rPr lang="fa-IR" dirty="0"/>
              <a:t>تعیین </a:t>
            </a:r>
            <a:r>
              <a:rPr lang="fa-IR" dirty="0" err="1"/>
              <a:t>می‌شوند</a:t>
            </a:r>
            <a:r>
              <a:rPr lang="fa-IR" dirty="0"/>
              <a:t>.</a:t>
            </a:r>
            <a:endParaRPr lang="en-US" altLang="en-US" i="1" dirty="0">
              <a:sym typeface="Greek Symbols"/>
            </a:endParaRPr>
          </a:p>
          <a:p>
            <a:pPr algn="r" rtl="1">
              <a:tabLst>
                <a:tab pos="1027113" algn="l"/>
                <a:tab pos="1547813" algn="l"/>
                <a:tab pos="1771650" algn="l"/>
                <a:tab pos="2054225" algn="l"/>
                <a:tab pos="3140075" algn="ctr"/>
              </a:tabLst>
            </a:pPr>
            <a:r>
              <a:rPr lang="en-US" altLang="en-US" dirty="0">
                <a:sym typeface="Greek Symbols"/>
              </a:rPr>
              <a:t> </a:t>
            </a:r>
            <a:r>
              <a:rPr lang="fa-IR" dirty="0" err="1"/>
              <a:t>الگوریتم</a:t>
            </a:r>
            <a:r>
              <a:rPr lang="fa-IR" dirty="0"/>
              <a:t> محاسبه </a:t>
            </a:r>
            <a:r>
              <a:rPr lang="en-US" dirty="0"/>
              <a:t>a⁺ ، </a:t>
            </a:r>
            <a:r>
              <a:rPr lang="fa-IR" dirty="0"/>
              <a:t>یعنی بسته </a:t>
            </a:r>
            <a:r>
              <a:rPr lang="en-US" dirty="0"/>
              <a:t>a </a:t>
            </a:r>
            <a:r>
              <a:rPr lang="fa-IR" dirty="0"/>
              <a:t>تحت</a:t>
            </a:r>
            <a:r>
              <a:rPr lang="en-US" dirty="0"/>
              <a:t>F</a:t>
            </a:r>
            <a:r>
              <a:rPr lang="fa-IR" dirty="0"/>
              <a:t> </a:t>
            </a:r>
            <a:r>
              <a:rPr lang="en-US" dirty="0"/>
              <a:t>:</a:t>
            </a:r>
            <a:endParaRPr lang="en-US" altLang="en-US" i="1" dirty="0">
              <a:sym typeface="Greek Symbols"/>
            </a:endParaRPr>
          </a:p>
          <a:p>
            <a:pPr algn="r" rtl="1">
              <a:buFont typeface="Monotype Sorts" pitchFamily="-84" charset="2"/>
              <a:buNone/>
              <a:tabLst>
                <a:tab pos="1027113" algn="l"/>
                <a:tab pos="1547813" algn="l"/>
                <a:tab pos="1771650" algn="l"/>
                <a:tab pos="2054225" algn="l"/>
                <a:tab pos="3140075" algn="ctr"/>
              </a:tabLst>
            </a:pPr>
            <a:r>
              <a:rPr lang="en-US" altLang="en-US" i="1" dirty="0">
                <a:sym typeface="Greek Symbols"/>
              </a:rPr>
              <a:t>      	result </a:t>
            </a:r>
            <a:r>
              <a:rPr lang="en-US" altLang="en-US" dirty="0">
                <a:sym typeface="Greek Symbols"/>
              </a:rPr>
              <a:t>:= </a:t>
            </a:r>
            <a:r>
              <a:rPr lang="en-US" altLang="en-US" dirty="0">
                <a:latin typeface="Symbol" panose="05050102010706020507" pitchFamily="18" charset="2"/>
                <a:sym typeface="Greek Symbols"/>
              </a:rPr>
              <a:t>a</a:t>
            </a:r>
            <a:r>
              <a:rPr lang="en-US" altLang="en-US" dirty="0">
                <a:sym typeface="Greek Symbols"/>
              </a:rPr>
              <a:t>;</a:t>
            </a:r>
            <a:br>
              <a:rPr lang="en-US" altLang="en-US" dirty="0">
                <a:sym typeface="Greek Symbols"/>
              </a:rPr>
            </a:br>
            <a:r>
              <a:rPr lang="en-US" altLang="en-US" dirty="0">
                <a:sym typeface="Greek Symbols"/>
              </a:rPr>
              <a:t>	</a:t>
            </a:r>
            <a:r>
              <a:rPr lang="en-US" altLang="en-US" b="1" dirty="0">
                <a:sym typeface="Greek Symbols"/>
              </a:rPr>
              <a:t>while</a:t>
            </a:r>
            <a:r>
              <a:rPr lang="en-US" altLang="en-US" dirty="0">
                <a:sym typeface="Greek Symbols"/>
              </a:rPr>
              <a:t> (changes to </a:t>
            </a:r>
            <a:r>
              <a:rPr lang="en-US" altLang="en-US" i="1" dirty="0">
                <a:sym typeface="Greek Symbols"/>
              </a:rPr>
              <a:t>result</a:t>
            </a:r>
            <a:r>
              <a:rPr lang="en-US" altLang="en-US" dirty="0">
                <a:sym typeface="Greek Symbols"/>
              </a:rPr>
              <a:t>) </a:t>
            </a:r>
            <a:r>
              <a:rPr lang="en-US" altLang="en-US" b="1" dirty="0">
                <a:sym typeface="Greek Symbols"/>
              </a:rPr>
              <a:t>do</a:t>
            </a:r>
            <a:br>
              <a:rPr lang="en-US" altLang="en-US" b="1" dirty="0">
                <a:sym typeface="Greek Symbols"/>
              </a:rPr>
            </a:br>
            <a:r>
              <a:rPr lang="en-US" altLang="en-US" b="1" dirty="0">
                <a:sym typeface="Greek Symbols"/>
              </a:rPr>
              <a:t>		for each </a:t>
            </a:r>
            <a:r>
              <a:rPr lang="en-US" altLang="en-US" dirty="0">
                <a:sym typeface="Symbol" panose="05050102010706020507" pitchFamily="18" charset="2"/>
              </a:rPr>
              <a:t></a:t>
            </a:r>
            <a:r>
              <a:rPr lang="en-US" altLang="en-US" i="1" dirty="0">
                <a:sym typeface="Greek Symbols"/>
              </a:rPr>
              <a:t> </a:t>
            </a:r>
            <a:r>
              <a:rPr lang="en-US" altLang="en-US" dirty="0">
                <a:sym typeface="Symbol" panose="05050102010706020507" pitchFamily="18" charset="2"/>
              </a:rPr>
              <a:t></a:t>
            </a:r>
            <a:r>
              <a:rPr lang="en-US" altLang="en-US" dirty="0">
                <a:sym typeface="Monotype Sorts" pitchFamily="-84" charset="2"/>
              </a:rPr>
              <a:t> </a:t>
            </a:r>
            <a:r>
              <a:rPr lang="en-US" altLang="en-US" dirty="0">
                <a:sym typeface="Symbol" panose="05050102010706020507" pitchFamily="18" charset="2"/>
              </a:rPr>
              <a:t></a:t>
            </a:r>
            <a:r>
              <a:rPr lang="en-US" altLang="en-US" dirty="0">
                <a:sym typeface="Greek Symbols"/>
              </a:rPr>
              <a:t> </a:t>
            </a:r>
            <a:r>
              <a:rPr lang="en-US" altLang="en-US" b="1" dirty="0">
                <a:sym typeface="Greek Symbols"/>
              </a:rPr>
              <a:t>in</a:t>
            </a:r>
            <a:r>
              <a:rPr lang="en-US" altLang="en-US" i="1" dirty="0">
                <a:sym typeface="Greek Symbols"/>
              </a:rPr>
              <a:t> F</a:t>
            </a:r>
            <a:r>
              <a:rPr lang="en-US" altLang="en-US" b="1" dirty="0">
                <a:sym typeface="Greek Symbols"/>
              </a:rPr>
              <a:t> do</a:t>
            </a:r>
            <a:br>
              <a:rPr lang="en-US" altLang="en-US" b="1" dirty="0">
                <a:sym typeface="Greek Symbols"/>
              </a:rPr>
            </a:br>
            <a:r>
              <a:rPr lang="en-US" altLang="en-US" b="1" dirty="0">
                <a:sym typeface="Greek Symbols"/>
              </a:rPr>
              <a:t>			begin</a:t>
            </a:r>
            <a:br>
              <a:rPr lang="en-US" altLang="en-US" b="1" dirty="0">
                <a:sym typeface="Greek Symbols"/>
              </a:rPr>
            </a:br>
            <a:r>
              <a:rPr lang="en-US" altLang="en-US" b="1" dirty="0">
                <a:sym typeface="Greek Symbols"/>
              </a:rPr>
              <a:t>				if </a:t>
            </a:r>
            <a:r>
              <a:rPr lang="en-US" altLang="en-US" dirty="0">
                <a:sym typeface="Symbol" panose="05050102010706020507" pitchFamily="18" charset="2"/>
              </a:rPr>
              <a:t></a:t>
            </a:r>
            <a:r>
              <a:rPr lang="en-US" altLang="en-US" i="1" dirty="0">
                <a:sym typeface="Greek Symbols"/>
              </a:rPr>
              <a:t> </a:t>
            </a:r>
            <a:r>
              <a:rPr lang="en-US" altLang="en-US" dirty="0">
                <a:sym typeface="Symbol" panose="05050102010706020507" pitchFamily="18" charset="2"/>
              </a:rPr>
              <a:t> </a:t>
            </a:r>
            <a:r>
              <a:rPr lang="en-US" altLang="en-US" i="1" dirty="0">
                <a:sym typeface="Symbol" panose="05050102010706020507" pitchFamily="18" charset="2"/>
              </a:rPr>
              <a:t>result</a:t>
            </a:r>
            <a:r>
              <a:rPr lang="en-US" altLang="en-US" b="1" dirty="0">
                <a:sym typeface="Symbol" panose="05050102010706020507" pitchFamily="18" charset="2"/>
              </a:rPr>
              <a:t> then </a:t>
            </a:r>
            <a:r>
              <a:rPr lang="en-US" altLang="en-US" i="1" dirty="0">
                <a:sym typeface="Symbol" panose="05050102010706020507" pitchFamily="18" charset="2"/>
              </a:rPr>
              <a:t> result </a:t>
            </a:r>
            <a:r>
              <a:rPr lang="en-US" altLang="en-US" dirty="0">
                <a:sym typeface="Symbol" panose="05050102010706020507" pitchFamily="18" charset="2"/>
              </a:rPr>
              <a:t>:= </a:t>
            </a:r>
            <a:r>
              <a:rPr lang="en-US" altLang="en-US" i="1" dirty="0">
                <a:sym typeface="Symbol" panose="05050102010706020507" pitchFamily="18" charset="2"/>
              </a:rPr>
              <a:t>result </a:t>
            </a:r>
            <a:r>
              <a:rPr lang="en-US" altLang="en-US" dirty="0">
                <a:sym typeface="Symbol" panose="05050102010706020507" pitchFamily="18" charset="2"/>
              </a:rPr>
              <a:t></a:t>
            </a:r>
            <a:r>
              <a:rPr lang="en-US" altLang="en-US" dirty="0">
                <a:sym typeface="Greek Symbols"/>
              </a:rPr>
              <a:t> </a:t>
            </a:r>
            <a:r>
              <a:rPr lang="en-US" altLang="en-US" dirty="0">
                <a:sym typeface="Symbol" panose="05050102010706020507" pitchFamily="18" charset="2"/>
              </a:rPr>
              <a:t></a:t>
            </a:r>
            <a:r>
              <a:rPr lang="en-US" altLang="en-US" dirty="0">
                <a:sym typeface="Greek Symbols"/>
              </a:rPr>
              <a:t> </a:t>
            </a:r>
            <a:br>
              <a:rPr lang="en-US" altLang="en-US" dirty="0">
                <a:sym typeface="Greek Symbols"/>
              </a:rPr>
            </a:br>
            <a:r>
              <a:rPr lang="en-US" altLang="en-US" dirty="0">
                <a:sym typeface="Greek Symbols"/>
              </a:rPr>
              <a:t>			</a:t>
            </a:r>
            <a:r>
              <a:rPr lang="en-US" altLang="en-US" b="1" dirty="0">
                <a:sym typeface="Greek Symbols"/>
              </a:rPr>
              <a:t>end</a:t>
            </a:r>
          </a:p>
          <a:p>
            <a:pPr algn="r" rtl="1">
              <a:buFont typeface="Monotype Sorts" pitchFamily="-84" charset="2"/>
              <a:buNone/>
              <a:tabLst>
                <a:tab pos="1027113" algn="l"/>
                <a:tab pos="1547813" algn="l"/>
                <a:tab pos="1771650" algn="l"/>
                <a:tab pos="2054225" algn="l"/>
                <a:tab pos="3140075" algn="ctr"/>
              </a:tabLst>
            </a:pPr>
            <a:endParaRPr lang="en-US" altLang="en-US" b="1" dirty="0">
              <a:sym typeface="Greek Symbols"/>
            </a:endParaRPr>
          </a:p>
          <a:p>
            <a:pPr algn="r" rtl="1">
              <a:buFont typeface="Monotype Sorts" pitchFamily="-84" charset="2"/>
              <a:buNone/>
              <a:tabLst>
                <a:tab pos="1027113" algn="l"/>
                <a:tab pos="1547813" algn="l"/>
                <a:tab pos="1771650" algn="l"/>
                <a:tab pos="2054225" algn="l"/>
                <a:tab pos="3140075" algn="ctr"/>
              </a:tabLst>
            </a:pPr>
            <a:endParaRPr lang="en-US" altLang="en-US" b="1" dirty="0">
              <a:sym typeface="Greek Symbols"/>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70758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707587">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70758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7587" grpId="0" build="p" autoUpdateAnimBg="0"/>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9634"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Example of Attribute Set Closure</a:t>
            </a:r>
          </a:p>
        </p:txBody>
      </p:sp>
      <p:sp>
        <p:nvSpPr>
          <p:cNvPr id="709635" name="Rectangle 3"/>
          <p:cNvSpPr>
            <a:spLocks noGrp="1" noChangeArrowheads="1"/>
          </p:cNvSpPr>
          <p:nvPr>
            <p:ph idx="1"/>
          </p:nvPr>
        </p:nvSpPr>
        <p:spPr>
          <a:xfrm>
            <a:off x="768351" y="1056443"/>
            <a:ext cx="7136402" cy="5296231"/>
          </a:xfrm>
        </p:spPr>
        <p:txBody>
          <a:bodyPr/>
          <a:lstStyle/>
          <a:p>
            <a:pPr>
              <a:lnSpc>
                <a:spcPct val="90000"/>
              </a:lnSpc>
              <a:tabLst>
                <a:tab pos="803275" algn="l"/>
                <a:tab pos="2633663" algn="l"/>
                <a:tab pos="3140075" algn="l"/>
              </a:tabLst>
            </a:pPr>
            <a:r>
              <a:rPr lang="en-US" altLang="en-US" sz="1600" i="1" dirty="0"/>
              <a:t>R = (A, B, C, G, H, I)</a:t>
            </a:r>
          </a:p>
          <a:p>
            <a:pPr>
              <a:lnSpc>
                <a:spcPct val="90000"/>
              </a:lnSpc>
              <a:tabLst>
                <a:tab pos="803275" algn="l"/>
                <a:tab pos="2633663" algn="l"/>
                <a:tab pos="3140075" algn="l"/>
              </a:tabLst>
            </a:pPr>
            <a:r>
              <a:rPr lang="en-US" altLang="en-US" sz="1600" i="1" dirty="0"/>
              <a:t>F = </a:t>
            </a:r>
            <a:r>
              <a:rPr lang="en-US" altLang="en-US" sz="1600" dirty="0"/>
              <a:t>{</a:t>
            </a:r>
            <a:r>
              <a:rPr lang="en-US" altLang="en-US" sz="1600" i="1" dirty="0">
                <a:sym typeface="Iconic Symbols Ext"/>
              </a:rPr>
              <a:t>A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B</a:t>
            </a:r>
            <a:br>
              <a:rPr lang="en-US" altLang="en-US" sz="1600" i="1" dirty="0">
                <a:sym typeface="Monotype Sorts" pitchFamily="-84" charset="2"/>
              </a:rPr>
            </a:br>
            <a:r>
              <a:rPr lang="en-US" altLang="en-US" sz="1600" i="1" dirty="0">
                <a:sym typeface="Monotype Sorts" pitchFamily="-84" charset="2"/>
              </a:rPr>
              <a:t>	</a:t>
            </a:r>
            <a:r>
              <a:rPr lang="en-US" altLang="en-US" sz="1600" i="1" dirty="0">
                <a:sym typeface="Iconic Symbols Ext"/>
              </a:rPr>
              <a:t>A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C </a:t>
            </a:r>
            <a:br>
              <a:rPr lang="en-US" altLang="en-US" sz="1600" i="1" dirty="0">
                <a:sym typeface="Monotype Sorts" pitchFamily="-84" charset="2"/>
              </a:rPr>
            </a:br>
            <a:r>
              <a:rPr lang="en-US" altLang="en-US" sz="1600" i="1" dirty="0">
                <a:sym typeface="Monotype Sorts" pitchFamily="-84" charset="2"/>
              </a:rPr>
              <a:t>	</a:t>
            </a:r>
            <a:r>
              <a:rPr lang="en-US" altLang="en-US" sz="1600" i="1" dirty="0">
                <a:sym typeface="Iconic Symbols Ext"/>
              </a:rPr>
              <a:t>CG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H</a:t>
            </a:r>
            <a:br>
              <a:rPr lang="en-US" altLang="en-US" sz="1600" i="1" dirty="0">
                <a:sym typeface="Monotype Sorts" pitchFamily="-84" charset="2"/>
              </a:rPr>
            </a:br>
            <a:r>
              <a:rPr lang="en-US" altLang="en-US" sz="1600" i="1" dirty="0">
                <a:sym typeface="Monotype Sorts" pitchFamily="-84" charset="2"/>
              </a:rPr>
              <a:t>	</a:t>
            </a:r>
            <a:r>
              <a:rPr lang="en-US" altLang="en-US" sz="1600" i="1" dirty="0">
                <a:sym typeface="Iconic Symbols Ext"/>
              </a:rPr>
              <a:t>CG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I</a:t>
            </a:r>
            <a:br>
              <a:rPr lang="en-US" altLang="en-US" sz="1600" i="1" dirty="0">
                <a:sym typeface="Monotype Sorts" pitchFamily="-84" charset="2"/>
              </a:rPr>
            </a:br>
            <a:r>
              <a:rPr lang="en-US" altLang="en-US" sz="1600" i="1" dirty="0">
                <a:sym typeface="Monotype Sorts" pitchFamily="-84" charset="2"/>
              </a:rPr>
              <a:t>	</a:t>
            </a:r>
            <a:r>
              <a:rPr lang="en-US" altLang="en-US" sz="1600" i="1" dirty="0">
                <a:sym typeface="Iconic Symbols Ext"/>
              </a:rPr>
              <a:t>B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H</a:t>
            </a:r>
            <a:r>
              <a:rPr lang="en-US" altLang="en-US" sz="1600" dirty="0">
                <a:sym typeface="Monotype Sorts" pitchFamily="-84" charset="2"/>
              </a:rPr>
              <a:t>}</a:t>
            </a:r>
            <a:endParaRPr lang="en-US" altLang="en-US" sz="1600" dirty="0">
              <a:sym typeface="MS LineDraw"/>
            </a:endParaRPr>
          </a:p>
          <a:p>
            <a:pPr>
              <a:lnSpc>
                <a:spcPct val="90000"/>
              </a:lnSpc>
              <a:tabLst>
                <a:tab pos="803275" algn="l"/>
                <a:tab pos="2633663" algn="l"/>
                <a:tab pos="3140075" algn="l"/>
              </a:tabLst>
            </a:pPr>
            <a:r>
              <a:rPr lang="en-US" altLang="en-US" sz="1600" dirty="0">
                <a:sym typeface="MS LineDraw"/>
              </a:rPr>
              <a:t>(</a:t>
            </a:r>
            <a:r>
              <a:rPr lang="en-US" altLang="en-US" sz="1600" i="1" dirty="0">
                <a:sym typeface="MS LineDraw"/>
              </a:rPr>
              <a:t>AG)</a:t>
            </a:r>
            <a:r>
              <a:rPr lang="en-US" altLang="en-US" sz="1600" baseline="30000" dirty="0">
                <a:sym typeface="MS LineDraw"/>
              </a:rPr>
              <a:t>+</a:t>
            </a:r>
            <a:endParaRPr lang="en-US" altLang="en-US" sz="1600" dirty="0">
              <a:sym typeface="MS LineDraw"/>
            </a:endParaRPr>
          </a:p>
          <a:p>
            <a:pPr marL="762000" lvl="1" indent="-304800">
              <a:lnSpc>
                <a:spcPct val="90000"/>
              </a:lnSpc>
              <a:buFont typeface="Monotype Sorts" pitchFamily="-84" charset="2"/>
              <a:buNone/>
              <a:tabLst>
                <a:tab pos="803275" algn="l"/>
                <a:tab pos="2633663" algn="l"/>
                <a:tab pos="3140075" algn="l"/>
              </a:tabLst>
            </a:pPr>
            <a:r>
              <a:rPr lang="en-US" altLang="en-US" sz="1600" dirty="0">
                <a:sym typeface="MS LineDraw"/>
              </a:rPr>
              <a:t>1.	</a:t>
            </a:r>
            <a:r>
              <a:rPr lang="en-US" altLang="en-US" sz="1600" i="1" dirty="0">
                <a:sym typeface="MS LineDraw"/>
              </a:rPr>
              <a:t>result = AG</a:t>
            </a:r>
            <a:endParaRPr lang="en-US" altLang="en-US" sz="1600" dirty="0">
              <a:sym typeface="MS LineDraw"/>
            </a:endParaRPr>
          </a:p>
          <a:p>
            <a:pPr marL="762000" lvl="1" indent="-304800">
              <a:lnSpc>
                <a:spcPct val="90000"/>
              </a:lnSpc>
              <a:buFont typeface="Monotype Sorts" pitchFamily="-84" charset="2"/>
              <a:buNone/>
              <a:tabLst>
                <a:tab pos="803275" algn="l"/>
                <a:tab pos="2633663" algn="l"/>
                <a:tab pos="3140075" algn="l"/>
              </a:tabLst>
            </a:pPr>
            <a:r>
              <a:rPr lang="en-US" altLang="en-US" sz="1600" dirty="0">
                <a:sym typeface="MS LineDraw"/>
              </a:rPr>
              <a:t>2.	</a:t>
            </a:r>
            <a:r>
              <a:rPr lang="en-US" altLang="en-US" sz="1600" i="1" dirty="0">
                <a:sym typeface="MS LineDraw"/>
              </a:rPr>
              <a:t>result = ABCG	(A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C </a:t>
            </a:r>
            <a:r>
              <a:rPr lang="en-US" altLang="en-US" sz="1600" dirty="0">
                <a:sym typeface="Monotype Sorts" pitchFamily="-84" charset="2"/>
              </a:rPr>
              <a:t>and </a:t>
            </a:r>
            <a:r>
              <a:rPr lang="en-US" altLang="en-US" sz="1600" i="1" dirty="0">
                <a:sym typeface="Monotype Sorts" pitchFamily="-84" charset="2"/>
              </a:rPr>
              <a:t>A </a:t>
            </a:r>
            <a:r>
              <a:rPr lang="en-US" altLang="en-US" sz="1600" dirty="0">
                <a:sym typeface="Symbol" panose="05050102010706020507" pitchFamily="18" charset="2"/>
              </a:rPr>
              <a:t></a:t>
            </a:r>
            <a:r>
              <a:rPr lang="en-US" altLang="en-US" sz="1600" i="1" dirty="0">
                <a:sym typeface="Symbol" panose="05050102010706020507" pitchFamily="18" charset="2"/>
              </a:rPr>
              <a:t> B)</a:t>
            </a:r>
            <a:endParaRPr lang="en-US" altLang="en-US" sz="1600" dirty="0">
              <a:sym typeface="Symbol" panose="05050102010706020507" pitchFamily="18" charset="2"/>
            </a:endParaRPr>
          </a:p>
          <a:p>
            <a:pPr marL="762000" lvl="1" indent="-304800">
              <a:lnSpc>
                <a:spcPct val="90000"/>
              </a:lnSpc>
              <a:buFont typeface="Monotype Sorts" pitchFamily="-84" charset="2"/>
              <a:buNone/>
              <a:tabLst>
                <a:tab pos="803275" algn="l"/>
                <a:tab pos="2633663" algn="l"/>
                <a:tab pos="3140075" algn="l"/>
              </a:tabLst>
            </a:pPr>
            <a:r>
              <a:rPr lang="en-US" altLang="en-US" sz="1600" dirty="0">
                <a:sym typeface="Symbol" panose="05050102010706020507" pitchFamily="18" charset="2"/>
              </a:rPr>
              <a:t>3.	</a:t>
            </a:r>
            <a:r>
              <a:rPr lang="en-US" altLang="en-US" sz="1600" i="1" dirty="0">
                <a:sym typeface="MS LineDraw"/>
              </a:rPr>
              <a:t>result = ABCG</a:t>
            </a:r>
            <a:r>
              <a:rPr lang="en-US" altLang="en-US" sz="1600" i="1" dirty="0">
                <a:sym typeface="Monotype Sorts" pitchFamily="-84" charset="2"/>
              </a:rPr>
              <a:t>H	(CG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H</a:t>
            </a:r>
            <a:r>
              <a:rPr lang="en-US" altLang="en-US" sz="1600" dirty="0">
                <a:sym typeface="Monotype Sorts" pitchFamily="-84" charset="2"/>
              </a:rPr>
              <a:t> and </a:t>
            </a:r>
            <a:r>
              <a:rPr lang="en-US" altLang="en-US" sz="1600" i="1" dirty="0">
                <a:sym typeface="Monotype Sorts" pitchFamily="-84" charset="2"/>
              </a:rPr>
              <a:t>CG </a:t>
            </a:r>
            <a:r>
              <a:rPr lang="en-US" altLang="en-US" sz="1600" dirty="0">
                <a:sym typeface="Symbol" panose="05050102010706020507" pitchFamily="18" charset="2"/>
              </a:rPr>
              <a:t> </a:t>
            </a:r>
            <a:r>
              <a:rPr lang="en-US" altLang="en-US" sz="1600" i="1" dirty="0">
                <a:sym typeface="Symbol" panose="05050102010706020507" pitchFamily="18" charset="2"/>
              </a:rPr>
              <a:t>AGBC)</a:t>
            </a:r>
          </a:p>
          <a:p>
            <a:pPr marL="762000" lvl="1" indent="-304800">
              <a:lnSpc>
                <a:spcPct val="90000"/>
              </a:lnSpc>
              <a:buFont typeface="Monotype Sorts" pitchFamily="-84" charset="2"/>
              <a:buNone/>
              <a:tabLst>
                <a:tab pos="803275" algn="l"/>
                <a:tab pos="2633663" algn="l"/>
                <a:tab pos="3140075" algn="l"/>
              </a:tabLst>
            </a:pPr>
            <a:r>
              <a:rPr lang="en-US" altLang="en-US" sz="1600" dirty="0">
                <a:sym typeface="Symbol" panose="05050102010706020507" pitchFamily="18" charset="2"/>
              </a:rPr>
              <a:t>4.	</a:t>
            </a:r>
            <a:r>
              <a:rPr lang="en-US" altLang="en-US" sz="1600" i="1" dirty="0">
                <a:sym typeface="MS LineDraw"/>
              </a:rPr>
              <a:t>result = ABCG</a:t>
            </a:r>
            <a:r>
              <a:rPr lang="en-US" altLang="en-US" sz="1600" i="1" dirty="0">
                <a:sym typeface="Monotype Sorts" pitchFamily="-84" charset="2"/>
              </a:rPr>
              <a:t>HI	(CG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I</a:t>
            </a:r>
            <a:r>
              <a:rPr lang="en-US" altLang="en-US" sz="1600" dirty="0">
                <a:sym typeface="Monotype Sorts" pitchFamily="-84" charset="2"/>
              </a:rPr>
              <a:t> and </a:t>
            </a:r>
            <a:r>
              <a:rPr lang="en-US" altLang="en-US" sz="1600" i="1" dirty="0">
                <a:sym typeface="Monotype Sorts" pitchFamily="-84" charset="2"/>
              </a:rPr>
              <a:t>CG </a:t>
            </a:r>
            <a:r>
              <a:rPr lang="en-US" altLang="en-US" sz="1600" dirty="0">
                <a:sym typeface="Symbol" panose="05050102010706020507" pitchFamily="18" charset="2"/>
              </a:rPr>
              <a:t> </a:t>
            </a:r>
            <a:r>
              <a:rPr lang="en-US" altLang="en-US" sz="1600" i="1" dirty="0">
                <a:sym typeface="Symbol" panose="05050102010706020507" pitchFamily="18" charset="2"/>
              </a:rPr>
              <a:t>AGBCH)</a:t>
            </a:r>
          </a:p>
          <a:p>
            <a:pPr>
              <a:lnSpc>
                <a:spcPct val="90000"/>
              </a:lnSpc>
              <a:tabLst>
                <a:tab pos="803275" algn="l"/>
                <a:tab pos="2633663" algn="l"/>
                <a:tab pos="3140075" algn="l"/>
              </a:tabLst>
            </a:pPr>
            <a:r>
              <a:rPr lang="en-US" altLang="en-US" sz="1600" dirty="0">
                <a:sym typeface="Symbol" panose="05050102010706020507" pitchFamily="18" charset="2"/>
              </a:rPr>
              <a:t>Is </a:t>
            </a:r>
            <a:r>
              <a:rPr lang="en-US" altLang="en-US" sz="1600" i="1" dirty="0">
                <a:sym typeface="Symbol" panose="05050102010706020507" pitchFamily="18" charset="2"/>
              </a:rPr>
              <a:t>AG</a:t>
            </a:r>
            <a:r>
              <a:rPr lang="en-US" altLang="en-US" sz="1600" dirty="0">
                <a:sym typeface="Symbol" panose="05050102010706020507" pitchFamily="18" charset="2"/>
              </a:rPr>
              <a:t> a candidate key?  </a:t>
            </a:r>
          </a:p>
          <a:p>
            <a:pPr marL="762000" lvl="1" indent="-304800">
              <a:lnSpc>
                <a:spcPct val="90000"/>
              </a:lnSpc>
              <a:buFont typeface="Monotype Sorts" pitchFamily="-84" charset="2"/>
              <a:buAutoNum type="arabicPeriod"/>
              <a:tabLst>
                <a:tab pos="803275" algn="l"/>
                <a:tab pos="2633663" algn="l"/>
                <a:tab pos="3140075" algn="l"/>
              </a:tabLst>
            </a:pPr>
            <a:r>
              <a:rPr lang="en-US" altLang="en-US" sz="1600" dirty="0">
                <a:sym typeface="Symbol" panose="05050102010706020507" pitchFamily="18" charset="2"/>
              </a:rPr>
              <a:t>Is AG a super key?</a:t>
            </a:r>
          </a:p>
          <a:p>
            <a:pPr marL="1163638" lvl="2" indent="-304800">
              <a:lnSpc>
                <a:spcPct val="90000"/>
              </a:lnSpc>
              <a:buFont typeface="Monotype Sorts" pitchFamily="-84" charset="2"/>
              <a:buAutoNum type="arabicPeriod"/>
              <a:tabLst>
                <a:tab pos="803275" algn="l"/>
                <a:tab pos="2633663" algn="l"/>
                <a:tab pos="3140075" algn="l"/>
              </a:tabLst>
            </a:pPr>
            <a:r>
              <a:rPr lang="en-US" altLang="en-US" sz="1600" dirty="0">
                <a:sym typeface="Symbol" panose="05050102010706020507" pitchFamily="18" charset="2"/>
              </a:rPr>
              <a:t>Does </a:t>
            </a:r>
            <a:r>
              <a:rPr lang="en-US" altLang="en-US" sz="1600" i="1" dirty="0">
                <a:sym typeface="Symbol" panose="05050102010706020507" pitchFamily="18" charset="2"/>
              </a:rPr>
              <a:t>AG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R? == </a:t>
            </a:r>
            <a:r>
              <a:rPr lang="en-US" altLang="en-US" sz="1600" dirty="0">
                <a:sym typeface="Monotype Sorts" pitchFamily="-84" charset="2"/>
              </a:rPr>
              <a:t>Is </a:t>
            </a:r>
            <a:r>
              <a:rPr lang="en-US" altLang="en-US" sz="1600" dirty="0">
                <a:sym typeface="Symbol" panose="05050102010706020507" pitchFamily="18" charset="2"/>
              </a:rPr>
              <a:t>R</a:t>
            </a:r>
            <a:r>
              <a:rPr lang="en-US" altLang="en-US" sz="1600" dirty="0">
                <a:sym typeface="Monotype Sorts" pitchFamily="-84" charset="2"/>
              </a:rPr>
              <a:t> </a:t>
            </a:r>
            <a:r>
              <a:rPr lang="en-US" altLang="en-US" sz="1600" dirty="0">
                <a:sym typeface="Symbol" panose="05050102010706020507" pitchFamily="18" charset="2"/>
              </a:rPr>
              <a:t> </a:t>
            </a:r>
            <a:r>
              <a:rPr lang="en-US" altLang="en-US" sz="1600" dirty="0">
                <a:sym typeface="Monotype Sorts" pitchFamily="-84" charset="2"/>
              </a:rPr>
              <a:t>(AG)</a:t>
            </a:r>
            <a:r>
              <a:rPr lang="en-US" altLang="en-US" sz="1600" baseline="30000" dirty="0">
                <a:sym typeface="Monotype Sorts" pitchFamily="-84" charset="2"/>
              </a:rPr>
              <a:t>+ </a:t>
            </a:r>
            <a:endParaRPr lang="en-US" altLang="en-US" sz="1600" i="1" dirty="0">
              <a:sym typeface="Monotype Sorts" pitchFamily="-84" charset="2"/>
            </a:endParaRPr>
          </a:p>
          <a:p>
            <a:pPr marL="762000" lvl="1" indent="-304800">
              <a:lnSpc>
                <a:spcPct val="90000"/>
              </a:lnSpc>
              <a:buFont typeface="Monotype Sorts" pitchFamily="-84" charset="2"/>
              <a:buAutoNum type="arabicPeriod" startAt="2"/>
              <a:tabLst>
                <a:tab pos="803275" algn="l"/>
                <a:tab pos="2633663" algn="l"/>
                <a:tab pos="3140075" algn="l"/>
              </a:tabLst>
            </a:pPr>
            <a:r>
              <a:rPr lang="en-US" altLang="en-US" sz="1600" dirty="0">
                <a:sym typeface="Monotype Sorts" pitchFamily="-84" charset="2"/>
              </a:rPr>
              <a:t>Is any subset of AG a </a:t>
            </a:r>
            <a:r>
              <a:rPr lang="en-US" altLang="en-US" sz="1600" dirty="0" err="1">
                <a:sym typeface="Monotype Sorts" pitchFamily="-84" charset="2"/>
              </a:rPr>
              <a:t>superkey</a:t>
            </a:r>
            <a:r>
              <a:rPr lang="en-US" altLang="en-US" sz="1600" dirty="0">
                <a:sym typeface="Monotype Sorts" pitchFamily="-84" charset="2"/>
              </a:rPr>
              <a:t>?</a:t>
            </a:r>
          </a:p>
          <a:p>
            <a:pPr marL="1163638" lvl="2" indent="-304800">
              <a:lnSpc>
                <a:spcPct val="90000"/>
              </a:lnSpc>
              <a:buFont typeface="Monotype Sorts" pitchFamily="-84" charset="2"/>
              <a:buAutoNum type="arabicPeriod"/>
              <a:tabLst>
                <a:tab pos="803275" algn="l"/>
                <a:tab pos="2633663" algn="l"/>
                <a:tab pos="3140075" algn="l"/>
              </a:tabLst>
            </a:pPr>
            <a:r>
              <a:rPr lang="en-US" altLang="en-US" sz="1600" dirty="0">
                <a:sym typeface="Monotype Sorts" pitchFamily="-84" charset="2"/>
              </a:rPr>
              <a:t>Does </a:t>
            </a:r>
            <a:r>
              <a:rPr lang="en-US" altLang="en-US" sz="1600" i="1" dirty="0">
                <a:sym typeface="Monotype Sorts" pitchFamily="-84" charset="2"/>
              </a:rPr>
              <a:t>A</a:t>
            </a:r>
            <a:r>
              <a:rPr lang="en-US" altLang="en-US" sz="1600" dirty="0">
                <a:sym typeface="Monotype Sorts" pitchFamily="-84" charset="2"/>
              </a:rPr>
              <a:t>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R</a:t>
            </a:r>
            <a:r>
              <a:rPr lang="en-US" altLang="en-US" sz="1600" dirty="0">
                <a:sym typeface="Monotype Sorts" pitchFamily="-84" charset="2"/>
              </a:rPr>
              <a:t>? </a:t>
            </a:r>
            <a:r>
              <a:rPr lang="en-US" altLang="en-US" sz="1600" i="1" dirty="0">
                <a:sym typeface="Monotype Sorts" pitchFamily="-84" charset="2"/>
              </a:rPr>
              <a:t>== </a:t>
            </a:r>
            <a:r>
              <a:rPr lang="en-US" altLang="en-US" sz="1600" dirty="0">
                <a:sym typeface="Monotype Sorts" pitchFamily="-84" charset="2"/>
              </a:rPr>
              <a:t>Is </a:t>
            </a:r>
            <a:r>
              <a:rPr lang="en-US" altLang="en-US" sz="1600" dirty="0">
                <a:sym typeface="Symbol" panose="05050102010706020507" pitchFamily="18" charset="2"/>
              </a:rPr>
              <a:t>R</a:t>
            </a:r>
            <a:r>
              <a:rPr lang="en-US" altLang="en-US" sz="1600" dirty="0">
                <a:sym typeface="Monotype Sorts" pitchFamily="-84" charset="2"/>
              </a:rPr>
              <a:t> </a:t>
            </a:r>
            <a:r>
              <a:rPr lang="en-US" altLang="en-US" sz="1600" dirty="0">
                <a:sym typeface="Symbol" panose="05050102010706020507" pitchFamily="18" charset="2"/>
              </a:rPr>
              <a:t> </a:t>
            </a:r>
            <a:r>
              <a:rPr lang="en-US" altLang="en-US" sz="1600" dirty="0">
                <a:sym typeface="Monotype Sorts" pitchFamily="-84" charset="2"/>
              </a:rPr>
              <a:t>(A)</a:t>
            </a:r>
            <a:r>
              <a:rPr lang="en-US" altLang="en-US" sz="1600" baseline="30000" dirty="0">
                <a:sym typeface="Monotype Sorts" pitchFamily="-84" charset="2"/>
              </a:rPr>
              <a:t>+   </a:t>
            </a:r>
            <a:endParaRPr lang="en-US" altLang="en-US" sz="1600" dirty="0">
              <a:sym typeface="Monotype Sorts" pitchFamily="-84" charset="2"/>
            </a:endParaRPr>
          </a:p>
          <a:p>
            <a:pPr marL="1163638" lvl="2" indent="-304800">
              <a:lnSpc>
                <a:spcPct val="90000"/>
              </a:lnSpc>
              <a:buFont typeface="Monotype Sorts" pitchFamily="-84" charset="2"/>
              <a:buAutoNum type="arabicPeriod"/>
              <a:tabLst>
                <a:tab pos="803275" algn="l"/>
                <a:tab pos="2633663" algn="l"/>
                <a:tab pos="3140075" algn="l"/>
              </a:tabLst>
            </a:pPr>
            <a:r>
              <a:rPr lang="en-US" altLang="en-US" sz="1600" dirty="0">
                <a:sym typeface="Monotype Sorts" pitchFamily="-84" charset="2"/>
              </a:rPr>
              <a:t>Does </a:t>
            </a:r>
            <a:r>
              <a:rPr lang="en-US" altLang="en-US" sz="1600" i="1" dirty="0">
                <a:sym typeface="Monotype Sorts" pitchFamily="-84" charset="2"/>
              </a:rPr>
              <a:t>G</a:t>
            </a:r>
            <a:r>
              <a:rPr lang="en-US" altLang="en-US" sz="1600" dirty="0">
                <a:sym typeface="Monotype Sorts" pitchFamily="-84" charset="2"/>
              </a:rPr>
              <a:t>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R</a:t>
            </a:r>
            <a:r>
              <a:rPr lang="en-US" altLang="en-US" sz="1600" dirty="0">
                <a:sym typeface="Monotype Sorts" pitchFamily="-84" charset="2"/>
              </a:rPr>
              <a:t>? == Is </a:t>
            </a:r>
            <a:r>
              <a:rPr lang="en-US" altLang="en-US" sz="1600" dirty="0">
                <a:sym typeface="Symbol" panose="05050102010706020507" pitchFamily="18" charset="2"/>
              </a:rPr>
              <a:t>R  </a:t>
            </a:r>
            <a:r>
              <a:rPr lang="en-US" altLang="en-US" sz="1600" dirty="0">
                <a:sym typeface="Monotype Sorts" pitchFamily="-84" charset="2"/>
              </a:rPr>
              <a:t>(G)</a:t>
            </a:r>
            <a:r>
              <a:rPr lang="en-US" altLang="en-US" sz="1600" baseline="30000" dirty="0">
                <a:sym typeface="Monotype Sorts" pitchFamily="-84" charset="2"/>
              </a:rPr>
              <a:t>+ </a:t>
            </a:r>
          </a:p>
          <a:p>
            <a:pPr marL="1163638" lvl="2" indent="-304800">
              <a:lnSpc>
                <a:spcPct val="90000"/>
              </a:lnSpc>
              <a:buFont typeface="Monotype Sorts" pitchFamily="-84" charset="2"/>
              <a:buAutoNum type="arabicPeriod"/>
              <a:tabLst>
                <a:tab pos="803275" algn="l"/>
                <a:tab pos="2633663" algn="l"/>
                <a:tab pos="3140075" algn="l"/>
              </a:tabLst>
            </a:pPr>
            <a:r>
              <a:rPr lang="en-US" altLang="en-US" sz="1600" dirty="0">
                <a:sym typeface="Monotype Sorts" pitchFamily="-84" charset="2"/>
              </a:rPr>
              <a:t>In general: check for each subset of size </a:t>
            </a:r>
            <a:r>
              <a:rPr lang="en-US" altLang="en-US" sz="1600" i="1" dirty="0">
                <a:sym typeface="Monotype Sorts" pitchFamily="-84" charset="2"/>
              </a:rPr>
              <a:t>n-1</a:t>
            </a:r>
            <a:endParaRPr lang="en-US" altLang="en-US" sz="1600" i="1" dirty="0">
              <a:sym typeface="Symbol" panose="05050102010706020507" pitchFamily="18" charset="2"/>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709635">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709635">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709635">
                                            <p:txEl>
                                              <p:pRg st="2" end="2"/>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709635">
                                            <p:txEl>
                                              <p:pRg st="3" end="3"/>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709635">
                                            <p:txEl>
                                              <p:pRg st="4" end="4"/>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499"/>
                                          </p:stCondLst>
                                        </p:cTn>
                                        <p:tgtEl>
                                          <p:spTgt spid="709635">
                                            <p:txEl>
                                              <p:pRg st="5" end="5"/>
                                            </p:txEl>
                                          </p:spTgt>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709635">
                                            <p:txEl>
                                              <p:pRg st="6" end="6"/>
                                            </p:txEl>
                                          </p:spTgt>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grpId="0" nodeType="clickEffect">
                                  <p:stCondLst>
                                    <p:cond delay="0"/>
                                  </p:stCondLst>
                                  <p:childTnLst>
                                    <p:set>
                                      <p:cBhvr>
                                        <p:cTn id="34" dur="1" fill="hold">
                                          <p:stCondLst>
                                            <p:cond delay="499"/>
                                          </p:stCondLst>
                                        </p:cTn>
                                        <p:tgtEl>
                                          <p:spTgt spid="709635">
                                            <p:txEl>
                                              <p:pRg st="7" end="7"/>
                                            </p:txEl>
                                          </p:spTgt>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grpId="0" nodeType="clickEffect">
                                  <p:stCondLst>
                                    <p:cond delay="0"/>
                                  </p:stCondLst>
                                  <p:childTnLst>
                                    <p:set>
                                      <p:cBhvr>
                                        <p:cTn id="38" dur="1" fill="hold">
                                          <p:stCondLst>
                                            <p:cond delay="499"/>
                                          </p:stCondLst>
                                        </p:cTn>
                                        <p:tgtEl>
                                          <p:spTgt spid="709635">
                                            <p:txEl>
                                              <p:pRg st="8" end="8"/>
                                            </p:txEl>
                                          </p:spTgt>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grpId="0" nodeType="clickEffect">
                                  <p:stCondLst>
                                    <p:cond delay="0"/>
                                  </p:stCondLst>
                                  <p:childTnLst>
                                    <p:set>
                                      <p:cBhvr>
                                        <p:cTn id="42" dur="1" fill="hold">
                                          <p:stCondLst>
                                            <p:cond delay="499"/>
                                          </p:stCondLst>
                                        </p:cTn>
                                        <p:tgtEl>
                                          <p:spTgt spid="709635">
                                            <p:txEl>
                                              <p:pRg st="9" end="9"/>
                                            </p:txEl>
                                          </p:spTgt>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grpId="0" nodeType="clickEffect">
                                  <p:stCondLst>
                                    <p:cond delay="0"/>
                                  </p:stCondLst>
                                  <p:childTnLst>
                                    <p:set>
                                      <p:cBhvr>
                                        <p:cTn id="46" dur="1" fill="hold">
                                          <p:stCondLst>
                                            <p:cond delay="499"/>
                                          </p:stCondLst>
                                        </p:cTn>
                                        <p:tgtEl>
                                          <p:spTgt spid="709635">
                                            <p:txEl>
                                              <p:pRg st="10" end="10"/>
                                            </p:txEl>
                                          </p:spTgt>
                                        </p:tgtEl>
                                        <p:attrNameLst>
                                          <p:attrName>style.visibility</p:attrName>
                                        </p:attrNameLst>
                                      </p:cBhvr>
                                      <p:to>
                                        <p:strVal val="visible"/>
                                      </p:to>
                                    </p:set>
                                  </p:childTnLst>
                                </p:cTn>
                              </p:par>
                            </p:childTnLst>
                          </p:cTn>
                        </p:par>
                      </p:childTnLst>
                    </p:cTn>
                  </p:par>
                  <p:par>
                    <p:cTn id="47" fill="hold" nodeType="clickPar">
                      <p:stCondLst>
                        <p:cond delay="indefinite"/>
                      </p:stCondLst>
                      <p:childTnLst>
                        <p:par>
                          <p:cTn id="48" fill="hold" nodeType="withGroup">
                            <p:stCondLst>
                              <p:cond delay="0"/>
                            </p:stCondLst>
                            <p:childTnLst>
                              <p:par>
                                <p:cTn id="49" presetID="1" presetClass="entr" presetSubtype="0" fill="hold" grpId="0" nodeType="clickEffect">
                                  <p:stCondLst>
                                    <p:cond delay="0"/>
                                  </p:stCondLst>
                                  <p:childTnLst>
                                    <p:set>
                                      <p:cBhvr>
                                        <p:cTn id="50" dur="1" fill="hold">
                                          <p:stCondLst>
                                            <p:cond delay="499"/>
                                          </p:stCondLst>
                                        </p:cTn>
                                        <p:tgtEl>
                                          <p:spTgt spid="709635">
                                            <p:txEl>
                                              <p:pRg st="11" end="11"/>
                                            </p:txEl>
                                          </p:spTgt>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499"/>
                                          </p:stCondLst>
                                        </p:cTn>
                                        <p:tgtEl>
                                          <p:spTgt spid="709635">
                                            <p:txEl>
                                              <p:pRg st="12" end="12"/>
                                            </p:txEl>
                                          </p:spTgt>
                                        </p:tgtEl>
                                        <p:attrNameLst>
                                          <p:attrName>style.visibility</p:attrName>
                                        </p:attrNameLst>
                                      </p:cBhvr>
                                      <p:to>
                                        <p:strVal val="visible"/>
                                      </p:to>
                                    </p:set>
                                  </p:childTnLst>
                                </p:cTn>
                              </p:par>
                            </p:childTnLst>
                          </p:cTn>
                        </p:par>
                      </p:childTnLst>
                    </p:cTn>
                  </p:par>
                  <p:par>
                    <p:cTn id="53" fill="hold" nodeType="clickPar">
                      <p:stCondLst>
                        <p:cond delay="indefinite"/>
                      </p:stCondLst>
                      <p:childTnLst>
                        <p:par>
                          <p:cTn id="54" fill="hold" nodeType="withGroup">
                            <p:stCondLst>
                              <p:cond delay="0"/>
                            </p:stCondLst>
                            <p:childTnLst>
                              <p:par>
                                <p:cTn id="55" presetID="1" presetClass="entr" presetSubtype="0" fill="hold" grpId="0" nodeType="clickEffect">
                                  <p:stCondLst>
                                    <p:cond delay="0"/>
                                  </p:stCondLst>
                                  <p:childTnLst>
                                    <p:set>
                                      <p:cBhvr>
                                        <p:cTn id="56" dur="1" fill="hold">
                                          <p:stCondLst>
                                            <p:cond delay="499"/>
                                          </p:stCondLst>
                                        </p:cTn>
                                        <p:tgtEl>
                                          <p:spTgt spid="709635">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9635" grpId="0" build="p" bldLvl="2" autoUpdateAnimBg="0"/>
    </p:bldLst>
  </p:timing>
</p:sld>
</file>

<file path=ppt/slides/slide9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1682" name="Rectangle 2"/>
          <p:cNvSpPr>
            <a:spLocks noGrp="1" noChangeArrowheads="1"/>
          </p:cNvSpPr>
          <p:nvPr>
            <p:ph type="title"/>
          </p:nvPr>
        </p:nvSpPr>
        <p:spPr>
          <a:xfrm>
            <a:off x="952500" y="153988"/>
            <a:ext cx="8077200" cy="609600"/>
          </a:xfrm>
        </p:spPr>
        <p:txBody>
          <a:bodyPr/>
          <a:lstStyle/>
          <a:p>
            <a:pPr>
              <a:defRPr/>
            </a:pPr>
            <a:r>
              <a:rPr lang="en-US" altLang="en-US" dirty="0">
                <a:effectLst>
                  <a:outerShdw blurRad="38100" dist="38100" dir="2700000" algn="tl">
                    <a:srgbClr val="C0C0C0"/>
                  </a:outerShdw>
                </a:effectLst>
                <a:ea typeface="ＭＳ Ｐゴシック" pitchFamily="34" charset="-128"/>
              </a:rPr>
              <a:t>Uses of Attribute Closure</a:t>
            </a:r>
          </a:p>
        </p:txBody>
      </p:sp>
      <p:sp>
        <p:nvSpPr>
          <p:cNvPr id="3" name="Text Placeholder 2">
            <a:extLst>
              <a:ext uri="{FF2B5EF4-FFF2-40B4-BE49-F238E27FC236}">
                <a16:creationId xmlns:a16="http://schemas.microsoft.com/office/drawing/2014/main" id="{3F69F363-EE6B-3A30-66F8-DA755F7B6164}"/>
              </a:ext>
            </a:extLst>
          </p:cNvPr>
          <p:cNvSpPr>
            <a:spLocks noGrp="1" noChangeArrowheads="1"/>
          </p:cNvSpPr>
          <p:nvPr>
            <p:ph type="body" idx="4294967295"/>
          </p:nvPr>
        </p:nvSpPr>
        <p:spPr bwMode="auto">
          <a:xfrm>
            <a:off x="206679" y="1291212"/>
            <a:ext cx="8730641" cy="52629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چند کاربرد برای الگوریتم بستارِ صفت‌ها وجود دارد</a:t>
            </a:r>
            <a:r>
              <a:rPr kumimoji="0" lang="en-US"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a:t>
            </a:r>
            <a:endParaRPr kumimoji="0" lang="en-US" altLang="en-US" sz="2400" b="0" i="0" u="none" strike="noStrike" cap="none" normalizeH="0" baseline="0" dirty="0">
              <a:ln>
                <a:noFill/>
              </a:ln>
              <a:solidFill>
                <a:schemeClr val="tx1"/>
              </a:solidFill>
              <a:effectLst/>
              <a:latin typeface="Arial" panose="020B0604020202020204" pitchFamily="34" charset="0"/>
            </a:endParaRPr>
          </a:p>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برای آزمون اَبَرکلید بودن</a:t>
            </a:r>
            <a:r>
              <a:rPr kumimoji="0" lang="en-US" altLang="en-US" sz="24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a:t>
            </a:r>
            <a:br>
              <a:rPr kumimoji="0" lang="en-US" altLang="en-US" sz="2400" b="0" i="0" u="none" strike="noStrike" cap="none" normalizeH="0" baseline="0" dirty="0">
                <a:ln>
                  <a:noFill/>
                </a:ln>
                <a:solidFill>
                  <a:schemeClr val="tx1"/>
                </a:solidFill>
                <a:effectLst/>
                <a:latin typeface="Arial" panose="020B0604020202020204" pitchFamily="34" charset="0"/>
              </a:rPr>
            </a:b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برای اینکه ببینیم یک مجموعهٔ صفت</a:t>
            </a:r>
            <a:r>
              <a:rPr kumimoji="0" lang="en-US" altLang="en-US" sz="2400" b="0" i="0" u="none" strike="noStrike" cap="none" normalizeH="0" baseline="0" dirty="0">
                <a:ln>
                  <a:noFill/>
                </a:ln>
                <a:solidFill>
                  <a:schemeClr val="tx1"/>
                </a:solidFill>
                <a:effectLst/>
                <a:latin typeface="Arial" panose="020B0604020202020204" pitchFamily="34" charset="0"/>
              </a:rPr>
              <a:t> α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اَبَرکلید هست یا نه، بستار</a:t>
            </a:r>
            <a:r>
              <a:rPr kumimoji="0" lang="en-US" altLang="en-US" sz="2400" b="0" i="0" u="none" strike="noStrike" cap="none" normalizeH="0" baseline="0" dirty="0">
                <a:ln>
                  <a:noFill/>
                </a:ln>
                <a:solidFill>
                  <a:schemeClr val="tx1"/>
                </a:solidFill>
                <a:effectLst/>
                <a:latin typeface="Arial" panose="020B0604020202020204" pitchFamily="34" charset="0"/>
              </a:rPr>
              <a:t> α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را حساب می‌کنیم</a:t>
            </a:r>
            <a:r>
              <a:rPr kumimoji="0" lang="en-US" altLang="en-US" sz="2400" b="0" i="0" u="none" strike="noStrike" cap="none" normalizeH="0" baseline="0" dirty="0">
                <a:ln>
                  <a:noFill/>
                </a:ln>
                <a:solidFill>
                  <a:schemeClr val="tx1"/>
                </a:solidFill>
                <a:effectLst/>
                <a:latin typeface="Arial" panose="020B0604020202020204" pitchFamily="34" charset="0"/>
              </a:rPr>
              <a:t> (α⁺)،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و بررسی می‌کنیم که آیا</a:t>
            </a:r>
            <a:r>
              <a:rPr kumimoji="0" lang="en-US" altLang="en-US" sz="2400" b="0" i="0" u="none" strike="noStrike" cap="none" normalizeH="0" baseline="0" dirty="0">
                <a:ln>
                  <a:noFill/>
                </a:ln>
                <a:solidFill>
                  <a:schemeClr val="tx1"/>
                </a:solidFill>
                <a:effectLst/>
                <a:latin typeface="Arial" panose="020B0604020202020204" pitchFamily="34" charset="0"/>
              </a:rPr>
              <a:t> α⁺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شامل تمام صفات</a:t>
            </a:r>
            <a:r>
              <a:rPr kumimoji="0" lang="en-US" altLang="en-US" sz="2400" b="0" i="0" u="none" strike="noStrike" cap="none" normalizeH="0" baseline="0" dirty="0">
                <a:ln>
                  <a:noFill/>
                </a:ln>
                <a:solidFill>
                  <a:schemeClr val="tx1"/>
                </a:solidFill>
                <a:effectLst/>
                <a:latin typeface="Arial" panose="020B0604020202020204" pitchFamily="34" charset="0"/>
              </a:rPr>
              <a:t> R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هست یا نه</a:t>
            </a:r>
            <a:r>
              <a:rPr kumimoji="0" lang="en-US" altLang="en-US" sz="2400" b="0" i="0" u="none" strike="noStrike" cap="none" normalizeH="0" baseline="0" dirty="0">
                <a:ln>
                  <a:noFill/>
                </a:ln>
                <a:solidFill>
                  <a:schemeClr val="tx1"/>
                </a:solidFill>
                <a:effectLst/>
                <a:latin typeface="Arial" panose="020B0604020202020204" pitchFamily="34" charset="0"/>
              </a:rPr>
              <a:t>.</a:t>
            </a:r>
          </a:p>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برای آزمون وابستگی تابعی</a:t>
            </a:r>
            <a:r>
              <a:rPr kumimoji="0" lang="en-US" altLang="en-US" sz="24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a:t>
            </a:r>
            <a:br>
              <a:rPr kumimoji="0" lang="en-US" altLang="en-US" sz="2400" b="0" i="0" u="none" strike="noStrike" cap="none" normalizeH="0" baseline="0" dirty="0">
                <a:ln>
                  <a:noFill/>
                </a:ln>
                <a:solidFill>
                  <a:schemeClr val="tx1"/>
                </a:solidFill>
                <a:effectLst/>
                <a:latin typeface="Arial" panose="020B0604020202020204" pitchFamily="34" charset="0"/>
              </a:rPr>
            </a:b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برای بررسی اینکه یک وابستگی تابعی</a:t>
            </a:r>
            <a:r>
              <a:rPr kumimoji="0" lang="en-US" altLang="en-US" sz="2400" b="0" i="0" u="none" strike="noStrike" cap="none" normalizeH="0" baseline="0" dirty="0">
                <a:ln>
                  <a:noFill/>
                </a:ln>
                <a:solidFill>
                  <a:schemeClr val="tx1"/>
                </a:solidFill>
                <a:effectLst/>
                <a:latin typeface="Arial" panose="020B0604020202020204" pitchFamily="34" charset="0"/>
              </a:rPr>
              <a:t> α → β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برقرار است</a:t>
            </a:r>
            <a:r>
              <a:rPr kumimoji="0" lang="en-US" altLang="en-US" sz="2400" b="0" i="0" u="none" strike="noStrike" cap="none" normalizeH="0" baseline="0" dirty="0">
                <a:ln>
                  <a:noFill/>
                </a:ln>
                <a:solidFill>
                  <a:schemeClr val="tx1"/>
                </a:solidFill>
                <a:effectLst/>
                <a:latin typeface="Arial" panose="020B0604020202020204" pitchFamily="34" charset="0"/>
              </a:rPr>
              <a:t>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یا به عبارتی در</a:t>
            </a:r>
            <a:r>
              <a:rPr kumimoji="0" lang="en-US" altLang="en-US" sz="2400" b="0" i="0" u="none" strike="noStrike" cap="none" normalizeH="0" baseline="0" dirty="0">
                <a:ln>
                  <a:noFill/>
                </a:ln>
                <a:solidFill>
                  <a:schemeClr val="tx1"/>
                </a:solidFill>
                <a:effectLst/>
                <a:latin typeface="Arial" panose="020B0604020202020204" pitchFamily="34" charset="0"/>
              </a:rPr>
              <a:t> F⁺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قرار دارد</a:t>
            </a:r>
            <a:r>
              <a:rPr kumimoji="0" lang="en-US" altLang="en-US" sz="2400" b="0" i="0" u="none" strike="noStrike" cap="none" normalizeH="0" baseline="0" dirty="0">
                <a:ln>
                  <a:noFill/>
                </a:ln>
                <a:solidFill>
                  <a:schemeClr val="tx1"/>
                </a:solidFill>
                <a:effectLst/>
                <a:latin typeface="Arial" panose="020B0604020202020204" pitchFamily="34" charset="0"/>
              </a:rPr>
              <a:t>)،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کافی است ببینیم</a:t>
            </a:r>
            <a:r>
              <a:rPr kumimoji="0" lang="en-US" altLang="en-US" sz="2400" b="0" i="0" u="none" strike="noStrike" cap="none" normalizeH="0" baseline="0" dirty="0">
                <a:ln>
                  <a:noFill/>
                </a:ln>
                <a:solidFill>
                  <a:schemeClr val="tx1"/>
                </a:solidFill>
                <a:effectLst/>
                <a:latin typeface="Arial" panose="020B0604020202020204" pitchFamily="34" charset="0"/>
              </a:rPr>
              <a:t> β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زیرمجموعه‌ای از</a:t>
            </a:r>
            <a:r>
              <a:rPr kumimoji="0" lang="en-US" altLang="en-US" sz="2400" b="0" i="0" u="none" strike="noStrike" cap="none" normalizeH="0" baseline="0" dirty="0">
                <a:ln>
                  <a:noFill/>
                </a:ln>
                <a:solidFill>
                  <a:schemeClr val="tx1"/>
                </a:solidFill>
                <a:effectLst/>
                <a:latin typeface="Arial" panose="020B0604020202020204" pitchFamily="34" charset="0"/>
              </a:rPr>
              <a:t> α⁺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باشد.</a:t>
            </a:r>
            <a:br>
              <a:rPr kumimoji="0" lang="en-US" altLang="en-US" sz="2400" b="0" i="0" u="none" strike="noStrike" cap="none" normalizeH="0" baseline="0" dirty="0">
                <a:ln>
                  <a:noFill/>
                </a:ln>
                <a:solidFill>
                  <a:schemeClr val="tx1"/>
                </a:solidFill>
                <a:effectLst/>
                <a:latin typeface="Arial" panose="020B0604020202020204" pitchFamily="34" charset="0"/>
              </a:rPr>
            </a:b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یعنی</a:t>
            </a:r>
            <a:r>
              <a:rPr kumimoji="0" lang="en-US" altLang="en-US" sz="2400" b="0" i="0" u="none" strike="noStrike" cap="none" normalizeH="0" baseline="0" dirty="0">
                <a:ln>
                  <a:noFill/>
                </a:ln>
                <a:solidFill>
                  <a:schemeClr val="tx1"/>
                </a:solidFill>
                <a:effectLst/>
                <a:latin typeface="Arial" panose="020B0604020202020204" pitchFamily="34" charset="0"/>
              </a:rPr>
              <a:t> α⁺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را با استفاده از الگوریتم بستارِ صفت‌ها محاسبه می‌کنیم، و بعد بررسی می‌کنیم که آیا شامل</a:t>
            </a:r>
            <a:r>
              <a:rPr kumimoji="0" lang="en-US" altLang="en-US" sz="2400" b="0" i="0" u="none" strike="noStrike" cap="none" normalizeH="0" baseline="0" dirty="0">
                <a:ln>
                  <a:noFill/>
                </a:ln>
                <a:solidFill>
                  <a:schemeClr val="tx1"/>
                </a:solidFill>
                <a:effectLst/>
                <a:latin typeface="Arial" panose="020B0604020202020204" pitchFamily="34" charset="0"/>
              </a:rPr>
              <a:t> β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هست یا نه.</a:t>
            </a:r>
            <a:br>
              <a:rPr kumimoji="0" lang="en-US" altLang="en-US" sz="2400" b="0" i="0" u="none" strike="noStrike" cap="none" normalizeH="0" baseline="0" dirty="0">
                <a:ln>
                  <a:noFill/>
                </a:ln>
                <a:solidFill>
                  <a:schemeClr val="tx1"/>
                </a:solidFill>
                <a:effectLst/>
                <a:latin typeface="Arial" panose="020B0604020202020204" pitchFamily="34" charset="0"/>
              </a:rPr>
            </a:b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این یک تست ساده، سریع و بسیار کاربردی است</a:t>
            </a:r>
            <a:r>
              <a:rPr kumimoji="0" lang="en-US" altLang="en-US" sz="2400" b="0" i="0" u="none" strike="noStrike" cap="none" normalizeH="0" baseline="0" dirty="0">
                <a:ln>
                  <a:noFill/>
                </a:ln>
                <a:solidFill>
                  <a:schemeClr val="tx1"/>
                </a:solidFill>
                <a:effectLst/>
                <a:latin typeface="Arial" panose="020B0604020202020204" pitchFamily="34" charset="0"/>
              </a:rPr>
              <a:t>.</a:t>
            </a:r>
          </a:p>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برای محاسبهٔ بستار</a:t>
            </a:r>
            <a:r>
              <a:rPr kumimoji="0" lang="en-US" altLang="en-US" sz="24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 F:</a:t>
            </a:r>
            <a:br>
              <a:rPr kumimoji="0" lang="en-US" altLang="en-US" sz="2400" b="0" i="0" u="none" strike="noStrike" cap="none" normalizeH="0" baseline="0" dirty="0">
                <a:ln>
                  <a:noFill/>
                </a:ln>
                <a:solidFill>
                  <a:schemeClr val="tx1"/>
                </a:solidFill>
                <a:effectLst/>
                <a:latin typeface="Arial" panose="020B0604020202020204" pitchFamily="34" charset="0"/>
              </a:rPr>
            </a:b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برای هر مجموعهٔ صفت</a:t>
            </a:r>
            <a:r>
              <a:rPr kumimoji="0" lang="en-US" altLang="en-US" sz="2400" b="0" i="0" u="none" strike="noStrike" cap="none" normalizeH="0" baseline="0" dirty="0">
                <a:ln>
                  <a:noFill/>
                </a:ln>
                <a:solidFill>
                  <a:schemeClr val="tx1"/>
                </a:solidFill>
                <a:effectLst/>
                <a:latin typeface="Arial" panose="020B0604020202020204" pitchFamily="34" charset="0"/>
              </a:rPr>
              <a:t> γ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که زیرمجموعه‌ای از</a:t>
            </a:r>
            <a:r>
              <a:rPr kumimoji="0" lang="en-US" altLang="en-US" sz="2400" b="0" i="0" u="none" strike="noStrike" cap="none" normalizeH="0" baseline="0" dirty="0">
                <a:ln>
                  <a:noFill/>
                </a:ln>
                <a:solidFill>
                  <a:schemeClr val="tx1"/>
                </a:solidFill>
                <a:effectLst/>
                <a:latin typeface="Arial" panose="020B0604020202020204" pitchFamily="34" charset="0"/>
              </a:rPr>
              <a:t> R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است</a:t>
            </a:r>
            <a:r>
              <a:rPr kumimoji="0" lang="en-US" altLang="en-US" sz="2400" b="0" i="0" u="none" strike="noStrike" cap="none" normalizeH="0" baseline="0" dirty="0">
                <a:ln>
                  <a:noFill/>
                </a:ln>
                <a:solidFill>
                  <a:schemeClr val="tx1"/>
                </a:solidFill>
                <a:effectLst/>
                <a:latin typeface="Arial" panose="020B0604020202020204" pitchFamily="34" charset="0"/>
              </a:rPr>
              <a:t>، γ⁺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را حساب می‌کنیم، و برای هر</a:t>
            </a:r>
            <a:r>
              <a:rPr kumimoji="0" lang="en-US" altLang="en-US" sz="2400" b="0" i="0" u="none" strike="noStrike" cap="none" normalizeH="0" baseline="0" dirty="0">
                <a:ln>
                  <a:noFill/>
                </a:ln>
                <a:solidFill>
                  <a:schemeClr val="tx1"/>
                </a:solidFill>
                <a:effectLst/>
                <a:latin typeface="Arial" panose="020B0604020202020204" pitchFamily="34" charset="0"/>
              </a:rPr>
              <a:t> S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که زیرمجموعه‌ای از</a:t>
            </a:r>
            <a:r>
              <a:rPr kumimoji="0" lang="en-US" altLang="en-US" sz="2400" b="0" i="0" u="none" strike="noStrike" cap="none" normalizeH="0" baseline="0" dirty="0">
                <a:ln>
                  <a:noFill/>
                </a:ln>
                <a:solidFill>
                  <a:schemeClr val="tx1"/>
                </a:solidFill>
                <a:effectLst/>
                <a:latin typeface="Arial" panose="020B0604020202020204" pitchFamily="34" charset="0"/>
              </a:rPr>
              <a:t> γ⁺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باشد، وابستگی تابعی</a:t>
            </a:r>
            <a:r>
              <a:rPr kumimoji="0" lang="en-US" altLang="en-US" sz="2400" b="0" i="0" u="none" strike="noStrike" cap="none" normalizeH="0" baseline="0" dirty="0">
                <a:ln>
                  <a:noFill/>
                </a:ln>
                <a:solidFill>
                  <a:schemeClr val="tx1"/>
                </a:solidFill>
                <a:effectLst/>
                <a:latin typeface="Arial" panose="020B0604020202020204" pitchFamily="34" charset="0"/>
              </a:rPr>
              <a:t> γ → S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را به عنوان نتیجه تولید می‌کنیم</a:t>
            </a:r>
            <a:r>
              <a:rPr kumimoji="0" lang="en-US" altLang="en-US" sz="2400" b="0" i="0" u="none" strike="noStrike" cap="none" normalizeH="0" baseline="0" dirty="0">
                <a:ln>
                  <a:noFill/>
                </a:ln>
                <a:solidFill>
                  <a:schemeClr val="tx1"/>
                </a:solidFill>
                <a:effectLst/>
                <a:latin typeface="Arial" panose="020B0604020202020204" pitchFamily="34" charset="0"/>
              </a:rPr>
              <a:t>.</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3730"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Canonical Cover</a:t>
            </a:r>
          </a:p>
        </p:txBody>
      </p:sp>
      <p:sp>
        <p:nvSpPr>
          <p:cNvPr id="18435" name="Rectangle 3"/>
          <p:cNvSpPr>
            <a:spLocks noGrp="1" noChangeArrowheads="1"/>
          </p:cNvSpPr>
          <p:nvPr>
            <p:ph idx="1"/>
          </p:nvPr>
        </p:nvSpPr>
        <p:spPr>
          <a:xfrm>
            <a:off x="768351" y="1084910"/>
            <a:ext cx="7647680" cy="4425553"/>
          </a:xfrm>
        </p:spPr>
        <p:txBody>
          <a:bodyPr/>
          <a:lstStyle/>
          <a:p>
            <a:pPr algn="r" rtl="1">
              <a:defRPr/>
            </a:pPr>
            <a:r>
              <a:rPr lang="fa-IR" dirty="0"/>
              <a:t>فرض کنید </a:t>
            </a:r>
            <a:r>
              <a:rPr lang="fa-IR" dirty="0" err="1"/>
              <a:t>مجموعه‌ای</a:t>
            </a:r>
            <a:r>
              <a:rPr lang="fa-IR" dirty="0"/>
              <a:t> از </a:t>
            </a:r>
            <a:r>
              <a:rPr lang="fa-IR" dirty="0" err="1"/>
              <a:t>وابستگی‌های</a:t>
            </a:r>
            <a:r>
              <a:rPr lang="fa-IR" dirty="0"/>
              <a:t> </a:t>
            </a:r>
            <a:r>
              <a:rPr lang="fa-IR" dirty="0" err="1"/>
              <a:t>تابعی</a:t>
            </a:r>
            <a:r>
              <a:rPr lang="fa-IR" dirty="0"/>
              <a:t> </a:t>
            </a:r>
            <a:r>
              <a:rPr lang="en-US" dirty="0"/>
              <a:t>F </a:t>
            </a:r>
            <a:r>
              <a:rPr lang="fa-IR" dirty="0"/>
              <a:t>روی یک </a:t>
            </a:r>
            <a:r>
              <a:rPr lang="fa-IR" dirty="0" err="1"/>
              <a:t>شِمای</a:t>
            </a:r>
            <a:r>
              <a:rPr lang="fa-IR" dirty="0"/>
              <a:t> رابطه داشته باشیم.</a:t>
            </a:r>
            <a:br>
              <a:rPr lang="fa-IR" dirty="0"/>
            </a:br>
            <a:r>
              <a:rPr lang="fa-IR" dirty="0"/>
              <a:t>هر زمان که کاربری یک </a:t>
            </a:r>
            <a:r>
              <a:rPr lang="fa-IR" dirty="0" err="1"/>
              <a:t>به‌روزرسانی</a:t>
            </a:r>
            <a:r>
              <a:rPr lang="fa-IR" dirty="0"/>
              <a:t> روی رابطه انجام </a:t>
            </a:r>
            <a:r>
              <a:rPr lang="fa-IR" dirty="0" err="1"/>
              <a:t>می‌دهد</a:t>
            </a:r>
            <a:r>
              <a:rPr lang="fa-IR" dirty="0"/>
              <a:t>، سیستم پایگاه داده باید مطمئن شود که این </a:t>
            </a:r>
            <a:r>
              <a:rPr lang="fa-IR" dirty="0" err="1"/>
              <a:t>به‌روزرسانی</a:t>
            </a:r>
            <a:r>
              <a:rPr lang="fa-IR" dirty="0"/>
              <a:t> هیچ وابستگی </a:t>
            </a:r>
            <a:r>
              <a:rPr lang="fa-IR" dirty="0" err="1"/>
              <a:t>تابعی</a:t>
            </a:r>
            <a:r>
              <a:rPr lang="fa-IR" dirty="0"/>
              <a:t> را نقض </a:t>
            </a:r>
            <a:r>
              <a:rPr lang="fa-IR" dirty="0" err="1"/>
              <a:t>نمی‌کند</a:t>
            </a:r>
            <a:r>
              <a:rPr lang="fa-IR" dirty="0"/>
              <a:t>؛ یعنی تمام </a:t>
            </a:r>
            <a:r>
              <a:rPr lang="fa-IR" dirty="0" err="1"/>
              <a:t>وابستگی‌های</a:t>
            </a:r>
            <a:r>
              <a:rPr lang="fa-IR" dirty="0"/>
              <a:t> </a:t>
            </a:r>
            <a:r>
              <a:rPr lang="fa-IR" dirty="0" err="1"/>
              <a:t>تابعی</a:t>
            </a:r>
            <a:r>
              <a:rPr lang="fa-IR" dirty="0"/>
              <a:t> در </a:t>
            </a:r>
            <a:r>
              <a:rPr lang="en-US" dirty="0"/>
              <a:t>F </a:t>
            </a:r>
            <a:r>
              <a:rPr lang="fa-IR" dirty="0"/>
              <a:t>در وضعیت جدید پایگاه داده برقرار باشند.</a:t>
            </a:r>
            <a:br>
              <a:rPr lang="fa-IR" dirty="0"/>
            </a:br>
            <a:r>
              <a:rPr lang="fa-IR" dirty="0"/>
              <a:t>اگر یک </a:t>
            </a:r>
            <a:r>
              <a:rPr lang="fa-IR" dirty="0" err="1"/>
              <a:t>به‌روزرسانی</a:t>
            </a:r>
            <a:r>
              <a:rPr lang="fa-IR" dirty="0"/>
              <a:t> هر یک از </a:t>
            </a:r>
            <a:r>
              <a:rPr lang="fa-IR" dirty="0" err="1"/>
              <a:t>وابستگی‌های</a:t>
            </a:r>
            <a:r>
              <a:rPr lang="fa-IR" dirty="0"/>
              <a:t> </a:t>
            </a:r>
            <a:r>
              <a:rPr lang="fa-IR" dirty="0" err="1"/>
              <a:t>تابعی</a:t>
            </a:r>
            <a:r>
              <a:rPr lang="fa-IR" dirty="0"/>
              <a:t> موجود در </a:t>
            </a:r>
            <a:r>
              <a:rPr lang="en-US" dirty="0"/>
              <a:t>F </a:t>
            </a:r>
            <a:r>
              <a:rPr lang="fa-IR" dirty="0"/>
              <a:t>را نقض کند، سیستم باید آن </a:t>
            </a:r>
            <a:r>
              <a:rPr lang="fa-IR" dirty="0" err="1"/>
              <a:t>به‌روزرسانی</a:t>
            </a:r>
            <a:r>
              <a:rPr lang="fa-IR" dirty="0"/>
              <a:t> را برگرداند (</a:t>
            </a:r>
            <a:r>
              <a:rPr lang="en-US" dirty="0"/>
              <a:t>rollback </a:t>
            </a:r>
            <a:r>
              <a:rPr lang="fa-IR" dirty="0"/>
              <a:t>کند).</a:t>
            </a:r>
            <a:br>
              <a:rPr lang="fa-IR" dirty="0"/>
            </a:br>
            <a:r>
              <a:rPr lang="fa-IR" dirty="0" err="1"/>
              <a:t>می‌توانیم</a:t>
            </a:r>
            <a:r>
              <a:rPr lang="fa-IR" dirty="0"/>
              <a:t> تلاش لازم برای بررسی </a:t>
            </a:r>
            <a:r>
              <a:rPr lang="fa-IR" dirty="0" err="1"/>
              <a:t>نقض‌ها</a:t>
            </a:r>
            <a:r>
              <a:rPr lang="fa-IR" dirty="0"/>
              <a:t> را با آزمودن یک مجموعه </a:t>
            </a:r>
            <a:r>
              <a:rPr lang="fa-IR" dirty="0" err="1"/>
              <a:t>ساده‌شده</a:t>
            </a:r>
            <a:r>
              <a:rPr lang="fa-IR" dirty="0"/>
              <a:t> از </a:t>
            </a:r>
            <a:r>
              <a:rPr lang="fa-IR" dirty="0" err="1"/>
              <a:t>وابستگی‌های</a:t>
            </a:r>
            <a:r>
              <a:rPr lang="fa-IR" dirty="0"/>
              <a:t> </a:t>
            </a:r>
            <a:r>
              <a:rPr lang="fa-IR" dirty="0" err="1"/>
              <a:t>تابعی</a:t>
            </a:r>
            <a:r>
              <a:rPr lang="fa-IR" dirty="0"/>
              <a:t> که همان </a:t>
            </a:r>
            <a:r>
              <a:rPr lang="fa-IR" dirty="0" err="1"/>
              <a:t>بستار</a:t>
            </a:r>
            <a:r>
              <a:rPr lang="fa-IR" dirty="0"/>
              <a:t> مجموعه اولیه را دارد کاهش دهیم.</a:t>
            </a:r>
            <a:br>
              <a:rPr lang="fa-IR" dirty="0"/>
            </a:br>
            <a:r>
              <a:rPr lang="fa-IR" dirty="0"/>
              <a:t>این مجموعه </a:t>
            </a:r>
            <a:r>
              <a:rPr lang="fa-IR" dirty="0" err="1"/>
              <a:t>ساده‌شده</a:t>
            </a:r>
            <a:r>
              <a:rPr lang="fa-IR" dirty="0"/>
              <a:t> «پوشش </a:t>
            </a:r>
            <a:r>
              <a:rPr lang="fa-IR" dirty="0" err="1"/>
              <a:t>کانُکُنیکال</a:t>
            </a:r>
            <a:r>
              <a:rPr lang="fa-IR" dirty="0"/>
              <a:t>» (</a:t>
            </a:r>
            <a:r>
              <a:rPr lang="en-US" dirty="0"/>
              <a:t>canonical cover) </a:t>
            </a:r>
            <a:r>
              <a:rPr lang="fa-IR" dirty="0"/>
              <a:t>نامیده </a:t>
            </a:r>
            <a:r>
              <a:rPr lang="fa-IR" dirty="0" err="1"/>
              <a:t>می‌شود</a:t>
            </a:r>
            <a:r>
              <a:rPr lang="fa-IR" dirty="0"/>
              <a:t>.</a:t>
            </a:r>
            <a:br>
              <a:rPr lang="fa-IR" dirty="0"/>
            </a:br>
            <a:r>
              <a:rPr lang="fa-IR" dirty="0"/>
              <a:t>برای تعریف پوشش </a:t>
            </a:r>
            <a:r>
              <a:rPr lang="fa-IR" dirty="0" err="1"/>
              <a:t>کانُنیکال</a:t>
            </a:r>
            <a:r>
              <a:rPr lang="fa-IR" dirty="0"/>
              <a:t>، ابتدا باید </a:t>
            </a:r>
            <a:r>
              <a:rPr lang="fa-IR" dirty="0" err="1"/>
              <a:t>ویژگی‌های</a:t>
            </a:r>
            <a:r>
              <a:rPr lang="fa-IR" dirty="0"/>
              <a:t> اضافی (</a:t>
            </a:r>
            <a:r>
              <a:rPr lang="en-US" dirty="0"/>
              <a:t>extraneous attributes) </a:t>
            </a:r>
            <a:r>
              <a:rPr lang="fa-IR" dirty="0"/>
              <a:t>را تعریف کنیم.</a:t>
            </a:r>
            <a:br>
              <a:rPr lang="fa-IR" dirty="0"/>
            </a:br>
            <a:r>
              <a:rPr lang="fa-IR" dirty="0"/>
              <a:t>یک ویژگی در یک وابستگی </a:t>
            </a:r>
            <a:r>
              <a:rPr lang="fa-IR" dirty="0" err="1"/>
              <a:t>تابعیِ</a:t>
            </a:r>
            <a:r>
              <a:rPr lang="fa-IR" dirty="0"/>
              <a:t> موجود در </a:t>
            </a:r>
            <a:r>
              <a:rPr lang="en-US" dirty="0"/>
              <a:t>F </a:t>
            </a:r>
            <a:r>
              <a:rPr lang="fa-IR" dirty="0"/>
              <a:t>اضافی محسوب </a:t>
            </a:r>
            <a:r>
              <a:rPr lang="fa-IR" dirty="0" err="1"/>
              <a:t>می‌شود</a:t>
            </a:r>
            <a:r>
              <a:rPr lang="fa-IR" dirty="0"/>
              <a:t> اگر بتوانیم آن را حذف کنیم بدون اینکه </a:t>
            </a:r>
            <a:r>
              <a:rPr lang="en-US" dirty="0"/>
              <a:t>F⁺ </a:t>
            </a:r>
            <a:r>
              <a:rPr lang="fa-IR" dirty="0"/>
              <a:t>تغییر کند.</a:t>
            </a:r>
            <a:endParaRPr lang="en-US" alt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5778"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Extraneous Attributes</a:t>
            </a:r>
          </a:p>
        </p:txBody>
      </p:sp>
      <p:sp>
        <p:nvSpPr>
          <p:cNvPr id="2" name="Content Placeholder 1">
            <a:extLst>
              <a:ext uri="{FF2B5EF4-FFF2-40B4-BE49-F238E27FC236}">
                <a16:creationId xmlns:a16="http://schemas.microsoft.com/office/drawing/2014/main" id="{B6C30A22-1DDF-10DA-4901-3FD5748A7FC6}"/>
              </a:ext>
            </a:extLst>
          </p:cNvPr>
          <p:cNvSpPr>
            <a:spLocks noGrp="1" noChangeArrowheads="1"/>
          </p:cNvSpPr>
          <p:nvPr>
            <p:ph idx="1"/>
          </p:nvPr>
        </p:nvSpPr>
        <p:spPr bwMode="auto">
          <a:xfrm>
            <a:off x="922362" y="779021"/>
            <a:ext cx="8077199" cy="48936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i="0" u="none" strike="noStrike" cap="none" normalizeH="0" baseline="0" dirty="0">
                <a:ln>
                  <a:noFill/>
                </a:ln>
                <a:solidFill>
                  <a:schemeClr val="tx1"/>
                </a:solidFill>
                <a:effectLst/>
                <a:latin typeface="Arial" panose="020B0604020202020204" pitchFamily="34" charset="0"/>
              </a:rPr>
              <a:t>حذف یک صفت از سمت چپ یک وابستگی تابعی می‌تواند آن را به یک محدودیت قوی‌تر تبدیل کند</a:t>
            </a:r>
            <a:r>
              <a:rPr kumimoji="0" lang="en-US" altLang="en-US" sz="2400" i="0" u="none" strike="noStrike" cap="none" normalizeH="0" baseline="0" dirty="0">
                <a:ln>
                  <a:noFill/>
                </a:ln>
                <a:solidFill>
                  <a:schemeClr val="tx1"/>
                </a:solidFill>
                <a:effectLst/>
                <a:latin typeface="Arial" panose="020B0604020202020204" pitchFamily="34" charset="0"/>
              </a:rPr>
              <a:t>.</a:t>
            </a:r>
          </a:p>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i="0" u="none" strike="noStrike" cap="none" normalizeH="0" baseline="0" dirty="0">
                <a:ln>
                  <a:noFill/>
                </a:ln>
                <a:solidFill>
                  <a:schemeClr val="tx1"/>
                </a:solidFill>
                <a:effectLst/>
                <a:latin typeface="Arial" panose="020B0604020202020204" pitchFamily="34" charset="0"/>
              </a:rPr>
              <a:t>برای مثال، اگر وابستگی</a:t>
            </a:r>
            <a:r>
              <a:rPr kumimoji="0" lang="en-US" altLang="en-US" sz="2400" i="0" u="none" strike="noStrike" cap="none" normalizeH="0" baseline="0" dirty="0">
                <a:ln>
                  <a:noFill/>
                </a:ln>
                <a:solidFill>
                  <a:schemeClr val="tx1"/>
                </a:solidFill>
                <a:effectLst/>
                <a:latin typeface="Arial" panose="020B0604020202020204" pitchFamily="34" charset="0"/>
              </a:rPr>
              <a:t> AB → C </a:t>
            </a:r>
            <a:r>
              <a:rPr kumimoji="0" lang="ar-SA" altLang="en-US" sz="2400" i="0" u="none" strike="noStrike" cap="none" normalizeH="0" baseline="0" dirty="0">
                <a:ln>
                  <a:noFill/>
                </a:ln>
                <a:solidFill>
                  <a:schemeClr val="tx1"/>
                </a:solidFill>
                <a:effectLst/>
                <a:latin typeface="Arial" panose="020B0604020202020204" pitchFamily="34" charset="0"/>
              </a:rPr>
              <a:t>را داشته باشیم و</a:t>
            </a:r>
            <a:r>
              <a:rPr kumimoji="0" lang="en-US" altLang="en-US" sz="2400" i="0" u="none" strike="noStrike" cap="none" normalizeH="0" baseline="0" dirty="0">
                <a:ln>
                  <a:noFill/>
                </a:ln>
                <a:solidFill>
                  <a:schemeClr val="tx1"/>
                </a:solidFill>
                <a:effectLst/>
                <a:latin typeface="Arial" panose="020B0604020202020204" pitchFamily="34" charset="0"/>
              </a:rPr>
              <a:t> B </a:t>
            </a:r>
            <a:r>
              <a:rPr kumimoji="0" lang="ar-SA" altLang="en-US" sz="2400" i="0" u="none" strike="noStrike" cap="none" normalizeH="0" baseline="0" dirty="0">
                <a:ln>
                  <a:noFill/>
                </a:ln>
                <a:solidFill>
                  <a:schemeClr val="tx1"/>
                </a:solidFill>
                <a:effectLst/>
                <a:latin typeface="Arial" panose="020B0604020202020204" pitchFamily="34" charset="0"/>
              </a:rPr>
              <a:t>را حذف کنیم، نتیجهٔ جدید</a:t>
            </a:r>
            <a:r>
              <a:rPr kumimoji="0" lang="en-US" altLang="en-US" sz="2400" i="0" u="none" strike="noStrike" cap="none" normalizeH="0" baseline="0" dirty="0">
                <a:ln>
                  <a:noFill/>
                </a:ln>
                <a:solidFill>
                  <a:schemeClr val="tx1"/>
                </a:solidFill>
                <a:effectLst/>
                <a:latin typeface="Arial" panose="020B0604020202020204" pitchFamily="34" charset="0"/>
              </a:rPr>
              <a:t> A → C </a:t>
            </a:r>
            <a:r>
              <a:rPr kumimoji="0" lang="ar-SA" altLang="en-US" sz="2400" i="0" u="none" strike="noStrike" cap="none" normalizeH="0" baseline="0" dirty="0">
                <a:ln>
                  <a:noFill/>
                </a:ln>
                <a:solidFill>
                  <a:schemeClr val="tx1"/>
                </a:solidFill>
                <a:effectLst/>
                <a:latin typeface="Arial" panose="020B0604020202020204" pitchFamily="34" charset="0"/>
              </a:rPr>
              <a:t>ممکن است قوی‌تر باشد</a:t>
            </a:r>
            <a:r>
              <a:rPr kumimoji="0" lang="en-US" altLang="en-US" sz="2400" i="0" u="none" strike="noStrike" cap="none" normalizeH="0" baseline="0" dirty="0">
                <a:ln>
                  <a:noFill/>
                </a:ln>
                <a:solidFill>
                  <a:schemeClr val="tx1"/>
                </a:solidFill>
                <a:effectLst/>
                <a:latin typeface="Arial" panose="020B0604020202020204" pitchFamily="34" charset="0"/>
              </a:rPr>
              <a:t>.</a:t>
            </a:r>
          </a:p>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i="0" u="none" strike="noStrike" cap="none" normalizeH="0" baseline="0" dirty="0">
                <a:ln>
                  <a:noFill/>
                </a:ln>
                <a:solidFill>
                  <a:schemeClr val="tx1"/>
                </a:solidFill>
                <a:effectLst/>
                <a:latin typeface="Arial" panose="020B0604020202020204" pitchFamily="34" charset="0"/>
              </a:rPr>
              <a:t>این نتیجه قوی‌تر است چون</a:t>
            </a:r>
            <a:r>
              <a:rPr kumimoji="0" lang="en-US" altLang="en-US" sz="2400" i="0" u="none" strike="noStrike" cap="none" normalizeH="0" baseline="0" dirty="0">
                <a:ln>
                  <a:noFill/>
                </a:ln>
                <a:solidFill>
                  <a:schemeClr val="tx1"/>
                </a:solidFill>
                <a:effectLst/>
                <a:latin typeface="Arial" panose="020B0604020202020204" pitchFamily="34" charset="0"/>
              </a:rPr>
              <a:t> A → C </a:t>
            </a:r>
            <a:r>
              <a:rPr kumimoji="0" lang="ar-SA" altLang="en-US" sz="2400" i="0" u="none" strike="noStrike" cap="none" normalizeH="0" baseline="0" dirty="0">
                <a:ln>
                  <a:noFill/>
                </a:ln>
                <a:solidFill>
                  <a:schemeClr val="tx1"/>
                </a:solidFill>
                <a:effectLst/>
                <a:latin typeface="Arial" panose="020B0604020202020204" pitchFamily="34" charset="0"/>
              </a:rPr>
              <a:t>به‌صورت منطقی</a:t>
            </a:r>
            <a:r>
              <a:rPr kumimoji="0" lang="en-US" altLang="en-US" sz="2400" i="0" u="none" strike="noStrike" cap="none" normalizeH="0" baseline="0" dirty="0">
                <a:ln>
                  <a:noFill/>
                </a:ln>
                <a:solidFill>
                  <a:schemeClr val="tx1"/>
                </a:solidFill>
                <a:effectLst/>
                <a:latin typeface="Arial" panose="020B0604020202020204" pitchFamily="34" charset="0"/>
              </a:rPr>
              <a:t>، AB → C </a:t>
            </a:r>
            <a:r>
              <a:rPr kumimoji="0" lang="ar-SA" altLang="en-US" sz="2400" i="0" u="none" strike="noStrike" cap="none" normalizeH="0" baseline="0" dirty="0">
                <a:ln>
                  <a:noFill/>
                </a:ln>
                <a:solidFill>
                  <a:schemeClr val="tx1"/>
                </a:solidFill>
                <a:effectLst/>
                <a:latin typeface="Arial" panose="020B0604020202020204" pitchFamily="34" charset="0"/>
              </a:rPr>
              <a:t>را نیز نتیجه می‌دهد، اما</a:t>
            </a:r>
            <a:r>
              <a:rPr kumimoji="0" lang="en-US" altLang="en-US" sz="2400" i="0" u="none" strike="noStrike" cap="none" normalizeH="0" baseline="0" dirty="0">
                <a:ln>
                  <a:noFill/>
                </a:ln>
                <a:solidFill>
                  <a:schemeClr val="tx1"/>
                </a:solidFill>
                <a:effectLst/>
                <a:latin typeface="Arial" panose="020B0604020202020204" pitchFamily="34" charset="0"/>
              </a:rPr>
              <a:t> AB → C </a:t>
            </a:r>
            <a:r>
              <a:rPr kumimoji="0" lang="ar-SA" altLang="en-US" sz="2400" i="0" u="none" strike="noStrike" cap="none" normalizeH="0" baseline="0" dirty="0">
                <a:ln>
                  <a:noFill/>
                </a:ln>
                <a:solidFill>
                  <a:schemeClr val="tx1"/>
                </a:solidFill>
                <a:effectLst/>
                <a:latin typeface="Arial" panose="020B0604020202020204" pitchFamily="34" charset="0"/>
              </a:rPr>
              <a:t>به‌تنهایی الزاماً</a:t>
            </a:r>
            <a:r>
              <a:rPr kumimoji="0" lang="en-US" altLang="en-US" sz="2400" i="0" u="none" strike="noStrike" cap="none" normalizeH="0" baseline="0" dirty="0">
                <a:ln>
                  <a:noFill/>
                </a:ln>
                <a:solidFill>
                  <a:schemeClr val="tx1"/>
                </a:solidFill>
                <a:effectLst/>
                <a:latin typeface="Arial" panose="020B0604020202020204" pitchFamily="34" charset="0"/>
              </a:rPr>
              <a:t> A → C </a:t>
            </a:r>
            <a:r>
              <a:rPr kumimoji="0" lang="ar-SA" altLang="en-US" sz="2400" i="0" u="none" strike="noStrike" cap="none" normalizeH="0" baseline="0" dirty="0">
                <a:ln>
                  <a:noFill/>
                </a:ln>
                <a:solidFill>
                  <a:schemeClr val="tx1"/>
                </a:solidFill>
                <a:effectLst/>
                <a:latin typeface="Arial" panose="020B0604020202020204" pitchFamily="34" charset="0"/>
              </a:rPr>
              <a:t>را نتیجه نمی‌دهد</a:t>
            </a:r>
            <a:r>
              <a:rPr kumimoji="0" lang="en-US" altLang="en-US" sz="2400" i="0" u="none" strike="noStrike" cap="none" normalizeH="0" baseline="0" dirty="0">
                <a:ln>
                  <a:noFill/>
                </a:ln>
                <a:solidFill>
                  <a:schemeClr val="tx1"/>
                </a:solidFill>
                <a:effectLst/>
                <a:latin typeface="Arial" panose="020B0604020202020204" pitchFamily="34" charset="0"/>
              </a:rPr>
              <a:t>.</a:t>
            </a:r>
          </a:p>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i="0" u="none" strike="noStrike" cap="none" normalizeH="0" baseline="0" dirty="0">
                <a:ln>
                  <a:noFill/>
                </a:ln>
                <a:solidFill>
                  <a:schemeClr val="tx1"/>
                </a:solidFill>
                <a:effectLst/>
                <a:latin typeface="Arial" panose="020B0604020202020204" pitchFamily="34" charset="0"/>
              </a:rPr>
              <a:t>اما بسته به این‌که مجموعهٔ وابستگی‌های تابعی</a:t>
            </a:r>
            <a:r>
              <a:rPr kumimoji="0" lang="en-US" altLang="en-US" sz="2400" i="0" u="none" strike="noStrike" cap="none" normalizeH="0" baseline="0" dirty="0">
                <a:ln>
                  <a:noFill/>
                </a:ln>
                <a:solidFill>
                  <a:schemeClr val="tx1"/>
                </a:solidFill>
                <a:effectLst/>
                <a:latin typeface="Arial" panose="020B0604020202020204" pitchFamily="34" charset="0"/>
              </a:rPr>
              <a:t> F </a:t>
            </a:r>
            <a:r>
              <a:rPr kumimoji="0" lang="ar-SA" altLang="en-US" sz="2400" i="0" u="none" strike="noStrike" cap="none" normalizeH="0" baseline="0" dirty="0">
                <a:ln>
                  <a:noFill/>
                </a:ln>
                <a:solidFill>
                  <a:schemeClr val="tx1"/>
                </a:solidFill>
                <a:effectLst/>
                <a:latin typeface="Arial" panose="020B0604020202020204" pitchFamily="34" charset="0"/>
              </a:rPr>
              <a:t>چه چیزهایی هستند، ممکن است بتوانیم</a:t>
            </a:r>
            <a:r>
              <a:rPr kumimoji="0" lang="en-US" altLang="en-US" sz="2400" i="0" u="none" strike="noStrike" cap="none" normalizeH="0" baseline="0" dirty="0">
                <a:ln>
                  <a:noFill/>
                </a:ln>
                <a:solidFill>
                  <a:schemeClr val="tx1"/>
                </a:solidFill>
                <a:effectLst/>
                <a:latin typeface="Arial" panose="020B0604020202020204" pitchFamily="34" charset="0"/>
              </a:rPr>
              <a:t> B </a:t>
            </a:r>
            <a:r>
              <a:rPr kumimoji="0" lang="ar-SA" altLang="en-US" sz="2400" i="0" u="none" strike="noStrike" cap="none" normalizeH="0" baseline="0" dirty="0">
                <a:ln>
                  <a:noFill/>
                </a:ln>
                <a:solidFill>
                  <a:schemeClr val="tx1"/>
                </a:solidFill>
                <a:effectLst/>
                <a:latin typeface="Arial" panose="020B0604020202020204" pitchFamily="34" charset="0"/>
              </a:rPr>
              <a:t>را بدون مشکل از</a:t>
            </a:r>
            <a:r>
              <a:rPr kumimoji="0" lang="en-US" altLang="en-US" sz="2400" i="0" u="none" strike="noStrike" cap="none" normalizeH="0" baseline="0" dirty="0">
                <a:ln>
                  <a:noFill/>
                </a:ln>
                <a:solidFill>
                  <a:schemeClr val="tx1"/>
                </a:solidFill>
                <a:effectLst/>
                <a:latin typeface="Arial" panose="020B0604020202020204" pitchFamily="34" charset="0"/>
              </a:rPr>
              <a:t> AB → C </a:t>
            </a:r>
            <a:r>
              <a:rPr kumimoji="0" lang="ar-SA" altLang="en-US" sz="2400" i="0" u="none" strike="noStrike" cap="none" normalizeH="0" baseline="0" dirty="0">
                <a:ln>
                  <a:noFill/>
                </a:ln>
                <a:solidFill>
                  <a:schemeClr val="tx1"/>
                </a:solidFill>
                <a:effectLst/>
                <a:latin typeface="Arial" panose="020B0604020202020204" pitchFamily="34" charset="0"/>
              </a:rPr>
              <a:t>حذف کنیم</a:t>
            </a:r>
            <a:r>
              <a:rPr kumimoji="0" lang="en-US" altLang="en-US" sz="2400" i="0" u="none" strike="noStrike" cap="none" normalizeH="0" baseline="0" dirty="0">
                <a:ln>
                  <a:noFill/>
                </a:ln>
                <a:solidFill>
                  <a:schemeClr val="tx1"/>
                </a:solidFill>
                <a:effectLst/>
                <a:latin typeface="Arial" panose="020B0604020202020204" pitchFamily="34" charset="0"/>
              </a:rPr>
              <a:t>.</a:t>
            </a:r>
          </a:p>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i="0" u="none" strike="noStrike" cap="none" normalizeH="0" baseline="0" dirty="0">
                <a:ln>
                  <a:noFill/>
                </a:ln>
                <a:solidFill>
                  <a:schemeClr val="tx1"/>
                </a:solidFill>
                <a:effectLst/>
                <a:latin typeface="Arial" panose="020B0604020202020204" pitchFamily="34" charset="0"/>
              </a:rPr>
              <a:t>برای مثال، فرض کنید</a:t>
            </a:r>
            <a:r>
              <a:rPr kumimoji="0" lang="en-US" altLang="en-US" sz="2400" i="0" u="none" strike="noStrike" cap="none" normalizeH="0" baseline="0" dirty="0">
                <a:ln>
                  <a:noFill/>
                </a:ln>
                <a:solidFill>
                  <a:schemeClr val="tx1"/>
                </a:solidFill>
                <a:effectLst/>
                <a:latin typeface="Arial" panose="020B0604020202020204" pitchFamily="34" charset="0"/>
              </a:rPr>
              <a:t>:</a:t>
            </a:r>
            <a:br>
              <a:rPr kumimoji="0" lang="en-US" altLang="en-US" sz="2400" i="0" u="none" strike="noStrike" cap="none" normalizeH="0" baseline="0" dirty="0">
                <a:ln>
                  <a:noFill/>
                </a:ln>
                <a:solidFill>
                  <a:schemeClr val="tx1"/>
                </a:solidFill>
                <a:effectLst/>
                <a:latin typeface="Arial" panose="020B0604020202020204" pitchFamily="34" charset="0"/>
              </a:rPr>
            </a:br>
            <a:r>
              <a:rPr kumimoji="0" lang="en-US" altLang="en-US" sz="2400" i="0" u="none" strike="noStrike" cap="none" normalizeH="0" baseline="0" dirty="0">
                <a:ln>
                  <a:noFill/>
                </a:ln>
                <a:solidFill>
                  <a:schemeClr val="tx1"/>
                </a:solidFill>
                <a:effectLst/>
                <a:latin typeface="Arial" panose="020B0604020202020204" pitchFamily="34" charset="0"/>
              </a:rPr>
              <a:t>F = { AB → C , A → D , D → C }</a:t>
            </a:r>
          </a:p>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i="0" u="none" strike="noStrike" cap="none" normalizeH="0" baseline="0" dirty="0">
                <a:ln>
                  <a:noFill/>
                </a:ln>
                <a:solidFill>
                  <a:schemeClr val="tx1"/>
                </a:solidFill>
                <a:effectLst/>
                <a:latin typeface="Arial" panose="020B0604020202020204" pitchFamily="34" charset="0"/>
              </a:rPr>
              <a:t>در این صورت می‌توانیم نشان دهیم که</a:t>
            </a:r>
            <a:r>
              <a:rPr kumimoji="0" lang="en-US" altLang="en-US" sz="2400" i="0" u="none" strike="noStrike" cap="none" normalizeH="0" baseline="0" dirty="0">
                <a:ln>
                  <a:noFill/>
                </a:ln>
                <a:solidFill>
                  <a:schemeClr val="tx1"/>
                </a:solidFill>
                <a:effectLst/>
                <a:latin typeface="Arial" panose="020B0604020202020204" pitchFamily="34" charset="0"/>
              </a:rPr>
              <a:t> F </a:t>
            </a:r>
            <a:r>
              <a:rPr kumimoji="0" lang="ar-SA" altLang="en-US" sz="2400" i="0" u="none" strike="noStrike" cap="none" normalizeH="0" baseline="0" dirty="0">
                <a:ln>
                  <a:noFill/>
                </a:ln>
                <a:solidFill>
                  <a:schemeClr val="tx1"/>
                </a:solidFill>
                <a:effectLst/>
                <a:latin typeface="Arial" panose="020B0604020202020204" pitchFamily="34" charset="0"/>
              </a:rPr>
              <a:t>به‌صورت منطقی</a:t>
            </a:r>
            <a:r>
              <a:rPr kumimoji="0" lang="en-US" altLang="en-US" sz="2400" i="0" u="none" strike="noStrike" cap="none" normalizeH="0" baseline="0" dirty="0">
                <a:ln>
                  <a:noFill/>
                </a:ln>
                <a:solidFill>
                  <a:schemeClr val="tx1"/>
                </a:solidFill>
                <a:effectLst/>
                <a:latin typeface="Arial" panose="020B0604020202020204" pitchFamily="34" charset="0"/>
              </a:rPr>
              <a:t> A → C </a:t>
            </a:r>
            <a:r>
              <a:rPr kumimoji="0" lang="ar-SA" altLang="en-US" sz="2400" i="0" u="none" strike="noStrike" cap="none" normalizeH="0" baseline="0" dirty="0">
                <a:ln>
                  <a:noFill/>
                </a:ln>
                <a:solidFill>
                  <a:schemeClr val="tx1"/>
                </a:solidFill>
                <a:effectLst/>
                <a:latin typeface="Arial" panose="020B0604020202020204" pitchFamily="34" charset="0"/>
              </a:rPr>
              <a:t>را نتیجه می‌دهد، بنابراین</a:t>
            </a:r>
            <a:r>
              <a:rPr kumimoji="0" lang="en-US" altLang="en-US" sz="2400" i="0" u="none" strike="noStrike" cap="none" normalizeH="0" baseline="0" dirty="0">
                <a:ln>
                  <a:noFill/>
                </a:ln>
                <a:solidFill>
                  <a:schemeClr val="tx1"/>
                </a:solidFill>
                <a:effectLst/>
                <a:latin typeface="Arial" panose="020B0604020202020204" pitchFamily="34" charset="0"/>
              </a:rPr>
              <a:t> B </a:t>
            </a:r>
            <a:r>
              <a:rPr kumimoji="0" lang="ar-SA" altLang="en-US" sz="2400" i="0" u="none" strike="noStrike" cap="none" normalizeH="0" baseline="0" dirty="0">
                <a:ln>
                  <a:noFill/>
                </a:ln>
                <a:solidFill>
                  <a:schemeClr val="tx1"/>
                </a:solidFill>
                <a:effectLst/>
                <a:latin typeface="Arial" panose="020B0604020202020204" pitchFamily="34" charset="0"/>
              </a:rPr>
              <a:t>در وابستگی</a:t>
            </a:r>
            <a:r>
              <a:rPr kumimoji="0" lang="en-US" altLang="en-US" sz="2400" i="0" u="none" strike="noStrike" cap="none" normalizeH="0" baseline="0" dirty="0">
                <a:ln>
                  <a:noFill/>
                </a:ln>
                <a:solidFill>
                  <a:schemeClr val="tx1"/>
                </a:solidFill>
                <a:effectLst/>
                <a:latin typeface="Arial" panose="020B0604020202020204" pitchFamily="34" charset="0"/>
              </a:rPr>
              <a:t> AB → C </a:t>
            </a:r>
            <a:r>
              <a:rPr kumimoji="0" lang="ar-SA" altLang="en-US" sz="2400" i="0" u="none" strike="noStrike" cap="none" normalizeH="0" baseline="0" dirty="0">
                <a:ln>
                  <a:noFill/>
                </a:ln>
                <a:solidFill>
                  <a:schemeClr val="tx1"/>
                </a:solidFill>
                <a:effectLst/>
                <a:latin typeface="Arial" panose="020B0604020202020204" pitchFamily="34" charset="0"/>
              </a:rPr>
              <a:t>یک صفت زائد</a:t>
            </a:r>
            <a:r>
              <a:rPr kumimoji="0" lang="en-US" altLang="en-US" sz="2400" i="0" u="none" strike="noStrike" cap="none" normalizeH="0" baseline="0" dirty="0">
                <a:ln>
                  <a:noFill/>
                </a:ln>
                <a:solidFill>
                  <a:schemeClr val="tx1"/>
                </a:solidFill>
                <a:effectLst/>
                <a:latin typeface="Arial" panose="020B0604020202020204" pitchFamily="34" charset="0"/>
              </a:rPr>
              <a:t> (Extraneous) </a:t>
            </a:r>
            <a:r>
              <a:rPr kumimoji="0" lang="ar-SA" altLang="en-US" sz="2400" i="0" u="none" strike="noStrike" cap="none" normalizeH="0" baseline="0" dirty="0">
                <a:ln>
                  <a:noFill/>
                </a:ln>
                <a:solidFill>
                  <a:schemeClr val="tx1"/>
                </a:solidFill>
                <a:effectLst/>
                <a:latin typeface="Arial" panose="020B0604020202020204" pitchFamily="34" charset="0"/>
              </a:rPr>
              <a:t>است</a:t>
            </a:r>
            <a:r>
              <a:rPr kumimoji="0" lang="en-US" altLang="en-US" sz="2400" i="0" u="none" strike="noStrike" cap="none" normalizeH="0" baseline="0" dirty="0">
                <a:ln>
                  <a:noFill/>
                </a:ln>
                <a:solidFill>
                  <a:schemeClr val="tx1"/>
                </a:solidFill>
                <a:effectLst/>
                <a:latin typeface="Arial" panose="020B0604020202020204" pitchFamily="34" charset="0"/>
              </a:rPr>
              <a:t>.</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5778"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Extraneous Attributes (Cont.)</a:t>
            </a:r>
          </a:p>
        </p:txBody>
      </p:sp>
      <p:sp>
        <p:nvSpPr>
          <p:cNvPr id="53251" name="Rectangle 3"/>
          <p:cNvSpPr>
            <a:spLocks noGrp="1" noChangeArrowheads="1"/>
          </p:cNvSpPr>
          <p:nvPr>
            <p:ph idx="1"/>
          </p:nvPr>
        </p:nvSpPr>
        <p:spPr>
          <a:xfrm>
            <a:off x="488515" y="1163638"/>
            <a:ext cx="8357035" cy="3384299"/>
          </a:xfrm>
        </p:spPr>
        <p:txBody>
          <a:bodyPr/>
          <a:lstStyle/>
          <a:p>
            <a:pPr algn="r" rtl="1"/>
            <a:r>
              <a:rPr lang="fa-IR" sz="2400" dirty="0"/>
              <a:t>حذف یک صفت از سمت راست یک وابستگی </a:t>
            </a:r>
            <a:r>
              <a:rPr lang="fa-IR" sz="2400" dirty="0" err="1"/>
              <a:t>تابعی</a:t>
            </a:r>
            <a:r>
              <a:rPr lang="fa-IR" sz="2400" dirty="0"/>
              <a:t> </a:t>
            </a:r>
            <a:r>
              <a:rPr lang="fa-IR" sz="2400" dirty="0" err="1"/>
              <a:t>می‌تواند</a:t>
            </a:r>
            <a:r>
              <a:rPr lang="fa-IR" sz="2400" dirty="0"/>
              <a:t> آن را به یک محدودیت </a:t>
            </a:r>
            <a:r>
              <a:rPr lang="fa-IR" sz="2400" dirty="0" err="1"/>
              <a:t>ضعیف‌تر</a:t>
            </a:r>
            <a:r>
              <a:rPr lang="fa-IR" sz="2400" dirty="0"/>
              <a:t> تبدیل کند.</a:t>
            </a:r>
          </a:p>
          <a:p>
            <a:pPr algn="r" rtl="1"/>
            <a:r>
              <a:rPr lang="fa-IR" sz="2400" dirty="0"/>
              <a:t>برای مثال، اگر داشته باشیم </a:t>
            </a:r>
            <a:r>
              <a:rPr lang="en-US" sz="2400" dirty="0"/>
              <a:t>AB → CD </a:t>
            </a:r>
            <a:r>
              <a:rPr lang="fa-IR" sz="2400" dirty="0"/>
              <a:t>و </a:t>
            </a:r>
            <a:r>
              <a:rPr lang="en-US" sz="2400" dirty="0"/>
              <a:t>C </a:t>
            </a:r>
            <a:r>
              <a:rPr lang="fa-IR" sz="2400" dirty="0"/>
              <a:t>را حذف کنیم، نتیجه ممکن است </a:t>
            </a:r>
            <a:r>
              <a:rPr lang="fa-IR" sz="2400" dirty="0" err="1"/>
              <a:t>ضعیف‌تر</a:t>
            </a:r>
            <a:r>
              <a:rPr lang="fa-IR" sz="2400" dirty="0"/>
              <a:t> باشد: </a:t>
            </a:r>
            <a:r>
              <a:rPr lang="en-US" sz="2400" dirty="0"/>
              <a:t>AB → D.</a:t>
            </a:r>
          </a:p>
          <a:p>
            <a:pPr algn="r" rtl="1"/>
            <a:r>
              <a:rPr lang="fa-IR" sz="2400" dirty="0"/>
              <a:t>ممکن است </a:t>
            </a:r>
            <a:r>
              <a:rPr lang="fa-IR" sz="2400" dirty="0" err="1"/>
              <a:t>ضعیف‌تر</a:t>
            </a:r>
            <a:r>
              <a:rPr lang="fa-IR" sz="2400" dirty="0"/>
              <a:t> باشد زیرا با استفاده از فقط </a:t>
            </a:r>
            <a:r>
              <a:rPr lang="en-US" sz="2400" dirty="0"/>
              <a:t>AB → D، </a:t>
            </a:r>
            <a:r>
              <a:rPr lang="fa-IR" sz="2400" dirty="0"/>
              <a:t>دیگر </a:t>
            </a:r>
            <a:r>
              <a:rPr lang="fa-IR" sz="2400" dirty="0" err="1"/>
              <a:t>نمی‌توانیم</a:t>
            </a:r>
            <a:r>
              <a:rPr lang="fa-IR" sz="2400" dirty="0"/>
              <a:t> </a:t>
            </a:r>
            <a:r>
              <a:rPr lang="en-US" sz="2400" dirty="0"/>
              <a:t>AB → C </a:t>
            </a:r>
            <a:r>
              <a:rPr lang="fa-IR" sz="2400" dirty="0"/>
              <a:t>را </a:t>
            </a:r>
            <a:r>
              <a:rPr lang="fa-IR" sz="2400" dirty="0" err="1"/>
              <a:t>نتیجه‌گیری</a:t>
            </a:r>
            <a:r>
              <a:rPr lang="fa-IR" sz="2400" dirty="0"/>
              <a:t> کنیم.</a:t>
            </a:r>
          </a:p>
          <a:p>
            <a:pPr algn="r" rtl="1"/>
            <a:r>
              <a:rPr lang="fa-IR" sz="2400" dirty="0"/>
              <a:t>اما، بسته به اینکه مجموعه </a:t>
            </a:r>
            <a:r>
              <a:rPr lang="en-US" sz="2400" dirty="0"/>
              <a:t>F </a:t>
            </a:r>
            <a:r>
              <a:rPr lang="fa-IR" sz="2400" dirty="0"/>
              <a:t>از </a:t>
            </a:r>
            <a:r>
              <a:rPr lang="fa-IR" sz="2400" dirty="0" err="1"/>
              <a:t>وابستگی‌های</a:t>
            </a:r>
            <a:r>
              <a:rPr lang="fa-IR" sz="2400" dirty="0"/>
              <a:t> </a:t>
            </a:r>
            <a:r>
              <a:rPr lang="fa-IR" sz="2400" dirty="0" err="1"/>
              <a:t>تابعی</a:t>
            </a:r>
            <a:r>
              <a:rPr lang="fa-IR" sz="2400" dirty="0"/>
              <a:t> چه باشد، ممکن است بتوانیم </a:t>
            </a:r>
            <a:r>
              <a:rPr lang="en-US" sz="2400" dirty="0"/>
              <a:t>C </a:t>
            </a:r>
            <a:r>
              <a:rPr lang="fa-IR" sz="2400" dirty="0"/>
              <a:t>را از </a:t>
            </a:r>
            <a:r>
              <a:rPr lang="en-US" sz="2400" dirty="0"/>
              <a:t>AB → CD </a:t>
            </a:r>
            <a:r>
              <a:rPr lang="fa-IR" sz="2400" dirty="0" err="1"/>
              <a:t>به‌طور</a:t>
            </a:r>
            <a:r>
              <a:rPr lang="fa-IR" sz="2400" dirty="0"/>
              <a:t> ایمن حذف کنیم.</a:t>
            </a:r>
          </a:p>
          <a:p>
            <a:pPr algn="r" rtl="1"/>
            <a:r>
              <a:rPr lang="fa-IR" sz="2400" dirty="0"/>
              <a:t>برای مثال، فرض کنید که</a:t>
            </a:r>
            <a:br>
              <a:rPr lang="fa-IR" sz="2400" dirty="0"/>
            </a:br>
            <a:r>
              <a:rPr lang="en-US" sz="2400" dirty="0"/>
              <a:t>F = { AB → CD, A → C }</a:t>
            </a:r>
          </a:p>
          <a:p>
            <a:pPr algn="r" rtl="1"/>
            <a:r>
              <a:rPr lang="fa-IR" sz="2400" dirty="0"/>
              <a:t>سپس </a:t>
            </a:r>
            <a:r>
              <a:rPr lang="fa-IR" sz="2400" dirty="0" err="1"/>
              <a:t>می‌توانیم</a:t>
            </a:r>
            <a:r>
              <a:rPr lang="fa-IR" sz="2400" dirty="0"/>
              <a:t> نشان دهیم که حتی پس از جایگزینی </a:t>
            </a:r>
            <a:r>
              <a:rPr lang="en-US" sz="2400" dirty="0"/>
              <a:t>AB → CD </a:t>
            </a:r>
            <a:r>
              <a:rPr lang="fa-IR" sz="2400" dirty="0"/>
              <a:t>با </a:t>
            </a:r>
            <a:r>
              <a:rPr lang="en-US" sz="2400" dirty="0"/>
              <a:t>AB → D، </a:t>
            </a:r>
            <a:r>
              <a:rPr lang="fa-IR" sz="2400" dirty="0"/>
              <a:t>هنوز </a:t>
            </a:r>
            <a:r>
              <a:rPr lang="fa-IR" sz="2400" dirty="0" err="1"/>
              <a:t>می‌توانیم</a:t>
            </a:r>
            <a:r>
              <a:rPr lang="fa-IR" sz="2400" dirty="0"/>
              <a:t> </a:t>
            </a:r>
            <a:r>
              <a:rPr lang="en-US" sz="2400" dirty="0"/>
              <a:t>AB → C </a:t>
            </a:r>
            <a:r>
              <a:rPr lang="fa-IR" sz="2400" dirty="0"/>
              <a:t>را </a:t>
            </a:r>
            <a:r>
              <a:rPr lang="fa-IR" sz="2400" dirty="0" err="1"/>
              <a:t>نتیجه‌گیری</a:t>
            </a:r>
            <a:r>
              <a:rPr lang="fa-IR" sz="2400" dirty="0"/>
              <a:t> کنیم و در نتیجه </a:t>
            </a:r>
            <a:r>
              <a:rPr lang="en-US" sz="2400" dirty="0"/>
              <a:t>AB → CD.</a:t>
            </a:r>
          </a:p>
          <a:p>
            <a:pPr algn="r" rtl="1"/>
            <a:endParaRPr lang="en-US" altLang="en-US" sz="24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5778"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Extraneous Attributes</a:t>
            </a:r>
          </a:p>
        </p:txBody>
      </p:sp>
      <mc:AlternateContent xmlns:mc="http://schemas.openxmlformats.org/markup-compatibility/2006" xmlns:a14="http://schemas.microsoft.com/office/drawing/2010/main">
        <mc:Choice Requires="a14">
          <p:sp>
            <p:nvSpPr>
              <p:cNvPr id="715779" name="Rectangle 3"/>
              <p:cNvSpPr>
                <a:spLocks noGrp="1" noChangeArrowheads="1"/>
              </p:cNvSpPr>
              <p:nvPr>
                <p:ph idx="1"/>
              </p:nvPr>
            </p:nvSpPr>
            <p:spPr>
              <a:xfrm>
                <a:off x="254000" y="1092199"/>
                <a:ext cx="8591550" cy="5648325"/>
              </a:xfrm>
            </p:spPr>
            <p:txBody>
              <a:bodyPr/>
              <a:lstStyle/>
              <a:p>
                <a:pPr algn="r" rtl="1"/>
                <a:r>
                  <a:rPr lang="fa-IR" dirty="0"/>
                  <a:t>یک صفت از یک وابستگی </a:t>
                </a:r>
                <a:r>
                  <a:rPr lang="fa-IR" dirty="0" err="1"/>
                  <a:t>تابعی</a:t>
                </a:r>
                <a:r>
                  <a:rPr lang="fa-IR" dirty="0"/>
                  <a:t> در </a:t>
                </a:r>
                <a:r>
                  <a:rPr lang="en-US" dirty="0"/>
                  <a:t>F </a:t>
                </a:r>
                <a:r>
                  <a:rPr lang="fa-IR" dirty="0" err="1"/>
                  <a:t>غیرضروری</a:t>
                </a:r>
                <a:r>
                  <a:rPr lang="fa-IR" dirty="0"/>
                  <a:t> است اگر بتوانیم آن را حذف کنیم بدون اینکه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𝐹</m:t>
                        </m:r>
                      </m:e>
                      <m:sup>
                        <m:r>
                          <a:rPr lang="fa-IR">
                            <a:latin typeface="Cambria Math" panose="02040503050406030204" pitchFamily="18" charset="0"/>
                          </a:rPr>
                          <m:t>+</m:t>
                        </m:r>
                      </m:sup>
                    </m:sSup>
                  </m:oMath>
                </a14:m>
                <a:r>
                  <a:rPr lang="fa-IR" dirty="0"/>
                  <a:t>تغییر کند.</a:t>
                </a:r>
              </a:p>
              <a:p>
                <a:pPr algn="r" rtl="1"/>
                <a:r>
                  <a:rPr lang="fa-IR" dirty="0"/>
                  <a:t>یک مجموعه از </a:t>
                </a:r>
                <a:r>
                  <a:rPr lang="fa-IR" dirty="0" err="1"/>
                  <a:t>وابستگی‌های</a:t>
                </a:r>
                <a:r>
                  <a:rPr lang="fa-IR" dirty="0"/>
                  <a:t> </a:t>
                </a:r>
                <a:r>
                  <a:rPr lang="fa-IR" dirty="0" err="1"/>
                  <a:t>تابعی</a:t>
                </a:r>
                <a:r>
                  <a:rPr lang="fa-IR" dirty="0"/>
                  <a:t> </a:t>
                </a:r>
                <a:r>
                  <a:rPr lang="en-US" dirty="0"/>
                  <a:t>F </a:t>
                </a:r>
                <a:r>
                  <a:rPr lang="fa-IR" dirty="0"/>
                  <a:t>و وابستگی </a:t>
                </a:r>
                <a:r>
                  <a:rPr lang="fa-IR" dirty="0" err="1"/>
                  <a:t>تابعی</a:t>
                </a:r>
                <a:r>
                  <a:rPr lang="fa-IR" dirty="0"/>
                  <a:t> </a:t>
                </a:r>
                <a:r>
                  <a:rPr lang="el-GR" dirty="0"/>
                  <a:t>α → β </a:t>
                </a:r>
                <a:r>
                  <a:rPr lang="fa-IR" dirty="0"/>
                  <a:t>در </a:t>
                </a:r>
                <a:r>
                  <a:rPr lang="en-US" dirty="0"/>
                  <a:t>F </a:t>
                </a:r>
                <a:r>
                  <a:rPr lang="fa-IR" dirty="0"/>
                  <a:t>را در نظر بگیرید.</a:t>
                </a:r>
              </a:p>
              <a:p>
                <a:pPr algn="r" rtl="1"/>
                <a:r>
                  <a:rPr lang="fa-IR" dirty="0"/>
                  <a:t>حذف از سمت چپ: صفت </a:t>
                </a:r>
                <a:r>
                  <a:rPr lang="en-US" dirty="0"/>
                  <a:t>A </a:t>
                </a:r>
                <a:r>
                  <a:rPr lang="fa-IR" dirty="0"/>
                  <a:t>در </a:t>
                </a:r>
                <a:r>
                  <a:rPr lang="el-GR" dirty="0"/>
                  <a:t>α </a:t>
                </a:r>
                <a:r>
                  <a:rPr lang="fa-IR" dirty="0" err="1"/>
                  <a:t>غیرضروری</a:t>
                </a:r>
                <a:r>
                  <a:rPr lang="fa-IR" dirty="0"/>
                  <a:t> است اگر</a:t>
                </a:r>
                <a:br>
                  <a:rPr lang="fa-IR" dirty="0"/>
                </a:br>
                <a:r>
                  <a:rPr lang="en-US" dirty="0"/>
                  <a:t>A ∈ </a:t>
                </a:r>
                <a:r>
                  <a:rPr lang="el-GR" dirty="0"/>
                  <a:t>α </a:t>
                </a:r>
                <a:r>
                  <a:rPr lang="fa-IR" dirty="0"/>
                  <a:t>و</a:t>
                </a:r>
                <a:br>
                  <a:rPr lang="fa-IR" dirty="0"/>
                </a:br>
                <a:r>
                  <a:rPr lang="en-US" dirty="0"/>
                  <a:t>F </a:t>
                </a:r>
                <a:r>
                  <a:rPr lang="fa-IR" dirty="0" err="1"/>
                  <a:t>به‌طور</a:t>
                </a:r>
                <a:r>
                  <a:rPr lang="fa-IR" dirty="0"/>
                  <a:t> منطقی نتیجه </a:t>
                </a:r>
                <a:r>
                  <a:rPr lang="fa-IR" dirty="0" err="1"/>
                  <a:t>می‌دهد</a:t>
                </a:r>
                <a:r>
                  <a:rPr lang="fa-IR" dirty="0"/>
                  <a:t> که </a:t>
                </a:r>
                <a14:m>
                  <m:oMath xmlns:m="http://schemas.openxmlformats.org/officeDocument/2006/math">
                    <m:d>
                      <m:dPr>
                        <m:ctrlPr>
                          <a:rPr lang="fa-IR" i="1">
                            <a:latin typeface="Cambria Math" panose="02040503050406030204" pitchFamily="18" charset="0"/>
                          </a:rPr>
                        </m:ctrlPr>
                      </m:dPr>
                      <m:e>
                        <m:r>
                          <a:rPr lang="fa-IR" i="1">
                            <a:latin typeface="Cambria Math" panose="02040503050406030204" pitchFamily="18" charset="0"/>
                          </a:rPr>
                          <m:t>𝐹</m:t>
                        </m:r>
                        <m:r>
                          <m:rPr>
                            <m:nor/>
                          </m:rPr>
                          <a:rPr lang="fa-IR" i="1"/>
                          <m:t>–</m:t>
                        </m:r>
                        <m:d>
                          <m:dPr>
                            <m:begChr m:val="{"/>
                            <m:endChr m:val="}"/>
                            <m:ctrlPr>
                              <a:rPr lang="fa-IR" i="1">
                                <a:latin typeface="Cambria Math" panose="02040503050406030204" pitchFamily="18" charset="0"/>
                              </a:rPr>
                            </m:ctrlPr>
                          </m:dPr>
                          <m:e>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e>
                        </m:d>
                      </m:e>
                    </m:d>
                    <m:r>
                      <a:rPr lang="fa-IR">
                        <a:latin typeface="Cambria Math" panose="02040503050406030204" pitchFamily="18" charset="0"/>
                      </a:rPr>
                      <m:t>∪</m:t>
                    </m:r>
                    <m:d>
                      <m:dPr>
                        <m:begChr m:val="{"/>
                        <m:endChr m:val="}"/>
                        <m:ctrlPr>
                          <a:rPr lang="fa-IR" i="1">
                            <a:latin typeface="Cambria Math" panose="02040503050406030204" pitchFamily="18" charset="0"/>
                          </a:rPr>
                        </m:ctrlPr>
                      </m:dPr>
                      <m:e>
                        <m:d>
                          <m:dPr>
                            <m:ctrlPr>
                              <a:rPr lang="fa-IR" i="1">
                                <a:latin typeface="Cambria Math" panose="02040503050406030204" pitchFamily="18" charset="0"/>
                              </a:rPr>
                            </m:ctrlPr>
                          </m:dPr>
                          <m:e>
                            <m:r>
                              <a:rPr lang="fa-IR" i="1">
                                <a:latin typeface="Cambria Math" panose="02040503050406030204" pitchFamily="18" charset="0"/>
                              </a:rPr>
                              <m:t>𝛼</m:t>
                            </m:r>
                            <m:r>
                              <m:rPr>
                                <m:nor/>
                              </m:rPr>
                              <a:rPr lang="fa-IR" i="1"/>
                              <m:t>–</m:t>
                            </m:r>
                            <m:r>
                              <a:rPr lang="fa-IR" i="1">
                                <a:latin typeface="Cambria Math" panose="02040503050406030204" pitchFamily="18" charset="0"/>
                              </a:rPr>
                              <m:t>𝐴</m:t>
                            </m:r>
                          </m:e>
                        </m:d>
                        <m:r>
                          <a:rPr lang="fa-IR">
                            <a:latin typeface="Cambria Math" panose="02040503050406030204" pitchFamily="18" charset="0"/>
                          </a:rPr>
                          <m:t>→</m:t>
                        </m:r>
                        <m:r>
                          <a:rPr lang="fa-IR" i="1">
                            <a:latin typeface="Cambria Math" panose="02040503050406030204" pitchFamily="18" charset="0"/>
                          </a:rPr>
                          <m:t>𝛽</m:t>
                        </m:r>
                      </m:e>
                    </m:d>
                  </m:oMath>
                </a14:m>
                <a:r>
                  <a:rPr lang="fa-IR" dirty="0"/>
                  <a:t>.</a:t>
                </a:r>
              </a:p>
              <a:p>
                <a:pPr algn="r" rtl="1"/>
                <a:r>
                  <a:rPr lang="fa-IR" dirty="0"/>
                  <a:t>حذف از سمت راست: صفت </a:t>
                </a:r>
                <a:r>
                  <a:rPr lang="en-US" dirty="0"/>
                  <a:t>A </a:t>
                </a:r>
                <a:r>
                  <a:rPr lang="fa-IR" dirty="0"/>
                  <a:t>در </a:t>
                </a:r>
                <a:r>
                  <a:rPr lang="el-GR" dirty="0"/>
                  <a:t>β </a:t>
                </a:r>
                <a:r>
                  <a:rPr lang="fa-IR" dirty="0" err="1"/>
                  <a:t>غیرضروری</a:t>
                </a:r>
                <a:r>
                  <a:rPr lang="fa-IR" dirty="0"/>
                  <a:t> است اگر</a:t>
                </a:r>
                <a:br>
                  <a:rPr lang="fa-IR" dirty="0"/>
                </a:br>
                <a:r>
                  <a:rPr lang="en-US" dirty="0"/>
                  <a:t>A ∈ </a:t>
                </a:r>
                <a:r>
                  <a:rPr lang="el-GR" dirty="0"/>
                  <a:t>β </a:t>
                </a:r>
                <a:r>
                  <a:rPr lang="fa-IR" dirty="0"/>
                  <a:t>و</a:t>
                </a:r>
                <a:br>
                  <a:rPr lang="fa-IR" dirty="0"/>
                </a:br>
                <a:r>
                  <a:rPr lang="fa-IR" dirty="0"/>
                  <a:t>مجموعه </a:t>
                </a:r>
                <a:r>
                  <a:rPr lang="fa-IR" dirty="0" err="1"/>
                  <a:t>وابستگی‌های</a:t>
                </a:r>
                <a:r>
                  <a:rPr lang="fa-IR" dirty="0"/>
                  <a:t> </a:t>
                </a:r>
                <a:r>
                  <a:rPr lang="fa-IR" dirty="0" err="1"/>
                  <a:t>تابعی</a:t>
                </a:r>
                <a:br>
                  <a:rPr lang="fa-IR" dirty="0"/>
                </a:br>
                <a14:m>
                  <m:oMath xmlns:m="http://schemas.openxmlformats.org/officeDocument/2006/math">
                    <m:d>
                      <m:dPr>
                        <m:ctrlPr>
                          <a:rPr lang="fa-IR" i="1">
                            <a:latin typeface="Cambria Math" panose="02040503050406030204" pitchFamily="18" charset="0"/>
                          </a:rPr>
                        </m:ctrlPr>
                      </m:dPr>
                      <m:e>
                        <m:r>
                          <a:rPr lang="fa-IR" i="1">
                            <a:latin typeface="Cambria Math" panose="02040503050406030204" pitchFamily="18" charset="0"/>
                          </a:rPr>
                          <m:t>𝐹</m:t>
                        </m:r>
                        <m:r>
                          <m:rPr>
                            <m:nor/>
                          </m:rPr>
                          <a:rPr lang="fa-IR" i="1"/>
                          <m:t>–</m:t>
                        </m:r>
                        <m:d>
                          <m:dPr>
                            <m:begChr m:val="{"/>
                            <m:endChr m:val="}"/>
                            <m:ctrlPr>
                              <a:rPr lang="fa-IR" i="1">
                                <a:latin typeface="Cambria Math" panose="02040503050406030204" pitchFamily="18" charset="0"/>
                              </a:rPr>
                            </m:ctrlPr>
                          </m:dPr>
                          <m:e>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e>
                        </m:d>
                      </m:e>
                    </m:d>
                    <m:r>
                      <a:rPr lang="fa-IR">
                        <a:latin typeface="Cambria Math" panose="02040503050406030204" pitchFamily="18" charset="0"/>
                      </a:rPr>
                      <m:t>∪</m:t>
                    </m:r>
                    <m:d>
                      <m:dPr>
                        <m:begChr m:val="{"/>
                        <m:endChr m:val="}"/>
                        <m:ctrlPr>
                          <a:rPr lang="fa-IR" i="1">
                            <a:latin typeface="Cambria Math" panose="02040503050406030204" pitchFamily="18" charset="0"/>
                          </a:rPr>
                        </m:ctrlPr>
                      </m:dPr>
                      <m:e>
                        <m:r>
                          <a:rPr lang="fa-IR" i="1">
                            <a:latin typeface="Cambria Math" panose="02040503050406030204" pitchFamily="18" charset="0"/>
                          </a:rPr>
                          <m:t>𝛼</m:t>
                        </m:r>
                        <m:r>
                          <a:rPr lang="fa-IR">
                            <a:latin typeface="Cambria Math" panose="02040503050406030204" pitchFamily="18" charset="0"/>
                          </a:rPr>
                          <m:t>→</m:t>
                        </m:r>
                        <m:d>
                          <m:dPr>
                            <m:ctrlPr>
                              <a:rPr lang="fa-IR" i="1">
                                <a:latin typeface="Cambria Math" panose="02040503050406030204" pitchFamily="18" charset="0"/>
                              </a:rPr>
                            </m:ctrlPr>
                          </m:dPr>
                          <m:e>
                            <m:r>
                              <a:rPr lang="fa-IR" i="1">
                                <a:latin typeface="Cambria Math" panose="02040503050406030204" pitchFamily="18" charset="0"/>
                              </a:rPr>
                              <m:t>𝛽</m:t>
                            </m:r>
                            <m:r>
                              <m:rPr>
                                <m:nor/>
                              </m:rPr>
                              <a:rPr lang="fa-IR" i="1"/>
                              <m:t>–</m:t>
                            </m:r>
                            <m:r>
                              <a:rPr lang="fa-IR" i="1">
                                <a:latin typeface="Cambria Math" panose="02040503050406030204" pitchFamily="18" charset="0"/>
                              </a:rPr>
                              <m:t>𝐴</m:t>
                            </m:r>
                          </m:e>
                        </m:d>
                      </m:e>
                    </m:d>
                  </m:oMath>
                </a14:m>
                <a:r>
                  <a:rPr lang="fa-IR" dirty="0" err="1"/>
                  <a:t>به‌طور</a:t>
                </a:r>
                <a:r>
                  <a:rPr lang="fa-IR" dirty="0"/>
                  <a:t> منطقی </a:t>
                </a:r>
                <a:r>
                  <a:rPr lang="en-US" dirty="0"/>
                  <a:t>F </a:t>
                </a:r>
                <a:r>
                  <a:rPr lang="fa-IR" dirty="0"/>
                  <a:t>را نتیجه دهد.</a:t>
                </a:r>
              </a:p>
              <a:p>
                <a:pPr algn="r" rtl="1"/>
                <a:r>
                  <a:rPr lang="fa-IR" dirty="0"/>
                  <a:t>توجه: </a:t>
                </a:r>
                <a:r>
                  <a:rPr lang="fa-IR" dirty="0" err="1"/>
                  <a:t>نتیجه‌گیری</a:t>
                </a:r>
                <a:r>
                  <a:rPr lang="fa-IR" dirty="0"/>
                  <a:t> در جهت مخالف در هر یک از موارد بالا بدیهی است، زیرا یک وابستگی </a:t>
                </a:r>
                <a:r>
                  <a:rPr lang="fa-IR" dirty="0" err="1"/>
                  <a:t>تابعی</a:t>
                </a:r>
                <a:r>
                  <a:rPr lang="fa-IR" dirty="0"/>
                  <a:t> «</a:t>
                </a:r>
                <a:r>
                  <a:rPr lang="fa-IR" dirty="0" err="1"/>
                  <a:t>قوی‌تر</a:t>
                </a:r>
                <a:r>
                  <a:rPr lang="fa-IR" dirty="0"/>
                  <a:t>» همیشه یک وابستگی </a:t>
                </a:r>
                <a:r>
                  <a:rPr lang="fa-IR" dirty="0" err="1"/>
                  <a:t>ضعیف‌تر</a:t>
                </a:r>
                <a:r>
                  <a:rPr lang="fa-IR" dirty="0"/>
                  <a:t> را نتیجه </a:t>
                </a:r>
                <a:r>
                  <a:rPr lang="fa-IR" dirty="0" err="1"/>
                  <a:t>می‌دهد</a:t>
                </a:r>
                <a:r>
                  <a:rPr lang="fa-IR" dirty="0"/>
                  <a:t>.</a:t>
                </a:r>
              </a:p>
              <a:p>
                <a:pPr algn="r" rtl="1"/>
                <a:endParaRPr lang="en-US" altLang="ja-JP" dirty="0">
                  <a:sym typeface="Greek Symbols"/>
                </a:endParaRPr>
              </a:p>
            </p:txBody>
          </p:sp>
        </mc:Choice>
        <mc:Fallback xmlns="">
          <p:sp>
            <p:nvSpPr>
              <p:cNvPr id="715779" name="Rectangle 3"/>
              <p:cNvSpPr>
                <a:spLocks noGrp="1" noRot="1" noChangeAspect="1" noMove="1" noResize="1" noEditPoints="1" noAdjustHandles="1" noChangeArrowheads="1" noChangeShapeType="1" noTextEdit="1"/>
              </p:cNvSpPr>
              <p:nvPr>
                <p:ph idx="1"/>
              </p:nvPr>
            </p:nvSpPr>
            <p:spPr>
              <a:xfrm>
                <a:off x="254000" y="1092199"/>
                <a:ext cx="8591550" cy="5648325"/>
              </a:xfrm>
              <a:blipFill>
                <a:blip r:embed="rId3"/>
                <a:stretch>
                  <a:fillRect l="-710" t="-1294" r="-852"/>
                </a:stretch>
              </a:blipFill>
            </p:spPr>
            <p:txBody>
              <a:bodyPr/>
              <a:lstStyle/>
              <a:p>
                <a:r>
                  <a:rPr lang="en-US">
                    <a:noFill/>
                  </a:rPr>
                  <a:t> </a:t>
                </a:r>
              </a:p>
            </p:txBody>
          </p:sp>
        </mc:Fallback>
      </mc:AlternateContent>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7826" name="Rectangle 2"/>
          <p:cNvSpPr>
            <a:spLocks noGrp="1" noChangeArrowheads="1"/>
          </p:cNvSpPr>
          <p:nvPr>
            <p:ph type="title"/>
          </p:nvPr>
        </p:nvSpPr>
        <p:spPr>
          <a:xfrm>
            <a:off x="1123950" y="128821"/>
            <a:ext cx="7685088" cy="609600"/>
          </a:xfrm>
        </p:spPr>
        <p:txBody>
          <a:bodyPr/>
          <a:lstStyle/>
          <a:p>
            <a:pPr>
              <a:defRPr/>
            </a:pPr>
            <a:r>
              <a:rPr lang="en-US" altLang="en-US" dirty="0">
                <a:effectLst>
                  <a:outerShdw blurRad="38100" dist="38100" dir="2700000" algn="tl">
                    <a:srgbClr val="C0C0C0"/>
                  </a:outerShdw>
                </a:effectLst>
                <a:ea typeface="ＭＳ Ｐゴシック" pitchFamily="34" charset="-128"/>
              </a:rPr>
              <a:t>Testing if an Attribute is Extraneous</a:t>
            </a:r>
          </a:p>
        </p:txBody>
      </p:sp>
      <mc:AlternateContent xmlns:mc="http://schemas.openxmlformats.org/markup-compatibility/2006" xmlns:a14="http://schemas.microsoft.com/office/drawing/2010/main">
        <mc:Choice Requires="a14">
          <p:sp>
            <p:nvSpPr>
              <p:cNvPr id="55299" name="Rectangle 3"/>
              <p:cNvSpPr>
                <a:spLocks noGrp="1" noChangeArrowheads="1"/>
              </p:cNvSpPr>
              <p:nvPr>
                <p:ph idx="1"/>
              </p:nvPr>
            </p:nvSpPr>
            <p:spPr>
              <a:xfrm>
                <a:off x="772357" y="1093789"/>
                <a:ext cx="7493339" cy="3706811"/>
              </a:xfrm>
            </p:spPr>
            <p:txBody>
              <a:bodyPr/>
              <a:lstStyle/>
              <a:p>
                <a:pPr algn="r" rtl="1"/>
                <a:r>
                  <a:rPr lang="fa-IR" sz="2400" dirty="0"/>
                  <a:t>فرض کنید </a:t>
                </a:r>
                <a14:m>
                  <m:oMath xmlns:m="http://schemas.openxmlformats.org/officeDocument/2006/math">
                    <m:r>
                      <a:rPr lang="fa-IR" sz="2400" i="1">
                        <a:latin typeface="Cambria Math" panose="02040503050406030204" pitchFamily="18" charset="0"/>
                      </a:rPr>
                      <m:t>𝑅</m:t>
                    </m:r>
                  </m:oMath>
                </a14:m>
                <a:r>
                  <a:rPr lang="fa-IR" sz="2400" dirty="0"/>
                  <a:t>یک طرح </a:t>
                </a:r>
                <a:r>
                  <a:rPr lang="fa-IR" sz="2400" dirty="0" err="1"/>
                  <a:t>رابطه‌ای</a:t>
                </a:r>
                <a:r>
                  <a:rPr lang="fa-IR" sz="2400" dirty="0"/>
                  <a:t> باشد و </a:t>
                </a:r>
                <a14:m>
                  <m:oMath xmlns:m="http://schemas.openxmlformats.org/officeDocument/2006/math">
                    <m:r>
                      <a:rPr lang="fa-IR" sz="2400" i="1">
                        <a:latin typeface="Cambria Math" panose="02040503050406030204" pitchFamily="18" charset="0"/>
                      </a:rPr>
                      <m:t>𝐹</m:t>
                    </m:r>
                  </m:oMath>
                </a14:m>
                <a:r>
                  <a:rPr lang="fa-IR" sz="2400" dirty="0" err="1"/>
                  <a:t>مجموعه‌ای</a:t>
                </a:r>
                <a:r>
                  <a:rPr lang="fa-IR" sz="2400" dirty="0"/>
                  <a:t> از </a:t>
                </a:r>
                <a:r>
                  <a:rPr lang="fa-IR" sz="2400" dirty="0" err="1"/>
                  <a:t>وابستگی‌های</a:t>
                </a:r>
                <a:r>
                  <a:rPr lang="fa-IR" sz="2400" dirty="0"/>
                  <a:t> </a:t>
                </a:r>
                <a:r>
                  <a:rPr lang="fa-IR" sz="2400" dirty="0" err="1"/>
                  <a:t>تابعی</a:t>
                </a:r>
                <a:r>
                  <a:rPr lang="fa-IR" sz="2400" dirty="0"/>
                  <a:t> باشد که روی </a:t>
                </a:r>
                <a14:m>
                  <m:oMath xmlns:m="http://schemas.openxmlformats.org/officeDocument/2006/math">
                    <m:r>
                      <a:rPr lang="fa-IR" sz="2400" i="1">
                        <a:latin typeface="Cambria Math" panose="02040503050406030204" pitchFamily="18" charset="0"/>
                      </a:rPr>
                      <m:t>𝑅</m:t>
                    </m:r>
                  </m:oMath>
                </a14:m>
                <a:r>
                  <a:rPr lang="fa-IR" sz="2400" dirty="0" err="1"/>
                  <a:t>برقرارند</a:t>
                </a:r>
                <a:r>
                  <a:rPr lang="fa-IR" sz="2400" dirty="0"/>
                  <a:t>.</a:t>
                </a:r>
                <a:br>
                  <a:rPr lang="fa-IR" sz="2400" dirty="0"/>
                </a:br>
                <a:r>
                  <a:rPr lang="fa-IR" sz="2400" dirty="0"/>
                  <a:t>یک صفت در وابستگی </a:t>
                </a:r>
                <a:r>
                  <a:rPr lang="fa-IR" sz="2400" dirty="0" err="1"/>
                  <a:t>تابعی</a:t>
                </a:r>
                <a:r>
                  <a:rPr lang="fa-IR" sz="2400" dirty="0"/>
                  <a:t> </a:t>
                </a:r>
                <a:r>
                  <a:rPr lang="el-GR" sz="2400" dirty="0"/>
                  <a:t>α → β </a:t>
                </a:r>
                <a:r>
                  <a:rPr lang="fa-IR" sz="2400" dirty="0"/>
                  <a:t>را در نظر بگیرید.</a:t>
                </a:r>
              </a:p>
              <a:p>
                <a:pPr algn="r" rtl="1"/>
                <a:r>
                  <a:rPr lang="fa-IR" sz="2400" dirty="0"/>
                  <a:t>برای آزمایش اینکه آیا صفت </a:t>
                </a:r>
                <a:r>
                  <a:rPr lang="en-US" sz="2400" dirty="0"/>
                  <a:t>A ∈ </a:t>
                </a:r>
                <a:r>
                  <a:rPr lang="el-GR" sz="2400" dirty="0"/>
                  <a:t>β </a:t>
                </a:r>
                <a:r>
                  <a:rPr lang="fa-IR" sz="2400" dirty="0"/>
                  <a:t>در </a:t>
                </a:r>
                <a:r>
                  <a:rPr lang="el-GR" sz="2400" dirty="0"/>
                  <a:t>β </a:t>
                </a:r>
                <a:r>
                  <a:rPr lang="fa-IR" sz="2400" dirty="0" err="1"/>
                  <a:t>غیرضروری</a:t>
                </a:r>
                <a:r>
                  <a:rPr lang="fa-IR" sz="2400" dirty="0"/>
                  <a:t> است:</a:t>
                </a:r>
                <a:br>
                  <a:rPr lang="fa-IR" sz="2400" dirty="0"/>
                </a:br>
                <a:r>
                  <a:rPr lang="fa-IR" sz="2400" dirty="0"/>
                  <a:t>مجموعه زیر را در نظر بگیرید:</a:t>
                </a:r>
                <a:br>
                  <a:rPr lang="fa-IR" sz="2400" dirty="0"/>
                </a:br>
                <a14:m>
                  <m:oMath xmlns:m="http://schemas.openxmlformats.org/officeDocument/2006/math">
                    <m:sSup>
                      <m:sSupPr>
                        <m:ctrlPr>
                          <a:rPr lang="fa-IR" sz="2400" i="1">
                            <a:latin typeface="Cambria Math" panose="02040503050406030204" pitchFamily="18" charset="0"/>
                          </a:rPr>
                        </m:ctrlPr>
                      </m:sSupPr>
                      <m:e>
                        <m:r>
                          <a:rPr lang="fa-IR" sz="2400" i="1">
                            <a:latin typeface="Cambria Math" panose="02040503050406030204" pitchFamily="18" charset="0"/>
                          </a:rPr>
                          <m:t>𝐹</m:t>
                        </m:r>
                      </m:e>
                      <m:sup>
                        <m:r>
                          <a:rPr lang="fa-IR" sz="2400">
                            <a:latin typeface="Cambria Math" panose="02040503050406030204" pitchFamily="18" charset="0"/>
                          </a:rPr>
                          <m:t>′</m:t>
                        </m:r>
                      </m:sup>
                    </m:sSup>
                    <m:r>
                      <a:rPr lang="fa-IR" sz="2400">
                        <a:latin typeface="Cambria Math" panose="02040503050406030204" pitchFamily="18" charset="0"/>
                      </a:rPr>
                      <m:t>=</m:t>
                    </m:r>
                    <m:d>
                      <m:dPr>
                        <m:ctrlPr>
                          <a:rPr lang="fa-IR" sz="2400" i="1">
                            <a:latin typeface="Cambria Math" panose="02040503050406030204" pitchFamily="18" charset="0"/>
                          </a:rPr>
                        </m:ctrlPr>
                      </m:dPr>
                      <m:e>
                        <m:r>
                          <a:rPr lang="fa-IR" sz="2400" i="1">
                            <a:latin typeface="Cambria Math" panose="02040503050406030204" pitchFamily="18" charset="0"/>
                          </a:rPr>
                          <m:t>𝐹</m:t>
                        </m:r>
                        <m:r>
                          <m:rPr>
                            <m:nor/>
                          </m:rPr>
                          <a:rPr lang="fa-IR" sz="2400" i="1"/>
                          <m:t>–</m:t>
                        </m:r>
                        <m:d>
                          <m:dPr>
                            <m:begChr m:val="{"/>
                            <m:endChr m:val="}"/>
                            <m:ctrlPr>
                              <a:rPr lang="fa-IR" sz="2400" i="1">
                                <a:latin typeface="Cambria Math" panose="02040503050406030204" pitchFamily="18" charset="0"/>
                              </a:rPr>
                            </m:ctrlPr>
                          </m:dPr>
                          <m:e>
                            <m:r>
                              <a:rPr lang="fa-IR" sz="2400" i="1">
                                <a:latin typeface="Cambria Math" panose="02040503050406030204" pitchFamily="18" charset="0"/>
                              </a:rPr>
                              <m:t>𝛼</m:t>
                            </m:r>
                            <m:r>
                              <a:rPr lang="fa-IR" sz="2400">
                                <a:latin typeface="Cambria Math" panose="02040503050406030204" pitchFamily="18" charset="0"/>
                              </a:rPr>
                              <m:t>→</m:t>
                            </m:r>
                            <m:r>
                              <a:rPr lang="fa-IR" sz="2400" i="1">
                                <a:latin typeface="Cambria Math" panose="02040503050406030204" pitchFamily="18" charset="0"/>
                              </a:rPr>
                              <m:t>𝛽</m:t>
                            </m:r>
                          </m:e>
                        </m:d>
                      </m:e>
                    </m:d>
                    <m:r>
                      <a:rPr lang="fa-IR" sz="2400">
                        <a:latin typeface="Cambria Math" panose="02040503050406030204" pitchFamily="18" charset="0"/>
                      </a:rPr>
                      <m:t>∪</m:t>
                    </m:r>
                    <m:d>
                      <m:dPr>
                        <m:begChr m:val="{"/>
                        <m:endChr m:val="}"/>
                        <m:ctrlPr>
                          <a:rPr lang="fa-IR" sz="2400" i="1">
                            <a:latin typeface="Cambria Math" panose="02040503050406030204" pitchFamily="18" charset="0"/>
                          </a:rPr>
                        </m:ctrlPr>
                      </m:dPr>
                      <m:e>
                        <m:r>
                          <a:rPr lang="fa-IR" sz="2400" i="1">
                            <a:latin typeface="Cambria Math" panose="02040503050406030204" pitchFamily="18" charset="0"/>
                          </a:rPr>
                          <m:t>𝛼</m:t>
                        </m:r>
                        <m:r>
                          <a:rPr lang="fa-IR" sz="2400">
                            <a:latin typeface="Cambria Math" panose="02040503050406030204" pitchFamily="18" charset="0"/>
                          </a:rPr>
                          <m:t>→</m:t>
                        </m:r>
                        <m:d>
                          <m:dPr>
                            <m:ctrlPr>
                              <a:rPr lang="fa-IR" sz="2400" i="1">
                                <a:latin typeface="Cambria Math" panose="02040503050406030204" pitchFamily="18" charset="0"/>
                              </a:rPr>
                            </m:ctrlPr>
                          </m:dPr>
                          <m:e>
                            <m:r>
                              <a:rPr lang="fa-IR" sz="2400" i="1">
                                <a:latin typeface="Cambria Math" panose="02040503050406030204" pitchFamily="18" charset="0"/>
                              </a:rPr>
                              <m:t>𝛽</m:t>
                            </m:r>
                            <m:r>
                              <m:rPr>
                                <m:nor/>
                              </m:rPr>
                              <a:rPr lang="fa-IR" sz="2400" i="1"/>
                              <m:t>–</m:t>
                            </m:r>
                            <m:r>
                              <a:rPr lang="fa-IR" sz="2400" i="1">
                                <a:latin typeface="Cambria Math" panose="02040503050406030204" pitchFamily="18" charset="0"/>
                              </a:rPr>
                              <m:t>𝐴</m:t>
                            </m:r>
                          </m:e>
                        </m:d>
                      </m:e>
                    </m:d>
                  </m:oMath>
                </a14:m>
                <a:br>
                  <a:rPr lang="fa-IR" sz="2400" dirty="0"/>
                </a:br>
                <a:r>
                  <a:rPr lang="fa-IR" sz="2400" dirty="0"/>
                  <a:t>بررسی کنید که آیا </a:t>
                </a:r>
                <a:r>
                  <a:rPr lang="el-GR" sz="2400" dirty="0"/>
                  <a:t>α⁺ </a:t>
                </a:r>
                <a:r>
                  <a:rPr lang="fa-IR" sz="2400" dirty="0"/>
                  <a:t>شامل </a:t>
                </a:r>
                <a:r>
                  <a:rPr lang="en-US" sz="2400" dirty="0"/>
                  <a:t>A </a:t>
                </a:r>
                <a:r>
                  <a:rPr lang="fa-IR" sz="2400" dirty="0"/>
                  <a:t>است یا خیر؛ اگر شامل باشد، </a:t>
                </a:r>
                <a:r>
                  <a:rPr lang="en-US" sz="2400" dirty="0"/>
                  <a:t>A </a:t>
                </a:r>
                <a:r>
                  <a:rPr lang="fa-IR" sz="2400" dirty="0"/>
                  <a:t>در </a:t>
                </a:r>
                <a:r>
                  <a:rPr lang="el-GR" sz="2400" dirty="0"/>
                  <a:t>β </a:t>
                </a:r>
                <a:r>
                  <a:rPr lang="fa-IR" sz="2400" dirty="0" err="1"/>
                  <a:t>غیرضروری</a:t>
                </a:r>
                <a:r>
                  <a:rPr lang="fa-IR" sz="2400" dirty="0"/>
                  <a:t> است.</a:t>
                </a:r>
              </a:p>
              <a:p>
                <a:pPr algn="r" rtl="1"/>
                <a:r>
                  <a:rPr lang="fa-IR" sz="2400" dirty="0"/>
                  <a:t>برای آزمایش اینکه آیا صفت </a:t>
                </a:r>
                <a:r>
                  <a:rPr lang="en-US" sz="2400" dirty="0"/>
                  <a:t>A ∈ </a:t>
                </a:r>
                <a:r>
                  <a:rPr lang="el-GR" sz="2400" dirty="0"/>
                  <a:t>α </a:t>
                </a:r>
                <a:r>
                  <a:rPr lang="fa-IR" sz="2400" dirty="0"/>
                  <a:t>در </a:t>
                </a:r>
                <a:r>
                  <a:rPr lang="el-GR" sz="2400" dirty="0"/>
                  <a:t>α </a:t>
                </a:r>
                <a:r>
                  <a:rPr lang="fa-IR" sz="2400" dirty="0" err="1"/>
                  <a:t>غیرضروری</a:t>
                </a:r>
                <a:r>
                  <a:rPr lang="fa-IR" sz="2400" dirty="0"/>
                  <a:t> است:</a:t>
                </a:r>
                <a:br>
                  <a:rPr lang="fa-IR" sz="2400" dirty="0"/>
                </a:br>
                <a:r>
                  <a:rPr lang="fa-IR" sz="2400" dirty="0"/>
                  <a:t>بگذارید </a:t>
                </a:r>
                <a:r>
                  <a:rPr lang="el-GR" sz="2400" dirty="0"/>
                  <a:t>γ = α – {</a:t>
                </a:r>
                <a:r>
                  <a:rPr lang="en-US" sz="2400" dirty="0"/>
                  <a:t>A}. </a:t>
                </a:r>
                <a:r>
                  <a:rPr lang="fa-IR" sz="2400" dirty="0"/>
                  <a:t>بررسی کنید که آیا </a:t>
                </a:r>
                <a:r>
                  <a:rPr lang="el-GR" sz="2400" dirty="0"/>
                  <a:t>γ → β </a:t>
                </a:r>
                <a:r>
                  <a:rPr lang="fa-IR" sz="2400" dirty="0"/>
                  <a:t>را </a:t>
                </a:r>
                <a:r>
                  <a:rPr lang="fa-IR" sz="2400" dirty="0" err="1"/>
                  <a:t>می‌توان</a:t>
                </a:r>
                <a:r>
                  <a:rPr lang="fa-IR" sz="2400" dirty="0"/>
                  <a:t> از </a:t>
                </a:r>
                <a:r>
                  <a:rPr lang="en-US" sz="2400" dirty="0"/>
                  <a:t>F </a:t>
                </a:r>
                <a:r>
                  <a:rPr lang="fa-IR" sz="2400" dirty="0"/>
                  <a:t>نتیجه گرفت یا خیر.</a:t>
                </a:r>
                <a:br>
                  <a:rPr lang="fa-IR" sz="2400" dirty="0"/>
                </a:br>
                <a:r>
                  <a:rPr lang="el-GR" sz="2400" dirty="0"/>
                  <a:t>γ⁺ </a:t>
                </a:r>
                <a:r>
                  <a:rPr lang="fa-IR" sz="2400" dirty="0"/>
                  <a:t>را با استفاده از </a:t>
                </a:r>
                <a:r>
                  <a:rPr lang="fa-IR" sz="2400" dirty="0" err="1"/>
                  <a:t>وابستگی‌های</a:t>
                </a:r>
                <a:r>
                  <a:rPr lang="fa-IR" sz="2400" dirty="0"/>
                  <a:t> موجود در </a:t>
                </a:r>
                <a:r>
                  <a:rPr lang="en-US" sz="2400" dirty="0"/>
                  <a:t>F </a:t>
                </a:r>
                <a:r>
                  <a:rPr lang="fa-IR" sz="2400" dirty="0"/>
                  <a:t>محاسبه کنید.</a:t>
                </a:r>
                <a:br>
                  <a:rPr lang="fa-IR" sz="2400" dirty="0"/>
                </a:br>
                <a:r>
                  <a:rPr lang="fa-IR" sz="2400" dirty="0"/>
                  <a:t>اگر </a:t>
                </a:r>
                <a:r>
                  <a:rPr lang="el-GR" sz="2400" dirty="0"/>
                  <a:t>γ⁺ </a:t>
                </a:r>
                <a:r>
                  <a:rPr lang="fa-IR" sz="2400" dirty="0"/>
                  <a:t>شامل تمام </a:t>
                </a:r>
                <a:r>
                  <a:rPr lang="fa-IR" sz="2400" dirty="0" err="1"/>
                  <a:t>صفت‌های</a:t>
                </a:r>
                <a:r>
                  <a:rPr lang="fa-IR" sz="2400" dirty="0"/>
                  <a:t> </a:t>
                </a:r>
                <a:r>
                  <a:rPr lang="el-GR" sz="2400" dirty="0"/>
                  <a:t>β </a:t>
                </a:r>
                <a:r>
                  <a:rPr lang="fa-IR" sz="2400" dirty="0"/>
                  <a:t>باشد، آنگاه </a:t>
                </a:r>
                <a:r>
                  <a:rPr lang="en-US" sz="2400" dirty="0"/>
                  <a:t>A </a:t>
                </a:r>
                <a:r>
                  <a:rPr lang="fa-IR" sz="2400" dirty="0"/>
                  <a:t>در </a:t>
                </a:r>
                <a:r>
                  <a:rPr lang="el-GR" sz="2400" dirty="0"/>
                  <a:t>α </a:t>
                </a:r>
                <a:r>
                  <a:rPr lang="fa-IR" sz="2400" dirty="0" err="1"/>
                  <a:t>غیرضروری</a:t>
                </a:r>
                <a:r>
                  <a:rPr lang="fa-IR" sz="2400" dirty="0"/>
                  <a:t> است.</a:t>
                </a:r>
              </a:p>
              <a:p>
                <a:pPr marL="381000" indent="-381000" algn="r" rtl="1">
                  <a:buFont typeface="Monotype Sorts" pitchFamily="-84" charset="2"/>
                  <a:buNone/>
                </a:pPr>
                <a:endParaRPr lang="en-US" altLang="en-US" sz="2400" dirty="0">
                  <a:sym typeface="Greek Symbols"/>
                </a:endParaRPr>
              </a:p>
            </p:txBody>
          </p:sp>
        </mc:Choice>
        <mc:Fallback xmlns="">
          <p:sp>
            <p:nvSpPr>
              <p:cNvPr id="55299" name="Rectangle 3"/>
              <p:cNvSpPr>
                <a:spLocks noGrp="1" noRot="1" noChangeAspect="1" noMove="1" noResize="1" noEditPoints="1" noAdjustHandles="1" noChangeArrowheads="1" noChangeShapeType="1" noTextEdit="1"/>
              </p:cNvSpPr>
              <p:nvPr>
                <p:ph idx="1"/>
              </p:nvPr>
            </p:nvSpPr>
            <p:spPr>
              <a:xfrm>
                <a:off x="772357" y="1093789"/>
                <a:ext cx="7493339" cy="3706811"/>
              </a:xfrm>
              <a:blipFill>
                <a:blip r:embed="rId3"/>
                <a:stretch>
                  <a:fillRect l="-488" t="-2463" r="-1383" b="-43678"/>
                </a:stretch>
              </a:blipFill>
            </p:spPr>
            <p:txBody>
              <a:bodyPr/>
              <a:lstStyle/>
              <a:p>
                <a:r>
                  <a:rPr lang="en-US">
                    <a:noFill/>
                  </a:rPr>
                  <a:t> </a:t>
                </a:r>
              </a:p>
            </p:txBody>
          </p:sp>
        </mc:Fallback>
      </mc:AlternateContent>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FE004-DF96-D4B7-8428-65DD39EFD994}"/>
              </a:ext>
            </a:extLst>
          </p:cNvPr>
          <p:cNvSpPr>
            <a:spLocks noGrp="1"/>
          </p:cNvSpPr>
          <p:nvPr>
            <p:ph type="ctrTitle"/>
          </p:nvPr>
        </p:nvSpPr>
        <p:spPr/>
        <p:txBody>
          <a:bodyPr/>
          <a:lstStyle/>
          <a:p>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9874"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Canonical Cover</a:t>
            </a:r>
          </a:p>
        </p:txBody>
      </p:sp>
      <mc:AlternateContent xmlns:mc="http://schemas.openxmlformats.org/markup-compatibility/2006" xmlns:a14="http://schemas.microsoft.com/office/drawing/2010/main">
        <mc:Choice Requires="a14">
          <p:sp>
            <p:nvSpPr>
              <p:cNvPr id="719875" name="Rectangle 3"/>
              <p:cNvSpPr>
                <a:spLocks noGrp="1" noChangeArrowheads="1"/>
              </p:cNvSpPr>
              <p:nvPr>
                <p:ph idx="1"/>
              </p:nvPr>
            </p:nvSpPr>
            <p:spPr>
              <a:xfrm>
                <a:off x="187890" y="1612268"/>
                <a:ext cx="8657660" cy="2505993"/>
              </a:xfrm>
            </p:spPr>
            <p:txBody>
              <a:bodyPr/>
              <a:lstStyle/>
              <a:p>
                <a:pPr algn="r" rtl="1">
                  <a:lnSpc>
                    <a:spcPct val="90000"/>
                  </a:lnSpc>
                </a:pPr>
                <a:r>
                  <a:rPr lang="en-US" sz="2800" dirty="0"/>
                  <a:t>F </a:t>
                </a:r>
                <a:r>
                  <a:rPr lang="fa-IR" sz="2800" dirty="0" err="1"/>
                  <a:t>به‌طور</a:t>
                </a:r>
                <a:r>
                  <a:rPr lang="fa-IR" sz="2800" dirty="0"/>
                  <a:t> منطقی تمام </a:t>
                </a:r>
                <a:r>
                  <a:rPr lang="fa-IR" sz="2800" dirty="0" err="1"/>
                  <a:t>وابستگی‌های</a:t>
                </a:r>
                <a:r>
                  <a:rPr lang="fa-IR" sz="2800" dirty="0"/>
                  <a:t> موجود در </a:t>
                </a:r>
                <a14:m>
                  <m:oMath xmlns:m="http://schemas.openxmlformats.org/officeDocument/2006/math">
                    <m:sSub>
                      <m:sSubPr>
                        <m:ctrlPr>
                          <a:rPr lang="fa-IR" sz="2800" i="1">
                            <a:latin typeface="Cambria Math" panose="02040503050406030204" pitchFamily="18" charset="0"/>
                          </a:rPr>
                        </m:ctrlPr>
                      </m:sSubPr>
                      <m:e>
                        <m:r>
                          <a:rPr lang="fa-IR" sz="2800" i="1">
                            <a:latin typeface="Cambria Math" panose="02040503050406030204" pitchFamily="18" charset="0"/>
                          </a:rPr>
                          <m:t>𝐹</m:t>
                        </m:r>
                      </m:e>
                      <m:sub>
                        <m:r>
                          <a:rPr lang="fa-IR" sz="2800" i="1">
                            <a:latin typeface="Cambria Math" panose="02040503050406030204" pitchFamily="18" charset="0"/>
                          </a:rPr>
                          <m:t>𝑐</m:t>
                        </m:r>
                      </m:sub>
                    </m:sSub>
                  </m:oMath>
                </a14:m>
                <a:r>
                  <a:rPr lang="fa-IR" sz="2800" dirty="0"/>
                  <a:t>را نتیجه </a:t>
                </a:r>
                <a:r>
                  <a:rPr lang="fa-IR" sz="2800" dirty="0" err="1"/>
                  <a:t>می‌دهد</a:t>
                </a:r>
                <a:r>
                  <a:rPr lang="fa-IR" sz="2800" dirty="0"/>
                  <a:t>، و</a:t>
                </a:r>
                <a:br>
                  <a:rPr lang="fa-IR" sz="2800" dirty="0"/>
                </a:br>
                <a14:m>
                  <m:oMath xmlns:m="http://schemas.openxmlformats.org/officeDocument/2006/math">
                    <m:sSub>
                      <m:sSubPr>
                        <m:ctrlPr>
                          <a:rPr lang="fa-IR" sz="2800" i="1">
                            <a:latin typeface="Cambria Math" panose="02040503050406030204" pitchFamily="18" charset="0"/>
                          </a:rPr>
                        </m:ctrlPr>
                      </m:sSubPr>
                      <m:e>
                        <m:r>
                          <a:rPr lang="fa-IR" sz="2800" i="1">
                            <a:latin typeface="Cambria Math" panose="02040503050406030204" pitchFamily="18" charset="0"/>
                          </a:rPr>
                          <m:t>𝐹</m:t>
                        </m:r>
                      </m:e>
                      <m:sub>
                        <m:r>
                          <a:rPr lang="fa-IR" sz="2800" i="1">
                            <a:latin typeface="Cambria Math" panose="02040503050406030204" pitchFamily="18" charset="0"/>
                          </a:rPr>
                          <m:t>𝑐</m:t>
                        </m:r>
                      </m:sub>
                    </m:sSub>
                  </m:oMath>
                </a14:m>
                <a:r>
                  <a:rPr lang="fa-IR" sz="2800" dirty="0" err="1"/>
                  <a:t>به‌طور</a:t>
                </a:r>
                <a:r>
                  <a:rPr lang="fa-IR" sz="2800" dirty="0"/>
                  <a:t> منطقی تمام </a:t>
                </a:r>
                <a:r>
                  <a:rPr lang="fa-IR" sz="2800" dirty="0" err="1"/>
                  <a:t>وابستگی‌های</a:t>
                </a:r>
                <a:r>
                  <a:rPr lang="fa-IR" sz="2800" dirty="0"/>
                  <a:t> موجود در </a:t>
                </a:r>
                <a14:m>
                  <m:oMath xmlns:m="http://schemas.openxmlformats.org/officeDocument/2006/math">
                    <m:r>
                      <a:rPr lang="fa-IR" sz="2800" i="1">
                        <a:latin typeface="Cambria Math" panose="02040503050406030204" pitchFamily="18" charset="0"/>
                      </a:rPr>
                      <m:t>𝐹</m:t>
                    </m:r>
                  </m:oMath>
                </a14:m>
                <a:r>
                  <a:rPr lang="fa-IR" sz="2800" dirty="0"/>
                  <a:t>را نتیجه </a:t>
                </a:r>
                <a:r>
                  <a:rPr lang="fa-IR" sz="2800" dirty="0" err="1"/>
                  <a:t>می‌دهد</a:t>
                </a:r>
                <a:r>
                  <a:rPr lang="fa-IR" sz="2800" dirty="0"/>
                  <a:t>، و</a:t>
                </a:r>
                <a:br>
                  <a:rPr lang="fa-IR" sz="2800" dirty="0"/>
                </a:br>
                <a:r>
                  <a:rPr lang="fa-IR" sz="2800" dirty="0"/>
                  <a:t>هیچ وابستگی </a:t>
                </a:r>
                <a:r>
                  <a:rPr lang="fa-IR" sz="2800" dirty="0" err="1"/>
                  <a:t>تابعی</a:t>
                </a:r>
                <a:r>
                  <a:rPr lang="fa-IR" sz="2800" dirty="0"/>
                  <a:t> در </a:t>
                </a:r>
                <a14:m>
                  <m:oMath xmlns:m="http://schemas.openxmlformats.org/officeDocument/2006/math">
                    <m:sSub>
                      <m:sSubPr>
                        <m:ctrlPr>
                          <a:rPr lang="fa-IR" sz="2800" i="1">
                            <a:latin typeface="Cambria Math" panose="02040503050406030204" pitchFamily="18" charset="0"/>
                          </a:rPr>
                        </m:ctrlPr>
                      </m:sSubPr>
                      <m:e>
                        <m:r>
                          <a:rPr lang="fa-IR" sz="2800" i="1">
                            <a:latin typeface="Cambria Math" panose="02040503050406030204" pitchFamily="18" charset="0"/>
                          </a:rPr>
                          <m:t>𝐹</m:t>
                        </m:r>
                      </m:e>
                      <m:sub>
                        <m:r>
                          <a:rPr lang="fa-IR" sz="2800" i="1">
                            <a:latin typeface="Cambria Math" panose="02040503050406030204" pitchFamily="18" charset="0"/>
                          </a:rPr>
                          <m:t>𝑐</m:t>
                        </m:r>
                      </m:sub>
                    </m:sSub>
                  </m:oMath>
                </a14:m>
                <a:r>
                  <a:rPr lang="fa-IR" sz="2800" dirty="0"/>
                  <a:t>شامل صفت </a:t>
                </a:r>
                <a:r>
                  <a:rPr lang="fa-IR" sz="2800" dirty="0" err="1"/>
                  <a:t>غیرضروری</a:t>
                </a:r>
                <a:r>
                  <a:rPr lang="fa-IR" sz="2800" dirty="0"/>
                  <a:t> نیست، و</a:t>
                </a:r>
                <a:br>
                  <a:rPr lang="fa-IR" sz="2800" dirty="0"/>
                </a:br>
                <a:r>
                  <a:rPr lang="fa-IR" sz="2800" dirty="0"/>
                  <a:t>هر سمت چپ وابستگی </a:t>
                </a:r>
                <a:r>
                  <a:rPr lang="fa-IR" sz="2800" dirty="0" err="1"/>
                  <a:t>تابعی</a:t>
                </a:r>
                <a:r>
                  <a:rPr lang="fa-IR" sz="2800" dirty="0"/>
                  <a:t> در </a:t>
                </a:r>
                <a14:m>
                  <m:oMath xmlns:m="http://schemas.openxmlformats.org/officeDocument/2006/math">
                    <m:sSub>
                      <m:sSubPr>
                        <m:ctrlPr>
                          <a:rPr lang="fa-IR" sz="2800" i="1">
                            <a:latin typeface="Cambria Math" panose="02040503050406030204" pitchFamily="18" charset="0"/>
                          </a:rPr>
                        </m:ctrlPr>
                      </m:sSubPr>
                      <m:e>
                        <m:r>
                          <a:rPr lang="fa-IR" sz="2800" i="1">
                            <a:latin typeface="Cambria Math" panose="02040503050406030204" pitchFamily="18" charset="0"/>
                          </a:rPr>
                          <m:t>𝐹</m:t>
                        </m:r>
                      </m:e>
                      <m:sub>
                        <m:r>
                          <a:rPr lang="fa-IR" sz="2800" i="1">
                            <a:latin typeface="Cambria Math" panose="02040503050406030204" pitchFamily="18" charset="0"/>
                          </a:rPr>
                          <m:t>𝑐</m:t>
                        </m:r>
                      </m:sub>
                    </m:sSub>
                  </m:oMath>
                </a14:m>
                <a:r>
                  <a:rPr lang="fa-IR" sz="2800" dirty="0"/>
                  <a:t>یکتا است. یعنی، هیچ دو وابستگی در </a:t>
                </a:r>
                <a14:m>
                  <m:oMath xmlns:m="http://schemas.openxmlformats.org/officeDocument/2006/math">
                    <m:sSub>
                      <m:sSubPr>
                        <m:ctrlPr>
                          <a:rPr lang="fa-IR" sz="2800" i="1">
                            <a:latin typeface="Cambria Math" panose="02040503050406030204" pitchFamily="18" charset="0"/>
                          </a:rPr>
                        </m:ctrlPr>
                      </m:sSubPr>
                      <m:e>
                        <m:r>
                          <a:rPr lang="fa-IR" sz="2800" i="1">
                            <a:latin typeface="Cambria Math" panose="02040503050406030204" pitchFamily="18" charset="0"/>
                          </a:rPr>
                          <m:t>𝐹</m:t>
                        </m:r>
                      </m:e>
                      <m:sub>
                        <m:r>
                          <a:rPr lang="fa-IR" sz="2800" i="1">
                            <a:latin typeface="Cambria Math" panose="02040503050406030204" pitchFamily="18" charset="0"/>
                          </a:rPr>
                          <m:t>𝑐</m:t>
                        </m:r>
                      </m:sub>
                    </m:sSub>
                  </m:oMath>
                </a14:m>
                <a:r>
                  <a:rPr lang="fa-IR" sz="2800" dirty="0"/>
                  <a:t>وجود ندارد</a:t>
                </a:r>
                <a:br>
                  <a:rPr lang="fa-IR" sz="2800" dirty="0"/>
                </a:br>
                <a:r>
                  <a:rPr lang="el-GR" sz="2800" dirty="0"/>
                  <a:t>α₁ → β₁ </a:t>
                </a:r>
                <a:r>
                  <a:rPr lang="fa-IR" sz="2800" dirty="0"/>
                  <a:t>و </a:t>
                </a:r>
                <a:r>
                  <a:rPr lang="el-GR" sz="2800" dirty="0"/>
                  <a:t>α₂ → β₂ </a:t>
                </a:r>
                <a:r>
                  <a:rPr lang="fa-IR" sz="2800" dirty="0" err="1"/>
                  <a:t>به‌گونه‌ای</a:t>
                </a:r>
                <a:r>
                  <a:rPr lang="fa-IR" sz="2800" dirty="0"/>
                  <a:t> که</a:t>
                </a:r>
                <a:br>
                  <a:rPr lang="fa-IR" sz="2800" dirty="0"/>
                </a:br>
                <a:r>
                  <a:rPr lang="el-GR" sz="2800" dirty="0"/>
                  <a:t>α₁ = α₂ </a:t>
                </a:r>
                <a:r>
                  <a:rPr lang="fa-IR" sz="2800" dirty="0"/>
                  <a:t>باشد.</a:t>
                </a:r>
                <a:endParaRPr lang="en-US" altLang="en-US" sz="2800" dirty="0"/>
              </a:p>
            </p:txBody>
          </p:sp>
        </mc:Choice>
        <mc:Fallback xmlns="">
          <p:sp>
            <p:nvSpPr>
              <p:cNvPr id="719875" name="Rectangle 3"/>
              <p:cNvSpPr>
                <a:spLocks noGrp="1" noRot="1" noChangeAspect="1" noMove="1" noResize="1" noEditPoints="1" noAdjustHandles="1" noChangeArrowheads="1" noChangeShapeType="1" noTextEdit="1"/>
              </p:cNvSpPr>
              <p:nvPr>
                <p:ph idx="1"/>
              </p:nvPr>
            </p:nvSpPr>
            <p:spPr>
              <a:xfrm>
                <a:off x="187890" y="1612268"/>
                <a:ext cx="8657660" cy="2505993"/>
              </a:xfrm>
              <a:blipFill>
                <a:blip r:embed="rId3"/>
                <a:stretch>
                  <a:fillRect t="-6068" r="-1549" b="-186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p:cNvSpPr txBox="1"/>
              <p:nvPr/>
            </p:nvSpPr>
            <p:spPr>
              <a:xfrm>
                <a:off x="516145" y="1068830"/>
                <a:ext cx="8077199" cy="461665"/>
              </a:xfrm>
              <a:prstGeom prst="rect">
                <a:avLst/>
              </a:prstGeom>
              <a:noFill/>
            </p:spPr>
            <p:txBody>
              <a:bodyPr wrap="square" rtlCol="0">
                <a:spAutoFit/>
              </a:bodyPr>
              <a:lstStyle/>
              <a:p>
                <a:pPr algn="r" rtl="1"/>
                <a:r>
                  <a:rPr lang="fa-IR" sz="2400" dirty="0"/>
                  <a:t>یک پوشش کانونی برای </a:t>
                </a:r>
                <a14:m>
                  <m:oMath xmlns:m="http://schemas.openxmlformats.org/officeDocument/2006/math">
                    <m:r>
                      <a:rPr lang="fa-IR" sz="2400" i="1">
                        <a:latin typeface="Cambria Math" panose="02040503050406030204" pitchFamily="18" charset="0"/>
                      </a:rPr>
                      <m:t>𝐹</m:t>
                    </m:r>
                  </m:oMath>
                </a14:m>
                <a:r>
                  <a:rPr lang="fa-IR" sz="2400" dirty="0" err="1"/>
                  <a:t>مجموعه‌ای</a:t>
                </a:r>
                <a:r>
                  <a:rPr lang="fa-IR" sz="2400" dirty="0"/>
                  <a:t> از </a:t>
                </a:r>
                <a:r>
                  <a:rPr lang="fa-IR" sz="2400" dirty="0" err="1"/>
                  <a:t>وابستگی‌ها</a:t>
                </a:r>
                <a:r>
                  <a:rPr lang="fa-IR" sz="2400" dirty="0"/>
                  <a:t> </a:t>
                </a:r>
                <a14:m>
                  <m:oMath xmlns:m="http://schemas.openxmlformats.org/officeDocument/2006/math">
                    <m:sSub>
                      <m:sSubPr>
                        <m:ctrlPr>
                          <a:rPr lang="fa-IR" sz="2400" i="1">
                            <a:latin typeface="Cambria Math" panose="02040503050406030204" pitchFamily="18" charset="0"/>
                          </a:rPr>
                        </m:ctrlPr>
                      </m:sSubPr>
                      <m:e>
                        <m:r>
                          <a:rPr lang="fa-IR" sz="2400" i="1">
                            <a:latin typeface="Cambria Math" panose="02040503050406030204" pitchFamily="18" charset="0"/>
                          </a:rPr>
                          <m:t>𝐹</m:t>
                        </m:r>
                      </m:e>
                      <m:sub>
                        <m:r>
                          <a:rPr lang="fa-IR" sz="2400" i="1">
                            <a:latin typeface="Cambria Math" panose="02040503050406030204" pitchFamily="18" charset="0"/>
                          </a:rPr>
                          <m:t>𝑐</m:t>
                        </m:r>
                      </m:sub>
                    </m:sSub>
                  </m:oMath>
                </a14:m>
                <a:r>
                  <a:rPr lang="fa-IR" sz="2400" dirty="0"/>
                  <a:t>است </a:t>
                </a:r>
                <a:r>
                  <a:rPr lang="fa-IR" sz="2400" dirty="0" err="1"/>
                  <a:t>به‌گونه‌ای</a:t>
                </a:r>
                <a:r>
                  <a:rPr lang="fa-IR" sz="2400" dirty="0"/>
                  <a:t> که:</a:t>
                </a:r>
                <a:endParaRPr lang="en-US" sz="2400" dirty="0"/>
              </a:p>
            </p:txBody>
          </p:sp>
        </mc:Choice>
        <mc:Fallback xmlns="">
          <p:sp>
            <p:nvSpPr>
              <p:cNvPr id="2" name="TextBox 1"/>
              <p:cNvSpPr txBox="1">
                <a:spLocks noRot="1" noChangeAspect="1" noMove="1" noResize="1" noEditPoints="1" noAdjustHandles="1" noChangeArrowheads="1" noChangeShapeType="1" noTextEdit="1"/>
              </p:cNvSpPr>
              <p:nvPr/>
            </p:nvSpPr>
            <p:spPr>
              <a:xfrm>
                <a:off x="516145" y="1068830"/>
                <a:ext cx="8077199" cy="461665"/>
              </a:xfrm>
              <a:prstGeom prst="rect">
                <a:avLst/>
              </a:prstGeom>
              <a:blipFill>
                <a:blip r:embed="rId4"/>
                <a:stretch>
                  <a:fillRect t="-9211" r="-1132" b="-30263"/>
                </a:stretch>
              </a:blipFill>
            </p:spPr>
            <p:txBody>
              <a:bodyPr/>
              <a:lstStyle/>
              <a:p>
                <a:r>
                  <a:rPr lang="en-US">
                    <a:noFill/>
                  </a:rPr>
                  <a:t> </a:t>
                </a:r>
              </a:p>
            </p:txBody>
          </p:sp>
        </mc:Fallback>
      </mc:AlternateContent>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9874"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Canonical Cover</a:t>
            </a:r>
          </a:p>
        </p:txBody>
      </p:sp>
      <mc:AlternateContent xmlns:mc="http://schemas.openxmlformats.org/markup-compatibility/2006" xmlns:a14="http://schemas.microsoft.com/office/drawing/2010/main">
        <mc:Choice Requires="a14">
          <p:sp>
            <p:nvSpPr>
              <p:cNvPr id="719875" name="Rectangle 3"/>
              <p:cNvSpPr>
                <a:spLocks noGrp="1" noChangeArrowheads="1"/>
              </p:cNvSpPr>
              <p:nvPr>
                <p:ph idx="1"/>
              </p:nvPr>
            </p:nvSpPr>
            <p:spPr>
              <a:xfrm>
                <a:off x="768350" y="1154098"/>
                <a:ext cx="7603293" cy="4139797"/>
              </a:xfrm>
            </p:spPr>
            <p:txBody>
              <a:bodyPr/>
              <a:lstStyle/>
              <a:p>
                <a:pPr algn="r" rtl="1"/>
                <a:r>
                  <a:rPr lang="fa-IR" dirty="0"/>
                  <a:t>برای محاسبه یک پوشش کانونی برای </a:t>
                </a:r>
                <a14:m>
                  <m:oMath xmlns:m="http://schemas.openxmlformats.org/officeDocument/2006/math">
                    <m:r>
                      <a:rPr lang="fa-IR" i="1">
                        <a:latin typeface="Cambria Math" panose="02040503050406030204" pitchFamily="18" charset="0"/>
                      </a:rPr>
                      <m:t>𝐹</m:t>
                    </m:r>
                  </m:oMath>
                </a14:m>
                <a:r>
                  <a:rPr lang="fa-IR" dirty="0"/>
                  <a:t>:</a:t>
                </a:r>
                <a:br>
                  <a:rPr lang="fa-IR" dirty="0"/>
                </a:br>
                <a:r>
                  <a:rPr lang="fa-IR" dirty="0"/>
                  <a:t>تکرار کن:</a:t>
                </a:r>
              </a:p>
              <a:p>
                <a:pPr algn="r" rtl="1"/>
                <a:r>
                  <a:rPr lang="fa-IR" dirty="0"/>
                  <a:t>از قاعده اجتماع استفاده کن تا هر وابستگی در </a:t>
                </a:r>
                <a14:m>
                  <m:oMath xmlns:m="http://schemas.openxmlformats.org/officeDocument/2006/math">
                    <m:r>
                      <a:rPr lang="fa-IR" i="1">
                        <a:latin typeface="Cambria Math" panose="02040503050406030204" pitchFamily="18" charset="0"/>
                      </a:rPr>
                      <m:t>𝐹</m:t>
                    </m:r>
                  </m:oMath>
                </a14:m>
                <a:r>
                  <a:rPr lang="fa-IR" dirty="0"/>
                  <a:t>به شکل</a:t>
                </a:r>
                <a:br>
                  <a:rPr lang="fa-IR" dirty="0"/>
                </a:br>
                <a:r>
                  <a:rPr lang="el-GR" dirty="0"/>
                  <a:t>α₁ → β₁ </a:t>
                </a:r>
                <a:r>
                  <a:rPr lang="fa-IR" dirty="0"/>
                  <a:t>و </a:t>
                </a:r>
                <a:r>
                  <a:rPr lang="el-GR" dirty="0"/>
                  <a:t>α₁ → β₂ </a:t>
                </a:r>
                <a:r>
                  <a:rPr lang="fa-IR" dirty="0"/>
                  <a:t>را با </a:t>
                </a:r>
                <a:r>
                  <a:rPr lang="el-GR" dirty="0"/>
                  <a:t>α₁ → β₁β₂ </a:t>
                </a:r>
                <a:r>
                  <a:rPr lang="fa-IR" dirty="0"/>
                  <a:t>جایگزین کنی.</a:t>
                </a:r>
              </a:p>
              <a:p>
                <a:pPr algn="r" rtl="1"/>
                <a:r>
                  <a:rPr lang="fa-IR" dirty="0"/>
                  <a:t>یک وابستگی </a:t>
                </a:r>
                <a:r>
                  <a:rPr lang="fa-IR" dirty="0" err="1"/>
                  <a:t>تابعی</a:t>
                </a:r>
                <a:r>
                  <a:rPr lang="fa-IR" dirty="0"/>
                  <a:t> </a:t>
                </a:r>
                <a:r>
                  <a:rPr lang="el-GR" dirty="0"/>
                  <a:t>α → β </a:t>
                </a:r>
                <a:r>
                  <a:rPr lang="fa-IR" dirty="0"/>
                  <a:t>در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𝑐</m:t>
                        </m:r>
                      </m:sub>
                    </m:sSub>
                  </m:oMath>
                </a14:m>
                <a:r>
                  <a:rPr lang="fa-IR" dirty="0"/>
                  <a:t>پیدا کن که دارای یک صفت </a:t>
                </a:r>
                <a:r>
                  <a:rPr lang="fa-IR" dirty="0" err="1"/>
                  <a:t>غیرضروری</a:t>
                </a:r>
                <a:r>
                  <a:rPr lang="fa-IR" dirty="0"/>
                  <a:t> در </a:t>
                </a:r>
                <a:r>
                  <a:rPr lang="el-GR" dirty="0"/>
                  <a:t>α </a:t>
                </a:r>
                <a:r>
                  <a:rPr lang="fa-IR" dirty="0"/>
                  <a:t>یا </a:t>
                </a:r>
                <a:r>
                  <a:rPr lang="el-GR" dirty="0"/>
                  <a:t>β </a:t>
                </a:r>
                <a:r>
                  <a:rPr lang="fa-IR" dirty="0"/>
                  <a:t>باشد.</a:t>
                </a:r>
                <a:br>
                  <a:rPr lang="fa-IR" dirty="0"/>
                </a:br>
                <a:r>
                  <a:rPr lang="fa-IR" dirty="0"/>
                  <a:t>/* توجه: آزمایش برای صفات </a:t>
                </a:r>
                <a:r>
                  <a:rPr lang="fa-IR" dirty="0" err="1"/>
                  <a:t>غیرضروری</a:t>
                </a:r>
                <a:r>
                  <a:rPr lang="fa-IR" dirty="0"/>
                  <a:t> با استفاده از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𝑐</m:t>
                        </m:r>
                      </m:sub>
                    </m:sSub>
                  </m:oMath>
                </a14:m>
                <a:r>
                  <a:rPr lang="fa-IR" dirty="0"/>
                  <a:t>، نه </a:t>
                </a:r>
                <a14:m>
                  <m:oMath xmlns:m="http://schemas.openxmlformats.org/officeDocument/2006/math">
                    <m:r>
                      <a:rPr lang="fa-IR" i="1">
                        <a:latin typeface="Cambria Math" panose="02040503050406030204" pitchFamily="18" charset="0"/>
                      </a:rPr>
                      <m:t>𝐹</m:t>
                    </m:r>
                  </m:oMath>
                </a14:m>
                <a:r>
                  <a:rPr lang="fa-IR" dirty="0"/>
                  <a:t>انجام </a:t>
                </a:r>
                <a:r>
                  <a:rPr lang="fa-IR" dirty="0" err="1"/>
                  <a:t>می‌شود</a:t>
                </a:r>
                <a:r>
                  <a:rPr lang="fa-IR" dirty="0"/>
                  <a:t> */</a:t>
                </a:r>
              </a:p>
              <a:p>
                <a:pPr algn="r" rtl="1"/>
                <a:r>
                  <a:rPr lang="fa-IR" dirty="0"/>
                  <a:t>اگر صفت </a:t>
                </a:r>
                <a:r>
                  <a:rPr lang="fa-IR" dirty="0" err="1"/>
                  <a:t>غیرضروری</a:t>
                </a:r>
                <a:r>
                  <a:rPr lang="fa-IR" dirty="0"/>
                  <a:t> پیدا شد، آن را از </a:t>
                </a:r>
                <a:r>
                  <a:rPr lang="el-GR" dirty="0"/>
                  <a:t>α → β </a:t>
                </a:r>
                <a:r>
                  <a:rPr lang="fa-IR" dirty="0"/>
                  <a:t>حذف کن.</a:t>
                </a:r>
              </a:p>
              <a:p>
                <a:pPr algn="r" rtl="1"/>
                <a:r>
                  <a:rPr lang="fa-IR" dirty="0"/>
                  <a:t>تا زمانی که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𝑐</m:t>
                        </m:r>
                      </m:sub>
                    </m:sSub>
                  </m:oMath>
                </a14:m>
                <a:r>
                  <a:rPr lang="fa-IR" dirty="0"/>
                  <a:t>تغییر نکند، ادامه بده.</a:t>
                </a:r>
              </a:p>
              <a:p>
                <a:pPr algn="r" rtl="1"/>
                <a:r>
                  <a:rPr lang="fa-IR" dirty="0"/>
                  <a:t>توجه: پس از حذف برخی از صفات </a:t>
                </a:r>
                <a:r>
                  <a:rPr lang="fa-IR" dirty="0" err="1"/>
                  <a:t>غیرضروری</a:t>
                </a:r>
                <a:r>
                  <a:rPr lang="fa-IR" dirty="0"/>
                  <a:t>، ممکن است قاعده اجتماع دوباره قابل اعمال شود، بنابراین باید دوباره اعمال شود.</a:t>
                </a:r>
              </a:p>
              <a:p>
                <a:pPr algn="r" rtl="1">
                  <a:lnSpc>
                    <a:spcPct val="90000"/>
                  </a:lnSpc>
                </a:pPr>
                <a:endParaRPr lang="en-US" altLang="en-US" dirty="0">
                  <a:sym typeface="Greek Symbols"/>
                </a:endParaRPr>
              </a:p>
            </p:txBody>
          </p:sp>
        </mc:Choice>
        <mc:Fallback xmlns="">
          <p:sp>
            <p:nvSpPr>
              <p:cNvPr id="719875" name="Rectangle 3"/>
              <p:cNvSpPr>
                <a:spLocks noGrp="1" noRot="1" noChangeAspect="1" noMove="1" noResize="1" noEditPoints="1" noAdjustHandles="1" noChangeArrowheads="1" noChangeShapeType="1" noTextEdit="1"/>
              </p:cNvSpPr>
              <p:nvPr>
                <p:ph idx="1"/>
              </p:nvPr>
            </p:nvSpPr>
            <p:spPr>
              <a:xfrm>
                <a:off x="768350" y="1154098"/>
                <a:ext cx="7603293" cy="4139797"/>
              </a:xfrm>
              <a:blipFill>
                <a:blip r:embed="rId3"/>
                <a:stretch>
                  <a:fillRect l="-160" t="-1620" r="-962"/>
                </a:stretch>
              </a:blipFill>
            </p:spPr>
            <p:txBody>
              <a:bodyPr/>
              <a:lstStyle/>
              <a:p>
                <a:r>
                  <a:rPr lang="en-US">
                    <a:noFill/>
                  </a:rPr>
                  <a:t> </a:t>
                </a:r>
              </a:p>
            </p:txBody>
          </p:sp>
        </mc:Fallback>
      </mc:AlternateContent>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88EA31-9CC9-9CBB-2FDD-57A541A9E5A2}"/>
              </a:ext>
            </a:extLst>
          </p:cNvPr>
          <p:cNvSpPr>
            <a:spLocks noGrp="1"/>
          </p:cNvSpPr>
          <p:nvPr>
            <p:ph type="ctrTitle"/>
          </p:nvPr>
        </p:nvSpPr>
        <p:spPr/>
        <p:txBody>
          <a:bodyPr/>
          <a:lstStyle/>
          <a:p>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8066" name="Rectangle 2"/>
          <p:cNvSpPr>
            <a:spLocks noGrp="1" noChangeArrowheads="1"/>
          </p:cNvSpPr>
          <p:nvPr>
            <p:ph type="title"/>
          </p:nvPr>
        </p:nvSpPr>
        <p:spPr>
          <a:xfrm>
            <a:off x="709613" y="212725"/>
            <a:ext cx="7993062" cy="441325"/>
          </a:xfrm>
        </p:spPr>
        <p:txBody>
          <a:bodyPr/>
          <a:lstStyle/>
          <a:p>
            <a:pPr>
              <a:defRPr/>
            </a:pPr>
            <a:r>
              <a:rPr lang="en-US" altLang="en-US">
                <a:effectLst>
                  <a:outerShdw blurRad="38100" dist="38100" dir="2700000" algn="tl">
                    <a:srgbClr val="C0C0C0"/>
                  </a:outerShdw>
                </a:effectLst>
                <a:ea typeface="ＭＳ Ｐゴシック" pitchFamily="34" charset="-128"/>
              </a:rPr>
              <a:t>Dependency Preservation</a:t>
            </a:r>
          </a:p>
        </p:txBody>
      </p:sp>
      <mc:AlternateContent xmlns:mc="http://schemas.openxmlformats.org/markup-compatibility/2006" xmlns:a14="http://schemas.microsoft.com/office/drawing/2010/main">
        <mc:Choice Requires="a14">
          <p:sp>
            <p:nvSpPr>
              <p:cNvPr id="60419" name="Rectangle 3"/>
              <p:cNvSpPr>
                <a:spLocks noGrp="1" noChangeArrowheads="1"/>
              </p:cNvSpPr>
              <p:nvPr>
                <p:ph idx="1"/>
              </p:nvPr>
            </p:nvSpPr>
            <p:spPr>
              <a:xfrm>
                <a:off x="772357" y="1093788"/>
                <a:ext cx="7818190" cy="2696159"/>
              </a:xfrm>
            </p:spPr>
            <p:txBody>
              <a:bodyPr/>
              <a:lstStyle/>
              <a:p>
                <a:pPr algn="r" rtl="1"/>
                <a:r>
                  <a:rPr lang="fa-IR" dirty="0"/>
                  <a:t>فرض کنید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𝑖</m:t>
                        </m:r>
                      </m:sub>
                    </m:sSub>
                  </m:oMath>
                </a14:m>
                <a:r>
                  <a:rPr lang="fa-IR" dirty="0" err="1"/>
                  <a:t>مجموعه‌ای</a:t>
                </a:r>
                <a:r>
                  <a:rPr lang="fa-IR" dirty="0"/>
                  <a:t> از </a:t>
                </a:r>
                <a:r>
                  <a:rPr lang="fa-IR" dirty="0" err="1"/>
                  <a:t>وابستگی‌ها</a:t>
                </a:r>
                <a:r>
                  <a:rPr lang="fa-IR" dirty="0"/>
                  <a:t> در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𝐹</m:t>
                        </m:r>
                      </m:e>
                      <m:sup>
                        <m:r>
                          <a:rPr lang="fa-IR">
                            <a:latin typeface="Cambria Math" panose="02040503050406030204" pitchFamily="18" charset="0"/>
                          </a:rPr>
                          <m:t>+</m:t>
                        </m:r>
                      </m:sup>
                    </m:sSup>
                  </m:oMath>
                </a14:m>
                <a:r>
                  <a:rPr lang="fa-IR" dirty="0"/>
                  <a:t>باشد که فقط شامل صفات موجود در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a:t>هستند.</a:t>
                </a:r>
              </a:p>
              <a:p>
                <a:pPr algn="r" rtl="1"/>
                <a:r>
                  <a:rPr lang="fa-IR" dirty="0"/>
                  <a:t>یک تجزیه </a:t>
                </a:r>
                <a:r>
                  <a:rPr lang="fa-IR" dirty="0" err="1"/>
                  <a:t>وابستگی‌ها</a:t>
                </a:r>
                <a:r>
                  <a:rPr lang="fa-IR" dirty="0"/>
                  <a:t> </a:t>
                </a:r>
                <a:r>
                  <a:rPr lang="fa-IR" b="1" dirty="0" err="1"/>
                  <a:t>حفظ‌کننده</a:t>
                </a:r>
                <a:r>
                  <a:rPr lang="fa-IR" b="1" dirty="0"/>
                  <a:t> وابستگی</a:t>
                </a:r>
                <a:r>
                  <a:rPr lang="fa-IR" dirty="0"/>
                  <a:t> است، اگر</a:t>
                </a:r>
                <a:br>
                  <a:rPr lang="fa-IR" dirty="0"/>
                </a:br>
                <a14:m>
                  <m:oMath xmlns:m="http://schemas.openxmlformats.org/officeDocument/2006/math">
                    <m:d>
                      <m:dPr>
                        <m:endChr m:val=""/>
                        <m:ctrlPr>
                          <a:rPr lang="fa-IR" i="1">
                            <a:latin typeface="Cambria Math" panose="02040503050406030204" pitchFamily="18" charset="0"/>
                          </a:rPr>
                        </m:ctrlPr>
                      </m:dPr>
                      <m:e>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a:latin typeface="Cambria Math" panose="02040503050406030204" pitchFamily="18" charset="0"/>
                              </a:rPr>
                              <m:t>1</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a:latin typeface="Cambria Math" panose="02040503050406030204" pitchFamily="18" charset="0"/>
                              </a:rPr>
                              <m:t>2</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𝑛</m:t>
                            </m:r>
                          </m:sub>
                        </m:sSub>
                        <m:sSup>
                          <m:sSupPr>
                            <m:ctrlPr>
                              <a:rPr lang="fa-IR" i="1">
                                <a:latin typeface="Cambria Math" panose="02040503050406030204" pitchFamily="18" charset="0"/>
                              </a:rPr>
                            </m:ctrlPr>
                          </m:sSupPr>
                          <m:e>
                            <m:d>
                              <m:dPr>
                                <m:begChr m:val=""/>
                                <m:endChr m:val=""/>
                                <m:ctrlPr>
                                  <a:rPr lang="fa-IR" i="1">
                                    <a:latin typeface="Cambria Math" panose="02040503050406030204" pitchFamily="18" charset="0"/>
                                  </a:rPr>
                                </m:ctrlPr>
                              </m:dPr>
                              <m:e>
                                <m:r>
                                  <a:rPr lang="fa-IR">
                                    <a:latin typeface="Cambria Math" panose="02040503050406030204" pitchFamily="18" charset="0"/>
                                  </a:rPr>
                                  <m:t>)</m:t>
                                </m:r>
                              </m:e>
                            </m:d>
                          </m:e>
                          <m:sup>
                            <m:r>
                              <a:rPr lang="fa-IR">
                                <a:latin typeface="Cambria Math" panose="02040503050406030204" pitchFamily="18" charset="0"/>
                              </a:rPr>
                              <m:t>+</m:t>
                            </m:r>
                          </m:sup>
                        </m:sSup>
                        <m:r>
                          <a:rPr lang="fa-IR">
                            <a:latin typeface="Cambria Math" panose="02040503050406030204" pitchFamily="18" charset="0"/>
                          </a:rPr>
                          <m:t>=</m:t>
                        </m:r>
                        <m:sSup>
                          <m:sSupPr>
                            <m:ctrlPr>
                              <a:rPr lang="fa-IR" i="1">
                                <a:latin typeface="Cambria Math" panose="02040503050406030204" pitchFamily="18" charset="0"/>
                              </a:rPr>
                            </m:ctrlPr>
                          </m:sSupPr>
                          <m:e>
                            <m:r>
                              <a:rPr lang="fa-IR" i="1">
                                <a:latin typeface="Cambria Math" panose="02040503050406030204" pitchFamily="18" charset="0"/>
                              </a:rPr>
                              <m:t>𝐹</m:t>
                            </m:r>
                          </m:e>
                          <m:sup>
                            <m:r>
                              <a:rPr lang="fa-IR">
                                <a:latin typeface="Cambria Math" panose="02040503050406030204" pitchFamily="18" charset="0"/>
                              </a:rPr>
                              <m:t>+</m:t>
                            </m:r>
                          </m:sup>
                        </m:sSup>
                      </m:e>
                    </m:d>
                  </m:oMath>
                </a14:m>
                <a:endParaRPr lang="fa-IR" dirty="0"/>
              </a:p>
              <a:p>
                <a:pPr algn="r" rtl="1"/>
                <a:r>
                  <a:rPr lang="fa-IR" dirty="0"/>
                  <a:t>با استفاده از تعریف بالا، آزمایش برای حفظ وابستگی </a:t>
                </a:r>
                <a:r>
                  <a:rPr lang="fa-IR" b="1" dirty="0"/>
                  <a:t>زمان نمایی</a:t>
                </a:r>
                <a:r>
                  <a:rPr lang="fa-IR" dirty="0"/>
                  <a:t> </a:t>
                </a:r>
                <a:r>
                  <a:rPr lang="fa-IR" dirty="0" err="1"/>
                  <a:t>می‌برد</a:t>
                </a:r>
                <a:r>
                  <a:rPr lang="fa-IR" dirty="0"/>
                  <a:t>.</a:t>
                </a:r>
              </a:p>
              <a:p>
                <a:pPr algn="r" rtl="1"/>
                <a:r>
                  <a:rPr lang="fa-IR" dirty="0"/>
                  <a:t>توجه داشته باشید که اگر یک تجزیه </a:t>
                </a:r>
                <a:r>
                  <a:rPr lang="fa-IR" dirty="0" err="1"/>
                  <a:t>وابستگی‌ها</a:t>
                </a:r>
                <a:r>
                  <a:rPr lang="fa-IR" dirty="0"/>
                  <a:t> </a:t>
                </a:r>
                <a:r>
                  <a:rPr lang="fa-IR" b="1" dirty="0" err="1"/>
                  <a:t>حفظ‌کننده</a:t>
                </a:r>
                <a:r>
                  <a:rPr lang="fa-IR" b="1" dirty="0"/>
                  <a:t> وابستگی نباشد</a:t>
                </a:r>
                <a:r>
                  <a:rPr lang="fa-IR" dirty="0"/>
                  <a:t>، آنگاه بررسی </a:t>
                </a:r>
                <a:r>
                  <a:rPr lang="fa-IR" dirty="0" err="1"/>
                  <a:t>به‌روزرسانی‌ها</a:t>
                </a:r>
                <a:r>
                  <a:rPr lang="fa-IR" dirty="0"/>
                  <a:t> برای نقض </a:t>
                </a:r>
                <a:r>
                  <a:rPr lang="fa-IR" dirty="0" err="1"/>
                  <a:t>وابستگی‌های</a:t>
                </a:r>
                <a:r>
                  <a:rPr lang="fa-IR" dirty="0"/>
                  <a:t> </a:t>
                </a:r>
                <a:r>
                  <a:rPr lang="fa-IR" dirty="0" err="1"/>
                  <a:t>تابعی</a:t>
                </a:r>
                <a:r>
                  <a:rPr lang="fa-IR" dirty="0"/>
                  <a:t> ممکن است نیازمند محاسبه </a:t>
                </a:r>
                <a:r>
                  <a:rPr lang="fa-IR" dirty="0" err="1"/>
                  <a:t>جوین‌ها</a:t>
                </a:r>
                <a:r>
                  <a:rPr lang="fa-IR" dirty="0"/>
                  <a:t> باشد، که </a:t>
                </a:r>
                <a:r>
                  <a:rPr lang="fa-IR" dirty="0" err="1"/>
                  <a:t>هزینه‌بر</a:t>
                </a:r>
                <a:r>
                  <a:rPr lang="fa-IR" dirty="0"/>
                  <a:t> است.</a:t>
                </a:r>
              </a:p>
              <a:p>
                <a:pPr algn="r" rtl="1"/>
                <a:endParaRPr lang="en-US" altLang="en-US" dirty="0"/>
              </a:p>
            </p:txBody>
          </p:sp>
        </mc:Choice>
        <mc:Fallback xmlns="">
          <p:sp>
            <p:nvSpPr>
              <p:cNvPr id="60419" name="Rectangle 3"/>
              <p:cNvSpPr>
                <a:spLocks noGrp="1" noRot="1" noChangeAspect="1" noMove="1" noResize="1" noEditPoints="1" noAdjustHandles="1" noChangeArrowheads="1" noChangeShapeType="1" noTextEdit="1"/>
              </p:cNvSpPr>
              <p:nvPr>
                <p:ph idx="1"/>
              </p:nvPr>
            </p:nvSpPr>
            <p:spPr>
              <a:xfrm>
                <a:off x="772357" y="1093788"/>
                <a:ext cx="7818190" cy="2696159"/>
              </a:xfrm>
              <a:blipFill>
                <a:blip r:embed="rId3"/>
                <a:stretch>
                  <a:fillRect l="-546" t="-2483" r="-936" b="-3837"/>
                </a:stretch>
              </a:blipFill>
            </p:spPr>
            <p:txBody>
              <a:bodyPr/>
              <a:lstStyle/>
              <a:p>
                <a:r>
                  <a:rPr lang="en-US">
                    <a:noFill/>
                  </a:rPr>
                  <a:t> </a:t>
                </a:r>
              </a:p>
            </p:txBody>
          </p:sp>
        </mc:Fallback>
      </mc:AlternateContent>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8066" name="Rectangle 2"/>
          <p:cNvSpPr>
            <a:spLocks noGrp="1" noChangeArrowheads="1"/>
          </p:cNvSpPr>
          <p:nvPr>
            <p:ph type="title"/>
          </p:nvPr>
        </p:nvSpPr>
        <p:spPr>
          <a:xfrm>
            <a:off x="709613" y="212725"/>
            <a:ext cx="7993062" cy="441325"/>
          </a:xfrm>
        </p:spPr>
        <p:txBody>
          <a:bodyPr/>
          <a:lstStyle/>
          <a:p>
            <a:pPr>
              <a:defRPr/>
            </a:pPr>
            <a:r>
              <a:rPr lang="en-US" altLang="en-US" dirty="0">
                <a:effectLst>
                  <a:outerShdw blurRad="38100" dist="38100" dir="2700000" algn="tl">
                    <a:srgbClr val="C0C0C0"/>
                  </a:outerShdw>
                </a:effectLst>
                <a:ea typeface="ＭＳ Ｐゴシック" pitchFamily="34" charset="-128"/>
              </a:rPr>
              <a:t>Dependency Preservation (Cont.)</a:t>
            </a:r>
          </a:p>
        </p:txBody>
      </p:sp>
      <mc:AlternateContent xmlns:mc="http://schemas.openxmlformats.org/markup-compatibility/2006" xmlns:a14="http://schemas.microsoft.com/office/drawing/2010/main">
        <mc:Choice Requires="a14">
          <p:sp>
            <p:nvSpPr>
              <p:cNvPr id="61443" name="Rectangle 3"/>
              <p:cNvSpPr>
                <a:spLocks noGrp="1" noChangeArrowheads="1"/>
              </p:cNvSpPr>
              <p:nvPr>
                <p:ph idx="1"/>
              </p:nvPr>
            </p:nvSpPr>
            <p:spPr>
              <a:xfrm>
                <a:off x="781235" y="1093788"/>
                <a:ext cx="7688998" cy="3466180"/>
              </a:xfrm>
            </p:spPr>
            <p:txBody>
              <a:bodyPr/>
              <a:lstStyle/>
              <a:p>
                <a:pPr algn="r" rtl="1"/>
                <a:r>
                  <a:rPr lang="fa-IR" dirty="0"/>
                  <a:t>فرض کنید </a:t>
                </a:r>
                <a14:m>
                  <m:oMath xmlns:m="http://schemas.openxmlformats.org/officeDocument/2006/math">
                    <m:r>
                      <a:rPr lang="fa-IR" i="1">
                        <a:latin typeface="Cambria Math" panose="02040503050406030204" pitchFamily="18" charset="0"/>
                      </a:rPr>
                      <m:t>𝐹</m:t>
                    </m:r>
                  </m:oMath>
                </a14:m>
                <a:r>
                  <a:rPr lang="fa-IR" dirty="0"/>
                  <a:t>مجموعه </a:t>
                </a:r>
                <a:r>
                  <a:rPr lang="fa-IR" dirty="0" err="1"/>
                  <a:t>وابستگی‌ها</a:t>
                </a:r>
                <a:r>
                  <a:rPr lang="fa-IR" dirty="0"/>
                  <a:t> روی طرح </a:t>
                </a:r>
                <a:r>
                  <a:rPr lang="fa-IR" dirty="0" err="1"/>
                  <a:t>رابطه‌ای</a:t>
                </a:r>
                <a:r>
                  <a:rPr lang="fa-IR" dirty="0"/>
                  <a:t> </a:t>
                </a:r>
                <a14:m>
                  <m:oMath xmlns:m="http://schemas.openxmlformats.org/officeDocument/2006/math">
                    <m:r>
                      <a:rPr lang="fa-IR" i="1">
                        <a:latin typeface="Cambria Math" panose="02040503050406030204" pitchFamily="18" charset="0"/>
                      </a:rPr>
                      <m:t>𝑅</m:t>
                    </m:r>
                  </m:oMath>
                </a14:m>
                <a:r>
                  <a:rPr lang="fa-IR" dirty="0"/>
                  <a:t>باشد و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2</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𝑛</m:t>
                        </m:r>
                      </m:sub>
                    </m:sSub>
                  </m:oMath>
                </a14:m>
                <a:r>
                  <a:rPr lang="fa-IR" dirty="0"/>
                  <a:t>یک تجزیه از </a:t>
                </a:r>
                <a14:m>
                  <m:oMath xmlns:m="http://schemas.openxmlformats.org/officeDocument/2006/math">
                    <m:r>
                      <a:rPr lang="fa-IR" i="1">
                        <a:latin typeface="Cambria Math" panose="02040503050406030204" pitchFamily="18" charset="0"/>
                      </a:rPr>
                      <m:t>𝑅</m:t>
                    </m:r>
                  </m:oMath>
                </a14:m>
                <a:r>
                  <a:rPr lang="fa-IR" dirty="0"/>
                  <a:t>باشد.</a:t>
                </a:r>
              </a:p>
              <a:p>
                <a:pPr algn="r" rtl="1"/>
                <a:r>
                  <a:rPr lang="fa-IR" dirty="0" err="1"/>
                  <a:t>محدودسازی</a:t>
                </a:r>
                <a:r>
                  <a:rPr lang="fa-IR" dirty="0"/>
                  <a:t> </a:t>
                </a:r>
                <a14:m>
                  <m:oMath xmlns:m="http://schemas.openxmlformats.org/officeDocument/2006/math">
                    <m:r>
                      <a:rPr lang="fa-IR" i="1">
                        <a:latin typeface="Cambria Math" panose="02040503050406030204" pitchFamily="18" charset="0"/>
                      </a:rPr>
                      <m:t>𝐹</m:t>
                    </m:r>
                  </m:oMath>
                </a14:m>
                <a:r>
                  <a:rPr lang="fa-IR" dirty="0"/>
                  <a:t>به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err="1"/>
                  <a:t>مجموعه‌ای</a:t>
                </a:r>
                <a:r>
                  <a:rPr lang="fa-IR" dirty="0"/>
                  <a:t>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𝑖</m:t>
                        </m:r>
                      </m:sub>
                    </m:sSub>
                  </m:oMath>
                </a14:m>
                <a:r>
                  <a:rPr lang="fa-IR" dirty="0"/>
                  <a:t>است از تمام </a:t>
                </a:r>
                <a:r>
                  <a:rPr lang="fa-IR" dirty="0" err="1"/>
                  <a:t>وابستگی‌های</a:t>
                </a:r>
                <a:r>
                  <a:rPr lang="fa-IR" dirty="0"/>
                  <a:t> </a:t>
                </a:r>
                <a:r>
                  <a:rPr lang="fa-IR" dirty="0" err="1"/>
                  <a:t>تابعی</a:t>
                </a:r>
                <a:r>
                  <a:rPr lang="fa-IR" dirty="0"/>
                  <a:t> در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𝐹</m:t>
                        </m:r>
                      </m:e>
                      <m:sup>
                        <m:r>
                          <a:rPr lang="fa-IR">
                            <a:latin typeface="Cambria Math" panose="02040503050406030204" pitchFamily="18" charset="0"/>
                          </a:rPr>
                          <m:t>+</m:t>
                        </m:r>
                      </m:sup>
                    </m:sSup>
                  </m:oMath>
                </a14:m>
                <a:r>
                  <a:rPr lang="fa-IR" dirty="0"/>
                  <a:t>که فقط شامل صفات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a:t>هستند.</a:t>
                </a:r>
              </a:p>
              <a:p>
                <a:pPr algn="r" rtl="1"/>
                <a:r>
                  <a:rPr lang="fa-IR" dirty="0"/>
                  <a:t>از آنجا که تمام </a:t>
                </a:r>
                <a:r>
                  <a:rPr lang="fa-IR" dirty="0" err="1"/>
                  <a:t>وابستگی‌های</a:t>
                </a:r>
                <a:r>
                  <a:rPr lang="fa-IR" dirty="0"/>
                  <a:t> </a:t>
                </a:r>
                <a:r>
                  <a:rPr lang="fa-IR" dirty="0" err="1"/>
                  <a:t>تابعی</a:t>
                </a:r>
                <a:r>
                  <a:rPr lang="fa-IR" dirty="0"/>
                  <a:t> در یک </a:t>
                </a:r>
                <a:r>
                  <a:rPr lang="fa-IR" dirty="0" err="1"/>
                  <a:t>محدودسازی</a:t>
                </a:r>
                <a:r>
                  <a:rPr lang="fa-IR" dirty="0"/>
                  <a:t> فقط شامل صفات یک طرح </a:t>
                </a:r>
                <a:r>
                  <a:rPr lang="fa-IR" dirty="0" err="1"/>
                  <a:t>رابطه‌ای</a:t>
                </a:r>
                <a:r>
                  <a:rPr lang="fa-IR" dirty="0"/>
                  <a:t> هستند، امکان بررسی برآورده شدن چنین </a:t>
                </a:r>
                <a:r>
                  <a:rPr lang="fa-IR" dirty="0" err="1"/>
                  <a:t>وابستگی‌ای</a:t>
                </a:r>
                <a:r>
                  <a:rPr lang="fa-IR" dirty="0"/>
                  <a:t> تنها با بررسی همان رابطه وجود دارد.</a:t>
                </a:r>
              </a:p>
              <a:p>
                <a:pPr algn="r" rtl="1"/>
                <a:r>
                  <a:rPr lang="fa-IR" dirty="0"/>
                  <a:t>توجه داشته باشید که تعریف </a:t>
                </a:r>
                <a:r>
                  <a:rPr lang="fa-IR" dirty="0" err="1"/>
                  <a:t>محدودسازی</a:t>
                </a:r>
                <a:r>
                  <a:rPr lang="fa-IR" dirty="0"/>
                  <a:t> از تمام </a:t>
                </a:r>
                <a:r>
                  <a:rPr lang="fa-IR" dirty="0" err="1"/>
                  <a:t>وابستگی‌ها</a:t>
                </a:r>
                <a:r>
                  <a:rPr lang="fa-IR" dirty="0"/>
                  <a:t> در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𝐹</m:t>
                        </m:r>
                      </m:e>
                      <m:sup>
                        <m:r>
                          <a:rPr lang="fa-IR">
                            <a:latin typeface="Cambria Math" panose="02040503050406030204" pitchFamily="18" charset="0"/>
                          </a:rPr>
                          <m:t>+</m:t>
                        </m:r>
                      </m:sup>
                    </m:sSup>
                  </m:oMath>
                </a14:m>
                <a:r>
                  <a:rPr lang="fa-IR" dirty="0"/>
                  <a:t>استفاده </a:t>
                </a:r>
                <a:r>
                  <a:rPr lang="fa-IR" dirty="0" err="1"/>
                  <a:t>می‌کند</a:t>
                </a:r>
                <a:r>
                  <a:rPr lang="fa-IR" dirty="0"/>
                  <a:t>، نه فقط </a:t>
                </a:r>
                <a:r>
                  <a:rPr lang="fa-IR" dirty="0" err="1"/>
                  <a:t>وابستگی‌های</a:t>
                </a:r>
                <a:r>
                  <a:rPr lang="fa-IR" dirty="0"/>
                  <a:t> موجود در </a:t>
                </a:r>
                <a14:m>
                  <m:oMath xmlns:m="http://schemas.openxmlformats.org/officeDocument/2006/math">
                    <m:r>
                      <a:rPr lang="fa-IR" i="1">
                        <a:latin typeface="Cambria Math" panose="02040503050406030204" pitchFamily="18" charset="0"/>
                      </a:rPr>
                      <m:t>𝐹</m:t>
                    </m:r>
                  </m:oMath>
                </a14:m>
                <a:r>
                  <a:rPr lang="fa-IR" dirty="0"/>
                  <a:t>.</a:t>
                </a:r>
              </a:p>
              <a:p>
                <a:pPr algn="r" rtl="1"/>
                <a:r>
                  <a:rPr lang="fa-IR" dirty="0"/>
                  <a:t>مجموعه </a:t>
                </a:r>
                <a:r>
                  <a:rPr lang="fa-IR" dirty="0" err="1"/>
                  <a:t>محدودسازی‌ها</a:t>
                </a:r>
                <a:r>
                  <a:rPr lang="fa-IR" dirty="0"/>
                  <a:t>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a:latin typeface="Cambria Math" panose="02040503050406030204" pitchFamily="18" charset="0"/>
                          </a:rPr>
                          <m:t>1</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a:latin typeface="Cambria Math" panose="02040503050406030204" pitchFamily="18" charset="0"/>
                          </a:rPr>
                          <m:t>2</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𝑛</m:t>
                        </m:r>
                      </m:sub>
                    </m:sSub>
                  </m:oMath>
                </a14:m>
                <a:r>
                  <a:rPr lang="fa-IR" dirty="0" err="1"/>
                  <a:t>مجموعه‌ای</a:t>
                </a:r>
                <a:r>
                  <a:rPr lang="fa-IR" dirty="0"/>
                  <a:t> از </a:t>
                </a:r>
                <a:r>
                  <a:rPr lang="fa-IR" dirty="0" err="1"/>
                  <a:t>وابستگی‌های</a:t>
                </a:r>
                <a:r>
                  <a:rPr lang="fa-IR" dirty="0"/>
                  <a:t> </a:t>
                </a:r>
                <a:r>
                  <a:rPr lang="fa-IR" dirty="0" err="1"/>
                  <a:t>تابعی</a:t>
                </a:r>
                <a:r>
                  <a:rPr lang="fa-IR" dirty="0"/>
                  <a:t> است که </a:t>
                </a:r>
                <a:r>
                  <a:rPr lang="fa-IR" dirty="0" err="1"/>
                  <a:t>می‌توان</a:t>
                </a:r>
                <a:r>
                  <a:rPr lang="fa-IR" dirty="0"/>
                  <a:t> </a:t>
                </a:r>
                <a:r>
                  <a:rPr lang="fa-IR" dirty="0" err="1"/>
                  <a:t>آن‌ها</a:t>
                </a:r>
                <a:r>
                  <a:rPr lang="fa-IR" dirty="0"/>
                  <a:t> را </a:t>
                </a:r>
                <a:r>
                  <a:rPr lang="fa-IR" dirty="0" err="1"/>
                  <a:t>به‌طور</a:t>
                </a:r>
                <a:r>
                  <a:rPr lang="fa-IR" dirty="0"/>
                  <a:t> مؤثر بررسی کرد.</a:t>
                </a:r>
              </a:p>
              <a:p>
                <a:pPr algn="r" rtl="1"/>
                <a:endParaRPr lang="en-US" altLang="en-US" dirty="0"/>
              </a:p>
            </p:txBody>
          </p:sp>
        </mc:Choice>
        <mc:Fallback xmlns="">
          <p:sp>
            <p:nvSpPr>
              <p:cNvPr id="61443" name="Rectangle 3"/>
              <p:cNvSpPr>
                <a:spLocks noGrp="1" noRot="1" noChangeAspect="1" noMove="1" noResize="1" noEditPoints="1" noAdjustHandles="1" noChangeArrowheads="1" noChangeShapeType="1" noTextEdit="1"/>
              </p:cNvSpPr>
              <p:nvPr>
                <p:ph idx="1"/>
              </p:nvPr>
            </p:nvSpPr>
            <p:spPr>
              <a:xfrm>
                <a:off x="781235" y="1093788"/>
                <a:ext cx="7688998" cy="3466180"/>
              </a:xfrm>
              <a:blipFill>
                <a:blip r:embed="rId3"/>
                <a:stretch>
                  <a:fillRect l="-397" t="-1933" r="-952" b="-5975"/>
                </a:stretch>
              </a:blipFill>
            </p:spPr>
            <p:txBody>
              <a:bodyPr/>
              <a:lstStyle/>
              <a:p>
                <a:r>
                  <a:rPr lang="en-US">
                    <a:noFill/>
                  </a:rPr>
                  <a:t> </a:t>
                </a:r>
              </a:p>
            </p:txBody>
          </p:sp>
        </mc:Fallback>
      </mc:AlternateContent>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0114" name="Rectangle 2"/>
          <p:cNvSpPr>
            <a:spLocks noGrp="1" noChangeArrowheads="1"/>
          </p:cNvSpPr>
          <p:nvPr>
            <p:ph type="title"/>
          </p:nvPr>
        </p:nvSpPr>
        <p:spPr>
          <a:xfrm>
            <a:off x="766763" y="100013"/>
            <a:ext cx="8077200" cy="609600"/>
          </a:xfrm>
        </p:spPr>
        <p:txBody>
          <a:bodyPr/>
          <a:lstStyle/>
          <a:p>
            <a:pPr>
              <a:defRPr/>
            </a:pPr>
            <a:r>
              <a:rPr lang="en-US" altLang="en-US" dirty="0">
                <a:effectLst>
                  <a:outerShdw blurRad="38100" dist="38100" dir="2700000" algn="tl">
                    <a:srgbClr val="C0C0C0"/>
                  </a:outerShdw>
                </a:effectLst>
                <a:ea typeface="ＭＳ Ｐゴシック" pitchFamily="34" charset="-128"/>
              </a:rPr>
              <a:t>Testing for Dependency Preservation</a:t>
            </a:r>
          </a:p>
        </p:txBody>
      </p:sp>
      <mc:AlternateContent xmlns:mc="http://schemas.openxmlformats.org/markup-compatibility/2006" xmlns:a14="http://schemas.microsoft.com/office/drawing/2010/main">
        <mc:Choice Requires="a14">
          <p:sp>
            <p:nvSpPr>
              <p:cNvPr id="62467" name="Rectangle 3"/>
              <p:cNvSpPr>
                <a:spLocks noGrp="1" noChangeArrowheads="1"/>
              </p:cNvSpPr>
              <p:nvPr>
                <p:ph type="body" idx="4294967295"/>
              </p:nvPr>
            </p:nvSpPr>
            <p:spPr>
              <a:xfrm>
                <a:off x="1404938" y="1100138"/>
                <a:ext cx="7739062" cy="4591050"/>
              </a:xfrm>
            </p:spPr>
            <p:txBody>
              <a:bodyPr/>
              <a:lstStyle/>
              <a:p>
                <a:pPr algn="r" rtl="1"/>
                <a:r>
                  <a:rPr lang="fa-IR" dirty="0"/>
                  <a:t>برای بررسی اینکه آیا یک وابستگی </a:t>
                </a:r>
                <a:r>
                  <a:rPr lang="el-GR" dirty="0"/>
                  <a:t>α → β </a:t>
                </a:r>
                <a:r>
                  <a:rPr lang="fa-IR" dirty="0"/>
                  <a:t>در </a:t>
                </a:r>
                <a:r>
                  <a:rPr lang="fa-IR" dirty="0" err="1"/>
                  <a:t>تجزیه‌ای</a:t>
                </a:r>
                <a:r>
                  <a:rPr lang="fa-IR" dirty="0"/>
                  <a:t> از </a:t>
                </a:r>
                <a14:m>
                  <m:oMath xmlns:m="http://schemas.openxmlformats.org/officeDocument/2006/math">
                    <m:r>
                      <a:rPr lang="fa-IR" i="1">
                        <a:latin typeface="Cambria Math" panose="02040503050406030204" pitchFamily="18" charset="0"/>
                      </a:rPr>
                      <m:t>𝑅</m:t>
                    </m:r>
                  </m:oMath>
                </a14:m>
                <a:r>
                  <a:rPr lang="fa-IR" dirty="0"/>
                  <a:t>به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2</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𝑛</m:t>
                        </m:r>
                      </m:sub>
                    </m:sSub>
                  </m:oMath>
                </a14:m>
                <a:r>
                  <a:rPr lang="fa-IR" dirty="0"/>
                  <a:t>حفظ شده است، از آزمون زیر استفاده </a:t>
                </a:r>
                <a:r>
                  <a:rPr lang="fa-IR" dirty="0" err="1"/>
                  <a:t>می‌کنیم</a:t>
                </a:r>
                <a:r>
                  <a:rPr lang="fa-IR" dirty="0"/>
                  <a:t> (بسته </a:t>
                </a:r>
                <a:r>
                  <a:rPr lang="fa-IR" dirty="0" err="1"/>
                  <a:t>صفت‌ها</a:t>
                </a:r>
                <a:r>
                  <a:rPr lang="fa-IR" dirty="0"/>
                  <a:t> با توجه به </a:t>
                </a:r>
                <a14:m>
                  <m:oMath xmlns:m="http://schemas.openxmlformats.org/officeDocument/2006/math">
                    <m:r>
                      <a:rPr lang="fa-IR" i="1">
                        <a:latin typeface="Cambria Math" panose="02040503050406030204" pitchFamily="18" charset="0"/>
                      </a:rPr>
                      <m:t>𝐹</m:t>
                    </m:r>
                  </m:oMath>
                </a14:m>
                <a:r>
                  <a:rPr lang="fa-IR" dirty="0"/>
                  <a:t>محاسبه </a:t>
                </a:r>
                <a:r>
                  <a:rPr lang="fa-IR" dirty="0" err="1"/>
                  <a:t>می‌شود</a:t>
                </a:r>
                <a:r>
                  <a:rPr lang="fa-IR" dirty="0"/>
                  <a:t>):</a:t>
                </a:r>
              </a:p>
              <a:p>
                <a:pPr algn="r" rtl="1"/>
                <a:r>
                  <a:rPr lang="en-US" dirty="0"/>
                  <a:t>result = </a:t>
                </a:r>
                <a:r>
                  <a:rPr lang="el-GR" dirty="0"/>
                  <a:t>α  </a:t>
                </a:r>
              </a:p>
              <a:p>
                <a:pPr algn="r" rtl="1"/>
                <a:r>
                  <a:rPr lang="fa-IR" dirty="0"/>
                  <a:t>تکرار کن:  </a:t>
                </a:r>
              </a:p>
              <a:p>
                <a:pPr algn="r" rtl="1"/>
                <a:r>
                  <a:rPr lang="fa-IR" dirty="0"/>
                  <a:t>    برای هر </a:t>
                </a:r>
                <a:r>
                  <a:rPr lang="en-US" dirty="0"/>
                  <a:t>Ri </a:t>
                </a:r>
                <a:r>
                  <a:rPr lang="fa-IR" dirty="0"/>
                  <a:t>در تجزیه:  </a:t>
                </a:r>
              </a:p>
              <a:p>
                <a:pPr algn="r" rtl="1"/>
                <a:r>
                  <a:rPr lang="fa-IR" dirty="0"/>
                  <a:t>        </a:t>
                </a:r>
                <a:r>
                  <a:rPr lang="en-US" dirty="0"/>
                  <a:t>t = (result ∩ Ri)^+ ∩ Ri  </a:t>
                </a:r>
              </a:p>
              <a:p>
                <a:pPr algn="r" rtl="1"/>
                <a:r>
                  <a:rPr lang="en-US" dirty="0"/>
                  <a:t>        result = result ∪ t  </a:t>
                </a:r>
              </a:p>
              <a:p>
                <a:pPr algn="r" rtl="1"/>
                <a:r>
                  <a:rPr lang="fa-IR" dirty="0"/>
                  <a:t>تا زمانی که </a:t>
                </a:r>
                <a:r>
                  <a:rPr lang="en-US" dirty="0"/>
                  <a:t>result </a:t>
                </a:r>
                <a:r>
                  <a:rPr lang="fa-IR" dirty="0"/>
                  <a:t>تغییر نکند  </a:t>
                </a:r>
              </a:p>
              <a:p>
                <a:pPr algn="r" rtl="1"/>
                <a:r>
                  <a:rPr lang="fa-IR" dirty="0"/>
                  <a:t>اگر </a:t>
                </a:r>
                <a:r>
                  <a:rPr lang="en-US" dirty="0"/>
                  <a:t>result </a:t>
                </a:r>
                <a:r>
                  <a:rPr lang="fa-IR" dirty="0"/>
                  <a:t>شامل تمام صفات </a:t>
                </a:r>
                <a:r>
                  <a:rPr lang="el-GR" dirty="0"/>
                  <a:t>β </a:t>
                </a:r>
                <a:r>
                  <a:rPr lang="fa-IR" dirty="0"/>
                  <a:t>باشد، آنگاه وابستگی </a:t>
                </a:r>
                <a:r>
                  <a:rPr lang="fa-IR" dirty="0" err="1"/>
                  <a:t>تابعی</a:t>
                </a:r>
                <a:r>
                  <a:rPr lang="fa-IR" dirty="0"/>
                  <a:t> </a:t>
                </a:r>
                <a:r>
                  <a:rPr lang="el-GR" dirty="0"/>
                  <a:t>α → β </a:t>
                </a:r>
                <a:r>
                  <a:rPr lang="fa-IR" dirty="0"/>
                  <a:t>حفظ شده است.</a:t>
                </a:r>
              </a:p>
              <a:p>
                <a:pPr algn="r" rtl="1"/>
                <a:r>
                  <a:rPr lang="fa-IR" dirty="0"/>
                  <a:t>این آزمون را روی تمام </a:t>
                </a:r>
                <a:r>
                  <a:rPr lang="fa-IR" dirty="0" err="1"/>
                  <a:t>وابستگی‌های</a:t>
                </a:r>
                <a:r>
                  <a:rPr lang="fa-IR" dirty="0"/>
                  <a:t> موجود در </a:t>
                </a:r>
                <a:r>
                  <a:rPr lang="en-US" dirty="0"/>
                  <a:t>F </a:t>
                </a:r>
                <a:r>
                  <a:rPr lang="fa-IR" dirty="0"/>
                  <a:t>اعمال </a:t>
                </a:r>
                <a:r>
                  <a:rPr lang="fa-IR" dirty="0" err="1"/>
                  <a:t>می‌کنیم</a:t>
                </a:r>
                <a:r>
                  <a:rPr lang="fa-IR" dirty="0"/>
                  <a:t> تا بررسی کنیم آیا یک تجزیه </a:t>
                </a:r>
                <a:r>
                  <a:rPr lang="fa-IR" b="1" dirty="0" err="1"/>
                  <a:t>حفظ‌کننده</a:t>
                </a:r>
                <a:r>
                  <a:rPr lang="fa-IR" b="1" dirty="0"/>
                  <a:t> وابستگی</a:t>
                </a:r>
                <a:r>
                  <a:rPr lang="fa-IR" dirty="0"/>
                  <a:t> است یا خیر.</a:t>
                </a:r>
              </a:p>
              <a:p>
                <a:pPr algn="r" rtl="1"/>
                <a:r>
                  <a:rPr lang="fa-IR" dirty="0"/>
                  <a:t>این روش زمان </a:t>
                </a:r>
                <a:r>
                  <a:rPr lang="fa-IR" dirty="0" err="1"/>
                  <a:t>چندجمله‌ای</a:t>
                </a:r>
                <a:r>
                  <a:rPr lang="fa-IR" dirty="0"/>
                  <a:t> </a:t>
                </a:r>
                <a:r>
                  <a:rPr lang="fa-IR" dirty="0" err="1"/>
                  <a:t>می‌برد</a:t>
                </a:r>
                <a:r>
                  <a:rPr lang="fa-IR" dirty="0"/>
                  <a:t>، برخلاف زمان نمایی مورد نیاز برای محاسبه </a:t>
                </a:r>
                <a:r>
                  <a:rPr lang="en-US" dirty="0"/>
                  <a:t>F⁺ </a:t>
                </a:r>
                <a:r>
                  <a:rPr lang="fa-IR" dirty="0"/>
                  <a:t>و </a:t>
                </a:r>
                <a14:m>
                  <m:oMath xmlns:m="http://schemas.openxmlformats.org/officeDocument/2006/math">
                    <m:d>
                      <m:dPr>
                        <m:endChr m:val=""/>
                        <m:ctrlPr>
                          <a:rPr lang="fa-IR" i="1">
                            <a:latin typeface="Cambria Math" panose="02040503050406030204" pitchFamily="18" charset="0"/>
                          </a:rPr>
                        </m:ctrlPr>
                      </m:dPr>
                      <m:e>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a:latin typeface="Cambria Math" panose="02040503050406030204" pitchFamily="18" charset="0"/>
                              </a:rPr>
                              <m:t>1</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a:latin typeface="Cambria Math" panose="02040503050406030204" pitchFamily="18" charset="0"/>
                              </a:rPr>
                              <m:t>2</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𝑛</m:t>
                            </m:r>
                          </m:sub>
                        </m:sSub>
                        <m:sSup>
                          <m:sSupPr>
                            <m:ctrlPr>
                              <a:rPr lang="fa-IR" i="1">
                                <a:latin typeface="Cambria Math" panose="02040503050406030204" pitchFamily="18" charset="0"/>
                              </a:rPr>
                            </m:ctrlPr>
                          </m:sSupPr>
                          <m:e>
                            <m:d>
                              <m:dPr>
                                <m:begChr m:val=""/>
                                <m:endChr m:val=""/>
                                <m:ctrlPr>
                                  <a:rPr lang="fa-IR" i="1">
                                    <a:latin typeface="Cambria Math" panose="02040503050406030204" pitchFamily="18" charset="0"/>
                                  </a:rPr>
                                </m:ctrlPr>
                              </m:dPr>
                              <m:e>
                                <m:r>
                                  <a:rPr lang="fa-IR">
                                    <a:latin typeface="Cambria Math" panose="02040503050406030204" pitchFamily="18" charset="0"/>
                                  </a:rPr>
                                  <m:t>)</m:t>
                                </m:r>
                              </m:e>
                            </m:d>
                          </m:e>
                          <m:sup>
                            <m:r>
                              <a:rPr lang="fa-IR">
                                <a:latin typeface="Cambria Math" panose="02040503050406030204" pitchFamily="18" charset="0"/>
                              </a:rPr>
                              <m:t>+</m:t>
                            </m:r>
                          </m:sup>
                        </m:sSup>
                      </m:e>
                    </m:d>
                  </m:oMath>
                </a14:m>
                <a:r>
                  <a:rPr lang="fa-IR" dirty="0"/>
                  <a:t>.</a:t>
                </a:r>
              </a:p>
              <a:p>
                <a:pPr algn="r" rtl="1">
                  <a:buSzPct val="110000"/>
                  <a:buFont typeface="Wingdings" panose="05000000000000000000" pitchFamily="2" charset="2"/>
                  <a:buChar char="§"/>
                </a:pPr>
                <a:endParaRPr lang="en-US" altLang="en-US" dirty="0">
                  <a:sym typeface="Symbol" panose="05050102010706020507" pitchFamily="18" charset="2"/>
                </a:endParaRPr>
              </a:p>
            </p:txBody>
          </p:sp>
        </mc:Choice>
        <mc:Fallback xmlns="">
          <p:sp>
            <p:nvSpPr>
              <p:cNvPr id="62467" name="Rectangle 3"/>
              <p:cNvSpPr>
                <a:spLocks noGrp="1" noRot="1" noChangeAspect="1" noMove="1" noResize="1" noEditPoints="1" noAdjustHandles="1" noChangeArrowheads="1" noChangeShapeType="1" noTextEdit="1"/>
              </p:cNvSpPr>
              <p:nvPr>
                <p:ph type="body" idx="4294967295"/>
              </p:nvPr>
            </p:nvSpPr>
            <p:spPr>
              <a:xfrm>
                <a:off x="1404938" y="1100138"/>
                <a:ext cx="7739062" cy="4591050"/>
              </a:xfrm>
              <a:blipFill>
                <a:blip r:embed="rId3"/>
                <a:stretch>
                  <a:fillRect t="-2255" r="-1102" b="-14058"/>
                </a:stretch>
              </a:blipFill>
            </p:spPr>
            <p:txBody>
              <a:bodyPr/>
              <a:lstStyle/>
              <a:p>
                <a:r>
                  <a:rPr lang="en-US">
                    <a:noFill/>
                  </a:rPr>
                  <a:t> </a:t>
                </a:r>
              </a:p>
            </p:txBody>
          </p:sp>
        </mc:Fallback>
      </mc:AlternateContent>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57CEEA-CA95-4DAE-A350-48CCC0B76C94}"/>
              </a:ext>
            </a:extLst>
          </p:cNvPr>
          <p:cNvSpPr>
            <a:spLocks noGrp="1"/>
          </p:cNvSpPr>
          <p:nvPr>
            <p:ph type="ctrTitle"/>
          </p:nvPr>
        </p:nvSpPr>
        <p:spPr/>
        <p:txBody>
          <a:bodyPr/>
          <a:lstStyle/>
          <a:p>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95" name="Rectangle 3"/>
          <p:cNvSpPr>
            <a:spLocks noGrp="1" noChangeArrowheads="1"/>
          </p:cNvSpPr>
          <p:nvPr>
            <p:ph idx="1"/>
          </p:nvPr>
        </p:nvSpPr>
        <p:spPr>
          <a:xfrm>
            <a:off x="1091953" y="2255838"/>
            <a:ext cx="7378947" cy="1638300"/>
          </a:xfrm>
        </p:spPr>
        <p:txBody>
          <a:bodyPr/>
          <a:lstStyle/>
          <a:p>
            <a:pPr algn="ctr">
              <a:buFont typeface="Monotype Sorts" charset="2"/>
              <a:buNone/>
              <a:defRPr/>
            </a:pPr>
            <a:r>
              <a:rPr lang="fa-IR" sz="3200" dirty="0" err="1"/>
              <a:t>الگوریتم</a:t>
            </a:r>
            <a:r>
              <a:rPr lang="fa-IR" sz="3200" dirty="0"/>
              <a:t> تجزیه با استفاده از </a:t>
            </a:r>
            <a:r>
              <a:rPr lang="fa-IR" sz="3200" dirty="0" err="1"/>
              <a:t>وابستگی‌های</a:t>
            </a:r>
            <a:r>
              <a:rPr lang="fa-IR" sz="3200" dirty="0"/>
              <a:t> </a:t>
            </a:r>
            <a:r>
              <a:rPr lang="fa-IR" sz="3200" dirty="0" err="1"/>
              <a:t>تابعی</a:t>
            </a:r>
            <a:endParaRPr lang="en-US" altLang="en-US" sz="3200" b="1" dirty="0">
              <a:solidFill>
                <a:srgbClr val="002060"/>
              </a:solidFill>
              <a:effectLst>
                <a:outerShdw blurRad="38100" dist="38100" dir="2700000" algn="tl">
                  <a:srgbClr val="C0C0C0"/>
                </a:outerShdw>
              </a:effectLst>
              <a:latin typeface="+mj-lt"/>
              <a:ea typeface="ＭＳ Ｐゴシック" pitchFamily="34" charset="-128"/>
              <a:cs typeface="+mj-cs"/>
            </a:endParaRPr>
          </a:p>
        </p:txBody>
      </p:sp>
    </p:spTree>
  </p:cSld>
  <p:clrMapOvr>
    <a:masterClrMapping/>
  </p:clrMapOvr>
  <p:transition spd="slow"/>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4210"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Testing for BCNF</a:t>
            </a:r>
          </a:p>
        </p:txBody>
      </p:sp>
      <p:sp>
        <p:nvSpPr>
          <p:cNvPr id="734211" name="Rectangle 3"/>
          <p:cNvSpPr>
            <a:spLocks noGrp="1" noChangeArrowheads="1"/>
          </p:cNvSpPr>
          <p:nvPr>
            <p:ph idx="1"/>
          </p:nvPr>
        </p:nvSpPr>
        <p:spPr>
          <a:xfrm>
            <a:off x="0" y="727075"/>
            <a:ext cx="9029700" cy="4871453"/>
          </a:xfrm>
        </p:spPr>
        <p:txBody>
          <a:bodyPr/>
          <a:lstStyle/>
          <a:p>
            <a:pPr algn="r" rtl="1"/>
            <a:r>
              <a:rPr lang="fa-IR" sz="1800" dirty="0"/>
              <a:t>برای بررسی اینکه آیا یک وابستگی </a:t>
            </a:r>
            <a:r>
              <a:rPr lang="fa-IR" sz="1800" dirty="0" err="1"/>
              <a:t>غیرتبیینی</a:t>
            </a:r>
            <a:r>
              <a:rPr lang="fa-IR" sz="1800" dirty="0"/>
              <a:t> </a:t>
            </a:r>
            <a:r>
              <a:rPr lang="el-GR" sz="1800" dirty="0"/>
              <a:t>α → β </a:t>
            </a:r>
            <a:r>
              <a:rPr lang="fa-IR" sz="1800" dirty="0"/>
              <a:t>باعث نقض </a:t>
            </a:r>
            <a:r>
              <a:rPr lang="en-US" sz="1800" dirty="0"/>
              <a:t>BCNF </a:t>
            </a:r>
            <a:r>
              <a:rPr lang="fa-IR" sz="1800" dirty="0" err="1"/>
              <a:t>می‌شود</a:t>
            </a:r>
            <a:r>
              <a:rPr lang="fa-IR" sz="1800" dirty="0"/>
              <a:t>:</a:t>
            </a:r>
          </a:p>
          <a:p>
            <a:pPr algn="r" rtl="1"/>
            <a:r>
              <a:rPr lang="fa-IR" sz="1800" dirty="0"/>
              <a:t>بسته </a:t>
            </a:r>
            <a:r>
              <a:rPr lang="fa-IR" sz="1800" dirty="0" err="1"/>
              <a:t>صفت‌های</a:t>
            </a:r>
            <a:r>
              <a:rPr lang="fa-IR" sz="1800" dirty="0"/>
              <a:t> </a:t>
            </a:r>
            <a:r>
              <a:rPr lang="el-GR" sz="1800" dirty="0"/>
              <a:t>α، </a:t>
            </a:r>
            <a:r>
              <a:rPr lang="fa-IR" sz="1800" dirty="0"/>
              <a:t>یعنی </a:t>
            </a:r>
            <a:r>
              <a:rPr lang="el-GR" sz="1800" dirty="0"/>
              <a:t>α⁺، </a:t>
            </a:r>
            <a:r>
              <a:rPr lang="fa-IR" sz="1800" dirty="0"/>
              <a:t>را محاسبه کنید، و</a:t>
            </a:r>
          </a:p>
          <a:p>
            <a:pPr algn="r" rtl="1"/>
            <a:r>
              <a:rPr lang="fa-IR" sz="1800" dirty="0"/>
              <a:t>بررسی کنید که آیا شامل تمام صفات </a:t>
            </a:r>
            <a:r>
              <a:rPr lang="en-US" sz="1800" dirty="0"/>
              <a:t>R </a:t>
            </a:r>
            <a:r>
              <a:rPr lang="fa-IR" sz="1800" dirty="0"/>
              <a:t>است یا خیر، یعنی آیا </a:t>
            </a:r>
            <a:r>
              <a:rPr lang="el-GR" sz="1800" dirty="0"/>
              <a:t>α </a:t>
            </a:r>
            <a:r>
              <a:rPr lang="fa-IR" sz="1800" dirty="0"/>
              <a:t>یک </a:t>
            </a:r>
            <a:r>
              <a:rPr lang="fa-IR" sz="1800" b="1" dirty="0" err="1"/>
              <a:t>ابرکلید</a:t>
            </a:r>
            <a:r>
              <a:rPr lang="fa-IR" sz="1800" dirty="0"/>
              <a:t> برای </a:t>
            </a:r>
            <a:r>
              <a:rPr lang="en-US" sz="1800" dirty="0"/>
              <a:t>R </a:t>
            </a:r>
            <a:r>
              <a:rPr lang="fa-IR" sz="1800" dirty="0"/>
              <a:t>است.</a:t>
            </a:r>
          </a:p>
          <a:p>
            <a:pPr algn="r" rtl="1"/>
            <a:r>
              <a:rPr lang="fa-IR" sz="1800" b="1" dirty="0"/>
              <a:t>آزمون </a:t>
            </a:r>
            <a:r>
              <a:rPr lang="fa-IR" sz="1800" b="1" dirty="0" err="1"/>
              <a:t>ساده‌شده</a:t>
            </a:r>
            <a:r>
              <a:rPr lang="fa-IR" sz="1800" b="1" dirty="0"/>
              <a:t>:</a:t>
            </a:r>
            <a:r>
              <a:rPr lang="fa-IR" sz="1800" dirty="0"/>
              <a:t> برای بررسی اینکه آیا یک طرح </a:t>
            </a:r>
            <a:r>
              <a:rPr lang="fa-IR" sz="1800" dirty="0" err="1"/>
              <a:t>رابطه‌ای</a:t>
            </a:r>
            <a:r>
              <a:rPr lang="fa-IR" sz="1800" dirty="0"/>
              <a:t> </a:t>
            </a:r>
            <a:r>
              <a:rPr lang="en-US" sz="1800" dirty="0"/>
              <a:t>R </a:t>
            </a:r>
            <a:r>
              <a:rPr lang="fa-IR" sz="1800" dirty="0"/>
              <a:t>در </a:t>
            </a:r>
            <a:r>
              <a:rPr lang="en-US" sz="1800" dirty="0"/>
              <a:t>BCNF </a:t>
            </a:r>
            <a:r>
              <a:rPr lang="fa-IR" sz="1800" dirty="0"/>
              <a:t>است، کافی است فقط </a:t>
            </a:r>
            <a:r>
              <a:rPr lang="fa-IR" sz="1800" dirty="0" err="1"/>
              <a:t>وابستگی‌های</a:t>
            </a:r>
            <a:r>
              <a:rPr lang="fa-IR" sz="1800" dirty="0"/>
              <a:t> موجود در مجموعه </a:t>
            </a:r>
            <a:r>
              <a:rPr lang="fa-IR" sz="1800" dirty="0" err="1"/>
              <a:t>داده‌شده</a:t>
            </a:r>
            <a:r>
              <a:rPr lang="fa-IR" sz="1800" dirty="0"/>
              <a:t> </a:t>
            </a:r>
            <a:r>
              <a:rPr lang="en-US" sz="1800" dirty="0"/>
              <a:t>F </a:t>
            </a:r>
            <a:r>
              <a:rPr lang="fa-IR" sz="1800" dirty="0"/>
              <a:t>را برای نقض </a:t>
            </a:r>
            <a:r>
              <a:rPr lang="en-US" sz="1800" dirty="0"/>
              <a:t>BCNF </a:t>
            </a:r>
            <a:r>
              <a:rPr lang="fa-IR" sz="1800" dirty="0"/>
              <a:t>بررسی کنیم، به جای اینکه تمام </a:t>
            </a:r>
            <a:r>
              <a:rPr lang="fa-IR" sz="1800" dirty="0" err="1"/>
              <a:t>وابستگی‌ها</a:t>
            </a:r>
            <a:r>
              <a:rPr lang="fa-IR" sz="1800" dirty="0"/>
              <a:t> در </a:t>
            </a:r>
            <a:r>
              <a:rPr lang="en-US" sz="1800" dirty="0"/>
              <a:t>F⁺ </a:t>
            </a:r>
            <a:r>
              <a:rPr lang="fa-IR" sz="1800" dirty="0"/>
              <a:t>را بررسی کنیم.</a:t>
            </a:r>
          </a:p>
          <a:p>
            <a:pPr algn="r" rtl="1"/>
            <a:r>
              <a:rPr lang="fa-IR" sz="1800" dirty="0"/>
              <a:t>اگر هیچ یک از </a:t>
            </a:r>
            <a:r>
              <a:rPr lang="fa-IR" sz="1800" dirty="0" err="1"/>
              <a:t>وابستگی‌های</a:t>
            </a:r>
            <a:r>
              <a:rPr lang="fa-IR" sz="1800" dirty="0"/>
              <a:t> موجود در </a:t>
            </a:r>
            <a:r>
              <a:rPr lang="en-US" sz="1800" dirty="0"/>
              <a:t>F </a:t>
            </a:r>
            <a:r>
              <a:rPr lang="fa-IR" sz="1800" dirty="0"/>
              <a:t>باعث نقض </a:t>
            </a:r>
            <a:r>
              <a:rPr lang="en-US" sz="1800" dirty="0"/>
              <a:t>BCNF </a:t>
            </a:r>
            <a:r>
              <a:rPr lang="fa-IR" sz="1800" dirty="0"/>
              <a:t>نشود، آنگاه هیچ یک از </a:t>
            </a:r>
            <a:r>
              <a:rPr lang="fa-IR" sz="1800" dirty="0" err="1"/>
              <a:t>وابستگی‌های</a:t>
            </a:r>
            <a:r>
              <a:rPr lang="fa-IR" sz="1800" dirty="0"/>
              <a:t> موجود در </a:t>
            </a:r>
            <a:r>
              <a:rPr lang="en-US" sz="1800" dirty="0"/>
              <a:t>F⁺ </a:t>
            </a:r>
            <a:r>
              <a:rPr lang="fa-IR" sz="1800" dirty="0"/>
              <a:t>نیز باعث نقض </a:t>
            </a:r>
            <a:r>
              <a:rPr lang="en-US" sz="1800" dirty="0"/>
              <a:t>BCNF </a:t>
            </a:r>
            <a:r>
              <a:rPr lang="fa-IR" sz="1800" dirty="0"/>
              <a:t>نخواهند شد.</a:t>
            </a:r>
          </a:p>
          <a:p>
            <a:pPr algn="r" rtl="1"/>
            <a:r>
              <a:rPr lang="fa-IR" sz="1800" dirty="0"/>
              <a:t>با این حال، آزمون </a:t>
            </a:r>
            <a:r>
              <a:rPr lang="fa-IR" sz="1800" dirty="0" err="1"/>
              <a:t>ساده‌شده</a:t>
            </a:r>
            <a:r>
              <a:rPr lang="fa-IR" sz="1800" dirty="0"/>
              <a:t> با استفاده از </a:t>
            </a:r>
            <a:r>
              <a:rPr lang="en-US" sz="1800" dirty="0"/>
              <a:t>F </a:t>
            </a:r>
            <a:r>
              <a:rPr lang="fa-IR" sz="1800" dirty="0"/>
              <a:t>تنها، هنگام بررسی یک رابطه در </a:t>
            </a:r>
            <a:r>
              <a:rPr lang="fa-IR" sz="1800" b="1" dirty="0"/>
              <a:t>تجزیه </a:t>
            </a:r>
            <a:r>
              <a:rPr lang="en-US" sz="1800" b="1" dirty="0"/>
              <a:t>R</a:t>
            </a:r>
            <a:r>
              <a:rPr lang="en-US" sz="1800" dirty="0"/>
              <a:t> </a:t>
            </a:r>
            <a:r>
              <a:rPr lang="fa-IR" sz="1800" dirty="0"/>
              <a:t>درست نیست.</a:t>
            </a:r>
          </a:p>
          <a:p>
            <a:pPr algn="r" rtl="1"/>
            <a:r>
              <a:rPr lang="fa-IR" sz="1800" dirty="0"/>
              <a:t>مثال: فرض کنید</a:t>
            </a:r>
            <a:br>
              <a:rPr lang="fa-IR" sz="1800" dirty="0"/>
            </a:br>
            <a:r>
              <a:rPr lang="en-US" sz="1800" dirty="0"/>
              <a:t>R = (A, B, C, D, E)</a:t>
            </a:r>
            <a:br>
              <a:rPr lang="en-US" sz="1800" dirty="0"/>
            </a:br>
            <a:r>
              <a:rPr lang="en-US" sz="1800" dirty="0"/>
              <a:t>F = { A → B, BC → D }</a:t>
            </a:r>
          </a:p>
          <a:p>
            <a:pPr algn="r" rtl="1"/>
            <a:r>
              <a:rPr lang="en-US" sz="1800" dirty="0"/>
              <a:t>R </a:t>
            </a:r>
            <a:r>
              <a:rPr lang="fa-IR" sz="1800" dirty="0"/>
              <a:t>را به دو رابطه تجزیه </a:t>
            </a:r>
            <a:r>
              <a:rPr lang="fa-IR" sz="1800" dirty="0" err="1"/>
              <a:t>می‌کنیم</a:t>
            </a:r>
            <a:r>
              <a:rPr lang="fa-IR" sz="1800" dirty="0"/>
              <a:t>:</a:t>
            </a:r>
            <a:br>
              <a:rPr lang="fa-IR" sz="1800" dirty="0"/>
            </a:br>
            <a:r>
              <a:rPr lang="en-US" sz="1800" dirty="0"/>
              <a:t>R₁ = (A, B)</a:t>
            </a:r>
            <a:br>
              <a:rPr lang="en-US" sz="1800" dirty="0"/>
            </a:br>
            <a:r>
              <a:rPr lang="en-US" sz="1800" dirty="0"/>
              <a:t>R₂ = (A, C, D, E)</a:t>
            </a:r>
          </a:p>
          <a:p>
            <a:pPr algn="r" rtl="1"/>
            <a:r>
              <a:rPr lang="fa-IR" sz="1800" dirty="0"/>
              <a:t>هیچ یک از </a:t>
            </a:r>
            <a:r>
              <a:rPr lang="fa-IR" sz="1800" dirty="0" err="1"/>
              <a:t>وابستگی‌های</a:t>
            </a:r>
            <a:r>
              <a:rPr lang="fa-IR" sz="1800" dirty="0"/>
              <a:t> موجود در </a:t>
            </a:r>
            <a:r>
              <a:rPr lang="en-US" sz="1800" dirty="0"/>
              <a:t>F </a:t>
            </a:r>
            <a:r>
              <a:rPr lang="fa-IR" sz="1800" dirty="0"/>
              <a:t>فقط شامل صفات </a:t>
            </a:r>
            <a:r>
              <a:rPr lang="en-US" sz="1800" dirty="0"/>
              <a:t>R₂ = (A, C, D, E) </a:t>
            </a:r>
            <a:r>
              <a:rPr lang="fa-IR" sz="1800" dirty="0"/>
              <a:t>نیستند، بنابراین ممکن است به اشتباه فکر کنیم </a:t>
            </a:r>
            <a:r>
              <a:rPr lang="en-US" sz="1800" dirty="0"/>
              <a:t>R₂ </a:t>
            </a:r>
            <a:r>
              <a:rPr lang="fa-IR" sz="1800" dirty="0"/>
              <a:t>در </a:t>
            </a:r>
            <a:r>
              <a:rPr lang="en-US" sz="1800" dirty="0"/>
              <a:t>BCNF </a:t>
            </a:r>
            <a:r>
              <a:rPr lang="fa-IR" sz="1800" dirty="0"/>
              <a:t>است.</a:t>
            </a:r>
          </a:p>
          <a:p>
            <a:pPr algn="r" rtl="1"/>
            <a:r>
              <a:rPr lang="fa-IR" sz="1800" dirty="0"/>
              <a:t>در واقع، وابستگی </a:t>
            </a:r>
            <a:r>
              <a:rPr lang="en-US" sz="1800" dirty="0"/>
              <a:t>AC → D </a:t>
            </a:r>
            <a:r>
              <a:rPr lang="fa-IR" sz="1800" dirty="0"/>
              <a:t>در </a:t>
            </a:r>
            <a:r>
              <a:rPr lang="en-US" sz="1800" dirty="0"/>
              <a:t>F⁺ </a:t>
            </a:r>
            <a:r>
              <a:rPr lang="fa-IR" sz="1800" dirty="0"/>
              <a:t>نشان </a:t>
            </a:r>
            <a:r>
              <a:rPr lang="fa-IR" sz="1800" dirty="0" err="1"/>
              <a:t>می‌دهد</a:t>
            </a:r>
            <a:r>
              <a:rPr lang="fa-IR" sz="1800" dirty="0"/>
              <a:t> که </a:t>
            </a:r>
            <a:r>
              <a:rPr lang="en-US" sz="1800" dirty="0"/>
              <a:t>R₂ </a:t>
            </a:r>
            <a:r>
              <a:rPr lang="fa-IR" sz="1800" dirty="0"/>
              <a:t>در </a:t>
            </a:r>
            <a:r>
              <a:rPr lang="en-US" sz="1800" b="1" dirty="0"/>
              <a:t>BCNF </a:t>
            </a:r>
            <a:r>
              <a:rPr lang="fa-IR" sz="1800" b="1" dirty="0"/>
              <a:t>نیست</a:t>
            </a:r>
            <a:r>
              <a:rPr lang="fa-IR" sz="1800" dirty="0"/>
              <a:t>.</a:t>
            </a:r>
          </a:p>
          <a:p>
            <a:pPr algn="r" rtl="1">
              <a:lnSpc>
                <a:spcPct val="90000"/>
              </a:lnSpc>
            </a:pPr>
            <a:endParaRPr lang="en-US" altLang="en-US" sz="18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6258"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Testing Decomposition for BCNF</a:t>
            </a:r>
          </a:p>
        </p:txBody>
      </p:sp>
      <mc:AlternateContent xmlns:mc="http://schemas.openxmlformats.org/markup-compatibility/2006" xmlns:a14="http://schemas.microsoft.com/office/drawing/2010/main">
        <mc:Choice Requires="a14">
          <p:sp>
            <p:nvSpPr>
              <p:cNvPr id="66563" name="Rectangle 3"/>
              <p:cNvSpPr>
                <a:spLocks noGrp="1" noChangeArrowheads="1"/>
              </p:cNvSpPr>
              <p:nvPr>
                <p:ph idx="1"/>
              </p:nvPr>
            </p:nvSpPr>
            <p:spPr>
              <a:xfrm>
                <a:off x="1029811" y="1636297"/>
                <a:ext cx="7306322" cy="3585408"/>
              </a:xfrm>
            </p:spPr>
            <p:txBody>
              <a:bodyPr/>
              <a:lstStyle/>
              <a:p>
                <a:pPr algn="r" rtl="1"/>
                <a:r>
                  <a:rPr lang="fa-IR" dirty="0"/>
                  <a:t>یا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a:t>را با توجه به </a:t>
                </a:r>
                <a:r>
                  <a:rPr lang="fa-IR" b="1" dirty="0" err="1"/>
                  <a:t>محدودسازی</a:t>
                </a:r>
                <a:r>
                  <a:rPr lang="fa-IR" b="1" dirty="0"/>
                  <a:t> </a:t>
                </a:r>
                <a:r>
                  <a:rPr lang="en-US" b="1" dirty="0"/>
                  <a:t>F⁺ </a:t>
                </a:r>
                <a:r>
                  <a:rPr lang="fa-IR" b="1" dirty="0"/>
                  <a:t>به </a:t>
                </a:r>
                <a:r>
                  <a:rPr lang="en-US" b="1" dirty="0" err="1"/>
                  <a:t>R_i</a:t>
                </a:r>
                <a:r>
                  <a:rPr lang="en-US" dirty="0"/>
                  <a:t> </a:t>
                </a:r>
                <a:r>
                  <a:rPr lang="fa-IR" dirty="0"/>
                  <a:t>بررسی کنید (یعنی تمام </a:t>
                </a:r>
                <a:r>
                  <a:rPr lang="fa-IR" dirty="0" err="1"/>
                  <a:t>وابستگی‌های</a:t>
                </a:r>
                <a:r>
                  <a:rPr lang="fa-IR" dirty="0"/>
                  <a:t> </a:t>
                </a:r>
                <a:r>
                  <a:rPr lang="fa-IR" dirty="0" err="1"/>
                  <a:t>تابعی</a:t>
                </a:r>
                <a:r>
                  <a:rPr lang="fa-IR" dirty="0"/>
                  <a:t> در </a:t>
                </a:r>
                <a:r>
                  <a:rPr lang="en-US" dirty="0"/>
                  <a:t>F⁺ </a:t>
                </a:r>
                <a:r>
                  <a:rPr lang="fa-IR" dirty="0"/>
                  <a:t>که فقط شامل صفات موجود در </a:t>
                </a:r>
                <a:r>
                  <a:rPr lang="en-US" dirty="0" err="1"/>
                  <a:t>R_i</a:t>
                </a:r>
                <a:r>
                  <a:rPr lang="en-US" dirty="0"/>
                  <a:t> </a:t>
                </a:r>
                <a:r>
                  <a:rPr lang="fa-IR" dirty="0"/>
                  <a:t>هستند)،</a:t>
                </a:r>
                <a:br>
                  <a:rPr lang="fa-IR" dirty="0"/>
                </a:br>
                <a:r>
                  <a:rPr lang="fa-IR" dirty="0"/>
                  <a:t>یا از </a:t>
                </a:r>
                <a:r>
                  <a:rPr lang="fa-IR" b="1" dirty="0"/>
                  <a:t>مجموعه اصلی </a:t>
                </a:r>
                <a:r>
                  <a:rPr lang="fa-IR" b="1" dirty="0" err="1"/>
                  <a:t>وابستگی‌ها</a:t>
                </a:r>
                <a:r>
                  <a:rPr lang="fa-IR" b="1" dirty="0"/>
                  <a:t> </a:t>
                </a:r>
                <a:r>
                  <a:rPr lang="en-US" b="1" dirty="0"/>
                  <a:t>F</a:t>
                </a:r>
                <a:r>
                  <a:rPr lang="en-US" dirty="0"/>
                  <a:t> </a:t>
                </a:r>
                <a:r>
                  <a:rPr lang="fa-IR" dirty="0"/>
                  <a:t>که روی </a:t>
                </a:r>
                <a:r>
                  <a:rPr lang="en-US" dirty="0"/>
                  <a:t>R </a:t>
                </a:r>
                <a:r>
                  <a:rPr lang="fa-IR" dirty="0" err="1"/>
                  <a:t>برقرارند</a:t>
                </a:r>
                <a:r>
                  <a:rPr lang="fa-IR" dirty="0"/>
                  <a:t> استفاده کنید، اما با آزمون زیر:</a:t>
                </a:r>
              </a:p>
              <a:p>
                <a:pPr algn="r" rtl="1"/>
                <a:r>
                  <a:rPr lang="fa-IR" dirty="0"/>
                  <a:t>برای هر </a:t>
                </a:r>
                <a:r>
                  <a:rPr lang="fa-IR" dirty="0" err="1"/>
                  <a:t>مجموعه‌ای</a:t>
                </a:r>
                <a:r>
                  <a:rPr lang="fa-IR" dirty="0"/>
                  <a:t> از صفات </a:t>
                </a:r>
                <a:r>
                  <a:rPr lang="el-GR" dirty="0"/>
                  <a:t>α ⊆ </a:t>
                </a:r>
                <a:r>
                  <a:rPr lang="en-US" dirty="0" err="1"/>
                  <a:t>R_i</a:t>
                </a:r>
                <a:r>
                  <a:rPr lang="en-US" dirty="0"/>
                  <a:t>، </a:t>
                </a:r>
                <a:r>
                  <a:rPr lang="fa-IR" dirty="0"/>
                  <a:t>بررسی کنید که </a:t>
                </a:r>
                <a:r>
                  <a:rPr lang="el-GR" dirty="0"/>
                  <a:t>α⁺ (</a:t>
                </a:r>
                <a:r>
                  <a:rPr lang="fa-IR" dirty="0"/>
                  <a:t>بسته </a:t>
                </a:r>
                <a:r>
                  <a:rPr lang="fa-IR" dirty="0" err="1"/>
                  <a:t>صفت‌های</a:t>
                </a:r>
                <a:r>
                  <a:rPr lang="fa-IR" dirty="0"/>
                  <a:t> </a:t>
                </a:r>
                <a:r>
                  <a:rPr lang="el-GR" dirty="0"/>
                  <a:t>α) </a:t>
                </a:r>
                <a:r>
                  <a:rPr lang="fa-IR" dirty="0"/>
                  <a:t>یا هیچ یک از صفات </a:t>
                </a:r>
                <a:r>
                  <a:rPr lang="en-US" dirty="0" err="1"/>
                  <a:t>R_i</a:t>
                </a:r>
                <a:r>
                  <a:rPr lang="en-US" dirty="0"/>
                  <a:t> – </a:t>
                </a:r>
                <a:r>
                  <a:rPr lang="el-GR" dirty="0"/>
                  <a:t>α </a:t>
                </a:r>
                <a:r>
                  <a:rPr lang="fa-IR" dirty="0"/>
                  <a:t>را شامل </a:t>
                </a:r>
                <a:r>
                  <a:rPr lang="fa-IR" dirty="0" err="1"/>
                  <a:t>نمی‌شود</a:t>
                </a:r>
                <a:r>
                  <a:rPr lang="fa-IR" dirty="0"/>
                  <a:t>، یا تمام صفات </a:t>
                </a:r>
                <a:r>
                  <a:rPr lang="en-US" dirty="0" err="1"/>
                  <a:t>R_i</a:t>
                </a:r>
                <a:r>
                  <a:rPr lang="en-US" dirty="0"/>
                  <a:t> </a:t>
                </a:r>
                <a:r>
                  <a:rPr lang="fa-IR" dirty="0"/>
                  <a:t>را شامل </a:t>
                </a:r>
                <a:r>
                  <a:rPr lang="fa-IR" dirty="0" err="1"/>
                  <a:t>می‌شود</a:t>
                </a:r>
                <a:r>
                  <a:rPr lang="fa-IR" dirty="0"/>
                  <a:t>.</a:t>
                </a:r>
              </a:p>
              <a:p>
                <a:pPr algn="r" rtl="1"/>
                <a:r>
                  <a:rPr lang="fa-IR" dirty="0"/>
                  <a:t>اگر این شرط توسط یک وابستگی </a:t>
                </a:r>
                <a:r>
                  <a:rPr lang="el-GR" dirty="0"/>
                  <a:t>α → β </a:t>
                </a:r>
                <a:r>
                  <a:rPr lang="fa-IR" dirty="0"/>
                  <a:t>در </a:t>
                </a:r>
                <a:r>
                  <a:rPr lang="en-US" dirty="0"/>
                  <a:t>F⁺ </a:t>
                </a:r>
                <a:r>
                  <a:rPr lang="fa-IR" dirty="0"/>
                  <a:t>نقض شود، وابستگی</a:t>
                </a:r>
                <a:br>
                  <a:rPr lang="fa-IR" dirty="0"/>
                </a:br>
                <a:r>
                  <a:rPr lang="el-GR" dirty="0"/>
                  <a:t>α → (α⁺ – α) ∩ </a:t>
                </a:r>
                <a:r>
                  <a:rPr lang="en-US" dirty="0" err="1"/>
                  <a:t>R_i</a:t>
                </a:r>
                <a:br>
                  <a:rPr lang="en-US" dirty="0"/>
                </a:br>
                <a:r>
                  <a:rPr lang="fa-IR" dirty="0"/>
                  <a:t>را </a:t>
                </a:r>
                <a:r>
                  <a:rPr lang="fa-IR" dirty="0" err="1"/>
                  <a:t>می‌توان</a:t>
                </a:r>
                <a:r>
                  <a:rPr lang="fa-IR" dirty="0"/>
                  <a:t> نشان داد که روی </a:t>
                </a:r>
                <a:r>
                  <a:rPr lang="en-US" dirty="0" err="1"/>
                  <a:t>R_i</a:t>
                </a:r>
                <a:r>
                  <a:rPr lang="en-US" dirty="0"/>
                  <a:t> </a:t>
                </a:r>
                <a:r>
                  <a:rPr lang="fa-IR" dirty="0"/>
                  <a:t>برقرار است، و در نتیجه </a:t>
                </a:r>
                <a:r>
                  <a:rPr lang="en-US" dirty="0" err="1"/>
                  <a:t>R_i</a:t>
                </a:r>
                <a:r>
                  <a:rPr lang="en-US" dirty="0"/>
                  <a:t> </a:t>
                </a:r>
                <a:r>
                  <a:rPr lang="en-US" b="1" dirty="0"/>
                  <a:t>BCNF </a:t>
                </a:r>
                <a:r>
                  <a:rPr lang="fa-IR" b="1" dirty="0"/>
                  <a:t>را نقض </a:t>
                </a:r>
                <a:r>
                  <a:rPr lang="fa-IR" b="1" dirty="0" err="1"/>
                  <a:t>می‌کند</a:t>
                </a:r>
                <a:r>
                  <a:rPr lang="fa-IR" dirty="0"/>
                  <a:t>.</a:t>
                </a:r>
              </a:p>
              <a:p>
                <a:pPr algn="r" rtl="1"/>
                <a:r>
                  <a:rPr lang="fa-IR" dirty="0"/>
                  <a:t>از این وابستگی برای </a:t>
                </a:r>
                <a:r>
                  <a:rPr lang="fa-IR" b="1" dirty="0"/>
                  <a:t>تجزیه </a:t>
                </a:r>
                <a:r>
                  <a:rPr lang="en-US" b="1" dirty="0" err="1"/>
                  <a:t>R_i</a:t>
                </a:r>
                <a:r>
                  <a:rPr lang="en-US" dirty="0"/>
                  <a:t> </a:t>
                </a:r>
                <a:r>
                  <a:rPr lang="fa-IR" dirty="0"/>
                  <a:t>استفاده </a:t>
                </a:r>
                <a:r>
                  <a:rPr lang="fa-IR" dirty="0" err="1"/>
                  <a:t>می‌کنیم</a:t>
                </a:r>
                <a:r>
                  <a:rPr lang="fa-IR" dirty="0"/>
                  <a:t>.</a:t>
                </a:r>
              </a:p>
              <a:p>
                <a:pPr algn="r" rtl="1"/>
                <a:endParaRPr lang="en-US" altLang="en-US" i="1" dirty="0"/>
              </a:p>
            </p:txBody>
          </p:sp>
        </mc:Choice>
        <mc:Fallback xmlns="">
          <p:sp>
            <p:nvSpPr>
              <p:cNvPr id="66563" name="Rectangle 3"/>
              <p:cNvSpPr>
                <a:spLocks noGrp="1" noRot="1" noChangeAspect="1" noMove="1" noResize="1" noEditPoints="1" noAdjustHandles="1" noChangeArrowheads="1" noChangeShapeType="1" noTextEdit="1"/>
              </p:cNvSpPr>
              <p:nvPr>
                <p:ph idx="1"/>
              </p:nvPr>
            </p:nvSpPr>
            <p:spPr>
              <a:xfrm>
                <a:off x="1029811" y="1636297"/>
                <a:ext cx="7306322" cy="3585408"/>
              </a:xfrm>
              <a:blipFill>
                <a:blip r:embed="rId3"/>
                <a:stretch>
                  <a:fillRect t="-1868" r="-100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p:cNvSpPr txBox="1"/>
              <p:nvPr/>
            </p:nvSpPr>
            <p:spPr>
              <a:xfrm>
                <a:off x="768350" y="1143000"/>
                <a:ext cx="7077069" cy="369332"/>
              </a:xfrm>
              <a:prstGeom prst="rect">
                <a:avLst/>
              </a:prstGeom>
              <a:noFill/>
            </p:spPr>
            <p:txBody>
              <a:bodyPr wrap="square" rtlCol="0">
                <a:spAutoFit/>
              </a:bodyPr>
              <a:lstStyle/>
              <a:p>
                <a:pPr algn="r" rtl="1"/>
                <a:r>
                  <a:rPr lang="fa-IR" sz="1800" dirty="0"/>
                  <a:t>برای بررسی اینکه آیا یک رابطه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sz="1800" dirty="0"/>
                  <a:t>در </a:t>
                </a:r>
                <a:r>
                  <a:rPr lang="fa-IR" sz="1800" dirty="0" err="1"/>
                  <a:t>تجزیه‌ای</a:t>
                </a:r>
                <a:r>
                  <a:rPr lang="fa-IR" sz="1800" dirty="0"/>
                  <a:t> از </a:t>
                </a:r>
                <a14:m>
                  <m:oMath xmlns:m="http://schemas.openxmlformats.org/officeDocument/2006/math">
                    <m:r>
                      <a:rPr lang="fa-IR" i="1">
                        <a:latin typeface="Cambria Math" panose="02040503050406030204" pitchFamily="18" charset="0"/>
                      </a:rPr>
                      <m:t>𝑅</m:t>
                    </m:r>
                  </m:oMath>
                </a14:m>
                <a:r>
                  <a:rPr lang="fa-IR" sz="1800" dirty="0"/>
                  <a:t>در </a:t>
                </a:r>
                <a:r>
                  <a:rPr lang="en-US" sz="1800" b="1" dirty="0"/>
                  <a:t>BCNF</a:t>
                </a:r>
                <a:r>
                  <a:rPr lang="en-US" sz="1800" dirty="0"/>
                  <a:t> </a:t>
                </a:r>
                <a:r>
                  <a:rPr lang="fa-IR" sz="1800" dirty="0"/>
                  <a:t>است:</a:t>
                </a:r>
                <a:endParaRPr lang="en-US" sz="1700" dirty="0"/>
              </a:p>
            </p:txBody>
          </p:sp>
        </mc:Choice>
        <mc:Fallback xmlns="">
          <p:sp>
            <p:nvSpPr>
              <p:cNvPr id="2" name="TextBox 1"/>
              <p:cNvSpPr txBox="1">
                <a:spLocks noRot="1" noChangeAspect="1" noMove="1" noResize="1" noEditPoints="1" noAdjustHandles="1" noChangeArrowheads="1" noChangeShapeType="1" noTextEdit="1"/>
              </p:cNvSpPr>
              <p:nvPr/>
            </p:nvSpPr>
            <p:spPr>
              <a:xfrm>
                <a:off x="768350" y="1143000"/>
                <a:ext cx="7077069" cy="369332"/>
              </a:xfrm>
              <a:prstGeom prst="rect">
                <a:avLst/>
              </a:prstGeom>
              <a:blipFill>
                <a:blip r:embed="rId4"/>
                <a:stretch>
                  <a:fillRect t="-10000" r="-775" b="-25000"/>
                </a:stretch>
              </a:blipFill>
            </p:spPr>
            <p:txBody>
              <a:bodyPr/>
              <a:lstStyle/>
              <a:p>
                <a:r>
                  <a:rPr lang="en-US">
                    <a:noFill/>
                  </a:rPr>
                  <a:t> </a:t>
                </a:r>
              </a:p>
            </p:txBody>
          </p:sp>
        </mc:Fallback>
      </mc:AlternateContent>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8306"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BCNF Decomposition Algorithm</a:t>
            </a:r>
          </a:p>
        </p:txBody>
      </p:sp>
      <p:sp>
        <p:nvSpPr>
          <p:cNvPr id="67587" name="Rectangle 3"/>
          <p:cNvSpPr>
            <a:spLocks noGrp="1" noChangeArrowheads="1"/>
          </p:cNvSpPr>
          <p:nvPr>
            <p:ph idx="1"/>
          </p:nvPr>
        </p:nvSpPr>
        <p:spPr>
          <a:xfrm>
            <a:off x="768350" y="1149350"/>
            <a:ext cx="7763091" cy="4291013"/>
          </a:xfrm>
        </p:spPr>
        <p:txBody>
          <a:bodyPr/>
          <a:lstStyle/>
          <a:p>
            <a:pPr>
              <a:buFont typeface="Monotype Sorts" pitchFamily="-84" charset="2"/>
              <a:buNone/>
              <a:tabLst>
                <a:tab pos="565150" algn="l"/>
                <a:tab pos="803275" algn="l"/>
                <a:tab pos="1489075" algn="l"/>
                <a:tab pos="1771650" algn="l"/>
              </a:tabLst>
            </a:pPr>
            <a:r>
              <a:rPr lang="en-US" altLang="en-US" i="1" dirty="0"/>
              <a:t>	result </a:t>
            </a:r>
            <a:r>
              <a:rPr lang="en-US" altLang="en-US" dirty="0"/>
              <a:t>:= {</a:t>
            </a:r>
            <a:r>
              <a:rPr lang="en-US" altLang="en-US" i="1" dirty="0"/>
              <a:t>R </a:t>
            </a:r>
            <a:r>
              <a:rPr lang="en-US" altLang="en-US" dirty="0"/>
              <a:t>};</a:t>
            </a:r>
            <a:br>
              <a:rPr lang="en-US" altLang="en-US" dirty="0"/>
            </a:br>
            <a:r>
              <a:rPr lang="en-US" altLang="en-US" i="1" dirty="0"/>
              <a:t>done </a:t>
            </a:r>
            <a:r>
              <a:rPr lang="en-US" altLang="en-US" dirty="0"/>
              <a:t>:= false;</a:t>
            </a:r>
            <a:br>
              <a:rPr lang="en-US" altLang="en-US" dirty="0"/>
            </a:br>
            <a:r>
              <a:rPr lang="en-US" altLang="en-US" dirty="0"/>
              <a:t>compute </a:t>
            </a:r>
            <a:r>
              <a:rPr lang="en-US" altLang="en-US" i="1" dirty="0"/>
              <a:t>F </a:t>
            </a:r>
            <a:r>
              <a:rPr lang="en-US" altLang="en-US" baseline="30000" dirty="0"/>
              <a:t>+</a:t>
            </a:r>
            <a:r>
              <a:rPr lang="en-US" altLang="en-US" dirty="0"/>
              <a:t>;</a:t>
            </a:r>
            <a:br>
              <a:rPr lang="en-US" altLang="en-US" dirty="0"/>
            </a:br>
            <a:r>
              <a:rPr lang="en-US" altLang="en-US" b="1" dirty="0"/>
              <a:t>while (not </a:t>
            </a:r>
            <a:r>
              <a:rPr lang="en-US" altLang="en-US" i="1" dirty="0"/>
              <a:t>done) </a:t>
            </a:r>
            <a:r>
              <a:rPr lang="en-US" altLang="en-US" b="1" dirty="0"/>
              <a:t>do</a:t>
            </a:r>
            <a:br>
              <a:rPr lang="en-US" altLang="en-US" b="1" dirty="0"/>
            </a:br>
            <a:r>
              <a:rPr lang="en-US" altLang="en-US" b="1" dirty="0"/>
              <a:t>	if </a:t>
            </a:r>
            <a:r>
              <a:rPr lang="en-US" altLang="en-US" dirty="0"/>
              <a:t>(there is a schema </a:t>
            </a:r>
            <a:r>
              <a:rPr lang="en-US" altLang="en-US" i="1" dirty="0"/>
              <a:t>R</a:t>
            </a:r>
            <a:r>
              <a:rPr lang="en-US" altLang="en-US" i="1" baseline="-25000" dirty="0"/>
              <a:t>i</a:t>
            </a:r>
            <a:r>
              <a:rPr lang="en-US" altLang="en-US" i="1" dirty="0"/>
              <a:t> </a:t>
            </a:r>
            <a:r>
              <a:rPr lang="en-US" altLang="en-US" dirty="0"/>
              <a:t>in </a:t>
            </a:r>
            <a:r>
              <a:rPr lang="en-US" altLang="en-US" i="1" dirty="0"/>
              <a:t>result </a:t>
            </a:r>
            <a:r>
              <a:rPr lang="en-US" altLang="en-US" dirty="0"/>
              <a:t> that is not in BCNF)</a:t>
            </a:r>
            <a:br>
              <a:rPr lang="en-US" altLang="en-US" dirty="0"/>
            </a:br>
            <a:r>
              <a:rPr lang="en-US" altLang="en-US" dirty="0"/>
              <a:t>		</a:t>
            </a:r>
            <a:r>
              <a:rPr lang="en-US" altLang="en-US" b="1" dirty="0"/>
              <a:t>then begin</a:t>
            </a:r>
            <a:br>
              <a:rPr lang="en-US" altLang="en-US" b="1" dirty="0"/>
            </a:br>
            <a:r>
              <a:rPr lang="en-US" altLang="en-US" b="1" dirty="0"/>
              <a:t>			</a:t>
            </a:r>
            <a:r>
              <a:rPr lang="en-US" altLang="en-US" dirty="0"/>
              <a:t>let </a:t>
            </a:r>
            <a:r>
              <a:rPr lang="en-US" altLang="en-US" dirty="0">
                <a:sym typeface="Symbol" panose="05050102010706020507" pitchFamily="18" charset="2"/>
              </a:rPr>
              <a:t></a:t>
            </a:r>
            <a:r>
              <a:rPr lang="en-US" altLang="en-US" dirty="0">
                <a:sym typeface="Greek Symbols"/>
              </a:rPr>
              <a:t> </a:t>
            </a:r>
            <a:r>
              <a:rPr lang="en-US" altLang="en-US" dirty="0">
                <a:sym typeface="Symbol" panose="05050102010706020507" pitchFamily="18" charset="2"/>
              </a:rPr>
              <a:t></a:t>
            </a:r>
            <a:r>
              <a:rPr lang="en-US" altLang="en-US" dirty="0">
                <a:sym typeface="Monotype Sorts" pitchFamily="-84" charset="2"/>
              </a:rPr>
              <a:t> </a:t>
            </a:r>
            <a:r>
              <a:rPr lang="en-US" altLang="en-US" i="1" dirty="0">
                <a:sym typeface="Symbol" panose="05050102010706020507" pitchFamily="18" charset="2"/>
              </a:rPr>
              <a:t></a:t>
            </a:r>
            <a:r>
              <a:rPr lang="en-US" altLang="en-US" i="1" dirty="0">
                <a:sym typeface="Greek Symbols"/>
              </a:rPr>
              <a:t> </a:t>
            </a:r>
            <a:r>
              <a:rPr lang="en-US" altLang="en-US" dirty="0">
                <a:sym typeface="Greek Symbols"/>
              </a:rPr>
              <a:t> be a nontrivial functional dependency that </a:t>
            </a:r>
            <a:br>
              <a:rPr lang="en-US" altLang="en-US" dirty="0">
                <a:sym typeface="Greek Symbols"/>
              </a:rPr>
            </a:br>
            <a:r>
              <a:rPr lang="en-US" altLang="en-US" dirty="0">
                <a:sym typeface="Greek Symbols"/>
              </a:rPr>
              <a:t>                       holds on </a:t>
            </a:r>
            <a:r>
              <a:rPr lang="en-US" altLang="en-US" i="1" dirty="0">
                <a:sym typeface="Greek Symbols"/>
              </a:rPr>
              <a:t>R</a:t>
            </a:r>
            <a:r>
              <a:rPr lang="en-US" altLang="en-US" i="1" baseline="-25000" dirty="0">
                <a:sym typeface="Greek Symbols"/>
              </a:rPr>
              <a:t>i</a:t>
            </a:r>
            <a:r>
              <a:rPr lang="en-US" altLang="en-US" i="1" dirty="0">
                <a:sym typeface="Greek Symbols"/>
              </a:rPr>
              <a:t>  </a:t>
            </a:r>
            <a:r>
              <a:rPr lang="en-US" altLang="en-US" dirty="0">
                <a:sym typeface="Greek Symbols"/>
              </a:rPr>
              <a:t>such that </a:t>
            </a:r>
            <a:r>
              <a:rPr lang="en-US" altLang="en-US" dirty="0">
                <a:sym typeface="Symbol" panose="05050102010706020507" pitchFamily="18" charset="2"/>
              </a:rPr>
              <a:t></a:t>
            </a:r>
            <a:r>
              <a:rPr lang="en-US" altLang="en-US" dirty="0">
                <a:sym typeface="Greek Symbols"/>
              </a:rPr>
              <a:t> </a:t>
            </a:r>
            <a:r>
              <a:rPr lang="en-US" altLang="en-US" dirty="0">
                <a:sym typeface="Symbol" panose="05050102010706020507" pitchFamily="18" charset="2"/>
              </a:rPr>
              <a:t></a:t>
            </a:r>
            <a:r>
              <a:rPr lang="en-US" altLang="en-US" dirty="0">
                <a:sym typeface="Monotype Sorts" pitchFamily="-84" charset="2"/>
              </a:rPr>
              <a:t> </a:t>
            </a:r>
            <a:r>
              <a:rPr lang="en-US" altLang="en-US" i="1" dirty="0">
                <a:sym typeface="Greek Symbols"/>
              </a:rPr>
              <a:t>R</a:t>
            </a:r>
            <a:r>
              <a:rPr lang="en-US" altLang="en-US" i="1" baseline="-25000" dirty="0">
                <a:sym typeface="Greek Symbols"/>
              </a:rPr>
              <a:t>i</a:t>
            </a:r>
            <a:r>
              <a:rPr lang="en-US" altLang="en-US" i="1" dirty="0">
                <a:sym typeface="Greek Symbols"/>
              </a:rPr>
              <a:t> </a:t>
            </a:r>
            <a:r>
              <a:rPr lang="en-US" altLang="en-US" dirty="0">
                <a:sym typeface="Greek Symbols"/>
              </a:rPr>
              <a:t>is not in </a:t>
            </a:r>
            <a:r>
              <a:rPr lang="en-US" altLang="en-US" i="1" dirty="0">
                <a:sym typeface="Greek Symbols"/>
              </a:rPr>
              <a:t>F </a:t>
            </a:r>
            <a:r>
              <a:rPr lang="en-US" altLang="en-US" baseline="30000" dirty="0">
                <a:sym typeface="Greek Symbols"/>
              </a:rPr>
              <a:t>+</a:t>
            </a:r>
            <a:r>
              <a:rPr lang="en-US" altLang="en-US" dirty="0">
                <a:sym typeface="Greek Symbols"/>
              </a:rPr>
              <a:t>, </a:t>
            </a:r>
            <a:br>
              <a:rPr lang="en-US" altLang="en-US" dirty="0">
                <a:sym typeface="Greek Symbols"/>
              </a:rPr>
            </a:br>
            <a:r>
              <a:rPr lang="en-US" altLang="en-US" dirty="0">
                <a:sym typeface="Greek Symbols"/>
              </a:rPr>
              <a:t>				   and </a:t>
            </a:r>
            <a:r>
              <a:rPr lang="en-US" altLang="en-US" dirty="0">
                <a:sym typeface="Symbol" panose="05050102010706020507" pitchFamily="18" charset="2"/>
              </a:rPr>
              <a:t></a:t>
            </a:r>
            <a:r>
              <a:rPr lang="en-US" altLang="en-US" dirty="0">
                <a:sym typeface="Greek Symbols"/>
              </a:rPr>
              <a:t> </a:t>
            </a:r>
            <a:r>
              <a:rPr lang="en-US" altLang="en-US" dirty="0">
                <a:sym typeface="Symbol" panose="05050102010706020507" pitchFamily="18" charset="2"/>
              </a:rPr>
              <a:t> </a:t>
            </a:r>
            <a:r>
              <a:rPr lang="en-US" altLang="en-US" i="1" dirty="0">
                <a:sym typeface="Symbol" panose="05050102010706020507" pitchFamily="18" charset="2"/>
              </a:rPr>
              <a:t></a:t>
            </a:r>
            <a:r>
              <a:rPr lang="en-US" altLang="en-US" i="1" dirty="0">
                <a:sym typeface="Greek Symbols"/>
              </a:rPr>
              <a:t>  = </a:t>
            </a:r>
            <a:r>
              <a:rPr lang="en-US" altLang="en-US" dirty="0">
                <a:sym typeface="Symbol" panose="05050102010706020507" pitchFamily="18" charset="2"/>
              </a:rPr>
              <a:t>;</a:t>
            </a:r>
            <a:br>
              <a:rPr lang="en-US" altLang="en-US" dirty="0">
                <a:sym typeface="Symbol" panose="05050102010706020507" pitchFamily="18" charset="2"/>
              </a:rPr>
            </a:br>
            <a:r>
              <a:rPr lang="en-US" altLang="en-US" dirty="0">
                <a:sym typeface="Symbol" panose="05050102010706020507" pitchFamily="18" charset="2"/>
              </a:rPr>
              <a:t>			   </a:t>
            </a:r>
            <a:r>
              <a:rPr lang="en-US" altLang="en-US" i="1" dirty="0">
                <a:sym typeface="Symbol" panose="05050102010706020507" pitchFamily="18" charset="2"/>
              </a:rPr>
              <a:t>result </a:t>
            </a:r>
            <a:r>
              <a:rPr lang="en-US" altLang="en-US" dirty="0">
                <a:sym typeface="Symbol" panose="05050102010706020507" pitchFamily="18" charset="2"/>
              </a:rPr>
              <a:t>:= (</a:t>
            </a:r>
            <a:r>
              <a:rPr lang="en-US" altLang="en-US" i="1" dirty="0">
                <a:sym typeface="Symbol" panose="05050102010706020507" pitchFamily="18" charset="2"/>
              </a:rPr>
              <a:t>result – R</a:t>
            </a:r>
            <a:r>
              <a:rPr lang="en-US" altLang="en-US" i="1" baseline="-25000" dirty="0">
                <a:sym typeface="Symbol" panose="05050102010706020507" pitchFamily="18" charset="2"/>
              </a:rPr>
              <a:t>i </a:t>
            </a:r>
            <a:r>
              <a:rPr lang="en-US" altLang="en-US" i="1" dirty="0">
                <a:sym typeface="Symbol" panose="05050102010706020507" pitchFamily="18" charset="2"/>
              </a:rPr>
              <a:t>) </a:t>
            </a:r>
            <a:r>
              <a:rPr lang="en-US" altLang="en-US" dirty="0">
                <a:sym typeface="Symbol" panose="05050102010706020507" pitchFamily="18" charset="2"/>
              </a:rPr>
              <a:t> (</a:t>
            </a:r>
            <a:r>
              <a:rPr lang="en-US" altLang="en-US" i="1" dirty="0">
                <a:sym typeface="Symbol" panose="05050102010706020507" pitchFamily="18" charset="2"/>
              </a:rPr>
              <a:t>R</a:t>
            </a:r>
            <a:r>
              <a:rPr lang="en-US" altLang="en-US" i="1" baseline="-25000" dirty="0">
                <a:sym typeface="Symbol" panose="05050102010706020507" pitchFamily="18" charset="2"/>
              </a:rPr>
              <a:t>i</a:t>
            </a:r>
            <a:r>
              <a:rPr lang="en-US" altLang="en-US" i="1" dirty="0">
                <a:sym typeface="Symbol" panose="05050102010706020507" pitchFamily="18" charset="2"/>
              </a:rPr>
              <a:t> – </a:t>
            </a:r>
            <a:r>
              <a:rPr lang="en-US" altLang="en-US" dirty="0">
                <a:sym typeface="Greek Symbols"/>
              </a:rPr>
              <a:t>) </a:t>
            </a:r>
            <a:r>
              <a:rPr lang="en-US" altLang="en-US" dirty="0">
                <a:sym typeface="Symbol" panose="05050102010706020507" pitchFamily="18" charset="2"/>
              </a:rPr>
              <a:t> (</a:t>
            </a:r>
            <a:r>
              <a:rPr lang="en-US" altLang="en-US" dirty="0">
                <a:sym typeface="Greek Symbols"/>
              </a:rPr>
              <a:t>, </a:t>
            </a:r>
            <a:r>
              <a:rPr lang="en-US" altLang="en-US" i="1" dirty="0">
                <a:sym typeface="Symbol" panose="05050102010706020507" pitchFamily="18" charset="2"/>
              </a:rPr>
              <a:t></a:t>
            </a:r>
            <a:r>
              <a:rPr lang="en-US" altLang="en-US" i="1" dirty="0">
                <a:sym typeface="Greek Symbols"/>
              </a:rPr>
              <a:t> );</a:t>
            </a:r>
            <a:br>
              <a:rPr lang="en-US" altLang="en-US" i="1" dirty="0">
                <a:sym typeface="Greek Symbols"/>
              </a:rPr>
            </a:br>
            <a:r>
              <a:rPr lang="en-US" altLang="en-US" i="1" dirty="0">
                <a:sym typeface="Greek Symbols"/>
              </a:rPr>
              <a:t>	    	</a:t>
            </a:r>
            <a:r>
              <a:rPr lang="en-US" altLang="en-US" b="1" dirty="0">
                <a:sym typeface="Greek Symbols"/>
              </a:rPr>
              <a:t>end</a:t>
            </a:r>
            <a:br>
              <a:rPr lang="en-US" altLang="en-US" b="1" dirty="0">
                <a:sym typeface="Greek Symbols"/>
              </a:rPr>
            </a:br>
            <a:r>
              <a:rPr lang="en-US" altLang="en-US" b="1" dirty="0">
                <a:sym typeface="Greek Symbols"/>
              </a:rPr>
              <a:t>		else</a:t>
            </a:r>
            <a:r>
              <a:rPr lang="en-US" altLang="en-US" i="1" dirty="0">
                <a:sym typeface="Greek Symbols"/>
              </a:rPr>
              <a:t> done </a:t>
            </a:r>
            <a:r>
              <a:rPr lang="en-US" altLang="en-US" dirty="0">
                <a:sym typeface="Greek Symbols"/>
              </a:rPr>
              <a:t>:= </a:t>
            </a:r>
            <a:r>
              <a:rPr lang="en-US" altLang="en-US" b="1" dirty="0">
                <a:sym typeface="Greek Symbols"/>
              </a:rPr>
              <a:t>true; </a:t>
            </a:r>
          </a:p>
          <a:p>
            <a:pPr>
              <a:buFont typeface="Monotype Sorts" pitchFamily="-84" charset="2"/>
              <a:buNone/>
              <a:tabLst>
                <a:tab pos="565150" algn="l"/>
                <a:tab pos="803275" algn="l"/>
                <a:tab pos="1489075" algn="l"/>
                <a:tab pos="1771650" algn="l"/>
              </a:tabLst>
            </a:pPr>
            <a:endParaRPr lang="en-US" altLang="en-US" b="1" dirty="0">
              <a:sym typeface="Greek Symbols"/>
            </a:endParaRPr>
          </a:p>
          <a:p>
            <a:pPr algn="r" rtl="1">
              <a:buFont typeface="Monotype Sorts" pitchFamily="-84" charset="2"/>
              <a:buNone/>
              <a:tabLst>
                <a:tab pos="565150" algn="l"/>
                <a:tab pos="803275" algn="l"/>
                <a:tab pos="1489075" algn="l"/>
                <a:tab pos="1771650" algn="l"/>
              </a:tabLst>
            </a:pPr>
            <a:r>
              <a:rPr lang="en-US" altLang="en-US" dirty="0">
                <a:sym typeface="Greek Symbols"/>
              </a:rPr>
              <a:t>     </a:t>
            </a:r>
            <a:r>
              <a:rPr lang="fa-IR" dirty="0"/>
              <a:t>توجه: هر </a:t>
            </a:r>
            <a:r>
              <a:rPr lang="en-US" dirty="0"/>
              <a:t>Ri </a:t>
            </a:r>
            <a:r>
              <a:rPr lang="fa-IR" dirty="0"/>
              <a:t>در </a:t>
            </a:r>
            <a:r>
              <a:rPr lang="en-US" b="1" dirty="0"/>
              <a:t>BCNF</a:t>
            </a:r>
            <a:r>
              <a:rPr lang="en-US" dirty="0"/>
              <a:t> </a:t>
            </a:r>
            <a:r>
              <a:rPr lang="fa-IR" dirty="0"/>
              <a:t>است و تجزیه </a:t>
            </a:r>
            <a:r>
              <a:rPr lang="en-US" b="1" dirty="0"/>
              <a:t>Lossless-join</a:t>
            </a:r>
            <a:r>
              <a:rPr lang="en-US" dirty="0"/>
              <a:t> </a:t>
            </a:r>
            <a:r>
              <a:rPr lang="fa-IR" dirty="0" err="1"/>
              <a:t>می‌باشد</a:t>
            </a:r>
            <a:r>
              <a:rPr lang="fa-IR" dirty="0"/>
              <a:t>.</a:t>
            </a:r>
            <a:endParaRPr lang="en-US" altLang="en-US" dirty="0">
              <a:sym typeface="Greek Symbols"/>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2402"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Example of BCNF Decomposition</a:t>
            </a:r>
          </a:p>
        </p:txBody>
      </p:sp>
      <p:sp>
        <p:nvSpPr>
          <p:cNvPr id="742403" name="Rectangle 3"/>
          <p:cNvSpPr>
            <a:spLocks noGrp="1" noChangeArrowheads="1"/>
          </p:cNvSpPr>
          <p:nvPr>
            <p:ph idx="1"/>
          </p:nvPr>
        </p:nvSpPr>
        <p:spPr>
          <a:xfrm>
            <a:off x="187890" y="727075"/>
            <a:ext cx="8174875" cy="4633244"/>
          </a:xfrm>
        </p:spPr>
        <p:txBody>
          <a:bodyPr/>
          <a:lstStyle/>
          <a:p>
            <a:pPr algn="r" rtl="1"/>
            <a:r>
              <a:rPr lang="fa-IR" dirty="0"/>
              <a:t>رابطه:</a:t>
            </a:r>
            <a:br>
              <a:rPr lang="fa-IR" dirty="0"/>
            </a:br>
            <a:r>
              <a:rPr lang="en-US" b="1" dirty="0"/>
              <a:t>class</a:t>
            </a:r>
            <a:r>
              <a:rPr lang="en-US" dirty="0"/>
              <a:t> (</a:t>
            </a:r>
            <a:r>
              <a:rPr lang="en-US" dirty="0" err="1"/>
              <a:t>course_id</a:t>
            </a:r>
            <a:r>
              <a:rPr lang="en-US" dirty="0"/>
              <a:t>, title, </a:t>
            </a:r>
            <a:r>
              <a:rPr lang="en-US" dirty="0" err="1"/>
              <a:t>dept_name</a:t>
            </a:r>
            <a:r>
              <a:rPr lang="en-US" dirty="0"/>
              <a:t>, credits, </a:t>
            </a:r>
            <a:r>
              <a:rPr lang="en-US" dirty="0" err="1"/>
              <a:t>sec_id</a:t>
            </a:r>
            <a:r>
              <a:rPr lang="en-US" dirty="0"/>
              <a:t>, semester, year, building, </a:t>
            </a:r>
            <a:r>
              <a:rPr lang="en-US" dirty="0" err="1"/>
              <a:t>room_number</a:t>
            </a:r>
            <a:r>
              <a:rPr lang="en-US" dirty="0"/>
              <a:t>, capacity, </a:t>
            </a:r>
            <a:r>
              <a:rPr lang="en-US" dirty="0" err="1"/>
              <a:t>time_slot_id</a:t>
            </a:r>
            <a:r>
              <a:rPr lang="en-US" dirty="0"/>
              <a:t>)</a:t>
            </a:r>
          </a:p>
          <a:p>
            <a:pPr algn="r" rtl="1"/>
            <a:r>
              <a:rPr lang="fa-IR" dirty="0" err="1"/>
              <a:t>وابستگی‌های</a:t>
            </a:r>
            <a:r>
              <a:rPr lang="fa-IR" dirty="0"/>
              <a:t> </a:t>
            </a:r>
            <a:r>
              <a:rPr lang="fa-IR" dirty="0" err="1"/>
              <a:t>تابعی</a:t>
            </a:r>
            <a:r>
              <a:rPr lang="fa-IR" dirty="0"/>
              <a:t>:</a:t>
            </a:r>
          </a:p>
          <a:p>
            <a:pPr algn="r" rtl="1"/>
            <a:r>
              <a:rPr lang="en-US" dirty="0" err="1"/>
              <a:t>course_id</a:t>
            </a:r>
            <a:r>
              <a:rPr lang="en-US" dirty="0"/>
              <a:t> → title, </a:t>
            </a:r>
            <a:r>
              <a:rPr lang="en-US" dirty="0" err="1"/>
              <a:t>dept_name</a:t>
            </a:r>
            <a:r>
              <a:rPr lang="en-US" dirty="0"/>
              <a:t>, credits</a:t>
            </a:r>
          </a:p>
          <a:p>
            <a:pPr algn="r" rtl="1"/>
            <a:r>
              <a:rPr lang="en-US" dirty="0"/>
              <a:t>building, </a:t>
            </a:r>
            <a:r>
              <a:rPr lang="en-US" dirty="0" err="1"/>
              <a:t>room_number</a:t>
            </a:r>
            <a:r>
              <a:rPr lang="en-US" dirty="0"/>
              <a:t> → capacity</a:t>
            </a:r>
          </a:p>
          <a:p>
            <a:pPr algn="r" rtl="1"/>
            <a:r>
              <a:rPr lang="en-US" dirty="0" err="1"/>
              <a:t>course_id</a:t>
            </a:r>
            <a:r>
              <a:rPr lang="en-US" dirty="0"/>
              <a:t>, </a:t>
            </a:r>
            <a:r>
              <a:rPr lang="en-US" dirty="0" err="1"/>
              <a:t>sec_id</a:t>
            </a:r>
            <a:r>
              <a:rPr lang="en-US" dirty="0"/>
              <a:t>, semester, year → building, </a:t>
            </a:r>
            <a:r>
              <a:rPr lang="en-US" dirty="0" err="1"/>
              <a:t>room_number</a:t>
            </a:r>
            <a:r>
              <a:rPr lang="en-US" dirty="0"/>
              <a:t>, </a:t>
            </a:r>
            <a:r>
              <a:rPr lang="en-US" dirty="0" err="1"/>
              <a:t>time_slot_id</a:t>
            </a:r>
            <a:endParaRPr lang="en-US" dirty="0"/>
          </a:p>
          <a:p>
            <a:pPr algn="r" rtl="1"/>
            <a:r>
              <a:rPr lang="fa-IR" dirty="0"/>
              <a:t>کلید کاندید: {</a:t>
            </a:r>
            <a:r>
              <a:rPr lang="en-US" dirty="0" err="1"/>
              <a:t>course_id</a:t>
            </a:r>
            <a:r>
              <a:rPr lang="en-US" dirty="0"/>
              <a:t>, </a:t>
            </a:r>
            <a:r>
              <a:rPr lang="en-US" dirty="0" err="1"/>
              <a:t>sec_id</a:t>
            </a:r>
            <a:r>
              <a:rPr lang="en-US" dirty="0"/>
              <a:t>, semester, year}</a:t>
            </a:r>
          </a:p>
          <a:p>
            <a:pPr algn="r" rtl="1"/>
            <a:r>
              <a:rPr lang="fa-IR" b="1" dirty="0"/>
              <a:t>تجزیه </a:t>
            </a:r>
            <a:r>
              <a:rPr lang="en-US" b="1" dirty="0"/>
              <a:t>BCNF:</a:t>
            </a:r>
            <a:br>
              <a:rPr lang="en-US" dirty="0"/>
            </a:br>
            <a:r>
              <a:rPr lang="fa-IR" dirty="0"/>
              <a:t>وابستگی </a:t>
            </a:r>
            <a:r>
              <a:rPr lang="en-US" dirty="0" err="1"/>
              <a:t>course_id</a:t>
            </a:r>
            <a:r>
              <a:rPr lang="en-US" dirty="0"/>
              <a:t> → title, </a:t>
            </a:r>
            <a:r>
              <a:rPr lang="en-US" dirty="0" err="1"/>
              <a:t>dept_name</a:t>
            </a:r>
            <a:r>
              <a:rPr lang="en-US" dirty="0"/>
              <a:t>, credits </a:t>
            </a:r>
            <a:r>
              <a:rPr lang="fa-IR" dirty="0"/>
              <a:t>برقرار است،</a:t>
            </a:r>
            <a:br>
              <a:rPr lang="fa-IR" dirty="0"/>
            </a:br>
            <a:r>
              <a:rPr lang="fa-IR" dirty="0"/>
              <a:t>اما </a:t>
            </a:r>
            <a:r>
              <a:rPr lang="en-US" dirty="0" err="1"/>
              <a:t>course_id</a:t>
            </a:r>
            <a:r>
              <a:rPr lang="en-US" dirty="0"/>
              <a:t> </a:t>
            </a:r>
            <a:r>
              <a:rPr lang="fa-IR" b="1" dirty="0" err="1"/>
              <a:t>ابرکلید</a:t>
            </a:r>
            <a:r>
              <a:rPr lang="fa-IR" dirty="0"/>
              <a:t> نیست.</a:t>
            </a:r>
          </a:p>
          <a:p>
            <a:pPr algn="r" rtl="1"/>
            <a:r>
              <a:rPr lang="fa-IR" dirty="0"/>
              <a:t>پس رابطه </a:t>
            </a:r>
            <a:r>
              <a:rPr lang="en-US" b="1" dirty="0"/>
              <a:t>class</a:t>
            </a:r>
            <a:r>
              <a:rPr lang="en-US" dirty="0"/>
              <a:t> </a:t>
            </a:r>
            <a:r>
              <a:rPr lang="fa-IR" dirty="0"/>
              <a:t>را جایگزین </a:t>
            </a:r>
            <a:r>
              <a:rPr lang="fa-IR" dirty="0" err="1"/>
              <a:t>می‌کنیم</a:t>
            </a:r>
            <a:r>
              <a:rPr lang="fa-IR" dirty="0"/>
              <a:t> با:</a:t>
            </a:r>
          </a:p>
          <a:p>
            <a:pPr algn="r" rtl="1"/>
            <a:r>
              <a:rPr lang="en-US" b="1" dirty="0"/>
              <a:t>course</a:t>
            </a:r>
            <a:r>
              <a:rPr lang="en-US" dirty="0"/>
              <a:t> (</a:t>
            </a:r>
            <a:r>
              <a:rPr lang="en-US" dirty="0" err="1"/>
              <a:t>course_id</a:t>
            </a:r>
            <a:r>
              <a:rPr lang="en-US" dirty="0"/>
              <a:t>, title, </a:t>
            </a:r>
            <a:r>
              <a:rPr lang="en-US" dirty="0" err="1"/>
              <a:t>dept_name</a:t>
            </a:r>
            <a:r>
              <a:rPr lang="en-US" dirty="0"/>
              <a:t>, credits)</a:t>
            </a:r>
          </a:p>
          <a:p>
            <a:pPr algn="r" rtl="1"/>
            <a:r>
              <a:rPr lang="en-US" b="1" dirty="0"/>
              <a:t>class-1</a:t>
            </a:r>
            <a:r>
              <a:rPr lang="en-US" dirty="0"/>
              <a:t> (</a:t>
            </a:r>
            <a:r>
              <a:rPr lang="en-US" dirty="0" err="1"/>
              <a:t>course_id</a:t>
            </a:r>
            <a:r>
              <a:rPr lang="en-US" dirty="0"/>
              <a:t>, </a:t>
            </a:r>
            <a:r>
              <a:rPr lang="en-US" dirty="0" err="1"/>
              <a:t>sec_id</a:t>
            </a:r>
            <a:r>
              <a:rPr lang="en-US" dirty="0"/>
              <a:t>, semester, year, building, </a:t>
            </a:r>
            <a:r>
              <a:rPr lang="en-US" dirty="0" err="1"/>
              <a:t>room_number</a:t>
            </a:r>
            <a:r>
              <a:rPr lang="en-US" dirty="0"/>
              <a:t>, capacity, </a:t>
            </a:r>
            <a:r>
              <a:rPr lang="en-US" dirty="0" err="1"/>
              <a:t>time_slot_id</a:t>
            </a:r>
            <a:r>
              <a:rPr lang="en-US" dirty="0"/>
              <a:t>)</a:t>
            </a:r>
          </a:p>
          <a:p>
            <a:pPr algn="r" rtl="1">
              <a:lnSpc>
                <a:spcPct val="90000"/>
              </a:lnSpc>
              <a:tabLst>
                <a:tab pos="744538" algn="l"/>
                <a:tab pos="2574925" algn="l"/>
              </a:tabLst>
            </a:pPr>
            <a:endParaRPr lang="en-US" alt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3778"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BCNF Decomposition (Cont.)</a:t>
            </a:r>
          </a:p>
        </p:txBody>
      </p:sp>
      <p:sp>
        <p:nvSpPr>
          <p:cNvPr id="69635" name="Rectangle 3"/>
          <p:cNvSpPr>
            <a:spLocks noGrp="1" noChangeArrowheads="1"/>
          </p:cNvSpPr>
          <p:nvPr>
            <p:ph idx="1"/>
          </p:nvPr>
        </p:nvSpPr>
        <p:spPr>
          <a:xfrm>
            <a:off x="768350" y="1093788"/>
            <a:ext cx="7505638" cy="3237580"/>
          </a:xfrm>
        </p:spPr>
        <p:txBody>
          <a:bodyPr/>
          <a:lstStyle/>
          <a:p>
            <a:pPr algn="r" rtl="1"/>
            <a:r>
              <a:rPr lang="fa-IR" dirty="0"/>
              <a:t>رابطه </a:t>
            </a:r>
            <a:r>
              <a:rPr lang="en-US" b="1" dirty="0"/>
              <a:t>course</a:t>
            </a:r>
            <a:r>
              <a:rPr lang="en-US" dirty="0"/>
              <a:t> </a:t>
            </a:r>
            <a:r>
              <a:rPr lang="fa-IR" dirty="0"/>
              <a:t>در </a:t>
            </a:r>
            <a:r>
              <a:rPr lang="en-US" b="1" dirty="0"/>
              <a:t>BCNF</a:t>
            </a:r>
            <a:r>
              <a:rPr lang="en-US" dirty="0"/>
              <a:t> </a:t>
            </a:r>
            <a:r>
              <a:rPr lang="fa-IR" dirty="0"/>
              <a:t>است.</a:t>
            </a:r>
            <a:br>
              <a:rPr lang="fa-IR" dirty="0"/>
            </a:br>
            <a:r>
              <a:rPr lang="fa-IR" dirty="0"/>
              <a:t>چگونه این را </a:t>
            </a:r>
            <a:r>
              <a:rPr lang="fa-IR" dirty="0" err="1"/>
              <a:t>می‌دانیم</a:t>
            </a:r>
            <a:r>
              <a:rPr lang="fa-IR" dirty="0"/>
              <a:t>؟</a:t>
            </a:r>
          </a:p>
          <a:p>
            <a:pPr algn="r" rtl="1"/>
            <a:r>
              <a:rPr lang="fa-IR" dirty="0"/>
              <a:t>وابستگی </a:t>
            </a:r>
            <a:r>
              <a:rPr lang="en-US" dirty="0"/>
              <a:t>building, </a:t>
            </a:r>
            <a:r>
              <a:rPr lang="en-US" dirty="0" err="1"/>
              <a:t>room_number</a:t>
            </a:r>
            <a:r>
              <a:rPr lang="en-US" dirty="0"/>
              <a:t> → capacity </a:t>
            </a:r>
            <a:r>
              <a:rPr lang="fa-IR" dirty="0"/>
              <a:t>در </a:t>
            </a:r>
            <a:r>
              <a:rPr lang="en-US" b="1" dirty="0"/>
              <a:t>class-1</a:t>
            </a:r>
            <a:r>
              <a:rPr lang="en-US" dirty="0"/>
              <a:t> </a:t>
            </a:r>
            <a:r>
              <a:rPr lang="fa-IR" dirty="0"/>
              <a:t>برقرار است،</a:t>
            </a:r>
            <a:br>
              <a:rPr lang="fa-IR" dirty="0"/>
            </a:br>
            <a:r>
              <a:rPr lang="fa-IR" dirty="0"/>
              <a:t>اما {</a:t>
            </a:r>
            <a:r>
              <a:rPr lang="en-US" dirty="0"/>
              <a:t>building, </a:t>
            </a:r>
            <a:r>
              <a:rPr lang="en-US" dirty="0" err="1"/>
              <a:t>room_number</a:t>
            </a:r>
            <a:r>
              <a:rPr lang="en-US" dirty="0"/>
              <a:t>} </a:t>
            </a:r>
            <a:r>
              <a:rPr lang="fa-IR" b="1" dirty="0" err="1"/>
              <a:t>ابرکلید</a:t>
            </a:r>
            <a:r>
              <a:rPr lang="fa-IR" dirty="0"/>
              <a:t> برای </a:t>
            </a:r>
            <a:r>
              <a:rPr lang="en-US" dirty="0"/>
              <a:t>class-1 </a:t>
            </a:r>
            <a:r>
              <a:rPr lang="fa-IR" dirty="0"/>
              <a:t>نیست.</a:t>
            </a:r>
          </a:p>
          <a:p>
            <a:pPr algn="r" rtl="1"/>
            <a:r>
              <a:rPr lang="fa-IR" dirty="0"/>
              <a:t>پس </a:t>
            </a:r>
            <a:r>
              <a:rPr lang="en-US" b="1" dirty="0"/>
              <a:t>class-1</a:t>
            </a:r>
            <a:r>
              <a:rPr lang="en-US" dirty="0"/>
              <a:t> </a:t>
            </a:r>
            <a:r>
              <a:rPr lang="fa-IR" dirty="0"/>
              <a:t>را جایگزین </a:t>
            </a:r>
            <a:r>
              <a:rPr lang="fa-IR" dirty="0" err="1"/>
              <a:t>می‌کنیم</a:t>
            </a:r>
            <a:r>
              <a:rPr lang="fa-IR" dirty="0"/>
              <a:t> با:</a:t>
            </a:r>
          </a:p>
          <a:p>
            <a:pPr algn="r" rtl="1"/>
            <a:r>
              <a:rPr lang="en-US" b="1" dirty="0"/>
              <a:t>classroom</a:t>
            </a:r>
            <a:r>
              <a:rPr lang="en-US" dirty="0"/>
              <a:t> (building, </a:t>
            </a:r>
            <a:r>
              <a:rPr lang="en-US" dirty="0" err="1"/>
              <a:t>room_number</a:t>
            </a:r>
            <a:r>
              <a:rPr lang="en-US" dirty="0"/>
              <a:t>, capacity)</a:t>
            </a:r>
          </a:p>
          <a:p>
            <a:pPr algn="r" rtl="1"/>
            <a:r>
              <a:rPr lang="en-US" b="1" dirty="0"/>
              <a:t>section</a:t>
            </a:r>
            <a:r>
              <a:rPr lang="en-US" dirty="0"/>
              <a:t> (</a:t>
            </a:r>
            <a:r>
              <a:rPr lang="en-US" dirty="0" err="1"/>
              <a:t>course_id</a:t>
            </a:r>
            <a:r>
              <a:rPr lang="en-US" dirty="0"/>
              <a:t>, </a:t>
            </a:r>
            <a:r>
              <a:rPr lang="en-US" dirty="0" err="1"/>
              <a:t>sec_id</a:t>
            </a:r>
            <a:r>
              <a:rPr lang="en-US" dirty="0"/>
              <a:t>, semester, year, building, </a:t>
            </a:r>
            <a:r>
              <a:rPr lang="en-US" dirty="0" err="1"/>
              <a:t>room_number</a:t>
            </a:r>
            <a:r>
              <a:rPr lang="en-US" dirty="0"/>
              <a:t>, </a:t>
            </a:r>
            <a:r>
              <a:rPr lang="en-US" dirty="0" err="1"/>
              <a:t>time_slot_id</a:t>
            </a:r>
            <a:r>
              <a:rPr lang="en-US" dirty="0"/>
              <a:t>)</a:t>
            </a:r>
          </a:p>
          <a:p>
            <a:pPr algn="r" rtl="1"/>
            <a:r>
              <a:rPr lang="fa-IR" dirty="0" err="1"/>
              <a:t>رابطه‌های</a:t>
            </a:r>
            <a:r>
              <a:rPr lang="fa-IR" dirty="0"/>
              <a:t> </a:t>
            </a:r>
            <a:r>
              <a:rPr lang="en-US" b="1" dirty="0"/>
              <a:t>classroom</a:t>
            </a:r>
            <a:r>
              <a:rPr lang="en-US" dirty="0"/>
              <a:t> </a:t>
            </a:r>
            <a:r>
              <a:rPr lang="fa-IR" dirty="0"/>
              <a:t>و </a:t>
            </a:r>
            <a:r>
              <a:rPr lang="en-US" b="1" dirty="0"/>
              <a:t>section</a:t>
            </a:r>
            <a:r>
              <a:rPr lang="en-US" dirty="0"/>
              <a:t> </a:t>
            </a:r>
            <a:r>
              <a:rPr lang="fa-IR" dirty="0"/>
              <a:t>در </a:t>
            </a:r>
            <a:r>
              <a:rPr lang="en-US" b="1" dirty="0"/>
              <a:t>BCNF</a:t>
            </a:r>
            <a:r>
              <a:rPr lang="en-US" dirty="0"/>
              <a:t> </a:t>
            </a:r>
            <a:r>
              <a:rPr lang="fa-IR" dirty="0"/>
              <a:t>هستند.</a:t>
            </a:r>
          </a:p>
          <a:p>
            <a:pPr algn="r" rtl="1"/>
            <a:endParaRPr lang="en-US" alt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6498"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Third Normal Form</a:t>
            </a:r>
          </a:p>
        </p:txBody>
      </p:sp>
      <p:sp>
        <p:nvSpPr>
          <p:cNvPr id="70659" name="Rectangle 3"/>
          <p:cNvSpPr>
            <a:spLocks noGrp="1" noChangeArrowheads="1"/>
          </p:cNvSpPr>
          <p:nvPr>
            <p:ph idx="1"/>
          </p:nvPr>
        </p:nvSpPr>
        <p:spPr>
          <a:xfrm>
            <a:off x="768350" y="1093788"/>
            <a:ext cx="7638803" cy="3297738"/>
          </a:xfrm>
        </p:spPr>
        <p:txBody>
          <a:bodyPr/>
          <a:lstStyle/>
          <a:p>
            <a:pPr algn="r" rtl="1"/>
            <a:r>
              <a:rPr lang="fa-IR" dirty="0"/>
              <a:t>برخی مواقع وجود دارد که:</a:t>
            </a:r>
          </a:p>
          <a:p>
            <a:pPr algn="r" rtl="1"/>
            <a:r>
              <a:rPr lang="en-US" b="1" dirty="0"/>
              <a:t>BCNF </a:t>
            </a:r>
            <a:r>
              <a:rPr lang="fa-IR" b="1" dirty="0" err="1"/>
              <a:t>وابستگی‌ها</a:t>
            </a:r>
            <a:r>
              <a:rPr lang="fa-IR" b="1" dirty="0"/>
              <a:t> را حفظ </a:t>
            </a:r>
            <a:r>
              <a:rPr lang="fa-IR" b="1" dirty="0" err="1"/>
              <a:t>نمی‌کند</a:t>
            </a:r>
            <a:r>
              <a:rPr lang="fa-IR" dirty="0"/>
              <a:t>، و</a:t>
            </a:r>
          </a:p>
          <a:p>
            <a:pPr algn="r" rtl="1"/>
            <a:r>
              <a:rPr lang="fa-IR" dirty="0"/>
              <a:t>بررسی مؤثر برای نقض </a:t>
            </a:r>
            <a:r>
              <a:rPr lang="fa-IR" dirty="0" err="1"/>
              <a:t>وابستگی‌های</a:t>
            </a:r>
            <a:r>
              <a:rPr lang="fa-IR" dirty="0"/>
              <a:t> </a:t>
            </a:r>
            <a:r>
              <a:rPr lang="fa-IR" dirty="0" err="1"/>
              <a:t>تابعی</a:t>
            </a:r>
            <a:r>
              <a:rPr lang="fa-IR" dirty="0"/>
              <a:t> در هنگام </a:t>
            </a:r>
            <a:r>
              <a:rPr lang="fa-IR" dirty="0" err="1"/>
              <a:t>به‌روزرسانی</a:t>
            </a:r>
            <a:r>
              <a:rPr lang="fa-IR" dirty="0"/>
              <a:t> اهمیت دارد.</a:t>
            </a:r>
          </a:p>
          <a:p>
            <a:pPr algn="r" rtl="1"/>
            <a:r>
              <a:rPr lang="fa-IR" dirty="0" err="1"/>
              <a:t>راه‌حل</a:t>
            </a:r>
            <a:r>
              <a:rPr lang="fa-IR" dirty="0"/>
              <a:t>: تعریف یک فرم نرمال </a:t>
            </a:r>
            <a:r>
              <a:rPr lang="fa-IR" dirty="0" err="1"/>
              <a:t>ضعیف‌تر</a:t>
            </a:r>
            <a:r>
              <a:rPr lang="fa-IR" dirty="0"/>
              <a:t> به نام </a:t>
            </a:r>
            <a:r>
              <a:rPr lang="fa-IR" b="1" dirty="0"/>
              <a:t>سومین فرم نرمال (3</a:t>
            </a:r>
            <a:r>
              <a:rPr lang="en-US" b="1" dirty="0"/>
              <a:t>NF)</a:t>
            </a:r>
            <a:endParaRPr lang="en-US" dirty="0"/>
          </a:p>
          <a:p>
            <a:pPr algn="r" rtl="1"/>
            <a:r>
              <a:rPr lang="fa-IR" dirty="0"/>
              <a:t>اجازه </a:t>
            </a:r>
            <a:r>
              <a:rPr lang="fa-IR" dirty="0" err="1"/>
              <a:t>می‌دهد</a:t>
            </a:r>
            <a:r>
              <a:rPr lang="fa-IR" dirty="0"/>
              <a:t> مقداری افزونگی وجود داشته باشد (با مشکلات ناشی از آن؛ </a:t>
            </a:r>
            <a:r>
              <a:rPr lang="fa-IR" dirty="0" err="1"/>
              <a:t>نمونه‌ها</a:t>
            </a:r>
            <a:r>
              <a:rPr lang="fa-IR" dirty="0"/>
              <a:t> بعداً بررسی </a:t>
            </a:r>
            <a:r>
              <a:rPr lang="fa-IR" dirty="0" err="1"/>
              <a:t>می‌شوند</a:t>
            </a:r>
            <a:r>
              <a:rPr lang="fa-IR" dirty="0"/>
              <a:t>)،</a:t>
            </a:r>
          </a:p>
          <a:p>
            <a:pPr algn="r" rtl="1"/>
            <a:r>
              <a:rPr lang="fa-IR" dirty="0"/>
              <a:t>اما </a:t>
            </a:r>
            <a:r>
              <a:rPr lang="fa-IR" dirty="0" err="1"/>
              <a:t>وابستگی‌های</a:t>
            </a:r>
            <a:r>
              <a:rPr lang="fa-IR" dirty="0"/>
              <a:t> </a:t>
            </a:r>
            <a:r>
              <a:rPr lang="fa-IR" dirty="0" err="1"/>
              <a:t>تابعی</a:t>
            </a:r>
            <a:r>
              <a:rPr lang="fa-IR" dirty="0"/>
              <a:t> را </a:t>
            </a:r>
            <a:r>
              <a:rPr lang="fa-IR" dirty="0" err="1"/>
              <a:t>می‌توان</a:t>
            </a:r>
            <a:r>
              <a:rPr lang="fa-IR" dirty="0"/>
              <a:t> روی روابط جداگانه بررسی کرد بدون نیاز به محاسبه </a:t>
            </a:r>
            <a:r>
              <a:rPr lang="en-US" dirty="0"/>
              <a:t>join.</a:t>
            </a:r>
          </a:p>
          <a:p>
            <a:pPr algn="r" rtl="1"/>
            <a:r>
              <a:rPr lang="fa-IR" dirty="0"/>
              <a:t>همیشه یک </a:t>
            </a:r>
            <a:r>
              <a:rPr lang="fa-IR" b="1" dirty="0"/>
              <a:t>تجزیه بدون از دست دادن اطلاعات (</a:t>
            </a:r>
            <a:r>
              <a:rPr lang="en-US" b="1" dirty="0"/>
              <a:t>lossless-join)</a:t>
            </a:r>
            <a:r>
              <a:rPr lang="en-US" dirty="0"/>
              <a:t> </a:t>
            </a:r>
            <a:r>
              <a:rPr lang="fa-IR" dirty="0"/>
              <a:t>و </a:t>
            </a:r>
            <a:r>
              <a:rPr lang="fa-IR" b="1" dirty="0" err="1"/>
              <a:t>حفظ‌کننده</a:t>
            </a:r>
            <a:r>
              <a:rPr lang="fa-IR" b="1" dirty="0"/>
              <a:t> </a:t>
            </a:r>
            <a:r>
              <a:rPr lang="fa-IR" b="1" dirty="0" err="1"/>
              <a:t>وابستگی‌ها</a:t>
            </a:r>
            <a:r>
              <a:rPr lang="fa-IR" dirty="0"/>
              <a:t> به 3</a:t>
            </a:r>
            <a:r>
              <a:rPr lang="en-US" dirty="0"/>
              <a:t>NF </a:t>
            </a:r>
            <a:r>
              <a:rPr lang="fa-IR" dirty="0"/>
              <a:t>وجود دارد.</a:t>
            </a:r>
          </a:p>
          <a:p>
            <a:pPr algn="r" rtl="1"/>
            <a:endParaRPr lang="en-US" alt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8546"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3NF Example -- </a:t>
            </a:r>
            <a:r>
              <a:rPr lang="en-US" altLang="en-US" dirty="0"/>
              <a:t>Relation </a:t>
            </a:r>
            <a:r>
              <a:rPr lang="en-US" altLang="en-US" i="1" dirty="0"/>
              <a:t>dept_advisor</a:t>
            </a:r>
            <a:endParaRPr lang="en-US" altLang="en-US" dirty="0">
              <a:effectLst>
                <a:outerShdw blurRad="38100" dist="38100" dir="2700000" algn="tl">
                  <a:srgbClr val="C0C0C0"/>
                </a:outerShdw>
              </a:effectLst>
              <a:ea typeface="ＭＳ Ｐゴシック" pitchFamily="34" charset="-128"/>
            </a:endParaRPr>
          </a:p>
        </p:txBody>
      </p:sp>
      <p:sp>
        <p:nvSpPr>
          <p:cNvPr id="71683" name="Rectangle 3"/>
          <p:cNvSpPr>
            <a:spLocks noGrp="1" noChangeArrowheads="1"/>
          </p:cNvSpPr>
          <p:nvPr>
            <p:ph idx="1"/>
          </p:nvPr>
        </p:nvSpPr>
        <p:spPr>
          <a:xfrm>
            <a:off x="768350" y="1153948"/>
            <a:ext cx="7558904" cy="3285707"/>
          </a:xfrm>
        </p:spPr>
        <p:txBody>
          <a:bodyPr/>
          <a:lstStyle/>
          <a:p>
            <a:pPr algn="r" rtl="1"/>
            <a:r>
              <a:rPr lang="fa-IR" dirty="0"/>
              <a:t>رابطه:</a:t>
            </a:r>
            <a:br>
              <a:rPr lang="fa-IR" dirty="0"/>
            </a:br>
            <a:r>
              <a:rPr lang="en-US" b="1" dirty="0" err="1"/>
              <a:t>dept_advisor</a:t>
            </a:r>
            <a:r>
              <a:rPr lang="en-US" dirty="0"/>
              <a:t> (</a:t>
            </a:r>
            <a:r>
              <a:rPr lang="en-US" dirty="0" err="1"/>
              <a:t>s_ID</a:t>
            </a:r>
            <a:r>
              <a:rPr lang="en-US" dirty="0"/>
              <a:t>, </a:t>
            </a:r>
            <a:r>
              <a:rPr lang="en-US" dirty="0" err="1"/>
              <a:t>i_ID</a:t>
            </a:r>
            <a:r>
              <a:rPr lang="en-US" dirty="0"/>
              <a:t>, </a:t>
            </a:r>
            <a:r>
              <a:rPr lang="en-US" dirty="0" err="1"/>
              <a:t>dept_name</a:t>
            </a:r>
            <a:r>
              <a:rPr lang="en-US" dirty="0"/>
              <a:t>)</a:t>
            </a:r>
          </a:p>
          <a:p>
            <a:pPr algn="r" rtl="1"/>
            <a:r>
              <a:rPr lang="fa-IR" dirty="0" err="1"/>
              <a:t>وابستگی‌های</a:t>
            </a:r>
            <a:r>
              <a:rPr lang="fa-IR" dirty="0"/>
              <a:t> </a:t>
            </a:r>
            <a:r>
              <a:rPr lang="fa-IR" dirty="0" err="1"/>
              <a:t>تابعی</a:t>
            </a:r>
            <a:r>
              <a:rPr lang="fa-IR" dirty="0"/>
              <a:t>:</a:t>
            </a:r>
            <a:br>
              <a:rPr lang="fa-IR" dirty="0"/>
            </a:br>
            <a:r>
              <a:rPr lang="en-US" dirty="0"/>
              <a:t>F = { </a:t>
            </a:r>
            <a:r>
              <a:rPr lang="en-US" dirty="0" err="1"/>
              <a:t>s_ID</a:t>
            </a:r>
            <a:r>
              <a:rPr lang="en-US" dirty="0"/>
              <a:t>, </a:t>
            </a:r>
            <a:r>
              <a:rPr lang="en-US" dirty="0" err="1"/>
              <a:t>dept_name</a:t>
            </a:r>
            <a:r>
              <a:rPr lang="en-US" dirty="0"/>
              <a:t> → </a:t>
            </a:r>
            <a:r>
              <a:rPr lang="en-US" dirty="0" err="1"/>
              <a:t>i_ID</a:t>
            </a:r>
            <a:r>
              <a:rPr lang="en-US" dirty="0"/>
              <a:t>, </a:t>
            </a:r>
            <a:r>
              <a:rPr lang="en-US" dirty="0" err="1"/>
              <a:t>i_ID</a:t>
            </a:r>
            <a:r>
              <a:rPr lang="en-US" dirty="0"/>
              <a:t> → </a:t>
            </a:r>
            <a:r>
              <a:rPr lang="en-US" dirty="0" err="1"/>
              <a:t>dept_name</a:t>
            </a:r>
            <a:r>
              <a:rPr lang="en-US" dirty="0"/>
              <a:t> }</a:t>
            </a:r>
          </a:p>
          <a:p>
            <a:pPr algn="r" rtl="1"/>
            <a:r>
              <a:rPr lang="fa-IR" dirty="0"/>
              <a:t>دو کلید کاندید:</a:t>
            </a:r>
          </a:p>
          <a:p>
            <a:pPr algn="r" rtl="1"/>
            <a:r>
              <a:rPr lang="fa-IR" dirty="0"/>
              <a:t>{</a:t>
            </a:r>
            <a:r>
              <a:rPr lang="en-US" dirty="0" err="1"/>
              <a:t>s_ID</a:t>
            </a:r>
            <a:r>
              <a:rPr lang="en-US" dirty="0"/>
              <a:t>, </a:t>
            </a:r>
            <a:r>
              <a:rPr lang="en-US" dirty="0" err="1"/>
              <a:t>dept_name</a:t>
            </a:r>
            <a:r>
              <a:rPr lang="en-US" dirty="0"/>
              <a:t>}</a:t>
            </a:r>
          </a:p>
          <a:p>
            <a:pPr algn="r" rtl="1"/>
            <a:r>
              <a:rPr lang="en-US" dirty="0"/>
              <a:t>{</a:t>
            </a:r>
            <a:r>
              <a:rPr lang="en-US" dirty="0" err="1"/>
              <a:t>i_ID</a:t>
            </a:r>
            <a:r>
              <a:rPr lang="en-US" dirty="0"/>
              <a:t>, </a:t>
            </a:r>
            <a:r>
              <a:rPr lang="en-US" dirty="0" err="1"/>
              <a:t>s_ID</a:t>
            </a:r>
            <a:r>
              <a:rPr lang="en-US" dirty="0"/>
              <a:t>}</a:t>
            </a:r>
          </a:p>
          <a:p>
            <a:pPr algn="r" rtl="1"/>
            <a:r>
              <a:rPr lang="fa-IR" dirty="0"/>
              <a:t>رابطه </a:t>
            </a:r>
            <a:r>
              <a:rPr lang="en-US" dirty="0"/>
              <a:t>R </a:t>
            </a:r>
            <a:r>
              <a:rPr lang="fa-IR" dirty="0"/>
              <a:t>در </a:t>
            </a:r>
            <a:r>
              <a:rPr lang="fa-IR" b="1" dirty="0"/>
              <a:t>3</a:t>
            </a:r>
            <a:r>
              <a:rPr lang="en-US" b="1" dirty="0"/>
              <a:t>NF</a:t>
            </a:r>
            <a:r>
              <a:rPr lang="en-US" dirty="0"/>
              <a:t> </a:t>
            </a:r>
            <a:r>
              <a:rPr lang="fa-IR" dirty="0"/>
              <a:t>است.</a:t>
            </a:r>
          </a:p>
          <a:p>
            <a:pPr algn="r" rtl="1"/>
            <a:r>
              <a:rPr lang="fa-IR" dirty="0"/>
              <a:t>تحلیل </a:t>
            </a:r>
            <a:r>
              <a:rPr lang="fa-IR" dirty="0" err="1"/>
              <a:t>وابستگی‌ها</a:t>
            </a:r>
            <a:r>
              <a:rPr lang="fa-IR" dirty="0"/>
              <a:t>:</a:t>
            </a:r>
          </a:p>
          <a:p>
            <a:pPr algn="r" rtl="1"/>
            <a:r>
              <a:rPr lang="en-US" dirty="0" err="1"/>
              <a:t>s_ID</a:t>
            </a:r>
            <a:r>
              <a:rPr lang="en-US" dirty="0"/>
              <a:t>, </a:t>
            </a:r>
            <a:r>
              <a:rPr lang="en-US" dirty="0" err="1"/>
              <a:t>dept_name</a:t>
            </a:r>
            <a:r>
              <a:rPr lang="en-US" dirty="0"/>
              <a:t> → </a:t>
            </a:r>
            <a:r>
              <a:rPr lang="en-US" dirty="0" err="1"/>
              <a:t>i_ID</a:t>
            </a:r>
            <a:endParaRPr lang="en-US" dirty="0"/>
          </a:p>
          <a:p>
            <a:pPr lvl="1" algn="r" rtl="1"/>
            <a:r>
              <a:rPr lang="en-US" dirty="0" err="1"/>
              <a:t>dept_name</a:t>
            </a:r>
            <a:r>
              <a:rPr lang="en-US" dirty="0"/>
              <a:t> </a:t>
            </a:r>
            <a:r>
              <a:rPr lang="fa-IR" dirty="0"/>
              <a:t>یک </a:t>
            </a:r>
            <a:r>
              <a:rPr lang="fa-IR" b="1" dirty="0" err="1"/>
              <a:t>ابرکلید</a:t>
            </a:r>
            <a:r>
              <a:rPr lang="fa-IR" dirty="0"/>
              <a:t> است.</a:t>
            </a:r>
          </a:p>
          <a:p>
            <a:pPr algn="r" rtl="1"/>
            <a:r>
              <a:rPr lang="en-US" dirty="0" err="1"/>
              <a:t>i_ID</a:t>
            </a:r>
            <a:r>
              <a:rPr lang="en-US" dirty="0"/>
              <a:t> → </a:t>
            </a:r>
            <a:r>
              <a:rPr lang="en-US" dirty="0" err="1"/>
              <a:t>dept_name</a:t>
            </a:r>
            <a:endParaRPr lang="en-US" dirty="0"/>
          </a:p>
          <a:p>
            <a:pPr lvl="1" algn="r" rtl="1"/>
            <a:r>
              <a:rPr lang="en-US" dirty="0" err="1"/>
              <a:t>dept_name</a:t>
            </a:r>
            <a:r>
              <a:rPr lang="en-US" dirty="0"/>
              <a:t> </a:t>
            </a:r>
            <a:r>
              <a:rPr lang="fa-IR" dirty="0"/>
              <a:t>در یک </a:t>
            </a:r>
            <a:r>
              <a:rPr lang="fa-IR" b="1" dirty="0"/>
              <a:t>کلید کاندید</a:t>
            </a:r>
            <a:r>
              <a:rPr lang="fa-IR" dirty="0"/>
              <a:t> وجود دارد.</a:t>
            </a:r>
          </a:p>
          <a:p>
            <a:pPr algn="r" rtl="1">
              <a:tabLst>
                <a:tab pos="1027113" algn="l"/>
                <a:tab pos="2455863" algn="l"/>
              </a:tabLst>
            </a:pPr>
            <a:endParaRPr lang="en-US" altLang="en-US" dirty="0">
              <a:sym typeface="Monotype Sorts" pitchFamily="-84" charset="2"/>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2642"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Testing for 3NF</a:t>
            </a:r>
          </a:p>
        </p:txBody>
      </p:sp>
      <p:sp>
        <p:nvSpPr>
          <p:cNvPr id="72707" name="Rectangle 3"/>
          <p:cNvSpPr>
            <a:spLocks noGrp="1" noChangeArrowheads="1"/>
          </p:cNvSpPr>
          <p:nvPr>
            <p:ph idx="1"/>
          </p:nvPr>
        </p:nvSpPr>
        <p:spPr>
          <a:xfrm>
            <a:off x="768350" y="1093789"/>
            <a:ext cx="7656559" cy="3141327"/>
          </a:xfrm>
        </p:spPr>
        <p:txBody>
          <a:bodyPr/>
          <a:lstStyle/>
          <a:p>
            <a:pPr algn="r" rtl="1"/>
            <a:r>
              <a:rPr lang="fa-IR" dirty="0"/>
              <a:t>فقط لازم است </a:t>
            </a:r>
            <a:r>
              <a:rPr lang="fa-IR" dirty="0" err="1"/>
              <a:t>وابستگی‌های</a:t>
            </a:r>
            <a:r>
              <a:rPr lang="fa-IR" dirty="0"/>
              <a:t> </a:t>
            </a:r>
            <a:r>
              <a:rPr lang="fa-IR" dirty="0" err="1"/>
              <a:t>تابعی</a:t>
            </a:r>
            <a:r>
              <a:rPr lang="fa-IR" dirty="0"/>
              <a:t> موجود در </a:t>
            </a:r>
            <a:r>
              <a:rPr lang="en-US" dirty="0"/>
              <a:t>F </a:t>
            </a:r>
            <a:r>
              <a:rPr lang="fa-IR" dirty="0"/>
              <a:t>بررسی شوند و نیازی به بررسی تمام </a:t>
            </a:r>
            <a:r>
              <a:rPr lang="fa-IR" dirty="0" err="1"/>
              <a:t>وابستگی‌ها</a:t>
            </a:r>
            <a:r>
              <a:rPr lang="fa-IR" dirty="0"/>
              <a:t> در </a:t>
            </a:r>
            <a:r>
              <a:rPr lang="en-US" dirty="0"/>
              <a:t>F⁺ </a:t>
            </a:r>
            <a:r>
              <a:rPr lang="fa-IR" dirty="0"/>
              <a:t>نیست.</a:t>
            </a:r>
          </a:p>
          <a:p>
            <a:pPr algn="r" rtl="1"/>
            <a:r>
              <a:rPr lang="fa-IR" dirty="0"/>
              <a:t>از </a:t>
            </a:r>
            <a:r>
              <a:rPr lang="fa-IR" b="1" dirty="0"/>
              <a:t>بسته </a:t>
            </a:r>
            <a:r>
              <a:rPr lang="fa-IR" b="1" dirty="0" err="1"/>
              <a:t>صفت‌ها</a:t>
            </a:r>
            <a:r>
              <a:rPr lang="fa-IR" dirty="0"/>
              <a:t> استفاده کنید تا برای هر وابستگی </a:t>
            </a:r>
            <a:r>
              <a:rPr lang="el-GR" dirty="0"/>
              <a:t>α → β </a:t>
            </a:r>
            <a:r>
              <a:rPr lang="fa-IR" dirty="0"/>
              <a:t>بررسی کنید که آیا </a:t>
            </a:r>
            <a:r>
              <a:rPr lang="el-GR" dirty="0"/>
              <a:t>α </a:t>
            </a:r>
            <a:r>
              <a:rPr lang="fa-IR" dirty="0"/>
              <a:t>یک </a:t>
            </a:r>
            <a:r>
              <a:rPr lang="fa-IR" b="1" dirty="0" err="1"/>
              <a:t>ابرکلید</a:t>
            </a:r>
            <a:r>
              <a:rPr lang="fa-IR" dirty="0"/>
              <a:t> است یا خیر.</a:t>
            </a:r>
          </a:p>
          <a:p>
            <a:pPr algn="r" rtl="1"/>
            <a:r>
              <a:rPr lang="fa-IR" dirty="0"/>
              <a:t>اگر </a:t>
            </a:r>
            <a:r>
              <a:rPr lang="el-GR" dirty="0"/>
              <a:t>α </a:t>
            </a:r>
            <a:r>
              <a:rPr lang="fa-IR" dirty="0"/>
              <a:t>یک </a:t>
            </a:r>
            <a:r>
              <a:rPr lang="fa-IR" dirty="0" err="1"/>
              <a:t>ابرکلید</a:t>
            </a:r>
            <a:r>
              <a:rPr lang="fa-IR" dirty="0"/>
              <a:t> نباشد، باید بررسی کنیم که آیا هر صفت در </a:t>
            </a:r>
            <a:r>
              <a:rPr lang="el-GR" dirty="0"/>
              <a:t>β </a:t>
            </a:r>
            <a:r>
              <a:rPr lang="fa-IR" dirty="0"/>
              <a:t>در یکی از </a:t>
            </a:r>
            <a:r>
              <a:rPr lang="fa-IR" b="1" dirty="0"/>
              <a:t>کلیدهای کاندید</a:t>
            </a:r>
            <a:r>
              <a:rPr lang="fa-IR" dirty="0"/>
              <a:t> </a:t>
            </a:r>
            <a:r>
              <a:rPr lang="en-US" dirty="0"/>
              <a:t>R </a:t>
            </a:r>
            <a:r>
              <a:rPr lang="fa-IR" dirty="0"/>
              <a:t>موجود است یا خیر.</a:t>
            </a:r>
          </a:p>
          <a:p>
            <a:pPr algn="r" rtl="1"/>
            <a:r>
              <a:rPr lang="fa-IR" dirty="0"/>
              <a:t>این آزمون نسبتاً پرهزینه است، زیرا شامل پیدا کردن کلیدهای کاندید </a:t>
            </a:r>
            <a:r>
              <a:rPr lang="fa-IR" dirty="0" err="1"/>
              <a:t>می‌شود</a:t>
            </a:r>
            <a:r>
              <a:rPr lang="fa-IR" dirty="0"/>
              <a:t>.</a:t>
            </a:r>
          </a:p>
          <a:p>
            <a:pPr algn="r" rtl="1"/>
            <a:r>
              <a:rPr lang="fa-IR" dirty="0"/>
              <a:t>آزمون برای 3</a:t>
            </a:r>
            <a:r>
              <a:rPr lang="en-US" dirty="0"/>
              <a:t>NF </a:t>
            </a:r>
            <a:r>
              <a:rPr lang="fa-IR" dirty="0"/>
              <a:t>نشان داده شده که </a:t>
            </a:r>
            <a:r>
              <a:rPr lang="fa-IR" b="1" dirty="0" err="1"/>
              <a:t>مسئله‌ای</a:t>
            </a:r>
            <a:r>
              <a:rPr lang="fa-IR" b="1" dirty="0"/>
              <a:t> </a:t>
            </a:r>
            <a:r>
              <a:rPr lang="en-US" b="1" dirty="0"/>
              <a:t>NP-hard</a:t>
            </a:r>
            <a:r>
              <a:rPr lang="en-US" dirty="0"/>
              <a:t> </a:t>
            </a:r>
            <a:r>
              <a:rPr lang="fa-IR" dirty="0"/>
              <a:t>است.</a:t>
            </a:r>
          </a:p>
          <a:p>
            <a:pPr algn="r" rtl="1"/>
            <a:r>
              <a:rPr lang="fa-IR" dirty="0"/>
              <a:t>جالب اینکه، </a:t>
            </a:r>
            <a:r>
              <a:rPr lang="fa-IR" b="1" dirty="0"/>
              <a:t>تجزیه به سومین فرم نرمال</a:t>
            </a:r>
            <a:r>
              <a:rPr lang="fa-IR" dirty="0"/>
              <a:t> (که به زودی توضیح داده </a:t>
            </a:r>
            <a:r>
              <a:rPr lang="fa-IR" dirty="0" err="1"/>
              <a:t>می‌شود</a:t>
            </a:r>
            <a:r>
              <a:rPr lang="fa-IR" dirty="0"/>
              <a:t>) </a:t>
            </a:r>
            <a:r>
              <a:rPr lang="fa-IR" dirty="0" err="1"/>
              <a:t>می‌تواند</a:t>
            </a:r>
            <a:r>
              <a:rPr lang="fa-IR" dirty="0"/>
              <a:t> در </a:t>
            </a:r>
            <a:r>
              <a:rPr lang="fa-IR" b="1" dirty="0"/>
              <a:t>زمان </a:t>
            </a:r>
            <a:r>
              <a:rPr lang="fa-IR" b="1" dirty="0" err="1"/>
              <a:t>چندجمله‌ای</a:t>
            </a:r>
            <a:r>
              <a:rPr lang="fa-IR" dirty="0"/>
              <a:t> انجام شود.</a:t>
            </a:r>
          </a:p>
          <a:p>
            <a:pPr algn="r" rtl="1"/>
            <a:endParaRPr lang="en-US" alt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4690"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3NF Decomposition Algorithm</a:t>
            </a:r>
          </a:p>
        </p:txBody>
      </p:sp>
      <p:sp>
        <p:nvSpPr>
          <p:cNvPr id="73731" name="Rectangle 3"/>
          <p:cNvSpPr>
            <a:spLocks noGrp="1" noChangeArrowheads="1"/>
          </p:cNvSpPr>
          <p:nvPr>
            <p:ph idx="1"/>
          </p:nvPr>
        </p:nvSpPr>
        <p:spPr>
          <a:xfrm>
            <a:off x="266700" y="1012825"/>
            <a:ext cx="8578850" cy="5727700"/>
          </a:xfrm>
        </p:spPr>
        <p:txBody>
          <a:bodyPr/>
          <a:lstStyle/>
          <a:p>
            <a:pPr>
              <a:lnSpc>
                <a:spcPct val="90000"/>
              </a:lnSpc>
              <a:buFont typeface="Monotype Sorts" pitchFamily="-84" charset="2"/>
              <a:buNone/>
              <a:tabLst>
                <a:tab pos="461963" algn="l"/>
                <a:tab pos="1027113" algn="l"/>
                <a:tab pos="1309688" algn="l"/>
                <a:tab pos="1711325" algn="l"/>
              </a:tabLst>
            </a:pPr>
            <a:r>
              <a:rPr lang="en-US" altLang="en-US" dirty="0"/>
              <a:t>	Let </a:t>
            </a:r>
            <a:r>
              <a:rPr lang="en-US" altLang="en-US" i="1" dirty="0"/>
              <a:t>F</a:t>
            </a:r>
            <a:r>
              <a:rPr lang="en-US" altLang="en-US" sz="2000" i="1" baseline="-25000" dirty="0"/>
              <a:t>c</a:t>
            </a:r>
            <a:r>
              <a:rPr lang="en-US" altLang="en-US" i="1" dirty="0"/>
              <a:t> </a:t>
            </a:r>
            <a:r>
              <a:rPr lang="en-US" altLang="en-US" dirty="0"/>
              <a:t>be a canonical cover for </a:t>
            </a:r>
            <a:r>
              <a:rPr lang="en-US" altLang="en-US" i="1" dirty="0"/>
              <a:t>F;</a:t>
            </a:r>
            <a:br>
              <a:rPr lang="en-US" altLang="en-US" i="1" dirty="0"/>
            </a:br>
            <a:r>
              <a:rPr lang="en-US" altLang="en-US" i="1" dirty="0" err="1"/>
              <a:t>i</a:t>
            </a:r>
            <a:r>
              <a:rPr lang="en-US" altLang="en-US" i="1" dirty="0"/>
              <a:t> </a:t>
            </a:r>
            <a:r>
              <a:rPr lang="en-US" altLang="en-US" dirty="0"/>
              <a:t>:= 0;</a:t>
            </a:r>
            <a:br>
              <a:rPr lang="en-US" altLang="en-US" dirty="0"/>
            </a:br>
            <a:r>
              <a:rPr lang="en-US" altLang="en-US" b="1" dirty="0"/>
              <a:t>for each </a:t>
            </a:r>
            <a:r>
              <a:rPr lang="en-US" altLang="en-US" dirty="0"/>
              <a:t> functional dependency </a:t>
            </a:r>
            <a:r>
              <a:rPr lang="en-US" altLang="en-US" dirty="0">
                <a:sym typeface="Symbol" panose="05050102010706020507" pitchFamily="18" charset="2"/>
              </a:rPr>
              <a:t></a:t>
            </a:r>
            <a:r>
              <a:rPr lang="en-US" altLang="en-US" dirty="0">
                <a:sym typeface="Greek Symbols"/>
              </a:rPr>
              <a:t> </a:t>
            </a:r>
            <a:r>
              <a:rPr lang="en-US" altLang="en-US" dirty="0">
                <a:sym typeface="Symbol" panose="05050102010706020507" pitchFamily="18" charset="2"/>
              </a:rPr>
              <a:t></a:t>
            </a:r>
            <a:r>
              <a:rPr lang="en-US" altLang="en-US" dirty="0">
                <a:sym typeface="Monotype Sorts" pitchFamily="-84" charset="2"/>
              </a:rPr>
              <a:t> </a:t>
            </a:r>
            <a:r>
              <a:rPr lang="en-US" altLang="en-US" i="1" dirty="0">
                <a:sym typeface="Symbol" panose="05050102010706020507" pitchFamily="18" charset="2"/>
              </a:rPr>
              <a:t></a:t>
            </a:r>
            <a:r>
              <a:rPr lang="en-US" altLang="en-US" i="1" dirty="0">
                <a:sym typeface="Greek Symbols"/>
              </a:rPr>
              <a:t> </a:t>
            </a:r>
            <a:r>
              <a:rPr lang="en-US" altLang="en-US" dirty="0">
                <a:sym typeface="Greek Symbols"/>
              </a:rPr>
              <a:t>in </a:t>
            </a:r>
            <a:r>
              <a:rPr lang="en-US" altLang="en-US" i="1" dirty="0">
                <a:sym typeface="Greek Symbols"/>
              </a:rPr>
              <a:t>F</a:t>
            </a:r>
            <a:r>
              <a:rPr lang="en-US" altLang="en-US" sz="2000" i="1" baseline="-25000" dirty="0">
                <a:sym typeface="Greek Symbols"/>
              </a:rPr>
              <a:t>c</a:t>
            </a:r>
            <a:r>
              <a:rPr lang="en-US" altLang="en-US" i="1" dirty="0">
                <a:sym typeface="Greek Symbols"/>
              </a:rPr>
              <a:t> </a:t>
            </a:r>
            <a:r>
              <a:rPr lang="en-US" altLang="en-US" b="1" dirty="0">
                <a:sym typeface="Greek Symbols"/>
              </a:rPr>
              <a:t>do</a:t>
            </a:r>
            <a:br>
              <a:rPr lang="en-US" altLang="en-US" b="1" dirty="0">
                <a:sym typeface="Greek Symbols"/>
              </a:rPr>
            </a:br>
            <a:r>
              <a:rPr lang="en-US" altLang="en-US" b="1" dirty="0">
                <a:sym typeface="Greek Symbols"/>
              </a:rPr>
              <a:t>	if </a:t>
            </a:r>
            <a:r>
              <a:rPr lang="en-US" altLang="en-US" dirty="0">
                <a:sym typeface="Greek Symbols"/>
              </a:rPr>
              <a:t>none of the schemas </a:t>
            </a:r>
            <a:r>
              <a:rPr lang="en-US" altLang="en-US" i="1" dirty="0" err="1">
                <a:sym typeface="Greek Symbols"/>
              </a:rPr>
              <a:t>R</a:t>
            </a:r>
            <a:r>
              <a:rPr lang="en-US" altLang="en-US" i="1" baseline="-25000" dirty="0" err="1">
                <a:sym typeface="Greek Symbols"/>
              </a:rPr>
              <a:t>j</a:t>
            </a:r>
            <a:r>
              <a:rPr lang="en-US" altLang="en-US" i="1" dirty="0">
                <a:sym typeface="Greek Symbols"/>
              </a:rPr>
              <a:t>, </a:t>
            </a:r>
            <a:r>
              <a:rPr lang="en-US" altLang="en-US" dirty="0">
                <a:sym typeface="Greek Symbols"/>
              </a:rPr>
              <a:t>1 </a:t>
            </a:r>
            <a:r>
              <a:rPr lang="en-US" altLang="en-US" dirty="0">
                <a:sym typeface="Symbol" panose="05050102010706020507" pitchFamily="18" charset="2"/>
              </a:rPr>
              <a:t> </a:t>
            </a:r>
            <a:r>
              <a:rPr lang="en-US" altLang="en-US" i="1" dirty="0">
                <a:sym typeface="Symbol" panose="05050102010706020507" pitchFamily="18" charset="2"/>
              </a:rPr>
              <a:t>j </a:t>
            </a:r>
            <a:r>
              <a:rPr lang="en-US" altLang="en-US" dirty="0">
                <a:sym typeface="Greek Symbols"/>
              </a:rPr>
              <a:t> </a:t>
            </a:r>
            <a:r>
              <a:rPr lang="en-US" altLang="en-US" dirty="0">
                <a:sym typeface="Symbol" panose="05050102010706020507" pitchFamily="18" charset="2"/>
              </a:rPr>
              <a:t></a:t>
            </a:r>
            <a:r>
              <a:rPr lang="en-US" altLang="en-US" i="1" dirty="0">
                <a:sym typeface="Symbol" panose="05050102010706020507" pitchFamily="18" charset="2"/>
              </a:rPr>
              <a:t> </a:t>
            </a:r>
            <a:r>
              <a:rPr lang="en-US" altLang="en-US" i="1" dirty="0" err="1">
                <a:sym typeface="Symbol" panose="05050102010706020507" pitchFamily="18" charset="2"/>
              </a:rPr>
              <a:t>i</a:t>
            </a:r>
            <a:r>
              <a:rPr lang="en-US" altLang="en-US" i="1" dirty="0">
                <a:sym typeface="Symbol" panose="05050102010706020507" pitchFamily="18" charset="2"/>
              </a:rPr>
              <a:t> </a:t>
            </a:r>
            <a:r>
              <a:rPr lang="en-US" altLang="en-US" dirty="0">
                <a:sym typeface="Symbol" panose="05050102010706020507" pitchFamily="18" charset="2"/>
              </a:rPr>
              <a:t>contains  </a:t>
            </a:r>
            <a:r>
              <a:rPr lang="en-US" altLang="en-US" dirty="0">
                <a:sym typeface="Greek Symbols"/>
              </a:rPr>
              <a:t> </a:t>
            </a:r>
            <a:r>
              <a:rPr lang="en-US" altLang="en-US" i="1" dirty="0">
                <a:sym typeface="Symbol" panose="05050102010706020507" pitchFamily="18" charset="2"/>
              </a:rPr>
              <a:t></a:t>
            </a:r>
            <a:r>
              <a:rPr lang="en-US" altLang="en-US" i="1" dirty="0">
                <a:sym typeface="Greek Symbols"/>
              </a:rPr>
              <a:t> </a:t>
            </a:r>
            <a:br>
              <a:rPr lang="en-US" altLang="en-US" dirty="0">
                <a:sym typeface="Greek Symbols"/>
              </a:rPr>
            </a:br>
            <a:r>
              <a:rPr lang="en-US" altLang="en-US" dirty="0">
                <a:sym typeface="Greek Symbols"/>
              </a:rPr>
              <a:t>		</a:t>
            </a:r>
            <a:r>
              <a:rPr lang="en-US" altLang="en-US" b="1" dirty="0">
                <a:sym typeface="Greek Symbols"/>
              </a:rPr>
              <a:t>then begin</a:t>
            </a:r>
            <a:br>
              <a:rPr lang="en-US" altLang="en-US" b="1" dirty="0">
                <a:sym typeface="Greek Symbols"/>
              </a:rPr>
            </a:br>
            <a:r>
              <a:rPr lang="en-US" altLang="en-US" b="1" dirty="0">
                <a:sym typeface="Greek Symbols"/>
              </a:rPr>
              <a:t>				</a:t>
            </a:r>
            <a:r>
              <a:rPr lang="en-US" altLang="en-US" i="1" dirty="0" err="1">
                <a:sym typeface="Greek Symbols"/>
              </a:rPr>
              <a:t>i</a:t>
            </a:r>
            <a:r>
              <a:rPr lang="en-US" altLang="en-US" i="1" dirty="0">
                <a:sym typeface="Greek Symbols"/>
              </a:rPr>
              <a:t> </a:t>
            </a:r>
            <a:r>
              <a:rPr lang="en-US" altLang="en-US" dirty="0">
                <a:sym typeface="Greek Symbols"/>
              </a:rPr>
              <a:t>:= </a:t>
            </a:r>
            <a:r>
              <a:rPr lang="en-US" altLang="en-US" i="1" dirty="0" err="1">
                <a:sym typeface="Greek Symbols"/>
              </a:rPr>
              <a:t>i</a:t>
            </a:r>
            <a:r>
              <a:rPr lang="en-US" altLang="en-US" i="1" dirty="0">
                <a:sym typeface="Greek Symbols"/>
              </a:rPr>
              <a:t>  + </a:t>
            </a:r>
            <a:r>
              <a:rPr lang="en-US" altLang="en-US" dirty="0">
                <a:sym typeface="Greek Symbols"/>
              </a:rPr>
              <a:t>1;</a:t>
            </a:r>
            <a:br>
              <a:rPr lang="en-US" altLang="en-US" dirty="0">
                <a:sym typeface="Greek Symbols"/>
              </a:rPr>
            </a:br>
            <a:r>
              <a:rPr lang="en-US" altLang="en-US" dirty="0">
                <a:sym typeface="Greek Symbols"/>
              </a:rPr>
              <a:t>				</a:t>
            </a:r>
            <a:r>
              <a:rPr lang="en-US" altLang="en-US" i="1" dirty="0">
                <a:sym typeface="Greek Symbols"/>
              </a:rPr>
              <a:t>R</a:t>
            </a:r>
            <a:r>
              <a:rPr lang="en-US" altLang="en-US" i="1" baseline="-25000" dirty="0">
                <a:sym typeface="Greek Symbols"/>
              </a:rPr>
              <a:t>i </a:t>
            </a:r>
            <a:r>
              <a:rPr lang="en-US" altLang="en-US" dirty="0">
                <a:sym typeface="Greek Symbols"/>
              </a:rPr>
              <a:t> := </a:t>
            </a:r>
            <a:r>
              <a:rPr lang="en-US" altLang="en-US" dirty="0">
                <a:sym typeface="Symbol" panose="05050102010706020507" pitchFamily="18" charset="2"/>
              </a:rPr>
              <a:t></a:t>
            </a:r>
            <a:r>
              <a:rPr lang="en-US" altLang="en-US" dirty="0">
                <a:sym typeface="Greek Symbols"/>
              </a:rPr>
              <a:t> </a:t>
            </a:r>
            <a:r>
              <a:rPr lang="en-US" altLang="en-US" i="1" dirty="0">
                <a:sym typeface="Symbol" panose="05050102010706020507" pitchFamily="18" charset="2"/>
              </a:rPr>
              <a:t></a:t>
            </a:r>
            <a:r>
              <a:rPr lang="en-US" altLang="en-US" i="1" dirty="0">
                <a:sym typeface="Greek Symbols"/>
              </a:rPr>
              <a:t> </a:t>
            </a:r>
            <a:br>
              <a:rPr lang="en-US" altLang="en-US" i="1" dirty="0">
                <a:sym typeface="Greek Symbols"/>
              </a:rPr>
            </a:br>
            <a:r>
              <a:rPr lang="en-US" altLang="en-US" i="1" dirty="0">
                <a:sym typeface="Greek Symbols"/>
              </a:rPr>
              <a:t>			</a:t>
            </a:r>
            <a:r>
              <a:rPr lang="en-US" altLang="en-US" b="1" dirty="0">
                <a:sym typeface="Greek Symbols"/>
              </a:rPr>
              <a:t>end</a:t>
            </a:r>
            <a:br>
              <a:rPr lang="en-US" altLang="en-US" b="1" dirty="0">
                <a:sym typeface="Greek Symbols"/>
              </a:rPr>
            </a:br>
            <a:r>
              <a:rPr lang="en-US" altLang="en-US" b="1" dirty="0">
                <a:sym typeface="Greek Symbols"/>
              </a:rPr>
              <a:t>if</a:t>
            </a:r>
            <a:r>
              <a:rPr lang="en-US" altLang="en-US" dirty="0">
                <a:sym typeface="Greek Symbols"/>
              </a:rPr>
              <a:t> none of the schemas </a:t>
            </a:r>
            <a:r>
              <a:rPr lang="en-US" altLang="en-US" i="1" dirty="0" err="1">
                <a:sym typeface="Greek Symbols"/>
              </a:rPr>
              <a:t>R</a:t>
            </a:r>
            <a:r>
              <a:rPr lang="en-US" altLang="en-US" sz="2400" i="1" baseline="-25000" dirty="0" err="1">
                <a:sym typeface="Greek Symbols"/>
              </a:rPr>
              <a:t>j</a:t>
            </a:r>
            <a:r>
              <a:rPr lang="en-US" altLang="en-US" i="1" dirty="0">
                <a:sym typeface="Greek Symbols"/>
              </a:rPr>
              <a:t>, </a:t>
            </a:r>
            <a:r>
              <a:rPr lang="en-US" altLang="en-US" dirty="0">
                <a:sym typeface="Greek Symbols"/>
              </a:rPr>
              <a:t>1 </a:t>
            </a:r>
            <a:r>
              <a:rPr lang="en-US" altLang="en-US" dirty="0">
                <a:sym typeface="Symbol" panose="05050102010706020507" pitchFamily="18" charset="2"/>
              </a:rPr>
              <a:t> </a:t>
            </a:r>
            <a:r>
              <a:rPr lang="en-US" altLang="en-US" i="1" dirty="0">
                <a:sym typeface="Symbol" panose="05050102010706020507" pitchFamily="18" charset="2"/>
              </a:rPr>
              <a:t>j </a:t>
            </a:r>
            <a:r>
              <a:rPr lang="en-US" altLang="en-US" dirty="0">
                <a:sym typeface="Greek Symbols"/>
              </a:rPr>
              <a:t> </a:t>
            </a:r>
            <a:r>
              <a:rPr lang="en-US" altLang="en-US" dirty="0">
                <a:sym typeface="Symbol" panose="05050102010706020507" pitchFamily="18" charset="2"/>
              </a:rPr>
              <a:t></a:t>
            </a:r>
            <a:r>
              <a:rPr lang="en-US" altLang="en-US" i="1" dirty="0">
                <a:sym typeface="Symbol" panose="05050102010706020507" pitchFamily="18" charset="2"/>
              </a:rPr>
              <a:t> </a:t>
            </a:r>
            <a:r>
              <a:rPr lang="en-US" altLang="en-US" i="1" dirty="0" err="1">
                <a:sym typeface="Symbol" panose="05050102010706020507" pitchFamily="18" charset="2"/>
              </a:rPr>
              <a:t>i</a:t>
            </a:r>
            <a:r>
              <a:rPr lang="en-US" altLang="en-US" i="1" dirty="0">
                <a:sym typeface="Symbol" panose="05050102010706020507" pitchFamily="18" charset="2"/>
              </a:rPr>
              <a:t> </a:t>
            </a:r>
            <a:r>
              <a:rPr lang="en-US" altLang="en-US" dirty="0">
                <a:sym typeface="Symbol" panose="05050102010706020507" pitchFamily="18" charset="2"/>
              </a:rPr>
              <a:t>contains a candidate key for </a:t>
            </a:r>
            <a:r>
              <a:rPr lang="en-US" altLang="en-US" i="1" dirty="0">
                <a:sym typeface="Symbol" panose="05050102010706020507" pitchFamily="18" charset="2"/>
              </a:rPr>
              <a:t>R</a:t>
            </a:r>
            <a:br>
              <a:rPr lang="en-US" altLang="en-US" i="1" dirty="0">
                <a:sym typeface="Symbol" panose="05050102010706020507" pitchFamily="18" charset="2"/>
              </a:rPr>
            </a:br>
            <a:r>
              <a:rPr lang="en-US" altLang="en-US" i="1" dirty="0">
                <a:sym typeface="Symbol" panose="05050102010706020507" pitchFamily="18" charset="2"/>
              </a:rPr>
              <a:t>	</a:t>
            </a:r>
            <a:r>
              <a:rPr lang="en-US" altLang="en-US" b="1" dirty="0">
                <a:sym typeface="Symbol" panose="05050102010706020507" pitchFamily="18" charset="2"/>
              </a:rPr>
              <a:t>then begin</a:t>
            </a:r>
            <a:br>
              <a:rPr lang="en-US" altLang="en-US" b="1" dirty="0">
                <a:sym typeface="Symbol" panose="05050102010706020507" pitchFamily="18" charset="2"/>
              </a:rPr>
            </a:br>
            <a:r>
              <a:rPr lang="en-US" altLang="en-US" b="1" dirty="0">
                <a:sym typeface="Symbol" panose="05050102010706020507" pitchFamily="18" charset="2"/>
              </a:rPr>
              <a:t>			</a:t>
            </a:r>
            <a:r>
              <a:rPr lang="en-US" altLang="en-US" i="1" dirty="0" err="1">
                <a:sym typeface="Symbol" panose="05050102010706020507" pitchFamily="18" charset="2"/>
              </a:rPr>
              <a:t>i</a:t>
            </a:r>
            <a:r>
              <a:rPr lang="en-US" altLang="en-US" i="1" dirty="0">
                <a:sym typeface="Symbol" panose="05050102010706020507" pitchFamily="18" charset="2"/>
              </a:rPr>
              <a:t> </a:t>
            </a:r>
            <a:r>
              <a:rPr lang="en-US" altLang="en-US" dirty="0">
                <a:sym typeface="Symbol" panose="05050102010706020507" pitchFamily="18" charset="2"/>
              </a:rPr>
              <a:t>:=</a:t>
            </a:r>
            <a:r>
              <a:rPr lang="en-US" altLang="en-US" i="1" dirty="0">
                <a:sym typeface="Symbol" panose="05050102010706020507" pitchFamily="18" charset="2"/>
              </a:rPr>
              <a:t> </a:t>
            </a:r>
            <a:r>
              <a:rPr lang="en-US" altLang="en-US" i="1" dirty="0" err="1">
                <a:sym typeface="Symbol" panose="05050102010706020507" pitchFamily="18" charset="2"/>
              </a:rPr>
              <a:t>i</a:t>
            </a:r>
            <a:r>
              <a:rPr lang="en-US" altLang="en-US" i="1" dirty="0">
                <a:sym typeface="Symbol" panose="05050102010706020507" pitchFamily="18" charset="2"/>
              </a:rPr>
              <a:t> </a:t>
            </a:r>
            <a:r>
              <a:rPr lang="en-US" altLang="en-US" dirty="0">
                <a:sym typeface="Symbol" panose="05050102010706020507" pitchFamily="18" charset="2"/>
              </a:rPr>
              <a:t> + 1;</a:t>
            </a:r>
            <a:br>
              <a:rPr lang="en-US" altLang="en-US" dirty="0">
                <a:sym typeface="Symbol" panose="05050102010706020507" pitchFamily="18" charset="2"/>
              </a:rPr>
            </a:br>
            <a:r>
              <a:rPr lang="en-US" altLang="en-US" dirty="0">
                <a:sym typeface="Symbol" panose="05050102010706020507" pitchFamily="18" charset="2"/>
              </a:rPr>
              <a:t>			</a:t>
            </a:r>
            <a:r>
              <a:rPr lang="en-US" altLang="en-US" i="1" dirty="0">
                <a:sym typeface="Symbol" panose="05050102010706020507" pitchFamily="18" charset="2"/>
              </a:rPr>
              <a:t>R</a:t>
            </a:r>
            <a:r>
              <a:rPr lang="en-US" altLang="en-US" sz="2400" i="1" baseline="-25000" dirty="0">
                <a:sym typeface="Symbol" panose="05050102010706020507" pitchFamily="18" charset="2"/>
              </a:rPr>
              <a:t>i</a:t>
            </a:r>
            <a:r>
              <a:rPr lang="en-US" altLang="en-US" dirty="0">
                <a:sym typeface="Symbol" panose="05050102010706020507" pitchFamily="18" charset="2"/>
              </a:rPr>
              <a:t> := any candidate key for </a:t>
            </a:r>
            <a:r>
              <a:rPr lang="en-US" altLang="en-US" i="1" dirty="0">
                <a:sym typeface="Symbol" panose="05050102010706020507" pitchFamily="18" charset="2"/>
              </a:rPr>
              <a:t>R;</a:t>
            </a:r>
            <a:br>
              <a:rPr lang="en-US" altLang="en-US" i="1" dirty="0">
                <a:sym typeface="Symbol" panose="05050102010706020507" pitchFamily="18" charset="2"/>
              </a:rPr>
            </a:br>
            <a:r>
              <a:rPr lang="en-US" altLang="en-US" i="1" dirty="0">
                <a:sym typeface="Symbol" panose="05050102010706020507" pitchFamily="18" charset="2"/>
              </a:rPr>
              <a:t>		</a:t>
            </a:r>
            <a:r>
              <a:rPr lang="en-US" altLang="en-US" b="1" dirty="0">
                <a:sym typeface="Symbol" panose="05050102010706020507" pitchFamily="18" charset="2"/>
              </a:rPr>
              <a:t>end </a:t>
            </a:r>
            <a:br>
              <a:rPr lang="en-US" altLang="en-US" b="1" dirty="0">
                <a:sym typeface="Symbol" panose="05050102010706020507" pitchFamily="18" charset="2"/>
              </a:rPr>
            </a:br>
            <a:r>
              <a:rPr lang="en-US" altLang="en-US" dirty="0">
                <a:sym typeface="Symbol" panose="05050102010706020507" pitchFamily="18" charset="2"/>
              </a:rPr>
              <a:t>/* Optionally, remove redundant relations */</a:t>
            </a:r>
          </a:p>
          <a:p>
            <a:pPr>
              <a:lnSpc>
                <a:spcPct val="90000"/>
              </a:lnSpc>
              <a:buFont typeface="Monotype Sorts" pitchFamily="-84" charset="2"/>
              <a:buNone/>
              <a:tabLst>
                <a:tab pos="461963" algn="l"/>
                <a:tab pos="1027113" algn="l"/>
                <a:tab pos="1309688" algn="l"/>
                <a:tab pos="1711325" algn="l"/>
              </a:tabLst>
            </a:pPr>
            <a:r>
              <a:rPr lang="en-US" altLang="en-US" b="1" dirty="0">
                <a:sym typeface="Symbol" panose="05050102010706020507" pitchFamily="18" charset="2"/>
              </a:rPr>
              <a:t>      repeat</a:t>
            </a:r>
            <a:br>
              <a:rPr lang="en-US" altLang="en-US" b="1" dirty="0">
                <a:sym typeface="Symbol" panose="05050102010706020507" pitchFamily="18" charset="2"/>
              </a:rPr>
            </a:br>
            <a:r>
              <a:rPr lang="en-US" altLang="en-US" b="1" dirty="0">
                <a:sym typeface="Symbol" panose="05050102010706020507" pitchFamily="18" charset="2"/>
              </a:rPr>
              <a:t>if </a:t>
            </a:r>
            <a:r>
              <a:rPr lang="en-US" altLang="en-US" dirty="0">
                <a:sym typeface="Symbol" panose="05050102010706020507" pitchFamily="18" charset="2"/>
              </a:rPr>
              <a:t>any schema </a:t>
            </a:r>
            <a:r>
              <a:rPr lang="en-US" altLang="en-US" i="1" dirty="0" err="1">
                <a:sym typeface="Symbol" panose="05050102010706020507" pitchFamily="18" charset="2"/>
              </a:rPr>
              <a:t>R</a:t>
            </a:r>
            <a:r>
              <a:rPr lang="en-US" altLang="en-US" i="1" baseline="-25000" dirty="0" err="1">
                <a:sym typeface="Symbol" panose="05050102010706020507" pitchFamily="18" charset="2"/>
              </a:rPr>
              <a:t>j</a:t>
            </a:r>
            <a:r>
              <a:rPr lang="en-US" altLang="en-US" sz="2400" i="1" baseline="-25000" dirty="0">
                <a:sym typeface="Symbol" panose="05050102010706020507" pitchFamily="18" charset="2"/>
              </a:rPr>
              <a:t> </a:t>
            </a:r>
            <a:r>
              <a:rPr lang="en-US" altLang="en-US" dirty="0">
                <a:sym typeface="Symbol" panose="05050102010706020507" pitchFamily="18" charset="2"/>
              </a:rPr>
              <a:t>is contained in another schema </a:t>
            </a:r>
            <a:r>
              <a:rPr lang="en-US" altLang="en-US" i="1" dirty="0" err="1">
                <a:sym typeface="Symbol" panose="05050102010706020507" pitchFamily="18" charset="2"/>
              </a:rPr>
              <a:t>R</a:t>
            </a:r>
            <a:r>
              <a:rPr lang="en-US" altLang="en-US" sz="2400" i="1" baseline="-25000" dirty="0" err="1">
                <a:sym typeface="Symbol" panose="05050102010706020507" pitchFamily="18" charset="2"/>
              </a:rPr>
              <a:t>k</a:t>
            </a:r>
            <a:br>
              <a:rPr lang="en-US" altLang="en-US" sz="2400" i="1" baseline="-25000" dirty="0">
                <a:sym typeface="Symbol" panose="05050102010706020507" pitchFamily="18" charset="2"/>
              </a:rPr>
            </a:br>
            <a:r>
              <a:rPr lang="en-US" altLang="en-US" sz="2400" i="1" baseline="-25000" dirty="0">
                <a:sym typeface="Symbol" panose="05050102010706020507" pitchFamily="18" charset="2"/>
              </a:rPr>
              <a:t>        </a:t>
            </a:r>
            <a:r>
              <a:rPr lang="en-US" altLang="en-US" b="1" dirty="0">
                <a:sym typeface="Greek Symbols"/>
              </a:rPr>
              <a:t>then /* </a:t>
            </a:r>
            <a:r>
              <a:rPr lang="en-US" altLang="en-US" dirty="0">
                <a:sym typeface="Greek Symbols"/>
              </a:rPr>
              <a:t>delete </a:t>
            </a:r>
            <a:r>
              <a:rPr lang="en-US" altLang="en-US" i="1" dirty="0" err="1">
                <a:sym typeface="Symbol" panose="05050102010706020507" pitchFamily="18" charset="2"/>
              </a:rPr>
              <a:t>R</a:t>
            </a:r>
            <a:r>
              <a:rPr lang="en-US" altLang="en-US" i="1" baseline="-25000" dirty="0" err="1">
                <a:sym typeface="Symbol" panose="05050102010706020507" pitchFamily="18" charset="2"/>
              </a:rPr>
              <a:t>j</a:t>
            </a:r>
            <a:r>
              <a:rPr lang="en-US" altLang="en-US" sz="2400" i="1" baseline="-25000" dirty="0">
                <a:sym typeface="Symbol" panose="05050102010706020507" pitchFamily="18" charset="2"/>
              </a:rPr>
              <a:t>  </a:t>
            </a:r>
            <a:r>
              <a:rPr lang="en-US" altLang="en-US" b="1" dirty="0">
                <a:sym typeface="Greek Symbols"/>
              </a:rPr>
              <a:t>*/</a:t>
            </a:r>
            <a:br>
              <a:rPr lang="en-US" altLang="en-US" b="1" dirty="0">
                <a:sym typeface="Greek Symbols"/>
              </a:rPr>
            </a:br>
            <a:r>
              <a:rPr lang="en-US" altLang="en-US" b="1" dirty="0">
                <a:sym typeface="Greek Symbols"/>
              </a:rPr>
              <a:t>           </a:t>
            </a:r>
            <a:r>
              <a:rPr lang="en-US" altLang="en-US" i="1" dirty="0" err="1">
                <a:sym typeface="Symbol" panose="05050102010706020507" pitchFamily="18" charset="2"/>
              </a:rPr>
              <a:t>R</a:t>
            </a:r>
            <a:r>
              <a:rPr lang="en-US" altLang="en-US" i="1" baseline="-25000" dirty="0" err="1">
                <a:sym typeface="Symbol" panose="05050102010706020507" pitchFamily="18" charset="2"/>
              </a:rPr>
              <a:t>j</a:t>
            </a:r>
            <a:r>
              <a:rPr lang="en-US" altLang="en-US" i="1" baseline="-25000" dirty="0">
                <a:sym typeface="Symbol" panose="05050102010706020507" pitchFamily="18" charset="2"/>
              </a:rPr>
              <a:t> </a:t>
            </a:r>
            <a:r>
              <a:rPr lang="en-US" altLang="en-US" i="1" dirty="0">
                <a:sym typeface="Symbol" panose="05050102010706020507" pitchFamily="18" charset="2"/>
              </a:rPr>
              <a:t>= R;;</a:t>
            </a:r>
            <a:br>
              <a:rPr lang="en-US" altLang="en-US" i="1" dirty="0">
                <a:sym typeface="Symbol" panose="05050102010706020507" pitchFamily="18" charset="2"/>
              </a:rPr>
            </a:br>
            <a:r>
              <a:rPr lang="en-US" altLang="en-US" i="1" dirty="0">
                <a:sym typeface="Symbol" panose="05050102010706020507" pitchFamily="18" charset="2"/>
              </a:rPr>
              <a:t>           </a:t>
            </a:r>
            <a:r>
              <a:rPr lang="en-US" altLang="en-US" i="1" dirty="0" err="1">
                <a:sym typeface="Symbol" panose="05050102010706020507" pitchFamily="18" charset="2"/>
              </a:rPr>
              <a:t>i</a:t>
            </a:r>
            <a:r>
              <a:rPr lang="en-US" altLang="en-US" i="1" dirty="0">
                <a:sym typeface="Symbol" panose="05050102010706020507" pitchFamily="18" charset="2"/>
              </a:rPr>
              <a:t>=i-1;</a:t>
            </a:r>
            <a:br>
              <a:rPr lang="en-US" altLang="en-US" dirty="0">
                <a:sym typeface="Greek Symbols"/>
              </a:rPr>
            </a:br>
            <a:r>
              <a:rPr lang="en-US" altLang="en-US" b="1" dirty="0">
                <a:sym typeface="Symbol" panose="05050102010706020507" pitchFamily="18" charset="2"/>
              </a:rPr>
              <a:t>return </a:t>
            </a:r>
            <a:r>
              <a:rPr lang="en-US" altLang="en-US" i="1" dirty="0">
                <a:sym typeface="Symbol" panose="05050102010706020507" pitchFamily="18" charset="2"/>
              </a:rPr>
              <a:t>(R</a:t>
            </a:r>
            <a:r>
              <a:rPr lang="en-US" altLang="en-US" sz="2000" baseline="-25000" dirty="0">
                <a:sym typeface="Symbol" panose="05050102010706020507" pitchFamily="18" charset="2"/>
              </a:rPr>
              <a:t>1</a:t>
            </a:r>
            <a:r>
              <a:rPr lang="en-US" altLang="en-US" dirty="0">
                <a:sym typeface="Symbol" panose="05050102010706020507" pitchFamily="18" charset="2"/>
              </a:rPr>
              <a:t>, </a:t>
            </a:r>
            <a:r>
              <a:rPr lang="en-US" altLang="en-US" i="1" dirty="0">
                <a:sym typeface="Symbol" panose="05050102010706020507" pitchFamily="18" charset="2"/>
              </a:rPr>
              <a:t>R</a:t>
            </a:r>
            <a:r>
              <a:rPr lang="en-US" altLang="en-US" sz="2000" baseline="-25000" dirty="0">
                <a:sym typeface="Symbol" panose="05050102010706020507" pitchFamily="18" charset="2"/>
              </a:rPr>
              <a:t>2</a:t>
            </a:r>
            <a:r>
              <a:rPr lang="en-US" altLang="en-US" dirty="0">
                <a:sym typeface="Symbol" panose="05050102010706020507" pitchFamily="18" charset="2"/>
              </a:rPr>
              <a:t>, ..., </a:t>
            </a:r>
            <a:r>
              <a:rPr lang="en-US" altLang="en-US" i="1" dirty="0">
                <a:sym typeface="Symbol" panose="05050102010706020507" pitchFamily="18" charset="2"/>
              </a:rPr>
              <a:t>R</a:t>
            </a:r>
            <a:r>
              <a:rPr lang="en-US" altLang="en-US" sz="2400" i="1" baseline="-25000" dirty="0">
                <a:sym typeface="Symbol" panose="05050102010706020507" pitchFamily="18" charset="2"/>
              </a:rPr>
              <a:t>i</a:t>
            </a:r>
            <a:r>
              <a:rPr lang="en-US" altLang="en-US" i="1" dirty="0">
                <a:sym typeface="Symbol" panose="05050102010706020507" pitchFamily="18" charset="2"/>
              </a:rPr>
              <a:t>)</a:t>
            </a:r>
            <a:r>
              <a:rPr lang="en-US" altLang="en-US" i="1" dirty="0">
                <a:sym typeface="Greek Symbols"/>
              </a:rPr>
              <a:t>	</a:t>
            </a:r>
            <a:r>
              <a:rPr lang="en-US" altLang="en-US" sz="1600" i="1" dirty="0">
                <a:sym typeface="Greek Symbols"/>
              </a:rPr>
              <a:t>	    </a:t>
            </a: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6738" name="Rectangle 2"/>
          <p:cNvSpPr>
            <a:spLocks noGrp="1" noChangeArrowheads="1"/>
          </p:cNvSpPr>
          <p:nvPr>
            <p:ph type="title"/>
          </p:nvPr>
        </p:nvSpPr>
        <p:spPr>
          <a:xfrm>
            <a:off x="838200" y="66675"/>
            <a:ext cx="8077200" cy="609600"/>
          </a:xfrm>
        </p:spPr>
        <p:txBody>
          <a:bodyPr/>
          <a:lstStyle/>
          <a:p>
            <a:pPr>
              <a:defRPr/>
            </a:pPr>
            <a:r>
              <a:rPr lang="en-US" altLang="en-US">
                <a:effectLst>
                  <a:outerShdw blurRad="38100" dist="38100" dir="2700000" algn="tl">
                    <a:srgbClr val="C0C0C0"/>
                  </a:outerShdw>
                </a:effectLst>
                <a:ea typeface="ＭＳ Ｐゴシック" pitchFamily="34" charset="-128"/>
              </a:rPr>
              <a:t>3NF Decomposition Algorithm (Cont.)</a:t>
            </a:r>
          </a:p>
        </p:txBody>
      </p:sp>
      <mc:AlternateContent xmlns:mc="http://schemas.openxmlformats.org/markup-compatibility/2006" xmlns:a14="http://schemas.microsoft.com/office/drawing/2010/main">
        <mc:Choice Requires="a14">
          <p:sp>
            <p:nvSpPr>
              <p:cNvPr id="756739" name="Rectangle 3"/>
              <p:cNvSpPr>
                <a:spLocks noGrp="1" noChangeArrowheads="1"/>
              </p:cNvSpPr>
              <p:nvPr>
                <p:ph idx="1"/>
              </p:nvPr>
            </p:nvSpPr>
            <p:spPr>
              <a:xfrm>
                <a:off x="1056444" y="1612221"/>
                <a:ext cx="7315199" cy="1335516"/>
              </a:xfrm>
            </p:spPr>
            <p:txBody>
              <a:bodyPr/>
              <a:lstStyle/>
              <a:p>
                <a:pPr algn="r" rtl="1"/>
                <a:r>
                  <a:rPr lang="fa-IR" dirty="0"/>
                  <a:t>هر طرح </a:t>
                </a:r>
                <a:r>
                  <a:rPr lang="fa-IR" dirty="0" err="1"/>
                  <a:t>رابطه‌ای</a:t>
                </a:r>
                <a:r>
                  <a:rPr lang="fa-IR" dirty="0"/>
                  <a:t>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a:t>در </a:t>
                </a:r>
                <a:r>
                  <a:rPr lang="fa-IR" b="1" dirty="0"/>
                  <a:t>3</a:t>
                </a:r>
                <a:r>
                  <a:rPr lang="en-US" b="1" dirty="0"/>
                  <a:t>NF</a:t>
                </a:r>
                <a:r>
                  <a:rPr lang="en-US" dirty="0"/>
                  <a:t> </a:t>
                </a:r>
                <a:r>
                  <a:rPr lang="fa-IR" dirty="0"/>
                  <a:t>است.</a:t>
                </a:r>
              </a:p>
              <a:p>
                <a:pPr algn="r" rtl="1"/>
                <a:r>
                  <a:rPr lang="fa-IR" dirty="0"/>
                  <a:t>تجزیه </a:t>
                </a:r>
                <a:r>
                  <a:rPr lang="fa-IR" b="1" dirty="0" err="1"/>
                  <a:t>حفظ‌کننده</a:t>
                </a:r>
                <a:r>
                  <a:rPr lang="fa-IR" b="1" dirty="0"/>
                  <a:t> </a:t>
                </a:r>
                <a:r>
                  <a:rPr lang="fa-IR" b="1" dirty="0" err="1"/>
                  <a:t>وابستگی‌ها</a:t>
                </a:r>
                <a:r>
                  <a:rPr lang="fa-IR" dirty="0"/>
                  <a:t> و </a:t>
                </a:r>
                <a:r>
                  <a:rPr lang="fa-IR" b="1" dirty="0"/>
                  <a:t>بدون از دست دادن اطلاعات (</a:t>
                </a:r>
                <a:r>
                  <a:rPr lang="en-US" b="1" dirty="0"/>
                  <a:t>lossless-join)</a:t>
                </a:r>
                <a:r>
                  <a:rPr lang="en-US" dirty="0"/>
                  <a:t> </a:t>
                </a:r>
                <a:r>
                  <a:rPr lang="fa-IR" dirty="0"/>
                  <a:t>است.</a:t>
                </a:r>
              </a:p>
              <a:p>
                <a:pPr algn="r" rtl="1"/>
                <a:r>
                  <a:rPr lang="fa-IR" dirty="0"/>
                  <a:t>اثبات صحت این روش در انتهای این ارائه آمده است (برای مشاهده، اینجا کلیک کنید).</a:t>
                </a:r>
              </a:p>
              <a:p>
                <a:pPr algn="r" rtl="1">
                  <a:lnSpc>
                    <a:spcPct val="90000"/>
                  </a:lnSpc>
                  <a:spcBef>
                    <a:spcPct val="50000"/>
                  </a:spcBef>
                  <a:defRPr/>
                </a:pPr>
                <a:endParaRPr lang="en-US" dirty="0">
                  <a:ea typeface="+mn-ea"/>
                  <a:sym typeface="Monotype Sorts" charset="0"/>
                </a:endParaRPr>
              </a:p>
            </p:txBody>
          </p:sp>
        </mc:Choice>
        <mc:Fallback xmlns="">
          <p:sp>
            <p:nvSpPr>
              <p:cNvPr id="756739" name="Rectangle 3"/>
              <p:cNvSpPr>
                <a:spLocks noGrp="1" noRot="1" noChangeAspect="1" noMove="1" noResize="1" noEditPoints="1" noAdjustHandles="1" noChangeArrowheads="1" noChangeShapeType="1" noTextEdit="1"/>
              </p:cNvSpPr>
              <p:nvPr>
                <p:ph idx="1"/>
              </p:nvPr>
            </p:nvSpPr>
            <p:spPr>
              <a:xfrm>
                <a:off x="1056444" y="1612221"/>
                <a:ext cx="7315199" cy="1335516"/>
              </a:xfrm>
              <a:blipFill>
                <a:blip r:embed="rId3"/>
                <a:stretch>
                  <a:fillRect t="-5000" r="-1000" b="-21818"/>
                </a:stretch>
              </a:blipFill>
            </p:spPr>
            <p:txBody>
              <a:bodyPr/>
              <a:lstStyle/>
              <a:p>
                <a:r>
                  <a:rPr lang="en-US">
                    <a:noFill/>
                  </a:rPr>
                  <a:t> </a:t>
                </a:r>
              </a:p>
            </p:txBody>
          </p:sp>
        </mc:Fallback>
      </mc:AlternateContent>
      <p:sp>
        <p:nvSpPr>
          <p:cNvPr id="2" name="TextBox 1"/>
          <p:cNvSpPr txBox="1"/>
          <p:nvPr/>
        </p:nvSpPr>
        <p:spPr>
          <a:xfrm>
            <a:off x="3252510" y="1242889"/>
            <a:ext cx="4942637" cy="369332"/>
          </a:xfrm>
          <a:prstGeom prst="rect">
            <a:avLst/>
          </a:prstGeom>
          <a:noFill/>
        </p:spPr>
        <p:txBody>
          <a:bodyPr wrap="square" rtlCol="0">
            <a:spAutoFit/>
          </a:bodyPr>
          <a:lstStyle/>
          <a:p>
            <a:pPr algn="r" rtl="1"/>
            <a:r>
              <a:rPr lang="fa-IR" sz="1800" dirty="0" err="1"/>
              <a:t>الگوریتم</a:t>
            </a:r>
            <a:r>
              <a:rPr lang="fa-IR" sz="1800" dirty="0"/>
              <a:t> بالا تضمین </a:t>
            </a:r>
            <a:r>
              <a:rPr lang="fa-IR" sz="1800" dirty="0" err="1"/>
              <a:t>می‌کند</a:t>
            </a:r>
            <a:r>
              <a:rPr lang="fa-IR" sz="1800" dirty="0"/>
              <a:t> که:</a:t>
            </a:r>
            <a:endParaRPr lang="en-US" sz="17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8786"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3NF Decomposition: An Example</a:t>
            </a:r>
          </a:p>
        </p:txBody>
      </p:sp>
      <mc:AlternateContent xmlns:mc="http://schemas.openxmlformats.org/markup-compatibility/2006" xmlns:a14="http://schemas.microsoft.com/office/drawing/2010/main">
        <mc:Choice Requires="a14">
          <p:sp>
            <p:nvSpPr>
              <p:cNvPr id="75779" name="Rectangle 3"/>
              <p:cNvSpPr>
                <a:spLocks noGrp="1" noChangeArrowheads="1"/>
              </p:cNvSpPr>
              <p:nvPr>
                <p:ph idx="1"/>
              </p:nvPr>
            </p:nvSpPr>
            <p:spPr>
              <a:xfrm>
                <a:off x="200416" y="1115510"/>
                <a:ext cx="8830850" cy="4202446"/>
              </a:xfrm>
            </p:spPr>
            <p:txBody>
              <a:bodyPr/>
              <a:lstStyle/>
              <a:p>
                <a:pPr algn="r" rtl="1"/>
                <a:r>
                  <a:rPr lang="fa-IR" dirty="0"/>
                  <a:t>طرح </a:t>
                </a:r>
                <a:r>
                  <a:rPr lang="fa-IR" dirty="0" err="1"/>
                  <a:t>رابطه‌ای</a:t>
                </a:r>
                <a:r>
                  <a:rPr lang="fa-IR" dirty="0"/>
                  <a:t>:</a:t>
                </a:r>
                <a:br>
                  <a:rPr lang="fa-IR" dirty="0"/>
                </a:br>
                <a:r>
                  <a:rPr lang="en-US" b="1" dirty="0" err="1"/>
                  <a:t>cust_banker_branch</a:t>
                </a:r>
                <a:r>
                  <a:rPr lang="en-US" dirty="0"/>
                  <a:t> = (</a:t>
                </a:r>
                <a:r>
                  <a:rPr lang="en-US" dirty="0" err="1"/>
                  <a:t>customer_id</a:t>
                </a:r>
                <a:r>
                  <a:rPr lang="en-US" dirty="0"/>
                  <a:t>, </a:t>
                </a:r>
                <a:r>
                  <a:rPr lang="en-US" dirty="0" err="1"/>
                  <a:t>employee_id</a:t>
                </a:r>
                <a:r>
                  <a:rPr lang="en-US" dirty="0"/>
                  <a:t>, </a:t>
                </a:r>
                <a:r>
                  <a:rPr lang="en-US" dirty="0" err="1"/>
                  <a:t>branch_name</a:t>
                </a:r>
                <a:r>
                  <a:rPr lang="en-US" dirty="0"/>
                  <a:t>, type)</a:t>
                </a:r>
              </a:p>
              <a:p>
                <a:pPr algn="r" rtl="1"/>
                <a:r>
                  <a:rPr lang="fa-IR" dirty="0" err="1"/>
                  <a:t>وابستگی‌های</a:t>
                </a:r>
                <a:r>
                  <a:rPr lang="fa-IR" dirty="0"/>
                  <a:t> </a:t>
                </a:r>
                <a:r>
                  <a:rPr lang="fa-IR" dirty="0" err="1"/>
                  <a:t>تابعی</a:t>
                </a:r>
                <a:r>
                  <a:rPr lang="fa-IR" dirty="0"/>
                  <a:t> برای این طرح </a:t>
                </a:r>
                <a:r>
                  <a:rPr lang="fa-IR" dirty="0" err="1"/>
                  <a:t>رابطه‌ای</a:t>
                </a:r>
                <a:r>
                  <a:rPr lang="fa-IR" dirty="0"/>
                  <a:t> عبارتند از:</a:t>
                </a:r>
              </a:p>
              <a:p>
                <a:pPr algn="r" rtl="1"/>
                <a:r>
                  <a:rPr lang="en-US" dirty="0" err="1"/>
                  <a:t>customer_id</a:t>
                </a:r>
                <a:r>
                  <a:rPr lang="en-US" dirty="0"/>
                  <a:t>, </a:t>
                </a:r>
                <a:r>
                  <a:rPr lang="en-US" dirty="0" err="1"/>
                  <a:t>employee_id</a:t>
                </a:r>
                <a:r>
                  <a:rPr lang="en-US" dirty="0"/>
                  <a:t> → </a:t>
                </a:r>
                <a:r>
                  <a:rPr lang="en-US" dirty="0" err="1"/>
                  <a:t>branch_name</a:t>
                </a:r>
                <a:r>
                  <a:rPr lang="en-US" dirty="0"/>
                  <a:t>, type</a:t>
                </a:r>
              </a:p>
              <a:p>
                <a:pPr algn="r" rtl="1"/>
                <a:r>
                  <a:rPr lang="en-US" dirty="0" err="1"/>
                  <a:t>employee_id</a:t>
                </a:r>
                <a:r>
                  <a:rPr lang="en-US" dirty="0"/>
                  <a:t> → </a:t>
                </a:r>
                <a:r>
                  <a:rPr lang="en-US" dirty="0" err="1"/>
                  <a:t>branch_name</a:t>
                </a:r>
                <a:endParaRPr lang="en-US" dirty="0"/>
              </a:p>
              <a:p>
                <a:pPr algn="r" rtl="1"/>
                <a:r>
                  <a:rPr lang="en-US" dirty="0" err="1"/>
                  <a:t>customer_id</a:t>
                </a:r>
                <a:r>
                  <a:rPr lang="en-US" dirty="0"/>
                  <a:t>, </a:t>
                </a:r>
                <a:r>
                  <a:rPr lang="en-US" dirty="0" err="1"/>
                  <a:t>branch_name</a:t>
                </a:r>
                <a:r>
                  <a:rPr lang="en-US" dirty="0"/>
                  <a:t> → </a:t>
                </a:r>
                <a:r>
                  <a:rPr lang="en-US" dirty="0" err="1"/>
                  <a:t>employee_id</a:t>
                </a:r>
                <a:endParaRPr lang="en-US" dirty="0"/>
              </a:p>
              <a:p>
                <a:pPr algn="r" rtl="1"/>
                <a:r>
                  <a:rPr lang="fa-IR" dirty="0"/>
                  <a:t>ابتدا یک </a:t>
                </a:r>
                <a:r>
                  <a:rPr lang="fa-IR" b="1" dirty="0"/>
                  <a:t>پوشش کانونی (</a:t>
                </a:r>
                <a:r>
                  <a:rPr lang="en-US" b="1" dirty="0"/>
                  <a:t>canonical cover)</a:t>
                </a:r>
                <a:r>
                  <a:rPr lang="en-US" dirty="0"/>
                  <a:t> </a:t>
                </a:r>
                <a:r>
                  <a:rPr lang="fa-IR" dirty="0"/>
                  <a:t>محاسبه </a:t>
                </a:r>
                <a:r>
                  <a:rPr lang="fa-IR" dirty="0" err="1"/>
                  <a:t>می‌کنیم</a:t>
                </a:r>
                <a:r>
                  <a:rPr lang="fa-IR" dirty="0"/>
                  <a:t>:</a:t>
                </a:r>
              </a:p>
              <a:p>
                <a:pPr algn="r" rtl="1"/>
                <a:r>
                  <a:rPr lang="en-US" dirty="0" err="1"/>
                  <a:t>branch_name</a:t>
                </a:r>
                <a:r>
                  <a:rPr lang="en-US" dirty="0"/>
                  <a:t> </a:t>
                </a:r>
                <a:r>
                  <a:rPr lang="fa-IR" dirty="0"/>
                  <a:t>در سمت راست وابستگی اول </a:t>
                </a:r>
                <a:r>
                  <a:rPr lang="fa-IR" dirty="0" err="1"/>
                  <a:t>غیرضروری</a:t>
                </a:r>
                <a:r>
                  <a:rPr lang="fa-IR" dirty="0"/>
                  <a:t> است.</a:t>
                </a:r>
              </a:p>
              <a:p>
                <a:pPr algn="r" rtl="1"/>
                <a:r>
                  <a:rPr lang="fa-IR" dirty="0"/>
                  <a:t>هیچ صفت دیگری </a:t>
                </a:r>
                <a:r>
                  <a:rPr lang="fa-IR" dirty="0" err="1"/>
                  <a:t>غیرضروری</a:t>
                </a:r>
                <a:r>
                  <a:rPr lang="fa-IR" dirty="0"/>
                  <a:t> نیست، بنابراین پوشش کانونی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𝐶</m:t>
                        </m:r>
                      </m:sub>
                    </m:sSub>
                  </m:oMath>
                </a14:m>
                <a:r>
                  <a:rPr lang="fa-IR" dirty="0"/>
                  <a:t>به صورت زیر است:</a:t>
                </a:r>
              </a:p>
              <a:p>
                <a:pPr lvl="1" algn="r" rtl="1"/>
                <a:r>
                  <a:rPr lang="en-US" dirty="0" err="1"/>
                  <a:t>customer_id</a:t>
                </a:r>
                <a:r>
                  <a:rPr lang="en-US" dirty="0"/>
                  <a:t>, </a:t>
                </a:r>
                <a:r>
                  <a:rPr lang="en-US" dirty="0" err="1"/>
                  <a:t>employee_id</a:t>
                </a:r>
                <a:r>
                  <a:rPr lang="en-US" dirty="0"/>
                  <a:t> → type</a:t>
                </a:r>
              </a:p>
              <a:p>
                <a:pPr lvl="1" algn="r" rtl="1"/>
                <a:r>
                  <a:rPr lang="en-US" dirty="0" err="1"/>
                  <a:t>employee_id</a:t>
                </a:r>
                <a:r>
                  <a:rPr lang="en-US" dirty="0"/>
                  <a:t> → </a:t>
                </a:r>
                <a:r>
                  <a:rPr lang="en-US" dirty="0" err="1"/>
                  <a:t>branch_name</a:t>
                </a:r>
                <a:endParaRPr lang="en-US" dirty="0"/>
              </a:p>
              <a:p>
                <a:pPr lvl="1" algn="r" rtl="1"/>
                <a:r>
                  <a:rPr lang="en-US" dirty="0" err="1"/>
                  <a:t>customer_id</a:t>
                </a:r>
                <a:r>
                  <a:rPr lang="en-US" dirty="0"/>
                  <a:t>, </a:t>
                </a:r>
                <a:r>
                  <a:rPr lang="en-US" dirty="0" err="1"/>
                  <a:t>branch_name</a:t>
                </a:r>
                <a:r>
                  <a:rPr lang="en-US" dirty="0"/>
                  <a:t> → </a:t>
                </a:r>
                <a:r>
                  <a:rPr lang="en-US" dirty="0" err="1"/>
                  <a:t>employee_id</a:t>
                </a:r>
                <a:endParaRPr lang="en-US" dirty="0"/>
              </a:p>
              <a:p>
                <a:pPr marL="800100" lvl="1" indent="-342900" algn="r" rtl="1">
                  <a:buFont typeface="Monotype Sorts" pitchFamily="-84" charset="2"/>
                  <a:buNone/>
                  <a:tabLst>
                    <a:tab pos="1027113" algn="l"/>
                    <a:tab pos="2857500" algn="ctr"/>
                    <a:tab pos="3036888" algn="l"/>
                  </a:tabLst>
                </a:pPr>
                <a:endParaRPr lang="en-US" altLang="en-US" dirty="0">
                  <a:sym typeface="Wingdings" panose="05000000000000000000" pitchFamily="2" charset="2"/>
                </a:endParaRPr>
              </a:p>
            </p:txBody>
          </p:sp>
        </mc:Choice>
        <mc:Fallback xmlns="">
          <p:sp>
            <p:nvSpPr>
              <p:cNvPr id="75779" name="Rectangle 3"/>
              <p:cNvSpPr>
                <a:spLocks noGrp="1" noRot="1" noChangeAspect="1" noMove="1" noResize="1" noEditPoints="1" noAdjustHandles="1" noChangeArrowheads="1" noChangeShapeType="1" noTextEdit="1"/>
              </p:cNvSpPr>
              <p:nvPr>
                <p:ph idx="1"/>
              </p:nvPr>
            </p:nvSpPr>
            <p:spPr>
              <a:xfrm>
                <a:off x="200416" y="1115510"/>
                <a:ext cx="8830850" cy="4202446"/>
              </a:xfrm>
              <a:blipFill>
                <a:blip r:embed="rId3"/>
                <a:stretch>
                  <a:fillRect t="-2032" r="-759" b="-17562"/>
                </a:stretch>
              </a:blipFill>
            </p:spPr>
            <p:txBody>
              <a:bodyPr/>
              <a:lstStyle/>
              <a:p>
                <a:r>
                  <a:rPr lang="en-US">
                    <a:noFill/>
                  </a:rPr>
                  <a:t> </a:t>
                </a:r>
              </a:p>
            </p:txBody>
          </p:sp>
        </mc:Fallback>
      </mc:AlternateContent>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0834"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3NF Decompsition Example (Cont.)</a:t>
            </a:r>
          </a:p>
        </p:txBody>
      </p:sp>
      <p:sp>
        <p:nvSpPr>
          <p:cNvPr id="760835" name="Rectangle 3"/>
          <p:cNvSpPr>
            <a:spLocks noGrp="1" noChangeArrowheads="1"/>
          </p:cNvSpPr>
          <p:nvPr>
            <p:ph idx="1"/>
          </p:nvPr>
        </p:nvSpPr>
        <p:spPr>
          <a:xfrm>
            <a:off x="768350" y="1171852"/>
            <a:ext cx="7617661" cy="4434864"/>
          </a:xfrm>
        </p:spPr>
        <p:txBody>
          <a:bodyPr/>
          <a:lstStyle/>
          <a:p>
            <a:pPr algn="r" rtl="1"/>
            <a:r>
              <a:rPr lang="fa-IR" dirty="0"/>
              <a:t>حلقه </a:t>
            </a:r>
            <a:r>
              <a:rPr lang="en-US" b="1" dirty="0"/>
              <a:t>for</a:t>
            </a:r>
            <a:r>
              <a:rPr lang="en-US" dirty="0"/>
              <a:t> </a:t>
            </a:r>
            <a:r>
              <a:rPr lang="fa-IR" dirty="0" err="1"/>
              <a:t>طرح‌های</a:t>
            </a:r>
            <a:r>
              <a:rPr lang="fa-IR" dirty="0"/>
              <a:t> 3</a:t>
            </a:r>
            <a:r>
              <a:rPr lang="en-US" dirty="0"/>
              <a:t>NF </a:t>
            </a:r>
            <a:r>
              <a:rPr lang="fa-IR" dirty="0"/>
              <a:t>زیر را تولید </a:t>
            </a:r>
            <a:r>
              <a:rPr lang="fa-IR" dirty="0" err="1"/>
              <a:t>می‌کند</a:t>
            </a:r>
            <a:r>
              <a:rPr lang="fa-IR" dirty="0"/>
              <a:t>:</a:t>
            </a:r>
          </a:p>
          <a:p>
            <a:pPr algn="r" rtl="1"/>
            <a:r>
              <a:rPr lang="fa-IR" dirty="0"/>
              <a:t>(</a:t>
            </a:r>
            <a:r>
              <a:rPr lang="en-US" dirty="0" err="1"/>
              <a:t>customer_id</a:t>
            </a:r>
            <a:r>
              <a:rPr lang="en-US" dirty="0"/>
              <a:t>, </a:t>
            </a:r>
            <a:r>
              <a:rPr lang="en-US" dirty="0" err="1"/>
              <a:t>employee_id</a:t>
            </a:r>
            <a:r>
              <a:rPr lang="en-US" dirty="0"/>
              <a:t>, type)</a:t>
            </a:r>
          </a:p>
          <a:p>
            <a:pPr algn="r" rtl="1"/>
            <a:r>
              <a:rPr lang="en-US" dirty="0"/>
              <a:t>(</a:t>
            </a:r>
            <a:r>
              <a:rPr lang="en-US" dirty="0" err="1"/>
              <a:t>employee_id</a:t>
            </a:r>
            <a:r>
              <a:rPr lang="en-US" dirty="0"/>
              <a:t>, </a:t>
            </a:r>
            <a:r>
              <a:rPr lang="en-US" dirty="0" err="1"/>
              <a:t>branch_name</a:t>
            </a:r>
            <a:r>
              <a:rPr lang="en-US" dirty="0"/>
              <a:t>)</a:t>
            </a:r>
          </a:p>
          <a:p>
            <a:pPr algn="r" rtl="1"/>
            <a:r>
              <a:rPr lang="en-US" dirty="0"/>
              <a:t>(</a:t>
            </a:r>
            <a:r>
              <a:rPr lang="en-US" dirty="0" err="1"/>
              <a:t>customer_id</a:t>
            </a:r>
            <a:r>
              <a:rPr lang="en-US" dirty="0"/>
              <a:t>, </a:t>
            </a:r>
            <a:r>
              <a:rPr lang="en-US" dirty="0" err="1"/>
              <a:t>branch_name</a:t>
            </a:r>
            <a:r>
              <a:rPr lang="en-US" dirty="0"/>
              <a:t>, </a:t>
            </a:r>
            <a:r>
              <a:rPr lang="en-US" dirty="0" err="1"/>
              <a:t>employee_id</a:t>
            </a:r>
            <a:r>
              <a:rPr lang="en-US" dirty="0"/>
              <a:t>)</a:t>
            </a:r>
          </a:p>
          <a:p>
            <a:pPr algn="r" rtl="1"/>
            <a:r>
              <a:rPr lang="fa-IR" dirty="0"/>
              <a:t>توجه کنید که (</a:t>
            </a:r>
            <a:r>
              <a:rPr lang="en-US" dirty="0" err="1"/>
              <a:t>customer_id</a:t>
            </a:r>
            <a:r>
              <a:rPr lang="en-US" dirty="0"/>
              <a:t>, </a:t>
            </a:r>
            <a:r>
              <a:rPr lang="en-US" dirty="0" err="1"/>
              <a:t>employee_id</a:t>
            </a:r>
            <a:r>
              <a:rPr lang="en-US" dirty="0"/>
              <a:t>, type) </a:t>
            </a:r>
            <a:r>
              <a:rPr lang="fa-IR" dirty="0"/>
              <a:t>شامل یک </a:t>
            </a:r>
            <a:r>
              <a:rPr lang="fa-IR" b="1" dirty="0"/>
              <a:t>کلید کاندید</a:t>
            </a:r>
            <a:r>
              <a:rPr lang="fa-IR" dirty="0"/>
              <a:t> از طرح </a:t>
            </a:r>
            <a:r>
              <a:rPr lang="fa-IR" dirty="0" err="1"/>
              <a:t>رابطه‌ای</a:t>
            </a:r>
            <a:r>
              <a:rPr lang="fa-IR" dirty="0"/>
              <a:t> اصلی است، بنابراین نیازی به اضافه کردن طرح </a:t>
            </a:r>
            <a:r>
              <a:rPr lang="fa-IR" dirty="0" err="1"/>
              <a:t>رابطه‌ای</a:t>
            </a:r>
            <a:r>
              <a:rPr lang="fa-IR" dirty="0"/>
              <a:t> دیگری نیست.</a:t>
            </a:r>
          </a:p>
          <a:p>
            <a:pPr algn="r" rtl="1"/>
            <a:r>
              <a:rPr lang="fa-IR" dirty="0"/>
              <a:t>در پایان حلقه </a:t>
            </a:r>
            <a:r>
              <a:rPr lang="en-US" b="1" dirty="0"/>
              <a:t>for</a:t>
            </a:r>
            <a:r>
              <a:rPr lang="en-US" dirty="0"/>
              <a:t>، </a:t>
            </a:r>
            <a:r>
              <a:rPr lang="fa-IR" dirty="0" err="1"/>
              <a:t>طرح‌هایی</a:t>
            </a:r>
            <a:r>
              <a:rPr lang="fa-IR" dirty="0"/>
              <a:t> مانند (</a:t>
            </a:r>
            <a:r>
              <a:rPr lang="en-US" dirty="0" err="1"/>
              <a:t>employee_id</a:t>
            </a:r>
            <a:r>
              <a:rPr lang="en-US" dirty="0"/>
              <a:t>, </a:t>
            </a:r>
            <a:r>
              <a:rPr lang="en-US" dirty="0" err="1"/>
              <a:t>branch_name</a:t>
            </a:r>
            <a:r>
              <a:rPr lang="en-US" dirty="0"/>
              <a:t>) </a:t>
            </a:r>
            <a:r>
              <a:rPr lang="fa-IR" dirty="0"/>
              <a:t>که </a:t>
            </a:r>
            <a:r>
              <a:rPr lang="fa-IR" dirty="0" err="1"/>
              <a:t>زیرمجموعه‌ای</a:t>
            </a:r>
            <a:r>
              <a:rPr lang="fa-IR" dirty="0"/>
              <a:t> از دیگر </a:t>
            </a:r>
            <a:r>
              <a:rPr lang="fa-IR" dirty="0" err="1"/>
              <a:t>طرح‌ها</a:t>
            </a:r>
            <a:r>
              <a:rPr lang="fa-IR" dirty="0"/>
              <a:t> هستند شناسایی و حذف </a:t>
            </a:r>
            <a:r>
              <a:rPr lang="fa-IR" dirty="0" err="1"/>
              <a:t>می‌شوند</a:t>
            </a:r>
            <a:r>
              <a:rPr lang="fa-IR" dirty="0"/>
              <a:t>.</a:t>
            </a:r>
          </a:p>
          <a:p>
            <a:pPr algn="r" rtl="1"/>
            <a:r>
              <a:rPr lang="fa-IR" dirty="0"/>
              <a:t>نتیجه وابسته به ترتیب بررسی </a:t>
            </a:r>
            <a:r>
              <a:rPr lang="fa-IR" dirty="0" err="1"/>
              <a:t>وابستگی‌های</a:t>
            </a:r>
            <a:r>
              <a:rPr lang="fa-IR" dirty="0"/>
              <a:t> </a:t>
            </a:r>
            <a:r>
              <a:rPr lang="fa-IR" dirty="0" err="1"/>
              <a:t>تابعی</a:t>
            </a:r>
            <a:r>
              <a:rPr lang="fa-IR" dirty="0"/>
              <a:t> نخواهد بود.</a:t>
            </a:r>
          </a:p>
          <a:p>
            <a:pPr algn="r" rtl="1"/>
            <a:r>
              <a:rPr lang="fa-IR" b="1" dirty="0"/>
              <a:t>طرح 3</a:t>
            </a:r>
            <a:r>
              <a:rPr lang="en-US" b="1" dirty="0"/>
              <a:t>NF </a:t>
            </a:r>
            <a:r>
              <a:rPr lang="fa-IR" b="1" dirty="0"/>
              <a:t>نهایی و </a:t>
            </a:r>
            <a:r>
              <a:rPr lang="fa-IR" b="1" dirty="0" err="1"/>
              <a:t>ساده‌شده</a:t>
            </a:r>
            <a:r>
              <a:rPr lang="fa-IR" dirty="0"/>
              <a:t> عبارت است از:</a:t>
            </a:r>
          </a:p>
          <a:p>
            <a:pPr algn="r" rtl="1"/>
            <a:r>
              <a:rPr lang="fa-IR" dirty="0"/>
              <a:t>(</a:t>
            </a:r>
            <a:r>
              <a:rPr lang="en-US" dirty="0" err="1"/>
              <a:t>customer_id</a:t>
            </a:r>
            <a:r>
              <a:rPr lang="en-US" dirty="0"/>
              <a:t>, </a:t>
            </a:r>
            <a:r>
              <a:rPr lang="en-US" dirty="0" err="1"/>
              <a:t>employee_id</a:t>
            </a:r>
            <a:r>
              <a:rPr lang="en-US" dirty="0"/>
              <a:t>, type)</a:t>
            </a:r>
          </a:p>
          <a:p>
            <a:pPr algn="r" rtl="1"/>
            <a:r>
              <a:rPr lang="en-US" dirty="0"/>
              <a:t>(</a:t>
            </a:r>
            <a:r>
              <a:rPr lang="en-US" dirty="0" err="1"/>
              <a:t>customer_id</a:t>
            </a:r>
            <a:r>
              <a:rPr lang="en-US" dirty="0"/>
              <a:t>, </a:t>
            </a:r>
            <a:r>
              <a:rPr lang="en-US" dirty="0" err="1"/>
              <a:t>branch_name</a:t>
            </a:r>
            <a:r>
              <a:rPr lang="en-US" dirty="0"/>
              <a:t>, </a:t>
            </a:r>
            <a:r>
              <a:rPr lang="en-US" dirty="0" err="1"/>
              <a:t>employee_id</a:t>
            </a:r>
            <a:r>
              <a:rPr lang="en-US" dirty="0"/>
              <a:t>)</a:t>
            </a:r>
          </a:p>
          <a:p>
            <a:pPr algn="r" rtl="1"/>
            <a:endParaRPr lang="en-US" altLang="en-US" i="1"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2882"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Comparison of BCNF and 3NF</a:t>
            </a:r>
          </a:p>
        </p:txBody>
      </p:sp>
      <p:sp>
        <p:nvSpPr>
          <p:cNvPr id="77827" name="Rectangle 3"/>
          <p:cNvSpPr>
            <a:spLocks noGrp="1" noChangeArrowheads="1"/>
          </p:cNvSpPr>
          <p:nvPr>
            <p:ph idx="1"/>
          </p:nvPr>
        </p:nvSpPr>
        <p:spPr>
          <a:xfrm>
            <a:off x="768350" y="1093789"/>
            <a:ext cx="7629692" cy="2970211"/>
          </a:xfrm>
        </p:spPr>
        <p:txBody>
          <a:bodyPr/>
          <a:lstStyle/>
          <a:p>
            <a:pPr algn="r" rtl="1"/>
            <a:r>
              <a:rPr lang="fa-IR" dirty="0"/>
              <a:t>همیشه امکان دارد یک رابطه را به </a:t>
            </a:r>
            <a:r>
              <a:rPr lang="fa-IR" dirty="0" err="1"/>
              <a:t>مجموعه‌ای</a:t>
            </a:r>
            <a:r>
              <a:rPr lang="fa-IR" dirty="0"/>
              <a:t> از روابط تجزیه کنیم که در </a:t>
            </a:r>
            <a:r>
              <a:rPr lang="fa-IR" b="1" dirty="0"/>
              <a:t>3</a:t>
            </a:r>
            <a:r>
              <a:rPr lang="en-US" b="1" dirty="0"/>
              <a:t>NF</a:t>
            </a:r>
            <a:r>
              <a:rPr lang="en-US" dirty="0"/>
              <a:t> </a:t>
            </a:r>
            <a:r>
              <a:rPr lang="fa-IR" dirty="0"/>
              <a:t>باشند، </a:t>
            </a:r>
            <a:r>
              <a:rPr lang="fa-IR" dirty="0" err="1"/>
              <a:t>به‌گونه‌ای</a:t>
            </a:r>
            <a:r>
              <a:rPr lang="fa-IR" dirty="0"/>
              <a:t> که:</a:t>
            </a:r>
          </a:p>
          <a:p>
            <a:pPr algn="r" rtl="1"/>
            <a:r>
              <a:rPr lang="fa-IR" dirty="0"/>
              <a:t>تجزیه </a:t>
            </a:r>
            <a:r>
              <a:rPr lang="fa-IR" b="1" dirty="0"/>
              <a:t>بدون از دست دادن اطلاعات (</a:t>
            </a:r>
            <a:r>
              <a:rPr lang="en-US" b="1" dirty="0"/>
              <a:t>lossless)</a:t>
            </a:r>
            <a:r>
              <a:rPr lang="en-US" dirty="0"/>
              <a:t> </a:t>
            </a:r>
            <a:r>
              <a:rPr lang="fa-IR" dirty="0"/>
              <a:t>باشد،</a:t>
            </a:r>
          </a:p>
          <a:p>
            <a:pPr algn="r" rtl="1"/>
            <a:r>
              <a:rPr lang="fa-IR" dirty="0" err="1"/>
              <a:t>وابستگی‌ها</a:t>
            </a:r>
            <a:r>
              <a:rPr lang="fa-IR" dirty="0"/>
              <a:t> </a:t>
            </a:r>
            <a:r>
              <a:rPr lang="fa-IR" b="1" dirty="0"/>
              <a:t>حفظ شوند</a:t>
            </a:r>
            <a:r>
              <a:rPr lang="fa-IR" dirty="0"/>
              <a:t>.</a:t>
            </a:r>
          </a:p>
          <a:p>
            <a:pPr algn="r" rtl="1"/>
            <a:r>
              <a:rPr lang="fa-IR" dirty="0"/>
              <a:t>همیشه امکان دارد یک رابطه را به </a:t>
            </a:r>
            <a:r>
              <a:rPr lang="fa-IR" dirty="0" err="1"/>
              <a:t>مجموعه‌ای</a:t>
            </a:r>
            <a:r>
              <a:rPr lang="fa-IR" dirty="0"/>
              <a:t> از روابط تجزیه کنیم که در </a:t>
            </a:r>
            <a:r>
              <a:rPr lang="en-US" b="1" dirty="0"/>
              <a:t>BCNF</a:t>
            </a:r>
            <a:r>
              <a:rPr lang="en-US" dirty="0"/>
              <a:t> </a:t>
            </a:r>
            <a:r>
              <a:rPr lang="fa-IR" dirty="0"/>
              <a:t>باشند، </a:t>
            </a:r>
            <a:r>
              <a:rPr lang="fa-IR" dirty="0" err="1"/>
              <a:t>به‌گونه‌ای</a:t>
            </a:r>
            <a:r>
              <a:rPr lang="fa-IR" dirty="0"/>
              <a:t> که:</a:t>
            </a:r>
          </a:p>
          <a:p>
            <a:pPr algn="r" rtl="1"/>
            <a:r>
              <a:rPr lang="fa-IR" dirty="0"/>
              <a:t>تجزیه </a:t>
            </a:r>
            <a:r>
              <a:rPr lang="fa-IR" b="1" dirty="0"/>
              <a:t>بدون از دست دادن اطلاعات (</a:t>
            </a:r>
            <a:r>
              <a:rPr lang="en-US" b="1" dirty="0"/>
              <a:t>lossless)</a:t>
            </a:r>
            <a:r>
              <a:rPr lang="en-US" dirty="0"/>
              <a:t> </a:t>
            </a:r>
            <a:r>
              <a:rPr lang="fa-IR" dirty="0"/>
              <a:t>باشد،</a:t>
            </a:r>
          </a:p>
          <a:p>
            <a:pPr algn="r" rtl="1"/>
            <a:r>
              <a:rPr lang="fa-IR" dirty="0"/>
              <a:t>ممکن است نتوان </a:t>
            </a:r>
            <a:r>
              <a:rPr lang="fa-IR" dirty="0" err="1"/>
              <a:t>وابستگی‌ها</a:t>
            </a:r>
            <a:r>
              <a:rPr lang="fa-IR" dirty="0"/>
              <a:t> را </a:t>
            </a:r>
            <a:r>
              <a:rPr lang="fa-IR" b="1" dirty="0"/>
              <a:t>حفظ کرد</a:t>
            </a:r>
            <a:r>
              <a:rPr lang="fa-IR" dirty="0"/>
              <a:t>.</a:t>
            </a:r>
          </a:p>
          <a:p>
            <a:pPr lvl="1" algn="r" rtl="1"/>
            <a:endParaRPr lang="en-US" altLang="en-US" dirty="0"/>
          </a:p>
        </p:txBody>
      </p:sp>
      <p:sp>
        <p:nvSpPr>
          <p:cNvPr id="77828" name="Rectangle 4"/>
          <p:cNvSpPr>
            <a:spLocks noChangeArrowheads="1"/>
          </p:cNvSpPr>
          <p:nvPr/>
        </p:nvSpPr>
        <p:spPr bwMode="auto">
          <a:xfrm>
            <a:off x="596900" y="4064000"/>
            <a:ext cx="7283450" cy="2590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tabLst>
                <a:tab pos="684213" algn="l"/>
              </a:tabLst>
              <a:defRPr sz="1600">
                <a:solidFill>
                  <a:schemeClr val="tx1"/>
                </a:solidFill>
                <a:latin typeface="Helvetica" panose="020B0604020202020204" pitchFamily="34" charset="0"/>
                <a:ea typeface="MS PGothic" panose="020B0600070205080204" pitchFamily="34" charset="-128"/>
              </a:defRPr>
            </a:lvl1pPr>
            <a:lvl2pPr marL="742950" indent="-285750">
              <a:tabLst>
                <a:tab pos="684213" algn="l"/>
              </a:tabLst>
              <a:defRPr sz="1600">
                <a:solidFill>
                  <a:schemeClr val="tx1"/>
                </a:solidFill>
                <a:latin typeface="Helvetica" panose="020B0604020202020204" pitchFamily="34" charset="0"/>
                <a:ea typeface="MS PGothic" panose="020B0600070205080204" pitchFamily="34" charset="-128"/>
              </a:defRPr>
            </a:lvl2pPr>
            <a:lvl3pPr marL="1143000" indent="-228600">
              <a:tabLst>
                <a:tab pos="684213" algn="l"/>
              </a:tabLst>
              <a:defRPr sz="1600">
                <a:solidFill>
                  <a:schemeClr val="tx1"/>
                </a:solidFill>
                <a:latin typeface="Helvetica" panose="020B0604020202020204" pitchFamily="34" charset="0"/>
                <a:ea typeface="MS PGothic" panose="020B0600070205080204" pitchFamily="34" charset="-128"/>
              </a:defRPr>
            </a:lvl3pPr>
            <a:lvl4pPr marL="1600200" indent="-228600">
              <a:tabLst>
                <a:tab pos="684213" algn="l"/>
              </a:tabLst>
              <a:defRPr sz="1600">
                <a:solidFill>
                  <a:schemeClr val="tx1"/>
                </a:solidFill>
                <a:latin typeface="Helvetica" panose="020B0604020202020204" pitchFamily="34" charset="0"/>
                <a:ea typeface="MS PGothic" panose="020B0600070205080204" pitchFamily="34" charset="-128"/>
              </a:defRPr>
            </a:lvl4pPr>
            <a:lvl5pPr marL="2057400" indent="-228600">
              <a:tabLst>
                <a:tab pos="684213" algn="l"/>
              </a:tabLst>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tabLst>
                <a:tab pos="684213" algn="l"/>
              </a:tabLs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tabLst>
                <a:tab pos="684213" algn="l"/>
              </a:tabLs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tabLst>
                <a:tab pos="684213" algn="l"/>
              </a:tabLs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tabLst>
                <a:tab pos="684213" algn="l"/>
              </a:tabLst>
              <a:defRPr sz="1600">
                <a:solidFill>
                  <a:schemeClr val="tx1"/>
                </a:solidFill>
                <a:latin typeface="Helvetica" panose="020B0604020202020204" pitchFamily="34" charset="0"/>
                <a:ea typeface="MS PGothic" panose="020B0600070205080204" pitchFamily="34" charset="-128"/>
              </a:defRPr>
            </a:lvl9pPr>
          </a:lstStyle>
          <a:p>
            <a:pPr>
              <a:spcBef>
                <a:spcPct val="35000"/>
              </a:spcBef>
              <a:buClr>
                <a:schemeClr val="tx2"/>
              </a:buClr>
              <a:buSzPct val="90000"/>
              <a:buFont typeface="Monotype Sorts" pitchFamily="-84" charset="2"/>
              <a:buChar char="n"/>
            </a:pPr>
            <a:endParaRPr kumimoji="1" lang="en-US" altLang="en-US" sz="1800" i="1">
              <a:sym typeface="Monotype Sorts" pitchFamily="-84" charset="2"/>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4930"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Design Goals</a:t>
            </a:r>
          </a:p>
        </p:txBody>
      </p:sp>
      <p:sp>
        <p:nvSpPr>
          <p:cNvPr id="78851" name="Rectangle 3"/>
          <p:cNvSpPr>
            <a:spLocks noGrp="1" noChangeArrowheads="1"/>
          </p:cNvSpPr>
          <p:nvPr>
            <p:ph idx="1"/>
          </p:nvPr>
        </p:nvSpPr>
        <p:spPr>
          <a:xfrm>
            <a:off x="243170" y="1333265"/>
            <a:ext cx="8657660" cy="4693402"/>
          </a:xfrm>
        </p:spPr>
        <p:txBody>
          <a:bodyPr/>
          <a:lstStyle/>
          <a:p>
            <a:pPr algn="r" rtl="1"/>
            <a:r>
              <a:rPr lang="fa-IR" dirty="0"/>
              <a:t>هدف از طراحی پایگاه داده </a:t>
            </a:r>
            <a:r>
              <a:rPr lang="fa-IR" dirty="0" err="1"/>
              <a:t>رابطه‌ای</a:t>
            </a:r>
            <a:r>
              <a:rPr lang="fa-IR" dirty="0"/>
              <a:t> عبارت است از:</a:t>
            </a:r>
          </a:p>
          <a:p>
            <a:pPr algn="r" rtl="1"/>
            <a:r>
              <a:rPr lang="en-US" dirty="0"/>
              <a:t>BCNF</a:t>
            </a:r>
          </a:p>
          <a:p>
            <a:pPr algn="r" rtl="1"/>
            <a:r>
              <a:rPr lang="en-US" b="1" dirty="0"/>
              <a:t>Join </a:t>
            </a:r>
            <a:r>
              <a:rPr lang="fa-IR" b="1" dirty="0"/>
              <a:t>بدون از دست دادن اطلاعات (</a:t>
            </a:r>
            <a:r>
              <a:rPr lang="en-US" b="1" dirty="0"/>
              <a:t>Lossless join)</a:t>
            </a:r>
            <a:endParaRPr lang="en-US" dirty="0"/>
          </a:p>
          <a:p>
            <a:pPr algn="r" rtl="1"/>
            <a:r>
              <a:rPr lang="fa-IR" b="1" dirty="0"/>
              <a:t>حفظ </a:t>
            </a:r>
            <a:r>
              <a:rPr lang="fa-IR" b="1" dirty="0" err="1"/>
              <a:t>وابستگی‌ها</a:t>
            </a:r>
            <a:r>
              <a:rPr lang="fa-IR" b="1" dirty="0"/>
              <a:t> (</a:t>
            </a:r>
            <a:r>
              <a:rPr lang="en-US" b="1" dirty="0"/>
              <a:t>Dependency preservation)</a:t>
            </a:r>
            <a:endParaRPr lang="en-US" dirty="0"/>
          </a:p>
          <a:p>
            <a:pPr algn="r" rtl="1"/>
            <a:r>
              <a:rPr lang="fa-IR" dirty="0"/>
              <a:t>اگر نتوانیم به این </a:t>
            </a:r>
            <a:r>
              <a:rPr lang="fa-IR" dirty="0" err="1"/>
              <a:t>هدف‌ها</a:t>
            </a:r>
            <a:r>
              <a:rPr lang="fa-IR" dirty="0"/>
              <a:t> برسیم، یکی از موارد زیر را </a:t>
            </a:r>
            <a:r>
              <a:rPr lang="fa-IR" dirty="0" err="1"/>
              <a:t>می‌پذیریم</a:t>
            </a:r>
            <a:r>
              <a:rPr lang="fa-IR" dirty="0"/>
              <a:t>:</a:t>
            </a:r>
          </a:p>
          <a:p>
            <a:pPr algn="r" rtl="1"/>
            <a:r>
              <a:rPr lang="fa-IR" dirty="0"/>
              <a:t>عدم </a:t>
            </a:r>
            <a:r>
              <a:rPr lang="fa-IR" b="1" dirty="0"/>
              <a:t>حفظ </a:t>
            </a:r>
            <a:r>
              <a:rPr lang="fa-IR" b="1" dirty="0" err="1"/>
              <a:t>وابستگی‌ها</a:t>
            </a:r>
            <a:endParaRPr lang="fa-IR" dirty="0"/>
          </a:p>
          <a:p>
            <a:pPr algn="r" rtl="1"/>
            <a:r>
              <a:rPr lang="fa-IR" b="1" dirty="0"/>
              <a:t>افزونگی</a:t>
            </a:r>
            <a:r>
              <a:rPr lang="fa-IR" dirty="0"/>
              <a:t> به دلیل استفاده از 3</a:t>
            </a:r>
            <a:r>
              <a:rPr lang="en-US" dirty="0"/>
              <a:t>NF</a:t>
            </a:r>
          </a:p>
          <a:p>
            <a:pPr algn="r" rtl="1"/>
            <a:r>
              <a:rPr lang="fa-IR" dirty="0"/>
              <a:t>جالب اینکه، </a:t>
            </a:r>
            <a:r>
              <a:rPr lang="en-US" dirty="0"/>
              <a:t>SQL </a:t>
            </a:r>
            <a:r>
              <a:rPr lang="fa-IR" dirty="0"/>
              <a:t>راه مستقیمی برای مشخص کردن </a:t>
            </a:r>
            <a:r>
              <a:rPr lang="fa-IR" dirty="0" err="1"/>
              <a:t>وابستگی‌های</a:t>
            </a:r>
            <a:r>
              <a:rPr lang="fa-IR" dirty="0"/>
              <a:t> </a:t>
            </a:r>
            <a:r>
              <a:rPr lang="fa-IR" dirty="0" err="1"/>
              <a:t>تابعی</a:t>
            </a:r>
            <a:r>
              <a:rPr lang="fa-IR" dirty="0"/>
              <a:t> جز </a:t>
            </a:r>
            <a:r>
              <a:rPr lang="fa-IR" b="1" dirty="0" err="1"/>
              <a:t>ابرکلیدها</a:t>
            </a:r>
            <a:r>
              <a:rPr lang="fa-IR" dirty="0"/>
              <a:t> ارائه </a:t>
            </a:r>
            <a:r>
              <a:rPr lang="fa-IR" dirty="0" err="1"/>
              <a:t>نمی‌دهد</a:t>
            </a:r>
            <a:r>
              <a:rPr lang="fa-IR" dirty="0"/>
              <a:t>.</a:t>
            </a:r>
          </a:p>
          <a:p>
            <a:pPr algn="r" rtl="1"/>
            <a:r>
              <a:rPr lang="fa-IR" dirty="0" err="1"/>
              <a:t>می‌توان</a:t>
            </a:r>
            <a:r>
              <a:rPr lang="fa-IR" dirty="0"/>
              <a:t> </a:t>
            </a:r>
            <a:r>
              <a:rPr lang="fa-IR" dirty="0" err="1"/>
              <a:t>وابستگی‌های</a:t>
            </a:r>
            <a:r>
              <a:rPr lang="fa-IR" dirty="0"/>
              <a:t> </a:t>
            </a:r>
            <a:r>
              <a:rPr lang="fa-IR" dirty="0" err="1"/>
              <a:t>تابعی</a:t>
            </a:r>
            <a:r>
              <a:rPr lang="fa-IR" dirty="0"/>
              <a:t> را با استفاده از </a:t>
            </a:r>
            <a:r>
              <a:rPr lang="en-US" b="1" dirty="0"/>
              <a:t>assertion</a:t>
            </a:r>
            <a:r>
              <a:rPr lang="en-US" dirty="0"/>
              <a:t> </a:t>
            </a:r>
            <a:r>
              <a:rPr lang="fa-IR" dirty="0"/>
              <a:t>مشخص کرد، اما بررسی </a:t>
            </a:r>
            <a:r>
              <a:rPr lang="fa-IR" dirty="0" err="1"/>
              <a:t>آن‌ها</a:t>
            </a:r>
            <a:r>
              <a:rPr lang="fa-IR" dirty="0"/>
              <a:t> </a:t>
            </a:r>
            <a:r>
              <a:rPr lang="fa-IR" b="1" dirty="0" err="1"/>
              <a:t>هزینه‌بر</a:t>
            </a:r>
            <a:r>
              <a:rPr lang="fa-IR" dirty="0"/>
              <a:t> است و در حال حاضر توسط هیچ یک از </a:t>
            </a:r>
            <a:r>
              <a:rPr lang="fa-IR" dirty="0" err="1"/>
              <a:t>پایگاه‌های</a:t>
            </a:r>
            <a:r>
              <a:rPr lang="fa-IR" dirty="0"/>
              <a:t> داده </a:t>
            </a:r>
            <a:r>
              <a:rPr lang="fa-IR" dirty="0" err="1"/>
              <a:t>پرکاربرد</a:t>
            </a:r>
            <a:r>
              <a:rPr lang="fa-IR" dirty="0"/>
              <a:t> پشتیبانی </a:t>
            </a:r>
            <a:r>
              <a:rPr lang="fa-IR" dirty="0" err="1"/>
              <a:t>نمی‌شود</a:t>
            </a:r>
            <a:r>
              <a:rPr lang="fa-IR" dirty="0"/>
              <a:t>!</a:t>
            </a:r>
          </a:p>
          <a:p>
            <a:pPr algn="r" rtl="1"/>
            <a:r>
              <a:rPr lang="fa-IR" dirty="0"/>
              <a:t>حتی اگر یک تجزیه </a:t>
            </a:r>
            <a:r>
              <a:rPr lang="fa-IR" b="1" dirty="0" err="1"/>
              <a:t>حفظ‌کننده</a:t>
            </a:r>
            <a:r>
              <a:rPr lang="fa-IR" b="1" dirty="0"/>
              <a:t> وابستگی</a:t>
            </a:r>
            <a:r>
              <a:rPr lang="fa-IR" dirty="0"/>
              <a:t> داشته باشیم، با استفاده از </a:t>
            </a:r>
            <a:r>
              <a:rPr lang="en-US" dirty="0"/>
              <a:t>SQL </a:t>
            </a:r>
            <a:r>
              <a:rPr lang="fa-IR" dirty="0" err="1"/>
              <a:t>نمی‌توانیم</a:t>
            </a:r>
            <a:r>
              <a:rPr lang="fa-IR" dirty="0"/>
              <a:t> </a:t>
            </a:r>
            <a:r>
              <a:rPr lang="fa-IR" dirty="0" err="1"/>
              <a:t>به‌طور</a:t>
            </a:r>
            <a:r>
              <a:rPr lang="fa-IR" dirty="0"/>
              <a:t> مؤثر یک وابستگی </a:t>
            </a:r>
            <a:r>
              <a:rPr lang="fa-IR" dirty="0" err="1"/>
              <a:t>تابعی</a:t>
            </a:r>
            <a:r>
              <a:rPr lang="fa-IR" dirty="0"/>
              <a:t> را که سمت چپ آن یک کلید نیست، بررسی کنیم.</a:t>
            </a:r>
          </a:p>
          <a:p>
            <a:pPr algn="r" rtl="1"/>
            <a:endParaRPr lang="en-US" alt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95" name="Rectangle 3"/>
          <p:cNvSpPr>
            <a:spLocks noGrp="1" noChangeArrowheads="1"/>
          </p:cNvSpPr>
          <p:nvPr>
            <p:ph idx="1"/>
          </p:nvPr>
        </p:nvSpPr>
        <p:spPr>
          <a:xfrm>
            <a:off x="237995" y="2437878"/>
            <a:ext cx="8906005" cy="1257300"/>
          </a:xfrm>
        </p:spPr>
        <p:txBody>
          <a:bodyPr/>
          <a:lstStyle/>
          <a:p>
            <a:pPr algn="r" rtl="1">
              <a:buFont typeface="Monotype Sorts" charset="2"/>
              <a:buNone/>
              <a:defRPr/>
            </a:pPr>
            <a:r>
              <a:rPr lang="fa-IR" sz="3200" dirty="0" err="1"/>
              <a:t>وابستگی‌های</a:t>
            </a:r>
            <a:r>
              <a:rPr lang="fa-IR" sz="3200" dirty="0"/>
              <a:t> چند مقداری </a:t>
            </a:r>
            <a:r>
              <a:rPr lang="en-US" sz="3200" dirty="0"/>
              <a:t>(Multivalued Dependencies)</a:t>
            </a:r>
            <a:endParaRPr lang="en-US" altLang="en-US" sz="3200" b="1" dirty="0">
              <a:solidFill>
                <a:srgbClr val="002060"/>
              </a:solidFill>
              <a:effectLst>
                <a:outerShdw blurRad="38100" dist="38100" dir="2700000" algn="tl">
                  <a:srgbClr val="C0C0C0"/>
                </a:outerShdw>
              </a:effectLst>
              <a:latin typeface="+mj-lt"/>
              <a:ea typeface="ＭＳ Ｐゴシック" pitchFamily="34" charset="-128"/>
              <a:cs typeface="+mj-cs"/>
            </a:endParaRPr>
          </a:p>
        </p:txBody>
      </p:sp>
    </p:spTree>
  </p:cSld>
  <p:clrMapOvr>
    <a:masterClrMapping/>
  </p:clrMapOvr>
  <p:transition spd="slow"/>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4802"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Multivalued Dependencies (MVDs)</a:t>
            </a:r>
          </a:p>
        </p:txBody>
      </p:sp>
      <p:sp>
        <p:nvSpPr>
          <p:cNvPr id="80899" name="Rectangle 3"/>
          <p:cNvSpPr>
            <a:spLocks noGrp="1" noChangeArrowheads="1"/>
          </p:cNvSpPr>
          <p:nvPr>
            <p:ph idx="1"/>
          </p:nvPr>
        </p:nvSpPr>
        <p:spPr>
          <a:xfrm>
            <a:off x="768351" y="1093789"/>
            <a:ext cx="7585536" cy="4103854"/>
          </a:xfrm>
        </p:spPr>
        <p:txBody>
          <a:bodyPr/>
          <a:lstStyle/>
          <a:p>
            <a:pPr algn="r" rtl="1"/>
            <a:r>
              <a:rPr lang="fa-IR" dirty="0"/>
              <a:t>فرض کنید نام فرزندان و شماره تلفن اساتید را ثبت </a:t>
            </a:r>
            <a:r>
              <a:rPr lang="fa-IR" dirty="0" err="1"/>
              <a:t>می‌کنیم</a:t>
            </a:r>
            <a:r>
              <a:rPr lang="fa-IR" dirty="0"/>
              <a:t>:</a:t>
            </a:r>
          </a:p>
          <a:p>
            <a:pPr algn="r" rtl="1"/>
            <a:r>
              <a:rPr lang="en-US" dirty="0" err="1"/>
              <a:t>inst_child</a:t>
            </a:r>
            <a:r>
              <a:rPr lang="en-US" dirty="0"/>
              <a:t>(ID, </a:t>
            </a:r>
            <a:r>
              <a:rPr lang="en-US" dirty="0" err="1"/>
              <a:t>child_name</a:t>
            </a:r>
            <a:r>
              <a:rPr lang="en-US" dirty="0"/>
              <a:t>)</a:t>
            </a:r>
          </a:p>
          <a:p>
            <a:pPr algn="r" rtl="1"/>
            <a:r>
              <a:rPr lang="en-US" dirty="0" err="1"/>
              <a:t>inst_phone</a:t>
            </a:r>
            <a:r>
              <a:rPr lang="en-US" dirty="0"/>
              <a:t>(ID, </a:t>
            </a:r>
            <a:r>
              <a:rPr lang="en-US" dirty="0" err="1"/>
              <a:t>phone_number</a:t>
            </a:r>
            <a:r>
              <a:rPr lang="en-US" dirty="0"/>
              <a:t>)</a:t>
            </a:r>
          </a:p>
          <a:p>
            <a:pPr algn="r" rtl="1"/>
            <a:r>
              <a:rPr lang="fa-IR" dirty="0"/>
              <a:t>اگر این دو طرح </a:t>
            </a:r>
            <a:r>
              <a:rPr lang="fa-IR" dirty="0" err="1"/>
              <a:t>رابطه‌ای</a:t>
            </a:r>
            <a:r>
              <a:rPr lang="fa-IR" dirty="0"/>
              <a:t> را ترکیب کنیم تا داشته باشیم:</a:t>
            </a:r>
          </a:p>
          <a:p>
            <a:pPr algn="r" rtl="1"/>
            <a:r>
              <a:rPr lang="en-US" dirty="0" err="1"/>
              <a:t>inst_info</a:t>
            </a:r>
            <a:r>
              <a:rPr lang="en-US" dirty="0"/>
              <a:t>(ID, </a:t>
            </a:r>
            <a:r>
              <a:rPr lang="en-US" dirty="0" err="1"/>
              <a:t>child_name</a:t>
            </a:r>
            <a:r>
              <a:rPr lang="en-US" dirty="0"/>
              <a:t>, </a:t>
            </a:r>
            <a:r>
              <a:rPr lang="en-US" dirty="0" err="1"/>
              <a:t>phone_number</a:t>
            </a:r>
            <a:r>
              <a:rPr lang="en-US" dirty="0"/>
              <a:t>)</a:t>
            </a:r>
          </a:p>
          <a:p>
            <a:pPr algn="r" rtl="1"/>
            <a:r>
              <a:rPr lang="fa-IR" dirty="0"/>
              <a:t>نمونه </a:t>
            </a:r>
            <a:r>
              <a:rPr lang="fa-IR" dirty="0" err="1"/>
              <a:t>داده‌ها</a:t>
            </a:r>
            <a:r>
              <a:rPr lang="fa-IR" dirty="0"/>
              <a:t>:</a:t>
            </a:r>
          </a:p>
          <a:p>
            <a:pPr algn="r" rtl="1"/>
            <a:r>
              <a:rPr lang="fa-IR" dirty="0"/>
              <a:t>(99999, </a:t>
            </a:r>
            <a:r>
              <a:rPr lang="en-US" dirty="0"/>
              <a:t>David, 512-555-1234)</a:t>
            </a:r>
          </a:p>
          <a:p>
            <a:pPr algn="r" rtl="1"/>
            <a:r>
              <a:rPr lang="en-US" dirty="0"/>
              <a:t>(99999, David, 512-555-4321)</a:t>
            </a:r>
          </a:p>
          <a:p>
            <a:pPr algn="r" rtl="1"/>
            <a:r>
              <a:rPr lang="en-US" dirty="0"/>
              <a:t>(99999, William, 512-555-1234)</a:t>
            </a:r>
          </a:p>
          <a:p>
            <a:pPr algn="r" rtl="1"/>
            <a:r>
              <a:rPr lang="en-US" dirty="0"/>
              <a:t>(99999, William, 512-555-4321)</a:t>
            </a:r>
          </a:p>
          <a:p>
            <a:pPr algn="r" rtl="1"/>
            <a:r>
              <a:rPr lang="fa-IR" dirty="0"/>
              <a:t>این رابطه در </a:t>
            </a:r>
            <a:r>
              <a:rPr lang="en-US" b="1" dirty="0"/>
              <a:t>BCNF</a:t>
            </a:r>
            <a:r>
              <a:rPr lang="en-US" dirty="0"/>
              <a:t> </a:t>
            </a:r>
            <a:r>
              <a:rPr lang="fa-IR" dirty="0"/>
              <a:t>است.</a:t>
            </a:r>
          </a:p>
          <a:p>
            <a:pPr algn="r" rtl="1"/>
            <a:r>
              <a:rPr lang="fa-IR" b="1" dirty="0"/>
              <a:t>چرا؟</a:t>
            </a:r>
            <a:endParaRPr lang="fa-IR" dirty="0"/>
          </a:p>
          <a:p>
            <a:pPr algn="r" rtl="1"/>
            <a:endParaRPr lang="en-US" alt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6978"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Multivalued Dependencies</a:t>
            </a:r>
          </a:p>
        </p:txBody>
      </p:sp>
      <mc:AlternateContent xmlns:mc="http://schemas.openxmlformats.org/markup-compatibility/2006" xmlns:a14="http://schemas.microsoft.com/office/drawing/2010/main">
        <mc:Choice Requires="a14">
          <p:sp>
            <p:nvSpPr>
              <p:cNvPr id="81923" name="Rectangle 3"/>
              <p:cNvSpPr>
                <a:spLocks noGrp="1" noChangeArrowheads="1"/>
              </p:cNvSpPr>
              <p:nvPr>
                <p:ph idx="1"/>
              </p:nvPr>
            </p:nvSpPr>
            <p:spPr>
              <a:xfrm>
                <a:off x="768350" y="1182688"/>
                <a:ext cx="8077200" cy="3184775"/>
              </a:xfrm>
            </p:spPr>
            <p:txBody>
              <a:bodyPr/>
              <a:lstStyle/>
              <a:p>
                <a:pPr algn="r" rtl="1"/>
                <a:r>
                  <a:rPr lang="fa-IR" dirty="0"/>
                  <a:t>فرض کنید </a:t>
                </a:r>
                <a14:m>
                  <m:oMath xmlns:m="http://schemas.openxmlformats.org/officeDocument/2006/math">
                    <m:r>
                      <a:rPr lang="fa-IR" i="1">
                        <a:latin typeface="Cambria Math" panose="02040503050406030204" pitchFamily="18" charset="0"/>
                      </a:rPr>
                      <m:t>𝑅</m:t>
                    </m:r>
                  </m:oMath>
                </a14:m>
                <a:r>
                  <a:rPr lang="fa-IR" dirty="0"/>
                  <a:t>یک طرح </a:t>
                </a:r>
                <a:r>
                  <a:rPr lang="fa-IR" dirty="0" err="1"/>
                  <a:t>رابطه‌ای</a:t>
                </a:r>
                <a:r>
                  <a:rPr lang="fa-IR" dirty="0"/>
                  <a:t> باشد و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𝑅</m:t>
                    </m:r>
                  </m:oMath>
                </a14:m>
                <a:r>
                  <a:rPr lang="fa-IR" dirty="0"/>
                  <a:t>و </a:t>
                </a:r>
                <a14:m>
                  <m:oMath xmlns:m="http://schemas.openxmlformats.org/officeDocument/2006/math">
                    <m:r>
                      <a:rPr lang="fa-IR" i="1">
                        <a:latin typeface="Cambria Math" panose="02040503050406030204" pitchFamily="18" charset="0"/>
                      </a:rPr>
                      <m:t>𝛽</m:t>
                    </m:r>
                    <m:r>
                      <a:rPr lang="fa-IR">
                        <a:latin typeface="Cambria Math" panose="02040503050406030204" pitchFamily="18" charset="0"/>
                      </a:rPr>
                      <m:t>⊆</m:t>
                    </m:r>
                    <m:r>
                      <a:rPr lang="fa-IR" i="1">
                        <a:latin typeface="Cambria Math" panose="02040503050406030204" pitchFamily="18" charset="0"/>
                      </a:rPr>
                      <m:t>𝑅</m:t>
                    </m:r>
                  </m:oMath>
                </a14:m>
                <a:r>
                  <a:rPr lang="fa-IR" dirty="0"/>
                  <a:t>.</a:t>
                </a:r>
              </a:p>
              <a:p>
                <a:pPr algn="r" rtl="1"/>
                <a:r>
                  <a:rPr lang="fa-IR" dirty="0"/>
                  <a:t>وابستگی </a:t>
                </a:r>
                <a:r>
                  <a:rPr lang="fa-IR" dirty="0" err="1"/>
                  <a:t>چندمقداری</a:t>
                </a:r>
                <a:r>
                  <a:rPr lang="fa-IR" dirty="0"/>
                  <a:t> </a:t>
                </a:r>
                <a:r>
                  <a:rPr lang="en-US" dirty="0"/>
                  <a:t>(Multivalued Dependency) </a:t>
                </a:r>
              </a:p>
              <a:p>
                <a:pPr algn="r" rtl="1"/>
                <a14:m>
                  <m:oMath xmlns:m="http://schemas.openxmlformats.org/officeDocument/2006/math">
                    <m:r>
                      <a:rPr lang="en-US" i="1">
                        <a:latin typeface="Cambria Math" panose="02040503050406030204" pitchFamily="18" charset="0"/>
                      </a:rPr>
                      <m:t>𝛼</m:t>
                    </m:r>
                    <m:r>
                      <a:rPr lang="en-US">
                        <a:latin typeface="Cambria Math" panose="02040503050406030204" pitchFamily="18" charset="0"/>
                      </a:rPr>
                      <m:t>↠</m:t>
                    </m:r>
                    <m:r>
                      <a:rPr lang="en-US" i="1">
                        <a:latin typeface="Cambria Math" panose="02040503050406030204" pitchFamily="18" charset="0"/>
                      </a:rPr>
                      <m:t>𝛽</m:t>
                    </m:r>
                  </m:oMath>
                </a14:m>
                <a:endParaRPr lang="en-US" dirty="0"/>
              </a:p>
              <a:p>
                <a:pPr algn="r" rtl="1"/>
                <a:r>
                  <a:rPr lang="fa-IR" dirty="0"/>
                  <a:t>روی </a:t>
                </a:r>
                <a14:m>
                  <m:oMath xmlns:m="http://schemas.openxmlformats.org/officeDocument/2006/math">
                    <m:r>
                      <a:rPr lang="fa-IR" i="1">
                        <a:latin typeface="Cambria Math" panose="02040503050406030204" pitchFamily="18" charset="0"/>
                      </a:rPr>
                      <m:t>𝑅</m:t>
                    </m:r>
                  </m:oMath>
                </a14:m>
                <a:r>
                  <a:rPr lang="fa-IR" dirty="0"/>
                  <a:t>برقرار است اگر در هر رابطه قانونی </a:t>
                </a:r>
                <a14:m>
                  <m:oMath xmlns:m="http://schemas.openxmlformats.org/officeDocument/2006/math">
                    <m:r>
                      <a:rPr lang="fa-IR" i="1">
                        <a:latin typeface="Cambria Math" panose="02040503050406030204" pitchFamily="18" charset="0"/>
                      </a:rPr>
                      <m:t>𝑟</m:t>
                    </m:r>
                    <m:d>
                      <m:dPr>
                        <m:ctrlPr>
                          <a:rPr lang="fa-IR" i="1">
                            <a:latin typeface="Cambria Math" panose="02040503050406030204" pitchFamily="18" charset="0"/>
                          </a:rPr>
                        </m:ctrlPr>
                      </m:dPr>
                      <m:e>
                        <m:r>
                          <a:rPr lang="fa-IR" i="1">
                            <a:latin typeface="Cambria Math" panose="02040503050406030204" pitchFamily="18" charset="0"/>
                          </a:rPr>
                          <m:t>𝑅</m:t>
                        </m:r>
                      </m:e>
                    </m:d>
                  </m:oMath>
                </a14:m>
                <a:r>
                  <a:rPr lang="fa-IR" dirty="0"/>
                  <a:t>، برای تمام </a:t>
                </a:r>
                <a:r>
                  <a:rPr lang="fa-IR" dirty="0" err="1"/>
                  <a:t>جفت‌های</a:t>
                </a:r>
                <a:r>
                  <a:rPr lang="fa-IR" dirty="0"/>
                  <a:t> </a:t>
                </a:r>
                <a:r>
                  <a:rPr lang="fa-IR" dirty="0" err="1"/>
                  <a:t>تاپل</a:t>
                </a:r>
                <a:r>
                  <a:rPr lang="fa-IR" dirty="0"/>
                  <a:t>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1</m:t>
                        </m:r>
                      </m:sub>
                    </m:sSub>
                  </m:oMath>
                </a14:m>
                <a:r>
                  <a:rPr lang="fa-IR" dirty="0"/>
                  <a:t>و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2</m:t>
                        </m:r>
                      </m:sub>
                    </m:sSub>
                  </m:oMath>
                </a14:m>
                <a:r>
                  <a:rPr lang="fa-IR" dirty="0"/>
                  <a:t>در </a:t>
                </a:r>
                <a14:m>
                  <m:oMath xmlns:m="http://schemas.openxmlformats.org/officeDocument/2006/math">
                    <m:r>
                      <a:rPr lang="fa-IR" i="1">
                        <a:latin typeface="Cambria Math" panose="02040503050406030204" pitchFamily="18" charset="0"/>
                      </a:rPr>
                      <m:t>𝑟</m:t>
                    </m:r>
                  </m:oMath>
                </a14:m>
                <a:r>
                  <a:rPr lang="fa-IR" dirty="0"/>
                  <a:t>به </a:t>
                </a:r>
                <a:r>
                  <a:rPr lang="fa-IR" dirty="0" err="1"/>
                  <a:t>گونه‌ای</a:t>
                </a:r>
                <a:r>
                  <a:rPr lang="fa-IR" dirty="0"/>
                  <a:t> که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1</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𝛼</m:t>
                        </m:r>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2</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𝛼</m:t>
                        </m:r>
                      </m:e>
                    </m:d>
                  </m:oMath>
                </a14:m>
                <a:r>
                  <a:rPr lang="fa-IR" dirty="0"/>
                  <a:t>، </a:t>
                </a:r>
                <a:r>
                  <a:rPr lang="fa-IR" dirty="0" err="1"/>
                  <a:t>تاپل‌های</a:t>
                </a:r>
                <a:r>
                  <a:rPr lang="fa-IR" dirty="0"/>
                  <a:t>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3</m:t>
                        </m:r>
                      </m:sub>
                    </m:sSub>
                  </m:oMath>
                </a14:m>
                <a:r>
                  <a:rPr lang="fa-IR" dirty="0"/>
                  <a:t>و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4</m:t>
                        </m:r>
                      </m:sub>
                    </m:sSub>
                  </m:oMath>
                </a14:m>
                <a:r>
                  <a:rPr lang="fa-IR" dirty="0"/>
                  <a:t>در </a:t>
                </a:r>
                <a14:m>
                  <m:oMath xmlns:m="http://schemas.openxmlformats.org/officeDocument/2006/math">
                    <m:r>
                      <a:rPr lang="fa-IR" i="1">
                        <a:latin typeface="Cambria Math" panose="02040503050406030204" pitchFamily="18" charset="0"/>
                      </a:rPr>
                      <m:t>𝑟</m:t>
                    </m:r>
                  </m:oMath>
                </a14:m>
                <a:r>
                  <a:rPr lang="fa-IR" dirty="0"/>
                  <a:t>وجود داشته باشند به طوری که:</a:t>
                </a:r>
              </a:p>
              <a:p>
                <a:pPr algn="r" rtl="1"/>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1</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𝛼</m:t>
                        </m:r>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2</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𝛼</m:t>
                        </m:r>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3</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𝛼</m:t>
                        </m:r>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4</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𝛼</m:t>
                        </m:r>
                      </m:e>
                    </m:d>
                  </m:oMath>
                </a14:m>
                <a:endParaRPr lang="fa-IR" dirty="0"/>
              </a:p>
              <a:p>
                <a:pPr algn="r" rtl="1"/>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3</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𝛽</m:t>
                        </m:r>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1</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𝛽</m:t>
                        </m:r>
                      </m:e>
                    </m:d>
                  </m:oMath>
                </a14:m>
                <a:endParaRPr lang="fa-IR" dirty="0"/>
              </a:p>
              <a:p>
                <a:pPr algn="r" rtl="1"/>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3</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𝑅</m:t>
                        </m:r>
                        <m:r>
                          <a:rPr lang="fa-IR">
                            <a:latin typeface="Cambria Math" panose="02040503050406030204" pitchFamily="18" charset="0"/>
                          </a:rPr>
                          <m:t>−</m:t>
                        </m:r>
                        <m:r>
                          <a:rPr lang="fa-IR" i="1">
                            <a:latin typeface="Cambria Math" panose="02040503050406030204" pitchFamily="18" charset="0"/>
                          </a:rPr>
                          <m:t>𝛽</m:t>
                        </m:r>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2</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𝑅</m:t>
                        </m:r>
                        <m:r>
                          <a:rPr lang="fa-IR">
                            <a:latin typeface="Cambria Math" panose="02040503050406030204" pitchFamily="18" charset="0"/>
                          </a:rPr>
                          <m:t>−</m:t>
                        </m:r>
                        <m:r>
                          <a:rPr lang="fa-IR" i="1">
                            <a:latin typeface="Cambria Math" panose="02040503050406030204" pitchFamily="18" charset="0"/>
                          </a:rPr>
                          <m:t>𝛽</m:t>
                        </m:r>
                      </m:e>
                    </m:d>
                  </m:oMath>
                </a14:m>
                <a:endParaRPr lang="fa-IR" dirty="0"/>
              </a:p>
              <a:p>
                <a:pPr algn="r" rtl="1"/>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4</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𝛽</m:t>
                        </m:r>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2</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𝛽</m:t>
                        </m:r>
                      </m:e>
                    </m:d>
                  </m:oMath>
                </a14:m>
                <a:endParaRPr lang="fa-IR" dirty="0"/>
              </a:p>
              <a:p>
                <a:pPr algn="r" rtl="1"/>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4</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𝑅</m:t>
                        </m:r>
                        <m:r>
                          <a:rPr lang="fa-IR">
                            <a:latin typeface="Cambria Math" panose="02040503050406030204" pitchFamily="18" charset="0"/>
                          </a:rPr>
                          <m:t>−</m:t>
                        </m:r>
                        <m:r>
                          <a:rPr lang="fa-IR" i="1">
                            <a:latin typeface="Cambria Math" panose="02040503050406030204" pitchFamily="18" charset="0"/>
                          </a:rPr>
                          <m:t>𝛽</m:t>
                        </m:r>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1</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𝑅</m:t>
                        </m:r>
                        <m:r>
                          <a:rPr lang="fa-IR">
                            <a:latin typeface="Cambria Math" panose="02040503050406030204" pitchFamily="18" charset="0"/>
                          </a:rPr>
                          <m:t>−</m:t>
                        </m:r>
                        <m:r>
                          <a:rPr lang="fa-IR" i="1">
                            <a:latin typeface="Cambria Math" panose="02040503050406030204" pitchFamily="18" charset="0"/>
                          </a:rPr>
                          <m:t>𝛽</m:t>
                        </m:r>
                      </m:e>
                    </m:d>
                  </m:oMath>
                </a14:m>
                <a:endParaRPr lang="fa-IR" dirty="0"/>
              </a:p>
              <a:p>
                <a:pPr algn="r" rtl="1">
                  <a:tabLst>
                    <a:tab pos="1890713" algn="l"/>
                    <a:tab pos="2798763" algn="l"/>
                  </a:tabLst>
                </a:pPr>
                <a:endParaRPr lang="en-US" altLang="en-US" dirty="0">
                  <a:sym typeface="Greek Symbols"/>
                </a:endParaRPr>
              </a:p>
            </p:txBody>
          </p:sp>
        </mc:Choice>
        <mc:Fallback xmlns="">
          <p:sp>
            <p:nvSpPr>
              <p:cNvPr id="81923" name="Rectangle 3"/>
              <p:cNvSpPr>
                <a:spLocks noGrp="1" noRot="1" noChangeAspect="1" noMove="1" noResize="1" noEditPoints="1" noAdjustHandles="1" noChangeArrowheads="1" noChangeShapeType="1" noTextEdit="1"/>
              </p:cNvSpPr>
              <p:nvPr>
                <p:ph idx="1"/>
              </p:nvPr>
            </p:nvSpPr>
            <p:spPr>
              <a:xfrm>
                <a:off x="768350" y="1182688"/>
                <a:ext cx="8077200" cy="3184775"/>
              </a:xfrm>
              <a:blipFill>
                <a:blip r:embed="rId3"/>
                <a:stretch>
                  <a:fillRect l="-830" t="-2299" r="-906" b="-28161"/>
                </a:stretch>
              </a:blipFill>
            </p:spPr>
            <p:txBody>
              <a:bodyPr/>
              <a:lstStyle/>
              <a:p>
                <a:r>
                  <a:rPr lang="en-US">
                    <a:noFill/>
                  </a:rPr>
                  <a:t> </a:t>
                </a:r>
              </a:p>
            </p:txBody>
          </p:sp>
        </mc:Fallback>
      </mc:AlternateContent>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9026"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MVD --</a:t>
            </a:r>
            <a:r>
              <a:rPr lang="en-US" altLang="en-US" dirty="0"/>
              <a:t> Tabular representation </a:t>
            </a:r>
            <a:endParaRPr lang="en-US" altLang="en-US" dirty="0">
              <a:effectLst>
                <a:outerShdw blurRad="38100" dist="38100" dir="2700000" algn="tl">
                  <a:srgbClr val="C0C0C0"/>
                </a:outerShdw>
              </a:effectLst>
              <a:ea typeface="ＭＳ Ｐゴシック" pitchFamily="34" charset="-128"/>
            </a:endParaRPr>
          </a:p>
        </p:txBody>
      </p:sp>
      <mc:AlternateContent xmlns:mc="http://schemas.openxmlformats.org/markup-compatibility/2006" xmlns:a14="http://schemas.microsoft.com/office/drawing/2010/main">
        <mc:Choice Requires="a14">
          <p:sp>
            <p:nvSpPr>
              <p:cNvPr id="82947" name="Rectangle 3"/>
              <p:cNvSpPr>
                <a:spLocks noGrp="1" noChangeArrowheads="1"/>
              </p:cNvSpPr>
              <p:nvPr>
                <p:ph idx="1"/>
              </p:nvPr>
            </p:nvSpPr>
            <p:spPr>
              <a:xfrm>
                <a:off x="2142283" y="1033934"/>
                <a:ext cx="6703267" cy="506412"/>
              </a:xfrm>
            </p:spPr>
            <p:txBody>
              <a:bodyPr/>
              <a:lstStyle/>
              <a:p>
                <a:pPr algn="r" rtl="1"/>
                <a:r>
                  <a:rPr lang="fa-IR" b="1" dirty="0"/>
                  <a:t>نمایش جدولی </a:t>
                </a:r>
                <a:r>
                  <a:rPr lang="en-US" dirty="0"/>
                  <a:t>(</a:t>
                </a:r>
                <a:r>
                  <a:rPr lang="en-US" b="1" dirty="0"/>
                  <a:t>Tabular representation) </a:t>
                </a:r>
                <a:r>
                  <a:rPr lang="fa-IR" b="1" dirty="0"/>
                  <a:t>از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oMath>
                </a14:m>
                <a:endParaRPr lang="en-US" altLang="en-US" dirty="0">
                  <a:sym typeface="Symbol" panose="05050102010706020507" pitchFamily="18" charset="2"/>
                </a:endParaRPr>
              </a:p>
            </p:txBody>
          </p:sp>
        </mc:Choice>
        <mc:Fallback xmlns="">
          <p:sp>
            <p:nvSpPr>
              <p:cNvPr id="82947" name="Rectangle 3"/>
              <p:cNvSpPr>
                <a:spLocks noGrp="1" noRot="1" noChangeAspect="1" noMove="1" noResize="1" noEditPoints="1" noAdjustHandles="1" noChangeArrowheads="1" noChangeShapeType="1" noTextEdit="1"/>
              </p:cNvSpPr>
              <p:nvPr>
                <p:ph idx="1"/>
              </p:nvPr>
            </p:nvSpPr>
            <p:spPr>
              <a:xfrm>
                <a:off x="2142283" y="1033934"/>
                <a:ext cx="6703267" cy="506412"/>
              </a:xfrm>
              <a:blipFill>
                <a:blip r:embed="rId3"/>
                <a:stretch>
                  <a:fillRect t="-14458" r="-1091" b="-2410"/>
                </a:stretch>
              </a:blipFill>
            </p:spPr>
            <p:txBody>
              <a:bodyPr/>
              <a:lstStyle/>
              <a:p>
                <a:r>
                  <a:rPr lang="en-US">
                    <a:noFill/>
                  </a:rPr>
                  <a:t> </a:t>
                </a:r>
              </a:p>
            </p:txBody>
          </p:sp>
        </mc:Fallback>
      </mc:AlternateContent>
      <p:pic>
        <p:nvPicPr>
          <p:cNvPr id="82948" name="Picture 5" descr="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69432" y="1847206"/>
            <a:ext cx="4532730" cy="15931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2764B-0248-2899-EC2D-14C57574F39C}"/>
              </a:ext>
            </a:extLst>
          </p:cNvPr>
          <p:cNvSpPr>
            <a:spLocks noGrp="1"/>
          </p:cNvSpPr>
          <p:nvPr>
            <p:ph type="ctrTitle"/>
          </p:nvPr>
        </p:nvSpPr>
        <p:spPr/>
        <p:txBody>
          <a:bodyPr/>
          <a:lstStyle/>
          <a:p>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3122"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Example</a:t>
            </a:r>
          </a:p>
        </p:txBody>
      </p:sp>
      <mc:AlternateContent xmlns:mc="http://schemas.openxmlformats.org/markup-compatibility/2006" xmlns:a14="http://schemas.microsoft.com/office/drawing/2010/main">
        <mc:Choice Requires="a14">
          <p:sp>
            <p:nvSpPr>
              <p:cNvPr id="84995" name="Rectangle 3"/>
              <p:cNvSpPr>
                <a:spLocks noGrp="1" noChangeArrowheads="1"/>
              </p:cNvSpPr>
              <p:nvPr>
                <p:ph idx="1"/>
              </p:nvPr>
            </p:nvSpPr>
            <p:spPr>
              <a:xfrm>
                <a:off x="768349" y="1093789"/>
                <a:ext cx="7594415" cy="3430085"/>
              </a:xfrm>
            </p:spPr>
            <p:txBody>
              <a:bodyPr/>
              <a:lstStyle/>
              <a:p>
                <a:pPr algn="r" rtl="1"/>
                <a:r>
                  <a:rPr lang="fa-IR" dirty="0"/>
                  <a:t>در مثال ما:</a:t>
                </a:r>
              </a:p>
              <a:p>
                <a:pPr algn="r" rtl="1"/>
                <a:r>
                  <a:rPr lang="en-US" dirty="0"/>
                  <a:t>ID </a:t>
                </a:r>
                <a14:m>
                  <m:oMath xmlns:m="http://schemas.openxmlformats.org/officeDocument/2006/math">
                    <m:r>
                      <a:rPr lang="en-US">
                        <a:latin typeface="Cambria Math" panose="02040503050406030204" pitchFamily="18" charset="0"/>
                      </a:rPr>
                      <m:t>↠</m:t>
                    </m:r>
                  </m:oMath>
                </a14:m>
                <a:r>
                  <a:rPr lang="en-US" dirty="0" err="1"/>
                  <a:t>child_name</a:t>
                </a:r>
                <a:endParaRPr lang="en-US" dirty="0"/>
              </a:p>
              <a:p>
                <a:pPr algn="r" rtl="1"/>
                <a:r>
                  <a:rPr lang="en-US" dirty="0"/>
                  <a:t>ID </a:t>
                </a:r>
                <a14:m>
                  <m:oMath xmlns:m="http://schemas.openxmlformats.org/officeDocument/2006/math">
                    <m:r>
                      <a:rPr lang="en-US">
                        <a:latin typeface="Cambria Math" panose="02040503050406030204" pitchFamily="18" charset="0"/>
                      </a:rPr>
                      <m:t>↠</m:t>
                    </m:r>
                  </m:oMath>
                </a14:m>
                <a:r>
                  <a:rPr lang="en-US" dirty="0" err="1"/>
                  <a:t>phone_number</a:t>
                </a:r>
                <a:endParaRPr lang="en-US" dirty="0"/>
              </a:p>
              <a:p>
                <a:pPr algn="r" rtl="1"/>
                <a:r>
                  <a:rPr lang="fa-IR" dirty="0"/>
                  <a:t>تعریف رسمی بالا قصد دارد مفهوم زیر را رسمی کند:</a:t>
                </a:r>
                <a:br>
                  <a:rPr lang="fa-IR" dirty="0"/>
                </a:br>
                <a:r>
                  <a:rPr lang="fa-IR" dirty="0"/>
                  <a:t>با داشتن یک مقدار مشخص از </a:t>
                </a:r>
                <a:r>
                  <a:rPr lang="en-US" dirty="0"/>
                  <a:t>Y (ID)، </a:t>
                </a:r>
                <a:r>
                  <a:rPr lang="fa-IR" dirty="0" err="1"/>
                  <a:t>مجموعه‌ای</a:t>
                </a:r>
                <a:r>
                  <a:rPr lang="fa-IR" dirty="0"/>
                  <a:t> از مقادیر </a:t>
                </a:r>
                <a:r>
                  <a:rPr lang="en-US" dirty="0"/>
                  <a:t>Z (</a:t>
                </a:r>
                <a:r>
                  <a:rPr lang="en-US" dirty="0" err="1"/>
                  <a:t>child_name</a:t>
                </a:r>
                <a:r>
                  <a:rPr lang="en-US" dirty="0"/>
                  <a:t>) </a:t>
                </a:r>
                <a:r>
                  <a:rPr lang="fa-IR" dirty="0"/>
                  <a:t>و </a:t>
                </a:r>
                <a:r>
                  <a:rPr lang="fa-IR" dirty="0" err="1"/>
                  <a:t>مجموعه‌ای</a:t>
                </a:r>
                <a:r>
                  <a:rPr lang="fa-IR" dirty="0"/>
                  <a:t> از مقادیر </a:t>
                </a:r>
                <a:r>
                  <a:rPr lang="en-US" dirty="0"/>
                  <a:t>W (</a:t>
                </a:r>
                <a:r>
                  <a:rPr lang="en-US" dirty="0" err="1"/>
                  <a:t>phone_number</a:t>
                </a:r>
                <a:r>
                  <a:rPr lang="en-US" dirty="0"/>
                  <a:t>) </a:t>
                </a:r>
                <a:r>
                  <a:rPr lang="fa-IR" dirty="0"/>
                  <a:t>با آن مرتبط هستند، و این دو مجموعه تا حدی از یکدیگر مستقل هستند.</a:t>
                </a:r>
              </a:p>
              <a:p>
                <a:pPr algn="r" rtl="1"/>
                <a:r>
                  <a:rPr lang="fa-IR" dirty="0"/>
                  <a:t>توجه:</a:t>
                </a:r>
                <a:br>
                  <a:rPr lang="fa-IR" dirty="0"/>
                </a:br>
                <a:r>
                  <a:rPr lang="fa-IR" dirty="0"/>
                  <a:t>اگر </a:t>
                </a:r>
                <a:r>
                  <a:rPr lang="en-US" dirty="0"/>
                  <a:t>Y → Z، </a:t>
                </a:r>
                <a:r>
                  <a:rPr lang="fa-IR" dirty="0"/>
                  <a:t>آنگاه </a:t>
                </a:r>
                <a:r>
                  <a:rPr lang="en-US" dirty="0"/>
                  <a:t>Y </a:t>
                </a:r>
                <a14:m>
                  <m:oMath xmlns:m="http://schemas.openxmlformats.org/officeDocument/2006/math">
                    <m:r>
                      <a:rPr lang="en-US">
                        <a:latin typeface="Cambria Math" panose="02040503050406030204" pitchFamily="18" charset="0"/>
                      </a:rPr>
                      <m:t>↠</m:t>
                    </m:r>
                  </m:oMath>
                </a14:m>
                <a:r>
                  <a:rPr lang="en-US" dirty="0"/>
                  <a:t>Z </a:t>
                </a:r>
                <a:r>
                  <a:rPr lang="fa-IR" dirty="0"/>
                  <a:t>نیز برقرار است.</a:t>
                </a:r>
                <a:br>
                  <a:rPr lang="fa-IR" dirty="0"/>
                </a:br>
                <a:r>
                  <a:rPr lang="fa-IR" dirty="0"/>
                  <a:t>در واقع، در نماد بالا داریم </a:t>
                </a:r>
                <a:r>
                  <a:rPr lang="en-US" dirty="0"/>
                  <a:t>Z₁ = Z₂</a:t>
                </a:r>
                <a:br>
                  <a:rPr lang="en-US" dirty="0"/>
                </a:br>
                <a:r>
                  <a:rPr lang="fa-IR" dirty="0"/>
                  <a:t>و نتیجه به دنبال آن </a:t>
                </a:r>
                <a:r>
                  <a:rPr lang="fa-IR" dirty="0" err="1"/>
                  <a:t>می‌آید</a:t>
                </a:r>
                <a:r>
                  <a:rPr lang="fa-IR" dirty="0"/>
                  <a:t>.</a:t>
                </a:r>
              </a:p>
              <a:p>
                <a:pPr algn="r" rtl="1">
                  <a:tabLst>
                    <a:tab pos="2463800" algn="l"/>
                  </a:tabLst>
                </a:pPr>
                <a:endParaRPr lang="en-US" altLang="en-US" dirty="0">
                  <a:sym typeface="Monotype Sorts" pitchFamily="-84" charset="2"/>
                </a:endParaRPr>
              </a:p>
            </p:txBody>
          </p:sp>
        </mc:Choice>
        <mc:Fallback xmlns="">
          <p:sp>
            <p:nvSpPr>
              <p:cNvPr id="84995" name="Rectangle 3"/>
              <p:cNvSpPr>
                <a:spLocks noGrp="1" noRot="1" noChangeAspect="1" noMove="1" noResize="1" noEditPoints="1" noAdjustHandles="1" noChangeArrowheads="1" noChangeShapeType="1" noTextEdit="1"/>
              </p:cNvSpPr>
              <p:nvPr>
                <p:ph idx="1"/>
              </p:nvPr>
            </p:nvSpPr>
            <p:spPr>
              <a:xfrm>
                <a:off x="768349" y="1093789"/>
                <a:ext cx="7594415" cy="3430085"/>
              </a:xfrm>
              <a:blipFill>
                <a:blip r:embed="rId3"/>
                <a:stretch>
                  <a:fillRect l="-241" t="-2309" r="-963" b="-15986"/>
                </a:stretch>
              </a:blipFill>
            </p:spPr>
            <p:txBody>
              <a:bodyPr/>
              <a:lstStyle/>
              <a:p>
                <a:r>
                  <a:rPr lang="en-US">
                    <a:noFill/>
                  </a:rPr>
                  <a:t> </a:t>
                </a:r>
              </a:p>
            </p:txBody>
          </p:sp>
        </mc:Fallback>
      </mc:AlternateContent>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5170"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Use of Multivalued Dependencies</a:t>
            </a:r>
          </a:p>
        </p:txBody>
      </p:sp>
      <mc:AlternateContent xmlns:mc="http://schemas.openxmlformats.org/markup-compatibility/2006" xmlns:a14="http://schemas.microsoft.com/office/drawing/2010/main">
        <mc:Choice Requires="a14">
          <p:sp>
            <p:nvSpPr>
              <p:cNvPr id="86019" name="Rectangle 3"/>
              <p:cNvSpPr>
                <a:spLocks noGrp="1" noChangeArrowheads="1"/>
              </p:cNvSpPr>
              <p:nvPr>
                <p:ph idx="1"/>
              </p:nvPr>
            </p:nvSpPr>
            <p:spPr>
              <a:xfrm>
                <a:off x="768351" y="1093788"/>
                <a:ext cx="7638802" cy="2900696"/>
              </a:xfrm>
            </p:spPr>
            <p:txBody>
              <a:bodyPr/>
              <a:lstStyle/>
              <a:p>
                <a:pPr algn="r" rtl="1"/>
                <a:r>
                  <a:rPr lang="fa-IR" dirty="0"/>
                  <a:t>ما از </a:t>
                </a:r>
                <a:r>
                  <a:rPr lang="fa-IR" b="1" dirty="0" err="1"/>
                  <a:t>وابستگی‌های</a:t>
                </a:r>
                <a:r>
                  <a:rPr lang="fa-IR" b="1" dirty="0"/>
                  <a:t> </a:t>
                </a:r>
                <a:r>
                  <a:rPr lang="fa-IR" b="1" dirty="0" err="1"/>
                  <a:t>چندمقداری</a:t>
                </a:r>
                <a:r>
                  <a:rPr lang="fa-IR" b="1" dirty="0"/>
                  <a:t> </a:t>
                </a:r>
                <a:r>
                  <a:rPr lang="en-US" dirty="0"/>
                  <a:t>(</a:t>
                </a:r>
                <a:r>
                  <a:rPr lang="en-US" b="1" dirty="0"/>
                  <a:t>Multivalued Dependencies)</a:t>
                </a:r>
                <a:r>
                  <a:rPr lang="fa-IR" dirty="0"/>
                  <a:t>به دو روش استفاده </a:t>
                </a:r>
                <a:r>
                  <a:rPr lang="fa-IR" dirty="0" err="1"/>
                  <a:t>می‌کنیم</a:t>
                </a:r>
                <a:r>
                  <a:rPr lang="fa-IR" dirty="0"/>
                  <a:t>:</a:t>
                </a:r>
              </a:p>
              <a:p>
                <a:pPr algn="r" rtl="1"/>
                <a:r>
                  <a:rPr lang="fa-IR" dirty="0"/>
                  <a:t>برای بررسی روابط به منظور تعیین اینکه آیا </a:t>
                </a:r>
                <a:r>
                  <a:rPr lang="fa-IR" dirty="0" err="1"/>
                  <a:t>آن‌ها</a:t>
                </a:r>
                <a:r>
                  <a:rPr lang="fa-IR" dirty="0"/>
                  <a:t> تحت </a:t>
                </a:r>
                <a:r>
                  <a:rPr lang="fa-IR" dirty="0" err="1"/>
                  <a:t>مجموعه‌ای</a:t>
                </a:r>
                <a:r>
                  <a:rPr lang="fa-IR" dirty="0"/>
                  <a:t> از </a:t>
                </a:r>
                <a:r>
                  <a:rPr lang="fa-IR" dirty="0" err="1"/>
                  <a:t>وابستگی‌های</a:t>
                </a:r>
                <a:r>
                  <a:rPr lang="fa-IR" dirty="0"/>
                  <a:t> </a:t>
                </a:r>
                <a:r>
                  <a:rPr lang="fa-IR" dirty="0" err="1"/>
                  <a:t>تابعی</a:t>
                </a:r>
                <a:r>
                  <a:rPr lang="fa-IR" dirty="0"/>
                  <a:t> و </a:t>
                </a:r>
                <a:r>
                  <a:rPr lang="fa-IR" dirty="0" err="1"/>
                  <a:t>چندمقداری</a:t>
                </a:r>
                <a:r>
                  <a:rPr lang="fa-IR" dirty="0"/>
                  <a:t> قانونی هستند یا خیر.</a:t>
                </a:r>
              </a:p>
              <a:p>
                <a:pPr algn="r" rtl="1"/>
                <a:r>
                  <a:rPr lang="fa-IR" dirty="0"/>
                  <a:t>برای مشخص کردن </a:t>
                </a:r>
                <a:r>
                  <a:rPr lang="fa-IR" dirty="0" err="1"/>
                  <a:t>محدودیت‌ها</a:t>
                </a:r>
                <a:r>
                  <a:rPr lang="fa-IR" dirty="0"/>
                  <a:t> روی مجموعه روابط قانونی. ما فقط با روابطی سروکار خواهیم داشت که </a:t>
                </a:r>
                <a:r>
                  <a:rPr lang="fa-IR" dirty="0" err="1"/>
                  <a:t>مجموعه‌ای</a:t>
                </a:r>
                <a:r>
                  <a:rPr lang="fa-IR" dirty="0"/>
                  <a:t> از </a:t>
                </a:r>
                <a:r>
                  <a:rPr lang="fa-IR" dirty="0" err="1"/>
                  <a:t>وابستگی‌های</a:t>
                </a:r>
                <a:r>
                  <a:rPr lang="fa-IR" dirty="0"/>
                  <a:t> </a:t>
                </a:r>
                <a:r>
                  <a:rPr lang="fa-IR" dirty="0" err="1"/>
                  <a:t>تابعی</a:t>
                </a:r>
                <a:r>
                  <a:rPr lang="fa-IR" dirty="0"/>
                  <a:t> و </a:t>
                </a:r>
                <a:r>
                  <a:rPr lang="fa-IR" dirty="0" err="1"/>
                  <a:t>چندمقداری</a:t>
                </a:r>
                <a:r>
                  <a:rPr lang="fa-IR" dirty="0"/>
                  <a:t> </a:t>
                </a:r>
                <a:r>
                  <a:rPr lang="fa-IR" dirty="0" err="1"/>
                  <a:t>داده‌شده</a:t>
                </a:r>
                <a:r>
                  <a:rPr lang="fa-IR" dirty="0"/>
                  <a:t> را رعایت کنند.</a:t>
                </a:r>
              </a:p>
              <a:p>
                <a:pPr algn="r" rtl="1"/>
                <a:r>
                  <a:rPr lang="fa-IR" dirty="0"/>
                  <a:t>اگر یک رابطه </a:t>
                </a:r>
                <a14:m>
                  <m:oMath xmlns:m="http://schemas.openxmlformats.org/officeDocument/2006/math">
                    <m:r>
                      <a:rPr lang="fa-IR" i="1">
                        <a:latin typeface="Cambria Math" panose="02040503050406030204" pitchFamily="18" charset="0"/>
                      </a:rPr>
                      <m:t>𝑟</m:t>
                    </m:r>
                  </m:oMath>
                </a14:m>
                <a:r>
                  <a:rPr lang="fa-IR" dirty="0"/>
                  <a:t>نتواند یک وابستگی </a:t>
                </a:r>
                <a:r>
                  <a:rPr lang="fa-IR" dirty="0" err="1"/>
                  <a:t>چندمقداری</a:t>
                </a:r>
                <a:r>
                  <a:rPr lang="fa-IR" dirty="0"/>
                  <a:t> </a:t>
                </a:r>
                <a:r>
                  <a:rPr lang="fa-IR" dirty="0" err="1"/>
                  <a:t>داده‌شده</a:t>
                </a:r>
                <a:r>
                  <a:rPr lang="fa-IR" dirty="0"/>
                  <a:t> را برآورده کند، </a:t>
                </a:r>
                <a:r>
                  <a:rPr lang="fa-IR" dirty="0" err="1"/>
                  <a:t>می‌توانیم</a:t>
                </a:r>
                <a:r>
                  <a:rPr lang="fa-IR" dirty="0"/>
                  <a:t> یک رابطه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𝑟</m:t>
                        </m:r>
                      </m:e>
                      <m:sup>
                        <m:r>
                          <a:rPr lang="fa-IR">
                            <a:latin typeface="Cambria Math" panose="02040503050406030204" pitchFamily="18" charset="0"/>
                          </a:rPr>
                          <m:t>′</m:t>
                        </m:r>
                      </m:sup>
                    </m:sSup>
                  </m:oMath>
                </a14:m>
                <a:r>
                  <a:rPr lang="fa-IR" dirty="0"/>
                  <a:t>بسازیم که آن وابستگی </a:t>
                </a:r>
                <a:r>
                  <a:rPr lang="fa-IR" dirty="0" err="1"/>
                  <a:t>چندمقداری</a:t>
                </a:r>
                <a:r>
                  <a:rPr lang="fa-IR" dirty="0"/>
                  <a:t> را رعایت کند، با اضافه کردن </a:t>
                </a:r>
                <a:r>
                  <a:rPr lang="fa-IR" dirty="0" err="1"/>
                  <a:t>تپل‌ها</a:t>
                </a:r>
                <a:r>
                  <a:rPr lang="fa-IR" dirty="0"/>
                  <a:t> به </a:t>
                </a:r>
                <a14:m>
                  <m:oMath xmlns:m="http://schemas.openxmlformats.org/officeDocument/2006/math">
                    <m:r>
                      <a:rPr lang="fa-IR" i="1">
                        <a:latin typeface="Cambria Math" panose="02040503050406030204" pitchFamily="18" charset="0"/>
                      </a:rPr>
                      <m:t>𝑟</m:t>
                    </m:r>
                  </m:oMath>
                </a14:m>
                <a:r>
                  <a:rPr lang="fa-IR" dirty="0"/>
                  <a:t>.</a:t>
                </a:r>
              </a:p>
              <a:p>
                <a:pPr algn="r" rtl="1"/>
                <a:endParaRPr lang="en-US" altLang="en-US" dirty="0"/>
              </a:p>
            </p:txBody>
          </p:sp>
        </mc:Choice>
        <mc:Fallback xmlns="">
          <p:sp>
            <p:nvSpPr>
              <p:cNvPr id="86019" name="Rectangle 3"/>
              <p:cNvSpPr>
                <a:spLocks noGrp="1" noRot="1" noChangeAspect="1" noMove="1" noResize="1" noEditPoints="1" noAdjustHandles="1" noChangeArrowheads="1" noChangeShapeType="1" noTextEdit="1"/>
              </p:cNvSpPr>
              <p:nvPr>
                <p:ph idx="1"/>
              </p:nvPr>
            </p:nvSpPr>
            <p:spPr>
              <a:xfrm>
                <a:off x="768351" y="1093788"/>
                <a:ext cx="7638802" cy="2900696"/>
              </a:xfrm>
              <a:blipFill>
                <a:blip r:embed="rId3"/>
                <a:stretch>
                  <a:fillRect l="-958" t="-2311" r="-958" b="-2941"/>
                </a:stretch>
              </a:blipFill>
            </p:spPr>
            <p:txBody>
              <a:bodyPr/>
              <a:lstStyle/>
              <a:p>
                <a:r>
                  <a:rPr lang="en-US">
                    <a:noFill/>
                  </a:rPr>
                  <a:t> </a:t>
                </a:r>
              </a:p>
            </p:txBody>
          </p:sp>
        </mc:Fallback>
      </mc:AlternateContent>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7218"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Theory of MVDs</a:t>
            </a:r>
          </a:p>
        </p:txBody>
      </p:sp>
      <mc:AlternateContent xmlns:mc="http://schemas.openxmlformats.org/markup-compatibility/2006" xmlns:a14="http://schemas.microsoft.com/office/drawing/2010/main">
        <mc:Choice Requires="a14">
          <p:sp>
            <p:nvSpPr>
              <p:cNvPr id="87043" name="Rectangle 3"/>
              <p:cNvSpPr>
                <a:spLocks noGrp="1" noChangeArrowheads="1"/>
              </p:cNvSpPr>
              <p:nvPr>
                <p:ph idx="1"/>
              </p:nvPr>
            </p:nvSpPr>
            <p:spPr>
              <a:xfrm>
                <a:off x="768351" y="1097449"/>
                <a:ext cx="7621048" cy="3956398"/>
              </a:xfrm>
            </p:spPr>
            <p:txBody>
              <a:bodyPr/>
              <a:lstStyle/>
              <a:p>
                <a:pPr algn="r" rtl="1"/>
                <a:r>
                  <a:rPr lang="fa-IR" dirty="0"/>
                  <a:t>از تعریف </a:t>
                </a:r>
                <a:r>
                  <a:rPr lang="fa-IR" b="1" dirty="0"/>
                  <a:t>وابستگی </a:t>
                </a:r>
                <a:r>
                  <a:rPr lang="fa-IR" b="1" dirty="0" err="1"/>
                  <a:t>چندمقداری</a:t>
                </a:r>
                <a:r>
                  <a:rPr lang="fa-IR" dirty="0"/>
                  <a:t> </a:t>
                </a:r>
                <a:r>
                  <a:rPr lang="fa-IR" dirty="0" err="1"/>
                  <a:t>می‌توان</a:t>
                </a:r>
                <a:r>
                  <a:rPr lang="fa-IR" dirty="0"/>
                  <a:t> قانون زیر را نتیجه گرفت:</a:t>
                </a:r>
                <a:br>
                  <a:rPr lang="fa-IR" dirty="0"/>
                </a:br>
                <a:r>
                  <a:rPr lang="fa-IR" dirty="0"/>
                  <a:t>اگر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oMath>
                </a14:m>
                <a:r>
                  <a:rPr lang="fa-IR" dirty="0"/>
                  <a:t>، آنگاه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oMath>
                </a14:m>
                <a:br>
                  <a:rPr lang="fa-IR" dirty="0"/>
                </a:br>
                <a:r>
                  <a:rPr lang="fa-IR" dirty="0"/>
                  <a:t>یعنی هر </a:t>
                </a:r>
                <a:r>
                  <a:rPr lang="fa-IR" b="1" dirty="0"/>
                  <a:t>وابستگی </a:t>
                </a:r>
                <a:r>
                  <a:rPr lang="fa-IR" b="1" dirty="0" err="1"/>
                  <a:t>تابعی</a:t>
                </a:r>
                <a:r>
                  <a:rPr lang="fa-IR" dirty="0"/>
                  <a:t> نیز یک </a:t>
                </a:r>
                <a:r>
                  <a:rPr lang="fa-IR" b="1" dirty="0"/>
                  <a:t>وابستگی </a:t>
                </a:r>
                <a:r>
                  <a:rPr lang="fa-IR" b="1" dirty="0" err="1"/>
                  <a:t>چندمقداری</a:t>
                </a:r>
                <a:r>
                  <a:rPr lang="fa-IR" dirty="0"/>
                  <a:t> است.</a:t>
                </a:r>
              </a:p>
              <a:p>
                <a:pPr algn="r" rtl="1"/>
                <a:r>
                  <a:rPr lang="fa-IR" dirty="0"/>
                  <a:t>بسته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𝐷</m:t>
                        </m:r>
                      </m:e>
                      <m:sup>
                        <m:r>
                          <a:rPr lang="fa-IR">
                            <a:latin typeface="Cambria Math" panose="02040503050406030204" pitchFamily="18" charset="0"/>
                          </a:rPr>
                          <m:t>+</m:t>
                        </m:r>
                      </m:sup>
                    </m:sSup>
                  </m:oMath>
                </a14:m>
                <a:r>
                  <a:rPr lang="fa-IR" dirty="0"/>
                  <a:t>از </a:t>
                </a:r>
                <a14:m>
                  <m:oMath xmlns:m="http://schemas.openxmlformats.org/officeDocument/2006/math">
                    <m:r>
                      <a:rPr lang="fa-IR" i="1">
                        <a:latin typeface="Cambria Math" panose="02040503050406030204" pitchFamily="18" charset="0"/>
                      </a:rPr>
                      <m:t>𝐷</m:t>
                    </m:r>
                  </m:oMath>
                </a14:m>
                <a:r>
                  <a:rPr lang="fa-IR" dirty="0"/>
                  <a:t>مجموعه تمام </a:t>
                </a:r>
                <a:r>
                  <a:rPr lang="fa-IR" dirty="0" err="1"/>
                  <a:t>وابستگی‌های</a:t>
                </a:r>
                <a:r>
                  <a:rPr lang="fa-IR" dirty="0"/>
                  <a:t> </a:t>
                </a:r>
                <a:r>
                  <a:rPr lang="fa-IR" dirty="0" err="1"/>
                  <a:t>تابعی</a:t>
                </a:r>
                <a:r>
                  <a:rPr lang="fa-IR" dirty="0"/>
                  <a:t> و </a:t>
                </a:r>
                <a:r>
                  <a:rPr lang="fa-IR" dirty="0" err="1"/>
                  <a:t>چندمقداری</a:t>
                </a:r>
                <a:r>
                  <a:rPr lang="fa-IR" dirty="0"/>
                  <a:t> است که </a:t>
                </a:r>
                <a:r>
                  <a:rPr lang="fa-IR" dirty="0" err="1"/>
                  <a:t>به‌طور</a:t>
                </a:r>
                <a:r>
                  <a:rPr lang="fa-IR" dirty="0"/>
                  <a:t> منطقی از </a:t>
                </a:r>
                <a14:m>
                  <m:oMath xmlns:m="http://schemas.openxmlformats.org/officeDocument/2006/math">
                    <m:r>
                      <a:rPr lang="fa-IR" i="1">
                        <a:latin typeface="Cambria Math" panose="02040503050406030204" pitchFamily="18" charset="0"/>
                      </a:rPr>
                      <m:t>𝐷</m:t>
                    </m:r>
                  </m:oMath>
                </a14:m>
                <a:r>
                  <a:rPr lang="fa-IR" dirty="0"/>
                  <a:t>نتیجه </a:t>
                </a:r>
                <a:r>
                  <a:rPr lang="fa-IR" dirty="0" err="1"/>
                  <a:t>می‌شوند</a:t>
                </a:r>
                <a:r>
                  <a:rPr lang="fa-IR" dirty="0"/>
                  <a:t>.</a:t>
                </a:r>
              </a:p>
              <a:p>
                <a:pPr algn="r" rtl="1"/>
                <a:r>
                  <a:rPr lang="fa-IR" dirty="0" err="1"/>
                  <a:t>می‌توانیم</a:t>
                </a:r>
                <a:r>
                  <a:rPr lang="fa-IR" dirty="0"/>
                  <a:t>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𝐷</m:t>
                        </m:r>
                      </m:e>
                      <m:sup>
                        <m:r>
                          <a:rPr lang="fa-IR">
                            <a:latin typeface="Cambria Math" panose="02040503050406030204" pitchFamily="18" charset="0"/>
                          </a:rPr>
                          <m:t>+</m:t>
                        </m:r>
                      </m:sup>
                    </m:sSup>
                  </m:oMath>
                </a14:m>
                <a:r>
                  <a:rPr lang="fa-IR" dirty="0"/>
                  <a:t>را از </a:t>
                </a:r>
                <a14:m>
                  <m:oMath xmlns:m="http://schemas.openxmlformats.org/officeDocument/2006/math">
                    <m:r>
                      <a:rPr lang="fa-IR" i="1">
                        <a:latin typeface="Cambria Math" panose="02040503050406030204" pitchFamily="18" charset="0"/>
                      </a:rPr>
                      <m:t>𝐷</m:t>
                    </m:r>
                  </m:oMath>
                </a14:m>
                <a:r>
                  <a:rPr lang="fa-IR" dirty="0"/>
                  <a:t>محاسبه کنیم، با استفاده از تعاریف رسمی </a:t>
                </a:r>
                <a:r>
                  <a:rPr lang="fa-IR" b="1" dirty="0" err="1"/>
                  <a:t>وابستگی‌های</a:t>
                </a:r>
                <a:r>
                  <a:rPr lang="fa-IR" b="1" dirty="0"/>
                  <a:t> </a:t>
                </a:r>
                <a:r>
                  <a:rPr lang="fa-IR" b="1" dirty="0" err="1"/>
                  <a:t>تابعی</a:t>
                </a:r>
                <a:r>
                  <a:rPr lang="fa-IR" dirty="0"/>
                  <a:t> و </a:t>
                </a:r>
                <a:r>
                  <a:rPr lang="fa-IR" b="1" dirty="0" err="1"/>
                  <a:t>وابستگی‌های</a:t>
                </a:r>
                <a:r>
                  <a:rPr lang="fa-IR" b="1" dirty="0"/>
                  <a:t> </a:t>
                </a:r>
                <a:r>
                  <a:rPr lang="fa-IR" b="1" dirty="0" err="1"/>
                  <a:t>چندمقداری</a:t>
                </a:r>
                <a:r>
                  <a:rPr lang="fa-IR" dirty="0"/>
                  <a:t>.</a:t>
                </a:r>
              </a:p>
              <a:p>
                <a:pPr algn="r" rtl="1"/>
                <a:r>
                  <a:rPr lang="fa-IR" dirty="0"/>
                  <a:t>این نوع استدلال برای </a:t>
                </a:r>
                <a:r>
                  <a:rPr lang="fa-IR" dirty="0" err="1"/>
                  <a:t>وابستگی‌های</a:t>
                </a:r>
                <a:r>
                  <a:rPr lang="fa-IR" dirty="0"/>
                  <a:t> </a:t>
                </a:r>
                <a:r>
                  <a:rPr lang="fa-IR" dirty="0" err="1"/>
                  <a:t>چندمقداری</a:t>
                </a:r>
                <a:r>
                  <a:rPr lang="fa-IR" dirty="0"/>
                  <a:t> بسیار ساده کافی است، که به نظر </a:t>
                </a:r>
                <a:r>
                  <a:rPr lang="fa-IR" dirty="0" err="1"/>
                  <a:t>می‌رسد</a:t>
                </a:r>
                <a:r>
                  <a:rPr lang="fa-IR" dirty="0"/>
                  <a:t> در عمل </a:t>
                </a:r>
                <a:r>
                  <a:rPr lang="fa-IR" dirty="0" err="1"/>
                  <a:t>رایج‌ترین</a:t>
                </a:r>
                <a:r>
                  <a:rPr lang="fa-IR" dirty="0"/>
                  <a:t> هستند.</a:t>
                </a:r>
              </a:p>
              <a:p>
                <a:pPr algn="r" rtl="1"/>
                <a:r>
                  <a:rPr lang="fa-IR" dirty="0"/>
                  <a:t>برای </a:t>
                </a:r>
                <a:r>
                  <a:rPr lang="fa-IR" dirty="0" err="1"/>
                  <a:t>وابستگی‌های</a:t>
                </a:r>
                <a:r>
                  <a:rPr lang="fa-IR" dirty="0"/>
                  <a:t> </a:t>
                </a:r>
                <a:r>
                  <a:rPr lang="fa-IR" dirty="0" err="1"/>
                  <a:t>پیچیده‌تر</a:t>
                </a:r>
                <a:r>
                  <a:rPr lang="fa-IR" dirty="0"/>
                  <a:t>، بهتر است با استفاده از </a:t>
                </a:r>
                <a:r>
                  <a:rPr lang="fa-IR" b="1" dirty="0"/>
                  <a:t>سیستم قواعد استنتاج (</a:t>
                </a:r>
                <a:r>
                  <a:rPr lang="en-US" b="1" dirty="0"/>
                  <a:t>Appendix C)</a:t>
                </a:r>
                <a:r>
                  <a:rPr lang="en-US" dirty="0"/>
                  <a:t> </a:t>
                </a:r>
                <a:r>
                  <a:rPr lang="fa-IR" dirty="0"/>
                  <a:t>درباره </a:t>
                </a:r>
                <a:r>
                  <a:rPr lang="fa-IR" dirty="0" err="1"/>
                  <a:t>مجموعه‌ای</a:t>
                </a:r>
                <a:r>
                  <a:rPr lang="fa-IR" dirty="0"/>
                  <a:t> از </a:t>
                </a:r>
                <a:r>
                  <a:rPr lang="fa-IR" dirty="0" err="1"/>
                  <a:t>وابستگی‌ها</a:t>
                </a:r>
                <a:r>
                  <a:rPr lang="fa-IR" dirty="0"/>
                  <a:t> استدلال کنیم.</a:t>
                </a:r>
              </a:p>
              <a:p>
                <a:pPr algn="r" rtl="1"/>
                <a:endParaRPr lang="en-US" altLang="en-US" dirty="0"/>
              </a:p>
            </p:txBody>
          </p:sp>
        </mc:Choice>
        <mc:Fallback xmlns="">
          <p:sp>
            <p:nvSpPr>
              <p:cNvPr id="87043" name="Rectangle 3"/>
              <p:cNvSpPr>
                <a:spLocks noGrp="1" noRot="1" noChangeAspect="1" noMove="1" noResize="1" noEditPoints="1" noAdjustHandles="1" noChangeArrowheads="1" noChangeShapeType="1" noTextEdit="1"/>
              </p:cNvSpPr>
              <p:nvPr>
                <p:ph idx="1"/>
              </p:nvPr>
            </p:nvSpPr>
            <p:spPr>
              <a:xfrm>
                <a:off x="768351" y="1097449"/>
                <a:ext cx="7621048" cy="3956398"/>
              </a:xfrm>
              <a:blipFill>
                <a:blip r:embed="rId3"/>
                <a:stretch>
                  <a:fillRect l="-240" t="-2157" r="-960" b="-924"/>
                </a:stretch>
              </a:blipFill>
            </p:spPr>
            <p:txBody>
              <a:bodyPr/>
              <a:lstStyle/>
              <a:p>
                <a:r>
                  <a:rPr lang="en-US">
                    <a:noFill/>
                  </a:rPr>
                  <a:t> </a:t>
                </a:r>
              </a:p>
            </p:txBody>
          </p:sp>
        </mc:Fallback>
      </mc:AlternateContent>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9266"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Fourth Normal Form</a:t>
            </a:r>
          </a:p>
        </p:txBody>
      </p:sp>
      <mc:AlternateContent xmlns:mc="http://schemas.openxmlformats.org/markup-compatibility/2006" xmlns:a14="http://schemas.microsoft.com/office/drawing/2010/main">
        <mc:Choice Requires="a14">
          <p:sp>
            <p:nvSpPr>
              <p:cNvPr id="88067" name="Rectangle 3"/>
              <p:cNvSpPr>
                <a:spLocks noGrp="1" noChangeArrowheads="1"/>
              </p:cNvSpPr>
              <p:nvPr>
                <p:ph idx="1"/>
              </p:nvPr>
            </p:nvSpPr>
            <p:spPr>
              <a:xfrm>
                <a:off x="768350" y="1092614"/>
                <a:ext cx="7594415" cy="2241299"/>
              </a:xfrm>
            </p:spPr>
            <p:txBody>
              <a:bodyPr/>
              <a:lstStyle/>
              <a:p>
                <a:pPr algn="r" rtl="1"/>
                <a:r>
                  <a:rPr lang="fa-IR" dirty="0"/>
                  <a:t>یک طرح </a:t>
                </a:r>
                <a:r>
                  <a:rPr lang="fa-IR" dirty="0" err="1"/>
                  <a:t>رابطه‌ای</a:t>
                </a:r>
                <a:r>
                  <a:rPr lang="fa-IR" dirty="0"/>
                  <a:t> </a:t>
                </a:r>
                <a14:m>
                  <m:oMath xmlns:m="http://schemas.openxmlformats.org/officeDocument/2006/math">
                    <m:r>
                      <a:rPr lang="fa-IR" i="1">
                        <a:latin typeface="Cambria Math" panose="02040503050406030204" pitchFamily="18" charset="0"/>
                      </a:rPr>
                      <m:t>𝑅</m:t>
                    </m:r>
                  </m:oMath>
                </a14:m>
                <a:r>
                  <a:rPr lang="fa-IR" dirty="0"/>
                  <a:t>در </a:t>
                </a:r>
                <a:r>
                  <a:rPr lang="fa-IR" b="1" dirty="0"/>
                  <a:t>4</a:t>
                </a:r>
                <a:r>
                  <a:rPr lang="en-US" b="1" dirty="0"/>
                  <a:t>NF</a:t>
                </a:r>
                <a:r>
                  <a:rPr lang="en-US" dirty="0"/>
                  <a:t> </a:t>
                </a:r>
                <a:r>
                  <a:rPr lang="fa-IR" dirty="0"/>
                  <a:t>نسبت به مجموعه </a:t>
                </a:r>
                <a14:m>
                  <m:oMath xmlns:m="http://schemas.openxmlformats.org/officeDocument/2006/math">
                    <m:r>
                      <a:rPr lang="fa-IR" i="1">
                        <a:latin typeface="Cambria Math" panose="02040503050406030204" pitchFamily="18" charset="0"/>
                      </a:rPr>
                      <m:t>𝐷</m:t>
                    </m:r>
                  </m:oMath>
                </a14:m>
                <a:r>
                  <a:rPr lang="fa-IR" dirty="0"/>
                  <a:t>از </a:t>
                </a:r>
                <a:r>
                  <a:rPr lang="fa-IR" dirty="0" err="1"/>
                  <a:t>وابستگی‌های</a:t>
                </a:r>
                <a:r>
                  <a:rPr lang="fa-IR" dirty="0"/>
                  <a:t> </a:t>
                </a:r>
                <a:r>
                  <a:rPr lang="fa-IR" dirty="0" err="1"/>
                  <a:t>تابعی</a:t>
                </a:r>
                <a:r>
                  <a:rPr lang="fa-IR" dirty="0"/>
                  <a:t> و </a:t>
                </a:r>
                <a:r>
                  <a:rPr lang="fa-IR" dirty="0" err="1"/>
                  <a:t>چندمقداری</a:t>
                </a:r>
                <a:r>
                  <a:rPr lang="fa-IR" dirty="0"/>
                  <a:t> است، اگر برای تمام </a:t>
                </a:r>
                <a:r>
                  <a:rPr lang="fa-IR" dirty="0" err="1"/>
                  <a:t>وابستگی‌های</a:t>
                </a:r>
                <a:r>
                  <a:rPr lang="fa-IR" dirty="0"/>
                  <a:t> </a:t>
                </a:r>
                <a:r>
                  <a:rPr lang="fa-IR" dirty="0" err="1"/>
                  <a:t>چندمقداری</a:t>
                </a:r>
                <a:r>
                  <a:rPr lang="fa-IR" dirty="0"/>
                  <a:t> در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𝐷</m:t>
                        </m:r>
                      </m:e>
                      <m:sup>
                        <m:r>
                          <a:rPr lang="fa-IR">
                            <a:latin typeface="Cambria Math" panose="02040503050406030204" pitchFamily="18" charset="0"/>
                          </a:rPr>
                          <m:t>+</m:t>
                        </m:r>
                      </m:sup>
                    </m:sSup>
                  </m:oMath>
                </a14:m>
                <a:r>
                  <a:rPr lang="fa-IR" dirty="0"/>
                  <a:t>به شکل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oMath>
                </a14:m>
                <a:r>
                  <a:rPr lang="fa-IR" dirty="0"/>
                  <a:t>، که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𝑅</m:t>
                    </m:r>
                  </m:oMath>
                </a14:m>
                <a:r>
                  <a:rPr lang="fa-IR" dirty="0"/>
                  <a:t>و </a:t>
                </a:r>
                <a14:m>
                  <m:oMath xmlns:m="http://schemas.openxmlformats.org/officeDocument/2006/math">
                    <m:r>
                      <a:rPr lang="fa-IR" i="1">
                        <a:latin typeface="Cambria Math" panose="02040503050406030204" pitchFamily="18" charset="0"/>
                      </a:rPr>
                      <m:t>𝛽</m:t>
                    </m:r>
                    <m:r>
                      <a:rPr lang="fa-IR">
                        <a:latin typeface="Cambria Math" panose="02040503050406030204" pitchFamily="18" charset="0"/>
                      </a:rPr>
                      <m:t>⊆</m:t>
                    </m:r>
                    <m:r>
                      <a:rPr lang="fa-IR" i="1">
                        <a:latin typeface="Cambria Math" panose="02040503050406030204" pitchFamily="18" charset="0"/>
                      </a:rPr>
                      <m:t>𝑅</m:t>
                    </m:r>
                  </m:oMath>
                </a14:m>
                <a:r>
                  <a:rPr lang="fa-IR" dirty="0"/>
                  <a:t>هستند، حداقل یکی از موارد زیر برقرار باشد:</a:t>
                </a:r>
              </a:p>
              <a:p>
                <a:pPr algn="r" rtl="1"/>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oMath>
                </a14:m>
                <a:r>
                  <a:rPr lang="fa-IR" b="1" dirty="0" err="1"/>
                  <a:t>تبیینی</a:t>
                </a:r>
                <a:r>
                  <a:rPr lang="fa-IR" b="1" dirty="0"/>
                  <a:t> (</a:t>
                </a:r>
                <a:r>
                  <a:rPr lang="en-US" b="1" dirty="0"/>
                  <a:t>trivial)</a:t>
                </a:r>
                <a:r>
                  <a:rPr lang="en-US" dirty="0"/>
                  <a:t> </a:t>
                </a:r>
                <a:r>
                  <a:rPr lang="fa-IR" dirty="0"/>
                  <a:t>است (یعنی </a:t>
                </a:r>
                <a14:m>
                  <m:oMath xmlns:m="http://schemas.openxmlformats.org/officeDocument/2006/math">
                    <m:r>
                      <a:rPr lang="fa-IR" i="1">
                        <a:latin typeface="Cambria Math" panose="02040503050406030204" pitchFamily="18" charset="0"/>
                      </a:rPr>
                      <m:t>𝛽</m:t>
                    </m:r>
                    <m:r>
                      <a:rPr lang="fa-IR">
                        <a:latin typeface="Cambria Math" panose="02040503050406030204" pitchFamily="18" charset="0"/>
                      </a:rPr>
                      <m:t>⊆</m:t>
                    </m:r>
                    <m:r>
                      <a:rPr lang="fa-IR" i="1">
                        <a:latin typeface="Cambria Math" panose="02040503050406030204" pitchFamily="18" charset="0"/>
                      </a:rPr>
                      <m:t>𝛼</m:t>
                    </m:r>
                  </m:oMath>
                </a14:m>
                <a:r>
                  <a:rPr lang="fa-IR" dirty="0"/>
                  <a:t>یا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r>
                      <a:rPr lang="fa-IR">
                        <a:latin typeface="Cambria Math" panose="02040503050406030204" pitchFamily="18" charset="0"/>
                      </a:rPr>
                      <m:t>=</m:t>
                    </m:r>
                    <m:r>
                      <a:rPr lang="fa-IR" i="1">
                        <a:latin typeface="Cambria Math" panose="02040503050406030204" pitchFamily="18" charset="0"/>
                      </a:rPr>
                      <m:t>𝑅</m:t>
                    </m:r>
                  </m:oMath>
                </a14:m>
                <a:r>
                  <a:rPr lang="fa-IR" dirty="0"/>
                  <a:t>)</a:t>
                </a:r>
              </a:p>
              <a:p>
                <a:pPr algn="r" rtl="1"/>
                <a14:m>
                  <m:oMath xmlns:m="http://schemas.openxmlformats.org/officeDocument/2006/math">
                    <m:r>
                      <a:rPr lang="fa-IR" i="1">
                        <a:latin typeface="Cambria Math" panose="02040503050406030204" pitchFamily="18" charset="0"/>
                      </a:rPr>
                      <m:t>𝛼</m:t>
                    </m:r>
                  </m:oMath>
                </a14:m>
                <a:r>
                  <a:rPr lang="fa-IR" dirty="0"/>
                  <a:t>یک </a:t>
                </a:r>
                <a:r>
                  <a:rPr lang="fa-IR" b="1" dirty="0" err="1"/>
                  <a:t>ابرکلید</a:t>
                </a:r>
                <a:r>
                  <a:rPr lang="fa-IR" dirty="0"/>
                  <a:t> برای طرح </a:t>
                </a:r>
                <a:r>
                  <a:rPr lang="fa-IR" dirty="0" err="1"/>
                  <a:t>رابطه‌ای</a:t>
                </a:r>
                <a:r>
                  <a:rPr lang="fa-IR" dirty="0"/>
                  <a:t> </a:t>
                </a:r>
                <a14:m>
                  <m:oMath xmlns:m="http://schemas.openxmlformats.org/officeDocument/2006/math">
                    <m:r>
                      <a:rPr lang="fa-IR" i="1">
                        <a:latin typeface="Cambria Math" panose="02040503050406030204" pitchFamily="18" charset="0"/>
                      </a:rPr>
                      <m:t>𝑅</m:t>
                    </m:r>
                  </m:oMath>
                </a14:m>
                <a:r>
                  <a:rPr lang="fa-IR" dirty="0"/>
                  <a:t>است</a:t>
                </a:r>
              </a:p>
              <a:p>
                <a:pPr algn="r" rtl="1"/>
                <a:r>
                  <a:rPr lang="fa-IR" dirty="0"/>
                  <a:t>اگر یک رابطه در </a:t>
                </a:r>
                <a:r>
                  <a:rPr lang="fa-IR" b="1" dirty="0"/>
                  <a:t>4</a:t>
                </a:r>
                <a:r>
                  <a:rPr lang="en-US" b="1" dirty="0"/>
                  <a:t>NF</a:t>
                </a:r>
                <a:r>
                  <a:rPr lang="en-US" dirty="0"/>
                  <a:t> </a:t>
                </a:r>
                <a:r>
                  <a:rPr lang="fa-IR" dirty="0"/>
                  <a:t>باشد، آنگاه در </a:t>
                </a:r>
                <a:r>
                  <a:rPr lang="en-US" b="1" dirty="0"/>
                  <a:t>BCNF</a:t>
                </a:r>
                <a:r>
                  <a:rPr lang="en-US" dirty="0"/>
                  <a:t> </a:t>
                </a:r>
                <a:r>
                  <a:rPr lang="fa-IR" dirty="0"/>
                  <a:t>نیز هست.</a:t>
                </a:r>
              </a:p>
              <a:p>
                <a:pPr algn="r" rtl="1"/>
                <a:endParaRPr lang="en-US" altLang="en-US" dirty="0">
                  <a:sym typeface="Greek Symbols"/>
                </a:endParaRPr>
              </a:p>
            </p:txBody>
          </p:sp>
        </mc:Choice>
        <mc:Fallback xmlns="">
          <p:sp>
            <p:nvSpPr>
              <p:cNvPr id="88067" name="Rectangle 3"/>
              <p:cNvSpPr>
                <a:spLocks noGrp="1" noRot="1" noChangeAspect="1" noMove="1" noResize="1" noEditPoints="1" noAdjustHandles="1" noChangeArrowheads="1" noChangeShapeType="1" noTextEdit="1"/>
              </p:cNvSpPr>
              <p:nvPr>
                <p:ph idx="1"/>
              </p:nvPr>
            </p:nvSpPr>
            <p:spPr>
              <a:xfrm>
                <a:off x="768350" y="1092614"/>
                <a:ext cx="7594415" cy="2241299"/>
              </a:xfrm>
              <a:blipFill>
                <a:blip r:embed="rId3"/>
                <a:stretch>
                  <a:fillRect t="-3261" r="-963" b="-5435"/>
                </a:stretch>
              </a:blipFill>
            </p:spPr>
            <p:txBody>
              <a:bodyPr/>
              <a:lstStyle/>
              <a:p>
                <a:r>
                  <a:rPr lang="en-US">
                    <a:noFill/>
                  </a:rPr>
                  <a:t> </a:t>
                </a:r>
              </a:p>
            </p:txBody>
          </p:sp>
        </mc:Fallback>
      </mc:AlternateContent>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314" name="Rectangle 2"/>
          <p:cNvSpPr>
            <a:spLocks noGrp="1" noChangeArrowheads="1"/>
          </p:cNvSpPr>
          <p:nvPr>
            <p:ph type="title"/>
          </p:nvPr>
        </p:nvSpPr>
        <p:spPr>
          <a:xfrm>
            <a:off x="873125" y="79375"/>
            <a:ext cx="8077200" cy="609600"/>
          </a:xfrm>
        </p:spPr>
        <p:txBody>
          <a:bodyPr/>
          <a:lstStyle/>
          <a:p>
            <a:pPr>
              <a:defRPr/>
            </a:pPr>
            <a:r>
              <a:rPr lang="en-US" altLang="en-US" dirty="0">
                <a:effectLst>
                  <a:outerShdw blurRad="38100" dist="38100" dir="2700000" algn="tl">
                    <a:srgbClr val="C0C0C0"/>
                  </a:outerShdw>
                </a:effectLst>
                <a:ea typeface="ＭＳ Ｐゴシック" pitchFamily="34" charset="-128"/>
              </a:rPr>
              <a:t>Restriction of Multivalued Dependencies</a:t>
            </a:r>
          </a:p>
        </p:txBody>
      </p:sp>
      <mc:AlternateContent xmlns:mc="http://schemas.openxmlformats.org/markup-compatibility/2006" xmlns:a14="http://schemas.microsoft.com/office/drawing/2010/main">
        <mc:Choice Requires="a14">
          <p:sp>
            <p:nvSpPr>
              <p:cNvPr id="89091" name="Rectangle 3"/>
              <p:cNvSpPr>
                <a:spLocks noGrp="1" noChangeArrowheads="1"/>
              </p:cNvSpPr>
              <p:nvPr>
                <p:ph idx="1"/>
              </p:nvPr>
            </p:nvSpPr>
            <p:spPr>
              <a:xfrm>
                <a:off x="763480" y="1093788"/>
                <a:ext cx="7964851" cy="2359275"/>
              </a:xfrm>
            </p:spPr>
            <p:txBody>
              <a:bodyPr/>
              <a:lstStyle/>
              <a:p>
                <a:pPr algn="r" rtl="1"/>
                <a:r>
                  <a:rPr lang="fa-IR" dirty="0" err="1"/>
                  <a:t>محدودسازی</a:t>
                </a:r>
                <a:r>
                  <a:rPr lang="fa-IR" dirty="0"/>
                  <a:t> </a:t>
                </a:r>
                <a14:m>
                  <m:oMath xmlns:m="http://schemas.openxmlformats.org/officeDocument/2006/math">
                    <m:r>
                      <a:rPr lang="fa-IR" i="1">
                        <a:latin typeface="Cambria Math" panose="02040503050406030204" pitchFamily="18" charset="0"/>
                      </a:rPr>
                      <m:t>𝐷</m:t>
                    </m:r>
                  </m:oMath>
                </a14:m>
                <a:r>
                  <a:rPr lang="fa-IR" dirty="0"/>
                  <a:t>به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a:t>مجموعه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𝐷</m:t>
                        </m:r>
                      </m:e>
                      <m:sub>
                        <m:r>
                          <a:rPr lang="fa-IR" i="1">
                            <a:latin typeface="Cambria Math" panose="02040503050406030204" pitchFamily="18" charset="0"/>
                          </a:rPr>
                          <m:t>𝑖</m:t>
                        </m:r>
                      </m:sub>
                    </m:sSub>
                  </m:oMath>
                </a14:m>
                <a:r>
                  <a:rPr lang="fa-IR" dirty="0"/>
                  <a:t>است که شامل موارد زیر </a:t>
                </a:r>
                <a:r>
                  <a:rPr lang="fa-IR" dirty="0" err="1"/>
                  <a:t>می‌باشد</a:t>
                </a:r>
                <a:r>
                  <a:rPr lang="fa-IR" dirty="0"/>
                  <a:t>:</a:t>
                </a:r>
              </a:p>
              <a:p>
                <a:pPr algn="r" rtl="1"/>
                <a:r>
                  <a:rPr lang="fa-IR" dirty="0"/>
                  <a:t>تمام </a:t>
                </a:r>
                <a:r>
                  <a:rPr lang="fa-IR" b="1" dirty="0" err="1"/>
                  <a:t>وابستگی‌های</a:t>
                </a:r>
                <a:r>
                  <a:rPr lang="fa-IR" b="1" dirty="0"/>
                  <a:t> </a:t>
                </a:r>
                <a:r>
                  <a:rPr lang="fa-IR" b="1" dirty="0" err="1"/>
                  <a:t>تابعی</a:t>
                </a:r>
                <a:r>
                  <a:rPr lang="fa-IR" dirty="0"/>
                  <a:t> در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𝐷</m:t>
                        </m:r>
                      </m:e>
                      <m:sup>
                        <m:r>
                          <a:rPr lang="fa-IR">
                            <a:latin typeface="Cambria Math" panose="02040503050406030204" pitchFamily="18" charset="0"/>
                          </a:rPr>
                          <m:t>+</m:t>
                        </m:r>
                      </m:sup>
                    </m:sSup>
                  </m:oMath>
                </a14:m>
                <a:r>
                  <a:rPr lang="fa-IR" dirty="0"/>
                  <a:t>که فقط شامل صفات موجود در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a:t>هستند</a:t>
                </a:r>
              </a:p>
              <a:p>
                <a:pPr algn="r" rtl="1"/>
                <a:r>
                  <a:rPr lang="fa-IR" dirty="0"/>
                  <a:t>تمام </a:t>
                </a:r>
                <a:r>
                  <a:rPr lang="fa-IR" b="1" dirty="0" err="1"/>
                  <a:t>وابستگی‌های</a:t>
                </a:r>
                <a:r>
                  <a:rPr lang="fa-IR" b="1" dirty="0"/>
                  <a:t> </a:t>
                </a:r>
                <a:r>
                  <a:rPr lang="fa-IR" b="1" dirty="0" err="1"/>
                  <a:t>چندمقداری</a:t>
                </a:r>
                <a:r>
                  <a:rPr lang="fa-IR" dirty="0"/>
                  <a:t> به شکل</a:t>
                </a:r>
              </a:p>
              <a:p>
                <a:pPr algn="r" rtl="1"/>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d>
                      <m:dPr>
                        <m:ctrlPr>
                          <a:rPr lang="fa-IR" i="1">
                            <a:latin typeface="Cambria Math" panose="02040503050406030204" pitchFamily="18" charset="0"/>
                          </a:rPr>
                        </m:ctrlPr>
                      </m:dPr>
                      <m:e>
                        <m:r>
                          <a:rPr lang="fa-IR" i="1">
                            <a:latin typeface="Cambria Math" panose="02040503050406030204" pitchFamily="18" charset="0"/>
                          </a:rPr>
                          <m:t>𝛽</m:t>
                        </m:r>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e>
                    </m:d>
                  </m:oMath>
                </a14:m>
                <a:endParaRPr lang="fa-IR" dirty="0"/>
              </a:p>
              <a:p>
                <a:pPr algn="r" rtl="1"/>
                <a:r>
                  <a:rPr lang="fa-IR" dirty="0"/>
                  <a:t>که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a:t>و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oMath>
                </a14:m>
                <a:r>
                  <a:rPr lang="fa-IR" dirty="0"/>
                  <a:t>در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𝐷</m:t>
                        </m:r>
                      </m:e>
                      <m:sup>
                        <m:r>
                          <a:rPr lang="fa-IR">
                            <a:latin typeface="Cambria Math" panose="02040503050406030204" pitchFamily="18" charset="0"/>
                          </a:rPr>
                          <m:t>+</m:t>
                        </m:r>
                      </m:sup>
                    </m:sSup>
                  </m:oMath>
                </a14:m>
                <a:r>
                  <a:rPr lang="fa-IR" dirty="0"/>
                  <a:t>قرار دارد.</a:t>
                </a:r>
              </a:p>
              <a:p>
                <a:pPr algn="r" rtl="1"/>
                <a:endParaRPr lang="en-US" altLang="en-US" dirty="0"/>
              </a:p>
            </p:txBody>
          </p:sp>
        </mc:Choice>
        <mc:Fallback xmlns="">
          <p:sp>
            <p:nvSpPr>
              <p:cNvPr id="89091" name="Rectangle 3"/>
              <p:cNvSpPr>
                <a:spLocks noGrp="1" noRot="1" noChangeAspect="1" noMove="1" noResize="1" noEditPoints="1" noAdjustHandles="1" noChangeArrowheads="1" noChangeShapeType="1" noTextEdit="1"/>
              </p:cNvSpPr>
              <p:nvPr>
                <p:ph idx="1"/>
              </p:nvPr>
            </p:nvSpPr>
            <p:spPr>
              <a:xfrm>
                <a:off x="763480" y="1093788"/>
                <a:ext cx="7964851" cy="2359275"/>
              </a:xfrm>
              <a:blipFill>
                <a:blip r:embed="rId3"/>
                <a:stretch>
                  <a:fillRect t="-2842" r="-918"/>
                </a:stretch>
              </a:blipFill>
            </p:spPr>
            <p:txBody>
              <a:bodyPr/>
              <a:lstStyle/>
              <a:p>
                <a:r>
                  <a:rPr lang="en-US">
                    <a:noFill/>
                  </a:rPr>
                  <a:t> </a:t>
                </a:r>
              </a:p>
            </p:txBody>
          </p:sp>
        </mc:Fallback>
      </mc:AlternateContent>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3362"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4NF Decomposition Algorithm</a:t>
            </a:r>
          </a:p>
        </p:txBody>
      </p:sp>
      <mc:AlternateContent xmlns:mc="http://schemas.openxmlformats.org/markup-compatibility/2006" xmlns:a14="http://schemas.microsoft.com/office/drawing/2010/main">
        <mc:Choice Requires="a14">
          <p:sp>
            <p:nvSpPr>
              <p:cNvPr id="90115" name="Rectangle 3"/>
              <p:cNvSpPr>
                <a:spLocks noGrp="1" noChangeArrowheads="1"/>
              </p:cNvSpPr>
              <p:nvPr>
                <p:ph idx="1"/>
              </p:nvPr>
            </p:nvSpPr>
            <p:spPr>
              <a:xfrm>
                <a:off x="768350" y="1163638"/>
                <a:ext cx="7496761" cy="3901657"/>
              </a:xfrm>
            </p:spPr>
            <p:txBody>
              <a:bodyPr/>
              <a:lstStyle/>
              <a:p>
                <a:pPr>
                  <a:buFont typeface="Monotype Sorts" pitchFamily="-84" charset="2"/>
                  <a:buNone/>
                </a:pPr>
                <a:r>
                  <a:rPr lang="en-US" altLang="en-US" i="1" dirty="0"/>
                  <a:t>     result:</a:t>
                </a:r>
                <a:r>
                  <a:rPr lang="en-US" altLang="en-US" dirty="0"/>
                  <a:t> = {</a:t>
                </a:r>
                <a:r>
                  <a:rPr lang="en-US" altLang="en-US" i="1" dirty="0"/>
                  <a:t>R</a:t>
                </a:r>
                <a:r>
                  <a:rPr lang="en-US" altLang="en-US" dirty="0"/>
                  <a:t>};</a:t>
                </a:r>
                <a:br>
                  <a:rPr lang="en-US" altLang="en-US" dirty="0"/>
                </a:br>
                <a:r>
                  <a:rPr lang="en-US" altLang="en-US" i="1" dirty="0"/>
                  <a:t>done</a:t>
                </a:r>
                <a:r>
                  <a:rPr lang="en-US" altLang="en-US" dirty="0"/>
                  <a:t> := false;</a:t>
                </a:r>
                <a:br>
                  <a:rPr lang="en-US" altLang="en-US" dirty="0"/>
                </a:br>
                <a:r>
                  <a:rPr lang="en-US" altLang="en-US" i="1" dirty="0"/>
                  <a:t>compute D</a:t>
                </a:r>
                <a:r>
                  <a:rPr lang="en-US" altLang="en-US" baseline="30000" dirty="0"/>
                  <a:t>+</a:t>
                </a:r>
                <a:r>
                  <a:rPr lang="en-US" altLang="en-US" dirty="0"/>
                  <a:t>;</a:t>
                </a:r>
                <a:br>
                  <a:rPr lang="en-US" altLang="en-US" dirty="0"/>
                </a:br>
                <a:r>
                  <a:rPr lang="en-US" altLang="en-US" dirty="0"/>
                  <a:t>Let D</a:t>
                </a:r>
                <a:r>
                  <a:rPr lang="en-US" altLang="en-US" baseline="-25000" dirty="0"/>
                  <a:t>i</a:t>
                </a:r>
                <a:r>
                  <a:rPr lang="en-US" altLang="en-US" dirty="0"/>
                  <a:t> denote the restriction of D</a:t>
                </a:r>
                <a:r>
                  <a:rPr lang="en-US" altLang="en-US" baseline="30000" dirty="0"/>
                  <a:t>+</a:t>
                </a:r>
                <a:r>
                  <a:rPr lang="en-US" altLang="en-US" dirty="0"/>
                  <a:t> to R</a:t>
                </a:r>
                <a:r>
                  <a:rPr lang="en-US" altLang="en-US" baseline="-25000" dirty="0"/>
                  <a:t>i</a:t>
                </a:r>
              </a:p>
              <a:p>
                <a:pPr>
                  <a:buFont typeface="Monotype Sorts" pitchFamily="-84" charset="2"/>
                  <a:buNone/>
                </a:pPr>
                <a:r>
                  <a:rPr lang="en-US" altLang="en-US" b="1" dirty="0"/>
                  <a:t>      while </a:t>
                </a:r>
                <a:r>
                  <a:rPr lang="en-US" altLang="en-US" dirty="0"/>
                  <a:t>(</a:t>
                </a:r>
                <a:r>
                  <a:rPr lang="en-US" altLang="en-US" b="1" dirty="0"/>
                  <a:t>not </a:t>
                </a:r>
                <a:r>
                  <a:rPr lang="en-US" altLang="en-US" i="1" dirty="0"/>
                  <a:t>done</a:t>
                </a:r>
                <a:r>
                  <a:rPr lang="en-US" altLang="en-US" dirty="0"/>
                  <a:t>) </a:t>
                </a:r>
                <a:br>
                  <a:rPr lang="en-US" altLang="en-US" dirty="0"/>
                </a:br>
                <a:r>
                  <a:rPr lang="en-US" altLang="en-US" dirty="0"/>
                  <a:t>    </a:t>
                </a:r>
                <a:r>
                  <a:rPr lang="en-US" altLang="en-US" b="1" dirty="0"/>
                  <a:t>if </a:t>
                </a:r>
                <a:r>
                  <a:rPr lang="en-US" altLang="en-US" dirty="0"/>
                  <a:t>(there is a schema </a:t>
                </a:r>
                <a:r>
                  <a:rPr lang="en-US" altLang="en-US" b="1" dirty="0"/>
                  <a:t>R</a:t>
                </a:r>
                <a:r>
                  <a:rPr lang="en-US" altLang="en-US" baseline="-25000" dirty="0"/>
                  <a:t>i</a:t>
                </a:r>
                <a:r>
                  <a:rPr lang="en-US" altLang="en-US" dirty="0"/>
                  <a:t> in </a:t>
                </a:r>
                <a:r>
                  <a:rPr lang="en-US" altLang="en-US" i="1" dirty="0"/>
                  <a:t>result </a:t>
                </a:r>
                <a:r>
                  <a:rPr lang="en-US" altLang="en-US" dirty="0"/>
                  <a:t>that is not in 4NF) </a:t>
                </a:r>
                <a:r>
                  <a:rPr lang="en-US" altLang="en-US" b="1" dirty="0"/>
                  <a:t>then</a:t>
                </a:r>
                <a:br>
                  <a:rPr lang="en-US" altLang="en-US" b="1" dirty="0"/>
                </a:br>
                <a:r>
                  <a:rPr lang="en-US" altLang="en-US" b="1" dirty="0"/>
                  <a:t>       begin</a:t>
                </a:r>
                <a:endParaRPr lang="en-US" altLang="en-US" dirty="0"/>
              </a:p>
              <a:p>
                <a:pPr>
                  <a:buFont typeface="Monotype Sorts" pitchFamily="-84" charset="2"/>
                  <a:buNone/>
                </a:pPr>
                <a:r>
                  <a:rPr lang="en-US" altLang="en-US" dirty="0"/>
                  <a:t>		 let </a:t>
                </a:r>
                <a:r>
                  <a:rPr lang="en-US" altLang="en-US" dirty="0">
                    <a:sym typeface="Symbol" panose="05050102010706020507" pitchFamily="18" charset="2"/>
                  </a:rPr>
                  <a:t> </a:t>
                </a:r>
                <a:r>
                  <a:rPr lang="en-US" altLang="en-US" b="1" dirty="0">
                    <a:sym typeface="Symbol" panose="05050102010706020507" pitchFamily="18" charset="2"/>
                  </a:rPr>
                  <a:t></a:t>
                </a:r>
                <a:r>
                  <a:rPr lang="en-US" altLang="en-US" dirty="0">
                    <a:sym typeface="Symbol" panose="05050102010706020507" pitchFamily="18" charset="2"/>
                  </a:rPr>
                  <a:t>  be a nontrivial multivalued dependency that holds</a:t>
                </a:r>
                <a:br>
                  <a:rPr lang="en-US" altLang="en-US" dirty="0">
                    <a:sym typeface="Symbol" panose="05050102010706020507" pitchFamily="18" charset="2"/>
                  </a:rPr>
                </a:br>
                <a:r>
                  <a:rPr lang="en-US" altLang="en-US" dirty="0">
                    <a:sym typeface="Symbol" panose="05050102010706020507" pitchFamily="18" charset="2"/>
                  </a:rPr>
                  <a:t>            on </a:t>
                </a:r>
                <a:r>
                  <a:rPr lang="en-US" altLang="en-US" i="1" dirty="0">
                    <a:sym typeface="Symbol" panose="05050102010706020507" pitchFamily="18" charset="2"/>
                  </a:rPr>
                  <a:t>R</a:t>
                </a:r>
                <a:r>
                  <a:rPr lang="en-US" altLang="en-US" baseline="-25000" dirty="0">
                    <a:sym typeface="Symbol" panose="05050102010706020507" pitchFamily="18" charset="2"/>
                  </a:rPr>
                  <a:t>i</a:t>
                </a:r>
                <a:r>
                  <a:rPr lang="en-US" altLang="en-US" dirty="0">
                    <a:sym typeface="Symbol" panose="05050102010706020507" pitchFamily="18" charset="2"/>
                  </a:rPr>
                  <a:t> such that   </a:t>
                </a:r>
                <a:r>
                  <a:rPr lang="en-US" altLang="en-US" i="1" dirty="0">
                    <a:sym typeface="Symbol" panose="05050102010706020507" pitchFamily="18" charset="2"/>
                  </a:rPr>
                  <a:t>R</a:t>
                </a:r>
                <a:r>
                  <a:rPr lang="en-US" altLang="en-US" i="1" baseline="-25000" dirty="0">
                    <a:sym typeface="Symbol" panose="05050102010706020507" pitchFamily="18" charset="2"/>
                  </a:rPr>
                  <a:t>i  </a:t>
                </a:r>
                <a:r>
                  <a:rPr lang="en-US" altLang="en-US" dirty="0">
                    <a:sym typeface="Symbol" panose="05050102010706020507" pitchFamily="18" charset="2"/>
                  </a:rPr>
                  <a:t>is not in </a:t>
                </a:r>
                <a:r>
                  <a:rPr lang="en-US" altLang="en-US" i="1" dirty="0"/>
                  <a:t>D</a:t>
                </a:r>
                <a:r>
                  <a:rPr lang="en-US" altLang="en-US" baseline="-25000" dirty="0"/>
                  <a:t>i</a:t>
                </a:r>
                <a:r>
                  <a:rPr lang="en-US" altLang="en-US" dirty="0"/>
                  <a:t>, and </a:t>
                </a:r>
                <a:r>
                  <a:rPr lang="en-US" altLang="en-US" dirty="0">
                    <a:sym typeface="Symbol" panose="05050102010706020507" pitchFamily="18" charset="2"/>
                  </a:rPr>
                  <a:t>; </a:t>
                </a:r>
                <a:br>
                  <a:rPr lang="en-US" altLang="en-US" dirty="0">
                    <a:sym typeface="Symbol" panose="05050102010706020507" pitchFamily="18" charset="2"/>
                  </a:rPr>
                </a:br>
                <a:r>
                  <a:rPr lang="en-US" altLang="en-US" dirty="0">
                    <a:sym typeface="Symbol" panose="05050102010706020507" pitchFamily="18" charset="2"/>
                  </a:rPr>
                  <a:t>          </a:t>
                </a:r>
                <a:r>
                  <a:rPr lang="en-US" altLang="en-US" i="1" dirty="0">
                    <a:sym typeface="Symbol" panose="05050102010706020507" pitchFamily="18" charset="2"/>
                  </a:rPr>
                  <a:t>result </a:t>
                </a:r>
                <a:r>
                  <a:rPr lang="en-US" altLang="en-US" dirty="0">
                    <a:sym typeface="Symbol" panose="05050102010706020507" pitchFamily="18" charset="2"/>
                  </a:rPr>
                  <a:t>:=  (</a:t>
                </a:r>
                <a:r>
                  <a:rPr lang="en-US" altLang="en-US" i="1" dirty="0">
                    <a:sym typeface="Symbol" panose="05050102010706020507" pitchFamily="18" charset="2"/>
                  </a:rPr>
                  <a:t>result </a:t>
                </a:r>
                <a:r>
                  <a:rPr lang="en-US" altLang="en-US" dirty="0">
                    <a:sym typeface="Symbol" panose="05050102010706020507" pitchFamily="18" charset="2"/>
                  </a:rPr>
                  <a:t>- </a:t>
                </a:r>
                <a:r>
                  <a:rPr lang="en-US" altLang="en-US" i="1" dirty="0">
                    <a:sym typeface="Symbol" panose="05050102010706020507" pitchFamily="18" charset="2"/>
                  </a:rPr>
                  <a:t>R</a:t>
                </a:r>
                <a:r>
                  <a:rPr lang="en-US" altLang="en-US" i="1" baseline="-25000" dirty="0">
                    <a:sym typeface="Symbol" panose="05050102010706020507" pitchFamily="18" charset="2"/>
                  </a:rPr>
                  <a:t>i</a:t>
                </a:r>
                <a:r>
                  <a:rPr lang="en-US" altLang="en-US" dirty="0">
                    <a:sym typeface="Symbol" panose="05050102010706020507" pitchFamily="18" charset="2"/>
                  </a:rPr>
                  <a:t>)  (</a:t>
                </a:r>
                <a:r>
                  <a:rPr lang="en-US" altLang="en-US" i="1" dirty="0">
                    <a:sym typeface="Symbol" panose="05050102010706020507" pitchFamily="18" charset="2"/>
                  </a:rPr>
                  <a:t>R</a:t>
                </a:r>
                <a:r>
                  <a:rPr lang="en-US" altLang="en-US" i="1" baseline="-25000" dirty="0">
                    <a:sym typeface="Symbol" panose="05050102010706020507" pitchFamily="18" charset="2"/>
                  </a:rPr>
                  <a:t>i</a:t>
                </a:r>
                <a:r>
                  <a:rPr lang="en-US" altLang="en-US" baseline="-25000" dirty="0">
                    <a:sym typeface="Symbol" panose="05050102010706020507" pitchFamily="18" charset="2"/>
                  </a:rPr>
                  <a:t> </a:t>
                </a:r>
                <a:r>
                  <a:rPr lang="en-US" altLang="en-US" dirty="0">
                    <a:sym typeface="Symbol" panose="05050102010706020507" pitchFamily="18" charset="2"/>
                  </a:rPr>
                  <a:t>- )   (, ); </a:t>
                </a:r>
                <a:br>
                  <a:rPr lang="en-US" altLang="en-US" dirty="0">
                    <a:sym typeface="Symbol" panose="05050102010706020507" pitchFamily="18" charset="2"/>
                  </a:rPr>
                </a:br>
                <a:r>
                  <a:rPr lang="en-US" altLang="en-US" b="1" dirty="0">
                    <a:sym typeface="Symbol" panose="05050102010706020507" pitchFamily="18" charset="2"/>
                  </a:rPr>
                  <a:t>       end</a:t>
                </a:r>
                <a:br>
                  <a:rPr lang="en-US" altLang="en-US" dirty="0">
                    <a:sym typeface="Symbol" panose="05050102010706020507" pitchFamily="18" charset="2"/>
                  </a:rPr>
                </a:br>
                <a:r>
                  <a:rPr lang="en-US" altLang="en-US" b="1" dirty="0">
                    <a:sym typeface="Symbol" panose="05050102010706020507" pitchFamily="18" charset="2"/>
                  </a:rPr>
                  <a:t>    else </a:t>
                </a:r>
                <a:r>
                  <a:rPr lang="en-US" altLang="en-US" i="1" dirty="0">
                    <a:sym typeface="Symbol" panose="05050102010706020507" pitchFamily="18" charset="2"/>
                  </a:rPr>
                  <a:t>done</a:t>
                </a:r>
                <a:r>
                  <a:rPr lang="en-US" altLang="en-US" dirty="0">
                    <a:sym typeface="Symbol" panose="05050102010706020507" pitchFamily="18" charset="2"/>
                  </a:rPr>
                  <a:t>:= true;</a:t>
                </a:r>
              </a:p>
              <a:p>
                <a:pPr algn="r" rtl="1">
                  <a:buFont typeface="Monotype Sorts" pitchFamily="-84" charset="2"/>
                  <a:buNone/>
                </a:pPr>
                <a:r>
                  <a:rPr lang="en-US" altLang="en-US" dirty="0">
                    <a:sym typeface="Symbol" panose="05050102010706020507" pitchFamily="18" charset="2"/>
                  </a:rPr>
                  <a:t> </a:t>
                </a:r>
                <a:r>
                  <a:rPr lang="fa-IR" dirty="0"/>
                  <a:t>هر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a:t>در </a:t>
                </a:r>
                <a:r>
                  <a:rPr lang="fa-IR" b="1" dirty="0"/>
                  <a:t>4</a:t>
                </a:r>
                <a:r>
                  <a:rPr lang="en-US" b="1" dirty="0"/>
                  <a:t>NF</a:t>
                </a:r>
                <a:r>
                  <a:rPr lang="en-US" dirty="0"/>
                  <a:t> </a:t>
                </a:r>
                <a:r>
                  <a:rPr lang="fa-IR" dirty="0"/>
                  <a:t>است و تجزیه </a:t>
                </a:r>
                <a:r>
                  <a:rPr lang="fa-IR" b="1" dirty="0"/>
                  <a:t>بدون از دست دادن اطلاعات </a:t>
                </a:r>
                <a:r>
                  <a:rPr lang="en-US" dirty="0"/>
                  <a:t>( </a:t>
                </a:r>
                <a:r>
                  <a:rPr lang="en-US" b="1" dirty="0"/>
                  <a:t>lossless-join)</a:t>
                </a:r>
                <a:r>
                  <a:rPr lang="en-US" dirty="0"/>
                  <a:t> </a:t>
                </a:r>
                <a:r>
                  <a:rPr lang="fa-IR" dirty="0" err="1"/>
                  <a:t>می‌باشد</a:t>
                </a:r>
                <a:r>
                  <a:rPr lang="fa-IR" dirty="0"/>
                  <a:t>.</a:t>
                </a:r>
                <a:endParaRPr lang="en-US" altLang="en-US" dirty="0">
                  <a:sym typeface="Symbol" panose="05050102010706020507" pitchFamily="18" charset="2"/>
                </a:endParaRPr>
              </a:p>
            </p:txBody>
          </p:sp>
        </mc:Choice>
        <mc:Fallback xmlns="">
          <p:sp>
            <p:nvSpPr>
              <p:cNvPr id="90115" name="Rectangle 3"/>
              <p:cNvSpPr>
                <a:spLocks noGrp="1" noRot="1" noChangeAspect="1" noMove="1" noResize="1" noEditPoints="1" noAdjustHandles="1" noChangeArrowheads="1" noChangeShapeType="1" noTextEdit="1"/>
              </p:cNvSpPr>
              <p:nvPr>
                <p:ph idx="1"/>
              </p:nvPr>
            </p:nvSpPr>
            <p:spPr>
              <a:xfrm>
                <a:off x="768350" y="1163638"/>
                <a:ext cx="7496761" cy="3901657"/>
              </a:xfrm>
              <a:blipFill>
                <a:blip r:embed="rId3"/>
                <a:stretch>
                  <a:fillRect t="-781" r="-488" b="-23125"/>
                </a:stretch>
              </a:blipFill>
            </p:spPr>
            <p:txBody>
              <a:bodyPr/>
              <a:lstStyle/>
              <a:p>
                <a:r>
                  <a:rPr lang="en-US">
                    <a:noFill/>
                  </a:rPr>
                  <a:t> </a:t>
                </a:r>
              </a:p>
            </p:txBody>
          </p:sp>
        </mc:Fallback>
      </mc:AlternateContent>
      <p:grpSp>
        <p:nvGrpSpPr>
          <p:cNvPr id="2" name="Group 4"/>
          <p:cNvGrpSpPr>
            <a:grpSpLocks/>
          </p:cNvGrpSpPr>
          <p:nvPr/>
        </p:nvGrpSpPr>
        <p:grpSpPr bwMode="auto">
          <a:xfrm>
            <a:off x="8348663" y="6477000"/>
            <a:ext cx="317500" cy="4763"/>
            <a:chOff x="2640" y="1301"/>
            <a:chExt cx="200" cy="3"/>
          </a:xfrm>
        </p:grpSpPr>
        <p:sp>
          <p:nvSpPr>
            <p:cNvPr id="90117" name="Line 5"/>
            <p:cNvSpPr>
              <a:spLocks noChangeShapeType="1"/>
            </p:cNvSpPr>
            <p:nvPr/>
          </p:nvSpPr>
          <p:spPr bwMode="auto">
            <a:xfrm flipV="1">
              <a:off x="2640" y="1301"/>
              <a:ext cx="136" cy="3"/>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90118" name="Line 6"/>
            <p:cNvSpPr>
              <a:spLocks noChangeShapeType="1"/>
            </p:cNvSpPr>
            <p:nvPr/>
          </p:nvSpPr>
          <p:spPr bwMode="auto">
            <a:xfrm>
              <a:off x="2704" y="1304"/>
              <a:ext cx="136"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gr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C3702-BF99-4825-5EEC-A5D125BDFD71}"/>
              </a:ext>
            </a:extLst>
          </p:cNvPr>
          <p:cNvSpPr>
            <a:spLocks noGrp="1"/>
          </p:cNvSpPr>
          <p:nvPr>
            <p:ph type="ctrTitle"/>
          </p:nvPr>
        </p:nvSpPr>
        <p:spPr/>
        <p:txBody>
          <a:bodyPr/>
          <a:lstStyle/>
          <a:p>
            <a:endParaRPr 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95" name="Rectangle 3"/>
          <p:cNvSpPr>
            <a:spLocks noGrp="1" noChangeArrowheads="1"/>
          </p:cNvSpPr>
          <p:nvPr>
            <p:ph idx="1"/>
          </p:nvPr>
        </p:nvSpPr>
        <p:spPr>
          <a:xfrm>
            <a:off x="701458" y="2400300"/>
            <a:ext cx="7426542" cy="1257300"/>
          </a:xfrm>
        </p:spPr>
        <p:txBody>
          <a:bodyPr/>
          <a:lstStyle/>
          <a:p>
            <a:pPr algn="ctr" rtl="1">
              <a:buFont typeface="Monotype Sorts" charset="2"/>
              <a:buNone/>
              <a:defRPr/>
            </a:pPr>
            <a:r>
              <a:rPr lang="fa-IR" sz="3200" dirty="0"/>
              <a:t>مسائل و نکات اضافی </a:t>
            </a:r>
            <a:r>
              <a:rPr lang="en-US" sz="3200" dirty="0"/>
              <a:t>(Additional issues)</a:t>
            </a:r>
            <a:endParaRPr lang="en-US" altLang="en-US" sz="3200" b="1" dirty="0">
              <a:solidFill>
                <a:srgbClr val="002060"/>
              </a:solidFill>
              <a:effectLst>
                <a:outerShdw blurRad="38100" dist="38100" dir="2700000" algn="tl">
                  <a:srgbClr val="C0C0C0"/>
                </a:outerShdw>
              </a:effectLst>
              <a:latin typeface="+mj-lt"/>
              <a:ea typeface="ＭＳ Ｐゴシック" pitchFamily="34" charset="-128"/>
              <a:cs typeface="+mj-cs"/>
            </a:endParaRPr>
          </a:p>
        </p:txBody>
      </p:sp>
    </p:spTree>
  </p:cSld>
  <p:clrMapOvr>
    <a:masterClrMapping/>
  </p:clrMapOvr>
  <p:transition spd="slow"/>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7458" name="Rectangle 2"/>
          <p:cNvSpPr>
            <a:spLocks noGrp="1" noChangeArrowheads="1"/>
          </p:cNvSpPr>
          <p:nvPr>
            <p:ph type="title"/>
          </p:nvPr>
        </p:nvSpPr>
        <p:spPr>
          <a:xfrm>
            <a:off x="552450" y="85725"/>
            <a:ext cx="8077200" cy="609600"/>
          </a:xfrm>
        </p:spPr>
        <p:txBody>
          <a:bodyPr/>
          <a:lstStyle/>
          <a:p>
            <a:pPr>
              <a:defRPr/>
            </a:pPr>
            <a:r>
              <a:rPr lang="en-US" altLang="en-US">
                <a:effectLst>
                  <a:outerShdw blurRad="38100" dist="38100" dir="2700000" algn="tl">
                    <a:srgbClr val="C0C0C0"/>
                  </a:outerShdw>
                </a:effectLst>
                <a:ea typeface="ＭＳ Ｐゴシック" pitchFamily="34" charset="-128"/>
              </a:rPr>
              <a:t>Further Normal Forms</a:t>
            </a:r>
          </a:p>
        </p:txBody>
      </p:sp>
      <p:sp>
        <p:nvSpPr>
          <p:cNvPr id="93187" name="Rectangle 3"/>
          <p:cNvSpPr>
            <a:spLocks noGrp="1" noChangeArrowheads="1"/>
          </p:cNvSpPr>
          <p:nvPr>
            <p:ph idx="1"/>
          </p:nvPr>
        </p:nvSpPr>
        <p:spPr>
          <a:xfrm>
            <a:off x="763479" y="1141917"/>
            <a:ext cx="7714695" cy="4419639"/>
          </a:xfrm>
        </p:spPr>
        <p:txBody>
          <a:bodyPr/>
          <a:lstStyle/>
          <a:p>
            <a:pPr algn="r" rtl="1"/>
            <a:r>
              <a:rPr lang="fa-IR" dirty="0" err="1"/>
              <a:t>وابستگی‌های</a:t>
            </a:r>
            <a:r>
              <a:rPr lang="fa-IR" dirty="0"/>
              <a:t> </a:t>
            </a:r>
            <a:r>
              <a:rPr lang="en-US" b="1" dirty="0"/>
              <a:t>Join</a:t>
            </a:r>
            <a:r>
              <a:rPr lang="en-US" dirty="0"/>
              <a:t>، </a:t>
            </a:r>
            <a:r>
              <a:rPr lang="fa-IR" dirty="0" err="1"/>
              <a:t>وابستگی‌های</a:t>
            </a:r>
            <a:r>
              <a:rPr lang="fa-IR" dirty="0"/>
              <a:t> </a:t>
            </a:r>
            <a:r>
              <a:rPr lang="fa-IR" dirty="0" err="1"/>
              <a:t>چندمقداری</a:t>
            </a:r>
            <a:r>
              <a:rPr lang="fa-IR" dirty="0"/>
              <a:t> را تعمیم </a:t>
            </a:r>
            <a:r>
              <a:rPr lang="fa-IR" dirty="0" err="1"/>
              <a:t>می‌دهند</a:t>
            </a:r>
            <a:r>
              <a:rPr lang="fa-IR" dirty="0"/>
              <a:t> و به </a:t>
            </a:r>
            <a:r>
              <a:rPr lang="fa-IR" b="1" dirty="0"/>
              <a:t>فرم نرمال پروژه-</a:t>
            </a:r>
            <a:r>
              <a:rPr lang="fa-IR" b="1" dirty="0" err="1"/>
              <a:t>جوین</a:t>
            </a:r>
            <a:r>
              <a:rPr lang="fa-IR" b="1" dirty="0"/>
              <a:t> (</a:t>
            </a:r>
            <a:r>
              <a:rPr lang="en-US" b="1" dirty="0"/>
              <a:t>PJNF)</a:t>
            </a:r>
            <a:r>
              <a:rPr lang="en-US" dirty="0"/>
              <a:t> </a:t>
            </a:r>
            <a:r>
              <a:rPr lang="fa-IR" dirty="0"/>
              <a:t>منجر </a:t>
            </a:r>
            <a:r>
              <a:rPr lang="fa-IR" dirty="0" err="1"/>
              <a:t>می‌شوند</a:t>
            </a:r>
            <a:r>
              <a:rPr lang="fa-IR" dirty="0"/>
              <a:t> (که همچنین به آن </a:t>
            </a:r>
            <a:r>
              <a:rPr lang="fa-IR" b="1" dirty="0"/>
              <a:t>پنجمین فرم نرمال</a:t>
            </a:r>
            <a:r>
              <a:rPr lang="fa-IR" dirty="0"/>
              <a:t> گفته </a:t>
            </a:r>
            <a:r>
              <a:rPr lang="fa-IR" dirty="0" err="1"/>
              <a:t>می‌شود</a:t>
            </a:r>
            <a:r>
              <a:rPr lang="fa-IR" dirty="0"/>
              <a:t>).</a:t>
            </a:r>
          </a:p>
          <a:p>
            <a:pPr algn="r" rtl="1"/>
            <a:r>
              <a:rPr lang="fa-IR" dirty="0"/>
              <a:t>یک کلاس از </a:t>
            </a:r>
            <a:r>
              <a:rPr lang="fa-IR" dirty="0" err="1"/>
              <a:t>محدودیت‌های</a:t>
            </a:r>
            <a:r>
              <a:rPr lang="fa-IR" dirty="0"/>
              <a:t> حتی </a:t>
            </a:r>
            <a:r>
              <a:rPr lang="fa-IR" dirty="0" err="1"/>
              <a:t>عمومی‌تر</a:t>
            </a:r>
            <a:r>
              <a:rPr lang="fa-IR" dirty="0"/>
              <a:t> وجود دارد که به یک فرم نرمال به نام </a:t>
            </a:r>
            <a:r>
              <a:rPr lang="en-US" sz="1800" b="1" dirty="0"/>
              <a:t>Domain-Key Normal Form</a:t>
            </a:r>
            <a:r>
              <a:rPr lang="en-US" sz="1800" dirty="0"/>
              <a:t> </a:t>
            </a:r>
            <a:r>
              <a:rPr lang="fa-IR" dirty="0"/>
              <a:t>منجر </a:t>
            </a:r>
            <a:r>
              <a:rPr lang="fa-IR" dirty="0" err="1"/>
              <a:t>می‌شود</a:t>
            </a:r>
            <a:r>
              <a:rPr lang="fa-IR" dirty="0"/>
              <a:t>.</a:t>
            </a:r>
          </a:p>
          <a:p>
            <a:pPr algn="r" rtl="1"/>
            <a:r>
              <a:rPr lang="fa-IR" dirty="0"/>
              <a:t>مشکل این </a:t>
            </a:r>
            <a:r>
              <a:rPr lang="fa-IR" dirty="0" err="1"/>
              <a:t>محدودیت‌های</a:t>
            </a:r>
            <a:r>
              <a:rPr lang="fa-IR" dirty="0"/>
              <a:t> </a:t>
            </a:r>
            <a:r>
              <a:rPr lang="fa-IR" dirty="0" err="1"/>
              <a:t>تعمیم‌یافته</a:t>
            </a:r>
            <a:r>
              <a:rPr lang="fa-IR" dirty="0"/>
              <a:t> این است که:</a:t>
            </a:r>
          </a:p>
          <a:p>
            <a:pPr algn="r" rtl="1"/>
            <a:r>
              <a:rPr lang="fa-IR" dirty="0"/>
              <a:t>استدلال درباره </a:t>
            </a:r>
            <a:r>
              <a:rPr lang="fa-IR" dirty="0" err="1"/>
              <a:t>آن‌ها</a:t>
            </a:r>
            <a:r>
              <a:rPr lang="fa-IR" dirty="0"/>
              <a:t> </a:t>
            </a:r>
            <a:r>
              <a:rPr lang="fa-IR" b="1" dirty="0"/>
              <a:t>سخت</a:t>
            </a:r>
            <a:r>
              <a:rPr lang="fa-IR" dirty="0"/>
              <a:t> است،</a:t>
            </a:r>
          </a:p>
          <a:p>
            <a:pPr algn="r" rtl="1"/>
            <a:r>
              <a:rPr lang="fa-IR" dirty="0"/>
              <a:t>هیچ مجموعه قوانین استنتاج </a:t>
            </a:r>
            <a:r>
              <a:rPr lang="fa-IR" b="1" dirty="0"/>
              <a:t>صوتی و کامل</a:t>
            </a:r>
            <a:r>
              <a:rPr lang="fa-IR" dirty="0"/>
              <a:t> وجود ندارد.</a:t>
            </a:r>
          </a:p>
          <a:p>
            <a:pPr algn="r" rtl="1"/>
            <a:r>
              <a:rPr lang="fa-IR" dirty="0"/>
              <a:t>به همین دلیل، این </a:t>
            </a:r>
            <a:r>
              <a:rPr lang="fa-IR" dirty="0" err="1"/>
              <a:t>محدودیت‌ها</a:t>
            </a:r>
            <a:r>
              <a:rPr lang="fa-IR" dirty="0"/>
              <a:t> </a:t>
            </a:r>
            <a:r>
              <a:rPr lang="fa-IR" b="1" dirty="0"/>
              <a:t>به ندرت استفاده </a:t>
            </a:r>
            <a:r>
              <a:rPr lang="fa-IR" b="1" dirty="0" err="1"/>
              <a:t>می‌شوند</a:t>
            </a:r>
            <a:r>
              <a:rPr lang="fa-IR" dirty="0"/>
              <a:t>.</a:t>
            </a:r>
          </a:p>
          <a:p>
            <a:pPr algn="r" rtl="1"/>
            <a:endParaRPr lang="en-US" alt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9506"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Overall Database Design Process</a:t>
            </a:r>
          </a:p>
        </p:txBody>
      </p:sp>
      <p:sp>
        <p:nvSpPr>
          <p:cNvPr id="94211" name="Rectangle 3"/>
          <p:cNvSpPr>
            <a:spLocks noGrp="1" noChangeArrowheads="1"/>
          </p:cNvSpPr>
          <p:nvPr>
            <p:ph idx="1"/>
          </p:nvPr>
        </p:nvSpPr>
        <p:spPr>
          <a:xfrm>
            <a:off x="304402" y="1680990"/>
            <a:ext cx="8077200" cy="2566154"/>
          </a:xfrm>
        </p:spPr>
        <p:txBody>
          <a:bodyPr/>
          <a:lstStyle/>
          <a:p>
            <a:pPr algn="r" rtl="1"/>
            <a:r>
              <a:rPr lang="en-US" sz="2800" dirty="0"/>
              <a:t>R </a:t>
            </a:r>
            <a:r>
              <a:rPr lang="fa-IR" sz="2800" dirty="0"/>
              <a:t>ممکن است هنگام تبدیل یک </a:t>
            </a:r>
            <a:r>
              <a:rPr lang="fa-IR" sz="2800" b="1" dirty="0"/>
              <a:t>نمودار </a:t>
            </a:r>
            <a:r>
              <a:rPr lang="en-US" sz="2800" b="1" dirty="0"/>
              <a:t>E-R</a:t>
            </a:r>
            <a:r>
              <a:rPr lang="en-US" sz="2800" dirty="0"/>
              <a:t> </a:t>
            </a:r>
            <a:r>
              <a:rPr lang="fa-IR" sz="2800" dirty="0"/>
              <a:t>به </a:t>
            </a:r>
            <a:r>
              <a:rPr lang="fa-IR" sz="2800" dirty="0" err="1"/>
              <a:t>مجموعه‌ای</a:t>
            </a:r>
            <a:r>
              <a:rPr lang="fa-IR" sz="2800" dirty="0"/>
              <a:t> از </a:t>
            </a:r>
            <a:r>
              <a:rPr lang="fa-IR" sz="2800" dirty="0" err="1"/>
              <a:t>جدول‌ها</a:t>
            </a:r>
            <a:r>
              <a:rPr lang="fa-IR" sz="2800" dirty="0"/>
              <a:t> ایجاد شده باشد.</a:t>
            </a:r>
          </a:p>
          <a:p>
            <a:pPr algn="r" rtl="1"/>
            <a:r>
              <a:rPr lang="en-US" sz="2800" dirty="0"/>
              <a:t>R </a:t>
            </a:r>
            <a:r>
              <a:rPr lang="fa-IR" sz="2800" dirty="0"/>
              <a:t>ممکن است یک </a:t>
            </a:r>
            <a:r>
              <a:rPr lang="fa-IR" sz="2800" dirty="0" err="1"/>
              <a:t>رابطهٔ</a:t>
            </a:r>
            <a:r>
              <a:rPr lang="fa-IR" sz="2800" dirty="0"/>
              <a:t> واحد باشد که شامل تمام </a:t>
            </a:r>
            <a:r>
              <a:rPr lang="fa-IR" sz="2800" dirty="0" err="1"/>
              <a:t>صفت‌هایی</a:t>
            </a:r>
            <a:r>
              <a:rPr lang="fa-IR" sz="2800" dirty="0"/>
              <a:t> است که برای ما اهمیت دارند</a:t>
            </a:r>
            <a:br>
              <a:rPr lang="fa-IR" sz="2800" dirty="0"/>
            </a:br>
            <a:r>
              <a:rPr lang="fa-IR" sz="2800" dirty="0"/>
              <a:t>(که به آن </a:t>
            </a:r>
            <a:r>
              <a:rPr lang="fa-IR" sz="2800" b="1" dirty="0" err="1"/>
              <a:t>رابطهٔ</a:t>
            </a:r>
            <a:r>
              <a:rPr lang="fa-IR" sz="2800" b="1" dirty="0"/>
              <a:t> جهانی</a:t>
            </a:r>
            <a:r>
              <a:rPr lang="fa-IR" sz="2800" dirty="0"/>
              <a:t> یا </a:t>
            </a:r>
            <a:r>
              <a:rPr lang="en-US" sz="2800" i="1" dirty="0"/>
              <a:t>universal relation</a:t>
            </a:r>
            <a:r>
              <a:rPr lang="en-US" sz="2800" dirty="0"/>
              <a:t> </a:t>
            </a:r>
            <a:r>
              <a:rPr lang="fa-IR" sz="2800" dirty="0"/>
              <a:t>گفته </a:t>
            </a:r>
            <a:r>
              <a:rPr lang="fa-IR" sz="2800" dirty="0" err="1"/>
              <a:t>می‌شود</a:t>
            </a:r>
            <a:r>
              <a:rPr lang="fa-IR" sz="2800" dirty="0"/>
              <a:t>).</a:t>
            </a:r>
          </a:p>
          <a:p>
            <a:pPr algn="r" rtl="1"/>
            <a:r>
              <a:rPr lang="fa-IR" sz="2800" dirty="0"/>
              <a:t>فرایند </a:t>
            </a:r>
            <a:r>
              <a:rPr lang="fa-IR" sz="2800" dirty="0" err="1"/>
              <a:t>نرمال‌سازی</a:t>
            </a:r>
            <a:r>
              <a:rPr lang="fa-IR" sz="2800" dirty="0"/>
              <a:t>، </a:t>
            </a:r>
            <a:r>
              <a:rPr lang="en-US" sz="2800" dirty="0"/>
              <a:t>R </a:t>
            </a:r>
            <a:r>
              <a:rPr lang="fa-IR" sz="2800" dirty="0"/>
              <a:t>را به </a:t>
            </a:r>
            <a:r>
              <a:rPr lang="fa-IR" sz="2800" dirty="0" err="1"/>
              <a:t>رابطه‌های</a:t>
            </a:r>
            <a:r>
              <a:rPr lang="fa-IR" sz="2800" dirty="0"/>
              <a:t> </a:t>
            </a:r>
            <a:r>
              <a:rPr lang="fa-IR" sz="2800" dirty="0" err="1"/>
              <a:t>کوچک‌تر</a:t>
            </a:r>
            <a:r>
              <a:rPr lang="fa-IR" sz="2800" dirty="0"/>
              <a:t> تجزیه </a:t>
            </a:r>
            <a:r>
              <a:rPr lang="fa-IR" sz="2800" dirty="0" err="1"/>
              <a:t>می‌کند</a:t>
            </a:r>
            <a:r>
              <a:rPr lang="fa-IR" sz="2800" dirty="0"/>
              <a:t>.</a:t>
            </a:r>
          </a:p>
          <a:p>
            <a:pPr algn="r" rtl="1"/>
            <a:r>
              <a:rPr lang="en-US" sz="2800" dirty="0"/>
              <a:t>R </a:t>
            </a:r>
            <a:r>
              <a:rPr lang="fa-IR" sz="2800" dirty="0"/>
              <a:t>ممکن است حاصل یک طراحی </a:t>
            </a:r>
            <a:r>
              <a:rPr lang="fa-IR" sz="2800" b="1" dirty="0"/>
              <a:t>اتفاقی و بدون روش مشخص</a:t>
            </a:r>
            <a:r>
              <a:rPr lang="fa-IR" sz="2800" dirty="0"/>
              <a:t> باشد که سپس آن را بررسی کرده و به فرم نرمال تبدیل </a:t>
            </a:r>
            <a:r>
              <a:rPr lang="fa-IR" sz="2800" dirty="0" err="1"/>
              <a:t>می‌کنیم</a:t>
            </a:r>
            <a:r>
              <a:rPr lang="fa-IR" sz="2800" dirty="0"/>
              <a:t>.</a:t>
            </a:r>
          </a:p>
          <a:p>
            <a:pPr algn="r" rtl="1"/>
            <a:endParaRPr lang="en-US" altLang="en-US" sz="2800" dirty="0"/>
          </a:p>
        </p:txBody>
      </p:sp>
      <p:sp>
        <p:nvSpPr>
          <p:cNvPr id="3" name="TextBox 2"/>
          <p:cNvSpPr txBox="1"/>
          <p:nvPr/>
        </p:nvSpPr>
        <p:spPr>
          <a:xfrm>
            <a:off x="304402" y="1151474"/>
            <a:ext cx="7744719" cy="461665"/>
          </a:xfrm>
          <a:prstGeom prst="rect">
            <a:avLst/>
          </a:prstGeom>
          <a:noFill/>
        </p:spPr>
        <p:txBody>
          <a:bodyPr wrap="square" rtlCol="0">
            <a:spAutoFit/>
          </a:bodyPr>
          <a:lstStyle/>
          <a:p>
            <a:pPr algn="r" rtl="1"/>
            <a:r>
              <a:rPr lang="fa-IR" sz="2400" dirty="0"/>
              <a:t>ما فرض </a:t>
            </a:r>
            <a:r>
              <a:rPr lang="fa-IR" sz="2400" dirty="0" err="1"/>
              <a:t>کرده‌ایم</a:t>
            </a:r>
            <a:r>
              <a:rPr lang="fa-IR" sz="2400" dirty="0"/>
              <a:t> که طرح </a:t>
            </a:r>
            <a:r>
              <a:rPr lang="fa-IR" sz="2400" dirty="0" err="1"/>
              <a:t>رابطه‌ای</a:t>
            </a:r>
            <a:r>
              <a:rPr lang="fa-IR" sz="2400" dirty="0"/>
              <a:t> </a:t>
            </a:r>
            <a:r>
              <a:rPr lang="en-US" sz="2400" b="1" dirty="0"/>
              <a:t>R</a:t>
            </a:r>
            <a:r>
              <a:rPr lang="en-US" sz="2400" dirty="0"/>
              <a:t> </a:t>
            </a:r>
            <a:r>
              <a:rPr lang="fa-IR" sz="2400" dirty="0"/>
              <a:t>از قبل داده شده است.</a:t>
            </a:r>
            <a:endParaRPr lang="en-US" altLang="en-US" sz="24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1554"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ER Model and Normalization</a:t>
            </a:r>
          </a:p>
        </p:txBody>
      </p:sp>
      <p:sp>
        <p:nvSpPr>
          <p:cNvPr id="95235" name="Rectangle 3"/>
          <p:cNvSpPr>
            <a:spLocks noGrp="1" noChangeArrowheads="1"/>
          </p:cNvSpPr>
          <p:nvPr>
            <p:ph idx="1"/>
          </p:nvPr>
        </p:nvSpPr>
        <p:spPr>
          <a:xfrm>
            <a:off x="768350" y="1090110"/>
            <a:ext cx="7713913" cy="4384257"/>
          </a:xfrm>
        </p:spPr>
        <p:txBody>
          <a:bodyPr/>
          <a:lstStyle/>
          <a:p>
            <a:pPr algn="r" rtl="1"/>
            <a:r>
              <a:rPr lang="fa-IR" dirty="0"/>
              <a:t>وقتی یک </a:t>
            </a:r>
            <a:r>
              <a:rPr lang="fa-IR" b="1" dirty="0"/>
              <a:t>نمودار </a:t>
            </a:r>
            <a:r>
              <a:rPr lang="en-US" b="1" dirty="0"/>
              <a:t>E-R</a:t>
            </a:r>
            <a:r>
              <a:rPr lang="en-US" dirty="0"/>
              <a:t> </a:t>
            </a:r>
            <a:r>
              <a:rPr lang="fa-IR" dirty="0"/>
              <a:t>با دقت طراحی شود و تمامی </a:t>
            </a:r>
            <a:r>
              <a:rPr lang="fa-IR" dirty="0" err="1"/>
              <a:t>موجودیت‌ها</a:t>
            </a:r>
            <a:r>
              <a:rPr lang="fa-IR" dirty="0"/>
              <a:t> </a:t>
            </a:r>
            <a:r>
              <a:rPr lang="fa-IR" dirty="0" err="1"/>
              <a:t>به‌درستی</a:t>
            </a:r>
            <a:r>
              <a:rPr lang="fa-IR" dirty="0"/>
              <a:t> شناسایی شده باشند، </a:t>
            </a:r>
            <a:r>
              <a:rPr lang="fa-IR" dirty="0" err="1"/>
              <a:t>جدول‌هایی</a:t>
            </a:r>
            <a:r>
              <a:rPr lang="fa-IR" dirty="0"/>
              <a:t> که از نمودار </a:t>
            </a:r>
            <a:r>
              <a:rPr lang="en-US" dirty="0"/>
              <a:t>E-R </a:t>
            </a:r>
            <a:r>
              <a:rPr lang="fa-IR" dirty="0"/>
              <a:t>تولید </a:t>
            </a:r>
            <a:r>
              <a:rPr lang="fa-IR" dirty="0" err="1"/>
              <a:t>می‌شوند</a:t>
            </a:r>
            <a:r>
              <a:rPr lang="fa-IR" dirty="0"/>
              <a:t> </a:t>
            </a:r>
            <a:r>
              <a:rPr lang="fa-IR" b="1" dirty="0"/>
              <a:t>نباید نیاز به </a:t>
            </a:r>
            <a:r>
              <a:rPr lang="fa-IR" b="1" dirty="0" err="1"/>
              <a:t>نرمال‌سازی</a:t>
            </a:r>
            <a:r>
              <a:rPr lang="fa-IR" b="1" dirty="0"/>
              <a:t> بیشتر داشته باشند</a:t>
            </a:r>
            <a:r>
              <a:rPr lang="fa-IR" dirty="0"/>
              <a:t>.</a:t>
            </a:r>
          </a:p>
          <a:p>
            <a:pPr algn="r" rtl="1"/>
            <a:r>
              <a:rPr lang="fa-IR" dirty="0"/>
              <a:t>با این حال، در یک طراحی واقعی (و </a:t>
            </a:r>
            <a:r>
              <a:rPr lang="fa-IR" dirty="0" err="1"/>
              <a:t>غیر‌کامل</a:t>
            </a:r>
            <a:r>
              <a:rPr lang="fa-IR" dirty="0"/>
              <a:t>)، ممکن است </a:t>
            </a:r>
            <a:r>
              <a:rPr lang="fa-IR" b="1" dirty="0" err="1"/>
              <a:t>وابستگی‌های</a:t>
            </a:r>
            <a:r>
              <a:rPr lang="fa-IR" b="1" dirty="0"/>
              <a:t> </a:t>
            </a:r>
            <a:r>
              <a:rPr lang="fa-IR" b="1" dirty="0" err="1"/>
              <a:t>تابعی</a:t>
            </a:r>
            <a:r>
              <a:rPr lang="fa-IR" b="1" dirty="0"/>
              <a:t> از صفات </a:t>
            </a:r>
            <a:r>
              <a:rPr lang="fa-IR" b="1" dirty="0" err="1"/>
              <a:t>غیرکلیدی</a:t>
            </a:r>
            <a:r>
              <a:rPr lang="fa-IR" b="1" dirty="0"/>
              <a:t> یک موجودیت به سایر صفات همان موجودیت</a:t>
            </a:r>
            <a:r>
              <a:rPr lang="fa-IR" dirty="0"/>
              <a:t> وجود داشته باشد.</a:t>
            </a:r>
          </a:p>
          <a:p>
            <a:pPr algn="r" rtl="1"/>
            <a:r>
              <a:rPr lang="fa-IR" b="1" dirty="0"/>
              <a:t>مثال:</a:t>
            </a:r>
            <a:br>
              <a:rPr lang="fa-IR" dirty="0"/>
            </a:br>
            <a:r>
              <a:rPr lang="fa-IR" dirty="0"/>
              <a:t>یک موجودیت </a:t>
            </a:r>
            <a:r>
              <a:rPr lang="fa-IR" i="1" dirty="0"/>
              <a:t>کارمند</a:t>
            </a:r>
            <a:r>
              <a:rPr lang="fa-IR" dirty="0"/>
              <a:t> که دارای </a:t>
            </a:r>
            <a:r>
              <a:rPr lang="fa-IR" dirty="0" err="1"/>
              <a:t>صفت‌های</a:t>
            </a:r>
            <a:endParaRPr lang="fa-IR" dirty="0"/>
          </a:p>
          <a:p>
            <a:pPr algn="r" rtl="1"/>
            <a:r>
              <a:rPr lang="fa-IR" dirty="0" err="1"/>
              <a:t>نامِ</a:t>
            </a:r>
            <a:r>
              <a:rPr lang="fa-IR" dirty="0"/>
              <a:t> بخش</a:t>
            </a:r>
          </a:p>
          <a:p>
            <a:pPr algn="r" rtl="1"/>
            <a:r>
              <a:rPr lang="fa-IR" dirty="0"/>
              <a:t>ساختمان</a:t>
            </a:r>
          </a:p>
          <a:p>
            <a:pPr algn="r" rtl="1"/>
            <a:r>
              <a:rPr lang="fa-IR" dirty="0"/>
              <a:t>باشد، و وابستگی </a:t>
            </a:r>
            <a:r>
              <a:rPr lang="fa-IR" dirty="0" err="1"/>
              <a:t>تابعی</a:t>
            </a:r>
            <a:r>
              <a:rPr lang="fa-IR" dirty="0"/>
              <a:t>:</a:t>
            </a:r>
            <a:br>
              <a:rPr lang="fa-IR" dirty="0"/>
            </a:br>
            <a:r>
              <a:rPr lang="fa-IR" b="1" dirty="0" err="1"/>
              <a:t>نامِ</a:t>
            </a:r>
            <a:r>
              <a:rPr lang="fa-IR" b="1" dirty="0"/>
              <a:t> بخش → ساختمان</a:t>
            </a:r>
            <a:endParaRPr lang="fa-IR" dirty="0"/>
          </a:p>
          <a:p>
            <a:pPr algn="r" rtl="1"/>
            <a:r>
              <a:rPr lang="fa-IR" dirty="0"/>
              <a:t>طراحی خوب، «بخش» را باید به عنوان یک موجودیت جدا در نظر </a:t>
            </a:r>
            <a:r>
              <a:rPr lang="fa-IR" dirty="0" err="1"/>
              <a:t>می‌گرفت</a:t>
            </a:r>
            <a:r>
              <a:rPr lang="fa-IR" dirty="0"/>
              <a:t>.</a:t>
            </a:r>
          </a:p>
          <a:p>
            <a:pPr algn="r" rtl="1"/>
            <a:r>
              <a:rPr lang="fa-IR" dirty="0"/>
              <a:t>وجود </a:t>
            </a:r>
            <a:r>
              <a:rPr lang="fa-IR" dirty="0" err="1"/>
              <a:t>وابستگی‌های</a:t>
            </a:r>
            <a:r>
              <a:rPr lang="fa-IR" dirty="0"/>
              <a:t> </a:t>
            </a:r>
            <a:r>
              <a:rPr lang="fa-IR" dirty="0" err="1"/>
              <a:t>تابعی</a:t>
            </a:r>
            <a:r>
              <a:rPr lang="fa-IR" dirty="0"/>
              <a:t> از صفات </a:t>
            </a:r>
            <a:r>
              <a:rPr lang="fa-IR" dirty="0" err="1"/>
              <a:t>غیرکلیدی</a:t>
            </a:r>
            <a:r>
              <a:rPr lang="fa-IR" dirty="0"/>
              <a:t> در یک مجموعه‌ رابطه (</a:t>
            </a:r>
            <a:r>
              <a:rPr lang="en-US" dirty="0"/>
              <a:t>relationship set) </a:t>
            </a:r>
            <a:r>
              <a:rPr lang="fa-IR" dirty="0"/>
              <a:t>نیز </a:t>
            </a:r>
            <a:r>
              <a:rPr lang="fa-IR" b="1" dirty="0"/>
              <a:t>ممکن است</a:t>
            </a:r>
            <a:r>
              <a:rPr lang="fa-IR" dirty="0"/>
              <a:t>، اما </a:t>
            </a:r>
            <a:r>
              <a:rPr lang="fa-IR" b="1" dirty="0"/>
              <a:t>نادر</a:t>
            </a:r>
            <a:r>
              <a:rPr lang="fa-IR" dirty="0"/>
              <a:t> است — زیرا اغلب </a:t>
            </a:r>
            <a:r>
              <a:rPr lang="fa-IR" dirty="0" err="1"/>
              <a:t>رابطه‌ها</a:t>
            </a:r>
            <a:r>
              <a:rPr lang="fa-IR" dirty="0"/>
              <a:t> </a:t>
            </a:r>
            <a:r>
              <a:rPr lang="fa-IR" b="1" dirty="0" err="1"/>
              <a:t>دو‌تایی</a:t>
            </a:r>
            <a:r>
              <a:rPr lang="fa-IR" b="1" dirty="0"/>
              <a:t> (</a:t>
            </a:r>
            <a:r>
              <a:rPr lang="en-US" b="1" dirty="0"/>
              <a:t>binary)</a:t>
            </a:r>
            <a:r>
              <a:rPr lang="en-US" dirty="0"/>
              <a:t> </a:t>
            </a:r>
            <a:r>
              <a:rPr lang="fa-IR" dirty="0"/>
              <a:t>هستند.</a:t>
            </a:r>
          </a:p>
          <a:p>
            <a:pPr algn="r" rtl="1"/>
            <a:endParaRPr lang="en-US" alt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3602"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Denormalization for Performance</a:t>
            </a:r>
          </a:p>
        </p:txBody>
      </p:sp>
      <p:sp>
        <p:nvSpPr>
          <p:cNvPr id="96259" name="Rectangle 3"/>
          <p:cNvSpPr>
            <a:spLocks noGrp="1" noChangeArrowheads="1"/>
          </p:cNvSpPr>
          <p:nvPr>
            <p:ph idx="1"/>
          </p:nvPr>
        </p:nvSpPr>
        <p:spPr>
          <a:xfrm>
            <a:off x="0" y="727075"/>
            <a:ext cx="9056318" cy="5055796"/>
          </a:xfrm>
        </p:spPr>
        <p:txBody>
          <a:bodyPr/>
          <a:lstStyle/>
          <a:p>
            <a:pPr algn="r" rtl="1"/>
            <a:r>
              <a:rPr lang="fa-IR" sz="1800" dirty="0"/>
              <a:t>ممکن است برای دستیابی به کارایی بهتر، بخواهیم از یک طرح </a:t>
            </a:r>
            <a:r>
              <a:rPr lang="fa-IR" sz="1800" b="1" dirty="0" err="1"/>
              <a:t>غیرنرمال‌شده</a:t>
            </a:r>
            <a:r>
              <a:rPr lang="fa-IR" sz="1800" dirty="0"/>
              <a:t> استفاده کنیم.</a:t>
            </a:r>
          </a:p>
          <a:p>
            <a:pPr algn="r" rtl="1"/>
            <a:r>
              <a:rPr lang="fa-IR" sz="1800" dirty="0"/>
              <a:t>برای مثال، نمایش </a:t>
            </a:r>
            <a:r>
              <a:rPr lang="fa-IR" sz="1800" dirty="0" err="1"/>
              <a:t>پیش‌نیازها</a:t>
            </a:r>
            <a:r>
              <a:rPr lang="fa-IR" sz="1800" dirty="0"/>
              <a:t> همراه با </a:t>
            </a:r>
            <a:r>
              <a:rPr lang="fa-IR" sz="1800" dirty="0" err="1"/>
              <a:t>شناسه</a:t>
            </a:r>
            <a:r>
              <a:rPr lang="fa-IR" sz="1800" dirty="0"/>
              <a:t> درس و عنوان درس، نیازمند انجام یک </a:t>
            </a:r>
            <a:r>
              <a:rPr lang="fa-IR" sz="1800" b="1" dirty="0" err="1"/>
              <a:t>جوین</a:t>
            </a:r>
            <a:r>
              <a:rPr lang="fa-IR" sz="1800" dirty="0"/>
              <a:t> بین جدول درس و جدول </a:t>
            </a:r>
            <a:r>
              <a:rPr lang="fa-IR" sz="1800" dirty="0" err="1"/>
              <a:t>پیش‌نیاز</a:t>
            </a:r>
            <a:r>
              <a:rPr lang="fa-IR" sz="1800" dirty="0"/>
              <a:t> است.</a:t>
            </a:r>
          </a:p>
          <a:p>
            <a:pPr algn="r" rtl="1"/>
            <a:r>
              <a:rPr lang="fa-IR" sz="1800" b="1" dirty="0" err="1"/>
              <a:t>راه‌حل</a:t>
            </a:r>
            <a:r>
              <a:rPr lang="fa-IR" sz="1800" b="1" dirty="0"/>
              <a:t> ۱:</a:t>
            </a:r>
            <a:br>
              <a:rPr lang="fa-IR" sz="1800" dirty="0"/>
            </a:br>
            <a:r>
              <a:rPr lang="fa-IR" sz="1800" dirty="0"/>
              <a:t>استفاده از یک رابطه </a:t>
            </a:r>
            <a:r>
              <a:rPr lang="en-US" sz="1800" i="1" dirty="0"/>
              <a:t>denormalized</a:t>
            </a:r>
            <a:r>
              <a:rPr lang="en-US" sz="1800" dirty="0"/>
              <a:t> </a:t>
            </a:r>
            <a:r>
              <a:rPr lang="fa-IR" sz="1800" dirty="0"/>
              <a:t>که شامل </a:t>
            </a:r>
            <a:r>
              <a:rPr lang="fa-IR" sz="1800" dirty="0" err="1"/>
              <a:t>صفت‌های</a:t>
            </a:r>
            <a:r>
              <a:rPr lang="fa-IR" sz="1800" dirty="0"/>
              <a:t> درس </a:t>
            </a:r>
            <a:r>
              <a:rPr lang="fa-IR" sz="1800" b="1" dirty="0"/>
              <a:t>و</a:t>
            </a:r>
            <a:r>
              <a:rPr lang="fa-IR" sz="1800" dirty="0"/>
              <a:t> </a:t>
            </a:r>
            <a:r>
              <a:rPr lang="fa-IR" sz="1800" dirty="0" err="1"/>
              <a:t>پیش‌نیاز</a:t>
            </a:r>
            <a:r>
              <a:rPr lang="fa-IR" sz="1800" dirty="0"/>
              <a:t> باشد، همراه با تمام </a:t>
            </a:r>
            <a:r>
              <a:rPr lang="fa-IR" sz="1800" dirty="0" err="1"/>
              <a:t>صفت‌های</a:t>
            </a:r>
            <a:r>
              <a:rPr lang="fa-IR" sz="1800" dirty="0"/>
              <a:t> موردنیاز.</a:t>
            </a:r>
            <a:br>
              <a:rPr lang="fa-IR" sz="1800" dirty="0"/>
            </a:br>
            <a:r>
              <a:rPr lang="fa-IR" sz="1800" dirty="0"/>
              <a:t>مزایا:</a:t>
            </a:r>
          </a:p>
          <a:p>
            <a:pPr algn="r" rtl="1"/>
            <a:r>
              <a:rPr lang="fa-IR" sz="1800" dirty="0" err="1"/>
              <a:t>جست‌وجوی</a:t>
            </a:r>
            <a:r>
              <a:rPr lang="fa-IR" sz="1800" dirty="0"/>
              <a:t> </a:t>
            </a:r>
            <a:r>
              <a:rPr lang="fa-IR" sz="1800" dirty="0" err="1"/>
              <a:t>سریع‌تر</a:t>
            </a:r>
            <a:endParaRPr lang="fa-IR" sz="1800" dirty="0"/>
          </a:p>
          <a:p>
            <a:pPr algn="r" rtl="1"/>
            <a:r>
              <a:rPr lang="fa-IR" sz="1800" dirty="0"/>
              <a:t>معایب:</a:t>
            </a:r>
          </a:p>
          <a:p>
            <a:pPr algn="r" rtl="1"/>
            <a:r>
              <a:rPr lang="fa-IR" sz="1800" dirty="0"/>
              <a:t>استفاده بیشتر از فضا</a:t>
            </a:r>
          </a:p>
          <a:p>
            <a:pPr algn="r" rtl="1"/>
            <a:r>
              <a:rPr lang="fa-IR" sz="1800" dirty="0"/>
              <a:t>زمان اضافی برای اجرای عملیات </a:t>
            </a:r>
            <a:r>
              <a:rPr lang="fa-IR" sz="1800" dirty="0" err="1"/>
              <a:t>به‌روزرسانی</a:t>
            </a:r>
            <a:endParaRPr lang="fa-IR" sz="1800" dirty="0"/>
          </a:p>
          <a:p>
            <a:pPr algn="r" rtl="1"/>
            <a:r>
              <a:rPr lang="fa-IR" sz="1800" dirty="0"/>
              <a:t>نیاز به </a:t>
            </a:r>
            <a:r>
              <a:rPr lang="fa-IR" sz="1800" dirty="0" err="1"/>
              <a:t>کدنویسی</a:t>
            </a:r>
            <a:r>
              <a:rPr lang="fa-IR" sz="1800" dirty="0"/>
              <a:t> بیشتر توسط </a:t>
            </a:r>
            <a:r>
              <a:rPr lang="fa-IR" sz="1800" dirty="0" err="1"/>
              <a:t>برنامه‌نویس</a:t>
            </a:r>
            <a:r>
              <a:rPr lang="fa-IR" sz="1800" dirty="0"/>
              <a:t> و احتمال خطا در این کد اضافی</a:t>
            </a:r>
          </a:p>
          <a:p>
            <a:pPr algn="r" rtl="1"/>
            <a:r>
              <a:rPr lang="fa-IR" sz="1800" b="1" dirty="0" err="1"/>
              <a:t>راه‌حل</a:t>
            </a:r>
            <a:r>
              <a:rPr lang="fa-IR" sz="1800" b="1" dirty="0"/>
              <a:t> ۲:</a:t>
            </a:r>
            <a:br>
              <a:rPr lang="fa-IR" sz="1800" dirty="0"/>
            </a:br>
            <a:r>
              <a:rPr lang="fa-IR" sz="1800" dirty="0"/>
              <a:t>استفاده از یک </a:t>
            </a:r>
            <a:r>
              <a:rPr lang="fa-IR" sz="1800" b="1" dirty="0"/>
              <a:t>نمای </a:t>
            </a:r>
            <a:r>
              <a:rPr lang="fa-IR" sz="1800" b="1" dirty="0" err="1"/>
              <a:t>مادی‌سازی‌شده</a:t>
            </a:r>
            <a:r>
              <a:rPr lang="fa-IR" sz="1800" b="1" dirty="0"/>
              <a:t> (</a:t>
            </a:r>
            <a:r>
              <a:rPr lang="en-US" sz="1800" b="1" dirty="0"/>
              <a:t>materialized view)</a:t>
            </a:r>
            <a:r>
              <a:rPr lang="en-US" sz="1800" dirty="0"/>
              <a:t> </a:t>
            </a:r>
            <a:r>
              <a:rPr lang="fa-IR" sz="1800" dirty="0"/>
              <a:t>که به صورت ترکیب درس و </a:t>
            </a:r>
            <a:r>
              <a:rPr lang="fa-IR" sz="1800" dirty="0" err="1"/>
              <a:t>پیش‌نیاز</a:t>
            </a:r>
            <a:r>
              <a:rPr lang="fa-IR" sz="1800" dirty="0"/>
              <a:t> تعریف شده باشد.</a:t>
            </a:r>
            <a:br>
              <a:rPr lang="fa-IR" sz="1800" dirty="0"/>
            </a:br>
            <a:r>
              <a:rPr lang="fa-IR" sz="1800" dirty="0"/>
              <a:t>مزایا و معایب مشابه مورد بالا است،</a:t>
            </a:r>
            <a:br>
              <a:rPr lang="fa-IR" sz="1800" dirty="0"/>
            </a:br>
            <a:r>
              <a:rPr lang="fa-IR" sz="1800" dirty="0"/>
              <a:t>با این تفاوت که:</a:t>
            </a:r>
          </a:p>
          <a:p>
            <a:pPr algn="r" rtl="1"/>
            <a:r>
              <a:rPr lang="fa-IR" sz="1800" dirty="0"/>
              <a:t>نیازی به </a:t>
            </a:r>
            <a:r>
              <a:rPr lang="fa-IR" sz="1800" dirty="0" err="1"/>
              <a:t>کدنویسی</a:t>
            </a:r>
            <a:r>
              <a:rPr lang="fa-IR" sz="1800" dirty="0"/>
              <a:t> اضافی توسط </a:t>
            </a:r>
            <a:r>
              <a:rPr lang="fa-IR" sz="1800" dirty="0" err="1"/>
              <a:t>برنامه‌نویس</a:t>
            </a:r>
            <a:r>
              <a:rPr lang="fa-IR" sz="1800" dirty="0"/>
              <a:t> نیست</a:t>
            </a:r>
          </a:p>
          <a:p>
            <a:pPr algn="r" rtl="1"/>
            <a:r>
              <a:rPr lang="fa-IR" sz="1800" dirty="0"/>
              <a:t>احتمال خطا در کد نیز از بین </a:t>
            </a:r>
            <a:r>
              <a:rPr lang="fa-IR" sz="1800" dirty="0" err="1"/>
              <a:t>می‌رود</a:t>
            </a:r>
            <a:endParaRPr lang="fa-IR" sz="1800" dirty="0"/>
          </a:p>
          <a:p>
            <a:pPr marL="0" indent="0" algn="r" rtl="1">
              <a:buNone/>
            </a:pPr>
            <a:br>
              <a:rPr lang="fa-IR" sz="1800" dirty="0"/>
            </a:br>
            <a:endParaRPr lang="en-US" altLang="en-US" sz="18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5650"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Other Design Issues</a:t>
            </a:r>
          </a:p>
        </p:txBody>
      </p:sp>
      <p:sp>
        <p:nvSpPr>
          <p:cNvPr id="97283" name="Rectangle 3"/>
          <p:cNvSpPr>
            <a:spLocks noGrp="1" noChangeArrowheads="1"/>
          </p:cNvSpPr>
          <p:nvPr>
            <p:ph idx="1"/>
          </p:nvPr>
        </p:nvSpPr>
        <p:spPr>
          <a:xfrm>
            <a:off x="394008" y="727075"/>
            <a:ext cx="8451542" cy="4775201"/>
          </a:xfrm>
        </p:spPr>
        <p:txBody>
          <a:bodyPr/>
          <a:lstStyle/>
          <a:p>
            <a:pPr algn="r" rtl="1"/>
            <a:r>
              <a:rPr lang="fa-IR" sz="1600" dirty="0"/>
              <a:t>برخی </a:t>
            </a:r>
            <a:r>
              <a:rPr lang="fa-IR" sz="1600" dirty="0" err="1"/>
              <a:t>جنبه‌های</a:t>
            </a:r>
            <a:r>
              <a:rPr lang="fa-IR" sz="1600" dirty="0"/>
              <a:t> طراحی پایگاه داده با </a:t>
            </a:r>
            <a:r>
              <a:rPr lang="fa-IR" sz="1600" dirty="0" err="1"/>
              <a:t>نرمال‌سازی</a:t>
            </a:r>
            <a:r>
              <a:rPr lang="fa-IR" sz="1600" dirty="0"/>
              <a:t> قابل تشخیص نیستند.</a:t>
            </a:r>
            <a:br>
              <a:rPr lang="fa-IR" sz="1600" dirty="0"/>
            </a:br>
            <a:r>
              <a:rPr lang="fa-IR" sz="1600" dirty="0" err="1"/>
              <a:t>نمونه‌هایی</a:t>
            </a:r>
            <a:r>
              <a:rPr lang="fa-IR" sz="1600" dirty="0"/>
              <a:t> از طراحی بد پایگاه داده که باید از </a:t>
            </a:r>
            <a:r>
              <a:rPr lang="fa-IR" sz="1600" dirty="0" err="1"/>
              <a:t>آن‌ها</a:t>
            </a:r>
            <a:r>
              <a:rPr lang="fa-IR" sz="1600" dirty="0"/>
              <a:t> پرهیز کرد:</a:t>
            </a:r>
          </a:p>
          <a:p>
            <a:pPr algn="r" rtl="1"/>
            <a:r>
              <a:rPr lang="fa-IR" sz="1600" dirty="0" err="1"/>
              <a:t>به‌جای</a:t>
            </a:r>
            <a:r>
              <a:rPr lang="fa-IR" sz="1600" dirty="0"/>
              <a:t> استفاده از </a:t>
            </a:r>
            <a:r>
              <a:rPr lang="fa-IR" sz="1600" dirty="0" err="1"/>
              <a:t>رابطهٔ</a:t>
            </a:r>
            <a:r>
              <a:rPr lang="fa-IR" sz="1600" dirty="0"/>
              <a:t>:</a:t>
            </a:r>
          </a:p>
          <a:p>
            <a:pPr algn="r" rtl="1"/>
            <a:r>
              <a:rPr lang="en-US" sz="1600" b="1" dirty="0"/>
              <a:t>earnings(</a:t>
            </a:r>
            <a:r>
              <a:rPr lang="en-US" sz="1600" b="1" dirty="0" err="1"/>
              <a:t>company_id</a:t>
            </a:r>
            <a:r>
              <a:rPr lang="en-US" sz="1600" b="1" dirty="0"/>
              <a:t>, year, amount)</a:t>
            </a:r>
            <a:endParaRPr lang="en-US" sz="1600" dirty="0"/>
          </a:p>
          <a:p>
            <a:pPr algn="r" rtl="1"/>
            <a:r>
              <a:rPr lang="fa-IR" sz="1600" dirty="0"/>
              <a:t>استفاده شود از </a:t>
            </a:r>
            <a:r>
              <a:rPr lang="fa-IR" sz="1600" dirty="0" err="1"/>
              <a:t>جداولی</a:t>
            </a:r>
            <a:r>
              <a:rPr lang="fa-IR" sz="1600" dirty="0"/>
              <a:t> مانند:</a:t>
            </a:r>
          </a:p>
          <a:p>
            <a:pPr algn="r" rtl="1"/>
            <a:r>
              <a:rPr lang="en-US" sz="1600" b="1" dirty="0"/>
              <a:t>earnings_2004</a:t>
            </a:r>
            <a:r>
              <a:rPr lang="en-US" sz="1600" dirty="0"/>
              <a:t>,</a:t>
            </a:r>
            <a:r>
              <a:rPr lang="en-US" sz="1600" b="1" dirty="0"/>
              <a:t>earnings_2005</a:t>
            </a:r>
            <a:r>
              <a:rPr lang="en-US" sz="1600" dirty="0"/>
              <a:t>,</a:t>
            </a:r>
            <a:r>
              <a:rPr lang="en-US" sz="1600" b="1" dirty="0"/>
              <a:t>earnings_2006</a:t>
            </a:r>
            <a:r>
              <a:rPr lang="en-US" sz="1600" dirty="0"/>
              <a:t>،</a:t>
            </a:r>
            <a:endParaRPr lang="fa-IR" sz="1600" dirty="0"/>
          </a:p>
          <a:p>
            <a:pPr algn="r" rtl="1"/>
            <a:r>
              <a:rPr lang="fa-IR" sz="1600" dirty="0" err="1"/>
              <a:t>همهٔ</a:t>
            </a:r>
            <a:r>
              <a:rPr lang="fa-IR" sz="1600" dirty="0"/>
              <a:t> </a:t>
            </a:r>
            <a:r>
              <a:rPr lang="fa-IR" sz="1600" dirty="0" err="1"/>
              <a:t>این‌ها</a:t>
            </a:r>
            <a:r>
              <a:rPr lang="fa-IR" sz="1600" dirty="0"/>
              <a:t> با شمای </a:t>
            </a:r>
            <a:r>
              <a:rPr lang="fa-IR" sz="1600" b="1" dirty="0"/>
              <a:t>(</a:t>
            </a:r>
            <a:r>
              <a:rPr lang="en-US" sz="1600" b="1" dirty="0" err="1"/>
              <a:t>company_id</a:t>
            </a:r>
            <a:r>
              <a:rPr lang="en-US" sz="1600" b="1" dirty="0"/>
              <a:t>, earnings)</a:t>
            </a:r>
            <a:r>
              <a:rPr lang="en-US" sz="1600" dirty="0"/>
              <a:t> </a:t>
            </a:r>
            <a:r>
              <a:rPr lang="fa-IR" sz="1600" dirty="0"/>
              <a:t>تعریف </a:t>
            </a:r>
            <a:r>
              <a:rPr lang="fa-IR" sz="1600" dirty="0" err="1"/>
              <a:t>شده‌اند</a:t>
            </a:r>
            <a:r>
              <a:rPr lang="fa-IR" sz="1600" dirty="0"/>
              <a:t>.</a:t>
            </a:r>
          </a:p>
          <a:p>
            <a:pPr algn="r" rtl="1"/>
            <a:r>
              <a:rPr lang="fa-IR" sz="1600" dirty="0"/>
              <a:t>این </a:t>
            </a:r>
            <a:r>
              <a:rPr lang="fa-IR" sz="1600" dirty="0" err="1"/>
              <a:t>طرح‌ها</a:t>
            </a:r>
            <a:r>
              <a:rPr lang="fa-IR" sz="1600" dirty="0"/>
              <a:t> اگرچه در </a:t>
            </a:r>
            <a:r>
              <a:rPr lang="en-US" sz="1600" b="1" dirty="0"/>
              <a:t>BCNF</a:t>
            </a:r>
            <a:r>
              <a:rPr lang="en-US" sz="1600" dirty="0"/>
              <a:t> </a:t>
            </a:r>
            <a:r>
              <a:rPr lang="fa-IR" sz="1600" dirty="0"/>
              <a:t>قرار دارند،</a:t>
            </a:r>
            <a:br>
              <a:rPr lang="fa-IR" sz="1600" dirty="0"/>
            </a:br>
            <a:r>
              <a:rPr lang="fa-IR" sz="1600" dirty="0"/>
              <a:t>اما </a:t>
            </a:r>
            <a:r>
              <a:rPr lang="fa-IR" sz="1600" i="1" dirty="0"/>
              <a:t>انجام </a:t>
            </a:r>
            <a:r>
              <a:rPr lang="fa-IR" sz="1600" i="1" dirty="0" err="1"/>
              <a:t>پرس‌وجو</a:t>
            </a:r>
            <a:r>
              <a:rPr lang="fa-IR" sz="1600" i="1" dirty="0"/>
              <a:t> (</a:t>
            </a:r>
            <a:r>
              <a:rPr lang="en-US" sz="1600" i="1" dirty="0"/>
              <a:t>query) </a:t>
            </a:r>
            <a:r>
              <a:rPr lang="fa-IR" sz="1600" i="1" dirty="0"/>
              <a:t>در بین </a:t>
            </a:r>
            <a:r>
              <a:rPr lang="fa-IR" sz="1600" i="1" dirty="0" err="1"/>
              <a:t>سال‌های</a:t>
            </a:r>
            <a:r>
              <a:rPr lang="fa-IR" sz="1600" i="1" dirty="0"/>
              <a:t> مختلف را دشوار </a:t>
            </a:r>
            <a:r>
              <a:rPr lang="fa-IR" sz="1600" i="1" dirty="0" err="1"/>
              <a:t>می‌کنند</a:t>
            </a:r>
            <a:br>
              <a:rPr lang="fa-IR" sz="1600" dirty="0"/>
            </a:br>
            <a:r>
              <a:rPr lang="fa-IR" sz="1600" dirty="0"/>
              <a:t>و </a:t>
            </a:r>
            <a:r>
              <a:rPr lang="fa-IR" sz="1600" i="1" dirty="0"/>
              <a:t>هر سال نیاز به ایجاد یک جدول جدید دارند.</a:t>
            </a:r>
            <a:endParaRPr lang="fa-IR" sz="1600" dirty="0"/>
          </a:p>
          <a:p>
            <a:pPr algn="r" rtl="1"/>
            <a:r>
              <a:rPr lang="fa-IR" sz="1600" dirty="0" err="1"/>
              <a:t>نمونهٔ</a:t>
            </a:r>
            <a:r>
              <a:rPr lang="fa-IR" sz="1600" dirty="0"/>
              <a:t> دیگر:</a:t>
            </a:r>
          </a:p>
          <a:p>
            <a:pPr algn="r" rtl="1"/>
            <a:r>
              <a:rPr lang="fa-IR" sz="1600" dirty="0"/>
              <a:t>جدول </a:t>
            </a:r>
            <a:r>
              <a:rPr lang="en-US" sz="1600" b="1" dirty="0" err="1"/>
              <a:t>company_year</a:t>
            </a:r>
            <a:r>
              <a:rPr lang="en-US" sz="1600" b="1" dirty="0"/>
              <a:t>(</a:t>
            </a:r>
            <a:r>
              <a:rPr lang="en-US" sz="1600" b="1" dirty="0" err="1"/>
              <a:t>company_id</a:t>
            </a:r>
            <a:r>
              <a:rPr lang="en-US" sz="1600" b="1" dirty="0"/>
              <a:t>, earnings_2004, earnings_2005, earnings_2006)</a:t>
            </a:r>
            <a:endParaRPr lang="en-US" sz="1600" dirty="0"/>
          </a:p>
          <a:p>
            <a:pPr algn="r" rtl="1"/>
            <a:r>
              <a:rPr lang="fa-IR" sz="1600" dirty="0"/>
              <a:t>این جدول نیز در </a:t>
            </a:r>
            <a:r>
              <a:rPr lang="en-US" sz="1600" b="1" dirty="0"/>
              <a:t>BCNF</a:t>
            </a:r>
            <a:r>
              <a:rPr lang="en-US" sz="1600" dirty="0"/>
              <a:t> </a:t>
            </a:r>
            <a:r>
              <a:rPr lang="fa-IR" sz="1600" dirty="0"/>
              <a:t>قرار دارد،</a:t>
            </a:r>
            <a:br>
              <a:rPr lang="fa-IR" sz="1600" dirty="0"/>
            </a:br>
            <a:r>
              <a:rPr lang="fa-IR" sz="1600" dirty="0"/>
              <a:t>اما مانند </a:t>
            </a:r>
            <a:r>
              <a:rPr lang="fa-IR" sz="1600" dirty="0" err="1"/>
              <a:t>نمونهٔ</a:t>
            </a:r>
            <a:r>
              <a:rPr lang="fa-IR" sz="1600" dirty="0"/>
              <a:t> قبل:</a:t>
            </a:r>
          </a:p>
          <a:p>
            <a:pPr algn="r" rtl="1"/>
            <a:r>
              <a:rPr lang="fa-IR" sz="1600" dirty="0" err="1"/>
              <a:t>پرس‌وجو</a:t>
            </a:r>
            <a:r>
              <a:rPr lang="fa-IR" sz="1600" dirty="0"/>
              <a:t> بین </a:t>
            </a:r>
            <a:r>
              <a:rPr lang="fa-IR" sz="1600" dirty="0" err="1"/>
              <a:t>سال‌ها</a:t>
            </a:r>
            <a:r>
              <a:rPr lang="fa-IR" sz="1600" dirty="0"/>
              <a:t> را سخت </a:t>
            </a:r>
            <a:r>
              <a:rPr lang="fa-IR" sz="1600" dirty="0" err="1"/>
              <a:t>می‌کند</a:t>
            </a:r>
            <a:endParaRPr lang="fa-IR" sz="1600" dirty="0"/>
          </a:p>
          <a:p>
            <a:pPr algn="r" rtl="1"/>
            <a:r>
              <a:rPr lang="fa-IR" sz="1600" dirty="0"/>
              <a:t>هر سال نیاز به افزودن یک صفت جدید (ستون جدید) دارد</a:t>
            </a:r>
          </a:p>
          <a:p>
            <a:pPr algn="r" rtl="1"/>
            <a:r>
              <a:rPr lang="fa-IR" sz="1600" dirty="0"/>
              <a:t>این نوع طراحی یک </a:t>
            </a:r>
            <a:r>
              <a:rPr lang="en-US" sz="1600" b="1" dirty="0"/>
              <a:t>crosstab</a:t>
            </a:r>
            <a:r>
              <a:rPr lang="en-US" sz="1600" dirty="0"/>
              <a:t> </a:t>
            </a:r>
            <a:r>
              <a:rPr lang="fa-IR" sz="1600" dirty="0"/>
              <a:t>است،</a:t>
            </a:r>
            <a:br>
              <a:rPr lang="fa-IR" sz="1600" dirty="0"/>
            </a:br>
            <a:r>
              <a:rPr lang="fa-IR" sz="1600" dirty="0"/>
              <a:t>که در آن </a:t>
            </a:r>
            <a:r>
              <a:rPr lang="fa-IR" sz="1600" i="1" dirty="0"/>
              <a:t>مقادیر یک صفت، تبدیل به نام </a:t>
            </a:r>
            <a:r>
              <a:rPr lang="fa-IR" sz="1600" i="1" dirty="0" err="1"/>
              <a:t>ستون‌ها</a:t>
            </a:r>
            <a:r>
              <a:rPr lang="fa-IR" sz="1600" i="1" dirty="0"/>
              <a:t> </a:t>
            </a:r>
            <a:r>
              <a:rPr lang="fa-IR" sz="1600" i="1" dirty="0" err="1"/>
              <a:t>می‌شوند</a:t>
            </a:r>
            <a:r>
              <a:rPr lang="fa-IR" sz="1600" i="1" dirty="0"/>
              <a:t>.</a:t>
            </a:r>
            <a:endParaRPr lang="fa-IR" sz="1600" dirty="0"/>
          </a:p>
          <a:p>
            <a:pPr algn="r" rtl="1"/>
            <a:r>
              <a:rPr lang="fa-IR" sz="1600" dirty="0"/>
              <a:t>این نوع ساختار معمولاً در </a:t>
            </a:r>
            <a:r>
              <a:rPr lang="fa-IR" sz="1600" b="1" dirty="0" err="1"/>
              <a:t>صفحه‌گسترده‌ها</a:t>
            </a:r>
            <a:r>
              <a:rPr lang="fa-IR" sz="1600" b="1" dirty="0"/>
              <a:t> (</a:t>
            </a:r>
            <a:r>
              <a:rPr lang="en-US" sz="1600" b="1" dirty="0"/>
              <a:t>spreadsheets)</a:t>
            </a:r>
            <a:r>
              <a:rPr lang="en-US" sz="1600" dirty="0"/>
              <a:t> </a:t>
            </a:r>
            <a:r>
              <a:rPr lang="fa-IR" sz="1600" dirty="0"/>
              <a:t>و ابزارهای </a:t>
            </a:r>
            <a:r>
              <a:rPr lang="fa-IR" sz="1600" b="1" dirty="0"/>
              <a:t>تحلیل داده</a:t>
            </a:r>
            <a:r>
              <a:rPr lang="fa-IR" sz="1600" dirty="0"/>
              <a:t> استفاده </a:t>
            </a:r>
            <a:r>
              <a:rPr lang="fa-IR" sz="1600" dirty="0" err="1"/>
              <a:t>می‌شود</a:t>
            </a:r>
            <a:r>
              <a:rPr lang="fa-IR" sz="1600" dirty="0"/>
              <a:t>،</a:t>
            </a:r>
            <a:br>
              <a:rPr lang="fa-IR" sz="1600" dirty="0"/>
            </a:br>
            <a:r>
              <a:rPr lang="fa-IR" sz="1600" dirty="0"/>
              <a:t>اما در طراحی پایگاه داده </a:t>
            </a:r>
            <a:r>
              <a:rPr lang="fa-IR" sz="1600" dirty="0" err="1"/>
              <a:t>رابطه‌ای</a:t>
            </a:r>
            <a:r>
              <a:rPr lang="fa-IR" sz="1600" dirty="0"/>
              <a:t> </a:t>
            </a:r>
            <a:r>
              <a:rPr lang="fa-IR" sz="1600" i="1" dirty="0"/>
              <a:t>انتخاب مناسبی نیست.</a:t>
            </a:r>
            <a:endParaRPr lang="fa-IR" sz="1600" dirty="0"/>
          </a:p>
          <a:p>
            <a:pPr algn="r" rtl="1"/>
            <a:endParaRPr lang="en-US" altLang="en-US" sz="16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7698"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Modeling Temporal Data</a:t>
            </a:r>
          </a:p>
        </p:txBody>
      </p:sp>
      <p:sp>
        <p:nvSpPr>
          <p:cNvPr id="98307" name="Rectangle 3"/>
          <p:cNvSpPr>
            <a:spLocks noGrp="1" noChangeArrowheads="1"/>
          </p:cNvSpPr>
          <p:nvPr>
            <p:ph idx="1"/>
          </p:nvPr>
        </p:nvSpPr>
        <p:spPr>
          <a:xfrm>
            <a:off x="368969" y="838200"/>
            <a:ext cx="8077200" cy="4900863"/>
          </a:xfrm>
        </p:spPr>
        <p:txBody>
          <a:bodyPr/>
          <a:lstStyle/>
          <a:p>
            <a:pPr algn="r" rtl="1"/>
            <a:r>
              <a:rPr lang="fa-IR" dirty="0" err="1"/>
              <a:t>داده‌های</a:t>
            </a:r>
            <a:r>
              <a:rPr lang="fa-IR" dirty="0"/>
              <a:t> زمانی (</a:t>
            </a:r>
            <a:r>
              <a:rPr lang="en-US" dirty="0"/>
              <a:t>Temporal Data) </a:t>
            </a:r>
            <a:r>
              <a:rPr lang="fa-IR" dirty="0"/>
              <a:t>دارای یک </a:t>
            </a:r>
            <a:r>
              <a:rPr lang="fa-IR" b="1" dirty="0"/>
              <a:t>بازه زمانی معتبر</a:t>
            </a:r>
            <a:r>
              <a:rPr lang="fa-IR" dirty="0"/>
              <a:t> هستند؛ یعنی </a:t>
            </a:r>
            <a:r>
              <a:rPr lang="fa-IR" dirty="0" err="1"/>
              <a:t>دوره‌ای</a:t>
            </a:r>
            <a:r>
              <a:rPr lang="fa-IR" dirty="0"/>
              <a:t> که </a:t>
            </a:r>
            <a:r>
              <a:rPr lang="fa-IR" dirty="0" err="1"/>
              <a:t>داده‌ها</a:t>
            </a:r>
            <a:r>
              <a:rPr lang="fa-IR" dirty="0"/>
              <a:t> در آن دوره صحیح و معتبر به شمار </a:t>
            </a:r>
            <a:r>
              <a:rPr lang="fa-IR" dirty="0" err="1"/>
              <a:t>می‌آیند</a:t>
            </a:r>
            <a:r>
              <a:rPr lang="fa-IR" dirty="0"/>
              <a:t>.</a:t>
            </a:r>
          </a:p>
          <a:p>
            <a:pPr algn="r" rtl="1"/>
            <a:r>
              <a:rPr lang="fa-IR" dirty="0"/>
              <a:t>یک </a:t>
            </a:r>
            <a:r>
              <a:rPr lang="en-US" b="1" dirty="0"/>
              <a:t>snapshot</a:t>
            </a:r>
            <a:r>
              <a:rPr lang="en-US" dirty="0"/>
              <a:t>، </a:t>
            </a:r>
            <a:r>
              <a:rPr lang="fa-IR" dirty="0"/>
              <a:t>مقدار </a:t>
            </a:r>
            <a:r>
              <a:rPr lang="fa-IR" dirty="0" err="1"/>
              <a:t>داده‌ها</a:t>
            </a:r>
            <a:r>
              <a:rPr lang="fa-IR" dirty="0"/>
              <a:t> در یک </a:t>
            </a:r>
            <a:r>
              <a:rPr lang="fa-IR" b="1" dirty="0"/>
              <a:t>لحظه خاص از زمان</a:t>
            </a:r>
            <a:r>
              <a:rPr lang="fa-IR" dirty="0"/>
              <a:t> است.</a:t>
            </a:r>
          </a:p>
          <a:p>
            <a:pPr algn="r" rtl="1"/>
            <a:r>
              <a:rPr lang="fa-IR" dirty="0"/>
              <a:t>پیشنهادهای متعددی برای گسترش مدل </a:t>
            </a:r>
            <a:r>
              <a:rPr lang="en-US" dirty="0"/>
              <a:t>ER </a:t>
            </a:r>
            <a:r>
              <a:rPr lang="fa-IR" dirty="0"/>
              <a:t>با افزودن زمان اعتبار (</a:t>
            </a:r>
            <a:r>
              <a:rPr lang="en-US" dirty="0"/>
              <a:t>valid time) </a:t>
            </a:r>
            <a:r>
              <a:rPr lang="fa-IR" dirty="0"/>
              <a:t>مطرح </a:t>
            </a:r>
            <a:r>
              <a:rPr lang="fa-IR" dirty="0" err="1"/>
              <a:t>شده‌اند</a:t>
            </a:r>
            <a:r>
              <a:rPr lang="fa-IR" dirty="0"/>
              <a:t>؛ مانند افزودن زمان به:</a:t>
            </a:r>
          </a:p>
          <a:p>
            <a:pPr algn="r" rtl="1"/>
            <a:r>
              <a:rPr lang="fa-IR" b="1" dirty="0"/>
              <a:t>صفات (</a:t>
            </a:r>
            <a:r>
              <a:rPr lang="en-US" b="1" dirty="0"/>
              <a:t>attributes)</a:t>
            </a:r>
            <a:br>
              <a:rPr lang="en-US" dirty="0"/>
            </a:br>
            <a:r>
              <a:rPr lang="fa-IR" dirty="0"/>
              <a:t>مانند: آدرس یک استاد در </a:t>
            </a:r>
            <a:r>
              <a:rPr lang="fa-IR" dirty="0" err="1"/>
              <a:t>زمان‌های</a:t>
            </a:r>
            <a:r>
              <a:rPr lang="fa-IR" dirty="0"/>
              <a:t> مختلف</a:t>
            </a:r>
          </a:p>
          <a:p>
            <a:pPr algn="r" rtl="1"/>
            <a:r>
              <a:rPr lang="fa-IR" b="1" dirty="0" err="1"/>
              <a:t>موجودیت‌ها</a:t>
            </a:r>
            <a:r>
              <a:rPr lang="fa-IR" b="1" dirty="0"/>
              <a:t> (</a:t>
            </a:r>
            <a:r>
              <a:rPr lang="en-US" b="1" dirty="0"/>
              <a:t>entities)</a:t>
            </a:r>
            <a:br>
              <a:rPr lang="en-US" dirty="0"/>
            </a:br>
            <a:r>
              <a:rPr lang="fa-IR" dirty="0"/>
              <a:t>مانند: دوره زمانی که یک دانشجو </a:t>
            </a:r>
            <a:r>
              <a:rPr lang="fa-IR" dirty="0" err="1"/>
              <a:t>به‌عنوان</a:t>
            </a:r>
            <a:r>
              <a:rPr lang="fa-IR" dirty="0"/>
              <a:t> یک موجودیت وجود دارد</a:t>
            </a:r>
          </a:p>
          <a:p>
            <a:pPr algn="r" rtl="1"/>
            <a:r>
              <a:rPr lang="fa-IR" b="1" dirty="0"/>
              <a:t>روابط (</a:t>
            </a:r>
            <a:r>
              <a:rPr lang="en-US" b="1" dirty="0"/>
              <a:t>relationships)</a:t>
            </a:r>
            <a:br>
              <a:rPr lang="en-US" dirty="0"/>
            </a:br>
            <a:r>
              <a:rPr lang="fa-IR" dirty="0"/>
              <a:t>مانند: بازه زمانی که یک استاد، مشاور یک دانشجو بوده است</a:t>
            </a:r>
          </a:p>
          <a:p>
            <a:pPr algn="r" rtl="1"/>
            <a:r>
              <a:rPr lang="fa-IR" dirty="0"/>
              <a:t>اما </a:t>
            </a:r>
            <a:r>
              <a:rPr lang="fa-IR" b="1" dirty="0"/>
              <a:t>هیچ استاندارد </a:t>
            </a:r>
            <a:r>
              <a:rPr lang="fa-IR" b="1" dirty="0" err="1"/>
              <a:t>پذیرفته‌شده‌ای</a:t>
            </a:r>
            <a:r>
              <a:rPr lang="fa-IR" dirty="0"/>
              <a:t> برای این گسترش وجود ندارد.</a:t>
            </a:r>
          </a:p>
          <a:p>
            <a:pPr algn="r" rtl="1">
              <a:lnSpc>
                <a:spcPct val="90000"/>
              </a:lnSpc>
            </a:pPr>
            <a:endParaRPr lang="en-US" alt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9746"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Modeling Temporal Data (Cont.)</a:t>
            </a:r>
          </a:p>
        </p:txBody>
      </p:sp>
      <p:sp>
        <p:nvSpPr>
          <p:cNvPr id="99331" name="Rectangle 3"/>
          <p:cNvSpPr>
            <a:spLocks noGrp="1" noChangeArrowheads="1"/>
          </p:cNvSpPr>
          <p:nvPr>
            <p:ph idx="1"/>
          </p:nvPr>
        </p:nvSpPr>
        <p:spPr>
          <a:xfrm>
            <a:off x="768350" y="1093789"/>
            <a:ext cx="8250390" cy="4267351"/>
          </a:xfrm>
        </p:spPr>
        <p:txBody>
          <a:bodyPr/>
          <a:lstStyle/>
          <a:p>
            <a:pPr lvl="1" algn="r" rtl="1">
              <a:buFont typeface="Monotype Sorts" pitchFamily="-84" charset="2"/>
              <a:buNone/>
            </a:pPr>
            <a:r>
              <a:rPr lang="fa-IR" sz="2400" dirty="0"/>
              <a:t>۱) در عمل، طراحان پایگاه داده معمولاً </a:t>
            </a:r>
            <a:r>
              <a:rPr lang="fa-IR" sz="2400" dirty="0" err="1"/>
              <a:t>ویژگی‌های</a:t>
            </a:r>
            <a:r>
              <a:rPr lang="fa-IR" sz="2400" dirty="0"/>
              <a:t> زمان شروع و پایان را به روابط اضافه </a:t>
            </a:r>
            <a:r>
              <a:rPr lang="fa-IR" sz="2400" dirty="0" err="1"/>
              <a:t>می‌کنند</a:t>
            </a:r>
            <a:r>
              <a:rPr lang="fa-IR" sz="2400" dirty="0"/>
              <a:t>.</a:t>
            </a:r>
            <a:br>
              <a:rPr lang="fa-IR" sz="2400" dirty="0"/>
            </a:br>
            <a:r>
              <a:rPr lang="fa-IR" sz="2400" dirty="0"/>
              <a:t>۲) برای مثال، </a:t>
            </a:r>
            <a:r>
              <a:rPr lang="fa-IR" sz="2400" dirty="0" err="1"/>
              <a:t>رابطه‌ی</a:t>
            </a:r>
            <a:r>
              <a:rPr lang="fa-IR" sz="2400" dirty="0"/>
              <a:t> </a:t>
            </a:r>
            <a:r>
              <a:rPr lang="en-US" sz="2400" dirty="0"/>
              <a:t>course(</a:t>
            </a:r>
            <a:r>
              <a:rPr lang="en-US" sz="2400" dirty="0" err="1"/>
              <a:t>course_id</a:t>
            </a:r>
            <a:r>
              <a:rPr lang="en-US" sz="2400" dirty="0"/>
              <a:t>, </a:t>
            </a:r>
            <a:r>
              <a:rPr lang="en-US" sz="2400" dirty="0" err="1"/>
              <a:t>course_title</a:t>
            </a:r>
            <a:r>
              <a:rPr lang="en-US" sz="2400" dirty="0"/>
              <a:t>) </a:t>
            </a:r>
            <a:r>
              <a:rPr lang="fa-IR" sz="2400" dirty="0"/>
              <a:t>به شکل</a:t>
            </a:r>
            <a:br>
              <a:rPr lang="fa-IR" sz="2400" dirty="0"/>
            </a:br>
            <a:r>
              <a:rPr lang="fa-IR" sz="2400" dirty="0"/>
              <a:t>  </a:t>
            </a:r>
            <a:r>
              <a:rPr lang="en-US" sz="2400" dirty="0"/>
              <a:t>course(</a:t>
            </a:r>
            <a:r>
              <a:rPr lang="en-US" sz="2400" dirty="0" err="1"/>
              <a:t>course_id</a:t>
            </a:r>
            <a:r>
              <a:rPr lang="en-US" sz="2400" dirty="0"/>
              <a:t>, </a:t>
            </a:r>
            <a:r>
              <a:rPr lang="en-US" sz="2400" dirty="0" err="1"/>
              <a:t>course_title</a:t>
            </a:r>
            <a:r>
              <a:rPr lang="en-US" sz="2400" dirty="0"/>
              <a:t>, start, end) </a:t>
            </a:r>
            <a:r>
              <a:rPr lang="fa-IR" sz="2400" dirty="0"/>
              <a:t>جایگزین </a:t>
            </a:r>
            <a:r>
              <a:rPr lang="fa-IR" sz="2400" dirty="0" err="1"/>
              <a:t>می‌شود</a:t>
            </a:r>
            <a:r>
              <a:rPr lang="fa-IR" sz="2400" dirty="0"/>
              <a:t>.</a:t>
            </a:r>
            <a:br>
              <a:rPr lang="fa-IR" sz="2400" dirty="0"/>
            </a:br>
            <a:r>
              <a:rPr lang="fa-IR" sz="2400" dirty="0"/>
              <a:t>۳) محدودیت: هیچ دو </a:t>
            </a:r>
            <a:r>
              <a:rPr lang="fa-IR" sz="2400" dirty="0" err="1"/>
              <a:t>تاپل</a:t>
            </a:r>
            <a:r>
              <a:rPr lang="fa-IR" sz="2400" dirty="0"/>
              <a:t> نباید </a:t>
            </a:r>
            <a:r>
              <a:rPr lang="fa-IR" sz="2400" dirty="0" err="1"/>
              <a:t>بازه‌های</a:t>
            </a:r>
            <a:r>
              <a:rPr lang="fa-IR" sz="2400" dirty="0"/>
              <a:t> زمانی </a:t>
            </a:r>
            <a:r>
              <a:rPr lang="fa-IR" sz="2400" dirty="0" err="1"/>
              <a:t>معتبرِ</a:t>
            </a:r>
            <a:r>
              <a:rPr lang="fa-IR" sz="2400" dirty="0"/>
              <a:t> </a:t>
            </a:r>
            <a:r>
              <a:rPr lang="fa-IR" sz="2400" dirty="0" err="1"/>
              <a:t>هم‌پوشان</a:t>
            </a:r>
            <a:r>
              <a:rPr lang="fa-IR" sz="2400" dirty="0"/>
              <a:t> داشته باشند.</a:t>
            </a:r>
            <a:br>
              <a:rPr lang="fa-IR" sz="2400" dirty="0"/>
            </a:br>
            <a:r>
              <a:rPr lang="fa-IR" sz="2400" dirty="0"/>
              <a:t>۴) اجرای کارآمد این محدودیت دشوار است.</a:t>
            </a:r>
            <a:br>
              <a:rPr lang="fa-IR" sz="2400" dirty="0"/>
            </a:br>
            <a:r>
              <a:rPr lang="fa-IR" sz="2400" dirty="0"/>
              <a:t>۵) ارجاع کلید خارجی ممکن است به نسخه فعلی داده باشد، یا به داده در یک نقطه خاص زمانی.</a:t>
            </a:r>
            <a:br>
              <a:rPr lang="fa-IR" sz="2400" dirty="0"/>
            </a:br>
            <a:r>
              <a:rPr lang="fa-IR" sz="2400" dirty="0"/>
              <a:t>۶) برای نمونه، </a:t>
            </a:r>
            <a:r>
              <a:rPr lang="fa-IR" sz="2400" dirty="0" err="1"/>
              <a:t>ریزنمرات</a:t>
            </a:r>
            <a:r>
              <a:rPr lang="fa-IR" sz="2400" dirty="0"/>
              <a:t> دانشجو باید به اطلاعات درس در زمانی که درس گذرانده شده است ارجاع دهد.</a:t>
            </a:r>
            <a:endParaRPr lang="en-US" altLang="en-US" sz="24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1794" name="Rectangle 2"/>
          <p:cNvSpPr>
            <a:spLocks noGrp="1" noChangeArrowheads="1"/>
          </p:cNvSpPr>
          <p:nvPr>
            <p:ph type="ctrTitle"/>
          </p:nvPr>
        </p:nvSpPr>
        <p:spPr>
          <a:extLst>
            <a:ext uri="{909E8E84-426E-40dd-AFC4-6F175D3DCCD1}"/>
            <a:ext uri="{91240B29-F687-4f45-9708-019B960494DF}"/>
            <a:ext uri="{FAA26D3D-D897-4be2-8F04-BA451C77F1D7}"/>
          </a:extLst>
        </p:spPr>
        <p:txBody>
          <a:bodyPr/>
          <a:lstStyle/>
          <a:p>
            <a:pPr>
              <a:defRPr/>
            </a:pPr>
            <a:r>
              <a:rPr lang="fa-IR" dirty="0"/>
              <a:t>پایان فصل ۷</a:t>
            </a:r>
            <a:endParaRPr lang="en-US" altLang="en-US" dirty="0">
              <a:effectLst>
                <a:outerShdw blurRad="38100" dist="38100" dir="2700000" algn="tl">
                  <a:srgbClr val="C0C0C0"/>
                </a:outerShdw>
              </a:effectLst>
              <a:ea typeface="ＭＳ Ｐゴシック" pitchFamily="34" charset="-128"/>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95" name="Rectangle 3"/>
          <p:cNvSpPr>
            <a:spLocks noGrp="1" noChangeArrowheads="1"/>
          </p:cNvSpPr>
          <p:nvPr>
            <p:ph idx="1"/>
          </p:nvPr>
        </p:nvSpPr>
        <p:spPr>
          <a:xfrm>
            <a:off x="2015231" y="2400300"/>
            <a:ext cx="6112769" cy="1257300"/>
          </a:xfrm>
        </p:spPr>
        <p:txBody>
          <a:bodyPr/>
          <a:lstStyle/>
          <a:p>
            <a:pPr algn="r" rtl="1">
              <a:buFont typeface="Monotype Sorts" charset="2"/>
              <a:buNone/>
              <a:defRPr/>
            </a:pPr>
            <a:r>
              <a:rPr lang="en-US" sz="3200" dirty="0"/>
              <a:t>»</a:t>
            </a:r>
            <a:r>
              <a:rPr lang="fa-IR" sz="3200" dirty="0" err="1"/>
              <a:t>اثباتِ</a:t>
            </a:r>
            <a:r>
              <a:rPr lang="fa-IR" sz="3200" dirty="0"/>
              <a:t> </a:t>
            </a:r>
            <a:r>
              <a:rPr lang="fa-IR" sz="3200" dirty="0" err="1"/>
              <a:t>درستیِ</a:t>
            </a:r>
            <a:r>
              <a:rPr lang="fa-IR" sz="3200" dirty="0"/>
              <a:t> </a:t>
            </a:r>
            <a:r>
              <a:rPr lang="fa-IR" sz="3200" dirty="0" err="1"/>
              <a:t>الگوریتمِ</a:t>
            </a:r>
            <a:r>
              <a:rPr lang="fa-IR" sz="3200" dirty="0"/>
              <a:t> تجزیه به 3</a:t>
            </a:r>
            <a:r>
              <a:rPr lang="en-US" sz="3200" dirty="0"/>
              <a:t>«NF</a:t>
            </a:r>
            <a:endParaRPr lang="en-US" altLang="en-US" sz="3200" b="1" dirty="0">
              <a:solidFill>
                <a:srgbClr val="002060"/>
              </a:solidFill>
              <a:effectLst>
                <a:outerShdw blurRad="38100" dist="38100" dir="2700000" algn="tl">
                  <a:srgbClr val="C0C0C0"/>
                </a:outerShdw>
              </a:effectLst>
              <a:latin typeface="+mj-lt"/>
              <a:ea typeface="ＭＳ Ｐゴシック" pitchFamily="34" charset="-128"/>
              <a:cs typeface="+mj-cs"/>
            </a:endParaRPr>
          </a:p>
        </p:txBody>
      </p:sp>
    </p:spTree>
  </p:cSld>
  <p:clrMapOvr>
    <a:masterClrMapping/>
  </p:clrMapOvr>
  <p:transition spd="slow"/>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5890" name="Rectangle 2"/>
          <p:cNvSpPr>
            <a:spLocks noGrp="1" noChangeArrowheads="1"/>
          </p:cNvSpPr>
          <p:nvPr>
            <p:ph type="title"/>
          </p:nvPr>
        </p:nvSpPr>
        <p:spPr>
          <a:xfrm>
            <a:off x="682625" y="60325"/>
            <a:ext cx="8461375" cy="644525"/>
          </a:xfrm>
        </p:spPr>
        <p:txBody>
          <a:bodyPr/>
          <a:lstStyle/>
          <a:p>
            <a:pPr>
              <a:defRPr/>
            </a:pPr>
            <a:r>
              <a:rPr lang="en-US" altLang="en-US" sz="2800" dirty="0">
                <a:effectLst>
                  <a:outerShdw blurRad="38100" dist="38100" dir="2700000" algn="tl">
                    <a:srgbClr val="C0C0C0"/>
                  </a:outerShdw>
                </a:effectLst>
                <a:ea typeface="ＭＳ Ｐゴシック" pitchFamily="34" charset="-128"/>
              </a:rPr>
              <a:t>Correctness of 3NF Decomposition Algorithm</a:t>
            </a:r>
          </a:p>
        </p:txBody>
      </p:sp>
      <p:sp>
        <p:nvSpPr>
          <p:cNvPr id="102403" name="Rectangle 3"/>
          <p:cNvSpPr>
            <a:spLocks noGrp="1" noChangeArrowheads="1"/>
          </p:cNvSpPr>
          <p:nvPr>
            <p:ph idx="1"/>
          </p:nvPr>
        </p:nvSpPr>
        <p:spPr>
          <a:xfrm>
            <a:off x="304800" y="1244601"/>
            <a:ext cx="7986943" cy="2918326"/>
          </a:xfrm>
        </p:spPr>
        <p:txBody>
          <a:bodyPr/>
          <a:lstStyle/>
          <a:p>
            <a:pPr algn="r" rtl="1"/>
            <a:r>
              <a:rPr lang="fa-IR" sz="2800" dirty="0" err="1"/>
              <a:t>الگوریتمِ</a:t>
            </a:r>
            <a:r>
              <a:rPr lang="fa-IR" sz="2800" dirty="0"/>
              <a:t> تجزیه به 3</a:t>
            </a:r>
            <a:r>
              <a:rPr lang="en-US" sz="2800" dirty="0"/>
              <a:t>NF </a:t>
            </a:r>
            <a:r>
              <a:rPr lang="fa-IR" sz="2800" dirty="0" err="1"/>
              <a:t>ویژگیِ</a:t>
            </a:r>
            <a:r>
              <a:rPr lang="fa-IR" sz="2800" dirty="0"/>
              <a:t> </a:t>
            </a:r>
            <a:r>
              <a:rPr lang="fa-IR" sz="2800" dirty="0" err="1"/>
              <a:t>حفظِ</a:t>
            </a:r>
            <a:r>
              <a:rPr lang="fa-IR" sz="2800" dirty="0"/>
              <a:t> </a:t>
            </a:r>
            <a:r>
              <a:rPr lang="fa-IR" sz="2800" dirty="0" err="1"/>
              <a:t>وابستگی‌ها</a:t>
            </a:r>
            <a:r>
              <a:rPr lang="fa-IR" sz="2800" dirty="0"/>
              <a:t> را دارد،</a:t>
            </a:r>
            <a:br>
              <a:rPr lang="fa-IR" sz="2800" dirty="0"/>
            </a:br>
            <a:r>
              <a:rPr lang="fa-IR" sz="2800" dirty="0"/>
              <a:t>زیرا برای هر </a:t>
            </a:r>
            <a:r>
              <a:rPr lang="fa-IR" sz="2800" dirty="0" err="1"/>
              <a:t>وابستگیِ</a:t>
            </a:r>
            <a:r>
              <a:rPr lang="fa-IR" sz="2800" dirty="0"/>
              <a:t> </a:t>
            </a:r>
            <a:r>
              <a:rPr lang="fa-IR" sz="2800" dirty="0" err="1"/>
              <a:t>تابعی</a:t>
            </a:r>
            <a:r>
              <a:rPr lang="fa-IR" sz="2800" dirty="0"/>
              <a:t> در </a:t>
            </a:r>
            <a:r>
              <a:rPr lang="en-US" sz="2800" dirty="0"/>
              <a:t>Fc </a:t>
            </a:r>
            <a:r>
              <a:rPr lang="fa-IR" sz="2800" dirty="0"/>
              <a:t>یک رابطه ساخته </a:t>
            </a:r>
            <a:r>
              <a:rPr lang="fa-IR" sz="2800" dirty="0" err="1"/>
              <a:t>می‌شود</a:t>
            </a:r>
            <a:r>
              <a:rPr lang="fa-IR" sz="2800" dirty="0"/>
              <a:t>.</a:t>
            </a:r>
          </a:p>
          <a:p>
            <a:pPr algn="r" rtl="1"/>
            <a:r>
              <a:rPr lang="fa-IR" sz="2800" dirty="0"/>
              <a:t>این تجزیه </a:t>
            </a:r>
            <a:r>
              <a:rPr lang="fa-IR" sz="2800" dirty="0" err="1"/>
              <a:t>بدونِ</a:t>
            </a:r>
            <a:r>
              <a:rPr lang="fa-IR" sz="2800" dirty="0"/>
              <a:t> اتلاف است.</a:t>
            </a:r>
          </a:p>
          <a:p>
            <a:pPr algn="r" rtl="1"/>
            <a:r>
              <a:rPr lang="fa-IR" sz="2800" dirty="0"/>
              <a:t>یک </a:t>
            </a:r>
            <a:r>
              <a:rPr lang="fa-IR" sz="2800" dirty="0" err="1"/>
              <a:t>کلیدِ</a:t>
            </a:r>
            <a:r>
              <a:rPr lang="fa-IR" sz="2800" dirty="0"/>
              <a:t> نامزد (</a:t>
            </a:r>
            <a:r>
              <a:rPr lang="en-US" sz="2800" dirty="0"/>
              <a:t>C) </a:t>
            </a:r>
            <a:r>
              <a:rPr lang="fa-IR" sz="2800" dirty="0"/>
              <a:t>در یکی از </a:t>
            </a:r>
            <a:r>
              <a:rPr lang="fa-IR" sz="2800" dirty="0" err="1"/>
              <a:t>رابطه‌های</a:t>
            </a:r>
            <a:r>
              <a:rPr lang="fa-IR" sz="2800" dirty="0"/>
              <a:t> </a:t>
            </a:r>
            <a:r>
              <a:rPr lang="en-US" sz="2800" dirty="0"/>
              <a:t>Ri </a:t>
            </a:r>
            <a:r>
              <a:rPr lang="fa-IR" sz="2800" dirty="0"/>
              <a:t>حاصل از تجزیه قرار </a:t>
            </a:r>
            <a:r>
              <a:rPr lang="fa-IR" sz="2800" dirty="0" err="1"/>
              <a:t>می‌گیرد</a:t>
            </a:r>
            <a:r>
              <a:rPr lang="fa-IR" sz="2800" dirty="0"/>
              <a:t>.</a:t>
            </a:r>
          </a:p>
          <a:p>
            <a:pPr algn="r" rtl="1"/>
            <a:r>
              <a:rPr lang="fa-IR" sz="2800" dirty="0" err="1"/>
              <a:t>بستارِ</a:t>
            </a:r>
            <a:r>
              <a:rPr lang="fa-IR" sz="2800" dirty="0"/>
              <a:t> این </a:t>
            </a:r>
            <a:r>
              <a:rPr lang="fa-IR" sz="2800" dirty="0" err="1"/>
              <a:t>کلیدِ</a:t>
            </a:r>
            <a:r>
              <a:rPr lang="fa-IR" sz="2800" dirty="0"/>
              <a:t> نامزد </a:t>
            </a:r>
            <a:r>
              <a:rPr lang="fa-IR" sz="2800" dirty="0" err="1"/>
              <a:t>تحتِ</a:t>
            </a:r>
            <a:r>
              <a:rPr lang="fa-IR" sz="2800" dirty="0"/>
              <a:t> </a:t>
            </a:r>
            <a:r>
              <a:rPr lang="en-US" sz="2800" dirty="0"/>
              <a:t>Fc </a:t>
            </a:r>
            <a:r>
              <a:rPr lang="fa-IR" sz="2800" dirty="0"/>
              <a:t>باید </a:t>
            </a:r>
            <a:r>
              <a:rPr lang="fa-IR" sz="2800" dirty="0" err="1"/>
              <a:t>شاملِ</a:t>
            </a:r>
            <a:r>
              <a:rPr lang="fa-IR" sz="2800" dirty="0"/>
              <a:t> </a:t>
            </a:r>
            <a:r>
              <a:rPr lang="fa-IR" sz="2800" dirty="0" err="1"/>
              <a:t>تمامِ</a:t>
            </a:r>
            <a:r>
              <a:rPr lang="fa-IR" sz="2800" dirty="0"/>
              <a:t> </a:t>
            </a:r>
            <a:r>
              <a:rPr lang="fa-IR" sz="2800" dirty="0" err="1"/>
              <a:t>ویژگی‌های</a:t>
            </a:r>
            <a:r>
              <a:rPr lang="fa-IR" sz="2800" dirty="0"/>
              <a:t> موجود در </a:t>
            </a:r>
            <a:r>
              <a:rPr lang="en-US" sz="2800" dirty="0"/>
              <a:t>R </a:t>
            </a:r>
            <a:r>
              <a:rPr lang="fa-IR" sz="2800" dirty="0"/>
              <a:t>باشد.</a:t>
            </a:r>
          </a:p>
          <a:p>
            <a:pPr algn="r" rtl="1"/>
            <a:r>
              <a:rPr lang="fa-IR" sz="2800" dirty="0"/>
              <a:t>با دنبال کردن مراحل </a:t>
            </a:r>
            <a:r>
              <a:rPr lang="fa-IR" sz="2800" dirty="0" err="1"/>
              <a:t>الگوریتمِ</a:t>
            </a:r>
            <a:r>
              <a:rPr lang="fa-IR" sz="2800" dirty="0"/>
              <a:t> </a:t>
            </a:r>
            <a:r>
              <a:rPr lang="fa-IR" sz="2800" dirty="0" err="1"/>
              <a:t>بستارِ</a:t>
            </a:r>
            <a:r>
              <a:rPr lang="fa-IR" sz="2800" dirty="0"/>
              <a:t> ویژگی </a:t>
            </a:r>
            <a:r>
              <a:rPr lang="fa-IR" sz="2800" dirty="0" err="1"/>
              <a:t>می‌توان</a:t>
            </a:r>
            <a:r>
              <a:rPr lang="fa-IR" sz="2800" dirty="0"/>
              <a:t> نشان داد که برای هر </a:t>
            </a:r>
            <a:r>
              <a:rPr lang="fa-IR" sz="2800" dirty="0" err="1"/>
              <a:t>تاپل</a:t>
            </a:r>
            <a:r>
              <a:rPr lang="fa-IR" sz="2800" dirty="0"/>
              <a:t> در </a:t>
            </a:r>
            <a:r>
              <a:rPr lang="en-US" sz="2800" dirty="0"/>
              <a:t>Ri،</a:t>
            </a:r>
            <a:br>
              <a:rPr lang="en-US" sz="2800" dirty="0"/>
            </a:br>
            <a:r>
              <a:rPr lang="fa-IR" sz="2800" dirty="0"/>
              <a:t>در نتیجه </a:t>
            </a:r>
            <a:r>
              <a:rPr lang="en-US" sz="2800" dirty="0"/>
              <a:t>join </a:t>
            </a:r>
            <a:r>
              <a:rPr lang="fa-IR" sz="2800" dirty="0"/>
              <a:t>فقط یک </a:t>
            </a:r>
            <a:r>
              <a:rPr lang="fa-IR" sz="2800" dirty="0" err="1"/>
              <a:t>تاپل</a:t>
            </a:r>
            <a:r>
              <a:rPr lang="fa-IR" sz="2800" dirty="0"/>
              <a:t> </a:t>
            </a:r>
            <a:r>
              <a:rPr lang="fa-IR" sz="2800" dirty="0" err="1"/>
              <a:t>متناظر</a:t>
            </a:r>
            <a:r>
              <a:rPr lang="fa-IR" sz="2800" dirty="0"/>
              <a:t> وجود خواهد داشت.</a:t>
            </a:r>
          </a:p>
          <a:p>
            <a:pPr algn="r" rtl="1"/>
            <a:endParaRPr lang="en-US" altLang="en-US" sz="28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5890" name="Rectangle 2"/>
          <p:cNvSpPr>
            <a:spLocks noGrp="1" noChangeArrowheads="1"/>
          </p:cNvSpPr>
          <p:nvPr>
            <p:ph type="title"/>
          </p:nvPr>
        </p:nvSpPr>
        <p:spPr>
          <a:xfrm>
            <a:off x="682625" y="60325"/>
            <a:ext cx="8461375" cy="644525"/>
          </a:xfrm>
        </p:spPr>
        <p:txBody>
          <a:bodyPr/>
          <a:lstStyle/>
          <a:p>
            <a:pPr>
              <a:defRPr/>
            </a:pPr>
            <a:r>
              <a:rPr lang="en-US" altLang="en-US" sz="2400" dirty="0">
                <a:effectLst>
                  <a:outerShdw blurRad="38100" dist="38100" dir="2700000" algn="tl">
                    <a:srgbClr val="C0C0C0"/>
                  </a:outerShdw>
                </a:effectLst>
                <a:ea typeface="ＭＳ Ｐゴシック" pitchFamily="34" charset="-128"/>
              </a:rPr>
              <a:t>Correctness of 3NF Decomposition Algorithm (Cont</a:t>
            </a:r>
            <a:r>
              <a:rPr lang="en-US" altLang="en-US" sz="2400" dirty="0">
                <a:effectLst>
                  <a:outerShdw blurRad="38100" dist="38100" dir="2700000" algn="tl">
                    <a:srgbClr val="C0C0C0"/>
                  </a:outerShdw>
                </a:effectLst>
                <a:latin typeface="Arial" panose="020B0604020202020204" pitchFamily="34" charset="0"/>
                <a:ea typeface="ＭＳ Ｐゴシック" pitchFamily="34" charset="-128"/>
              </a:rPr>
              <a:t>.</a:t>
            </a:r>
            <a:r>
              <a:rPr lang="en-US" altLang="ja-JP" sz="2400" dirty="0">
                <a:effectLst>
                  <a:outerShdw blurRad="38100" dist="38100" dir="2700000" algn="tl">
                    <a:srgbClr val="C0C0C0"/>
                  </a:outerShdw>
                </a:effectLst>
                <a:ea typeface="ＭＳ Ｐゴシック" pitchFamily="34" charset="-128"/>
              </a:rPr>
              <a:t>)</a:t>
            </a:r>
            <a:endParaRPr lang="en-US" altLang="en-US" sz="2400" dirty="0">
              <a:effectLst>
                <a:outerShdw blurRad="38100" dist="38100" dir="2700000" algn="tl">
                  <a:srgbClr val="C0C0C0"/>
                </a:outerShdw>
              </a:effectLst>
              <a:ea typeface="ＭＳ Ｐゴシック" pitchFamily="34" charset="-128"/>
            </a:endParaRPr>
          </a:p>
        </p:txBody>
      </p:sp>
      <p:sp>
        <p:nvSpPr>
          <p:cNvPr id="103427" name="Rectangle 3"/>
          <p:cNvSpPr>
            <a:spLocks noGrp="1" noChangeArrowheads="1"/>
          </p:cNvSpPr>
          <p:nvPr>
            <p:ph idx="1"/>
          </p:nvPr>
        </p:nvSpPr>
        <p:spPr>
          <a:xfrm>
            <a:off x="816745" y="1278385"/>
            <a:ext cx="7207735" cy="3058708"/>
          </a:xfrm>
        </p:spPr>
        <p:txBody>
          <a:bodyPr/>
          <a:lstStyle/>
          <a:p>
            <a:pPr algn="r" rtl="1"/>
            <a:r>
              <a:rPr lang="fa-IR" sz="2400" dirty="0"/>
              <a:t>ادعا: اگر رابطه </a:t>
            </a:r>
            <a:r>
              <a:rPr lang="en-US" sz="2400" dirty="0"/>
              <a:t>Ri </a:t>
            </a:r>
            <a:r>
              <a:rPr lang="fa-IR" sz="2400" dirty="0"/>
              <a:t>در </a:t>
            </a:r>
            <a:r>
              <a:rPr lang="fa-IR" sz="2400" dirty="0" err="1"/>
              <a:t>تجزیه‌ای</a:t>
            </a:r>
            <a:r>
              <a:rPr lang="fa-IR" sz="2400" dirty="0"/>
              <a:t> باشد که توسط </a:t>
            </a:r>
            <a:r>
              <a:rPr lang="fa-IR" sz="2400" dirty="0" err="1"/>
              <a:t>الگوریتمِ</a:t>
            </a:r>
            <a:r>
              <a:rPr lang="fa-IR" sz="2400" dirty="0"/>
              <a:t> بالا ساخته شده است، آنگاه </a:t>
            </a:r>
            <a:r>
              <a:rPr lang="en-US" sz="2400" dirty="0"/>
              <a:t>Ri </a:t>
            </a:r>
            <a:r>
              <a:rPr lang="fa-IR" sz="2400" dirty="0"/>
              <a:t>در 3</a:t>
            </a:r>
            <a:r>
              <a:rPr lang="en-US" sz="2400" dirty="0"/>
              <a:t>NF </a:t>
            </a:r>
            <a:r>
              <a:rPr lang="fa-IR" sz="2400" dirty="0"/>
              <a:t>قرار دارد.</a:t>
            </a:r>
          </a:p>
          <a:p>
            <a:pPr algn="r" rtl="1"/>
            <a:r>
              <a:rPr lang="fa-IR" sz="2400" dirty="0"/>
              <a:t>اثبات:</a:t>
            </a:r>
            <a:br>
              <a:rPr lang="fa-IR" sz="2400" dirty="0"/>
            </a:br>
            <a:r>
              <a:rPr lang="fa-IR" sz="2400" dirty="0"/>
              <a:t>فرض کنید </a:t>
            </a:r>
            <a:r>
              <a:rPr lang="en-US" sz="2400" dirty="0"/>
              <a:t>Ri </a:t>
            </a:r>
            <a:r>
              <a:rPr lang="fa-IR" sz="2400" dirty="0"/>
              <a:t>از </a:t>
            </a:r>
            <a:r>
              <a:rPr lang="fa-IR" sz="2400" dirty="0" err="1"/>
              <a:t>وابستگیِ</a:t>
            </a:r>
            <a:r>
              <a:rPr lang="fa-IR" sz="2400" dirty="0"/>
              <a:t> </a:t>
            </a:r>
            <a:r>
              <a:rPr lang="el-GR" sz="2400" dirty="0"/>
              <a:t>α → β </a:t>
            </a:r>
            <a:r>
              <a:rPr lang="fa-IR" sz="2400" dirty="0"/>
              <a:t>ساخته شده باشد.</a:t>
            </a:r>
            <a:br>
              <a:rPr lang="fa-IR" sz="2400" dirty="0"/>
            </a:br>
            <a:r>
              <a:rPr lang="fa-IR" sz="2400" dirty="0"/>
              <a:t>فرض کنید </a:t>
            </a:r>
            <a:r>
              <a:rPr lang="el-GR" sz="2400" dirty="0"/>
              <a:t>γ → </a:t>
            </a:r>
            <a:r>
              <a:rPr lang="en-US" sz="2400" dirty="0"/>
              <a:t>B </a:t>
            </a:r>
            <a:r>
              <a:rPr lang="fa-IR" sz="2400" dirty="0"/>
              <a:t>یک </a:t>
            </a:r>
            <a:r>
              <a:rPr lang="fa-IR" sz="2400" dirty="0" err="1"/>
              <a:t>وابستگیِ</a:t>
            </a:r>
            <a:r>
              <a:rPr lang="fa-IR" sz="2400" dirty="0"/>
              <a:t> </a:t>
            </a:r>
            <a:r>
              <a:rPr lang="fa-IR" sz="2400" dirty="0" err="1"/>
              <a:t>تابعیِ</a:t>
            </a:r>
            <a:r>
              <a:rPr lang="fa-IR" sz="2400" dirty="0"/>
              <a:t> </a:t>
            </a:r>
            <a:r>
              <a:rPr lang="fa-IR" sz="2400" dirty="0" err="1"/>
              <a:t>غیرِ</a:t>
            </a:r>
            <a:r>
              <a:rPr lang="fa-IR" sz="2400" dirty="0"/>
              <a:t> بدیهی روی </a:t>
            </a:r>
            <a:r>
              <a:rPr lang="en-US" sz="2400" dirty="0"/>
              <a:t>Ri </a:t>
            </a:r>
            <a:r>
              <a:rPr lang="fa-IR" sz="2400" dirty="0"/>
              <a:t>باشد.</a:t>
            </a:r>
            <a:br>
              <a:rPr lang="fa-IR" sz="2400" dirty="0"/>
            </a:br>
            <a:r>
              <a:rPr lang="fa-IR" sz="2400" dirty="0"/>
              <a:t>(فقط لازم است </a:t>
            </a:r>
            <a:r>
              <a:rPr lang="fa-IR" sz="2400" dirty="0" err="1"/>
              <a:t>وابستگی‌هایی</a:t>
            </a:r>
            <a:r>
              <a:rPr lang="fa-IR" sz="2400" dirty="0"/>
              <a:t> را در نظر بگیریم که </a:t>
            </a:r>
            <a:r>
              <a:rPr lang="fa-IR" sz="2400" dirty="0" err="1"/>
              <a:t>سمتِ</a:t>
            </a:r>
            <a:r>
              <a:rPr lang="fa-IR" sz="2400" dirty="0"/>
              <a:t> </a:t>
            </a:r>
            <a:r>
              <a:rPr lang="fa-IR" sz="2400" dirty="0" err="1"/>
              <a:t>راستشان</a:t>
            </a:r>
            <a:r>
              <a:rPr lang="fa-IR" sz="2400" dirty="0"/>
              <a:t> یک </a:t>
            </a:r>
            <a:r>
              <a:rPr lang="fa-IR" sz="2400" dirty="0" err="1"/>
              <a:t>تک‌ویژگی</a:t>
            </a:r>
            <a:r>
              <a:rPr lang="fa-IR" sz="2400" dirty="0"/>
              <a:t> است.)</a:t>
            </a:r>
            <a:br>
              <a:rPr lang="fa-IR" sz="2400" dirty="0"/>
            </a:br>
            <a:r>
              <a:rPr lang="fa-IR" sz="2400" dirty="0"/>
              <a:t>اکنون، </a:t>
            </a:r>
            <a:r>
              <a:rPr lang="en-US" sz="2400" dirty="0"/>
              <a:t>B </a:t>
            </a:r>
            <a:r>
              <a:rPr lang="fa-IR" sz="2400" dirty="0" err="1"/>
              <a:t>می‌تواند</a:t>
            </a:r>
            <a:r>
              <a:rPr lang="fa-IR" sz="2400" dirty="0"/>
              <a:t> در </a:t>
            </a:r>
            <a:r>
              <a:rPr lang="el-GR" sz="2400" dirty="0"/>
              <a:t>β </a:t>
            </a:r>
            <a:r>
              <a:rPr lang="fa-IR" sz="2400" dirty="0"/>
              <a:t>باشد یا در </a:t>
            </a:r>
            <a:r>
              <a:rPr lang="el-GR" sz="2400" dirty="0"/>
              <a:t>α، </a:t>
            </a:r>
            <a:r>
              <a:rPr lang="fa-IR" sz="2400" dirty="0"/>
              <a:t>اما </a:t>
            </a:r>
            <a:r>
              <a:rPr lang="fa-IR" sz="2400" dirty="0" err="1"/>
              <a:t>نمی‌تواند</a:t>
            </a:r>
            <a:r>
              <a:rPr lang="fa-IR" sz="2400" dirty="0"/>
              <a:t> در هر دو قرار گیرد.</a:t>
            </a:r>
            <a:br>
              <a:rPr lang="fa-IR" sz="2400" dirty="0"/>
            </a:br>
            <a:r>
              <a:rPr lang="fa-IR" sz="2400" dirty="0"/>
              <a:t>هر حالت را جداگانه بررسی کنید</a:t>
            </a:r>
          </a:p>
          <a:p>
            <a:pPr algn="r" rtl="1"/>
            <a:endParaRPr lang="en-US" altLang="en-US" sz="24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9986" name="Rectangle 2"/>
          <p:cNvSpPr>
            <a:spLocks noGrp="1" noChangeArrowheads="1"/>
          </p:cNvSpPr>
          <p:nvPr>
            <p:ph type="title"/>
          </p:nvPr>
        </p:nvSpPr>
        <p:spPr>
          <a:xfrm>
            <a:off x="890588" y="158750"/>
            <a:ext cx="7915275" cy="569913"/>
          </a:xfrm>
        </p:spPr>
        <p:txBody>
          <a:bodyPr/>
          <a:lstStyle/>
          <a:p>
            <a:pPr>
              <a:defRPr/>
            </a:pPr>
            <a:r>
              <a:rPr lang="en-US" altLang="en-US" sz="2800" dirty="0">
                <a:effectLst>
                  <a:outerShdw blurRad="38100" dist="38100" dir="2700000" algn="tl">
                    <a:srgbClr val="C0C0C0"/>
                  </a:outerShdw>
                </a:effectLst>
                <a:ea typeface="ＭＳ Ｐゴシック" pitchFamily="34" charset="-128"/>
              </a:rPr>
              <a:t>Correctness of 3NF Decomposition (Cont</a:t>
            </a:r>
            <a:r>
              <a:rPr lang="en-US" altLang="ja-JP" sz="2800" dirty="0">
                <a:effectLst>
                  <a:outerShdw blurRad="38100" dist="38100" dir="2700000" algn="tl">
                    <a:srgbClr val="C0C0C0"/>
                  </a:outerShdw>
                </a:effectLst>
                <a:ea typeface="ＭＳ Ｐゴシック" pitchFamily="34" charset="-128"/>
              </a:rPr>
              <a:t>.)</a:t>
            </a:r>
            <a:endParaRPr lang="en-US" altLang="en-US" sz="2800" dirty="0">
              <a:effectLst>
                <a:outerShdw blurRad="38100" dist="38100" dir="2700000" algn="tl">
                  <a:srgbClr val="C0C0C0"/>
                </a:outerShdw>
              </a:effectLst>
              <a:ea typeface="ＭＳ Ｐゴシック" pitchFamily="34" charset="-128"/>
            </a:endParaRPr>
          </a:p>
        </p:txBody>
      </p:sp>
      <p:sp>
        <p:nvSpPr>
          <p:cNvPr id="104451" name="Rectangle 3"/>
          <p:cNvSpPr>
            <a:spLocks noGrp="1" noChangeArrowheads="1"/>
          </p:cNvSpPr>
          <p:nvPr>
            <p:ph idx="1"/>
          </p:nvPr>
        </p:nvSpPr>
        <p:spPr>
          <a:xfrm>
            <a:off x="113192" y="1137574"/>
            <a:ext cx="8802208" cy="5364826"/>
          </a:xfrm>
        </p:spPr>
        <p:txBody>
          <a:bodyPr/>
          <a:lstStyle/>
          <a:p>
            <a:pPr algn="r" rtl="1"/>
            <a:r>
              <a:rPr lang="fa-IR" sz="2400" dirty="0"/>
              <a:t>حالت ۱: اگر </a:t>
            </a:r>
            <a:r>
              <a:rPr lang="en-US" sz="2400" dirty="0"/>
              <a:t>B </a:t>
            </a:r>
            <a:r>
              <a:rPr lang="fa-IR" sz="2400" dirty="0"/>
              <a:t>در </a:t>
            </a:r>
            <a:r>
              <a:rPr lang="el-GR" sz="2400" dirty="0"/>
              <a:t>β </a:t>
            </a:r>
            <a:r>
              <a:rPr lang="fa-IR" sz="2400" dirty="0"/>
              <a:t>باشد:</a:t>
            </a:r>
            <a:br>
              <a:rPr lang="fa-IR" sz="2400" dirty="0"/>
            </a:br>
            <a:r>
              <a:rPr lang="fa-IR" sz="2400" dirty="0"/>
              <a:t>اگر </a:t>
            </a:r>
            <a:r>
              <a:rPr lang="el-GR" sz="2400" dirty="0"/>
              <a:t>γ </a:t>
            </a:r>
            <a:r>
              <a:rPr lang="fa-IR" sz="2400" dirty="0"/>
              <a:t>یک </a:t>
            </a:r>
            <a:r>
              <a:rPr lang="fa-IR" sz="2400" b="1" dirty="0" err="1"/>
              <a:t>سوپرکلید</a:t>
            </a:r>
            <a:r>
              <a:rPr lang="fa-IR" sz="2400" dirty="0"/>
              <a:t> باشد، شرط </a:t>
            </a:r>
            <a:r>
              <a:rPr lang="fa-IR" sz="2400" dirty="0" err="1"/>
              <a:t>دومِ</a:t>
            </a:r>
            <a:r>
              <a:rPr lang="fa-IR" sz="2400" dirty="0"/>
              <a:t> 3</a:t>
            </a:r>
            <a:r>
              <a:rPr lang="en-US" sz="2400" dirty="0"/>
              <a:t>NF </a:t>
            </a:r>
            <a:r>
              <a:rPr lang="fa-IR" sz="2400" dirty="0"/>
              <a:t>برقرار است.</a:t>
            </a:r>
            <a:br>
              <a:rPr lang="fa-IR" sz="2400" dirty="0"/>
            </a:br>
            <a:r>
              <a:rPr lang="fa-IR" sz="2400" dirty="0"/>
              <a:t>در غیر این صورت، </a:t>
            </a:r>
            <a:r>
              <a:rPr lang="el-GR" sz="2400" dirty="0"/>
              <a:t>α </a:t>
            </a:r>
            <a:r>
              <a:rPr lang="fa-IR" sz="2400" dirty="0"/>
              <a:t>باید </a:t>
            </a:r>
            <a:r>
              <a:rPr lang="fa-IR" sz="2400" dirty="0" err="1"/>
              <a:t>دست‌کم</a:t>
            </a:r>
            <a:r>
              <a:rPr lang="fa-IR" sz="2400" dirty="0"/>
              <a:t> یک ویژگی داشته باشد که در </a:t>
            </a:r>
            <a:r>
              <a:rPr lang="el-GR" sz="2400" dirty="0"/>
              <a:t>γ </a:t>
            </a:r>
            <a:r>
              <a:rPr lang="fa-IR" sz="2400" dirty="0"/>
              <a:t>وجود نداشته باشد.</a:t>
            </a:r>
            <a:br>
              <a:rPr lang="fa-IR" sz="2400" dirty="0"/>
            </a:br>
            <a:r>
              <a:rPr lang="fa-IR" sz="2400" dirty="0"/>
              <a:t>از آنجا که </a:t>
            </a:r>
            <a:r>
              <a:rPr lang="el-GR" sz="2400" dirty="0"/>
              <a:t>γ → </a:t>
            </a:r>
            <a:r>
              <a:rPr lang="en-US" sz="2400" dirty="0"/>
              <a:t>B </a:t>
            </a:r>
            <a:r>
              <a:rPr lang="fa-IR" sz="2400" dirty="0"/>
              <a:t>در </a:t>
            </a:r>
            <a:r>
              <a:rPr lang="en-US" sz="2400" dirty="0"/>
              <a:t>F⁺ </a:t>
            </a:r>
            <a:r>
              <a:rPr lang="fa-IR" sz="2400" dirty="0"/>
              <a:t>قرار دارد، باید بتوان آن را با استفاده از </a:t>
            </a:r>
            <a:r>
              <a:rPr lang="en-US" sz="2400" dirty="0"/>
              <a:t>Fc </a:t>
            </a:r>
            <a:r>
              <a:rPr lang="fa-IR" sz="2400" dirty="0"/>
              <a:t>و از طریق </a:t>
            </a:r>
            <a:r>
              <a:rPr lang="fa-IR" sz="2400" dirty="0" err="1"/>
              <a:t>بستار</a:t>
            </a:r>
            <a:r>
              <a:rPr lang="fa-IR" sz="2400" dirty="0"/>
              <a:t> </a:t>
            </a:r>
            <a:r>
              <a:rPr lang="el-GR" sz="2400" dirty="0"/>
              <a:t>γ </a:t>
            </a:r>
            <a:r>
              <a:rPr lang="fa-IR" sz="2400" dirty="0"/>
              <a:t>به دست آورد.</a:t>
            </a:r>
            <a:br>
              <a:rPr lang="fa-IR" sz="2400" dirty="0"/>
            </a:br>
            <a:r>
              <a:rPr lang="fa-IR" sz="2400" dirty="0" err="1"/>
              <a:t>بستارِ</a:t>
            </a:r>
            <a:r>
              <a:rPr lang="fa-IR" sz="2400" dirty="0"/>
              <a:t> </a:t>
            </a:r>
            <a:r>
              <a:rPr lang="el-GR" sz="2400" dirty="0"/>
              <a:t>γ </a:t>
            </a:r>
            <a:r>
              <a:rPr lang="fa-IR" sz="2400" dirty="0" err="1"/>
              <a:t>نمی‌تواند</a:t>
            </a:r>
            <a:r>
              <a:rPr lang="fa-IR" sz="2400" dirty="0"/>
              <a:t> از </a:t>
            </a:r>
            <a:r>
              <a:rPr lang="el-GR" sz="2400" dirty="0"/>
              <a:t>α → β </a:t>
            </a:r>
            <a:r>
              <a:rPr lang="fa-IR" sz="2400" dirty="0"/>
              <a:t>استفاده کرده باشد؛ زیرا اگر از آن استفاده </a:t>
            </a:r>
            <a:r>
              <a:rPr lang="fa-IR" sz="2400" dirty="0" err="1"/>
              <a:t>می‌کرد</a:t>
            </a:r>
            <a:r>
              <a:rPr lang="fa-IR" sz="2400" dirty="0"/>
              <a:t>، </a:t>
            </a:r>
            <a:r>
              <a:rPr lang="el-GR" sz="2400" dirty="0"/>
              <a:t>α </a:t>
            </a:r>
            <a:r>
              <a:rPr lang="fa-IR" sz="2400" dirty="0"/>
              <a:t>باید در </a:t>
            </a:r>
            <a:r>
              <a:rPr lang="fa-IR" sz="2400" dirty="0" err="1"/>
              <a:t>بستارِ</a:t>
            </a:r>
            <a:r>
              <a:rPr lang="fa-IR" sz="2400" dirty="0"/>
              <a:t> </a:t>
            </a:r>
            <a:r>
              <a:rPr lang="el-GR" sz="2400" dirty="0"/>
              <a:t>γ </a:t>
            </a:r>
            <a:r>
              <a:rPr lang="fa-IR" sz="2400" dirty="0"/>
              <a:t>قرار </a:t>
            </a:r>
            <a:r>
              <a:rPr lang="fa-IR" sz="2400" dirty="0" err="1"/>
              <a:t>می‌گرفت</a:t>
            </a:r>
            <a:r>
              <a:rPr lang="fa-IR" sz="2400" dirty="0"/>
              <a:t>،</a:t>
            </a:r>
            <a:br>
              <a:rPr lang="fa-IR" sz="2400" dirty="0"/>
            </a:br>
            <a:r>
              <a:rPr lang="fa-IR" sz="2400" dirty="0"/>
              <a:t>و این ممکن نیست چون فرض </a:t>
            </a:r>
            <a:r>
              <a:rPr lang="fa-IR" sz="2400" dirty="0" err="1"/>
              <a:t>کرده‌ایم</a:t>
            </a:r>
            <a:r>
              <a:rPr lang="fa-IR" sz="2400" dirty="0"/>
              <a:t> </a:t>
            </a:r>
            <a:r>
              <a:rPr lang="el-GR" sz="2400" dirty="0"/>
              <a:t>γ </a:t>
            </a:r>
            <a:r>
              <a:rPr lang="fa-IR" sz="2400" dirty="0"/>
              <a:t>یک </a:t>
            </a:r>
            <a:r>
              <a:rPr lang="fa-IR" sz="2400" b="1" dirty="0" err="1"/>
              <a:t>سوپرکلید</a:t>
            </a:r>
            <a:r>
              <a:rPr lang="fa-IR" sz="2400" dirty="0"/>
              <a:t> نیست.</a:t>
            </a:r>
            <a:br>
              <a:rPr lang="fa-IR" sz="2400" dirty="0"/>
            </a:br>
            <a:r>
              <a:rPr lang="fa-IR" sz="2400" dirty="0"/>
              <a:t>اکنون با استفاده از </a:t>
            </a:r>
            <a:r>
              <a:rPr lang="el-GR" sz="2400" dirty="0"/>
              <a:t>α → (β − {</a:t>
            </a:r>
            <a:r>
              <a:rPr lang="en-US" sz="2400" dirty="0"/>
              <a:t>B}) </a:t>
            </a:r>
            <a:r>
              <a:rPr lang="fa-IR" sz="2400" dirty="0"/>
              <a:t>و </a:t>
            </a:r>
            <a:r>
              <a:rPr lang="el-GR" sz="2400" dirty="0"/>
              <a:t>γ → </a:t>
            </a:r>
            <a:r>
              <a:rPr lang="en-US" sz="2400" dirty="0"/>
              <a:t>B </a:t>
            </a:r>
            <a:r>
              <a:rPr lang="fa-IR" sz="2400" dirty="0" err="1"/>
              <a:t>می‌توانیم</a:t>
            </a:r>
            <a:r>
              <a:rPr lang="fa-IR" sz="2400" dirty="0"/>
              <a:t> </a:t>
            </a:r>
            <a:r>
              <a:rPr lang="el-GR" sz="2400" dirty="0"/>
              <a:t>α → </a:t>
            </a:r>
            <a:r>
              <a:rPr lang="en-US" sz="2400" dirty="0"/>
              <a:t>B </a:t>
            </a:r>
            <a:r>
              <a:rPr lang="fa-IR" sz="2400" dirty="0"/>
              <a:t>را نتیجه بگیریم</a:t>
            </a:r>
            <a:br>
              <a:rPr lang="fa-IR" sz="2400" dirty="0"/>
            </a:br>
            <a:r>
              <a:rPr lang="fa-IR" sz="2400" dirty="0"/>
              <a:t>(زیرا </a:t>
            </a:r>
            <a:r>
              <a:rPr lang="el-GR" sz="2400" dirty="0"/>
              <a:t>γ </a:t>
            </a:r>
            <a:r>
              <a:rPr lang="fa-IR" sz="2400" dirty="0" err="1"/>
              <a:t>زیرمجموعه</a:t>
            </a:r>
            <a:r>
              <a:rPr lang="fa-IR" sz="2400" dirty="0"/>
              <a:t> </a:t>
            </a:r>
            <a:r>
              <a:rPr lang="el-GR" sz="2400" dirty="0"/>
              <a:t>αβ </a:t>
            </a:r>
            <a:r>
              <a:rPr lang="fa-IR" sz="2400" dirty="0"/>
              <a:t>است، و </a:t>
            </a:r>
            <a:r>
              <a:rPr lang="en-US" sz="2400" dirty="0"/>
              <a:t>B </a:t>
            </a:r>
            <a:r>
              <a:rPr lang="fa-IR" sz="2400" dirty="0"/>
              <a:t>در </a:t>
            </a:r>
            <a:r>
              <a:rPr lang="el-GR" sz="2400" dirty="0"/>
              <a:t>γ </a:t>
            </a:r>
            <a:r>
              <a:rPr lang="fa-IR" sz="2400" dirty="0"/>
              <a:t>نیست، چون </a:t>
            </a:r>
            <a:r>
              <a:rPr lang="el-GR" sz="2400" dirty="0"/>
              <a:t>γ → </a:t>
            </a:r>
            <a:r>
              <a:rPr lang="en-US" sz="2400" dirty="0"/>
              <a:t>B </a:t>
            </a:r>
            <a:r>
              <a:rPr lang="fa-IR" sz="2400" dirty="0"/>
              <a:t>یک </a:t>
            </a:r>
            <a:r>
              <a:rPr lang="fa-IR" sz="2400" dirty="0" err="1"/>
              <a:t>وابستگیِ</a:t>
            </a:r>
            <a:r>
              <a:rPr lang="fa-IR" sz="2400" dirty="0"/>
              <a:t> </a:t>
            </a:r>
            <a:r>
              <a:rPr lang="fa-IR" sz="2400" dirty="0" err="1"/>
              <a:t>غیرِ</a:t>
            </a:r>
            <a:r>
              <a:rPr lang="fa-IR" sz="2400" dirty="0"/>
              <a:t> بدیهی است).</a:t>
            </a:r>
            <a:br>
              <a:rPr lang="fa-IR" sz="2400" dirty="0"/>
            </a:br>
            <a:r>
              <a:rPr lang="fa-IR" sz="2400" dirty="0"/>
              <a:t>در این صورت </a:t>
            </a:r>
            <a:r>
              <a:rPr lang="en-US" sz="2400" dirty="0"/>
              <a:t>B </a:t>
            </a:r>
            <a:r>
              <a:rPr lang="fa-IR" sz="2400" dirty="0"/>
              <a:t>در سمت </a:t>
            </a:r>
            <a:r>
              <a:rPr lang="fa-IR" sz="2400" dirty="0" err="1"/>
              <a:t>راستِ</a:t>
            </a:r>
            <a:r>
              <a:rPr lang="fa-IR" sz="2400" dirty="0"/>
              <a:t> </a:t>
            </a:r>
            <a:r>
              <a:rPr lang="el-GR" sz="2400" dirty="0"/>
              <a:t>α → β </a:t>
            </a:r>
            <a:r>
              <a:rPr lang="fa-IR" sz="2400" dirty="0"/>
              <a:t>زائد خواهد بود؛ و این ممکن نیست چون </a:t>
            </a:r>
            <a:r>
              <a:rPr lang="el-GR" sz="2400" dirty="0"/>
              <a:t>α → β </a:t>
            </a:r>
            <a:r>
              <a:rPr lang="fa-IR" sz="2400" dirty="0"/>
              <a:t>در </a:t>
            </a:r>
            <a:r>
              <a:rPr lang="en-US" sz="2400" dirty="0"/>
              <a:t>Fc </a:t>
            </a:r>
            <a:r>
              <a:rPr lang="fa-IR" sz="2400" dirty="0"/>
              <a:t>قرار دارد.</a:t>
            </a:r>
            <a:br>
              <a:rPr lang="fa-IR" sz="2400" dirty="0"/>
            </a:br>
            <a:r>
              <a:rPr lang="fa-IR" sz="2400" dirty="0"/>
              <a:t>بنابراین، اگر </a:t>
            </a:r>
            <a:r>
              <a:rPr lang="en-US" sz="2400" dirty="0"/>
              <a:t>B </a:t>
            </a:r>
            <a:r>
              <a:rPr lang="fa-IR" sz="2400" dirty="0"/>
              <a:t>در </a:t>
            </a:r>
            <a:r>
              <a:rPr lang="el-GR" sz="2400" dirty="0"/>
              <a:t>β </a:t>
            </a:r>
            <a:r>
              <a:rPr lang="fa-IR" sz="2400" dirty="0"/>
              <a:t>باشد، آنگاه </a:t>
            </a:r>
            <a:r>
              <a:rPr lang="el-GR" sz="2400" dirty="0"/>
              <a:t>γ </a:t>
            </a:r>
            <a:r>
              <a:rPr lang="fa-IR" sz="2400" dirty="0"/>
              <a:t>باید یک </a:t>
            </a:r>
            <a:r>
              <a:rPr lang="fa-IR" sz="2400" b="1" dirty="0" err="1"/>
              <a:t>سوپرکلید</a:t>
            </a:r>
            <a:r>
              <a:rPr lang="fa-IR" sz="2400" dirty="0"/>
              <a:t> باشد و شرط </a:t>
            </a:r>
            <a:r>
              <a:rPr lang="fa-IR" sz="2400" dirty="0" err="1"/>
              <a:t>دومِ</a:t>
            </a:r>
            <a:r>
              <a:rPr lang="fa-IR" sz="2400" dirty="0"/>
              <a:t> 3</a:t>
            </a:r>
            <a:r>
              <a:rPr lang="en-US" sz="2400" dirty="0"/>
              <a:t>NF </a:t>
            </a:r>
            <a:r>
              <a:rPr lang="fa-IR" sz="2400" dirty="0"/>
              <a:t>برقرار </a:t>
            </a:r>
            <a:r>
              <a:rPr lang="fa-IR" sz="2400" dirty="0" err="1"/>
              <a:t>می‌شود</a:t>
            </a:r>
            <a:r>
              <a:rPr lang="fa-IR" sz="2400" dirty="0"/>
              <a:t>.</a:t>
            </a:r>
            <a:endParaRPr lang="en-US" altLang="en-US" sz="24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2034" name="Rectangle 2"/>
          <p:cNvSpPr>
            <a:spLocks noGrp="1" noChangeArrowheads="1"/>
          </p:cNvSpPr>
          <p:nvPr>
            <p:ph type="title"/>
          </p:nvPr>
        </p:nvSpPr>
        <p:spPr>
          <a:xfrm>
            <a:off x="682625" y="96838"/>
            <a:ext cx="8069263" cy="565150"/>
          </a:xfrm>
        </p:spPr>
        <p:txBody>
          <a:bodyPr/>
          <a:lstStyle/>
          <a:p>
            <a:pPr>
              <a:defRPr/>
            </a:pPr>
            <a:r>
              <a:rPr lang="en-US" altLang="en-US" sz="2800" dirty="0">
                <a:effectLst>
                  <a:outerShdw blurRad="38100" dist="38100" dir="2700000" algn="tl">
                    <a:srgbClr val="C0C0C0"/>
                  </a:outerShdw>
                </a:effectLst>
                <a:ea typeface="ＭＳ Ｐゴシック" pitchFamily="34" charset="-128"/>
              </a:rPr>
              <a:t>Correctness of 3NF Decomposition (Cont</a:t>
            </a:r>
            <a:r>
              <a:rPr lang="en-US" altLang="ja-JP" sz="2800" dirty="0">
                <a:effectLst>
                  <a:outerShdw blurRad="38100" dist="38100" dir="2700000" algn="tl">
                    <a:srgbClr val="C0C0C0"/>
                  </a:outerShdw>
                </a:effectLst>
                <a:ea typeface="ＭＳ Ｐゴシック" pitchFamily="34" charset="-128"/>
              </a:rPr>
              <a:t>.)</a:t>
            </a:r>
            <a:endParaRPr lang="en-US" altLang="en-US" sz="2800" dirty="0">
              <a:effectLst>
                <a:outerShdw blurRad="38100" dist="38100" dir="2700000" algn="tl">
                  <a:srgbClr val="C0C0C0"/>
                </a:outerShdw>
              </a:effectLst>
              <a:ea typeface="ＭＳ Ｐゴシック" pitchFamily="34" charset="-128"/>
            </a:endParaRPr>
          </a:p>
        </p:txBody>
      </p:sp>
      <p:sp>
        <p:nvSpPr>
          <p:cNvPr id="105475" name="Rectangle 3"/>
          <p:cNvSpPr>
            <a:spLocks noGrp="1" noChangeArrowheads="1"/>
          </p:cNvSpPr>
          <p:nvPr>
            <p:ph idx="1"/>
          </p:nvPr>
        </p:nvSpPr>
        <p:spPr>
          <a:xfrm>
            <a:off x="790113" y="1136003"/>
            <a:ext cx="7568682" cy="2735012"/>
          </a:xfrm>
        </p:spPr>
        <p:txBody>
          <a:bodyPr/>
          <a:lstStyle/>
          <a:p>
            <a:pPr algn="r" rtl="1"/>
            <a:r>
              <a:rPr lang="en-US" sz="2400" dirty="0"/>
              <a:t>:Case 2 </a:t>
            </a:r>
            <a:r>
              <a:rPr lang="fa-IR" sz="2400" dirty="0"/>
              <a:t>اگر </a:t>
            </a:r>
            <a:r>
              <a:rPr lang="en-US" sz="2400" dirty="0"/>
              <a:t>B </a:t>
            </a:r>
            <a:r>
              <a:rPr lang="fa-IR" sz="2400" dirty="0"/>
              <a:t>در </a:t>
            </a:r>
            <a:r>
              <a:rPr lang="el-GR" sz="2400" dirty="0"/>
              <a:t>α </a:t>
            </a:r>
            <a:r>
              <a:rPr lang="fa-IR" sz="2400" dirty="0"/>
              <a:t>باشد:</a:t>
            </a:r>
            <a:br>
              <a:rPr lang="fa-IR" sz="2400" dirty="0"/>
            </a:br>
            <a:r>
              <a:rPr lang="fa-IR" sz="2400" dirty="0"/>
              <a:t>چون </a:t>
            </a:r>
            <a:r>
              <a:rPr lang="el-GR" sz="2400" dirty="0"/>
              <a:t>α </a:t>
            </a:r>
            <a:r>
              <a:rPr lang="fa-IR" sz="2400" dirty="0"/>
              <a:t>یک کلید کاندیدا است، گزینه سوم در تعریف 3</a:t>
            </a:r>
            <a:r>
              <a:rPr lang="en-US" sz="2400" dirty="0"/>
              <a:t>NF </a:t>
            </a:r>
            <a:r>
              <a:rPr lang="fa-IR" sz="2400" dirty="0" err="1"/>
              <a:t>به‌طور</a:t>
            </a:r>
            <a:r>
              <a:rPr lang="fa-IR" sz="2400" dirty="0"/>
              <a:t> واضح برقرار است.</a:t>
            </a:r>
            <a:br>
              <a:rPr lang="fa-IR" sz="2400" dirty="0"/>
            </a:br>
            <a:r>
              <a:rPr lang="fa-IR" sz="2400" dirty="0"/>
              <a:t>در واقع، </a:t>
            </a:r>
            <a:r>
              <a:rPr lang="fa-IR" sz="2400" dirty="0" err="1"/>
              <a:t>نمی‌توانیم</a:t>
            </a:r>
            <a:r>
              <a:rPr lang="fa-IR" sz="2400" dirty="0"/>
              <a:t> نشان دهیم که </a:t>
            </a:r>
            <a:r>
              <a:rPr lang="el-GR" sz="2400" dirty="0"/>
              <a:t>γ </a:t>
            </a:r>
            <a:r>
              <a:rPr lang="fa-IR" sz="2400" dirty="0"/>
              <a:t>یک </a:t>
            </a:r>
            <a:r>
              <a:rPr lang="fa-IR" sz="2400" dirty="0" err="1"/>
              <a:t>سوپرکلید</a:t>
            </a:r>
            <a:r>
              <a:rPr lang="fa-IR" sz="2400" dirty="0"/>
              <a:t> است.</a:t>
            </a:r>
            <a:br>
              <a:rPr lang="fa-IR" sz="2400" dirty="0"/>
            </a:br>
            <a:r>
              <a:rPr lang="fa-IR" sz="2400" dirty="0"/>
              <a:t>این دقیقاً دلیل وجود گزینه سوم در تعریف 3</a:t>
            </a:r>
            <a:r>
              <a:rPr lang="en-US" sz="2400" dirty="0"/>
              <a:t>NF </a:t>
            </a:r>
            <a:r>
              <a:rPr lang="fa-IR" sz="2400" dirty="0"/>
              <a:t>را نشان </a:t>
            </a:r>
            <a:r>
              <a:rPr lang="fa-IR" sz="2400" dirty="0" err="1"/>
              <a:t>می‌دهد</a:t>
            </a:r>
            <a:r>
              <a:rPr lang="fa-IR" sz="2400" dirty="0"/>
              <a:t>.</a:t>
            </a:r>
            <a:br>
              <a:rPr lang="fa-IR" sz="2400" dirty="0"/>
            </a:br>
            <a:r>
              <a:rPr lang="en-US" sz="2400" dirty="0"/>
              <a:t>Q.E.D.</a:t>
            </a:r>
            <a:endParaRPr lang="en-US" altLang="en-US" sz="24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2530"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First Normal Form</a:t>
            </a:r>
          </a:p>
        </p:txBody>
      </p:sp>
      <mc:AlternateContent xmlns:mc="http://schemas.openxmlformats.org/markup-compatibility/2006" xmlns:a14="http://schemas.microsoft.com/office/drawing/2010/main">
        <mc:Choice Requires="a14">
          <p:sp>
            <p:nvSpPr>
              <p:cNvPr id="106499" name="Rectangle 3"/>
              <p:cNvSpPr>
                <a:spLocks noGrp="1" noChangeArrowheads="1"/>
              </p:cNvSpPr>
              <p:nvPr>
                <p:ph idx="1"/>
              </p:nvPr>
            </p:nvSpPr>
            <p:spPr>
              <a:xfrm>
                <a:off x="139700" y="1054100"/>
                <a:ext cx="8705850" cy="6096000"/>
              </a:xfrm>
            </p:spPr>
            <p:txBody>
              <a:bodyPr/>
              <a:lstStyle/>
              <a:p>
                <a:pPr algn="r" rtl="1"/>
                <a:r>
                  <a:rPr lang="fa-IR" dirty="0"/>
                  <a:t>دامنه (</a:t>
                </a:r>
                <a:r>
                  <a:rPr lang="en-US" dirty="0"/>
                  <a:t>Domain) </a:t>
                </a:r>
                <a:r>
                  <a:rPr lang="fa-IR" b="1" dirty="0"/>
                  <a:t>اتمی</a:t>
                </a:r>
                <a:r>
                  <a:rPr lang="fa-IR" dirty="0"/>
                  <a:t> است اگر عناصر آن به عنوان واحدهای </a:t>
                </a:r>
                <a:r>
                  <a:rPr lang="fa-IR" dirty="0" err="1"/>
                  <a:t>تجزیه‌ناپذیر</a:t>
                </a:r>
                <a:r>
                  <a:rPr lang="fa-IR" dirty="0"/>
                  <a:t> در نظر گرفته شوند.</a:t>
                </a:r>
              </a:p>
              <a:p>
                <a:pPr algn="r" rtl="1"/>
                <a:r>
                  <a:rPr lang="fa-IR" dirty="0" err="1"/>
                  <a:t>نمونه‌هایی</a:t>
                </a:r>
                <a:r>
                  <a:rPr lang="fa-IR" dirty="0"/>
                  <a:t> از </a:t>
                </a:r>
                <a:r>
                  <a:rPr lang="fa-IR" dirty="0" err="1"/>
                  <a:t>دامنه‌های</a:t>
                </a:r>
                <a:r>
                  <a:rPr lang="fa-IR" dirty="0"/>
                  <a:t> </a:t>
                </a:r>
                <a:r>
                  <a:rPr lang="fa-IR" dirty="0" err="1"/>
                  <a:t>غیراتمی</a:t>
                </a:r>
                <a:r>
                  <a:rPr lang="fa-IR" dirty="0"/>
                  <a:t>:</a:t>
                </a:r>
              </a:p>
              <a:p>
                <a:pPr algn="r" rtl="1"/>
                <a:r>
                  <a:rPr lang="fa-IR" dirty="0" err="1"/>
                  <a:t>مجموعه‌ای</a:t>
                </a:r>
                <a:r>
                  <a:rPr lang="fa-IR" dirty="0"/>
                  <a:t> از </a:t>
                </a:r>
                <a:r>
                  <a:rPr lang="fa-IR" dirty="0" err="1"/>
                  <a:t>نام‌ها</a:t>
                </a:r>
                <a:r>
                  <a:rPr lang="fa-IR" dirty="0"/>
                  <a:t>، صفات مرکب</a:t>
                </a:r>
              </a:p>
              <a:p>
                <a:pPr algn="r" rtl="1"/>
                <a:r>
                  <a:rPr lang="fa-IR" dirty="0" err="1"/>
                  <a:t>شماره‌های</a:t>
                </a:r>
                <a:r>
                  <a:rPr lang="fa-IR" dirty="0"/>
                  <a:t> شناسایی مانند </a:t>
                </a:r>
                <a:r>
                  <a:rPr lang="en-US" dirty="0"/>
                  <a:t>CS101 </a:t>
                </a:r>
                <a:r>
                  <a:rPr lang="fa-IR" dirty="0"/>
                  <a:t>که </a:t>
                </a:r>
                <a:r>
                  <a:rPr lang="fa-IR" dirty="0" err="1"/>
                  <a:t>می‌توان</a:t>
                </a:r>
                <a:r>
                  <a:rPr lang="fa-IR" dirty="0"/>
                  <a:t> </a:t>
                </a:r>
                <a:r>
                  <a:rPr lang="fa-IR" dirty="0" err="1"/>
                  <a:t>آن‌ها</a:t>
                </a:r>
                <a:r>
                  <a:rPr lang="fa-IR" dirty="0"/>
                  <a:t> را به </a:t>
                </a:r>
                <a:r>
                  <a:rPr lang="fa-IR" dirty="0" err="1"/>
                  <a:t>بخش‌هایی</a:t>
                </a:r>
                <a:r>
                  <a:rPr lang="fa-IR" dirty="0"/>
                  <a:t> تقسیم کرد</a:t>
                </a:r>
              </a:p>
              <a:p>
                <a:pPr algn="r" rtl="1"/>
                <a:r>
                  <a:rPr lang="fa-IR" dirty="0"/>
                  <a:t>یک طرح </a:t>
                </a:r>
                <a:r>
                  <a:rPr lang="fa-IR" dirty="0" err="1"/>
                  <a:t>رابطه‌ای</a:t>
                </a:r>
                <a:r>
                  <a:rPr lang="fa-IR" dirty="0"/>
                  <a:t> </a:t>
                </a:r>
                <a14:m>
                  <m:oMath xmlns:m="http://schemas.openxmlformats.org/officeDocument/2006/math">
                    <m:r>
                      <a:rPr lang="fa-IR" i="1">
                        <a:latin typeface="Cambria Math" panose="02040503050406030204" pitchFamily="18" charset="0"/>
                      </a:rPr>
                      <m:t>𝑅</m:t>
                    </m:r>
                  </m:oMath>
                </a14:m>
                <a:r>
                  <a:rPr lang="fa-IR" dirty="0"/>
                  <a:t>در </a:t>
                </a:r>
                <a:r>
                  <a:rPr lang="fa-IR" b="1" dirty="0"/>
                  <a:t>اولین فرم نرمال (1</a:t>
                </a:r>
                <a:r>
                  <a:rPr lang="en-US" b="1" dirty="0"/>
                  <a:t>NF)</a:t>
                </a:r>
                <a:r>
                  <a:rPr lang="en-US" dirty="0"/>
                  <a:t> </a:t>
                </a:r>
                <a:r>
                  <a:rPr lang="fa-IR" dirty="0"/>
                  <a:t>قرار دارد اگر دامنه تمام صفات آن </a:t>
                </a:r>
                <a:r>
                  <a:rPr lang="fa-IR" b="1" dirty="0"/>
                  <a:t>اتمی</a:t>
                </a:r>
                <a:r>
                  <a:rPr lang="fa-IR" dirty="0"/>
                  <a:t> باشد.</a:t>
                </a:r>
              </a:p>
              <a:p>
                <a:pPr algn="r" rtl="1"/>
                <a:r>
                  <a:rPr lang="fa-IR" dirty="0"/>
                  <a:t>مقادیر </a:t>
                </a:r>
                <a:r>
                  <a:rPr lang="fa-IR" dirty="0" err="1"/>
                  <a:t>غیراتمی</a:t>
                </a:r>
                <a:r>
                  <a:rPr lang="fa-IR" dirty="0"/>
                  <a:t> </a:t>
                </a:r>
                <a:r>
                  <a:rPr lang="fa-IR" dirty="0" err="1"/>
                  <a:t>ذخیره‌سازی</a:t>
                </a:r>
                <a:r>
                  <a:rPr lang="fa-IR" dirty="0"/>
                  <a:t> را پیچیده </a:t>
                </a:r>
                <a:r>
                  <a:rPr lang="fa-IR" dirty="0" err="1"/>
                  <a:t>می‌کنند</a:t>
                </a:r>
                <a:r>
                  <a:rPr lang="fa-IR" dirty="0"/>
                  <a:t> و باعث تشویق به </a:t>
                </a:r>
                <a:r>
                  <a:rPr lang="fa-IR" dirty="0" err="1"/>
                  <a:t>ذخیره‌سازی</a:t>
                </a:r>
                <a:r>
                  <a:rPr lang="fa-IR" dirty="0"/>
                  <a:t> </a:t>
                </a:r>
                <a:r>
                  <a:rPr lang="fa-IR" b="1" dirty="0"/>
                  <a:t>تکراری و اضافی</a:t>
                </a:r>
                <a:r>
                  <a:rPr lang="fa-IR" dirty="0"/>
                  <a:t> </a:t>
                </a:r>
                <a:r>
                  <a:rPr lang="fa-IR" dirty="0" err="1"/>
                  <a:t>داده‌ها</a:t>
                </a:r>
                <a:r>
                  <a:rPr lang="fa-IR" dirty="0"/>
                  <a:t> </a:t>
                </a:r>
                <a:r>
                  <a:rPr lang="fa-IR" dirty="0" err="1"/>
                  <a:t>می‌شوند</a:t>
                </a:r>
                <a:r>
                  <a:rPr lang="fa-IR" dirty="0"/>
                  <a:t>.</a:t>
                </a:r>
              </a:p>
              <a:p>
                <a:pPr algn="r" rtl="1"/>
                <a:r>
                  <a:rPr lang="fa-IR" dirty="0"/>
                  <a:t>مثال:</a:t>
                </a:r>
              </a:p>
              <a:p>
                <a:pPr algn="r" rtl="1"/>
                <a:r>
                  <a:rPr lang="fa-IR" dirty="0" err="1"/>
                  <a:t>مجموعه‌ای</a:t>
                </a:r>
                <a:r>
                  <a:rPr lang="fa-IR" dirty="0"/>
                  <a:t> از </a:t>
                </a:r>
                <a:r>
                  <a:rPr lang="fa-IR" dirty="0" err="1"/>
                  <a:t>حساب‌ها</a:t>
                </a:r>
                <a:r>
                  <a:rPr lang="fa-IR" dirty="0"/>
                  <a:t> که برای هر مشتری ذخیره شده است</a:t>
                </a:r>
              </a:p>
              <a:p>
                <a:pPr algn="r" rtl="1"/>
                <a:r>
                  <a:rPr lang="fa-IR" dirty="0" err="1"/>
                  <a:t>مجموعه‌ای</a:t>
                </a:r>
                <a:r>
                  <a:rPr lang="fa-IR" dirty="0"/>
                  <a:t> از مالکین که برای هر حساب ذخیره شده است</a:t>
                </a:r>
              </a:p>
              <a:p>
                <a:pPr algn="r" rtl="1"/>
                <a:r>
                  <a:rPr lang="fa-IR" dirty="0"/>
                  <a:t>ما فرض </a:t>
                </a:r>
                <a:r>
                  <a:rPr lang="fa-IR" dirty="0" err="1"/>
                  <a:t>می‌کنیم</a:t>
                </a:r>
                <a:r>
                  <a:rPr lang="fa-IR" dirty="0"/>
                  <a:t> که تمام روابط در </a:t>
                </a:r>
                <a:r>
                  <a:rPr lang="fa-IR" b="1" dirty="0"/>
                  <a:t>اولین فرم نرمال</a:t>
                </a:r>
                <a:r>
                  <a:rPr lang="fa-IR" dirty="0"/>
                  <a:t> قرار دارند</a:t>
                </a:r>
                <a:br>
                  <a:rPr lang="fa-IR" dirty="0"/>
                </a:br>
                <a:r>
                  <a:rPr lang="fa-IR" dirty="0"/>
                  <a:t>(و این موضوع در فصل ۲۲: </a:t>
                </a:r>
                <a:r>
                  <a:rPr lang="fa-IR" dirty="0" err="1"/>
                  <a:t>پایگاه‌های</a:t>
                </a:r>
                <a:r>
                  <a:rPr lang="fa-IR" dirty="0"/>
                  <a:t> داده مبتنی بر </a:t>
                </a:r>
                <a:r>
                  <a:rPr lang="fa-IR" dirty="0" err="1"/>
                  <a:t>شیء</a:t>
                </a:r>
                <a:r>
                  <a:rPr lang="fa-IR" dirty="0"/>
                  <a:t> دوباره بررسی خواهد شد).</a:t>
                </a:r>
              </a:p>
              <a:p>
                <a:pPr algn="r" rtl="1"/>
                <a:endParaRPr lang="en-US" altLang="en-US" dirty="0"/>
              </a:p>
            </p:txBody>
          </p:sp>
        </mc:Choice>
        <mc:Fallback xmlns="">
          <p:sp>
            <p:nvSpPr>
              <p:cNvPr id="106499" name="Rectangle 3"/>
              <p:cNvSpPr>
                <a:spLocks noGrp="1" noRot="1" noChangeAspect="1" noMove="1" noResize="1" noEditPoints="1" noAdjustHandles="1" noChangeArrowheads="1" noChangeShapeType="1" noTextEdit="1"/>
              </p:cNvSpPr>
              <p:nvPr>
                <p:ph idx="1"/>
              </p:nvPr>
            </p:nvSpPr>
            <p:spPr>
              <a:xfrm>
                <a:off x="139700" y="1054100"/>
                <a:ext cx="8705850" cy="6096000"/>
              </a:xfrm>
              <a:blipFill>
                <a:blip r:embed="rId3"/>
                <a:stretch>
                  <a:fillRect t="-1200" r="-840"/>
                </a:stretch>
              </a:blipFill>
            </p:spPr>
            <p:txBody>
              <a:bodyPr/>
              <a:lstStyle/>
              <a:p>
                <a:r>
                  <a:rPr lang="en-US">
                    <a:noFill/>
                  </a:rPr>
                  <a:t> </a:t>
                </a:r>
              </a:p>
            </p:txBody>
          </p:sp>
        </mc:Fallback>
      </mc:AlternateContent>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4578" name="Rectangle 2"/>
          <p:cNvSpPr>
            <a:spLocks noGrp="1" noChangeArrowheads="1"/>
          </p:cNvSpPr>
          <p:nvPr>
            <p:ph type="title"/>
          </p:nvPr>
        </p:nvSpPr>
        <p:spPr>
          <a:xfrm>
            <a:off x="685800" y="104775"/>
            <a:ext cx="8077200" cy="609600"/>
          </a:xfrm>
        </p:spPr>
        <p:txBody>
          <a:bodyPr/>
          <a:lstStyle/>
          <a:p>
            <a:pPr>
              <a:defRPr/>
            </a:pPr>
            <a:r>
              <a:rPr lang="en-US" altLang="en-US" dirty="0">
                <a:effectLst>
                  <a:outerShdw blurRad="38100" dist="38100" dir="2700000" algn="tl">
                    <a:srgbClr val="C0C0C0"/>
                  </a:outerShdw>
                </a:effectLst>
                <a:ea typeface="ＭＳ Ｐゴシック" pitchFamily="34" charset="-128"/>
              </a:rPr>
              <a:t>First Normal Form (Cont</a:t>
            </a:r>
            <a:r>
              <a:rPr lang="en-US" altLang="en-US" dirty="0">
                <a:effectLst>
                  <a:outerShdw blurRad="38100" dist="38100" dir="2700000" algn="tl">
                    <a:srgbClr val="C0C0C0"/>
                  </a:outerShdw>
                </a:effectLst>
                <a:latin typeface="Arial" panose="020B0604020202020204" pitchFamily="34" charset="0"/>
                <a:ea typeface="ＭＳ Ｐゴシック" pitchFamily="34" charset="-128"/>
              </a:rPr>
              <a:t>.</a:t>
            </a:r>
            <a:r>
              <a:rPr lang="en-US" altLang="ja-JP" dirty="0">
                <a:effectLst>
                  <a:outerShdw blurRad="38100" dist="38100" dir="2700000" algn="tl">
                    <a:srgbClr val="C0C0C0"/>
                  </a:outerShdw>
                </a:effectLst>
                <a:ea typeface="ＭＳ Ｐゴシック" pitchFamily="34" charset="-128"/>
              </a:rPr>
              <a:t>)</a:t>
            </a:r>
            <a:endParaRPr lang="en-US" altLang="en-US" dirty="0">
              <a:effectLst>
                <a:outerShdw blurRad="38100" dist="38100" dir="2700000" algn="tl">
                  <a:srgbClr val="C0C0C0"/>
                </a:outerShdw>
              </a:effectLst>
              <a:ea typeface="ＭＳ Ｐゴシック" pitchFamily="34" charset="-128"/>
            </a:endParaRPr>
          </a:p>
        </p:txBody>
      </p:sp>
      <p:sp>
        <p:nvSpPr>
          <p:cNvPr id="107523" name="Rectangle 3"/>
          <p:cNvSpPr>
            <a:spLocks noGrp="1" noChangeArrowheads="1"/>
          </p:cNvSpPr>
          <p:nvPr>
            <p:ph idx="1"/>
          </p:nvPr>
        </p:nvSpPr>
        <p:spPr>
          <a:xfrm>
            <a:off x="1019537" y="840071"/>
            <a:ext cx="7743463" cy="3055854"/>
          </a:xfrm>
        </p:spPr>
        <p:txBody>
          <a:bodyPr/>
          <a:lstStyle/>
          <a:p>
            <a:pPr marL="0" indent="0" algn="r" rtl="1">
              <a:buNone/>
            </a:pPr>
            <a:endParaRPr lang="fa-IR" sz="2400" dirty="0"/>
          </a:p>
          <a:p>
            <a:pPr algn="r" rtl="1"/>
            <a:r>
              <a:rPr lang="fa-IR" sz="2400" dirty="0"/>
              <a:t>اتمی بودن در واقع </a:t>
            </a:r>
            <a:r>
              <a:rPr lang="fa-IR" sz="2400" b="1" dirty="0"/>
              <a:t>ویژگی نحوه استفاده از عناصر دامنه</a:t>
            </a:r>
            <a:r>
              <a:rPr lang="fa-IR" sz="2400" dirty="0"/>
              <a:t> است.</a:t>
            </a:r>
          </a:p>
          <a:p>
            <a:pPr algn="r" rtl="1"/>
            <a:r>
              <a:rPr lang="fa-IR" sz="2400" dirty="0"/>
              <a:t>مثال: </a:t>
            </a:r>
            <a:r>
              <a:rPr lang="fa-IR" sz="2400" dirty="0" err="1"/>
              <a:t>رشته‌ها</a:t>
            </a:r>
            <a:r>
              <a:rPr lang="fa-IR" sz="2400" dirty="0"/>
              <a:t> معمولاً به عنوان واحدهای </a:t>
            </a:r>
            <a:r>
              <a:rPr lang="fa-IR" sz="2400" dirty="0" err="1"/>
              <a:t>تجزیه‌ناپذیر</a:t>
            </a:r>
            <a:r>
              <a:rPr lang="fa-IR" sz="2400" dirty="0"/>
              <a:t> در نظر گرفته </a:t>
            </a:r>
            <a:r>
              <a:rPr lang="fa-IR" sz="2400" dirty="0" err="1"/>
              <a:t>می‌شوند</a:t>
            </a:r>
            <a:r>
              <a:rPr lang="fa-IR" sz="2400" dirty="0"/>
              <a:t>.</a:t>
            </a:r>
          </a:p>
          <a:p>
            <a:pPr algn="r" rtl="1"/>
            <a:r>
              <a:rPr lang="fa-IR" sz="2400" dirty="0"/>
              <a:t>فرض کنید به دانشجویان شماره دانشجویی داده </a:t>
            </a:r>
            <a:r>
              <a:rPr lang="fa-IR" sz="2400" dirty="0" err="1"/>
              <a:t>می‌شود</a:t>
            </a:r>
            <a:r>
              <a:rPr lang="fa-IR" sz="2400" dirty="0"/>
              <a:t> که </a:t>
            </a:r>
            <a:r>
              <a:rPr lang="fa-IR" sz="2400" dirty="0" err="1"/>
              <a:t>رشته‌هایی</a:t>
            </a:r>
            <a:r>
              <a:rPr lang="fa-IR" sz="2400" dirty="0"/>
              <a:t> به شکل </a:t>
            </a:r>
            <a:r>
              <a:rPr lang="en-US" sz="2400" dirty="0"/>
              <a:t>CS0012 </a:t>
            </a:r>
            <a:r>
              <a:rPr lang="fa-IR" sz="2400" dirty="0"/>
              <a:t>یا </a:t>
            </a:r>
            <a:r>
              <a:rPr lang="en-US" sz="2400" dirty="0"/>
              <a:t>EE1127 </a:t>
            </a:r>
            <a:r>
              <a:rPr lang="fa-IR" sz="2400" dirty="0"/>
              <a:t>هستند.</a:t>
            </a:r>
          </a:p>
          <a:p>
            <a:pPr algn="r" rtl="1"/>
            <a:r>
              <a:rPr lang="fa-IR" sz="2400" dirty="0"/>
              <a:t>اگر دو حرف اول استخراج شوند تا دپارتمان مشخص شود، آنگاه دامنه </a:t>
            </a:r>
            <a:r>
              <a:rPr lang="fa-IR" sz="2400" dirty="0" err="1"/>
              <a:t>شماره‌های</a:t>
            </a:r>
            <a:r>
              <a:rPr lang="fa-IR" sz="2400" dirty="0"/>
              <a:t> دانشجویی </a:t>
            </a:r>
            <a:r>
              <a:rPr lang="fa-IR" sz="2400" b="1" dirty="0"/>
              <a:t>اتمی نیست</a:t>
            </a:r>
            <a:r>
              <a:rPr lang="fa-IR" sz="2400" dirty="0"/>
              <a:t>.</a:t>
            </a:r>
          </a:p>
          <a:p>
            <a:pPr algn="r" rtl="1"/>
            <a:r>
              <a:rPr lang="fa-IR" sz="2400" dirty="0"/>
              <a:t>انجام چنین کاری ایده خوبی نیست، زیرا باعث </a:t>
            </a:r>
            <a:r>
              <a:rPr lang="fa-IR" sz="2400" dirty="0" err="1"/>
              <a:t>می‌شود</a:t>
            </a:r>
            <a:r>
              <a:rPr lang="fa-IR" sz="2400" dirty="0"/>
              <a:t> اطلاعات در </a:t>
            </a:r>
            <a:r>
              <a:rPr lang="fa-IR" sz="2400" b="1" dirty="0"/>
              <a:t>برنامه کاربردی</a:t>
            </a:r>
            <a:r>
              <a:rPr lang="fa-IR" sz="2400" dirty="0"/>
              <a:t> </a:t>
            </a:r>
            <a:r>
              <a:rPr lang="fa-IR" sz="2400" dirty="0" err="1"/>
              <a:t>کدگذاری</a:t>
            </a:r>
            <a:r>
              <a:rPr lang="fa-IR" sz="2400" dirty="0"/>
              <a:t> شود، نه در </a:t>
            </a:r>
            <a:r>
              <a:rPr lang="fa-IR" sz="2400" b="1" dirty="0"/>
              <a:t>پایگاه داده</a:t>
            </a:r>
            <a:r>
              <a:rPr lang="fa-IR" sz="2400" dirty="0"/>
              <a:t>.</a:t>
            </a:r>
          </a:p>
          <a:p>
            <a:pPr algn="r" rtl="1"/>
            <a:endParaRPr lang="en-US" altLang="en-US" sz="2400" dirty="0"/>
          </a:p>
        </p:txBody>
      </p:sp>
    </p:spTree>
  </p:cSld>
  <p:clrMapOvr>
    <a:masterClrMapping/>
  </p:clrMapOvr>
</p:sld>
</file>

<file path=ppt/theme/theme1.xml><?xml version="1.0" encoding="utf-8"?>
<a:theme xmlns:a="http://schemas.openxmlformats.org/drawingml/2006/main" name="3_db-5-grey">
  <a:themeElements>
    <a:clrScheme name="">
      <a:dk1>
        <a:srgbClr val="000000"/>
      </a:dk1>
      <a:lt1>
        <a:srgbClr val="CCECFF"/>
      </a:lt1>
      <a:dk2>
        <a:srgbClr val="CC3300"/>
      </a:dk2>
      <a:lt2>
        <a:srgbClr val="666699"/>
      </a:lt2>
      <a:accent1>
        <a:srgbClr val="FFFFFF"/>
      </a:accent1>
      <a:accent2>
        <a:srgbClr val="CCCC00"/>
      </a:accent2>
      <a:accent3>
        <a:srgbClr val="E2F4FF"/>
      </a:accent3>
      <a:accent4>
        <a:srgbClr val="000000"/>
      </a:accent4>
      <a:accent5>
        <a:srgbClr val="FFFFFF"/>
      </a:accent5>
      <a:accent6>
        <a:srgbClr val="B9B900"/>
      </a:accent6>
      <a:hlink>
        <a:srgbClr val="FF9900"/>
      </a:hlink>
      <a:folHlink>
        <a:srgbClr val="FF9933"/>
      </a:folHlink>
    </a:clrScheme>
    <a:fontScheme name="2_db-5-grey">
      <a:majorFont>
        <a:latin typeface="Helvetica"/>
        <a:ea typeface=""/>
        <a:cs typeface=""/>
      </a:majorFont>
      <a:minorFont>
        <a:latin typeface="Helvetic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0" i="0" u="none" strike="noStrike" cap="none" normalizeH="0" baseline="0">
            <a:ln>
              <a:noFill/>
            </a:ln>
            <a:solidFill>
              <a:schemeClr val="tx1"/>
            </a:solidFill>
            <a:effectLst/>
            <a:latin typeface="Helvetica"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0" i="0" u="none" strike="noStrike" cap="none" normalizeH="0" baseline="0">
            <a:ln>
              <a:noFill/>
            </a:ln>
            <a:solidFill>
              <a:schemeClr val="tx1"/>
            </a:solidFill>
            <a:effectLst/>
            <a:latin typeface="Helvetica" charset="0"/>
          </a:defRPr>
        </a:defPPr>
      </a:lstStyle>
    </a:lnDef>
  </a:objectDefaults>
  <a:extraClrSchemeLst>
    <a:extraClrScheme>
      <a:clrScheme name="2_db-5-grey 1">
        <a:dk1>
          <a:srgbClr val="333333"/>
        </a:dk1>
        <a:lt1>
          <a:srgbClr val="A9BDA9"/>
        </a:lt1>
        <a:dk2>
          <a:srgbClr val="004C2B"/>
        </a:dk2>
        <a:lt2>
          <a:srgbClr val="578963"/>
        </a:lt2>
        <a:accent1>
          <a:srgbClr val="E1B7B7"/>
        </a:accent1>
        <a:accent2>
          <a:srgbClr val="B3E1B3"/>
        </a:accent2>
        <a:accent3>
          <a:srgbClr val="D1DBD1"/>
        </a:accent3>
        <a:accent4>
          <a:srgbClr val="2A2A2A"/>
        </a:accent4>
        <a:accent5>
          <a:srgbClr val="EED8D8"/>
        </a:accent5>
        <a:accent6>
          <a:srgbClr val="A2CCA2"/>
        </a:accent6>
        <a:hlink>
          <a:srgbClr val="BDD7E5"/>
        </a:hlink>
        <a:folHlink>
          <a:srgbClr val="D2AAD2"/>
        </a:folHlink>
      </a:clrScheme>
      <a:clrMap bg1="lt1" tx1="dk1" bg2="lt2" tx2="dk2" accent1="accent1" accent2="accent2" accent3="accent3" accent4="accent4" accent5="accent5" accent6="accent6" hlink="hlink" folHlink="folHlink"/>
    </a:extraClrScheme>
    <a:extraClrScheme>
      <a:clrScheme name="2_db-5-grey 2">
        <a:dk1>
          <a:srgbClr val="333333"/>
        </a:dk1>
        <a:lt1>
          <a:srgbClr val="FFFFFF"/>
        </a:lt1>
        <a:dk2>
          <a:srgbClr val="004C2B"/>
        </a:dk2>
        <a:lt2>
          <a:srgbClr val="578963"/>
        </a:lt2>
        <a:accent1>
          <a:srgbClr val="E1B7B7"/>
        </a:accent1>
        <a:accent2>
          <a:srgbClr val="B3E1B3"/>
        </a:accent2>
        <a:accent3>
          <a:srgbClr val="FFFFFF"/>
        </a:accent3>
        <a:accent4>
          <a:srgbClr val="2A2A2A"/>
        </a:accent4>
        <a:accent5>
          <a:srgbClr val="EED8D8"/>
        </a:accent5>
        <a:accent6>
          <a:srgbClr val="A2CCA2"/>
        </a:accent6>
        <a:hlink>
          <a:srgbClr val="BDD7E5"/>
        </a:hlink>
        <a:folHlink>
          <a:srgbClr val="D2AAD2"/>
        </a:folHlink>
      </a:clrScheme>
      <a:clrMap bg1="lt1" tx1="dk1" bg2="lt2" tx2="dk2" accent1="accent1" accent2="accent2" accent3="accent3" accent4="accent4" accent5="accent5" accent6="accent6" hlink="hlink" folHlink="folHlink"/>
    </a:extraClrScheme>
    <a:extraClrScheme>
      <a:clrScheme name="2_db-5-grey 3">
        <a:dk1>
          <a:srgbClr val="000000"/>
        </a:dk1>
        <a:lt1>
          <a:srgbClr val="FFFFFF"/>
        </a:lt1>
        <a:dk2>
          <a:srgbClr val="000000"/>
        </a:dk2>
        <a:lt2>
          <a:srgbClr val="393939"/>
        </a:lt2>
        <a:accent1>
          <a:srgbClr val="CBCBCB"/>
        </a:accent1>
        <a:accent2>
          <a:srgbClr val="808080"/>
        </a:accent2>
        <a:accent3>
          <a:srgbClr val="FFFFFF"/>
        </a:accent3>
        <a:accent4>
          <a:srgbClr val="000000"/>
        </a:accent4>
        <a:accent5>
          <a:srgbClr val="E2E2E2"/>
        </a:accent5>
        <a:accent6>
          <a:srgbClr val="737373"/>
        </a:accent6>
        <a:hlink>
          <a:srgbClr val="B2B2B2"/>
        </a:hlink>
        <a:folHlink>
          <a:srgbClr val="EAEAEA"/>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96481</TotalTime>
  <Words>18697</Words>
  <Application>Microsoft Office PowerPoint</Application>
  <PresentationFormat>On-screen Show (4:3)</PresentationFormat>
  <Paragraphs>2482</Paragraphs>
  <Slides>146</Slides>
  <Notes>126</Notes>
  <HiddenSlides>5</HiddenSlides>
  <MMClips>0</MMClips>
  <ScaleCrop>false</ScaleCrop>
  <HeadingPairs>
    <vt:vector size="8" baseType="variant">
      <vt:variant>
        <vt:lpstr>Fonts Used</vt:lpstr>
      </vt:variant>
      <vt:variant>
        <vt:i4>23</vt:i4>
      </vt:variant>
      <vt:variant>
        <vt:lpstr>Theme</vt:lpstr>
      </vt:variant>
      <vt:variant>
        <vt:i4>1</vt:i4>
      </vt:variant>
      <vt:variant>
        <vt:lpstr>Slide Titles</vt:lpstr>
      </vt:variant>
      <vt:variant>
        <vt:i4>146</vt:i4>
      </vt:variant>
      <vt:variant>
        <vt:lpstr>Custom Shows</vt:lpstr>
      </vt:variant>
      <vt:variant>
        <vt:i4>1</vt:i4>
      </vt:variant>
    </vt:vector>
  </HeadingPairs>
  <TitlesOfParts>
    <vt:vector size="171" baseType="lpstr">
      <vt:lpstr>ＭＳ Ｐゴシック</vt:lpstr>
      <vt:lpstr>Arial</vt:lpstr>
      <vt:lpstr>B Nazanin</vt:lpstr>
      <vt:lpstr>Calibri</vt:lpstr>
      <vt:lpstr>Cambria Math</vt:lpstr>
      <vt:lpstr>Comic Sans MS</vt:lpstr>
      <vt:lpstr>Consolas</vt:lpstr>
      <vt:lpstr>Courier New</vt:lpstr>
      <vt:lpstr>Greek Symbols</vt:lpstr>
      <vt:lpstr>Helvetica</vt:lpstr>
      <vt:lpstr>Iconic Symbols Ext</vt:lpstr>
      <vt:lpstr>Majalla UI</vt:lpstr>
      <vt:lpstr>Monotype Sorts</vt:lpstr>
      <vt:lpstr>MS LineDraw</vt:lpstr>
      <vt:lpstr>Söhne</vt:lpstr>
      <vt:lpstr>Symbol</vt:lpstr>
      <vt:lpstr>Tahoma</vt:lpstr>
      <vt:lpstr>Times</vt:lpstr>
      <vt:lpstr>Times New Roman</vt:lpstr>
      <vt:lpstr>Titr</vt:lpstr>
      <vt:lpstr>Webdings</vt:lpstr>
      <vt:lpstr>Wingdings</vt:lpstr>
      <vt:lpstr>Wingdings 2</vt:lpstr>
      <vt:lpstr>3_db-5-grey</vt:lpstr>
      <vt:lpstr>اصول طراحی پایگاه داده </vt:lpstr>
      <vt:lpstr>فصل ۷: نرمال‌سازی</vt:lpstr>
      <vt:lpstr>سرفصل‌ها</vt:lpstr>
      <vt:lpstr>PowerPoint Presentation</vt:lpstr>
      <vt:lpstr>جداول آنرمال</vt:lpstr>
      <vt:lpstr>جداول آنرمال</vt:lpstr>
      <vt:lpstr>مثال. جدول زير که اطلاعات مربوط به خريد مشتريان را دارد درنظر بگيريد: </vt:lpstr>
      <vt:lpstr>مثال. جدول زير که اطلاعات مربوط به خريد مشتريان را دارد درنظر بگيريد: </vt:lpstr>
      <vt:lpstr>مثال. جدول زير که اطلاعات مربوط به خريد مشتريان را دارد درنظر بگيريد: </vt:lpstr>
      <vt:lpstr>PowerPoint Presentation</vt:lpstr>
      <vt:lpstr>جداول آنرمال</vt:lpstr>
      <vt:lpstr>جداول آنرمال</vt:lpstr>
      <vt:lpstr>جدول نرمال ۱</vt:lpstr>
      <vt:lpstr>جدول نرمال ۱</vt:lpstr>
      <vt:lpstr>جدول نرمال ۱</vt:lpstr>
      <vt:lpstr>وابستگی تابعی (Functional Dependency) در پایگاه داده</vt:lpstr>
      <vt:lpstr>وابستگی تابعی (Functional Dependency) در پایگاه داده</vt:lpstr>
      <vt:lpstr>ویژگی‌های یک طراحی رابطه‌ای خوب</vt:lpstr>
      <vt:lpstr>وابستگی تابعی (Functional Dependency) در پایگاه داده</vt:lpstr>
      <vt:lpstr>وابستگی تابعی (Functional Dependency) در پایگاه داده</vt:lpstr>
      <vt:lpstr>قواعد استنتاج آرمسترانگ </vt:lpstr>
      <vt:lpstr>کاربردهاي قواعد آرمسترانگ </vt:lpstr>
      <vt:lpstr>Finding F^+</vt:lpstr>
      <vt:lpstr> (2NF) Second Normal Form</vt:lpstr>
      <vt:lpstr>جدول نرمال ۲</vt:lpstr>
      <vt:lpstr>یک شِمای ترکیبی بدون تکرار</vt:lpstr>
      <vt:lpstr>جدول نرمال ۲</vt:lpstr>
      <vt:lpstr>مثال. جدول ALL_SALES را درنظر بگيريد:    مشاهده می شود بعضی از ستون ها بهم مرتبط هستند و توسط بخشی از کليد مشخص می شوند. به عبارت ديگر بعضی ستون ها با زيرمجموعه ای از کليد وابستگی تابعی دارند:     </vt:lpstr>
      <vt:lpstr>با جدا کردن اين ستون ها به جداول جداگانه به فرم دوم نرمال می رسيم.</vt:lpstr>
      <vt:lpstr>جدول نرمال ۲</vt:lpstr>
      <vt:lpstr>جدول نرمال ۳</vt:lpstr>
      <vt:lpstr>جدول نرمال ۳</vt:lpstr>
      <vt:lpstr>جدول نرمال ۳</vt:lpstr>
      <vt:lpstr>جداول نرمالBCNF </vt:lpstr>
      <vt:lpstr>جداول نرمالBCNF </vt:lpstr>
      <vt:lpstr>جداول نرمالBCNF </vt:lpstr>
      <vt:lpstr>تبدیل به جدول نرمالBCNF </vt:lpstr>
      <vt:lpstr>جداول نرمالBCNF </vt:lpstr>
      <vt:lpstr>تجزیه (Decomposition)</vt:lpstr>
      <vt:lpstr>یک تجزیه دارای اتلاف</vt:lpstr>
      <vt:lpstr>تجزیه بدون اتلاف</vt:lpstr>
      <vt:lpstr>مثال یک تجزیه بدون اتلاف</vt:lpstr>
      <vt:lpstr>تئوری نرمال‌سازی</vt:lpstr>
      <vt:lpstr>وابستگی‌های تابعی</vt:lpstr>
      <vt:lpstr>وابستگی‌های تابعی – ادامه</vt:lpstr>
      <vt:lpstr>مفهوم وابستگی‌های تابعی </vt:lpstr>
      <vt:lpstr>بسته مجموعه‌ای از وابستگی‌های تابعی</vt:lpstr>
      <vt:lpstr>کلیدها و وابستگی‌های تابعی</vt:lpstr>
      <vt:lpstr>Use of Functional Dependencies</vt:lpstr>
      <vt:lpstr>Trivial Functional Dependencies</vt:lpstr>
      <vt:lpstr>Lossless Decomposition</vt:lpstr>
      <vt:lpstr>Lossless Decomposition</vt:lpstr>
      <vt:lpstr>Lossless Decomposition</vt:lpstr>
      <vt:lpstr>Example</vt:lpstr>
      <vt:lpstr>Example</vt:lpstr>
      <vt:lpstr>Dependency Preservation</vt:lpstr>
      <vt:lpstr>Dependency Preservation Example</vt:lpstr>
      <vt:lpstr>PowerPoint Presentation</vt:lpstr>
      <vt:lpstr>Boyce-Codd Normal Form</vt:lpstr>
      <vt:lpstr>Boyce-Codd Normal Form</vt:lpstr>
      <vt:lpstr>Boyce-Codd Normal Form (Cont.)</vt:lpstr>
      <vt:lpstr>Decomposing a Schema into BCNF</vt:lpstr>
      <vt:lpstr>Example</vt:lpstr>
      <vt:lpstr>Example: Is it BCNF?</vt:lpstr>
      <vt:lpstr>Example</vt:lpstr>
      <vt:lpstr>Example</vt:lpstr>
      <vt:lpstr>BCNF and Dependency Preservation</vt:lpstr>
      <vt:lpstr>Third Normal Form</vt:lpstr>
      <vt:lpstr>3NF Example</vt:lpstr>
      <vt:lpstr>Redundancy in 3NF</vt:lpstr>
      <vt:lpstr>Comparison of BCNF and 3NF</vt:lpstr>
      <vt:lpstr>Goals of Normalization</vt:lpstr>
      <vt:lpstr>How good is BCNF?</vt:lpstr>
      <vt:lpstr>How good is BCNF? (Cont.)</vt:lpstr>
      <vt:lpstr>Higher Normal Forms </vt:lpstr>
      <vt:lpstr>معايب نرمال سازی</vt:lpstr>
      <vt:lpstr>معايب نرمال سازی</vt:lpstr>
      <vt:lpstr>معايب نرمال سازی</vt:lpstr>
      <vt:lpstr>غیرنرمال سازی</vt:lpstr>
      <vt:lpstr>غیرنرمال سازی</vt:lpstr>
      <vt:lpstr>PowerPoint Presentation</vt:lpstr>
      <vt:lpstr>Functional-Dependency Theory Roadmap</vt:lpstr>
      <vt:lpstr>Closure of a Set of Functional Dependencies</vt:lpstr>
      <vt:lpstr>Closure of a Set of Functional Dependencies</vt:lpstr>
      <vt:lpstr>Example of  F+</vt:lpstr>
      <vt:lpstr>Closure of Functional Dependencies (Cont.)</vt:lpstr>
      <vt:lpstr>Procedure for Computing F+</vt:lpstr>
      <vt:lpstr>Closure of Attribute Sets</vt:lpstr>
      <vt:lpstr>Example of Attribute Set Closure</vt:lpstr>
      <vt:lpstr>Uses of Attribute Closure</vt:lpstr>
      <vt:lpstr>Canonical Cover</vt:lpstr>
      <vt:lpstr>Extraneous Attributes</vt:lpstr>
      <vt:lpstr>Extraneous Attributes (Cont.)</vt:lpstr>
      <vt:lpstr>Extraneous Attributes</vt:lpstr>
      <vt:lpstr>Testing if an Attribute is Extraneous</vt:lpstr>
      <vt:lpstr>PowerPoint Presentation</vt:lpstr>
      <vt:lpstr>Canonical Cover</vt:lpstr>
      <vt:lpstr>Canonical Cover</vt:lpstr>
      <vt:lpstr>PowerPoint Presentation</vt:lpstr>
      <vt:lpstr>Dependency Preservation</vt:lpstr>
      <vt:lpstr>Dependency Preservation (Cont.)</vt:lpstr>
      <vt:lpstr>Testing for Dependency Preservation</vt:lpstr>
      <vt:lpstr>PowerPoint Presentation</vt:lpstr>
      <vt:lpstr>PowerPoint Presentation</vt:lpstr>
      <vt:lpstr>Testing for BCNF</vt:lpstr>
      <vt:lpstr>Testing Decomposition for BCNF</vt:lpstr>
      <vt:lpstr>BCNF Decomposition Algorithm</vt:lpstr>
      <vt:lpstr>Example of BCNF Decomposition</vt:lpstr>
      <vt:lpstr>BCNF Decomposition (Cont.)</vt:lpstr>
      <vt:lpstr>Third Normal Form</vt:lpstr>
      <vt:lpstr>3NF Example -- Relation dept_advisor</vt:lpstr>
      <vt:lpstr>Testing for 3NF</vt:lpstr>
      <vt:lpstr>3NF Decomposition Algorithm</vt:lpstr>
      <vt:lpstr>3NF Decomposition Algorithm (Cont.)</vt:lpstr>
      <vt:lpstr>3NF Decomposition: An Example</vt:lpstr>
      <vt:lpstr>3NF Decompsition Example (Cont.)</vt:lpstr>
      <vt:lpstr>Comparison of BCNF and 3NF</vt:lpstr>
      <vt:lpstr>Design Goals</vt:lpstr>
      <vt:lpstr>PowerPoint Presentation</vt:lpstr>
      <vt:lpstr>Multivalued Dependencies (MVDs)</vt:lpstr>
      <vt:lpstr>Multivalued Dependencies</vt:lpstr>
      <vt:lpstr>MVD -- Tabular representation </vt:lpstr>
      <vt:lpstr>PowerPoint Presentation</vt:lpstr>
      <vt:lpstr>Example</vt:lpstr>
      <vt:lpstr>Use of Multivalued Dependencies</vt:lpstr>
      <vt:lpstr>Theory of MVDs</vt:lpstr>
      <vt:lpstr>Fourth Normal Form</vt:lpstr>
      <vt:lpstr>Restriction of Multivalued Dependencies</vt:lpstr>
      <vt:lpstr>4NF Decomposition Algorithm</vt:lpstr>
      <vt:lpstr>PowerPoint Presentation</vt:lpstr>
      <vt:lpstr>PowerPoint Presentation</vt:lpstr>
      <vt:lpstr>Further Normal Forms</vt:lpstr>
      <vt:lpstr>Overall Database Design Process</vt:lpstr>
      <vt:lpstr>ER Model and Normalization</vt:lpstr>
      <vt:lpstr>Denormalization for Performance</vt:lpstr>
      <vt:lpstr>Other Design Issues</vt:lpstr>
      <vt:lpstr>Modeling Temporal Data</vt:lpstr>
      <vt:lpstr>Modeling Temporal Data (Cont.)</vt:lpstr>
      <vt:lpstr>پایان فصل ۷</vt:lpstr>
      <vt:lpstr>PowerPoint Presentation</vt:lpstr>
      <vt:lpstr>Correctness of 3NF Decomposition Algorithm</vt:lpstr>
      <vt:lpstr>Correctness of 3NF Decomposition Algorithm (Cont.)</vt:lpstr>
      <vt:lpstr>Correctness of 3NF Decomposition (Cont.)</vt:lpstr>
      <vt:lpstr>Correctness of 3NF Decomposition (Cont.)</vt:lpstr>
      <vt:lpstr>First Normal Form</vt:lpstr>
      <vt:lpstr>First Normal Form (Cont.)</vt:lpstr>
      <vt:lpstr>Custom Show 1</vt:lpstr>
    </vt:vector>
  </TitlesOfParts>
  <Company>Lucent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7:  Relational Database Design</dc:title>
  <dc:creator>Marilyn Turnamian</dc:creator>
  <cp:lastModifiedBy>Ahmad Taghinezhad</cp:lastModifiedBy>
  <cp:revision>513</cp:revision>
  <cp:lastPrinted>1999-06-28T19:27:31Z</cp:lastPrinted>
  <dcterms:created xsi:type="dcterms:W3CDTF">2009-12-21T15:40:22Z</dcterms:created>
  <dcterms:modified xsi:type="dcterms:W3CDTF">2025-12-23T13:10:27Z</dcterms:modified>
</cp:coreProperties>
</file>