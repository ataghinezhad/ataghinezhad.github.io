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62" r:id="rId1"/>
  </p:sldMasterIdLst>
  <p:notesMasterIdLst>
    <p:notesMasterId r:id="rId104"/>
  </p:notesMasterIdLst>
  <p:handoutMasterIdLst>
    <p:handoutMasterId r:id="rId105"/>
  </p:handoutMasterIdLst>
  <p:sldIdLst>
    <p:sldId id="474" r:id="rId2"/>
    <p:sldId id="438" r:id="rId3"/>
    <p:sldId id="439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3" r:id="rId18"/>
    <p:sldId id="454" r:id="rId19"/>
    <p:sldId id="455" r:id="rId20"/>
    <p:sldId id="456" r:id="rId21"/>
    <p:sldId id="457" r:id="rId22"/>
    <p:sldId id="458" r:id="rId23"/>
    <p:sldId id="459" r:id="rId24"/>
    <p:sldId id="460" r:id="rId25"/>
    <p:sldId id="461" r:id="rId26"/>
    <p:sldId id="462" r:id="rId27"/>
    <p:sldId id="463" r:id="rId28"/>
    <p:sldId id="464" r:id="rId29"/>
    <p:sldId id="465" r:id="rId30"/>
    <p:sldId id="466" r:id="rId31"/>
    <p:sldId id="467" r:id="rId32"/>
    <p:sldId id="468" r:id="rId33"/>
    <p:sldId id="469" r:id="rId34"/>
    <p:sldId id="470" r:id="rId35"/>
    <p:sldId id="471" r:id="rId36"/>
    <p:sldId id="472" r:id="rId37"/>
    <p:sldId id="473" r:id="rId38"/>
    <p:sldId id="372" r:id="rId39"/>
    <p:sldId id="373" r:id="rId40"/>
    <p:sldId id="374" r:id="rId41"/>
    <p:sldId id="375" r:id="rId42"/>
    <p:sldId id="376" r:id="rId43"/>
    <p:sldId id="437" r:id="rId44"/>
    <p:sldId id="378" r:id="rId45"/>
    <p:sldId id="379" r:id="rId46"/>
    <p:sldId id="380" r:id="rId47"/>
    <p:sldId id="381" r:id="rId48"/>
    <p:sldId id="382" r:id="rId49"/>
    <p:sldId id="383" r:id="rId50"/>
    <p:sldId id="384" r:id="rId51"/>
    <p:sldId id="385" r:id="rId52"/>
    <p:sldId id="386" r:id="rId53"/>
    <p:sldId id="387" r:id="rId54"/>
    <p:sldId id="388" r:id="rId55"/>
    <p:sldId id="475" r:id="rId56"/>
    <p:sldId id="390" r:id="rId57"/>
    <p:sldId id="391" r:id="rId58"/>
    <p:sldId id="392" r:id="rId59"/>
    <p:sldId id="476" r:id="rId60"/>
    <p:sldId id="394" r:id="rId61"/>
    <p:sldId id="395" r:id="rId62"/>
    <p:sldId id="396" r:id="rId63"/>
    <p:sldId id="397" r:id="rId64"/>
    <p:sldId id="398" r:id="rId65"/>
    <p:sldId id="399" r:id="rId66"/>
    <p:sldId id="400" r:id="rId67"/>
    <p:sldId id="401" r:id="rId68"/>
    <p:sldId id="402" r:id="rId69"/>
    <p:sldId id="403" r:id="rId70"/>
    <p:sldId id="404" r:id="rId71"/>
    <p:sldId id="405" r:id="rId72"/>
    <p:sldId id="406" r:id="rId73"/>
    <p:sldId id="407" r:id="rId74"/>
    <p:sldId id="408" r:id="rId75"/>
    <p:sldId id="409" r:id="rId76"/>
    <p:sldId id="410" r:id="rId77"/>
    <p:sldId id="411" r:id="rId78"/>
    <p:sldId id="412" r:id="rId79"/>
    <p:sldId id="477" r:id="rId80"/>
    <p:sldId id="414" r:id="rId81"/>
    <p:sldId id="415" r:id="rId82"/>
    <p:sldId id="416" r:id="rId83"/>
    <p:sldId id="417" r:id="rId84"/>
    <p:sldId id="418" r:id="rId85"/>
    <p:sldId id="419" r:id="rId86"/>
    <p:sldId id="478" r:id="rId87"/>
    <p:sldId id="421" r:id="rId88"/>
    <p:sldId id="422" r:id="rId89"/>
    <p:sldId id="423" r:id="rId90"/>
    <p:sldId id="424" r:id="rId91"/>
    <p:sldId id="425" r:id="rId92"/>
    <p:sldId id="426" r:id="rId93"/>
    <p:sldId id="427" r:id="rId94"/>
    <p:sldId id="428" r:id="rId95"/>
    <p:sldId id="429" r:id="rId96"/>
    <p:sldId id="430" r:id="rId97"/>
    <p:sldId id="431" r:id="rId98"/>
    <p:sldId id="432" r:id="rId99"/>
    <p:sldId id="433" r:id="rId100"/>
    <p:sldId id="434" r:id="rId101"/>
    <p:sldId id="435" r:id="rId102"/>
    <p:sldId id="436" r:id="rId103"/>
  </p:sldIdLst>
  <p:sldSz cx="9144000" cy="6858000" type="screen4x3"/>
  <p:notesSz cx="6997700" cy="9283700"/>
  <p:custShowLst>
    <p:custShow name="Custom Show 1" id="0">
      <p:sldLst/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7">
          <p15:clr>
            <a:srgbClr val="A4A3A4"/>
          </p15:clr>
        </p15:guide>
        <p15:guide id="2" pos="57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190" autoAdjust="0"/>
  </p:normalViewPr>
  <p:slideViewPr>
    <p:cSldViewPr snapToGrid="0">
      <p:cViewPr varScale="1">
        <p:scale>
          <a:sx n="85" d="100"/>
          <a:sy n="85" d="100"/>
        </p:scale>
        <p:origin x="1406" y="38"/>
      </p:cViewPr>
      <p:guideLst>
        <p:guide orient="horz" pos="707"/>
        <p:guide pos="5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66" d="100"/>
        <a:sy n="66" d="100"/>
      </p:scale>
      <p:origin x="0" y="1615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C6EF5354-BFFB-44DF-8FA7-1A088153BD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5BBF6CF9-ADFE-4F6E-89A0-8CB582D8FFC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8C120FC7-7BCE-4696-BB5D-C087861E4B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9" name="Rectangle 5">
            <a:extLst>
              <a:ext uri="{FF2B5EF4-FFF2-40B4-BE49-F238E27FC236}">
                <a16:creationId xmlns:a16="http://schemas.microsoft.com/office/drawing/2014/main" id="{6735A123-7D3E-455E-AB82-1C3749BB05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8B4C920-550B-4EA7-9CB5-2D8883A273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2E8AF117-EF14-4BF3-AB7D-D75C4F934CC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3" name="Rectangle 3">
            <a:extLst>
              <a:ext uri="{FF2B5EF4-FFF2-40B4-BE49-F238E27FC236}">
                <a16:creationId xmlns:a16="http://schemas.microsoft.com/office/drawing/2014/main" id="{D7D2DA5C-BED3-45D1-AFD2-94AF29863AB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A2936E5F-4C9B-4144-9261-C3F188AA67D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0645" name="Rectangle 5">
            <a:extLst>
              <a:ext uri="{FF2B5EF4-FFF2-40B4-BE49-F238E27FC236}">
                <a16:creationId xmlns:a16="http://schemas.microsoft.com/office/drawing/2014/main" id="{D73F14C5-05F8-4300-9D01-F3633C854740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410075"/>
            <a:ext cx="51339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0646" name="Rectangle 6">
            <a:extLst>
              <a:ext uri="{FF2B5EF4-FFF2-40B4-BE49-F238E27FC236}">
                <a16:creationId xmlns:a16="http://schemas.microsoft.com/office/drawing/2014/main" id="{BCB6CAD9-A006-4455-8054-9CACB290288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7" name="Rectangle 7">
            <a:extLst>
              <a:ext uri="{FF2B5EF4-FFF2-40B4-BE49-F238E27FC236}">
                <a16:creationId xmlns:a16="http://schemas.microsoft.com/office/drawing/2014/main" id="{63060AD7-0C3D-477B-BD60-55C8EBDB94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E66C03C-4B0E-4149-8287-A3B340EB818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1031">
            <a:extLst>
              <a:ext uri="{FF2B5EF4-FFF2-40B4-BE49-F238E27FC236}">
                <a16:creationId xmlns:a16="http://schemas.microsoft.com/office/drawing/2014/main" id="{B26C42E4-F176-46AC-8104-4779642F54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10B590F-A425-41F1-B17D-914592B3C7C4}" type="slidenum">
              <a:rPr lang="en-AU" altLang="en-US" sz="1200" smtClean="0">
                <a:latin typeface="Arial" panose="020B0604020202020204" pitchFamily="34" charset="0"/>
              </a:rPr>
              <a:pPr/>
              <a:t>1</a:t>
            </a:fld>
            <a:endParaRPr lang="en-AU" altLang="en-US" sz="1200">
              <a:latin typeface="Arial" panose="020B0604020202020204" pitchFamily="34" charset="0"/>
            </a:endParaRP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220A6E00-3243-4C01-996A-9766B4E362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2F24982-4C63-4608-8036-959A8EEC33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solidFill>
                  <a:srgbClr val="374151"/>
                </a:solidFill>
                <a:latin typeface="Söhne"/>
              </a:rPr>
              <a:t>Hello everyone,</a:t>
            </a: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I'm Dr. Taghinezhad, and I'm thrilled to be your guide through the exciting world of advanced databases this semester.</a:t>
            </a: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With a background in Computer Engineering and a focus on distributed systems, I've spent years diving into the intricacies of how data powers our digital world.</a:t>
            </a: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Throughout this course, we'll explore everything from the basics of data modeling to the complex database and distributed databases. </a:t>
            </a: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I believe in creating an environment where questions are encouraged, discussions are lively, and learning is a collaborative effort. So, I invite each of you to actively engage and share.</a:t>
            </a:r>
          </a:p>
          <a:p>
            <a:endParaRPr lang="en-US" altLang="en-US">
              <a:solidFill>
                <a:srgbClr val="374151"/>
              </a:solidFill>
              <a:latin typeface="Söhne"/>
            </a:endParaRP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I want to introduce you to one of the major resources for this course: "Database System Concepts" by Abraham Silberschatz, Henry F. Korth, and S. Sudarshan.</a:t>
            </a: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This textbook is like our trusty map as we navigate the complex terrain of database systems. It's not just any map, though—it's a detailed, comprehensive guide that will help us understand the landscape, identify key landmarks, and chart our course to mastery.</a:t>
            </a:r>
            <a:endParaRPr lang="fa-IR" altLang="en-US">
              <a:solidFill>
                <a:srgbClr val="374151"/>
              </a:solidFill>
              <a:latin typeface="Söhne"/>
            </a:endParaRPr>
          </a:p>
          <a:p>
            <a:endParaRPr lang="fa-IR" altLang="en-US">
              <a:solidFill>
                <a:srgbClr val="374151"/>
              </a:solidFill>
              <a:latin typeface="Söhne"/>
            </a:endParaRPr>
          </a:p>
          <a:p>
            <a:r>
              <a:rPr lang="en-US" altLang="en-US">
                <a:solidFill>
                  <a:srgbClr val="374151"/>
                </a:solidFill>
                <a:latin typeface="Söhne"/>
              </a:rPr>
              <a:t>If you are not going to attend in this calls. Please talk to before hand. Also select a representative among yourself. </a:t>
            </a:r>
          </a:p>
          <a:p>
            <a:endParaRPr lang="en-US" altLang="en-US">
              <a:solidFill>
                <a:srgbClr val="374151"/>
              </a:solidFill>
              <a:latin typeface="Söhne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9C98366-10B6-4C97-9C68-1B8DAD89E8AC}" type="slidenum">
              <a:rPr lang="en-US" altLang="en-US" sz="1200"/>
              <a:pPr/>
              <a:t>3</a:t>
            </a:fld>
            <a:endParaRPr lang="en-US" altLang="en-US" sz="1200"/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05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796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A48278F-1CF2-4C20-9F87-85520FC94509}" type="slidenum">
              <a:rPr lang="en-US" altLang="en-US" sz="1200"/>
              <a:pPr/>
              <a:t>4</a:t>
            </a:fld>
            <a:endParaRPr lang="en-US" altLang="en-US" sz="1200"/>
          </a:p>
        </p:txBody>
      </p:sp>
      <p:sp>
        <p:nvSpPr>
          <p:cNvPr id="1116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16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4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844FD9B-FA56-471A-AC29-AFD38B132615}" type="slidenum">
              <a:rPr lang="en-US" altLang="en-US" sz="1200"/>
              <a:pPr/>
              <a:t>5</a:t>
            </a:fld>
            <a:endParaRPr lang="en-US" altLang="en-US" sz="12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589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7E32EFA-99EE-40E3-9AB5-36B847B8CD16}" type="slidenum">
              <a:rPr lang="en-US" altLang="en-US" sz="1200"/>
              <a:pPr/>
              <a:t>6</a:t>
            </a:fld>
            <a:endParaRPr lang="en-US" altLang="en-US" sz="1200"/>
          </a:p>
        </p:txBody>
      </p:sp>
      <p:sp>
        <p:nvSpPr>
          <p:cNvPr id="1136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36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781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21C07DE-DA20-4217-B91C-55FA724E7BD2}" type="slidenum">
              <a:rPr lang="en-US" altLang="en-US" sz="1200"/>
              <a:pPr/>
              <a:t>7</a:t>
            </a:fld>
            <a:endParaRPr lang="en-US" altLang="en-US" sz="1200"/>
          </a:p>
        </p:txBody>
      </p:sp>
      <p:sp>
        <p:nvSpPr>
          <p:cNvPr id="1146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sz="12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Decomposition:</a:t>
            </a:r>
            <a:r>
              <a:rPr lang="fa-IR" altLang="en-US" sz="12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تجزیه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834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D17C4D0E-10BE-41E0-A0AF-FD2B0011F8A3}" type="slidenum">
              <a:rPr lang="en-US" altLang="en-US" sz="1200"/>
              <a:pPr/>
              <a:t>8</a:t>
            </a:fld>
            <a:endParaRPr lang="en-US" altLang="en-US" sz="1200"/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/>
              <a:t>تفکیک  پر اتلاف (</a:t>
            </a:r>
            <a:r>
              <a:rPr lang="en-US" dirty="0"/>
              <a:t>Lossy Decomposition)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4943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15C7E4C-29A1-4ED6-8D81-6DB7BB775B79}" type="slidenum">
              <a:rPr lang="en-US" altLang="en-US" sz="1200"/>
              <a:pPr/>
              <a:t>9</a:t>
            </a:fld>
            <a:endParaRPr lang="en-US" altLang="en-US" sz="1200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بگذارید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یک طرح‌واره رابطه باشد و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R1R1R1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R2R2R2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یک تفکیک از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را تشکیل دهند. یعنی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R=R1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R2R = R1 \cup R2R=R1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R2.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می‌گوییم که این تفکیک یک تفکیک بدون ضایعه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(Lossless Decomposition)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است اگر هیچ‌گونه از دست رفتن اطلاعاتی در هنگام جایگزینی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با دو طرح‌واره رابطه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R1R1R1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R2R2R2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وجود نداشته باشد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به‌طور رسمی،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altLang="en-US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  </a:t>
            </a:r>
            <a:r>
              <a:rPr lang="en-US" altLang="en-US" sz="18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8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 (r)      </a:t>
            </a:r>
            <a:r>
              <a:rPr lang="en-US" altLang="en-US" sz="18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8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 (r) = </a:t>
            </a:r>
            <a:r>
              <a:rPr lang="en-US" altLang="en-US" sz="1800" i="1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 به‌عکس، یک تفکیک ضایعاتی است اگر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⊆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ΠR1(r)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ΠR2(r)=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subseteq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\Pi_{R1}(r) \cup \Pi_{R2}(r) = rr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⊆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ΠR1​(r)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ΠR2​(r)=r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558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AAEC5DC-5E4F-4639-8D2D-6BB23BF9650E}" type="slidenum">
              <a:rPr lang="en-US" altLang="en-US" sz="1200"/>
              <a:pPr/>
              <a:t>10</a:t>
            </a:fld>
            <a:endParaRPr lang="en-US" altLang="en-US" sz="1200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6338" y="693738"/>
            <a:ext cx="4643437" cy="3482975"/>
          </a:xfrm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8933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9046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7A450BD-08BE-4C06-8125-BBFA1D5AB413}" type="slidenum">
              <a:rPr lang="en-US" altLang="en-US" sz="1200"/>
              <a:pPr/>
              <a:t>11</a:t>
            </a:fld>
            <a:endParaRPr lang="en-US" altLang="en-US" sz="1200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تصمیم بگیرید که آیا یک رابطه خاص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در فرم "خوب" قرار دارد یا نه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در صورتی که رابطه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در فرم "خوب" نباشد، آن را به مجموعه‌ای از روابط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{ R1,R2,…,RnR1, R2, \dots, RnR1,R2,…,Rn }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تفکیک کنید به‌طوری‌که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هر رابطه در فرم خوب باشد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تفکیک یک تفکیک بدون ضایعه باشد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نظریه‌ی ما بر اساس موارد زیر است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وابستگی‌های تابعی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(Functional dependencies)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وابستگی‌های چند ارزشی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(Multivalued dependencies)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339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5701DF6-0095-49A6-9538-0F4E1D04D191}" type="slidenum">
              <a:rPr lang="en-US" altLang="en-US" sz="1200"/>
              <a:pPr/>
              <a:t>12</a:t>
            </a:fld>
            <a:endParaRPr lang="en-US" altLang="en-US" sz="1200"/>
          </a:p>
        </p:txBody>
      </p:sp>
      <p:sp>
        <p:nvSpPr>
          <p:cNvPr id="1198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198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در دنیای واقعی معمولاً انواع مختلفی از محدودیت‌ها (قوانین) بر روی داده‌ها وجود دارد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برای مثال، برخی از محدودیت‌هایی که انتظار می‌رود در یک پایگاه داده دانشگاهی برقرار باشند عبارتند از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دانشجویان و اساتید به‌طور منحصر به فرد با شناسه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(ID)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خود شناسایی می‌شوند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هر دانشجو و استاد تنها یک نام دارد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هر استاد و دانشجو (عمدتاً) تنها با یک دپارتمان مرتبط است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هر دپارتمان تنها یک مقدار برای بودجه خود دارد و تنها یک ساختمان مرتبط با آن وجود دارد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379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7CCD6A2-8F22-431C-9059-7B1E655B3F8B}" type="slidenum">
              <a:rPr lang="en-US" altLang="en-US" sz="1200"/>
              <a:pPr/>
              <a:t>13</a:t>
            </a:fld>
            <a:endParaRPr lang="en-US" altLang="en-US" sz="1200"/>
          </a:p>
        </p:txBody>
      </p:sp>
      <p:sp>
        <p:nvSpPr>
          <p:cNvPr id="1208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نمونه‌ای از یک رابطه که تمامی محدودیت‌های دنیای واقعی را رعایت می‌کند، به‌عنوان یک </a:t>
            </a:r>
            <a:r>
              <a:rPr lang="ar-SA" sz="180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نمونه قانونی</a:t>
            </a: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از آن رابطه شناخته می‌شود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یک نمونه قانونی از پایگاه داده، نمونه‌ای است که در آن تمامی نمونه‌های روابط، نمونه‌های قانونی هستند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محدودیت‌ها روی مجموعه روابط قانونی، نیاز دارند که مقدار یک مجموعه خاص از صفات، مقدار مجموعه دیگری از صفات را به‌طور منحصر به فرد تعیین کند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وابستگی تابعی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(Functional Dependency) </a:t>
            </a:r>
            <a:r>
              <a:rPr lang="ar-SA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تعمیمی از مفهوم کلید است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2701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4B50642-8067-4638-B2FE-15C691E00756}" type="slidenum">
              <a:rPr lang="en-US" altLang="en-US" sz="1200"/>
              <a:pPr/>
              <a:t>14</a:t>
            </a:fld>
            <a:endParaRPr lang="en-US" altLang="en-US" sz="1200"/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30918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FCC9CF2-4998-4C05-A98D-CC655C386950}" type="slidenum">
              <a:rPr lang="en-US" altLang="en-US" sz="1200"/>
              <a:pPr/>
              <a:t>15</a:t>
            </a:fld>
            <a:endParaRPr lang="en-US" altLang="en-US" sz="1200"/>
          </a:p>
        </p:txBody>
      </p:sp>
      <p:sp>
        <p:nvSpPr>
          <p:cNvPr id="1228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28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بستار یک مجموعه از وابستگی‌های تابعی</a:t>
            </a:r>
            <a:endParaRPr lang="fa-IR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fa-IR" dirty="0"/>
              <a:t>فرض کنید یک مجموعه </a:t>
            </a:r>
            <a:r>
              <a:rPr lang="en-US" dirty="0"/>
              <a:t>F </a:t>
            </a:r>
            <a:r>
              <a:rPr lang="fa-IR" dirty="0"/>
              <a:t>از وابستگی‌های تابعی داده شده است. در این صورت، وابستگی‌های تابعی دیگری وجود دارند که به‌طور منطقی از </a:t>
            </a:r>
            <a:r>
              <a:rPr lang="en-US" dirty="0"/>
              <a:t>F</a:t>
            </a:r>
            <a:r>
              <a:rPr lang="fa-IR" dirty="0"/>
              <a:t>نتیجه می‌شوند.</a:t>
            </a: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fa-IR" dirty="0"/>
              <a:t>برای مثال، اگر </a:t>
            </a:r>
            <a:r>
              <a:rPr lang="en-US" dirty="0"/>
              <a:t>A→BA \to BA→B </a:t>
            </a:r>
            <a:r>
              <a:rPr lang="fa-IR" dirty="0"/>
              <a:t>و </a:t>
            </a:r>
            <a:r>
              <a:rPr lang="en-US" dirty="0"/>
              <a:t>B→CB \to CB→C، </a:t>
            </a:r>
            <a:r>
              <a:rPr lang="fa-IR" dirty="0"/>
              <a:t>می‌توانیم نتیجه بگیریم که </a:t>
            </a:r>
            <a:r>
              <a:rPr lang="en-US" dirty="0"/>
              <a:t>A→CA \to CA→C</a:t>
            </a: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fa-IR" dirty="0"/>
              <a:t>و همینطور برای سایر وابستگی‌ها.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fa-IR" dirty="0"/>
              <a:t>مجموعه‌ای از تمامی وابستگی‌های تابعی که به‌طور منطقی از </a:t>
            </a:r>
            <a:r>
              <a:rPr lang="en-US" dirty="0"/>
              <a:t>F </a:t>
            </a:r>
            <a:r>
              <a:rPr lang="fa-IR" dirty="0"/>
              <a:t>نتیجه می‌شوند، </a:t>
            </a:r>
            <a:r>
              <a:rPr lang="fa-IR" b="1" dirty="0"/>
              <a:t>اختتام </a:t>
            </a:r>
            <a:r>
              <a:rPr lang="en-US" b="1" dirty="0"/>
              <a:t>FFF</a:t>
            </a:r>
            <a:r>
              <a:rPr lang="en-US" dirty="0"/>
              <a:t> </a:t>
            </a:r>
            <a:r>
              <a:rPr lang="fa-IR" dirty="0"/>
              <a:t>نامیده می‌شود.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fa-IR" dirty="0"/>
              <a:t>اختتام </a:t>
            </a:r>
            <a:r>
              <a:rPr lang="en-US" dirty="0"/>
              <a:t>FFF </a:t>
            </a:r>
            <a:r>
              <a:rPr lang="fa-IR" dirty="0"/>
              <a:t>را با </a:t>
            </a:r>
            <a:r>
              <a:rPr lang="en-US" dirty="0"/>
              <a:t>F+F^+F+ </a:t>
            </a:r>
            <a:r>
              <a:rPr lang="fa-IR" dirty="0"/>
              <a:t>نمایش می‌دهیم.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25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601A597-9366-4E98-91B3-EC7AD41AF343}" type="slidenum">
              <a:rPr lang="en-US" altLang="en-US" sz="1200"/>
              <a:pPr/>
              <a:t>16</a:t>
            </a:fld>
            <a:endParaRPr lang="en-US" altLang="en-US" sz="1200"/>
          </a:p>
        </p:txBody>
      </p:sp>
      <p:sp>
        <p:nvSpPr>
          <p:cNvPr id="1239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KKK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یک ابرکلید برای طرح رابطه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است اگر و تنها اگر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K→RK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RK→R.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KKK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یک کلید کاندیدا برای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است اگر و تنها اگر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K→RK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RK→R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، و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برای هیچ زیرمجموعه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α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⊂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K\alpha \subset Kα</a:t>
            </a:r>
            <a:r>
              <a:rPr lang="en-US" sz="180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⊂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،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α→R\alpha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Rα→R.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وابستگی‌های تابعی به ما اجازه می‌دهند محدودیت‌هایی را بیان کنیم که نمی‌توان آن‌ها را با استفاده از ابرکلیدها بیان کرد. طرح زیر را در نظر بگیرید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\text{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in_dep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(ID, name, salary,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dept_name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, building, budget).}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انتظار می‌رود این وابستگی‌های تابعی برقرار باشند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\text{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dept_name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}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\text{building}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ID→building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\text{ID}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\text{building}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ID→building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اما انتظار نمی‌رود وابستگی زیر برقرار باشد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108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C0684B9-9744-4E13-BCE3-67E4D5AC52B7}" type="slidenum">
              <a:rPr lang="en-US" altLang="en-US" sz="1200"/>
              <a:pPr/>
              <a:t>17</a:t>
            </a:fld>
            <a:endParaRPr lang="en-US" altLang="en-US" sz="1200"/>
          </a:p>
        </p:txBody>
      </p:sp>
      <p:sp>
        <p:nvSpPr>
          <p:cNvPr id="1249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49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ما از وابستگی‌های تابعی برای موارد زیر استفاده می‌کنیم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آزمایش روابط برای بررسی اینکه آیا آن‌ها تحت یک مجموعه مشخص از وابستگی‌های تابعی معتبر هستند یا خیر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اگر یک رابطه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تحت یک مجموعه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FFF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از وابستگی‌های تابعی معتبر باشد، می‌گوییم که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FFF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را ارضا می‌کند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مشخص کردن محدودیت‌ها بر مجموعه روابط معتبر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b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می‌گوییم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FFF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برقرار است اگر تمام روابط معتبر بر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RRR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مجموعه وابستگی‌های تابعی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FFF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را ارضا کنند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نکته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ممکن است یک نمونه خاص از یک طرح رابطه‌ای وابستگی تابعی را ارضا کند، حتی اگر آن وابستگی تابعی برای همه نمونه‌های معتبر برقرار نباشد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برای مثال، ممکن است یک نمونه خاص از رابطه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instructorinstructorinstructor</a:t>
            </a:r>
            <a:r>
              <a:rPr lang="ar-SA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، به‌طور اتفاقی، وابستگی تابعی زیر را ارضا کند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algn="r" rt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name→ID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.\text{name} \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rightarrow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\text{ID}.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name→ID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4507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5911C6D-C523-432C-89F4-406A63F7E4F9}" type="slidenum">
              <a:rPr lang="en-US" altLang="en-US" sz="1200"/>
              <a:pPr/>
              <a:t>18</a:t>
            </a:fld>
            <a:endParaRPr lang="en-US" altLang="en-US" sz="1200"/>
          </a:p>
        </p:txBody>
      </p:sp>
      <p:sp>
        <p:nvSpPr>
          <p:cNvPr id="1259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59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338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D954D0A1-F669-443E-ADD7-EBEE7996BBA6}" type="slidenum">
              <a:rPr lang="en-US" altLang="en-US" sz="1200"/>
              <a:pPr/>
              <a:t>19</a:t>
            </a:fld>
            <a:endParaRPr lang="en-US" altLang="en-US" sz="1200"/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5895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A4B0E9C-818B-4892-804B-8736909E539A}" type="slidenum">
              <a:rPr lang="en-US" altLang="en-US" sz="1200"/>
              <a:pPr/>
              <a:t>20</a:t>
            </a:fld>
            <a:endParaRPr lang="en-US" altLang="en-US" sz="1200"/>
          </a:p>
        </p:txBody>
      </p:sp>
      <p:sp>
        <p:nvSpPr>
          <p:cNvPr id="1280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80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027" y="4410392"/>
            <a:ext cx="5131647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0996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2205F84-2065-4332-B0FA-E582A1DD7231}" type="slidenum">
              <a:rPr lang="en-US" altLang="en-US" sz="1200"/>
              <a:pPr/>
              <a:t>21</a:t>
            </a:fld>
            <a:endParaRPr lang="en-US" altLang="en-US" sz="1200"/>
          </a:p>
        </p:txBody>
      </p:sp>
      <p:sp>
        <p:nvSpPr>
          <p:cNvPr id="1290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290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dirty="0"/>
              <a:t>آزمایش محدودیت‌های وابستگی تابعی هر بار که پایگاه داده به‌روزرسانی می‌شود، می‌تواند هزینه‌بر باشد.</a:t>
            </a:r>
            <a:br>
              <a:rPr lang="fa-IR" dirty="0"/>
            </a:br>
            <a:r>
              <a:rPr lang="fa-IR" dirty="0"/>
              <a:t>بنابراین طراحی پایگاه داده به گونه‌ای که این محدودیت‌ها به‌صورت کارآمد آزمایش شوند، مفید است.</a:t>
            </a:r>
          </a:p>
          <a:p>
            <a:pPr algn="r" rtl="1"/>
            <a:r>
              <a:rPr lang="fa-IR" dirty="0"/>
              <a:t>اگر آزمایش یک وابستگی تابعی تنها با در نظر گرفتن یک رابطه قابل انجام باشد، هزینه آزمایش این محدودیت پایین خواهد بود.</a:t>
            </a:r>
          </a:p>
          <a:p>
            <a:pPr algn="r" rtl="1"/>
            <a:r>
              <a:rPr lang="fa-IR" dirty="0"/>
              <a:t>هنگام تجزیه یک رابطه، ممکن است شرایطی به وجود آید که آزمایش وابستگی تابعی بدون انجام عمل ضرب دکارتی امکان‌پذیر نباشد.</a:t>
            </a:r>
          </a:p>
          <a:p>
            <a:pPr algn="r" rtl="1"/>
            <a:r>
              <a:rPr lang="fa-IR" dirty="0"/>
              <a:t>یک تجزیه که اجرای وابستگی تابعی را از نظر محاسباتی دشوار می‌سازد، به عنوان "حفظ‌کننده وابستگی </a:t>
            </a:r>
            <a:r>
              <a:rPr lang="fa-IR" i="1" dirty="0"/>
              <a:t>نیست</a:t>
            </a:r>
            <a:r>
              <a:rPr lang="fa-IR" dirty="0"/>
              <a:t>" شناخته می‌شود.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3282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AA862FF-AA55-4048-85C2-DAA9D3A35A69}" type="slidenum">
              <a:rPr lang="en-US" altLang="en-US" sz="1200"/>
              <a:pPr/>
              <a:t>22</a:t>
            </a:fld>
            <a:endParaRPr lang="en-US" altLang="en-US" sz="1200"/>
          </a:p>
        </p:txBody>
      </p:sp>
      <p:sp>
        <p:nvSpPr>
          <p:cNvPr id="1300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00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3130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2C79F51-599B-4731-9C05-59A4A5345ABF}" type="slidenum">
              <a:rPr lang="en-US" altLang="en-US" sz="1200"/>
              <a:pPr/>
              <a:t>23</a:t>
            </a:fld>
            <a:endParaRPr lang="en-US" altLang="en-US" sz="1200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25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AFCC4C7-9321-4F85-AC15-C96C02999C1E}" type="slidenum">
              <a:rPr lang="en-US" altLang="en-US" sz="1200"/>
              <a:pPr/>
              <a:t>24</a:t>
            </a:fld>
            <a:endParaRPr lang="en-US" altLang="en-US" sz="1200"/>
          </a:p>
        </p:txBody>
      </p:sp>
      <p:sp>
        <p:nvSpPr>
          <p:cNvPr id="132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21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7782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F539C29-DF58-4677-B4D9-0CC127174E2D}" type="slidenum">
              <a:rPr lang="en-US" altLang="en-US" sz="1200"/>
              <a:pPr/>
              <a:t>25</a:t>
            </a:fld>
            <a:endParaRPr lang="en-US" altLang="en-US" sz="1200"/>
          </a:p>
        </p:txBody>
      </p:sp>
      <p:sp>
        <p:nvSpPr>
          <p:cNvPr id="133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1396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62CACEA-96F7-41D9-A638-F44E853DC1F9}" type="slidenum">
              <a:rPr lang="en-US" altLang="en-US" sz="1200"/>
              <a:pPr/>
              <a:t>26</a:t>
            </a:fld>
            <a:endParaRPr lang="en-US" altLang="en-US" sz="1200"/>
          </a:p>
        </p:txBody>
      </p:sp>
      <p:sp>
        <p:nvSpPr>
          <p:cNvPr id="134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41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7073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2678A41-D873-4EFC-8823-1C9E9A3093FE}" type="slidenum">
              <a:rPr lang="en-US" altLang="en-US" sz="1200"/>
              <a:pPr/>
              <a:t>27</a:t>
            </a:fld>
            <a:endParaRPr lang="en-US" altLang="en-US" sz="1200"/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027" y="4410392"/>
            <a:ext cx="5131647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73894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EA18F2D-D4E4-4C99-9424-81DA77918E26}" type="slidenum">
              <a:rPr lang="en-US" altLang="en-US" sz="1200"/>
              <a:pPr/>
              <a:t>28</a:t>
            </a:fld>
            <a:endParaRPr lang="en-US" altLang="en-US" sz="1200"/>
          </a:p>
        </p:txBody>
      </p:sp>
      <p:sp>
        <p:nvSpPr>
          <p:cNvPr id="1361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61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9901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6443853-1DD4-4877-B587-65D98B968857}" type="slidenum">
              <a:rPr lang="en-US" altLang="en-US" sz="1200"/>
              <a:pPr/>
              <a:t>29</a:t>
            </a:fld>
            <a:endParaRPr lang="en-US" altLang="en-US" sz="1200"/>
          </a:p>
        </p:txBody>
      </p:sp>
      <p:sp>
        <p:nvSpPr>
          <p:cNvPr id="137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01008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A8B56BC-BF26-4697-801E-84F2929930E3}" type="slidenum">
              <a:rPr lang="en-US" altLang="en-US" sz="1200"/>
              <a:pPr/>
              <a:t>30</a:t>
            </a:fld>
            <a:endParaRPr lang="en-US" altLang="en-US" sz="1200"/>
          </a:p>
        </p:txBody>
      </p:sp>
      <p:sp>
        <p:nvSpPr>
          <p:cNvPr id="138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28482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19163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19163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2A4DCD6-4990-4088-8EFB-FAD2F8B84679}" type="slidenum">
              <a:rPr lang="en-US" altLang="en-US" sz="1200"/>
              <a:pPr/>
              <a:t>31</a:t>
            </a:fld>
            <a:endParaRPr lang="en-US" altLang="en-US" sz="1200"/>
          </a:p>
        </p:txBody>
      </p:sp>
      <p:sp>
        <p:nvSpPr>
          <p:cNvPr id="139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027" y="4410392"/>
            <a:ext cx="5131647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9029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FB97D8D-6A75-4AFA-8548-85396391880A}" type="slidenum">
              <a:rPr lang="en-US" altLang="en-US" sz="1200"/>
              <a:pPr/>
              <a:t>32</a:t>
            </a:fld>
            <a:endParaRPr lang="en-US" altLang="en-US" sz="1200"/>
          </a:p>
        </p:txBody>
      </p:sp>
      <p:sp>
        <p:nvSpPr>
          <p:cNvPr id="140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9697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6DB8CD2-F9D8-4BCF-90A1-A8E625EDFB97}" type="slidenum">
              <a:rPr lang="en-US" altLang="en-US" sz="1200"/>
              <a:pPr/>
              <a:t>33</a:t>
            </a:fld>
            <a:endParaRPr lang="en-US" altLang="en-US" sz="1200"/>
          </a:p>
        </p:txBody>
      </p:sp>
      <p:sp>
        <p:nvSpPr>
          <p:cNvPr id="141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3966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59040D4-3005-4847-ABB3-16A2B4BDF1CE}" type="slidenum">
              <a:rPr lang="en-US" altLang="en-US" sz="1200"/>
              <a:pPr/>
              <a:t>34</a:t>
            </a:fld>
            <a:endParaRPr lang="en-US" altLang="en-US" sz="1200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15806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9B7593E-E541-408E-B62F-DEA0E60392EA}" type="slidenum">
              <a:rPr lang="en-US" altLang="en-US" sz="1200"/>
              <a:pPr/>
              <a:t>35</a:t>
            </a:fld>
            <a:endParaRPr lang="en-US" altLang="en-US" sz="1200"/>
          </a:p>
        </p:txBody>
      </p:sp>
      <p:sp>
        <p:nvSpPr>
          <p:cNvPr id="143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3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2769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B03737A-222D-46BE-B7A9-3EA09C13F967}" type="slidenum">
              <a:rPr lang="en-US" altLang="en-US" sz="1200"/>
              <a:pPr/>
              <a:t>36</a:t>
            </a:fld>
            <a:endParaRPr lang="en-US" altLang="en-US" sz="1200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4828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B2ED6F9-53BE-4CD9-8D10-83BD677C8535}" type="slidenum">
              <a:rPr lang="en-US" altLang="en-US" sz="1200"/>
              <a:pPr/>
              <a:t>37</a:t>
            </a:fld>
            <a:endParaRPr lang="en-US" altLang="en-US" sz="1200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8282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4B6CE2F-3CD3-45FE-B460-EC2ED3F07842}" type="slidenum">
              <a:rPr lang="en-US" altLang="en-US" sz="1200"/>
              <a:pPr/>
              <a:t>38</a:t>
            </a:fld>
            <a:endParaRPr lang="en-US" altLang="en-US" sz="1200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4E4753A-8DE0-4CA5-9E0D-F3763DCF04F6}" type="slidenum">
              <a:rPr lang="en-US" altLang="en-US" sz="1200"/>
              <a:pPr/>
              <a:t>39</a:t>
            </a:fld>
            <a:endParaRPr lang="en-US" altLang="en-US" sz="1200"/>
          </a:p>
        </p:txBody>
      </p:sp>
      <p:sp>
        <p:nvSpPr>
          <p:cNvPr id="147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74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7E239C7-4B01-4ACB-AC64-19B9EB42973F}" type="slidenum">
              <a:rPr lang="en-US" altLang="en-US" sz="1200"/>
              <a:pPr/>
              <a:t>40</a:t>
            </a:fld>
            <a:endParaRPr lang="en-US" altLang="en-US" sz="1200"/>
          </a:p>
        </p:txBody>
      </p:sp>
      <p:sp>
        <p:nvSpPr>
          <p:cNvPr id="148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84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AC0A48C-B033-4AC9-8924-4B331051E00D}" type="slidenum">
              <a:rPr lang="en-US" altLang="en-US" sz="1200"/>
              <a:pPr/>
              <a:t>41</a:t>
            </a:fld>
            <a:endParaRPr lang="en-US" altLang="en-US" sz="1200"/>
          </a:p>
        </p:txBody>
      </p:sp>
      <p:sp>
        <p:nvSpPr>
          <p:cNvPr id="149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495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7999FEA-463D-4EC2-9BE5-4E48B7E10B51}" type="slidenum">
              <a:rPr lang="en-US" altLang="en-US" sz="1200"/>
              <a:pPr/>
              <a:t>42</a:t>
            </a:fld>
            <a:endParaRPr lang="en-US" altLang="en-US" sz="1200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8F86710-0453-46DF-9A04-3F5F631C00F1}" type="slidenum">
              <a:rPr lang="en-US" altLang="en-US" sz="1200"/>
              <a:pPr/>
              <a:t>43</a:t>
            </a:fld>
            <a:endParaRPr lang="en-US" altLang="en-US" sz="1200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8F86710-0453-46DF-9A04-3F5F631C00F1}" type="slidenum">
              <a:rPr lang="en-US" altLang="en-US" sz="1200"/>
              <a:pPr/>
              <a:t>44</a:t>
            </a:fld>
            <a:endParaRPr lang="en-US" altLang="en-US" sz="1200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25BC543-30D6-4AA8-90B4-22C339D46936}" type="slidenum">
              <a:rPr lang="en-US" altLang="en-US" sz="1200"/>
              <a:pPr/>
              <a:t>45</a:t>
            </a:fld>
            <a:endParaRPr lang="en-US" altLang="en-US" sz="1200"/>
          </a:p>
        </p:txBody>
      </p:sp>
      <p:sp>
        <p:nvSpPr>
          <p:cNvPr id="153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36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020452C-B463-4E95-A665-2B99AA28B79B}" type="slidenum">
              <a:rPr lang="en-US" altLang="en-US" sz="1200"/>
              <a:pPr/>
              <a:t>46</a:t>
            </a:fld>
            <a:endParaRPr lang="en-US" altLang="en-US" sz="1200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126D1A1-086F-49DE-B921-A09020A520AB}" type="slidenum">
              <a:rPr lang="en-US" altLang="en-US" sz="1200"/>
              <a:pPr/>
              <a:t>47</a:t>
            </a:fld>
            <a:endParaRPr lang="en-US" altLang="en-US" sz="1200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B1C003AC-91E0-4C02-A3AF-D03041938C29}" type="slidenum">
              <a:rPr lang="en-US" altLang="en-US" sz="1200"/>
              <a:pPr/>
              <a:t>48</a:t>
            </a:fld>
            <a:endParaRPr lang="en-US" altLang="en-US" sz="1200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5C3BE13-538F-4FB5-B532-CB8FA5D987FB}" type="slidenum">
              <a:rPr lang="en-US" altLang="en-US" sz="1200"/>
              <a:pPr/>
              <a:t>49</a:t>
            </a:fld>
            <a:endParaRPr lang="en-US" altLang="en-US" sz="1200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D756CCF-944F-475F-BC67-70F3E02FC64F}" type="slidenum">
              <a:rPr lang="en-US" altLang="en-US" sz="1200"/>
              <a:pPr/>
              <a:t>50</a:t>
            </a:fld>
            <a:endParaRPr lang="en-US" altLang="en-US" sz="1200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1FD356F-B370-4905-B475-36D0765F2DB9}" type="slidenum">
              <a:rPr lang="en-US" altLang="en-US" sz="1200"/>
              <a:pPr/>
              <a:t>51</a:t>
            </a:fld>
            <a:endParaRPr lang="en-US" altLang="en-US" sz="1200"/>
          </a:p>
        </p:txBody>
      </p:sp>
      <p:sp>
        <p:nvSpPr>
          <p:cNvPr id="159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59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28007FB-A4A6-412F-8092-509E2CEC8D0B}" type="slidenum">
              <a:rPr lang="en-US" altLang="en-US" sz="1200"/>
              <a:pPr/>
              <a:t>52</a:t>
            </a:fld>
            <a:endParaRPr lang="en-US" altLang="en-US" sz="1200"/>
          </a:p>
        </p:txBody>
      </p:sp>
      <p:sp>
        <p:nvSpPr>
          <p:cNvPr id="160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07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FA8EE5B-27ED-41B6-B0F7-B62E458A1259}" type="slidenum">
              <a:rPr lang="en-US" altLang="en-US" sz="1200"/>
              <a:pPr/>
              <a:t>53</a:t>
            </a:fld>
            <a:endParaRPr lang="en-US" altLang="en-US" sz="1200"/>
          </a:p>
        </p:txBody>
      </p:sp>
      <p:sp>
        <p:nvSpPr>
          <p:cNvPr id="161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17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69B94BD-CECE-4C33-9065-62089078E886}" type="slidenum">
              <a:rPr lang="en-US" altLang="en-US" sz="1200"/>
              <a:pPr/>
              <a:t>54</a:t>
            </a:fld>
            <a:endParaRPr lang="en-US" altLang="en-US" sz="1200"/>
          </a:p>
        </p:txBody>
      </p:sp>
      <p:sp>
        <p:nvSpPr>
          <p:cNvPr id="162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2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28526EF-2A76-46A8-A4E9-07C212D9D96D}" type="slidenum">
              <a:rPr lang="en-US" altLang="en-US" sz="1200"/>
              <a:pPr/>
              <a:t>55</a:t>
            </a:fld>
            <a:endParaRPr lang="en-US" altLang="en-US" sz="1200"/>
          </a:p>
        </p:txBody>
      </p:sp>
      <p:sp>
        <p:nvSpPr>
          <p:cNvPr id="163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38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B1C0C611-501B-4334-8DD9-2D5A8FF01FE8}" type="slidenum">
              <a:rPr lang="en-US" altLang="en-US" sz="1200"/>
              <a:pPr/>
              <a:t>56</a:t>
            </a:fld>
            <a:endParaRPr lang="en-US" altLang="en-US" sz="1200"/>
          </a:p>
        </p:txBody>
      </p:sp>
      <p:sp>
        <p:nvSpPr>
          <p:cNvPr id="164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48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D87BC9CE-BF8C-4DA1-B24E-2871B5D5AD09}" type="slidenum">
              <a:rPr lang="en-US" altLang="en-US" sz="1200"/>
              <a:pPr/>
              <a:t>57</a:t>
            </a:fld>
            <a:endParaRPr lang="en-US" altLang="en-US" sz="1200"/>
          </a:p>
        </p:txBody>
      </p:sp>
      <p:sp>
        <p:nvSpPr>
          <p:cNvPr id="165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5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ABC47A9-62C0-457E-AB19-17B7324B6011}" type="slidenum">
              <a:rPr lang="en-US" altLang="en-US" sz="1200"/>
              <a:pPr/>
              <a:t>58</a:t>
            </a:fld>
            <a:endParaRPr lang="en-US" altLang="en-US" sz="1200"/>
          </a:p>
        </p:txBody>
      </p:sp>
      <p:sp>
        <p:nvSpPr>
          <p:cNvPr id="166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6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B37B9D3-CFBC-4A9A-892E-C5B737D92079}" type="slidenum">
              <a:rPr lang="en-US" altLang="en-US" sz="1200"/>
              <a:pPr/>
              <a:t>59</a:t>
            </a:fld>
            <a:endParaRPr lang="en-US" altLang="en-US" sz="1200"/>
          </a:p>
        </p:txBody>
      </p:sp>
      <p:sp>
        <p:nvSpPr>
          <p:cNvPr id="167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79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696B17E-EA99-4BE4-8109-8D7786A8AC53}" type="slidenum">
              <a:rPr lang="en-US" altLang="en-US" sz="1200"/>
              <a:pPr/>
              <a:t>60</a:t>
            </a:fld>
            <a:endParaRPr lang="en-US" altLang="en-US" sz="1200"/>
          </a:p>
        </p:txBody>
      </p:sp>
      <p:sp>
        <p:nvSpPr>
          <p:cNvPr id="168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89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37F53DE-0A03-40E0-A2C9-F027B409EFB7}" type="slidenum">
              <a:rPr lang="en-US" altLang="en-US" sz="1200"/>
              <a:pPr/>
              <a:t>61</a:t>
            </a:fld>
            <a:endParaRPr lang="en-US" altLang="en-US" sz="1200"/>
          </a:p>
        </p:txBody>
      </p:sp>
      <p:sp>
        <p:nvSpPr>
          <p:cNvPr id="169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699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CBA1292-271E-4250-9539-FFC50DBCE514}" type="slidenum">
              <a:rPr lang="en-US" altLang="en-US" sz="1200"/>
              <a:pPr/>
              <a:t>62</a:t>
            </a:fld>
            <a:endParaRPr lang="en-US" altLang="en-US" sz="1200"/>
          </a:p>
        </p:txBody>
      </p:sp>
      <p:sp>
        <p:nvSpPr>
          <p:cNvPr id="171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10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5027822-1DA4-45D6-8B4A-F0F2C0E9336B}" type="slidenum">
              <a:rPr lang="en-US" altLang="en-US" sz="1200"/>
              <a:pPr/>
              <a:t>63</a:t>
            </a:fld>
            <a:endParaRPr lang="en-US" altLang="en-US" sz="1200"/>
          </a:p>
        </p:txBody>
      </p:sp>
      <p:sp>
        <p:nvSpPr>
          <p:cNvPr id="172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20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F5AE4C2-505E-4B52-AE25-D384F1F0AFC8}" type="slidenum">
              <a:rPr lang="en-US" altLang="en-US" sz="1200"/>
              <a:pPr/>
              <a:t>64</a:t>
            </a:fld>
            <a:endParaRPr lang="en-US" altLang="en-US" sz="1200"/>
          </a:p>
        </p:txBody>
      </p:sp>
      <p:sp>
        <p:nvSpPr>
          <p:cNvPr id="173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30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749D456-034E-4195-8672-8080BB49D1C9}" type="slidenum">
              <a:rPr lang="en-US" altLang="en-US" sz="1200"/>
              <a:pPr/>
              <a:t>65</a:t>
            </a:fld>
            <a:endParaRPr lang="en-US" altLang="en-US" sz="1200"/>
          </a:p>
        </p:txBody>
      </p:sp>
      <p:sp>
        <p:nvSpPr>
          <p:cNvPr id="174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F5C975C-CA24-4F0D-85AD-F6146BCF0205}" type="slidenum">
              <a:rPr lang="en-US" altLang="en-US" sz="1200"/>
              <a:pPr/>
              <a:t>66</a:t>
            </a:fld>
            <a:endParaRPr lang="en-US" altLang="en-US" sz="1200"/>
          </a:p>
        </p:txBody>
      </p:sp>
      <p:sp>
        <p:nvSpPr>
          <p:cNvPr id="175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51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A5F8435-A232-49CF-A9C6-B8722E09AEA4}" type="slidenum">
              <a:rPr lang="en-US" altLang="en-US" sz="1200"/>
              <a:pPr/>
              <a:t>67</a:t>
            </a:fld>
            <a:endParaRPr lang="en-US" altLang="en-US" sz="1200"/>
          </a:p>
        </p:txBody>
      </p:sp>
      <p:sp>
        <p:nvSpPr>
          <p:cNvPr id="176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61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29301218-705C-4D04-BB0F-53A85D1868AA}" type="slidenum">
              <a:rPr lang="en-US" altLang="en-US" sz="1200"/>
              <a:pPr/>
              <a:t>68</a:t>
            </a:fld>
            <a:endParaRPr lang="en-US" altLang="en-US" sz="1200"/>
          </a:p>
        </p:txBody>
      </p:sp>
      <p:sp>
        <p:nvSpPr>
          <p:cNvPr id="177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71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FB9D207-2DEF-441B-BED4-CFAF747A5F24}" type="slidenum">
              <a:rPr lang="en-US" altLang="en-US" sz="1200"/>
              <a:pPr/>
              <a:t>69</a:t>
            </a:fld>
            <a:endParaRPr lang="en-US" altLang="en-US" sz="1200"/>
          </a:p>
        </p:txBody>
      </p:sp>
      <p:sp>
        <p:nvSpPr>
          <p:cNvPr id="178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81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60B2CAC-AEF3-41E1-B7D5-B6BAEDAB4D0E}" type="slidenum">
              <a:rPr lang="en-US" altLang="en-US" sz="1200"/>
              <a:pPr/>
              <a:t>70</a:t>
            </a:fld>
            <a:endParaRPr lang="en-US" altLang="en-US" sz="1200"/>
          </a:p>
        </p:txBody>
      </p:sp>
      <p:sp>
        <p:nvSpPr>
          <p:cNvPr id="179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792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062B22B-5B5B-47F1-897F-E166688E4CF0}" type="slidenum">
              <a:rPr lang="en-US" altLang="en-US" sz="1200"/>
              <a:pPr/>
              <a:t>71</a:t>
            </a:fld>
            <a:endParaRPr lang="en-US" altLang="en-US" sz="1200"/>
          </a:p>
        </p:txBody>
      </p:sp>
      <p:sp>
        <p:nvSpPr>
          <p:cNvPr id="180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02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09E8797-367B-4BC3-98D0-381C471A0413}" type="slidenum">
              <a:rPr lang="en-US" altLang="en-US" sz="1200"/>
              <a:pPr/>
              <a:t>72</a:t>
            </a:fld>
            <a:endParaRPr lang="en-US" altLang="en-US" sz="1200"/>
          </a:p>
        </p:txBody>
      </p:sp>
      <p:sp>
        <p:nvSpPr>
          <p:cNvPr id="181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DB84E881-A958-4B68-ADE6-2B7C0AFAFFC8}" type="slidenum">
              <a:rPr lang="en-US" altLang="en-US" sz="1200"/>
              <a:pPr/>
              <a:t>73</a:t>
            </a:fld>
            <a:endParaRPr lang="en-US" altLang="en-US" sz="1200"/>
          </a:p>
        </p:txBody>
      </p:sp>
      <p:sp>
        <p:nvSpPr>
          <p:cNvPr id="182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22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4A4D597-B539-4990-B3B7-C5878BB257C4}" type="slidenum">
              <a:rPr lang="en-US" altLang="en-US" sz="1200"/>
              <a:pPr/>
              <a:t>74</a:t>
            </a:fld>
            <a:endParaRPr lang="en-US" altLang="en-US" sz="1200"/>
          </a:p>
        </p:txBody>
      </p:sp>
      <p:sp>
        <p:nvSpPr>
          <p:cNvPr id="183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33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AF6520D-BDC3-4206-98C8-000B2AAC71C5}" type="slidenum">
              <a:rPr lang="en-US" altLang="en-US" sz="1200"/>
              <a:pPr/>
              <a:t>75</a:t>
            </a:fld>
            <a:endParaRPr lang="en-US" altLang="en-US" sz="1200"/>
          </a:p>
        </p:txBody>
      </p:sp>
      <p:sp>
        <p:nvSpPr>
          <p:cNvPr id="184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A439975-68C6-4A78-9207-604005262388}" type="slidenum">
              <a:rPr lang="en-US" altLang="en-US" sz="1200"/>
              <a:pPr/>
              <a:t>76</a:t>
            </a:fld>
            <a:endParaRPr lang="en-US" altLang="en-US" sz="1200"/>
          </a:p>
        </p:txBody>
      </p:sp>
      <p:sp>
        <p:nvSpPr>
          <p:cNvPr id="185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0CA98BF-2766-4132-A090-BEDD1F53C69F}" type="slidenum">
              <a:rPr lang="en-US" altLang="en-US" sz="1200"/>
              <a:pPr/>
              <a:t>77</a:t>
            </a:fld>
            <a:endParaRPr lang="en-US" altLang="en-US" sz="1200"/>
          </a:p>
        </p:txBody>
      </p:sp>
      <p:sp>
        <p:nvSpPr>
          <p:cNvPr id="186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63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70A9382-BE8A-447D-8A13-E2C05FAE4009}" type="slidenum">
              <a:rPr lang="en-US" altLang="en-US" sz="1200"/>
              <a:pPr/>
              <a:t>78</a:t>
            </a:fld>
            <a:endParaRPr lang="en-US" altLang="en-US" sz="1200"/>
          </a:p>
        </p:txBody>
      </p:sp>
      <p:sp>
        <p:nvSpPr>
          <p:cNvPr id="187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73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DEE3D57-1AB5-4E55-9DE6-56A88860B688}" type="slidenum">
              <a:rPr lang="en-US" altLang="en-US" sz="1200"/>
              <a:pPr/>
              <a:t>79</a:t>
            </a:fld>
            <a:endParaRPr lang="en-US" altLang="en-US" sz="1200"/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84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FFF916E-004C-4E0F-94C7-A1F1AB4046CB}" type="slidenum">
              <a:rPr lang="en-US" altLang="en-US" sz="1200"/>
              <a:pPr/>
              <a:t>80</a:t>
            </a:fld>
            <a:endParaRPr lang="en-US" altLang="en-US" sz="1200"/>
          </a:p>
        </p:txBody>
      </p:sp>
      <p:sp>
        <p:nvSpPr>
          <p:cNvPr id="189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894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AA5FC84-D300-4993-8FFF-76B7189FD726}" type="slidenum">
              <a:rPr lang="en-US" altLang="en-US" sz="1200"/>
              <a:pPr/>
              <a:t>81</a:t>
            </a:fld>
            <a:endParaRPr lang="en-US" altLang="en-US" sz="1200"/>
          </a:p>
        </p:txBody>
      </p:sp>
      <p:sp>
        <p:nvSpPr>
          <p:cNvPr id="190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34D146A-0FCA-4AA9-B806-71D700033438}" type="slidenum">
              <a:rPr lang="en-US" altLang="en-US" sz="1200"/>
              <a:pPr/>
              <a:t>82</a:t>
            </a:fld>
            <a:endParaRPr lang="en-US" altLang="en-US" sz="1200"/>
          </a:p>
        </p:txBody>
      </p:sp>
      <p:sp>
        <p:nvSpPr>
          <p:cNvPr id="191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7662A18-7A7C-4076-893B-6E4783118D4F}" type="slidenum">
              <a:rPr lang="en-US" altLang="en-US" sz="1200"/>
              <a:pPr/>
              <a:t>83</a:t>
            </a:fld>
            <a:endParaRPr lang="en-US" altLang="en-US" sz="1200"/>
          </a:p>
        </p:txBody>
      </p:sp>
      <p:sp>
        <p:nvSpPr>
          <p:cNvPr id="192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2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FEB02815-2E8F-4F1F-8AF4-3F688E850CE7}" type="slidenum">
              <a:rPr lang="en-US" altLang="en-US" sz="1200"/>
              <a:pPr/>
              <a:t>84</a:t>
            </a:fld>
            <a:endParaRPr lang="en-US" altLang="en-US" sz="1200"/>
          </a:p>
        </p:txBody>
      </p:sp>
      <p:sp>
        <p:nvSpPr>
          <p:cNvPr id="193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3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87AD0300-7DF2-417B-9258-1FCF1C4B0F18}" type="slidenum">
              <a:rPr lang="en-US" altLang="en-US" sz="1200"/>
              <a:pPr/>
              <a:t>85</a:t>
            </a:fld>
            <a:endParaRPr lang="en-US" altLang="en-US" sz="1200"/>
          </a:p>
        </p:txBody>
      </p:sp>
      <p:sp>
        <p:nvSpPr>
          <p:cNvPr id="194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45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83E816C-6BFE-45B8-AEE0-580237AF389A}" type="slidenum">
              <a:rPr lang="en-US" altLang="en-US" sz="1200"/>
              <a:pPr/>
              <a:t>86</a:t>
            </a:fld>
            <a:endParaRPr lang="en-US" altLang="en-US" sz="1200"/>
          </a:p>
        </p:txBody>
      </p:sp>
      <p:sp>
        <p:nvSpPr>
          <p:cNvPr id="195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55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C65BE18E-95C0-4077-93A4-3B3170CA9954}" type="slidenum">
              <a:rPr lang="en-US" altLang="en-US" sz="1200"/>
              <a:pPr/>
              <a:t>87</a:t>
            </a:fld>
            <a:endParaRPr lang="en-US" altLang="en-US" sz="1200"/>
          </a:p>
        </p:txBody>
      </p:sp>
      <p:sp>
        <p:nvSpPr>
          <p:cNvPr id="196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66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4D675266-589F-43B0-9701-90476419F730}" type="slidenum">
              <a:rPr lang="en-US" altLang="en-US" sz="1200"/>
              <a:pPr/>
              <a:t>88</a:t>
            </a:fld>
            <a:endParaRPr lang="en-US" altLang="en-US" sz="1200"/>
          </a:p>
        </p:txBody>
      </p:sp>
      <p:sp>
        <p:nvSpPr>
          <p:cNvPr id="197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88DF86E-0385-4E7C-82B3-654758E8AEBF}" type="slidenum">
              <a:rPr lang="en-US" altLang="en-US" sz="1200"/>
              <a:pPr/>
              <a:t>89</a:t>
            </a:fld>
            <a:endParaRPr lang="en-US" altLang="en-US" sz="1200"/>
          </a:p>
        </p:txBody>
      </p:sp>
      <p:sp>
        <p:nvSpPr>
          <p:cNvPr id="198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8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DB39A99-E879-404A-858C-3AE1BF5F92CA}" type="slidenum">
              <a:rPr lang="en-US" altLang="en-US" sz="1200"/>
              <a:pPr/>
              <a:t>90</a:t>
            </a:fld>
            <a:endParaRPr lang="en-US" altLang="en-US" sz="1200"/>
          </a:p>
        </p:txBody>
      </p:sp>
      <p:sp>
        <p:nvSpPr>
          <p:cNvPr id="199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DDD9CE7-351F-48CE-967A-358B845A4695}" type="slidenum">
              <a:rPr lang="en-US" altLang="en-US" sz="1200"/>
              <a:pPr/>
              <a:t>91</a:t>
            </a:fld>
            <a:endParaRPr lang="en-US" altLang="en-US" sz="1200"/>
          </a:p>
        </p:txBody>
      </p:sp>
      <p:sp>
        <p:nvSpPr>
          <p:cNvPr id="200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07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0029BB9-2A89-4B67-AE42-9DB9D32BF98D}" type="slidenum">
              <a:rPr lang="en-US" altLang="en-US" sz="1200"/>
              <a:pPr/>
              <a:t>92</a:t>
            </a:fld>
            <a:endParaRPr lang="en-US" altLang="en-US" sz="1200"/>
          </a:p>
        </p:txBody>
      </p:sp>
      <p:sp>
        <p:nvSpPr>
          <p:cNvPr id="201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F9645A2-1248-423A-8556-84A2D4FA5E36}" type="slidenum">
              <a:rPr lang="en-US" altLang="en-US" sz="1200"/>
              <a:pPr/>
              <a:t>93</a:t>
            </a:fld>
            <a:endParaRPr lang="en-US" altLang="en-US" sz="1200"/>
          </a:p>
        </p:txBody>
      </p:sp>
      <p:sp>
        <p:nvSpPr>
          <p:cNvPr id="202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D9BE1E68-DCB1-4B85-8BF4-1674F75BDA38}" type="slidenum">
              <a:rPr lang="en-US" altLang="en-US" sz="1200"/>
              <a:pPr/>
              <a:t>94</a:t>
            </a:fld>
            <a:endParaRPr lang="en-US" altLang="en-US" sz="1200"/>
          </a:p>
        </p:txBody>
      </p:sp>
      <p:sp>
        <p:nvSpPr>
          <p:cNvPr id="203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38419CD-81A9-4ED0-AB27-AA58D803B9B6}" type="slidenum">
              <a:rPr lang="en-US" altLang="en-US" sz="1200"/>
              <a:pPr/>
              <a:t>95</a:t>
            </a:fld>
            <a:endParaRPr lang="en-US" altLang="en-US" sz="1200"/>
          </a:p>
        </p:txBody>
      </p:sp>
      <p:sp>
        <p:nvSpPr>
          <p:cNvPr id="204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48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9ACD90F2-E731-4C57-9E9C-AE613BD3ED33}" type="slidenum">
              <a:rPr lang="en-US" altLang="en-US" sz="1200"/>
              <a:pPr/>
              <a:t>96</a:t>
            </a:fld>
            <a:endParaRPr lang="en-US" altLang="en-US" sz="1200"/>
          </a:p>
        </p:txBody>
      </p:sp>
      <p:sp>
        <p:nvSpPr>
          <p:cNvPr id="205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58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5A6B90E9-AD16-49EE-8AC8-14E0E639CE5E}" type="slidenum">
              <a:rPr lang="en-US" altLang="en-US" sz="1200"/>
              <a:pPr/>
              <a:t>97</a:t>
            </a:fld>
            <a:endParaRPr lang="en-US" altLang="en-US" sz="1200"/>
          </a:p>
        </p:txBody>
      </p:sp>
      <p:sp>
        <p:nvSpPr>
          <p:cNvPr id="206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68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6BBED4C9-4176-4C1E-9BDD-B23EF2DAA67E}" type="slidenum">
              <a:rPr lang="en-US" altLang="en-US" sz="1200"/>
              <a:pPr/>
              <a:t>98</a:t>
            </a:fld>
            <a:endParaRPr lang="en-US" altLang="en-US" sz="1200"/>
          </a:p>
        </p:txBody>
      </p:sp>
      <p:sp>
        <p:nvSpPr>
          <p:cNvPr id="207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78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745FF9D4-41DB-4DDD-A2B7-DFC2E567BB37}" type="slidenum">
              <a:rPr lang="en-US" altLang="en-US" sz="1200"/>
              <a:pPr/>
              <a:t>99</a:t>
            </a:fld>
            <a:endParaRPr lang="en-US" altLang="en-US" sz="1200"/>
          </a:p>
        </p:txBody>
      </p:sp>
      <p:sp>
        <p:nvSpPr>
          <p:cNvPr id="208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89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1B4B128C-0F01-4305-977D-D3781B10800B}" type="slidenum">
              <a:rPr lang="en-US" altLang="en-US" sz="1200"/>
              <a:pPr/>
              <a:t>100</a:t>
            </a:fld>
            <a:endParaRPr lang="en-US" altLang="en-US" sz="1200"/>
          </a:p>
        </p:txBody>
      </p:sp>
      <p:sp>
        <p:nvSpPr>
          <p:cNvPr id="209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099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B6A4B368-5493-43AB-83D2-FB2745DC6257}" type="slidenum">
              <a:rPr lang="en-US" altLang="en-US" sz="1200"/>
              <a:pPr/>
              <a:t>101</a:t>
            </a:fld>
            <a:endParaRPr lang="en-US" altLang="en-US" sz="1200"/>
          </a:p>
        </p:txBody>
      </p:sp>
      <p:sp>
        <p:nvSpPr>
          <p:cNvPr id="210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109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28688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AE26C2D1-1E1E-42BD-85B4-1BCC855514C0}" type="slidenum">
              <a:rPr lang="en-US" altLang="en-US" sz="1200"/>
              <a:pPr/>
              <a:t>102</a:t>
            </a:fld>
            <a:endParaRPr lang="en-US" altLang="en-US" sz="1200"/>
          </a:p>
        </p:txBody>
      </p:sp>
      <p:sp>
        <p:nvSpPr>
          <p:cNvPr id="211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2119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414" y="4410392"/>
            <a:ext cx="5134874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7">
            <a:extLst>
              <a:ext uri="{FF2B5EF4-FFF2-40B4-BE49-F238E27FC236}">
                <a16:creationId xmlns:a16="http://schemas.microsoft.com/office/drawing/2014/main" id="{3B824858-D1FC-4D05-A041-6B7ADBE5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pic>
        <p:nvPicPr>
          <p:cNvPr id="4" name="Picture 11" descr="Cover-6Ed">
            <a:extLst>
              <a:ext uri="{FF2B5EF4-FFF2-40B4-BE49-F238E27FC236}">
                <a16:creationId xmlns:a16="http://schemas.microsoft.com/office/drawing/2014/main" id="{18F428B9-7195-4F57-AF63-E4A9D8CD834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8" y="0"/>
            <a:ext cx="1330325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3FCF00C-44D2-4DAB-8FFD-D10102022EE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ADD8DEBD-898F-47E3-B439-B7F4B77DC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128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cs typeface="B Nazanin" panose="00000400000000000000" pitchFamily="2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9710" y="1093788"/>
            <a:ext cx="8555839" cy="5288905"/>
          </a:xfrm>
        </p:spPr>
        <p:txBody>
          <a:bodyPr/>
          <a:lstStyle>
            <a:lvl1pPr marL="342900" indent="-342900">
              <a:buSzPct val="110000"/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1pPr>
            <a:lvl2pPr marL="742950" indent="-285750">
              <a:buSzPct val="110000"/>
              <a:buFont typeface="Arial" panose="020B0604020202020204" pitchFamily="34" charset="0"/>
              <a:buChar char="•"/>
              <a:defRPr sz="2000">
                <a:cs typeface="B Nazanin" panose="00000400000000000000" pitchFamily="2" charset="-78"/>
              </a:defRPr>
            </a:lvl2pPr>
            <a:lvl3pPr marL="1085850" indent="-228600"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3pPr>
            <a:lvl4pPr marL="1428750" indent="-228600">
              <a:buFont typeface="Arial" panose="020B0604020202020204" pitchFamily="34" charset="0"/>
              <a:buChar char="•"/>
              <a:defRPr sz="2000">
                <a:cs typeface="B Nazanin" panose="00000400000000000000" pitchFamily="2" charset="-78"/>
              </a:defRPr>
            </a:lvl4pPr>
            <a:lvl5pPr marL="1771650" indent="-228600">
              <a:buFont typeface="Wingdings" panose="05000000000000000000" pitchFamily="2" charset="2"/>
              <a:buChar char="§"/>
              <a:defRPr sz="2000">
                <a:cs typeface="B Nazanin" panose="00000400000000000000" pitchFamily="2" charset="-7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96061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A70D55-6B89-4FBD-8EDA-9DB357D4803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2F8932-DE11-41D2-8F5F-F6C91B11388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50939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4388" y="1093788"/>
            <a:ext cx="3754437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1225" y="1093788"/>
            <a:ext cx="3754438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B0740F3-B76E-4043-91C9-D76CE8D0AE8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D88414-175B-4785-BEBD-C347E968E1D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326547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3664E68-6662-4010-A6E8-FF6294756F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C06BFB-2E11-4999-AD66-67677BC72E68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17580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E48AB69-0D09-431E-A361-3BC3A0C7519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A32BBC-A29E-4B84-809F-169E3D623CD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58219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62A2769D-4840-425C-82B3-82E2BD096DF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6C1EFD-4131-4EE6-8842-FE51BBBF3C1C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56918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D0FCC82-A10A-4249-BE3C-30A3818712C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79BB6A-39A7-436B-BBF4-5F7C857EBE1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05923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05B0599-BFB7-43E9-9A10-6C35573F58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ABA554-7D95-4375-943A-676624D8DFE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97692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9E58FA-2701-4089-BED0-ED4504B31C4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284B68-EE10-40DB-86C4-ECB61F98674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157682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250" y="117475"/>
            <a:ext cx="2019300" cy="5880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117475"/>
            <a:ext cx="5905500" cy="5880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4DF82-9343-4D6D-A76D-75BD6EC7AA5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3A4818-A1CF-4D3D-BEF0-CEF2FAF585C8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17240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F8AF6A-7417-414C-9EB6-4C13160AA17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116BEB-6062-461A-AF49-3C8F094D6C90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841785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563761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620766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4127" y="582136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0487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F2585086-EE90-497D-93B1-CA9810D2C7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7500" y="1093788"/>
            <a:ext cx="8599488" cy="530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512003" name="Rectangle 3">
            <a:extLst>
              <a:ext uri="{FF2B5EF4-FFF2-40B4-BE49-F238E27FC236}">
                <a16:creationId xmlns:a16="http://schemas.microsoft.com/office/drawing/2014/main" id="{09F098C3-0453-4B17-944A-7582B1D8667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solidFill>
                  <a:srgbClr val="00206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730C3E9-3565-488E-AB92-2BC48C8CC962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028" name="Text Box 4">
            <a:extLst>
              <a:ext uri="{FF2B5EF4-FFF2-40B4-BE49-F238E27FC236}">
                <a16:creationId xmlns:a16="http://schemas.microsoft.com/office/drawing/2014/main" id="{9D2F09C8-E397-469C-84E6-283AA902D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1525" y="6643688"/>
            <a:ext cx="752475" cy="24765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Database</a:t>
            </a:r>
          </a:p>
        </p:txBody>
      </p:sp>
      <p:sp>
        <p:nvSpPr>
          <p:cNvPr id="512005" name="Text Box 5">
            <a:extLst>
              <a:ext uri="{FF2B5EF4-FFF2-40B4-BE49-F238E27FC236}">
                <a16:creationId xmlns:a16="http://schemas.microsoft.com/office/drawing/2014/main" id="{C99B81AF-1E34-452D-A29A-22FA9696AAC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79925" y="6613525"/>
            <a:ext cx="44767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1.</a:t>
            </a:r>
            <a:fld id="{AC6F3C8E-B910-47D3-9FC6-86B6F864454C}" type="slidenum">
              <a:rPr lang="en-US" altLang="en-US" sz="1000" b="1" smtClean="0">
                <a:solidFill>
                  <a:srgbClr val="002060"/>
                </a:solidFill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altLang="en-US" sz="1000" b="1" dirty="0">
              <a:solidFill>
                <a:srgbClr val="002060"/>
              </a:solidFill>
            </a:endParaRPr>
          </a:p>
        </p:txBody>
      </p:sp>
      <p:sp>
        <p:nvSpPr>
          <p:cNvPr id="512006" name="Rectangle 6">
            <a:extLst>
              <a:ext uri="{FF2B5EF4-FFF2-40B4-BE49-F238E27FC236}">
                <a16:creationId xmlns:a16="http://schemas.microsoft.com/office/drawing/2014/main" id="{ADBFB4FE-43F4-4FA0-B051-0D44F560CC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8350" y="117475"/>
            <a:ext cx="8077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1" name="Text Box 7">
            <a:extLst>
              <a:ext uri="{FF2B5EF4-FFF2-40B4-BE49-F238E27FC236}">
                <a16:creationId xmlns:a16="http://schemas.microsoft.com/office/drawing/2014/main" id="{880E5318-7384-4990-8CA8-5173B7F3BF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613525"/>
            <a:ext cx="1343025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 dirty="0">
                <a:solidFill>
                  <a:srgbClr val="002060"/>
                </a:solidFill>
              </a:rPr>
              <a:t>Dr. A. Taghinezhad</a:t>
            </a:r>
          </a:p>
        </p:txBody>
      </p:sp>
      <p:sp>
        <p:nvSpPr>
          <p:cNvPr id="1032" name="Freeform 8">
            <a:extLst>
              <a:ext uri="{FF2B5EF4-FFF2-40B4-BE49-F238E27FC236}">
                <a16:creationId xmlns:a16="http://schemas.microsoft.com/office/drawing/2014/main" id="{6CDA35BA-8F04-4DFE-86B0-545ADDF4393D}"/>
              </a:ext>
            </a:extLst>
          </p:cNvPr>
          <p:cNvSpPr>
            <a:spLocks/>
          </p:cNvSpPr>
          <p:nvPr/>
        </p:nvSpPr>
        <p:spPr bwMode="auto">
          <a:xfrm>
            <a:off x="8916988" y="5445125"/>
            <a:ext cx="227012" cy="47625"/>
          </a:xfrm>
          <a:custGeom>
            <a:avLst/>
            <a:gdLst>
              <a:gd name="T0" fmla="*/ 0 w 285"/>
              <a:gd name="T1" fmla="*/ 2147483646 h 61"/>
              <a:gd name="T2" fmla="*/ 2147483646 w 285"/>
              <a:gd name="T3" fmla="*/ 2147483646 h 61"/>
              <a:gd name="T4" fmla="*/ 2147483646 w 285"/>
              <a:gd name="T5" fmla="*/ 2147483646 h 61"/>
              <a:gd name="T6" fmla="*/ 2147483646 w 285"/>
              <a:gd name="T7" fmla="*/ 2147483646 h 61"/>
              <a:gd name="T8" fmla="*/ 2147483646 w 285"/>
              <a:gd name="T9" fmla="*/ 2147483646 h 61"/>
              <a:gd name="T10" fmla="*/ 2147483646 w 285"/>
              <a:gd name="T11" fmla="*/ 2147483646 h 61"/>
              <a:gd name="T12" fmla="*/ 2147483646 w 285"/>
              <a:gd name="T13" fmla="*/ 2147483646 h 61"/>
              <a:gd name="T14" fmla="*/ 2147483646 w 285"/>
              <a:gd name="T15" fmla="*/ 2147483646 h 61"/>
              <a:gd name="T16" fmla="*/ 2147483646 w 285"/>
              <a:gd name="T17" fmla="*/ 0 h 61"/>
              <a:gd name="T18" fmla="*/ 2147483646 w 285"/>
              <a:gd name="T19" fmla="*/ 0 h 61"/>
              <a:gd name="T20" fmla="*/ 2147483646 w 285"/>
              <a:gd name="T21" fmla="*/ 0 h 61"/>
              <a:gd name="T22" fmla="*/ 2147483646 w 285"/>
              <a:gd name="T23" fmla="*/ 0 h 61"/>
              <a:gd name="T24" fmla="*/ 2147483646 w 285"/>
              <a:gd name="T25" fmla="*/ 2147483646 h 61"/>
              <a:gd name="T26" fmla="*/ 2147483646 w 285"/>
              <a:gd name="T27" fmla="*/ 2147483646 h 61"/>
              <a:gd name="T28" fmla="*/ 2147483646 w 285"/>
              <a:gd name="T29" fmla="*/ 2147483646 h 61"/>
              <a:gd name="T30" fmla="*/ 2147483646 w 285"/>
              <a:gd name="T31" fmla="*/ 2147483646 h 61"/>
              <a:gd name="T32" fmla="*/ 2147483646 w 285"/>
              <a:gd name="T33" fmla="*/ 2147483646 h 61"/>
              <a:gd name="T34" fmla="*/ 2147483646 w 285"/>
              <a:gd name="T35" fmla="*/ 2147483646 h 61"/>
              <a:gd name="T36" fmla="*/ 2147483646 w 285"/>
              <a:gd name="T37" fmla="*/ 2147483646 h 61"/>
              <a:gd name="T38" fmla="*/ 2147483646 w 285"/>
              <a:gd name="T39" fmla="*/ 2147483646 h 61"/>
              <a:gd name="T40" fmla="*/ 2147483646 w 285"/>
              <a:gd name="T41" fmla="*/ 2147483646 h 61"/>
              <a:gd name="T42" fmla="*/ 2147483646 w 285"/>
              <a:gd name="T43" fmla="*/ 2147483646 h 61"/>
              <a:gd name="T44" fmla="*/ 2147483646 w 285"/>
              <a:gd name="T45" fmla="*/ 2147483646 h 61"/>
              <a:gd name="T46" fmla="*/ 2147483646 w 285"/>
              <a:gd name="T47" fmla="*/ 2147483646 h 61"/>
              <a:gd name="T48" fmla="*/ 2147483646 w 285"/>
              <a:gd name="T49" fmla="*/ 2147483646 h 61"/>
              <a:gd name="T50" fmla="*/ 2147483646 w 285"/>
              <a:gd name="T51" fmla="*/ 2147483646 h 61"/>
              <a:gd name="T52" fmla="*/ 2147483646 w 285"/>
              <a:gd name="T53" fmla="*/ 2147483646 h 61"/>
              <a:gd name="T54" fmla="*/ 2147483646 w 285"/>
              <a:gd name="T55" fmla="*/ 2147483646 h 61"/>
              <a:gd name="T56" fmla="*/ 2147483646 w 285"/>
              <a:gd name="T57" fmla="*/ 2147483646 h 61"/>
              <a:gd name="T58" fmla="*/ 2147483646 w 285"/>
              <a:gd name="T59" fmla="*/ 2147483646 h 61"/>
              <a:gd name="T60" fmla="*/ 2147483646 w 285"/>
              <a:gd name="T61" fmla="*/ 2147483646 h 61"/>
              <a:gd name="T62" fmla="*/ 2147483646 w 285"/>
              <a:gd name="T63" fmla="*/ 2147483646 h 61"/>
              <a:gd name="T64" fmla="*/ 2147483646 w 285"/>
              <a:gd name="T65" fmla="*/ 2147483646 h 61"/>
              <a:gd name="T66" fmla="*/ 2147483646 w 285"/>
              <a:gd name="T67" fmla="*/ 2147483646 h 61"/>
              <a:gd name="T68" fmla="*/ 2147483646 w 285"/>
              <a:gd name="T69" fmla="*/ 2147483646 h 61"/>
              <a:gd name="T70" fmla="*/ 2147483646 w 285"/>
              <a:gd name="T71" fmla="*/ 2147483646 h 61"/>
              <a:gd name="T72" fmla="*/ 2147483646 w 285"/>
              <a:gd name="T73" fmla="*/ 2147483646 h 61"/>
              <a:gd name="T74" fmla="*/ 2147483646 w 285"/>
              <a:gd name="T75" fmla="*/ 2147483646 h 61"/>
              <a:gd name="T76" fmla="*/ 2147483646 w 285"/>
              <a:gd name="T77" fmla="*/ 2147483646 h 61"/>
              <a:gd name="T78" fmla="*/ 2147483646 w 285"/>
              <a:gd name="T79" fmla="*/ 2147483646 h 61"/>
              <a:gd name="T80" fmla="*/ 2147483646 w 285"/>
              <a:gd name="T81" fmla="*/ 2147483646 h 61"/>
              <a:gd name="T82" fmla="*/ 2147483646 w 285"/>
              <a:gd name="T83" fmla="*/ 2147483646 h 61"/>
              <a:gd name="T84" fmla="*/ 2147483646 w 285"/>
              <a:gd name="T85" fmla="*/ 2147483646 h 61"/>
              <a:gd name="T86" fmla="*/ 2147483646 w 285"/>
              <a:gd name="T87" fmla="*/ 2147483646 h 61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85" h="61">
                <a:moveTo>
                  <a:pt x="2" y="61"/>
                </a:moveTo>
                <a:lnTo>
                  <a:pt x="0" y="59"/>
                </a:lnTo>
                <a:lnTo>
                  <a:pt x="0" y="55"/>
                </a:lnTo>
                <a:lnTo>
                  <a:pt x="2" y="48"/>
                </a:lnTo>
                <a:lnTo>
                  <a:pt x="5" y="40"/>
                </a:lnTo>
                <a:lnTo>
                  <a:pt x="9" y="34"/>
                </a:lnTo>
                <a:lnTo>
                  <a:pt x="13" y="31"/>
                </a:lnTo>
                <a:lnTo>
                  <a:pt x="17" y="25"/>
                </a:lnTo>
                <a:lnTo>
                  <a:pt x="24" y="21"/>
                </a:lnTo>
                <a:lnTo>
                  <a:pt x="30" y="17"/>
                </a:lnTo>
                <a:lnTo>
                  <a:pt x="40" y="13"/>
                </a:lnTo>
                <a:lnTo>
                  <a:pt x="45" y="10"/>
                </a:lnTo>
                <a:lnTo>
                  <a:pt x="51" y="8"/>
                </a:lnTo>
                <a:lnTo>
                  <a:pt x="57" y="6"/>
                </a:lnTo>
                <a:lnTo>
                  <a:pt x="64" y="6"/>
                </a:lnTo>
                <a:lnTo>
                  <a:pt x="70" y="2"/>
                </a:lnTo>
                <a:lnTo>
                  <a:pt x="78" y="2"/>
                </a:lnTo>
                <a:lnTo>
                  <a:pt x="85" y="0"/>
                </a:lnTo>
                <a:lnTo>
                  <a:pt x="93" y="0"/>
                </a:lnTo>
                <a:lnTo>
                  <a:pt x="100" y="0"/>
                </a:lnTo>
                <a:lnTo>
                  <a:pt x="110" y="0"/>
                </a:lnTo>
                <a:lnTo>
                  <a:pt x="118" y="0"/>
                </a:lnTo>
                <a:lnTo>
                  <a:pt x="129" y="0"/>
                </a:lnTo>
                <a:lnTo>
                  <a:pt x="137" y="0"/>
                </a:lnTo>
                <a:lnTo>
                  <a:pt x="146" y="2"/>
                </a:lnTo>
                <a:lnTo>
                  <a:pt x="154" y="2"/>
                </a:lnTo>
                <a:lnTo>
                  <a:pt x="163" y="4"/>
                </a:lnTo>
                <a:lnTo>
                  <a:pt x="173" y="6"/>
                </a:lnTo>
                <a:lnTo>
                  <a:pt x="182" y="8"/>
                </a:lnTo>
                <a:lnTo>
                  <a:pt x="192" y="8"/>
                </a:lnTo>
                <a:lnTo>
                  <a:pt x="201" y="12"/>
                </a:lnTo>
                <a:lnTo>
                  <a:pt x="209" y="12"/>
                </a:lnTo>
                <a:lnTo>
                  <a:pt x="216" y="13"/>
                </a:lnTo>
                <a:lnTo>
                  <a:pt x="224" y="15"/>
                </a:lnTo>
                <a:lnTo>
                  <a:pt x="234" y="17"/>
                </a:lnTo>
                <a:lnTo>
                  <a:pt x="239" y="19"/>
                </a:lnTo>
                <a:lnTo>
                  <a:pt x="247" y="21"/>
                </a:lnTo>
                <a:lnTo>
                  <a:pt x="254" y="23"/>
                </a:lnTo>
                <a:lnTo>
                  <a:pt x="260" y="25"/>
                </a:lnTo>
                <a:lnTo>
                  <a:pt x="266" y="25"/>
                </a:lnTo>
                <a:lnTo>
                  <a:pt x="270" y="27"/>
                </a:lnTo>
                <a:lnTo>
                  <a:pt x="273" y="27"/>
                </a:lnTo>
                <a:lnTo>
                  <a:pt x="279" y="29"/>
                </a:lnTo>
                <a:lnTo>
                  <a:pt x="283" y="31"/>
                </a:lnTo>
                <a:lnTo>
                  <a:pt x="285" y="32"/>
                </a:lnTo>
                <a:lnTo>
                  <a:pt x="279" y="44"/>
                </a:lnTo>
                <a:lnTo>
                  <a:pt x="277" y="44"/>
                </a:lnTo>
                <a:lnTo>
                  <a:pt x="273" y="42"/>
                </a:lnTo>
                <a:lnTo>
                  <a:pt x="268" y="42"/>
                </a:lnTo>
                <a:lnTo>
                  <a:pt x="260" y="40"/>
                </a:lnTo>
                <a:lnTo>
                  <a:pt x="251" y="38"/>
                </a:lnTo>
                <a:lnTo>
                  <a:pt x="241" y="36"/>
                </a:lnTo>
                <a:lnTo>
                  <a:pt x="235" y="34"/>
                </a:lnTo>
                <a:lnTo>
                  <a:pt x="230" y="34"/>
                </a:lnTo>
                <a:lnTo>
                  <a:pt x="224" y="32"/>
                </a:lnTo>
                <a:lnTo>
                  <a:pt x="218" y="32"/>
                </a:lnTo>
                <a:lnTo>
                  <a:pt x="213" y="31"/>
                </a:lnTo>
                <a:lnTo>
                  <a:pt x="207" y="31"/>
                </a:lnTo>
                <a:lnTo>
                  <a:pt x="201" y="29"/>
                </a:lnTo>
                <a:lnTo>
                  <a:pt x="196" y="29"/>
                </a:lnTo>
                <a:lnTo>
                  <a:pt x="190" y="27"/>
                </a:lnTo>
                <a:lnTo>
                  <a:pt x="182" y="27"/>
                </a:lnTo>
                <a:lnTo>
                  <a:pt x="178" y="25"/>
                </a:lnTo>
                <a:lnTo>
                  <a:pt x="173" y="25"/>
                </a:lnTo>
                <a:lnTo>
                  <a:pt x="167" y="23"/>
                </a:lnTo>
                <a:lnTo>
                  <a:pt x="163" y="23"/>
                </a:lnTo>
                <a:lnTo>
                  <a:pt x="158" y="21"/>
                </a:lnTo>
                <a:lnTo>
                  <a:pt x="154" y="21"/>
                </a:lnTo>
                <a:lnTo>
                  <a:pt x="148" y="19"/>
                </a:lnTo>
                <a:lnTo>
                  <a:pt x="142" y="19"/>
                </a:lnTo>
                <a:lnTo>
                  <a:pt x="144" y="48"/>
                </a:lnTo>
                <a:lnTo>
                  <a:pt x="110" y="15"/>
                </a:lnTo>
                <a:lnTo>
                  <a:pt x="118" y="48"/>
                </a:lnTo>
                <a:lnTo>
                  <a:pt x="83" y="21"/>
                </a:lnTo>
                <a:lnTo>
                  <a:pt x="91" y="48"/>
                </a:lnTo>
                <a:lnTo>
                  <a:pt x="59" y="29"/>
                </a:lnTo>
                <a:lnTo>
                  <a:pt x="57" y="29"/>
                </a:lnTo>
                <a:lnTo>
                  <a:pt x="53" y="31"/>
                </a:lnTo>
                <a:lnTo>
                  <a:pt x="49" y="31"/>
                </a:lnTo>
                <a:lnTo>
                  <a:pt x="43" y="34"/>
                </a:lnTo>
                <a:lnTo>
                  <a:pt x="38" y="36"/>
                </a:lnTo>
                <a:lnTo>
                  <a:pt x="32" y="38"/>
                </a:lnTo>
                <a:lnTo>
                  <a:pt x="26" y="42"/>
                </a:lnTo>
                <a:lnTo>
                  <a:pt x="23" y="44"/>
                </a:lnTo>
                <a:lnTo>
                  <a:pt x="15" y="50"/>
                </a:lnTo>
                <a:lnTo>
                  <a:pt x="7" y="55"/>
                </a:lnTo>
                <a:lnTo>
                  <a:pt x="4" y="59"/>
                </a:lnTo>
                <a:lnTo>
                  <a:pt x="2" y="6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3" name="Picture 8" descr="Cover-6Ed">
            <a:extLst>
              <a:ext uri="{FF2B5EF4-FFF2-40B4-BE49-F238E27FC236}">
                <a16:creationId xmlns:a16="http://schemas.microsoft.com/office/drawing/2014/main" id="{09FE16CA-1C16-4120-A527-DE70F697BD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0"/>
            <a:ext cx="74295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0452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61" r:id="rId15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+mj-lt"/>
          <a:ea typeface="ＭＳ Ｐゴシック" panose="020B0600070205080204" pitchFamily="34" charset="-128"/>
          <a:cs typeface="B Nazanin" panose="00000400000000000000" pitchFamily="2" charset="-78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ＭＳ Ｐゴシック" panose="020B0600070205080204" pitchFamily="34" charset="-128"/>
          <a:cs typeface="B Nazanin" panose="00000400000000000000" pitchFamily="2" charset="-7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002060"/>
        </a:buClr>
        <a:buSzPct val="100000"/>
        <a:buFont typeface="Monotype Sorts" charset="2"/>
        <a:buChar char="n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chemeClr val="folHlink"/>
        </a:buClr>
        <a:buSzPct val="95000"/>
        <a:buFont typeface="Monotype Sorts" charset="2"/>
        <a:buChar char="l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33CC33"/>
        </a:buClr>
        <a:buSzPct val="85000"/>
        <a:buFont typeface="Webdings" panose="05030102010509060703" pitchFamily="18" charset="2"/>
        <a:buChar char="4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Font typeface="Times New Roman" panose="02020603050405020304" pitchFamily="18" charset="0"/>
        <a:buChar char="–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 sz="2000">
          <a:solidFill>
            <a:schemeClr val="tx1"/>
          </a:solidFill>
          <a:latin typeface="+mn-lt"/>
          <a:ea typeface="ＭＳ Ｐゴシック" panose="020B0600070205080204" pitchFamily="34" charset="-128"/>
          <a:cs typeface="B Nazanin" panose="00000400000000000000" pitchFamily="2" charset="-7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0taghinezhad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29FA7267-592D-48E8-A65B-FA6DE5F32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9863" y="817563"/>
            <a:ext cx="3959225" cy="1692275"/>
          </a:xfrm>
        </p:spPr>
        <p:txBody>
          <a:bodyPr/>
          <a:lstStyle/>
          <a:p>
            <a:pPr>
              <a:defRPr/>
            </a:pPr>
            <a:r>
              <a:rPr lang="fa-IR" sz="3200" dirty="0">
                <a:cs typeface="B Nazanin" panose="00000400000000000000" pitchFamily="2" charset="-78"/>
              </a:rPr>
              <a:t>اصول طراحی پایگاه داده</a:t>
            </a:r>
            <a:br>
              <a:rPr lang="en-US" sz="3200" dirty="0">
                <a:cs typeface="B Nazanin" panose="00000400000000000000" pitchFamily="2" charset="-78"/>
              </a:rPr>
            </a:br>
            <a:endParaRPr lang="en-AU" sz="3200" dirty="0">
              <a:cs typeface="B Nazanin" panose="00000400000000000000" pitchFamily="2" charset="-78"/>
            </a:endParaRP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ED51C1D5-14E8-49FC-BE3B-A1533D38312B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368300" y="2392363"/>
            <a:ext cx="3959225" cy="3200400"/>
          </a:xfrm>
        </p:spPr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</p:txBody>
      </p:sp>
      <p:sp>
        <p:nvSpPr>
          <p:cNvPr id="5124" name="TextBox 5">
            <a:extLst>
              <a:ext uri="{FF2B5EF4-FFF2-40B4-BE49-F238E27FC236}">
                <a16:creationId xmlns:a16="http://schemas.microsoft.com/office/drawing/2014/main" id="{4FEE82E7-C616-41E2-B3BD-EE56DD0A5F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13" y="4826000"/>
            <a:ext cx="457200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chemeClr val="tx2"/>
              </a:buClr>
              <a:buSzPct val="90000"/>
              <a:buFont typeface="Monotype Sorts" charset="0"/>
              <a:buChar char="n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80000"/>
              <a:buFont typeface="Monotype Sorts" charset="0"/>
              <a:buChar char="l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20000"/>
              </a:spcBef>
              <a:buClrTx/>
              <a:buSzTx/>
              <a:buFontTx/>
              <a:buNone/>
            </a:pP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</a:rPr>
              <a:t>Mail:</a:t>
            </a:r>
          </a:p>
          <a:p>
            <a:pPr>
              <a:lnSpc>
                <a:spcPct val="90000"/>
              </a:lnSpc>
              <a:spcBef>
                <a:spcPct val="20000"/>
              </a:spcBef>
              <a:buClrTx/>
              <a:buSzTx/>
              <a:buFontTx/>
              <a:buNone/>
            </a:pP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</a:rPr>
              <a:t> </a:t>
            </a:r>
            <a:r>
              <a:rPr kumimoji="0" lang="en-US" altLang="en-US" sz="2000">
                <a:latin typeface="Consolas" panose="020B0609020204030204" pitchFamily="49" charset="0"/>
                <a:cs typeface="Tahoma" panose="020B0604030504040204" pitchFamily="34" charset="0"/>
                <a:hlinkClick r:id="rId3"/>
              </a:rPr>
              <a:t>a0taghinezhad@gmail.com</a:t>
            </a:r>
            <a:endParaRPr kumimoji="0" lang="en-US" altLang="en-US" sz="2000">
              <a:latin typeface="Consolas" panose="020B0609020204030204" pitchFamily="49" charset="0"/>
              <a:cs typeface="Tahoma" panose="020B0604030504040204" pitchFamily="34" charset="0"/>
            </a:endParaRPr>
          </a:p>
        </p:txBody>
      </p:sp>
      <p:sp>
        <p:nvSpPr>
          <p:cNvPr id="5125" name="TextBox 7">
            <a:extLst>
              <a:ext uri="{FF2B5EF4-FFF2-40B4-BE49-F238E27FC236}">
                <a16:creationId xmlns:a16="http://schemas.microsoft.com/office/drawing/2014/main" id="{2FF850A1-8C25-4658-AC31-8379F57E63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475" y="2873375"/>
            <a:ext cx="45720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chemeClr val="tx2"/>
              </a:buClr>
              <a:buSzPct val="90000"/>
              <a:buFont typeface="Monotype Sorts" charset="0"/>
              <a:buChar char="n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chemeClr val="folHlink"/>
              </a:buClr>
              <a:buSzPct val="80000"/>
              <a:buFont typeface="Monotype Sorts" charset="0"/>
              <a:buChar char="l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33CC33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Font typeface="Times New Roman" panose="02020603050405020304" pitchFamily="18" charset="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tx2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Comic Sans MS" panose="030F0702030302020204" pitchFamily="66" charset="0"/>
              </a:rPr>
              <a:t>By Dr. Taghinezhad</a:t>
            </a:r>
          </a:p>
        </p:txBody>
      </p:sp>
      <p:pic>
        <p:nvPicPr>
          <p:cNvPr id="5126" name="Picture 2">
            <a:extLst>
              <a:ext uri="{FF2B5EF4-FFF2-40B4-BE49-F238E27FC236}">
                <a16:creationId xmlns:a16="http://schemas.microsoft.com/office/drawing/2014/main" id="{0200785A-BE07-49DD-BF0A-C98081D5E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9088" y="229024"/>
            <a:ext cx="4943475" cy="6281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6D0E67A-7F0B-46D5-BCFA-1287AF4962F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extLst>
            <a:ext uri="{909E8E84-426E-40dd-AFC4-6F175D3DCCD1}"/>
            <a:ext uri="{91240B29-F687-4f45-9708-019B960494DF}"/>
            <a:ext uri="{FAA26D3D-D897-4be2-8F04-BA451C77F1D7}"/>
          </a:extLst>
        </p:spPr>
        <p:txBody>
          <a:bodyPr/>
          <a:lstStyle/>
          <a:p>
            <a:pPr>
              <a:defRPr/>
            </a:pPr>
            <a:r>
              <a:rPr lang="fa-IR" dirty="0"/>
              <a:t>فصل ۷: </a:t>
            </a:r>
            <a:r>
              <a:rPr lang="fa-IR" dirty="0" err="1"/>
              <a:t>نرمال‌سازی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9237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809625" y="10477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fa-IR" dirty="0" err="1"/>
              <a:t>سرفصل‌ها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774113" y="1163637"/>
            <a:ext cx="6920103" cy="4823803"/>
          </a:xfrm>
        </p:spPr>
        <p:txBody>
          <a:bodyPr/>
          <a:lstStyle/>
          <a:p>
            <a:pPr algn="r" rtl="1"/>
            <a:r>
              <a:rPr lang="fa-IR" dirty="0" err="1"/>
              <a:t>ویژگی‌های</a:t>
            </a:r>
            <a:r>
              <a:rPr lang="fa-IR" dirty="0"/>
              <a:t> یک طراحی </a:t>
            </a:r>
            <a:r>
              <a:rPr lang="fa-IR" dirty="0" err="1"/>
              <a:t>رابطه‌ای</a:t>
            </a:r>
            <a:r>
              <a:rPr lang="fa-IR" dirty="0"/>
              <a:t> خوب</a:t>
            </a:r>
          </a:p>
          <a:p>
            <a:pPr algn="r" rtl="1"/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fa-IR" dirty="0"/>
          </a:p>
          <a:p>
            <a:pPr algn="r" rtl="1"/>
            <a:r>
              <a:rPr lang="fa-IR" dirty="0"/>
              <a:t>تجزیه جدول با استفاده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fa-IR" dirty="0"/>
          </a:p>
          <a:p>
            <a:pPr algn="r" rtl="1"/>
            <a:r>
              <a:rPr lang="fa-IR" dirty="0"/>
              <a:t>نرمال </a:t>
            </a:r>
            <a:r>
              <a:rPr lang="fa-IR" dirty="0" err="1"/>
              <a:t>فرم‌ها</a:t>
            </a:r>
            <a:endParaRPr lang="fa-IR" dirty="0"/>
          </a:p>
          <a:p>
            <a:pPr algn="r" rtl="1"/>
            <a:r>
              <a:rPr lang="fa-IR" dirty="0"/>
              <a:t>تئوری وابستگی </a:t>
            </a:r>
            <a:r>
              <a:rPr lang="fa-IR" dirty="0" err="1"/>
              <a:t>تابعی</a:t>
            </a:r>
            <a:endParaRPr lang="fa-IR" dirty="0"/>
          </a:p>
          <a:p>
            <a:pPr algn="r" rtl="1"/>
            <a:r>
              <a:rPr lang="fa-IR" dirty="0" err="1"/>
              <a:t>الگوریتم‌های</a:t>
            </a:r>
            <a:r>
              <a:rPr lang="fa-IR" dirty="0"/>
              <a:t> تجزیه جدول با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fa-IR" dirty="0"/>
          </a:p>
          <a:p>
            <a:pPr algn="r" rtl="1"/>
            <a:r>
              <a:rPr lang="fa-IR" dirty="0"/>
              <a:t>تجزیه با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چندمقداری</a:t>
            </a:r>
            <a:endParaRPr lang="fa-IR" dirty="0"/>
          </a:p>
          <a:p>
            <a:pPr algn="r" rtl="1"/>
            <a:r>
              <a:rPr lang="fa-IR" dirty="0" err="1"/>
              <a:t>نرمال‌فرم‌های</a:t>
            </a:r>
            <a:r>
              <a:rPr lang="fa-IR" dirty="0"/>
              <a:t> بیشتر</a:t>
            </a:r>
          </a:p>
          <a:p>
            <a:pPr algn="r" rtl="1"/>
            <a:r>
              <a:rPr lang="fa-IR" dirty="0" err="1"/>
              <a:t>دامنه‌های</a:t>
            </a:r>
            <a:r>
              <a:rPr lang="fa-IR" dirty="0"/>
              <a:t> اتمی و نرمال فرم اول</a:t>
            </a:r>
          </a:p>
          <a:p>
            <a:pPr algn="r" rtl="1"/>
            <a:r>
              <a:rPr lang="fa-IR" dirty="0"/>
              <a:t>فرایند طراحی پایگاه داده</a:t>
            </a:r>
          </a:p>
          <a:p>
            <a:pPr algn="r" rtl="1"/>
            <a:r>
              <a:rPr lang="fa-IR" dirty="0" err="1"/>
              <a:t>مدل‌سازی</a:t>
            </a:r>
            <a:r>
              <a:rPr lang="fa-IR" dirty="0"/>
              <a:t> </a:t>
            </a:r>
            <a:r>
              <a:rPr lang="fa-IR" dirty="0" err="1"/>
              <a:t>داده‌های</a:t>
            </a:r>
            <a:r>
              <a:rPr lang="fa-IR" dirty="0"/>
              <a:t> زمانی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28520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1858963" y="2798064"/>
            <a:ext cx="5589587" cy="866274"/>
          </a:xfrm>
        </p:spPr>
        <p:txBody>
          <a:bodyPr/>
          <a:lstStyle/>
          <a:p>
            <a:pPr algn="ctr">
              <a:buFont typeface="Monotype Sorts" charset="2"/>
              <a:buNone/>
              <a:defRPr/>
            </a:pPr>
            <a:r>
              <a:rPr lang="fa-IR" sz="3200" dirty="0"/>
              <a:t>مروری بر </a:t>
            </a:r>
            <a:r>
              <a:rPr lang="fa-IR" sz="3200" dirty="0" err="1"/>
              <a:t>نرمال‌سازی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12319725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 err="1"/>
              <a:t>ویژگی‌های</a:t>
            </a:r>
            <a:r>
              <a:rPr lang="fa-IR" dirty="0"/>
              <a:t> یک طراحی </a:t>
            </a:r>
            <a:r>
              <a:rPr lang="fa-IR" dirty="0" err="1"/>
              <a:t>رابطه‌ای</a:t>
            </a:r>
            <a:r>
              <a:rPr lang="fa-IR" dirty="0"/>
              <a:t> خوب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752020" y="1111060"/>
            <a:ext cx="7661585" cy="5020788"/>
          </a:xfrm>
        </p:spPr>
        <p:txBody>
          <a:bodyPr/>
          <a:lstStyle/>
          <a:p>
            <a:pPr algn="r" rtl="1"/>
            <a:r>
              <a:rPr lang="fa-IR" sz="1800" dirty="0"/>
              <a:t>فرض کنید جدول </a:t>
            </a:r>
            <a:r>
              <a:rPr lang="en-US" sz="1800" dirty="0"/>
              <a:t>instructor </a:t>
            </a:r>
            <a:r>
              <a:rPr lang="fa-IR" sz="1800" dirty="0"/>
              <a:t>و </a:t>
            </a:r>
            <a:r>
              <a:rPr lang="en-US" sz="1800" dirty="0"/>
              <a:t>department </a:t>
            </a:r>
            <a:r>
              <a:rPr lang="fa-IR" sz="1800" dirty="0"/>
              <a:t>را یکی کنیم و جدولی به نام </a:t>
            </a:r>
            <a:r>
              <a:rPr lang="en-US" sz="1800" dirty="0" err="1"/>
              <a:t>in_dep</a:t>
            </a:r>
            <a:r>
              <a:rPr lang="en-US" sz="1800" dirty="0"/>
              <a:t> </a:t>
            </a:r>
            <a:r>
              <a:rPr lang="fa-IR" sz="1800" dirty="0"/>
              <a:t>بسازیم. </a:t>
            </a:r>
          </a:p>
          <a:p>
            <a:pPr algn="r" rtl="1"/>
            <a:endParaRPr lang="fa-IR" altLang="en-US" sz="1800" i="1" dirty="0"/>
          </a:p>
          <a:p>
            <a:pPr algn="r" rtl="1"/>
            <a:endParaRPr lang="fa-IR" altLang="en-US" sz="1800" i="1" dirty="0"/>
          </a:p>
          <a:p>
            <a:pPr algn="r" rtl="1"/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endParaRPr lang="en-US" altLang="en-US" sz="1700" i="1" dirty="0"/>
          </a:p>
          <a:p>
            <a:pPr algn="r" rtl="1"/>
            <a:r>
              <a:rPr lang="fa-IR" dirty="0"/>
              <a:t>این کار باعث تکرار اطلاعات </a:t>
            </a:r>
            <a:r>
              <a:rPr lang="fa-IR" dirty="0" err="1"/>
              <a:t>می‌شود</a:t>
            </a:r>
            <a:r>
              <a:rPr lang="fa-IR" dirty="0"/>
              <a:t> و در </a:t>
            </a:r>
            <a:r>
              <a:rPr lang="fa-IR" dirty="0" err="1"/>
              <a:t>مواردی</a:t>
            </a:r>
            <a:r>
              <a:rPr lang="fa-IR" dirty="0"/>
              <a:t> مجبور </a:t>
            </a:r>
            <a:r>
              <a:rPr lang="fa-IR" dirty="0" err="1"/>
              <a:t>می‌شویم</a:t>
            </a:r>
            <a:r>
              <a:rPr lang="fa-IR" dirty="0"/>
              <a:t> </a:t>
            </a:r>
            <a:r>
              <a:rPr lang="en-US" dirty="0"/>
              <a:t>NULL </a:t>
            </a:r>
            <a:r>
              <a:rPr lang="fa-IR" dirty="0"/>
              <a:t>وارد کنیم (مثلاً وقتی </a:t>
            </a:r>
            <a:r>
              <a:rPr lang="fa-IR" dirty="0" err="1"/>
              <a:t>دپارتمانی</a:t>
            </a:r>
            <a:r>
              <a:rPr lang="fa-IR" dirty="0"/>
              <a:t> استاد ندارد).</a:t>
            </a:r>
            <a:endParaRPr lang="en-US" altLang="en-US" i="1" dirty="0"/>
          </a:p>
          <a:p>
            <a:pPr algn="r" rtl="1"/>
            <a:endParaRPr lang="en-US" altLang="en-US" sz="2000" dirty="0"/>
          </a:p>
          <a:p>
            <a:endParaRPr lang="fa-IR" altLang="en-US" sz="2000" i="1" dirty="0"/>
          </a:p>
          <a:p>
            <a:endParaRPr lang="en-US" altLang="en-US" sz="2000" i="1" dirty="0"/>
          </a:p>
        </p:txBody>
      </p:sp>
      <p:pic>
        <p:nvPicPr>
          <p:cNvPr id="8196" name="Picture 5" descr="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5009" y="1938289"/>
            <a:ext cx="4553982" cy="27326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887104" y="5882184"/>
            <a:ext cx="766158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857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buClr>
                <a:srgbClr val="002060"/>
              </a:buClr>
              <a:buSzPct val="100000"/>
            </a:pP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224244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878078" y="11747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fa-IR" dirty="0"/>
              <a:t>یک </a:t>
            </a:r>
            <a:r>
              <a:rPr lang="fa-IR" dirty="0" err="1"/>
              <a:t>شِمای</a:t>
            </a:r>
            <a:r>
              <a:rPr lang="fa-IR" dirty="0"/>
              <a:t> ترکیبی بدون تکرار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705471"/>
            <a:ext cx="8802878" cy="4390529"/>
          </a:xfrm>
        </p:spPr>
        <p:txBody>
          <a:bodyPr/>
          <a:lstStyle/>
          <a:p>
            <a:pPr algn="r" rtl="1"/>
            <a:r>
              <a:rPr lang="fa-IR" sz="3200" dirty="0"/>
              <a:t>در نظر بگیرید جدول </a:t>
            </a:r>
            <a:r>
              <a:rPr lang="en-US" sz="3200" dirty="0" err="1"/>
              <a:t>sec_class</a:t>
            </a:r>
            <a:r>
              <a:rPr lang="en-US" sz="3200" dirty="0"/>
              <a:t> </a:t>
            </a:r>
            <a:r>
              <a:rPr lang="fa-IR" sz="3200" dirty="0"/>
              <a:t>و </a:t>
            </a:r>
            <a:r>
              <a:rPr lang="en-US" sz="3200" dirty="0"/>
              <a:t>section </a:t>
            </a:r>
            <a:r>
              <a:rPr lang="fa-IR" sz="3200" dirty="0"/>
              <a:t>را ترکیب کنیم</a:t>
            </a:r>
            <a:endParaRPr lang="en-US" altLang="en-US" sz="3200" dirty="0"/>
          </a:p>
          <a:p>
            <a:pPr lvl="1"/>
            <a:r>
              <a:rPr lang="en-US" altLang="en-US" sz="2800" i="1" dirty="0" err="1"/>
              <a:t>sec_class</a:t>
            </a:r>
            <a:r>
              <a:rPr lang="en-US" altLang="en-US" sz="2800" i="1" dirty="0"/>
              <a:t>(</a:t>
            </a:r>
            <a:r>
              <a:rPr lang="en-US" altLang="en-US" sz="2800" i="1" dirty="0" err="1"/>
              <a:t>sec_id</a:t>
            </a:r>
            <a:r>
              <a:rPr lang="en-US" altLang="en-US" sz="2800" i="1" dirty="0"/>
              <a:t>, building, </a:t>
            </a:r>
            <a:r>
              <a:rPr lang="en-US" altLang="en-US" sz="2800" i="1" dirty="0" err="1"/>
              <a:t>room_number</a:t>
            </a:r>
            <a:r>
              <a:rPr lang="en-US" altLang="en-US" sz="2800" i="1" dirty="0"/>
              <a:t>)</a:t>
            </a:r>
            <a:r>
              <a:rPr lang="en-US" altLang="en-US" sz="2800" dirty="0"/>
              <a:t> and </a:t>
            </a:r>
          </a:p>
          <a:p>
            <a:pPr lvl="1"/>
            <a:r>
              <a:rPr lang="en-US" altLang="en-US" sz="2800" i="1" dirty="0"/>
              <a:t>section(</a:t>
            </a:r>
            <a:r>
              <a:rPr lang="en-US" altLang="en-US" sz="2800" i="1" dirty="0" err="1"/>
              <a:t>course_id</a:t>
            </a:r>
            <a:r>
              <a:rPr lang="en-US" altLang="en-US" sz="2800" i="1" dirty="0"/>
              <a:t>, </a:t>
            </a:r>
            <a:r>
              <a:rPr lang="en-US" altLang="en-US" sz="2800" i="1" dirty="0" err="1"/>
              <a:t>sec_id</a:t>
            </a:r>
            <a:r>
              <a:rPr lang="en-US" altLang="en-US" sz="2800" i="1" dirty="0"/>
              <a:t>, semester, year) </a:t>
            </a:r>
          </a:p>
          <a:p>
            <a:pPr lvl="1">
              <a:buFont typeface="Monotype Sorts" pitchFamily="-84" charset="2"/>
              <a:buNone/>
            </a:pPr>
            <a:r>
              <a:rPr lang="en-US" altLang="en-US" sz="2800" dirty="0"/>
              <a:t>into one relation</a:t>
            </a:r>
          </a:p>
          <a:p>
            <a:pPr lvl="1"/>
            <a:r>
              <a:rPr lang="en-US" altLang="en-US" sz="2800" i="1" dirty="0"/>
              <a:t>section(</a:t>
            </a:r>
            <a:r>
              <a:rPr lang="en-US" altLang="en-US" sz="2800" i="1" dirty="0" err="1"/>
              <a:t>course_id</a:t>
            </a:r>
            <a:r>
              <a:rPr lang="en-US" altLang="en-US" sz="2800" i="1" dirty="0"/>
              <a:t>, </a:t>
            </a:r>
            <a:r>
              <a:rPr lang="en-US" altLang="en-US" sz="2800" i="1" dirty="0" err="1"/>
              <a:t>sec_id</a:t>
            </a:r>
            <a:r>
              <a:rPr lang="en-US" altLang="en-US" sz="2800" i="1" dirty="0"/>
              <a:t>, semester, year, </a:t>
            </a:r>
            <a:br>
              <a:rPr lang="en-US" altLang="en-US" sz="2800" i="1" dirty="0"/>
            </a:br>
            <a:r>
              <a:rPr lang="en-US" altLang="en-US" sz="2800" i="1" dirty="0"/>
              <a:t>               building, </a:t>
            </a:r>
            <a:r>
              <a:rPr lang="en-US" altLang="en-US" sz="2800" i="1" dirty="0" err="1"/>
              <a:t>room_number</a:t>
            </a:r>
            <a:r>
              <a:rPr lang="en-US" altLang="en-US" sz="2800" i="1" dirty="0"/>
              <a:t>)</a:t>
            </a:r>
          </a:p>
          <a:p>
            <a:pPr algn="r" rtl="1"/>
            <a:r>
              <a:rPr lang="fa-IR" sz="3200" dirty="0"/>
              <a:t>در این حالت تکراری رخ </a:t>
            </a:r>
            <a:r>
              <a:rPr lang="fa-IR" sz="3200" dirty="0" err="1"/>
              <a:t>نمی‌دهد</a:t>
            </a:r>
            <a:endParaRPr lang="en-US" altLang="en-US" sz="3200" dirty="0"/>
          </a:p>
        </p:txBody>
      </p:sp>
      <p:sp>
        <p:nvSpPr>
          <p:cNvPr id="2" name="TextBox 1"/>
          <p:cNvSpPr txBox="1"/>
          <p:nvPr/>
        </p:nvSpPr>
        <p:spPr>
          <a:xfrm>
            <a:off x="152400" y="1128045"/>
            <a:ext cx="883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 err="1"/>
              <a:t>همهٔ</a:t>
            </a:r>
            <a:r>
              <a:rPr lang="fa-IR" sz="2400" dirty="0"/>
              <a:t> </a:t>
            </a:r>
            <a:r>
              <a:rPr lang="fa-IR" sz="2400" dirty="0" err="1"/>
              <a:t>ترکیب‌ها</a:t>
            </a:r>
            <a:r>
              <a:rPr lang="fa-IR" sz="2400" dirty="0"/>
              <a:t> </a:t>
            </a:r>
            <a:r>
              <a:rPr lang="fa-IR" sz="2400" dirty="0" err="1"/>
              <a:t>الزاماً</a:t>
            </a:r>
            <a:r>
              <a:rPr lang="fa-IR" sz="2400" dirty="0"/>
              <a:t> باعث تکرار اطلاعات </a:t>
            </a:r>
            <a:r>
              <a:rPr lang="fa-IR" sz="2400" dirty="0" err="1"/>
              <a:t>نمی‌شوند</a:t>
            </a:r>
            <a:r>
              <a:rPr lang="fa-IR" sz="2400" dirty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8888607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1">
              <a:defRPr/>
            </a:pPr>
            <a:r>
              <a:rPr lang="fa-IR" dirty="0"/>
              <a:t>تجزیه (</a:t>
            </a:r>
            <a:r>
              <a:rPr lang="en-US" dirty="0"/>
              <a:t>Decomposition</a:t>
            </a:r>
            <a:r>
              <a:rPr lang="fa-IR" dirty="0"/>
              <a:t>)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139700" y="1093788"/>
            <a:ext cx="8705850" cy="5484812"/>
          </a:xfrm>
        </p:spPr>
        <p:txBody>
          <a:bodyPr/>
          <a:lstStyle/>
          <a:p>
            <a:pPr algn="r" rtl="1"/>
            <a:r>
              <a:rPr lang="en-US" altLang="en-US" dirty="0"/>
              <a:t>The only way to avoid the repetition-of-information problem in the (</a:t>
            </a:r>
            <a:r>
              <a:rPr lang="en-US" altLang="en-US" i="1" dirty="0"/>
              <a:t>instructor</a:t>
            </a:r>
            <a:r>
              <a:rPr lang="en-US" altLang="en-US" dirty="0"/>
              <a:t> and </a:t>
            </a:r>
            <a:r>
              <a:rPr lang="en-US" altLang="en-US" i="1" dirty="0"/>
              <a:t>department) </a:t>
            </a:r>
            <a:r>
              <a:rPr lang="en-US" altLang="en-US" i="1" dirty="0" err="1"/>
              <a:t>in_dep</a:t>
            </a:r>
            <a:r>
              <a:rPr lang="en-US" altLang="en-US" dirty="0"/>
              <a:t> schema is to decompose it into two schemas – instructor and </a:t>
            </a:r>
            <a:r>
              <a:rPr lang="en-US" altLang="en-US" i="1" dirty="0"/>
              <a:t>department </a:t>
            </a:r>
            <a:r>
              <a:rPr lang="en-US" altLang="en-US" dirty="0"/>
              <a:t>schemas.</a:t>
            </a:r>
          </a:p>
          <a:p>
            <a:pPr algn="r" rtl="1"/>
            <a:r>
              <a:rPr lang="fa-IR" dirty="0" err="1"/>
              <a:t>همهٔ</a:t>
            </a:r>
            <a:r>
              <a:rPr lang="fa-IR" dirty="0"/>
              <a:t> </a:t>
            </a:r>
            <a:r>
              <a:rPr lang="fa-IR" dirty="0" err="1"/>
              <a:t>تجزیه‌ها</a:t>
            </a:r>
            <a:r>
              <a:rPr lang="fa-IR" dirty="0"/>
              <a:t> خوب نیستند. فرض کنیم که ما جدول را </a:t>
            </a:r>
            <a:r>
              <a:rPr lang="fa-IR" dirty="0" err="1"/>
              <a:t>این‌گونه</a:t>
            </a:r>
            <a:r>
              <a:rPr lang="fa-IR" dirty="0"/>
              <a:t> تجزیه کنیم:</a:t>
            </a:r>
          </a:p>
          <a:p>
            <a:pPr marL="0" indent="0" rtl="1">
              <a:buNone/>
            </a:pPr>
            <a:br>
              <a:rPr lang="en-US" altLang="en-US" dirty="0"/>
            </a:br>
            <a:r>
              <a:rPr lang="en-US" altLang="en-US" dirty="0"/>
              <a:t>       </a:t>
            </a:r>
            <a:r>
              <a:rPr lang="en-US" altLang="en-US" i="1" dirty="0"/>
              <a:t>employee(ID, name, street, city, salary)</a:t>
            </a:r>
            <a:r>
              <a:rPr lang="en-US" altLang="en-US" dirty="0"/>
              <a:t>  </a:t>
            </a:r>
          </a:p>
          <a:p>
            <a:pPr>
              <a:buFont typeface="Monotype Sorts" pitchFamily="-84" charset="2"/>
              <a:buNone/>
            </a:pPr>
            <a:r>
              <a:rPr lang="en-US" altLang="en-US" dirty="0"/>
              <a:t>       into</a:t>
            </a:r>
          </a:p>
          <a:p>
            <a:pPr>
              <a:buFont typeface="Monotype Sorts" pitchFamily="-84" charset="2"/>
              <a:buNone/>
            </a:pPr>
            <a:r>
              <a:rPr lang="en-US" altLang="en-US" dirty="0"/>
              <a:t>	       </a:t>
            </a:r>
            <a:r>
              <a:rPr lang="en-US" altLang="en-US" i="1" dirty="0"/>
              <a:t>employee1</a:t>
            </a:r>
            <a:r>
              <a:rPr lang="en-US" altLang="en-US" dirty="0"/>
              <a:t> (</a:t>
            </a:r>
            <a:r>
              <a:rPr lang="en-US" altLang="en-US" i="1" dirty="0"/>
              <a:t>ID</a:t>
            </a:r>
            <a:r>
              <a:rPr lang="en-US" altLang="en-US" dirty="0"/>
              <a:t>, </a:t>
            </a:r>
            <a:r>
              <a:rPr lang="en-US" altLang="en-US" i="1" dirty="0"/>
              <a:t>name</a:t>
            </a:r>
            <a:r>
              <a:rPr lang="en-US" altLang="en-US" dirty="0"/>
              <a:t>)</a:t>
            </a:r>
          </a:p>
          <a:p>
            <a:pPr>
              <a:buFont typeface="Monotype Sorts" pitchFamily="-84" charset="2"/>
              <a:buNone/>
            </a:pPr>
            <a:r>
              <a:rPr lang="en-US" altLang="en-US" dirty="0"/>
              <a:t>	       </a:t>
            </a:r>
            <a:r>
              <a:rPr lang="en-US" altLang="en-US" i="1" dirty="0"/>
              <a:t>employee2</a:t>
            </a:r>
            <a:r>
              <a:rPr lang="en-US" altLang="en-US" dirty="0"/>
              <a:t> (</a:t>
            </a:r>
            <a:r>
              <a:rPr lang="en-US" altLang="en-US" i="1" dirty="0"/>
              <a:t>name</a:t>
            </a:r>
            <a:r>
              <a:rPr lang="en-US" altLang="en-US" dirty="0"/>
              <a:t>, </a:t>
            </a:r>
            <a:r>
              <a:rPr lang="en-US" altLang="en-US" i="1" dirty="0"/>
              <a:t>street, city, salary</a:t>
            </a:r>
            <a:r>
              <a:rPr lang="en-US" altLang="en-US" dirty="0"/>
              <a:t>)</a:t>
            </a:r>
          </a:p>
          <a:p>
            <a:pPr>
              <a:buFont typeface="Monotype Sorts" pitchFamily="-84" charset="2"/>
              <a:buNone/>
            </a:pPr>
            <a:endParaRPr lang="en-US" altLang="en-US" dirty="0"/>
          </a:p>
          <a:p>
            <a:pPr algn="r" rtl="1">
              <a:buFont typeface="Monotype Sorts" pitchFamily="-84" charset="2"/>
              <a:buNone/>
            </a:pPr>
            <a:r>
              <a:rPr lang="fa-IR" dirty="0"/>
              <a:t>مشکل زمانی </a:t>
            </a:r>
            <a:r>
              <a:rPr lang="fa-IR" dirty="0" err="1"/>
              <a:t>به‌وجود</a:t>
            </a:r>
            <a:r>
              <a:rPr lang="fa-IR" dirty="0"/>
              <a:t> </a:t>
            </a:r>
            <a:r>
              <a:rPr lang="fa-IR" dirty="0" err="1"/>
              <a:t>می‌آید</a:t>
            </a:r>
            <a:r>
              <a:rPr lang="fa-IR" dirty="0"/>
              <a:t> که دو کارمند نام یکسان داشته باشند.</a:t>
            </a:r>
          </a:p>
          <a:p>
            <a:pPr algn="r" rtl="1">
              <a:buFont typeface="Monotype Sorts" pitchFamily="-84" charset="2"/>
              <a:buNone/>
            </a:pPr>
            <a:r>
              <a:rPr lang="fa-IR" dirty="0"/>
              <a:t>اسلاید بعدی نشان </a:t>
            </a:r>
            <a:r>
              <a:rPr lang="fa-IR" dirty="0" err="1"/>
              <a:t>می‌دهد</a:t>
            </a:r>
            <a:r>
              <a:rPr lang="fa-IR" dirty="0"/>
              <a:t> که در این حالت اطلاعات از دست </a:t>
            </a:r>
            <a:r>
              <a:rPr lang="fa-IR" dirty="0" err="1"/>
              <a:t>می‌رود</a:t>
            </a:r>
            <a:r>
              <a:rPr lang="fa-IR" dirty="0"/>
              <a:t> ــ یعنی دیگر </a:t>
            </a:r>
            <a:r>
              <a:rPr lang="fa-IR" dirty="0" err="1"/>
              <a:t>نمی‌توانیم</a:t>
            </a:r>
            <a:r>
              <a:rPr lang="fa-IR" dirty="0"/>
              <a:t> جدول اصلی </a:t>
            </a:r>
            <a:r>
              <a:rPr lang="en-US" dirty="0"/>
              <a:t>employee </a:t>
            </a:r>
            <a:r>
              <a:rPr lang="fa-IR" dirty="0"/>
              <a:t>را دوباره بازسازی کنیم ــ و به همین دلیل این کار یک «تجزیه دارای اتلاف» (</a:t>
            </a:r>
            <a:r>
              <a:rPr lang="en-US" dirty="0"/>
              <a:t>lossy decomposition) </a:t>
            </a:r>
            <a:r>
              <a:rPr lang="fa-IR" dirty="0"/>
              <a:t>است.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173203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یک تجزیه دارای اتلاف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pic>
        <p:nvPicPr>
          <p:cNvPr id="11267" name="Picture 5" descr="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684" y="903344"/>
            <a:ext cx="6173216" cy="56537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95644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/>
              <a:t>تجزیه بدون اتلاف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93789"/>
            <a:ext cx="7522210" cy="4160964"/>
          </a:xfrm>
        </p:spPr>
        <p:txBody>
          <a:bodyPr/>
          <a:lstStyle/>
          <a:p>
            <a:pPr algn="r" rtl="1"/>
            <a:r>
              <a:rPr lang="fa-IR" sz="1800" dirty="0"/>
              <a:t>فرض کنید </a:t>
            </a:r>
            <a:r>
              <a:rPr lang="en-US" sz="1800" b="1" dirty="0"/>
              <a:t>R</a:t>
            </a:r>
            <a:r>
              <a:rPr lang="en-US" sz="1800" dirty="0"/>
              <a:t> </a:t>
            </a:r>
            <a:r>
              <a:rPr lang="fa-IR" sz="1800" dirty="0"/>
              <a:t>یک </a:t>
            </a:r>
            <a:r>
              <a:rPr lang="fa-IR" sz="1800" dirty="0" err="1"/>
              <a:t>شِمای</a:t>
            </a:r>
            <a:r>
              <a:rPr lang="fa-IR" sz="1800" dirty="0"/>
              <a:t> رابطه باشد و </a:t>
            </a:r>
            <a:r>
              <a:rPr lang="en-US" sz="1800" b="1" dirty="0"/>
              <a:t>R1</a:t>
            </a:r>
            <a:r>
              <a:rPr lang="en-US" sz="1800" dirty="0"/>
              <a:t> </a:t>
            </a:r>
            <a:r>
              <a:rPr lang="fa-IR" sz="1800" dirty="0"/>
              <a:t>و </a:t>
            </a:r>
            <a:r>
              <a:rPr lang="en-US" sz="1800" b="1" dirty="0"/>
              <a:t>R2</a:t>
            </a:r>
            <a:r>
              <a:rPr lang="en-US" sz="1800" dirty="0"/>
              <a:t> </a:t>
            </a:r>
            <a:r>
              <a:rPr lang="fa-IR" sz="1800" dirty="0"/>
              <a:t>یک تجزیه (تقسیم) از </a:t>
            </a:r>
            <a:r>
              <a:rPr lang="en-US" sz="1800" b="1" dirty="0"/>
              <a:t>R</a:t>
            </a:r>
            <a:r>
              <a:rPr lang="en-US" sz="1800" dirty="0"/>
              <a:t> </a:t>
            </a:r>
            <a:r>
              <a:rPr lang="fa-IR" sz="1800" dirty="0"/>
              <a:t>را تشکیل دهند؛ یعنی:</a:t>
            </a:r>
            <a:r>
              <a:rPr lang="en-US" altLang="en-US" sz="1700" dirty="0"/>
              <a:t>. R = </a:t>
            </a:r>
            <a:r>
              <a:rPr lang="en-US" altLang="en-US" sz="1700" i="1" dirty="0"/>
              <a:t>R</a:t>
            </a:r>
            <a:r>
              <a:rPr lang="en-US" altLang="en-US" sz="1700" i="1" baseline="-25000" dirty="0"/>
              <a:t>1 </a:t>
            </a:r>
            <a:r>
              <a:rPr lang="en-US" altLang="en-US" sz="1700" dirty="0"/>
              <a:t> U </a:t>
            </a:r>
            <a:r>
              <a:rPr lang="en-US" altLang="en-US" sz="1700" i="1" dirty="0"/>
              <a:t>R</a:t>
            </a:r>
            <a:r>
              <a:rPr lang="en-US" altLang="en-US" sz="1700" i="1" baseline="-25000" dirty="0"/>
              <a:t>2</a:t>
            </a:r>
            <a:endParaRPr lang="en-US" altLang="en-US" sz="1700" dirty="0"/>
          </a:p>
          <a:p>
            <a:pPr algn="r" rtl="1"/>
            <a:r>
              <a:rPr lang="fa-IR" sz="1800" dirty="0" err="1"/>
              <a:t>می‌گوییم</a:t>
            </a:r>
            <a:r>
              <a:rPr lang="fa-IR" sz="1800" dirty="0"/>
              <a:t> این تجزیه </a:t>
            </a:r>
            <a:r>
              <a:rPr lang="fa-IR" sz="1800" b="1" dirty="0"/>
              <a:t>بدون اتلاف اطلاعات (</a:t>
            </a:r>
            <a:r>
              <a:rPr lang="en-US" sz="1800" b="1" dirty="0"/>
              <a:t>lossless)</a:t>
            </a:r>
            <a:r>
              <a:rPr lang="en-US" sz="1800" dirty="0"/>
              <a:t> </a:t>
            </a:r>
            <a:r>
              <a:rPr lang="fa-IR" sz="1800" dirty="0"/>
              <a:t>است اگر با جایگزین کردن </a:t>
            </a:r>
            <a:r>
              <a:rPr lang="en-US" sz="1800" dirty="0"/>
              <a:t>R </a:t>
            </a:r>
            <a:r>
              <a:rPr lang="fa-IR" sz="1800" dirty="0"/>
              <a:t>با دو </a:t>
            </a:r>
            <a:r>
              <a:rPr lang="fa-IR" sz="1800" dirty="0" err="1"/>
              <a:t>رابطهٔ</a:t>
            </a:r>
            <a:r>
              <a:rPr lang="fa-IR" sz="1800" dirty="0"/>
              <a:t> </a:t>
            </a:r>
            <a:r>
              <a:rPr lang="en-US" sz="1800" dirty="0"/>
              <a:t>R1 </a:t>
            </a:r>
            <a:r>
              <a:rPr lang="fa-IR" sz="1800" dirty="0"/>
              <a:t>و </a:t>
            </a:r>
            <a:r>
              <a:rPr lang="en-US" sz="1800" dirty="0"/>
              <a:t>R2 </a:t>
            </a:r>
            <a:r>
              <a:rPr lang="fa-IR" sz="1800" b="1" dirty="0"/>
              <a:t>هیچ اطلاعاتی از دست نرود</a:t>
            </a:r>
            <a:r>
              <a:rPr lang="fa-IR" sz="1800" dirty="0"/>
              <a:t>.</a:t>
            </a:r>
          </a:p>
          <a:p>
            <a:pPr algn="r" rtl="1"/>
            <a:r>
              <a:rPr lang="fa-IR" sz="1800" dirty="0" err="1"/>
              <a:t>به‌صورت</a:t>
            </a:r>
            <a:r>
              <a:rPr lang="fa-IR" sz="1800" dirty="0"/>
              <a:t> رسمی:</a:t>
            </a:r>
          </a:p>
          <a:p>
            <a:pPr algn="r" rtl="1"/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             </a:t>
            </a:r>
            <a:r>
              <a:rPr lang="en-US" altLang="en-US" sz="17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7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(r)      </a:t>
            </a:r>
            <a:r>
              <a:rPr lang="en-US" altLang="en-US" sz="17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7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(r) = </a:t>
            </a:r>
            <a:r>
              <a:rPr lang="en-US" altLang="en-US" sz="1700" i="1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</a:p>
          <a:p>
            <a:pPr algn="r" rtl="1"/>
            <a:r>
              <a:rPr lang="fa-IR" sz="1800" dirty="0"/>
              <a:t>و برعکس، یک تجزیه </a:t>
            </a:r>
            <a:r>
              <a:rPr lang="fa-IR" sz="1800" b="1" dirty="0"/>
              <a:t>دارای اتلاف (</a:t>
            </a:r>
            <a:r>
              <a:rPr lang="en-US" sz="1800" b="1" dirty="0"/>
              <a:t>lossy)</a:t>
            </a:r>
            <a:r>
              <a:rPr lang="en-US" sz="1800" dirty="0"/>
              <a:t> </a:t>
            </a:r>
            <a:r>
              <a:rPr lang="fa-IR" sz="1800" dirty="0"/>
              <a:t>است اگر:</a:t>
            </a:r>
          </a:p>
          <a:p>
            <a:pPr algn="r" rtl="1"/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    r     </a:t>
            </a:r>
            <a:r>
              <a:rPr lang="en-US" altLang="en-US" sz="17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7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(r)      </a:t>
            </a:r>
            <a:r>
              <a:rPr lang="en-US" altLang="en-US" sz="1700" baseline="-25000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700" baseline="-50000" dirty="0">
                <a:latin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(r) = </a:t>
            </a:r>
            <a:r>
              <a:rPr lang="en-US" altLang="en-US" sz="1700" i="1" dirty="0">
                <a:latin typeface="Times New Roman" panose="02020603050405020304" pitchFamily="18" charset="0"/>
                <a:sym typeface="Symbol" panose="05050102010706020507" pitchFamily="18" charset="2"/>
              </a:rPr>
              <a:t>r</a:t>
            </a:r>
            <a:r>
              <a:rPr lang="en-US" altLang="en-US" sz="1700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endParaRPr lang="en-US" altLang="en-US" sz="1700" dirty="0"/>
          </a:p>
        </p:txBody>
      </p:sp>
      <p:sp>
        <p:nvSpPr>
          <p:cNvPr id="12292" name="Freeform 19"/>
          <p:cNvSpPr>
            <a:spLocks/>
          </p:cNvSpPr>
          <p:nvPr/>
        </p:nvSpPr>
        <p:spPr bwMode="auto">
          <a:xfrm>
            <a:off x="6673695" y="2863696"/>
            <a:ext cx="142875" cy="142875"/>
          </a:xfrm>
          <a:custGeom>
            <a:avLst/>
            <a:gdLst>
              <a:gd name="T0" fmla="*/ 0 w 182"/>
              <a:gd name="T1" fmla="*/ 0 h 182"/>
              <a:gd name="T2" fmla="*/ 0 w 182"/>
              <a:gd name="T3" fmla="*/ 2147483647 h 182"/>
              <a:gd name="T4" fmla="*/ 2147483647 w 182"/>
              <a:gd name="T5" fmla="*/ 0 h 182"/>
              <a:gd name="T6" fmla="*/ 2147483647 w 182"/>
              <a:gd name="T7" fmla="*/ 2147483647 h 182"/>
              <a:gd name="T8" fmla="*/ 0 w 182"/>
              <a:gd name="T9" fmla="*/ 0 h 1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82"/>
              <a:gd name="T16" fmla="*/ 0 h 182"/>
              <a:gd name="T17" fmla="*/ 182 w 182"/>
              <a:gd name="T18" fmla="*/ 182 h 1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82" h="182">
                <a:moveTo>
                  <a:pt x="0" y="0"/>
                </a:moveTo>
                <a:lnTo>
                  <a:pt x="0" y="182"/>
                </a:lnTo>
                <a:lnTo>
                  <a:pt x="182" y="0"/>
                </a:lnTo>
                <a:lnTo>
                  <a:pt x="182" y="182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3" name="Freeform 19"/>
          <p:cNvSpPr>
            <a:spLocks/>
          </p:cNvSpPr>
          <p:nvPr/>
        </p:nvSpPr>
        <p:spPr bwMode="auto">
          <a:xfrm>
            <a:off x="6602257" y="3561591"/>
            <a:ext cx="142875" cy="142875"/>
          </a:xfrm>
          <a:custGeom>
            <a:avLst/>
            <a:gdLst>
              <a:gd name="T0" fmla="*/ 0 w 182"/>
              <a:gd name="T1" fmla="*/ 0 h 182"/>
              <a:gd name="T2" fmla="*/ 0 w 182"/>
              <a:gd name="T3" fmla="*/ 2147483647 h 182"/>
              <a:gd name="T4" fmla="*/ 2147483647 w 182"/>
              <a:gd name="T5" fmla="*/ 0 h 182"/>
              <a:gd name="T6" fmla="*/ 2147483647 w 182"/>
              <a:gd name="T7" fmla="*/ 2147483647 h 182"/>
              <a:gd name="T8" fmla="*/ 0 w 182"/>
              <a:gd name="T9" fmla="*/ 0 h 1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82"/>
              <a:gd name="T16" fmla="*/ 0 h 182"/>
              <a:gd name="T17" fmla="*/ 182 w 182"/>
              <a:gd name="T18" fmla="*/ 182 h 1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82" h="182">
                <a:moveTo>
                  <a:pt x="0" y="0"/>
                </a:moveTo>
                <a:lnTo>
                  <a:pt x="0" y="182"/>
                </a:lnTo>
                <a:lnTo>
                  <a:pt x="182" y="0"/>
                </a:lnTo>
                <a:lnTo>
                  <a:pt x="182" y="182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780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252413"/>
            <a:ext cx="8534400" cy="457200"/>
          </a:xfrm>
        </p:spPr>
        <p:txBody>
          <a:bodyPr/>
          <a:lstStyle/>
          <a:p>
            <a:pPr>
              <a:defRPr/>
            </a:pPr>
            <a:r>
              <a:rPr lang="fa-IR" dirty="0"/>
              <a:t>مثال یک تجزیه بدون اتلاف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>
          <a:xfrm>
            <a:off x="772359" y="1095375"/>
            <a:ext cx="7541522" cy="830961"/>
          </a:xfrm>
        </p:spPr>
        <p:txBody>
          <a:bodyPr/>
          <a:lstStyle/>
          <a:p>
            <a:pPr algn="r" rtl="1">
              <a:tabLst>
                <a:tab pos="2336800" algn="l"/>
                <a:tab pos="3765550" algn="l"/>
              </a:tabLst>
            </a:pPr>
            <a:r>
              <a:rPr lang="fa-IR" sz="1800" dirty="0"/>
              <a:t>(مثال </a:t>
            </a:r>
            <a:r>
              <a:rPr lang="en-US" sz="1800" dirty="0"/>
              <a:t>R=(A,B,C) </a:t>
            </a:r>
            <a:r>
              <a:rPr lang="fa-IR" sz="1800" dirty="0"/>
              <a:t>و تجزیه به (</a:t>
            </a:r>
            <a:r>
              <a:rPr lang="en-US" sz="1800" dirty="0"/>
              <a:t>A,B) </a:t>
            </a:r>
            <a:r>
              <a:rPr lang="fa-IR" sz="1800" dirty="0"/>
              <a:t>و (</a:t>
            </a:r>
            <a:r>
              <a:rPr lang="en-US" sz="1800" dirty="0"/>
              <a:t>B,C).)</a:t>
            </a:r>
            <a:endParaRPr lang="en-US" altLang="en-US" sz="1700" dirty="0"/>
          </a:p>
        </p:txBody>
      </p:sp>
      <p:pic>
        <p:nvPicPr>
          <p:cNvPr id="13316" name="Picture 30" descr="C:\Users\as668\Desktop\Judi\7_02 figur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3750" y="2312098"/>
            <a:ext cx="5963049" cy="3961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9040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771525" y="185738"/>
            <a:ext cx="8372475" cy="598487"/>
          </a:xfrm>
        </p:spPr>
        <p:txBody>
          <a:bodyPr/>
          <a:lstStyle/>
          <a:p>
            <a:pPr>
              <a:defRPr/>
            </a:pPr>
            <a:r>
              <a:rPr lang="fa-IR" dirty="0"/>
              <a:t>تئوری </a:t>
            </a:r>
            <a:r>
              <a:rPr lang="fa-IR" dirty="0" err="1"/>
              <a:t>نرمال‌سازی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246743" y="1132114"/>
            <a:ext cx="8650514" cy="5355772"/>
          </a:xfrm>
        </p:spPr>
        <p:txBody>
          <a:bodyPr/>
          <a:lstStyle/>
          <a:p>
            <a:pPr algn="r" rtl="1"/>
            <a:r>
              <a:rPr lang="fa-IR" sz="2400" dirty="0"/>
              <a:t>تشخیص </a:t>
            </a:r>
            <a:r>
              <a:rPr lang="fa-IR" sz="2400" dirty="0" err="1"/>
              <a:t>این‌که</a:t>
            </a:r>
            <a:r>
              <a:rPr lang="fa-IR" sz="2400" dirty="0"/>
              <a:t> یک رابطه </a:t>
            </a:r>
            <a:r>
              <a:rPr lang="en-US" sz="2400" dirty="0"/>
              <a:t>Relation)</a:t>
            </a:r>
            <a:r>
              <a:rPr lang="fa-IR" sz="2400" dirty="0"/>
              <a:t>)</a:t>
            </a:r>
            <a:r>
              <a:rPr lang="en-US" sz="2400" dirty="0"/>
              <a:t> </a:t>
            </a:r>
            <a:r>
              <a:rPr lang="fa-IR" sz="2400" dirty="0"/>
              <a:t>به نام </a:t>
            </a:r>
            <a:r>
              <a:rPr lang="en-US" sz="2400" dirty="0"/>
              <a:t>R </a:t>
            </a:r>
            <a:r>
              <a:rPr lang="fa-IR" sz="2400" dirty="0"/>
              <a:t>در «فرم خوب» قرار دارد یا نه.</a:t>
            </a:r>
          </a:p>
          <a:p>
            <a:pPr algn="r" rtl="1"/>
            <a:r>
              <a:rPr lang="fa-IR" sz="2400" dirty="0"/>
              <a:t>اگر </a:t>
            </a:r>
            <a:r>
              <a:rPr lang="fa-IR" sz="2400" dirty="0" err="1"/>
              <a:t>رابطهٔ</a:t>
            </a:r>
            <a:r>
              <a:rPr lang="fa-IR" sz="2400" dirty="0"/>
              <a:t> </a:t>
            </a:r>
            <a:r>
              <a:rPr lang="en-US" sz="2400" dirty="0"/>
              <a:t>R </a:t>
            </a:r>
            <a:r>
              <a:rPr lang="fa-IR" sz="2400" dirty="0"/>
              <a:t>در فرم خوب نباشد، آن را به </a:t>
            </a:r>
            <a:r>
              <a:rPr lang="fa-IR" sz="2400" dirty="0" err="1"/>
              <a:t>مجموعه‌ای</a:t>
            </a:r>
            <a:r>
              <a:rPr lang="fa-IR" sz="2400" dirty="0"/>
              <a:t> از </a:t>
            </a:r>
            <a:r>
              <a:rPr lang="fa-IR" sz="2400" dirty="0" err="1"/>
              <a:t>رابطه‌ها</a:t>
            </a:r>
            <a:r>
              <a:rPr lang="fa-IR" sz="2400" dirty="0"/>
              <a:t> (</a:t>
            </a:r>
            <a:r>
              <a:rPr lang="en-US" sz="2400" dirty="0"/>
              <a:t>R1, R2, ..., Rn) </a:t>
            </a:r>
            <a:r>
              <a:rPr lang="fa-IR" sz="2400" dirty="0"/>
              <a:t>تجزیه </a:t>
            </a:r>
            <a:r>
              <a:rPr lang="fa-IR" sz="2400" dirty="0" err="1"/>
              <a:t>می‌کنیم</a:t>
            </a:r>
            <a:r>
              <a:rPr lang="fa-IR" sz="2400" dirty="0"/>
              <a:t>، </a:t>
            </a:r>
            <a:r>
              <a:rPr lang="fa-IR" sz="2400" dirty="0" err="1"/>
              <a:t>به‌گونه‌ای</a:t>
            </a:r>
            <a:r>
              <a:rPr lang="fa-IR" sz="2400" dirty="0"/>
              <a:t> که:</a:t>
            </a:r>
          </a:p>
          <a:p>
            <a:pPr lvl="1" algn="r" rtl="1"/>
            <a:r>
              <a:rPr lang="fa-IR" sz="2400" dirty="0"/>
              <a:t>هر یک از </a:t>
            </a:r>
            <a:r>
              <a:rPr lang="fa-IR" sz="2400" dirty="0" err="1"/>
              <a:t>رابطه‌های</a:t>
            </a:r>
            <a:r>
              <a:rPr lang="fa-IR" sz="2400" dirty="0"/>
              <a:t> حاصل در فرم خوب باشند</a:t>
            </a:r>
          </a:p>
          <a:p>
            <a:pPr lvl="1" algn="r" rtl="1"/>
            <a:r>
              <a:rPr lang="fa-IR" sz="2400" dirty="0"/>
              <a:t>این تجزیه </a:t>
            </a:r>
            <a:r>
              <a:rPr lang="fa-IR" sz="2400" dirty="0" err="1"/>
              <a:t>بدونِ</a:t>
            </a:r>
            <a:r>
              <a:rPr lang="fa-IR" sz="2400" dirty="0"/>
              <a:t> اتلاف اطلاعات (</a:t>
            </a:r>
            <a:r>
              <a:rPr lang="en-US" sz="2400" dirty="0"/>
              <a:t>Lossless) </a:t>
            </a:r>
            <a:r>
              <a:rPr lang="fa-IR" sz="2400" dirty="0"/>
              <a:t>باشد</a:t>
            </a:r>
          </a:p>
          <a:p>
            <a:pPr algn="r" rtl="1"/>
            <a:r>
              <a:rPr lang="fa-IR" sz="2400" dirty="0"/>
              <a:t>تئوری ما بر </a:t>
            </a:r>
            <a:r>
              <a:rPr lang="fa-IR" sz="2400" dirty="0" err="1"/>
              <a:t>پایهٔ</a:t>
            </a:r>
            <a:r>
              <a:rPr lang="fa-IR" sz="2400" dirty="0"/>
              <a:t> موارد زیر است:</a:t>
            </a:r>
          </a:p>
          <a:p>
            <a:pPr lvl="1" algn="r" rtl="1"/>
            <a:r>
              <a:rPr lang="fa-IR" sz="2400" dirty="0" err="1"/>
              <a:t>وابستگی‌های</a:t>
            </a:r>
            <a:r>
              <a:rPr lang="fa-IR" sz="2400" dirty="0"/>
              <a:t> </a:t>
            </a:r>
            <a:r>
              <a:rPr lang="fa-IR" sz="2400" dirty="0" err="1"/>
              <a:t>تابعی</a:t>
            </a:r>
            <a:endParaRPr lang="fa-IR" sz="2400" dirty="0"/>
          </a:p>
          <a:p>
            <a:pPr lvl="1" algn="r" rtl="1"/>
            <a:r>
              <a:rPr lang="fa-IR" sz="2400" dirty="0" err="1"/>
              <a:t>وابستگی‌های</a:t>
            </a:r>
            <a:r>
              <a:rPr lang="fa-IR" sz="2400" dirty="0"/>
              <a:t> </a:t>
            </a:r>
            <a:r>
              <a:rPr lang="fa-IR" sz="2400" dirty="0" err="1"/>
              <a:t>چندمقداری</a:t>
            </a: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25494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9842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362857" y="1106423"/>
            <a:ext cx="8650514" cy="5410491"/>
          </a:xfrm>
        </p:spPr>
        <p:txBody>
          <a:bodyPr/>
          <a:lstStyle/>
          <a:p>
            <a:pPr algn="r" rtl="1"/>
            <a:r>
              <a:rPr lang="fa-IR" sz="2400" dirty="0"/>
              <a:t>در دنیای واقعی معمولاً </a:t>
            </a:r>
            <a:r>
              <a:rPr lang="fa-IR" sz="2400" dirty="0" err="1"/>
              <a:t>مجموعه‌ای</a:t>
            </a:r>
            <a:r>
              <a:rPr lang="fa-IR" sz="2400" dirty="0"/>
              <a:t> از </a:t>
            </a:r>
            <a:r>
              <a:rPr lang="fa-IR" sz="2400" dirty="0" err="1"/>
              <a:t>محدودیت‌ها</a:t>
            </a:r>
            <a:r>
              <a:rPr lang="fa-IR" sz="2400" dirty="0"/>
              <a:t> (قوانین) روی </a:t>
            </a:r>
            <a:r>
              <a:rPr lang="fa-IR" sz="2400" dirty="0" err="1"/>
              <a:t>داده‌ها</a:t>
            </a:r>
            <a:r>
              <a:rPr lang="fa-IR" sz="2400" dirty="0"/>
              <a:t> وجود دارد.</a:t>
            </a:r>
            <a:br>
              <a:rPr lang="fa-IR" sz="2400" dirty="0"/>
            </a:br>
            <a:r>
              <a:rPr lang="fa-IR" sz="2400" dirty="0"/>
              <a:t>برای مثال، برخی از </a:t>
            </a:r>
            <a:r>
              <a:rPr lang="fa-IR" sz="2400" dirty="0" err="1"/>
              <a:t>محدودیت‌هایی</a:t>
            </a:r>
            <a:r>
              <a:rPr lang="fa-IR" sz="2400" dirty="0"/>
              <a:t> که انتظار </a:t>
            </a:r>
            <a:r>
              <a:rPr lang="fa-IR" sz="2400" dirty="0" err="1"/>
              <a:t>می‌رود</a:t>
            </a:r>
            <a:r>
              <a:rPr lang="fa-IR" sz="2400" dirty="0"/>
              <a:t> در یک پایگاه </a:t>
            </a:r>
            <a:r>
              <a:rPr lang="fa-IR" sz="2400" dirty="0" err="1"/>
              <a:t>دادهٔ</a:t>
            </a:r>
            <a:r>
              <a:rPr lang="fa-IR" sz="2400" dirty="0"/>
              <a:t> دانشگاه برقرار باشند، </a:t>
            </a:r>
            <a:r>
              <a:rPr lang="fa-IR" sz="2400" dirty="0" err="1"/>
              <a:t>عبارت‌اند</a:t>
            </a:r>
            <a:r>
              <a:rPr lang="fa-IR" sz="2400" dirty="0"/>
              <a:t> از:</a:t>
            </a:r>
          </a:p>
          <a:p>
            <a:pPr algn="r" rtl="1"/>
            <a:r>
              <a:rPr lang="fa-IR" sz="2400" b="1" dirty="0"/>
              <a:t>دانشجوها و اساتید با </a:t>
            </a:r>
            <a:r>
              <a:rPr lang="fa-IR" sz="2400" b="1" dirty="0" err="1"/>
              <a:t>شناسهٔ</a:t>
            </a:r>
            <a:r>
              <a:rPr lang="fa-IR" sz="2400" b="1" dirty="0"/>
              <a:t> (</a:t>
            </a:r>
            <a:r>
              <a:rPr lang="en-US" sz="2400" b="1" dirty="0"/>
              <a:t>ID) </a:t>
            </a:r>
            <a:r>
              <a:rPr lang="fa-IR" sz="2400" b="1" dirty="0"/>
              <a:t>خود </a:t>
            </a:r>
            <a:r>
              <a:rPr lang="fa-IR" sz="2400" b="1" dirty="0" err="1"/>
              <a:t>به‌طور</a:t>
            </a:r>
            <a:r>
              <a:rPr lang="fa-IR" sz="2400" b="1" dirty="0"/>
              <a:t> </a:t>
            </a:r>
            <a:r>
              <a:rPr lang="fa-IR" sz="2400" b="1" dirty="0" err="1"/>
              <a:t>یکتایی</a:t>
            </a:r>
            <a:r>
              <a:rPr lang="fa-IR" sz="2400" b="1" dirty="0"/>
              <a:t> شناسایی </a:t>
            </a:r>
            <a:r>
              <a:rPr lang="fa-IR" sz="2400" b="1" dirty="0" err="1"/>
              <a:t>می‌شوند</a:t>
            </a:r>
            <a:r>
              <a:rPr lang="fa-IR" sz="2400" b="1" dirty="0"/>
              <a:t>.</a:t>
            </a:r>
            <a:br>
              <a:rPr lang="fa-IR" sz="2400" dirty="0"/>
            </a:br>
            <a:r>
              <a:rPr lang="fa-IR" sz="2400" dirty="0"/>
              <a:t>یعنی هیچ دو دانشجو یا استاد </a:t>
            </a:r>
            <a:r>
              <a:rPr lang="fa-IR" sz="2400" dirty="0" err="1"/>
              <a:t>نمی‌توانند</a:t>
            </a:r>
            <a:r>
              <a:rPr lang="fa-IR" sz="2400" dirty="0"/>
              <a:t> </a:t>
            </a:r>
            <a:r>
              <a:rPr lang="en-US" sz="2400" dirty="0"/>
              <a:t>ID </a:t>
            </a:r>
            <a:r>
              <a:rPr lang="fa-IR" sz="2400" dirty="0"/>
              <a:t>یکسان داشته باشند.</a:t>
            </a:r>
          </a:p>
          <a:p>
            <a:pPr algn="r" rtl="1"/>
            <a:r>
              <a:rPr lang="fa-IR" sz="2400" b="1" dirty="0"/>
              <a:t>هر دانشجو و هر استاد فقط یک نام دارد.</a:t>
            </a:r>
            <a:endParaRPr lang="fa-IR" sz="2400" dirty="0"/>
          </a:p>
          <a:p>
            <a:pPr algn="r" rtl="1"/>
            <a:r>
              <a:rPr lang="fa-IR" sz="2400" b="1" dirty="0"/>
              <a:t>هر استاد و هر دانشجو (</a:t>
            </a:r>
            <a:r>
              <a:rPr lang="fa-IR" sz="2400" b="1" dirty="0" err="1"/>
              <a:t>به‌طور</a:t>
            </a:r>
            <a:r>
              <a:rPr lang="fa-IR" sz="2400" b="1" dirty="0"/>
              <a:t> اصلی) فقط به یک دپارتمان وابسته است.</a:t>
            </a:r>
            <a:endParaRPr lang="fa-IR" sz="2400" dirty="0"/>
          </a:p>
          <a:p>
            <a:pPr algn="r" rtl="1"/>
            <a:r>
              <a:rPr lang="fa-IR" sz="2400" b="1" dirty="0"/>
              <a:t>هر دپارتمان فقط یک مقدار برای </a:t>
            </a:r>
            <a:r>
              <a:rPr lang="fa-IR" sz="2400" b="1" dirty="0" err="1"/>
              <a:t>بودجهٔ</a:t>
            </a:r>
            <a:r>
              <a:rPr lang="fa-IR" sz="2400" b="1" dirty="0"/>
              <a:t> خود دارد و تنها یک ساختمان به آن اختصاص داده شده است.</a:t>
            </a:r>
            <a:endParaRPr lang="fa-IR" sz="2400" dirty="0"/>
          </a:p>
        </p:txBody>
      </p:sp>
    </p:spTree>
    <p:extLst>
      <p:ext uri="{BB962C8B-B14F-4D97-AF65-F5344CB8AC3E}">
        <p14:creationId xmlns:p14="http://schemas.microsoft.com/office/powerpoint/2010/main" val="687862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9842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– ادامه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508000" y="1142557"/>
            <a:ext cx="7880096" cy="4706700"/>
          </a:xfrm>
        </p:spPr>
        <p:txBody>
          <a:bodyPr/>
          <a:lstStyle/>
          <a:p>
            <a:pPr algn="r" rtl="1"/>
            <a:r>
              <a:rPr lang="fa-IR" sz="2400" dirty="0"/>
              <a:t>یک نمونه (</a:t>
            </a:r>
            <a:r>
              <a:rPr lang="en-US" sz="2400" dirty="0"/>
              <a:t>instance) </a:t>
            </a:r>
            <a:r>
              <a:rPr lang="fa-IR" sz="2400" dirty="0"/>
              <a:t>از یک رابطه که تمام این </a:t>
            </a:r>
            <a:r>
              <a:rPr lang="fa-IR" sz="2400" dirty="0" err="1"/>
              <a:t>محدودیت‌های</a:t>
            </a:r>
            <a:r>
              <a:rPr lang="fa-IR" sz="2400" dirty="0"/>
              <a:t> دنیای واقعی را رعایت کند، «نمونه معتبر» آن رابطه نامیده </a:t>
            </a:r>
            <a:r>
              <a:rPr lang="fa-IR" sz="2400" dirty="0" err="1"/>
              <a:t>می‌شود</a:t>
            </a:r>
            <a:r>
              <a:rPr lang="fa-IR" sz="2400" dirty="0"/>
              <a:t>.</a:t>
            </a:r>
            <a:br>
              <a:rPr lang="fa-IR" sz="2400" dirty="0"/>
            </a:br>
            <a:r>
              <a:rPr lang="fa-IR" sz="2400" dirty="0"/>
              <a:t>یک پایگاه داده زمانی معتبر است که همه </a:t>
            </a:r>
            <a:r>
              <a:rPr lang="fa-IR" sz="2400" dirty="0" err="1"/>
              <a:t>رابطه‌های</a:t>
            </a:r>
            <a:r>
              <a:rPr lang="fa-IR" sz="2400" dirty="0"/>
              <a:t> داخل آن </a:t>
            </a:r>
            <a:r>
              <a:rPr lang="fa-IR" sz="2400" dirty="0" err="1"/>
              <a:t>نمونه‌های</a:t>
            </a:r>
            <a:r>
              <a:rPr lang="fa-IR" sz="2400" dirty="0"/>
              <a:t> معتبر باشند.</a:t>
            </a:r>
          </a:p>
          <a:p>
            <a:pPr algn="r" rtl="1"/>
            <a:r>
              <a:rPr lang="fa-IR" sz="2400" dirty="0"/>
              <a:t>این </a:t>
            </a:r>
            <a:r>
              <a:rPr lang="fa-IR" sz="2400" dirty="0" err="1"/>
              <a:t>محدودیت‌ها</a:t>
            </a:r>
            <a:r>
              <a:rPr lang="fa-IR" sz="2400" dirty="0"/>
              <a:t> روی مجموعه </a:t>
            </a:r>
            <a:r>
              <a:rPr lang="fa-IR" sz="2400" dirty="0" err="1"/>
              <a:t>رابطه‌های</a:t>
            </a:r>
            <a:r>
              <a:rPr lang="fa-IR" sz="2400" dirty="0"/>
              <a:t> معتبر اعمال </a:t>
            </a:r>
            <a:r>
              <a:rPr lang="fa-IR" sz="2400" dirty="0" err="1"/>
              <a:t>می‌شوند</a:t>
            </a:r>
            <a:r>
              <a:rPr lang="fa-IR" sz="2400" dirty="0"/>
              <a:t> و تعیین </a:t>
            </a:r>
            <a:r>
              <a:rPr lang="fa-IR" sz="2400" dirty="0" err="1"/>
              <a:t>می‌کنند</a:t>
            </a:r>
            <a:r>
              <a:rPr lang="fa-IR" sz="2400" dirty="0"/>
              <a:t> که:</a:t>
            </a:r>
            <a:br>
              <a:rPr lang="fa-IR" sz="2400" dirty="0"/>
            </a:br>
            <a:r>
              <a:rPr lang="fa-IR" sz="2400" dirty="0"/>
              <a:t>مقدار یک سری از </a:t>
            </a:r>
            <a:r>
              <a:rPr lang="fa-IR" sz="2400" dirty="0" err="1"/>
              <a:t>ویژگی‌ها</a:t>
            </a:r>
            <a:r>
              <a:rPr lang="fa-IR" sz="2400" dirty="0"/>
              <a:t> (</a:t>
            </a:r>
            <a:r>
              <a:rPr lang="en-US" sz="2400" dirty="0"/>
              <a:t>attributes) </a:t>
            </a:r>
            <a:r>
              <a:rPr lang="fa-IR" sz="2400" dirty="0"/>
              <a:t>باید مقدار مجموعه دیگری از </a:t>
            </a:r>
            <a:r>
              <a:rPr lang="fa-IR" sz="2400" dirty="0" err="1"/>
              <a:t>ویژگی‌ها</a:t>
            </a:r>
            <a:r>
              <a:rPr lang="fa-IR" sz="2400" dirty="0"/>
              <a:t> را </a:t>
            </a:r>
            <a:r>
              <a:rPr lang="fa-IR" sz="2400" dirty="0" err="1"/>
              <a:t>به‌طور</a:t>
            </a:r>
            <a:r>
              <a:rPr lang="fa-IR" sz="2400" dirty="0"/>
              <a:t> یکتا مشخص کند.</a:t>
            </a:r>
          </a:p>
          <a:p>
            <a:pPr algn="r" rtl="1"/>
            <a:r>
              <a:rPr lang="fa-IR" sz="2400" dirty="0" err="1"/>
              <a:t>درواقع</a:t>
            </a:r>
            <a:r>
              <a:rPr lang="fa-IR" sz="2400" dirty="0"/>
              <a:t>، وابستگی </a:t>
            </a:r>
            <a:r>
              <a:rPr lang="fa-IR" sz="2400" dirty="0" err="1"/>
              <a:t>تابعی</a:t>
            </a:r>
            <a:r>
              <a:rPr lang="fa-IR" sz="2400" dirty="0"/>
              <a:t> یک شکل </a:t>
            </a:r>
            <a:r>
              <a:rPr lang="fa-IR" sz="2400" dirty="0" err="1"/>
              <a:t>تعمیم‌یافته</a:t>
            </a:r>
            <a:r>
              <a:rPr lang="fa-IR" sz="2400" dirty="0"/>
              <a:t> از مفهوم کلید (</a:t>
            </a:r>
            <a:r>
              <a:rPr lang="en-US" sz="2400" dirty="0"/>
              <a:t>Key) </a:t>
            </a:r>
            <a:r>
              <a:rPr lang="fa-IR" sz="2400" dirty="0"/>
              <a:t>است.</a:t>
            </a:r>
          </a:p>
        </p:txBody>
      </p:sp>
    </p:spTree>
    <p:extLst>
      <p:ext uri="{BB962C8B-B14F-4D97-AF65-F5344CB8AC3E}">
        <p14:creationId xmlns:p14="http://schemas.microsoft.com/office/powerpoint/2010/main" val="2432182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مفهوم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188685" y="1001485"/>
            <a:ext cx="8795657" cy="5544457"/>
          </a:xfrm>
        </p:spPr>
        <p:txBody>
          <a:bodyPr/>
          <a:lstStyle/>
          <a:p>
            <a:pPr algn="r" rtl="1">
              <a:lnSpc>
                <a:spcPct val="90000"/>
              </a:lnSpc>
              <a:tabLst>
                <a:tab pos="2917825" algn="ctr"/>
              </a:tabLst>
            </a:pPr>
            <a:r>
              <a:rPr lang="fa-IR" dirty="0"/>
              <a:t>فرض کنید </a:t>
            </a:r>
            <a:r>
              <a:rPr lang="en-US" dirty="0"/>
              <a:t>R </a:t>
            </a:r>
            <a:r>
              <a:rPr lang="fa-IR" dirty="0"/>
              <a:t>یک </a:t>
            </a:r>
            <a:r>
              <a:rPr lang="fa-IR" dirty="0" err="1"/>
              <a:t>اسکیما</a:t>
            </a:r>
            <a:r>
              <a:rPr lang="fa-IR" dirty="0"/>
              <a:t> (طرح) </a:t>
            </a:r>
            <a:r>
              <a:rPr lang="fa-IR" dirty="0" err="1"/>
              <a:t>رابطه‌ای</a:t>
            </a:r>
            <a:r>
              <a:rPr lang="fa-IR" dirty="0"/>
              <a:t> باشد.</a:t>
            </a:r>
            <a:br>
              <a:rPr lang="fa-IR" dirty="0"/>
            </a:br>
            <a:r>
              <a:rPr lang="fa-IR" dirty="0"/>
              <a:t>  </a:t>
            </a:r>
            <a:r>
              <a:rPr lang="el-GR" dirty="0"/>
              <a:t>α ⊆ </a:t>
            </a:r>
            <a:r>
              <a:rPr lang="en-US" dirty="0"/>
              <a:t>R </a:t>
            </a:r>
            <a:r>
              <a:rPr lang="fa-IR" dirty="0"/>
              <a:t>و </a:t>
            </a:r>
            <a:r>
              <a:rPr lang="el-GR" dirty="0"/>
              <a:t>β ⊆ </a:t>
            </a:r>
            <a:r>
              <a:rPr lang="en-US" dirty="0"/>
              <a:t>R</a:t>
            </a:r>
            <a:br>
              <a:rPr lang="en-US" dirty="0"/>
            </a:br>
            <a:endParaRPr lang="fa-IR" dirty="0"/>
          </a:p>
          <a:p>
            <a:pPr algn="r" rtl="1">
              <a:lnSpc>
                <a:spcPct val="90000"/>
              </a:lnSpc>
              <a:tabLst>
                <a:tab pos="2917825" algn="ctr"/>
              </a:tabLst>
            </a:pPr>
            <a:r>
              <a:rPr lang="fa-IR" dirty="0"/>
              <a:t>وابستگی </a:t>
            </a:r>
            <a:r>
              <a:rPr lang="fa-IR" dirty="0" err="1"/>
              <a:t>تابعی</a:t>
            </a:r>
            <a:br>
              <a:rPr lang="fa-IR" dirty="0"/>
            </a:br>
            <a:r>
              <a:rPr lang="fa-IR" dirty="0"/>
              <a:t>  </a:t>
            </a:r>
            <a:r>
              <a:rPr lang="el-GR" dirty="0"/>
              <a:t>α → β</a:t>
            </a:r>
            <a:br>
              <a:rPr lang="el-GR" dirty="0"/>
            </a:br>
            <a:endParaRPr lang="fa-IR" dirty="0"/>
          </a:p>
          <a:p>
            <a:pPr algn="r" rtl="1">
              <a:lnSpc>
                <a:spcPct val="90000"/>
              </a:lnSpc>
              <a:tabLst>
                <a:tab pos="2917825" algn="ctr"/>
              </a:tabLst>
            </a:pPr>
            <a:r>
              <a:rPr lang="fa-IR" dirty="0"/>
              <a:t>روی </a:t>
            </a:r>
            <a:r>
              <a:rPr lang="en-US" dirty="0"/>
              <a:t>R </a:t>
            </a:r>
            <a:r>
              <a:rPr lang="fa-IR" dirty="0"/>
              <a:t>برقرار است </a:t>
            </a:r>
            <a:r>
              <a:rPr lang="fa-IR" b="1" dirty="0"/>
              <a:t>اگر و تنها اگر</a:t>
            </a:r>
            <a:r>
              <a:rPr lang="fa-IR" dirty="0"/>
              <a:t> برای هر نمونه قانونی </a:t>
            </a:r>
            <a:r>
              <a:rPr lang="en-US" dirty="0"/>
              <a:t>r(R)، </a:t>
            </a:r>
            <a:r>
              <a:rPr lang="fa-IR" dirty="0" err="1"/>
              <a:t>هرگاه</a:t>
            </a:r>
            <a:r>
              <a:rPr lang="fa-IR" dirty="0"/>
              <a:t> دو </a:t>
            </a:r>
            <a:r>
              <a:rPr lang="fa-IR" dirty="0" err="1"/>
              <a:t>تاپل</a:t>
            </a:r>
            <a:r>
              <a:rPr lang="fa-IR" dirty="0"/>
              <a:t> </a:t>
            </a:r>
            <a:r>
              <a:rPr lang="en-US" dirty="0"/>
              <a:t>t1 </a:t>
            </a:r>
            <a:r>
              <a:rPr lang="fa-IR" dirty="0"/>
              <a:t>و </a:t>
            </a:r>
            <a:r>
              <a:rPr lang="en-US" dirty="0"/>
              <a:t>t2 </a:t>
            </a:r>
            <a:r>
              <a:rPr lang="fa-IR" dirty="0"/>
              <a:t>از </a:t>
            </a:r>
            <a:r>
              <a:rPr lang="en-US" dirty="0"/>
              <a:t>r </a:t>
            </a:r>
            <a:r>
              <a:rPr lang="fa-IR" dirty="0"/>
              <a:t>روی </a:t>
            </a:r>
            <a:r>
              <a:rPr lang="fa-IR" dirty="0" err="1"/>
              <a:t>صفت‌های</a:t>
            </a:r>
            <a:r>
              <a:rPr lang="fa-IR" dirty="0"/>
              <a:t> مجموعه </a:t>
            </a:r>
            <a:r>
              <a:rPr lang="el-GR" dirty="0"/>
              <a:t>α </a:t>
            </a:r>
            <a:r>
              <a:rPr lang="fa-IR" dirty="0"/>
              <a:t>با هم برابر باشند، آن دو </a:t>
            </a:r>
            <a:r>
              <a:rPr lang="fa-IR" dirty="0" err="1"/>
              <a:t>تاپل</a:t>
            </a:r>
            <a:r>
              <a:rPr lang="fa-IR" dirty="0"/>
              <a:t> روی </a:t>
            </a:r>
            <a:r>
              <a:rPr lang="fa-IR" dirty="0" err="1"/>
              <a:t>صفت‌های</a:t>
            </a:r>
            <a:r>
              <a:rPr lang="fa-IR" dirty="0"/>
              <a:t> مجموعه </a:t>
            </a:r>
            <a:r>
              <a:rPr lang="el-GR" dirty="0"/>
              <a:t>β </a:t>
            </a:r>
            <a:r>
              <a:rPr lang="fa-IR" dirty="0"/>
              <a:t>هم با هم برابر باشند. به عبارتی:</a:t>
            </a:r>
          </a:p>
          <a:p>
            <a:pPr algn="r" rtl="1">
              <a:lnSpc>
                <a:spcPct val="90000"/>
              </a:lnSpc>
              <a:tabLst>
                <a:tab pos="2917825" algn="ctr"/>
              </a:tabLst>
            </a:pPr>
            <a:br>
              <a:rPr lang="fa-IR" dirty="0"/>
            </a:br>
            <a:r>
              <a:rPr lang="fa-IR" dirty="0"/>
              <a:t>  اگر </a:t>
            </a:r>
            <a:r>
              <a:rPr lang="en-US" dirty="0"/>
              <a:t>t1[</a:t>
            </a:r>
            <a:r>
              <a:rPr lang="el-GR" dirty="0"/>
              <a:t>α] = </a:t>
            </a:r>
            <a:r>
              <a:rPr lang="en-US" dirty="0"/>
              <a:t>t2[</a:t>
            </a:r>
            <a:r>
              <a:rPr lang="el-GR" dirty="0"/>
              <a:t>α] </a:t>
            </a:r>
            <a:r>
              <a:rPr lang="fa-IR" dirty="0"/>
              <a:t>آنگاه </a:t>
            </a:r>
            <a:r>
              <a:rPr lang="en-US" dirty="0"/>
              <a:t>t1[</a:t>
            </a:r>
            <a:r>
              <a:rPr lang="el-GR" dirty="0"/>
              <a:t>β] = </a:t>
            </a:r>
            <a:r>
              <a:rPr lang="en-US" dirty="0"/>
              <a:t>t2[</a:t>
            </a:r>
            <a:r>
              <a:rPr lang="el-GR" dirty="0"/>
              <a:t>β].</a:t>
            </a:r>
            <a:br>
              <a:rPr lang="el-GR" dirty="0"/>
            </a:br>
            <a:endParaRPr lang="fa-IR" dirty="0"/>
          </a:p>
          <a:p>
            <a:pPr algn="r" rtl="1">
              <a:lnSpc>
                <a:spcPct val="90000"/>
              </a:lnSpc>
              <a:tabLst>
                <a:tab pos="2917825" algn="ctr"/>
              </a:tabLst>
            </a:pPr>
            <a:r>
              <a:rPr lang="fa-IR" dirty="0"/>
              <a:t>مثال: </a:t>
            </a:r>
            <a:r>
              <a:rPr lang="fa-IR" dirty="0" err="1"/>
              <a:t>رابطه‌ای</a:t>
            </a:r>
            <a:r>
              <a:rPr lang="fa-IR" dirty="0"/>
              <a:t> به نام </a:t>
            </a:r>
            <a:r>
              <a:rPr lang="en-US" dirty="0"/>
              <a:t>r(A,B) </a:t>
            </a:r>
            <a:r>
              <a:rPr lang="fa-IR" dirty="0"/>
              <a:t>را در نظر بگیرید با یک نمونه مشخص.</a:t>
            </a:r>
            <a:br>
              <a:rPr lang="fa-IR" dirty="0"/>
            </a:br>
            <a:r>
              <a:rPr lang="fa-IR" dirty="0"/>
              <a:t>روی این نمونه، وابستگی </a:t>
            </a:r>
            <a:r>
              <a:rPr lang="en-US" dirty="0"/>
              <a:t>B → A </a:t>
            </a:r>
            <a:r>
              <a:rPr lang="fa-IR" dirty="0"/>
              <a:t>برقرار است؛ اما </a:t>
            </a:r>
            <a:r>
              <a:rPr lang="en-US" dirty="0"/>
              <a:t>A → B </a:t>
            </a:r>
            <a:r>
              <a:rPr lang="fa-IR" dirty="0"/>
              <a:t>برقرار نیست.</a:t>
            </a:r>
            <a:endParaRPr lang="en-US" altLang="en-US" sz="2800" i="1" dirty="0">
              <a:sym typeface="Symbol" panose="05050102010706020507" pitchFamily="18" charset="2"/>
            </a:endParaRP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1137622" y="3954853"/>
            <a:ext cx="998537" cy="922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457200" indent="-4572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buFontTx/>
              <a:buAutoNum type="arabicPlain"/>
            </a:pPr>
            <a:r>
              <a:rPr lang="en-US" altLang="en-US" sz="1800" dirty="0"/>
              <a:t>4</a:t>
            </a:r>
          </a:p>
          <a:p>
            <a:r>
              <a:rPr lang="en-US" altLang="en-US" sz="1800" dirty="0"/>
              <a:t>1     5</a:t>
            </a:r>
          </a:p>
          <a:p>
            <a:r>
              <a:rPr lang="en-US" altLang="en-US" sz="1800" dirty="0"/>
              <a:t>3     7</a:t>
            </a:r>
          </a:p>
        </p:txBody>
      </p:sp>
    </p:spTree>
    <p:extLst>
      <p:ext uri="{BB962C8B-B14F-4D97-AF65-F5344CB8AC3E}">
        <p14:creationId xmlns:p14="http://schemas.microsoft.com/office/powerpoint/2010/main" val="141575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955866" y="266700"/>
            <a:ext cx="7924800" cy="457200"/>
          </a:xfrm>
        </p:spPr>
        <p:txBody>
          <a:bodyPr/>
          <a:lstStyle/>
          <a:p>
            <a:pPr>
              <a:defRPr/>
            </a:pPr>
            <a:r>
              <a:rPr lang="fa-IR" dirty="0"/>
              <a:t>بسته </a:t>
            </a:r>
            <a:r>
              <a:rPr lang="fa-IR" dirty="0" err="1"/>
              <a:t>مجموعه‌ای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402454" y="1217613"/>
            <a:ext cx="7924800" cy="5081587"/>
          </a:xfrm>
        </p:spPr>
        <p:txBody>
          <a:bodyPr/>
          <a:lstStyle/>
          <a:p>
            <a:pPr algn="r" rtl="1"/>
            <a:r>
              <a:rPr lang="fa-IR" sz="2800" dirty="0"/>
              <a:t>با داشتن یک مجموعه </a:t>
            </a:r>
            <a:r>
              <a:rPr lang="en-US" sz="2800" dirty="0"/>
              <a:t>F </a:t>
            </a:r>
            <a:r>
              <a:rPr lang="fa-IR" sz="2800" dirty="0"/>
              <a:t>از </a:t>
            </a:r>
            <a:r>
              <a:rPr lang="fa-IR" sz="2800" dirty="0" err="1"/>
              <a:t>وابستگی‌های</a:t>
            </a:r>
            <a:r>
              <a:rPr lang="fa-IR" sz="2800" dirty="0"/>
              <a:t> </a:t>
            </a:r>
            <a:r>
              <a:rPr lang="fa-IR" sz="2800" dirty="0" err="1"/>
              <a:t>تابعی</a:t>
            </a:r>
            <a:r>
              <a:rPr lang="fa-IR" sz="2800" dirty="0"/>
              <a:t>، برخی </a:t>
            </a:r>
            <a:r>
              <a:rPr lang="fa-IR" sz="2800" dirty="0" err="1"/>
              <a:t>وابستگی‌های</a:t>
            </a:r>
            <a:r>
              <a:rPr lang="fa-IR" sz="2800" dirty="0"/>
              <a:t> </a:t>
            </a:r>
            <a:r>
              <a:rPr lang="fa-IR" sz="2800" dirty="0" err="1"/>
              <a:t>تابعی</a:t>
            </a:r>
            <a:r>
              <a:rPr lang="fa-IR" sz="2800" dirty="0"/>
              <a:t> دیگر وجود دارند که </a:t>
            </a:r>
            <a:r>
              <a:rPr lang="fa-IR" sz="2800" dirty="0" err="1"/>
              <a:t>به‌صورت</a:t>
            </a:r>
            <a:r>
              <a:rPr lang="fa-IR" sz="2800" dirty="0"/>
              <a:t> منطقی از </a:t>
            </a:r>
            <a:r>
              <a:rPr lang="en-US" sz="2800" dirty="0"/>
              <a:t>F </a:t>
            </a:r>
            <a:r>
              <a:rPr lang="fa-IR" sz="2800" dirty="0"/>
              <a:t>نتیجه </a:t>
            </a:r>
            <a:r>
              <a:rPr lang="fa-IR" sz="2800" dirty="0" err="1"/>
              <a:t>می‌شوند</a:t>
            </a:r>
            <a:r>
              <a:rPr lang="fa-IR" sz="2800" dirty="0"/>
              <a:t>.</a:t>
            </a:r>
          </a:p>
          <a:p>
            <a:pPr algn="r" rtl="1"/>
            <a:r>
              <a:rPr lang="en-US" altLang="en-US" sz="2800" dirty="0"/>
              <a:t> If  </a:t>
            </a:r>
            <a:r>
              <a:rPr lang="en-US" altLang="en-US" sz="2800" i="1" dirty="0"/>
              <a:t>A</a:t>
            </a:r>
            <a:r>
              <a:rPr lang="en-US" altLang="en-US" sz="2800" dirty="0"/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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i="1" dirty="0">
                <a:sym typeface="Monotype Sorts" pitchFamily="-84" charset="2"/>
              </a:rPr>
              <a:t>B</a:t>
            </a:r>
            <a:r>
              <a:rPr lang="en-US" altLang="en-US" sz="2800" dirty="0">
                <a:sym typeface="Monotype Sorts" pitchFamily="-84" charset="2"/>
              </a:rPr>
              <a:t> and  </a:t>
            </a:r>
            <a:r>
              <a:rPr lang="en-US" altLang="en-US" sz="2800" i="1" dirty="0">
                <a:sym typeface="Monotype Sorts" pitchFamily="-84" charset="2"/>
              </a:rPr>
              <a:t>B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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i="1" dirty="0">
                <a:sym typeface="Monotype Sorts" pitchFamily="-84" charset="2"/>
              </a:rPr>
              <a:t>C</a:t>
            </a:r>
            <a:r>
              <a:rPr lang="en-US" altLang="en-US" sz="2800" dirty="0">
                <a:sym typeface="Monotype Sorts" pitchFamily="-84" charset="2"/>
              </a:rPr>
              <a:t>,  then we can infer that </a:t>
            </a:r>
            <a:r>
              <a:rPr lang="en-US" altLang="en-US" sz="2800" i="1" dirty="0">
                <a:sym typeface="Monotype Sorts" pitchFamily="-84" charset="2"/>
              </a:rPr>
              <a:t>A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</a:t>
            </a:r>
            <a:r>
              <a:rPr lang="en-US" altLang="en-US" sz="2800" dirty="0">
                <a:sym typeface="Monotype Sorts" pitchFamily="-84" charset="2"/>
              </a:rPr>
              <a:t> C</a:t>
            </a:r>
          </a:p>
          <a:p>
            <a:pPr lvl="1"/>
            <a:r>
              <a:rPr lang="en-US" altLang="en-US" sz="2800" dirty="0">
                <a:sym typeface="Monotype Sorts" pitchFamily="-84" charset="2"/>
              </a:rPr>
              <a:t>etc.</a:t>
            </a:r>
            <a:endParaRPr lang="en-US" altLang="en-US" sz="2800" dirty="0"/>
          </a:p>
          <a:p>
            <a:pPr algn="r" rtl="1"/>
            <a:r>
              <a:rPr lang="fa-IR" sz="2800" dirty="0"/>
              <a:t>مجموعه تمام </a:t>
            </a:r>
            <a:r>
              <a:rPr lang="fa-IR" sz="2800" dirty="0" err="1"/>
              <a:t>وابستگی‌های</a:t>
            </a:r>
            <a:r>
              <a:rPr lang="fa-IR" sz="2800" dirty="0"/>
              <a:t> </a:t>
            </a:r>
            <a:r>
              <a:rPr lang="fa-IR" sz="2800" dirty="0" err="1"/>
              <a:t>تابعی</a:t>
            </a:r>
            <a:r>
              <a:rPr lang="fa-IR" sz="2800" dirty="0"/>
              <a:t> که از نظر منطقی از </a:t>
            </a:r>
            <a:r>
              <a:rPr lang="en-US" sz="2800" dirty="0"/>
              <a:t>F </a:t>
            </a:r>
            <a:r>
              <a:rPr lang="fa-IR" sz="2800" dirty="0"/>
              <a:t>نتیجه </a:t>
            </a:r>
            <a:r>
              <a:rPr lang="fa-IR" sz="2800" dirty="0" err="1"/>
              <a:t>می‌شوند</a:t>
            </a:r>
            <a:r>
              <a:rPr lang="fa-IR" sz="2800" dirty="0"/>
              <a:t>، </a:t>
            </a:r>
            <a:r>
              <a:rPr lang="fa-IR" sz="2800" dirty="0" err="1"/>
              <a:t>بستارِ</a:t>
            </a:r>
            <a:r>
              <a:rPr lang="fa-IR" sz="2800" dirty="0"/>
              <a:t> </a:t>
            </a:r>
            <a:r>
              <a:rPr lang="en-US" sz="2800" dirty="0"/>
              <a:t>F </a:t>
            </a:r>
            <a:r>
              <a:rPr lang="fa-IR" sz="2800" dirty="0"/>
              <a:t>نام دارد.</a:t>
            </a:r>
          </a:p>
          <a:p>
            <a:pPr algn="r" rtl="1"/>
            <a:r>
              <a:rPr lang="fa-IR" sz="2800" dirty="0" err="1"/>
              <a:t>بستار</a:t>
            </a:r>
            <a:r>
              <a:rPr lang="fa-IR" sz="2800" dirty="0"/>
              <a:t> </a:t>
            </a:r>
            <a:r>
              <a:rPr lang="en-US" sz="2800" dirty="0"/>
              <a:t>F </a:t>
            </a:r>
            <a:r>
              <a:rPr lang="fa-IR" sz="2800" dirty="0"/>
              <a:t>را با نماد </a:t>
            </a:r>
            <a:r>
              <a:rPr lang="en-US" sz="2800" dirty="0"/>
              <a:t>F⁺ </a:t>
            </a:r>
            <a:r>
              <a:rPr lang="fa-IR" sz="2800" dirty="0"/>
              <a:t>نمایش </a:t>
            </a:r>
            <a:r>
              <a:rPr lang="fa-IR" sz="2800" dirty="0" err="1"/>
              <a:t>می‌دهیم</a:t>
            </a:r>
            <a:r>
              <a:rPr lang="fa-IR" sz="2800" dirty="0"/>
              <a:t>.</a:t>
            </a:r>
            <a:endParaRPr lang="en-US" altLang="en-US" sz="3600" dirty="0">
              <a:sym typeface="Greek Symbols"/>
            </a:endParaRPr>
          </a:p>
        </p:txBody>
      </p:sp>
    </p:spTree>
    <p:extLst>
      <p:ext uri="{BB962C8B-B14F-4D97-AF65-F5344CB8AC3E}">
        <p14:creationId xmlns:p14="http://schemas.microsoft.com/office/powerpoint/2010/main" val="4251414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fa-IR" dirty="0" err="1"/>
              <a:t>کلیدها</a:t>
            </a:r>
            <a:r>
              <a:rPr lang="fa-IR" dirty="0"/>
              <a:t> و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16114" y="717811"/>
            <a:ext cx="9027886" cy="5422378"/>
          </a:xfrm>
        </p:spPr>
        <p:txBody>
          <a:bodyPr/>
          <a:lstStyle/>
          <a:p>
            <a:pPr algn="r" rtl="1">
              <a:tabLst>
                <a:tab pos="1250950" algn="l"/>
                <a:tab pos="2173288" algn="l"/>
                <a:tab pos="3378200" algn="l"/>
              </a:tabLst>
            </a:pPr>
            <a:r>
              <a:rPr lang="en-US" sz="2400" dirty="0"/>
              <a:t>K </a:t>
            </a:r>
            <a:r>
              <a:rPr lang="fa-IR" sz="2400" dirty="0"/>
              <a:t>یک </a:t>
            </a:r>
            <a:r>
              <a:rPr lang="fa-IR" sz="2400" dirty="0" err="1"/>
              <a:t>اَبَرکلید</a:t>
            </a:r>
            <a:r>
              <a:rPr lang="fa-IR" sz="2400" dirty="0"/>
              <a:t> برای </a:t>
            </a:r>
            <a:r>
              <a:rPr lang="fa-IR" sz="2400" dirty="0" err="1"/>
              <a:t>شِمای</a:t>
            </a:r>
            <a:r>
              <a:rPr lang="fa-IR" sz="2400" dirty="0"/>
              <a:t> رابطه </a:t>
            </a:r>
            <a:r>
              <a:rPr lang="en-US" sz="2400" dirty="0"/>
              <a:t>R </a:t>
            </a:r>
            <a:r>
              <a:rPr lang="fa-IR" sz="2400" dirty="0"/>
              <a:t>است </a:t>
            </a:r>
            <a:r>
              <a:rPr lang="fa-IR" sz="2400" b="1" dirty="0"/>
              <a:t>اگر و تنها اگر</a:t>
            </a:r>
            <a:r>
              <a:rPr lang="fa-IR" sz="2400" dirty="0"/>
              <a:t> بتواند همه </a:t>
            </a:r>
            <a:r>
              <a:rPr lang="fa-IR" sz="2400" dirty="0" err="1"/>
              <a:t>ویژگی‌های</a:t>
            </a:r>
            <a:r>
              <a:rPr lang="fa-IR" sz="2400" dirty="0"/>
              <a:t> </a:t>
            </a:r>
            <a:r>
              <a:rPr lang="en-US" sz="2400" dirty="0"/>
              <a:t>R </a:t>
            </a:r>
            <a:r>
              <a:rPr lang="fa-IR" sz="2400" dirty="0"/>
              <a:t>را تعیین کند.</a:t>
            </a:r>
          </a:p>
          <a:p>
            <a:pPr algn="r" rtl="1">
              <a:tabLst>
                <a:tab pos="1250950" algn="l"/>
                <a:tab pos="2173288" algn="l"/>
                <a:tab pos="3378200" algn="l"/>
              </a:tabLst>
            </a:pPr>
            <a:r>
              <a:rPr lang="en-US" sz="2400" dirty="0"/>
              <a:t>K </a:t>
            </a:r>
            <a:r>
              <a:rPr lang="fa-IR" sz="2400" dirty="0"/>
              <a:t>یک کلید نامزد برای </a:t>
            </a:r>
            <a:r>
              <a:rPr lang="en-US" sz="2400" dirty="0"/>
              <a:t>R </a:t>
            </a:r>
            <a:r>
              <a:rPr lang="fa-IR" sz="2400" dirty="0"/>
              <a:t>است </a:t>
            </a:r>
            <a:r>
              <a:rPr lang="fa-IR" sz="2400" b="1" dirty="0"/>
              <a:t>اگر و تنها اگر</a:t>
            </a:r>
            <a:r>
              <a:rPr lang="fa-IR" sz="2400" dirty="0"/>
              <a:t>:</a:t>
            </a:r>
            <a:r>
              <a:rPr lang="en-US" altLang="en-US" sz="2400" dirty="0">
                <a:sym typeface="Monotype Sorts" pitchFamily="-84" charset="2"/>
              </a:rPr>
              <a:t> </a:t>
            </a:r>
          </a:p>
          <a:p>
            <a:pPr lvl="1"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i="1" dirty="0">
                <a:sym typeface="Monotype Sorts" pitchFamily="-84" charset="2"/>
              </a:rPr>
              <a:t>K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dirty="0">
                <a:sym typeface="Monotype Sorts" pitchFamily="-84" charset="2"/>
              </a:rPr>
              <a:t>, and</a:t>
            </a:r>
          </a:p>
          <a:p>
            <a:pPr lvl="1"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dirty="0">
                <a:sym typeface="Monotype Sorts" pitchFamily="-84" charset="2"/>
              </a:rPr>
              <a:t>for no </a:t>
            </a:r>
            <a:r>
              <a:rPr lang="en-US" altLang="en-US" sz="2400" dirty="0">
                <a:sym typeface="Symbol" panose="05050102010706020507" pitchFamily="18" charset="2"/>
              </a:rPr>
              <a:t>  </a:t>
            </a:r>
            <a:r>
              <a:rPr lang="en-US" altLang="en-US" sz="2400" i="1" dirty="0">
                <a:sym typeface="Symbol" panose="05050102010706020507" pitchFamily="18" charset="2"/>
              </a:rPr>
              <a:t>K, </a:t>
            </a:r>
            <a:r>
              <a:rPr lang="en-US" altLang="en-US" sz="2400" dirty="0">
                <a:sym typeface="Symbol" panose="05050102010706020507" pitchFamily="18" charset="2"/>
              </a:rPr>
              <a:t> 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</a:p>
          <a:p>
            <a:pPr algn="r" rtl="1">
              <a:tabLst>
                <a:tab pos="1250950" algn="l"/>
                <a:tab pos="2173288" algn="l"/>
                <a:tab pos="3378200" algn="l"/>
              </a:tabLst>
            </a:pPr>
            <a:r>
              <a:rPr lang="fa-IR" sz="2400" dirty="0" err="1"/>
              <a:t>وابستگی‌های</a:t>
            </a:r>
            <a:r>
              <a:rPr lang="fa-IR" sz="2400" dirty="0"/>
              <a:t> </a:t>
            </a:r>
            <a:r>
              <a:rPr lang="fa-IR" sz="2400" dirty="0" err="1"/>
              <a:t>تابعی</a:t>
            </a:r>
            <a:r>
              <a:rPr lang="fa-IR" sz="2400" dirty="0"/>
              <a:t> به ما اجازه </a:t>
            </a:r>
            <a:r>
              <a:rPr lang="fa-IR" sz="2400" dirty="0" err="1"/>
              <a:t>می‌دهند</a:t>
            </a:r>
            <a:r>
              <a:rPr lang="fa-IR" sz="2400" dirty="0"/>
              <a:t> قیود و </a:t>
            </a:r>
            <a:r>
              <a:rPr lang="fa-IR" sz="2400" dirty="0" err="1"/>
              <a:t>محدودیت‌هایی</a:t>
            </a:r>
            <a:r>
              <a:rPr lang="fa-IR" sz="2400" dirty="0"/>
              <a:t> را بیان کنیم که با استفاده از </a:t>
            </a:r>
            <a:r>
              <a:rPr lang="fa-IR" sz="2400" dirty="0" err="1"/>
              <a:t>اَبَرکلیدها</a:t>
            </a:r>
            <a:r>
              <a:rPr lang="fa-IR" sz="2400" dirty="0"/>
              <a:t> قابل بیان نیستند. برای مثال، در </a:t>
            </a:r>
            <a:r>
              <a:rPr lang="fa-IR" sz="2400" dirty="0" err="1"/>
              <a:t>شِمای</a:t>
            </a:r>
            <a:r>
              <a:rPr lang="fa-IR" sz="2400" dirty="0"/>
              <a:t> زیر:</a:t>
            </a:r>
            <a:endParaRPr lang="en-US" altLang="en-US" sz="2400" dirty="0"/>
          </a:p>
          <a:p>
            <a:pPr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dirty="0"/>
              <a:t>	      </a:t>
            </a:r>
            <a:r>
              <a:rPr lang="en-US" altLang="en-US" sz="2400" i="1" dirty="0" err="1"/>
              <a:t>in_dep</a:t>
            </a:r>
            <a:r>
              <a:rPr lang="en-US" altLang="en-US" sz="2400" i="1" dirty="0"/>
              <a:t> </a:t>
            </a:r>
            <a:r>
              <a:rPr lang="en-US" altLang="en-US" sz="2400" dirty="0"/>
              <a:t>(</a:t>
            </a:r>
            <a:r>
              <a:rPr lang="en-US" altLang="en-US" sz="2400" i="1" u="sng" dirty="0"/>
              <a:t>ID, </a:t>
            </a:r>
            <a:r>
              <a:rPr lang="en-US" altLang="en-US" sz="2400" i="1" dirty="0"/>
              <a:t>name, salary</a:t>
            </a:r>
            <a:r>
              <a:rPr lang="en-US" altLang="en-US" sz="2400" i="1" u="sng" dirty="0"/>
              <a:t>, </a:t>
            </a:r>
            <a:r>
              <a:rPr lang="en-US" altLang="en-US" sz="2400" i="1" u="sng" dirty="0" err="1"/>
              <a:t>dept_name</a:t>
            </a:r>
            <a:r>
              <a:rPr lang="en-US" altLang="en-US" sz="2400" i="1" u="sng" dirty="0"/>
              <a:t>, </a:t>
            </a:r>
            <a:r>
              <a:rPr lang="en-US" altLang="en-US" sz="2400" i="1" dirty="0"/>
              <a:t>building, budget </a:t>
            </a:r>
            <a:r>
              <a:rPr lang="en-US" altLang="en-US" sz="2400" dirty="0"/>
              <a:t>)</a:t>
            </a:r>
            <a:r>
              <a:rPr lang="en-US" altLang="en-US" sz="2400" i="1" dirty="0"/>
              <a:t>.</a:t>
            </a:r>
          </a:p>
          <a:p>
            <a:pPr algn="r" rtl="1"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fa-IR" sz="2400" dirty="0"/>
              <a:t>انتظار داریم این </a:t>
            </a:r>
            <a:r>
              <a:rPr lang="fa-IR" sz="2400" dirty="0" err="1"/>
              <a:t>وابستگی‌های</a:t>
            </a:r>
            <a:r>
              <a:rPr lang="fa-IR" sz="2400" dirty="0"/>
              <a:t> </a:t>
            </a:r>
            <a:r>
              <a:rPr lang="fa-IR" sz="2400" dirty="0" err="1"/>
              <a:t>تابعی</a:t>
            </a:r>
            <a:r>
              <a:rPr lang="fa-IR" sz="2400" dirty="0"/>
              <a:t> برقرار باشند:</a:t>
            </a:r>
            <a:endParaRPr lang="fa-IR" altLang="en-US" sz="2400" dirty="0"/>
          </a:p>
          <a:p>
            <a:pPr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dirty="0"/>
              <a:t>	                          </a:t>
            </a:r>
            <a:r>
              <a:rPr lang="en-US" altLang="en-US" sz="2400" i="1" dirty="0" err="1"/>
              <a:t>dept_name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building</a:t>
            </a:r>
          </a:p>
          <a:p>
            <a:pPr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i="1" dirty="0">
                <a:sym typeface="Monotype Sorts" pitchFamily="-84" charset="2"/>
              </a:rPr>
              <a:t>                               ID </a:t>
            </a:r>
            <a:r>
              <a:rPr lang="en-US" altLang="en-US" sz="2400" dirty="0">
                <a:sym typeface="Wingdings" panose="05000000000000000000" pitchFamily="2" charset="2"/>
              </a:rPr>
              <a:t></a:t>
            </a:r>
            <a:r>
              <a:rPr lang="en-US" altLang="en-US" sz="2400" i="1" dirty="0">
                <a:sym typeface="Wingdings" panose="05000000000000000000" pitchFamily="2" charset="2"/>
              </a:rPr>
              <a:t> building</a:t>
            </a:r>
            <a:endParaRPr lang="en-US" altLang="en-US" sz="2400" i="1" dirty="0">
              <a:sym typeface="Monotype Sorts" pitchFamily="-84" charset="2"/>
            </a:endParaRPr>
          </a:p>
          <a:p>
            <a:pPr algn="r" rtl="1"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i="1" dirty="0">
                <a:sym typeface="Monotype Sorts" pitchFamily="-84" charset="2"/>
              </a:rPr>
              <a:t>	</a:t>
            </a:r>
            <a:r>
              <a:rPr lang="fa-IR" sz="2400" dirty="0"/>
              <a:t>اما انتظار </a:t>
            </a:r>
            <a:r>
              <a:rPr lang="fa-IR" sz="2400" b="1" dirty="0" err="1"/>
              <a:t>نمی‌رود</a:t>
            </a:r>
            <a:r>
              <a:rPr lang="fa-IR" sz="2400" dirty="0"/>
              <a:t> که وابستگی زیر برقرار باشد:</a:t>
            </a:r>
            <a:endParaRPr lang="en-US" altLang="en-US" sz="2400" dirty="0">
              <a:sym typeface="Monotype Sorts" pitchFamily="-84" charset="2"/>
            </a:endParaRPr>
          </a:p>
          <a:p>
            <a:pPr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r>
              <a:rPr lang="en-US" altLang="en-US" sz="2400" dirty="0">
                <a:sym typeface="Monotype Sorts" pitchFamily="-84" charset="2"/>
              </a:rPr>
              <a:t>			</a:t>
            </a:r>
            <a:r>
              <a:rPr lang="en-US" altLang="en-US" sz="2400" i="1" dirty="0" err="1">
                <a:sym typeface="Monotype Sorts" pitchFamily="-84" charset="2"/>
              </a:rPr>
              <a:t>dept_name</a:t>
            </a:r>
            <a:r>
              <a:rPr lang="en-US" altLang="en-US" sz="2400" i="1" dirty="0">
                <a:sym typeface="Monotype Sorts" pitchFamily="-84" charset="2"/>
              </a:rPr>
              <a:t>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salary</a:t>
            </a:r>
          </a:p>
          <a:p>
            <a:pPr>
              <a:buFont typeface="Monotype Sorts" pitchFamily="-84" charset="2"/>
              <a:buNone/>
              <a:tabLst>
                <a:tab pos="1250950" algn="l"/>
                <a:tab pos="2173288" algn="l"/>
                <a:tab pos="3378200" algn="l"/>
              </a:tabLst>
            </a:pPr>
            <a:endParaRPr lang="en-US" altLang="en-US" sz="3200" i="1" dirty="0">
              <a:sym typeface="Monotype Sorts" pitchFamily="-84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678473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Use of Functional Dependencies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258932" y="1117403"/>
            <a:ext cx="8362553" cy="5341454"/>
          </a:xfrm>
        </p:spPr>
        <p:txBody>
          <a:bodyPr/>
          <a:lstStyle/>
          <a:p>
            <a:pPr algn="r" rtl="1"/>
            <a:r>
              <a:rPr lang="fa-IR" dirty="0"/>
              <a:t>ما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برای این کارها استفاده </a:t>
            </a:r>
            <a:r>
              <a:rPr lang="fa-IR" dirty="0" err="1"/>
              <a:t>می‌کنیم</a:t>
            </a:r>
            <a:r>
              <a:rPr lang="fa-IR" dirty="0"/>
              <a:t>:</a:t>
            </a:r>
            <a:endParaRPr lang="en-US" altLang="en-US" dirty="0"/>
          </a:p>
          <a:p>
            <a:pPr lvl="1" algn="r" rtl="1"/>
            <a:r>
              <a:rPr lang="fa-IR" dirty="0"/>
              <a:t>برای بررسی </a:t>
            </a:r>
            <a:r>
              <a:rPr lang="fa-IR" dirty="0" err="1"/>
              <a:t>رابطه‌ها</a:t>
            </a:r>
            <a:r>
              <a:rPr lang="fa-IR" dirty="0"/>
              <a:t> تا ببینیم آیا تحت </a:t>
            </a:r>
            <a:r>
              <a:rPr lang="fa-IR" dirty="0" err="1"/>
              <a:t>مجموعه‌ای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معتبر هستند یا نه.</a:t>
            </a:r>
            <a:endParaRPr lang="en-US" altLang="en-US" dirty="0"/>
          </a:p>
          <a:p>
            <a:pPr lvl="2" algn="r" rtl="1"/>
            <a:r>
              <a:rPr lang="en-US" altLang="en-US" dirty="0"/>
              <a:t> </a:t>
            </a:r>
            <a:r>
              <a:rPr lang="fa-IR" dirty="0"/>
              <a:t>اگر رابطه </a:t>
            </a:r>
            <a:r>
              <a:rPr lang="en-US" dirty="0"/>
              <a:t>r </a:t>
            </a:r>
            <a:r>
              <a:rPr lang="fa-IR" dirty="0"/>
              <a:t>تحت مجموعه </a:t>
            </a:r>
            <a:r>
              <a:rPr lang="en-US" dirty="0"/>
              <a:t>F </a:t>
            </a:r>
            <a:r>
              <a:rPr lang="fa-IR" dirty="0"/>
              <a:t>معتبر باشد، </a:t>
            </a:r>
            <a:r>
              <a:rPr lang="fa-IR" dirty="0" err="1"/>
              <a:t>می‌گوییم</a:t>
            </a:r>
            <a:r>
              <a:rPr lang="fa-IR" dirty="0"/>
              <a:t> </a:t>
            </a:r>
            <a:r>
              <a:rPr lang="en-US" dirty="0"/>
              <a:t>r،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را </a:t>
            </a:r>
            <a:r>
              <a:rPr lang="fa-IR" dirty="0" err="1"/>
              <a:t>ارضا</a:t>
            </a:r>
            <a:r>
              <a:rPr lang="fa-IR" dirty="0"/>
              <a:t> </a:t>
            </a:r>
            <a:r>
              <a:rPr lang="fa-IR" dirty="0" err="1"/>
              <a:t>می‌کند</a:t>
            </a:r>
            <a:r>
              <a:rPr lang="fa-IR" dirty="0"/>
              <a:t>.</a:t>
            </a:r>
            <a:endParaRPr lang="en-US" altLang="en-US" dirty="0"/>
          </a:p>
          <a:p>
            <a:pPr lvl="1" algn="r" rtl="1"/>
            <a:r>
              <a:rPr lang="fa-IR" dirty="0"/>
              <a:t>برای </a:t>
            </a:r>
            <a:r>
              <a:rPr lang="fa-IR" dirty="0" err="1"/>
              <a:t>مشخص‌کردن</a:t>
            </a:r>
            <a:r>
              <a:rPr lang="fa-IR" dirty="0"/>
              <a:t> </a:t>
            </a:r>
            <a:r>
              <a:rPr lang="fa-IR" dirty="0" err="1"/>
              <a:t>محدودیت‌ها</a:t>
            </a:r>
            <a:r>
              <a:rPr lang="fa-IR" dirty="0"/>
              <a:t> روی مجموعه </a:t>
            </a:r>
            <a:r>
              <a:rPr lang="fa-IR" dirty="0" err="1"/>
              <a:t>رابطه‌های</a:t>
            </a:r>
            <a:r>
              <a:rPr lang="fa-IR" dirty="0"/>
              <a:t> معتبر.</a:t>
            </a:r>
            <a:endParaRPr lang="en-US" altLang="en-US" dirty="0"/>
          </a:p>
          <a:p>
            <a:pPr lvl="2" algn="r" rtl="1"/>
            <a:r>
              <a:rPr lang="fa-IR" dirty="0" err="1"/>
              <a:t>می‌گوییم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روی </a:t>
            </a:r>
            <a:r>
              <a:rPr lang="en-US" dirty="0"/>
              <a:t>R </a:t>
            </a:r>
            <a:r>
              <a:rPr lang="fa-IR" dirty="0"/>
              <a:t>برقرار است اگر تمام </a:t>
            </a:r>
            <a:r>
              <a:rPr lang="fa-IR" dirty="0" err="1"/>
              <a:t>رابطه‌های</a:t>
            </a:r>
            <a:r>
              <a:rPr lang="fa-IR" dirty="0"/>
              <a:t> معتبر روی </a:t>
            </a:r>
            <a:r>
              <a:rPr lang="en-US" dirty="0"/>
              <a:t>R،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را </a:t>
            </a:r>
            <a:r>
              <a:rPr lang="fa-IR" dirty="0" err="1"/>
              <a:t>ارضا</a:t>
            </a:r>
            <a:r>
              <a:rPr lang="fa-IR" dirty="0"/>
              <a:t> کنند.</a:t>
            </a:r>
            <a:endParaRPr lang="en-US" altLang="en-US" i="1" dirty="0"/>
          </a:p>
          <a:p>
            <a:pPr algn="r" rtl="1"/>
            <a:r>
              <a:rPr lang="fa-IR" dirty="0"/>
              <a:t>نکته: ممکن است یک نمونه مشخص از یک طرح رابطه، یک وابستگی </a:t>
            </a:r>
            <a:r>
              <a:rPr lang="fa-IR" dirty="0" err="1"/>
              <a:t>تابعی</a:t>
            </a:r>
            <a:r>
              <a:rPr lang="fa-IR" dirty="0"/>
              <a:t> را </a:t>
            </a:r>
            <a:r>
              <a:rPr lang="fa-IR" dirty="0" err="1"/>
              <a:t>ارضا</a:t>
            </a:r>
            <a:r>
              <a:rPr lang="fa-IR" dirty="0"/>
              <a:t> کند، حتی اگر آن وابستگی </a:t>
            </a:r>
            <a:r>
              <a:rPr lang="fa-IR" dirty="0" err="1"/>
              <a:t>تابعی</a:t>
            </a:r>
            <a:r>
              <a:rPr lang="fa-IR" dirty="0"/>
              <a:t> در تمام </a:t>
            </a:r>
            <a:r>
              <a:rPr lang="fa-IR" dirty="0" err="1"/>
              <a:t>نمونه‌های</a:t>
            </a:r>
            <a:r>
              <a:rPr lang="fa-IR" dirty="0"/>
              <a:t> معتبر برقرار نباشد.</a:t>
            </a:r>
            <a:r>
              <a:rPr lang="en-US" altLang="en-US" dirty="0"/>
              <a:t>  </a:t>
            </a:r>
          </a:p>
          <a:p>
            <a:pPr lvl="1" algn="r" rtl="1"/>
            <a:r>
              <a:rPr lang="fa-IR" dirty="0"/>
              <a:t>برای مثال، یک نمونه خاص از رابطه </a:t>
            </a:r>
            <a:r>
              <a:rPr lang="en-US" dirty="0"/>
              <a:t>instructor </a:t>
            </a:r>
            <a:r>
              <a:rPr lang="fa-IR" dirty="0"/>
              <a:t>ممکن است </a:t>
            </a:r>
            <a:r>
              <a:rPr lang="fa-IR" dirty="0" err="1"/>
              <a:t>به‌صورت</a:t>
            </a:r>
            <a:r>
              <a:rPr lang="fa-IR" dirty="0"/>
              <a:t> اتفاقی وابستگی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               </a:t>
            </a:r>
            <a:r>
              <a:rPr lang="en-US" altLang="en-US" i="1" dirty="0"/>
              <a:t>name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ID.</a:t>
            </a:r>
          </a:p>
        </p:txBody>
      </p:sp>
    </p:spTree>
    <p:extLst>
      <p:ext uri="{BB962C8B-B14F-4D97-AF65-F5344CB8AC3E}">
        <p14:creationId xmlns:p14="http://schemas.microsoft.com/office/powerpoint/2010/main" val="882395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Trivial Functional Dependencies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175247"/>
            <a:ext cx="7814322" cy="5123953"/>
          </a:xfrm>
        </p:spPr>
        <p:txBody>
          <a:bodyPr/>
          <a:lstStyle/>
          <a:p>
            <a:pPr algn="r" rtl="1"/>
            <a:r>
              <a:rPr lang="fa-IR" sz="3200" dirty="0"/>
              <a:t>یک وابستگی </a:t>
            </a:r>
            <a:r>
              <a:rPr lang="fa-IR" sz="3200" dirty="0" err="1"/>
              <a:t>تابعی</a:t>
            </a:r>
            <a:r>
              <a:rPr lang="fa-IR" sz="3200" dirty="0"/>
              <a:t> زمانی بدیهی است که در تمام </a:t>
            </a:r>
            <a:r>
              <a:rPr lang="fa-IR" sz="3200" dirty="0" err="1"/>
              <a:t>نمونه‌های</a:t>
            </a:r>
            <a:r>
              <a:rPr lang="fa-IR" sz="3200" dirty="0"/>
              <a:t> </a:t>
            </a:r>
            <a:r>
              <a:rPr lang="fa-IR" sz="3200" dirty="0" err="1"/>
              <a:t>ممکنِ</a:t>
            </a:r>
            <a:r>
              <a:rPr lang="fa-IR" sz="3200" dirty="0"/>
              <a:t> یک رابطه برقرار باشد.</a:t>
            </a:r>
            <a:endParaRPr lang="fa-IR" altLang="en-US" sz="3200" dirty="0">
              <a:sym typeface="Monotype Sorts" pitchFamily="-84" charset="2"/>
            </a:endParaRPr>
          </a:p>
          <a:p>
            <a:pPr algn="r" rtl="1"/>
            <a:r>
              <a:rPr lang="fa-IR" altLang="en-US" sz="3200" dirty="0">
                <a:sym typeface="Monotype Sorts" pitchFamily="-84" charset="2"/>
              </a:rPr>
              <a:t>مثال:</a:t>
            </a:r>
            <a:endParaRPr lang="en-US" altLang="en-US" sz="3200" i="1" dirty="0">
              <a:sym typeface="Monotype Sorts" pitchFamily="-84" charset="2"/>
            </a:endParaRPr>
          </a:p>
          <a:p>
            <a:pPr lvl="1"/>
            <a:r>
              <a:rPr lang="en-US" altLang="en-US" sz="2800" i="1" dirty="0">
                <a:sym typeface="Monotype Sorts" pitchFamily="-84" charset="2"/>
              </a:rPr>
              <a:t> ID, name</a:t>
            </a:r>
            <a:r>
              <a:rPr lang="en-US" altLang="en-US" sz="2800" i="1" dirty="0"/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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i="1" dirty="0">
                <a:sym typeface="Monotype Sorts" pitchFamily="-84" charset="2"/>
              </a:rPr>
              <a:t>ID</a:t>
            </a:r>
          </a:p>
          <a:p>
            <a:pPr lvl="1"/>
            <a:r>
              <a:rPr lang="en-US" altLang="en-US" sz="2800" i="1" dirty="0">
                <a:sym typeface="Monotype Sorts" pitchFamily="-84" charset="2"/>
              </a:rPr>
              <a:t> name </a:t>
            </a:r>
            <a:r>
              <a:rPr lang="en-US" altLang="en-US" sz="2800" dirty="0">
                <a:sym typeface="Symbol" panose="05050102010706020507" pitchFamily="18" charset="2"/>
              </a:rPr>
              <a:t></a:t>
            </a:r>
            <a:r>
              <a:rPr lang="en-US" altLang="en-US" sz="2800" dirty="0">
                <a:sym typeface="Monotype Sorts" pitchFamily="-84" charset="2"/>
              </a:rPr>
              <a:t> </a:t>
            </a:r>
            <a:r>
              <a:rPr lang="en-US" altLang="en-US" sz="2800" i="1" dirty="0">
                <a:sym typeface="Monotype Sorts" pitchFamily="-84" charset="2"/>
              </a:rPr>
              <a:t>name</a:t>
            </a:r>
          </a:p>
          <a:p>
            <a:pPr algn="r" rtl="1"/>
            <a:r>
              <a:rPr lang="fa-IR" sz="3200" dirty="0" err="1"/>
              <a:t>به‌طور</a:t>
            </a:r>
            <a:r>
              <a:rPr lang="fa-IR" sz="3200" dirty="0"/>
              <a:t> کلی</a:t>
            </a:r>
            <a:r>
              <a:rPr lang="en-US" altLang="en-US" sz="3200" dirty="0">
                <a:sym typeface="Monotype Sorts" pitchFamily="-84" charset="2"/>
              </a:rPr>
              <a:t>, </a:t>
            </a:r>
            <a:r>
              <a:rPr lang="en-US" altLang="en-US" sz="3200" dirty="0">
                <a:sym typeface="Symbol" panose="05050102010706020507" pitchFamily="18" charset="2"/>
              </a:rPr>
              <a:t> </a:t>
            </a:r>
            <a:r>
              <a:rPr lang="en-US" altLang="en-US" sz="3200" dirty="0">
                <a:sym typeface="Monotype Sorts" pitchFamily="-84" charset="2"/>
              </a:rPr>
              <a:t> </a:t>
            </a:r>
            <a:r>
              <a:rPr lang="en-US" altLang="en-US" sz="3200" i="1" dirty="0">
                <a:sym typeface="Symbol" panose="05050102010706020507" pitchFamily="18" charset="2"/>
              </a:rPr>
              <a:t> </a:t>
            </a:r>
            <a:r>
              <a:rPr lang="fa-IR" sz="3200" dirty="0"/>
              <a:t>زمانی بدیهی است که </a:t>
            </a:r>
            <a:r>
              <a:rPr lang="en-US" altLang="en-US" sz="3200" i="1" dirty="0">
                <a:sym typeface="Symbol" panose="05050102010706020507" pitchFamily="18" charset="2"/>
              </a:rPr>
              <a:t></a:t>
            </a:r>
            <a:r>
              <a:rPr lang="en-US" altLang="en-US" sz="3200" dirty="0">
                <a:sym typeface="Symbol" panose="05050102010706020507" pitchFamily="18" charset="2"/>
              </a:rPr>
              <a:t>   </a:t>
            </a:r>
            <a:br>
              <a:rPr lang="en-US" altLang="en-US" sz="3600" i="1" dirty="0">
                <a:sym typeface="Symbol" panose="05050102010706020507" pitchFamily="18" charset="2"/>
              </a:rPr>
            </a:br>
            <a:r>
              <a:rPr lang="en-US" altLang="en-US" sz="3600" i="1" dirty="0">
                <a:sym typeface="Symbol" panose="05050102010706020507" pitchFamily="18" charset="2"/>
              </a:rPr>
              <a:t> </a:t>
            </a:r>
          </a:p>
          <a:p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951806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Lossless Decomposition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94444" y="1030514"/>
            <a:ext cx="8551106" cy="5065486"/>
          </a:xfrm>
        </p:spPr>
        <p:txBody>
          <a:bodyPr/>
          <a:lstStyle/>
          <a:p>
            <a:pPr algn="r" rtl="1">
              <a:tabLst>
                <a:tab pos="2292350" algn="l"/>
                <a:tab pos="2976563" algn="l"/>
              </a:tabLst>
            </a:pPr>
            <a:r>
              <a:rPr lang="fa-IR" dirty="0"/>
              <a:t>ما </a:t>
            </a:r>
            <a:r>
              <a:rPr lang="fa-IR" dirty="0" err="1"/>
              <a:t>می‌توانیم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استفاده کنیم تا مشخص کنیم چه زمانی یک تجزیه بدون اتلاف (</a:t>
            </a:r>
            <a:r>
              <a:rPr lang="en-US" dirty="0"/>
              <a:t>Lossless) </a:t>
            </a:r>
            <a:r>
              <a:rPr lang="fa-IR" dirty="0"/>
              <a:t>است.</a:t>
            </a:r>
            <a:r>
              <a:rPr lang="en-US" altLang="en-US" dirty="0"/>
              <a:t>  </a:t>
            </a:r>
          </a:p>
          <a:p>
            <a:pPr algn="r" rtl="1">
              <a:tabLst>
                <a:tab pos="2292350" algn="l"/>
                <a:tab pos="2976563" algn="l"/>
              </a:tabLst>
            </a:pPr>
            <a:r>
              <a:rPr lang="fa-IR" dirty="0"/>
              <a:t>برای حالتی که </a:t>
            </a:r>
            <a:r>
              <a:rPr lang="en-US" dirty="0"/>
              <a:t>R = (R1, R2) </a:t>
            </a:r>
            <a:r>
              <a:rPr lang="fa-IR" dirty="0"/>
              <a:t>باشد، لازم است که برای همه </a:t>
            </a:r>
            <a:r>
              <a:rPr lang="fa-IR" dirty="0" err="1"/>
              <a:t>رابطه‌های</a:t>
            </a:r>
            <a:r>
              <a:rPr lang="fa-IR" dirty="0"/>
              <a:t> ممکن </a:t>
            </a:r>
            <a:r>
              <a:rPr lang="en-US" dirty="0"/>
              <a:t>r </a:t>
            </a:r>
            <a:r>
              <a:rPr lang="fa-IR" dirty="0"/>
              <a:t>روی </a:t>
            </a:r>
            <a:r>
              <a:rPr lang="fa-IR" dirty="0" err="1"/>
              <a:t>شِمای</a:t>
            </a:r>
            <a:r>
              <a:rPr lang="fa-IR" dirty="0"/>
              <a:t> </a:t>
            </a:r>
            <a:r>
              <a:rPr lang="en-US" dirty="0"/>
              <a:t>R،</a:t>
            </a:r>
            <a:endParaRPr lang="en-US" altLang="en-US" i="1" dirty="0"/>
          </a:p>
          <a:p>
            <a:pPr algn="r" rtl="1">
              <a:buFont typeface="Monotype Sorts" pitchFamily="-84" charset="2"/>
              <a:buNone/>
              <a:tabLst>
                <a:tab pos="2292350" algn="l"/>
                <a:tab pos="2976563" algn="l"/>
              </a:tabLst>
            </a:pPr>
            <a:r>
              <a:rPr lang="en-US" altLang="en-US" baseline="-25000" dirty="0"/>
              <a:t>		</a:t>
            </a:r>
            <a:r>
              <a:rPr lang="en-US" altLang="en-US" i="1" dirty="0"/>
              <a:t>r = </a:t>
            </a:r>
            <a:r>
              <a:rPr lang="en-US" altLang="en-US" dirty="0">
                <a:sym typeface="Symbol" panose="05050102010706020507" pitchFamily="18" charset="2"/>
              </a:rPr>
              <a:t></a:t>
            </a:r>
            <a:r>
              <a:rPr lang="en-US" altLang="en-US" i="1" baseline="-25000" dirty="0">
                <a:sym typeface="Symbol" panose="05050102010706020507" pitchFamily="18" charset="2"/>
              </a:rPr>
              <a:t>R1</a:t>
            </a:r>
            <a:r>
              <a:rPr lang="en-US" altLang="en-US" baseline="-25000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(</a:t>
            </a:r>
            <a:r>
              <a:rPr lang="en-US" altLang="en-US" i="1" dirty="0">
                <a:sym typeface="Symbol" panose="05050102010706020507" pitchFamily="18" charset="2"/>
              </a:rPr>
              <a:t>r </a:t>
            </a:r>
            <a:r>
              <a:rPr lang="en-US" altLang="en-US" dirty="0">
                <a:sym typeface="Symbol" panose="05050102010706020507" pitchFamily="18" charset="2"/>
              </a:rPr>
              <a:t>)    </a:t>
            </a:r>
            <a:r>
              <a:rPr lang="en-US" altLang="en-US" i="1" baseline="-25000" dirty="0">
                <a:sym typeface="Symbol" panose="05050102010706020507" pitchFamily="18" charset="2"/>
              </a:rPr>
              <a:t>R2</a:t>
            </a:r>
            <a:r>
              <a:rPr lang="en-US" altLang="en-US" baseline="-25000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(</a:t>
            </a:r>
            <a:r>
              <a:rPr lang="en-US" altLang="en-US" i="1" dirty="0">
                <a:sym typeface="Symbol" panose="05050102010706020507" pitchFamily="18" charset="2"/>
              </a:rPr>
              <a:t>r </a:t>
            </a:r>
            <a:r>
              <a:rPr lang="en-US" altLang="en-US" dirty="0">
                <a:sym typeface="Symbol" panose="05050102010706020507" pitchFamily="18" charset="2"/>
              </a:rPr>
              <a:t>) </a:t>
            </a:r>
          </a:p>
          <a:p>
            <a:pPr algn="r" rtl="1">
              <a:tabLst>
                <a:tab pos="2292350" algn="l"/>
                <a:tab pos="2976563" algn="l"/>
              </a:tabLst>
            </a:pPr>
            <a:r>
              <a:rPr lang="fa-IR" dirty="0"/>
              <a:t>تجزیه </a:t>
            </a:r>
            <a:r>
              <a:rPr lang="en-US" dirty="0"/>
              <a:t>R </a:t>
            </a:r>
            <a:r>
              <a:rPr lang="fa-IR" dirty="0"/>
              <a:t>به </a:t>
            </a:r>
            <a:r>
              <a:rPr lang="en-US" dirty="0"/>
              <a:t>R1 </a:t>
            </a:r>
            <a:r>
              <a:rPr lang="fa-IR" dirty="0"/>
              <a:t>و </a:t>
            </a:r>
            <a:r>
              <a:rPr lang="en-US" dirty="0"/>
              <a:t>R2 </a:t>
            </a:r>
            <a:r>
              <a:rPr lang="fa-IR" dirty="0"/>
              <a:t>یک تجزیه بدون اتلاف است اگر حداقل یکی از </a:t>
            </a:r>
            <a:r>
              <a:rPr lang="fa-IR" dirty="0" err="1"/>
              <a:t>وابستگی‌های</a:t>
            </a:r>
            <a:r>
              <a:rPr lang="fa-IR" dirty="0"/>
              <a:t> زیر در </a:t>
            </a:r>
            <a:r>
              <a:rPr lang="en-US" dirty="0"/>
              <a:t>F⁺ </a:t>
            </a:r>
            <a:r>
              <a:rPr lang="fa-IR" dirty="0"/>
              <a:t>وجود داشته باشد:</a:t>
            </a:r>
            <a:endParaRPr lang="en-US" altLang="en-US" dirty="0"/>
          </a:p>
          <a:p>
            <a:pPr lvl="1" algn="r" rtl="1">
              <a:tabLst>
                <a:tab pos="2292350" algn="l"/>
                <a:tab pos="2976563" algn="l"/>
              </a:tabLst>
            </a:pPr>
            <a:r>
              <a:rPr lang="en-US" altLang="en-US" i="1" dirty="0"/>
              <a:t>R</a:t>
            </a:r>
            <a:r>
              <a:rPr lang="en-US" altLang="en-US" baseline="-25000" dirty="0"/>
              <a:t>1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 </a:t>
            </a:r>
            <a:r>
              <a:rPr lang="en-US" altLang="en-US" i="1" dirty="0"/>
              <a:t>R</a:t>
            </a:r>
            <a:r>
              <a:rPr lang="en-US" altLang="en-US" baseline="-25000" dirty="0"/>
              <a:t>2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/>
              <a:t>R</a:t>
            </a:r>
            <a:r>
              <a:rPr lang="en-US" altLang="en-US" baseline="-25000" dirty="0"/>
              <a:t>1</a:t>
            </a:r>
          </a:p>
          <a:p>
            <a:pPr lvl="1" algn="r" rtl="1">
              <a:tabLst>
                <a:tab pos="2292350" algn="l"/>
                <a:tab pos="2976563" algn="l"/>
              </a:tabLst>
            </a:pPr>
            <a:r>
              <a:rPr lang="en-US" altLang="en-US" i="1" dirty="0"/>
              <a:t>R</a:t>
            </a:r>
            <a:r>
              <a:rPr lang="en-US" altLang="en-US" baseline="-25000" dirty="0"/>
              <a:t>1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 </a:t>
            </a:r>
            <a:r>
              <a:rPr lang="en-US" altLang="en-US" i="1" dirty="0"/>
              <a:t>R</a:t>
            </a:r>
            <a:r>
              <a:rPr lang="en-US" altLang="en-US" baseline="-25000" dirty="0"/>
              <a:t>2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/>
              <a:t>R</a:t>
            </a:r>
            <a:r>
              <a:rPr lang="en-US" altLang="en-US" baseline="-25000" dirty="0"/>
              <a:t>2</a:t>
            </a:r>
            <a:endParaRPr lang="en-US" altLang="en-US" dirty="0"/>
          </a:p>
          <a:p>
            <a:pPr algn="r" rtl="1">
              <a:tabLst>
                <a:tab pos="2292350" algn="l"/>
                <a:tab pos="2976563" algn="l"/>
              </a:tabLst>
            </a:pP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بالا یک شرط کافی برای تجزیه بدون اتلاف هستند؛</a:t>
            </a:r>
            <a:br>
              <a:rPr lang="fa-IR" dirty="0"/>
            </a:br>
            <a:r>
              <a:rPr lang="fa-IR" dirty="0"/>
              <a:t>و این </a:t>
            </a:r>
            <a:r>
              <a:rPr lang="fa-IR" dirty="0" err="1"/>
              <a:t>وابستگی‌ها</a:t>
            </a:r>
            <a:r>
              <a:rPr lang="fa-IR" dirty="0"/>
              <a:t> زمانی شرط لازم هم هستند که همه </a:t>
            </a:r>
            <a:r>
              <a:rPr lang="fa-IR" dirty="0" err="1"/>
              <a:t>محدودیت‌ها</a:t>
            </a:r>
            <a:r>
              <a:rPr lang="fa-IR" dirty="0"/>
              <a:t>، وابستگی </a:t>
            </a:r>
            <a:r>
              <a:rPr lang="fa-IR" dirty="0" err="1"/>
              <a:t>تابعی</a:t>
            </a:r>
            <a:r>
              <a:rPr lang="fa-IR" dirty="0"/>
              <a:t> باشند.</a:t>
            </a:r>
            <a:endParaRPr lang="en-US" altLang="en-US" dirty="0">
              <a:sym typeface="Symbol" panose="05050102010706020507" pitchFamily="18" charset="2"/>
            </a:endParaRPr>
          </a:p>
        </p:txBody>
      </p:sp>
      <p:sp>
        <p:nvSpPr>
          <p:cNvPr id="22532" name="Freeform 4"/>
          <p:cNvSpPr>
            <a:spLocks/>
          </p:cNvSpPr>
          <p:nvPr/>
        </p:nvSpPr>
        <p:spPr bwMode="auto">
          <a:xfrm>
            <a:off x="7334093" y="2334703"/>
            <a:ext cx="142875" cy="142875"/>
          </a:xfrm>
          <a:custGeom>
            <a:avLst/>
            <a:gdLst>
              <a:gd name="T0" fmla="*/ 0 w 182"/>
              <a:gd name="T1" fmla="*/ 0 h 182"/>
              <a:gd name="T2" fmla="*/ 0 w 182"/>
              <a:gd name="T3" fmla="*/ 2147483647 h 182"/>
              <a:gd name="T4" fmla="*/ 2147483647 w 182"/>
              <a:gd name="T5" fmla="*/ 0 h 182"/>
              <a:gd name="T6" fmla="*/ 2147483647 w 182"/>
              <a:gd name="T7" fmla="*/ 2147483647 h 182"/>
              <a:gd name="T8" fmla="*/ 0 w 182"/>
              <a:gd name="T9" fmla="*/ 0 h 1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82"/>
              <a:gd name="T16" fmla="*/ 0 h 182"/>
              <a:gd name="T17" fmla="*/ 182 w 182"/>
              <a:gd name="T18" fmla="*/ 182 h 1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82" h="182">
                <a:moveTo>
                  <a:pt x="0" y="0"/>
                </a:moveTo>
                <a:lnTo>
                  <a:pt x="0" y="182"/>
                </a:lnTo>
                <a:lnTo>
                  <a:pt x="182" y="0"/>
                </a:lnTo>
                <a:lnTo>
                  <a:pt x="182" y="182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99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2800" dirty="0">
                <a:ea typeface="ＭＳ Ｐゴシック" pitchFamily="34" charset="-128"/>
              </a:rPr>
              <a:t>Example</a:t>
            </a:r>
          </a:p>
        </p:txBody>
      </p:sp>
      <p:sp>
        <p:nvSpPr>
          <p:cNvPr id="926723" name="Rectangle 3"/>
          <p:cNvSpPr>
            <a:spLocks noGrp="1" noChangeArrowheads="1"/>
          </p:cNvSpPr>
          <p:nvPr>
            <p:ph idx="1"/>
          </p:nvPr>
        </p:nvSpPr>
        <p:spPr>
          <a:xfrm>
            <a:off x="508000" y="972458"/>
            <a:ext cx="8337549" cy="5573486"/>
          </a:xfrm>
        </p:spPr>
        <p:txBody>
          <a:bodyPr/>
          <a:lstStyle/>
          <a:p>
            <a:pPr>
              <a:tabLst>
                <a:tab pos="2054225" algn="l"/>
              </a:tabLst>
            </a:pPr>
            <a:r>
              <a:rPr lang="en-US" altLang="en-US" sz="2400" i="1" dirty="0"/>
              <a:t>R = (A, B, C)</a:t>
            </a:r>
            <a:br>
              <a:rPr lang="en-US" altLang="en-US" sz="2400" i="1" dirty="0"/>
            </a:br>
            <a:r>
              <a:rPr lang="en-US" altLang="en-US" sz="2400" i="1" dirty="0"/>
              <a:t>F = {A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B, B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C)</a:t>
            </a:r>
          </a:p>
          <a:p>
            <a:pPr>
              <a:tabLst>
                <a:tab pos="2054225" algn="l"/>
              </a:tabLst>
            </a:pP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baseline="-25000" dirty="0">
                <a:sym typeface="Monotype Sorts" pitchFamily="-84" charset="2"/>
              </a:rPr>
              <a:t>1</a:t>
            </a:r>
            <a:r>
              <a:rPr lang="en-US" altLang="en-US" sz="2400" i="1" dirty="0">
                <a:sym typeface="Monotype Sorts" pitchFamily="-84" charset="2"/>
              </a:rPr>
              <a:t> = (A, B),   R</a:t>
            </a:r>
            <a:r>
              <a:rPr lang="en-US" altLang="en-US" sz="2400" baseline="-25000" dirty="0">
                <a:sym typeface="Monotype Sorts" pitchFamily="-84" charset="2"/>
              </a:rPr>
              <a:t>2</a:t>
            </a:r>
            <a:r>
              <a:rPr lang="en-US" altLang="en-US" sz="2400" i="1" dirty="0">
                <a:sym typeface="Monotype Sorts" pitchFamily="-84" charset="2"/>
              </a:rPr>
              <a:t> = (B, C)</a:t>
            </a:r>
          </a:p>
          <a:p>
            <a:pPr lvl="1" algn="r" rtl="1">
              <a:tabLst>
                <a:tab pos="2054225" algn="l"/>
              </a:tabLst>
            </a:pPr>
            <a:r>
              <a:rPr lang="fa-IR" altLang="en-US" sz="2400" dirty="0">
                <a:sym typeface="Monotype Sorts" pitchFamily="-84" charset="2"/>
              </a:rPr>
              <a:t>تجزیه بدون اتلاف:</a:t>
            </a:r>
            <a:endParaRPr lang="en-US" altLang="en-US" sz="2400" dirty="0">
              <a:sym typeface="Monotype Sorts" pitchFamily="-84" charset="2"/>
            </a:endParaRPr>
          </a:p>
          <a:p>
            <a:pPr lvl="1">
              <a:buFont typeface="Monotype Sorts" pitchFamily="-84" charset="2"/>
              <a:buNone/>
              <a:tabLst>
                <a:tab pos="2054225" algn="l"/>
              </a:tabLst>
            </a:pPr>
            <a:r>
              <a:rPr lang="en-US" altLang="en-US" sz="2400" dirty="0">
                <a:sym typeface="Monotype Sorts" pitchFamily="-84" charset="2"/>
              </a:rPr>
              <a:t>	       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baseline="-25000" dirty="0">
                <a:sym typeface="Monotype Sorts" pitchFamily="-84" charset="2"/>
              </a:rPr>
              <a:t>1  </a:t>
            </a:r>
            <a:r>
              <a:rPr lang="en-US" altLang="en-US" sz="2400" dirty="0">
                <a:sym typeface="Symbol" panose="05050102010706020507" pitchFamily="18" charset="2"/>
              </a:rPr>
              <a:t>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baseline="-25000" dirty="0">
                <a:sym typeface="Monotype Sorts" pitchFamily="-84" charset="2"/>
              </a:rPr>
              <a:t>2</a:t>
            </a:r>
            <a:r>
              <a:rPr lang="en-US" altLang="en-US" sz="2400" i="1" dirty="0">
                <a:sym typeface="Monotype Sorts" pitchFamily="-84" charset="2"/>
              </a:rPr>
              <a:t> = </a:t>
            </a:r>
            <a:r>
              <a:rPr lang="en-US" altLang="en-US" sz="2400" dirty="0">
                <a:sym typeface="Monotype Sorts" pitchFamily="-84" charset="2"/>
              </a:rPr>
              <a:t>{</a:t>
            </a:r>
            <a:r>
              <a:rPr lang="en-US" altLang="en-US" sz="2400" i="1" dirty="0">
                <a:sym typeface="Monotype Sorts" pitchFamily="-84" charset="2"/>
              </a:rPr>
              <a:t>B</a:t>
            </a:r>
            <a:r>
              <a:rPr lang="en-US" altLang="en-US" sz="2400" dirty="0">
                <a:sym typeface="Monotype Sorts" pitchFamily="-84" charset="2"/>
              </a:rPr>
              <a:t>}</a:t>
            </a:r>
            <a:r>
              <a:rPr lang="en-US" altLang="en-US" sz="2400" i="1" dirty="0">
                <a:sym typeface="Monotype Sorts" pitchFamily="-84" charset="2"/>
              </a:rPr>
              <a:t>  </a:t>
            </a:r>
            <a:r>
              <a:rPr lang="en-US" altLang="en-US" sz="2400" dirty="0">
                <a:sym typeface="Monotype Sorts" pitchFamily="-84" charset="2"/>
              </a:rPr>
              <a:t>and </a:t>
            </a:r>
            <a:r>
              <a:rPr lang="en-US" altLang="en-US" sz="2400" i="1" dirty="0">
                <a:sym typeface="Monotype Sorts" pitchFamily="-84" charset="2"/>
              </a:rPr>
              <a:t>B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BC</a:t>
            </a:r>
          </a:p>
          <a:p>
            <a:pPr>
              <a:tabLst>
                <a:tab pos="2054225" algn="l"/>
              </a:tabLst>
            </a:pP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i="1" baseline="-25000" dirty="0">
                <a:sym typeface="Monotype Sorts" pitchFamily="-84" charset="2"/>
              </a:rPr>
              <a:t>1 </a:t>
            </a:r>
            <a:r>
              <a:rPr lang="en-US" altLang="en-US" sz="2400" i="1" dirty="0">
                <a:sym typeface="Monotype Sorts" pitchFamily="-84" charset="2"/>
              </a:rPr>
              <a:t>= (A, B),   R</a:t>
            </a:r>
            <a:r>
              <a:rPr lang="en-US" altLang="en-US" sz="2400" baseline="-25000" dirty="0">
                <a:sym typeface="Monotype Sorts" pitchFamily="-84" charset="2"/>
              </a:rPr>
              <a:t>2</a:t>
            </a:r>
            <a:r>
              <a:rPr lang="en-US" altLang="en-US" sz="2400" i="1" dirty="0">
                <a:sym typeface="Monotype Sorts" pitchFamily="-84" charset="2"/>
              </a:rPr>
              <a:t> = (A, C)</a:t>
            </a:r>
          </a:p>
          <a:p>
            <a:pPr lvl="1" algn="r" rtl="1">
              <a:tabLst>
                <a:tab pos="2054225" algn="l"/>
              </a:tabLst>
            </a:pPr>
            <a:r>
              <a:rPr lang="fa-IR" altLang="en-US" sz="2400" dirty="0">
                <a:sym typeface="Monotype Sorts" pitchFamily="-84" charset="2"/>
              </a:rPr>
              <a:t>تجزیه بدون اتلاف:</a:t>
            </a:r>
            <a:endParaRPr lang="en-US" altLang="en-US" sz="2400" dirty="0">
              <a:sym typeface="Monotype Sorts" pitchFamily="-84" charset="2"/>
            </a:endParaRPr>
          </a:p>
          <a:p>
            <a:pPr lvl="1">
              <a:buFont typeface="Monotype Sorts" pitchFamily="-84" charset="2"/>
              <a:buNone/>
              <a:tabLst>
                <a:tab pos="2054225" algn="l"/>
              </a:tabLst>
            </a:pPr>
            <a:r>
              <a:rPr lang="en-US" altLang="en-US" sz="2400" dirty="0">
                <a:sym typeface="Monotype Sorts" pitchFamily="-84" charset="2"/>
              </a:rPr>
              <a:t>            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baseline="-25000" dirty="0">
                <a:sym typeface="Monotype Sorts" pitchFamily="-84" charset="2"/>
              </a:rPr>
              <a:t>1  </a:t>
            </a:r>
            <a:r>
              <a:rPr lang="en-US" altLang="en-US" sz="2400" dirty="0">
                <a:sym typeface="Symbol" panose="05050102010706020507" pitchFamily="18" charset="2"/>
              </a:rPr>
              <a:t> </a:t>
            </a:r>
            <a:r>
              <a:rPr lang="en-US" altLang="en-US" sz="2400" i="1" dirty="0">
                <a:sym typeface="Monotype Sorts" pitchFamily="-84" charset="2"/>
              </a:rPr>
              <a:t>R</a:t>
            </a:r>
            <a:r>
              <a:rPr lang="en-US" altLang="en-US" sz="2400" baseline="-25000" dirty="0">
                <a:sym typeface="Monotype Sorts" pitchFamily="-84" charset="2"/>
              </a:rPr>
              <a:t>2</a:t>
            </a:r>
            <a:r>
              <a:rPr lang="en-US" altLang="en-US" sz="2400" i="1" dirty="0">
                <a:sym typeface="Monotype Sorts" pitchFamily="-84" charset="2"/>
              </a:rPr>
              <a:t> =</a:t>
            </a:r>
            <a:r>
              <a:rPr lang="en-US" altLang="en-US" sz="2400" dirty="0">
                <a:sym typeface="Monotype Sorts" pitchFamily="-84" charset="2"/>
              </a:rPr>
              <a:t> {</a:t>
            </a:r>
            <a:r>
              <a:rPr lang="en-US" altLang="en-US" sz="2400" i="1" dirty="0">
                <a:sym typeface="Monotype Sorts" pitchFamily="-84" charset="2"/>
              </a:rPr>
              <a:t>A</a:t>
            </a:r>
            <a:r>
              <a:rPr lang="en-US" altLang="en-US" sz="2400" dirty="0">
                <a:sym typeface="Monotype Sorts" pitchFamily="-84" charset="2"/>
              </a:rPr>
              <a:t>}</a:t>
            </a:r>
            <a:r>
              <a:rPr lang="en-US" altLang="en-US" sz="2400" i="1" dirty="0">
                <a:sym typeface="Monotype Sorts" pitchFamily="-84" charset="2"/>
              </a:rPr>
              <a:t>  </a:t>
            </a:r>
            <a:r>
              <a:rPr lang="en-US" altLang="en-US" sz="2400" dirty="0">
                <a:sym typeface="Monotype Sorts" pitchFamily="-84" charset="2"/>
              </a:rPr>
              <a:t>and </a:t>
            </a:r>
            <a:r>
              <a:rPr lang="en-US" altLang="en-US" sz="2400" i="1" dirty="0">
                <a:sym typeface="Monotype Sorts" pitchFamily="-84" charset="2"/>
              </a:rPr>
              <a:t>A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A</a:t>
            </a:r>
            <a:r>
              <a:rPr lang="en-US" altLang="en-US" sz="2400" i="1" dirty="0">
                <a:sym typeface="Monotype Sorts" pitchFamily="-84" charset="2"/>
              </a:rPr>
              <a:t>B</a:t>
            </a:r>
          </a:p>
          <a:p>
            <a:pPr algn="r" rtl="1">
              <a:tabLst>
                <a:tab pos="2054225" algn="l"/>
              </a:tabLst>
            </a:pPr>
            <a:r>
              <a:rPr lang="fa-IR" altLang="en-US" sz="2400" i="1" dirty="0">
                <a:sym typeface="Monotype Sorts" pitchFamily="-84" charset="2"/>
              </a:rPr>
              <a:t>نکته:</a:t>
            </a:r>
            <a:endParaRPr lang="en-US" altLang="en-US" sz="2400" i="1" dirty="0">
              <a:sym typeface="Monotype Sorts" pitchFamily="-84" charset="2"/>
            </a:endParaRPr>
          </a:p>
          <a:p>
            <a:pPr lvl="1">
              <a:tabLst>
                <a:tab pos="2054225" algn="l"/>
              </a:tabLst>
            </a:pPr>
            <a:r>
              <a:rPr lang="en-US" altLang="en-US" sz="2400" i="1" dirty="0">
                <a:sym typeface="Monotype Sorts" pitchFamily="-84" charset="2"/>
              </a:rPr>
              <a:t> B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</a:t>
            </a:r>
            <a:r>
              <a:rPr lang="en-US" altLang="en-US" sz="2400" i="1" dirty="0">
                <a:sym typeface="Monotype Sorts" pitchFamily="-84" charset="2"/>
              </a:rPr>
              <a:t>BC </a:t>
            </a:r>
          </a:p>
          <a:p>
            <a:pPr lvl="1" algn="r" rtl="1">
              <a:buFont typeface="Monotype Sorts" pitchFamily="-84" charset="2"/>
              <a:buNone/>
              <a:tabLst>
                <a:tab pos="2054225" algn="l"/>
              </a:tabLst>
            </a:pPr>
            <a:r>
              <a:rPr lang="en-US" altLang="en-US" sz="2400" i="1" dirty="0">
                <a:sym typeface="Monotype Sorts" pitchFamily="-84" charset="2"/>
              </a:rPr>
              <a:t>         </a:t>
            </a:r>
            <a:r>
              <a:rPr lang="fa-IR" altLang="en-US" sz="2400" dirty="0">
                <a:sym typeface="Monotype Sorts" pitchFamily="-84" charset="2"/>
              </a:rPr>
              <a:t>خلاصه شده پایینی ا</a:t>
            </a:r>
            <a:r>
              <a:rPr lang="fa-IR" sz="2400" dirty="0"/>
              <a:t>ست:</a:t>
            </a:r>
            <a:endParaRPr lang="en-US" altLang="en-US" sz="2400" dirty="0">
              <a:sym typeface="Monotype Sorts" pitchFamily="-84" charset="2"/>
            </a:endParaRPr>
          </a:p>
          <a:p>
            <a:pPr lvl="1">
              <a:tabLst>
                <a:tab pos="2054225" algn="l"/>
              </a:tabLst>
            </a:pPr>
            <a:r>
              <a:rPr lang="en-US" altLang="en-US" sz="2400" i="1" dirty="0">
                <a:sym typeface="Monotype Sorts" pitchFamily="-84" charset="2"/>
              </a:rPr>
              <a:t> B </a:t>
            </a:r>
            <a:r>
              <a:rPr lang="en-US" altLang="en-US" sz="2400" dirty="0">
                <a:sym typeface="Symbol" panose="05050102010706020507" pitchFamily="18" charset="2"/>
              </a:rPr>
              <a:t></a:t>
            </a:r>
            <a:r>
              <a:rPr lang="en-US" altLang="en-US" sz="2400" dirty="0">
                <a:sym typeface="Monotype Sorts" pitchFamily="-84" charset="2"/>
              </a:rPr>
              <a:t> {</a:t>
            </a:r>
            <a:r>
              <a:rPr lang="en-US" altLang="en-US" sz="2400" i="1" dirty="0">
                <a:sym typeface="Monotype Sorts" pitchFamily="-84" charset="2"/>
              </a:rPr>
              <a:t>B, C</a:t>
            </a:r>
            <a:r>
              <a:rPr lang="en-US" altLang="en-US" sz="2400" dirty="0">
                <a:sym typeface="Monotype Sorts" pitchFamily="-84" charset="2"/>
              </a:rPr>
              <a:t>}</a:t>
            </a:r>
            <a:endParaRPr lang="en-US" altLang="en-US" sz="2400" i="1" dirty="0">
              <a:sym typeface="Monotype Sorts" pitchFamily="-84" charset="2"/>
            </a:endParaRPr>
          </a:p>
          <a:p>
            <a:pPr lvl="1">
              <a:tabLst>
                <a:tab pos="2054225" algn="l"/>
              </a:tabLst>
            </a:pPr>
            <a:endParaRPr lang="en-US" altLang="en-US" sz="3200" i="1" dirty="0">
              <a:sym typeface="Monotype Sorts" pitchFamily="-84" charset="2"/>
            </a:endParaRPr>
          </a:p>
          <a:p>
            <a:pPr lvl="1">
              <a:tabLst>
                <a:tab pos="2054225" algn="l"/>
              </a:tabLst>
            </a:pPr>
            <a:endParaRPr lang="en-US" altLang="en-US" sz="3200" i="1" dirty="0">
              <a:sym typeface="Monotype Sorts" pitchFamily="-84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81345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6723" grpId="0" build="p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066" name="Rectangle 2"/>
          <p:cNvSpPr>
            <a:spLocks noGrp="1" noChangeArrowheads="1"/>
          </p:cNvSpPr>
          <p:nvPr>
            <p:ph type="title"/>
          </p:nvPr>
        </p:nvSpPr>
        <p:spPr>
          <a:xfrm>
            <a:off x="709613" y="296949"/>
            <a:ext cx="7993062" cy="441325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Dependency Preservation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idx="1"/>
          </p:nvPr>
        </p:nvSpPr>
        <p:spPr>
          <a:xfrm>
            <a:off x="362857" y="1093787"/>
            <a:ext cx="7805783" cy="5350555"/>
          </a:xfrm>
        </p:spPr>
        <p:txBody>
          <a:bodyPr/>
          <a:lstStyle/>
          <a:p>
            <a:pPr algn="r" rtl="1"/>
            <a:r>
              <a:rPr lang="fa-IR" sz="2400" dirty="0"/>
              <a:t>بررسی </a:t>
            </a:r>
            <a:r>
              <a:rPr lang="fa-IR" sz="2400" dirty="0" err="1"/>
              <a:t>محدودیت‌های</a:t>
            </a:r>
            <a:r>
              <a:rPr lang="fa-IR" sz="2400" dirty="0"/>
              <a:t> وابستگی </a:t>
            </a:r>
            <a:r>
              <a:rPr lang="fa-IR" sz="2400" dirty="0" err="1"/>
              <a:t>تابعی</a:t>
            </a:r>
            <a:r>
              <a:rPr lang="fa-IR" sz="2400" dirty="0"/>
              <a:t> هر بار که پایگاه داده </a:t>
            </a:r>
            <a:r>
              <a:rPr lang="fa-IR" sz="2400" dirty="0" err="1"/>
              <a:t>به‌روزرسانی</a:t>
            </a:r>
            <a:r>
              <a:rPr lang="fa-IR" sz="2400" dirty="0"/>
              <a:t> </a:t>
            </a:r>
            <a:r>
              <a:rPr lang="fa-IR" sz="2400" dirty="0" err="1"/>
              <a:t>می‌شود</a:t>
            </a:r>
            <a:r>
              <a:rPr lang="fa-IR" sz="2400" dirty="0"/>
              <a:t> </a:t>
            </a:r>
            <a:r>
              <a:rPr lang="fa-IR" sz="2400" dirty="0" err="1"/>
              <a:t>می‌تواند</a:t>
            </a:r>
            <a:r>
              <a:rPr lang="fa-IR" sz="2400" dirty="0"/>
              <a:t> بسیار پرهزینه باشد.</a:t>
            </a:r>
          </a:p>
          <a:p>
            <a:pPr algn="r" rtl="1"/>
            <a:r>
              <a:rPr lang="fa-IR" sz="2400" dirty="0"/>
              <a:t>مفید است که پایگاه داده به </a:t>
            </a:r>
            <a:r>
              <a:rPr lang="fa-IR" sz="2400" dirty="0" err="1"/>
              <a:t>گونه‌ای</a:t>
            </a:r>
            <a:r>
              <a:rPr lang="fa-IR" sz="2400" dirty="0"/>
              <a:t> طراحی شود که بتوان </a:t>
            </a:r>
            <a:r>
              <a:rPr lang="fa-IR" sz="2400" dirty="0" err="1"/>
              <a:t>محدودیت‌ها</a:t>
            </a:r>
            <a:r>
              <a:rPr lang="fa-IR" sz="2400" dirty="0"/>
              <a:t> را </a:t>
            </a:r>
            <a:r>
              <a:rPr lang="fa-IR" sz="2400" dirty="0" err="1"/>
              <a:t>به‌صورت</a:t>
            </a:r>
            <a:r>
              <a:rPr lang="fa-IR" sz="2400" dirty="0"/>
              <a:t> کارآمد و سریع بررسی کرد.</a:t>
            </a:r>
          </a:p>
          <a:p>
            <a:pPr algn="r" rtl="1"/>
            <a:r>
              <a:rPr lang="fa-IR" sz="2400" dirty="0"/>
              <a:t>اگر بررسی یک وابستگی </a:t>
            </a:r>
            <a:r>
              <a:rPr lang="fa-IR" sz="2400" dirty="0" err="1"/>
              <a:t>تابعی</a:t>
            </a:r>
            <a:r>
              <a:rPr lang="fa-IR" sz="2400" dirty="0"/>
              <a:t> تنها با استفاده از یک رابطه قابل انجام باشد، هزینه بررسی آن بسیار کم خواهد بود.</a:t>
            </a:r>
          </a:p>
          <a:p>
            <a:pPr algn="r" rtl="1"/>
            <a:r>
              <a:rPr lang="fa-IR" sz="2400" dirty="0"/>
              <a:t>هنگام تجزیه یک رابطه ممکن است وضعیت </a:t>
            </a:r>
            <a:r>
              <a:rPr lang="fa-IR" sz="2400" dirty="0" err="1"/>
              <a:t>به‌گونه‌ای</a:t>
            </a:r>
            <a:r>
              <a:rPr lang="fa-IR" sz="2400" dirty="0"/>
              <a:t> شود که برای بررسی یک وابستگی </a:t>
            </a:r>
            <a:r>
              <a:rPr lang="fa-IR" sz="2400" dirty="0" err="1"/>
              <a:t>تابعی</a:t>
            </a:r>
            <a:r>
              <a:rPr lang="fa-IR" sz="2400" dirty="0"/>
              <a:t> مجبور به انجام ضرب دکارتی باشیم.</a:t>
            </a:r>
          </a:p>
          <a:p>
            <a:pPr algn="r" rtl="1"/>
            <a:r>
              <a:rPr lang="fa-IR" sz="2400" dirty="0" err="1"/>
              <a:t>تجزیه‌ای</a:t>
            </a:r>
            <a:r>
              <a:rPr lang="fa-IR" sz="2400" dirty="0"/>
              <a:t> که اجرای وابستگی </a:t>
            </a:r>
            <a:r>
              <a:rPr lang="fa-IR" sz="2400" dirty="0" err="1"/>
              <a:t>تابعی</a:t>
            </a:r>
            <a:r>
              <a:rPr lang="fa-IR" sz="2400" dirty="0"/>
              <a:t> را از نظر </a:t>
            </a:r>
            <a:r>
              <a:rPr lang="fa-IR" sz="2400" dirty="0" err="1"/>
              <a:t>محاسباتی</a:t>
            </a:r>
            <a:r>
              <a:rPr lang="fa-IR" sz="2400" dirty="0"/>
              <a:t> دشوار کند، «</a:t>
            </a:r>
            <a:r>
              <a:rPr lang="fa-IR" sz="2400" dirty="0" err="1"/>
              <a:t>حفظ‌کننده</a:t>
            </a:r>
            <a:r>
              <a:rPr lang="fa-IR" sz="2400" dirty="0"/>
              <a:t> وابستگی» محسوب </a:t>
            </a:r>
            <a:r>
              <a:rPr lang="fa-IR" sz="2400" dirty="0" err="1"/>
              <a:t>نمی‌شود</a:t>
            </a:r>
            <a:r>
              <a:rPr lang="fa-I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025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066" name="Rectangle 2"/>
          <p:cNvSpPr>
            <a:spLocks noGrp="1" noChangeArrowheads="1"/>
          </p:cNvSpPr>
          <p:nvPr>
            <p:ph type="title"/>
          </p:nvPr>
        </p:nvSpPr>
        <p:spPr>
          <a:xfrm>
            <a:off x="709613" y="264699"/>
            <a:ext cx="7993062" cy="497639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Dependency Preservation Example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idx="1"/>
          </p:nvPr>
        </p:nvSpPr>
        <p:spPr>
          <a:xfrm>
            <a:off x="781235" y="1093788"/>
            <a:ext cx="7472749" cy="4526724"/>
          </a:xfrm>
        </p:spPr>
        <p:txBody>
          <a:bodyPr/>
          <a:lstStyle/>
          <a:p>
            <a:pPr algn="r" rtl="1">
              <a:defRPr/>
            </a:pPr>
            <a:r>
              <a:rPr lang="fa-IR" sz="1800" dirty="0"/>
              <a:t>در یک </a:t>
            </a:r>
            <a:r>
              <a:rPr lang="fa-IR" sz="1800" dirty="0" err="1"/>
              <a:t>شِما</a:t>
            </a:r>
            <a:r>
              <a:rPr lang="fa-IR" sz="1800" dirty="0"/>
              <a:t>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</a:t>
            </a:r>
            <a:r>
              <a:rPr lang="en-US" altLang="en-US" sz="1700" i="1" dirty="0"/>
              <a:t>dept_advisor(s_ID, i_ID, department_name</a:t>
            </a:r>
            <a:r>
              <a:rPr lang="en-US" altLang="en-US" sz="1700" dirty="0"/>
              <a:t>)</a:t>
            </a:r>
          </a:p>
          <a:p>
            <a:pPr algn="r" rtl="1">
              <a:defRPr/>
            </a:pPr>
            <a:r>
              <a:rPr lang="fa-IR" sz="1800" dirty="0"/>
              <a:t>و با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 زیر: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    </a:t>
            </a:r>
            <a:r>
              <a:rPr lang="en-US" altLang="en-US" sz="1700" i="1" dirty="0"/>
              <a:t>i_ID</a:t>
            </a:r>
            <a:r>
              <a:rPr lang="en-US" altLang="en-US" sz="1700" dirty="0"/>
              <a:t> </a:t>
            </a:r>
            <a:r>
              <a:rPr lang="en-US" altLang="en-US" sz="1700" dirty="0">
                <a:sym typeface="Symbol" pitchFamily="18" charset="2"/>
              </a:rPr>
              <a:t>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    </a:t>
            </a:r>
            <a:r>
              <a:rPr lang="en-US" altLang="en-US" sz="1700" i="1" dirty="0"/>
              <a:t>s_ID,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  <a:r>
              <a:rPr lang="en-US" altLang="en-US" sz="1700" i="1" dirty="0"/>
              <a:t> </a:t>
            </a:r>
            <a:r>
              <a:rPr lang="en-US" altLang="en-US" sz="1700" dirty="0">
                <a:sym typeface="Symbol" pitchFamily="18" charset="2"/>
              </a:rPr>
              <a:t> </a:t>
            </a:r>
            <a:r>
              <a:rPr lang="en-US" altLang="en-US" sz="1700" i="1" dirty="0" err="1">
                <a:sym typeface="Symbol" pitchFamily="18" charset="2"/>
              </a:rPr>
              <a:t>i_ID</a:t>
            </a:r>
            <a:endParaRPr lang="en-US" altLang="en-US" sz="1700" i="1" dirty="0">
              <a:sym typeface="Symbol" pitchFamily="18" charset="2"/>
            </a:endParaRPr>
          </a:p>
          <a:p>
            <a:pPr marL="0" indent="0" algn="r" rtl="1">
              <a:buNone/>
              <a:defRPr/>
            </a:pPr>
            <a:r>
              <a:rPr lang="fa-IR" sz="1800" dirty="0"/>
              <a:t>در طراحی بالا مجبور هستیم نام دپارتمان را برای هر بار که یک استاد در رابطه </a:t>
            </a:r>
            <a:r>
              <a:rPr lang="en-US" sz="1800" dirty="0" err="1"/>
              <a:t>dept_advisor</a:t>
            </a:r>
            <a:r>
              <a:rPr lang="en-US" sz="1800" dirty="0"/>
              <a:t> </a:t>
            </a:r>
            <a:r>
              <a:rPr lang="fa-IR" sz="1800" dirty="0"/>
              <a:t>ظاهر </a:t>
            </a:r>
            <a:r>
              <a:rPr lang="fa-IR" sz="1800" dirty="0" err="1"/>
              <a:t>می‌شود</a:t>
            </a:r>
            <a:r>
              <a:rPr lang="fa-IR" sz="1800" dirty="0"/>
              <a:t>، تکرار کنیم.</a:t>
            </a:r>
            <a:r>
              <a:rPr lang="en-US" altLang="en-US" sz="1700" dirty="0">
                <a:sym typeface="Symbol" pitchFamily="18" charset="2"/>
              </a:rPr>
              <a:t>  </a:t>
            </a:r>
          </a:p>
          <a:p>
            <a:pPr algn="r" rtl="1">
              <a:defRPr/>
            </a:pPr>
            <a:r>
              <a:rPr lang="fa-IR" sz="1800" dirty="0"/>
              <a:t>برای رفع این مشکل باید رابطه </a:t>
            </a:r>
            <a:r>
              <a:rPr lang="en-US" sz="1800" dirty="0" err="1"/>
              <a:t>dept_advisor</a:t>
            </a:r>
            <a:r>
              <a:rPr lang="en-US" sz="1800" dirty="0"/>
              <a:t> </a:t>
            </a:r>
            <a:r>
              <a:rPr lang="fa-IR" sz="1800" dirty="0"/>
              <a:t>را تجزیه کنیم.</a:t>
            </a:r>
            <a:endParaRPr lang="en-US" altLang="en-US" sz="1700" i="1" dirty="0"/>
          </a:p>
          <a:p>
            <a:pPr algn="r" rtl="1">
              <a:defRPr/>
            </a:pPr>
            <a:r>
              <a:rPr lang="fa-IR" sz="1800" dirty="0"/>
              <a:t>اما هر </a:t>
            </a:r>
            <a:r>
              <a:rPr lang="fa-IR" sz="1800" dirty="0" err="1"/>
              <a:t>تجزیه‌ای</a:t>
            </a:r>
            <a:r>
              <a:rPr lang="fa-IR" sz="1800" dirty="0"/>
              <a:t> انجام دهیم، تمام صفات موجود در وابستگی</a:t>
            </a:r>
            <a:endParaRPr lang="en-US" altLang="en-US" sz="1700" dirty="0">
              <a:sym typeface="Symbol" pitchFamily="18" charset="2"/>
            </a:endParaRPr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>
                <a:sym typeface="Symbol" pitchFamily="18" charset="2"/>
              </a:rPr>
              <a:t>            </a:t>
            </a:r>
            <a:r>
              <a:rPr lang="en-US" altLang="en-US" sz="1700" i="1" dirty="0"/>
              <a:t>s_ID,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  <a:r>
              <a:rPr lang="en-US" altLang="en-US" sz="1700" i="1" dirty="0"/>
              <a:t> </a:t>
            </a:r>
            <a:r>
              <a:rPr lang="en-US" altLang="en-US" sz="1700" i="1" dirty="0">
                <a:sym typeface="Symbol" pitchFamily="18" charset="2"/>
              </a:rPr>
              <a:t> </a:t>
            </a:r>
            <a:r>
              <a:rPr lang="en-US" altLang="en-US" sz="1700" i="1" dirty="0" err="1">
                <a:sym typeface="Symbol" pitchFamily="18" charset="2"/>
              </a:rPr>
              <a:t>i_ID</a:t>
            </a:r>
            <a:endParaRPr lang="fa-IR" altLang="en-US" sz="1700" i="1" dirty="0">
              <a:sym typeface="Symbol" pitchFamily="18" charset="2"/>
            </a:endParaRPr>
          </a:p>
          <a:p>
            <a:pPr algn="r" rtl="1">
              <a:buFont typeface="Monotype Sorts" pitchFamily="-84" charset="2"/>
              <a:buNone/>
              <a:defRPr/>
            </a:pPr>
            <a:r>
              <a:rPr lang="fa-IR" sz="1800" dirty="0"/>
              <a:t>در یک رابطه واحد باقی نخواهند ماند.</a:t>
            </a:r>
            <a:endParaRPr lang="en-US" altLang="en-US" sz="1700" i="1" dirty="0">
              <a:sym typeface="Symbol" pitchFamily="18" charset="2"/>
            </a:endParaRPr>
          </a:p>
          <a:p>
            <a:pPr algn="r" rtl="1">
              <a:defRPr/>
            </a:pPr>
            <a:r>
              <a:rPr lang="fa-IR" sz="1800" dirty="0"/>
              <a:t>به همین دلیل، ترکیب حاصل </a:t>
            </a:r>
            <a:r>
              <a:rPr lang="fa-IR" sz="1800" dirty="0" err="1"/>
              <a:t>وابستگی‌ها</a:t>
            </a:r>
            <a:r>
              <a:rPr lang="fa-IR" sz="1800" dirty="0"/>
              <a:t> را حفظ </a:t>
            </a:r>
            <a:r>
              <a:rPr lang="fa-IR" sz="1800" dirty="0" err="1"/>
              <a:t>نمی‌کند</a:t>
            </a:r>
            <a:r>
              <a:rPr lang="fa-IR" sz="1800" dirty="0"/>
              <a:t> (</a:t>
            </a:r>
            <a:r>
              <a:rPr lang="en-US" sz="1800" dirty="0"/>
              <a:t>dependency preserving </a:t>
            </a:r>
            <a:r>
              <a:rPr lang="fa-IR" sz="1800" dirty="0"/>
              <a:t>نیست).</a:t>
            </a:r>
            <a:endParaRPr lang="en-US" altLang="en-US" sz="1700" dirty="0">
              <a:sym typeface="Symbol" pitchFamily="18" charset="2"/>
            </a:endParaRPr>
          </a:p>
          <a:p>
            <a:pPr>
              <a:buFont typeface="Monotype Sorts" pitchFamily="-84" charset="2"/>
              <a:buNone/>
              <a:defRPr/>
            </a:pPr>
            <a:endParaRPr lang="en-US" altLang="en-US" sz="1700" dirty="0">
              <a:sym typeface="Symbol" pitchFamily="18" charset="2"/>
            </a:endParaRPr>
          </a:p>
          <a:p>
            <a:pPr>
              <a:defRPr/>
            </a:pP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7808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2885243" y="2286000"/>
            <a:ext cx="3901320" cy="1479550"/>
          </a:xfrm>
        </p:spPr>
        <p:txBody>
          <a:bodyPr/>
          <a:lstStyle/>
          <a:p>
            <a:pPr algn="ctr">
              <a:buFont typeface="Monotype Sorts" charset="2"/>
              <a:buNone/>
              <a:defRPr/>
            </a:pPr>
            <a:r>
              <a:rPr lang="fa-IR" sz="3200" dirty="0" err="1"/>
              <a:t>نرمال‌فرم‌ها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15827623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Boyce-Codd Normal Form</a:t>
            </a:r>
          </a:p>
        </p:txBody>
      </p:sp>
      <p:sp>
        <p:nvSpPr>
          <p:cNvPr id="683011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63639"/>
            <a:ext cx="7541149" cy="2664650"/>
          </a:xfrm>
        </p:spPr>
        <p:txBody>
          <a:bodyPr/>
          <a:lstStyle/>
          <a:p>
            <a:pPr algn="r" rtl="1">
              <a:lnSpc>
                <a:spcPct val="90000"/>
              </a:lnSpc>
            </a:pPr>
            <a:r>
              <a:rPr lang="fa-IR" sz="1800" dirty="0"/>
              <a:t>یک </a:t>
            </a:r>
            <a:r>
              <a:rPr lang="fa-IR" sz="1800" dirty="0" err="1"/>
              <a:t>شِمای</a:t>
            </a:r>
            <a:r>
              <a:rPr lang="fa-IR" sz="1800" dirty="0"/>
              <a:t> </a:t>
            </a:r>
            <a:r>
              <a:rPr lang="fa-IR" sz="1800" dirty="0" err="1"/>
              <a:t>رابطه‌ای</a:t>
            </a:r>
            <a:r>
              <a:rPr lang="fa-IR" sz="1800" dirty="0"/>
              <a:t> </a:t>
            </a:r>
            <a:r>
              <a:rPr lang="en-US" sz="1800" dirty="0"/>
              <a:t>R </a:t>
            </a:r>
            <a:r>
              <a:rPr lang="fa-IR" sz="1800" dirty="0"/>
              <a:t>نسبت به </a:t>
            </a:r>
            <a:r>
              <a:rPr lang="fa-IR" sz="1800" dirty="0" err="1"/>
              <a:t>مجموعه‌ای</a:t>
            </a:r>
            <a:r>
              <a:rPr lang="fa-IR" sz="1800" dirty="0"/>
              <a:t> از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 </a:t>
            </a:r>
            <a:r>
              <a:rPr lang="en-US" sz="1800" dirty="0"/>
              <a:t>F </a:t>
            </a:r>
            <a:r>
              <a:rPr lang="fa-IR" sz="1800" dirty="0"/>
              <a:t>در نرمال فرم </a:t>
            </a:r>
            <a:r>
              <a:rPr lang="fa-IR" sz="1800" dirty="0" err="1"/>
              <a:t>بویس</a:t>
            </a:r>
            <a:r>
              <a:rPr lang="fa-IR" sz="1800" dirty="0"/>
              <a:t>–</a:t>
            </a:r>
            <a:r>
              <a:rPr lang="fa-IR" sz="1800" dirty="0" err="1"/>
              <a:t>کاد</a:t>
            </a:r>
            <a:r>
              <a:rPr lang="fa-IR" sz="1800" dirty="0"/>
              <a:t> (</a:t>
            </a:r>
            <a:r>
              <a:rPr lang="en-US" sz="1800" dirty="0"/>
              <a:t>BCNF) </a:t>
            </a:r>
            <a:r>
              <a:rPr lang="fa-IR" sz="1800" dirty="0"/>
              <a:t>قرار دارد اگر برای تمام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 موجود در </a:t>
            </a:r>
            <a:r>
              <a:rPr lang="en-US" sz="1800" dirty="0"/>
              <a:t>F⁺ </a:t>
            </a:r>
            <a:r>
              <a:rPr lang="fa-IR" sz="1800" dirty="0"/>
              <a:t>که به صورت:</a:t>
            </a:r>
            <a:r>
              <a:rPr lang="en-US" altLang="en-US" sz="1700" dirty="0"/>
              <a:t> </a:t>
            </a:r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>
                <a:sym typeface="Symbol" panose="05050102010706020507" pitchFamily="18" charset="2"/>
              </a:rPr>
              <a:t>                 </a:t>
            </a:r>
            <a:r>
              <a:rPr lang="en-US" altLang="en-US" sz="1700" dirty="0">
                <a:sym typeface="Greek Symbols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Symbol" panose="05050102010706020507" pitchFamily="18" charset="2"/>
              </a:rPr>
              <a:t></a:t>
            </a:r>
            <a:endParaRPr lang="en-US" altLang="en-US" sz="1700" i="1" dirty="0">
              <a:sym typeface="Greek Symbols"/>
            </a:endParaRPr>
          </a:p>
          <a:p>
            <a:pPr algn="r" rtl="1">
              <a:buFont typeface="Monotype Sorts" pitchFamily="-84" charset="2"/>
              <a:buNone/>
            </a:pPr>
            <a:r>
              <a:rPr lang="en-US" altLang="en-US" sz="1700" i="1" dirty="0">
                <a:sym typeface="Greek Symbols"/>
              </a:rPr>
              <a:t>      </a:t>
            </a:r>
            <a:r>
              <a:rPr lang="fa-IR" sz="1800" dirty="0"/>
              <a:t>هستند و </a:t>
            </a:r>
            <a:r>
              <a:rPr lang="el-GR" sz="1800" dirty="0"/>
              <a:t>α </a:t>
            </a:r>
            <a:r>
              <a:rPr lang="fa-IR" sz="1800" dirty="0"/>
              <a:t>و </a:t>
            </a:r>
            <a:r>
              <a:rPr lang="el-GR" sz="1800" dirty="0"/>
              <a:t>β </a:t>
            </a:r>
            <a:r>
              <a:rPr lang="fa-IR" sz="1800" dirty="0"/>
              <a:t>هر دو </a:t>
            </a:r>
            <a:r>
              <a:rPr lang="fa-IR" sz="1800" dirty="0" err="1"/>
              <a:t>زیرمجموعه‌ای</a:t>
            </a:r>
            <a:r>
              <a:rPr lang="fa-IR" sz="1800" dirty="0"/>
              <a:t> از </a:t>
            </a:r>
            <a:r>
              <a:rPr lang="en-US" sz="1800" dirty="0"/>
              <a:t>R </a:t>
            </a:r>
            <a:r>
              <a:rPr lang="fa-IR" sz="1800" dirty="0"/>
              <a:t>هستند، حداقل یکی از شروط زیر برقرار باشد:</a:t>
            </a:r>
            <a:endParaRPr lang="en-US" altLang="en-US" sz="1700" dirty="0">
              <a:sym typeface="Symbol" panose="05050102010706020507" pitchFamily="18" charset="2"/>
            </a:endParaRPr>
          </a:p>
          <a:p>
            <a:pPr lvl="1" algn="r" rtl="1"/>
            <a:r>
              <a:rPr lang="fa-IR" sz="1800" dirty="0"/>
              <a:t>وابستگی </a:t>
            </a:r>
            <a:r>
              <a:rPr lang="el-GR" sz="1800" b="1" dirty="0"/>
              <a:t>α → β</a:t>
            </a:r>
            <a:r>
              <a:rPr lang="el-GR" sz="1800" dirty="0"/>
              <a:t> </a:t>
            </a:r>
            <a:r>
              <a:rPr lang="fa-IR" sz="1800" dirty="0"/>
              <a:t>بدیهی باشد (یعنی </a:t>
            </a:r>
            <a:r>
              <a:rPr lang="el-GR" sz="1800" dirty="0"/>
              <a:t>β </a:t>
            </a:r>
            <a:r>
              <a:rPr lang="fa-IR" sz="1800" dirty="0" err="1"/>
              <a:t>زیرمجموعه‌ای</a:t>
            </a:r>
            <a:r>
              <a:rPr lang="fa-IR" sz="1800" dirty="0"/>
              <a:t> از </a:t>
            </a:r>
            <a:r>
              <a:rPr lang="el-GR" sz="1800" dirty="0"/>
              <a:t>α </a:t>
            </a:r>
            <a:r>
              <a:rPr lang="fa-IR" sz="1800" dirty="0"/>
              <a:t>باشد)</a:t>
            </a:r>
            <a:endParaRPr lang="en-US" altLang="en-US" sz="1700" dirty="0">
              <a:sym typeface="Greek Symbols"/>
            </a:endParaRPr>
          </a:p>
          <a:p>
            <a:pPr lvl="1" algn="r" rtl="1"/>
            <a:r>
              <a:rPr lang="el-GR" sz="1800" dirty="0"/>
              <a:t>α </a:t>
            </a:r>
            <a:r>
              <a:rPr lang="fa-IR" sz="1800" dirty="0"/>
              <a:t>یک </a:t>
            </a:r>
            <a:r>
              <a:rPr lang="fa-IR" sz="1800" b="1" dirty="0" err="1"/>
              <a:t>سوپرکلید</a:t>
            </a:r>
            <a:r>
              <a:rPr lang="fa-IR" sz="1800" dirty="0"/>
              <a:t> برای </a:t>
            </a:r>
            <a:r>
              <a:rPr lang="en-US" sz="1800" dirty="0"/>
              <a:t>R </a:t>
            </a:r>
            <a:r>
              <a:rPr lang="fa-IR" sz="1800" dirty="0"/>
              <a:t>باشد</a:t>
            </a:r>
            <a:endParaRPr lang="en-US" altLang="en-US" sz="1700" i="1" dirty="0">
              <a:sym typeface="Greek Symbols"/>
            </a:endParaRPr>
          </a:p>
          <a:p>
            <a:pPr algn="r" rtl="1"/>
            <a:endParaRPr lang="en-US" altLang="en-US" sz="2000" i="1" dirty="0">
              <a:sym typeface="Greek Symbols"/>
            </a:endParaRPr>
          </a:p>
          <a:p>
            <a:pPr algn="r" rtl="1"/>
            <a:endParaRPr lang="en-US" altLang="en-US" sz="20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65138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3011" grpId="0" build="p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Boyce-Codd Normal Form (Cont.)</a:t>
            </a:r>
          </a:p>
        </p:txBody>
      </p:sp>
      <p:sp>
        <p:nvSpPr>
          <p:cNvPr id="683011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63639"/>
            <a:ext cx="7774928" cy="3725354"/>
          </a:xfrm>
        </p:spPr>
        <p:txBody>
          <a:bodyPr/>
          <a:lstStyle/>
          <a:p>
            <a:pPr algn="r" rtl="1">
              <a:lnSpc>
                <a:spcPct val="90000"/>
              </a:lnSpc>
            </a:pPr>
            <a:r>
              <a:rPr lang="fa-IR" sz="1800" dirty="0" err="1"/>
              <a:t>مثالِ</a:t>
            </a:r>
            <a:r>
              <a:rPr lang="fa-IR" sz="1800" dirty="0"/>
              <a:t> یک </a:t>
            </a:r>
            <a:r>
              <a:rPr lang="fa-IR" sz="1800" dirty="0" err="1"/>
              <a:t>شِمایی</a:t>
            </a:r>
            <a:r>
              <a:rPr lang="fa-IR" sz="1800" dirty="0"/>
              <a:t> که در </a:t>
            </a:r>
            <a:r>
              <a:rPr lang="en-US" sz="1800" dirty="0"/>
              <a:t>BCNF </a:t>
            </a:r>
            <a:r>
              <a:rPr lang="fa-IR" sz="1800" dirty="0"/>
              <a:t>نیست: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/>
              <a:t>          </a:t>
            </a:r>
            <a:r>
              <a:rPr lang="en-US" altLang="en-US" sz="1700" i="1" dirty="0" err="1"/>
              <a:t>in_dep</a:t>
            </a:r>
            <a:r>
              <a:rPr lang="en-US" altLang="en-US" sz="1700" i="1" dirty="0"/>
              <a:t> </a:t>
            </a:r>
            <a:r>
              <a:rPr lang="en-US" altLang="en-US" sz="1700" dirty="0"/>
              <a:t>(</a:t>
            </a:r>
            <a:r>
              <a:rPr lang="en-US" altLang="en-US" sz="1700" i="1" u="sng" dirty="0"/>
              <a:t>ID, </a:t>
            </a:r>
            <a:r>
              <a:rPr lang="en-US" altLang="en-US" sz="1700" i="1" dirty="0"/>
              <a:t>name, salary</a:t>
            </a:r>
            <a:r>
              <a:rPr lang="en-US" altLang="en-US" sz="1700" i="1" u="sng" dirty="0"/>
              <a:t>, </a:t>
            </a:r>
            <a:r>
              <a:rPr lang="en-US" altLang="en-US" sz="1700" i="1" u="sng" dirty="0" err="1"/>
              <a:t>dept_name</a:t>
            </a:r>
            <a:r>
              <a:rPr lang="en-US" altLang="en-US" sz="1700" i="1" u="sng" dirty="0"/>
              <a:t>, </a:t>
            </a:r>
            <a:r>
              <a:rPr lang="en-US" altLang="en-US" sz="1700" i="1" dirty="0"/>
              <a:t>building, budget </a:t>
            </a:r>
            <a:r>
              <a:rPr lang="en-US" altLang="en-US" sz="1700" dirty="0"/>
              <a:t>)</a:t>
            </a:r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/>
              <a:t> </a:t>
            </a:r>
            <a:r>
              <a:rPr lang="fa-IR" altLang="en-US" sz="1700" dirty="0"/>
              <a:t>زیرا:</a:t>
            </a:r>
            <a:endParaRPr lang="en-US" altLang="en-US" sz="1700" dirty="0"/>
          </a:p>
          <a:p>
            <a:pPr lvl="1" algn="r" rtl="1"/>
            <a:r>
              <a:rPr lang="en-US" altLang="en-US" sz="1700" i="1" dirty="0" err="1"/>
              <a:t>dept_name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building, budget  </a:t>
            </a:r>
          </a:p>
          <a:p>
            <a:pPr lvl="2" algn="r" rtl="1"/>
            <a:r>
              <a:rPr lang="fa-IR" sz="1800" dirty="0"/>
              <a:t>در رابطه </a:t>
            </a:r>
            <a:r>
              <a:rPr lang="en-US" sz="1800" b="1" dirty="0" err="1"/>
              <a:t>in_dep</a:t>
            </a:r>
            <a:r>
              <a:rPr lang="en-US" sz="1800" dirty="0"/>
              <a:t> </a:t>
            </a:r>
            <a:r>
              <a:rPr lang="fa-IR" sz="1800" dirty="0"/>
              <a:t>برقرار است.</a:t>
            </a:r>
            <a:endParaRPr lang="en-US" altLang="en-US" sz="1700" i="1" dirty="0">
              <a:sym typeface="Monotype Sorts" pitchFamily="-84" charset="2"/>
            </a:endParaRPr>
          </a:p>
          <a:p>
            <a:pPr lvl="2" algn="r" rtl="1"/>
            <a:r>
              <a:rPr lang="fa-IR" altLang="en-US" sz="1700" dirty="0">
                <a:sym typeface="Monotype Sorts" pitchFamily="-84" charset="2"/>
              </a:rPr>
              <a:t>ولی</a:t>
            </a:r>
            <a:endParaRPr lang="en-US" altLang="en-US" sz="1700" dirty="0">
              <a:sym typeface="Monotype Sorts" pitchFamily="-84" charset="2"/>
            </a:endParaRPr>
          </a:p>
          <a:p>
            <a:pPr lvl="1" algn="r" rtl="1"/>
            <a:r>
              <a:rPr lang="en-US" sz="1800" b="1" dirty="0" err="1"/>
              <a:t>dept_name</a:t>
            </a:r>
            <a:r>
              <a:rPr lang="en-US" sz="1800" dirty="0"/>
              <a:t> </a:t>
            </a:r>
            <a:r>
              <a:rPr lang="fa-IR" sz="1800" dirty="0"/>
              <a:t>یک </a:t>
            </a:r>
            <a:r>
              <a:rPr lang="fa-IR" sz="1800" dirty="0" err="1"/>
              <a:t>اَبَرکلید</a:t>
            </a:r>
            <a:r>
              <a:rPr lang="fa-IR" sz="1800" dirty="0"/>
              <a:t> نیست.</a:t>
            </a:r>
            <a:endParaRPr lang="en-US" altLang="en-US" sz="1700" dirty="0">
              <a:sym typeface="Monotype Sorts" pitchFamily="-84" charset="2"/>
            </a:endParaRPr>
          </a:p>
          <a:p>
            <a:pPr marL="0" indent="0" algn="r" rtl="1">
              <a:buNone/>
            </a:pPr>
            <a:r>
              <a:rPr lang="fa-IR" sz="1800" dirty="0"/>
              <a:t>وقتی </a:t>
            </a:r>
            <a:r>
              <a:rPr lang="en-US" sz="1800" b="1" dirty="0" err="1"/>
              <a:t>in_dep</a:t>
            </a:r>
            <a:r>
              <a:rPr lang="en-US" sz="1800" dirty="0"/>
              <a:t> </a:t>
            </a:r>
            <a:r>
              <a:rPr lang="fa-IR" sz="1800" dirty="0"/>
              <a:t>را به دو رابطه </a:t>
            </a:r>
            <a:r>
              <a:rPr lang="en-US" sz="1800" i="1" dirty="0"/>
              <a:t>instructor</a:t>
            </a:r>
            <a:r>
              <a:rPr lang="en-US" sz="1800" dirty="0"/>
              <a:t> </a:t>
            </a:r>
            <a:r>
              <a:rPr lang="fa-IR" sz="1800" dirty="0"/>
              <a:t>و </a:t>
            </a:r>
            <a:r>
              <a:rPr lang="en-US" sz="1800" i="1" dirty="0"/>
              <a:t>department</a:t>
            </a:r>
            <a:r>
              <a:rPr lang="en-US" sz="1800" dirty="0"/>
              <a:t> </a:t>
            </a:r>
            <a:r>
              <a:rPr lang="fa-IR" sz="1800" dirty="0"/>
              <a:t>تجزیه </a:t>
            </a:r>
            <a:r>
              <a:rPr lang="fa-IR" sz="1800" dirty="0" err="1"/>
              <a:t>می‌کنیم</a:t>
            </a:r>
            <a:r>
              <a:rPr lang="fa-IR" sz="1800" dirty="0"/>
              <a:t>،</a:t>
            </a:r>
            <a:r>
              <a:rPr lang="en-US" altLang="en-US" sz="1700" i="1" dirty="0">
                <a:sym typeface="Monotype Sorts" pitchFamily="-84" charset="2"/>
              </a:rPr>
              <a:t> </a:t>
            </a:r>
          </a:p>
          <a:p>
            <a:pPr lvl="1" algn="r" rtl="1"/>
            <a:r>
              <a:rPr lang="fa-IR" sz="1800" dirty="0"/>
              <a:t>رابطه </a:t>
            </a:r>
            <a:r>
              <a:rPr lang="en-US" sz="1800" b="1" dirty="0"/>
              <a:t>instructor</a:t>
            </a:r>
            <a:r>
              <a:rPr lang="en-US" sz="1800" dirty="0"/>
              <a:t> </a:t>
            </a:r>
            <a:r>
              <a:rPr lang="fa-IR" sz="1800" dirty="0"/>
              <a:t>در </a:t>
            </a:r>
            <a:r>
              <a:rPr lang="en-US" sz="1800" dirty="0"/>
              <a:t>BCNF </a:t>
            </a:r>
            <a:r>
              <a:rPr lang="fa-IR" sz="1800" dirty="0"/>
              <a:t>است.</a:t>
            </a:r>
            <a:endParaRPr lang="en-US" altLang="en-US" sz="1700" dirty="0">
              <a:sym typeface="Monotype Sorts" pitchFamily="-84" charset="2"/>
            </a:endParaRPr>
          </a:p>
          <a:p>
            <a:pPr lvl="1" algn="r" rtl="1"/>
            <a:r>
              <a:rPr lang="fa-IR" sz="1800" dirty="0"/>
              <a:t>رابطه </a:t>
            </a:r>
            <a:r>
              <a:rPr lang="en-US" sz="1800" b="1" dirty="0"/>
              <a:t>department</a:t>
            </a:r>
            <a:r>
              <a:rPr lang="en-US" sz="1800" dirty="0"/>
              <a:t> </a:t>
            </a:r>
            <a:r>
              <a:rPr lang="fa-IR" sz="1800" dirty="0"/>
              <a:t>نیز در </a:t>
            </a:r>
            <a:r>
              <a:rPr lang="en-US" sz="1800" dirty="0"/>
              <a:t>BCNF </a:t>
            </a:r>
            <a:r>
              <a:rPr lang="fa-IR" sz="1800" dirty="0"/>
              <a:t>است.</a:t>
            </a:r>
            <a:endParaRPr lang="en-US" altLang="en-US" sz="1700" dirty="0">
              <a:sym typeface="Monotype Sorts" pitchFamily="-84" charset="2"/>
            </a:endParaRPr>
          </a:p>
          <a:p>
            <a:pPr>
              <a:buFont typeface="Monotype Sorts" pitchFamily="-84" charset="2"/>
              <a:buNone/>
            </a:pPr>
            <a:endParaRPr lang="en-US" altLang="en-US" sz="2000" dirty="0">
              <a:sym typeface="Monotype Sorts" pitchFamily="-84" charset="2"/>
            </a:endParaRPr>
          </a:p>
          <a:p>
            <a:pPr>
              <a:buFont typeface="Monotype Sorts" pitchFamily="-84" charset="2"/>
              <a:buNone/>
            </a:pPr>
            <a:endParaRPr lang="en-US" altLang="en-US" sz="2000" dirty="0">
              <a:sym typeface="Monotype Sorts" pitchFamily="-84" charset="2"/>
            </a:endParaRPr>
          </a:p>
          <a:p>
            <a:endParaRPr lang="en-US" altLang="en-US" sz="2000" i="1" dirty="0">
              <a:sym typeface="Greek Symbols"/>
            </a:endParaRPr>
          </a:p>
          <a:p>
            <a:endParaRPr lang="en-US" altLang="en-US" sz="20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12074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3011" grpId="0" build="p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Decomposing a Schema into BCNF</a:t>
            </a:r>
          </a:p>
        </p:txBody>
      </p:sp>
      <p:sp>
        <p:nvSpPr>
          <p:cNvPr id="683011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63639"/>
            <a:ext cx="7399106" cy="4334953"/>
          </a:xfrm>
        </p:spPr>
        <p:txBody>
          <a:bodyPr/>
          <a:lstStyle/>
          <a:p>
            <a:pPr algn="r" rtl="1">
              <a:lnSpc>
                <a:spcPct val="90000"/>
              </a:lnSpc>
            </a:pPr>
            <a:r>
              <a:rPr lang="fa-IR" sz="1800" dirty="0"/>
              <a:t>فرض میکنیم </a:t>
            </a:r>
            <a:r>
              <a:rPr lang="en-US" sz="1800" dirty="0"/>
              <a:t>R </a:t>
            </a:r>
            <a:r>
              <a:rPr lang="fa-IR" sz="1800" dirty="0"/>
              <a:t>یک </a:t>
            </a:r>
            <a:r>
              <a:rPr lang="fa-IR" sz="1800" dirty="0" err="1"/>
              <a:t>شِمای</a:t>
            </a:r>
            <a:r>
              <a:rPr lang="fa-IR" sz="1800" dirty="0"/>
              <a:t> رابطه باشد که در </a:t>
            </a:r>
            <a:r>
              <a:rPr lang="en-US" sz="1800" dirty="0"/>
              <a:t>BCNF </a:t>
            </a:r>
            <a:r>
              <a:rPr lang="fa-IR" sz="1800" dirty="0"/>
              <a:t>نیست.</a:t>
            </a:r>
            <a:br>
              <a:rPr lang="fa-IR" sz="1800" dirty="0"/>
            </a:br>
            <a:r>
              <a:rPr lang="fa-IR" sz="1800" dirty="0"/>
              <a:t>فرض میکنیم </a:t>
            </a:r>
            <a:r>
              <a:rPr lang="el-GR" sz="1800" dirty="0"/>
              <a:t>α → β </a:t>
            </a:r>
            <a:r>
              <a:rPr lang="fa-IR" sz="1800" dirty="0" err="1"/>
              <a:t>وابستگیِ</a:t>
            </a:r>
            <a:r>
              <a:rPr lang="fa-IR" sz="1800" dirty="0"/>
              <a:t> </a:t>
            </a:r>
            <a:r>
              <a:rPr lang="fa-IR" sz="1800" dirty="0" err="1"/>
              <a:t>تابعی‌ای</a:t>
            </a:r>
            <a:r>
              <a:rPr lang="fa-IR" sz="1800" dirty="0"/>
              <a:t> باشد که باعث نقض </a:t>
            </a:r>
            <a:r>
              <a:rPr lang="en-US" sz="1800" dirty="0"/>
              <a:t>BCNF </a:t>
            </a:r>
            <a:r>
              <a:rPr lang="fa-IR" sz="1800" dirty="0"/>
              <a:t>شده است.</a:t>
            </a:r>
            <a:endParaRPr lang="en-US" altLang="en-US" sz="1700" dirty="0"/>
          </a:p>
          <a:p>
            <a:pPr algn="r" rtl="1">
              <a:lnSpc>
                <a:spcPct val="90000"/>
              </a:lnSpc>
            </a:pPr>
            <a:r>
              <a:rPr lang="fa-IR" sz="1800" dirty="0"/>
              <a:t>ما </a:t>
            </a:r>
            <a:r>
              <a:rPr lang="en-US" sz="1800" dirty="0"/>
              <a:t>R </a:t>
            </a:r>
            <a:r>
              <a:rPr lang="fa-IR" sz="1800" dirty="0"/>
              <a:t>را به دو رابطه تجزیه </a:t>
            </a:r>
            <a:r>
              <a:rPr lang="fa-IR" sz="1800" dirty="0" err="1"/>
              <a:t>می‌کنیم</a:t>
            </a:r>
            <a:r>
              <a:rPr lang="fa-IR" sz="1800" dirty="0"/>
              <a:t>:</a:t>
            </a:r>
            <a:endParaRPr lang="en-US" altLang="en-US" sz="1700" dirty="0"/>
          </a:p>
          <a:p>
            <a:pPr lvl="1" algn="r" rtl="1">
              <a:lnSpc>
                <a:spcPct val="90000"/>
              </a:lnSpc>
              <a:buFont typeface="Times" panose="02020603050405020304" pitchFamily="18" charset="0"/>
              <a:buChar char="•"/>
            </a:pPr>
            <a:r>
              <a:rPr lang="en-US" altLang="en-US" sz="1700" dirty="0"/>
              <a:t>(</a:t>
            </a:r>
            <a:r>
              <a:rPr lang="en-US" altLang="en-US" sz="1700" dirty="0">
                <a:sym typeface="Symbol" panose="05050102010706020507" pitchFamily="18" charset="2"/>
              </a:rPr>
              <a:t></a:t>
            </a:r>
            <a:r>
              <a:rPr lang="en-US" altLang="en-US" sz="1700" dirty="0">
                <a:sym typeface="Greek Symbols"/>
              </a:rPr>
              <a:t> U </a:t>
            </a:r>
            <a:r>
              <a:rPr lang="en-US" altLang="en-US" sz="1700" dirty="0">
                <a:sym typeface="Symbol" panose="05050102010706020507" pitchFamily="18" charset="2"/>
              </a:rPr>
              <a:t></a:t>
            </a:r>
            <a:r>
              <a:rPr lang="en-US" altLang="en-US" sz="1700" i="1" dirty="0">
                <a:sym typeface="Symbol" panose="05050102010706020507" pitchFamily="18" charset="2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)</a:t>
            </a:r>
            <a:endParaRPr lang="en-US" altLang="en-US" sz="1700" dirty="0"/>
          </a:p>
          <a:p>
            <a:pPr lvl="1" algn="r" rtl="1">
              <a:lnSpc>
                <a:spcPct val="90000"/>
              </a:lnSpc>
              <a:buFont typeface="Times" panose="02020603050405020304" pitchFamily="18" charset="0"/>
              <a:buChar char="•"/>
            </a:pPr>
            <a:r>
              <a:rPr lang="en-US" altLang="en-US" sz="1700" dirty="0"/>
              <a:t>( </a:t>
            </a:r>
            <a:r>
              <a:rPr lang="en-US" altLang="en-US" sz="1700" i="1" dirty="0"/>
              <a:t>R</a:t>
            </a:r>
            <a:r>
              <a:rPr lang="en-US" altLang="en-US" sz="1700" dirty="0"/>
              <a:t> - ( </a:t>
            </a:r>
            <a:r>
              <a:rPr lang="en-US" altLang="en-US" sz="1700" i="1" dirty="0">
                <a:sym typeface="Symbol" panose="05050102010706020507" pitchFamily="18" charset="2"/>
              </a:rPr>
              <a:t> - </a:t>
            </a:r>
            <a:r>
              <a:rPr lang="en-US" altLang="en-US" sz="1700" dirty="0">
                <a:sym typeface="Symbol" panose="05050102010706020507" pitchFamily="18" charset="2"/>
              </a:rPr>
              <a:t> ) )</a:t>
            </a:r>
            <a:endParaRPr lang="en-US" altLang="en-US" sz="1700" dirty="0"/>
          </a:p>
          <a:p>
            <a:pPr algn="r" rtl="1">
              <a:lnSpc>
                <a:spcPct val="90000"/>
              </a:lnSpc>
            </a:pPr>
            <a:r>
              <a:rPr lang="fa-IR" sz="1800" dirty="0"/>
              <a:t>در مثال ما یعنی </a:t>
            </a:r>
            <a:r>
              <a:rPr lang="en-US" sz="1800" dirty="0" err="1"/>
              <a:t>in_dep</a:t>
            </a:r>
            <a:r>
              <a:rPr lang="fa-IR" sz="1800" dirty="0"/>
              <a:t>:</a:t>
            </a:r>
            <a:endParaRPr lang="en-US" altLang="en-US" sz="1700" dirty="0"/>
          </a:p>
          <a:p>
            <a:pPr lvl="1" algn="r" rtl="1">
              <a:lnSpc>
                <a:spcPct val="90000"/>
              </a:lnSpc>
            </a:pPr>
            <a:r>
              <a:rPr lang="en-US" altLang="en-US" sz="1700" dirty="0">
                <a:sym typeface="Symbol" panose="05050102010706020507" pitchFamily="18" charset="2"/>
              </a:rPr>
              <a:t> =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endParaRPr lang="en-US" altLang="en-US" sz="1700" dirty="0">
              <a:sym typeface="Symbol" panose="05050102010706020507" pitchFamily="18" charset="2"/>
            </a:endParaRPr>
          </a:p>
          <a:p>
            <a:pPr lvl="1" algn="r" rtl="1">
              <a:lnSpc>
                <a:spcPct val="90000"/>
              </a:lnSpc>
            </a:pPr>
            <a:r>
              <a:rPr lang="en-US" altLang="en-US" sz="1700" i="1" dirty="0">
                <a:sym typeface="Symbol" panose="05050102010706020507" pitchFamily="18" charset="2"/>
              </a:rPr>
              <a:t> </a:t>
            </a:r>
            <a:r>
              <a:rPr lang="en-US" altLang="en-US" sz="1700" dirty="0">
                <a:sym typeface="Symbol" panose="05050102010706020507" pitchFamily="18" charset="2"/>
              </a:rPr>
              <a:t>=</a:t>
            </a:r>
            <a:r>
              <a:rPr lang="en-US" altLang="en-US" sz="1700" i="1" dirty="0">
                <a:sym typeface="Symbol" panose="05050102010706020507" pitchFamily="18" charset="2"/>
              </a:rPr>
              <a:t> building, budget</a:t>
            </a:r>
          </a:p>
          <a:p>
            <a:pPr lvl="1" algn="r" rtl="1">
              <a:lnSpc>
                <a:spcPct val="90000"/>
              </a:lnSpc>
              <a:buFont typeface="Monotype Sorts" pitchFamily="-84" charset="2"/>
              <a:buNone/>
            </a:pPr>
            <a:r>
              <a:rPr lang="fa-IR" sz="1800" dirty="0"/>
              <a:t>و </a:t>
            </a:r>
            <a:r>
              <a:rPr lang="en-US" sz="1800" dirty="0" err="1"/>
              <a:t>in_dep</a:t>
            </a:r>
            <a:r>
              <a:rPr lang="en-US" sz="1800" dirty="0"/>
              <a:t> </a:t>
            </a:r>
            <a:r>
              <a:rPr lang="fa-IR" sz="1800" dirty="0"/>
              <a:t>جایگزین </a:t>
            </a:r>
            <a:r>
              <a:rPr lang="fa-IR" sz="1800" dirty="0" err="1"/>
              <a:t>می‌شود</a:t>
            </a:r>
            <a:r>
              <a:rPr lang="fa-IR" sz="1800" dirty="0"/>
              <a:t> با:</a:t>
            </a:r>
            <a:endParaRPr lang="en-US" altLang="en-US" sz="1700" dirty="0"/>
          </a:p>
          <a:p>
            <a:pPr lvl="1" algn="r" rtl="1">
              <a:lnSpc>
                <a:spcPct val="90000"/>
              </a:lnSpc>
            </a:pPr>
            <a:r>
              <a:rPr lang="en-US" altLang="en-US" sz="1700" dirty="0"/>
              <a:t> (</a:t>
            </a:r>
            <a:r>
              <a:rPr lang="en-US" altLang="en-US" sz="1700" dirty="0">
                <a:sym typeface="Symbol" panose="05050102010706020507" pitchFamily="18" charset="2"/>
              </a:rPr>
              <a:t></a:t>
            </a:r>
            <a:r>
              <a:rPr lang="en-US" altLang="en-US" sz="1700" dirty="0">
                <a:sym typeface="Greek Symbols"/>
              </a:rPr>
              <a:t> U </a:t>
            </a:r>
            <a:r>
              <a:rPr lang="en-US" altLang="en-US" sz="1700" dirty="0">
                <a:sym typeface="Symbol" panose="05050102010706020507" pitchFamily="18" charset="2"/>
              </a:rPr>
              <a:t></a:t>
            </a:r>
            <a:r>
              <a:rPr lang="en-US" altLang="en-US" sz="1700" i="1" dirty="0">
                <a:sym typeface="Symbol" panose="05050102010706020507" pitchFamily="18" charset="2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) = (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r>
              <a:rPr lang="en-US" altLang="en-US" sz="1700" i="1" dirty="0">
                <a:sym typeface="Symbol" panose="05050102010706020507" pitchFamily="18" charset="2"/>
              </a:rPr>
              <a:t>, building, budget</a:t>
            </a:r>
            <a:r>
              <a:rPr lang="en-US" altLang="en-US" sz="1700" dirty="0">
                <a:sym typeface="Symbol" panose="05050102010706020507" pitchFamily="18" charset="2"/>
              </a:rPr>
              <a:t> )</a:t>
            </a:r>
          </a:p>
          <a:p>
            <a:pPr lvl="1" algn="r" rtl="1">
              <a:lnSpc>
                <a:spcPct val="90000"/>
              </a:lnSpc>
            </a:pPr>
            <a:r>
              <a:rPr lang="en-US" altLang="en-US" sz="1700" dirty="0"/>
              <a:t>( </a:t>
            </a:r>
            <a:r>
              <a:rPr lang="en-US" altLang="en-US" sz="1700" i="1" dirty="0"/>
              <a:t>R</a:t>
            </a:r>
            <a:r>
              <a:rPr lang="en-US" altLang="en-US" sz="1700" dirty="0"/>
              <a:t> - ( </a:t>
            </a:r>
            <a:r>
              <a:rPr lang="en-US" altLang="en-US" sz="1700" i="1" dirty="0">
                <a:sym typeface="Symbol" panose="05050102010706020507" pitchFamily="18" charset="2"/>
              </a:rPr>
              <a:t> - </a:t>
            </a:r>
            <a:r>
              <a:rPr lang="en-US" altLang="en-US" sz="1700" dirty="0">
                <a:sym typeface="Symbol" panose="05050102010706020507" pitchFamily="18" charset="2"/>
              </a:rPr>
              <a:t> ) ) = ( </a:t>
            </a:r>
            <a:r>
              <a:rPr lang="en-US" altLang="en-US" sz="1700" i="1" dirty="0">
                <a:sym typeface="Symbol" panose="05050102010706020507" pitchFamily="18" charset="2"/>
              </a:rPr>
              <a:t>ID, name,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r>
              <a:rPr lang="en-US" altLang="en-US" sz="1700" i="1" dirty="0">
                <a:sym typeface="Symbol" panose="05050102010706020507" pitchFamily="18" charset="2"/>
              </a:rPr>
              <a:t>, salary</a:t>
            </a:r>
            <a:r>
              <a:rPr lang="en-US" altLang="en-US" sz="1700" dirty="0">
                <a:sym typeface="Symbol" panose="05050102010706020507" pitchFamily="18" charset="2"/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462548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30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3011" grpId="0" build="p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2800" dirty="0">
                <a:ea typeface="ＭＳ Ｐゴシック" pitchFamily="34" charset="-128"/>
              </a:rPr>
              <a:t>Example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93789"/>
            <a:ext cx="7607554" cy="4502340"/>
          </a:xfrm>
        </p:spPr>
        <p:txBody>
          <a:bodyPr/>
          <a:lstStyle/>
          <a:p>
            <a:pPr>
              <a:tabLst>
                <a:tab pos="2054225" algn="l"/>
              </a:tabLst>
            </a:pPr>
            <a:r>
              <a:rPr lang="en-US" altLang="en-US" sz="1700" i="1" dirty="0"/>
              <a:t>R = (A, B, C)</a:t>
            </a:r>
            <a:br>
              <a:rPr lang="en-US" altLang="en-US" sz="1700" i="1" dirty="0"/>
            </a:br>
            <a:r>
              <a:rPr lang="en-US" altLang="en-US" sz="1700" i="1" dirty="0"/>
              <a:t>F = {A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B, B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C)</a:t>
            </a:r>
            <a:endParaRPr lang="en-US" altLang="en-US" sz="1700" dirty="0">
              <a:sym typeface="Monotype Sorts" pitchFamily="-84" charset="2"/>
            </a:endParaRPr>
          </a:p>
          <a:p>
            <a:pPr>
              <a:tabLst>
                <a:tab pos="2054225" algn="l"/>
              </a:tabLst>
            </a:pP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1</a:t>
            </a:r>
            <a:r>
              <a:rPr lang="en-US" altLang="en-US" sz="1700" i="1" dirty="0">
                <a:sym typeface="Monotype Sorts" pitchFamily="-84" charset="2"/>
              </a:rPr>
              <a:t> = (A, B),   R</a:t>
            </a:r>
            <a:r>
              <a:rPr lang="en-US" altLang="en-US" sz="1700" baseline="-25000" dirty="0">
                <a:sym typeface="Monotype Sorts" pitchFamily="-84" charset="2"/>
              </a:rPr>
              <a:t>2</a:t>
            </a:r>
            <a:r>
              <a:rPr lang="en-US" altLang="en-US" sz="1700" i="1" dirty="0">
                <a:sym typeface="Monotype Sorts" pitchFamily="-84" charset="2"/>
              </a:rPr>
              <a:t> = (B, C)</a:t>
            </a:r>
          </a:p>
          <a:p>
            <a:pPr lvl="1">
              <a:tabLst>
                <a:tab pos="2054225" algn="l"/>
              </a:tabLst>
            </a:pPr>
            <a:r>
              <a:rPr lang="fa-IR" sz="1800" dirty="0"/>
              <a:t>:تجزیه </a:t>
            </a:r>
            <a:r>
              <a:rPr lang="fa-IR" sz="1800" dirty="0" err="1"/>
              <a:t>بدون‌ِاتلافِ‌ِ</a:t>
            </a:r>
            <a:r>
              <a:rPr lang="fa-IR" sz="1800" dirty="0"/>
              <a:t> پیوست</a:t>
            </a:r>
            <a:endParaRPr lang="en-US" altLang="en-US" sz="1700" dirty="0">
              <a:sym typeface="Monotype Sorts" pitchFamily="-84" charset="2"/>
            </a:endParaRPr>
          </a:p>
          <a:p>
            <a:pPr lvl="1">
              <a:buFont typeface="Monotype Sorts" pitchFamily="-84" charset="2"/>
              <a:buNone/>
              <a:tabLst>
                <a:tab pos="2054225" algn="l"/>
              </a:tabLst>
            </a:pPr>
            <a:r>
              <a:rPr lang="en-US" altLang="en-US" sz="1700" dirty="0">
                <a:sym typeface="Monotype Sorts" pitchFamily="-84" charset="2"/>
              </a:rPr>
              <a:t>		 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1  </a:t>
            </a:r>
            <a:r>
              <a:rPr lang="en-US" altLang="en-US" sz="1700" dirty="0">
                <a:sym typeface="Symbol" panose="05050102010706020507" pitchFamily="18" charset="2"/>
              </a:rPr>
              <a:t> 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2</a:t>
            </a:r>
            <a:r>
              <a:rPr lang="en-US" altLang="en-US" sz="1700" i="1" dirty="0">
                <a:sym typeface="Monotype Sorts" pitchFamily="-84" charset="2"/>
              </a:rPr>
              <a:t> = </a:t>
            </a:r>
            <a:r>
              <a:rPr lang="en-US" altLang="en-US" sz="1700" dirty="0">
                <a:sym typeface="Monotype Sorts" pitchFamily="-84" charset="2"/>
              </a:rPr>
              <a:t>{</a:t>
            </a:r>
            <a:r>
              <a:rPr lang="en-US" altLang="en-US" sz="1700" i="1" dirty="0">
                <a:sym typeface="Monotype Sorts" pitchFamily="-84" charset="2"/>
              </a:rPr>
              <a:t>B</a:t>
            </a:r>
            <a:r>
              <a:rPr lang="en-US" altLang="en-US" sz="1700" dirty="0">
                <a:sym typeface="Monotype Sorts" pitchFamily="-84" charset="2"/>
              </a:rPr>
              <a:t>}</a:t>
            </a:r>
            <a:r>
              <a:rPr lang="en-US" altLang="en-US" sz="1700" i="1" dirty="0">
                <a:sym typeface="Monotype Sorts" pitchFamily="-84" charset="2"/>
              </a:rPr>
              <a:t>   </a:t>
            </a:r>
            <a:r>
              <a:rPr lang="en-US" altLang="en-US" sz="1700" dirty="0">
                <a:sym typeface="Monotype Sorts" pitchFamily="-84" charset="2"/>
              </a:rPr>
              <a:t>and </a:t>
            </a:r>
            <a:r>
              <a:rPr lang="en-US" altLang="en-US" sz="1700" i="1" dirty="0">
                <a:sym typeface="Monotype Sorts" pitchFamily="-84" charset="2"/>
              </a:rPr>
              <a:t>B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BC</a:t>
            </a:r>
          </a:p>
          <a:p>
            <a:pPr lvl="1">
              <a:tabLst>
                <a:tab pos="2054225" algn="l"/>
              </a:tabLst>
            </a:pPr>
            <a:r>
              <a:rPr lang="fa-IR" sz="1800" dirty="0"/>
              <a:t>:</a:t>
            </a:r>
            <a:r>
              <a:rPr lang="fa-IR" sz="1800" dirty="0" err="1"/>
              <a:t>حفظ‌کننده</a:t>
            </a:r>
            <a:r>
              <a:rPr lang="fa-IR" sz="1800" dirty="0"/>
              <a:t> </a:t>
            </a:r>
            <a:r>
              <a:rPr lang="fa-IR" sz="1800" dirty="0" err="1"/>
              <a:t>وابستگی‌ها</a:t>
            </a:r>
            <a:endParaRPr lang="en-US" altLang="en-US" sz="1700" dirty="0">
              <a:sym typeface="Monotype Sorts" pitchFamily="-84" charset="2"/>
            </a:endParaRPr>
          </a:p>
          <a:p>
            <a:pPr>
              <a:tabLst>
                <a:tab pos="2054225" algn="l"/>
              </a:tabLst>
            </a:pP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i="1" baseline="-25000" dirty="0">
                <a:sym typeface="Monotype Sorts" pitchFamily="-84" charset="2"/>
              </a:rPr>
              <a:t>1 </a:t>
            </a:r>
            <a:r>
              <a:rPr lang="en-US" altLang="en-US" sz="1700" i="1" dirty="0">
                <a:sym typeface="Monotype Sorts" pitchFamily="-84" charset="2"/>
              </a:rPr>
              <a:t>= (A, B),   R</a:t>
            </a:r>
            <a:r>
              <a:rPr lang="en-US" altLang="en-US" sz="1700" baseline="-25000" dirty="0">
                <a:sym typeface="Monotype Sorts" pitchFamily="-84" charset="2"/>
              </a:rPr>
              <a:t>2</a:t>
            </a:r>
            <a:r>
              <a:rPr lang="en-US" altLang="en-US" sz="1700" i="1" dirty="0">
                <a:sym typeface="Monotype Sorts" pitchFamily="-84" charset="2"/>
              </a:rPr>
              <a:t> = (A, C)</a:t>
            </a:r>
          </a:p>
          <a:p>
            <a:pPr lvl="1">
              <a:tabLst>
                <a:tab pos="2054225" algn="l"/>
              </a:tabLst>
            </a:pPr>
            <a:r>
              <a:rPr lang="fa-IR" sz="1600" dirty="0"/>
              <a:t>:تجزیه </a:t>
            </a:r>
            <a:r>
              <a:rPr lang="fa-IR" sz="1600" dirty="0" err="1"/>
              <a:t>بدون‌ِاتلافِ‌ِ</a:t>
            </a:r>
            <a:r>
              <a:rPr lang="fa-IR" sz="1600" dirty="0"/>
              <a:t> پیوست</a:t>
            </a:r>
            <a:endParaRPr lang="en-US" altLang="en-US" sz="1700" dirty="0">
              <a:sym typeface="Monotype Sorts" pitchFamily="-84" charset="2"/>
            </a:endParaRPr>
          </a:p>
          <a:p>
            <a:pPr lvl="1">
              <a:buFont typeface="Monotype Sorts" pitchFamily="-84" charset="2"/>
              <a:buNone/>
              <a:tabLst>
                <a:tab pos="2054225" algn="l"/>
              </a:tabLst>
            </a:pPr>
            <a:r>
              <a:rPr lang="en-US" altLang="en-US" sz="1700" dirty="0">
                <a:sym typeface="Monotype Sorts" pitchFamily="-84" charset="2"/>
              </a:rPr>
              <a:t>		 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1  </a:t>
            </a:r>
            <a:r>
              <a:rPr lang="en-US" altLang="en-US" sz="1700" dirty="0">
                <a:sym typeface="Symbol" panose="05050102010706020507" pitchFamily="18" charset="2"/>
              </a:rPr>
              <a:t> 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2</a:t>
            </a:r>
            <a:r>
              <a:rPr lang="en-US" altLang="en-US" sz="1700" i="1" dirty="0">
                <a:sym typeface="Monotype Sorts" pitchFamily="-84" charset="2"/>
              </a:rPr>
              <a:t> =</a:t>
            </a:r>
            <a:r>
              <a:rPr lang="en-US" altLang="en-US" sz="1700" dirty="0">
                <a:sym typeface="Monotype Sorts" pitchFamily="-84" charset="2"/>
              </a:rPr>
              <a:t> {</a:t>
            </a:r>
            <a:r>
              <a:rPr lang="en-US" altLang="en-US" sz="1700" i="1" dirty="0">
                <a:sym typeface="Monotype Sorts" pitchFamily="-84" charset="2"/>
              </a:rPr>
              <a:t>A</a:t>
            </a:r>
            <a:r>
              <a:rPr lang="en-US" altLang="en-US" sz="1700" dirty="0">
                <a:sym typeface="Monotype Sorts" pitchFamily="-84" charset="2"/>
              </a:rPr>
              <a:t>}</a:t>
            </a:r>
            <a:r>
              <a:rPr lang="en-US" altLang="en-US" sz="1700" i="1" dirty="0">
                <a:sym typeface="Monotype Sorts" pitchFamily="-84" charset="2"/>
              </a:rPr>
              <a:t> </a:t>
            </a:r>
            <a:r>
              <a:rPr lang="en-US" altLang="en-US" sz="1700" dirty="0">
                <a:sym typeface="Monotype Sorts" pitchFamily="-84" charset="2"/>
              </a:rPr>
              <a:t>and </a:t>
            </a:r>
            <a:r>
              <a:rPr lang="en-US" altLang="en-US" sz="1700" i="1" dirty="0">
                <a:sym typeface="Monotype Sorts" pitchFamily="-84" charset="2"/>
              </a:rPr>
              <a:t>A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A</a:t>
            </a:r>
            <a:r>
              <a:rPr lang="en-US" altLang="en-US" sz="1700" i="1" dirty="0">
                <a:sym typeface="Monotype Sorts" pitchFamily="-84" charset="2"/>
              </a:rPr>
              <a:t>B</a:t>
            </a:r>
          </a:p>
          <a:p>
            <a:pPr lvl="1">
              <a:tabLst>
                <a:tab pos="2054225" algn="l"/>
              </a:tabLst>
            </a:pPr>
            <a:r>
              <a:rPr lang="fa-IR" sz="1800" dirty="0" err="1"/>
              <a:t>غیرِ</a:t>
            </a:r>
            <a:r>
              <a:rPr lang="fa-IR" sz="1800" dirty="0"/>
              <a:t> </a:t>
            </a:r>
            <a:r>
              <a:rPr lang="fa-IR" sz="1800" dirty="0" err="1"/>
              <a:t>حفظ‌کننده</a:t>
            </a:r>
            <a:r>
              <a:rPr lang="fa-IR" sz="1800" dirty="0"/>
              <a:t> وابستگی</a:t>
            </a:r>
            <a:br>
              <a:rPr lang="en-US" altLang="en-US" sz="1700" dirty="0">
                <a:sym typeface="Monotype Sorts" pitchFamily="-84" charset="2"/>
              </a:rPr>
            </a:br>
            <a:r>
              <a:rPr lang="en-US" altLang="en-US" sz="1700" dirty="0">
                <a:sym typeface="Monotype Sorts" pitchFamily="-84" charset="2"/>
              </a:rPr>
              <a:t>(</a:t>
            </a:r>
            <a:r>
              <a:rPr lang="fa-IR" altLang="en-US" sz="1700" dirty="0">
                <a:sym typeface="Monotype Sorts" pitchFamily="-84" charset="2"/>
              </a:rPr>
              <a:t>نمیتوانیم بگیم</a:t>
            </a:r>
            <a:r>
              <a:rPr lang="en-US" altLang="en-US" sz="1700" i="1" dirty="0">
                <a:sym typeface="Monotype Sorts" pitchFamily="-84" charset="2"/>
              </a:rPr>
              <a:t>B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C </a:t>
            </a:r>
            <a:r>
              <a:rPr lang="fa-IR" altLang="en-US" sz="1700" dirty="0">
                <a:sym typeface="Monotype Sorts" pitchFamily="-84" charset="2"/>
              </a:rPr>
              <a:t>بدون محا</a:t>
            </a:r>
            <a:r>
              <a:rPr lang="fa-IR" sz="1600" dirty="0"/>
              <a:t>سبه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i="1" baseline="-25000" dirty="0">
                <a:sym typeface="Monotype Sorts" pitchFamily="-84" charset="2"/>
              </a:rPr>
              <a:t>1 </a:t>
            </a:r>
            <a:r>
              <a:rPr lang="en-US" altLang="en-US" sz="1700" dirty="0">
                <a:sym typeface="Monotype Sorts" pitchFamily="-84" charset="2"/>
              </a:rPr>
              <a:t>    </a:t>
            </a:r>
            <a:r>
              <a:rPr lang="en-US" altLang="en-US" sz="1700" i="1" dirty="0">
                <a:sym typeface="Monotype Sorts" pitchFamily="-84" charset="2"/>
              </a:rPr>
              <a:t>R</a:t>
            </a:r>
            <a:r>
              <a:rPr lang="en-US" altLang="en-US" sz="1700" baseline="-25000" dirty="0">
                <a:sym typeface="Monotype Sorts" pitchFamily="-84" charset="2"/>
              </a:rPr>
              <a:t>2</a:t>
            </a:r>
            <a:r>
              <a:rPr lang="en-US" altLang="en-US" sz="1700" dirty="0">
                <a:sym typeface="Monotype Sorts" pitchFamily="-84" charset="2"/>
              </a:rPr>
              <a:t>)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4525" y="4512499"/>
            <a:ext cx="234950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05275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BCNF and Dependency Preservation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93788"/>
            <a:ext cx="7612170" cy="5075000"/>
          </a:xfrm>
        </p:spPr>
        <p:txBody>
          <a:bodyPr/>
          <a:lstStyle/>
          <a:p>
            <a:pPr algn="r" rtl="1">
              <a:defRPr/>
            </a:pPr>
            <a:r>
              <a:rPr lang="fa-IR" sz="1800" dirty="0"/>
              <a:t>همیشه ممکن نیست که </a:t>
            </a:r>
            <a:r>
              <a:rPr lang="fa-IR" sz="1800" dirty="0" err="1"/>
              <a:t>هم‌زمان</a:t>
            </a:r>
            <a:r>
              <a:rPr lang="fa-IR" sz="1800" dirty="0"/>
              <a:t> به </a:t>
            </a:r>
            <a:r>
              <a:rPr lang="en-US" sz="1800" dirty="0"/>
              <a:t>BCNF </a:t>
            </a:r>
            <a:r>
              <a:rPr lang="fa-IR" sz="1800" dirty="0"/>
              <a:t>و حفظ </a:t>
            </a:r>
            <a:r>
              <a:rPr lang="fa-IR" sz="1800" dirty="0" err="1"/>
              <a:t>وابستگی‌ها</a:t>
            </a:r>
            <a:r>
              <a:rPr lang="fa-IR" sz="1800" dirty="0"/>
              <a:t> برسیم.</a:t>
            </a:r>
            <a:endParaRPr lang="en-US" altLang="en-US" sz="1700" dirty="0"/>
          </a:p>
          <a:p>
            <a:pPr algn="r" rtl="1">
              <a:defRPr/>
            </a:pPr>
            <a:r>
              <a:rPr lang="fa-IR" sz="1800" dirty="0"/>
              <a:t>یک </a:t>
            </a:r>
            <a:r>
              <a:rPr lang="fa-IR" sz="1800" dirty="0" err="1"/>
              <a:t>شِما</a:t>
            </a:r>
            <a:r>
              <a:rPr lang="fa-IR" sz="1800" dirty="0"/>
              <a:t> را در نظر بگیرید: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</a:t>
            </a:r>
            <a:r>
              <a:rPr lang="en-US" altLang="en-US" sz="1700" i="1" dirty="0" err="1"/>
              <a:t>dept_advisor</a:t>
            </a:r>
            <a:r>
              <a:rPr lang="en-US" altLang="en-US" sz="1700" i="1" dirty="0"/>
              <a:t>(</a:t>
            </a:r>
            <a:r>
              <a:rPr lang="en-US" altLang="en-US" sz="1700" i="1" dirty="0" err="1"/>
              <a:t>s_ID</a:t>
            </a:r>
            <a:r>
              <a:rPr lang="en-US" altLang="en-US" sz="1700" i="1" dirty="0"/>
              <a:t>, </a:t>
            </a:r>
            <a:r>
              <a:rPr lang="en-US" altLang="en-US" sz="1700" i="1" dirty="0" err="1"/>
              <a:t>i_ID</a:t>
            </a:r>
            <a:r>
              <a:rPr lang="en-US" altLang="en-US" sz="1700" i="1" dirty="0"/>
              <a:t>, </a:t>
            </a:r>
            <a:r>
              <a:rPr lang="en-US" altLang="en-US" sz="1700" i="1" dirty="0" err="1"/>
              <a:t>department_name</a:t>
            </a:r>
            <a:r>
              <a:rPr lang="en-US" altLang="en-US" sz="1700" dirty="0"/>
              <a:t>)</a:t>
            </a:r>
          </a:p>
          <a:p>
            <a:pPr algn="r" rtl="1">
              <a:defRPr/>
            </a:pPr>
            <a:r>
              <a:rPr lang="fa-IR" sz="1800" dirty="0"/>
              <a:t>با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    </a:t>
            </a:r>
            <a:r>
              <a:rPr lang="en-US" altLang="en-US" sz="1700" i="1" dirty="0"/>
              <a:t>i_ID</a:t>
            </a:r>
            <a:r>
              <a:rPr lang="en-US" altLang="en-US" sz="1700" dirty="0"/>
              <a:t> </a:t>
            </a:r>
            <a:r>
              <a:rPr lang="en-US" altLang="en-US" sz="1700" dirty="0">
                <a:sym typeface="Symbol" pitchFamily="18" charset="2"/>
              </a:rPr>
              <a:t>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/>
              <a:t>             </a:t>
            </a:r>
            <a:r>
              <a:rPr lang="en-US" altLang="en-US" sz="1700" i="1" dirty="0"/>
              <a:t>s_ID,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  <a:r>
              <a:rPr lang="en-US" altLang="en-US" sz="1700" i="1" dirty="0"/>
              <a:t> </a:t>
            </a:r>
            <a:r>
              <a:rPr lang="en-US" altLang="en-US" sz="1700" dirty="0">
                <a:sym typeface="Symbol" pitchFamily="18" charset="2"/>
              </a:rPr>
              <a:t> </a:t>
            </a:r>
            <a:r>
              <a:rPr lang="en-US" altLang="en-US" sz="1700" i="1" dirty="0">
                <a:sym typeface="Symbol" pitchFamily="18" charset="2"/>
              </a:rPr>
              <a:t>i_ID</a:t>
            </a:r>
          </a:p>
          <a:p>
            <a:pPr algn="r" rtl="1">
              <a:defRPr/>
            </a:pPr>
            <a:r>
              <a:rPr lang="fa-IR" sz="1800" dirty="0"/>
              <a:t>جدول </a:t>
            </a:r>
            <a:r>
              <a:rPr lang="en-US" sz="1800" dirty="0" err="1"/>
              <a:t>dept_advisor</a:t>
            </a:r>
            <a:r>
              <a:rPr lang="en-US" sz="1800" dirty="0"/>
              <a:t> </a:t>
            </a:r>
            <a:r>
              <a:rPr lang="fa-IR" sz="1800" dirty="0"/>
              <a:t>در </a:t>
            </a:r>
            <a:r>
              <a:rPr lang="en-US" sz="1800" dirty="0"/>
              <a:t>BCNF </a:t>
            </a:r>
            <a:r>
              <a:rPr lang="fa-IR" sz="1800" dirty="0"/>
              <a:t>نیست.</a:t>
            </a:r>
            <a:endParaRPr lang="en-US" altLang="en-US" sz="1700" dirty="0"/>
          </a:p>
          <a:p>
            <a:pPr lvl="1" algn="r" rtl="1">
              <a:defRPr/>
            </a:pPr>
            <a:r>
              <a:rPr lang="en-US" altLang="en-US" sz="1700" dirty="0"/>
              <a:t> </a:t>
            </a:r>
            <a:r>
              <a:rPr lang="en-US" sz="1800" dirty="0" err="1"/>
              <a:t>i_ID</a:t>
            </a:r>
            <a:r>
              <a:rPr lang="en-US" sz="1800" dirty="0"/>
              <a:t> </a:t>
            </a:r>
            <a:r>
              <a:rPr lang="fa-IR" sz="1800" dirty="0"/>
              <a:t>یک </a:t>
            </a:r>
            <a:r>
              <a:rPr lang="fa-IR" sz="1800" dirty="0" err="1"/>
              <a:t>ابرکلید</a:t>
            </a:r>
            <a:r>
              <a:rPr lang="fa-IR" sz="1800" dirty="0"/>
              <a:t> نیست.</a:t>
            </a:r>
            <a:endParaRPr lang="en-US" altLang="en-US" sz="1700" dirty="0"/>
          </a:p>
          <a:p>
            <a:pPr marL="0" indent="0" algn="r" rtl="1">
              <a:buNone/>
              <a:defRPr/>
            </a:pPr>
            <a:r>
              <a:rPr lang="fa-IR" sz="1800" dirty="0"/>
              <a:t>هر </a:t>
            </a:r>
            <a:r>
              <a:rPr lang="fa-IR" sz="1800" dirty="0" err="1"/>
              <a:t>تجزیه‌ای</a:t>
            </a:r>
            <a:r>
              <a:rPr lang="fa-IR" sz="1800" dirty="0"/>
              <a:t> از </a:t>
            </a:r>
            <a:r>
              <a:rPr lang="en-US" sz="1800" dirty="0" err="1"/>
              <a:t>dept_advisor</a:t>
            </a:r>
            <a:r>
              <a:rPr lang="en-US" sz="1800" dirty="0"/>
              <a:t> </a:t>
            </a:r>
            <a:r>
              <a:rPr lang="fa-IR" sz="1800" dirty="0"/>
              <a:t>شامل همه صفات موجود در وابستگی</a:t>
            </a:r>
            <a:endParaRPr lang="en-US" altLang="en-US" sz="1700" dirty="0">
              <a:sym typeface="Symbol" pitchFamily="18" charset="2"/>
            </a:endParaRPr>
          </a:p>
          <a:p>
            <a:pPr algn="r" rtl="1">
              <a:buFont typeface="Monotype Sorts" pitchFamily="-84" charset="2"/>
              <a:buNone/>
              <a:defRPr/>
            </a:pPr>
            <a:r>
              <a:rPr lang="en-US" altLang="en-US" sz="1700" dirty="0">
                <a:sym typeface="Symbol" pitchFamily="18" charset="2"/>
              </a:rPr>
              <a:t>            </a:t>
            </a:r>
            <a:r>
              <a:rPr lang="en-US" altLang="en-US" sz="1700" i="1" dirty="0"/>
              <a:t>s_ID, </a:t>
            </a:r>
            <a:r>
              <a:rPr lang="en-US" altLang="en-US" sz="1700" i="1" dirty="0">
                <a:sym typeface="Symbol" pitchFamily="18" charset="2"/>
              </a:rPr>
              <a:t>dept_name</a:t>
            </a:r>
            <a:r>
              <a:rPr lang="en-US" altLang="en-US" sz="1700" i="1" dirty="0"/>
              <a:t> </a:t>
            </a:r>
            <a:r>
              <a:rPr lang="en-US" altLang="en-US" sz="1700" i="1" dirty="0">
                <a:sym typeface="Symbol" pitchFamily="18" charset="2"/>
              </a:rPr>
              <a:t> </a:t>
            </a:r>
            <a:r>
              <a:rPr lang="en-US" altLang="en-US" sz="1700" i="1" dirty="0" err="1">
                <a:sym typeface="Symbol" pitchFamily="18" charset="2"/>
              </a:rPr>
              <a:t>i_ID</a:t>
            </a:r>
            <a:endParaRPr lang="fa-IR" altLang="en-US" sz="1700" i="1" dirty="0">
              <a:sym typeface="Symbol" pitchFamily="18" charset="2"/>
            </a:endParaRPr>
          </a:p>
          <a:p>
            <a:pPr algn="r" rtl="1">
              <a:buFont typeface="Monotype Sorts" pitchFamily="-84" charset="2"/>
              <a:buNone/>
              <a:defRPr/>
            </a:pPr>
            <a:r>
              <a:rPr lang="fa-IR" sz="1800" dirty="0"/>
              <a:t>نخواهد بود.</a:t>
            </a:r>
            <a:endParaRPr lang="en-US" altLang="en-US" sz="1700" i="1" dirty="0">
              <a:sym typeface="Symbol" pitchFamily="18" charset="2"/>
            </a:endParaRPr>
          </a:p>
          <a:p>
            <a:pPr marL="0" indent="0" algn="r" rtl="1">
              <a:buNone/>
              <a:defRPr/>
            </a:pPr>
            <a:r>
              <a:rPr lang="fa-IR" sz="1800" dirty="0"/>
              <a:t>بنابراین این </a:t>
            </a:r>
            <a:r>
              <a:rPr lang="fa-IR" sz="1800" dirty="0" err="1"/>
              <a:t>تجمیع</a:t>
            </a:r>
            <a:r>
              <a:rPr lang="fa-IR" sz="1800" dirty="0"/>
              <a:t> </a:t>
            </a:r>
            <a:r>
              <a:rPr lang="fa-IR" sz="1800" i="1" dirty="0" err="1"/>
              <a:t>وابستگی‌ها</a:t>
            </a:r>
            <a:r>
              <a:rPr lang="fa-IR" sz="1800" i="1" dirty="0"/>
              <a:t> را حفظ </a:t>
            </a:r>
            <a:r>
              <a:rPr lang="fa-IR" sz="1800" i="1" dirty="0" err="1"/>
              <a:t>نمی‌کند</a:t>
            </a:r>
            <a:endParaRPr lang="en-US" altLang="en-US" sz="17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90367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Third Normal Form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8"/>
            <a:ext cx="7621048" cy="4903787"/>
          </a:xfrm>
        </p:spPr>
        <p:txBody>
          <a:bodyPr/>
          <a:lstStyle/>
          <a:p>
            <a:pPr algn="r" rtl="1">
              <a:tabLst>
                <a:tab pos="2738438" algn="l"/>
              </a:tabLst>
            </a:pPr>
            <a:r>
              <a:rPr lang="fa-IR" sz="1800" dirty="0"/>
              <a:t>یک </a:t>
            </a:r>
            <a:r>
              <a:rPr lang="fa-IR" sz="1800" dirty="0" err="1"/>
              <a:t>شِمای</a:t>
            </a:r>
            <a:r>
              <a:rPr lang="fa-IR" sz="1800" dirty="0"/>
              <a:t> رابطه </a:t>
            </a:r>
            <a:r>
              <a:rPr lang="en-US" sz="1800" dirty="0"/>
              <a:t>R </a:t>
            </a:r>
            <a:r>
              <a:rPr lang="fa-IR" sz="1800" dirty="0"/>
              <a:t>در </a:t>
            </a:r>
            <a:r>
              <a:rPr lang="fa-IR" sz="1800" dirty="0" err="1"/>
              <a:t>نرمال‌فرم</a:t>
            </a:r>
            <a:r>
              <a:rPr lang="fa-IR" sz="1800" dirty="0"/>
              <a:t> سوم (3</a:t>
            </a:r>
            <a:r>
              <a:rPr lang="en-US" sz="1800" dirty="0"/>
              <a:t>NF) </a:t>
            </a:r>
            <a:r>
              <a:rPr lang="fa-IR" sz="1800" dirty="0"/>
              <a:t>است اگر برای تمام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tabLst>
                <a:tab pos="2738438" algn="l"/>
              </a:tabLst>
            </a:pPr>
            <a:r>
              <a:rPr lang="en-US" altLang="en-US" sz="1700" dirty="0"/>
              <a:t>		</a:t>
            </a:r>
            <a:r>
              <a:rPr lang="en-US" altLang="en-US" sz="1700" dirty="0">
                <a:sym typeface="Symbol" panose="05050102010706020507" pitchFamily="18" charset="2"/>
              </a:rPr>
              <a:t></a:t>
            </a:r>
            <a:r>
              <a:rPr lang="en-US" altLang="en-US" sz="1700" dirty="0">
                <a:sym typeface="Greek Symbols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Symbol" panose="05050102010706020507" pitchFamily="18" charset="2"/>
              </a:rPr>
              <a:t></a:t>
            </a:r>
            <a:r>
              <a:rPr lang="en-US" altLang="en-US" sz="1700" dirty="0">
                <a:sym typeface="Monotype Sorts" pitchFamily="-84" charset="2"/>
              </a:rPr>
              <a:t> in </a:t>
            </a:r>
            <a:r>
              <a:rPr lang="en-US" altLang="en-US" sz="1700" i="1" dirty="0">
                <a:sym typeface="Monotype Sorts" pitchFamily="-84" charset="2"/>
              </a:rPr>
              <a:t>F</a:t>
            </a:r>
            <a:r>
              <a:rPr lang="en-US" altLang="en-US" sz="1700" baseline="30000" dirty="0">
                <a:sym typeface="Monotype Sorts" pitchFamily="-84" charset="2"/>
              </a:rPr>
              <a:t>+</a:t>
            </a:r>
          </a:p>
          <a:p>
            <a:pPr algn="r" rtl="1">
              <a:buFont typeface="Monotype Sorts" pitchFamily="-84" charset="2"/>
              <a:buNone/>
              <a:tabLst>
                <a:tab pos="2738438" algn="l"/>
              </a:tabLst>
            </a:pPr>
            <a:r>
              <a:rPr lang="en-US" altLang="en-US" sz="800" dirty="0">
                <a:sym typeface="Monotype Sorts" pitchFamily="-84" charset="2"/>
              </a:rPr>
              <a:t> </a:t>
            </a:r>
            <a:br>
              <a:rPr lang="en-US" altLang="en-US" sz="1700" dirty="0">
                <a:sym typeface="Monotype Sorts" pitchFamily="-84" charset="2"/>
              </a:rPr>
            </a:br>
            <a:r>
              <a:rPr lang="fa-IR" sz="1800" dirty="0"/>
              <a:t>حداقل یکی از شروط زیر برقرار باشد:</a:t>
            </a:r>
            <a:endParaRPr lang="en-US" altLang="en-US" sz="1700" dirty="0">
              <a:sym typeface="Monotype Sorts" pitchFamily="-84" charset="2"/>
            </a:endParaRPr>
          </a:p>
          <a:p>
            <a:pPr lvl="1" algn="r" rtl="1">
              <a:tabLst>
                <a:tab pos="2738438" algn="l"/>
              </a:tabLst>
            </a:pPr>
            <a:r>
              <a:rPr lang="en-US" altLang="en-US" sz="1700" dirty="0">
                <a:sym typeface="Symbol" panose="05050102010706020507" pitchFamily="18" charset="2"/>
              </a:rPr>
              <a:t></a:t>
            </a:r>
            <a:r>
              <a:rPr lang="en-US" altLang="en-US" sz="1700" dirty="0">
                <a:sym typeface="Greek Symbols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Symbol" panose="05050102010706020507" pitchFamily="18" charset="2"/>
              </a:rPr>
              <a:t></a:t>
            </a:r>
            <a:r>
              <a:rPr lang="en-US" altLang="en-US" sz="1700" i="1" dirty="0">
                <a:sym typeface="Greek Symbols"/>
              </a:rPr>
              <a:t> </a:t>
            </a:r>
            <a:r>
              <a:rPr lang="fa-IR" sz="1800" dirty="0"/>
              <a:t>بدیهی است </a:t>
            </a:r>
            <a:r>
              <a:rPr lang="en-US" altLang="en-US" sz="1700" dirty="0">
                <a:sym typeface="Greek Symbols"/>
              </a:rPr>
              <a:t>(i.e., </a:t>
            </a:r>
            <a:r>
              <a:rPr lang="en-US" altLang="en-US" sz="1700" i="1" dirty="0">
                <a:sym typeface="Symbol" panose="05050102010706020507" pitchFamily="18" charset="2"/>
              </a:rPr>
              <a:t></a:t>
            </a:r>
            <a:r>
              <a:rPr lang="en-US" altLang="en-US" sz="1700" i="1" dirty="0">
                <a:sym typeface="Greek Symbols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 </a:t>
            </a:r>
            <a:r>
              <a:rPr lang="en-US" altLang="en-US" sz="1700" dirty="0">
                <a:sym typeface="Greek Symbols"/>
              </a:rPr>
              <a:t>)</a:t>
            </a:r>
          </a:p>
          <a:p>
            <a:pPr lvl="1" algn="r" rtl="1">
              <a:tabLst>
                <a:tab pos="2738438" algn="l"/>
              </a:tabLst>
            </a:pPr>
            <a:r>
              <a:rPr lang="el-GR" sz="1800" dirty="0"/>
              <a:t>α </a:t>
            </a:r>
            <a:r>
              <a:rPr lang="fa-IR" sz="1800" dirty="0"/>
              <a:t>یک </a:t>
            </a:r>
            <a:r>
              <a:rPr lang="fa-IR" sz="1800" dirty="0" err="1"/>
              <a:t>اَبَرکلید</a:t>
            </a:r>
            <a:r>
              <a:rPr lang="fa-IR" sz="1800" dirty="0"/>
              <a:t> برای </a:t>
            </a:r>
            <a:r>
              <a:rPr lang="en-US" sz="1800" dirty="0"/>
              <a:t>R </a:t>
            </a:r>
            <a:r>
              <a:rPr lang="fa-IR" sz="1800" dirty="0"/>
              <a:t>باشد.</a:t>
            </a:r>
            <a:endParaRPr lang="en-US" altLang="en-US" sz="1700" dirty="0">
              <a:sym typeface="Greek Symbols"/>
            </a:endParaRPr>
          </a:p>
          <a:p>
            <a:pPr marL="457200" lvl="1" indent="0" algn="r" rtl="1">
              <a:buNone/>
              <a:tabLst>
                <a:tab pos="2738438" algn="l"/>
              </a:tabLst>
            </a:pPr>
            <a:r>
              <a:rPr lang="fa-IR" sz="1800" dirty="0"/>
              <a:t>هر ویژگی </a:t>
            </a:r>
            <a:r>
              <a:rPr lang="en-US" sz="1800" dirty="0"/>
              <a:t>A </a:t>
            </a:r>
            <a:r>
              <a:rPr lang="fa-IR" sz="1800" dirty="0"/>
              <a:t>در </a:t>
            </a:r>
            <a:r>
              <a:rPr lang="el-GR" sz="1800" dirty="0"/>
              <a:t>β – α </a:t>
            </a:r>
            <a:r>
              <a:rPr lang="fa-IR" sz="1800" dirty="0"/>
              <a:t>در یکی از کلیدهای کاندیدای </a:t>
            </a:r>
            <a:r>
              <a:rPr lang="en-US" sz="1800" dirty="0"/>
              <a:t>R </a:t>
            </a:r>
            <a:r>
              <a:rPr lang="fa-IR" sz="1800" dirty="0"/>
              <a:t>وجود داشته باشد.</a:t>
            </a:r>
            <a:endParaRPr lang="en-US" altLang="en-US" sz="1700" i="1" dirty="0">
              <a:sym typeface="Greek Symbols"/>
            </a:endParaRPr>
          </a:p>
          <a:p>
            <a:pPr lvl="1" algn="r" rtl="1">
              <a:buFont typeface="Monotype Sorts" pitchFamily="-84" charset="2"/>
              <a:buNone/>
              <a:tabLst>
                <a:tab pos="2738438" algn="l"/>
              </a:tabLst>
            </a:pPr>
            <a:r>
              <a:rPr lang="en-US" altLang="en-US" sz="1700" i="1" dirty="0">
                <a:sym typeface="Greek Symbols"/>
              </a:rPr>
              <a:t>   </a:t>
            </a:r>
            <a:r>
              <a:rPr lang="fa-IR" sz="1800" dirty="0"/>
              <a:t>توجه: هر ویژگی ممکن است در کلید کاندیدای متفاوتی قرار داشته باشد.</a:t>
            </a:r>
            <a:endParaRPr lang="en-US" altLang="en-US" sz="1700" i="1" dirty="0">
              <a:sym typeface="Greek Symbols"/>
            </a:endParaRPr>
          </a:p>
          <a:p>
            <a:pPr algn="r" rtl="1">
              <a:tabLst>
                <a:tab pos="2738438" algn="l"/>
              </a:tabLst>
            </a:pPr>
            <a:r>
              <a:rPr lang="fa-IR" sz="1800" dirty="0"/>
              <a:t>اگر یک رابطه در </a:t>
            </a:r>
            <a:r>
              <a:rPr lang="en-US" sz="1800" dirty="0"/>
              <a:t>BCNF </a:t>
            </a:r>
            <a:r>
              <a:rPr lang="fa-IR" sz="1800" dirty="0"/>
              <a:t>باشد، </a:t>
            </a:r>
            <a:r>
              <a:rPr lang="fa-IR" sz="1800" dirty="0" err="1"/>
              <a:t>به‌طور</a:t>
            </a:r>
            <a:r>
              <a:rPr lang="fa-IR" sz="1800" dirty="0"/>
              <a:t> خودکار در 3</a:t>
            </a:r>
            <a:r>
              <a:rPr lang="en-US" sz="1800" dirty="0"/>
              <a:t>NF </a:t>
            </a:r>
            <a:r>
              <a:rPr lang="fa-IR" sz="1800" dirty="0"/>
              <a:t>هم هست (چون در </a:t>
            </a:r>
            <a:r>
              <a:rPr lang="en-US" sz="1800" dirty="0"/>
              <a:t>BCNF </a:t>
            </a:r>
            <a:r>
              <a:rPr lang="fa-IR" sz="1800" dirty="0"/>
              <a:t>یکی از دو شرط اول همیشه برقرار است).</a:t>
            </a:r>
            <a:endParaRPr lang="en-US" altLang="en-US" sz="1700" dirty="0">
              <a:sym typeface="Greek Symbols"/>
            </a:endParaRPr>
          </a:p>
          <a:p>
            <a:pPr algn="r" rtl="1">
              <a:tabLst>
                <a:tab pos="2738438" algn="l"/>
              </a:tabLst>
            </a:pPr>
            <a:r>
              <a:rPr lang="fa-IR" sz="1800" dirty="0"/>
              <a:t>شرط سوم یک </a:t>
            </a:r>
            <a:r>
              <a:rPr lang="fa-IR" sz="1800" dirty="0" err="1"/>
              <a:t>نرم‌سازی</a:t>
            </a:r>
            <a:r>
              <a:rPr lang="fa-IR" sz="1800" dirty="0"/>
              <a:t> </a:t>
            </a:r>
            <a:r>
              <a:rPr lang="fa-IR" sz="1800" dirty="0" err="1"/>
              <a:t>حداقلی</a:t>
            </a:r>
            <a:r>
              <a:rPr lang="fa-IR" sz="1800" dirty="0"/>
              <a:t> نسبت به </a:t>
            </a:r>
            <a:r>
              <a:rPr lang="en-US" sz="1800" dirty="0"/>
              <a:t>BCNF </a:t>
            </a:r>
            <a:r>
              <a:rPr lang="fa-IR" sz="1800" dirty="0"/>
              <a:t>است تا حفظ </a:t>
            </a:r>
            <a:r>
              <a:rPr lang="fa-IR" sz="1800" dirty="0" err="1"/>
              <a:t>وابستگی‌ها</a:t>
            </a:r>
            <a:r>
              <a:rPr lang="fa-IR" sz="1800" dirty="0"/>
              <a:t> تضمین شود (بعداً </a:t>
            </a:r>
            <a:r>
              <a:rPr lang="fa-IR" sz="1800" dirty="0" err="1"/>
              <a:t>دلیلش</a:t>
            </a:r>
            <a:r>
              <a:rPr lang="fa-IR" sz="1800" dirty="0"/>
              <a:t> را خواهیم دید).</a:t>
            </a:r>
            <a:endParaRPr lang="en-US" altLang="en-US" sz="1700" dirty="0"/>
          </a:p>
          <a:p>
            <a:pPr>
              <a:tabLst>
                <a:tab pos="2738438" algn="l"/>
              </a:tabLst>
            </a:pPr>
            <a:endParaRPr lang="en-US" altLang="en-US" sz="2000" dirty="0">
              <a:sym typeface="Greek Symbols"/>
            </a:endParaRPr>
          </a:p>
        </p:txBody>
      </p:sp>
    </p:spTree>
    <p:extLst>
      <p:ext uri="{BB962C8B-B14F-4D97-AF65-F5344CB8AC3E}">
        <p14:creationId xmlns:p14="http://schemas.microsoft.com/office/powerpoint/2010/main" val="2956966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066" name="Rectangle 2"/>
          <p:cNvSpPr>
            <a:spLocks noGrp="1" noChangeArrowheads="1"/>
          </p:cNvSpPr>
          <p:nvPr>
            <p:ph type="title"/>
          </p:nvPr>
        </p:nvSpPr>
        <p:spPr>
          <a:xfrm>
            <a:off x="709613" y="98425"/>
            <a:ext cx="8015287" cy="625475"/>
          </a:xfrm>
        </p:spPr>
        <p:txBody>
          <a:bodyPr/>
          <a:lstStyle/>
          <a:p>
            <a:pPr>
              <a:defRPr/>
            </a:pPr>
            <a:r>
              <a:rPr lang="en-US" sz="2800" dirty="0">
                <a:ea typeface="ＭＳ Ｐゴシック" pitchFamily="34" charset="-128"/>
              </a:rPr>
              <a:t>3NF Example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762953" y="1093788"/>
            <a:ext cx="8015287" cy="4490148"/>
          </a:xfrm>
        </p:spPr>
        <p:txBody>
          <a:bodyPr/>
          <a:lstStyle/>
          <a:p>
            <a:pPr algn="r" rtl="1"/>
            <a:r>
              <a:rPr lang="fa-IR" sz="1800" dirty="0"/>
              <a:t>یک </a:t>
            </a:r>
            <a:r>
              <a:rPr lang="fa-IR" sz="1800" dirty="0" err="1"/>
              <a:t>شِما</a:t>
            </a:r>
            <a:r>
              <a:rPr lang="fa-IR" sz="1800" dirty="0"/>
              <a:t> را در نظر بگیرید: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/>
              <a:t>         </a:t>
            </a:r>
            <a:r>
              <a:rPr lang="en-US" altLang="en-US" sz="1700" i="1" dirty="0" err="1"/>
              <a:t>dept_advisor</a:t>
            </a:r>
            <a:r>
              <a:rPr lang="en-US" altLang="en-US" sz="1700" i="1" dirty="0"/>
              <a:t>(</a:t>
            </a:r>
            <a:r>
              <a:rPr lang="en-US" altLang="en-US" sz="1700" i="1" dirty="0" err="1"/>
              <a:t>s_ID</a:t>
            </a:r>
            <a:r>
              <a:rPr lang="en-US" altLang="en-US" sz="1700" i="1" dirty="0"/>
              <a:t>, </a:t>
            </a:r>
            <a:r>
              <a:rPr lang="en-US" altLang="en-US" sz="1700" i="1" dirty="0" err="1"/>
              <a:t>i_ID</a:t>
            </a:r>
            <a:r>
              <a:rPr lang="en-US" altLang="en-US" sz="1700" i="1" dirty="0"/>
              <a:t>, </a:t>
            </a:r>
            <a:r>
              <a:rPr lang="en-US" altLang="en-US" sz="1700" i="1" dirty="0" err="1"/>
              <a:t>dept_name</a:t>
            </a:r>
            <a:r>
              <a:rPr lang="en-US" altLang="en-US" sz="1700" dirty="0"/>
              <a:t>)</a:t>
            </a:r>
          </a:p>
          <a:p>
            <a:pPr algn="r" rtl="1"/>
            <a:r>
              <a:rPr lang="fa-IR" sz="1800" dirty="0"/>
              <a:t>با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/>
              <a:t>             </a:t>
            </a:r>
            <a:r>
              <a:rPr lang="en-US" altLang="en-US" sz="1700" i="1" dirty="0" err="1"/>
              <a:t>i_ID</a:t>
            </a:r>
            <a:r>
              <a:rPr lang="en-US" altLang="en-US" sz="1700" dirty="0"/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endParaRPr lang="en-US" altLang="en-US" sz="1700" i="1" dirty="0">
              <a:sym typeface="Symbol" panose="05050102010706020507" pitchFamily="18" charset="2"/>
            </a:endParaRPr>
          </a:p>
          <a:p>
            <a:pPr algn="r" rtl="1">
              <a:buFont typeface="Monotype Sorts" pitchFamily="-84" charset="2"/>
              <a:buNone/>
            </a:pPr>
            <a:r>
              <a:rPr lang="en-US" altLang="en-US" sz="1700" dirty="0"/>
              <a:t>             </a:t>
            </a:r>
            <a:r>
              <a:rPr lang="en-US" altLang="en-US" sz="1700" i="1" dirty="0" err="1"/>
              <a:t>s_ID</a:t>
            </a:r>
            <a:r>
              <a:rPr lang="en-US" altLang="en-US" sz="1700" i="1" dirty="0"/>
              <a:t>,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r>
              <a:rPr lang="en-US" altLang="en-US" sz="1700" i="1" dirty="0"/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 </a:t>
            </a:r>
            <a:r>
              <a:rPr lang="en-US" altLang="en-US" sz="1700" i="1" dirty="0" err="1">
                <a:sym typeface="Symbol" panose="05050102010706020507" pitchFamily="18" charset="2"/>
              </a:rPr>
              <a:t>i_ID</a:t>
            </a:r>
            <a:endParaRPr lang="en-US" altLang="en-US" sz="1700" i="1" dirty="0">
              <a:sym typeface="Symbol" panose="05050102010706020507" pitchFamily="18" charset="2"/>
            </a:endParaRPr>
          </a:p>
          <a:p>
            <a:pPr algn="r" rtl="1"/>
            <a:r>
              <a:rPr lang="en-US" altLang="en-US" sz="1700" dirty="0">
                <a:sym typeface="Monotype Sorts" pitchFamily="-84" charset="2"/>
              </a:rPr>
              <a:t>Two candidate keys =  {</a:t>
            </a:r>
            <a:r>
              <a:rPr lang="en-US" altLang="en-US" sz="1700" i="1" dirty="0" err="1"/>
              <a:t>s_ID</a:t>
            </a:r>
            <a:r>
              <a:rPr lang="en-US" altLang="en-US" sz="1700" i="1" dirty="0"/>
              <a:t>,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r>
              <a:rPr lang="en-US" altLang="en-US" sz="1700" dirty="0">
                <a:sym typeface="Symbol" panose="05050102010706020507" pitchFamily="18" charset="2"/>
              </a:rPr>
              <a:t>}, {</a:t>
            </a:r>
            <a:r>
              <a:rPr lang="en-US" altLang="en-US" sz="1700" i="1" dirty="0" err="1"/>
              <a:t>s_ID</a:t>
            </a:r>
            <a:r>
              <a:rPr lang="en-US" altLang="en-US" sz="1700" i="1" dirty="0"/>
              <a:t>,</a:t>
            </a:r>
            <a:r>
              <a:rPr lang="en-US" altLang="en-US" sz="1700" i="1" dirty="0">
                <a:sym typeface="Symbol" panose="05050102010706020507" pitchFamily="18" charset="2"/>
              </a:rPr>
              <a:t> </a:t>
            </a:r>
            <a:r>
              <a:rPr lang="en-US" altLang="en-US" sz="1700" i="1" dirty="0" err="1">
                <a:sym typeface="Symbol" panose="05050102010706020507" pitchFamily="18" charset="2"/>
              </a:rPr>
              <a:t>i_ID</a:t>
            </a:r>
            <a:r>
              <a:rPr lang="en-US" altLang="en-US" sz="1700" i="1" dirty="0">
                <a:sym typeface="Symbol" panose="05050102010706020507" pitchFamily="18" charset="2"/>
              </a:rPr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}</a:t>
            </a:r>
            <a:endParaRPr lang="en-US" altLang="en-US" sz="1700" dirty="0">
              <a:sym typeface="Monotype Sorts" pitchFamily="-84" charset="2"/>
            </a:endParaRPr>
          </a:p>
          <a:p>
            <a:pPr algn="r" rtl="1"/>
            <a:r>
              <a:rPr lang="fa-IR" sz="1800" dirty="0"/>
              <a:t>قبلاً دیدیم که </a:t>
            </a:r>
            <a:r>
              <a:rPr lang="en-US" sz="1800" dirty="0" err="1"/>
              <a:t>dept_advisor</a:t>
            </a:r>
            <a:r>
              <a:rPr lang="en-US" sz="1800" dirty="0"/>
              <a:t> </a:t>
            </a:r>
            <a:r>
              <a:rPr lang="fa-IR" sz="1800" dirty="0"/>
              <a:t>در </a:t>
            </a:r>
            <a:r>
              <a:rPr lang="en-US" sz="1800" dirty="0"/>
              <a:t>BCNF </a:t>
            </a:r>
            <a:r>
              <a:rPr lang="fa-IR" sz="1800" dirty="0"/>
              <a:t>نیست.</a:t>
            </a:r>
            <a:endParaRPr lang="en-US" altLang="en-US" sz="1700" dirty="0">
              <a:sym typeface="Monotype Sorts" pitchFamily="-84" charset="2"/>
            </a:endParaRPr>
          </a:p>
          <a:p>
            <a:pPr algn="r" rtl="1"/>
            <a:r>
              <a:rPr lang="fa-IR" sz="1800" dirty="0"/>
              <a:t>اما این رابطه در </a:t>
            </a:r>
            <a:r>
              <a:rPr lang="en-US" sz="1800" dirty="0"/>
              <a:t>3NF</a:t>
            </a:r>
            <a:r>
              <a:rPr lang="fa-IR" sz="1800" dirty="0"/>
              <a:t>قرار دارد.</a:t>
            </a:r>
            <a:endParaRPr lang="en-US" altLang="en-US" sz="1700" dirty="0">
              <a:sym typeface="Monotype Sorts" pitchFamily="-84" charset="2"/>
            </a:endParaRPr>
          </a:p>
          <a:p>
            <a:pPr marL="457200" lvl="1" indent="0" algn="r" rtl="1">
              <a:buNone/>
            </a:pPr>
            <a:r>
              <a:rPr lang="fa-IR" sz="1800" dirty="0"/>
              <a:t>ترکیب </a:t>
            </a:r>
            <a:r>
              <a:rPr lang="en-US" sz="1800" dirty="0" err="1"/>
              <a:t>s_ID</a:t>
            </a:r>
            <a:r>
              <a:rPr lang="en-US" sz="1800" dirty="0"/>
              <a:t> </a:t>
            </a:r>
            <a:r>
              <a:rPr lang="fa-IR" sz="1800" dirty="0"/>
              <a:t>و </a:t>
            </a:r>
            <a:r>
              <a:rPr lang="en-US" sz="1800" dirty="0" err="1"/>
              <a:t>dept_name</a:t>
            </a:r>
            <a:r>
              <a:rPr lang="en-US" sz="1800" dirty="0"/>
              <a:t> </a:t>
            </a:r>
            <a:r>
              <a:rPr lang="fa-IR" sz="1800" dirty="0"/>
              <a:t>یک </a:t>
            </a:r>
            <a:r>
              <a:rPr lang="fa-IR" sz="1800" dirty="0" err="1"/>
              <a:t>اَبَرکلید</a:t>
            </a:r>
            <a:r>
              <a:rPr lang="fa-IR" sz="1800" dirty="0"/>
              <a:t> است.</a:t>
            </a:r>
            <a:endParaRPr lang="en-US" altLang="en-US" sz="1700" dirty="0">
              <a:sym typeface="Monotype Sorts" pitchFamily="-84" charset="2"/>
            </a:endParaRPr>
          </a:p>
          <a:p>
            <a:pPr lvl="1" algn="r" rtl="1"/>
            <a:r>
              <a:rPr lang="en-US" altLang="en-US" sz="1700" dirty="0"/>
              <a:t> </a:t>
            </a:r>
            <a:r>
              <a:rPr lang="en-US" altLang="en-US" sz="1700" i="1" dirty="0" err="1"/>
              <a:t>i_ID</a:t>
            </a:r>
            <a:r>
              <a:rPr lang="en-US" altLang="en-US" sz="1700" dirty="0"/>
              <a:t> </a:t>
            </a:r>
            <a:r>
              <a:rPr lang="en-US" altLang="en-US" sz="1700" dirty="0">
                <a:sym typeface="Symbol" panose="05050102010706020507" pitchFamily="18" charset="2"/>
              </a:rPr>
              <a:t> </a:t>
            </a:r>
            <a:r>
              <a:rPr lang="en-US" altLang="en-US" sz="1700" i="1" dirty="0" err="1">
                <a:sym typeface="Symbol" panose="05050102010706020507" pitchFamily="18" charset="2"/>
              </a:rPr>
              <a:t>dept_name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 </a:t>
            </a:r>
            <a:r>
              <a:rPr lang="fa-IR" altLang="en-US" sz="1700" i="1" dirty="0">
                <a:sym typeface="Monotype Sorts" pitchFamily="-84" charset="2"/>
              </a:rPr>
              <a:t>و </a:t>
            </a:r>
            <a:r>
              <a:rPr lang="en-US" sz="1800" dirty="0" err="1"/>
              <a:t>i_ID</a:t>
            </a:r>
            <a:r>
              <a:rPr lang="fa-IR" sz="1800" dirty="0"/>
              <a:t> یک </a:t>
            </a:r>
            <a:r>
              <a:rPr lang="fa-IR" sz="1800" dirty="0" err="1"/>
              <a:t>ابرکلید</a:t>
            </a:r>
            <a:r>
              <a:rPr lang="fa-IR" sz="1800" dirty="0"/>
              <a:t> نیست اما:</a:t>
            </a:r>
          </a:p>
          <a:p>
            <a:pPr lvl="1" algn="r" rtl="1"/>
            <a:r>
              <a:rPr lang="en-US" sz="1800" dirty="0"/>
              <a:t>{ </a:t>
            </a:r>
            <a:r>
              <a:rPr lang="en-US" sz="1800" dirty="0" err="1"/>
              <a:t>dept_name</a:t>
            </a:r>
            <a:r>
              <a:rPr lang="en-US" sz="1800" dirty="0"/>
              <a:t>} – {</a:t>
            </a:r>
            <a:r>
              <a:rPr lang="en-US" sz="1800" dirty="0" err="1"/>
              <a:t>i_ID</a:t>
            </a:r>
            <a:r>
              <a:rPr lang="en-US" sz="1800" dirty="0"/>
              <a:t> } = {</a:t>
            </a:r>
            <a:r>
              <a:rPr lang="en-US" sz="1800" dirty="0" err="1"/>
              <a:t>dept_name</a:t>
            </a:r>
            <a:r>
              <a:rPr lang="en-US" sz="1800" dirty="0"/>
              <a:t> } and</a:t>
            </a:r>
            <a:endParaRPr lang="en-US" altLang="en-US" sz="1700" dirty="0">
              <a:sym typeface="Monotype Sorts" pitchFamily="-84" charset="2"/>
            </a:endParaRPr>
          </a:p>
          <a:p>
            <a:pPr lvl="2" algn="r" rtl="1"/>
            <a:r>
              <a:rPr lang="fa-IR" sz="1800" dirty="0"/>
              <a:t>و </a:t>
            </a:r>
            <a:r>
              <a:rPr lang="en-US" sz="1800" dirty="0" err="1"/>
              <a:t>dept_name</a:t>
            </a:r>
            <a:r>
              <a:rPr lang="en-US" sz="1800" dirty="0"/>
              <a:t> </a:t>
            </a:r>
            <a:r>
              <a:rPr lang="fa-IR" sz="1800" dirty="0"/>
              <a:t>در یک کلید کاندید قرار دارد.</a:t>
            </a:r>
            <a:endParaRPr lang="en-US" altLang="en-US" sz="1700" i="1" dirty="0">
              <a:sym typeface="Greek Symbols"/>
            </a:endParaRPr>
          </a:p>
          <a:p>
            <a:pPr>
              <a:buFont typeface="Monotype Sorts" pitchFamily="-84" charset="2"/>
              <a:buNone/>
            </a:pPr>
            <a:endParaRPr lang="en-US" altLang="en-US" sz="2000" i="1" dirty="0">
              <a:sym typeface="Symbol" panose="05050102010706020507" pitchFamily="18" charset="2"/>
            </a:endParaRPr>
          </a:p>
          <a:p>
            <a:pPr>
              <a:buFont typeface="Monotype Sorts" pitchFamily="-84" charset="2"/>
              <a:buNone/>
            </a:pPr>
            <a:endParaRPr lang="en-US" altLang="en-US" sz="2000" dirty="0">
              <a:sym typeface="Symbol" panose="05050102010706020507" pitchFamily="18" charset="2"/>
            </a:endParaRPr>
          </a:p>
          <a:p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253033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290" name="Rectangle 2"/>
          <p:cNvSpPr>
            <a:spLocks noGrp="1" noChangeArrowheads="1"/>
          </p:cNvSpPr>
          <p:nvPr>
            <p:ph type="title"/>
          </p:nvPr>
        </p:nvSpPr>
        <p:spPr>
          <a:xfrm>
            <a:off x="781050" y="174963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sz="2800" dirty="0">
                <a:ea typeface="ＭＳ Ｐゴシック" pitchFamily="34" charset="-128"/>
              </a:rPr>
              <a:t>Redundancy in 3NF</a:t>
            </a:r>
          </a:p>
        </p:txBody>
      </p:sp>
      <p:sp>
        <p:nvSpPr>
          <p:cNvPr id="34819" name="Rectangle 10"/>
          <p:cNvSpPr>
            <a:spLocks noGrp="1" noChangeArrowheads="1"/>
          </p:cNvSpPr>
          <p:nvPr>
            <p:ph idx="1"/>
          </p:nvPr>
        </p:nvSpPr>
        <p:spPr>
          <a:xfrm>
            <a:off x="781050" y="1130542"/>
            <a:ext cx="7716774" cy="5123954"/>
          </a:xfrm>
        </p:spPr>
        <p:txBody>
          <a:bodyPr/>
          <a:lstStyle/>
          <a:p>
            <a:pPr algn="r" rtl="1"/>
            <a:r>
              <a:rPr lang="fa-IR" sz="1800" dirty="0"/>
              <a:t>به </a:t>
            </a:r>
            <a:r>
              <a:rPr lang="fa-IR" sz="1800" dirty="0" err="1"/>
              <a:t>شِمای</a:t>
            </a:r>
            <a:r>
              <a:rPr lang="fa-IR" sz="1800" dirty="0"/>
              <a:t> </a:t>
            </a:r>
            <a:r>
              <a:rPr lang="en-US" sz="1800" dirty="0"/>
              <a:t>R </a:t>
            </a:r>
            <a:r>
              <a:rPr lang="fa-IR" sz="1800" dirty="0"/>
              <a:t>در زیر توجه کنید که در حالت نرمال سوم </a:t>
            </a:r>
            <a:r>
              <a:rPr lang="en-US" sz="1800" dirty="0"/>
              <a:t>3NF</a:t>
            </a:r>
            <a:r>
              <a:rPr lang="fa-IR" sz="1800" dirty="0"/>
              <a:t>قرار دارد.</a:t>
            </a:r>
            <a:endParaRPr lang="en-US" altLang="en-US" sz="1700" dirty="0"/>
          </a:p>
          <a:p>
            <a:pPr marL="0" indent="0">
              <a:buNone/>
            </a:pPr>
            <a:endParaRPr lang="en-US" altLang="en-US" sz="1700" dirty="0"/>
          </a:p>
          <a:p>
            <a:endParaRPr lang="en-US" altLang="en-US" sz="1700" dirty="0"/>
          </a:p>
          <a:p>
            <a:endParaRPr lang="en-US" altLang="en-US" sz="1700" dirty="0"/>
          </a:p>
          <a:p>
            <a:endParaRPr lang="en-US" altLang="en-US" sz="1700" dirty="0"/>
          </a:p>
          <a:p>
            <a:endParaRPr lang="en-US" altLang="en-US" sz="1700" dirty="0"/>
          </a:p>
          <a:p>
            <a:endParaRPr lang="en-US" altLang="en-US" sz="1700" dirty="0"/>
          </a:p>
          <a:p>
            <a:pPr marL="0" indent="0">
              <a:buNone/>
            </a:pPr>
            <a:endParaRPr lang="en-US" altLang="en-US" sz="1700" dirty="0"/>
          </a:p>
          <a:p>
            <a:pPr algn="r" rtl="1"/>
            <a:r>
              <a:rPr lang="fa-IR" sz="1800" dirty="0"/>
              <a:t>مشکل این جدول چیست؟</a:t>
            </a:r>
            <a:endParaRPr lang="en-US" altLang="en-US" sz="1700" dirty="0"/>
          </a:p>
          <a:p>
            <a:pPr marL="0" indent="0">
              <a:buNone/>
            </a:pPr>
            <a:endParaRPr lang="en-US" altLang="en-US" sz="1700" dirty="0"/>
          </a:p>
        </p:txBody>
      </p:sp>
      <p:sp>
        <p:nvSpPr>
          <p:cNvPr id="34822" name="TextBox 1"/>
          <p:cNvSpPr txBox="1">
            <a:spLocks noChangeArrowheads="1"/>
          </p:cNvSpPr>
          <p:nvPr/>
        </p:nvSpPr>
        <p:spPr bwMode="auto">
          <a:xfrm>
            <a:off x="781051" y="1530989"/>
            <a:ext cx="6717030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800100" lvl="1" indent="-342900">
              <a:spcBef>
                <a:spcPts val="0"/>
              </a:spcBef>
              <a:buClr>
                <a:srgbClr val="F5960B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altLang="en-US" sz="1700" i="1" dirty="0"/>
              <a:t>R = </a:t>
            </a:r>
            <a:r>
              <a:rPr lang="en-US" altLang="en-US" sz="1700" dirty="0"/>
              <a:t>(</a:t>
            </a:r>
            <a:r>
              <a:rPr lang="en-US" altLang="en-US" sz="1700" i="1" dirty="0"/>
              <a:t>J, K, L </a:t>
            </a:r>
            <a:r>
              <a:rPr lang="en-US" altLang="en-US" sz="1700" dirty="0"/>
              <a:t>)</a:t>
            </a:r>
            <a:endParaRPr lang="en-US" altLang="en-US" sz="1700" i="1" dirty="0"/>
          </a:p>
          <a:p>
            <a:pPr marL="800100" lvl="1" indent="-342900">
              <a:spcBef>
                <a:spcPts val="0"/>
              </a:spcBef>
              <a:buClr>
                <a:srgbClr val="F5960B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altLang="en-US" sz="1700" i="1" dirty="0"/>
              <a:t>F = </a:t>
            </a:r>
            <a:r>
              <a:rPr lang="en-US" altLang="en-US" sz="1700" dirty="0"/>
              <a:t>{</a:t>
            </a:r>
            <a:r>
              <a:rPr lang="en-US" altLang="en-US" sz="1700" i="1" dirty="0"/>
              <a:t>JK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L, L </a:t>
            </a:r>
            <a:r>
              <a:rPr lang="en-US" altLang="en-US" sz="1700" dirty="0">
                <a:sym typeface="Symbol" panose="05050102010706020507" pitchFamily="18" charset="2"/>
              </a:rPr>
              <a:t></a:t>
            </a:r>
            <a:r>
              <a:rPr lang="en-US" altLang="en-US" sz="1700" dirty="0">
                <a:sym typeface="Monotype Sorts" pitchFamily="-84" charset="2"/>
              </a:rPr>
              <a:t> </a:t>
            </a:r>
            <a:r>
              <a:rPr lang="en-US" altLang="en-US" sz="1700" i="1" dirty="0">
                <a:sym typeface="Monotype Sorts" pitchFamily="-84" charset="2"/>
              </a:rPr>
              <a:t>K </a:t>
            </a:r>
            <a:r>
              <a:rPr lang="en-US" altLang="en-US" sz="1700" dirty="0">
                <a:sym typeface="Monotype Sorts" pitchFamily="-84" charset="2"/>
              </a:rPr>
              <a:t>}</a:t>
            </a:r>
          </a:p>
          <a:p>
            <a:pPr marL="800100" lvl="1" indent="-342900">
              <a:spcBef>
                <a:spcPts val="0"/>
              </a:spcBef>
              <a:buClr>
                <a:srgbClr val="F5960B"/>
              </a:buClr>
              <a:buSzPct val="110000"/>
              <a:buFont typeface="Arial" panose="020B0604020202020204" pitchFamily="34" charset="0"/>
              <a:buChar char="•"/>
            </a:pPr>
            <a:r>
              <a:rPr lang="fa-IR" sz="1800" dirty="0"/>
              <a:t>و یک جدول نمونه</a:t>
            </a:r>
            <a:r>
              <a:rPr lang="en-US" sz="1800" dirty="0"/>
              <a:t>:</a:t>
            </a:r>
            <a:endParaRPr lang="en-US" altLang="en-US" sz="1700" dirty="0">
              <a:sym typeface="Monotype Sorts" pitchFamily="-84" charset="2"/>
            </a:endParaRP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436625" y="4266097"/>
            <a:ext cx="7472935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800100" lvl="1" indent="-342900" algn="r" rtl="1">
              <a:buClr>
                <a:srgbClr val="FF9933"/>
              </a:buClr>
              <a:buSzPct val="110000"/>
              <a:buFont typeface="Arial" panose="020B0604020202020204" pitchFamily="34" charset="0"/>
              <a:buChar char="•"/>
            </a:pPr>
            <a:r>
              <a:rPr lang="fa-IR" sz="1800" dirty="0"/>
              <a:t>تکرار اطلاعات</a:t>
            </a:r>
            <a:endParaRPr lang="en-US" altLang="en-US" sz="1700" dirty="0"/>
          </a:p>
          <a:p>
            <a:pPr marL="800100" lvl="1" indent="-342900" algn="r" rtl="1">
              <a:buClr>
                <a:srgbClr val="FF9933"/>
              </a:buClr>
              <a:buSzPct val="110000"/>
              <a:buFont typeface="Arial" panose="020B0604020202020204" pitchFamily="34" charset="0"/>
              <a:buChar char="•"/>
            </a:pPr>
            <a:r>
              <a:rPr lang="fa-IR" sz="1800" dirty="0"/>
              <a:t>نیاز به استفاده از مقدارهای </a:t>
            </a:r>
            <a:r>
              <a:rPr lang="en-US" sz="1800" dirty="0"/>
              <a:t>)NULL </a:t>
            </a:r>
            <a:r>
              <a:rPr lang="fa-IR" sz="1800" dirty="0"/>
              <a:t>برای مثال، برای نمایش </a:t>
            </a:r>
            <a:r>
              <a:rPr lang="fa-IR" sz="1800" dirty="0" err="1"/>
              <a:t>رابطهٔ</a:t>
            </a:r>
            <a:r>
              <a:rPr lang="fa-IR" sz="1800" dirty="0"/>
              <a:t> </a:t>
            </a:r>
            <a:r>
              <a:rPr lang="en-US" sz="1800" dirty="0"/>
              <a:t>l2 </a:t>
            </a:r>
            <a:r>
              <a:rPr lang="fa-IR" sz="1800" dirty="0"/>
              <a:t>و </a:t>
            </a:r>
            <a:r>
              <a:rPr lang="en-US" sz="1800" dirty="0"/>
              <a:t>k2 </a:t>
            </a:r>
            <a:r>
              <a:rPr lang="fa-IR" sz="1800" dirty="0"/>
              <a:t>زمانی که مقدار </a:t>
            </a:r>
            <a:r>
              <a:rPr lang="fa-IR" sz="1800" dirty="0" err="1"/>
              <a:t>متناظر</a:t>
            </a:r>
            <a:r>
              <a:rPr lang="fa-IR" sz="1800" dirty="0"/>
              <a:t> </a:t>
            </a:r>
            <a:r>
              <a:rPr lang="en-US" sz="1800" dirty="0"/>
              <a:t>J </a:t>
            </a:r>
            <a:r>
              <a:rPr lang="fa-IR" sz="1800" dirty="0"/>
              <a:t>وجود ندارد)</a:t>
            </a:r>
            <a:endParaRPr lang="en-US" altLang="en-US" sz="17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643" y="2565463"/>
            <a:ext cx="933450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370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7625" y="184150"/>
            <a:ext cx="6969125" cy="500063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Comparison of BCNF and 3NF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781236" y="1093788"/>
            <a:ext cx="7599285" cy="2661348"/>
          </a:xfrm>
        </p:spPr>
        <p:txBody>
          <a:bodyPr/>
          <a:lstStyle/>
          <a:p>
            <a:pPr algn="r" rtl="1"/>
            <a:r>
              <a:rPr lang="fa-IR" sz="1800" dirty="0" err="1"/>
              <a:t>مزیت‌های</a:t>
            </a:r>
            <a:r>
              <a:rPr lang="fa-IR" sz="1800" dirty="0"/>
              <a:t> </a:t>
            </a:r>
            <a:r>
              <a:rPr lang="fa-IR" sz="1800" dirty="0" err="1"/>
              <a:t>نرمال‌فرم</a:t>
            </a:r>
            <a:r>
              <a:rPr lang="fa-IR" sz="1800" dirty="0"/>
              <a:t> سوم </a:t>
            </a:r>
            <a:r>
              <a:rPr lang="en-US" sz="1800" dirty="0"/>
              <a:t>3NF</a:t>
            </a:r>
            <a:r>
              <a:rPr lang="fa-IR" sz="1800" dirty="0"/>
              <a:t>نسبت به </a:t>
            </a:r>
            <a:r>
              <a:rPr lang="en-US" sz="1800" dirty="0"/>
              <a:t>BCNF.</a:t>
            </a:r>
            <a:r>
              <a:rPr lang="fa-IR" sz="1800" dirty="0"/>
              <a:t> همیشه </a:t>
            </a:r>
            <a:r>
              <a:rPr lang="fa-IR" sz="1800" dirty="0" err="1"/>
              <a:t>می‌توان</a:t>
            </a:r>
            <a:r>
              <a:rPr lang="fa-IR" sz="1800" dirty="0"/>
              <a:t> یک طراحی </a:t>
            </a:r>
            <a:r>
              <a:rPr lang="en-US" sz="1800" dirty="0"/>
              <a:t>3NF</a:t>
            </a:r>
            <a:r>
              <a:rPr lang="fa-IR" sz="1800" dirty="0"/>
              <a:t>به دست آورد بدون اینکه خاصیت </a:t>
            </a:r>
            <a:r>
              <a:rPr lang="fa-IR" sz="1800" dirty="0" err="1"/>
              <a:t>بی‌اتلاف</a:t>
            </a:r>
            <a:r>
              <a:rPr lang="fa-IR" sz="1800" dirty="0"/>
              <a:t> بودن یا حفظ </a:t>
            </a:r>
            <a:r>
              <a:rPr lang="fa-IR" sz="1800" dirty="0" err="1"/>
              <a:t>وابستگی‌ها</a:t>
            </a:r>
            <a:r>
              <a:rPr lang="fa-IR" sz="1800" dirty="0"/>
              <a:t> از بین برود.</a:t>
            </a:r>
            <a:endParaRPr lang="en-US" altLang="en-US" sz="1700" dirty="0"/>
          </a:p>
          <a:p>
            <a:pPr algn="r" rtl="1"/>
            <a:r>
              <a:rPr lang="fa-IR" sz="1800" dirty="0"/>
              <a:t>معایب</a:t>
            </a:r>
            <a:r>
              <a:rPr lang="en-US" sz="1800" dirty="0"/>
              <a:t>3NF</a:t>
            </a:r>
            <a:endParaRPr lang="en-US" altLang="en-US" sz="1700" dirty="0"/>
          </a:p>
          <a:p>
            <a:pPr lvl="1" algn="r" rtl="1"/>
            <a:r>
              <a:rPr lang="fa-IR" sz="1800" dirty="0"/>
              <a:t>ممکن است مجبور شویم از مقدارهای تهی </a:t>
            </a:r>
            <a:r>
              <a:rPr lang="en-US" sz="1800" dirty="0"/>
              <a:t>(NULL) </a:t>
            </a:r>
            <a:r>
              <a:rPr lang="fa-IR" sz="1800" dirty="0"/>
              <a:t>برای نمایش برخی از روابط معنادار میان </a:t>
            </a:r>
            <a:r>
              <a:rPr lang="fa-IR" sz="1800" dirty="0" err="1"/>
              <a:t>داده‌ها</a:t>
            </a:r>
            <a:r>
              <a:rPr lang="fa-IR" sz="1800" dirty="0"/>
              <a:t> استفاده کنیم.</a:t>
            </a:r>
            <a:endParaRPr lang="en-US" altLang="en-US" sz="1700" dirty="0"/>
          </a:p>
          <a:p>
            <a:pPr marL="457200" lvl="1" indent="0" algn="r" rtl="1">
              <a:buNone/>
            </a:pPr>
            <a:r>
              <a:rPr lang="fa-IR" sz="1800" dirty="0"/>
              <a:t>مشکل تکرار اطلاعات وجود دارد.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</a:pP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989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7625" y="184150"/>
            <a:ext cx="6969125" cy="500063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Goals of Normalization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772359" y="1093789"/>
            <a:ext cx="7401846" cy="2844227"/>
          </a:xfrm>
        </p:spPr>
        <p:txBody>
          <a:bodyPr/>
          <a:lstStyle/>
          <a:p>
            <a:pPr algn="r" rtl="1"/>
            <a:r>
              <a:rPr lang="fa-IR" sz="1800" dirty="0"/>
              <a:t>یک رابطه </a:t>
            </a:r>
            <a:r>
              <a:rPr lang="en-US" sz="1800" dirty="0"/>
              <a:t>R </a:t>
            </a:r>
            <a:r>
              <a:rPr lang="fa-IR" sz="1800" dirty="0"/>
              <a:t>با </a:t>
            </a:r>
            <a:r>
              <a:rPr lang="fa-IR" sz="1800" dirty="0" err="1"/>
              <a:t>مجموعه‌ای</a:t>
            </a:r>
            <a:r>
              <a:rPr lang="fa-IR" sz="1800" dirty="0"/>
              <a:t> از </a:t>
            </a:r>
            <a:r>
              <a:rPr lang="fa-IR" sz="1800" dirty="0" err="1"/>
              <a:t>وابستگی‌های</a:t>
            </a:r>
            <a:r>
              <a:rPr lang="fa-IR" sz="1800" dirty="0"/>
              <a:t> </a:t>
            </a:r>
            <a:r>
              <a:rPr lang="fa-IR" sz="1800" dirty="0" err="1"/>
              <a:t>تابعی</a:t>
            </a:r>
            <a:r>
              <a:rPr lang="fa-IR" sz="1800" dirty="0"/>
              <a:t> </a:t>
            </a:r>
            <a:r>
              <a:rPr lang="en-US" sz="1800" dirty="0"/>
              <a:t>F </a:t>
            </a:r>
            <a:r>
              <a:rPr lang="fa-IR" sz="1800" dirty="0"/>
              <a:t>در نظر بگیرید.</a:t>
            </a:r>
          </a:p>
          <a:p>
            <a:pPr algn="r" rtl="1"/>
            <a:r>
              <a:rPr lang="fa-IR" sz="1800" dirty="0"/>
              <a:t>تصمیم بگیر که آیا طرح رابطه </a:t>
            </a:r>
            <a:r>
              <a:rPr lang="en-US" sz="1800" dirty="0"/>
              <a:t>R </a:t>
            </a:r>
            <a:r>
              <a:rPr lang="fa-IR" sz="1800" dirty="0"/>
              <a:t>در «وضعیت خوب» قرار دارد یا نه.</a:t>
            </a:r>
          </a:p>
          <a:p>
            <a:pPr algn="r" rtl="1"/>
            <a:r>
              <a:rPr lang="fa-IR" sz="1800" dirty="0"/>
              <a:t>اگر یک طرح رابطه </a:t>
            </a:r>
            <a:r>
              <a:rPr lang="en-US" sz="1800" dirty="0"/>
              <a:t>R </a:t>
            </a:r>
            <a:r>
              <a:rPr lang="fa-IR" sz="1800" dirty="0"/>
              <a:t>در «وضعیت خوب» نباشد، باید آن را به </a:t>
            </a:r>
            <a:r>
              <a:rPr lang="fa-IR" sz="1800" dirty="0" err="1"/>
              <a:t>مجموعه‌ای</a:t>
            </a:r>
            <a:r>
              <a:rPr lang="fa-IR" sz="1800" dirty="0"/>
              <a:t> از </a:t>
            </a:r>
            <a:r>
              <a:rPr lang="fa-IR" sz="1800" dirty="0" err="1"/>
              <a:t>طرح‌های</a:t>
            </a:r>
            <a:r>
              <a:rPr lang="fa-IR" sz="1800" dirty="0"/>
              <a:t> </a:t>
            </a:r>
            <a:r>
              <a:rPr lang="fa-IR" sz="1800" dirty="0" err="1"/>
              <a:t>رابطه‌ای</a:t>
            </a:r>
            <a:r>
              <a:rPr lang="fa-IR" sz="1800" dirty="0"/>
              <a:t> {</a:t>
            </a:r>
            <a:r>
              <a:rPr lang="en-US" sz="1800" dirty="0"/>
              <a:t>R1 , R2 , … , Rn} </a:t>
            </a:r>
            <a:r>
              <a:rPr lang="fa-IR" sz="1800" dirty="0"/>
              <a:t>تجزیه کنیم </a:t>
            </a:r>
            <a:r>
              <a:rPr lang="fa-IR" sz="1800" dirty="0" err="1"/>
              <a:t>به‌طوری‌که</a:t>
            </a:r>
            <a:r>
              <a:rPr lang="fa-IR" sz="1800" dirty="0"/>
              <a:t>:</a:t>
            </a:r>
          </a:p>
          <a:p>
            <a:pPr algn="r" rtl="1"/>
            <a:r>
              <a:rPr lang="fa-IR" sz="1800" dirty="0"/>
              <a:t>هر طرح </a:t>
            </a:r>
            <a:r>
              <a:rPr lang="fa-IR" sz="1800" dirty="0" err="1"/>
              <a:t>رابطه‌ای</a:t>
            </a:r>
            <a:r>
              <a:rPr lang="fa-IR" sz="1800" dirty="0"/>
              <a:t> در وضعیت خوب باشد.</a:t>
            </a:r>
          </a:p>
          <a:p>
            <a:pPr algn="r" rtl="1"/>
            <a:r>
              <a:rPr lang="fa-IR" sz="1800" dirty="0"/>
              <a:t>تجزیه، یک تجزیه بدون از </a:t>
            </a:r>
            <a:r>
              <a:rPr lang="fa-IR" sz="1800" dirty="0" err="1"/>
              <a:t>دست‌رفتن</a:t>
            </a:r>
            <a:r>
              <a:rPr lang="fa-IR" sz="1800" dirty="0"/>
              <a:t> اطلاعات </a:t>
            </a:r>
            <a:r>
              <a:rPr lang="en-US" sz="1800" dirty="0"/>
              <a:t>(lossless) </a:t>
            </a:r>
            <a:r>
              <a:rPr lang="fa-IR" sz="1800" dirty="0"/>
              <a:t>باشد.</a:t>
            </a:r>
          </a:p>
          <a:p>
            <a:pPr algn="r" rtl="1"/>
            <a:r>
              <a:rPr lang="fa-IR" sz="1800" dirty="0" err="1"/>
              <a:t>ترجیحاً</a:t>
            </a:r>
            <a:r>
              <a:rPr lang="fa-IR" sz="1800" dirty="0"/>
              <a:t> تجزیه باید </a:t>
            </a:r>
            <a:r>
              <a:rPr lang="fa-IR" sz="1800" dirty="0" err="1"/>
              <a:t>وابستگی‌ها</a:t>
            </a:r>
            <a:r>
              <a:rPr lang="fa-IR" sz="1800" dirty="0"/>
              <a:t> را نیز حفظ کند.</a:t>
            </a:r>
          </a:p>
        </p:txBody>
      </p:sp>
    </p:spTree>
    <p:extLst>
      <p:ext uri="{BB962C8B-B14F-4D97-AF65-F5344CB8AC3E}">
        <p14:creationId xmlns:p14="http://schemas.microsoft.com/office/powerpoint/2010/main" val="8589380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2" name="Rectangle 2"/>
          <p:cNvSpPr>
            <a:spLocks noGrp="1" noChangeArrowheads="1"/>
          </p:cNvSpPr>
          <p:nvPr>
            <p:ph type="title"/>
          </p:nvPr>
        </p:nvSpPr>
        <p:spPr>
          <a:xfrm>
            <a:off x="1422400" y="125766"/>
            <a:ext cx="7124700" cy="6350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How good is BCNF?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772357" y="1093789"/>
            <a:ext cx="7469436" cy="2454084"/>
          </a:xfrm>
        </p:spPr>
        <p:txBody>
          <a:bodyPr/>
          <a:lstStyle/>
          <a:p>
            <a:pPr algn="r" rtl="1">
              <a:tabLst>
                <a:tab pos="2976563" algn="ctr"/>
              </a:tabLst>
            </a:pPr>
            <a:r>
              <a:rPr lang="fa-IR" sz="1800" dirty="0"/>
              <a:t>برخی از </a:t>
            </a:r>
            <a:r>
              <a:rPr lang="fa-IR" sz="1800" dirty="0" err="1"/>
              <a:t>طرح‌های</a:t>
            </a:r>
            <a:r>
              <a:rPr lang="fa-IR" sz="1800" dirty="0"/>
              <a:t> </a:t>
            </a:r>
            <a:r>
              <a:rPr lang="fa-IR" sz="1800" dirty="0" err="1"/>
              <a:t>پایگاه‌داده</a:t>
            </a:r>
            <a:r>
              <a:rPr lang="fa-IR" sz="1800" dirty="0"/>
              <a:t> که در </a:t>
            </a:r>
            <a:r>
              <a:rPr lang="en-US" sz="1800" dirty="0"/>
              <a:t>BCNF </a:t>
            </a:r>
            <a:r>
              <a:rPr lang="fa-IR" sz="1800" dirty="0"/>
              <a:t>قرار دارند، ممکن است </a:t>
            </a:r>
            <a:r>
              <a:rPr lang="fa-IR" sz="1800" dirty="0" err="1"/>
              <a:t>به‌نظر</a:t>
            </a:r>
            <a:r>
              <a:rPr lang="fa-IR" sz="1800" dirty="0"/>
              <a:t> نرسد که </a:t>
            </a:r>
            <a:r>
              <a:rPr lang="fa-IR" sz="1800" dirty="0" err="1"/>
              <a:t>به‌طور</a:t>
            </a:r>
            <a:r>
              <a:rPr lang="fa-IR" sz="1800" dirty="0"/>
              <a:t> کافی نرمال </a:t>
            </a:r>
            <a:r>
              <a:rPr lang="fa-IR" sz="1800" dirty="0" err="1"/>
              <a:t>شده‌اند</a:t>
            </a:r>
            <a:r>
              <a:rPr lang="fa-IR" sz="1800" dirty="0"/>
              <a:t>.</a:t>
            </a:r>
            <a:br>
              <a:rPr lang="fa-IR" sz="1800" dirty="0"/>
            </a:br>
            <a:r>
              <a:rPr lang="fa-IR" sz="1800" dirty="0"/>
              <a:t>رابطه زیر را در نظر بگیرید:</a:t>
            </a:r>
            <a:br>
              <a:rPr lang="fa-IR" sz="1800" dirty="0"/>
            </a:br>
            <a:r>
              <a:rPr lang="en-US" sz="1800" dirty="0" err="1"/>
              <a:t>inst_info</a:t>
            </a:r>
            <a:r>
              <a:rPr lang="en-US" sz="1800" dirty="0"/>
              <a:t> (ID, </a:t>
            </a:r>
            <a:r>
              <a:rPr lang="en-US" sz="1800" dirty="0" err="1"/>
              <a:t>child_name</a:t>
            </a:r>
            <a:r>
              <a:rPr lang="en-US" sz="1800" dirty="0"/>
              <a:t>, phone)</a:t>
            </a:r>
            <a:br>
              <a:rPr lang="en-US" sz="1800" dirty="0"/>
            </a:br>
            <a:r>
              <a:rPr lang="fa-IR" sz="1800" dirty="0"/>
              <a:t>در این رابطه ممکن است یک استاد بیش از یک شماره تلفن داشته باشد و همچنین چندین فرزند داشته باشد.</a:t>
            </a:r>
            <a:br>
              <a:rPr lang="fa-IR" sz="1800" dirty="0"/>
            </a:br>
            <a:r>
              <a:rPr lang="fa-IR" sz="1800" dirty="0" err="1"/>
              <a:t>نمونه‌ای</a:t>
            </a:r>
            <a:r>
              <a:rPr lang="fa-IR" sz="1800" dirty="0"/>
              <a:t> از </a:t>
            </a:r>
            <a:r>
              <a:rPr lang="fa-IR" sz="1800" dirty="0" err="1"/>
              <a:t>داده‌ها</a:t>
            </a:r>
            <a:r>
              <a:rPr lang="fa-IR" sz="1800" dirty="0"/>
              <a:t> (</a:t>
            </a:r>
            <a:r>
              <a:rPr lang="en-US" sz="1800" dirty="0"/>
              <a:t>instance) </a:t>
            </a:r>
            <a:r>
              <a:rPr lang="fa-IR" sz="1800" dirty="0"/>
              <a:t>برای </a:t>
            </a:r>
            <a:r>
              <a:rPr lang="en-US" sz="1800" dirty="0" err="1"/>
              <a:t>inst_info</a:t>
            </a:r>
            <a:r>
              <a:rPr lang="en-US" sz="1800" dirty="0"/>
              <a:t>:</a:t>
            </a:r>
            <a:endParaRPr lang="en-US" altLang="en-US" sz="1700" dirty="0"/>
          </a:p>
          <a:p>
            <a:pPr algn="r" rtl="1">
              <a:buFont typeface="Monotype Sorts" pitchFamily="-84" charset="2"/>
              <a:buNone/>
              <a:tabLst>
                <a:tab pos="2976563" algn="ctr"/>
              </a:tabLst>
            </a:pPr>
            <a:endParaRPr lang="en-US" altLang="en-US" sz="1700" dirty="0"/>
          </a:p>
        </p:txBody>
      </p:sp>
      <p:pic>
        <p:nvPicPr>
          <p:cNvPr id="37892" name="Picture 11" descr="C:\Users\as668\Desktop\Judi-Done\7_100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7855" y="3648464"/>
            <a:ext cx="3536569" cy="152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895352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How good is BCNF? (Cont.)</a:t>
            </a:r>
          </a:p>
        </p:txBody>
      </p:sp>
      <p:sp>
        <p:nvSpPr>
          <p:cNvPr id="38914" name="Rectangle 2"/>
          <p:cNvSpPr>
            <a:spLocks noGrp="1" noChangeArrowheads="1"/>
          </p:cNvSpPr>
          <p:nvPr>
            <p:ph idx="1"/>
          </p:nvPr>
        </p:nvSpPr>
        <p:spPr>
          <a:xfrm>
            <a:off x="768350" y="1133475"/>
            <a:ext cx="7594415" cy="2314575"/>
          </a:xfrm>
        </p:spPr>
        <p:txBody>
          <a:bodyPr/>
          <a:lstStyle/>
          <a:p>
            <a:pPr algn="r" rtl="1">
              <a:tabLst>
                <a:tab pos="1993900" algn="l"/>
              </a:tabLst>
            </a:pPr>
            <a:r>
              <a:rPr lang="fa-IR" sz="1800" dirty="0"/>
              <a:t>هیچ وابستگی </a:t>
            </a:r>
            <a:r>
              <a:rPr lang="fa-IR" sz="1800" dirty="0" err="1"/>
              <a:t>تابعی</a:t>
            </a:r>
            <a:r>
              <a:rPr lang="fa-IR" sz="1800" dirty="0"/>
              <a:t> </a:t>
            </a:r>
            <a:r>
              <a:rPr lang="fa-IR" sz="1800" dirty="0" err="1"/>
              <a:t>غیر‌بدیهی‌ای</a:t>
            </a:r>
            <a:r>
              <a:rPr lang="fa-IR" sz="1800" dirty="0"/>
              <a:t> وجود ندارد و بنابراین این رابطه در </a:t>
            </a:r>
            <a:r>
              <a:rPr lang="en-US" sz="1800" dirty="0"/>
              <a:t>BCNF </a:t>
            </a:r>
            <a:r>
              <a:rPr lang="fa-IR" sz="1800" dirty="0"/>
              <a:t>قرار دارد.</a:t>
            </a:r>
            <a:endParaRPr kumimoji="0" lang="fa-IR" sz="1700" dirty="0"/>
          </a:p>
          <a:p>
            <a:pPr algn="r" rtl="1">
              <a:tabLst>
                <a:tab pos="1993900" algn="l"/>
              </a:tabLst>
            </a:pPr>
            <a:r>
              <a:rPr lang="fa-IR" sz="1800" dirty="0" err="1"/>
              <a:t>ناهنجاری‌های</a:t>
            </a:r>
            <a:r>
              <a:rPr lang="fa-IR" sz="1800" dirty="0"/>
              <a:t> درج — یعنی، اگر شماره تلفن </a:t>
            </a:r>
            <a:r>
              <a:rPr lang="fa-IR" dirty="0"/>
              <a:t>981-992-3443</a:t>
            </a:r>
            <a:r>
              <a:rPr lang="fa-IR" sz="1800" dirty="0"/>
              <a:t> را به </a:t>
            </a:r>
            <a:r>
              <a:rPr lang="fa-IR" sz="1800" dirty="0" err="1"/>
              <a:t>شناسه</a:t>
            </a:r>
            <a:r>
              <a:rPr lang="fa-IR" sz="1800" dirty="0"/>
              <a:t> </a:t>
            </a:r>
            <a:r>
              <a:rPr lang="fa-IR" dirty="0"/>
              <a:t>99999</a:t>
            </a:r>
            <a:r>
              <a:rPr lang="fa-IR" sz="1800" dirty="0"/>
              <a:t> اضافه کنیم، مجبوریم دو رکورد اضافه کنیم:</a:t>
            </a:r>
            <a:endParaRPr kumimoji="0" lang="en-US" altLang="en-US" sz="1700" dirty="0"/>
          </a:p>
          <a:p>
            <a:pPr algn="r" rtl="1">
              <a:buFont typeface="Monotype Sorts" pitchFamily="-84" charset="2"/>
              <a:buNone/>
              <a:tabLst>
                <a:tab pos="1993900" algn="l"/>
              </a:tabLst>
            </a:pPr>
            <a:r>
              <a:rPr kumimoji="0" lang="en-US" altLang="en-US" sz="1700" dirty="0"/>
              <a:t>		(99999, David,   981-992-3443)</a:t>
            </a:r>
            <a:br>
              <a:rPr kumimoji="0" lang="en-US" altLang="en-US" sz="1700" dirty="0"/>
            </a:br>
            <a:r>
              <a:rPr kumimoji="0" lang="en-US" altLang="en-US" sz="1700" dirty="0"/>
              <a:t>	(99999, William, 981-992-3443)</a:t>
            </a:r>
            <a:br>
              <a:rPr kumimoji="0" lang="en-US" altLang="en-US" sz="1700" dirty="0"/>
            </a:br>
            <a:endParaRPr kumimoji="0" lang="en-US" altLang="en-US" sz="1700" dirty="0"/>
          </a:p>
        </p:txBody>
      </p:sp>
    </p:spTree>
    <p:extLst>
      <p:ext uri="{BB962C8B-B14F-4D97-AF65-F5344CB8AC3E}">
        <p14:creationId xmlns:p14="http://schemas.microsoft.com/office/powerpoint/2010/main" val="2236584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310" name="Rectangle 14"/>
          <p:cNvSpPr>
            <a:spLocks noGrp="1" noChangeArrowheads="1"/>
          </p:cNvSpPr>
          <p:nvPr>
            <p:ph type="title"/>
          </p:nvPr>
        </p:nvSpPr>
        <p:spPr>
          <a:xfrm>
            <a:off x="958788" y="119063"/>
            <a:ext cx="7804212" cy="576262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Higher Normal Forms </a:t>
            </a:r>
          </a:p>
        </p:txBody>
      </p:sp>
      <p:sp>
        <p:nvSpPr>
          <p:cNvPr id="39938" name="Rectangle 2"/>
          <p:cNvSpPr>
            <a:spLocks noGrp="1" noChangeArrowheads="1"/>
          </p:cNvSpPr>
          <p:nvPr>
            <p:ph idx="1"/>
          </p:nvPr>
        </p:nvSpPr>
        <p:spPr>
          <a:xfrm>
            <a:off x="772359" y="1020763"/>
            <a:ext cx="7252558" cy="4646612"/>
          </a:xfrm>
        </p:spPr>
        <p:txBody>
          <a:bodyPr/>
          <a:lstStyle/>
          <a:p>
            <a:pPr algn="r" rtl="1"/>
            <a:r>
              <a:rPr lang="fa-IR" sz="1800" dirty="0"/>
              <a:t>بهتر است </a:t>
            </a:r>
            <a:r>
              <a:rPr lang="fa-IR" sz="1800" dirty="0" err="1"/>
              <a:t>رابطهٔ</a:t>
            </a:r>
            <a:r>
              <a:rPr lang="fa-IR" sz="1800" dirty="0"/>
              <a:t> </a:t>
            </a:r>
            <a:r>
              <a:rPr lang="en-US" sz="1800" b="1" dirty="0" err="1"/>
              <a:t>inst_info</a:t>
            </a:r>
            <a:r>
              <a:rPr lang="en-US" sz="1800" dirty="0"/>
              <a:t> </a:t>
            </a:r>
            <a:r>
              <a:rPr lang="fa-IR" sz="1800" dirty="0"/>
              <a:t>را به شکل زیر تجزیه کنیم:</a:t>
            </a:r>
            <a:endParaRPr lang="en-US" altLang="en-US" sz="1700" dirty="0"/>
          </a:p>
          <a:p>
            <a:pPr lvl="1" algn="r" rtl="1"/>
            <a:r>
              <a:rPr lang="en-US" altLang="en-US" sz="1700" i="1" dirty="0" err="1"/>
              <a:t>inst_child</a:t>
            </a:r>
            <a:r>
              <a:rPr lang="en-US" altLang="en-US" sz="1700" dirty="0"/>
              <a:t>:</a:t>
            </a:r>
          </a:p>
          <a:p>
            <a:pPr lvl="1" algn="r" rtl="1"/>
            <a:endParaRPr lang="en-US" altLang="en-US" sz="1700" dirty="0"/>
          </a:p>
          <a:p>
            <a:pPr lvl="1" algn="r" rtl="1">
              <a:buFont typeface="Monotype Sorts" pitchFamily="-84" charset="2"/>
              <a:buNone/>
            </a:pPr>
            <a:endParaRPr lang="en-US" altLang="en-US" sz="1700" dirty="0"/>
          </a:p>
          <a:p>
            <a:pPr lvl="1" algn="r" rtl="1">
              <a:buFont typeface="Monotype Sorts" pitchFamily="-84" charset="2"/>
              <a:buNone/>
            </a:pPr>
            <a:endParaRPr lang="en-US" altLang="en-US" sz="1700" dirty="0"/>
          </a:p>
          <a:p>
            <a:pPr lvl="1" algn="r" rtl="1"/>
            <a:r>
              <a:rPr lang="en-US" altLang="en-US" sz="1700" i="1" dirty="0" err="1"/>
              <a:t>inst_phone</a:t>
            </a:r>
            <a:r>
              <a:rPr lang="en-US" altLang="en-US" sz="1700" i="1" dirty="0"/>
              <a:t>:</a:t>
            </a:r>
          </a:p>
          <a:p>
            <a:pPr algn="r" rtl="1"/>
            <a:endParaRPr lang="en-US" altLang="en-US" sz="1700" dirty="0"/>
          </a:p>
          <a:p>
            <a:pPr algn="r" rtl="1"/>
            <a:endParaRPr lang="en-US" altLang="en-US" sz="1700" dirty="0"/>
          </a:p>
          <a:p>
            <a:pPr marL="0" indent="0" algn="r" rtl="1">
              <a:buNone/>
            </a:pPr>
            <a:endParaRPr lang="en-US" altLang="en-US" sz="1700" dirty="0"/>
          </a:p>
          <a:p>
            <a:pPr algn="r" rtl="1"/>
            <a:r>
              <a:rPr lang="fa-IR" sz="1800" dirty="0"/>
              <a:t>این موضوع نشان </a:t>
            </a:r>
            <a:r>
              <a:rPr lang="fa-IR" sz="1800" dirty="0" err="1"/>
              <a:t>می‌دهد</a:t>
            </a:r>
            <a:r>
              <a:rPr lang="fa-IR" sz="1800" dirty="0"/>
              <a:t> که به </a:t>
            </a:r>
            <a:r>
              <a:rPr lang="fa-IR" sz="1800" dirty="0" err="1"/>
              <a:t>نرمال‌فرم‌های</a:t>
            </a:r>
            <a:r>
              <a:rPr lang="fa-IR" sz="1800" dirty="0"/>
              <a:t> بالاتری مثل </a:t>
            </a:r>
            <a:r>
              <a:rPr lang="fa-IR" sz="1800" dirty="0" err="1"/>
              <a:t>نرمال‌فرم</a:t>
            </a:r>
            <a:r>
              <a:rPr lang="fa-IR" sz="1800" dirty="0"/>
              <a:t> چهارم</a:t>
            </a:r>
            <a:r>
              <a:rPr lang="en-US" sz="1800" dirty="0"/>
              <a:t>4NF </a:t>
            </a:r>
            <a:r>
              <a:rPr lang="fa-IR" sz="1800" dirty="0"/>
              <a:t>نیاز داریم، که در ادامه با آن آشنا خواهیم شد.</a:t>
            </a:r>
            <a:endParaRPr lang="en-US" altLang="en-US" sz="1700" dirty="0"/>
          </a:p>
        </p:txBody>
      </p:sp>
      <p:pic>
        <p:nvPicPr>
          <p:cNvPr id="39940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2368" y="1835421"/>
            <a:ext cx="1975676" cy="828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941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6752" y="3299428"/>
            <a:ext cx="1939354" cy="7825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572752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1670067" y="2927700"/>
            <a:ext cx="6364461" cy="607980"/>
          </a:xfrm>
        </p:spPr>
        <p:txBody>
          <a:bodyPr/>
          <a:lstStyle/>
          <a:p>
            <a:pPr algn="ctr">
              <a:buFont typeface="Monotype Sorts" charset="2"/>
              <a:buNone/>
              <a:defRPr/>
            </a:pPr>
            <a:r>
              <a:rPr lang="fa-IR" sz="3200" dirty="0"/>
              <a:t>نظریه وابستگی </a:t>
            </a:r>
            <a:r>
              <a:rPr lang="fa-IR" sz="3200" dirty="0" err="1"/>
              <a:t>تابعی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54219019"/>
      </p:ext>
    </p:extLst>
  </p:cSld>
  <p:clrMapOvr>
    <a:masterClrMapping/>
  </p:clrMapOvr>
  <p:transition spd="slow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Functional-Dependency Theory Roadmap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123950"/>
            <a:ext cx="7523394" cy="2365208"/>
          </a:xfrm>
        </p:spPr>
        <p:txBody>
          <a:bodyPr/>
          <a:lstStyle/>
          <a:p>
            <a:pPr algn="r" rtl="1"/>
            <a:r>
              <a:rPr lang="fa-IR" dirty="0"/>
              <a:t>حالا به نظریه رسمی </a:t>
            </a:r>
            <a:r>
              <a:rPr lang="fa-IR" dirty="0" err="1"/>
              <a:t>می‌پردازیم</a:t>
            </a:r>
            <a:r>
              <a:rPr lang="fa-IR" dirty="0"/>
              <a:t> که مشخص </a:t>
            </a:r>
            <a:r>
              <a:rPr lang="fa-IR" dirty="0" err="1"/>
              <a:t>می‌کند</a:t>
            </a:r>
            <a:r>
              <a:rPr lang="fa-IR" dirty="0"/>
              <a:t> کدام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fa-IR" dirty="0" err="1"/>
              <a:t>به‌صورت</a:t>
            </a:r>
            <a:r>
              <a:rPr lang="fa-IR" dirty="0"/>
              <a:t> منطقی از یک مجموعه وابستگی </a:t>
            </a:r>
            <a:r>
              <a:rPr lang="fa-IR" dirty="0" err="1"/>
              <a:t>تابعی</a:t>
            </a:r>
            <a:r>
              <a:rPr lang="fa-IR" dirty="0"/>
              <a:t> نتیجه </a:t>
            </a:r>
            <a:r>
              <a:rPr lang="fa-IR" dirty="0" err="1"/>
              <a:t>می‌شوند</a:t>
            </a:r>
            <a:r>
              <a:rPr lang="fa-IR" dirty="0"/>
              <a:t>.</a:t>
            </a:r>
            <a:endParaRPr lang="en-US" altLang="en-US" dirty="0"/>
          </a:p>
          <a:p>
            <a:pPr algn="r" rtl="1"/>
            <a:r>
              <a:rPr lang="fa-IR" dirty="0"/>
              <a:t>سپس </a:t>
            </a:r>
            <a:r>
              <a:rPr lang="fa-IR" dirty="0" err="1"/>
              <a:t>الگوریتم‌هایی</a:t>
            </a:r>
            <a:r>
              <a:rPr lang="fa-IR" dirty="0"/>
              <a:t> را ارائه </a:t>
            </a:r>
            <a:r>
              <a:rPr lang="fa-IR" dirty="0" err="1"/>
              <a:t>می‌کنیم</a:t>
            </a:r>
            <a:r>
              <a:rPr lang="fa-IR" dirty="0"/>
              <a:t> که </a:t>
            </a:r>
            <a:r>
              <a:rPr lang="fa-IR" dirty="0" err="1"/>
              <a:t>تجزیه‌های</a:t>
            </a:r>
            <a:r>
              <a:rPr lang="fa-IR" dirty="0"/>
              <a:t> </a:t>
            </a:r>
            <a:r>
              <a:rPr lang="fa-IR" dirty="0" err="1"/>
              <a:t>بی‌اتلاف</a:t>
            </a:r>
            <a:r>
              <a:rPr lang="fa-IR" dirty="0"/>
              <a:t> به </a:t>
            </a:r>
            <a:r>
              <a:rPr lang="en-US" dirty="0"/>
              <a:t>BCNF </a:t>
            </a:r>
            <a:r>
              <a:rPr lang="fa-IR" dirty="0"/>
              <a:t>و</a:t>
            </a:r>
            <a:r>
              <a:rPr lang="en-US" dirty="0"/>
              <a:t>3NF </a:t>
            </a:r>
            <a:r>
              <a:rPr lang="fa-IR" dirty="0"/>
              <a:t>تولید </a:t>
            </a:r>
            <a:r>
              <a:rPr lang="fa-IR" dirty="0" err="1"/>
              <a:t>می‌کنند</a:t>
            </a:r>
            <a:r>
              <a:rPr lang="fa-IR" dirty="0"/>
              <a:t>.</a:t>
            </a:r>
            <a:endParaRPr lang="en-US" dirty="0"/>
          </a:p>
          <a:p>
            <a:pPr algn="r" rtl="1"/>
            <a:r>
              <a:rPr lang="fa-IR" dirty="0"/>
              <a:t>سپس </a:t>
            </a:r>
            <a:r>
              <a:rPr lang="fa-IR" dirty="0" err="1"/>
              <a:t>الگوریتم‌هایی</a:t>
            </a:r>
            <a:r>
              <a:rPr lang="fa-IR" dirty="0"/>
              <a:t> را ارائه </a:t>
            </a:r>
            <a:r>
              <a:rPr lang="fa-IR" dirty="0" err="1"/>
              <a:t>می‌کنیم</a:t>
            </a:r>
            <a:r>
              <a:rPr lang="fa-IR" dirty="0"/>
              <a:t> تا بررسی کنیم آیا یک تجزیه، </a:t>
            </a:r>
            <a:r>
              <a:rPr lang="fa-IR" dirty="0" err="1"/>
              <a:t>وابستگی‌ها</a:t>
            </a:r>
            <a:r>
              <a:rPr lang="fa-IR" dirty="0"/>
              <a:t> را حفظ </a:t>
            </a:r>
            <a:r>
              <a:rPr lang="fa-IR" dirty="0" err="1"/>
              <a:t>می‌کند</a:t>
            </a:r>
            <a:r>
              <a:rPr lang="fa-IR" dirty="0"/>
              <a:t> یا نه.</a:t>
            </a:r>
            <a:endParaRPr lang="en-US" alt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882234" y="302796"/>
            <a:ext cx="7924800" cy="4572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Closure of a Set of Functional Dependencies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>
          <a:xfrm>
            <a:off x="772357" y="1137711"/>
            <a:ext cx="7705817" cy="3008404"/>
          </a:xfrm>
        </p:spPr>
        <p:txBody>
          <a:bodyPr/>
          <a:lstStyle/>
          <a:p>
            <a:pPr algn="r" rtl="1"/>
            <a:r>
              <a:rPr lang="fa-IR" dirty="0"/>
              <a:t>اگر </a:t>
            </a:r>
            <a:r>
              <a:rPr lang="fa-IR" dirty="0" err="1"/>
              <a:t>مجموعه‌ای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داشته باشیم، </a:t>
            </a:r>
            <a:r>
              <a:rPr lang="fa-IR" dirty="0" err="1"/>
              <a:t>یک‌سری</a:t>
            </a:r>
            <a:r>
              <a:rPr lang="fa-IR" dirty="0"/>
              <a:t>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دیگر هم وجود دارند که </a:t>
            </a:r>
            <a:r>
              <a:rPr lang="fa-IR" dirty="0" err="1"/>
              <a:t>به‌صورت</a:t>
            </a:r>
            <a:r>
              <a:rPr lang="fa-IR" dirty="0"/>
              <a:t> منطقی از </a:t>
            </a:r>
            <a:r>
              <a:rPr lang="en-US" dirty="0"/>
              <a:t>F </a:t>
            </a:r>
            <a:r>
              <a:rPr lang="fa-IR" dirty="0"/>
              <a:t>نتیجه </a:t>
            </a:r>
            <a:r>
              <a:rPr lang="fa-IR" dirty="0" err="1"/>
              <a:t>می‌شوند</a:t>
            </a:r>
            <a:r>
              <a:rPr lang="fa-IR" dirty="0"/>
              <a:t>.</a:t>
            </a:r>
            <a:endParaRPr lang="en-US" altLang="en-US" dirty="0"/>
          </a:p>
          <a:p>
            <a:pPr lvl="1" algn="r" rtl="1"/>
            <a:r>
              <a:rPr lang="en-US" altLang="en-US" dirty="0"/>
              <a:t> </a:t>
            </a:r>
            <a:r>
              <a:rPr lang="fa-IR" altLang="en-US" dirty="0"/>
              <a:t>اگر</a:t>
            </a:r>
            <a:r>
              <a:rPr lang="en-US" altLang="en-US" dirty="0"/>
              <a:t>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B</a:t>
            </a:r>
            <a:r>
              <a:rPr lang="en-US" altLang="en-US" dirty="0">
                <a:sym typeface="Monotype Sorts" pitchFamily="-84" charset="2"/>
              </a:rPr>
              <a:t> and  </a:t>
            </a:r>
            <a:r>
              <a:rPr lang="en-US" altLang="en-US" i="1" dirty="0">
                <a:sym typeface="Monotype Sorts" pitchFamily="-84" charset="2"/>
              </a:rPr>
              <a:t>B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C</a:t>
            </a:r>
            <a:r>
              <a:rPr lang="en-US" altLang="en-US" dirty="0">
                <a:sym typeface="Monotype Sorts" pitchFamily="-84" charset="2"/>
              </a:rPr>
              <a:t>, </a:t>
            </a:r>
            <a:r>
              <a:rPr lang="fa-IR" dirty="0" err="1"/>
              <a:t>می‌توان</a:t>
            </a:r>
            <a:r>
              <a:rPr lang="fa-IR" dirty="0"/>
              <a:t> نتیجه گرفت که</a:t>
            </a:r>
            <a:r>
              <a:rPr lang="en-US" altLang="en-US" i="1" dirty="0">
                <a:sym typeface="Monotype Sorts" pitchFamily="-84" charset="2"/>
              </a:rPr>
              <a:t>A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C</a:t>
            </a:r>
          </a:p>
          <a:p>
            <a:pPr lvl="1" algn="r" rtl="1"/>
            <a:r>
              <a:rPr lang="fa-IR" altLang="en-US" dirty="0">
                <a:sym typeface="Monotype Sorts" pitchFamily="-84" charset="2"/>
              </a:rPr>
              <a:t>و…</a:t>
            </a:r>
            <a:endParaRPr lang="en-US" altLang="en-US" dirty="0"/>
          </a:p>
          <a:p>
            <a:pPr algn="r" rtl="1"/>
            <a:r>
              <a:rPr lang="fa-IR" dirty="0"/>
              <a:t>مجموعه تمام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که </a:t>
            </a:r>
            <a:r>
              <a:rPr lang="fa-IR" dirty="0" err="1"/>
              <a:t>به‌صورت</a:t>
            </a:r>
            <a:r>
              <a:rPr lang="fa-IR" dirty="0"/>
              <a:t> منطقی از </a:t>
            </a:r>
            <a:r>
              <a:rPr lang="en-US" dirty="0"/>
              <a:t>F </a:t>
            </a:r>
            <a:r>
              <a:rPr lang="fa-IR" dirty="0" err="1"/>
              <a:t>به‌دست</a:t>
            </a:r>
            <a:r>
              <a:rPr lang="fa-IR" dirty="0"/>
              <a:t> </a:t>
            </a:r>
            <a:r>
              <a:rPr lang="fa-IR" dirty="0" err="1"/>
              <a:t>می‌آیند</a:t>
            </a:r>
            <a:r>
              <a:rPr lang="fa-IR" dirty="0"/>
              <a:t>، </a:t>
            </a:r>
            <a:r>
              <a:rPr lang="fa-IR" dirty="0" err="1"/>
              <a:t>بستارِ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نامیده </a:t>
            </a:r>
            <a:r>
              <a:rPr lang="fa-IR" dirty="0" err="1"/>
              <a:t>می‌شود</a:t>
            </a:r>
            <a:r>
              <a:rPr lang="fa-IR" dirty="0"/>
              <a:t>.</a:t>
            </a:r>
          </a:p>
          <a:p>
            <a:pPr algn="r" rtl="1"/>
            <a:r>
              <a:rPr lang="fa-IR" dirty="0" err="1"/>
              <a:t>بستارِ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را با نماد </a:t>
            </a:r>
            <a:r>
              <a:rPr lang="en-US" b="1" dirty="0"/>
              <a:t>F+</a:t>
            </a:r>
            <a:r>
              <a:rPr lang="en-US" dirty="0"/>
              <a:t> </a:t>
            </a:r>
            <a:r>
              <a:rPr lang="fa-IR" dirty="0"/>
              <a:t>نمایش </a:t>
            </a:r>
            <a:r>
              <a:rPr lang="fa-IR" dirty="0" err="1"/>
              <a:t>می‌دهیم</a:t>
            </a:r>
            <a:r>
              <a:rPr lang="fa-IR" dirty="0"/>
              <a:t>.</a:t>
            </a:r>
            <a:endParaRPr lang="en-US" altLang="en-US" i="1" dirty="0">
              <a:solidFill>
                <a:srgbClr val="000099"/>
              </a:solidFill>
            </a:endParaRPr>
          </a:p>
          <a:p>
            <a:pPr algn="r" rtl="1"/>
            <a:endParaRPr lang="en-US" altLang="en-US" dirty="0">
              <a:sym typeface="Greek Symbol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977900" y="304800"/>
            <a:ext cx="7924800" cy="4572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Closure of a Set of Functional Dependencies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>
          <a:xfrm>
            <a:off x="772358" y="1124904"/>
            <a:ext cx="7741327" cy="3105654"/>
          </a:xfrm>
        </p:spPr>
        <p:txBody>
          <a:bodyPr/>
          <a:lstStyle/>
          <a:p>
            <a:pPr algn="r" rtl="1"/>
            <a:r>
              <a:rPr lang="fa-IR" dirty="0" err="1"/>
              <a:t>می‌توانیم</a:t>
            </a:r>
            <a:r>
              <a:rPr lang="fa-IR" dirty="0"/>
              <a:t> </a:t>
            </a:r>
            <a:r>
              <a:rPr lang="en-US" dirty="0"/>
              <a:t>)F+ </a:t>
            </a:r>
            <a:r>
              <a:rPr lang="fa-IR" dirty="0" err="1"/>
              <a:t>بستار</a:t>
            </a:r>
            <a:r>
              <a:rPr lang="fa-IR" dirty="0"/>
              <a:t> مجموعه </a:t>
            </a:r>
            <a:r>
              <a:rPr lang="en-US" dirty="0"/>
              <a:t>F</a:t>
            </a:r>
            <a:r>
              <a:rPr lang="fa-IR" dirty="0"/>
              <a:t> </a:t>
            </a:r>
            <a:r>
              <a:rPr lang="en-US" dirty="0"/>
              <a:t>( </a:t>
            </a:r>
            <a:r>
              <a:rPr lang="fa-IR" dirty="0"/>
              <a:t>را با اعمال مکرر اصول </a:t>
            </a:r>
            <a:r>
              <a:rPr lang="fa-IR" dirty="0" err="1"/>
              <a:t>آرمسترانگ</a:t>
            </a:r>
            <a:r>
              <a:rPr lang="fa-IR" dirty="0"/>
              <a:t> محاسبه کنیم.</a:t>
            </a:r>
            <a:endParaRPr lang="en-US" altLang="ja-JP" b="1" dirty="0">
              <a:solidFill>
                <a:srgbClr val="000099"/>
              </a:solidFill>
            </a:endParaRPr>
          </a:p>
          <a:p>
            <a:pPr lvl="1" algn="r" rtl="1"/>
            <a:r>
              <a:rPr lang="fa-IR" dirty="0"/>
              <a:t>قاعده بازتابی: </a:t>
            </a:r>
            <a:r>
              <a:rPr lang="en-US" altLang="en-US" dirty="0"/>
              <a:t>if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dirty="0">
                <a:sym typeface="Symbol" panose="05050102010706020507" pitchFamily="18" charset="2"/>
              </a:rPr>
              <a:t>  , then  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  </a:t>
            </a:r>
            <a:endParaRPr lang="en-US" altLang="en-US" dirty="0">
              <a:sym typeface="Symbol" panose="05050102010706020507" pitchFamily="18" charset="2"/>
            </a:endParaRPr>
          </a:p>
          <a:p>
            <a:pPr lvl="1" algn="r" rtl="1"/>
            <a:r>
              <a:rPr lang="fa-IR" dirty="0"/>
              <a:t>قاعده تقویت (گسترش): </a:t>
            </a:r>
            <a:r>
              <a:rPr lang="en-US" altLang="en-US" dirty="0">
                <a:sym typeface="Symbol" panose="05050102010706020507" pitchFamily="18" charset="2"/>
              </a:rPr>
              <a:t>if  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, </a:t>
            </a:r>
            <a:r>
              <a:rPr lang="en-US" altLang="en-US" dirty="0">
                <a:sym typeface="Symbol" panose="05050102010706020507" pitchFamily="18" charset="2"/>
              </a:rPr>
              <a:t>then 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 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 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endParaRPr lang="en-US" altLang="en-US" dirty="0">
              <a:sym typeface="Symbol" panose="05050102010706020507" pitchFamily="18" charset="2"/>
            </a:endParaRPr>
          </a:p>
          <a:p>
            <a:pPr lvl="1" algn="r" rtl="1"/>
            <a:r>
              <a:rPr lang="fa-IR" dirty="0"/>
              <a:t>قاعده تعدی: </a:t>
            </a:r>
            <a:r>
              <a:rPr lang="en-US" altLang="en-US" dirty="0">
                <a:sym typeface="Symbol" panose="05050102010706020507" pitchFamily="18" charset="2"/>
              </a:rPr>
              <a:t>if  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, </a:t>
            </a:r>
            <a:r>
              <a:rPr lang="en-US" altLang="en-US" dirty="0">
                <a:sym typeface="Symbol" panose="05050102010706020507" pitchFamily="18" charset="2"/>
              </a:rPr>
              <a:t>and </a:t>
            </a:r>
            <a:r>
              <a:rPr lang="en-US" altLang="en-US" i="1" dirty="0">
                <a:sym typeface="Symbol" panose="05050102010706020507" pitchFamily="18" charset="2"/>
              </a:rPr>
              <a:t> </a:t>
            </a:r>
            <a:r>
              <a:rPr lang="en-US" altLang="en-US" dirty="0">
                <a:sym typeface="Symbol" panose="05050102010706020507" pitchFamily="18" charset="2"/>
              </a:rPr>
              <a:t> </a:t>
            </a:r>
            <a:r>
              <a:rPr lang="en-US" altLang="en-US" dirty="0">
                <a:sym typeface="Monotype Sorts" pitchFamily="-84" charset="2"/>
              </a:rPr>
              <a:t>, then </a:t>
            </a:r>
            <a:r>
              <a:rPr lang="en-US" altLang="en-US" dirty="0">
                <a:sym typeface="Symbol" panose="05050102010706020507" pitchFamily="18" charset="2"/>
              </a:rPr>
              <a:t> 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 </a:t>
            </a:r>
            <a:endParaRPr lang="en-US" altLang="en-US" b="1" dirty="0">
              <a:sym typeface="Greek Symbols"/>
            </a:endParaRPr>
          </a:p>
          <a:p>
            <a:pPr algn="r" rtl="1"/>
            <a:r>
              <a:rPr lang="fa-IR" dirty="0"/>
              <a:t>این قواعد «درست» هستند</a:t>
            </a:r>
            <a:endParaRPr lang="en-US" altLang="en-US" dirty="0">
              <a:sym typeface="Greek Symbols"/>
            </a:endParaRPr>
          </a:p>
          <a:p>
            <a:pPr lvl="1" algn="r" rtl="1"/>
            <a:r>
              <a:rPr lang="fa-IR" dirty="0"/>
              <a:t>یعنی فقط </a:t>
            </a:r>
            <a:r>
              <a:rPr lang="fa-IR" dirty="0" err="1"/>
              <a:t>وابستگی‌هایی</a:t>
            </a:r>
            <a:r>
              <a:rPr lang="fa-IR" dirty="0"/>
              <a:t> را تولید </a:t>
            </a:r>
            <a:r>
              <a:rPr lang="fa-IR" dirty="0" err="1"/>
              <a:t>می‌کنند</a:t>
            </a:r>
            <a:r>
              <a:rPr lang="fa-IR" dirty="0"/>
              <a:t> که واقعاً </a:t>
            </a:r>
            <a:r>
              <a:rPr lang="fa-IR" dirty="0" err="1"/>
              <a:t>برقرارند</a:t>
            </a:r>
            <a:r>
              <a:rPr lang="fa-IR" dirty="0"/>
              <a:t>.</a:t>
            </a:r>
            <a:endParaRPr lang="en-US" dirty="0"/>
          </a:p>
          <a:p>
            <a:pPr lvl="1" algn="r" rtl="1"/>
            <a:r>
              <a:rPr lang="fa-IR" dirty="0"/>
              <a:t>و «کامل» هستند — یعنی همه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تابعی‌ای</a:t>
            </a:r>
            <a:r>
              <a:rPr lang="fa-IR" dirty="0"/>
              <a:t> را که برقرار </a:t>
            </a:r>
            <a:r>
              <a:rPr lang="fa-IR" dirty="0" err="1"/>
              <a:t>می‌شوند</a:t>
            </a:r>
            <a:r>
              <a:rPr lang="fa-IR" dirty="0"/>
              <a:t> تولید </a:t>
            </a:r>
            <a:r>
              <a:rPr lang="fa-IR" dirty="0" err="1"/>
              <a:t>می‌کنند</a:t>
            </a:r>
            <a:r>
              <a:rPr lang="fa-IR" dirty="0"/>
              <a:t>.</a:t>
            </a:r>
            <a:endParaRPr lang="en-US" altLang="en-US" dirty="0">
              <a:sym typeface="Greek Symbol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 of </a:t>
            </a:r>
            <a:r>
              <a:rPr lang="en-US" altLang="en-US" dirty="0">
                <a:sym typeface="MS LineDraw"/>
              </a:rPr>
              <a:t> </a:t>
            </a:r>
            <a:r>
              <a:rPr lang="en-US" altLang="en-US" i="1" dirty="0">
                <a:sym typeface="MS LineDraw"/>
              </a:rPr>
              <a:t>F</a:t>
            </a:r>
            <a:r>
              <a:rPr lang="en-US" altLang="en-US" baseline="30000" dirty="0">
                <a:sym typeface="MS LineDraw"/>
              </a:rPr>
              <a:t>+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701443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07803"/>
            <a:ext cx="7873858" cy="4975225"/>
          </a:xfrm>
        </p:spPr>
        <p:txBody>
          <a:bodyPr/>
          <a:lstStyle/>
          <a:p>
            <a:pPr>
              <a:tabLst>
                <a:tab pos="803275" algn="l"/>
              </a:tabLst>
            </a:pPr>
            <a:r>
              <a:rPr lang="en-US" altLang="en-US" i="1" dirty="0"/>
              <a:t>R = (A, B, C, G, H, I)</a:t>
            </a:r>
            <a:br>
              <a:rPr lang="en-US" altLang="en-US" i="1" dirty="0"/>
            </a:br>
            <a:r>
              <a:rPr lang="en-US" altLang="en-US" i="1" dirty="0"/>
              <a:t>F = </a:t>
            </a:r>
            <a:r>
              <a:rPr lang="en-US" altLang="en-US" dirty="0"/>
              <a:t>{ </a:t>
            </a:r>
            <a:r>
              <a:rPr lang="en-US" altLang="en-US" i="1" dirty="0">
                <a:sym typeface="Iconic Symbols Ext"/>
              </a:rPr>
              <a:t>A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B</a:t>
            </a:r>
            <a:br>
              <a:rPr lang="en-US" altLang="en-US" i="1" dirty="0">
                <a:sym typeface="Monotype Sorts" pitchFamily="-84" charset="2"/>
              </a:rPr>
            </a:br>
            <a:r>
              <a:rPr lang="en-US" altLang="en-US" i="1" dirty="0">
                <a:sym typeface="Monotype Sorts" pitchFamily="-84" charset="2"/>
              </a:rPr>
              <a:t>	 </a:t>
            </a:r>
            <a:r>
              <a:rPr lang="en-US" altLang="en-US" i="1" dirty="0">
                <a:sym typeface="Iconic Symbols Ext"/>
              </a:rPr>
              <a:t>A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C</a:t>
            </a:r>
            <a:br>
              <a:rPr lang="en-US" altLang="en-US" i="1" dirty="0">
                <a:sym typeface="Monotype Sorts" pitchFamily="-84" charset="2"/>
              </a:rPr>
            </a:br>
            <a:r>
              <a:rPr lang="en-US" altLang="en-US" i="1" dirty="0">
                <a:sym typeface="Monotype Sorts" pitchFamily="-84" charset="2"/>
              </a:rPr>
              <a:t>	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</a:t>
            </a:r>
            <a:br>
              <a:rPr lang="en-US" altLang="en-US" i="1" dirty="0">
                <a:sym typeface="Monotype Sorts" pitchFamily="-84" charset="2"/>
              </a:rPr>
            </a:br>
            <a:r>
              <a:rPr lang="en-US" altLang="en-US" i="1" dirty="0">
                <a:sym typeface="Monotype Sorts" pitchFamily="-84" charset="2"/>
              </a:rPr>
              <a:t>	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I</a:t>
            </a:r>
            <a:br>
              <a:rPr lang="en-US" altLang="en-US" i="1" dirty="0">
                <a:sym typeface="Monotype Sorts" pitchFamily="-84" charset="2"/>
              </a:rPr>
            </a:br>
            <a:r>
              <a:rPr lang="en-US" altLang="en-US" i="1" dirty="0">
                <a:sym typeface="Monotype Sorts" pitchFamily="-84" charset="2"/>
              </a:rPr>
              <a:t>	 </a:t>
            </a:r>
            <a:r>
              <a:rPr lang="en-US" altLang="en-US" i="1" dirty="0">
                <a:sym typeface="Iconic Symbols Ext"/>
              </a:rPr>
              <a:t>B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</a:t>
            </a:r>
            <a:r>
              <a:rPr lang="en-US" altLang="en-US" dirty="0">
                <a:sym typeface="Monotype Sorts" pitchFamily="-84" charset="2"/>
              </a:rPr>
              <a:t>}</a:t>
            </a:r>
            <a:endParaRPr lang="en-US" altLang="en-US" dirty="0">
              <a:sym typeface="MS LineDraw"/>
            </a:endParaRPr>
          </a:p>
          <a:p>
            <a:pPr algn="r" rtl="1">
              <a:tabLst>
                <a:tab pos="803275" algn="l"/>
              </a:tabLst>
            </a:pPr>
            <a:r>
              <a:rPr lang="fa-IR" dirty="0"/>
              <a:t>برخی اعضای </a:t>
            </a:r>
            <a:r>
              <a:rPr lang="en-US" dirty="0"/>
              <a:t>F⁺ </a:t>
            </a:r>
            <a:r>
              <a:rPr lang="fa-IR" dirty="0" err="1"/>
              <a:t>عبارت‌اند</a:t>
            </a:r>
            <a:r>
              <a:rPr lang="fa-IR" dirty="0"/>
              <a:t> از:</a:t>
            </a:r>
            <a:endParaRPr lang="en-US" altLang="en-US" dirty="0">
              <a:sym typeface="MS LineDraw"/>
            </a:endParaRPr>
          </a:p>
          <a:p>
            <a:pPr lvl="1">
              <a:tabLst>
                <a:tab pos="803275" algn="l"/>
              </a:tabLst>
            </a:pPr>
            <a:r>
              <a:rPr lang="en-US" altLang="en-US" i="1" dirty="0">
                <a:sym typeface="Monotype Sorts" pitchFamily="-84" charset="2"/>
              </a:rPr>
              <a:t>A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        </a:t>
            </a:r>
          </a:p>
          <a:p>
            <a:pPr lvl="2">
              <a:tabLst>
                <a:tab pos="803275" algn="l"/>
              </a:tabLst>
            </a:pPr>
            <a:r>
              <a:rPr lang="fa-IR" altLang="en-US" dirty="0">
                <a:sym typeface="Monotype Sorts" pitchFamily="-84" charset="2"/>
              </a:rPr>
              <a:t>از این ها نتیجه میگیریم</a:t>
            </a:r>
            <a:r>
              <a:rPr lang="en-US" altLang="en-US" i="1" dirty="0">
                <a:sym typeface="Iconic Symbols Ext"/>
              </a:rPr>
              <a:t>A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B and </a:t>
            </a:r>
            <a:r>
              <a:rPr lang="en-US" altLang="en-US" i="1" dirty="0">
                <a:sym typeface="Iconic Symbols Ext"/>
              </a:rPr>
              <a:t>B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</a:t>
            </a:r>
          </a:p>
          <a:p>
            <a:pPr lvl="1">
              <a:tabLst>
                <a:tab pos="803275" algn="l"/>
              </a:tabLst>
            </a:pPr>
            <a:r>
              <a:rPr lang="en-US" altLang="en-US" i="1" dirty="0">
                <a:sym typeface="Monotype Sorts" pitchFamily="-84" charset="2"/>
              </a:rPr>
              <a:t>AG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I       </a:t>
            </a:r>
            <a:endParaRPr lang="en-US" altLang="en-US" dirty="0">
              <a:sym typeface="Monotype Sorts" pitchFamily="-84" charset="2"/>
            </a:endParaRPr>
          </a:p>
          <a:p>
            <a:pPr lvl="2">
              <a:tabLst>
                <a:tab pos="803275" algn="l"/>
              </a:tabLst>
            </a:pPr>
            <a:r>
              <a:rPr lang="fa-IR" dirty="0"/>
              <a:t>با افزودن</a:t>
            </a:r>
            <a:r>
              <a:rPr lang="en-US" altLang="en-US" i="1" dirty="0">
                <a:sym typeface="Iconic Symbols Ext"/>
              </a:rPr>
              <a:t>A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C </a:t>
            </a:r>
            <a:r>
              <a:rPr lang="fa-IR" altLang="en-US" dirty="0">
                <a:sym typeface="Monotype Sorts" pitchFamily="-84" charset="2"/>
              </a:rPr>
              <a:t>به</a:t>
            </a:r>
            <a:r>
              <a:rPr lang="en-US" altLang="en-US" dirty="0">
                <a:sym typeface="Monotype Sorts" pitchFamily="-84" charset="2"/>
              </a:rPr>
              <a:t> G, </a:t>
            </a:r>
            <a:r>
              <a:rPr lang="fa-IR" dirty="0"/>
              <a:t>نتیجه </a:t>
            </a:r>
            <a:r>
              <a:rPr lang="fa-IR" dirty="0" err="1"/>
              <a:t>می‌گیریم</a:t>
            </a:r>
            <a:r>
              <a:rPr lang="en-US" altLang="en-US" i="1" dirty="0">
                <a:sym typeface="Iconic Symbols Ext"/>
              </a:rPr>
              <a:t>AG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CG </a:t>
            </a:r>
            <a:br>
              <a:rPr lang="en-US" altLang="en-US" i="1" dirty="0">
                <a:sym typeface="Monotype Sorts" pitchFamily="-84" charset="2"/>
              </a:rPr>
            </a:br>
            <a:r>
              <a:rPr lang="en-US" altLang="en-US" i="1" dirty="0">
                <a:sym typeface="Monotype Sorts" pitchFamily="-84" charset="2"/>
              </a:rPr>
              <a:t>                   </a:t>
            </a:r>
            <a:r>
              <a:rPr lang="fa-IR" dirty="0"/>
              <a:t>سپس با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I </a:t>
            </a:r>
          </a:p>
          <a:p>
            <a:pPr lvl="1">
              <a:tabLst>
                <a:tab pos="803275" algn="l"/>
              </a:tabLst>
            </a:pPr>
            <a:r>
              <a:rPr lang="en-US" altLang="en-US" i="1" dirty="0">
                <a:sym typeface="Monotype Sorts" pitchFamily="-84" charset="2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HI     </a:t>
            </a:r>
            <a:endParaRPr lang="en-US" altLang="en-US" dirty="0">
              <a:sym typeface="Monotype Sorts" pitchFamily="-84" charset="2"/>
            </a:endParaRPr>
          </a:p>
          <a:p>
            <a:pPr lvl="2">
              <a:tabLst>
                <a:tab pos="803275" algn="l"/>
              </a:tabLst>
            </a:pPr>
            <a:r>
              <a:rPr lang="fa-IR" altLang="en-US" dirty="0">
                <a:sym typeface="Monotype Sorts" pitchFamily="-84" charset="2"/>
              </a:rPr>
              <a:t>با افزودن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I </a:t>
            </a:r>
            <a:r>
              <a:rPr lang="fa-IR" altLang="en-US" dirty="0">
                <a:sym typeface="Monotype Sorts" pitchFamily="-84" charset="2"/>
              </a:rPr>
              <a:t>نتیجه میگیریم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CG</a:t>
            </a:r>
            <a:r>
              <a:rPr lang="en-US" altLang="en-US" i="1" dirty="0">
                <a:sym typeface="Monotype Sorts" pitchFamily="-84" charset="2"/>
              </a:rPr>
              <a:t>I, </a:t>
            </a:r>
          </a:p>
          <a:p>
            <a:pPr lvl="2">
              <a:buFont typeface="Webdings" panose="05030102010509060703" pitchFamily="18" charset="2"/>
              <a:buNone/>
              <a:tabLst>
                <a:tab pos="803275" algn="l"/>
              </a:tabLst>
            </a:pPr>
            <a:r>
              <a:rPr lang="en-US" altLang="en-US" dirty="0">
                <a:sym typeface="Monotype Sorts" pitchFamily="-84" charset="2"/>
              </a:rPr>
              <a:t>    </a:t>
            </a:r>
            <a:r>
              <a:rPr lang="fa-IR" altLang="en-US" dirty="0">
                <a:sym typeface="Monotype Sorts" pitchFamily="-84" charset="2"/>
              </a:rPr>
              <a:t>و افزودن</a:t>
            </a:r>
            <a:r>
              <a:rPr lang="en-US" altLang="en-US" i="1" dirty="0">
                <a:sym typeface="Iconic Symbols Ext"/>
              </a:rPr>
              <a:t>CG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 </a:t>
            </a:r>
            <a:r>
              <a:rPr lang="fa-IR" altLang="en-US" dirty="0">
                <a:sym typeface="Monotype Sorts" pitchFamily="-84" charset="2"/>
              </a:rPr>
              <a:t>نتیجه میگیریم</a:t>
            </a:r>
            <a:r>
              <a:rPr lang="en-US" altLang="en-US" i="1" dirty="0">
                <a:sym typeface="Iconic Symbols Ext"/>
              </a:rPr>
              <a:t>CGI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Monotype Sorts" pitchFamily="-84" charset="2"/>
              </a:rPr>
              <a:t>HI, </a:t>
            </a:r>
          </a:p>
          <a:p>
            <a:pPr lvl="2">
              <a:buFont typeface="Webdings" panose="05030102010509060703" pitchFamily="18" charset="2"/>
              <a:buNone/>
              <a:tabLst>
                <a:tab pos="803275" algn="l"/>
              </a:tabLst>
            </a:pPr>
            <a:r>
              <a:rPr lang="en-US" altLang="en-US" i="1" dirty="0">
                <a:sym typeface="Monotype Sorts" pitchFamily="-84" charset="2"/>
              </a:rPr>
              <a:t>                         </a:t>
            </a:r>
            <a:endParaRPr lang="en-US" altLang="en-US" dirty="0">
              <a:sym typeface="Monotype Sorts" pitchFamily="-84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1443" grpId="0" build="p" bldLvl="3" autoUpdateAnimBg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863600" y="16192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Closure of Functional Dependencies (Cont.)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>
          <a:xfrm>
            <a:off x="772358" y="1118693"/>
            <a:ext cx="7285646" cy="4004451"/>
          </a:xfrm>
        </p:spPr>
        <p:txBody>
          <a:bodyPr/>
          <a:lstStyle/>
          <a:p>
            <a:pPr algn="r" rtl="1"/>
            <a:r>
              <a:rPr lang="fa-IR" altLang="en-US" dirty="0"/>
              <a:t>قوانین اضافی:</a:t>
            </a:r>
            <a:endParaRPr lang="en-US" altLang="en-US" dirty="0"/>
          </a:p>
          <a:p>
            <a:pPr lvl="1" algn="r" rtl="1"/>
            <a:r>
              <a:rPr lang="fa-IR" dirty="0"/>
              <a:t>قانون اتحاد:</a:t>
            </a:r>
            <a:r>
              <a:rPr lang="en-US" altLang="en-US" dirty="0">
                <a:sym typeface="Symbol" panose="05050102010706020507" pitchFamily="18" charset="2"/>
              </a:rPr>
              <a:t> </a:t>
            </a:r>
            <a:r>
              <a:rPr lang="fa-IR" dirty="0"/>
              <a:t>گر </a:t>
            </a:r>
            <a:r>
              <a:rPr lang="el-GR" dirty="0"/>
              <a:t>α → β </a:t>
            </a:r>
            <a:r>
              <a:rPr lang="fa-IR" dirty="0"/>
              <a:t>برقرار باشد و </a:t>
            </a:r>
            <a:r>
              <a:rPr lang="el-GR" dirty="0"/>
              <a:t>α → γ </a:t>
            </a:r>
            <a:r>
              <a:rPr lang="fa-IR" dirty="0"/>
              <a:t>برقرار باشد، آنگاه </a:t>
            </a:r>
            <a:r>
              <a:rPr lang="el-GR" dirty="0"/>
              <a:t>α → βγ </a:t>
            </a:r>
            <a:r>
              <a:rPr lang="fa-IR" dirty="0"/>
              <a:t>برقرار است.</a:t>
            </a:r>
            <a:endParaRPr lang="en-US" altLang="en-US" dirty="0">
              <a:sym typeface="Greek Symbols"/>
            </a:endParaRPr>
          </a:p>
          <a:p>
            <a:pPr lvl="1" algn="r" rtl="1"/>
            <a:r>
              <a:rPr lang="fa-IR" dirty="0"/>
              <a:t>قانون تجزیه: اگر </a:t>
            </a:r>
            <a:r>
              <a:rPr lang="el-GR" dirty="0"/>
              <a:t>α → βγ </a:t>
            </a:r>
            <a:r>
              <a:rPr lang="fa-IR" dirty="0"/>
              <a:t>برقرار باشد، آنگاه </a:t>
            </a:r>
            <a:r>
              <a:rPr lang="el-GR" dirty="0"/>
              <a:t>α → β </a:t>
            </a:r>
            <a:r>
              <a:rPr lang="fa-IR" dirty="0"/>
              <a:t>برقرار است و </a:t>
            </a:r>
            <a:r>
              <a:rPr lang="el-GR" dirty="0"/>
              <a:t>α → γ </a:t>
            </a:r>
            <a:r>
              <a:rPr lang="fa-IR" dirty="0"/>
              <a:t>نیز برقرار است.</a:t>
            </a:r>
            <a:endParaRPr lang="en-US" altLang="en-US" dirty="0">
              <a:sym typeface="Monotype Sorts" pitchFamily="-84" charset="2"/>
            </a:endParaRPr>
          </a:p>
          <a:p>
            <a:pPr lvl="1" algn="r" rtl="1"/>
            <a:r>
              <a:rPr lang="fa-IR" dirty="0"/>
              <a:t>قانون </a:t>
            </a:r>
            <a:r>
              <a:rPr lang="fa-IR" dirty="0" err="1"/>
              <a:t>شبه‌تراگذری</a:t>
            </a:r>
            <a:r>
              <a:rPr lang="fa-IR" dirty="0"/>
              <a:t>: اگر </a:t>
            </a:r>
            <a:r>
              <a:rPr lang="el-GR" dirty="0"/>
              <a:t>α → β </a:t>
            </a:r>
            <a:r>
              <a:rPr lang="fa-IR" dirty="0"/>
              <a:t>برقرار باشد و </a:t>
            </a:r>
            <a:r>
              <a:rPr lang="el-GR" dirty="0"/>
              <a:t>γβ → δ </a:t>
            </a:r>
            <a:r>
              <a:rPr lang="fa-IR" dirty="0"/>
              <a:t>برقرار باشد، آنگاه </a:t>
            </a:r>
            <a:r>
              <a:rPr lang="el-GR" dirty="0"/>
              <a:t>αγ → δ </a:t>
            </a:r>
            <a:r>
              <a:rPr lang="fa-IR" dirty="0"/>
              <a:t>برقرار است.</a:t>
            </a:r>
            <a:endParaRPr lang="en-US" altLang="en-US" dirty="0">
              <a:sym typeface="Greek Symbols"/>
            </a:endParaRPr>
          </a:p>
          <a:p>
            <a:pPr algn="r" rtl="1"/>
            <a:r>
              <a:rPr lang="fa-IR" dirty="0"/>
              <a:t>قوانین بالا را </a:t>
            </a:r>
            <a:r>
              <a:rPr lang="fa-IR" dirty="0" err="1"/>
              <a:t>می‌توان</a:t>
            </a:r>
            <a:r>
              <a:rPr lang="fa-IR" dirty="0"/>
              <a:t> از روی اصول </a:t>
            </a:r>
            <a:r>
              <a:rPr lang="fa-IR" dirty="0" err="1"/>
              <a:t>آرمسترانگ</a:t>
            </a:r>
            <a:r>
              <a:rPr lang="fa-IR" dirty="0"/>
              <a:t> استنتاج کرد.</a:t>
            </a:r>
            <a:endParaRPr lang="en-US" altLang="en-US" dirty="0">
              <a:sym typeface="Greek Symbol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5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Procedure for Computing F</a:t>
            </a:r>
            <a:r>
              <a:rPr lang="en-US" altLang="en-US" baseline="300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+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707587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152525"/>
            <a:ext cx="7709824" cy="3720264"/>
          </a:xfrm>
        </p:spPr>
        <p:txBody>
          <a:bodyPr/>
          <a:lstStyle/>
          <a:p>
            <a:pPr algn="r" rtl="1"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r>
              <a:rPr lang="fa-IR" dirty="0"/>
              <a:t>برای محاسبه </a:t>
            </a:r>
            <a:r>
              <a:rPr lang="fa-IR" dirty="0" err="1"/>
              <a:t>بسته‌ی</a:t>
            </a:r>
            <a:r>
              <a:rPr lang="fa-IR" dirty="0"/>
              <a:t> </a:t>
            </a:r>
            <a:r>
              <a:rPr lang="fa-IR" dirty="0" err="1"/>
              <a:t>مجموعه‌ای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en-US" dirty="0"/>
              <a:t>F</a:t>
            </a:r>
            <a:r>
              <a:rPr lang="fa-IR" dirty="0"/>
              <a:t> </a:t>
            </a:r>
            <a:r>
              <a:rPr lang="en-US" dirty="0"/>
              <a:t>:</a:t>
            </a:r>
            <a:endParaRPr lang="en-US" altLang="en-US" i="1" dirty="0"/>
          </a:p>
          <a:p>
            <a:pPr algn="r" rtl="1">
              <a:buFont typeface="Monotype Sorts" pitchFamily="-84" charset="2"/>
              <a:buNone/>
            </a:pPr>
            <a:r>
              <a:rPr lang="en-US" altLang="en-US" i="1" dirty="0"/>
              <a:t>         F </a:t>
            </a:r>
            <a:r>
              <a:rPr lang="en-US" altLang="en-US" baseline="30000" dirty="0"/>
              <a:t>+</a:t>
            </a:r>
            <a:r>
              <a:rPr lang="en-US" altLang="en-US" dirty="0"/>
              <a:t> = </a:t>
            </a:r>
            <a:r>
              <a:rPr lang="en-US" altLang="en-US" i="1" dirty="0"/>
              <a:t>F</a:t>
            </a:r>
            <a:br>
              <a:rPr lang="en-US" altLang="en-US" dirty="0"/>
            </a:br>
            <a:r>
              <a:rPr lang="en-US" altLang="en-US" dirty="0"/>
              <a:t>    </a:t>
            </a:r>
            <a:r>
              <a:rPr lang="fa-IR" altLang="en-US" b="1" dirty="0"/>
              <a:t>تکرار کن:</a:t>
            </a:r>
            <a:br>
              <a:rPr lang="en-US" altLang="en-US" dirty="0"/>
            </a:br>
            <a:r>
              <a:rPr lang="en-US" altLang="en-US" dirty="0"/>
              <a:t>	</a:t>
            </a:r>
            <a:r>
              <a:rPr lang="fa-IR" dirty="0"/>
              <a:t>برای هر وابستگی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در </a:t>
            </a:r>
            <a:r>
              <a:rPr lang="en-US" dirty="0"/>
              <a:t>F+،</a:t>
            </a:r>
            <a:br>
              <a:rPr lang="en-US" altLang="en-US" baseline="30000" dirty="0"/>
            </a:br>
            <a:r>
              <a:rPr lang="en-US" altLang="en-US" baseline="30000" dirty="0"/>
              <a:t>	</a:t>
            </a:r>
            <a:r>
              <a:rPr lang="en-US" altLang="en-US" dirty="0"/>
              <a:t>       </a:t>
            </a:r>
            <a:r>
              <a:rPr lang="fa-IR" dirty="0"/>
              <a:t>قوانین بازتابی و بسط (افزایشی) را روی </a:t>
            </a:r>
            <a:r>
              <a:rPr lang="en-US" dirty="0"/>
              <a:t>f </a:t>
            </a:r>
            <a:r>
              <a:rPr lang="fa-IR" dirty="0"/>
              <a:t>اعمال کن،</a:t>
            </a:r>
            <a:br>
              <a:rPr lang="en-US" altLang="en-US" i="1" dirty="0"/>
            </a:br>
            <a:r>
              <a:rPr lang="en-US" altLang="en-US" i="1" dirty="0"/>
              <a:t>	      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fa-IR" dirty="0" err="1"/>
              <a:t>به‌دست‌آمده</a:t>
            </a:r>
            <a:r>
              <a:rPr lang="fa-IR" dirty="0"/>
              <a:t> را به </a:t>
            </a:r>
            <a:r>
              <a:rPr lang="en-US" dirty="0"/>
              <a:t>F+ </a:t>
            </a:r>
            <a:r>
              <a:rPr lang="fa-IR" dirty="0"/>
              <a:t>اضافه کن.</a:t>
            </a:r>
            <a:br>
              <a:rPr lang="en-US" altLang="en-US" baseline="30000" dirty="0"/>
            </a:br>
            <a:r>
              <a:rPr lang="en-US" altLang="en-US" baseline="30000" dirty="0"/>
              <a:t>	</a:t>
            </a:r>
            <a:r>
              <a:rPr lang="fa-IR" dirty="0"/>
              <a:t>برای هر جفت وابستگی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en-US" dirty="0"/>
              <a:t>f1 </a:t>
            </a:r>
            <a:r>
              <a:rPr lang="fa-IR" dirty="0"/>
              <a:t>و </a:t>
            </a:r>
            <a:r>
              <a:rPr lang="en-US" dirty="0"/>
              <a:t>f2 </a:t>
            </a:r>
            <a:r>
              <a:rPr lang="fa-IR" dirty="0"/>
              <a:t>در </a:t>
            </a:r>
            <a:r>
              <a:rPr lang="en-US" dirty="0"/>
              <a:t>F+،</a:t>
            </a:r>
            <a:br>
              <a:rPr lang="en-US" altLang="en-US" baseline="30000" dirty="0"/>
            </a:br>
            <a:r>
              <a:rPr lang="en-US" altLang="en-US" baseline="30000" dirty="0"/>
              <a:t>	</a:t>
            </a:r>
            <a:r>
              <a:rPr lang="en-US" altLang="en-US" dirty="0"/>
              <a:t>       </a:t>
            </a:r>
            <a:r>
              <a:rPr lang="fa-IR" dirty="0"/>
              <a:t>اگر </a:t>
            </a:r>
            <a:r>
              <a:rPr lang="en-US" dirty="0"/>
              <a:t>f1 </a:t>
            </a:r>
            <a:r>
              <a:rPr lang="fa-IR" dirty="0"/>
              <a:t>و </a:t>
            </a:r>
            <a:r>
              <a:rPr lang="en-US" dirty="0"/>
              <a:t>f2 </a:t>
            </a:r>
            <a:r>
              <a:rPr lang="fa-IR" dirty="0"/>
              <a:t>با استفاده از قانون </a:t>
            </a:r>
            <a:r>
              <a:rPr lang="fa-IR" dirty="0" err="1"/>
              <a:t>گذارایی</a:t>
            </a:r>
            <a:r>
              <a:rPr lang="fa-IR" dirty="0"/>
              <a:t> قابل ترکیب باشند،</a:t>
            </a:r>
            <a:br>
              <a:rPr lang="en-US" altLang="en-US" dirty="0"/>
            </a:br>
            <a:r>
              <a:rPr lang="en-US" altLang="en-US" dirty="0"/>
              <a:t>	             </a:t>
            </a:r>
            <a:r>
              <a:rPr lang="fa-IR" dirty="0"/>
              <a:t>پس وابستگی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fa-IR" dirty="0" err="1"/>
              <a:t>به‌دست‌آمده</a:t>
            </a:r>
            <a:r>
              <a:rPr lang="fa-IR" dirty="0"/>
              <a:t> را به </a:t>
            </a:r>
            <a:r>
              <a:rPr lang="en-US" dirty="0"/>
              <a:t>F+ </a:t>
            </a:r>
            <a:r>
              <a:rPr lang="fa-IR" dirty="0"/>
              <a:t>اضافه کن.</a:t>
            </a:r>
            <a:br>
              <a:rPr lang="en-US" altLang="en-US" baseline="30000" dirty="0"/>
            </a:br>
            <a:r>
              <a:rPr lang="en-US" altLang="en-US" baseline="30000" dirty="0"/>
              <a:t>       </a:t>
            </a:r>
            <a:r>
              <a:rPr lang="fa-IR" dirty="0"/>
              <a:t>تا زمانی که </a:t>
            </a:r>
            <a:r>
              <a:rPr lang="en-US" dirty="0"/>
              <a:t>F+ </a:t>
            </a:r>
            <a:r>
              <a:rPr lang="fa-IR" dirty="0"/>
              <a:t>دیگر تغییری نکند.</a:t>
            </a:r>
            <a:endParaRPr lang="en-US" altLang="en-US" dirty="0"/>
          </a:p>
          <a:p>
            <a:pPr algn="r" rtl="1">
              <a:buFont typeface="Monotype Sorts" pitchFamily="-84" charset="2"/>
              <a:buNone/>
            </a:pPr>
            <a:endParaRPr lang="en-US" altLang="en-US" dirty="0"/>
          </a:p>
          <a:p>
            <a:pPr algn="r" rtl="1"/>
            <a:r>
              <a:rPr lang="en-US" altLang="en-US" b="1" dirty="0"/>
              <a:t> </a:t>
            </a:r>
            <a:r>
              <a:rPr lang="fa-IR" dirty="0"/>
              <a:t>توجه: بعداً یک روش جایگزین برای این کار خواهیم دید.</a:t>
            </a:r>
            <a:endParaRPr lang="en-US" altLang="en-US" i="1" baseline="-25000" dirty="0"/>
          </a:p>
          <a:p>
            <a:pPr algn="r" rtl="1"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endParaRPr lang="en-US" altLang="en-US" i="1" dirty="0">
              <a:sym typeface="Greek Symbol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7587" grpId="0" build="p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5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Closure of Attribute Sets</a:t>
            </a:r>
          </a:p>
        </p:txBody>
      </p:sp>
      <p:sp>
        <p:nvSpPr>
          <p:cNvPr id="707587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52526"/>
            <a:ext cx="7674313" cy="2938212"/>
          </a:xfrm>
        </p:spPr>
        <p:txBody>
          <a:bodyPr/>
          <a:lstStyle/>
          <a:p>
            <a:pPr algn="r" rtl="1"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r>
              <a:rPr lang="fa-IR" dirty="0"/>
              <a:t>با داشتن یک مجموعه ویژگی </a:t>
            </a:r>
            <a:r>
              <a:rPr lang="en-US" b="1" dirty="0"/>
              <a:t>a</a:t>
            </a:r>
            <a:r>
              <a:rPr lang="en-US" dirty="0"/>
              <a:t>، </a:t>
            </a:r>
            <a:r>
              <a:rPr lang="fa-IR" dirty="0"/>
              <a:t>بسته </a:t>
            </a:r>
            <a:r>
              <a:rPr lang="en-US" dirty="0"/>
              <a:t>a </a:t>
            </a:r>
            <a:r>
              <a:rPr lang="fa-IR" dirty="0"/>
              <a:t>تحت </a:t>
            </a:r>
            <a:r>
              <a:rPr lang="en-US" dirty="0"/>
              <a:t>)F </a:t>
            </a:r>
            <a:r>
              <a:rPr lang="fa-IR" dirty="0"/>
              <a:t>که با </a:t>
            </a:r>
            <a:r>
              <a:rPr lang="en-US" dirty="0"/>
              <a:t>a⁺ </a:t>
            </a:r>
            <a:r>
              <a:rPr lang="fa-IR" dirty="0"/>
              <a:t>نشان داده </a:t>
            </a:r>
            <a:r>
              <a:rPr lang="fa-IR" dirty="0" err="1"/>
              <a:t>می‌شود</a:t>
            </a:r>
            <a:r>
              <a:rPr lang="fa-IR" dirty="0"/>
              <a:t>) </a:t>
            </a:r>
            <a:r>
              <a:rPr lang="fa-IR" dirty="0" err="1"/>
              <a:t>مجموعه‌ای</a:t>
            </a:r>
            <a:r>
              <a:rPr lang="fa-IR" dirty="0"/>
              <a:t> از </a:t>
            </a:r>
            <a:r>
              <a:rPr lang="fa-IR" dirty="0" err="1"/>
              <a:t>ویژگی‌ها</a:t>
            </a:r>
            <a:r>
              <a:rPr lang="fa-IR" dirty="0"/>
              <a:t> است که </a:t>
            </a:r>
            <a:r>
              <a:rPr lang="fa-IR" dirty="0" err="1"/>
              <a:t>به‌صورت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توسط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fa-IR" dirty="0"/>
              <a:t>تحت </a:t>
            </a:r>
            <a:r>
              <a:rPr lang="en-US" dirty="0"/>
              <a:t>F </a:t>
            </a:r>
            <a:r>
              <a:rPr lang="fa-IR" dirty="0"/>
              <a:t>تعیین </a:t>
            </a:r>
            <a:r>
              <a:rPr lang="fa-IR" dirty="0" err="1"/>
              <a:t>می‌شوند</a:t>
            </a:r>
            <a:r>
              <a:rPr lang="fa-IR" dirty="0"/>
              <a:t>.</a:t>
            </a:r>
            <a:endParaRPr lang="en-US" altLang="en-US" i="1" dirty="0">
              <a:sym typeface="Greek Symbols"/>
            </a:endParaRPr>
          </a:p>
          <a:p>
            <a:pPr algn="r" rtl="1"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r>
              <a:rPr lang="en-US" altLang="en-US" dirty="0">
                <a:sym typeface="Greek Symbols"/>
              </a:rPr>
              <a:t> </a:t>
            </a:r>
            <a:r>
              <a:rPr lang="fa-IR" dirty="0" err="1"/>
              <a:t>الگوریتم</a:t>
            </a:r>
            <a:r>
              <a:rPr lang="fa-IR" dirty="0"/>
              <a:t> محاسبه </a:t>
            </a:r>
            <a:r>
              <a:rPr lang="en-US" dirty="0"/>
              <a:t>a⁺ ، </a:t>
            </a:r>
            <a:r>
              <a:rPr lang="fa-IR" dirty="0"/>
              <a:t>یعنی بسته </a:t>
            </a:r>
            <a:r>
              <a:rPr lang="en-US" dirty="0"/>
              <a:t>a </a:t>
            </a:r>
            <a:r>
              <a:rPr lang="fa-IR" dirty="0"/>
              <a:t>تحت</a:t>
            </a:r>
            <a:r>
              <a:rPr lang="en-US" dirty="0"/>
              <a:t>F</a:t>
            </a:r>
            <a:r>
              <a:rPr lang="fa-IR" dirty="0"/>
              <a:t> </a:t>
            </a:r>
            <a:r>
              <a:rPr lang="en-US" dirty="0"/>
              <a:t>:</a:t>
            </a:r>
            <a:endParaRPr lang="en-US" altLang="en-US" i="1" dirty="0">
              <a:sym typeface="Greek Symbols"/>
            </a:endParaRPr>
          </a:p>
          <a:p>
            <a:pPr algn="r" rtl="1">
              <a:buFont typeface="Monotype Sorts" pitchFamily="-84" charset="2"/>
              <a:buNone/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r>
              <a:rPr lang="en-US" altLang="en-US" i="1" dirty="0">
                <a:sym typeface="Greek Symbols"/>
              </a:rPr>
              <a:t>      	result </a:t>
            </a:r>
            <a:r>
              <a:rPr lang="en-US" altLang="en-US" dirty="0">
                <a:sym typeface="Greek Symbols"/>
              </a:rPr>
              <a:t>:= </a:t>
            </a:r>
            <a:r>
              <a:rPr lang="en-US" altLang="en-US" dirty="0">
                <a:latin typeface="Symbol" panose="05050102010706020507" pitchFamily="18" charset="2"/>
                <a:sym typeface="Greek Symbols"/>
              </a:rPr>
              <a:t>a</a:t>
            </a:r>
            <a:r>
              <a:rPr lang="en-US" altLang="en-US" dirty="0">
                <a:sym typeface="Greek Symbols"/>
              </a:rPr>
              <a:t>;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	</a:t>
            </a:r>
            <a:r>
              <a:rPr lang="en-US" altLang="en-US" b="1" dirty="0">
                <a:sym typeface="Greek Symbols"/>
              </a:rPr>
              <a:t>while</a:t>
            </a:r>
            <a:r>
              <a:rPr lang="en-US" altLang="en-US" dirty="0">
                <a:sym typeface="Greek Symbols"/>
              </a:rPr>
              <a:t> (changes to </a:t>
            </a:r>
            <a:r>
              <a:rPr lang="en-US" altLang="en-US" i="1" dirty="0">
                <a:sym typeface="Greek Symbols"/>
              </a:rPr>
              <a:t>result</a:t>
            </a:r>
            <a:r>
              <a:rPr lang="en-US" altLang="en-US" dirty="0">
                <a:sym typeface="Greek Symbols"/>
              </a:rPr>
              <a:t>) </a:t>
            </a:r>
            <a:r>
              <a:rPr lang="en-US" altLang="en-US" b="1" dirty="0">
                <a:sym typeface="Greek Symbols"/>
              </a:rPr>
              <a:t>do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	for each </a:t>
            </a:r>
            <a:r>
              <a:rPr lang="en-US" altLang="en-US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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b="1" dirty="0">
                <a:sym typeface="Greek Symbols"/>
              </a:rPr>
              <a:t>in</a:t>
            </a:r>
            <a:r>
              <a:rPr lang="en-US" altLang="en-US" i="1" dirty="0">
                <a:sym typeface="Greek Symbols"/>
              </a:rPr>
              <a:t> F</a:t>
            </a:r>
            <a:r>
              <a:rPr lang="en-US" altLang="en-US" b="1" dirty="0">
                <a:sym typeface="Greek Symbols"/>
              </a:rPr>
              <a:t> do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		begin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			if </a:t>
            </a:r>
            <a:r>
              <a:rPr lang="en-US" altLang="en-US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 </a:t>
            </a:r>
            <a:r>
              <a:rPr lang="en-US" altLang="en-US" i="1" dirty="0">
                <a:sym typeface="Symbol" panose="05050102010706020507" pitchFamily="18" charset="2"/>
              </a:rPr>
              <a:t>result</a:t>
            </a:r>
            <a:r>
              <a:rPr lang="en-US" altLang="en-US" b="1" dirty="0">
                <a:sym typeface="Symbol" panose="05050102010706020507" pitchFamily="18" charset="2"/>
              </a:rPr>
              <a:t> then </a:t>
            </a:r>
            <a:r>
              <a:rPr lang="en-US" altLang="en-US" i="1" dirty="0">
                <a:sym typeface="Symbol" panose="05050102010706020507" pitchFamily="18" charset="2"/>
              </a:rPr>
              <a:t> result </a:t>
            </a:r>
            <a:r>
              <a:rPr lang="en-US" altLang="en-US" dirty="0">
                <a:sym typeface="Symbol" panose="05050102010706020507" pitchFamily="18" charset="2"/>
              </a:rPr>
              <a:t>:= </a:t>
            </a:r>
            <a:r>
              <a:rPr lang="en-US" altLang="en-US" i="1" dirty="0">
                <a:sym typeface="Symbol" panose="05050102010706020507" pitchFamily="18" charset="2"/>
              </a:rPr>
              <a:t>result </a:t>
            </a:r>
            <a:r>
              <a:rPr lang="en-US" altLang="en-US" dirty="0">
                <a:sym typeface="Symbol" panose="05050102010706020507" pitchFamily="18" charset="2"/>
              </a:rPr>
              <a:t>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</a:t>
            </a:r>
            <a:r>
              <a:rPr lang="en-US" altLang="en-US" dirty="0">
                <a:sym typeface="Greek Symbols"/>
              </a:rPr>
              <a:t> 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			</a:t>
            </a:r>
            <a:r>
              <a:rPr lang="en-US" altLang="en-US" b="1" dirty="0">
                <a:sym typeface="Greek Symbols"/>
              </a:rPr>
              <a:t>end</a:t>
            </a:r>
          </a:p>
          <a:p>
            <a:pPr algn="r" rtl="1">
              <a:buFont typeface="Monotype Sorts" pitchFamily="-84" charset="2"/>
              <a:buNone/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endParaRPr lang="en-US" altLang="en-US" b="1" dirty="0">
              <a:sym typeface="Greek Symbols"/>
            </a:endParaRPr>
          </a:p>
          <a:p>
            <a:pPr algn="r" rtl="1">
              <a:buFont typeface="Monotype Sorts" pitchFamily="-84" charset="2"/>
              <a:buNone/>
              <a:tabLst>
                <a:tab pos="1027113" algn="l"/>
                <a:tab pos="1547813" algn="l"/>
                <a:tab pos="1771650" algn="l"/>
                <a:tab pos="2054225" algn="l"/>
                <a:tab pos="3140075" algn="ctr"/>
              </a:tabLst>
            </a:pPr>
            <a:endParaRPr lang="en-US" altLang="en-US" b="1" dirty="0">
              <a:sym typeface="Greek Symbol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7587" grpId="0" build="p" autoUpdateAnimBg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 of Attribute Set Closure</a:t>
            </a:r>
          </a:p>
        </p:txBody>
      </p:sp>
      <p:sp>
        <p:nvSpPr>
          <p:cNvPr id="709635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56443"/>
            <a:ext cx="7136402" cy="5296231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i="1" dirty="0"/>
              <a:t>R = (A, B, C, G, H, I)</a:t>
            </a:r>
          </a:p>
          <a:p>
            <a:pPr>
              <a:lnSpc>
                <a:spcPct val="90000"/>
              </a:lnSpc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i="1" dirty="0"/>
              <a:t>F = </a:t>
            </a:r>
            <a:r>
              <a:rPr lang="en-US" altLang="en-US" sz="1600" dirty="0"/>
              <a:t>{</a:t>
            </a:r>
            <a:r>
              <a:rPr lang="en-US" altLang="en-US" sz="1600" i="1" dirty="0">
                <a:sym typeface="Iconic Symbols Ext"/>
              </a:rPr>
              <a:t>A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B</a:t>
            </a:r>
            <a:br>
              <a:rPr lang="en-US" altLang="en-US" sz="1600" i="1" dirty="0">
                <a:sym typeface="Monotype Sorts" pitchFamily="-84" charset="2"/>
              </a:rPr>
            </a:br>
            <a:r>
              <a:rPr lang="en-US" altLang="en-US" sz="1600" i="1" dirty="0">
                <a:sym typeface="Monotype Sorts" pitchFamily="-84" charset="2"/>
              </a:rPr>
              <a:t>	</a:t>
            </a:r>
            <a:r>
              <a:rPr lang="en-US" altLang="en-US" sz="1600" i="1" dirty="0">
                <a:sym typeface="Iconic Symbols Ext"/>
              </a:rPr>
              <a:t>A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C </a:t>
            </a:r>
            <a:br>
              <a:rPr lang="en-US" altLang="en-US" sz="1600" i="1" dirty="0">
                <a:sym typeface="Monotype Sorts" pitchFamily="-84" charset="2"/>
              </a:rPr>
            </a:br>
            <a:r>
              <a:rPr lang="en-US" altLang="en-US" sz="1600" i="1" dirty="0">
                <a:sym typeface="Monotype Sorts" pitchFamily="-84" charset="2"/>
              </a:rPr>
              <a:t>	</a:t>
            </a:r>
            <a:r>
              <a:rPr lang="en-US" altLang="en-US" sz="1600" i="1" dirty="0">
                <a:sym typeface="Iconic Symbols Ext"/>
              </a:rPr>
              <a:t>CG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H</a:t>
            </a:r>
            <a:br>
              <a:rPr lang="en-US" altLang="en-US" sz="1600" i="1" dirty="0">
                <a:sym typeface="Monotype Sorts" pitchFamily="-84" charset="2"/>
              </a:rPr>
            </a:br>
            <a:r>
              <a:rPr lang="en-US" altLang="en-US" sz="1600" i="1" dirty="0">
                <a:sym typeface="Monotype Sorts" pitchFamily="-84" charset="2"/>
              </a:rPr>
              <a:t>	</a:t>
            </a:r>
            <a:r>
              <a:rPr lang="en-US" altLang="en-US" sz="1600" i="1" dirty="0">
                <a:sym typeface="Iconic Symbols Ext"/>
              </a:rPr>
              <a:t>CG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I</a:t>
            </a:r>
            <a:br>
              <a:rPr lang="en-US" altLang="en-US" sz="1600" i="1" dirty="0">
                <a:sym typeface="Monotype Sorts" pitchFamily="-84" charset="2"/>
              </a:rPr>
            </a:br>
            <a:r>
              <a:rPr lang="en-US" altLang="en-US" sz="1600" i="1" dirty="0">
                <a:sym typeface="Monotype Sorts" pitchFamily="-84" charset="2"/>
              </a:rPr>
              <a:t>	</a:t>
            </a:r>
            <a:r>
              <a:rPr lang="en-US" altLang="en-US" sz="1600" i="1" dirty="0">
                <a:sym typeface="Iconic Symbols Ext"/>
              </a:rPr>
              <a:t>B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H</a:t>
            </a:r>
            <a:r>
              <a:rPr lang="en-US" altLang="en-US" sz="1600" dirty="0">
                <a:sym typeface="Monotype Sorts" pitchFamily="-84" charset="2"/>
              </a:rPr>
              <a:t>}</a:t>
            </a:r>
            <a:endParaRPr lang="en-US" altLang="en-US" sz="1600" dirty="0">
              <a:sym typeface="MS LineDraw"/>
            </a:endParaRPr>
          </a:p>
          <a:p>
            <a:pPr>
              <a:lnSpc>
                <a:spcPct val="90000"/>
              </a:lnSpc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S LineDraw"/>
              </a:rPr>
              <a:t>(</a:t>
            </a:r>
            <a:r>
              <a:rPr lang="en-US" altLang="en-US" sz="1600" i="1" dirty="0">
                <a:sym typeface="MS LineDraw"/>
              </a:rPr>
              <a:t>AG)</a:t>
            </a:r>
            <a:r>
              <a:rPr lang="en-US" altLang="en-US" sz="1600" baseline="30000" dirty="0">
                <a:sym typeface="MS LineDraw"/>
              </a:rPr>
              <a:t>+</a:t>
            </a:r>
            <a:endParaRPr lang="en-US" altLang="en-US" sz="1600" dirty="0">
              <a:sym typeface="MS LineDraw"/>
            </a:endParaRP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None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S LineDraw"/>
              </a:rPr>
              <a:t>1.	</a:t>
            </a:r>
            <a:r>
              <a:rPr lang="en-US" altLang="en-US" sz="1600" i="1" dirty="0">
                <a:sym typeface="MS LineDraw"/>
              </a:rPr>
              <a:t>result = AG</a:t>
            </a:r>
            <a:endParaRPr lang="en-US" altLang="en-US" sz="1600" dirty="0">
              <a:sym typeface="MS LineDraw"/>
            </a:endParaRP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None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S LineDraw"/>
              </a:rPr>
              <a:t>2.	</a:t>
            </a:r>
            <a:r>
              <a:rPr lang="en-US" altLang="en-US" sz="1600" i="1" dirty="0">
                <a:sym typeface="MS LineDraw"/>
              </a:rPr>
              <a:t>result = ABCG	(A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C </a:t>
            </a:r>
            <a:r>
              <a:rPr lang="en-US" altLang="en-US" sz="1600" dirty="0">
                <a:sym typeface="Monotype Sorts" pitchFamily="-84" charset="2"/>
              </a:rPr>
              <a:t>and </a:t>
            </a:r>
            <a:r>
              <a:rPr lang="en-US" altLang="en-US" sz="1600" i="1" dirty="0">
                <a:sym typeface="Monotype Sorts" pitchFamily="-84" charset="2"/>
              </a:rPr>
              <a:t>A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i="1" dirty="0">
                <a:sym typeface="Symbol" panose="05050102010706020507" pitchFamily="18" charset="2"/>
              </a:rPr>
              <a:t> B)</a:t>
            </a:r>
            <a:endParaRPr lang="en-US" altLang="en-US" sz="1600" dirty="0">
              <a:sym typeface="Symbol" panose="05050102010706020507" pitchFamily="18" charset="2"/>
            </a:endParaRP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None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Symbol" panose="05050102010706020507" pitchFamily="18" charset="2"/>
              </a:rPr>
              <a:t>3.	</a:t>
            </a:r>
            <a:r>
              <a:rPr lang="en-US" altLang="en-US" sz="1600" i="1" dirty="0">
                <a:sym typeface="MS LineDraw"/>
              </a:rPr>
              <a:t>result = ABCG</a:t>
            </a:r>
            <a:r>
              <a:rPr lang="en-US" altLang="en-US" sz="1600" i="1" dirty="0">
                <a:sym typeface="Monotype Sorts" pitchFamily="-84" charset="2"/>
              </a:rPr>
              <a:t>H	(CG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H</a:t>
            </a:r>
            <a:r>
              <a:rPr lang="en-US" altLang="en-US" sz="1600" dirty="0">
                <a:sym typeface="Monotype Sorts" pitchFamily="-84" charset="2"/>
              </a:rPr>
              <a:t> and </a:t>
            </a:r>
            <a:r>
              <a:rPr lang="en-US" altLang="en-US" sz="1600" i="1" dirty="0">
                <a:sym typeface="Monotype Sorts" pitchFamily="-84" charset="2"/>
              </a:rPr>
              <a:t>CG </a:t>
            </a:r>
            <a:r>
              <a:rPr lang="en-US" altLang="en-US" sz="1600" dirty="0">
                <a:sym typeface="Symbol" panose="05050102010706020507" pitchFamily="18" charset="2"/>
              </a:rPr>
              <a:t> </a:t>
            </a:r>
            <a:r>
              <a:rPr lang="en-US" altLang="en-US" sz="1600" i="1" dirty="0">
                <a:sym typeface="Symbol" panose="05050102010706020507" pitchFamily="18" charset="2"/>
              </a:rPr>
              <a:t>AGBC)</a:t>
            </a: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None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Symbol" panose="05050102010706020507" pitchFamily="18" charset="2"/>
              </a:rPr>
              <a:t>4.	</a:t>
            </a:r>
            <a:r>
              <a:rPr lang="en-US" altLang="en-US" sz="1600" i="1" dirty="0">
                <a:sym typeface="MS LineDraw"/>
              </a:rPr>
              <a:t>result = ABCG</a:t>
            </a:r>
            <a:r>
              <a:rPr lang="en-US" altLang="en-US" sz="1600" i="1" dirty="0">
                <a:sym typeface="Monotype Sorts" pitchFamily="-84" charset="2"/>
              </a:rPr>
              <a:t>HI	(CG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I</a:t>
            </a:r>
            <a:r>
              <a:rPr lang="en-US" altLang="en-US" sz="1600" dirty="0">
                <a:sym typeface="Monotype Sorts" pitchFamily="-84" charset="2"/>
              </a:rPr>
              <a:t> and </a:t>
            </a:r>
            <a:r>
              <a:rPr lang="en-US" altLang="en-US" sz="1600" i="1" dirty="0">
                <a:sym typeface="Monotype Sorts" pitchFamily="-84" charset="2"/>
              </a:rPr>
              <a:t>CG </a:t>
            </a:r>
            <a:r>
              <a:rPr lang="en-US" altLang="en-US" sz="1600" dirty="0">
                <a:sym typeface="Symbol" panose="05050102010706020507" pitchFamily="18" charset="2"/>
              </a:rPr>
              <a:t> </a:t>
            </a:r>
            <a:r>
              <a:rPr lang="en-US" altLang="en-US" sz="1600" i="1" dirty="0">
                <a:sym typeface="Symbol" panose="05050102010706020507" pitchFamily="18" charset="2"/>
              </a:rPr>
              <a:t>AGBCH)</a:t>
            </a:r>
          </a:p>
          <a:p>
            <a:pPr>
              <a:lnSpc>
                <a:spcPct val="90000"/>
              </a:lnSpc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Symbol" panose="05050102010706020507" pitchFamily="18" charset="2"/>
              </a:rPr>
              <a:t>Is </a:t>
            </a:r>
            <a:r>
              <a:rPr lang="en-US" altLang="en-US" sz="1600" i="1" dirty="0">
                <a:sym typeface="Symbol" panose="05050102010706020507" pitchFamily="18" charset="2"/>
              </a:rPr>
              <a:t>AG</a:t>
            </a:r>
            <a:r>
              <a:rPr lang="en-US" altLang="en-US" sz="1600" dirty="0">
                <a:sym typeface="Symbol" panose="05050102010706020507" pitchFamily="18" charset="2"/>
              </a:rPr>
              <a:t> a candidate key?  </a:t>
            </a: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AutoNum type="arabicPeriod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Symbol" panose="05050102010706020507" pitchFamily="18" charset="2"/>
              </a:rPr>
              <a:t>Is AG a super key?</a:t>
            </a:r>
          </a:p>
          <a:p>
            <a:pPr marL="1163638" lvl="2" indent="-304800">
              <a:lnSpc>
                <a:spcPct val="90000"/>
              </a:lnSpc>
              <a:buFont typeface="Monotype Sorts" pitchFamily="-84" charset="2"/>
              <a:buAutoNum type="arabicPeriod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Symbol" panose="05050102010706020507" pitchFamily="18" charset="2"/>
              </a:rPr>
              <a:t>Does </a:t>
            </a:r>
            <a:r>
              <a:rPr lang="en-US" altLang="en-US" sz="1600" i="1" dirty="0">
                <a:sym typeface="Symbol" panose="05050102010706020507" pitchFamily="18" charset="2"/>
              </a:rPr>
              <a:t>AG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R? == </a:t>
            </a:r>
            <a:r>
              <a:rPr lang="en-US" altLang="en-US" sz="1600" dirty="0">
                <a:sym typeface="Monotype Sorts" pitchFamily="-84" charset="2"/>
              </a:rPr>
              <a:t>Is </a:t>
            </a:r>
            <a:r>
              <a:rPr lang="en-US" altLang="en-US" sz="1600" dirty="0">
                <a:sym typeface="Symbol" panose="05050102010706020507" pitchFamily="18" charset="2"/>
              </a:rPr>
              <a:t>R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 </a:t>
            </a:r>
            <a:r>
              <a:rPr lang="en-US" altLang="en-US" sz="1600" dirty="0">
                <a:sym typeface="Monotype Sorts" pitchFamily="-84" charset="2"/>
              </a:rPr>
              <a:t>(AG)</a:t>
            </a:r>
            <a:r>
              <a:rPr lang="en-US" altLang="en-US" sz="1600" baseline="30000" dirty="0">
                <a:sym typeface="Monotype Sorts" pitchFamily="-84" charset="2"/>
              </a:rPr>
              <a:t>+ </a:t>
            </a:r>
            <a:endParaRPr lang="en-US" altLang="en-US" sz="1600" i="1" dirty="0">
              <a:sym typeface="Monotype Sorts" pitchFamily="-84" charset="2"/>
            </a:endParaRPr>
          </a:p>
          <a:p>
            <a:pPr marL="762000" lvl="1" indent="-304800">
              <a:lnSpc>
                <a:spcPct val="90000"/>
              </a:lnSpc>
              <a:buFont typeface="Monotype Sorts" pitchFamily="-84" charset="2"/>
              <a:buAutoNum type="arabicPeriod" startAt="2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onotype Sorts" pitchFamily="-84" charset="2"/>
              </a:rPr>
              <a:t>Is any subset of AG a </a:t>
            </a:r>
            <a:r>
              <a:rPr lang="en-US" altLang="en-US" sz="1600" dirty="0" err="1">
                <a:sym typeface="Monotype Sorts" pitchFamily="-84" charset="2"/>
              </a:rPr>
              <a:t>superkey</a:t>
            </a:r>
            <a:r>
              <a:rPr lang="en-US" altLang="en-US" sz="1600" dirty="0">
                <a:sym typeface="Monotype Sorts" pitchFamily="-84" charset="2"/>
              </a:rPr>
              <a:t>?</a:t>
            </a:r>
          </a:p>
          <a:p>
            <a:pPr marL="1163638" lvl="2" indent="-304800">
              <a:lnSpc>
                <a:spcPct val="90000"/>
              </a:lnSpc>
              <a:buFont typeface="Monotype Sorts" pitchFamily="-84" charset="2"/>
              <a:buAutoNum type="arabicPeriod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onotype Sorts" pitchFamily="-84" charset="2"/>
              </a:rPr>
              <a:t>Does </a:t>
            </a:r>
            <a:r>
              <a:rPr lang="en-US" altLang="en-US" sz="1600" i="1" dirty="0">
                <a:sym typeface="Monotype Sorts" pitchFamily="-84" charset="2"/>
              </a:rPr>
              <a:t>A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R</a:t>
            </a:r>
            <a:r>
              <a:rPr lang="en-US" altLang="en-US" sz="1600" dirty="0">
                <a:sym typeface="Monotype Sorts" pitchFamily="-84" charset="2"/>
              </a:rPr>
              <a:t>? </a:t>
            </a:r>
            <a:r>
              <a:rPr lang="en-US" altLang="en-US" sz="1600" i="1" dirty="0">
                <a:sym typeface="Monotype Sorts" pitchFamily="-84" charset="2"/>
              </a:rPr>
              <a:t>== </a:t>
            </a:r>
            <a:r>
              <a:rPr lang="en-US" altLang="en-US" sz="1600" dirty="0">
                <a:sym typeface="Monotype Sorts" pitchFamily="-84" charset="2"/>
              </a:rPr>
              <a:t>Is </a:t>
            </a:r>
            <a:r>
              <a:rPr lang="en-US" altLang="en-US" sz="1600" dirty="0">
                <a:sym typeface="Symbol" panose="05050102010706020507" pitchFamily="18" charset="2"/>
              </a:rPr>
              <a:t>R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 </a:t>
            </a:r>
            <a:r>
              <a:rPr lang="en-US" altLang="en-US" sz="1600" dirty="0">
                <a:sym typeface="Monotype Sorts" pitchFamily="-84" charset="2"/>
              </a:rPr>
              <a:t>(A)</a:t>
            </a:r>
            <a:r>
              <a:rPr lang="en-US" altLang="en-US" sz="1600" baseline="30000" dirty="0">
                <a:sym typeface="Monotype Sorts" pitchFamily="-84" charset="2"/>
              </a:rPr>
              <a:t>+   </a:t>
            </a:r>
            <a:endParaRPr lang="en-US" altLang="en-US" sz="1600" dirty="0">
              <a:sym typeface="Monotype Sorts" pitchFamily="-84" charset="2"/>
            </a:endParaRPr>
          </a:p>
          <a:p>
            <a:pPr marL="1163638" lvl="2" indent="-304800">
              <a:lnSpc>
                <a:spcPct val="90000"/>
              </a:lnSpc>
              <a:buFont typeface="Monotype Sorts" pitchFamily="-84" charset="2"/>
              <a:buAutoNum type="arabicPeriod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onotype Sorts" pitchFamily="-84" charset="2"/>
              </a:rPr>
              <a:t>Does </a:t>
            </a:r>
            <a:r>
              <a:rPr lang="en-US" altLang="en-US" sz="1600" i="1" dirty="0">
                <a:sym typeface="Monotype Sorts" pitchFamily="-84" charset="2"/>
              </a:rPr>
              <a:t>G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dirty="0">
                <a:sym typeface="Symbol" panose="05050102010706020507" pitchFamily="18" charset="2"/>
              </a:rPr>
              <a:t></a:t>
            </a:r>
            <a:r>
              <a:rPr lang="en-US" altLang="en-US" sz="1600" dirty="0">
                <a:sym typeface="Monotype Sorts" pitchFamily="-84" charset="2"/>
              </a:rPr>
              <a:t> </a:t>
            </a:r>
            <a:r>
              <a:rPr lang="en-US" altLang="en-US" sz="1600" i="1" dirty="0">
                <a:sym typeface="Monotype Sorts" pitchFamily="-84" charset="2"/>
              </a:rPr>
              <a:t>R</a:t>
            </a:r>
            <a:r>
              <a:rPr lang="en-US" altLang="en-US" sz="1600" dirty="0">
                <a:sym typeface="Monotype Sorts" pitchFamily="-84" charset="2"/>
              </a:rPr>
              <a:t>? == Is </a:t>
            </a:r>
            <a:r>
              <a:rPr lang="en-US" altLang="en-US" sz="1600" dirty="0">
                <a:sym typeface="Symbol" panose="05050102010706020507" pitchFamily="18" charset="2"/>
              </a:rPr>
              <a:t>R  </a:t>
            </a:r>
            <a:r>
              <a:rPr lang="en-US" altLang="en-US" sz="1600" dirty="0">
                <a:sym typeface="Monotype Sorts" pitchFamily="-84" charset="2"/>
              </a:rPr>
              <a:t>(G)</a:t>
            </a:r>
            <a:r>
              <a:rPr lang="en-US" altLang="en-US" sz="1600" baseline="30000" dirty="0">
                <a:sym typeface="Monotype Sorts" pitchFamily="-84" charset="2"/>
              </a:rPr>
              <a:t>+ </a:t>
            </a:r>
          </a:p>
          <a:p>
            <a:pPr marL="1163638" lvl="2" indent="-304800">
              <a:lnSpc>
                <a:spcPct val="90000"/>
              </a:lnSpc>
              <a:buFont typeface="Monotype Sorts" pitchFamily="-84" charset="2"/>
              <a:buAutoNum type="arabicPeriod"/>
              <a:tabLst>
                <a:tab pos="803275" algn="l"/>
                <a:tab pos="2633663" algn="l"/>
                <a:tab pos="3140075" algn="l"/>
              </a:tabLst>
            </a:pPr>
            <a:r>
              <a:rPr lang="en-US" altLang="en-US" sz="1600" dirty="0">
                <a:sym typeface="Monotype Sorts" pitchFamily="-84" charset="2"/>
              </a:rPr>
              <a:t>In general: check for each subset of size </a:t>
            </a:r>
            <a:r>
              <a:rPr lang="en-US" altLang="en-US" sz="1600" i="1" dirty="0">
                <a:sym typeface="Monotype Sorts" pitchFamily="-84" charset="2"/>
              </a:rPr>
              <a:t>n-1</a:t>
            </a:r>
            <a:endParaRPr lang="en-US" altLang="en-US" sz="1600" i="1" dirty="0"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96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9635" grpId="0" build="p" bldLvl="2" autoUpdateAnimBg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682" name="Rectangle 2"/>
          <p:cNvSpPr>
            <a:spLocks noGrp="1" noChangeArrowheads="1"/>
          </p:cNvSpPr>
          <p:nvPr>
            <p:ph type="title"/>
          </p:nvPr>
        </p:nvSpPr>
        <p:spPr>
          <a:xfrm>
            <a:off x="952500" y="153988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Uses of Attribute Closure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9F363-EE6B-3A30-66F8-DA755F7B616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206679" y="1291212"/>
            <a:ext cx="873064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چند کاربرد برای الگوریتم بستارِ صفت‌ها وجود دارد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آزمون اَبَرکلید بودن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اینکه ببینیم یک مجموعهٔ صفت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اَبَرکلید هست یا نه، بستار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حساب می‌کنیم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(α⁺)،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و بررسی می‌کنیم که آیا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شامل تمام صفات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هست یا نه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آزمون وابستگی تابعی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بررسی اینکه یک وابستگی تابعی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 → β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برقرار است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یا به عبارتی در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قرار دارد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)،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کافی است ببینیم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β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زیرمجموعه‌ای از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باشد.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یعنی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α⁺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با استفاده از الگوریتم بستارِ صفت‌ها محاسبه می‌کنیم، و بعد بررسی می‌کنیم که آیا شامل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β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هست یا نه.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این یک تست ساده، سریع و بسیار کاربردی است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محاسبهٔ بستار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هر مجموعهٔ صفت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γ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که زیرمجموعه‌ای از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است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، γ⁺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حساب می‌کنیم، و برای هر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که زیرمجموعه‌ای از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γ⁺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باشد، وابستگی تابعی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γ → S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به عنوان نتیجه تولید می‌کنیم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Canonical Cover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84910"/>
            <a:ext cx="7647680" cy="4425553"/>
          </a:xfrm>
        </p:spPr>
        <p:txBody>
          <a:bodyPr/>
          <a:lstStyle/>
          <a:p>
            <a:pPr algn="r" rtl="1">
              <a:defRPr/>
            </a:pPr>
            <a:r>
              <a:rPr lang="fa-IR" dirty="0"/>
              <a:t>فرض کنید </a:t>
            </a:r>
            <a:r>
              <a:rPr lang="fa-IR" dirty="0" err="1"/>
              <a:t>مجموعه‌ای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</a:t>
            </a:r>
            <a:r>
              <a:rPr lang="en-US" dirty="0"/>
              <a:t>F </a:t>
            </a:r>
            <a:r>
              <a:rPr lang="fa-IR" dirty="0"/>
              <a:t>روی یک </a:t>
            </a:r>
            <a:r>
              <a:rPr lang="fa-IR" dirty="0" err="1"/>
              <a:t>شِمای</a:t>
            </a:r>
            <a:r>
              <a:rPr lang="fa-IR" dirty="0"/>
              <a:t> رابطه داشته باشیم.</a:t>
            </a:r>
            <a:br>
              <a:rPr lang="fa-IR" dirty="0"/>
            </a:br>
            <a:r>
              <a:rPr lang="fa-IR" dirty="0"/>
              <a:t>هر زمان که کاربری یک </a:t>
            </a:r>
            <a:r>
              <a:rPr lang="fa-IR" dirty="0" err="1"/>
              <a:t>به‌روزرسانی</a:t>
            </a:r>
            <a:r>
              <a:rPr lang="fa-IR" dirty="0"/>
              <a:t> روی رابطه انجام </a:t>
            </a:r>
            <a:r>
              <a:rPr lang="fa-IR" dirty="0" err="1"/>
              <a:t>می‌دهد</a:t>
            </a:r>
            <a:r>
              <a:rPr lang="fa-IR" dirty="0"/>
              <a:t>، سیستم پایگاه داده باید مطمئن شود که این </a:t>
            </a:r>
            <a:r>
              <a:rPr lang="fa-IR" dirty="0" err="1"/>
              <a:t>به‌روزرسانی</a:t>
            </a:r>
            <a:r>
              <a:rPr lang="fa-IR" dirty="0"/>
              <a:t> هیچ وابستگی </a:t>
            </a:r>
            <a:r>
              <a:rPr lang="fa-IR" dirty="0" err="1"/>
              <a:t>تابعی</a:t>
            </a:r>
            <a:r>
              <a:rPr lang="fa-IR" dirty="0"/>
              <a:t> را نقض </a:t>
            </a:r>
            <a:r>
              <a:rPr lang="fa-IR" dirty="0" err="1"/>
              <a:t>نمی‌کند</a:t>
            </a:r>
            <a:r>
              <a:rPr lang="fa-IR" dirty="0"/>
              <a:t>؛ یعنی تمام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در </a:t>
            </a:r>
            <a:r>
              <a:rPr lang="en-US" dirty="0"/>
              <a:t>F </a:t>
            </a:r>
            <a:r>
              <a:rPr lang="fa-IR" dirty="0"/>
              <a:t>در وضعیت جدید پایگاه داده برقرار باشند.</a:t>
            </a:r>
            <a:br>
              <a:rPr lang="fa-IR" dirty="0"/>
            </a:br>
            <a:r>
              <a:rPr lang="fa-IR" dirty="0"/>
              <a:t>اگر یک </a:t>
            </a:r>
            <a:r>
              <a:rPr lang="fa-IR" dirty="0" err="1"/>
              <a:t>به‌روزرسانی</a:t>
            </a:r>
            <a:r>
              <a:rPr lang="fa-IR" dirty="0"/>
              <a:t> هر یک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موجود در </a:t>
            </a:r>
            <a:r>
              <a:rPr lang="en-US" dirty="0"/>
              <a:t>F </a:t>
            </a:r>
            <a:r>
              <a:rPr lang="fa-IR" dirty="0"/>
              <a:t>را نقض کند، سیستم باید آن </a:t>
            </a:r>
            <a:r>
              <a:rPr lang="fa-IR" dirty="0" err="1"/>
              <a:t>به‌روزرسانی</a:t>
            </a:r>
            <a:r>
              <a:rPr lang="fa-IR" dirty="0"/>
              <a:t> را برگرداند (</a:t>
            </a:r>
            <a:r>
              <a:rPr lang="en-US" dirty="0"/>
              <a:t>rollback </a:t>
            </a:r>
            <a:r>
              <a:rPr lang="fa-IR" dirty="0"/>
              <a:t>کند).</a:t>
            </a:r>
            <a:br>
              <a:rPr lang="fa-IR" dirty="0"/>
            </a:br>
            <a:r>
              <a:rPr lang="fa-IR" dirty="0" err="1"/>
              <a:t>می‌توانیم</a:t>
            </a:r>
            <a:r>
              <a:rPr lang="fa-IR" dirty="0"/>
              <a:t> تلاش لازم برای بررسی </a:t>
            </a:r>
            <a:r>
              <a:rPr lang="fa-IR" dirty="0" err="1"/>
              <a:t>نقض‌ها</a:t>
            </a:r>
            <a:r>
              <a:rPr lang="fa-IR" dirty="0"/>
              <a:t> را با آزمودن یک مجموعه </a:t>
            </a:r>
            <a:r>
              <a:rPr lang="fa-IR" dirty="0" err="1"/>
              <a:t>ساده‌شده</a:t>
            </a:r>
            <a:r>
              <a:rPr lang="fa-IR" dirty="0"/>
              <a:t> از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که همان </a:t>
            </a:r>
            <a:r>
              <a:rPr lang="fa-IR" dirty="0" err="1"/>
              <a:t>بستار</a:t>
            </a:r>
            <a:r>
              <a:rPr lang="fa-IR" dirty="0"/>
              <a:t> مجموعه اولیه را دارد کاهش دهیم.</a:t>
            </a:r>
            <a:br>
              <a:rPr lang="fa-IR" dirty="0"/>
            </a:br>
            <a:r>
              <a:rPr lang="fa-IR" dirty="0"/>
              <a:t>این مجموعه </a:t>
            </a:r>
            <a:r>
              <a:rPr lang="fa-IR" dirty="0" err="1"/>
              <a:t>ساده‌شده</a:t>
            </a:r>
            <a:r>
              <a:rPr lang="fa-IR" dirty="0"/>
              <a:t> «پوشش </a:t>
            </a:r>
            <a:r>
              <a:rPr lang="fa-IR" dirty="0" err="1"/>
              <a:t>کانُکُنیکال</a:t>
            </a:r>
            <a:r>
              <a:rPr lang="fa-IR" dirty="0"/>
              <a:t>» (</a:t>
            </a:r>
            <a:r>
              <a:rPr lang="en-US" dirty="0"/>
              <a:t>canonical cover) </a:t>
            </a:r>
            <a:r>
              <a:rPr lang="fa-IR" dirty="0"/>
              <a:t>نامیده </a:t>
            </a:r>
            <a:r>
              <a:rPr lang="fa-IR" dirty="0" err="1"/>
              <a:t>می‌شود</a:t>
            </a:r>
            <a:r>
              <a:rPr lang="fa-IR" dirty="0"/>
              <a:t>.</a:t>
            </a:r>
            <a:br>
              <a:rPr lang="fa-IR" dirty="0"/>
            </a:br>
            <a:r>
              <a:rPr lang="fa-IR" dirty="0"/>
              <a:t>برای تعریف پوشش </a:t>
            </a:r>
            <a:r>
              <a:rPr lang="fa-IR" dirty="0" err="1"/>
              <a:t>کانُنیکال</a:t>
            </a:r>
            <a:r>
              <a:rPr lang="fa-IR" dirty="0"/>
              <a:t>، ابتدا باید </a:t>
            </a:r>
            <a:r>
              <a:rPr lang="fa-IR" dirty="0" err="1"/>
              <a:t>ویژگی‌های</a:t>
            </a:r>
            <a:r>
              <a:rPr lang="fa-IR" dirty="0"/>
              <a:t> اضافی (</a:t>
            </a:r>
            <a:r>
              <a:rPr lang="en-US" dirty="0"/>
              <a:t>extraneous attributes) </a:t>
            </a:r>
            <a:r>
              <a:rPr lang="fa-IR" dirty="0"/>
              <a:t>را تعریف کنیم.</a:t>
            </a:r>
            <a:br>
              <a:rPr lang="fa-IR" dirty="0"/>
            </a:br>
            <a:r>
              <a:rPr lang="fa-IR" dirty="0"/>
              <a:t>یک ویژگی در یک وابستگی </a:t>
            </a:r>
            <a:r>
              <a:rPr lang="fa-IR" dirty="0" err="1"/>
              <a:t>تابعیِ</a:t>
            </a:r>
            <a:r>
              <a:rPr lang="fa-IR" dirty="0"/>
              <a:t> موجود در </a:t>
            </a:r>
            <a:r>
              <a:rPr lang="en-US" dirty="0"/>
              <a:t>F </a:t>
            </a:r>
            <a:r>
              <a:rPr lang="fa-IR" dirty="0"/>
              <a:t>اضافی محسوب </a:t>
            </a:r>
            <a:r>
              <a:rPr lang="fa-IR" dirty="0" err="1"/>
              <a:t>می‌شود</a:t>
            </a:r>
            <a:r>
              <a:rPr lang="fa-IR" dirty="0"/>
              <a:t> اگر بتوانیم آن را حذف کنیم بدون اینکه </a:t>
            </a:r>
            <a:r>
              <a:rPr lang="en-US" dirty="0"/>
              <a:t>F⁺ </a:t>
            </a:r>
            <a:r>
              <a:rPr lang="fa-IR" dirty="0"/>
              <a:t>تغییر کند.</a:t>
            </a:r>
            <a:endParaRPr lang="en-US" alt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Extraneous Attributes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C30A22-1DDF-10DA-4901-3FD5748A7F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2362" y="779021"/>
            <a:ext cx="8077199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حذف یک صفت از سمت چپ یک وابستگی تابعی می‌تواند آن را به یک محدودیت قوی‌تر تبدیل کند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مثال، اگر وابستگی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داشته باشیم و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حذف کنیم، نتیجهٔ جدید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ممکن است قوی‌تر باشد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این نتیجه قوی‌تر است چون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به‌صورت منطقی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،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نیز نتیجه می‌دهد، اما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به‌تنهایی الزاماً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نتیجه نمی‌دهد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اما بسته به این‌که مجموعهٔ وابستگی‌های تابعی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چه چیزهایی هستند، ممکن است بتوانیم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بدون مشکل از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حذف کنیم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برای مثال، فرض کنید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 = { AB → C , A → D , D → C }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در این صورت می‌توانیم نشان دهیم که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به‌صورت منطقی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را نتیجه می‌دهد، بنابراین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در وابستگی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 →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یک صفت زائد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(Extraneous)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است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Extraneous Attributes (Cont.)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idx="1"/>
          </p:nvPr>
        </p:nvSpPr>
        <p:spPr>
          <a:xfrm>
            <a:off x="488515" y="1163638"/>
            <a:ext cx="8357035" cy="3384299"/>
          </a:xfrm>
        </p:spPr>
        <p:txBody>
          <a:bodyPr/>
          <a:lstStyle/>
          <a:p>
            <a:pPr algn="r" rtl="1"/>
            <a:r>
              <a:rPr lang="fa-IR" sz="2400" dirty="0"/>
              <a:t>حذف یک صفت از سمت راست یک وابستگی </a:t>
            </a:r>
            <a:r>
              <a:rPr lang="fa-IR" sz="2400" dirty="0" err="1"/>
              <a:t>تابعی</a:t>
            </a:r>
            <a:r>
              <a:rPr lang="fa-IR" sz="2400" dirty="0"/>
              <a:t> </a:t>
            </a:r>
            <a:r>
              <a:rPr lang="fa-IR" sz="2400" dirty="0" err="1"/>
              <a:t>می‌تواند</a:t>
            </a:r>
            <a:r>
              <a:rPr lang="fa-IR" sz="2400" dirty="0"/>
              <a:t> آن را به یک محدودیت </a:t>
            </a:r>
            <a:r>
              <a:rPr lang="fa-IR" sz="2400" dirty="0" err="1"/>
              <a:t>ضعیف‌تر</a:t>
            </a:r>
            <a:r>
              <a:rPr lang="fa-IR" sz="2400" dirty="0"/>
              <a:t> تبدیل کند.</a:t>
            </a:r>
          </a:p>
          <a:p>
            <a:pPr algn="r" rtl="1"/>
            <a:r>
              <a:rPr lang="fa-IR" sz="2400" dirty="0"/>
              <a:t>برای مثال، اگر داشته باشیم </a:t>
            </a:r>
            <a:r>
              <a:rPr lang="en-US" sz="2400" dirty="0"/>
              <a:t>AB → CD </a:t>
            </a:r>
            <a:r>
              <a:rPr lang="fa-IR" sz="2400" dirty="0"/>
              <a:t>و </a:t>
            </a:r>
            <a:r>
              <a:rPr lang="en-US" sz="2400" dirty="0"/>
              <a:t>C </a:t>
            </a:r>
            <a:r>
              <a:rPr lang="fa-IR" sz="2400" dirty="0"/>
              <a:t>را حذف کنیم، نتیجه ممکن است </a:t>
            </a:r>
            <a:r>
              <a:rPr lang="fa-IR" sz="2400" dirty="0" err="1"/>
              <a:t>ضعیف‌تر</a:t>
            </a:r>
            <a:r>
              <a:rPr lang="fa-IR" sz="2400" dirty="0"/>
              <a:t> باشد: </a:t>
            </a:r>
            <a:r>
              <a:rPr lang="en-US" sz="2400" dirty="0"/>
              <a:t>AB → D.</a:t>
            </a:r>
          </a:p>
          <a:p>
            <a:pPr algn="r" rtl="1"/>
            <a:r>
              <a:rPr lang="fa-IR" sz="2400" dirty="0"/>
              <a:t>ممکن است </a:t>
            </a:r>
            <a:r>
              <a:rPr lang="fa-IR" sz="2400" dirty="0" err="1"/>
              <a:t>ضعیف‌تر</a:t>
            </a:r>
            <a:r>
              <a:rPr lang="fa-IR" sz="2400" dirty="0"/>
              <a:t> باشد زیرا با استفاده از فقط </a:t>
            </a:r>
            <a:r>
              <a:rPr lang="en-US" sz="2400" dirty="0"/>
              <a:t>AB → D، </a:t>
            </a:r>
            <a:r>
              <a:rPr lang="fa-IR" sz="2400" dirty="0"/>
              <a:t>دیگر </a:t>
            </a:r>
            <a:r>
              <a:rPr lang="fa-IR" sz="2400" dirty="0" err="1"/>
              <a:t>نمی‌توانیم</a:t>
            </a:r>
            <a:r>
              <a:rPr lang="fa-IR" sz="2400" dirty="0"/>
              <a:t> </a:t>
            </a:r>
            <a:r>
              <a:rPr lang="en-US" sz="2400" dirty="0"/>
              <a:t>AB → C </a:t>
            </a:r>
            <a:r>
              <a:rPr lang="fa-IR" sz="2400" dirty="0"/>
              <a:t>را </a:t>
            </a:r>
            <a:r>
              <a:rPr lang="fa-IR" sz="2400" dirty="0" err="1"/>
              <a:t>نتیجه‌گیری</a:t>
            </a:r>
            <a:r>
              <a:rPr lang="fa-IR" sz="2400" dirty="0"/>
              <a:t> کنیم.</a:t>
            </a:r>
          </a:p>
          <a:p>
            <a:pPr algn="r" rtl="1"/>
            <a:r>
              <a:rPr lang="fa-IR" sz="2400" dirty="0"/>
              <a:t>اما، بسته به اینکه مجموعه </a:t>
            </a:r>
            <a:r>
              <a:rPr lang="en-US" sz="2400" dirty="0"/>
              <a:t>F </a:t>
            </a:r>
            <a:r>
              <a:rPr lang="fa-IR" sz="2400" dirty="0"/>
              <a:t>از </a:t>
            </a:r>
            <a:r>
              <a:rPr lang="fa-IR" sz="2400" dirty="0" err="1"/>
              <a:t>وابستگی‌های</a:t>
            </a:r>
            <a:r>
              <a:rPr lang="fa-IR" sz="2400" dirty="0"/>
              <a:t> </a:t>
            </a:r>
            <a:r>
              <a:rPr lang="fa-IR" sz="2400" dirty="0" err="1"/>
              <a:t>تابعی</a:t>
            </a:r>
            <a:r>
              <a:rPr lang="fa-IR" sz="2400" dirty="0"/>
              <a:t> چه باشد، ممکن است بتوانیم </a:t>
            </a:r>
            <a:r>
              <a:rPr lang="en-US" sz="2400" dirty="0"/>
              <a:t>C </a:t>
            </a:r>
            <a:r>
              <a:rPr lang="fa-IR" sz="2400" dirty="0"/>
              <a:t>را از </a:t>
            </a:r>
            <a:r>
              <a:rPr lang="en-US" sz="2400" dirty="0"/>
              <a:t>AB → CD </a:t>
            </a:r>
            <a:r>
              <a:rPr lang="fa-IR" sz="2400" dirty="0" err="1"/>
              <a:t>به‌طور</a:t>
            </a:r>
            <a:r>
              <a:rPr lang="fa-IR" sz="2400" dirty="0"/>
              <a:t> ایمن حذف کنیم.</a:t>
            </a:r>
          </a:p>
          <a:p>
            <a:pPr algn="r" rtl="1"/>
            <a:r>
              <a:rPr lang="fa-IR" sz="2400" dirty="0"/>
              <a:t>برای مثال، فرض کنید که</a:t>
            </a:r>
            <a:br>
              <a:rPr lang="fa-IR" sz="2400" dirty="0"/>
            </a:br>
            <a:r>
              <a:rPr lang="en-US" sz="2400" dirty="0"/>
              <a:t>F = { AB → CD, A → C }</a:t>
            </a:r>
          </a:p>
          <a:p>
            <a:pPr algn="r" rtl="1"/>
            <a:r>
              <a:rPr lang="fa-IR" sz="2400" dirty="0"/>
              <a:t>سپس </a:t>
            </a:r>
            <a:r>
              <a:rPr lang="fa-IR" sz="2400" dirty="0" err="1"/>
              <a:t>می‌توانیم</a:t>
            </a:r>
            <a:r>
              <a:rPr lang="fa-IR" sz="2400" dirty="0"/>
              <a:t> نشان دهیم که حتی پس از جایگزینی </a:t>
            </a:r>
            <a:r>
              <a:rPr lang="en-US" sz="2400" dirty="0"/>
              <a:t>AB → CD </a:t>
            </a:r>
            <a:r>
              <a:rPr lang="fa-IR" sz="2400" dirty="0"/>
              <a:t>با </a:t>
            </a:r>
            <a:r>
              <a:rPr lang="en-US" sz="2400" dirty="0"/>
              <a:t>AB → D، </a:t>
            </a:r>
            <a:r>
              <a:rPr lang="fa-IR" sz="2400" dirty="0"/>
              <a:t>هنوز </a:t>
            </a:r>
            <a:r>
              <a:rPr lang="fa-IR" sz="2400" dirty="0" err="1"/>
              <a:t>می‌توانیم</a:t>
            </a:r>
            <a:r>
              <a:rPr lang="fa-IR" sz="2400" dirty="0"/>
              <a:t> </a:t>
            </a:r>
            <a:r>
              <a:rPr lang="en-US" sz="2400" dirty="0"/>
              <a:t>AB → C </a:t>
            </a:r>
            <a:r>
              <a:rPr lang="fa-IR" sz="2400" dirty="0"/>
              <a:t>را </a:t>
            </a:r>
            <a:r>
              <a:rPr lang="fa-IR" sz="2400" dirty="0" err="1"/>
              <a:t>نتیجه‌گیری</a:t>
            </a:r>
            <a:r>
              <a:rPr lang="fa-IR" sz="2400" dirty="0"/>
              <a:t> کنیم و در نتیجه </a:t>
            </a:r>
            <a:r>
              <a:rPr lang="en-US" sz="2400" dirty="0"/>
              <a:t>AB → CD.</a:t>
            </a:r>
          </a:p>
          <a:p>
            <a:pPr algn="r" rtl="1"/>
            <a:endParaRPr lang="en-US" alt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Extraneous Attributes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577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254000" y="1092199"/>
                <a:ext cx="8591550" cy="5648325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یک صفت از یک وابستگی </a:t>
                </a:r>
                <a:r>
                  <a:rPr lang="fa-IR" dirty="0" err="1"/>
                  <a:t>تابعی</a:t>
                </a:r>
                <a:r>
                  <a:rPr lang="fa-IR" dirty="0"/>
                  <a:t> در </a:t>
                </a:r>
                <a:r>
                  <a:rPr lang="en-US" dirty="0"/>
                  <a:t>F </a:t>
                </a:r>
                <a:r>
                  <a:rPr lang="fa-IR" dirty="0" err="1"/>
                  <a:t>غیرضروری</a:t>
                </a:r>
                <a:r>
                  <a:rPr lang="fa-IR" dirty="0"/>
                  <a:t> است اگر بتوانیم آن را حذف کنیم بدون اینکه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تغییر کند.</a:t>
                </a:r>
              </a:p>
              <a:p>
                <a:pPr algn="r" rtl="1"/>
                <a:r>
                  <a:rPr lang="fa-IR" dirty="0"/>
                  <a:t>یک مجموعه از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</a:t>
                </a:r>
                <a:r>
                  <a:rPr lang="en-US" dirty="0"/>
                  <a:t>F </a:t>
                </a:r>
                <a:r>
                  <a:rPr lang="fa-IR" dirty="0"/>
                  <a:t>و وابستگی </a:t>
                </a:r>
                <a:r>
                  <a:rPr lang="fa-IR" dirty="0" err="1"/>
                  <a:t>تابعی</a:t>
                </a:r>
                <a:r>
                  <a:rPr lang="fa-IR" dirty="0"/>
                  <a:t> </a:t>
                </a:r>
                <a:r>
                  <a:rPr lang="el-GR" dirty="0"/>
                  <a:t>α → β </a:t>
                </a:r>
                <a:r>
                  <a:rPr lang="fa-IR" dirty="0"/>
                  <a:t>در </a:t>
                </a:r>
                <a:r>
                  <a:rPr lang="en-US" dirty="0"/>
                  <a:t>F </a:t>
                </a:r>
                <a:r>
                  <a:rPr lang="fa-IR" dirty="0"/>
                  <a:t>را در نظر بگیرید.</a:t>
                </a:r>
              </a:p>
              <a:p>
                <a:pPr algn="r" rtl="1"/>
                <a:r>
                  <a:rPr lang="fa-IR" dirty="0"/>
                  <a:t>حذف از سمت چپ: صفت </a:t>
                </a:r>
                <a:r>
                  <a:rPr lang="en-US" dirty="0"/>
                  <a:t>A </a:t>
                </a:r>
                <a:r>
                  <a:rPr lang="fa-IR" dirty="0"/>
                  <a:t>در </a:t>
                </a:r>
                <a:r>
                  <a:rPr lang="el-GR" dirty="0"/>
                  <a:t>α </a:t>
                </a:r>
                <a:r>
                  <a:rPr lang="fa-IR" dirty="0" err="1"/>
                  <a:t>غیرضروری</a:t>
                </a:r>
                <a:r>
                  <a:rPr lang="fa-IR" dirty="0"/>
                  <a:t> است اگر</a:t>
                </a:r>
                <a:br>
                  <a:rPr lang="fa-IR" dirty="0"/>
                </a:br>
                <a:r>
                  <a:rPr lang="en-US" dirty="0"/>
                  <a:t>A ∈ </a:t>
                </a:r>
                <a:r>
                  <a:rPr lang="el-GR" dirty="0"/>
                  <a:t>α </a:t>
                </a:r>
                <a:r>
                  <a:rPr lang="fa-IR" dirty="0"/>
                  <a:t>و</a:t>
                </a:r>
                <a:br>
                  <a:rPr lang="fa-IR" dirty="0"/>
                </a:br>
                <a:r>
                  <a:rPr lang="en-US" dirty="0"/>
                  <a:t>F </a:t>
                </a:r>
                <a:r>
                  <a:rPr lang="fa-IR" dirty="0" err="1"/>
                  <a:t>به‌طور</a:t>
                </a:r>
                <a:r>
                  <a:rPr lang="fa-IR" dirty="0"/>
                  <a:t> منطقی نتیجه </a:t>
                </a:r>
                <a:r>
                  <a:rPr lang="fa-IR" dirty="0" err="1"/>
                  <a:t>می‌دهد</a:t>
                </a:r>
                <a:r>
                  <a:rPr lang="fa-IR" dirty="0"/>
                  <a:t> که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m:rPr>
                            <m:nor/>
                          </m:rPr>
                          <a:rPr lang="fa-IR" i="1"/>
                          <m:t>–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m:rPr>
                                <m:nor/>
                              </m:rPr>
                              <a:rPr lang="fa-IR" i="1"/>
                              <m:t>–</m:t>
                            </m:r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  <m:r>
                          <a:rPr lang="fa-IR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حذف از سمت راست: صفت </a:t>
                </a:r>
                <a:r>
                  <a:rPr lang="en-US" dirty="0"/>
                  <a:t>A </a:t>
                </a:r>
                <a:r>
                  <a:rPr lang="fa-IR" dirty="0"/>
                  <a:t>در </a:t>
                </a:r>
                <a:r>
                  <a:rPr lang="el-GR" dirty="0"/>
                  <a:t>β </a:t>
                </a:r>
                <a:r>
                  <a:rPr lang="fa-IR" dirty="0" err="1"/>
                  <a:t>غیرضروری</a:t>
                </a:r>
                <a:r>
                  <a:rPr lang="fa-IR" dirty="0"/>
                  <a:t> است اگر</a:t>
                </a:r>
                <a:br>
                  <a:rPr lang="fa-IR" dirty="0"/>
                </a:br>
                <a:r>
                  <a:rPr lang="en-US" dirty="0"/>
                  <a:t>A ∈ </a:t>
                </a:r>
                <a:r>
                  <a:rPr lang="el-GR" dirty="0"/>
                  <a:t>β </a:t>
                </a:r>
                <a:r>
                  <a:rPr lang="fa-IR" dirty="0"/>
                  <a:t>و</a:t>
                </a:r>
                <a:br>
                  <a:rPr lang="fa-IR" dirty="0"/>
                </a:br>
                <a:r>
                  <a:rPr lang="fa-IR" dirty="0"/>
                  <a:t>مجموعه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br>
                  <a:rPr lang="fa-IR" dirty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m:rPr>
                            <m:nor/>
                          </m:rPr>
                          <a:rPr lang="fa-IR" i="1"/>
                          <m:t>–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→</m:t>
                        </m:r>
                        <m:d>
                          <m:d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m:rPr>
                                <m:nor/>
                              </m:rPr>
                              <a:rPr lang="fa-IR" i="1"/>
                              <m:t>–</m:t>
                            </m:r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d>
                  </m:oMath>
                </a14:m>
                <a:r>
                  <a:rPr lang="fa-IR" dirty="0" err="1"/>
                  <a:t>به‌طور</a:t>
                </a:r>
                <a:r>
                  <a:rPr lang="fa-IR" dirty="0"/>
                  <a:t> منطقی </a:t>
                </a:r>
                <a:r>
                  <a:rPr lang="en-US" dirty="0"/>
                  <a:t>F </a:t>
                </a:r>
                <a:r>
                  <a:rPr lang="fa-IR" dirty="0"/>
                  <a:t>را نتیجه دهد.</a:t>
                </a:r>
              </a:p>
              <a:p>
                <a:pPr algn="r" rtl="1"/>
                <a:r>
                  <a:rPr lang="fa-IR" dirty="0"/>
                  <a:t>توجه: </a:t>
                </a:r>
                <a:r>
                  <a:rPr lang="fa-IR" dirty="0" err="1"/>
                  <a:t>نتیجه‌گیری</a:t>
                </a:r>
                <a:r>
                  <a:rPr lang="fa-IR" dirty="0"/>
                  <a:t> در جهت مخالف در هر یک از موارد بالا بدیهی است، زیرا یک وابستگی </a:t>
                </a:r>
                <a:r>
                  <a:rPr lang="fa-IR" dirty="0" err="1"/>
                  <a:t>تابعی</a:t>
                </a:r>
                <a:r>
                  <a:rPr lang="fa-IR" dirty="0"/>
                  <a:t> «</a:t>
                </a:r>
                <a:r>
                  <a:rPr lang="fa-IR" dirty="0" err="1"/>
                  <a:t>قوی‌تر</a:t>
                </a:r>
                <a:r>
                  <a:rPr lang="fa-IR" dirty="0"/>
                  <a:t>» همیشه یک وابستگی </a:t>
                </a:r>
                <a:r>
                  <a:rPr lang="fa-IR" dirty="0" err="1"/>
                  <a:t>ضعیف‌تر</a:t>
                </a:r>
                <a:r>
                  <a:rPr lang="fa-IR" dirty="0"/>
                  <a:t> را نتیجه </a:t>
                </a:r>
                <a:r>
                  <a:rPr lang="fa-IR" dirty="0" err="1"/>
                  <a:t>می‌دهد</a:t>
                </a:r>
                <a:r>
                  <a:rPr lang="fa-IR" dirty="0"/>
                  <a:t>.</a:t>
                </a:r>
              </a:p>
              <a:p>
                <a:pPr algn="r" rtl="1"/>
                <a:endParaRPr lang="en-US" altLang="ja-JP" dirty="0">
                  <a:sym typeface="Greek Symbols"/>
                </a:endParaRPr>
              </a:p>
            </p:txBody>
          </p:sp>
        </mc:Choice>
        <mc:Fallback xmlns="">
          <p:sp>
            <p:nvSpPr>
              <p:cNvPr id="7157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4000" y="1092199"/>
                <a:ext cx="8591550" cy="5648325"/>
              </a:xfrm>
              <a:blipFill>
                <a:blip r:embed="rId3"/>
                <a:stretch>
                  <a:fillRect l="-710" t="-1294" r="-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123950" y="128821"/>
            <a:ext cx="7685088" cy="6096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Testing if an Attribute is Extraneous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29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72357" y="1093789"/>
                <a:ext cx="7493339" cy="3706811"/>
              </a:xfrm>
            </p:spPr>
            <p:txBody>
              <a:bodyPr/>
              <a:lstStyle/>
              <a:p>
                <a:pPr algn="r" rtl="1"/>
                <a:r>
                  <a:rPr lang="fa-IR" sz="2400" dirty="0"/>
                  <a:t>فرض کنید </a:t>
                </a:r>
                <a14:m>
                  <m:oMath xmlns:m="http://schemas.openxmlformats.org/officeDocument/2006/math">
                    <m:r>
                      <a:rPr lang="fa-IR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sz="2400" dirty="0"/>
                  <a:t>یک طرح </a:t>
                </a:r>
                <a:r>
                  <a:rPr lang="fa-IR" sz="2400" dirty="0" err="1"/>
                  <a:t>رابطه‌ای</a:t>
                </a:r>
                <a:r>
                  <a:rPr lang="fa-IR" sz="2400" dirty="0"/>
                  <a:t> باشد و </a:t>
                </a:r>
                <a14:m>
                  <m:oMath xmlns:m="http://schemas.openxmlformats.org/officeDocument/2006/math">
                    <m:r>
                      <a:rPr lang="fa-IR" sz="24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sz="2400" dirty="0" err="1"/>
                  <a:t>مجموعه‌ای</a:t>
                </a:r>
                <a:r>
                  <a:rPr lang="fa-IR" sz="2400" dirty="0"/>
                  <a:t> از </a:t>
                </a:r>
                <a:r>
                  <a:rPr lang="fa-IR" sz="2400" dirty="0" err="1"/>
                  <a:t>وابستگی‌های</a:t>
                </a:r>
                <a:r>
                  <a:rPr lang="fa-IR" sz="2400" dirty="0"/>
                  <a:t> </a:t>
                </a:r>
                <a:r>
                  <a:rPr lang="fa-IR" sz="2400" dirty="0" err="1"/>
                  <a:t>تابعی</a:t>
                </a:r>
                <a:r>
                  <a:rPr lang="fa-IR" sz="2400" dirty="0"/>
                  <a:t> باشد که روی </a:t>
                </a:r>
                <a14:m>
                  <m:oMath xmlns:m="http://schemas.openxmlformats.org/officeDocument/2006/math">
                    <m:r>
                      <a:rPr lang="fa-IR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sz="2400" dirty="0" err="1"/>
                  <a:t>برقرارند</a:t>
                </a:r>
                <a:r>
                  <a:rPr lang="fa-IR" sz="2400" dirty="0"/>
                  <a:t>.</a:t>
                </a:r>
                <a:br>
                  <a:rPr lang="fa-IR" sz="2400" dirty="0"/>
                </a:br>
                <a:r>
                  <a:rPr lang="fa-IR" sz="2400" dirty="0"/>
                  <a:t>یک صفت در وابستگی </a:t>
                </a:r>
                <a:r>
                  <a:rPr lang="fa-IR" sz="2400" dirty="0" err="1"/>
                  <a:t>تابعی</a:t>
                </a:r>
                <a:r>
                  <a:rPr lang="fa-IR" sz="2400" dirty="0"/>
                  <a:t> </a:t>
                </a:r>
                <a:r>
                  <a:rPr lang="el-GR" sz="2400" dirty="0"/>
                  <a:t>α → β </a:t>
                </a:r>
                <a:r>
                  <a:rPr lang="fa-IR" sz="2400" dirty="0"/>
                  <a:t>را در نظر بگیرید.</a:t>
                </a:r>
              </a:p>
              <a:p>
                <a:pPr algn="r" rtl="1"/>
                <a:r>
                  <a:rPr lang="fa-IR" sz="2400" dirty="0"/>
                  <a:t>برای آزمایش اینکه آیا صفت </a:t>
                </a:r>
                <a:r>
                  <a:rPr lang="en-US" sz="2400" dirty="0"/>
                  <a:t>A ∈ </a:t>
                </a:r>
                <a:r>
                  <a:rPr lang="el-GR" sz="2400" dirty="0"/>
                  <a:t>β </a:t>
                </a:r>
                <a:r>
                  <a:rPr lang="fa-IR" sz="2400" dirty="0"/>
                  <a:t>در </a:t>
                </a:r>
                <a:r>
                  <a:rPr lang="el-GR" sz="2400" dirty="0"/>
                  <a:t>β </a:t>
                </a:r>
                <a:r>
                  <a:rPr lang="fa-IR" sz="2400" dirty="0" err="1"/>
                  <a:t>غیرضروری</a:t>
                </a:r>
                <a:r>
                  <a:rPr lang="fa-IR" sz="2400" dirty="0"/>
                  <a:t> است:</a:t>
                </a:r>
                <a:br>
                  <a:rPr lang="fa-IR" sz="2400" dirty="0"/>
                </a:br>
                <a:r>
                  <a:rPr lang="fa-IR" sz="2400" dirty="0"/>
                  <a:t>مجموعه زیر را در نظر بگیرید:</a:t>
                </a:r>
                <a:br>
                  <a:rPr lang="fa-IR" sz="240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fa-I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sz="2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 sz="2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a-IR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a-I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sz="240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m:rPr>
                            <m:nor/>
                          </m:rPr>
                          <a:rPr lang="fa-IR" sz="2400" i="1"/>
                          <m:t>–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fa-I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a-IR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fa-IR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e>
                    </m:d>
                    <m:r>
                      <a:rPr lang="fa-IR" sz="2400"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fa-I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sz="2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a-IR" sz="2400">
                            <a:latin typeface="Cambria Math" panose="02040503050406030204" pitchFamily="18" charset="0"/>
                          </a:rPr>
                          <m:t>→</m:t>
                        </m:r>
                        <m:d>
                          <m:dPr>
                            <m:ctrlPr>
                              <a:rPr lang="fa-I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a-IR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m:rPr>
                                <m:nor/>
                              </m:rPr>
                              <a:rPr lang="fa-IR" sz="2400" i="1"/>
                              <m:t>–</m:t>
                            </m:r>
                            <m:r>
                              <a:rPr lang="fa-IR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d>
                  </m:oMath>
                </a14:m>
                <a:br>
                  <a:rPr lang="fa-IR" sz="2400" dirty="0"/>
                </a:br>
                <a:r>
                  <a:rPr lang="fa-IR" sz="2400" dirty="0"/>
                  <a:t>بررسی کنید که آیا </a:t>
                </a:r>
                <a:r>
                  <a:rPr lang="el-GR" sz="2400" dirty="0"/>
                  <a:t>α⁺ </a:t>
                </a:r>
                <a:r>
                  <a:rPr lang="fa-IR" sz="2400" dirty="0"/>
                  <a:t>شامل </a:t>
                </a:r>
                <a:r>
                  <a:rPr lang="en-US" sz="2400" dirty="0"/>
                  <a:t>A </a:t>
                </a:r>
                <a:r>
                  <a:rPr lang="fa-IR" sz="2400" dirty="0"/>
                  <a:t>است یا خیر؛ اگر شامل باشد، </a:t>
                </a:r>
                <a:r>
                  <a:rPr lang="en-US" sz="2400" dirty="0"/>
                  <a:t>A </a:t>
                </a:r>
                <a:r>
                  <a:rPr lang="fa-IR" sz="2400" dirty="0"/>
                  <a:t>در </a:t>
                </a:r>
                <a:r>
                  <a:rPr lang="el-GR" sz="2400" dirty="0"/>
                  <a:t>β </a:t>
                </a:r>
                <a:r>
                  <a:rPr lang="fa-IR" sz="2400" dirty="0" err="1"/>
                  <a:t>غیرضروری</a:t>
                </a:r>
                <a:r>
                  <a:rPr lang="fa-IR" sz="2400" dirty="0"/>
                  <a:t> است.</a:t>
                </a:r>
              </a:p>
              <a:p>
                <a:pPr algn="r" rtl="1"/>
                <a:r>
                  <a:rPr lang="fa-IR" sz="2400" dirty="0"/>
                  <a:t>برای آزمایش اینکه آیا صفت </a:t>
                </a:r>
                <a:r>
                  <a:rPr lang="en-US" sz="2400" dirty="0"/>
                  <a:t>A ∈ </a:t>
                </a:r>
                <a:r>
                  <a:rPr lang="el-GR" sz="2400" dirty="0"/>
                  <a:t>α </a:t>
                </a:r>
                <a:r>
                  <a:rPr lang="fa-IR" sz="2400" dirty="0"/>
                  <a:t>در </a:t>
                </a:r>
                <a:r>
                  <a:rPr lang="el-GR" sz="2400" dirty="0"/>
                  <a:t>α </a:t>
                </a:r>
                <a:r>
                  <a:rPr lang="fa-IR" sz="2400" dirty="0" err="1"/>
                  <a:t>غیرضروری</a:t>
                </a:r>
                <a:r>
                  <a:rPr lang="fa-IR" sz="2400" dirty="0"/>
                  <a:t> است:</a:t>
                </a:r>
                <a:br>
                  <a:rPr lang="fa-IR" sz="2400" dirty="0"/>
                </a:br>
                <a:r>
                  <a:rPr lang="fa-IR" sz="2400" dirty="0"/>
                  <a:t>بگذارید </a:t>
                </a:r>
                <a:r>
                  <a:rPr lang="el-GR" sz="2400" dirty="0"/>
                  <a:t>γ = α – {</a:t>
                </a:r>
                <a:r>
                  <a:rPr lang="en-US" sz="2400" dirty="0"/>
                  <a:t>A}. </a:t>
                </a:r>
                <a:r>
                  <a:rPr lang="fa-IR" sz="2400" dirty="0"/>
                  <a:t>بررسی کنید که آیا </a:t>
                </a:r>
                <a:r>
                  <a:rPr lang="el-GR" sz="2400" dirty="0"/>
                  <a:t>γ → β </a:t>
                </a:r>
                <a:r>
                  <a:rPr lang="fa-IR" sz="2400" dirty="0"/>
                  <a:t>را </a:t>
                </a:r>
                <a:r>
                  <a:rPr lang="fa-IR" sz="2400" dirty="0" err="1"/>
                  <a:t>می‌توان</a:t>
                </a:r>
                <a:r>
                  <a:rPr lang="fa-IR" sz="2400" dirty="0"/>
                  <a:t> از </a:t>
                </a:r>
                <a:r>
                  <a:rPr lang="en-US" sz="2400" dirty="0"/>
                  <a:t>F </a:t>
                </a:r>
                <a:r>
                  <a:rPr lang="fa-IR" sz="2400" dirty="0"/>
                  <a:t>نتیجه گرفت یا خیر.</a:t>
                </a:r>
                <a:br>
                  <a:rPr lang="fa-IR" sz="2400" dirty="0"/>
                </a:br>
                <a:r>
                  <a:rPr lang="el-GR" sz="2400" dirty="0"/>
                  <a:t>γ⁺ </a:t>
                </a:r>
                <a:r>
                  <a:rPr lang="fa-IR" sz="2400" dirty="0"/>
                  <a:t>را با استفاده از </a:t>
                </a:r>
                <a:r>
                  <a:rPr lang="fa-IR" sz="2400" dirty="0" err="1"/>
                  <a:t>وابستگی‌های</a:t>
                </a:r>
                <a:r>
                  <a:rPr lang="fa-IR" sz="2400" dirty="0"/>
                  <a:t> موجود در </a:t>
                </a:r>
                <a:r>
                  <a:rPr lang="en-US" sz="2400" dirty="0"/>
                  <a:t>F </a:t>
                </a:r>
                <a:r>
                  <a:rPr lang="fa-IR" sz="2400" dirty="0"/>
                  <a:t>محاسبه کنید.</a:t>
                </a:r>
                <a:br>
                  <a:rPr lang="fa-IR" sz="2400" dirty="0"/>
                </a:br>
                <a:r>
                  <a:rPr lang="fa-IR" sz="2400" dirty="0"/>
                  <a:t>اگر </a:t>
                </a:r>
                <a:r>
                  <a:rPr lang="el-GR" sz="2400" dirty="0"/>
                  <a:t>γ⁺ </a:t>
                </a:r>
                <a:r>
                  <a:rPr lang="fa-IR" sz="2400" dirty="0"/>
                  <a:t>شامل تمام </a:t>
                </a:r>
                <a:r>
                  <a:rPr lang="fa-IR" sz="2400" dirty="0" err="1"/>
                  <a:t>صفت‌های</a:t>
                </a:r>
                <a:r>
                  <a:rPr lang="fa-IR" sz="2400" dirty="0"/>
                  <a:t> </a:t>
                </a:r>
                <a:r>
                  <a:rPr lang="el-GR" sz="2400" dirty="0"/>
                  <a:t>β </a:t>
                </a:r>
                <a:r>
                  <a:rPr lang="fa-IR" sz="2400" dirty="0"/>
                  <a:t>باشد، آنگاه </a:t>
                </a:r>
                <a:r>
                  <a:rPr lang="en-US" sz="2400" dirty="0"/>
                  <a:t>A </a:t>
                </a:r>
                <a:r>
                  <a:rPr lang="fa-IR" sz="2400" dirty="0"/>
                  <a:t>در </a:t>
                </a:r>
                <a:r>
                  <a:rPr lang="el-GR" sz="2400" dirty="0"/>
                  <a:t>α </a:t>
                </a:r>
                <a:r>
                  <a:rPr lang="fa-IR" sz="2400" dirty="0" err="1"/>
                  <a:t>غیرضروری</a:t>
                </a:r>
                <a:r>
                  <a:rPr lang="fa-IR" sz="2400" dirty="0"/>
                  <a:t> است.</a:t>
                </a:r>
              </a:p>
              <a:p>
                <a:pPr marL="381000" indent="-381000" algn="r" rtl="1">
                  <a:buFont typeface="Monotype Sorts" pitchFamily="-84" charset="2"/>
                  <a:buNone/>
                </a:pPr>
                <a:endParaRPr lang="en-US" altLang="en-US" sz="2400" dirty="0">
                  <a:sym typeface="Greek Symbols"/>
                </a:endParaRPr>
              </a:p>
            </p:txBody>
          </p:sp>
        </mc:Choice>
        <mc:Fallback xmlns="">
          <p:sp>
            <p:nvSpPr>
              <p:cNvPr id="5529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2357" y="1093789"/>
                <a:ext cx="7493339" cy="3706811"/>
              </a:xfrm>
              <a:blipFill>
                <a:blip r:embed="rId3"/>
                <a:stretch>
                  <a:fillRect l="-488" t="-2463" r="-1383" b="-436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Examples of Extraneous Attributes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577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163639"/>
                <a:ext cx="7709825" cy="2265362"/>
              </a:xfrm>
            </p:spPr>
            <p:txBody>
              <a:bodyPr/>
              <a:lstStyle/>
              <a:p>
                <a:pPr algn="r" rtl="1"/>
                <a:r>
                  <a:rPr lang="fa-IR" sz="2800" dirty="0"/>
                  <a:t>فرض کنید </a:t>
                </a:r>
                <a14:m>
                  <m:oMath xmlns:m="http://schemas.openxmlformats.org/officeDocument/2006/math">
                    <m:r>
                      <a:rPr lang="fa-IR" sz="28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fa-IR" sz="28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mo separator="true">,</m:mo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mo separator="true">,</m:mo>
                      <m:e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𝐶𝐷𝐴</m:t>
                        </m:r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𝐸𝐸</m:t>
                        </m:r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fa-IR" sz="2800" dirty="0"/>
                  <a:t>باشد.</a:t>
                </a:r>
              </a:p>
              <a:p>
                <a:pPr algn="r" rtl="1"/>
                <a:r>
                  <a:rPr lang="fa-IR" sz="2800" dirty="0"/>
                  <a:t>برای بررسی اینکه آیا </a:t>
                </a:r>
                <a:r>
                  <a:rPr lang="en-US" sz="2800" dirty="0"/>
                  <a:t>C </a:t>
                </a:r>
                <a:r>
                  <a:rPr lang="fa-IR" sz="2800" dirty="0"/>
                  <a:t>در </a:t>
                </a:r>
                <a:r>
                  <a:rPr lang="en-US" sz="2800" dirty="0"/>
                  <a:t>AB → CD </a:t>
                </a:r>
                <a:r>
                  <a:rPr lang="fa-IR" sz="2800" dirty="0" err="1"/>
                  <a:t>غیرضروری</a:t>
                </a:r>
                <a:r>
                  <a:rPr lang="fa-IR" sz="2800" dirty="0"/>
                  <a:t> است، ما:</a:t>
                </a:r>
                <a:br>
                  <a:rPr lang="fa-IR" sz="2800" dirty="0"/>
                </a:br>
                <a:r>
                  <a:rPr lang="fa-IR" sz="2800" dirty="0"/>
                  <a:t>مجموعه بسته </a:t>
                </a:r>
                <a:r>
                  <a:rPr lang="fa-IR" sz="2800" dirty="0" err="1"/>
                  <a:t>صفت‌های</a:t>
                </a:r>
                <a:r>
                  <a:rPr lang="fa-IR" sz="2800" dirty="0"/>
                  <a:t> </a:t>
                </a:r>
                <a:r>
                  <a:rPr lang="en-US" sz="2800" dirty="0"/>
                  <a:t>AB </a:t>
                </a:r>
                <a:r>
                  <a:rPr lang="fa-IR" sz="2800" dirty="0"/>
                  <a:t>را تحت</a:t>
                </a:r>
                <a:br>
                  <a:rPr lang="fa-IR" sz="280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 sz="28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a-IR" sz="28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mo separator="true">,</m:mo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mo separator="true">,</m:mo>
                      <m:e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𝐷𝐴</m:t>
                        </m:r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𝐸𝐸</m:t>
                        </m:r>
                        <m:r>
                          <a:rPr lang="fa-IR" sz="280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fa-IR" sz="2800" dirty="0"/>
                  <a:t>محاسبه </a:t>
                </a:r>
                <a:r>
                  <a:rPr lang="fa-IR" sz="2800" dirty="0" err="1"/>
                  <a:t>می‌کنیم</a:t>
                </a:r>
                <a:r>
                  <a:rPr lang="fa-IR" sz="2800" dirty="0"/>
                  <a:t>.</a:t>
                </a:r>
              </a:p>
              <a:p>
                <a:pPr algn="r" rtl="1"/>
                <a:r>
                  <a:rPr lang="fa-IR" sz="2800" dirty="0"/>
                  <a:t>بسته </a:t>
                </a:r>
                <a:r>
                  <a:rPr lang="fa-IR" sz="2800" dirty="0" err="1"/>
                  <a:t>صفت‌ها</a:t>
                </a:r>
                <a:r>
                  <a:rPr lang="fa-IR" sz="2800" dirty="0"/>
                  <a:t> برابر است با </a:t>
                </a:r>
                <a:r>
                  <a:rPr lang="en-US" sz="2800" dirty="0"/>
                  <a:t>ABCDE، </a:t>
                </a:r>
                <a:r>
                  <a:rPr lang="fa-IR" sz="2800" dirty="0"/>
                  <a:t>که شامل </a:t>
                </a:r>
                <a:r>
                  <a:rPr lang="en-US" sz="2800" dirty="0"/>
                  <a:t>CD </a:t>
                </a:r>
                <a:r>
                  <a:rPr lang="fa-IR" sz="2800" dirty="0" err="1"/>
                  <a:t>می‌شود</a:t>
                </a:r>
                <a:r>
                  <a:rPr lang="fa-IR" sz="2800" dirty="0"/>
                  <a:t>.</a:t>
                </a:r>
              </a:p>
              <a:p>
                <a:pPr algn="r" rtl="1"/>
                <a:r>
                  <a:rPr lang="fa-IR" sz="2800" dirty="0"/>
                  <a:t>این نشان </a:t>
                </a:r>
                <a:r>
                  <a:rPr lang="fa-IR" sz="2800" dirty="0" err="1"/>
                  <a:t>می‌دهد</a:t>
                </a:r>
                <a:r>
                  <a:rPr lang="fa-IR" sz="2800" dirty="0"/>
                  <a:t> که </a:t>
                </a:r>
                <a:r>
                  <a:rPr lang="en-US" sz="2800" dirty="0"/>
                  <a:t>C </a:t>
                </a:r>
                <a:r>
                  <a:rPr lang="fa-IR" sz="2800" dirty="0" err="1"/>
                  <a:t>غیرضروری</a:t>
                </a:r>
                <a:r>
                  <a:rPr lang="fa-IR" sz="2800" dirty="0"/>
                  <a:t> است.</a:t>
                </a:r>
              </a:p>
              <a:p>
                <a:pPr lvl="1" algn="r" rtl="1">
                  <a:buFont typeface="Monotype Sorts" pitchFamily="-84" charset="2"/>
                  <a:buNone/>
                </a:pPr>
                <a:endParaRPr lang="en-US" altLang="en-US" sz="2800" i="1" dirty="0">
                  <a:sym typeface="Greek Symbols"/>
                </a:endParaRPr>
              </a:p>
            </p:txBody>
          </p:sp>
        </mc:Choice>
        <mc:Fallback xmlns="">
          <p:sp>
            <p:nvSpPr>
              <p:cNvPr id="7157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163639"/>
                <a:ext cx="7709825" cy="2265362"/>
              </a:xfrm>
              <a:blipFill>
                <a:blip r:embed="rId3"/>
                <a:stretch>
                  <a:fillRect t="-5376" r="-1818" b="-45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5779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Canonical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87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187890" y="1612268"/>
                <a:ext cx="8657660" cy="2505993"/>
              </a:xfrm>
            </p:spPr>
            <p:txBody>
              <a:bodyPr/>
              <a:lstStyle/>
              <a:p>
                <a:pPr algn="r" rtl="1">
                  <a:lnSpc>
                    <a:spcPct val="90000"/>
                  </a:lnSpc>
                </a:pPr>
                <a:r>
                  <a:rPr lang="en-US" sz="2800" dirty="0"/>
                  <a:t>F </a:t>
                </a:r>
                <a:r>
                  <a:rPr lang="fa-IR" sz="2800" dirty="0" err="1"/>
                  <a:t>به‌طور</a:t>
                </a:r>
                <a:r>
                  <a:rPr lang="fa-IR" sz="2800" dirty="0"/>
                  <a:t> منطقی تمام </a:t>
                </a:r>
                <a:r>
                  <a:rPr lang="fa-IR" sz="2800" dirty="0" err="1"/>
                  <a:t>وابستگی‌های</a:t>
                </a:r>
                <a:r>
                  <a:rPr lang="fa-IR" sz="2800" dirty="0"/>
                  <a:t> موجود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800" dirty="0"/>
                  <a:t>را نتیجه </a:t>
                </a:r>
                <a:r>
                  <a:rPr lang="fa-IR" sz="2800" dirty="0" err="1"/>
                  <a:t>می‌دهد</a:t>
                </a:r>
                <a:r>
                  <a:rPr lang="fa-IR" sz="2800" dirty="0"/>
                  <a:t>، و</a:t>
                </a:r>
                <a:br>
                  <a:rPr lang="fa-IR" sz="2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800" dirty="0" err="1"/>
                  <a:t>به‌طور</a:t>
                </a:r>
                <a:r>
                  <a:rPr lang="fa-IR" sz="2800" dirty="0"/>
                  <a:t> منطقی تمام </a:t>
                </a:r>
                <a:r>
                  <a:rPr lang="fa-IR" sz="2800" dirty="0" err="1"/>
                  <a:t>وابستگی‌های</a:t>
                </a:r>
                <a:r>
                  <a:rPr lang="fa-IR" sz="2800" dirty="0"/>
                  <a:t> موجود در </a:t>
                </a:r>
                <a14:m>
                  <m:oMath xmlns:m="http://schemas.openxmlformats.org/officeDocument/2006/math">
                    <m:r>
                      <a:rPr lang="fa-IR" sz="28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sz="2800" dirty="0"/>
                  <a:t>را نتیجه </a:t>
                </a:r>
                <a:r>
                  <a:rPr lang="fa-IR" sz="2800" dirty="0" err="1"/>
                  <a:t>می‌دهد</a:t>
                </a:r>
                <a:r>
                  <a:rPr lang="fa-IR" sz="2800" dirty="0"/>
                  <a:t>، و</a:t>
                </a:r>
                <a:br>
                  <a:rPr lang="fa-IR" sz="2800" dirty="0"/>
                </a:br>
                <a:r>
                  <a:rPr lang="fa-IR" sz="2800" dirty="0"/>
                  <a:t>هیچ وابستگی </a:t>
                </a:r>
                <a:r>
                  <a:rPr lang="fa-IR" sz="2800" dirty="0" err="1"/>
                  <a:t>تابعی</a:t>
                </a:r>
                <a:r>
                  <a:rPr lang="fa-IR" sz="2800" dirty="0"/>
                  <a:t>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800" dirty="0"/>
                  <a:t>شامل صفت </a:t>
                </a:r>
                <a:r>
                  <a:rPr lang="fa-IR" sz="2800" dirty="0" err="1"/>
                  <a:t>غیرضروری</a:t>
                </a:r>
                <a:r>
                  <a:rPr lang="fa-IR" sz="2800" dirty="0"/>
                  <a:t> نیست، و</a:t>
                </a:r>
                <a:br>
                  <a:rPr lang="fa-IR" sz="2800" dirty="0"/>
                </a:br>
                <a:r>
                  <a:rPr lang="fa-IR" sz="2800" dirty="0"/>
                  <a:t>هر سمت چپ وابستگی </a:t>
                </a:r>
                <a:r>
                  <a:rPr lang="fa-IR" sz="2800" dirty="0" err="1"/>
                  <a:t>تابعی</a:t>
                </a:r>
                <a:r>
                  <a:rPr lang="fa-IR" sz="2800" dirty="0"/>
                  <a:t>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800" dirty="0"/>
                  <a:t>یکتا است. یعنی، هیچ دو وابستگی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800" dirty="0"/>
                  <a:t>وجود ندارد</a:t>
                </a:r>
                <a:br>
                  <a:rPr lang="fa-IR" sz="2800" dirty="0"/>
                </a:br>
                <a:r>
                  <a:rPr lang="el-GR" sz="2800" dirty="0"/>
                  <a:t>α₁ → β₁ </a:t>
                </a:r>
                <a:r>
                  <a:rPr lang="fa-IR" sz="2800" dirty="0"/>
                  <a:t>و </a:t>
                </a:r>
                <a:r>
                  <a:rPr lang="el-GR" sz="2800" dirty="0"/>
                  <a:t>α₂ → β₂ </a:t>
                </a:r>
                <a:r>
                  <a:rPr lang="fa-IR" sz="2800" dirty="0" err="1"/>
                  <a:t>به‌گونه‌ای</a:t>
                </a:r>
                <a:r>
                  <a:rPr lang="fa-IR" sz="2800" dirty="0"/>
                  <a:t> که</a:t>
                </a:r>
                <a:br>
                  <a:rPr lang="fa-IR" sz="2800" dirty="0"/>
                </a:br>
                <a:r>
                  <a:rPr lang="el-GR" sz="2800" dirty="0"/>
                  <a:t>α₁ = α₂ </a:t>
                </a:r>
                <a:r>
                  <a:rPr lang="fa-IR" sz="2800" dirty="0"/>
                  <a:t>باشد.</a:t>
                </a:r>
                <a:endParaRPr lang="en-US" altLang="en-US" sz="2800" dirty="0"/>
              </a:p>
            </p:txBody>
          </p:sp>
        </mc:Choice>
        <mc:Fallback xmlns="">
          <p:sp>
            <p:nvSpPr>
              <p:cNvPr id="71987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890" y="1612268"/>
                <a:ext cx="8657660" cy="2505993"/>
              </a:xfrm>
              <a:blipFill>
                <a:blip r:embed="rId3"/>
                <a:stretch>
                  <a:fillRect t="-6068" r="-1549" b="-18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516145" y="1068830"/>
                <a:ext cx="807719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 rtl="1"/>
                <a:r>
                  <a:rPr lang="fa-IR" sz="2400" dirty="0"/>
                  <a:t>یک پوشش کانونی برای </a:t>
                </a:r>
                <a14:m>
                  <m:oMath xmlns:m="http://schemas.openxmlformats.org/officeDocument/2006/math">
                    <m:r>
                      <a:rPr lang="fa-IR" sz="24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sz="2400" dirty="0" err="1"/>
                  <a:t>مجموعه‌ای</a:t>
                </a:r>
                <a:r>
                  <a:rPr lang="fa-IR" sz="2400" dirty="0"/>
                  <a:t> از </a:t>
                </a:r>
                <a:r>
                  <a:rPr lang="fa-IR" sz="2400" dirty="0" err="1"/>
                  <a:t>وابستگی‌ها</a:t>
                </a:r>
                <a:r>
                  <a:rPr lang="fa-IR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sz="2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sz="24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sz="2400" dirty="0"/>
                  <a:t>است </a:t>
                </a:r>
                <a:r>
                  <a:rPr lang="fa-IR" sz="2400" dirty="0" err="1"/>
                  <a:t>به‌گونه‌ای</a:t>
                </a:r>
                <a:r>
                  <a:rPr lang="fa-IR" sz="2400" dirty="0"/>
                  <a:t> که:</a:t>
                </a:r>
                <a:endParaRPr lang="en-US" sz="24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45" y="1068830"/>
                <a:ext cx="8077199" cy="461665"/>
              </a:xfrm>
              <a:prstGeom prst="rect">
                <a:avLst/>
              </a:prstGeom>
              <a:blipFill>
                <a:blip r:embed="rId4"/>
                <a:stretch>
                  <a:fillRect t="-9211" r="-1132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Canonical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87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154098"/>
                <a:ext cx="7603293" cy="4139797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برای محاسبه یک پوشش کانونی برای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:</a:t>
                </a:r>
                <a:br>
                  <a:rPr lang="fa-IR" dirty="0"/>
                </a:br>
                <a:r>
                  <a:rPr lang="fa-IR" dirty="0"/>
                  <a:t>تکرار کن:</a:t>
                </a:r>
              </a:p>
              <a:p>
                <a:pPr algn="r" rtl="1"/>
                <a:r>
                  <a:rPr lang="fa-IR" dirty="0"/>
                  <a:t>از قاعده اجتماع استفاده کن تا هر وابستگی در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به شکل</a:t>
                </a:r>
                <a:br>
                  <a:rPr lang="fa-IR" dirty="0"/>
                </a:br>
                <a:r>
                  <a:rPr lang="el-GR" dirty="0"/>
                  <a:t>α₁ → β₁ </a:t>
                </a:r>
                <a:r>
                  <a:rPr lang="fa-IR" dirty="0"/>
                  <a:t>و </a:t>
                </a:r>
                <a:r>
                  <a:rPr lang="el-GR" dirty="0"/>
                  <a:t>α₁ → β₂ </a:t>
                </a:r>
                <a:r>
                  <a:rPr lang="fa-IR" dirty="0"/>
                  <a:t>را با </a:t>
                </a:r>
                <a:r>
                  <a:rPr lang="el-GR" dirty="0"/>
                  <a:t>α₁ → β₁β₂ </a:t>
                </a:r>
                <a:r>
                  <a:rPr lang="fa-IR" dirty="0"/>
                  <a:t>جایگزین کنی.</a:t>
                </a:r>
              </a:p>
              <a:p>
                <a:pPr algn="r" rtl="1"/>
                <a:r>
                  <a:rPr lang="fa-IR" dirty="0"/>
                  <a:t>یک وابستگی </a:t>
                </a:r>
                <a:r>
                  <a:rPr lang="fa-IR" dirty="0" err="1"/>
                  <a:t>تابعی</a:t>
                </a:r>
                <a:r>
                  <a:rPr lang="fa-IR" dirty="0"/>
                  <a:t> </a:t>
                </a:r>
                <a:r>
                  <a:rPr lang="el-GR" dirty="0"/>
                  <a:t>α → β </a:t>
                </a:r>
                <a:r>
                  <a:rPr lang="fa-IR" dirty="0"/>
                  <a:t>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dirty="0"/>
                  <a:t>پیدا کن که دارای یک صفت </a:t>
                </a:r>
                <a:r>
                  <a:rPr lang="fa-IR" dirty="0" err="1"/>
                  <a:t>غیرضروری</a:t>
                </a:r>
                <a:r>
                  <a:rPr lang="fa-IR" dirty="0"/>
                  <a:t> در </a:t>
                </a:r>
                <a:r>
                  <a:rPr lang="el-GR" dirty="0"/>
                  <a:t>α </a:t>
                </a:r>
                <a:r>
                  <a:rPr lang="fa-IR" dirty="0"/>
                  <a:t>یا </a:t>
                </a:r>
                <a:r>
                  <a:rPr lang="el-GR" dirty="0"/>
                  <a:t>β </a:t>
                </a:r>
                <a:r>
                  <a:rPr lang="fa-IR" dirty="0"/>
                  <a:t>باشد.</a:t>
                </a:r>
                <a:br>
                  <a:rPr lang="fa-IR" dirty="0"/>
                </a:br>
                <a:r>
                  <a:rPr lang="fa-IR" dirty="0"/>
                  <a:t>/* توجه: آزمایش برای صفات </a:t>
                </a:r>
                <a:r>
                  <a:rPr lang="fa-IR" dirty="0" err="1"/>
                  <a:t>غیرضروری</a:t>
                </a:r>
                <a:r>
                  <a:rPr lang="fa-IR" dirty="0"/>
                  <a:t> با استفاده از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dirty="0"/>
                  <a:t>، نه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انجام </a:t>
                </a:r>
                <a:r>
                  <a:rPr lang="fa-IR" dirty="0" err="1"/>
                  <a:t>می‌شود</a:t>
                </a:r>
                <a:r>
                  <a:rPr lang="fa-IR" dirty="0"/>
                  <a:t> */</a:t>
                </a:r>
              </a:p>
              <a:p>
                <a:pPr algn="r" rtl="1"/>
                <a:r>
                  <a:rPr lang="fa-IR" dirty="0"/>
                  <a:t>اگر صفت </a:t>
                </a:r>
                <a:r>
                  <a:rPr lang="fa-IR" dirty="0" err="1"/>
                  <a:t>غیرضروری</a:t>
                </a:r>
                <a:r>
                  <a:rPr lang="fa-IR" dirty="0"/>
                  <a:t> پیدا شد، آن را از </a:t>
                </a:r>
                <a:r>
                  <a:rPr lang="el-GR" dirty="0"/>
                  <a:t>α → β </a:t>
                </a:r>
                <a:r>
                  <a:rPr lang="fa-IR" dirty="0"/>
                  <a:t>حذف کن.</a:t>
                </a:r>
              </a:p>
              <a:p>
                <a:pPr algn="r" rtl="1"/>
                <a:r>
                  <a:rPr lang="fa-IR" dirty="0"/>
                  <a:t>تا زمانی که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fa-IR" dirty="0"/>
                  <a:t>تغییر نکند، ادامه بده.</a:t>
                </a:r>
              </a:p>
              <a:p>
                <a:pPr algn="r" rtl="1"/>
                <a:r>
                  <a:rPr lang="fa-IR" dirty="0"/>
                  <a:t>توجه: پس از حذف برخی از صفات </a:t>
                </a:r>
                <a:r>
                  <a:rPr lang="fa-IR" dirty="0" err="1"/>
                  <a:t>غیرضروری</a:t>
                </a:r>
                <a:r>
                  <a:rPr lang="fa-IR" dirty="0"/>
                  <a:t>، ممکن است قاعده اجتماع دوباره قابل اعمال شود، بنابراین باید دوباره اعمال شود.</a:t>
                </a:r>
              </a:p>
              <a:p>
                <a:pPr algn="r" rtl="1">
                  <a:lnSpc>
                    <a:spcPct val="90000"/>
                  </a:lnSpc>
                </a:pPr>
                <a:endParaRPr lang="en-US" altLang="en-US" dirty="0">
                  <a:sym typeface="Greek Symbols"/>
                </a:endParaRPr>
              </a:p>
            </p:txBody>
          </p:sp>
        </mc:Choice>
        <mc:Fallback xmlns="">
          <p:sp>
            <p:nvSpPr>
              <p:cNvPr id="71987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154098"/>
                <a:ext cx="7603293" cy="4139797"/>
              </a:xfrm>
              <a:blipFill>
                <a:blip r:embed="rId3"/>
                <a:stretch>
                  <a:fillRect l="-160" t="-1620" r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922" name="Rectangle 2"/>
          <p:cNvSpPr>
            <a:spLocks noGrp="1" noChangeArrowheads="1"/>
          </p:cNvSpPr>
          <p:nvPr>
            <p:ph type="title"/>
          </p:nvPr>
        </p:nvSpPr>
        <p:spPr>
          <a:xfrm>
            <a:off x="919163" y="223838"/>
            <a:ext cx="8277225" cy="4572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Example: Computing a Canonical Cover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3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08391" y="681038"/>
                <a:ext cx="7688062" cy="5334896"/>
              </a:xfrm>
            </p:spPr>
            <p:txBody>
              <a:bodyPr/>
              <a:lstStyle/>
              <a:p>
                <a:pPr algn="r" rtl="1"/>
                <a:r>
                  <a:rPr lang="fa-IR" sz="1600" dirty="0"/>
                  <a:t>رابطه:</a:t>
                </a:r>
                <a:br>
                  <a:rPr lang="fa-IR" sz="1600" dirty="0"/>
                </a:br>
                <a14:m>
                  <m:oMath xmlns:m="http://schemas.openxmlformats.org/officeDocument/2006/math">
                    <m:r>
                      <a:rPr lang="fa-IR" sz="1600" i="1"/>
                      <m:t>𝑅</m:t>
                    </m:r>
                    <m:r>
                      <a:rPr lang="fa-IR" sz="1600"/>
                      <m:t>=</m:t>
                    </m:r>
                    <m:d>
                      <m:dPr>
                        <m:sepChr m:val=","/>
                        <m:ctrlPr>
                          <a:rPr lang="fa-IR" sz="1600" i="1"/>
                        </m:ctrlPr>
                      </m:dPr>
                      <m:e>
                        <m:r>
                          <a:rPr lang="fa-IR" sz="1600" i="1"/>
                          <m:t>𝐴</m:t>
                        </m:r>
                      </m:e>
                      <m:mo separator="true">,</m:mo>
                      <m:e>
                        <m:r>
                          <a:rPr lang="fa-IR" sz="1600" i="1"/>
                          <m:t>𝐵</m:t>
                        </m:r>
                      </m:e>
                      <m:mo separator="true">,</m:mo>
                      <m:e>
                        <m:r>
                          <a:rPr lang="fa-IR" sz="1600" i="1"/>
                          <m:t>𝐶</m:t>
                        </m:r>
                      </m:e>
                    </m:d>
                  </m:oMath>
                </a14:m>
                <a:endParaRPr lang="fa-IR" sz="1600" dirty="0"/>
              </a:p>
              <a:p>
                <a:pPr algn="r" rtl="1"/>
                <a:r>
                  <a:rPr lang="fa-IR" sz="1600" dirty="0" err="1"/>
                  <a:t>وابستگی‌ها</a:t>
                </a:r>
                <a:r>
                  <a:rPr lang="fa-IR" sz="1600" dirty="0"/>
                  <a:t>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sz="1600" i="1"/>
                      <m:t>𝐹</m:t>
                    </m:r>
                    <m:r>
                      <a:rPr lang="fa-IR" sz="1600"/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fa-IR" sz="1600" i="1"/>
                        </m:ctrlPr>
                      </m:dPr>
                      <m:e>
                        <m:r>
                          <a:rPr lang="fa-IR" sz="1600" i="1"/>
                          <m:t>𝐴</m:t>
                        </m:r>
                      </m:e>
                      <m:mo separator="true">,</m:mo>
                      <m:e>
                        <m:r>
                          <a:rPr lang="fa-IR" sz="1600"/>
                          <m:t>→</m:t>
                        </m:r>
                      </m:e>
                      <m:mo separator="true">,</m:mo>
                      <m:e>
                        <m:r>
                          <a:rPr lang="fa-IR" sz="1600" i="1"/>
                          <m:t>𝐵</m:t>
                        </m:r>
                      </m:e>
                      <m:mo separator="true">,</m:mo>
                      <m:e>
                        <m:r>
                          <a:rPr lang="fa-IR" sz="1600" i="1"/>
                          <m:t>𝐶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𝐵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𝐶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𝐴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𝐵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𝐴𝐵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𝐶</m:t>
                        </m:r>
                      </m:e>
                    </m:d>
                  </m:oMath>
                </a14:m>
                <a:endParaRPr lang="fa-IR" sz="1600" b="0" dirty="0"/>
              </a:p>
              <a:p>
                <a:pPr algn="r" rtl="1"/>
                <a:r>
                  <a:rPr lang="fa-IR" sz="1600" dirty="0" err="1"/>
                  <a:t>وابستگی‌های</a:t>
                </a:r>
                <a:r>
                  <a:rPr lang="fa-IR" sz="1600" dirty="0"/>
                  <a:t>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𝐵𝐶</m:t>
                    </m:r>
                  </m:oMath>
                </a14:m>
                <a:r>
                  <a:rPr lang="fa-IR" sz="1600" dirty="0"/>
                  <a:t>و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</m:t>
                    </m:r>
                  </m:oMath>
                </a14:m>
                <a:r>
                  <a:rPr lang="fa-IR" sz="1600" dirty="0"/>
                  <a:t>را با هم ترکیب </a:t>
                </a:r>
                <a:r>
                  <a:rPr lang="fa-IR" sz="1600" dirty="0" err="1"/>
                  <a:t>می‌کنیم</a:t>
                </a:r>
                <a:r>
                  <a:rPr lang="fa-IR" sz="1600" dirty="0"/>
                  <a:t> تا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𝐵𝐶</m:t>
                    </m:r>
                  </m:oMath>
                </a14:m>
                <a:r>
                  <a:rPr lang="fa-IR" sz="1600" dirty="0"/>
                  <a:t>حاصل شود.</a:t>
                </a:r>
              </a:p>
              <a:p>
                <a:pPr algn="r" rtl="1"/>
                <a:r>
                  <a:rPr lang="fa-IR" sz="1600" dirty="0"/>
                  <a:t>مجموعه </a:t>
                </a:r>
                <a:r>
                  <a:rPr lang="fa-IR" sz="1600" dirty="0" err="1"/>
                  <a:t>وابستگی‌ها</a:t>
                </a:r>
                <a:r>
                  <a:rPr lang="fa-IR" sz="1600" dirty="0"/>
                  <a:t> اکنون:</a:t>
                </a:r>
              </a:p>
              <a:p>
                <a:pPr algn="r" rtl="1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sepChr m:val=","/>
                        <m:ctrlPr>
                          <a:rPr lang="fa-IR" sz="1600"/>
                        </m:ctrlPr>
                      </m:dPr>
                      <m:e>
                        <m:r>
                          <a:rPr lang="fa-IR" sz="1600" i="1"/>
                          <m:t>𝐴</m:t>
                        </m:r>
                      </m:e>
                      <m:mo separator="true">,</m:mo>
                      <m:e>
                        <m:r>
                          <a:rPr lang="fa-IR" sz="1600"/>
                          <m:t>→</m:t>
                        </m:r>
                      </m:e>
                      <m:mo separator="true">,</m:mo>
                      <m:e>
                        <m:r>
                          <a:rPr lang="fa-IR" sz="1600" i="1"/>
                          <m:t>𝐵𝐶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𝐵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𝐶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𝐴𝐵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𝐶</m:t>
                        </m:r>
                      </m:e>
                    </m:d>
                  </m:oMath>
                </a14:m>
                <a:endParaRPr lang="fa-IR" sz="1600" b="0" dirty="0"/>
              </a:p>
              <a:p>
                <a:pPr algn="r" rtl="1"/>
                <a:r>
                  <a:rPr lang="fa-IR" sz="1600" dirty="0"/>
                  <a:t>در وابستگی </a:t>
                </a:r>
                <a14:m>
                  <m:oMath xmlns:m="http://schemas.openxmlformats.org/officeDocument/2006/math">
                    <m:r>
                      <a:rPr lang="fa-IR" sz="1600" i="1"/>
                      <m:t>𝐴𝐵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r>
                  <a:rPr lang="fa-IR" sz="1600" dirty="0"/>
                  <a:t>، </a:t>
                </a:r>
                <a:r>
                  <a:rPr lang="en-US" sz="1600" b="1" dirty="0"/>
                  <a:t>A </a:t>
                </a:r>
                <a:r>
                  <a:rPr lang="fa-IR" sz="1600" b="1" dirty="0"/>
                  <a:t>اضافی (</a:t>
                </a:r>
                <a:r>
                  <a:rPr lang="en-US" sz="1600" b="1" dirty="0"/>
                  <a:t>extraneous)</a:t>
                </a:r>
                <a:r>
                  <a:rPr lang="en-US" sz="1600" dirty="0"/>
                  <a:t> </a:t>
                </a:r>
                <a:r>
                  <a:rPr lang="fa-IR" sz="1600" dirty="0"/>
                  <a:t>است.</a:t>
                </a:r>
              </a:p>
              <a:p>
                <a:pPr algn="r" rtl="1"/>
                <a:r>
                  <a:rPr lang="fa-IR" sz="1600" dirty="0"/>
                  <a:t>بررسی </a:t>
                </a:r>
                <a:r>
                  <a:rPr lang="fa-IR" sz="1600" dirty="0" err="1"/>
                  <a:t>می‌کنیم</a:t>
                </a:r>
                <a:r>
                  <a:rPr lang="fa-IR" sz="1600" dirty="0"/>
                  <a:t> که آیا حذف </a:t>
                </a:r>
                <a:r>
                  <a:rPr lang="en-US" sz="1600" dirty="0"/>
                  <a:t>A </a:t>
                </a:r>
                <a:r>
                  <a:rPr lang="fa-IR" sz="1600" dirty="0"/>
                  <a:t>از </a:t>
                </a:r>
                <a14:m>
                  <m:oMath xmlns:m="http://schemas.openxmlformats.org/officeDocument/2006/math">
                    <m:r>
                      <a:rPr lang="fa-IR" sz="1600" i="1"/>
                      <m:t>𝐴𝐵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r>
                  <a:rPr lang="fa-IR" sz="1600" dirty="0"/>
                  <a:t>توسط سایر </a:t>
                </a:r>
                <a:r>
                  <a:rPr lang="fa-IR" sz="1600" dirty="0" err="1"/>
                  <a:t>وابستگی‌ها</a:t>
                </a:r>
                <a:r>
                  <a:rPr lang="fa-IR" sz="1600" dirty="0"/>
                  <a:t> </a:t>
                </a:r>
                <a:r>
                  <a:rPr lang="fa-IR" sz="1600" dirty="0" err="1"/>
                  <a:t>نتیجه‌گیری</a:t>
                </a:r>
                <a:r>
                  <a:rPr lang="fa-IR" sz="1600" dirty="0"/>
                  <a:t> </a:t>
                </a:r>
                <a:r>
                  <a:rPr lang="fa-IR" sz="1600" dirty="0" err="1"/>
                  <a:t>می‌شود</a:t>
                </a:r>
                <a:r>
                  <a:rPr lang="fa-IR" sz="1600" dirty="0"/>
                  <a:t> یا نه:</a:t>
                </a:r>
                <a:br>
                  <a:rPr lang="fa-IR" sz="1600" dirty="0"/>
                </a:br>
                <a:r>
                  <a:rPr lang="fa-IR" sz="1600" dirty="0"/>
                  <a:t>بله، در واقع </a:t>
                </a:r>
                <a14:m>
                  <m:oMath xmlns:m="http://schemas.openxmlformats.org/officeDocument/2006/math">
                    <m:r>
                      <a:rPr lang="fa-IR" sz="1600" i="1"/>
                      <m:t>𝐵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r>
                  <a:rPr lang="fa-IR" sz="1600" dirty="0"/>
                  <a:t>از قبل موجود است!</a:t>
                </a:r>
              </a:p>
              <a:p>
                <a:pPr algn="r" rtl="1"/>
                <a:r>
                  <a:rPr lang="fa-IR" sz="1600" dirty="0"/>
                  <a:t>مجموعه اکنون:</a:t>
                </a:r>
              </a:p>
              <a:p>
                <a:pPr algn="r" rtl="1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sepChr m:val=","/>
                        <m:ctrlPr>
                          <a:rPr lang="fa-IR" sz="1600"/>
                        </m:ctrlPr>
                      </m:dPr>
                      <m:e>
                        <m:r>
                          <a:rPr lang="fa-IR" sz="1600" i="1"/>
                          <m:t>𝐴</m:t>
                        </m:r>
                      </m:e>
                      <m:mo separator="true">,</m:mo>
                      <m:e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𝐵𝐶</m:t>
                        </m:r>
                        <m:r>
                          <m:rPr>
                            <m:nor/>
                          </m:rPr>
                          <a:rPr lang="fa-IR" sz="1600" i="1"/>
                          <m:t>  </m:t>
                        </m:r>
                        <m:r>
                          <a:rPr lang="fa-IR" sz="1600" i="1"/>
                          <m:t>𝐵</m:t>
                        </m:r>
                        <m:r>
                          <a:rPr lang="fa-IR" sz="1600"/>
                          <m:t>→</m:t>
                        </m:r>
                        <m:r>
                          <a:rPr lang="fa-IR" sz="1600" i="1"/>
                          <m:t>𝐶</m:t>
                        </m:r>
                      </m:e>
                    </m:d>
                  </m:oMath>
                </a14:m>
                <a:endParaRPr lang="fa-IR" sz="1600" b="0" dirty="0"/>
              </a:p>
              <a:p>
                <a:pPr algn="r" rtl="1"/>
                <a:r>
                  <a:rPr lang="fa-IR" sz="1600" dirty="0"/>
                  <a:t>در وابستگی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𝐵𝐶</m:t>
                    </m:r>
                  </m:oMath>
                </a14:m>
                <a:r>
                  <a:rPr lang="fa-IR" sz="1600" dirty="0"/>
                  <a:t>، </a:t>
                </a:r>
                <a:r>
                  <a:rPr lang="en-US" sz="1600" b="1" dirty="0"/>
                  <a:t>C </a:t>
                </a:r>
                <a:r>
                  <a:rPr lang="fa-IR" sz="1600" b="1" dirty="0"/>
                  <a:t>اضافی</a:t>
                </a:r>
                <a:r>
                  <a:rPr lang="fa-IR" sz="1600" dirty="0"/>
                  <a:t> است.</a:t>
                </a:r>
              </a:p>
              <a:p>
                <a:pPr algn="r" rtl="1"/>
                <a:r>
                  <a:rPr lang="fa-IR" sz="1600" dirty="0"/>
                  <a:t>بررسی </a:t>
                </a:r>
                <a:r>
                  <a:rPr lang="fa-IR" sz="1600" dirty="0" err="1"/>
                  <a:t>می‌کنیم</a:t>
                </a:r>
                <a:r>
                  <a:rPr lang="fa-IR" sz="1600" dirty="0"/>
                  <a:t> که آیا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r>
                  <a:rPr lang="fa-IR" sz="1600" dirty="0" err="1"/>
                  <a:t>به‌طور</a:t>
                </a:r>
                <a:r>
                  <a:rPr lang="fa-IR" sz="1600" dirty="0"/>
                  <a:t> منطقی از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</m:t>
                    </m:r>
                  </m:oMath>
                </a14:m>
                <a:r>
                  <a:rPr lang="fa-IR" sz="1600" dirty="0"/>
                  <a:t>و سایر </a:t>
                </a:r>
                <a:r>
                  <a:rPr lang="fa-IR" sz="1600" dirty="0" err="1"/>
                  <a:t>وابستگی‌ها</a:t>
                </a:r>
                <a:r>
                  <a:rPr lang="fa-IR" sz="1600" dirty="0"/>
                  <a:t> </a:t>
                </a:r>
                <a:r>
                  <a:rPr lang="fa-IR" sz="1600" dirty="0" err="1"/>
                  <a:t>نتیجه‌گیری</a:t>
                </a:r>
                <a:r>
                  <a:rPr lang="fa-IR" sz="1600" dirty="0"/>
                  <a:t> </a:t>
                </a:r>
                <a:r>
                  <a:rPr lang="fa-IR" sz="1600" dirty="0" err="1"/>
                  <a:t>می‌شود</a:t>
                </a:r>
                <a:r>
                  <a:rPr lang="fa-IR" sz="1600" dirty="0"/>
                  <a:t> یا خیر:</a:t>
                </a:r>
                <a:br>
                  <a:rPr lang="fa-IR" sz="1600" dirty="0"/>
                </a:br>
                <a:r>
                  <a:rPr lang="fa-IR" sz="1600" dirty="0"/>
                  <a:t>بله، با استفاده از </a:t>
                </a:r>
                <a:r>
                  <a:rPr lang="fa-IR" sz="1600" b="1" dirty="0"/>
                  <a:t>قانون انتقال (</a:t>
                </a:r>
                <a:r>
                  <a:rPr lang="en-US" sz="1600" b="1" dirty="0"/>
                  <a:t>transitivity)</a:t>
                </a:r>
                <a:r>
                  <a:rPr lang="en-US" sz="1600" dirty="0"/>
                  <a:t> </a:t>
                </a:r>
                <a:r>
                  <a:rPr lang="fa-IR" sz="1600" dirty="0"/>
                  <a:t>روی </a:t>
                </a:r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</m:t>
                    </m:r>
                  </m:oMath>
                </a14:m>
                <a:r>
                  <a:rPr lang="fa-IR" sz="1600" dirty="0"/>
                  <a:t>و </a:t>
                </a:r>
                <a14:m>
                  <m:oMath xmlns:m="http://schemas.openxmlformats.org/officeDocument/2006/math">
                    <m:r>
                      <a:rPr lang="fa-IR" sz="1600" i="1"/>
                      <m:t>𝐵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r>
                  <a:rPr lang="fa-IR" sz="1600" dirty="0"/>
                  <a:t>.</a:t>
                </a:r>
              </a:p>
              <a:p>
                <a:pPr algn="r" rtl="1"/>
                <a:r>
                  <a:rPr lang="fa-IR" sz="1600" dirty="0"/>
                  <a:t>در موارد </a:t>
                </a:r>
                <a:r>
                  <a:rPr lang="fa-IR" sz="1600" dirty="0" err="1"/>
                  <a:t>پیچیده‌تر</a:t>
                </a:r>
                <a:r>
                  <a:rPr lang="fa-IR" sz="1600" dirty="0"/>
                  <a:t> </a:t>
                </a:r>
                <a:r>
                  <a:rPr lang="fa-IR" sz="1600" dirty="0" err="1"/>
                  <a:t>می‌توان</a:t>
                </a:r>
                <a:r>
                  <a:rPr lang="fa-IR" sz="1600" dirty="0"/>
                  <a:t> از </a:t>
                </a:r>
                <a:r>
                  <a:rPr lang="fa-IR" sz="1600" b="1" dirty="0"/>
                  <a:t>بسته </a:t>
                </a:r>
                <a:r>
                  <a:rPr lang="fa-IR" sz="1600" b="1" dirty="0" err="1"/>
                  <a:t>صفت‌ها</a:t>
                </a:r>
                <a:r>
                  <a:rPr lang="fa-IR" sz="1600" b="1" dirty="0"/>
                  <a:t> (</a:t>
                </a:r>
                <a:r>
                  <a:rPr lang="en-US" sz="1600" b="1" dirty="0"/>
                  <a:t>attribute closure)</a:t>
                </a:r>
                <a:r>
                  <a:rPr lang="en-US" sz="1600" dirty="0"/>
                  <a:t> </a:t>
                </a:r>
                <a:r>
                  <a:rPr lang="fa-IR" sz="1600" dirty="0"/>
                  <a:t>برای </a:t>
                </a:r>
                <a:r>
                  <a:rPr lang="en-US" sz="1600" dirty="0"/>
                  <a:t>A </a:t>
                </a:r>
                <a:r>
                  <a:rPr lang="fa-IR" sz="1600" dirty="0"/>
                  <a:t>استفاده کرد.</a:t>
                </a:r>
              </a:p>
              <a:p>
                <a:pPr algn="r" rtl="1"/>
                <a:r>
                  <a:rPr lang="fa-IR" sz="1600" b="1" dirty="0"/>
                  <a:t>پوشش کانونی (</a:t>
                </a:r>
                <a:r>
                  <a:rPr lang="en-US" sz="1600" b="1" dirty="0"/>
                  <a:t>canonical cover)</a:t>
                </a:r>
                <a:r>
                  <a:rPr lang="en-US" sz="1600" dirty="0"/>
                  <a:t> </a:t>
                </a:r>
                <a:r>
                  <a:rPr lang="fa-IR" sz="1600" dirty="0"/>
                  <a:t>به شکل زیر است: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sz="1600" i="1"/>
                      <m:t>𝐴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𝐵</m:t>
                    </m:r>
                    <m:r>
                      <a:rPr lang="fa-IR" sz="1600"/>
                      <m:t>,</m:t>
                    </m:r>
                    <m:r>
                      <m:rPr>
                        <m:nor/>
                      </m:rPr>
                      <a:rPr lang="fa-IR" sz="1600" i="1"/>
                      <m:t>  </m:t>
                    </m:r>
                    <m:r>
                      <a:rPr lang="fa-IR" sz="1600" i="1"/>
                      <m:t>𝐵</m:t>
                    </m:r>
                    <m:r>
                      <a:rPr lang="fa-IR" sz="1600"/>
                      <m:t>→</m:t>
                    </m:r>
                    <m:r>
                      <a:rPr lang="fa-IR" sz="1600" i="1"/>
                      <m:t>𝐶</m:t>
                    </m:r>
                  </m:oMath>
                </a14:m>
                <a:endParaRPr lang="fa-IR" sz="1600" b="0" dirty="0"/>
              </a:p>
              <a:p>
                <a:pPr algn="r" rtl="1">
                  <a:tabLst>
                    <a:tab pos="684213" algn="l"/>
                    <a:tab pos="2917825" algn="l"/>
                  </a:tabLst>
                </a:pPr>
                <a:endParaRPr lang="en-US" altLang="en-US" sz="1600" i="1" dirty="0">
                  <a:sym typeface="Monotype Sorts" pitchFamily="-84" charset="2"/>
                </a:endParaRPr>
              </a:p>
            </p:txBody>
          </p:sp>
        </mc:Choice>
        <mc:Fallback>
          <p:sp>
            <p:nvSpPr>
              <p:cNvPr id="593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8391" y="681038"/>
                <a:ext cx="7688062" cy="5334896"/>
              </a:xfrm>
              <a:blipFill>
                <a:blip r:embed="rId3"/>
                <a:stretch>
                  <a:fillRect t="-1257" r="-555" b="-7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066" name="Rectangle 2"/>
          <p:cNvSpPr>
            <a:spLocks noGrp="1" noChangeArrowheads="1"/>
          </p:cNvSpPr>
          <p:nvPr>
            <p:ph type="title"/>
          </p:nvPr>
        </p:nvSpPr>
        <p:spPr>
          <a:xfrm>
            <a:off x="709613" y="212725"/>
            <a:ext cx="7993062" cy="441325"/>
          </a:xfrm>
        </p:spPr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Dependency Preservation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41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72357" y="1093788"/>
                <a:ext cx="7818190" cy="2696159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فرض کنید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باشد که فقط شامل صفات موجود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هستند.</a:t>
                </a:r>
              </a:p>
              <a:p>
                <a:pPr algn="r" rtl="1"/>
                <a:r>
                  <a:rPr lang="fa-IR" dirty="0"/>
                  <a:t>یک تجزیه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</a:t>
                </a:r>
                <a:r>
                  <a:rPr lang="fa-IR" b="1" dirty="0" err="1"/>
                  <a:t>حفظ‌کننده</a:t>
                </a:r>
                <a:r>
                  <a:rPr lang="fa-IR" b="1" dirty="0"/>
                  <a:t> وابستگی</a:t>
                </a:r>
                <a:r>
                  <a:rPr lang="fa-IR" dirty="0"/>
                  <a:t> است، اگر</a:t>
                </a:r>
                <a:br>
                  <a:rPr lang="fa-IR" dirty="0"/>
                </a:br>
                <a14:m>
                  <m:oMath xmlns:m="http://schemas.openxmlformats.org/officeDocument/2006/math">
                    <m:d>
                      <m:dPr>
                        <m:endChr m:val="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a-IR"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a-IR">
                            <a:latin typeface="Cambria Math" panose="02040503050406030204" pitchFamily="18" charset="0"/>
                          </a:rPr>
                          <m:t>∪…∪</m:t>
                        </m:r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fa-I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a-IR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fa-IR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/>
                  <a:t>با استفاده از تعریف بالا، آزمایش برای حفظ وابستگی </a:t>
                </a:r>
                <a:r>
                  <a:rPr lang="fa-IR" b="1" dirty="0"/>
                  <a:t>زمان نمایی</a:t>
                </a:r>
                <a:r>
                  <a:rPr lang="fa-IR" dirty="0"/>
                  <a:t> </a:t>
                </a:r>
                <a:r>
                  <a:rPr lang="fa-IR" dirty="0" err="1"/>
                  <a:t>می‌برد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توجه داشته باشید که اگر یک تجزیه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</a:t>
                </a:r>
                <a:r>
                  <a:rPr lang="fa-IR" b="1" dirty="0" err="1"/>
                  <a:t>حفظ‌کننده</a:t>
                </a:r>
                <a:r>
                  <a:rPr lang="fa-IR" b="1" dirty="0"/>
                  <a:t> وابستگی نباشد</a:t>
                </a:r>
                <a:r>
                  <a:rPr lang="fa-IR" dirty="0"/>
                  <a:t>، آنگاه بررسی </a:t>
                </a:r>
                <a:r>
                  <a:rPr lang="fa-IR" dirty="0" err="1"/>
                  <a:t>به‌روزرسانی‌ها</a:t>
                </a:r>
                <a:r>
                  <a:rPr lang="fa-IR" dirty="0"/>
                  <a:t> برای نقض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ممکن است نیازمند محاسبه </a:t>
                </a:r>
                <a:r>
                  <a:rPr lang="fa-IR" dirty="0" err="1"/>
                  <a:t>جوین‌ها</a:t>
                </a:r>
                <a:r>
                  <a:rPr lang="fa-IR" dirty="0"/>
                  <a:t> باشد، که </a:t>
                </a:r>
                <a:r>
                  <a:rPr lang="fa-IR" dirty="0" err="1"/>
                  <a:t>هزینه‌بر</a:t>
                </a:r>
                <a:r>
                  <a:rPr lang="fa-IR" dirty="0"/>
                  <a:t> است.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 xmlns="">
          <p:sp>
            <p:nvSpPr>
              <p:cNvPr id="6041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2357" y="1093788"/>
                <a:ext cx="7818190" cy="2696159"/>
              </a:xfrm>
              <a:blipFill>
                <a:blip r:embed="rId3"/>
                <a:stretch>
                  <a:fillRect l="-546" t="-2483" r="-936" b="-3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066" name="Rectangle 2"/>
          <p:cNvSpPr>
            <a:spLocks noGrp="1" noChangeArrowheads="1"/>
          </p:cNvSpPr>
          <p:nvPr>
            <p:ph type="title"/>
          </p:nvPr>
        </p:nvSpPr>
        <p:spPr>
          <a:xfrm>
            <a:off x="709613" y="212725"/>
            <a:ext cx="7993062" cy="441325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Dependency Preservation (Cont.)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4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81235" y="1093788"/>
                <a:ext cx="7688998" cy="3466180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فرض کنید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مجموعه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روی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باشد 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a-IR" dirty="0"/>
                  <a:t>یک تجزیه 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باشد.</a:t>
                </a:r>
              </a:p>
              <a:p>
                <a:pPr algn="r" rtl="1"/>
                <a:r>
                  <a:rPr lang="fa-IR" dirty="0" err="1"/>
                  <a:t>محدودسازی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به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 err="1"/>
                  <a:t>مجموعه‌ای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است از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که فقط شامل صفات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هستند.</a:t>
                </a:r>
              </a:p>
              <a:p>
                <a:pPr algn="r" rtl="1"/>
                <a:r>
                  <a:rPr lang="fa-IR" dirty="0"/>
                  <a:t>از آنجا که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در یک </a:t>
                </a:r>
                <a:r>
                  <a:rPr lang="fa-IR" dirty="0" err="1"/>
                  <a:t>محدودسازی</a:t>
                </a:r>
                <a:r>
                  <a:rPr lang="fa-IR" dirty="0"/>
                  <a:t> فقط شامل صفات یک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هستند، امکان بررسی برآورده شدن چنین </a:t>
                </a:r>
                <a:r>
                  <a:rPr lang="fa-IR" dirty="0" err="1"/>
                  <a:t>وابستگی‌ای</a:t>
                </a:r>
                <a:r>
                  <a:rPr lang="fa-IR" dirty="0"/>
                  <a:t> تنها با بررسی همان رابطه وجود دارد.</a:t>
                </a:r>
              </a:p>
              <a:p>
                <a:pPr algn="r" rtl="1"/>
                <a:r>
                  <a:rPr lang="fa-IR" dirty="0"/>
                  <a:t>توجه داشته باشید که تعریف </a:t>
                </a:r>
                <a:r>
                  <a:rPr lang="fa-IR" dirty="0" err="1"/>
                  <a:t>محدودسازی</a:t>
                </a:r>
                <a:r>
                  <a:rPr lang="fa-IR" dirty="0"/>
                  <a:t> از تمام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استفاده </a:t>
                </a:r>
                <a:r>
                  <a:rPr lang="fa-IR" dirty="0" err="1"/>
                  <a:t>می‌کند</a:t>
                </a:r>
                <a:r>
                  <a:rPr lang="fa-IR" dirty="0"/>
                  <a:t>، نه فقط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موجود در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مجموعه </a:t>
                </a:r>
                <a:r>
                  <a:rPr lang="fa-IR" dirty="0" err="1"/>
                  <a:t>محدودسازی‌ها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است که </a:t>
                </a:r>
                <a:r>
                  <a:rPr lang="fa-IR" dirty="0" err="1"/>
                  <a:t>می‌توان</a:t>
                </a:r>
                <a:r>
                  <a:rPr lang="fa-IR" dirty="0"/>
                  <a:t> </a:t>
                </a:r>
                <a:r>
                  <a:rPr lang="fa-IR" dirty="0" err="1"/>
                  <a:t>آن‌ها</a:t>
                </a:r>
                <a:r>
                  <a:rPr lang="fa-IR" dirty="0"/>
                  <a:t> را </a:t>
                </a:r>
                <a:r>
                  <a:rPr lang="fa-IR" dirty="0" err="1"/>
                  <a:t>به‌طور</a:t>
                </a:r>
                <a:r>
                  <a:rPr lang="fa-IR" dirty="0"/>
                  <a:t> مؤثر بررسی کرد.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 xmlns="">
          <p:sp>
            <p:nvSpPr>
              <p:cNvPr id="6144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1235" y="1093788"/>
                <a:ext cx="7688998" cy="3466180"/>
              </a:xfrm>
              <a:blipFill>
                <a:blip r:embed="rId3"/>
                <a:stretch>
                  <a:fillRect l="-397" t="-1933" r="-952" b="-5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114" name="Rectangle 2"/>
          <p:cNvSpPr>
            <a:spLocks noGrp="1" noChangeArrowheads="1"/>
          </p:cNvSpPr>
          <p:nvPr>
            <p:ph type="title"/>
          </p:nvPr>
        </p:nvSpPr>
        <p:spPr>
          <a:xfrm>
            <a:off x="766763" y="100013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Testing for Dependency Preservation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467" name="Rectangle 3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1404938" y="1100138"/>
                <a:ext cx="7739062" cy="4591050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برای بررسی اینکه آیا یک وابستگی </a:t>
                </a:r>
                <a:r>
                  <a:rPr lang="el-GR" dirty="0"/>
                  <a:t>α → β </a:t>
                </a:r>
                <a:r>
                  <a:rPr lang="fa-IR" dirty="0"/>
                  <a:t>در </a:t>
                </a:r>
                <a:r>
                  <a:rPr lang="fa-IR" dirty="0" err="1"/>
                  <a:t>تجزیه‌ای</a:t>
                </a:r>
                <a:r>
                  <a:rPr lang="fa-IR" dirty="0"/>
                  <a:t> 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به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a-IR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a-IR" dirty="0"/>
                  <a:t>حفظ شده است، از آزمون زیر استفاده </a:t>
                </a:r>
                <a:r>
                  <a:rPr lang="fa-IR" dirty="0" err="1"/>
                  <a:t>می‌کنیم</a:t>
                </a:r>
                <a:r>
                  <a:rPr lang="fa-IR" dirty="0"/>
                  <a:t> (بسته </a:t>
                </a:r>
                <a:r>
                  <a:rPr lang="fa-IR" dirty="0" err="1"/>
                  <a:t>صفت‌ها</a:t>
                </a:r>
                <a:r>
                  <a:rPr lang="fa-IR" dirty="0"/>
                  <a:t> با توجه به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fa-IR" dirty="0"/>
                  <a:t>محاسبه </a:t>
                </a:r>
                <a:r>
                  <a:rPr lang="fa-IR" dirty="0" err="1"/>
                  <a:t>می‌شود</a:t>
                </a:r>
                <a:r>
                  <a:rPr lang="fa-IR" dirty="0"/>
                  <a:t>):</a:t>
                </a:r>
              </a:p>
              <a:p>
                <a:pPr algn="r" rtl="1"/>
                <a:r>
                  <a:rPr lang="en-US" dirty="0"/>
                  <a:t>result = </a:t>
                </a:r>
                <a:r>
                  <a:rPr lang="el-GR" dirty="0"/>
                  <a:t>α  </a:t>
                </a:r>
              </a:p>
              <a:p>
                <a:pPr algn="r" rtl="1"/>
                <a:r>
                  <a:rPr lang="fa-IR" dirty="0"/>
                  <a:t>تکرار کن:  </a:t>
                </a:r>
              </a:p>
              <a:p>
                <a:pPr algn="r" rtl="1"/>
                <a:r>
                  <a:rPr lang="fa-IR" dirty="0"/>
                  <a:t>    برای هر </a:t>
                </a:r>
                <a:r>
                  <a:rPr lang="en-US" dirty="0"/>
                  <a:t>Ri </a:t>
                </a:r>
                <a:r>
                  <a:rPr lang="fa-IR" dirty="0"/>
                  <a:t>در تجزیه:  </a:t>
                </a:r>
              </a:p>
              <a:p>
                <a:pPr algn="r" rtl="1"/>
                <a:r>
                  <a:rPr lang="fa-IR" dirty="0"/>
                  <a:t>        </a:t>
                </a:r>
                <a:r>
                  <a:rPr lang="en-US" dirty="0"/>
                  <a:t>t = (result ∩ Ri)^+ ∩ Ri  </a:t>
                </a:r>
              </a:p>
              <a:p>
                <a:pPr algn="r" rtl="1"/>
                <a:r>
                  <a:rPr lang="en-US" dirty="0"/>
                  <a:t>        result = result ∪ t  </a:t>
                </a:r>
              </a:p>
              <a:p>
                <a:pPr algn="r" rtl="1"/>
                <a:r>
                  <a:rPr lang="fa-IR" dirty="0"/>
                  <a:t>تا زمانی که </a:t>
                </a:r>
                <a:r>
                  <a:rPr lang="en-US" dirty="0"/>
                  <a:t>result </a:t>
                </a:r>
                <a:r>
                  <a:rPr lang="fa-IR" dirty="0"/>
                  <a:t>تغییر نکند  </a:t>
                </a:r>
              </a:p>
              <a:p>
                <a:pPr algn="r" rtl="1"/>
                <a:r>
                  <a:rPr lang="fa-IR" dirty="0"/>
                  <a:t>اگر </a:t>
                </a:r>
                <a:r>
                  <a:rPr lang="en-US" dirty="0"/>
                  <a:t>result </a:t>
                </a:r>
                <a:r>
                  <a:rPr lang="fa-IR" dirty="0"/>
                  <a:t>شامل تمام صفات </a:t>
                </a:r>
                <a:r>
                  <a:rPr lang="el-GR" dirty="0"/>
                  <a:t>β </a:t>
                </a:r>
                <a:r>
                  <a:rPr lang="fa-IR" dirty="0"/>
                  <a:t>باشد، آنگاه وابستگی </a:t>
                </a:r>
                <a:r>
                  <a:rPr lang="fa-IR" dirty="0" err="1"/>
                  <a:t>تابعی</a:t>
                </a:r>
                <a:r>
                  <a:rPr lang="fa-IR" dirty="0"/>
                  <a:t> </a:t>
                </a:r>
                <a:r>
                  <a:rPr lang="el-GR" dirty="0"/>
                  <a:t>α → β </a:t>
                </a:r>
                <a:r>
                  <a:rPr lang="fa-IR" dirty="0"/>
                  <a:t>حفظ شده است.</a:t>
                </a:r>
              </a:p>
              <a:p>
                <a:pPr algn="r" rtl="1"/>
                <a:r>
                  <a:rPr lang="fa-IR" dirty="0"/>
                  <a:t>این آزمون را روی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موجود در </a:t>
                </a:r>
                <a:r>
                  <a:rPr lang="en-US" dirty="0"/>
                  <a:t>F </a:t>
                </a:r>
                <a:r>
                  <a:rPr lang="fa-IR" dirty="0"/>
                  <a:t>اعمال </a:t>
                </a:r>
                <a:r>
                  <a:rPr lang="fa-IR" dirty="0" err="1"/>
                  <a:t>می‌کنیم</a:t>
                </a:r>
                <a:r>
                  <a:rPr lang="fa-IR" dirty="0"/>
                  <a:t> تا بررسی کنیم آیا یک تجزیه </a:t>
                </a:r>
                <a:r>
                  <a:rPr lang="fa-IR" b="1" dirty="0" err="1"/>
                  <a:t>حفظ‌کننده</a:t>
                </a:r>
                <a:r>
                  <a:rPr lang="fa-IR" b="1" dirty="0"/>
                  <a:t> وابستگی</a:t>
                </a:r>
                <a:r>
                  <a:rPr lang="fa-IR" dirty="0"/>
                  <a:t> است یا خیر.</a:t>
                </a:r>
              </a:p>
              <a:p>
                <a:pPr algn="r" rtl="1"/>
                <a:r>
                  <a:rPr lang="fa-IR" dirty="0"/>
                  <a:t>این روش زمان </a:t>
                </a:r>
                <a:r>
                  <a:rPr lang="fa-IR" dirty="0" err="1"/>
                  <a:t>چندجمله‌ای</a:t>
                </a:r>
                <a:r>
                  <a:rPr lang="fa-IR" dirty="0"/>
                  <a:t> </a:t>
                </a:r>
                <a:r>
                  <a:rPr lang="fa-IR" dirty="0" err="1"/>
                  <a:t>می‌برد</a:t>
                </a:r>
                <a:r>
                  <a:rPr lang="fa-IR" dirty="0"/>
                  <a:t>، برخلاف زمان نمایی مورد نیاز برای محاسبه </a:t>
                </a:r>
                <a:r>
                  <a:rPr lang="en-US" dirty="0"/>
                  <a:t>F⁺ </a:t>
                </a:r>
                <a:r>
                  <a:rPr lang="fa-IR" dirty="0"/>
                  <a:t>و </a:t>
                </a:r>
                <a14:m>
                  <m:oMath xmlns:m="http://schemas.openxmlformats.org/officeDocument/2006/math">
                    <m:d>
                      <m:dPr>
                        <m:endChr m:val="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a-IR"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a-IR">
                            <a:latin typeface="Cambria Math" panose="02040503050406030204" pitchFamily="18" charset="0"/>
                          </a:rPr>
                          <m:t>∪…∪</m:t>
                        </m:r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fa-I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a-IR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fa-IR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fa-IR" dirty="0"/>
                  <a:t>.</a:t>
                </a:r>
              </a:p>
              <a:p>
                <a:pPr algn="r" rtl="1">
                  <a:buSzPct val="110000"/>
                  <a:buFont typeface="Wingdings" panose="05000000000000000000" pitchFamily="2" charset="2"/>
                  <a:buChar char="§"/>
                </a:pPr>
                <a:endParaRPr lang="en-US" altLang="en-US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624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1404938" y="1100138"/>
                <a:ext cx="7739062" cy="4591050"/>
              </a:xfrm>
              <a:blipFill>
                <a:blip r:embed="rId3"/>
                <a:stretch>
                  <a:fillRect t="-2255" r="-1102" b="-14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49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139575"/>
                <a:ext cx="7585537" cy="2951162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رابطه:</a:t>
                </a:r>
                <a:br>
                  <a:rPr lang="fa-IR" dirty="0"/>
                </a:br>
                <a14:m>
                  <m:oMath xmlns:m="http://schemas.openxmlformats.org/officeDocument/2006/math">
                    <m:r>
                      <a:rPr lang="fa-IR" i="1"/>
                      <m:t>𝑅</m:t>
                    </m:r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𝐵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 err="1"/>
                  <a:t>وابستگی‌ها</a:t>
                </a:r>
                <a:r>
                  <a:rPr lang="fa-IR" dirty="0"/>
                  <a:t>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/>
                      <m:t>𝐹</m:t>
                    </m:r>
                    <m:r>
                      <a:rPr lang="fa-IR"/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/>
                          <m:t>→</m:t>
                        </m:r>
                        <m:r>
                          <a:rPr lang="fa-IR" i="1"/>
                          <m:t>𝐵</m:t>
                        </m:r>
                        <m:r>
                          <m:rPr>
                            <m:nor/>
                          </m:rPr>
                          <a:rPr lang="fa-IR" i="1"/>
                          <m:t>  </m:t>
                        </m:r>
                        <m:r>
                          <a:rPr lang="fa-IR" i="1"/>
                          <m:t>𝐵</m:t>
                        </m:r>
                        <m:r>
                          <a:rPr lang="fa-IR"/>
                          <m:t>→</m:t>
                        </m:r>
                        <m:r>
                          <a:rPr lang="fa-IR" i="1"/>
                          <m:t>𝐶</m:t>
                        </m:r>
                      </m:e>
                    </m:d>
                  </m:oMath>
                </a14:m>
                <a:endParaRPr lang="fa-IR" b="0" dirty="0"/>
              </a:p>
              <a:p>
                <a:pPr algn="r" rtl="1"/>
                <a:r>
                  <a:rPr lang="fa-IR" dirty="0"/>
                  <a:t>کلید:</a:t>
                </a:r>
                <a:br>
                  <a:rPr lang="fa-IR" dirty="0"/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a-IR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/>
                  <a:t>رابطه </a:t>
                </a:r>
                <a14:m>
                  <m:oMath xmlns:m="http://schemas.openxmlformats.org/officeDocument/2006/math">
                    <m:r>
                      <a:rPr lang="fa-IR" i="1"/>
                      <m:t>𝑅</m:t>
                    </m:r>
                  </m:oMath>
                </a14:m>
                <a:r>
                  <a:rPr lang="fa-IR" dirty="0"/>
                  <a:t>در </a:t>
                </a:r>
                <a:r>
                  <a:rPr lang="en-US" b="1" dirty="0"/>
                  <a:t>BCNF</a:t>
                </a:r>
                <a:r>
                  <a:rPr lang="en-US" dirty="0"/>
                  <a:t> </a:t>
                </a:r>
                <a:r>
                  <a:rPr lang="fa-IR" dirty="0"/>
                  <a:t>نیست.</a:t>
                </a:r>
              </a:p>
              <a:p>
                <a:pPr algn="r" rtl="1"/>
                <a:r>
                  <a:rPr lang="fa-IR" b="1" dirty="0"/>
                  <a:t>تجزیه:</a:t>
                </a:r>
                <a:br>
                  <a:rPr lang="fa-I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1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𝐵</m:t>
                        </m:r>
                      </m:e>
                    </m:d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2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𝐵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/>
                  <a:t>هر دو رابطه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1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2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en-US" b="1" dirty="0"/>
                  <a:t>BCNF</a:t>
                </a:r>
                <a:r>
                  <a:rPr lang="en-US" dirty="0"/>
                  <a:t> </a:t>
                </a:r>
                <a:r>
                  <a:rPr lang="fa-IR" dirty="0"/>
                  <a:t>هستند.</a:t>
                </a:r>
              </a:p>
              <a:p>
                <a:pPr algn="r" rtl="1"/>
                <a:r>
                  <a:rPr lang="fa-IR" dirty="0"/>
                  <a:t>این یک </a:t>
                </a:r>
                <a:r>
                  <a:rPr lang="fa-IR" b="1" dirty="0"/>
                  <a:t>تجزیه بدون از دست دادن اطلاعات (</a:t>
                </a:r>
                <a:r>
                  <a:rPr lang="en-US" b="1" dirty="0"/>
                  <a:t>lossless-join)</a:t>
                </a:r>
                <a:r>
                  <a:rPr lang="en-US" dirty="0"/>
                  <a:t> </a:t>
                </a:r>
                <a:r>
                  <a:rPr lang="fa-IR" dirty="0"/>
                  <a:t>است و همچنین </a:t>
                </a:r>
                <a:r>
                  <a:rPr lang="fa-IR" b="1" dirty="0" err="1"/>
                  <a:t>وابستگی‌ها</a:t>
                </a:r>
                <a:r>
                  <a:rPr lang="fa-IR" b="1" dirty="0"/>
                  <a:t> حفظ </a:t>
                </a:r>
                <a:r>
                  <a:rPr lang="fa-IR" b="1" dirty="0" err="1"/>
                  <a:t>می‌شوند</a:t>
                </a:r>
                <a:r>
                  <a:rPr lang="fa-IR" b="1" dirty="0"/>
                  <a:t> (</a:t>
                </a:r>
                <a:r>
                  <a:rPr lang="en-US" b="1" dirty="0"/>
                  <a:t>dependency preserving)</a:t>
                </a:r>
                <a:r>
                  <a:rPr lang="en-US" dirty="0"/>
                  <a:t>.</a:t>
                </a:r>
              </a:p>
              <a:p>
                <a:pPr algn="r" rtl="1">
                  <a:tabLst>
                    <a:tab pos="744538" algn="l"/>
                  </a:tabLst>
                </a:pPr>
                <a:endParaRPr lang="en-US" altLang="en-US" dirty="0">
                  <a:sym typeface="Monotype Sorts" pitchFamily="-84" charset="2"/>
                </a:endParaRPr>
              </a:p>
            </p:txBody>
          </p:sp>
        </mc:Choice>
        <mc:Fallback>
          <p:sp>
            <p:nvSpPr>
              <p:cNvPr id="634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139575"/>
                <a:ext cx="7585537" cy="2951162"/>
              </a:xfrm>
              <a:blipFill>
                <a:blip r:embed="rId3"/>
                <a:stretch>
                  <a:fillRect t="-2893" r="-965" b="-56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1091953" y="2255838"/>
            <a:ext cx="7378947" cy="1638300"/>
          </a:xfrm>
        </p:spPr>
        <p:txBody>
          <a:bodyPr/>
          <a:lstStyle/>
          <a:p>
            <a:pPr algn="ctr">
              <a:buFont typeface="Monotype Sorts" charset="2"/>
              <a:buNone/>
              <a:defRPr/>
            </a:pPr>
            <a:r>
              <a:rPr lang="fa-IR" sz="3200" dirty="0" err="1"/>
              <a:t>الگوریتم</a:t>
            </a:r>
            <a:r>
              <a:rPr lang="fa-IR" sz="3200" dirty="0"/>
              <a:t> تجزیه با استفاده از </a:t>
            </a:r>
            <a:r>
              <a:rPr lang="fa-IR" sz="3200" dirty="0" err="1"/>
              <a:t>وابستگی‌های</a:t>
            </a:r>
            <a:r>
              <a:rPr lang="fa-IR" sz="3200" dirty="0"/>
              <a:t> </a:t>
            </a:r>
            <a:r>
              <a:rPr lang="fa-IR" sz="3200" dirty="0" err="1"/>
              <a:t>تابعی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</p:cSld>
  <p:clrMapOvr>
    <a:masterClrMapping/>
  </p:clrMapOvr>
  <p:transition spd="slow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Testing for BCNF</a:t>
            </a:r>
          </a:p>
        </p:txBody>
      </p:sp>
      <p:sp>
        <p:nvSpPr>
          <p:cNvPr id="734211" name="Rectangle 3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9029700" cy="4871453"/>
          </a:xfrm>
        </p:spPr>
        <p:txBody>
          <a:bodyPr/>
          <a:lstStyle/>
          <a:p>
            <a:pPr algn="r" rtl="1"/>
            <a:r>
              <a:rPr lang="fa-IR" sz="1800" dirty="0"/>
              <a:t>برای بررسی اینکه آیا یک وابستگی </a:t>
            </a:r>
            <a:r>
              <a:rPr lang="fa-IR" sz="1800" dirty="0" err="1"/>
              <a:t>غیرتبیینی</a:t>
            </a:r>
            <a:r>
              <a:rPr lang="fa-IR" sz="1800" dirty="0"/>
              <a:t> </a:t>
            </a:r>
            <a:r>
              <a:rPr lang="el-GR" sz="1800" dirty="0"/>
              <a:t>α → β </a:t>
            </a:r>
            <a:r>
              <a:rPr lang="fa-IR" sz="1800" dirty="0"/>
              <a:t>باعث نقض </a:t>
            </a:r>
            <a:r>
              <a:rPr lang="en-US" sz="1800" dirty="0"/>
              <a:t>BCNF </a:t>
            </a:r>
            <a:r>
              <a:rPr lang="fa-IR" sz="1800" dirty="0" err="1"/>
              <a:t>می‌شود</a:t>
            </a:r>
            <a:r>
              <a:rPr lang="fa-IR" sz="1800" dirty="0"/>
              <a:t>:</a:t>
            </a:r>
          </a:p>
          <a:p>
            <a:pPr algn="r" rtl="1"/>
            <a:r>
              <a:rPr lang="fa-IR" sz="1800" dirty="0"/>
              <a:t>بسته </a:t>
            </a:r>
            <a:r>
              <a:rPr lang="fa-IR" sz="1800" dirty="0" err="1"/>
              <a:t>صفت‌های</a:t>
            </a:r>
            <a:r>
              <a:rPr lang="fa-IR" sz="1800" dirty="0"/>
              <a:t> </a:t>
            </a:r>
            <a:r>
              <a:rPr lang="el-GR" sz="1800" dirty="0"/>
              <a:t>α، </a:t>
            </a:r>
            <a:r>
              <a:rPr lang="fa-IR" sz="1800" dirty="0"/>
              <a:t>یعنی </a:t>
            </a:r>
            <a:r>
              <a:rPr lang="el-GR" sz="1800" dirty="0"/>
              <a:t>α⁺، </a:t>
            </a:r>
            <a:r>
              <a:rPr lang="fa-IR" sz="1800" dirty="0"/>
              <a:t>را محاسبه کنید، و</a:t>
            </a:r>
          </a:p>
          <a:p>
            <a:pPr algn="r" rtl="1"/>
            <a:r>
              <a:rPr lang="fa-IR" sz="1800" dirty="0"/>
              <a:t>بررسی کنید که آیا شامل تمام صفات </a:t>
            </a:r>
            <a:r>
              <a:rPr lang="en-US" sz="1800" dirty="0"/>
              <a:t>R </a:t>
            </a:r>
            <a:r>
              <a:rPr lang="fa-IR" sz="1800" dirty="0"/>
              <a:t>است یا خیر، یعنی آیا </a:t>
            </a:r>
            <a:r>
              <a:rPr lang="el-GR" sz="1800" dirty="0"/>
              <a:t>α </a:t>
            </a:r>
            <a:r>
              <a:rPr lang="fa-IR" sz="1800" dirty="0"/>
              <a:t>یک </a:t>
            </a:r>
            <a:r>
              <a:rPr lang="fa-IR" sz="1800" b="1" dirty="0" err="1"/>
              <a:t>ابرکلید</a:t>
            </a:r>
            <a:r>
              <a:rPr lang="fa-IR" sz="1800" dirty="0"/>
              <a:t> برای </a:t>
            </a:r>
            <a:r>
              <a:rPr lang="en-US" sz="1800" dirty="0"/>
              <a:t>R </a:t>
            </a:r>
            <a:r>
              <a:rPr lang="fa-IR" sz="1800" dirty="0"/>
              <a:t>است.</a:t>
            </a:r>
          </a:p>
          <a:p>
            <a:pPr algn="r" rtl="1"/>
            <a:r>
              <a:rPr lang="fa-IR" sz="1800" b="1" dirty="0"/>
              <a:t>آزمون </a:t>
            </a:r>
            <a:r>
              <a:rPr lang="fa-IR" sz="1800" b="1" dirty="0" err="1"/>
              <a:t>ساده‌شده</a:t>
            </a:r>
            <a:r>
              <a:rPr lang="fa-IR" sz="1800" b="1" dirty="0"/>
              <a:t>:</a:t>
            </a:r>
            <a:r>
              <a:rPr lang="fa-IR" sz="1800" dirty="0"/>
              <a:t> برای بررسی اینکه آیا یک طرح </a:t>
            </a:r>
            <a:r>
              <a:rPr lang="fa-IR" sz="1800" dirty="0" err="1"/>
              <a:t>رابطه‌ای</a:t>
            </a:r>
            <a:r>
              <a:rPr lang="fa-IR" sz="1800" dirty="0"/>
              <a:t> </a:t>
            </a:r>
            <a:r>
              <a:rPr lang="en-US" sz="1800" dirty="0"/>
              <a:t>R </a:t>
            </a:r>
            <a:r>
              <a:rPr lang="fa-IR" sz="1800" dirty="0"/>
              <a:t>در </a:t>
            </a:r>
            <a:r>
              <a:rPr lang="en-US" sz="1800" dirty="0"/>
              <a:t>BCNF </a:t>
            </a:r>
            <a:r>
              <a:rPr lang="fa-IR" sz="1800" dirty="0"/>
              <a:t>است، کافی است فقط </a:t>
            </a:r>
            <a:r>
              <a:rPr lang="fa-IR" sz="1800" dirty="0" err="1"/>
              <a:t>وابستگی‌های</a:t>
            </a:r>
            <a:r>
              <a:rPr lang="fa-IR" sz="1800" dirty="0"/>
              <a:t> موجود در مجموعه </a:t>
            </a:r>
            <a:r>
              <a:rPr lang="fa-IR" sz="1800" dirty="0" err="1"/>
              <a:t>داده‌شده</a:t>
            </a:r>
            <a:r>
              <a:rPr lang="fa-IR" sz="1800" dirty="0"/>
              <a:t> </a:t>
            </a:r>
            <a:r>
              <a:rPr lang="en-US" sz="1800" dirty="0"/>
              <a:t>F </a:t>
            </a:r>
            <a:r>
              <a:rPr lang="fa-IR" sz="1800" dirty="0"/>
              <a:t>را برای نقض </a:t>
            </a:r>
            <a:r>
              <a:rPr lang="en-US" sz="1800" dirty="0"/>
              <a:t>BCNF </a:t>
            </a:r>
            <a:r>
              <a:rPr lang="fa-IR" sz="1800" dirty="0"/>
              <a:t>بررسی کنیم، به جای اینکه تمام </a:t>
            </a:r>
            <a:r>
              <a:rPr lang="fa-IR" sz="1800" dirty="0" err="1"/>
              <a:t>وابستگی‌ها</a:t>
            </a:r>
            <a:r>
              <a:rPr lang="fa-IR" sz="1800" dirty="0"/>
              <a:t> در </a:t>
            </a:r>
            <a:r>
              <a:rPr lang="en-US" sz="1800" dirty="0"/>
              <a:t>F⁺ </a:t>
            </a:r>
            <a:r>
              <a:rPr lang="fa-IR" sz="1800" dirty="0"/>
              <a:t>را بررسی کنیم.</a:t>
            </a:r>
          </a:p>
          <a:p>
            <a:pPr algn="r" rtl="1"/>
            <a:r>
              <a:rPr lang="fa-IR" sz="1800" dirty="0"/>
              <a:t>اگر هیچ یک از </a:t>
            </a:r>
            <a:r>
              <a:rPr lang="fa-IR" sz="1800" dirty="0" err="1"/>
              <a:t>وابستگی‌های</a:t>
            </a:r>
            <a:r>
              <a:rPr lang="fa-IR" sz="1800" dirty="0"/>
              <a:t> موجود در </a:t>
            </a:r>
            <a:r>
              <a:rPr lang="en-US" sz="1800" dirty="0"/>
              <a:t>F </a:t>
            </a:r>
            <a:r>
              <a:rPr lang="fa-IR" sz="1800" dirty="0"/>
              <a:t>باعث نقض </a:t>
            </a:r>
            <a:r>
              <a:rPr lang="en-US" sz="1800" dirty="0"/>
              <a:t>BCNF </a:t>
            </a:r>
            <a:r>
              <a:rPr lang="fa-IR" sz="1800" dirty="0"/>
              <a:t>نشود، آنگاه هیچ یک از </a:t>
            </a:r>
            <a:r>
              <a:rPr lang="fa-IR" sz="1800" dirty="0" err="1"/>
              <a:t>وابستگی‌های</a:t>
            </a:r>
            <a:r>
              <a:rPr lang="fa-IR" sz="1800" dirty="0"/>
              <a:t> موجود در </a:t>
            </a:r>
            <a:r>
              <a:rPr lang="en-US" sz="1800" dirty="0"/>
              <a:t>F⁺ </a:t>
            </a:r>
            <a:r>
              <a:rPr lang="fa-IR" sz="1800" dirty="0"/>
              <a:t>نیز باعث نقض </a:t>
            </a:r>
            <a:r>
              <a:rPr lang="en-US" sz="1800" dirty="0"/>
              <a:t>BCNF </a:t>
            </a:r>
            <a:r>
              <a:rPr lang="fa-IR" sz="1800" dirty="0"/>
              <a:t>نخواهند شد.</a:t>
            </a:r>
          </a:p>
          <a:p>
            <a:pPr algn="r" rtl="1"/>
            <a:r>
              <a:rPr lang="fa-IR" sz="1800" dirty="0"/>
              <a:t>با این حال، آزمون </a:t>
            </a:r>
            <a:r>
              <a:rPr lang="fa-IR" sz="1800" dirty="0" err="1"/>
              <a:t>ساده‌شده</a:t>
            </a:r>
            <a:r>
              <a:rPr lang="fa-IR" sz="1800" dirty="0"/>
              <a:t> با استفاده از </a:t>
            </a:r>
            <a:r>
              <a:rPr lang="en-US" sz="1800" dirty="0"/>
              <a:t>F </a:t>
            </a:r>
            <a:r>
              <a:rPr lang="fa-IR" sz="1800" dirty="0"/>
              <a:t>تنها، هنگام بررسی یک رابطه در </a:t>
            </a:r>
            <a:r>
              <a:rPr lang="fa-IR" sz="1800" b="1" dirty="0"/>
              <a:t>تجزیه </a:t>
            </a:r>
            <a:r>
              <a:rPr lang="en-US" sz="1800" b="1" dirty="0"/>
              <a:t>R</a:t>
            </a:r>
            <a:r>
              <a:rPr lang="en-US" sz="1800" dirty="0"/>
              <a:t> </a:t>
            </a:r>
            <a:r>
              <a:rPr lang="fa-IR" sz="1800" dirty="0"/>
              <a:t>درست نیست.</a:t>
            </a:r>
          </a:p>
          <a:p>
            <a:pPr algn="r" rtl="1"/>
            <a:r>
              <a:rPr lang="fa-IR" sz="1800" dirty="0"/>
              <a:t>مثال: فرض کنید</a:t>
            </a:r>
            <a:br>
              <a:rPr lang="fa-IR" sz="1800" dirty="0"/>
            </a:br>
            <a:r>
              <a:rPr lang="en-US" sz="1800" dirty="0"/>
              <a:t>R = (A, B, C, D, E)</a:t>
            </a:r>
            <a:br>
              <a:rPr lang="en-US" sz="1800" dirty="0"/>
            </a:br>
            <a:r>
              <a:rPr lang="en-US" sz="1800" dirty="0"/>
              <a:t>F = { A → B, BC → D }</a:t>
            </a:r>
          </a:p>
          <a:p>
            <a:pPr algn="r" rtl="1"/>
            <a:r>
              <a:rPr lang="en-US" sz="1800" dirty="0"/>
              <a:t>R </a:t>
            </a:r>
            <a:r>
              <a:rPr lang="fa-IR" sz="1800" dirty="0"/>
              <a:t>را به دو رابطه تجزیه </a:t>
            </a:r>
            <a:r>
              <a:rPr lang="fa-IR" sz="1800" dirty="0" err="1"/>
              <a:t>می‌کنیم</a:t>
            </a:r>
            <a:r>
              <a:rPr lang="fa-IR" sz="1800" dirty="0"/>
              <a:t>:</a:t>
            </a:r>
            <a:br>
              <a:rPr lang="fa-IR" sz="1800" dirty="0"/>
            </a:br>
            <a:r>
              <a:rPr lang="en-US" sz="1800" dirty="0"/>
              <a:t>R₁ = (A, B)</a:t>
            </a:r>
            <a:br>
              <a:rPr lang="en-US" sz="1800" dirty="0"/>
            </a:br>
            <a:r>
              <a:rPr lang="en-US" sz="1800" dirty="0"/>
              <a:t>R₂ = (A, C, D, E)</a:t>
            </a:r>
          </a:p>
          <a:p>
            <a:pPr algn="r" rtl="1"/>
            <a:r>
              <a:rPr lang="fa-IR" sz="1800" dirty="0"/>
              <a:t>هیچ یک از </a:t>
            </a:r>
            <a:r>
              <a:rPr lang="fa-IR" sz="1800" dirty="0" err="1"/>
              <a:t>وابستگی‌های</a:t>
            </a:r>
            <a:r>
              <a:rPr lang="fa-IR" sz="1800" dirty="0"/>
              <a:t> موجود در </a:t>
            </a:r>
            <a:r>
              <a:rPr lang="en-US" sz="1800" dirty="0"/>
              <a:t>F </a:t>
            </a:r>
            <a:r>
              <a:rPr lang="fa-IR" sz="1800" dirty="0"/>
              <a:t>فقط شامل صفات </a:t>
            </a:r>
            <a:r>
              <a:rPr lang="en-US" sz="1800" dirty="0"/>
              <a:t>R₂ = (A, C, D, E) </a:t>
            </a:r>
            <a:r>
              <a:rPr lang="fa-IR" sz="1800" dirty="0"/>
              <a:t>نیستند، بنابراین ممکن است به اشتباه فکر کنیم </a:t>
            </a:r>
            <a:r>
              <a:rPr lang="en-US" sz="1800" dirty="0"/>
              <a:t>R₂ </a:t>
            </a:r>
            <a:r>
              <a:rPr lang="fa-IR" sz="1800" dirty="0"/>
              <a:t>در </a:t>
            </a:r>
            <a:r>
              <a:rPr lang="en-US" sz="1800" dirty="0"/>
              <a:t>BCNF </a:t>
            </a:r>
            <a:r>
              <a:rPr lang="fa-IR" sz="1800" dirty="0"/>
              <a:t>است.</a:t>
            </a:r>
          </a:p>
          <a:p>
            <a:pPr algn="r" rtl="1"/>
            <a:r>
              <a:rPr lang="fa-IR" sz="1800" dirty="0"/>
              <a:t>در واقع، وابستگی </a:t>
            </a:r>
            <a:r>
              <a:rPr lang="en-US" sz="1800" dirty="0"/>
              <a:t>AC → D </a:t>
            </a:r>
            <a:r>
              <a:rPr lang="fa-IR" sz="1800" dirty="0"/>
              <a:t>در </a:t>
            </a:r>
            <a:r>
              <a:rPr lang="en-US" sz="1800" dirty="0"/>
              <a:t>F⁺ </a:t>
            </a:r>
            <a:r>
              <a:rPr lang="fa-IR" sz="1800" dirty="0"/>
              <a:t>نشان </a:t>
            </a:r>
            <a:r>
              <a:rPr lang="fa-IR" sz="1800" dirty="0" err="1"/>
              <a:t>می‌دهد</a:t>
            </a:r>
            <a:r>
              <a:rPr lang="fa-IR" sz="1800" dirty="0"/>
              <a:t> که </a:t>
            </a:r>
            <a:r>
              <a:rPr lang="en-US" sz="1800" dirty="0"/>
              <a:t>R₂ </a:t>
            </a:r>
            <a:r>
              <a:rPr lang="fa-IR" sz="1800" dirty="0"/>
              <a:t>در </a:t>
            </a:r>
            <a:r>
              <a:rPr lang="en-US" sz="1800" b="1" dirty="0"/>
              <a:t>BCNF </a:t>
            </a:r>
            <a:r>
              <a:rPr lang="fa-IR" sz="1800" b="1" dirty="0"/>
              <a:t>نیست</a:t>
            </a:r>
            <a:r>
              <a:rPr lang="fa-IR" sz="1800" dirty="0"/>
              <a:t>.</a:t>
            </a:r>
          </a:p>
          <a:p>
            <a:pPr algn="r" rtl="1">
              <a:lnSpc>
                <a:spcPct val="90000"/>
              </a:lnSpc>
            </a:pPr>
            <a:endParaRPr lang="en-US" alt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Testing Decomposition for BCNF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56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1029811" y="1636297"/>
                <a:ext cx="7306322" cy="3585408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یا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را با توجه به </a:t>
                </a:r>
                <a:r>
                  <a:rPr lang="fa-IR" b="1" dirty="0" err="1"/>
                  <a:t>محدودسازی</a:t>
                </a:r>
                <a:r>
                  <a:rPr lang="fa-IR" b="1" dirty="0"/>
                  <a:t> </a:t>
                </a:r>
                <a:r>
                  <a:rPr lang="en-US" b="1" dirty="0"/>
                  <a:t>F⁺ </a:t>
                </a:r>
                <a:r>
                  <a:rPr lang="fa-IR" b="1" dirty="0"/>
                  <a:t>به </a:t>
                </a:r>
                <a:r>
                  <a:rPr lang="en-US" b="1" dirty="0" err="1"/>
                  <a:t>R_i</a:t>
                </a:r>
                <a:r>
                  <a:rPr lang="en-US" dirty="0"/>
                  <a:t> </a:t>
                </a:r>
                <a:r>
                  <a:rPr lang="fa-IR" dirty="0"/>
                  <a:t>بررسی کنید (یعنی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در </a:t>
                </a:r>
                <a:r>
                  <a:rPr lang="en-US" dirty="0"/>
                  <a:t>F⁺ </a:t>
                </a:r>
                <a:r>
                  <a:rPr lang="fa-IR" dirty="0"/>
                  <a:t>که فقط شامل صفات موجود در </a:t>
                </a:r>
                <a:r>
                  <a:rPr lang="en-US" dirty="0" err="1"/>
                  <a:t>R_i</a:t>
                </a:r>
                <a:r>
                  <a:rPr lang="en-US" dirty="0"/>
                  <a:t> </a:t>
                </a:r>
                <a:r>
                  <a:rPr lang="fa-IR" dirty="0"/>
                  <a:t>هستند)،</a:t>
                </a:r>
                <a:br>
                  <a:rPr lang="fa-IR" dirty="0"/>
                </a:br>
                <a:r>
                  <a:rPr lang="fa-IR" dirty="0"/>
                  <a:t>یا از </a:t>
                </a:r>
                <a:r>
                  <a:rPr lang="fa-IR" b="1" dirty="0"/>
                  <a:t>مجموعه اصلی </a:t>
                </a:r>
                <a:r>
                  <a:rPr lang="fa-IR" b="1" dirty="0" err="1"/>
                  <a:t>وابستگی‌ها</a:t>
                </a:r>
                <a:r>
                  <a:rPr lang="fa-IR" b="1" dirty="0"/>
                  <a:t> </a:t>
                </a:r>
                <a:r>
                  <a:rPr lang="en-US" b="1" dirty="0"/>
                  <a:t>F</a:t>
                </a:r>
                <a:r>
                  <a:rPr lang="en-US" dirty="0"/>
                  <a:t> </a:t>
                </a:r>
                <a:r>
                  <a:rPr lang="fa-IR" dirty="0"/>
                  <a:t>که روی </a:t>
                </a:r>
                <a:r>
                  <a:rPr lang="en-US" dirty="0"/>
                  <a:t>R </a:t>
                </a:r>
                <a:r>
                  <a:rPr lang="fa-IR" dirty="0" err="1"/>
                  <a:t>برقرارند</a:t>
                </a:r>
                <a:r>
                  <a:rPr lang="fa-IR" dirty="0"/>
                  <a:t> استفاده کنید، اما با آزمون زیر:</a:t>
                </a:r>
              </a:p>
              <a:p>
                <a:pPr algn="r" rtl="1"/>
                <a:r>
                  <a:rPr lang="fa-IR" dirty="0"/>
                  <a:t>برای هر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صفات </a:t>
                </a:r>
                <a:r>
                  <a:rPr lang="el-GR" dirty="0"/>
                  <a:t>α ⊆ </a:t>
                </a:r>
                <a:r>
                  <a:rPr lang="en-US" dirty="0" err="1"/>
                  <a:t>R_i</a:t>
                </a:r>
                <a:r>
                  <a:rPr lang="en-US" dirty="0"/>
                  <a:t>، </a:t>
                </a:r>
                <a:r>
                  <a:rPr lang="fa-IR" dirty="0"/>
                  <a:t>بررسی کنید که </a:t>
                </a:r>
                <a:r>
                  <a:rPr lang="el-GR" dirty="0"/>
                  <a:t>α⁺ (</a:t>
                </a:r>
                <a:r>
                  <a:rPr lang="fa-IR" dirty="0"/>
                  <a:t>بسته </a:t>
                </a:r>
                <a:r>
                  <a:rPr lang="fa-IR" dirty="0" err="1"/>
                  <a:t>صفت‌های</a:t>
                </a:r>
                <a:r>
                  <a:rPr lang="fa-IR" dirty="0"/>
                  <a:t> </a:t>
                </a:r>
                <a:r>
                  <a:rPr lang="el-GR" dirty="0"/>
                  <a:t>α) </a:t>
                </a:r>
                <a:r>
                  <a:rPr lang="fa-IR" dirty="0"/>
                  <a:t>یا هیچ یک از صفات </a:t>
                </a:r>
                <a:r>
                  <a:rPr lang="en-US" dirty="0" err="1"/>
                  <a:t>R_i</a:t>
                </a:r>
                <a:r>
                  <a:rPr lang="en-US" dirty="0"/>
                  <a:t> – </a:t>
                </a:r>
                <a:r>
                  <a:rPr lang="el-GR" dirty="0"/>
                  <a:t>α </a:t>
                </a:r>
                <a:r>
                  <a:rPr lang="fa-IR" dirty="0"/>
                  <a:t>را شامل </a:t>
                </a:r>
                <a:r>
                  <a:rPr lang="fa-IR" dirty="0" err="1"/>
                  <a:t>نمی‌شود</a:t>
                </a:r>
                <a:r>
                  <a:rPr lang="fa-IR" dirty="0"/>
                  <a:t>، یا تمام صفات </a:t>
                </a:r>
                <a:r>
                  <a:rPr lang="en-US" dirty="0" err="1"/>
                  <a:t>R_i</a:t>
                </a:r>
                <a:r>
                  <a:rPr lang="en-US" dirty="0"/>
                  <a:t> </a:t>
                </a:r>
                <a:r>
                  <a:rPr lang="fa-IR" dirty="0"/>
                  <a:t>را شامل </a:t>
                </a:r>
                <a:r>
                  <a:rPr lang="fa-IR" dirty="0" err="1"/>
                  <a:t>می‌شود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اگر این شرط توسط یک وابستگی </a:t>
                </a:r>
                <a:r>
                  <a:rPr lang="el-GR" dirty="0"/>
                  <a:t>α → β </a:t>
                </a:r>
                <a:r>
                  <a:rPr lang="fa-IR" dirty="0"/>
                  <a:t>در </a:t>
                </a:r>
                <a:r>
                  <a:rPr lang="en-US" dirty="0"/>
                  <a:t>F⁺ </a:t>
                </a:r>
                <a:r>
                  <a:rPr lang="fa-IR" dirty="0"/>
                  <a:t>نقض شود، وابستگی</a:t>
                </a:r>
                <a:br>
                  <a:rPr lang="fa-IR" dirty="0"/>
                </a:br>
                <a:r>
                  <a:rPr lang="el-GR" dirty="0"/>
                  <a:t>α → (α⁺ – α) ∩ </a:t>
                </a:r>
                <a:r>
                  <a:rPr lang="en-US" dirty="0" err="1"/>
                  <a:t>R_i</a:t>
                </a:r>
                <a:br>
                  <a:rPr lang="en-US" dirty="0"/>
                </a:br>
                <a:r>
                  <a:rPr lang="fa-IR" dirty="0"/>
                  <a:t>را </a:t>
                </a:r>
                <a:r>
                  <a:rPr lang="fa-IR" dirty="0" err="1"/>
                  <a:t>می‌توان</a:t>
                </a:r>
                <a:r>
                  <a:rPr lang="fa-IR" dirty="0"/>
                  <a:t> نشان داد که روی </a:t>
                </a:r>
                <a:r>
                  <a:rPr lang="en-US" dirty="0" err="1"/>
                  <a:t>R_i</a:t>
                </a:r>
                <a:r>
                  <a:rPr lang="en-US" dirty="0"/>
                  <a:t> </a:t>
                </a:r>
                <a:r>
                  <a:rPr lang="fa-IR" dirty="0"/>
                  <a:t>برقرار است، و در نتیجه </a:t>
                </a:r>
                <a:r>
                  <a:rPr lang="en-US" dirty="0" err="1"/>
                  <a:t>R_i</a:t>
                </a:r>
                <a:r>
                  <a:rPr lang="en-US" dirty="0"/>
                  <a:t> </a:t>
                </a:r>
                <a:r>
                  <a:rPr lang="en-US" b="1" dirty="0"/>
                  <a:t>BCNF </a:t>
                </a:r>
                <a:r>
                  <a:rPr lang="fa-IR" b="1" dirty="0"/>
                  <a:t>را نقض </a:t>
                </a:r>
                <a:r>
                  <a:rPr lang="fa-IR" b="1" dirty="0" err="1"/>
                  <a:t>می‌کند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از این وابستگی برای </a:t>
                </a:r>
                <a:r>
                  <a:rPr lang="fa-IR" b="1" dirty="0"/>
                  <a:t>تجزیه </a:t>
                </a:r>
                <a:r>
                  <a:rPr lang="en-US" b="1" dirty="0" err="1"/>
                  <a:t>R_i</a:t>
                </a:r>
                <a:r>
                  <a:rPr lang="en-US" dirty="0"/>
                  <a:t> </a:t>
                </a:r>
                <a:r>
                  <a:rPr lang="fa-IR" dirty="0"/>
                  <a:t>استفاده </a:t>
                </a:r>
                <a:r>
                  <a:rPr lang="fa-IR" dirty="0" err="1"/>
                  <a:t>می‌کنیم</a:t>
                </a:r>
                <a:r>
                  <a:rPr lang="fa-IR" dirty="0"/>
                  <a:t>.</a:t>
                </a:r>
              </a:p>
              <a:p>
                <a:pPr algn="r" rtl="1"/>
                <a:endParaRPr lang="en-US" altLang="en-US" i="1" dirty="0"/>
              </a:p>
            </p:txBody>
          </p:sp>
        </mc:Choice>
        <mc:Fallback xmlns="">
          <p:sp>
            <p:nvSpPr>
              <p:cNvPr id="665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9811" y="1636297"/>
                <a:ext cx="7306322" cy="3585408"/>
              </a:xfrm>
              <a:blipFill>
                <a:blip r:embed="rId3"/>
                <a:stretch>
                  <a:fillRect t="-1868" r="-10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768350" y="1143000"/>
                <a:ext cx="70770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 rtl="1"/>
                <a:r>
                  <a:rPr lang="fa-IR" sz="1800" dirty="0"/>
                  <a:t>برای بررسی اینکه آیا یک رابطه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1800" dirty="0"/>
                  <a:t>در </a:t>
                </a:r>
                <a:r>
                  <a:rPr lang="fa-IR" sz="1800" dirty="0" err="1"/>
                  <a:t>تجزیه‌ای</a:t>
                </a:r>
                <a:r>
                  <a:rPr lang="fa-IR" sz="1800" dirty="0"/>
                  <a:t> 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sz="1800" dirty="0"/>
                  <a:t>در </a:t>
                </a:r>
                <a:r>
                  <a:rPr lang="en-US" sz="1800" b="1" dirty="0"/>
                  <a:t>BCNF</a:t>
                </a:r>
                <a:r>
                  <a:rPr lang="en-US" sz="1800" dirty="0"/>
                  <a:t> </a:t>
                </a:r>
                <a:r>
                  <a:rPr lang="fa-IR" sz="1800" dirty="0"/>
                  <a:t>است:</a:t>
                </a:r>
                <a:endParaRPr lang="en-US" sz="17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350" y="1143000"/>
                <a:ext cx="7077069" cy="369332"/>
              </a:xfrm>
              <a:prstGeom prst="rect">
                <a:avLst/>
              </a:prstGeom>
              <a:blipFill>
                <a:blip r:embed="rId4"/>
                <a:stretch>
                  <a:fillRect t="-10000" r="-77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BCNF Decomposition Algorithm</a:t>
            </a:r>
          </a:p>
        </p:txBody>
      </p:sp>
      <p:sp>
        <p:nvSpPr>
          <p:cNvPr id="67587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49350"/>
            <a:ext cx="7763091" cy="4291013"/>
          </a:xfrm>
        </p:spPr>
        <p:txBody>
          <a:bodyPr/>
          <a:lstStyle/>
          <a:p>
            <a:pPr>
              <a:buFont typeface="Monotype Sorts" pitchFamily="-84" charset="2"/>
              <a:buNone/>
              <a:tabLst>
                <a:tab pos="565150" algn="l"/>
                <a:tab pos="803275" algn="l"/>
                <a:tab pos="1489075" algn="l"/>
                <a:tab pos="1771650" algn="l"/>
              </a:tabLst>
            </a:pPr>
            <a:r>
              <a:rPr lang="en-US" altLang="en-US" i="1" dirty="0"/>
              <a:t>	result </a:t>
            </a:r>
            <a:r>
              <a:rPr lang="en-US" altLang="en-US" dirty="0"/>
              <a:t>:= {</a:t>
            </a:r>
            <a:r>
              <a:rPr lang="en-US" altLang="en-US" i="1" dirty="0"/>
              <a:t>R </a:t>
            </a:r>
            <a:r>
              <a:rPr lang="en-US" altLang="en-US" dirty="0"/>
              <a:t>};</a:t>
            </a:r>
            <a:br>
              <a:rPr lang="en-US" altLang="en-US" dirty="0"/>
            </a:br>
            <a:r>
              <a:rPr lang="en-US" altLang="en-US" i="1" dirty="0"/>
              <a:t>done </a:t>
            </a:r>
            <a:r>
              <a:rPr lang="en-US" altLang="en-US" dirty="0"/>
              <a:t>:= false;</a:t>
            </a:r>
            <a:br>
              <a:rPr lang="en-US" altLang="en-US" dirty="0"/>
            </a:br>
            <a:r>
              <a:rPr lang="en-US" altLang="en-US" dirty="0"/>
              <a:t>compute </a:t>
            </a:r>
            <a:r>
              <a:rPr lang="en-US" altLang="en-US" i="1" dirty="0"/>
              <a:t>F </a:t>
            </a:r>
            <a:r>
              <a:rPr lang="en-US" altLang="en-US" baseline="30000" dirty="0"/>
              <a:t>+</a:t>
            </a:r>
            <a:r>
              <a:rPr lang="en-US" altLang="en-US" dirty="0"/>
              <a:t>;</a:t>
            </a:r>
            <a:br>
              <a:rPr lang="en-US" altLang="en-US" dirty="0"/>
            </a:br>
            <a:r>
              <a:rPr lang="en-US" altLang="en-US" b="1" dirty="0"/>
              <a:t>while (not </a:t>
            </a:r>
            <a:r>
              <a:rPr lang="en-US" altLang="en-US" i="1" dirty="0"/>
              <a:t>done) </a:t>
            </a:r>
            <a:r>
              <a:rPr lang="en-US" altLang="en-US" b="1" dirty="0"/>
              <a:t>do</a:t>
            </a:r>
            <a:br>
              <a:rPr lang="en-US" altLang="en-US" b="1" dirty="0"/>
            </a:br>
            <a:r>
              <a:rPr lang="en-US" altLang="en-US" b="1" dirty="0"/>
              <a:t>	if </a:t>
            </a:r>
            <a:r>
              <a:rPr lang="en-US" altLang="en-US" dirty="0"/>
              <a:t>(there is a schema </a:t>
            </a:r>
            <a:r>
              <a:rPr lang="en-US" altLang="en-US" i="1" dirty="0"/>
              <a:t>R</a:t>
            </a:r>
            <a:r>
              <a:rPr lang="en-US" altLang="en-US" i="1" baseline="-25000" dirty="0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in </a:t>
            </a:r>
            <a:r>
              <a:rPr lang="en-US" altLang="en-US" i="1" dirty="0"/>
              <a:t>result </a:t>
            </a:r>
            <a:r>
              <a:rPr lang="en-US" altLang="en-US" dirty="0"/>
              <a:t> that is not in BCNF)</a:t>
            </a:r>
            <a:br>
              <a:rPr lang="en-US" altLang="en-US" dirty="0"/>
            </a:br>
            <a:r>
              <a:rPr lang="en-US" altLang="en-US" dirty="0"/>
              <a:t>		</a:t>
            </a:r>
            <a:r>
              <a:rPr lang="en-US" altLang="en-US" b="1" dirty="0"/>
              <a:t>then begin</a:t>
            </a:r>
            <a:br>
              <a:rPr lang="en-US" altLang="en-US" b="1" dirty="0"/>
            </a:br>
            <a:r>
              <a:rPr lang="en-US" altLang="en-US" b="1" dirty="0"/>
              <a:t>			</a:t>
            </a:r>
            <a:r>
              <a:rPr lang="en-US" altLang="en-US" dirty="0"/>
              <a:t>let </a:t>
            </a:r>
            <a:r>
              <a:rPr lang="en-US" altLang="en-US" dirty="0">
                <a:sym typeface="Symbol" panose="05050102010706020507" pitchFamily="18" charset="2"/>
              </a:rPr>
              <a:t>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Greek Symbols"/>
              </a:rPr>
              <a:t> be a nontrivial functional dependency that 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                       holds on </a:t>
            </a:r>
            <a:r>
              <a:rPr lang="en-US" altLang="en-US" i="1" dirty="0">
                <a:sym typeface="Greek Symbols"/>
              </a:rPr>
              <a:t>R</a:t>
            </a:r>
            <a:r>
              <a:rPr lang="en-US" altLang="en-US" i="1" baseline="-25000" dirty="0">
                <a:sym typeface="Greek Symbols"/>
              </a:rPr>
              <a:t>i</a:t>
            </a:r>
            <a:r>
              <a:rPr lang="en-US" altLang="en-US" i="1" dirty="0">
                <a:sym typeface="Greek Symbols"/>
              </a:rPr>
              <a:t>  </a:t>
            </a:r>
            <a:r>
              <a:rPr lang="en-US" altLang="en-US" dirty="0">
                <a:sym typeface="Greek Symbols"/>
              </a:rPr>
              <a:t>such that </a:t>
            </a:r>
            <a:r>
              <a:rPr lang="en-US" altLang="en-US" dirty="0">
                <a:sym typeface="Symbol" panose="05050102010706020507" pitchFamily="18" charset="2"/>
              </a:rPr>
              <a:t>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Greek Symbols"/>
              </a:rPr>
              <a:t>R</a:t>
            </a:r>
            <a:r>
              <a:rPr lang="en-US" altLang="en-US" i="1" baseline="-25000" dirty="0">
                <a:sym typeface="Greek Symbols"/>
              </a:rPr>
              <a:t>i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Greek Symbols"/>
              </a:rPr>
              <a:t>is not in </a:t>
            </a:r>
            <a:r>
              <a:rPr lang="en-US" altLang="en-US" i="1" dirty="0">
                <a:sym typeface="Greek Symbols"/>
              </a:rPr>
              <a:t>F </a:t>
            </a:r>
            <a:r>
              <a:rPr lang="en-US" altLang="en-US" baseline="30000" dirty="0">
                <a:sym typeface="Greek Symbols"/>
              </a:rPr>
              <a:t>+</a:t>
            </a:r>
            <a:r>
              <a:rPr lang="en-US" altLang="en-US" dirty="0">
                <a:sym typeface="Greek Symbols"/>
              </a:rPr>
              <a:t>, 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				   and </a:t>
            </a:r>
            <a:r>
              <a:rPr lang="en-US" altLang="en-US" dirty="0">
                <a:sym typeface="Symbol" panose="05050102010706020507" pitchFamily="18" charset="2"/>
              </a:rPr>
              <a:t>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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 = </a:t>
            </a:r>
            <a:r>
              <a:rPr lang="en-US" altLang="en-US" dirty="0">
                <a:sym typeface="Symbol" panose="05050102010706020507" pitchFamily="18" charset="2"/>
              </a:rPr>
              <a:t>;</a:t>
            </a:r>
            <a:br>
              <a:rPr lang="en-US" altLang="en-US" dirty="0">
                <a:sym typeface="Symbol" panose="05050102010706020507" pitchFamily="18" charset="2"/>
              </a:rPr>
            </a:br>
            <a:r>
              <a:rPr lang="en-US" altLang="en-US" dirty="0">
                <a:sym typeface="Symbol" panose="05050102010706020507" pitchFamily="18" charset="2"/>
              </a:rPr>
              <a:t>			   </a:t>
            </a:r>
            <a:r>
              <a:rPr lang="en-US" altLang="en-US" i="1" dirty="0">
                <a:sym typeface="Symbol" panose="05050102010706020507" pitchFamily="18" charset="2"/>
              </a:rPr>
              <a:t>result </a:t>
            </a:r>
            <a:r>
              <a:rPr lang="en-US" altLang="en-US" dirty="0">
                <a:sym typeface="Symbol" panose="05050102010706020507" pitchFamily="18" charset="2"/>
              </a:rPr>
              <a:t>:= (</a:t>
            </a:r>
            <a:r>
              <a:rPr lang="en-US" altLang="en-US" i="1" dirty="0">
                <a:sym typeface="Symbol" panose="05050102010706020507" pitchFamily="18" charset="2"/>
              </a:rPr>
              <a:t>result – R</a:t>
            </a:r>
            <a:r>
              <a:rPr lang="en-US" altLang="en-US" i="1" baseline="-25000" dirty="0">
                <a:sym typeface="Symbol" panose="05050102010706020507" pitchFamily="18" charset="2"/>
              </a:rPr>
              <a:t>i </a:t>
            </a:r>
            <a:r>
              <a:rPr lang="en-US" altLang="en-US" i="1" dirty="0">
                <a:sym typeface="Symbol" panose="05050102010706020507" pitchFamily="18" charset="2"/>
              </a:rPr>
              <a:t>) </a:t>
            </a:r>
            <a:r>
              <a:rPr lang="en-US" altLang="en-US" dirty="0">
                <a:sym typeface="Symbol" panose="05050102010706020507" pitchFamily="18" charset="2"/>
              </a:rPr>
              <a:t> (</a:t>
            </a:r>
            <a:r>
              <a:rPr lang="en-US" altLang="en-US" i="1" dirty="0">
                <a:sym typeface="Symbol" panose="05050102010706020507" pitchFamily="18" charset="2"/>
              </a:rPr>
              <a:t>R</a:t>
            </a:r>
            <a:r>
              <a:rPr lang="en-US" altLang="en-US" i="1" baseline="-25000" dirty="0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 – </a:t>
            </a:r>
            <a:r>
              <a:rPr lang="en-US" altLang="en-US" dirty="0">
                <a:sym typeface="Greek Symbols"/>
              </a:rPr>
              <a:t>) </a:t>
            </a:r>
            <a:r>
              <a:rPr lang="en-US" altLang="en-US" dirty="0">
                <a:sym typeface="Symbol" panose="05050102010706020507" pitchFamily="18" charset="2"/>
              </a:rPr>
              <a:t> (</a:t>
            </a:r>
            <a:r>
              <a:rPr lang="en-US" altLang="en-US" dirty="0">
                <a:sym typeface="Greek Symbols"/>
              </a:rPr>
              <a:t>,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);</a:t>
            </a:r>
            <a:br>
              <a:rPr lang="en-US" altLang="en-US" i="1" dirty="0">
                <a:sym typeface="Greek Symbols"/>
              </a:rPr>
            </a:br>
            <a:r>
              <a:rPr lang="en-US" altLang="en-US" i="1" dirty="0">
                <a:sym typeface="Greek Symbols"/>
              </a:rPr>
              <a:t>	    	</a:t>
            </a:r>
            <a:r>
              <a:rPr lang="en-US" altLang="en-US" b="1" dirty="0">
                <a:sym typeface="Greek Symbols"/>
              </a:rPr>
              <a:t>end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	else</a:t>
            </a:r>
            <a:r>
              <a:rPr lang="en-US" altLang="en-US" i="1" dirty="0">
                <a:sym typeface="Greek Symbols"/>
              </a:rPr>
              <a:t> done </a:t>
            </a:r>
            <a:r>
              <a:rPr lang="en-US" altLang="en-US" dirty="0">
                <a:sym typeface="Greek Symbols"/>
              </a:rPr>
              <a:t>:= </a:t>
            </a:r>
            <a:r>
              <a:rPr lang="en-US" altLang="en-US" b="1" dirty="0">
                <a:sym typeface="Greek Symbols"/>
              </a:rPr>
              <a:t>true; </a:t>
            </a:r>
          </a:p>
          <a:p>
            <a:pPr>
              <a:buFont typeface="Monotype Sorts" pitchFamily="-84" charset="2"/>
              <a:buNone/>
              <a:tabLst>
                <a:tab pos="565150" algn="l"/>
                <a:tab pos="803275" algn="l"/>
                <a:tab pos="1489075" algn="l"/>
                <a:tab pos="1771650" algn="l"/>
              </a:tabLst>
            </a:pPr>
            <a:endParaRPr lang="en-US" altLang="en-US" b="1" dirty="0">
              <a:sym typeface="Greek Symbols"/>
            </a:endParaRPr>
          </a:p>
          <a:p>
            <a:pPr algn="r" rtl="1">
              <a:buFont typeface="Monotype Sorts" pitchFamily="-84" charset="2"/>
              <a:buNone/>
              <a:tabLst>
                <a:tab pos="565150" algn="l"/>
                <a:tab pos="803275" algn="l"/>
                <a:tab pos="1489075" algn="l"/>
                <a:tab pos="1771650" algn="l"/>
              </a:tabLst>
            </a:pPr>
            <a:r>
              <a:rPr lang="en-US" altLang="en-US" dirty="0">
                <a:sym typeface="Greek Symbols"/>
              </a:rPr>
              <a:t>     </a:t>
            </a:r>
            <a:r>
              <a:rPr lang="fa-IR" dirty="0"/>
              <a:t>توجه: هر </a:t>
            </a:r>
            <a:r>
              <a:rPr lang="en-US" dirty="0"/>
              <a:t>Ri </a:t>
            </a:r>
            <a:r>
              <a:rPr lang="fa-IR" dirty="0"/>
              <a:t>در </a:t>
            </a:r>
            <a:r>
              <a:rPr lang="en-US" b="1" dirty="0"/>
              <a:t>BCNF</a:t>
            </a:r>
            <a:r>
              <a:rPr lang="en-US" dirty="0"/>
              <a:t> </a:t>
            </a:r>
            <a:r>
              <a:rPr lang="fa-IR" dirty="0"/>
              <a:t>است و تجزیه </a:t>
            </a:r>
            <a:r>
              <a:rPr lang="en-US" b="1" dirty="0"/>
              <a:t>Lossless-join</a:t>
            </a:r>
            <a:r>
              <a:rPr lang="en-US" dirty="0"/>
              <a:t> </a:t>
            </a:r>
            <a:r>
              <a:rPr lang="fa-IR" dirty="0" err="1"/>
              <a:t>می‌باشد</a:t>
            </a:r>
            <a:r>
              <a:rPr lang="fa-IR" dirty="0"/>
              <a:t>.</a:t>
            </a:r>
            <a:endParaRPr lang="en-US" altLang="en-US" dirty="0">
              <a:sym typeface="Greek Symbol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 of BCNF Decomposition</a:t>
            </a:r>
          </a:p>
        </p:txBody>
      </p:sp>
      <p:sp>
        <p:nvSpPr>
          <p:cNvPr id="742403" name="Rectangle 3"/>
          <p:cNvSpPr>
            <a:spLocks noGrp="1" noChangeArrowheads="1"/>
          </p:cNvSpPr>
          <p:nvPr>
            <p:ph idx="1"/>
          </p:nvPr>
        </p:nvSpPr>
        <p:spPr>
          <a:xfrm>
            <a:off x="187890" y="727075"/>
            <a:ext cx="8174875" cy="4633244"/>
          </a:xfrm>
        </p:spPr>
        <p:txBody>
          <a:bodyPr/>
          <a:lstStyle/>
          <a:p>
            <a:pPr algn="r" rtl="1"/>
            <a:r>
              <a:rPr lang="fa-IR" dirty="0"/>
              <a:t>رابطه:</a:t>
            </a:r>
            <a:br>
              <a:rPr lang="fa-IR" dirty="0"/>
            </a:br>
            <a:r>
              <a:rPr lang="en-US" b="1" dirty="0"/>
              <a:t>class</a:t>
            </a:r>
            <a:r>
              <a:rPr lang="en-US" dirty="0"/>
              <a:t> (</a:t>
            </a:r>
            <a:r>
              <a:rPr lang="en-US" dirty="0" err="1"/>
              <a:t>course_id</a:t>
            </a:r>
            <a:r>
              <a:rPr lang="en-US" dirty="0"/>
              <a:t>, title, </a:t>
            </a:r>
            <a:r>
              <a:rPr lang="en-US" dirty="0" err="1"/>
              <a:t>dept_name</a:t>
            </a:r>
            <a:r>
              <a:rPr lang="en-US" dirty="0"/>
              <a:t>, credits, </a:t>
            </a:r>
            <a:r>
              <a:rPr lang="en-US" dirty="0" err="1"/>
              <a:t>sec_id</a:t>
            </a:r>
            <a:r>
              <a:rPr lang="en-US" dirty="0"/>
              <a:t>, semester, year, building, </a:t>
            </a:r>
            <a:r>
              <a:rPr lang="en-US" dirty="0" err="1"/>
              <a:t>room_number</a:t>
            </a:r>
            <a:r>
              <a:rPr lang="en-US" dirty="0"/>
              <a:t>, capacity, </a:t>
            </a:r>
            <a:r>
              <a:rPr lang="en-US" dirty="0" err="1"/>
              <a:t>time_slot_id</a:t>
            </a:r>
            <a:r>
              <a:rPr lang="en-US" dirty="0"/>
              <a:t>)</a:t>
            </a:r>
          </a:p>
          <a:p>
            <a:pPr algn="r" rtl="1"/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:</a:t>
            </a:r>
          </a:p>
          <a:p>
            <a:pPr algn="r" rtl="1"/>
            <a:r>
              <a:rPr lang="en-US" dirty="0" err="1"/>
              <a:t>course_id</a:t>
            </a:r>
            <a:r>
              <a:rPr lang="en-US" dirty="0"/>
              <a:t> → title, </a:t>
            </a:r>
            <a:r>
              <a:rPr lang="en-US" dirty="0" err="1"/>
              <a:t>dept_name</a:t>
            </a:r>
            <a:r>
              <a:rPr lang="en-US" dirty="0"/>
              <a:t>, credits</a:t>
            </a:r>
          </a:p>
          <a:p>
            <a:pPr algn="r" rtl="1"/>
            <a:r>
              <a:rPr lang="en-US" dirty="0"/>
              <a:t>building, </a:t>
            </a:r>
            <a:r>
              <a:rPr lang="en-US" dirty="0" err="1"/>
              <a:t>room_number</a:t>
            </a:r>
            <a:r>
              <a:rPr lang="en-US" dirty="0"/>
              <a:t> → capacity</a:t>
            </a:r>
          </a:p>
          <a:p>
            <a:pPr algn="r" rtl="1"/>
            <a:r>
              <a:rPr lang="en-US" dirty="0" err="1"/>
              <a:t>course_id</a:t>
            </a:r>
            <a:r>
              <a:rPr lang="en-US" dirty="0"/>
              <a:t>, </a:t>
            </a:r>
            <a:r>
              <a:rPr lang="en-US" dirty="0" err="1"/>
              <a:t>sec_id</a:t>
            </a:r>
            <a:r>
              <a:rPr lang="en-US" dirty="0"/>
              <a:t>, semester, year → building, </a:t>
            </a:r>
            <a:r>
              <a:rPr lang="en-US" dirty="0" err="1"/>
              <a:t>room_number</a:t>
            </a:r>
            <a:r>
              <a:rPr lang="en-US" dirty="0"/>
              <a:t>, </a:t>
            </a:r>
            <a:r>
              <a:rPr lang="en-US" dirty="0" err="1"/>
              <a:t>time_slot_id</a:t>
            </a:r>
            <a:endParaRPr lang="en-US" dirty="0"/>
          </a:p>
          <a:p>
            <a:pPr algn="r" rtl="1"/>
            <a:r>
              <a:rPr lang="fa-IR" dirty="0"/>
              <a:t>کلید کاندید: {</a:t>
            </a:r>
            <a:r>
              <a:rPr lang="en-US" dirty="0" err="1"/>
              <a:t>course_id</a:t>
            </a:r>
            <a:r>
              <a:rPr lang="en-US" dirty="0"/>
              <a:t>, </a:t>
            </a:r>
            <a:r>
              <a:rPr lang="en-US" dirty="0" err="1"/>
              <a:t>sec_id</a:t>
            </a:r>
            <a:r>
              <a:rPr lang="en-US" dirty="0"/>
              <a:t>, semester, year}</a:t>
            </a:r>
          </a:p>
          <a:p>
            <a:pPr algn="r" rtl="1"/>
            <a:r>
              <a:rPr lang="fa-IR" b="1" dirty="0"/>
              <a:t>تجزیه </a:t>
            </a:r>
            <a:r>
              <a:rPr lang="en-US" b="1" dirty="0"/>
              <a:t>BCNF:</a:t>
            </a:r>
            <a:br>
              <a:rPr lang="en-US" dirty="0"/>
            </a:br>
            <a:r>
              <a:rPr lang="fa-IR" dirty="0"/>
              <a:t>وابستگی </a:t>
            </a:r>
            <a:r>
              <a:rPr lang="en-US" dirty="0" err="1"/>
              <a:t>course_id</a:t>
            </a:r>
            <a:r>
              <a:rPr lang="en-US" dirty="0"/>
              <a:t> → title, </a:t>
            </a:r>
            <a:r>
              <a:rPr lang="en-US" dirty="0" err="1"/>
              <a:t>dept_name</a:t>
            </a:r>
            <a:r>
              <a:rPr lang="en-US" dirty="0"/>
              <a:t>, credits </a:t>
            </a:r>
            <a:r>
              <a:rPr lang="fa-IR" dirty="0"/>
              <a:t>برقرار است،</a:t>
            </a:r>
            <a:br>
              <a:rPr lang="fa-IR" dirty="0"/>
            </a:br>
            <a:r>
              <a:rPr lang="fa-IR" dirty="0"/>
              <a:t>اما </a:t>
            </a:r>
            <a:r>
              <a:rPr lang="en-US" dirty="0" err="1"/>
              <a:t>course_id</a:t>
            </a:r>
            <a:r>
              <a:rPr lang="en-US" dirty="0"/>
              <a:t> </a:t>
            </a:r>
            <a:r>
              <a:rPr lang="fa-IR" b="1" dirty="0" err="1"/>
              <a:t>ابرکلید</a:t>
            </a:r>
            <a:r>
              <a:rPr lang="fa-IR" dirty="0"/>
              <a:t> نیست.</a:t>
            </a:r>
          </a:p>
          <a:p>
            <a:pPr algn="r" rtl="1"/>
            <a:r>
              <a:rPr lang="fa-IR" dirty="0"/>
              <a:t>پس رابطه </a:t>
            </a:r>
            <a:r>
              <a:rPr lang="en-US" b="1" dirty="0"/>
              <a:t>class</a:t>
            </a:r>
            <a:r>
              <a:rPr lang="en-US" dirty="0"/>
              <a:t> </a:t>
            </a:r>
            <a:r>
              <a:rPr lang="fa-IR" dirty="0"/>
              <a:t>را جایگزین </a:t>
            </a:r>
            <a:r>
              <a:rPr lang="fa-IR" dirty="0" err="1"/>
              <a:t>می‌کنیم</a:t>
            </a:r>
            <a:r>
              <a:rPr lang="fa-IR" dirty="0"/>
              <a:t> با:</a:t>
            </a:r>
          </a:p>
          <a:p>
            <a:pPr algn="r" rtl="1"/>
            <a:r>
              <a:rPr lang="en-US" b="1" dirty="0"/>
              <a:t>course</a:t>
            </a:r>
            <a:r>
              <a:rPr lang="en-US" dirty="0"/>
              <a:t> (</a:t>
            </a:r>
            <a:r>
              <a:rPr lang="en-US" dirty="0" err="1"/>
              <a:t>course_id</a:t>
            </a:r>
            <a:r>
              <a:rPr lang="en-US" dirty="0"/>
              <a:t>, title, </a:t>
            </a:r>
            <a:r>
              <a:rPr lang="en-US" dirty="0" err="1"/>
              <a:t>dept_name</a:t>
            </a:r>
            <a:r>
              <a:rPr lang="en-US" dirty="0"/>
              <a:t>, credits)</a:t>
            </a:r>
          </a:p>
          <a:p>
            <a:pPr algn="r" rtl="1"/>
            <a:r>
              <a:rPr lang="en-US" b="1" dirty="0"/>
              <a:t>class-1</a:t>
            </a:r>
            <a:r>
              <a:rPr lang="en-US" dirty="0"/>
              <a:t> (</a:t>
            </a:r>
            <a:r>
              <a:rPr lang="en-US" dirty="0" err="1"/>
              <a:t>course_id</a:t>
            </a:r>
            <a:r>
              <a:rPr lang="en-US" dirty="0"/>
              <a:t>, </a:t>
            </a:r>
            <a:r>
              <a:rPr lang="en-US" dirty="0" err="1"/>
              <a:t>sec_id</a:t>
            </a:r>
            <a:r>
              <a:rPr lang="en-US" dirty="0"/>
              <a:t>, semester, year, building, </a:t>
            </a:r>
            <a:r>
              <a:rPr lang="en-US" dirty="0" err="1"/>
              <a:t>room_number</a:t>
            </a:r>
            <a:r>
              <a:rPr lang="en-US" dirty="0"/>
              <a:t>, capacity, </a:t>
            </a:r>
            <a:r>
              <a:rPr lang="en-US" dirty="0" err="1"/>
              <a:t>time_slot_id</a:t>
            </a:r>
            <a:r>
              <a:rPr lang="en-US" dirty="0"/>
              <a:t>)</a:t>
            </a:r>
          </a:p>
          <a:p>
            <a:pPr algn="r" rtl="1">
              <a:lnSpc>
                <a:spcPct val="90000"/>
              </a:lnSpc>
              <a:tabLst>
                <a:tab pos="744538" algn="l"/>
                <a:tab pos="2574925" algn="l"/>
              </a:tabLst>
            </a:pPr>
            <a:endParaRPr lang="en-US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BCNF Decomposition (Cont.)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8"/>
            <a:ext cx="7505638" cy="3237580"/>
          </a:xfrm>
        </p:spPr>
        <p:txBody>
          <a:bodyPr/>
          <a:lstStyle/>
          <a:p>
            <a:pPr algn="r" rtl="1"/>
            <a:r>
              <a:rPr lang="fa-IR" dirty="0"/>
              <a:t>رابطه </a:t>
            </a:r>
            <a:r>
              <a:rPr lang="en-US" b="1" dirty="0"/>
              <a:t>course</a:t>
            </a:r>
            <a:r>
              <a:rPr lang="en-US" dirty="0"/>
              <a:t> </a:t>
            </a:r>
            <a:r>
              <a:rPr lang="fa-IR" dirty="0"/>
              <a:t>در </a:t>
            </a:r>
            <a:r>
              <a:rPr lang="en-US" b="1" dirty="0"/>
              <a:t>BCNF</a:t>
            </a:r>
            <a:r>
              <a:rPr lang="en-US" dirty="0"/>
              <a:t> </a:t>
            </a:r>
            <a:r>
              <a:rPr lang="fa-IR" dirty="0"/>
              <a:t>است.</a:t>
            </a:r>
            <a:br>
              <a:rPr lang="fa-IR" dirty="0"/>
            </a:br>
            <a:r>
              <a:rPr lang="fa-IR" dirty="0"/>
              <a:t>چگونه این را </a:t>
            </a:r>
            <a:r>
              <a:rPr lang="fa-IR" dirty="0" err="1"/>
              <a:t>می‌دانیم</a:t>
            </a:r>
            <a:r>
              <a:rPr lang="fa-IR" dirty="0"/>
              <a:t>؟</a:t>
            </a:r>
          </a:p>
          <a:p>
            <a:pPr algn="r" rtl="1"/>
            <a:r>
              <a:rPr lang="fa-IR" dirty="0"/>
              <a:t>وابستگی </a:t>
            </a:r>
            <a:r>
              <a:rPr lang="en-US" dirty="0"/>
              <a:t>building, </a:t>
            </a:r>
            <a:r>
              <a:rPr lang="en-US" dirty="0" err="1"/>
              <a:t>room_number</a:t>
            </a:r>
            <a:r>
              <a:rPr lang="en-US" dirty="0"/>
              <a:t> → capacity </a:t>
            </a:r>
            <a:r>
              <a:rPr lang="fa-IR" dirty="0"/>
              <a:t>در </a:t>
            </a:r>
            <a:r>
              <a:rPr lang="en-US" b="1" dirty="0"/>
              <a:t>class-1</a:t>
            </a:r>
            <a:r>
              <a:rPr lang="en-US" dirty="0"/>
              <a:t> </a:t>
            </a:r>
            <a:r>
              <a:rPr lang="fa-IR" dirty="0"/>
              <a:t>برقرار است،</a:t>
            </a:r>
            <a:br>
              <a:rPr lang="fa-IR" dirty="0"/>
            </a:br>
            <a:r>
              <a:rPr lang="fa-IR" dirty="0"/>
              <a:t>اما {</a:t>
            </a:r>
            <a:r>
              <a:rPr lang="en-US" dirty="0"/>
              <a:t>building, </a:t>
            </a:r>
            <a:r>
              <a:rPr lang="en-US" dirty="0" err="1"/>
              <a:t>room_number</a:t>
            </a:r>
            <a:r>
              <a:rPr lang="en-US" dirty="0"/>
              <a:t>} </a:t>
            </a:r>
            <a:r>
              <a:rPr lang="fa-IR" b="1" dirty="0" err="1"/>
              <a:t>ابرکلید</a:t>
            </a:r>
            <a:r>
              <a:rPr lang="fa-IR" dirty="0"/>
              <a:t> برای </a:t>
            </a:r>
            <a:r>
              <a:rPr lang="en-US" dirty="0"/>
              <a:t>class-1 </a:t>
            </a:r>
            <a:r>
              <a:rPr lang="fa-IR" dirty="0"/>
              <a:t>نیست.</a:t>
            </a:r>
          </a:p>
          <a:p>
            <a:pPr algn="r" rtl="1"/>
            <a:r>
              <a:rPr lang="fa-IR" dirty="0"/>
              <a:t>پس </a:t>
            </a:r>
            <a:r>
              <a:rPr lang="en-US" b="1" dirty="0"/>
              <a:t>class-1</a:t>
            </a:r>
            <a:r>
              <a:rPr lang="en-US" dirty="0"/>
              <a:t> </a:t>
            </a:r>
            <a:r>
              <a:rPr lang="fa-IR" dirty="0"/>
              <a:t>را جایگزین </a:t>
            </a:r>
            <a:r>
              <a:rPr lang="fa-IR" dirty="0" err="1"/>
              <a:t>می‌کنیم</a:t>
            </a:r>
            <a:r>
              <a:rPr lang="fa-IR" dirty="0"/>
              <a:t> با:</a:t>
            </a:r>
          </a:p>
          <a:p>
            <a:pPr algn="r" rtl="1"/>
            <a:r>
              <a:rPr lang="en-US" b="1" dirty="0"/>
              <a:t>classroom</a:t>
            </a:r>
            <a:r>
              <a:rPr lang="en-US" dirty="0"/>
              <a:t> (building, </a:t>
            </a:r>
            <a:r>
              <a:rPr lang="en-US" dirty="0" err="1"/>
              <a:t>room_number</a:t>
            </a:r>
            <a:r>
              <a:rPr lang="en-US" dirty="0"/>
              <a:t>, capacity)</a:t>
            </a:r>
          </a:p>
          <a:p>
            <a:pPr algn="r" rtl="1"/>
            <a:r>
              <a:rPr lang="en-US" b="1" dirty="0"/>
              <a:t>section</a:t>
            </a:r>
            <a:r>
              <a:rPr lang="en-US" dirty="0"/>
              <a:t> (</a:t>
            </a:r>
            <a:r>
              <a:rPr lang="en-US" dirty="0" err="1"/>
              <a:t>course_id</a:t>
            </a:r>
            <a:r>
              <a:rPr lang="en-US" dirty="0"/>
              <a:t>, </a:t>
            </a:r>
            <a:r>
              <a:rPr lang="en-US" dirty="0" err="1"/>
              <a:t>sec_id</a:t>
            </a:r>
            <a:r>
              <a:rPr lang="en-US" dirty="0"/>
              <a:t>, semester, year, building, </a:t>
            </a:r>
            <a:r>
              <a:rPr lang="en-US" dirty="0" err="1"/>
              <a:t>room_number</a:t>
            </a:r>
            <a:r>
              <a:rPr lang="en-US" dirty="0"/>
              <a:t>, </a:t>
            </a:r>
            <a:r>
              <a:rPr lang="en-US" dirty="0" err="1"/>
              <a:t>time_slot_id</a:t>
            </a:r>
            <a:r>
              <a:rPr lang="en-US" dirty="0"/>
              <a:t>)</a:t>
            </a:r>
          </a:p>
          <a:p>
            <a:pPr algn="r" rtl="1"/>
            <a:r>
              <a:rPr lang="fa-IR" dirty="0" err="1"/>
              <a:t>رابطه‌های</a:t>
            </a:r>
            <a:r>
              <a:rPr lang="fa-IR" dirty="0"/>
              <a:t> </a:t>
            </a:r>
            <a:r>
              <a:rPr lang="en-US" b="1" dirty="0"/>
              <a:t>classroom</a:t>
            </a:r>
            <a:r>
              <a:rPr lang="en-US" dirty="0"/>
              <a:t> </a:t>
            </a:r>
            <a:r>
              <a:rPr lang="fa-IR" dirty="0"/>
              <a:t>و </a:t>
            </a:r>
            <a:r>
              <a:rPr lang="en-US" b="1" dirty="0"/>
              <a:t>section</a:t>
            </a:r>
            <a:r>
              <a:rPr lang="en-US" dirty="0"/>
              <a:t> </a:t>
            </a:r>
            <a:r>
              <a:rPr lang="fa-IR" dirty="0"/>
              <a:t>در </a:t>
            </a:r>
            <a:r>
              <a:rPr lang="en-US" b="1" dirty="0"/>
              <a:t>BCNF</a:t>
            </a:r>
            <a:r>
              <a:rPr lang="en-US" dirty="0"/>
              <a:t> </a:t>
            </a:r>
            <a:r>
              <a:rPr lang="fa-IR" dirty="0"/>
              <a:t>هستند.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Third Normal Form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8"/>
            <a:ext cx="7638803" cy="3297738"/>
          </a:xfrm>
        </p:spPr>
        <p:txBody>
          <a:bodyPr/>
          <a:lstStyle/>
          <a:p>
            <a:pPr algn="r" rtl="1"/>
            <a:r>
              <a:rPr lang="fa-IR" dirty="0"/>
              <a:t>برخی مواقع وجود دارد که:</a:t>
            </a:r>
          </a:p>
          <a:p>
            <a:pPr algn="r" rtl="1"/>
            <a:r>
              <a:rPr lang="en-US" b="1" dirty="0"/>
              <a:t>BCNF </a:t>
            </a:r>
            <a:r>
              <a:rPr lang="fa-IR" b="1" dirty="0" err="1"/>
              <a:t>وابستگی‌ها</a:t>
            </a:r>
            <a:r>
              <a:rPr lang="fa-IR" b="1" dirty="0"/>
              <a:t> را حفظ </a:t>
            </a:r>
            <a:r>
              <a:rPr lang="fa-IR" b="1" dirty="0" err="1"/>
              <a:t>نمی‌کند</a:t>
            </a:r>
            <a:r>
              <a:rPr lang="fa-IR" dirty="0"/>
              <a:t>، و</a:t>
            </a:r>
          </a:p>
          <a:p>
            <a:pPr algn="r" rtl="1"/>
            <a:r>
              <a:rPr lang="fa-IR" dirty="0"/>
              <a:t>بررسی مؤثر برای نقض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در هنگام </a:t>
            </a:r>
            <a:r>
              <a:rPr lang="fa-IR" dirty="0" err="1"/>
              <a:t>به‌روزرسانی</a:t>
            </a:r>
            <a:r>
              <a:rPr lang="fa-IR" dirty="0"/>
              <a:t> اهمیت دارد.</a:t>
            </a:r>
          </a:p>
          <a:p>
            <a:pPr algn="r" rtl="1"/>
            <a:r>
              <a:rPr lang="fa-IR" dirty="0" err="1"/>
              <a:t>راه‌حل</a:t>
            </a:r>
            <a:r>
              <a:rPr lang="fa-IR" dirty="0"/>
              <a:t>: تعریف یک فرم نرمال </a:t>
            </a:r>
            <a:r>
              <a:rPr lang="fa-IR" dirty="0" err="1"/>
              <a:t>ضعیف‌تر</a:t>
            </a:r>
            <a:r>
              <a:rPr lang="fa-IR" dirty="0"/>
              <a:t> به نام </a:t>
            </a:r>
            <a:r>
              <a:rPr lang="fa-IR" b="1" dirty="0"/>
              <a:t>سومین فرم نرمال (3</a:t>
            </a:r>
            <a:r>
              <a:rPr lang="en-US" b="1" dirty="0"/>
              <a:t>NF)</a:t>
            </a:r>
            <a:endParaRPr lang="en-US" dirty="0"/>
          </a:p>
          <a:p>
            <a:pPr algn="r" rtl="1"/>
            <a:r>
              <a:rPr lang="fa-IR" dirty="0"/>
              <a:t>اجازه </a:t>
            </a:r>
            <a:r>
              <a:rPr lang="fa-IR" dirty="0" err="1"/>
              <a:t>می‌دهد</a:t>
            </a:r>
            <a:r>
              <a:rPr lang="fa-IR" dirty="0"/>
              <a:t> مقداری افزونگی وجود داشته باشد (با مشکلات ناشی از آن؛ </a:t>
            </a:r>
            <a:r>
              <a:rPr lang="fa-IR" dirty="0" err="1"/>
              <a:t>نمونه‌ها</a:t>
            </a:r>
            <a:r>
              <a:rPr lang="fa-IR" dirty="0"/>
              <a:t> بعداً بررسی </a:t>
            </a:r>
            <a:r>
              <a:rPr lang="fa-IR" dirty="0" err="1"/>
              <a:t>می‌شوند</a:t>
            </a:r>
            <a:r>
              <a:rPr lang="fa-IR" dirty="0"/>
              <a:t>)،</a:t>
            </a:r>
          </a:p>
          <a:p>
            <a:pPr algn="r" rtl="1"/>
            <a:r>
              <a:rPr lang="fa-IR" dirty="0"/>
              <a:t>اما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را </a:t>
            </a:r>
            <a:r>
              <a:rPr lang="fa-IR" dirty="0" err="1"/>
              <a:t>می‌توان</a:t>
            </a:r>
            <a:r>
              <a:rPr lang="fa-IR" dirty="0"/>
              <a:t> روی روابط جداگانه بررسی کرد بدون نیاز به محاسبه </a:t>
            </a:r>
            <a:r>
              <a:rPr lang="en-US" dirty="0"/>
              <a:t>join.</a:t>
            </a:r>
          </a:p>
          <a:p>
            <a:pPr algn="r" rtl="1"/>
            <a:r>
              <a:rPr lang="fa-IR" dirty="0"/>
              <a:t>همیشه یک </a:t>
            </a:r>
            <a:r>
              <a:rPr lang="fa-IR" b="1" dirty="0"/>
              <a:t>تجزیه بدون از دست دادن اطلاعات (</a:t>
            </a:r>
            <a:r>
              <a:rPr lang="en-US" b="1" dirty="0"/>
              <a:t>lossless-join)</a:t>
            </a:r>
            <a:r>
              <a:rPr lang="en-US" dirty="0"/>
              <a:t> </a:t>
            </a:r>
            <a:r>
              <a:rPr lang="fa-IR" dirty="0"/>
              <a:t>و </a:t>
            </a:r>
            <a:r>
              <a:rPr lang="fa-IR" b="1" dirty="0" err="1"/>
              <a:t>حفظ‌کننده</a:t>
            </a:r>
            <a:r>
              <a:rPr lang="fa-IR" b="1" dirty="0"/>
              <a:t> </a:t>
            </a:r>
            <a:r>
              <a:rPr lang="fa-IR" b="1" dirty="0" err="1"/>
              <a:t>وابستگی‌ها</a:t>
            </a:r>
            <a:r>
              <a:rPr lang="fa-IR" dirty="0"/>
              <a:t> به 3</a:t>
            </a:r>
            <a:r>
              <a:rPr lang="en-US" dirty="0"/>
              <a:t>NF </a:t>
            </a:r>
            <a:r>
              <a:rPr lang="fa-IR" dirty="0"/>
              <a:t>وجود دارد.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3NF Example -- </a:t>
            </a:r>
            <a:r>
              <a:rPr lang="en-US" altLang="en-US" dirty="0"/>
              <a:t>Relation </a:t>
            </a:r>
            <a:r>
              <a:rPr lang="en-US" altLang="en-US" i="1" dirty="0"/>
              <a:t>dept_advisor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71683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53948"/>
            <a:ext cx="7558904" cy="3285707"/>
          </a:xfrm>
        </p:spPr>
        <p:txBody>
          <a:bodyPr/>
          <a:lstStyle/>
          <a:p>
            <a:pPr algn="r" rtl="1"/>
            <a:r>
              <a:rPr lang="fa-IR" dirty="0"/>
              <a:t>رابطه:</a:t>
            </a:r>
            <a:br>
              <a:rPr lang="fa-IR" dirty="0"/>
            </a:br>
            <a:r>
              <a:rPr lang="en-US" b="1" dirty="0" err="1"/>
              <a:t>dept_advisor</a:t>
            </a:r>
            <a:r>
              <a:rPr lang="en-US" dirty="0"/>
              <a:t> (</a:t>
            </a:r>
            <a:r>
              <a:rPr lang="en-US" dirty="0" err="1"/>
              <a:t>s_ID</a:t>
            </a:r>
            <a:r>
              <a:rPr lang="en-US" dirty="0"/>
              <a:t>, </a:t>
            </a:r>
            <a:r>
              <a:rPr lang="en-US" dirty="0" err="1"/>
              <a:t>i_ID</a:t>
            </a:r>
            <a:r>
              <a:rPr lang="en-US" dirty="0"/>
              <a:t>, </a:t>
            </a:r>
            <a:r>
              <a:rPr lang="en-US" dirty="0" err="1"/>
              <a:t>dept_name</a:t>
            </a:r>
            <a:r>
              <a:rPr lang="en-US" dirty="0"/>
              <a:t>)</a:t>
            </a:r>
          </a:p>
          <a:p>
            <a:pPr algn="r" rtl="1"/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:</a:t>
            </a:r>
            <a:br>
              <a:rPr lang="fa-IR" dirty="0"/>
            </a:br>
            <a:r>
              <a:rPr lang="en-US" dirty="0"/>
              <a:t>F = { </a:t>
            </a:r>
            <a:r>
              <a:rPr lang="en-US" dirty="0" err="1"/>
              <a:t>s_ID</a:t>
            </a:r>
            <a:r>
              <a:rPr lang="en-US" dirty="0"/>
              <a:t>, </a:t>
            </a:r>
            <a:r>
              <a:rPr lang="en-US" dirty="0" err="1"/>
              <a:t>dept_name</a:t>
            </a:r>
            <a:r>
              <a:rPr lang="en-US" dirty="0"/>
              <a:t> → </a:t>
            </a:r>
            <a:r>
              <a:rPr lang="en-US" dirty="0" err="1"/>
              <a:t>i_ID</a:t>
            </a:r>
            <a:r>
              <a:rPr lang="en-US" dirty="0"/>
              <a:t>, </a:t>
            </a:r>
            <a:r>
              <a:rPr lang="en-US" dirty="0" err="1"/>
              <a:t>i_ID</a:t>
            </a:r>
            <a:r>
              <a:rPr lang="en-US" dirty="0"/>
              <a:t> → </a:t>
            </a:r>
            <a:r>
              <a:rPr lang="en-US" dirty="0" err="1"/>
              <a:t>dept_name</a:t>
            </a:r>
            <a:r>
              <a:rPr lang="en-US" dirty="0"/>
              <a:t> }</a:t>
            </a:r>
          </a:p>
          <a:p>
            <a:pPr algn="r" rtl="1"/>
            <a:r>
              <a:rPr lang="fa-IR" dirty="0"/>
              <a:t>دو کلید کاندید:</a:t>
            </a:r>
          </a:p>
          <a:p>
            <a:pPr algn="r" rtl="1"/>
            <a:r>
              <a:rPr lang="fa-IR" dirty="0"/>
              <a:t>{</a:t>
            </a:r>
            <a:r>
              <a:rPr lang="en-US" dirty="0" err="1"/>
              <a:t>s_ID</a:t>
            </a:r>
            <a:r>
              <a:rPr lang="en-US" dirty="0"/>
              <a:t>, </a:t>
            </a:r>
            <a:r>
              <a:rPr lang="en-US" dirty="0" err="1"/>
              <a:t>dept_name</a:t>
            </a:r>
            <a:r>
              <a:rPr lang="en-US" dirty="0"/>
              <a:t>}</a:t>
            </a:r>
          </a:p>
          <a:p>
            <a:pPr algn="r" rtl="1"/>
            <a:r>
              <a:rPr lang="en-US" dirty="0"/>
              <a:t>{</a:t>
            </a:r>
            <a:r>
              <a:rPr lang="en-US" dirty="0" err="1"/>
              <a:t>i_ID</a:t>
            </a:r>
            <a:r>
              <a:rPr lang="en-US" dirty="0"/>
              <a:t>, </a:t>
            </a:r>
            <a:r>
              <a:rPr lang="en-US" dirty="0" err="1"/>
              <a:t>s_ID</a:t>
            </a:r>
            <a:r>
              <a:rPr lang="en-US" dirty="0"/>
              <a:t>}</a:t>
            </a:r>
          </a:p>
          <a:p>
            <a:pPr algn="r" rtl="1"/>
            <a:r>
              <a:rPr lang="fa-IR" dirty="0"/>
              <a:t>رابطه </a:t>
            </a:r>
            <a:r>
              <a:rPr lang="en-US" dirty="0"/>
              <a:t>R </a:t>
            </a:r>
            <a:r>
              <a:rPr lang="fa-IR" dirty="0"/>
              <a:t>در </a:t>
            </a:r>
            <a:r>
              <a:rPr lang="fa-IR" b="1" dirty="0"/>
              <a:t>3</a:t>
            </a:r>
            <a:r>
              <a:rPr lang="en-US" b="1" dirty="0"/>
              <a:t>NF</a:t>
            </a:r>
            <a:r>
              <a:rPr lang="en-US" dirty="0"/>
              <a:t> </a:t>
            </a:r>
            <a:r>
              <a:rPr lang="fa-IR" dirty="0"/>
              <a:t>است.</a:t>
            </a:r>
          </a:p>
          <a:p>
            <a:pPr algn="r" rtl="1"/>
            <a:r>
              <a:rPr lang="fa-IR" dirty="0"/>
              <a:t>تحلیل </a:t>
            </a:r>
            <a:r>
              <a:rPr lang="fa-IR" dirty="0" err="1"/>
              <a:t>وابستگی‌ها</a:t>
            </a:r>
            <a:r>
              <a:rPr lang="fa-IR" dirty="0"/>
              <a:t>:</a:t>
            </a:r>
          </a:p>
          <a:p>
            <a:pPr algn="r" rtl="1"/>
            <a:r>
              <a:rPr lang="en-US" dirty="0" err="1"/>
              <a:t>s_ID</a:t>
            </a:r>
            <a:r>
              <a:rPr lang="en-US" dirty="0"/>
              <a:t>, </a:t>
            </a:r>
            <a:r>
              <a:rPr lang="en-US" dirty="0" err="1"/>
              <a:t>dept_name</a:t>
            </a:r>
            <a:r>
              <a:rPr lang="en-US" dirty="0"/>
              <a:t> → </a:t>
            </a:r>
            <a:r>
              <a:rPr lang="en-US" dirty="0" err="1"/>
              <a:t>i_ID</a:t>
            </a:r>
            <a:endParaRPr lang="en-US" dirty="0"/>
          </a:p>
          <a:p>
            <a:pPr lvl="1" algn="r" rtl="1"/>
            <a:r>
              <a:rPr lang="en-US" dirty="0" err="1"/>
              <a:t>dept_name</a:t>
            </a:r>
            <a:r>
              <a:rPr lang="en-US" dirty="0"/>
              <a:t> </a:t>
            </a:r>
            <a:r>
              <a:rPr lang="fa-IR" dirty="0"/>
              <a:t>یک </a:t>
            </a:r>
            <a:r>
              <a:rPr lang="fa-IR" b="1" dirty="0" err="1"/>
              <a:t>ابرکلید</a:t>
            </a:r>
            <a:r>
              <a:rPr lang="fa-IR" dirty="0"/>
              <a:t> است.</a:t>
            </a:r>
          </a:p>
          <a:p>
            <a:pPr algn="r" rtl="1"/>
            <a:r>
              <a:rPr lang="en-US" dirty="0" err="1"/>
              <a:t>i_ID</a:t>
            </a:r>
            <a:r>
              <a:rPr lang="en-US" dirty="0"/>
              <a:t> → </a:t>
            </a:r>
            <a:r>
              <a:rPr lang="en-US" dirty="0" err="1"/>
              <a:t>dept_name</a:t>
            </a:r>
            <a:endParaRPr lang="en-US" dirty="0"/>
          </a:p>
          <a:p>
            <a:pPr lvl="1" algn="r" rtl="1"/>
            <a:r>
              <a:rPr lang="en-US" dirty="0" err="1"/>
              <a:t>dept_name</a:t>
            </a:r>
            <a:r>
              <a:rPr lang="en-US" dirty="0"/>
              <a:t> </a:t>
            </a:r>
            <a:r>
              <a:rPr lang="fa-IR" dirty="0"/>
              <a:t>در یک </a:t>
            </a:r>
            <a:r>
              <a:rPr lang="fa-IR" b="1" dirty="0"/>
              <a:t>کلید کاندید</a:t>
            </a:r>
            <a:r>
              <a:rPr lang="fa-IR" dirty="0"/>
              <a:t> وجود دارد.</a:t>
            </a:r>
          </a:p>
          <a:p>
            <a:pPr algn="r" rtl="1">
              <a:tabLst>
                <a:tab pos="1027113" algn="l"/>
                <a:tab pos="2455863" algn="l"/>
              </a:tabLst>
            </a:pPr>
            <a:endParaRPr lang="en-US" altLang="en-US" dirty="0">
              <a:sym typeface="Monotype Sorts" pitchFamily="-84" charset="2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Testing for 3NF</a:t>
            </a:r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9"/>
            <a:ext cx="7656559" cy="3141327"/>
          </a:xfrm>
        </p:spPr>
        <p:txBody>
          <a:bodyPr/>
          <a:lstStyle/>
          <a:p>
            <a:pPr algn="r" rtl="1"/>
            <a:r>
              <a:rPr lang="fa-IR" dirty="0"/>
              <a:t>فقط لازم است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موجود در </a:t>
            </a:r>
            <a:r>
              <a:rPr lang="en-US" dirty="0"/>
              <a:t>F </a:t>
            </a:r>
            <a:r>
              <a:rPr lang="fa-IR" dirty="0"/>
              <a:t>بررسی شوند و نیازی به بررسی تمام </a:t>
            </a:r>
            <a:r>
              <a:rPr lang="fa-IR" dirty="0" err="1"/>
              <a:t>وابستگی‌ها</a:t>
            </a:r>
            <a:r>
              <a:rPr lang="fa-IR" dirty="0"/>
              <a:t> در </a:t>
            </a:r>
            <a:r>
              <a:rPr lang="en-US" dirty="0"/>
              <a:t>F⁺ </a:t>
            </a:r>
            <a:r>
              <a:rPr lang="fa-IR" dirty="0"/>
              <a:t>نیست.</a:t>
            </a:r>
          </a:p>
          <a:p>
            <a:pPr algn="r" rtl="1"/>
            <a:r>
              <a:rPr lang="fa-IR" dirty="0"/>
              <a:t>از </a:t>
            </a:r>
            <a:r>
              <a:rPr lang="fa-IR" b="1" dirty="0"/>
              <a:t>بسته </a:t>
            </a:r>
            <a:r>
              <a:rPr lang="fa-IR" b="1" dirty="0" err="1"/>
              <a:t>صفت‌ها</a:t>
            </a:r>
            <a:r>
              <a:rPr lang="fa-IR" dirty="0"/>
              <a:t> استفاده کنید تا برای هر وابستگی </a:t>
            </a:r>
            <a:r>
              <a:rPr lang="el-GR" dirty="0"/>
              <a:t>α → β </a:t>
            </a:r>
            <a:r>
              <a:rPr lang="fa-IR" dirty="0"/>
              <a:t>بررسی کنید که آیا </a:t>
            </a:r>
            <a:r>
              <a:rPr lang="el-GR" dirty="0"/>
              <a:t>α </a:t>
            </a:r>
            <a:r>
              <a:rPr lang="fa-IR" dirty="0"/>
              <a:t>یک </a:t>
            </a:r>
            <a:r>
              <a:rPr lang="fa-IR" b="1" dirty="0" err="1"/>
              <a:t>ابرکلید</a:t>
            </a:r>
            <a:r>
              <a:rPr lang="fa-IR" dirty="0"/>
              <a:t> است یا خیر.</a:t>
            </a:r>
          </a:p>
          <a:p>
            <a:pPr algn="r" rtl="1"/>
            <a:r>
              <a:rPr lang="fa-IR" dirty="0"/>
              <a:t>اگر </a:t>
            </a:r>
            <a:r>
              <a:rPr lang="el-GR" dirty="0"/>
              <a:t>α </a:t>
            </a:r>
            <a:r>
              <a:rPr lang="fa-IR" dirty="0"/>
              <a:t>یک </a:t>
            </a:r>
            <a:r>
              <a:rPr lang="fa-IR" dirty="0" err="1"/>
              <a:t>ابرکلید</a:t>
            </a:r>
            <a:r>
              <a:rPr lang="fa-IR" dirty="0"/>
              <a:t> نباشد، باید بررسی کنیم که آیا هر صفت در </a:t>
            </a:r>
            <a:r>
              <a:rPr lang="el-GR" dirty="0"/>
              <a:t>β </a:t>
            </a:r>
            <a:r>
              <a:rPr lang="fa-IR" dirty="0"/>
              <a:t>در یکی از </a:t>
            </a:r>
            <a:r>
              <a:rPr lang="fa-IR" b="1" dirty="0"/>
              <a:t>کلیدهای کاندید</a:t>
            </a:r>
            <a:r>
              <a:rPr lang="fa-IR" dirty="0"/>
              <a:t> </a:t>
            </a:r>
            <a:r>
              <a:rPr lang="en-US" dirty="0"/>
              <a:t>R </a:t>
            </a:r>
            <a:r>
              <a:rPr lang="fa-IR" dirty="0"/>
              <a:t>موجود است یا خیر.</a:t>
            </a:r>
          </a:p>
          <a:p>
            <a:pPr algn="r" rtl="1"/>
            <a:r>
              <a:rPr lang="fa-IR" dirty="0"/>
              <a:t>این آزمون نسبتاً پرهزینه است، زیرا شامل پیدا کردن کلیدهای کاندید </a:t>
            </a:r>
            <a:r>
              <a:rPr lang="fa-IR" dirty="0" err="1"/>
              <a:t>می‌شود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آزمون برای 3</a:t>
            </a:r>
            <a:r>
              <a:rPr lang="en-US" dirty="0"/>
              <a:t>NF </a:t>
            </a:r>
            <a:r>
              <a:rPr lang="fa-IR" dirty="0"/>
              <a:t>نشان داده شده که </a:t>
            </a:r>
            <a:r>
              <a:rPr lang="fa-IR" b="1" dirty="0" err="1"/>
              <a:t>مسئله‌ای</a:t>
            </a:r>
            <a:r>
              <a:rPr lang="fa-IR" b="1" dirty="0"/>
              <a:t> </a:t>
            </a:r>
            <a:r>
              <a:rPr lang="en-US" b="1" dirty="0"/>
              <a:t>NP-hard</a:t>
            </a:r>
            <a:r>
              <a:rPr lang="en-US" dirty="0"/>
              <a:t> </a:t>
            </a:r>
            <a:r>
              <a:rPr lang="fa-IR" dirty="0"/>
              <a:t>است.</a:t>
            </a:r>
          </a:p>
          <a:p>
            <a:pPr algn="r" rtl="1"/>
            <a:r>
              <a:rPr lang="fa-IR" dirty="0"/>
              <a:t>جالب اینکه، </a:t>
            </a:r>
            <a:r>
              <a:rPr lang="fa-IR" b="1" dirty="0"/>
              <a:t>تجزیه به سومین فرم نرمال</a:t>
            </a:r>
            <a:r>
              <a:rPr lang="fa-IR" dirty="0"/>
              <a:t> (که به زودی توضیح داده </a:t>
            </a:r>
            <a:r>
              <a:rPr lang="fa-IR" dirty="0" err="1"/>
              <a:t>می‌شود</a:t>
            </a:r>
            <a:r>
              <a:rPr lang="fa-IR" dirty="0"/>
              <a:t>) </a:t>
            </a:r>
            <a:r>
              <a:rPr lang="fa-IR" dirty="0" err="1"/>
              <a:t>می‌تواند</a:t>
            </a:r>
            <a:r>
              <a:rPr lang="fa-IR" dirty="0"/>
              <a:t> در </a:t>
            </a:r>
            <a:r>
              <a:rPr lang="fa-IR" b="1" dirty="0"/>
              <a:t>زمان </a:t>
            </a:r>
            <a:r>
              <a:rPr lang="fa-IR" b="1" dirty="0" err="1"/>
              <a:t>چندجمله‌ای</a:t>
            </a:r>
            <a:r>
              <a:rPr lang="fa-IR" dirty="0"/>
              <a:t> انجام شود.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3NF Decomposition Algorithm</a:t>
            </a:r>
          </a:p>
        </p:txBody>
      </p:sp>
      <p:sp>
        <p:nvSpPr>
          <p:cNvPr id="73731" name="Rectangle 3"/>
          <p:cNvSpPr>
            <a:spLocks noGrp="1" noChangeArrowheads="1"/>
          </p:cNvSpPr>
          <p:nvPr>
            <p:ph idx="1"/>
          </p:nvPr>
        </p:nvSpPr>
        <p:spPr>
          <a:xfrm>
            <a:off x="266700" y="1012825"/>
            <a:ext cx="8578850" cy="5727700"/>
          </a:xfrm>
        </p:spPr>
        <p:txBody>
          <a:bodyPr/>
          <a:lstStyle/>
          <a:p>
            <a:pPr>
              <a:lnSpc>
                <a:spcPct val="90000"/>
              </a:lnSpc>
              <a:buFont typeface="Monotype Sorts" pitchFamily="-84" charset="2"/>
              <a:buNone/>
              <a:tabLst>
                <a:tab pos="461963" algn="l"/>
                <a:tab pos="1027113" algn="l"/>
                <a:tab pos="1309688" algn="l"/>
                <a:tab pos="1711325" algn="l"/>
              </a:tabLst>
            </a:pPr>
            <a:r>
              <a:rPr lang="en-US" altLang="en-US" dirty="0"/>
              <a:t>	Let </a:t>
            </a:r>
            <a:r>
              <a:rPr lang="en-US" altLang="en-US" i="1" dirty="0"/>
              <a:t>F</a:t>
            </a:r>
            <a:r>
              <a:rPr lang="en-US" altLang="en-US" sz="2000" i="1" baseline="-25000" dirty="0"/>
              <a:t>c</a:t>
            </a:r>
            <a:r>
              <a:rPr lang="en-US" altLang="en-US" i="1" dirty="0"/>
              <a:t> </a:t>
            </a:r>
            <a:r>
              <a:rPr lang="en-US" altLang="en-US" dirty="0"/>
              <a:t>be a canonical cover for </a:t>
            </a:r>
            <a:r>
              <a:rPr lang="en-US" altLang="en-US" i="1" dirty="0"/>
              <a:t>F;</a:t>
            </a:r>
            <a:br>
              <a:rPr lang="en-US" altLang="en-US" i="1" dirty="0"/>
            </a:br>
            <a:r>
              <a:rPr lang="en-US" altLang="en-US" i="1" dirty="0" err="1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:= 0;</a:t>
            </a:r>
            <a:br>
              <a:rPr lang="en-US" altLang="en-US" dirty="0"/>
            </a:br>
            <a:r>
              <a:rPr lang="en-US" altLang="en-US" b="1" dirty="0"/>
              <a:t>for each </a:t>
            </a:r>
            <a:r>
              <a:rPr lang="en-US" altLang="en-US" dirty="0"/>
              <a:t> functional dependency </a:t>
            </a:r>
            <a:r>
              <a:rPr lang="en-US" altLang="en-US" dirty="0">
                <a:sym typeface="Symbol" panose="05050102010706020507" pitchFamily="18" charset="2"/>
              </a:rPr>
              <a:t>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</a:t>
            </a:r>
            <a:r>
              <a:rPr lang="en-US" altLang="en-US" dirty="0">
                <a:sym typeface="Monotype Sorts" pitchFamily="-84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Greek Symbols"/>
              </a:rPr>
              <a:t>in </a:t>
            </a:r>
            <a:r>
              <a:rPr lang="en-US" altLang="en-US" i="1" dirty="0">
                <a:sym typeface="Greek Symbols"/>
              </a:rPr>
              <a:t>F</a:t>
            </a:r>
            <a:r>
              <a:rPr lang="en-US" altLang="en-US" sz="2000" i="1" baseline="-25000" dirty="0">
                <a:sym typeface="Greek Symbols"/>
              </a:rPr>
              <a:t>c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b="1" dirty="0">
                <a:sym typeface="Greek Symbols"/>
              </a:rPr>
              <a:t>do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if </a:t>
            </a:r>
            <a:r>
              <a:rPr lang="en-US" altLang="en-US" dirty="0">
                <a:sym typeface="Greek Symbols"/>
              </a:rPr>
              <a:t>none of the schemas </a:t>
            </a:r>
            <a:r>
              <a:rPr lang="en-US" altLang="en-US" i="1" dirty="0" err="1">
                <a:sym typeface="Greek Symbols"/>
              </a:rPr>
              <a:t>R</a:t>
            </a:r>
            <a:r>
              <a:rPr lang="en-US" altLang="en-US" i="1" baseline="-25000" dirty="0" err="1">
                <a:sym typeface="Greek Symbols"/>
              </a:rPr>
              <a:t>j</a:t>
            </a:r>
            <a:r>
              <a:rPr lang="en-US" altLang="en-US" i="1" dirty="0">
                <a:sym typeface="Greek Symbols"/>
              </a:rPr>
              <a:t>, </a:t>
            </a:r>
            <a:r>
              <a:rPr lang="en-US" altLang="en-US" dirty="0">
                <a:sym typeface="Greek Symbols"/>
              </a:rPr>
              <a:t>1 </a:t>
            </a:r>
            <a:r>
              <a:rPr lang="en-US" altLang="en-US" dirty="0">
                <a:sym typeface="Symbol" panose="05050102010706020507" pitchFamily="18" charset="2"/>
              </a:rPr>
              <a:t> </a:t>
            </a:r>
            <a:r>
              <a:rPr lang="en-US" altLang="en-US" i="1" dirty="0">
                <a:sym typeface="Symbol" panose="05050102010706020507" pitchFamily="18" charset="2"/>
              </a:rPr>
              <a:t>j 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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i="1" dirty="0" err="1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contains  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		</a:t>
            </a:r>
            <a:r>
              <a:rPr lang="en-US" altLang="en-US" b="1" dirty="0">
                <a:sym typeface="Greek Symbols"/>
              </a:rPr>
              <a:t>then begin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				</a:t>
            </a:r>
            <a:r>
              <a:rPr lang="en-US" altLang="en-US" i="1" dirty="0" err="1">
                <a:sym typeface="Greek Symbols"/>
              </a:rPr>
              <a:t>i</a:t>
            </a:r>
            <a:r>
              <a:rPr lang="en-US" altLang="en-US" i="1" dirty="0">
                <a:sym typeface="Greek Symbols"/>
              </a:rPr>
              <a:t> </a:t>
            </a:r>
            <a:r>
              <a:rPr lang="en-US" altLang="en-US" dirty="0">
                <a:sym typeface="Greek Symbols"/>
              </a:rPr>
              <a:t>:= </a:t>
            </a:r>
            <a:r>
              <a:rPr lang="en-US" altLang="en-US" i="1" dirty="0" err="1">
                <a:sym typeface="Greek Symbols"/>
              </a:rPr>
              <a:t>i</a:t>
            </a:r>
            <a:r>
              <a:rPr lang="en-US" altLang="en-US" i="1" dirty="0">
                <a:sym typeface="Greek Symbols"/>
              </a:rPr>
              <a:t>  + </a:t>
            </a:r>
            <a:r>
              <a:rPr lang="en-US" altLang="en-US" dirty="0">
                <a:sym typeface="Greek Symbols"/>
              </a:rPr>
              <a:t>1;</a:t>
            </a:r>
            <a:br>
              <a:rPr lang="en-US" altLang="en-US" dirty="0">
                <a:sym typeface="Greek Symbols"/>
              </a:rPr>
            </a:br>
            <a:r>
              <a:rPr lang="en-US" altLang="en-US" dirty="0">
                <a:sym typeface="Greek Symbols"/>
              </a:rPr>
              <a:t>				</a:t>
            </a:r>
            <a:r>
              <a:rPr lang="en-US" altLang="en-US" i="1" dirty="0">
                <a:sym typeface="Greek Symbols"/>
              </a:rPr>
              <a:t>R</a:t>
            </a:r>
            <a:r>
              <a:rPr lang="en-US" altLang="en-US" i="1" baseline="-25000" dirty="0">
                <a:sym typeface="Greek Symbols"/>
              </a:rPr>
              <a:t>i </a:t>
            </a:r>
            <a:r>
              <a:rPr lang="en-US" altLang="en-US" dirty="0">
                <a:sym typeface="Greek Symbols"/>
              </a:rPr>
              <a:t> := </a:t>
            </a:r>
            <a:r>
              <a:rPr lang="en-US" altLang="en-US" dirty="0">
                <a:sym typeface="Symbol" panose="05050102010706020507" pitchFamily="18" charset="2"/>
              </a:rPr>
              <a:t>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</a:t>
            </a:r>
            <a:r>
              <a:rPr lang="en-US" altLang="en-US" i="1" dirty="0">
                <a:sym typeface="Greek Symbols"/>
              </a:rPr>
              <a:t> </a:t>
            </a:r>
            <a:br>
              <a:rPr lang="en-US" altLang="en-US" i="1" dirty="0">
                <a:sym typeface="Greek Symbols"/>
              </a:rPr>
            </a:br>
            <a:r>
              <a:rPr lang="en-US" altLang="en-US" i="1" dirty="0">
                <a:sym typeface="Greek Symbols"/>
              </a:rPr>
              <a:t>			</a:t>
            </a:r>
            <a:r>
              <a:rPr lang="en-US" altLang="en-US" b="1" dirty="0">
                <a:sym typeface="Greek Symbols"/>
              </a:rPr>
              <a:t>end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if</a:t>
            </a:r>
            <a:r>
              <a:rPr lang="en-US" altLang="en-US" dirty="0">
                <a:sym typeface="Greek Symbols"/>
              </a:rPr>
              <a:t> none of the schemas </a:t>
            </a:r>
            <a:r>
              <a:rPr lang="en-US" altLang="en-US" i="1" dirty="0" err="1">
                <a:sym typeface="Greek Symbols"/>
              </a:rPr>
              <a:t>R</a:t>
            </a:r>
            <a:r>
              <a:rPr lang="en-US" altLang="en-US" sz="2400" i="1" baseline="-25000" dirty="0" err="1">
                <a:sym typeface="Greek Symbols"/>
              </a:rPr>
              <a:t>j</a:t>
            </a:r>
            <a:r>
              <a:rPr lang="en-US" altLang="en-US" i="1" dirty="0">
                <a:sym typeface="Greek Symbols"/>
              </a:rPr>
              <a:t>, </a:t>
            </a:r>
            <a:r>
              <a:rPr lang="en-US" altLang="en-US" dirty="0">
                <a:sym typeface="Greek Symbols"/>
              </a:rPr>
              <a:t>1 </a:t>
            </a:r>
            <a:r>
              <a:rPr lang="en-US" altLang="en-US" dirty="0">
                <a:sym typeface="Symbol" panose="05050102010706020507" pitchFamily="18" charset="2"/>
              </a:rPr>
              <a:t> </a:t>
            </a:r>
            <a:r>
              <a:rPr lang="en-US" altLang="en-US" i="1" dirty="0">
                <a:sym typeface="Symbol" panose="05050102010706020507" pitchFamily="18" charset="2"/>
              </a:rPr>
              <a:t>j </a:t>
            </a:r>
            <a:r>
              <a:rPr lang="en-US" altLang="en-US" dirty="0">
                <a:sym typeface="Greek Symbols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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i="1" dirty="0" err="1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contains a candidate key for </a:t>
            </a:r>
            <a:r>
              <a:rPr lang="en-US" altLang="en-US" i="1" dirty="0">
                <a:sym typeface="Symbol" panose="05050102010706020507" pitchFamily="18" charset="2"/>
              </a:rPr>
              <a:t>R</a:t>
            </a:r>
            <a:br>
              <a:rPr lang="en-US" altLang="en-US" i="1" dirty="0">
                <a:sym typeface="Symbol" panose="05050102010706020507" pitchFamily="18" charset="2"/>
              </a:rPr>
            </a:br>
            <a:r>
              <a:rPr lang="en-US" altLang="en-US" i="1" dirty="0">
                <a:sym typeface="Symbol" panose="05050102010706020507" pitchFamily="18" charset="2"/>
              </a:rPr>
              <a:t>	</a:t>
            </a:r>
            <a:r>
              <a:rPr lang="en-US" altLang="en-US" b="1" dirty="0">
                <a:sym typeface="Symbol" panose="05050102010706020507" pitchFamily="18" charset="2"/>
              </a:rPr>
              <a:t>then begin</a:t>
            </a:r>
            <a:br>
              <a:rPr lang="en-US" altLang="en-US" b="1" dirty="0">
                <a:sym typeface="Symbol" panose="05050102010706020507" pitchFamily="18" charset="2"/>
              </a:rPr>
            </a:br>
            <a:r>
              <a:rPr lang="en-US" altLang="en-US" b="1" dirty="0">
                <a:sym typeface="Symbol" panose="05050102010706020507" pitchFamily="18" charset="2"/>
              </a:rPr>
              <a:t>			</a:t>
            </a:r>
            <a:r>
              <a:rPr lang="en-US" altLang="en-US" i="1" dirty="0" err="1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:=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i="1" dirty="0" err="1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 + 1;</a:t>
            </a:r>
            <a:br>
              <a:rPr lang="en-US" altLang="en-US" dirty="0">
                <a:sym typeface="Symbol" panose="05050102010706020507" pitchFamily="18" charset="2"/>
              </a:rPr>
            </a:br>
            <a:r>
              <a:rPr lang="en-US" altLang="en-US" dirty="0">
                <a:sym typeface="Symbol" panose="05050102010706020507" pitchFamily="18" charset="2"/>
              </a:rPr>
              <a:t>			</a:t>
            </a:r>
            <a:r>
              <a:rPr lang="en-US" altLang="en-US" i="1" dirty="0">
                <a:sym typeface="Symbol" panose="05050102010706020507" pitchFamily="18" charset="2"/>
              </a:rPr>
              <a:t>R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i</a:t>
            </a:r>
            <a:r>
              <a:rPr lang="en-US" altLang="en-US" dirty="0">
                <a:sym typeface="Symbol" panose="05050102010706020507" pitchFamily="18" charset="2"/>
              </a:rPr>
              <a:t> := any candidate key for </a:t>
            </a:r>
            <a:r>
              <a:rPr lang="en-US" altLang="en-US" i="1" dirty="0">
                <a:sym typeface="Symbol" panose="05050102010706020507" pitchFamily="18" charset="2"/>
              </a:rPr>
              <a:t>R;</a:t>
            </a:r>
            <a:br>
              <a:rPr lang="en-US" altLang="en-US" i="1" dirty="0">
                <a:sym typeface="Symbol" panose="05050102010706020507" pitchFamily="18" charset="2"/>
              </a:rPr>
            </a:br>
            <a:r>
              <a:rPr lang="en-US" altLang="en-US" i="1" dirty="0">
                <a:sym typeface="Symbol" panose="05050102010706020507" pitchFamily="18" charset="2"/>
              </a:rPr>
              <a:t>		</a:t>
            </a:r>
            <a:r>
              <a:rPr lang="en-US" altLang="en-US" b="1" dirty="0">
                <a:sym typeface="Symbol" panose="05050102010706020507" pitchFamily="18" charset="2"/>
              </a:rPr>
              <a:t>end </a:t>
            </a:r>
            <a:br>
              <a:rPr lang="en-US" altLang="en-US" b="1" dirty="0">
                <a:sym typeface="Symbol" panose="05050102010706020507" pitchFamily="18" charset="2"/>
              </a:rPr>
            </a:br>
            <a:r>
              <a:rPr lang="en-US" altLang="en-US" dirty="0">
                <a:sym typeface="Symbol" panose="05050102010706020507" pitchFamily="18" charset="2"/>
              </a:rPr>
              <a:t>/* Optionally, remove redundant relations */</a:t>
            </a:r>
          </a:p>
          <a:p>
            <a:pPr>
              <a:lnSpc>
                <a:spcPct val="90000"/>
              </a:lnSpc>
              <a:buFont typeface="Monotype Sorts" pitchFamily="-84" charset="2"/>
              <a:buNone/>
              <a:tabLst>
                <a:tab pos="461963" algn="l"/>
                <a:tab pos="1027113" algn="l"/>
                <a:tab pos="1309688" algn="l"/>
                <a:tab pos="1711325" algn="l"/>
              </a:tabLst>
            </a:pPr>
            <a:r>
              <a:rPr lang="en-US" altLang="en-US" b="1" dirty="0">
                <a:sym typeface="Symbol" panose="05050102010706020507" pitchFamily="18" charset="2"/>
              </a:rPr>
              <a:t>      repeat</a:t>
            </a:r>
            <a:br>
              <a:rPr lang="en-US" altLang="en-US" b="1" dirty="0">
                <a:sym typeface="Symbol" panose="05050102010706020507" pitchFamily="18" charset="2"/>
              </a:rPr>
            </a:br>
            <a:r>
              <a:rPr lang="en-US" altLang="en-US" b="1" dirty="0">
                <a:sym typeface="Symbol" panose="05050102010706020507" pitchFamily="18" charset="2"/>
              </a:rPr>
              <a:t>if </a:t>
            </a:r>
            <a:r>
              <a:rPr lang="en-US" altLang="en-US" dirty="0">
                <a:sym typeface="Symbol" panose="05050102010706020507" pitchFamily="18" charset="2"/>
              </a:rPr>
              <a:t>any schema </a:t>
            </a:r>
            <a:r>
              <a:rPr lang="en-US" altLang="en-US" i="1" dirty="0" err="1">
                <a:sym typeface="Symbol" panose="05050102010706020507" pitchFamily="18" charset="2"/>
              </a:rPr>
              <a:t>R</a:t>
            </a:r>
            <a:r>
              <a:rPr lang="en-US" altLang="en-US" i="1" baseline="-25000" dirty="0" err="1">
                <a:sym typeface="Symbol" panose="05050102010706020507" pitchFamily="18" charset="2"/>
              </a:rPr>
              <a:t>j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 </a:t>
            </a:r>
            <a:r>
              <a:rPr lang="en-US" altLang="en-US" dirty="0">
                <a:sym typeface="Symbol" panose="05050102010706020507" pitchFamily="18" charset="2"/>
              </a:rPr>
              <a:t>is contained in another schema </a:t>
            </a:r>
            <a:r>
              <a:rPr lang="en-US" altLang="en-US" i="1" dirty="0" err="1">
                <a:sym typeface="Symbol" panose="05050102010706020507" pitchFamily="18" charset="2"/>
              </a:rPr>
              <a:t>R</a:t>
            </a:r>
            <a:r>
              <a:rPr lang="en-US" altLang="en-US" sz="2400" i="1" baseline="-25000" dirty="0" err="1">
                <a:sym typeface="Symbol" panose="05050102010706020507" pitchFamily="18" charset="2"/>
              </a:rPr>
              <a:t>k</a:t>
            </a:r>
            <a:br>
              <a:rPr lang="en-US" altLang="en-US" sz="2400" i="1" baseline="-25000" dirty="0">
                <a:sym typeface="Symbol" panose="05050102010706020507" pitchFamily="18" charset="2"/>
              </a:rPr>
            </a:br>
            <a:r>
              <a:rPr lang="en-US" altLang="en-US" sz="2400" i="1" baseline="-25000" dirty="0">
                <a:sym typeface="Symbol" panose="05050102010706020507" pitchFamily="18" charset="2"/>
              </a:rPr>
              <a:t>        </a:t>
            </a:r>
            <a:r>
              <a:rPr lang="en-US" altLang="en-US" b="1" dirty="0">
                <a:sym typeface="Greek Symbols"/>
              </a:rPr>
              <a:t>then /* </a:t>
            </a:r>
            <a:r>
              <a:rPr lang="en-US" altLang="en-US" dirty="0">
                <a:sym typeface="Greek Symbols"/>
              </a:rPr>
              <a:t>delete </a:t>
            </a:r>
            <a:r>
              <a:rPr lang="en-US" altLang="en-US" i="1" dirty="0" err="1">
                <a:sym typeface="Symbol" panose="05050102010706020507" pitchFamily="18" charset="2"/>
              </a:rPr>
              <a:t>R</a:t>
            </a:r>
            <a:r>
              <a:rPr lang="en-US" altLang="en-US" i="1" baseline="-25000" dirty="0" err="1">
                <a:sym typeface="Symbol" panose="05050102010706020507" pitchFamily="18" charset="2"/>
              </a:rPr>
              <a:t>j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  </a:t>
            </a:r>
            <a:r>
              <a:rPr lang="en-US" altLang="en-US" b="1" dirty="0">
                <a:sym typeface="Greek Symbols"/>
              </a:rPr>
              <a:t>*/</a:t>
            </a:r>
            <a:br>
              <a:rPr lang="en-US" altLang="en-US" b="1" dirty="0">
                <a:sym typeface="Greek Symbols"/>
              </a:rPr>
            </a:br>
            <a:r>
              <a:rPr lang="en-US" altLang="en-US" b="1" dirty="0">
                <a:sym typeface="Greek Symbols"/>
              </a:rPr>
              <a:t>           </a:t>
            </a:r>
            <a:r>
              <a:rPr lang="en-US" altLang="en-US" i="1" dirty="0" err="1">
                <a:sym typeface="Symbol" panose="05050102010706020507" pitchFamily="18" charset="2"/>
              </a:rPr>
              <a:t>R</a:t>
            </a:r>
            <a:r>
              <a:rPr lang="en-US" altLang="en-US" i="1" baseline="-25000" dirty="0" err="1">
                <a:sym typeface="Symbol" panose="05050102010706020507" pitchFamily="18" charset="2"/>
              </a:rPr>
              <a:t>j</a:t>
            </a:r>
            <a:r>
              <a:rPr lang="en-US" altLang="en-US" i="1" baseline="-25000" dirty="0">
                <a:sym typeface="Symbol" panose="05050102010706020507" pitchFamily="18" charset="2"/>
              </a:rPr>
              <a:t> </a:t>
            </a:r>
            <a:r>
              <a:rPr lang="en-US" altLang="en-US" i="1" dirty="0">
                <a:sym typeface="Symbol" panose="05050102010706020507" pitchFamily="18" charset="2"/>
              </a:rPr>
              <a:t>= R;;</a:t>
            </a:r>
            <a:br>
              <a:rPr lang="en-US" altLang="en-US" i="1" dirty="0">
                <a:sym typeface="Symbol" panose="05050102010706020507" pitchFamily="18" charset="2"/>
              </a:rPr>
            </a:br>
            <a:r>
              <a:rPr lang="en-US" altLang="en-US" i="1" dirty="0">
                <a:sym typeface="Symbol" panose="05050102010706020507" pitchFamily="18" charset="2"/>
              </a:rPr>
              <a:t>           </a:t>
            </a:r>
            <a:r>
              <a:rPr lang="en-US" altLang="en-US" i="1" dirty="0" err="1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=i-1;</a:t>
            </a:r>
            <a:br>
              <a:rPr lang="en-US" altLang="en-US" dirty="0">
                <a:sym typeface="Greek Symbols"/>
              </a:rPr>
            </a:br>
            <a:r>
              <a:rPr lang="en-US" altLang="en-US" b="1" dirty="0">
                <a:sym typeface="Symbol" panose="05050102010706020507" pitchFamily="18" charset="2"/>
              </a:rPr>
              <a:t>return </a:t>
            </a:r>
            <a:r>
              <a:rPr lang="en-US" altLang="en-US" i="1" dirty="0">
                <a:sym typeface="Symbol" panose="05050102010706020507" pitchFamily="18" charset="2"/>
              </a:rPr>
              <a:t>(R</a:t>
            </a:r>
            <a:r>
              <a:rPr lang="en-US" altLang="en-US" sz="2000" baseline="-25000" dirty="0">
                <a:sym typeface="Symbol" panose="05050102010706020507" pitchFamily="18" charset="2"/>
              </a:rPr>
              <a:t>1</a:t>
            </a:r>
            <a:r>
              <a:rPr lang="en-US" altLang="en-US" dirty="0">
                <a:sym typeface="Symbol" panose="05050102010706020507" pitchFamily="18" charset="2"/>
              </a:rPr>
              <a:t>, </a:t>
            </a:r>
            <a:r>
              <a:rPr lang="en-US" altLang="en-US" i="1" dirty="0">
                <a:sym typeface="Symbol" panose="05050102010706020507" pitchFamily="18" charset="2"/>
              </a:rPr>
              <a:t>R</a:t>
            </a:r>
            <a:r>
              <a:rPr lang="en-US" altLang="en-US" sz="2000" baseline="-25000" dirty="0">
                <a:sym typeface="Symbol" panose="05050102010706020507" pitchFamily="18" charset="2"/>
              </a:rPr>
              <a:t>2</a:t>
            </a:r>
            <a:r>
              <a:rPr lang="en-US" altLang="en-US" dirty="0">
                <a:sym typeface="Symbol" panose="05050102010706020507" pitchFamily="18" charset="2"/>
              </a:rPr>
              <a:t>, ..., </a:t>
            </a:r>
            <a:r>
              <a:rPr lang="en-US" altLang="en-US" i="1" dirty="0">
                <a:sym typeface="Symbol" panose="05050102010706020507" pitchFamily="18" charset="2"/>
              </a:rPr>
              <a:t>R</a:t>
            </a:r>
            <a:r>
              <a:rPr lang="en-US" altLang="en-US" sz="2400" i="1" baseline="-25000" dirty="0">
                <a:sym typeface="Symbol" panose="05050102010706020507" pitchFamily="18" charset="2"/>
              </a:rPr>
              <a:t>i</a:t>
            </a:r>
            <a:r>
              <a:rPr lang="en-US" altLang="en-US" i="1" dirty="0">
                <a:sym typeface="Symbol" panose="05050102010706020507" pitchFamily="18" charset="2"/>
              </a:rPr>
              <a:t>)</a:t>
            </a:r>
            <a:r>
              <a:rPr lang="en-US" altLang="en-US" i="1" dirty="0">
                <a:sym typeface="Greek Symbols"/>
              </a:rPr>
              <a:t>	</a:t>
            </a:r>
            <a:r>
              <a:rPr lang="en-US" altLang="en-US" sz="1600" i="1" dirty="0">
                <a:sym typeface="Greek Symbols"/>
              </a:rPr>
              <a:t>	    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6667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3NF Decomposition Algorithm (Cont.)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673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1056444" y="1612221"/>
                <a:ext cx="7315199" cy="1335516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هر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3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/>
                <a:r>
                  <a:rPr lang="fa-IR" dirty="0"/>
                  <a:t>تجزیه </a:t>
                </a:r>
                <a:r>
                  <a:rPr lang="fa-IR" b="1" dirty="0" err="1"/>
                  <a:t>حفظ‌کننده</a:t>
                </a:r>
                <a:r>
                  <a:rPr lang="fa-IR" b="1" dirty="0"/>
                  <a:t> </a:t>
                </a:r>
                <a:r>
                  <a:rPr lang="fa-IR" b="1" dirty="0" err="1"/>
                  <a:t>وابستگی‌ها</a:t>
                </a:r>
                <a:r>
                  <a:rPr lang="fa-IR" dirty="0"/>
                  <a:t> و </a:t>
                </a:r>
                <a:r>
                  <a:rPr lang="fa-IR" b="1" dirty="0"/>
                  <a:t>بدون از دست دادن اطلاعات (</a:t>
                </a:r>
                <a:r>
                  <a:rPr lang="en-US" b="1" dirty="0"/>
                  <a:t>lossless-join)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/>
                <a:r>
                  <a:rPr lang="fa-IR" dirty="0"/>
                  <a:t>اثبات صحت این روش در انتهای این ارائه آمده است (برای مشاهده، اینجا کلیک کنید).</a:t>
                </a:r>
              </a:p>
              <a:p>
                <a:pPr algn="r" rtl="1">
                  <a:lnSpc>
                    <a:spcPct val="90000"/>
                  </a:lnSpc>
                  <a:spcBef>
                    <a:spcPct val="50000"/>
                  </a:spcBef>
                  <a:defRPr/>
                </a:pPr>
                <a:endParaRPr lang="en-US" dirty="0">
                  <a:ea typeface="+mn-ea"/>
                  <a:sym typeface="Monotype Sorts" charset="0"/>
                </a:endParaRPr>
              </a:p>
            </p:txBody>
          </p:sp>
        </mc:Choice>
        <mc:Fallback xmlns="">
          <p:sp>
            <p:nvSpPr>
              <p:cNvPr id="7567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6444" y="1612221"/>
                <a:ext cx="7315199" cy="1335516"/>
              </a:xfrm>
              <a:blipFill>
                <a:blip r:embed="rId3"/>
                <a:stretch>
                  <a:fillRect t="-5000" r="-1000" b="-2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/>
          <p:cNvSpPr txBox="1"/>
          <p:nvPr/>
        </p:nvSpPr>
        <p:spPr>
          <a:xfrm>
            <a:off x="3252510" y="1242889"/>
            <a:ext cx="4942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800" dirty="0" err="1"/>
              <a:t>الگوریتم</a:t>
            </a:r>
            <a:r>
              <a:rPr lang="fa-IR" sz="1800" dirty="0"/>
              <a:t> بالا تضمین </a:t>
            </a:r>
            <a:r>
              <a:rPr lang="fa-IR" sz="1800" dirty="0" err="1"/>
              <a:t>می‌کند</a:t>
            </a:r>
            <a:r>
              <a:rPr lang="fa-IR" sz="1800" dirty="0"/>
              <a:t> که: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3NF Decomposition: An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77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200416" y="1115510"/>
                <a:ext cx="8830850" cy="4202446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:</a:t>
                </a:r>
                <a:br>
                  <a:rPr lang="fa-IR" dirty="0"/>
                </a:br>
                <a:r>
                  <a:rPr lang="en-US" b="1" dirty="0" err="1"/>
                  <a:t>cust_banker_branch</a:t>
                </a:r>
                <a:r>
                  <a:rPr lang="en-US" dirty="0"/>
                  <a:t> = (</a:t>
                </a:r>
                <a:r>
                  <a:rPr lang="en-US" dirty="0" err="1"/>
                  <a:t>customer_id</a:t>
                </a:r>
                <a:r>
                  <a:rPr lang="en-US" dirty="0"/>
                  <a:t>, </a:t>
                </a:r>
                <a:r>
                  <a:rPr lang="en-US" dirty="0" err="1"/>
                  <a:t>employee_id</a:t>
                </a:r>
                <a:r>
                  <a:rPr lang="en-US" dirty="0"/>
                  <a:t>, </a:t>
                </a:r>
                <a:r>
                  <a:rPr lang="en-US" dirty="0" err="1"/>
                  <a:t>branch_name</a:t>
                </a:r>
                <a:r>
                  <a:rPr lang="en-US" dirty="0"/>
                  <a:t>, type)</a:t>
                </a:r>
              </a:p>
              <a:p>
                <a:pPr algn="r" rtl="1"/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برای این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عبارتند از:</a:t>
                </a:r>
              </a:p>
              <a:p>
                <a:pPr algn="r" rtl="1"/>
                <a:r>
                  <a:rPr lang="en-US" dirty="0" err="1"/>
                  <a:t>customer_id</a:t>
                </a:r>
                <a:r>
                  <a:rPr lang="en-US" dirty="0"/>
                  <a:t>, </a:t>
                </a:r>
                <a:r>
                  <a:rPr lang="en-US" dirty="0" err="1"/>
                  <a:t>employee_id</a:t>
                </a:r>
                <a:r>
                  <a:rPr lang="en-US" dirty="0"/>
                  <a:t> → </a:t>
                </a:r>
                <a:r>
                  <a:rPr lang="en-US" dirty="0" err="1"/>
                  <a:t>branch_name</a:t>
                </a:r>
                <a:r>
                  <a:rPr lang="en-US" dirty="0"/>
                  <a:t>, type</a:t>
                </a:r>
              </a:p>
              <a:p>
                <a:pPr algn="r" rtl="1"/>
                <a:r>
                  <a:rPr lang="en-US" dirty="0" err="1"/>
                  <a:t>employee_id</a:t>
                </a:r>
                <a:r>
                  <a:rPr lang="en-US" dirty="0"/>
                  <a:t> → </a:t>
                </a:r>
                <a:r>
                  <a:rPr lang="en-US" dirty="0" err="1"/>
                  <a:t>branch_name</a:t>
                </a:r>
                <a:endParaRPr lang="en-US" dirty="0"/>
              </a:p>
              <a:p>
                <a:pPr algn="r" rtl="1"/>
                <a:r>
                  <a:rPr lang="en-US" dirty="0" err="1"/>
                  <a:t>customer_id</a:t>
                </a:r>
                <a:r>
                  <a:rPr lang="en-US" dirty="0"/>
                  <a:t>, </a:t>
                </a:r>
                <a:r>
                  <a:rPr lang="en-US" dirty="0" err="1"/>
                  <a:t>branch_name</a:t>
                </a:r>
                <a:r>
                  <a:rPr lang="en-US" dirty="0"/>
                  <a:t> → </a:t>
                </a:r>
                <a:r>
                  <a:rPr lang="en-US" dirty="0" err="1"/>
                  <a:t>employee_id</a:t>
                </a:r>
                <a:endParaRPr lang="en-US" dirty="0"/>
              </a:p>
              <a:p>
                <a:pPr algn="r" rtl="1"/>
                <a:r>
                  <a:rPr lang="fa-IR" dirty="0"/>
                  <a:t>ابتدا یک </a:t>
                </a:r>
                <a:r>
                  <a:rPr lang="fa-IR" b="1" dirty="0"/>
                  <a:t>پوشش کانونی (</a:t>
                </a:r>
                <a:r>
                  <a:rPr lang="en-US" b="1" dirty="0"/>
                  <a:t>canonical cover)</a:t>
                </a:r>
                <a:r>
                  <a:rPr lang="en-US" dirty="0"/>
                  <a:t> </a:t>
                </a:r>
                <a:r>
                  <a:rPr lang="fa-IR" dirty="0"/>
                  <a:t>محاسبه </a:t>
                </a:r>
                <a:r>
                  <a:rPr lang="fa-IR" dirty="0" err="1"/>
                  <a:t>می‌کنیم</a:t>
                </a:r>
                <a:r>
                  <a:rPr lang="fa-IR" dirty="0"/>
                  <a:t>:</a:t>
                </a:r>
              </a:p>
              <a:p>
                <a:pPr algn="r" rtl="1"/>
                <a:r>
                  <a:rPr lang="en-US" dirty="0" err="1"/>
                  <a:t>branch_name</a:t>
                </a:r>
                <a:r>
                  <a:rPr lang="en-US" dirty="0"/>
                  <a:t> </a:t>
                </a:r>
                <a:r>
                  <a:rPr lang="fa-IR" dirty="0"/>
                  <a:t>در سمت راست وابستگی اول </a:t>
                </a:r>
                <a:r>
                  <a:rPr lang="fa-IR" dirty="0" err="1"/>
                  <a:t>غیرضروری</a:t>
                </a:r>
                <a:r>
                  <a:rPr lang="fa-IR" dirty="0"/>
                  <a:t> است.</a:t>
                </a:r>
              </a:p>
              <a:p>
                <a:pPr algn="r" rtl="1"/>
                <a:r>
                  <a:rPr lang="fa-IR" dirty="0"/>
                  <a:t>هیچ صفت دیگری </a:t>
                </a:r>
                <a:r>
                  <a:rPr lang="fa-IR" dirty="0" err="1"/>
                  <a:t>غیرضروری</a:t>
                </a:r>
                <a:r>
                  <a:rPr lang="fa-IR" dirty="0"/>
                  <a:t> نیست، بنابراین پوشش کانونی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fa-IR" dirty="0"/>
                  <a:t>به صورت زیر است:</a:t>
                </a:r>
              </a:p>
              <a:p>
                <a:pPr lvl="1" algn="r" rtl="1"/>
                <a:r>
                  <a:rPr lang="en-US" dirty="0" err="1"/>
                  <a:t>customer_id</a:t>
                </a:r>
                <a:r>
                  <a:rPr lang="en-US" dirty="0"/>
                  <a:t>, </a:t>
                </a:r>
                <a:r>
                  <a:rPr lang="en-US" dirty="0" err="1"/>
                  <a:t>employee_id</a:t>
                </a:r>
                <a:r>
                  <a:rPr lang="en-US" dirty="0"/>
                  <a:t> → type</a:t>
                </a:r>
              </a:p>
              <a:p>
                <a:pPr lvl="1" algn="r" rtl="1"/>
                <a:r>
                  <a:rPr lang="en-US" dirty="0" err="1"/>
                  <a:t>employee_id</a:t>
                </a:r>
                <a:r>
                  <a:rPr lang="en-US" dirty="0"/>
                  <a:t> → </a:t>
                </a:r>
                <a:r>
                  <a:rPr lang="en-US" dirty="0" err="1"/>
                  <a:t>branch_name</a:t>
                </a:r>
                <a:endParaRPr lang="en-US" dirty="0"/>
              </a:p>
              <a:p>
                <a:pPr lvl="1" algn="r" rtl="1"/>
                <a:r>
                  <a:rPr lang="en-US" dirty="0" err="1"/>
                  <a:t>customer_id</a:t>
                </a:r>
                <a:r>
                  <a:rPr lang="en-US" dirty="0"/>
                  <a:t>, </a:t>
                </a:r>
                <a:r>
                  <a:rPr lang="en-US" dirty="0" err="1"/>
                  <a:t>branch_name</a:t>
                </a:r>
                <a:r>
                  <a:rPr lang="en-US" dirty="0"/>
                  <a:t> → </a:t>
                </a:r>
                <a:r>
                  <a:rPr lang="en-US" dirty="0" err="1"/>
                  <a:t>employee_id</a:t>
                </a:r>
                <a:endParaRPr lang="en-US" dirty="0"/>
              </a:p>
              <a:p>
                <a:pPr marL="800100" lvl="1" indent="-342900" algn="r" rtl="1">
                  <a:buFont typeface="Monotype Sorts" pitchFamily="-84" charset="2"/>
                  <a:buNone/>
                  <a:tabLst>
                    <a:tab pos="1027113" algn="l"/>
                    <a:tab pos="2857500" algn="ctr"/>
                    <a:tab pos="3036888" algn="l"/>
                  </a:tabLst>
                </a:pPr>
                <a:endParaRPr lang="en-US" alt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757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0416" y="1115510"/>
                <a:ext cx="8830850" cy="4202446"/>
              </a:xfrm>
              <a:blipFill>
                <a:blip r:embed="rId3"/>
                <a:stretch>
                  <a:fillRect t="-2032" r="-759" b="-17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3NF Decompsition Example (Cont.)</a:t>
            </a:r>
          </a:p>
        </p:txBody>
      </p:sp>
      <p:sp>
        <p:nvSpPr>
          <p:cNvPr id="760835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171852"/>
            <a:ext cx="7617661" cy="4434864"/>
          </a:xfrm>
        </p:spPr>
        <p:txBody>
          <a:bodyPr/>
          <a:lstStyle/>
          <a:p>
            <a:pPr algn="r" rtl="1"/>
            <a:r>
              <a:rPr lang="fa-IR" dirty="0"/>
              <a:t>حلقه </a:t>
            </a:r>
            <a:r>
              <a:rPr lang="en-US" b="1" dirty="0"/>
              <a:t>for</a:t>
            </a:r>
            <a:r>
              <a:rPr lang="en-US" dirty="0"/>
              <a:t> </a:t>
            </a:r>
            <a:r>
              <a:rPr lang="fa-IR" dirty="0" err="1"/>
              <a:t>طرح‌های</a:t>
            </a:r>
            <a:r>
              <a:rPr lang="fa-IR" dirty="0"/>
              <a:t> 3</a:t>
            </a:r>
            <a:r>
              <a:rPr lang="en-US" dirty="0"/>
              <a:t>NF </a:t>
            </a:r>
            <a:r>
              <a:rPr lang="fa-IR" dirty="0"/>
              <a:t>زیر را تولید </a:t>
            </a:r>
            <a:r>
              <a:rPr lang="fa-IR" dirty="0" err="1"/>
              <a:t>می‌کند</a:t>
            </a:r>
            <a:r>
              <a:rPr lang="fa-IR" dirty="0"/>
              <a:t>:</a:t>
            </a:r>
          </a:p>
          <a:p>
            <a:pPr algn="r" rtl="1"/>
            <a:r>
              <a:rPr lang="fa-IR" dirty="0"/>
              <a:t>(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employee_id</a:t>
            </a:r>
            <a:r>
              <a:rPr lang="en-US" dirty="0"/>
              <a:t>, type)</a:t>
            </a:r>
          </a:p>
          <a:p>
            <a:pPr algn="r" rtl="1"/>
            <a:r>
              <a:rPr lang="en-US" dirty="0"/>
              <a:t>(</a:t>
            </a:r>
            <a:r>
              <a:rPr lang="en-US" dirty="0" err="1"/>
              <a:t>employee_id</a:t>
            </a:r>
            <a:r>
              <a:rPr lang="en-US" dirty="0"/>
              <a:t>, </a:t>
            </a:r>
            <a:r>
              <a:rPr lang="en-US" dirty="0" err="1"/>
              <a:t>branch_name</a:t>
            </a:r>
            <a:r>
              <a:rPr lang="en-US" dirty="0"/>
              <a:t>)</a:t>
            </a:r>
          </a:p>
          <a:p>
            <a:pPr algn="r" rtl="1"/>
            <a:r>
              <a:rPr lang="en-US" dirty="0"/>
              <a:t>(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branch_name</a:t>
            </a:r>
            <a:r>
              <a:rPr lang="en-US" dirty="0"/>
              <a:t>, </a:t>
            </a:r>
            <a:r>
              <a:rPr lang="en-US" dirty="0" err="1"/>
              <a:t>employee_id</a:t>
            </a:r>
            <a:r>
              <a:rPr lang="en-US" dirty="0"/>
              <a:t>)</a:t>
            </a:r>
          </a:p>
          <a:p>
            <a:pPr algn="r" rtl="1"/>
            <a:r>
              <a:rPr lang="fa-IR" dirty="0"/>
              <a:t>توجه کنید که (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employee_id</a:t>
            </a:r>
            <a:r>
              <a:rPr lang="en-US" dirty="0"/>
              <a:t>, type) </a:t>
            </a:r>
            <a:r>
              <a:rPr lang="fa-IR" dirty="0"/>
              <a:t>شامل یک </a:t>
            </a:r>
            <a:r>
              <a:rPr lang="fa-IR" b="1" dirty="0"/>
              <a:t>کلید کاندید</a:t>
            </a:r>
            <a:r>
              <a:rPr lang="fa-IR" dirty="0"/>
              <a:t> از طرح </a:t>
            </a:r>
            <a:r>
              <a:rPr lang="fa-IR" dirty="0" err="1"/>
              <a:t>رابطه‌ای</a:t>
            </a:r>
            <a:r>
              <a:rPr lang="fa-IR" dirty="0"/>
              <a:t> اصلی است، بنابراین نیازی به اضافه کردن طرح </a:t>
            </a:r>
            <a:r>
              <a:rPr lang="fa-IR" dirty="0" err="1"/>
              <a:t>رابطه‌ای</a:t>
            </a:r>
            <a:r>
              <a:rPr lang="fa-IR" dirty="0"/>
              <a:t> دیگری نیست.</a:t>
            </a:r>
          </a:p>
          <a:p>
            <a:pPr algn="r" rtl="1"/>
            <a:r>
              <a:rPr lang="fa-IR" dirty="0"/>
              <a:t>در پایان حلقه </a:t>
            </a:r>
            <a:r>
              <a:rPr lang="en-US" b="1" dirty="0"/>
              <a:t>for</a:t>
            </a:r>
            <a:r>
              <a:rPr lang="en-US" dirty="0"/>
              <a:t>، </a:t>
            </a:r>
            <a:r>
              <a:rPr lang="fa-IR" dirty="0" err="1"/>
              <a:t>طرح‌هایی</a:t>
            </a:r>
            <a:r>
              <a:rPr lang="fa-IR" dirty="0"/>
              <a:t> مانند (</a:t>
            </a:r>
            <a:r>
              <a:rPr lang="en-US" dirty="0" err="1"/>
              <a:t>employee_id</a:t>
            </a:r>
            <a:r>
              <a:rPr lang="en-US" dirty="0"/>
              <a:t>, </a:t>
            </a:r>
            <a:r>
              <a:rPr lang="en-US" dirty="0" err="1"/>
              <a:t>branch_name</a:t>
            </a:r>
            <a:r>
              <a:rPr lang="en-US" dirty="0"/>
              <a:t>) </a:t>
            </a:r>
            <a:r>
              <a:rPr lang="fa-IR" dirty="0"/>
              <a:t>که </a:t>
            </a:r>
            <a:r>
              <a:rPr lang="fa-IR" dirty="0" err="1"/>
              <a:t>زیرمجموعه‌ای</a:t>
            </a:r>
            <a:r>
              <a:rPr lang="fa-IR" dirty="0"/>
              <a:t> از دیگر </a:t>
            </a:r>
            <a:r>
              <a:rPr lang="fa-IR" dirty="0" err="1"/>
              <a:t>طرح‌ها</a:t>
            </a:r>
            <a:r>
              <a:rPr lang="fa-IR" dirty="0"/>
              <a:t> هستند شناسایی و حذف </a:t>
            </a:r>
            <a:r>
              <a:rPr lang="fa-IR" dirty="0" err="1"/>
              <a:t>می‌شوند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نتیجه وابسته به ترتیب بررسی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نخواهد بود.</a:t>
            </a:r>
          </a:p>
          <a:p>
            <a:pPr algn="r" rtl="1"/>
            <a:r>
              <a:rPr lang="fa-IR" b="1" dirty="0"/>
              <a:t>طرح 3</a:t>
            </a:r>
            <a:r>
              <a:rPr lang="en-US" b="1" dirty="0"/>
              <a:t>NF </a:t>
            </a:r>
            <a:r>
              <a:rPr lang="fa-IR" b="1" dirty="0"/>
              <a:t>نهایی و </a:t>
            </a:r>
            <a:r>
              <a:rPr lang="fa-IR" b="1" dirty="0" err="1"/>
              <a:t>ساده‌شده</a:t>
            </a:r>
            <a:r>
              <a:rPr lang="fa-IR" dirty="0"/>
              <a:t> عبارت است از:</a:t>
            </a:r>
          </a:p>
          <a:p>
            <a:pPr algn="r" rtl="1"/>
            <a:r>
              <a:rPr lang="fa-IR" dirty="0"/>
              <a:t>(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employee_id</a:t>
            </a:r>
            <a:r>
              <a:rPr lang="en-US" dirty="0"/>
              <a:t>, type)</a:t>
            </a:r>
          </a:p>
          <a:p>
            <a:pPr algn="r" rtl="1"/>
            <a:r>
              <a:rPr lang="en-US" dirty="0"/>
              <a:t>(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branch_name</a:t>
            </a:r>
            <a:r>
              <a:rPr lang="en-US" dirty="0"/>
              <a:t>, </a:t>
            </a:r>
            <a:r>
              <a:rPr lang="en-US" dirty="0" err="1"/>
              <a:t>employee_id</a:t>
            </a:r>
            <a:r>
              <a:rPr lang="en-US" dirty="0"/>
              <a:t>)</a:t>
            </a:r>
          </a:p>
          <a:p>
            <a:pPr algn="r" rtl="1"/>
            <a:endParaRPr lang="en-US" altLang="en-US" i="1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Comparison of BCNF and 3NF</a:t>
            </a:r>
          </a:p>
        </p:txBody>
      </p:sp>
      <p:sp>
        <p:nvSpPr>
          <p:cNvPr id="77827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9"/>
            <a:ext cx="7629692" cy="2970211"/>
          </a:xfrm>
        </p:spPr>
        <p:txBody>
          <a:bodyPr/>
          <a:lstStyle/>
          <a:p>
            <a:pPr algn="r" rtl="1"/>
            <a:r>
              <a:rPr lang="fa-IR" dirty="0"/>
              <a:t>همیشه امکان دارد یک رابطه را به </a:t>
            </a:r>
            <a:r>
              <a:rPr lang="fa-IR" dirty="0" err="1"/>
              <a:t>مجموعه‌ای</a:t>
            </a:r>
            <a:r>
              <a:rPr lang="fa-IR" dirty="0"/>
              <a:t> از روابط تجزیه کنیم که در </a:t>
            </a:r>
            <a:r>
              <a:rPr lang="fa-IR" b="1" dirty="0"/>
              <a:t>3</a:t>
            </a:r>
            <a:r>
              <a:rPr lang="en-US" b="1" dirty="0"/>
              <a:t>NF</a:t>
            </a:r>
            <a:r>
              <a:rPr lang="en-US" dirty="0"/>
              <a:t> </a:t>
            </a:r>
            <a:r>
              <a:rPr lang="fa-IR" dirty="0"/>
              <a:t>باشند، </a:t>
            </a:r>
            <a:r>
              <a:rPr lang="fa-IR" dirty="0" err="1"/>
              <a:t>به‌گونه‌ای</a:t>
            </a:r>
            <a:r>
              <a:rPr lang="fa-IR" dirty="0"/>
              <a:t> که:</a:t>
            </a:r>
          </a:p>
          <a:p>
            <a:pPr algn="r" rtl="1"/>
            <a:r>
              <a:rPr lang="fa-IR" dirty="0"/>
              <a:t>تجزیه </a:t>
            </a:r>
            <a:r>
              <a:rPr lang="fa-IR" b="1" dirty="0"/>
              <a:t>بدون از دست دادن اطلاعات (</a:t>
            </a:r>
            <a:r>
              <a:rPr lang="en-US" b="1" dirty="0"/>
              <a:t>lossless)</a:t>
            </a:r>
            <a:r>
              <a:rPr lang="en-US" dirty="0"/>
              <a:t> </a:t>
            </a:r>
            <a:r>
              <a:rPr lang="fa-IR" dirty="0"/>
              <a:t>باشد،</a:t>
            </a:r>
          </a:p>
          <a:p>
            <a:pPr algn="r" rtl="1"/>
            <a:r>
              <a:rPr lang="fa-IR" dirty="0" err="1"/>
              <a:t>وابستگی‌ها</a:t>
            </a:r>
            <a:r>
              <a:rPr lang="fa-IR" dirty="0"/>
              <a:t> </a:t>
            </a:r>
            <a:r>
              <a:rPr lang="fa-IR" b="1" dirty="0"/>
              <a:t>حفظ شوند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همیشه امکان دارد یک رابطه را به </a:t>
            </a:r>
            <a:r>
              <a:rPr lang="fa-IR" dirty="0" err="1"/>
              <a:t>مجموعه‌ای</a:t>
            </a:r>
            <a:r>
              <a:rPr lang="fa-IR" dirty="0"/>
              <a:t> از روابط تجزیه کنیم که در </a:t>
            </a:r>
            <a:r>
              <a:rPr lang="en-US" b="1" dirty="0"/>
              <a:t>BCNF</a:t>
            </a:r>
            <a:r>
              <a:rPr lang="en-US" dirty="0"/>
              <a:t> </a:t>
            </a:r>
            <a:r>
              <a:rPr lang="fa-IR" dirty="0"/>
              <a:t>باشند، </a:t>
            </a:r>
            <a:r>
              <a:rPr lang="fa-IR" dirty="0" err="1"/>
              <a:t>به‌گونه‌ای</a:t>
            </a:r>
            <a:r>
              <a:rPr lang="fa-IR" dirty="0"/>
              <a:t> که:</a:t>
            </a:r>
          </a:p>
          <a:p>
            <a:pPr algn="r" rtl="1"/>
            <a:r>
              <a:rPr lang="fa-IR" dirty="0"/>
              <a:t>تجزیه </a:t>
            </a:r>
            <a:r>
              <a:rPr lang="fa-IR" b="1" dirty="0"/>
              <a:t>بدون از دست دادن اطلاعات (</a:t>
            </a:r>
            <a:r>
              <a:rPr lang="en-US" b="1" dirty="0"/>
              <a:t>lossless)</a:t>
            </a:r>
            <a:r>
              <a:rPr lang="en-US" dirty="0"/>
              <a:t> </a:t>
            </a:r>
            <a:r>
              <a:rPr lang="fa-IR" dirty="0"/>
              <a:t>باشد،</a:t>
            </a:r>
          </a:p>
          <a:p>
            <a:pPr algn="r" rtl="1"/>
            <a:r>
              <a:rPr lang="fa-IR" dirty="0"/>
              <a:t>ممکن است نتوان </a:t>
            </a:r>
            <a:r>
              <a:rPr lang="fa-IR" dirty="0" err="1"/>
              <a:t>وابستگی‌ها</a:t>
            </a:r>
            <a:r>
              <a:rPr lang="fa-IR" dirty="0"/>
              <a:t> را </a:t>
            </a:r>
            <a:r>
              <a:rPr lang="fa-IR" b="1" dirty="0"/>
              <a:t>حفظ کرد</a:t>
            </a:r>
            <a:r>
              <a:rPr lang="fa-IR" dirty="0"/>
              <a:t>.</a:t>
            </a:r>
          </a:p>
          <a:p>
            <a:pPr lvl="1" algn="r" rtl="1"/>
            <a:endParaRPr lang="en-US" altLang="en-US" dirty="0"/>
          </a:p>
        </p:txBody>
      </p:sp>
      <p:sp>
        <p:nvSpPr>
          <p:cNvPr id="77828" name="Rectangle 4"/>
          <p:cNvSpPr>
            <a:spLocks noChangeArrowheads="1"/>
          </p:cNvSpPr>
          <p:nvPr/>
        </p:nvSpPr>
        <p:spPr bwMode="auto">
          <a:xfrm>
            <a:off x="596900" y="4064000"/>
            <a:ext cx="7283450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84213" algn="l"/>
              </a:tabLs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35000"/>
              </a:spcBef>
              <a:buClr>
                <a:schemeClr val="tx2"/>
              </a:buClr>
              <a:buSzPct val="90000"/>
              <a:buFont typeface="Monotype Sorts" pitchFamily="-84" charset="2"/>
              <a:buChar char="n"/>
            </a:pPr>
            <a:endParaRPr kumimoji="1" lang="en-US" altLang="en-US" sz="1800" i="1">
              <a:sym typeface="Monotype Sorts" pitchFamily="-84" charset="2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Design Goals</a:t>
            </a:r>
          </a:p>
        </p:txBody>
      </p:sp>
      <p:sp>
        <p:nvSpPr>
          <p:cNvPr id="78851" name="Rectangle 3"/>
          <p:cNvSpPr>
            <a:spLocks noGrp="1" noChangeArrowheads="1"/>
          </p:cNvSpPr>
          <p:nvPr>
            <p:ph idx="1"/>
          </p:nvPr>
        </p:nvSpPr>
        <p:spPr>
          <a:xfrm>
            <a:off x="243170" y="1333265"/>
            <a:ext cx="8657660" cy="4693402"/>
          </a:xfrm>
        </p:spPr>
        <p:txBody>
          <a:bodyPr/>
          <a:lstStyle/>
          <a:p>
            <a:pPr algn="r" rtl="1"/>
            <a:r>
              <a:rPr lang="fa-IR" dirty="0"/>
              <a:t>هدف از طراحی پایگاه داده </a:t>
            </a:r>
            <a:r>
              <a:rPr lang="fa-IR" dirty="0" err="1"/>
              <a:t>رابطه‌ای</a:t>
            </a:r>
            <a:r>
              <a:rPr lang="fa-IR" dirty="0"/>
              <a:t> عبارت است از:</a:t>
            </a:r>
          </a:p>
          <a:p>
            <a:pPr algn="r" rtl="1"/>
            <a:r>
              <a:rPr lang="en-US" dirty="0"/>
              <a:t>BCNF</a:t>
            </a:r>
          </a:p>
          <a:p>
            <a:pPr algn="r" rtl="1"/>
            <a:r>
              <a:rPr lang="en-US" b="1" dirty="0"/>
              <a:t>Join </a:t>
            </a:r>
            <a:r>
              <a:rPr lang="fa-IR" b="1" dirty="0"/>
              <a:t>بدون از دست دادن اطلاعات (</a:t>
            </a:r>
            <a:r>
              <a:rPr lang="en-US" b="1" dirty="0"/>
              <a:t>Lossless join)</a:t>
            </a:r>
            <a:endParaRPr lang="en-US" dirty="0"/>
          </a:p>
          <a:p>
            <a:pPr algn="r" rtl="1"/>
            <a:r>
              <a:rPr lang="fa-IR" b="1" dirty="0"/>
              <a:t>حفظ </a:t>
            </a:r>
            <a:r>
              <a:rPr lang="fa-IR" b="1" dirty="0" err="1"/>
              <a:t>وابستگی‌ها</a:t>
            </a:r>
            <a:r>
              <a:rPr lang="fa-IR" b="1" dirty="0"/>
              <a:t> (</a:t>
            </a:r>
            <a:r>
              <a:rPr lang="en-US" b="1" dirty="0"/>
              <a:t>Dependency preservation)</a:t>
            </a:r>
            <a:endParaRPr lang="en-US" dirty="0"/>
          </a:p>
          <a:p>
            <a:pPr algn="r" rtl="1"/>
            <a:r>
              <a:rPr lang="fa-IR" dirty="0"/>
              <a:t>اگر نتوانیم به این </a:t>
            </a:r>
            <a:r>
              <a:rPr lang="fa-IR" dirty="0" err="1"/>
              <a:t>هدف‌ها</a:t>
            </a:r>
            <a:r>
              <a:rPr lang="fa-IR" dirty="0"/>
              <a:t> برسیم، یکی از موارد زیر را </a:t>
            </a:r>
            <a:r>
              <a:rPr lang="fa-IR" dirty="0" err="1"/>
              <a:t>می‌پذیریم</a:t>
            </a:r>
            <a:r>
              <a:rPr lang="fa-IR" dirty="0"/>
              <a:t>:</a:t>
            </a:r>
          </a:p>
          <a:p>
            <a:pPr algn="r" rtl="1"/>
            <a:r>
              <a:rPr lang="fa-IR" dirty="0"/>
              <a:t>عدم </a:t>
            </a:r>
            <a:r>
              <a:rPr lang="fa-IR" b="1" dirty="0"/>
              <a:t>حفظ </a:t>
            </a:r>
            <a:r>
              <a:rPr lang="fa-IR" b="1" dirty="0" err="1"/>
              <a:t>وابستگی‌ها</a:t>
            </a:r>
            <a:endParaRPr lang="fa-IR" dirty="0"/>
          </a:p>
          <a:p>
            <a:pPr algn="r" rtl="1"/>
            <a:r>
              <a:rPr lang="fa-IR" b="1" dirty="0"/>
              <a:t>افزونگی</a:t>
            </a:r>
            <a:r>
              <a:rPr lang="fa-IR" dirty="0"/>
              <a:t> به دلیل استفاده از 3</a:t>
            </a:r>
            <a:r>
              <a:rPr lang="en-US" dirty="0"/>
              <a:t>NF</a:t>
            </a:r>
          </a:p>
          <a:p>
            <a:pPr algn="r" rtl="1"/>
            <a:r>
              <a:rPr lang="fa-IR" dirty="0"/>
              <a:t>جالب اینکه، </a:t>
            </a:r>
            <a:r>
              <a:rPr lang="en-US" dirty="0"/>
              <a:t>SQL </a:t>
            </a:r>
            <a:r>
              <a:rPr lang="fa-IR" dirty="0"/>
              <a:t>راه مستقیمی برای مشخص کردن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جز </a:t>
            </a:r>
            <a:r>
              <a:rPr lang="fa-IR" b="1" dirty="0" err="1"/>
              <a:t>ابرکلیدها</a:t>
            </a:r>
            <a:r>
              <a:rPr lang="fa-IR" dirty="0"/>
              <a:t> ارائه </a:t>
            </a:r>
            <a:r>
              <a:rPr lang="fa-IR" dirty="0" err="1"/>
              <a:t>نمی‌دهد</a:t>
            </a:r>
            <a:r>
              <a:rPr lang="fa-IR" dirty="0"/>
              <a:t>.</a:t>
            </a:r>
          </a:p>
          <a:p>
            <a:pPr algn="r" rtl="1"/>
            <a:r>
              <a:rPr lang="fa-IR" dirty="0" err="1"/>
              <a:t>می‌توان</a:t>
            </a:r>
            <a:r>
              <a:rPr lang="fa-IR" dirty="0"/>
              <a:t>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را با استفاده از </a:t>
            </a:r>
            <a:r>
              <a:rPr lang="en-US" b="1" dirty="0"/>
              <a:t>assertion</a:t>
            </a:r>
            <a:r>
              <a:rPr lang="en-US" dirty="0"/>
              <a:t> </a:t>
            </a:r>
            <a:r>
              <a:rPr lang="fa-IR" dirty="0"/>
              <a:t>مشخص کرد، اما بررسی </a:t>
            </a:r>
            <a:r>
              <a:rPr lang="fa-IR" dirty="0" err="1"/>
              <a:t>آن‌ها</a:t>
            </a:r>
            <a:r>
              <a:rPr lang="fa-IR" dirty="0"/>
              <a:t> </a:t>
            </a:r>
            <a:r>
              <a:rPr lang="fa-IR" b="1" dirty="0" err="1"/>
              <a:t>هزینه‌بر</a:t>
            </a:r>
            <a:r>
              <a:rPr lang="fa-IR" dirty="0"/>
              <a:t> است و در حال حاضر توسط هیچ یک از </a:t>
            </a:r>
            <a:r>
              <a:rPr lang="fa-IR" dirty="0" err="1"/>
              <a:t>پایگاه‌های</a:t>
            </a:r>
            <a:r>
              <a:rPr lang="fa-IR" dirty="0"/>
              <a:t> داده </a:t>
            </a:r>
            <a:r>
              <a:rPr lang="fa-IR" dirty="0" err="1"/>
              <a:t>پرکاربرد</a:t>
            </a:r>
            <a:r>
              <a:rPr lang="fa-IR" dirty="0"/>
              <a:t> پشتیبانی </a:t>
            </a:r>
            <a:r>
              <a:rPr lang="fa-IR" dirty="0" err="1"/>
              <a:t>نمی‌شود</a:t>
            </a:r>
            <a:r>
              <a:rPr lang="fa-IR" dirty="0"/>
              <a:t>!</a:t>
            </a:r>
          </a:p>
          <a:p>
            <a:pPr algn="r" rtl="1"/>
            <a:r>
              <a:rPr lang="fa-IR" dirty="0"/>
              <a:t>حتی اگر یک تجزیه </a:t>
            </a:r>
            <a:r>
              <a:rPr lang="fa-IR" b="1" dirty="0" err="1"/>
              <a:t>حفظ‌کننده</a:t>
            </a:r>
            <a:r>
              <a:rPr lang="fa-IR" b="1" dirty="0"/>
              <a:t> وابستگی</a:t>
            </a:r>
            <a:r>
              <a:rPr lang="fa-IR" dirty="0"/>
              <a:t> داشته باشیم، با استفاده از </a:t>
            </a:r>
            <a:r>
              <a:rPr lang="en-US" dirty="0"/>
              <a:t>SQL </a:t>
            </a:r>
            <a:r>
              <a:rPr lang="fa-IR" dirty="0" err="1"/>
              <a:t>نمی‌توانیم</a:t>
            </a:r>
            <a:r>
              <a:rPr lang="fa-IR" dirty="0"/>
              <a:t> </a:t>
            </a:r>
            <a:r>
              <a:rPr lang="fa-IR" dirty="0" err="1"/>
              <a:t>به‌طور</a:t>
            </a:r>
            <a:r>
              <a:rPr lang="fa-IR" dirty="0"/>
              <a:t> مؤثر یک وابستگی </a:t>
            </a:r>
            <a:r>
              <a:rPr lang="fa-IR" dirty="0" err="1"/>
              <a:t>تابعی</a:t>
            </a:r>
            <a:r>
              <a:rPr lang="fa-IR" dirty="0"/>
              <a:t> را که سمت چپ آن یک کلید نیست، بررسی کنیم.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237995" y="2437878"/>
            <a:ext cx="8906005" cy="1257300"/>
          </a:xfrm>
        </p:spPr>
        <p:txBody>
          <a:bodyPr/>
          <a:lstStyle/>
          <a:p>
            <a:pPr algn="r" rtl="1">
              <a:buFont typeface="Monotype Sorts" charset="2"/>
              <a:buNone/>
              <a:defRPr/>
            </a:pPr>
            <a:r>
              <a:rPr lang="fa-IR" sz="3200" dirty="0" err="1"/>
              <a:t>وابستگی‌های</a:t>
            </a:r>
            <a:r>
              <a:rPr lang="fa-IR" sz="3200" dirty="0"/>
              <a:t> چند مقداری </a:t>
            </a:r>
            <a:r>
              <a:rPr lang="en-US" sz="3200" dirty="0"/>
              <a:t>(Multivalued Dependencies)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</p:cSld>
  <p:clrMapOvr>
    <a:masterClrMapping/>
  </p:clrMapOvr>
  <p:transition spd="slow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Multivalued Dependencies (MVDs)</a:t>
            </a:r>
          </a:p>
        </p:txBody>
      </p:sp>
      <p:sp>
        <p:nvSpPr>
          <p:cNvPr id="80899" name="Rectangle 3"/>
          <p:cNvSpPr>
            <a:spLocks noGrp="1" noChangeArrowheads="1"/>
          </p:cNvSpPr>
          <p:nvPr>
            <p:ph idx="1"/>
          </p:nvPr>
        </p:nvSpPr>
        <p:spPr>
          <a:xfrm>
            <a:off x="768351" y="1093789"/>
            <a:ext cx="7585536" cy="4103854"/>
          </a:xfrm>
        </p:spPr>
        <p:txBody>
          <a:bodyPr/>
          <a:lstStyle/>
          <a:p>
            <a:pPr algn="r" rtl="1"/>
            <a:r>
              <a:rPr lang="fa-IR" dirty="0"/>
              <a:t>فرض کنید نام فرزندان و شماره تلفن اساتید را ثبت </a:t>
            </a:r>
            <a:r>
              <a:rPr lang="fa-IR" dirty="0" err="1"/>
              <a:t>می‌کنیم</a:t>
            </a:r>
            <a:r>
              <a:rPr lang="fa-IR" dirty="0"/>
              <a:t>:</a:t>
            </a:r>
          </a:p>
          <a:p>
            <a:pPr algn="r" rtl="1"/>
            <a:r>
              <a:rPr lang="en-US" dirty="0" err="1"/>
              <a:t>inst_child</a:t>
            </a:r>
            <a:r>
              <a:rPr lang="en-US" dirty="0"/>
              <a:t>(ID, </a:t>
            </a:r>
            <a:r>
              <a:rPr lang="en-US" dirty="0" err="1"/>
              <a:t>child_name</a:t>
            </a:r>
            <a:r>
              <a:rPr lang="en-US" dirty="0"/>
              <a:t>)</a:t>
            </a:r>
          </a:p>
          <a:p>
            <a:pPr algn="r" rtl="1"/>
            <a:r>
              <a:rPr lang="en-US" dirty="0" err="1"/>
              <a:t>inst_phone</a:t>
            </a:r>
            <a:r>
              <a:rPr lang="en-US" dirty="0"/>
              <a:t>(ID, </a:t>
            </a:r>
            <a:r>
              <a:rPr lang="en-US" dirty="0" err="1"/>
              <a:t>phone_number</a:t>
            </a:r>
            <a:r>
              <a:rPr lang="en-US" dirty="0"/>
              <a:t>)</a:t>
            </a:r>
          </a:p>
          <a:p>
            <a:pPr algn="r" rtl="1"/>
            <a:r>
              <a:rPr lang="fa-IR" dirty="0"/>
              <a:t>اگر این دو طرح </a:t>
            </a:r>
            <a:r>
              <a:rPr lang="fa-IR" dirty="0" err="1"/>
              <a:t>رابطه‌ای</a:t>
            </a:r>
            <a:r>
              <a:rPr lang="fa-IR" dirty="0"/>
              <a:t> را ترکیب کنیم تا داشته باشیم:</a:t>
            </a:r>
          </a:p>
          <a:p>
            <a:pPr algn="r" rtl="1"/>
            <a:r>
              <a:rPr lang="en-US" dirty="0" err="1"/>
              <a:t>inst_info</a:t>
            </a:r>
            <a:r>
              <a:rPr lang="en-US" dirty="0"/>
              <a:t>(ID, </a:t>
            </a:r>
            <a:r>
              <a:rPr lang="en-US" dirty="0" err="1"/>
              <a:t>child_name</a:t>
            </a:r>
            <a:r>
              <a:rPr lang="en-US" dirty="0"/>
              <a:t>, </a:t>
            </a:r>
            <a:r>
              <a:rPr lang="en-US" dirty="0" err="1"/>
              <a:t>phone_number</a:t>
            </a:r>
            <a:r>
              <a:rPr lang="en-US" dirty="0"/>
              <a:t>)</a:t>
            </a:r>
          </a:p>
          <a:p>
            <a:pPr algn="r" rtl="1"/>
            <a:r>
              <a:rPr lang="fa-IR" dirty="0"/>
              <a:t>نمونه </a:t>
            </a:r>
            <a:r>
              <a:rPr lang="fa-IR" dirty="0" err="1"/>
              <a:t>داده‌ها</a:t>
            </a:r>
            <a:r>
              <a:rPr lang="fa-IR" dirty="0"/>
              <a:t>:</a:t>
            </a:r>
          </a:p>
          <a:p>
            <a:pPr algn="r" rtl="1"/>
            <a:r>
              <a:rPr lang="fa-IR" dirty="0"/>
              <a:t>(99999, </a:t>
            </a:r>
            <a:r>
              <a:rPr lang="en-US" dirty="0"/>
              <a:t>David, 512-555-1234)</a:t>
            </a:r>
          </a:p>
          <a:p>
            <a:pPr algn="r" rtl="1"/>
            <a:r>
              <a:rPr lang="en-US" dirty="0"/>
              <a:t>(99999, David, 512-555-4321)</a:t>
            </a:r>
          </a:p>
          <a:p>
            <a:pPr algn="r" rtl="1"/>
            <a:r>
              <a:rPr lang="en-US" dirty="0"/>
              <a:t>(99999, William, 512-555-1234)</a:t>
            </a:r>
          </a:p>
          <a:p>
            <a:pPr algn="r" rtl="1"/>
            <a:r>
              <a:rPr lang="en-US" dirty="0"/>
              <a:t>(99999, William, 512-555-4321)</a:t>
            </a:r>
          </a:p>
          <a:p>
            <a:pPr algn="r" rtl="1"/>
            <a:r>
              <a:rPr lang="fa-IR" dirty="0"/>
              <a:t>این رابطه در </a:t>
            </a:r>
            <a:r>
              <a:rPr lang="en-US" b="1" dirty="0"/>
              <a:t>BCNF</a:t>
            </a:r>
            <a:r>
              <a:rPr lang="en-US" dirty="0"/>
              <a:t> </a:t>
            </a:r>
            <a:r>
              <a:rPr lang="fa-IR" dirty="0"/>
              <a:t>است.</a:t>
            </a:r>
          </a:p>
          <a:p>
            <a:pPr algn="r" rtl="1"/>
            <a:r>
              <a:rPr lang="fa-IR" b="1" dirty="0"/>
              <a:t>چرا؟</a:t>
            </a:r>
            <a:endParaRPr lang="fa-IR" dirty="0"/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9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Multivalued Dependencies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92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182688"/>
                <a:ext cx="8077200" cy="3184775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فرض کنید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یک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باشد و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وابستگی </a:t>
                </a:r>
                <a:r>
                  <a:rPr lang="fa-IR" dirty="0" err="1"/>
                  <a:t>چندمقداری</a:t>
                </a:r>
                <a:r>
                  <a:rPr lang="fa-IR" dirty="0"/>
                  <a:t> </a:t>
                </a:r>
                <a:r>
                  <a:rPr lang="en-US" dirty="0"/>
                  <a:t>(Multivalued Dependency) 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en-US" dirty="0"/>
              </a:p>
              <a:p>
                <a:pPr algn="r" rtl="1"/>
                <a:r>
                  <a:rPr lang="fa-IR" dirty="0"/>
                  <a:t>روی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برقرار است اگر در هر رابطه قانونی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fa-IR" dirty="0"/>
                  <a:t>، برای تمام </a:t>
                </a:r>
                <a:r>
                  <a:rPr lang="fa-IR" dirty="0" err="1"/>
                  <a:t>جفت‌های</a:t>
                </a:r>
                <a:r>
                  <a:rPr lang="fa-IR" dirty="0"/>
                  <a:t> </a:t>
                </a:r>
                <a:r>
                  <a:rPr lang="fa-IR" dirty="0" err="1"/>
                  <a:t>تاپل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fa-IR" dirty="0"/>
                  <a:t>به </a:t>
                </a:r>
                <a:r>
                  <a:rPr lang="fa-IR" dirty="0" err="1"/>
                  <a:t>گونه‌ای</a:t>
                </a:r>
                <a:r>
                  <a:rPr lang="fa-IR" dirty="0"/>
                  <a:t> که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</m:oMath>
                </a14:m>
                <a:r>
                  <a:rPr lang="fa-IR" dirty="0"/>
                  <a:t>، </a:t>
                </a:r>
                <a:r>
                  <a:rPr lang="fa-IR" dirty="0" err="1"/>
                  <a:t>تاپل‌های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fa-IR" dirty="0"/>
                  <a:t>وجود داشته باشند به طوری که:</a:t>
                </a:r>
              </a:p>
              <a:p>
                <a:pPr algn="r" rtl="1"/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a-I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>
                  <a:tabLst>
                    <a:tab pos="1890713" algn="l"/>
                    <a:tab pos="2798763" algn="l"/>
                  </a:tabLst>
                </a:pPr>
                <a:endParaRPr lang="en-US" altLang="en-US" dirty="0">
                  <a:sym typeface="Greek Symbols"/>
                </a:endParaRPr>
              </a:p>
            </p:txBody>
          </p:sp>
        </mc:Choice>
        <mc:Fallback>
          <p:sp>
            <p:nvSpPr>
              <p:cNvPr id="8192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182688"/>
                <a:ext cx="8077200" cy="3184775"/>
              </a:xfrm>
              <a:blipFill>
                <a:blip r:embed="rId3"/>
                <a:stretch>
                  <a:fillRect l="-830" t="-2299" r="-906" b="-28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MVD --</a:t>
            </a:r>
            <a:r>
              <a:rPr lang="en-US" altLang="en-US" dirty="0"/>
              <a:t> Tabular representation 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947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2142283" y="1033934"/>
                <a:ext cx="6703267" cy="506412"/>
              </a:xfrm>
            </p:spPr>
            <p:txBody>
              <a:bodyPr/>
              <a:lstStyle/>
              <a:p>
                <a:pPr algn="r" rtl="1"/>
                <a:r>
                  <a:rPr lang="fa-IR" b="1" dirty="0"/>
                  <a:t>نمایش جدولی </a:t>
                </a:r>
                <a:r>
                  <a:rPr lang="en-US" dirty="0"/>
                  <a:t>(</a:t>
                </a:r>
                <a:r>
                  <a:rPr lang="en-US" b="1" dirty="0"/>
                  <a:t>Tabular representation) </a:t>
                </a:r>
                <a:r>
                  <a:rPr lang="fa-IR" b="1" dirty="0"/>
                  <a:t>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en-US" altLang="en-US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8294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42283" y="1033934"/>
                <a:ext cx="6703267" cy="506412"/>
              </a:xfrm>
              <a:blipFill>
                <a:blip r:embed="rId3"/>
                <a:stretch>
                  <a:fillRect t="-14458" r="-1091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2948" name="Picture 5" descr="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9432" y="1847206"/>
            <a:ext cx="4532730" cy="15931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MVD (Cont.)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97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1" y="1119189"/>
                <a:ext cx="7593596" cy="3416716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فرض کنید </a:t>
                </a:r>
                <a14:m>
                  <m:oMath xmlns:m="http://schemas.openxmlformats.org/officeDocument/2006/math">
                    <m:r>
                      <a:rPr lang="fa-IR" i="1"/>
                      <m:t>𝑅</m:t>
                    </m:r>
                  </m:oMath>
                </a14:m>
                <a:r>
                  <a:rPr lang="fa-IR" dirty="0"/>
                  <a:t>یک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با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صفات است که به سه </a:t>
                </a:r>
                <a:r>
                  <a:rPr lang="fa-IR" dirty="0" err="1"/>
                  <a:t>زیرمجموعهٔ</a:t>
                </a:r>
                <a:r>
                  <a:rPr lang="fa-IR" dirty="0"/>
                  <a:t> </a:t>
                </a:r>
                <a:r>
                  <a:rPr lang="fa-IR" dirty="0" err="1"/>
                  <a:t>غیرخالی</a:t>
                </a:r>
                <a:r>
                  <a:rPr lang="fa-IR" dirty="0"/>
                  <a:t> تقسیم </a:t>
                </a:r>
                <a:r>
                  <a:rPr lang="fa-IR" dirty="0" err="1"/>
                  <a:t>شده‌اند</a:t>
                </a:r>
                <a:r>
                  <a:rPr lang="fa-IR" dirty="0"/>
                  <a:t>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/>
                      <m:t>𝑌</m:t>
                    </m:r>
                    <m:r>
                      <a:rPr lang="fa-IR"/>
                      <m:t>,</m:t>
                    </m:r>
                    <m:r>
                      <a:rPr lang="fa-IR" i="1"/>
                      <m:t>𝑍</m:t>
                    </m:r>
                    <m:r>
                      <a:rPr lang="fa-IR"/>
                      <m:t>,</m:t>
                    </m:r>
                    <m:r>
                      <a:rPr lang="fa-IR" i="1"/>
                      <m:t>𝑊</m:t>
                    </m:r>
                  </m:oMath>
                </a14:m>
                <a:endParaRPr lang="fa-IR" dirty="0"/>
              </a:p>
              <a:p>
                <a:pPr algn="r" rtl="1"/>
                <a:r>
                  <a:rPr lang="fa-IR" dirty="0" err="1"/>
                  <a:t>می‌گوییم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/>
                      <m:t>𝑌</m:t>
                    </m:r>
                    <m:r>
                      <a:rPr lang="fa-IR"/>
                      <m:t>↠</m:t>
                    </m:r>
                    <m:r>
                      <a:rPr lang="fa-IR" i="1"/>
                      <m:t>𝑍</m:t>
                    </m:r>
                  </m:oMath>
                </a14:m>
                <a:r>
                  <a:rPr lang="fa-IR" dirty="0"/>
                  <a:t>(یعنی </a:t>
                </a:r>
                <a:r>
                  <a:rPr lang="en-US" dirty="0"/>
                  <a:t>Y </a:t>
                </a:r>
                <a:r>
                  <a:rPr lang="fa-IR" dirty="0" err="1"/>
                  <a:t>چندمقداری</a:t>
                </a:r>
                <a:r>
                  <a:rPr lang="fa-IR" dirty="0"/>
                  <a:t> </a:t>
                </a:r>
                <a:r>
                  <a:rPr lang="en-US" dirty="0"/>
                  <a:t>Z </a:t>
                </a:r>
                <a:r>
                  <a:rPr lang="fa-IR" dirty="0"/>
                  <a:t>را تعیین </a:t>
                </a:r>
                <a:r>
                  <a:rPr lang="fa-IR" dirty="0" err="1"/>
                  <a:t>می‌کند</a:t>
                </a:r>
                <a:r>
                  <a:rPr lang="fa-IR" dirty="0"/>
                  <a:t>)</a:t>
                </a:r>
                <a:br>
                  <a:rPr lang="fa-IR" dirty="0"/>
                </a:br>
                <a:r>
                  <a:rPr lang="fa-IR" dirty="0"/>
                  <a:t>اگر و تنها اگر برای تمام روابط ممکن </a:t>
                </a:r>
                <a14:m>
                  <m:oMath xmlns:m="http://schemas.openxmlformats.org/officeDocument/2006/math">
                    <m:r>
                      <a:rPr lang="fa-IR" i="1"/>
                      <m:t>𝑟</m:t>
                    </m:r>
                    <m:d>
                      <m:dPr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𝑅</m:t>
                        </m:r>
                      </m:e>
                    </m:d>
                  </m:oMath>
                </a14:m>
                <a:r>
                  <a:rPr lang="fa-IR" dirty="0"/>
                  <a:t>داشته باشیم:</a:t>
                </a:r>
              </a:p>
              <a:p>
                <a:pPr algn="r" rtl="1"/>
                <a:r>
                  <a:rPr lang="fa-IR" dirty="0"/>
                  <a:t>اگر</a:t>
                </a:r>
              </a:p>
              <a:p>
                <a:pPr algn="r" rtl="1"/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sepChr m:val=","/>
                        <m:ctrlPr>
                          <a:rPr lang="fa-IR"/>
                        </m:ctrlPr>
                      </m:dPr>
                      <m:e>
                        <m:sSub>
                          <m:sSubPr>
                            <m:ctrlPr>
                              <a:rPr lang="fa-IR"/>
                            </m:ctrlPr>
                          </m:sSubPr>
                          <m:e>
                            <m:r>
                              <a:rPr lang="fa-IR" i="1"/>
                              <m:t>𝑦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𝑧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𝑤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</m:d>
                    <m:r>
                      <a:rPr lang="fa-IR"/>
                      <m:t>∈</m:t>
                    </m:r>
                    <m:r>
                      <a:rPr lang="fa-IR" i="1"/>
                      <m:t>𝑟</m:t>
                    </m:r>
                    <m:r>
                      <a:rPr lang="fa-IR"/>
                      <m:t> </m:t>
                    </m:r>
                    <m:r>
                      <m:rPr>
                        <m:nor/>
                      </m:rPr>
                      <a:rPr lang="fa-IR" i="1"/>
                      <m:t>و</m:t>
                    </m:r>
                    <m:r>
                      <a:rPr lang="fa-IR"/>
                      <m:t> </m:t>
                    </m:r>
                    <m:d>
                      <m:dPr>
                        <m:begChr m:val="⟨"/>
                        <m:endChr m:val="⟩"/>
                        <m:sepChr m:val=","/>
                        <m:ctrlPr>
                          <a:rPr lang="fa-IR" i="1"/>
                        </m:ctrlPr>
                      </m:dPr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𝑦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𝑧</m:t>
                            </m:r>
                          </m:e>
                          <m:sub>
                            <m:r>
                              <a:rPr lang="fa-IR"/>
                              <m:t>2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𝑤</m:t>
                            </m:r>
                          </m:e>
                          <m:sub>
                            <m:r>
                              <a:rPr lang="fa-IR"/>
                              <m:t>2</m:t>
                            </m:r>
                          </m:sub>
                        </m:sSub>
                      </m:e>
                    </m:d>
                    <m:r>
                      <a:rPr lang="fa-IR"/>
                      <m:t>∈</m:t>
                    </m:r>
                    <m:r>
                      <a:rPr lang="fa-IR" i="1"/>
                      <m:t>𝑟</m:t>
                    </m:r>
                  </m:oMath>
                </a14:m>
                <a:endParaRPr lang="fa-IR" b="0" dirty="0"/>
              </a:p>
              <a:p>
                <a:pPr algn="r" rtl="1"/>
                <a:r>
                  <a:rPr lang="fa-IR" dirty="0"/>
                  <a:t>آنگاه باید داشته باشیم:</a:t>
                </a:r>
              </a:p>
              <a:p>
                <a:pPr algn="r" rtl="1"/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sepChr m:val=","/>
                        <m:ctrlPr>
                          <a:rPr lang="fa-IR"/>
                        </m:ctrlPr>
                      </m:dPr>
                      <m:e>
                        <m:sSub>
                          <m:sSubPr>
                            <m:ctrlPr>
                              <a:rPr lang="fa-IR"/>
                            </m:ctrlPr>
                          </m:sSubPr>
                          <m:e>
                            <m:r>
                              <a:rPr lang="fa-IR" i="1"/>
                              <m:t>𝑦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𝑧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𝑤</m:t>
                            </m:r>
                          </m:e>
                          <m:sub>
                            <m:r>
                              <a:rPr lang="fa-IR"/>
                              <m:t>2</m:t>
                            </m:r>
                          </m:sub>
                        </m:sSub>
                      </m:e>
                    </m:d>
                    <m:r>
                      <a:rPr lang="fa-IR"/>
                      <m:t>∈</m:t>
                    </m:r>
                    <m:r>
                      <a:rPr lang="fa-IR" i="1"/>
                      <m:t>𝑟</m:t>
                    </m:r>
                    <m:r>
                      <a:rPr lang="fa-IR"/>
                      <m:t> </m:t>
                    </m:r>
                    <m:r>
                      <m:rPr>
                        <m:nor/>
                      </m:rPr>
                      <a:rPr lang="fa-IR" i="1"/>
                      <m:t>و</m:t>
                    </m:r>
                    <m:r>
                      <a:rPr lang="fa-IR"/>
                      <m:t> </m:t>
                    </m:r>
                    <m:d>
                      <m:dPr>
                        <m:begChr m:val="⟨"/>
                        <m:endChr m:val="⟩"/>
                        <m:sepChr m:val=","/>
                        <m:ctrlPr>
                          <a:rPr lang="fa-IR" i="1"/>
                        </m:ctrlPr>
                      </m:dPr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𝑦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𝑧</m:t>
                            </m:r>
                          </m:e>
                          <m:sub>
                            <m:r>
                              <a:rPr lang="fa-IR"/>
                              <m:t>2</m:t>
                            </m:r>
                          </m:sub>
                        </m:sSub>
                      </m:e>
                      <m:mo separator="true">,</m:mo>
                      <m:e>
                        <m:sSub>
                          <m:sSubPr>
                            <m:ctrlPr>
                              <a:rPr lang="fa-IR" i="1"/>
                            </m:ctrlPr>
                          </m:sSubPr>
                          <m:e>
                            <m:r>
                              <a:rPr lang="fa-IR" i="1"/>
                              <m:t>𝑤</m:t>
                            </m:r>
                          </m:e>
                          <m:sub>
                            <m:r>
                              <a:rPr lang="fa-IR"/>
                              <m:t>1</m:t>
                            </m:r>
                          </m:sub>
                        </m:sSub>
                      </m:e>
                    </m:d>
                    <m:r>
                      <a:rPr lang="fa-IR"/>
                      <m:t>∈</m:t>
                    </m:r>
                    <m:r>
                      <a:rPr lang="fa-IR" i="1"/>
                      <m:t>𝑟</m:t>
                    </m:r>
                  </m:oMath>
                </a14:m>
                <a:endParaRPr lang="fa-IR" b="0" dirty="0"/>
              </a:p>
              <a:p>
                <a:pPr algn="r" rtl="1"/>
                <a:r>
                  <a:rPr lang="fa-IR" dirty="0"/>
                  <a:t>توجه داشته باشید که از آنجایی که رفتار </a:t>
                </a:r>
                <a:r>
                  <a:rPr lang="en-US" dirty="0"/>
                  <a:t>Z </a:t>
                </a:r>
                <a:r>
                  <a:rPr lang="fa-IR" dirty="0"/>
                  <a:t>و </a:t>
                </a:r>
                <a:r>
                  <a:rPr lang="en-US" dirty="0"/>
                  <a:t>W </a:t>
                </a:r>
                <a:r>
                  <a:rPr lang="fa-IR" dirty="0"/>
                  <a:t>مشابه است، نتیجه </a:t>
                </a:r>
                <a:r>
                  <a:rPr lang="fa-IR" dirty="0" err="1"/>
                  <a:t>می‌گیریم</a:t>
                </a:r>
                <a:r>
                  <a:rPr lang="fa-IR" dirty="0"/>
                  <a:t>:</a:t>
                </a:r>
                <a:br>
                  <a:rPr lang="fa-IR" dirty="0"/>
                </a:br>
                <a:r>
                  <a:rPr lang="fa-IR" dirty="0"/>
                  <a:t>اگر </a:t>
                </a:r>
                <a14:m>
                  <m:oMath xmlns:m="http://schemas.openxmlformats.org/officeDocument/2006/math">
                    <m:r>
                      <a:rPr lang="fa-IR" i="1"/>
                      <m:t>𝑌</m:t>
                    </m:r>
                    <m:r>
                      <a:rPr lang="fa-IR"/>
                      <m:t>↠</m:t>
                    </m:r>
                    <m:r>
                      <a:rPr lang="fa-IR" i="1"/>
                      <m:t>𝑊</m:t>
                    </m:r>
                  </m:oMath>
                </a14:m>
                <a:r>
                  <a:rPr lang="fa-IR" dirty="0"/>
                  <a:t>برقرار باشد، آنگاه </a:t>
                </a:r>
                <a14:m>
                  <m:oMath xmlns:m="http://schemas.openxmlformats.org/officeDocument/2006/math">
                    <m:r>
                      <a:rPr lang="fa-IR" i="1"/>
                      <m:t>𝑌</m:t>
                    </m:r>
                    <m:r>
                      <a:rPr lang="fa-IR"/>
                      <m:t>↠</m:t>
                    </m:r>
                    <m:r>
                      <a:rPr lang="fa-IR" i="1"/>
                      <m:t>𝑍</m:t>
                    </m:r>
                  </m:oMath>
                </a14:m>
                <a:r>
                  <a:rPr lang="fa-IR" dirty="0"/>
                  <a:t>نیز برقرار است.</a:t>
                </a:r>
              </a:p>
              <a:p>
                <a:pPr algn="r" rtl="1">
                  <a:buFont typeface="Monotype Sorts" pitchFamily="-84" charset="2"/>
                  <a:buNone/>
                  <a:tabLst>
                    <a:tab pos="1149350" algn="l"/>
                    <a:tab pos="3311525" algn="ctr"/>
                  </a:tabLst>
                </a:pPr>
                <a:endParaRPr lang="en-US" altLang="en-US" dirty="0">
                  <a:sym typeface="Symbol" panose="05050102010706020507" pitchFamily="18" charset="2"/>
                </a:endParaRPr>
              </a:p>
            </p:txBody>
          </p:sp>
        </mc:Choice>
        <mc:Fallback>
          <p:sp>
            <p:nvSpPr>
              <p:cNvPr id="839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1" y="1119189"/>
                <a:ext cx="7593596" cy="3416716"/>
              </a:xfrm>
              <a:blipFill>
                <a:blip r:embed="rId3"/>
                <a:stretch>
                  <a:fillRect t="-2143" r="-963" b="-29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9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49" y="1093789"/>
                <a:ext cx="7594415" cy="3430085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در مثال ما:</a:t>
                </a:r>
              </a:p>
              <a:p>
                <a:pPr algn="r" rtl="1"/>
                <a:r>
                  <a:rPr lang="en-US" dirty="0"/>
                  <a:t>ID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↠</m:t>
                    </m:r>
                  </m:oMath>
                </a14:m>
                <a:r>
                  <a:rPr lang="en-US" dirty="0" err="1"/>
                  <a:t>child_name</a:t>
                </a:r>
                <a:endParaRPr lang="en-US" dirty="0"/>
              </a:p>
              <a:p>
                <a:pPr algn="r" rtl="1"/>
                <a:r>
                  <a:rPr lang="en-US" dirty="0"/>
                  <a:t>ID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↠</m:t>
                    </m:r>
                  </m:oMath>
                </a14:m>
                <a:r>
                  <a:rPr lang="en-US" dirty="0" err="1"/>
                  <a:t>phone_number</a:t>
                </a:r>
                <a:endParaRPr lang="en-US" dirty="0"/>
              </a:p>
              <a:p>
                <a:pPr algn="r" rtl="1"/>
                <a:r>
                  <a:rPr lang="fa-IR" dirty="0"/>
                  <a:t>تعریف رسمی بالا قصد دارد مفهوم زیر را رسمی کند:</a:t>
                </a:r>
                <a:br>
                  <a:rPr lang="fa-IR" dirty="0"/>
                </a:br>
                <a:r>
                  <a:rPr lang="fa-IR" dirty="0"/>
                  <a:t>با داشتن یک مقدار مشخص از </a:t>
                </a:r>
                <a:r>
                  <a:rPr lang="en-US" dirty="0"/>
                  <a:t>Y (ID)،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مقادیر </a:t>
                </a:r>
                <a:r>
                  <a:rPr lang="en-US" dirty="0"/>
                  <a:t>Z (</a:t>
                </a:r>
                <a:r>
                  <a:rPr lang="en-US" dirty="0" err="1"/>
                  <a:t>child_name</a:t>
                </a:r>
                <a:r>
                  <a:rPr lang="en-US" dirty="0"/>
                  <a:t>) </a:t>
                </a:r>
                <a:r>
                  <a:rPr lang="fa-IR" dirty="0"/>
                  <a:t>و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مقادیر </a:t>
                </a:r>
                <a:r>
                  <a:rPr lang="en-US" dirty="0"/>
                  <a:t>W (</a:t>
                </a:r>
                <a:r>
                  <a:rPr lang="en-US" dirty="0" err="1"/>
                  <a:t>phone_number</a:t>
                </a:r>
                <a:r>
                  <a:rPr lang="en-US" dirty="0"/>
                  <a:t>) </a:t>
                </a:r>
                <a:r>
                  <a:rPr lang="fa-IR" dirty="0"/>
                  <a:t>با آن مرتبط هستند، و این دو مجموعه تا حدی از یکدیگر مستقل هستند.</a:t>
                </a:r>
              </a:p>
              <a:p>
                <a:pPr algn="r" rtl="1"/>
                <a:r>
                  <a:rPr lang="fa-IR" dirty="0"/>
                  <a:t>توجه:</a:t>
                </a:r>
                <a:br>
                  <a:rPr lang="fa-IR" dirty="0"/>
                </a:br>
                <a:r>
                  <a:rPr lang="fa-IR" dirty="0"/>
                  <a:t>اگر </a:t>
                </a:r>
                <a:r>
                  <a:rPr lang="en-US" dirty="0"/>
                  <a:t>Y → Z، </a:t>
                </a:r>
                <a:r>
                  <a:rPr lang="fa-IR" dirty="0"/>
                  <a:t>آنگاه </a:t>
                </a:r>
                <a:r>
                  <a:rPr lang="en-US" dirty="0"/>
                  <a:t>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↠</m:t>
                    </m:r>
                  </m:oMath>
                </a14:m>
                <a:r>
                  <a:rPr lang="en-US" dirty="0"/>
                  <a:t>Z </a:t>
                </a:r>
                <a:r>
                  <a:rPr lang="fa-IR" dirty="0"/>
                  <a:t>نیز برقرار است.</a:t>
                </a:r>
                <a:br>
                  <a:rPr lang="fa-IR" dirty="0"/>
                </a:br>
                <a:r>
                  <a:rPr lang="fa-IR" dirty="0"/>
                  <a:t>در واقع، در نماد بالا داریم </a:t>
                </a:r>
                <a:r>
                  <a:rPr lang="en-US" dirty="0"/>
                  <a:t>Z₁ = Z₂</a:t>
                </a:r>
                <a:br>
                  <a:rPr lang="en-US" dirty="0"/>
                </a:br>
                <a:r>
                  <a:rPr lang="fa-IR" dirty="0"/>
                  <a:t>و نتیجه به دنبال آن </a:t>
                </a:r>
                <a:r>
                  <a:rPr lang="fa-IR" dirty="0" err="1"/>
                  <a:t>می‌آید</a:t>
                </a:r>
                <a:r>
                  <a:rPr lang="fa-IR" dirty="0"/>
                  <a:t>.</a:t>
                </a:r>
              </a:p>
              <a:p>
                <a:pPr algn="r" rtl="1">
                  <a:tabLst>
                    <a:tab pos="2463800" algn="l"/>
                  </a:tabLst>
                </a:pPr>
                <a:endParaRPr lang="en-US" altLang="en-US" dirty="0">
                  <a:sym typeface="Monotype Sorts" pitchFamily="-84" charset="2"/>
                </a:endParaRPr>
              </a:p>
            </p:txBody>
          </p:sp>
        </mc:Choice>
        <mc:Fallback xmlns="">
          <p:sp>
            <p:nvSpPr>
              <p:cNvPr id="849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49" y="1093789"/>
                <a:ext cx="7594415" cy="3430085"/>
              </a:xfrm>
              <a:blipFill>
                <a:blip r:embed="rId3"/>
                <a:stretch>
                  <a:fillRect l="-241" t="-2309" r="-963" b="-15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Use of Multivalued Dependencies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01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1" y="1093788"/>
                <a:ext cx="7638802" cy="2900696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ما از </a:t>
                </a:r>
                <a:r>
                  <a:rPr lang="fa-IR" b="1" dirty="0" err="1"/>
                  <a:t>وابستگی‌های</a:t>
                </a:r>
                <a:r>
                  <a:rPr lang="fa-IR" b="1" dirty="0"/>
                  <a:t> </a:t>
                </a:r>
                <a:r>
                  <a:rPr lang="fa-IR" b="1" dirty="0" err="1"/>
                  <a:t>چندمقداری</a:t>
                </a:r>
                <a:r>
                  <a:rPr lang="fa-IR" b="1" dirty="0"/>
                  <a:t> </a:t>
                </a:r>
                <a:r>
                  <a:rPr lang="en-US" dirty="0"/>
                  <a:t>(</a:t>
                </a:r>
                <a:r>
                  <a:rPr lang="en-US" b="1" dirty="0"/>
                  <a:t>Multivalued Dependencies)</a:t>
                </a:r>
                <a:r>
                  <a:rPr lang="fa-IR" dirty="0"/>
                  <a:t>به دو روش استفاده </a:t>
                </a:r>
                <a:r>
                  <a:rPr lang="fa-IR" dirty="0" err="1"/>
                  <a:t>می‌کنیم</a:t>
                </a:r>
                <a:r>
                  <a:rPr lang="fa-IR" dirty="0"/>
                  <a:t>:</a:t>
                </a:r>
              </a:p>
              <a:p>
                <a:pPr algn="r" rtl="1"/>
                <a:r>
                  <a:rPr lang="fa-IR" dirty="0"/>
                  <a:t>برای بررسی روابط به منظور تعیین اینکه آیا </a:t>
                </a:r>
                <a:r>
                  <a:rPr lang="fa-IR" dirty="0" err="1"/>
                  <a:t>آن‌ها</a:t>
                </a:r>
                <a:r>
                  <a:rPr lang="fa-IR" dirty="0"/>
                  <a:t> تحت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و </a:t>
                </a:r>
                <a:r>
                  <a:rPr lang="fa-IR" dirty="0" err="1"/>
                  <a:t>چندمقداری</a:t>
                </a:r>
                <a:r>
                  <a:rPr lang="fa-IR" dirty="0"/>
                  <a:t> قانونی هستند یا خیر.</a:t>
                </a:r>
              </a:p>
              <a:p>
                <a:pPr algn="r" rtl="1"/>
                <a:r>
                  <a:rPr lang="fa-IR" dirty="0"/>
                  <a:t>برای مشخص کردن </a:t>
                </a:r>
                <a:r>
                  <a:rPr lang="fa-IR" dirty="0" err="1"/>
                  <a:t>محدودیت‌ها</a:t>
                </a:r>
                <a:r>
                  <a:rPr lang="fa-IR" dirty="0"/>
                  <a:t> روی مجموعه روابط قانونی. ما فقط با روابطی سروکار خواهیم داشت که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و </a:t>
                </a:r>
                <a:r>
                  <a:rPr lang="fa-IR" dirty="0" err="1"/>
                  <a:t>چندمقداری</a:t>
                </a:r>
                <a:r>
                  <a:rPr lang="fa-IR" dirty="0"/>
                  <a:t> </a:t>
                </a:r>
                <a:r>
                  <a:rPr lang="fa-IR" dirty="0" err="1"/>
                  <a:t>داده‌شده</a:t>
                </a:r>
                <a:r>
                  <a:rPr lang="fa-IR" dirty="0"/>
                  <a:t> را رعایت کنند.</a:t>
                </a:r>
              </a:p>
              <a:p>
                <a:pPr algn="r" rtl="1"/>
                <a:r>
                  <a:rPr lang="fa-IR" dirty="0"/>
                  <a:t>اگر یک رابطه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fa-IR" dirty="0"/>
                  <a:t>نتواند یک وابستگی </a:t>
                </a:r>
                <a:r>
                  <a:rPr lang="fa-IR" dirty="0" err="1"/>
                  <a:t>چندمقداری</a:t>
                </a:r>
                <a:r>
                  <a:rPr lang="fa-IR" dirty="0"/>
                  <a:t> </a:t>
                </a:r>
                <a:r>
                  <a:rPr lang="fa-IR" dirty="0" err="1"/>
                  <a:t>داده‌شده</a:t>
                </a:r>
                <a:r>
                  <a:rPr lang="fa-IR" dirty="0"/>
                  <a:t> را برآورده کند، </a:t>
                </a:r>
                <a:r>
                  <a:rPr lang="fa-IR" dirty="0" err="1"/>
                  <a:t>می‌توانیم</a:t>
                </a:r>
                <a:r>
                  <a:rPr lang="fa-IR" dirty="0"/>
                  <a:t> یک رابطه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a-IR" dirty="0"/>
                  <a:t>بسازیم که آن وابستگی </a:t>
                </a:r>
                <a:r>
                  <a:rPr lang="fa-IR" dirty="0" err="1"/>
                  <a:t>چندمقداری</a:t>
                </a:r>
                <a:r>
                  <a:rPr lang="fa-IR" dirty="0"/>
                  <a:t> را رعایت کند، با اضافه کردن </a:t>
                </a:r>
                <a:r>
                  <a:rPr lang="fa-IR" dirty="0" err="1"/>
                  <a:t>تپل‌ها</a:t>
                </a:r>
                <a:r>
                  <a:rPr lang="fa-IR" dirty="0"/>
                  <a:t> به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fa-IR" dirty="0"/>
                  <a:t>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 xmlns="">
          <p:sp>
            <p:nvSpPr>
              <p:cNvPr id="8601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1" y="1093788"/>
                <a:ext cx="7638802" cy="2900696"/>
              </a:xfrm>
              <a:blipFill>
                <a:blip r:embed="rId3"/>
                <a:stretch>
                  <a:fillRect l="-958" t="-2311" r="-958" b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Theory of MVDs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04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1" y="1097449"/>
                <a:ext cx="7621048" cy="3956398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از تعریف </a:t>
                </a:r>
                <a:r>
                  <a:rPr lang="fa-IR" b="1" dirty="0"/>
                  <a:t>وابستگی </a:t>
                </a:r>
                <a:r>
                  <a:rPr lang="fa-IR" b="1" dirty="0" err="1"/>
                  <a:t>چندمقداری</a:t>
                </a:r>
                <a:r>
                  <a:rPr lang="fa-IR" dirty="0"/>
                  <a:t> </a:t>
                </a:r>
                <a:r>
                  <a:rPr lang="fa-IR" dirty="0" err="1"/>
                  <a:t>می‌توان</a:t>
                </a:r>
                <a:r>
                  <a:rPr lang="fa-IR" dirty="0"/>
                  <a:t> قانون زیر را نتیجه گرفت:</a:t>
                </a:r>
                <a:br>
                  <a:rPr lang="fa-IR" dirty="0"/>
                </a:br>
                <a:r>
                  <a:rPr lang="fa-IR" dirty="0"/>
                  <a:t>اگر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→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fa-IR" dirty="0"/>
                  <a:t>، آنگاه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br>
                  <a:rPr lang="fa-IR" dirty="0"/>
                </a:br>
                <a:r>
                  <a:rPr lang="fa-IR" dirty="0"/>
                  <a:t>یعنی هر </a:t>
                </a:r>
                <a:r>
                  <a:rPr lang="fa-IR" b="1" dirty="0"/>
                  <a:t>وابستگی </a:t>
                </a:r>
                <a:r>
                  <a:rPr lang="fa-IR" b="1" dirty="0" err="1"/>
                  <a:t>تابعی</a:t>
                </a:r>
                <a:r>
                  <a:rPr lang="fa-IR" dirty="0"/>
                  <a:t> نیز یک </a:t>
                </a:r>
                <a:r>
                  <a:rPr lang="fa-IR" b="1" dirty="0"/>
                  <a:t>وابستگی </a:t>
                </a:r>
                <a:r>
                  <a:rPr lang="fa-IR" b="1" dirty="0" err="1"/>
                  <a:t>چندمقداری</a:t>
                </a:r>
                <a:r>
                  <a:rPr lang="fa-IR" dirty="0"/>
                  <a:t> است.</a:t>
                </a:r>
              </a:p>
              <a:p>
                <a:pPr algn="r" rtl="1"/>
                <a:r>
                  <a:rPr lang="fa-IR" dirty="0"/>
                  <a:t>بسته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a-IR" dirty="0"/>
                  <a:t>مجموعه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و </a:t>
                </a:r>
                <a:r>
                  <a:rPr lang="fa-IR" dirty="0" err="1"/>
                  <a:t>چندمقداری</a:t>
                </a:r>
                <a:r>
                  <a:rPr lang="fa-IR" dirty="0"/>
                  <a:t> است که </a:t>
                </a:r>
                <a:r>
                  <a:rPr lang="fa-IR" dirty="0" err="1"/>
                  <a:t>به‌طور</a:t>
                </a:r>
                <a:r>
                  <a:rPr lang="fa-IR" dirty="0"/>
                  <a:t> منطقی 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a-IR" dirty="0"/>
                  <a:t>نتیجه </a:t>
                </a:r>
                <a:r>
                  <a:rPr lang="fa-IR" dirty="0" err="1"/>
                  <a:t>می‌شوند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 err="1"/>
                  <a:t>می‌توانیم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را از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a-IR" dirty="0"/>
                  <a:t>محاسبه کنیم، با استفاده از تعاریف رسمی </a:t>
                </a:r>
                <a:r>
                  <a:rPr lang="fa-IR" b="1" dirty="0" err="1"/>
                  <a:t>وابستگی‌های</a:t>
                </a:r>
                <a:r>
                  <a:rPr lang="fa-IR" b="1" dirty="0"/>
                  <a:t> </a:t>
                </a:r>
                <a:r>
                  <a:rPr lang="fa-IR" b="1" dirty="0" err="1"/>
                  <a:t>تابعی</a:t>
                </a:r>
                <a:r>
                  <a:rPr lang="fa-IR" dirty="0"/>
                  <a:t> و </a:t>
                </a:r>
                <a:r>
                  <a:rPr lang="fa-IR" b="1" dirty="0" err="1"/>
                  <a:t>وابستگی‌های</a:t>
                </a:r>
                <a:r>
                  <a:rPr lang="fa-IR" b="1" dirty="0"/>
                  <a:t> </a:t>
                </a:r>
                <a:r>
                  <a:rPr lang="fa-IR" b="1" dirty="0" err="1"/>
                  <a:t>چندمقداری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این نوع استدلال برای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چندمقداری</a:t>
                </a:r>
                <a:r>
                  <a:rPr lang="fa-IR" dirty="0"/>
                  <a:t> بسیار ساده کافی است، که به نظر </a:t>
                </a:r>
                <a:r>
                  <a:rPr lang="fa-IR" dirty="0" err="1"/>
                  <a:t>می‌رسد</a:t>
                </a:r>
                <a:r>
                  <a:rPr lang="fa-IR" dirty="0"/>
                  <a:t> در عمل </a:t>
                </a:r>
                <a:r>
                  <a:rPr lang="fa-IR" dirty="0" err="1"/>
                  <a:t>رایج‌ترین</a:t>
                </a:r>
                <a:r>
                  <a:rPr lang="fa-IR" dirty="0"/>
                  <a:t> هستند.</a:t>
                </a:r>
              </a:p>
              <a:p>
                <a:pPr algn="r" rtl="1"/>
                <a:r>
                  <a:rPr lang="fa-IR" dirty="0"/>
                  <a:t>برای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پیچیده‌تر</a:t>
                </a:r>
                <a:r>
                  <a:rPr lang="fa-IR" dirty="0"/>
                  <a:t>، بهتر است با استفاده از </a:t>
                </a:r>
                <a:r>
                  <a:rPr lang="fa-IR" b="1" dirty="0"/>
                  <a:t>سیستم قواعد استنتاج (</a:t>
                </a:r>
                <a:r>
                  <a:rPr lang="en-US" b="1" dirty="0"/>
                  <a:t>Appendix C)</a:t>
                </a:r>
                <a:r>
                  <a:rPr lang="en-US" dirty="0"/>
                  <a:t> </a:t>
                </a:r>
                <a:r>
                  <a:rPr lang="fa-IR" dirty="0"/>
                  <a:t>درباره </a:t>
                </a:r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وابستگی‌ها</a:t>
                </a:r>
                <a:r>
                  <a:rPr lang="fa-IR" dirty="0"/>
                  <a:t> استدلال کنیم.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 xmlns="">
          <p:sp>
            <p:nvSpPr>
              <p:cNvPr id="8704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1" y="1097449"/>
                <a:ext cx="7621048" cy="3956398"/>
              </a:xfrm>
              <a:blipFill>
                <a:blip r:embed="rId3"/>
                <a:stretch>
                  <a:fillRect l="-240" t="-2157" r="-960" b="-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Fourth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067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092614"/>
                <a:ext cx="7594415" cy="2241299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یک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نسبت به مجموعه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a-IR" dirty="0"/>
                  <a:t>از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تابعی</a:t>
                </a:r>
                <a:r>
                  <a:rPr lang="fa-IR" dirty="0"/>
                  <a:t> و </a:t>
                </a:r>
                <a:r>
                  <a:rPr lang="fa-IR" dirty="0" err="1"/>
                  <a:t>چندمقداری</a:t>
                </a:r>
                <a:r>
                  <a:rPr lang="fa-IR" dirty="0"/>
                  <a:t> است، اگر برای تمام </a:t>
                </a:r>
                <a:r>
                  <a:rPr lang="fa-IR" dirty="0" err="1"/>
                  <a:t>وابستگی‌های</a:t>
                </a:r>
                <a:r>
                  <a:rPr lang="fa-IR" dirty="0"/>
                  <a:t> </a:t>
                </a:r>
                <a:r>
                  <a:rPr lang="fa-IR" dirty="0" err="1"/>
                  <a:t>چندمقداری</a:t>
                </a:r>
                <a:r>
                  <a:rPr lang="fa-IR" dirty="0"/>
                  <a:t> 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به شکل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fa-IR" dirty="0"/>
                  <a:t>، که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هستند، حداقل یکی از موارد زیر برقرار باشد: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fa-IR" b="1" dirty="0" err="1"/>
                  <a:t>تبیینی</a:t>
                </a:r>
                <a:r>
                  <a:rPr lang="fa-IR" b="1" dirty="0"/>
                  <a:t> (</a:t>
                </a:r>
                <a:r>
                  <a:rPr lang="en-US" b="1" dirty="0"/>
                  <a:t>trivial)</a:t>
                </a:r>
                <a:r>
                  <a:rPr lang="en-US" dirty="0"/>
                  <a:t> </a:t>
                </a:r>
                <a:r>
                  <a:rPr lang="fa-IR" dirty="0"/>
                  <a:t>است (یعنی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a-IR" dirty="0"/>
                  <a:t>یا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∪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fa-IR">
                        <a:latin typeface="Cambria Math" panose="02040503050406030204" pitchFamily="18" charset="0"/>
                      </a:rPr>
                      <m:t>=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)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a-IR" dirty="0"/>
                  <a:t>یک </a:t>
                </a:r>
                <a:r>
                  <a:rPr lang="fa-IR" b="1" dirty="0" err="1"/>
                  <a:t>ابرکلید</a:t>
                </a:r>
                <a:r>
                  <a:rPr lang="fa-IR" dirty="0"/>
                  <a:t> برای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است</a:t>
                </a:r>
              </a:p>
              <a:p>
                <a:pPr algn="r" rtl="1"/>
                <a:r>
                  <a:rPr lang="fa-IR" dirty="0"/>
                  <a:t>اگر یک رابطه 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باشد، آنگاه در </a:t>
                </a:r>
                <a:r>
                  <a:rPr lang="en-US" b="1" dirty="0"/>
                  <a:t>BCNF</a:t>
                </a:r>
                <a:r>
                  <a:rPr lang="en-US" dirty="0"/>
                  <a:t> </a:t>
                </a:r>
                <a:r>
                  <a:rPr lang="fa-IR" dirty="0"/>
                  <a:t>نیز هست.</a:t>
                </a:r>
              </a:p>
              <a:p>
                <a:pPr algn="r" rtl="1"/>
                <a:endParaRPr lang="en-US" altLang="en-US" dirty="0">
                  <a:sym typeface="Greek Symbols"/>
                </a:endParaRPr>
              </a:p>
            </p:txBody>
          </p:sp>
        </mc:Choice>
        <mc:Fallback xmlns="">
          <p:sp>
            <p:nvSpPr>
              <p:cNvPr id="880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092614"/>
                <a:ext cx="7594415" cy="2241299"/>
              </a:xfrm>
              <a:blipFill>
                <a:blip r:embed="rId3"/>
                <a:stretch>
                  <a:fillRect t="-3261" r="-963" b="-5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314" name="Rectangle 2"/>
          <p:cNvSpPr>
            <a:spLocks noGrp="1" noChangeArrowheads="1"/>
          </p:cNvSpPr>
          <p:nvPr>
            <p:ph type="title"/>
          </p:nvPr>
        </p:nvSpPr>
        <p:spPr>
          <a:xfrm>
            <a:off x="873125" y="7937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Restriction of Multivalued Dependencies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09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3480" y="1093788"/>
                <a:ext cx="7964851" cy="2359275"/>
              </a:xfrm>
            </p:spPr>
            <p:txBody>
              <a:bodyPr/>
              <a:lstStyle/>
              <a:p>
                <a:pPr algn="r" rtl="1"/>
                <a:r>
                  <a:rPr lang="fa-IR" dirty="0" err="1"/>
                  <a:t>محدودسازی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a-IR" dirty="0"/>
                  <a:t>به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مجموعه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است که شامل موارد زیر </a:t>
                </a:r>
                <a:r>
                  <a:rPr lang="fa-IR" dirty="0" err="1"/>
                  <a:t>می‌باشد</a:t>
                </a:r>
                <a:r>
                  <a:rPr lang="fa-IR" dirty="0"/>
                  <a:t>:</a:t>
                </a:r>
              </a:p>
              <a:p>
                <a:pPr algn="r" rtl="1"/>
                <a:r>
                  <a:rPr lang="fa-IR" dirty="0"/>
                  <a:t>تمام </a:t>
                </a:r>
                <a:r>
                  <a:rPr lang="fa-IR" b="1" dirty="0" err="1"/>
                  <a:t>وابستگی‌های</a:t>
                </a:r>
                <a:r>
                  <a:rPr lang="fa-IR" b="1" dirty="0"/>
                  <a:t> </a:t>
                </a:r>
                <a:r>
                  <a:rPr lang="fa-IR" b="1" dirty="0" err="1"/>
                  <a:t>تابعی</a:t>
                </a:r>
                <a:r>
                  <a:rPr lang="fa-IR" dirty="0"/>
                  <a:t> 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که فقط شامل صفات موجود در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هستند</a:t>
                </a:r>
              </a:p>
              <a:p>
                <a:pPr algn="r" rtl="1"/>
                <a:r>
                  <a:rPr lang="fa-IR" dirty="0"/>
                  <a:t>تمام </a:t>
                </a:r>
                <a:r>
                  <a:rPr lang="fa-IR" b="1" dirty="0" err="1"/>
                  <a:t>وابستگی‌های</a:t>
                </a:r>
                <a:r>
                  <a:rPr lang="fa-IR" b="1" dirty="0"/>
                  <a:t> </a:t>
                </a:r>
                <a:r>
                  <a:rPr lang="fa-IR" b="1" dirty="0" err="1"/>
                  <a:t>چندمقداری</a:t>
                </a:r>
                <a:r>
                  <a:rPr lang="fa-IR" dirty="0"/>
                  <a:t> به شکل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d>
                      <m:d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fa-IR"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fa-I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a-I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/>
                  <a:t>که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a-IR">
                        <a:latin typeface="Cambria Math" panose="02040503050406030204" pitchFamily="18" charset="0"/>
                      </a:rPr>
                      <m:t>↠</m:t>
                    </m:r>
                    <m:r>
                      <a:rPr lang="fa-IR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fa-IR" dirty="0"/>
                  <a:t>در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fa-IR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fa-IR" dirty="0"/>
                  <a:t>قرار دارد.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 xmlns="">
          <p:sp>
            <p:nvSpPr>
              <p:cNvPr id="890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3480" y="1093788"/>
                <a:ext cx="7964851" cy="2359275"/>
              </a:xfrm>
              <a:blipFill>
                <a:blip r:embed="rId3"/>
                <a:stretch>
                  <a:fillRect t="-2842" r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4NF Decomposition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11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1163638"/>
                <a:ext cx="7496761" cy="3901657"/>
              </a:xfrm>
            </p:spPr>
            <p:txBody>
              <a:bodyPr/>
              <a:lstStyle/>
              <a:p>
                <a:pPr>
                  <a:buFont typeface="Monotype Sorts" pitchFamily="-84" charset="2"/>
                  <a:buNone/>
                </a:pPr>
                <a:r>
                  <a:rPr lang="en-US" altLang="en-US" i="1" dirty="0"/>
                  <a:t>     result:</a:t>
                </a:r>
                <a:r>
                  <a:rPr lang="en-US" altLang="en-US" dirty="0"/>
                  <a:t> = {</a:t>
                </a:r>
                <a:r>
                  <a:rPr lang="en-US" altLang="en-US" i="1" dirty="0"/>
                  <a:t>R</a:t>
                </a:r>
                <a:r>
                  <a:rPr lang="en-US" altLang="en-US" dirty="0"/>
                  <a:t>};</a:t>
                </a:r>
                <a:br>
                  <a:rPr lang="en-US" altLang="en-US" dirty="0"/>
                </a:br>
                <a:r>
                  <a:rPr lang="en-US" altLang="en-US" i="1" dirty="0"/>
                  <a:t>done</a:t>
                </a:r>
                <a:r>
                  <a:rPr lang="en-US" altLang="en-US" dirty="0"/>
                  <a:t> := false;</a:t>
                </a:r>
                <a:br>
                  <a:rPr lang="en-US" altLang="en-US" dirty="0"/>
                </a:br>
                <a:r>
                  <a:rPr lang="en-US" altLang="en-US" i="1" dirty="0"/>
                  <a:t>compute D</a:t>
                </a:r>
                <a:r>
                  <a:rPr lang="en-US" altLang="en-US" baseline="30000" dirty="0"/>
                  <a:t>+</a:t>
                </a:r>
                <a:r>
                  <a:rPr lang="en-US" altLang="en-US" dirty="0"/>
                  <a:t>;</a:t>
                </a:r>
                <a:br>
                  <a:rPr lang="en-US" altLang="en-US" dirty="0"/>
                </a:br>
                <a:r>
                  <a:rPr lang="en-US" altLang="en-US" dirty="0"/>
                  <a:t>Let D</a:t>
                </a:r>
                <a:r>
                  <a:rPr lang="en-US" altLang="en-US" baseline="-25000" dirty="0"/>
                  <a:t>i</a:t>
                </a:r>
                <a:r>
                  <a:rPr lang="en-US" altLang="en-US" dirty="0"/>
                  <a:t> denote the restriction of D</a:t>
                </a:r>
                <a:r>
                  <a:rPr lang="en-US" altLang="en-US" baseline="30000" dirty="0"/>
                  <a:t>+</a:t>
                </a:r>
                <a:r>
                  <a:rPr lang="en-US" altLang="en-US" dirty="0"/>
                  <a:t> to R</a:t>
                </a:r>
                <a:r>
                  <a:rPr lang="en-US" altLang="en-US" baseline="-25000" dirty="0"/>
                  <a:t>i</a:t>
                </a:r>
              </a:p>
              <a:p>
                <a:pPr>
                  <a:buFont typeface="Monotype Sorts" pitchFamily="-84" charset="2"/>
                  <a:buNone/>
                </a:pPr>
                <a:r>
                  <a:rPr lang="en-US" altLang="en-US" b="1" dirty="0"/>
                  <a:t>      while </a:t>
                </a:r>
                <a:r>
                  <a:rPr lang="en-US" altLang="en-US" dirty="0"/>
                  <a:t>(</a:t>
                </a:r>
                <a:r>
                  <a:rPr lang="en-US" altLang="en-US" b="1" dirty="0"/>
                  <a:t>not </a:t>
                </a:r>
                <a:r>
                  <a:rPr lang="en-US" altLang="en-US" i="1" dirty="0"/>
                  <a:t>done</a:t>
                </a:r>
                <a:r>
                  <a:rPr lang="en-US" altLang="en-US" dirty="0"/>
                  <a:t>) </a:t>
                </a:r>
                <a:br>
                  <a:rPr lang="en-US" altLang="en-US" dirty="0"/>
                </a:br>
                <a:r>
                  <a:rPr lang="en-US" altLang="en-US" dirty="0"/>
                  <a:t>    </a:t>
                </a:r>
                <a:r>
                  <a:rPr lang="en-US" altLang="en-US" b="1" dirty="0"/>
                  <a:t>if </a:t>
                </a:r>
                <a:r>
                  <a:rPr lang="en-US" altLang="en-US" dirty="0"/>
                  <a:t>(there is a schema </a:t>
                </a:r>
                <a:r>
                  <a:rPr lang="en-US" altLang="en-US" b="1" dirty="0"/>
                  <a:t>R</a:t>
                </a:r>
                <a:r>
                  <a:rPr lang="en-US" altLang="en-US" baseline="-25000" dirty="0"/>
                  <a:t>i</a:t>
                </a:r>
                <a:r>
                  <a:rPr lang="en-US" altLang="en-US" dirty="0"/>
                  <a:t> in </a:t>
                </a:r>
                <a:r>
                  <a:rPr lang="en-US" altLang="en-US" i="1" dirty="0"/>
                  <a:t>result </a:t>
                </a:r>
                <a:r>
                  <a:rPr lang="en-US" altLang="en-US" dirty="0"/>
                  <a:t>that is not in 4NF) </a:t>
                </a:r>
                <a:r>
                  <a:rPr lang="en-US" altLang="en-US" b="1" dirty="0"/>
                  <a:t>then</a:t>
                </a:r>
                <a:br>
                  <a:rPr lang="en-US" altLang="en-US" b="1" dirty="0"/>
                </a:br>
                <a:r>
                  <a:rPr lang="en-US" altLang="en-US" b="1" dirty="0"/>
                  <a:t>       begin</a:t>
                </a:r>
                <a:endParaRPr lang="en-US" altLang="en-US" dirty="0"/>
              </a:p>
              <a:p>
                <a:pPr>
                  <a:buFont typeface="Monotype Sorts" pitchFamily="-84" charset="2"/>
                  <a:buNone/>
                </a:pPr>
                <a:r>
                  <a:rPr lang="en-US" altLang="en-US" dirty="0"/>
                  <a:t>		 let </a:t>
                </a:r>
                <a:r>
                  <a:rPr lang="en-US" altLang="en-US" dirty="0">
                    <a:sym typeface="Symbol" panose="05050102010706020507" pitchFamily="18" charset="2"/>
                  </a:rPr>
                  <a:t> </a:t>
                </a:r>
                <a:r>
                  <a:rPr lang="en-US" altLang="en-US" b="1" dirty="0">
                    <a:sym typeface="Symbol" panose="05050102010706020507" pitchFamily="18" charset="2"/>
                  </a:rPr>
                  <a:t></a:t>
                </a:r>
                <a:r>
                  <a:rPr lang="en-US" altLang="en-US" dirty="0">
                    <a:sym typeface="Symbol" panose="05050102010706020507" pitchFamily="18" charset="2"/>
                  </a:rPr>
                  <a:t>  be a nontrivial multivalued dependency that holds</a:t>
                </a:r>
                <a:br>
                  <a:rPr lang="en-US" altLang="en-US" dirty="0">
                    <a:sym typeface="Symbol" panose="05050102010706020507" pitchFamily="18" charset="2"/>
                  </a:rPr>
                </a:br>
                <a:r>
                  <a:rPr lang="en-US" altLang="en-US" dirty="0">
                    <a:sym typeface="Symbol" panose="05050102010706020507" pitchFamily="18" charset="2"/>
                  </a:rPr>
                  <a:t>            on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</a:t>
                </a:r>
                <a:r>
                  <a:rPr lang="en-US" altLang="en-US" baseline="-25000" dirty="0">
                    <a:sym typeface="Symbol" panose="05050102010706020507" pitchFamily="18" charset="2"/>
                  </a:rPr>
                  <a:t>i</a:t>
                </a:r>
                <a:r>
                  <a:rPr lang="en-US" altLang="en-US" dirty="0">
                    <a:sym typeface="Symbol" panose="05050102010706020507" pitchFamily="18" charset="2"/>
                  </a:rPr>
                  <a:t> such that  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</a:t>
                </a:r>
                <a:r>
                  <a:rPr lang="en-US" altLang="en-US" i="1" baseline="-25000" dirty="0">
                    <a:sym typeface="Symbol" panose="05050102010706020507" pitchFamily="18" charset="2"/>
                  </a:rPr>
                  <a:t>i  </a:t>
                </a:r>
                <a:r>
                  <a:rPr lang="en-US" altLang="en-US" dirty="0">
                    <a:sym typeface="Symbol" panose="05050102010706020507" pitchFamily="18" charset="2"/>
                  </a:rPr>
                  <a:t>is not in </a:t>
                </a:r>
                <a:r>
                  <a:rPr lang="en-US" altLang="en-US" i="1" dirty="0"/>
                  <a:t>D</a:t>
                </a:r>
                <a:r>
                  <a:rPr lang="en-US" altLang="en-US" baseline="-25000" dirty="0"/>
                  <a:t>i</a:t>
                </a:r>
                <a:r>
                  <a:rPr lang="en-US" altLang="en-US" dirty="0"/>
                  <a:t>, and </a:t>
                </a:r>
                <a:r>
                  <a:rPr lang="en-US" altLang="en-US" dirty="0">
                    <a:sym typeface="Symbol" panose="05050102010706020507" pitchFamily="18" charset="2"/>
                  </a:rPr>
                  <a:t>; </a:t>
                </a:r>
                <a:br>
                  <a:rPr lang="en-US" altLang="en-US" dirty="0">
                    <a:sym typeface="Symbol" panose="05050102010706020507" pitchFamily="18" charset="2"/>
                  </a:rPr>
                </a:br>
                <a:r>
                  <a:rPr lang="en-US" altLang="en-US" dirty="0">
                    <a:sym typeface="Symbol" panose="05050102010706020507" pitchFamily="18" charset="2"/>
                  </a:rPr>
                  <a:t>         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result </a:t>
                </a:r>
                <a:r>
                  <a:rPr lang="en-US" altLang="en-US" dirty="0">
                    <a:sym typeface="Symbol" panose="05050102010706020507" pitchFamily="18" charset="2"/>
                  </a:rPr>
                  <a:t>:=  (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result </a:t>
                </a:r>
                <a:r>
                  <a:rPr lang="en-US" altLang="en-US" dirty="0">
                    <a:sym typeface="Symbol" panose="05050102010706020507" pitchFamily="18" charset="2"/>
                  </a:rPr>
                  <a:t>-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</a:t>
                </a:r>
                <a:r>
                  <a:rPr lang="en-US" altLang="en-US" i="1" baseline="-25000" dirty="0">
                    <a:sym typeface="Symbol" panose="05050102010706020507" pitchFamily="18" charset="2"/>
                  </a:rPr>
                  <a:t>i</a:t>
                </a:r>
                <a:r>
                  <a:rPr lang="en-US" altLang="en-US" dirty="0">
                    <a:sym typeface="Symbol" panose="05050102010706020507" pitchFamily="18" charset="2"/>
                  </a:rPr>
                  <a:t>)  (</a:t>
                </a:r>
                <a:r>
                  <a:rPr lang="en-US" altLang="en-US" i="1" dirty="0">
                    <a:sym typeface="Symbol" panose="05050102010706020507" pitchFamily="18" charset="2"/>
                  </a:rPr>
                  <a:t>R</a:t>
                </a:r>
                <a:r>
                  <a:rPr lang="en-US" altLang="en-US" i="1" baseline="-25000" dirty="0">
                    <a:sym typeface="Symbol" panose="05050102010706020507" pitchFamily="18" charset="2"/>
                  </a:rPr>
                  <a:t>i</a:t>
                </a:r>
                <a:r>
                  <a:rPr lang="en-US" altLang="en-US" baseline="-25000" dirty="0">
                    <a:sym typeface="Symbol" panose="05050102010706020507" pitchFamily="18" charset="2"/>
                  </a:rPr>
                  <a:t> </a:t>
                </a:r>
                <a:r>
                  <a:rPr lang="en-US" altLang="en-US" dirty="0">
                    <a:sym typeface="Symbol" panose="05050102010706020507" pitchFamily="18" charset="2"/>
                  </a:rPr>
                  <a:t>- )   (, ); </a:t>
                </a:r>
                <a:br>
                  <a:rPr lang="en-US" altLang="en-US" dirty="0">
                    <a:sym typeface="Symbol" panose="05050102010706020507" pitchFamily="18" charset="2"/>
                  </a:rPr>
                </a:br>
                <a:r>
                  <a:rPr lang="en-US" altLang="en-US" b="1" dirty="0">
                    <a:sym typeface="Symbol" panose="05050102010706020507" pitchFamily="18" charset="2"/>
                  </a:rPr>
                  <a:t>       end</a:t>
                </a:r>
                <a:br>
                  <a:rPr lang="en-US" altLang="en-US" dirty="0">
                    <a:sym typeface="Symbol" panose="05050102010706020507" pitchFamily="18" charset="2"/>
                  </a:rPr>
                </a:br>
                <a:r>
                  <a:rPr lang="en-US" altLang="en-US" b="1" dirty="0">
                    <a:sym typeface="Symbol" panose="05050102010706020507" pitchFamily="18" charset="2"/>
                  </a:rPr>
                  <a:t>    else </a:t>
                </a:r>
                <a:r>
                  <a:rPr lang="en-US" altLang="en-US" i="1" dirty="0">
                    <a:sym typeface="Symbol" panose="05050102010706020507" pitchFamily="18" charset="2"/>
                  </a:rPr>
                  <a:t>done</a:t>
                </a:r>
                <a:r>
                  <a:rPr lang="en-US" altLang="en-US" dirty="0">
                    <a:sym typeface="Symbol" panose="05050102010706020507" pitchFamily="18" charset="2"/>
                  </a:rPr>
                  <a:t>:= true;</a:t>
                </a:r>
              </a:p>
              <a:p>
                <a:pPr algn="r" rtl="1">
                  <a:buFont typeface="Monotype Sorts" pitchFamily="-84" charset="2"/>
                  <a:buNone/>
                </a:pPr>
                <a:r>
                  <a:rPr lang="en-US" altLang="en-US" dirty="0">
                    <a:sym typeface="Symbol" panose="05050102010706020507" pitchFamily="18" charset="2"/>
                  </a:rPr>
                  <a:t> </a:t>
                </a:r>
                <a:r>
                  <a:rPr lang="fa-IR" dirty="0"/>
                  <a:t>هر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a-I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a-I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 و تجزیه </a:t>
                </a:r>
                <a:r>
                  <a:rPr lang="fa-IR" b="1" dirty="0"/>
                  <a:t>بدون از دست دادن اطلاعات </a:t>
                </a:r>
                <a:r>
                  <a:rPr lang="en-US" dirty="0"/>
                  <a:t>( </a:t>
                </a:r>
                <a:r>
                  <a:rPr lang="en-US" b="1" dirty="0"/>
                  <a:t>lossless-join)</a:t>
                </a:r>
                <a:r>
                  <a:rPr lang="en-US" dirty="0"/>
                  <a:t> </a:t>
                </a:r>
                <a:r>
                  <a:rPr lang="fa-IR" dirty="0" err="1"/>
                  <a:t>می‌باشد</a:t>
                </a:r>
                <a:r>
                  <a:rPr lang="fa-IR" dirty="0"/>
                  <a:t>.</a:t>
                </a:r>
                <a:endParaRPr lang="en-US" altLang="en-US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901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1163638"/>
                <a:ext cx="7496761" cy="3901657"/>
              </a:xfrm>
              <a:blipFill>
                <a:blip r:embed="rId3"/>
                <a:stretch>
                  <a:fillRect t="-781" r="-488" b="-2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8348663" y="6477000"/>
            <a:ext cx="317500" cy="4763"/>
            <a:chOff x="2640" y="1301"/>
            <a:chExt cx="200" cy="3"/>
          </a:xfrm>
        </p:grpSpPr>
        <p:sp>
          <p:nvSpPr>
            <p:cNvPr id="90117" name="Line 5"/>
            <p:cNvSpPr>
              <a:spLocks noChangeShapeType="1"/>
            </p:cNvSpPr>
            <p:nvPr/>
          </p:nvSpPr>
          <p:spPr bwMode="auto">
            <a:xfrm flipV="1">
              <a:off x="2640" y="1301"/>
              <a:ext cx="136" cy="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0118" name="Line 6"/>
            <p:cNvSpPr>
              <a:spLocks noChangeShapeType="1"/>
            </p:cNvSpPr>
            <p:nvPr/>
          </p:nvSpPr>
          <p:spPr bwMode="auto">
            <a:xfrm>
              <a:off x="2704" y="1304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541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768350" y="727076"/>
                <a:ext cx="8279397" cy="5519320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رابطه: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/>
                      <m:t>𝑅</m:t>
                    </m:r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𝐵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  <m:mo separator="true">,</m:mo>
                      <m:e>
                        <m:r>
                          <a:rPr lang="fa-IR" i="1"/>
                          <m:t>𝐺</m:t>
                        </m:r>
                      </m:e>
                      <m:mo separator="true">,</m:mo>
                      <m:e>
                        <m:r>
                          <a:rPr lang="fa-IR" i="1"/>
                          <m:t>𝐻</m:t>
                        </m:r>
                      </m:e>
                      <m:mo separator="true">,</m:mo>
                      <m:e>
                        <m:r>
                          <a:rPr lang="fa-IR" i="1"/>
                          <m:t>𝐼</m:t>
                        </m:r>
                      </m:e>
                    </m:d>
                  </m:oMath>
                </a14:m>
                <a:endParaRPr lang="fa-IR" dirty="0"/>
              </a:p>
              <a:p>
                <a:pPr algn="r" rtl="1"/>
                <a:r>
                  <a:rPr lang="fa-IR" dirty="0" err="1"/>
                  <a:t>وابستگی‌ها</a:t>
                </a:r>
                <a:r>
                  <a:rPr lang="fa-IR" dirty="0"/>
                  <a:t>:</a:t>
                </a:r>
              </a:p>
              <a:p>
                <a:pPr algn="r" rtl="1"/>
                <a14:m>
                  <m:oMath xmlns:m="http://schemas.openxmlformats.org/officeDocument/2006/math">
                    <m:r>
                      <a:rPr lang="fa-IR" i="1"/>
                      <m:t>𝐹</m:t>
                    </m:r>
                    <m:r>
                      <a:rPr lang="fa-IR"/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/>
                          <m:t>↠</m:t>
                        </m:r>
                      </m:e>
                      <m:mo separator="true">,</m:mo>
                      <m:e>
                        <m:r>
                          <a:rPr lang="fa-IR" i="1"/>
                          <m:t>𝐵</m:t>
                        </m:r>
                        <m:r>
                          <m:rPr>
                            <m:nor/>
                          </m:rPr>
                          <a:rPr lang="fa-IR" i="1"/>
                          <m:t>  </m:t>
                        </m:r>
                        <m:r>
                          <a:rPr lang="fa-IR" i="1"/>
                          <m:t>𝐵</m:t>
                        </m:r>
                        <m:r>
                          <a:rPr lang="fa-IR"/>
                          <m:t>↠</m:t>
                        </m:r>
                        <m:r>
                          <a:rPr lang="fa-IR" i="1"/>
                          <m:t>𝐻𝐼</m:t>
                        </m:r>
                        <m:r>
                          <m:rPr>
                            <m:nor/>
                          </m:rPr>
                          <a:rPr lang="fa-IR" i="1"/>
                          <m:t>  </m:t>
                        </m:r>
                        <m:r>
                          <a:rPr lang="fa-IR" i="1"/>
                          <m:t>𝐶𝐺</m:t>
                        </m:r>
                        <m:r>
                          <a:rPr lang="fa-IR"/>
                          <m:t>↠</m:t>
                        </m:r>
                        <m:r>
                          <a:rPr lang="fa-IR" i="1"/>
                          <m:t>𝐻</m:t>
                        </m:r>
                      </m:e>
                    </m:d>
                  </m:oMath>
                </a14:m>
                <a:endParaRPr lang="fa-IR" b="0" dirty="0"/>
              </a:p>
              <a:p>
                <a:pPr algn="r" rtl="1"/>
                <a:r>
                  <a:rPr lang="fa-IR" dirty="0"/>
                  <a:t>رابطه </a:t>
                </a:r>
                <a14:m>
                  <m:oMath xmlns:m="http://schemas.openxmlformats.org/officeDocument/2006/math">
                    <m:r>
                      <a:rPr lang="fa-IR" i="1"/>
                      <m:t>𝑅</m:t>
                    </m:r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نیست، زیرا </a:t>
                </a:r>
                <a14:m>
                  <m:oMath xmlns:m="http://schemas.openxmlformats.org/officeDocument/2006/math">
                    <m:r>
                      <a:rPr lang="fa-IR" i="1"/>
                      <m:t>𝐴</m:t>
                    </m:r>
                    <m:r>
                      <a:rPr lang="fa-IR"/>
                      <m:t>↠</m:t>
                    </m:r>
                    <m:r>
                      <a:rPr lang="fa-IR" i="1"/>
                      <m:t>𝐵</m:t>
                    </m:r>
                  </m:oMath>
                </a14:m>
                <a:r>
                  <a:rPr lang="fa-IR" dirty="0"/>
                  <a:t>برقرار است و </a:t>
                </a:r>
                <a:r>
                  <a:rPr lang="en-US" dirty="0"/>
                  <a:t>A </a:t>
                </a:r>
                <a:r>
                  <a:rPr lang="fa-IR" dirty="0"/>
                  <a:t>یک </a:t>
                </a:r>
                <a:r>
                  <a:rPr lang="fa-IR" b="1" dirty="0" err="1"/>
                  <a:t>ابرکلید</a:t>
                </a:r>
                <a:r>
                  <a:rPr lang="fa-IR" dirty="0"/>
                  <a:t> برای </a:t>
                </a:r>
                <a:r>
                  <a:rPr lang="en-US" dirty="0"/>
                  <a:t>R </a:t>
                </a:r>
                <a:r>
                  <a:rPr lang="fa-IR" dirty="0"/>
                  <a:t>نیست.</a:t>
                </a:r>
              </a:p>
              <a:p>
                <a:pPr algn="r" rtl="1"/>
                <a:r>
                  <a:rPr lang="fa-IR" b="1" dirty="0"/>
                  <a:t>تجزیه:</a:t>
                </a:r>
              </a:p>
              <a:p>
                <a:pPr algn="r" rtl="1"/>
                <a:r>
                  <a:rPr lang="en-US" dirty="0"/>
                  <a:t>a)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1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𝐵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1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/>
                <a:r>
                  <a:rPr lang="en-US" dirty="0"/>
                  <a:t>b)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2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  <m:mo separator="true">,</m:mo>
                      <m:e>
                        <m:r>
                          <a:rPr lang="fa-IR" i="1"/>
                          <m:t>𝐺</m:t>
                        </m:r>
                      </m:e>
                      <m:mo separator="true">,</m:mo>
                      <m:e>
                        <m:r>
                          <a:rPr lang="fa-IR" i="1"/>
                          <m:t>𝐻</m:t>
                        </m:r>
                      </m:e>
                      <m:mo separator="true">,</m:mo>
                      <m:e>
                        <m:r>
                          <a:rPr lang="fa-IR" i="1"/>
                          <m:t>𝐼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2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نیست، بنابراین به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3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4</m:t>
                        </m:r>
                      </m:sub>
                    </m:sSub>
                  </m:oMath>
                </a14:m>
                <a:r>
                  <a:rPr lang="fa-IR" dirty="0"/>
                  <a:t>تجزیه </a:t>
                </a:r>
                <a:r>
                  <a:rPr lang="fa-IR" dirty="0" err="1"/>
                  <a:t>می‌شود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en-US" dirty="0"/>
                  <a:t>c)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3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𝐶</m:t>
                        </m:r>
                      </m:e>
                      <m:mo separator="true">,</m:mo>
                      <m:e>
                        <m:r>
                          <a:rPr lang="fa-IR" i="1"/>
                          <m:t>𝐺</m:t>
                        </m:r>
                      </m:e>
                      <m:mo separator="true">,</m:mo>
                      <m:e>
                        <m:r>
                          <a:rPr lang="fa-IR" i="1"/>
                          <m:t>𝐻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3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/>
                <a:r>
                  <a:rPr lang="en-US" dirty="0"/>
                  <a:t>d)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4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  <m:mo separator="true">,</m:mo>
                      <m:e>
                        <m:r>
                          <a:rPr lang="fa-IR" i="1"/>
                          <m:t>𝐺</m:t>
                        </m:r>
                      </m:e>
                      <m:mo separator="true">,</m:mo>
                      <m:e>
                        <m:r>
                          <a:rPr lang="fa-IR" i="1"/>
                          <m:t>𝐼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4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نیست، بنابراین به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5</m:t>
                        </m:r>
                      </m:sub>
                    </m:sSub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6</m:t>
                        </m:r>
                      </m:sub>
                    </m:sSub>
                  </m:oMath>
                </a14:m>
                <a:r>
                  <a:rPr lang="fa-IR" dirty="0"/>
                  <a:t>تجزیه </a:t>
                </a:r>
                <a:r>
                  <a:rPr lang="fa-IR" dirty="0" err="1"/>
                  <a:t>می‌شود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با توجه به </a:t>
                </a:r>
                <a14:m>
                  <m:oMath xmlns:m="http://schemas.openxmlformats.org/officeDocument/2006/math">
                    <m:r>
                      <a:rPr lang="fa-IR" i="1"/>
                      <m:t>𝐴</m:t>
                    </m:r>
                    <m:r>
                      <a:rPr lang="fa-IR"/>
                      <m:t>↠</m:t>
                    </m:r>
                    <m:r>
                      <a:rPr lang="fa-IR" i="1"/>
                      <m:t>𝐵</m:t>
                    </m:r>
                  </m:oMath>
                </a14:m>
                <a:r>
                  <a:rPr lang="fa-IR" dirty="0"/>
                  <a:t>و </a:t>
                </a:r>
                <a14:m>
                  <m:oMath xmlns:m="http://schemas.openxmlformats.org/officeDocument/2006/math">
                    <m:r>
                      <a:rPr lang="fa-IR" i="1"/>
                      <m:t>𝐵</m:t>
                    </m:r>
                    <m:r>
                      <a:rPr lang="fa-IR"/>
                      <m:t>↠</m:t>
                    </m:r>
                    <m:r>
                      <a:rPr lang="fa-IR" i="1"/>
                      <m:t>𝐻𝐼</m:t>
                    </m:r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r>
                      <a:rPr lang="fa-IR" i="1"/>
                      <m:t>𝐴</m:t>
                    </m:r>
                    <m:r>
                      <a:rPr lang="fa-IR"/>
                      <m:t>↠</m:t>
                    </m:r>
                    <m:r>
                      <a:rPr lang="fa-IR" i="1"/>
                      <m:t>𝐻𝐼</m:t>
                    </m:r>
                  </m:oMath>
                </a14:m>
                <a:br>
                  <a:rPr lang="fa-IR" dirty="0"/>
                </a:br>
                <a:r>
                  <a:rPr lang="fa-IR" dirty="0"/>
                  <a:t>(از طریق </a:t>
                </a:r>
                <a:r>
                  <a:rPr lang="fa-IR" b="1" dirty="0"/>
                  <a:t>انتقال وابستگی </a:t>
                </a:r>
                <a:r>
                  <a:rPr lang="fa-IR" b="1" dirty="0" err="1"/>
                  <a:t>چندمقداری</a:t>
                </a:r>
                <a:r>
                  <a:rPr lang="fa-IR" b="1" dirty="0"/>
                  <a:t> (</a:t>
                </a:r>
                <a:r>
                  <a:rPr lang="en-US" b="1" dirty="0"/>
                  <a:t>MVD transitivity)</a:t>
                </a:r>
                <a:r>
                  <a:rPr lang="en-US" dirty="0"/>
                  <a:t>)</a:t>
                </a:r>
                <a:br>
                  <a:rPr lang="en-US" dirty="0"/>
                </a:br>
                <a:r>
                  <a:rPr lang="fa-IR" dirty="0"/>
                  <a:t>و بنابراین </a:t>
                </a:r>
                <a14:m>
                  <m:oMath xmlns:m="http://schemas.openxmlformats.org/officeDocument/2006/math">
                    <m:r>
                      <a:rPr lang="fa-IR" i="1"/>
                      <m:t>𝐴</m:t>
                    </m:r>
                    <m:r>
                      <a:rPr lang="fa-IR"/>
                      <m:t>↠</m:t>
                    </m:r>
                    <m:r>
                      <a:rPr lang="fa-IR" i="1"/>
                      <m:t>𝐼</m:t>
                    </m:r>
                  </m:oMath>
                </a14:m>
                <a:r>
                  <a:rPr lang="fa-IR" dirty="0"/>
                  <a:t>(</a:t>
                </a:r>
                <a:r>
                  <a:rPr lang="fa-IR" b="1" dirty="0" err="1"/>
                  <a:t>محدودسازی</a:t>
                </a:r>
                <a:r>
                  <a:rPr lang="fa-IR" b="1" dirty="0"/>
                  <a:t> </a:t>
                </a:r>
                <a:r>
                  <a:rPr lang="en-US" b="1" dirty="0"/>
                  <a:t>MVD </a:t>
                </a:r>
                <a:r>
                  <a:rPr lang="fa-IR" b="1" dirty="0"/>
                  <a:t>به </a:t>
                </a:r>
                <a:r>
                  <a:rPr lang="en-US" b="1" dirty="0"/>
                  <a:t>R_4</a:t>
                </a:r>
                <a:r>
                  <a:rPr lang="en-US" dirty="0"/>
                  <a:t>).</a:t>
                </a:r>
              </a:p>
              <a:p>
                <a:pPr algn="r" rtl="1"/>
                <a:r>
                  <a:rPr lang="en-US" dirty="0"/>
                  <a:t>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5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𝐼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5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/>
                <a:r>
                  <a:rPr lang="en-US" dirty="0"/>
                  <a:t>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6</m:t>
                        </m:r>
                      </m:sub>
                    </m:sSub>
                    <m:r>
                      <a:rPr lang="fa-IR"/>
                      <m:t>=</m:t>
                    </m:r>
                    <m:d>
                      <m:dPr>
                        <m:sepChr m:val=","/>
                        <m:ctrlPr>
                          <a:rPr lang="fa-IR" i="1"/>
                        </m:ctrlPr>
                      </m:dPr>
                      <m:e>
                        <m:r>
                          <a:rPr lang="fa-IR" i="1"/>
                          <m:t>𝐴</m:t>
                        </m:r>
                      </m:e>
                      <m:mo separator="true">,</m:mo>
                      <m:e>
                        <m:r>
                          <a:rPr lang="fa-IR" i="1"/>
                          <m:t>𝐶</m:t>
                        </m:r>
                      </m:e>
                      <m:mo separator="true">,</m:mo>
                      <m:e>
                        <m:r>
                          <a:rPr lang="fa-IR" i="1"/>
                          <m:t>𝐺</m:t>
                        </m:r>
                      </m:e>
                    </m:d>
                  </m:oMath>
                </a14:m>
                <a:r>
                  <a:rPr lang="fa-IR" dirty="0"/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a-IR"/>
                        </m:ctrlPr>
                      </m:sSubPr>
                      <m:e>
                        <m:r>
                          <a:rPr lang="fa-IR" i="1"/>
                          <m:t>𝑅</m:t>
                        </m:r>
                      </m:e>
                      <m:sub>
                        <m:r>
                          <a:rPr lang="fa-IR"/>
                          <m:t>6</m:t>
                        </m:r>
                      </m:sub>
                    </m:sSub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4</a:t>
                </a:r>
                <a:r>
                  <a:rPr lang="en-US" b="1" dirty="0"/>
                  <a:t>NF</a:t>
                </a:r>
                <a:r>
                  <a:rPr lang="en-US" dirty="0"/>
                  <a:t> </a:t>
                </a:r>
                <a:r>
                  <a:rPr lang="fa-IR" dirty="0"/>
                  <a:t>است.</a:t>
                </a:r>
              </a:p>
              <a:p>
                <a:pPr algn="r" rtl="1">
                  <a:lnSpc>
                    <a:spcPct val="90000"/>
                  </a:lnSpc>
                </a:pPr>
                <a:endParaRPr lang="en-US" altLang="en-US" dirty="0"/>
              </a:p>
            </p:txBody>
          </p:sp>
        </mc:Choice>
        <mc:Fallback>
          <p:sp>
            <p:nvSpPr>
              <p:cNvPr id="78541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727076"/>
                <a:ext cx="8279397" cy="5519320"/>
              </a:xfrm>
              <a:blipFill>
                <a:blip r:embed="rId3"/>
                <a:stretch>
                  <a:fillRect t="-1435" r="-884" b="-9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54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5411" grpId="0" build="p" bldLvl="2" autoUpdateAnimBg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701458" y="2400300"/>
            <a:ext cx="7426542" cy="1257300"/>
          </a:xfrm>
        </p:spPr>
        <p:txBody>
          <a:bodyPr/>
          <a:lstStyle/>
          <a:p>
            <a:pPr algn="ctr" rtl="1">
              <a:buFont typeface="Monotype Sorts" charset="2"/>
              <a:buNone/>
              <a:defRPr/>
            </a:pPr>
            <a:r>
              <a:rPr lang="fa-IR" sz="3200" dirty="0"/>
              <a:t>مسائل و نکات اضافی </a:t>
            </a:r>
            <a:r>
              <a:rPr lang="en-US" sz="3200" dirty="0"/>
              <a:t>(Additional issues)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</p:cSld>
  <p:clrMapOvr>
    <a:masterClrMapping/>
  </p:clrMapOvr>
  <p:transition spd="slow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552450" y="8572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Further Normal Forms</a:t>
            </a:r>
          </a:p>
        </p:txBody>
      </p:sp>
      <p:sp>
        <p:nvSpPr>
          <p:cNvPr id="93187" name="Rectangle 3"/>
          <p:cNvSpPr>
            <a:spLocks noGrp="1" noChangeArrowheads="1"/>
          </p:cNvSpPr>
          <p:nvPr>
            <p:ph idx="1"/>
          </p:nvPr>
        </p:nvSpPr>
        <p:spPr>
          <a:xfrm>
            <a:off x="763479" y="1141917"/>
            <a:ext cx="7714695" cy="4419639"/>
          </a:xfrm>
        </p:spPr>
        <p:txBody>
          <a:bodyPr/>
          <a:lstStyle/>
          <a:p>
            <a:pPr algn="r" rtl="1"/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en-US" b="1" dirty="0"/>
              <a:t>Join</a:t>
            </a:r>
            <a:r>
              <a:rPr lang="en-US" dirty="0"/>
              <a:t>،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چندمقداری</a:t>
            </a:r>
            <a:r>
              <a:rPr lang="fa-IR" dirty="0"/>
              <a:t> را تعمیم </a:t>
            </a:r>
            <a:r>
              <a:rPr lang="fa-IR" dirty="0" err="1"/>
              <a:t>می‌دهند</a:t>
            </a:r>
            <a:r>
              <a:rPr lang="fa-IR" dirty="0"/>
              <a:t> و به </a:t>
            </a:r>
            <a:r>
              <a:rPr lang="fa-IR" b="1" dirty="0"/>
              <a:t>فرم نرمال پروژه-</a:t>
            </a:r>
            <a:r>
              <a:rPr lang="fa-IR" b="1" dirty="0" err="1"/>
              <a:t>جوین</a:t>
            </a:r>
            <a:r>
              <a:rPr lang="fa-IR" b="1" dirty="0"/>
              <a:t> (</a:t>
            </a:r>
            <a:r>
              <a:rPr lang="en-US" b="1" dirty="0"/>
              <a:t>PJNF)</a:t>
            </a:r>
            <a:r>
              <a:rPr lang="en-US" dirty="0"/>
              <a:t> </a:t>
            </a:r>
            <a:r>
              <a:rPr lang="fa-IR" dirty="0"/>
              <a:t>منجر </a:t>
            </a:r>
            <a:r>
              <a:rPr lang="fa-IR" dirty="0" err="1"/>
              <a:t>می‌شوند</a:t>
            </a:r>
            <a:r>
              <a:rPr lang="fa-IR" dirty="0"/>
              <a:t> (که همچنین به آن </a:t>
            </a:r>
            <a:r>
              <a:rPr lang="fa-IR" b="1" dirty="0"/>
              <a:t>پنجمین فرم نرمال</a:t>
            </a:r>
            <a:r>
              <a:rPr lang="fa-IR" dirty="0"/>
              <a:t> گفته </a:t>
            </a:r>
            <a:r>
              <a:rPr lang="fa-IR" dirty="0" err="1"/>
              <a:t>می‌شود</a:t>
            </a:r>
            <a:r>
              <a:rPr lang="fa-IR" dirty="0"/>
              <a:t>).</a:t>
            </a:r>
          </a:p>
          <a:p>
            <a:pPr algn="r" rtl="1"/>
            <a:r>
              <a:rPr lang="fa-IR" dirty="0"/>
              <a:t>یک کلاس از </a:t>
            </a:r>
            <a:r>
              <a:rPr lang="fa-IR" dirty="0" err="1"/>
              <a:t>محدودیت‌های</a:t>
            </a:r>
            <a:r>
              <a:rPr lang="fa-IR" dirty="0"/>
              <a:t> حتی </a:t>
            </a:r>
            <a:r>
              <a:rPr lang="fa-IR" dirty="0" err="1"/>
              <a:t>عمومی‌تر</a:t>
            </a:r>
            <a:r>
              <a:rPr lang="fa-IR" dirty="0"/>
              <a:t> وجود دارد که به یک فرم نرمال به نام </a:t>
            </a:r>
            <a:r>
              <a:rPr lang="en-US" sz="1800" b="1" dirty="0"/>
              <a:t>Domain-Key Normal Form</a:t>
            </a:r>
            <a:r>
              <a:rPr lang="en-US" sz="1800" dirty="0"/>
              <a:t> </a:t>
            </a:r>
            <a:r>
              <a:rPr lang="fa-IR" dirty="0"/>
              <a:t>منجر </a:t>
            </a:r>
            <a:r>
              <a:rPr lang="fa-IR" dirty="0" err="1"/>
              <a:t>می‌شود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مشکل این </a:t>
            </a:r>
            <a:r>
              <a:rPr lang="fa-IR" dirty="0" err="1"/>
              <a:t>محدودیت‌های</a:t>
            </a:r>
            <a:r>
              <a:rPr lang="fa-IR" dirty="0"/>
              <a:t> </a:t>
            </a:r>
            <a:r>
              <a:rPr lang="fa-IR" dirty="0" err="1"/>
              <a:t>تعمیم‌یافته</a:t>
            </a:r>
            <a:r>
              <a:rPr lang="fa-IR" dirty="0"/>
              <a:t> این است که:</a:t>
            </a:r>
          </a:p>
          <a:p>
            <a:pPr algn="r" rtl="1"/>
            <a:r>
              <a:rPr lang="fa-IR" dirty="0"/>
              <a:t>استدلال درباره </a:t>
            </a:r>
            <a:r>
              <a:rPr lang="fa-IR" dirty="0" err="1"/>
              <a:t>آن‌ها</a:t>
            </a:r>
            <a:r>
              <a:rPr lang="fa-IR" dirty="0"/>
              <a:t> </a:t>
            </a:r>
            <a:r>
              <a:rPr lang="fa-IR" b="1" dirty="0"/>
              <a:t>سخت</a:t>
            </a:r>
            <a:r>
              <a:rPr lang="fa-IR" dirty="0"/>
              <a:t> است،</a:t>
            </a:r>
          </a:p>
          <a:p>
            <a:pPr algn="r" rtl="1"/>
            <a:r>
              <a:rPr lang="fa-IR" dirty="0"/>
              <a:t>هیچ مجموعه قوانین استنتاج </a:t>
            </a:r>
            <a:r>
              <a:rPr lang="fa-IR" b="1" dirty="0"/>
              <a:t>صوتی و کامل</a:t>
            </a:r>
            <a:r>
              <a:rPr lang="fa-IR" dirty="0"/>
              <a:t> وجود ندارد.</a:t>
            </a:r>
          </a:p>
          <a:p>
            <a:pPr algn="r" rtl="1"/>
            <a:r>
              <a:rPr lang="fa-IR" dirty="0"/>
              <a:t>به همین دلیل، این </a:t>
            </a:r>
            <a:r>
              <a:rPr lang="fa-IR" dirty="0" err="1"/>
              <a:t>محدودیت‌ها</a:t>
            </a:r>
            <a:r>
              <a:rPr lang="fa-IR" dirty="0"/>
              <a:t> </a:t>
            </a:r>
            <a:r>
              <a:rPr lang="fa-IR" b="1" dirty="0"/>
              <a:t>به ندرت استفاده </a:t>
            </a:r>
            <a:r>
              <a:rPr lang="fa-IR" b="1" dirty="0" err="1"/>
              <a:t>می‌شوند</a:t>
            </a:r>
            <a:r>
              <a:rPr lang="fa-IR" dirty="0"/>
              <a:t>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Overall Database Design Process</a:t>
            </a:r>
          </a:p>
        </p:txBody>
      </p:sp>
      <p:sp>
        <p:nvSpPr>
          <p:cNvPr id="94211" name="Rectangle 3"/>
          <p:cNvSpPr>
            <a:spLocks noGrp="1" noChangeArrowheads="1"/>
          </p:cNvSpPr>
          <p:nvPr>
            <p:ph idx="1"/>
          </p:nvPr>
        </p:nvSpPr>
        <p:spPr>
          <a:xfrm>
            <a:off x="304402" y="1680990"/>
            <a:ext cx="8077200" cy="2566154"/>
          </a:xfrm>
        </p:spPr>
        <p:txBody>
          <a:bodyPr/>
          <a:lstStyle/>
          <a:p>
            <a:pPr algn="r" rtl="1"/>
            <a:r>
              <a:rPr lang="en-US" sz="2800" dirty="0"/>
              <a:t>R </a:t>
            </a:r>
            <a:r>
              <a:rPr lang="fa-IR" sz="2800" dirty="0"/>
              <a:t>ممکن است هنگام تبدیل یک </a:t>
            </a:r>
            <a:r>
              <a:rPr lang="fa-IR" sz="2800" b="1" dirty="0"/>
              <a:t>نمودار </a:t>
            </a:r>
            <a:r>
              <a:rPr lang="en-US" sz="2800" b="1" dirty="0"/>
              <a:t>E-R</a:t>
            </a:r>
            <a:r>
              <a:rPr lang="en-US" sz="2800" dirty="0"/>
              <a:t> </a:t>
            </a:r>
            <a:r>
              <a:rPr lang="fa-IR" sz="2800" dirty="0"/>
              <a:t>به </a:t>
            </a:r>
            <a:r>
              <a:rPr lang="fa-IR" sz="2800" dirty="0" err="1"/>
              <a:t>مجموعه‌ای</a:t>
            </a:r>
            <a:r>
              <a:rPr lang="fa-IR" sz="2800" dirty="0"/>
              <a:t> از </a:t>
            </a:r>
            <a:r>
              <a:rPr lang="fa-IR" sz="2800" dirty="0" err="1"/>
              <a:t>جدول‌ها</a:t>
            </a:r>
            <a:r>
              <a:rPr lang="fa-IR" sz="2800" dirty="0"/>
              <a:t> ایجاد شده باشد.</a:t>
            </a:r>
          </a:p>
          <a:p>
            <a:pPr algn="r" rtl="1"/>
            <a:r>
              <a:rPr lang="en-US" sz="2800" dirty="0"/>
              <a:t>R </a:t>
            </a:r>
            <a:r>
              <a:rPr lang="fa-IR" sz="2800" dirty="0"/>
              <a:t>ممکن است یک </a:t>
            </a:r>
            <a:r>
              <a:rPr lang="fa-IR" sz="2800" dirty="0" err="1"/>
              <a:t>رابطهٔ</a:t>
            </a:r>
            <a:r>
              <a:rPr lang="fa-IR" sz="2800" dirty="0"/>
              <a:t> واحد باشد که شامل تمام </a:t>
            </a:r>
            <a:r>
              <a:rPr lang="fa-IR" sz="2800" dirty="0" err="1"/>
              <a:t>صفت‌هایی</a:t>
            </a:r>
            <a:r>
              <a:rPr lang="fa-IR" sz="2800" dirty="0"/>
              <a:t> است که برای ما اهمیت دارند</a:t>
            </a:r>
            <a:br>
              <a:rPr lang="fa-IR" sz="2800" dirty="0"/>
            </a:br>
            <a:r>
              <a:rPr lang="fa-IR" sz="2800" dirty="0"/>
              <a:t>(که به آن </a:t>
            </a:r>
            <a:r>
              <a:rPr lang="fa-IR" sz="2800" b="1" dirty="0" err="1"/>
              <a:t>رابطهٔ</a:t>
            </a:r>
            <a:r>
              <a:rPr lang="fa-IR" sz="2800" b="1" dirty="0"/>
              <a:t> جهانی</a:t>
            </a:r>
            <a:r>
              <a:rPr lang="fa-IR" sz="2800" dirty="0"/>
              <a:t> یا </a:t>
            </a:r>
            <a:r>
              <a:rPr lang="en-US" sz="2800" i="1" dirty="0"/>
              <a:t>universal relation</a:t>
            </a:r>
            <a:r>
              <a:rPr lang="en-US" sz="2800" dirty="0"/>
              <a:t> </a:t>
            </a:r>
            <a:r>
              <a:rPr lang="fa-IR" sz="2800" dirty="0"/>
              <a:t>گفته </a:t>
            </a:r>
            <a:r>
              <a:rPr lang="fa-IR" sz="2800" dirty="0" err="1"/>
              <a:t>می‌شود</a:t>
            </a:r>
            <a:r>
              <a:rPr lang="fa-IR" sz="2800" dirty="0"/>
              <a:t>).</a:t>
            </a:r>
          </a:p>
          <a:p>
            <a:pPr algn="r" rtl="1"/>
            <a:r>
              <a:rPr lang="fa-IR" sz="2800" dirty="0"/>
              <a:t>فرایند </a:t>
            </a:r>
            <a:r>
              <a:rPr lang="fa-IR" sz="2800" dirty="0" err="1"/>
              <a:t>نرمال‌سازی</a:t>
            </a:r>
            <a:r>
              <a:rPr lang="fa-IR" sz="2800" dirty="0"/>
              <a:t>، </a:t>
            </a:r>
            <a:r>
              <a:rPr lang="en-US" sz="2800" dirty="0"/>
              <a:t>R </a:t>
            </a:r>
            <a:r>
              <a:rPr lang="fa-IR" sz="2800" dirty="0"/>
              <a:t>را به </a:t>
            </a:r>
            <a:r>
              <a:rPr lang="fa-IR" sz="2800" dirty="0" err="1"/>
              <a:t>رابطه‌های</a:t>
            </a:r>
            <a:r>
              <a:rPr lang="fa-IR" sz="2800" dirty="0"/>
              <a:t> </a:t>
            </a:r>
            <a:r>
              <a:rPr lang="fa-IR" sz="2800" dirty="0" err="1"/>
              <a:t>کوچک‌تر</a:t>
            </a:r>
            <a:r>
              <a:rPr lang="fa-IR" sz="2800" dirty="0"/>
              <a:t> تجزیه </a:t>
            </a:r>
            <a:r>
              <a:rPr lang="fa-IR" sz="2800" dirty="0" err="1"/>
              <a:t>می‌کند</a:t>
            </a:r>
            <a:r>
              <a:rPr lang="fa-IR" sz="2800" dirty="0"/>
              <a:t>.</a:t>
            </a:r>
          </a:p>
          <a:p>
            <a:pPr algn="r" rtl="1"/>
            <a:r>
              <a:rPr lang="en-US" sz="2800" dirty="0"/>
              <a:t>R </a:t>
            </a:r>
            <a:r>
              <a:rPr lang="fa-IR" sz="2800" dirty="0"/>
              <a:t>ممکن است حاصل یک طراحی </a:t>
            </a:r>
            <a:r>
              <a:rPr lang="fa-IR" sz="2800" b="1" dirty="0"/>
              <a:t>اتفاقی و بدون روش مشخص</a:t>
            </a:r>
            <a:r>
              <a:rPr lang="fa-IR" sz="2800" dirty="0"/>
              <a:t> باشد که سپس آن را بررسی کرده و به فرم نرمال تبدیل </a:t>
            </a:r>
            <a:r>
              <a:rPr lang="fa-IR" sz="2800" dirty="0" err="1"/>
              <a:t>می‌کنیم</a:t>
            </a:r>
            <a:r>
              <a:rPr lang="fa-IR" sz="2800" dirty="0"/>
              <a:t>.</a:t>
            </a:r>
          </a:p>
          <a:p>
            <a:pPr algn="r" rtl="1"/>
            <a:endParaRPr lang="en-US" altLang="en-US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304402" y="1151474"/>
            <a:ext cx="77447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/>
              <a:t>ما فرض </a:t>
            </a:r>
            <a:r>
              <a:rPr lang="fa-IR" sz="2400" dirty="0" err="1"/>
              <a:t>کرده‌ایم</a:t>
            </a:r>
            <a:r>
              <a:rPr lang="fa-IR" sz="2400" dirty="0"/>
              <a:t> که طرح </a:t>
            </a:r>
            <a:r>
              <a:rPr lang="fa-IR" sz="2400" dirty="0" err="1"/>
              <a:t>رابطه‌ای</a:t>
            </a:r>
            <a:r>
              <a:rPr lang="fa-IR" sz="2400" dirty="0"/>
              <a:t> </a:t>
            </a:r>
            <a:r>
              <a:rPr lang="en-US" sz="2400" b="1" dirty="0"/>
              <a:t>R</a:t>
            </a:r>
            <a:r>
              <a:rPr lang="en-US" sz="2400" dirty="0"/>
              <a:t> </a:t>
            </a:r>
            <a:r>
              <a:rPr lang="fa-IR" sz="2400" dirty="0"/>
              <a:t>از قبل داده شده است.</a:t>
            </a:r>
            <a:endParaRPr lang="en-US" altLang="en-US" sz="24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ER Model and Normalization</a:t>
            </a:r>
          </a:p>
        </p:txBody>
      </p:sp>
      <p:sp>
        <p:nvSpPr>
          <p:cNvPr id="95235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0110"/>
            <a:ext cx="7713913" cy="4384257"/>
          </a:xfrm>
        </p:spPr>
        <p:txBody>
          <a:bodyPr/>
          <a:lstStyle/>
          <a:p>
            <a:pPr algn="r" rtl="1"/>
            <a:r>
              <a:rPr lang="fa-IR" dirty="0"/>
              <a:t>وقتی یک </a:t>
            </a:r>
            <a:r>
              <a:rPr lang="fa-IR" b="1" dirty="0"/>
              <a:t>نمودار </a:t>
            </a:r>
            <a:r>
              <a:rPr lang="en-US" b="1" dirty="0"/>
              <a:t>E-R</a:t>
            </a:r>
            <a:r>
              <a:rPr lang="en-US" dirty="0"/>
              <a:t> </a:t>
            </a:r>
            <a:r>
              <a:rPr lang="fa-IR" dirty="0"/>
              <a:t>با دقت طراحی شود و تمامی </a:t>
            </a:r>
            <a:r>
              <a:rPr lang="fa-IR" dirty="0" err="1"/>
              <a:t>موجودیت‌ها</a:t>
            </a:r>
            <a:r>
              <a:rPr lang="fa-IR" dirty="0"/>
              <a:t> </a:t>
            </a:r>
            <a:r>
              <a:rPr lang="fa-IR" dirty="0" err="1"/>
              <a:t>به‌درستی</a:t>
            </a:r>
            <a:r>
              <a:rPr lang="fa-IR" dirty="0"/>
              <a:t> شناسایی شده باشند، </a:t>
            </a:r>
            <a:r>
              <a:rPr lang="fa-IR" dirty="0" err="1"/>
              <a:t>جدول‌هایی</a:t>
            </a:r>
            <a:r>
              <a:rPr lang="fa-IR" dirty="0"/>
              <a:t> که از نمودار </a:t>
            </a:r>
            <a:r>
              <a:rPr lang="en-US" dirty="0"/>
              <a:t>E-R </a:t>
            </a:r>
            <a:r>
              <a:rPr lang="fa-IR" dirty="0"/>
              <a:t>تولید </a:t>
            </a:r>
            <a:r>
              <a:rPr lang="fa-IR" dirty="0" err="1"/>
              <a:t>می‌شوند</a:t>
            </a:r>
            <a:r>
              <a:rPr lang="fa-IR" dirty="0"/>
              <a:t> </a:t>
            </a:r>
            <a:r>
              <a:rPr lang="fa-IR" b="1" dirty="0"/>
              <a:t>نباید نیاز به </a:t>
            </a:r>
            <a:r>
              <a:rPr lang="fa-IR" b="1" dirty="0" err="1"/>
              <a:t>نرمال‌سازی</a:t>
            </a:r>
            <a:r>
              <a:rPr lang="fa-IR" b="1" dirty="0"/>
              <a:t> بیشتر داشته باشند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با این حال، در یک طراحی واقعی (و </a:t>
            </a:r>
            <a:r>
              <a:rPr lang="fa-IR" dirty="0" err="1"/>
              <a:t>غیر‌کامل</a:t>
            </a:r>
            <a:r>
              <a:rPr lang="fa-IR" dirty="0"/>
              <a:t>)، ممکن است </a:t>
            </a:r>
            <a:r>
              <a:rPr lang="fa-IR" b="1" dirty="0" err="1"/>
              <a:t>وابستگی‌های</a:t>
            </a:r>
            <a:r>
              <a:rPr lang="fa-IR" b="1" dirty="0"/>
              <a:t> </a:t>
            </a:r>
            <a:r>
              <a:rPr lang="fa-IR" b="1" dirty="0" err="1"/>
              <a:t>تابعی</a:t>
            </a:r>
            <a:r>
              <a:rPr lang="fa-IR" b="1" dirty="0"/>
              <a:t> از صفات </a:t>
            </a:r>
            <a:r>
              <a:rPr lang="fa-IR" b="1" dirty="0" err="1"/>
              <a:t>غیرکلیدی</a:t>
            </a:r>
            <a:r>
              <a:rPr lang="fa-IR" b="1" dirty="0"/>
              <a:t> یک موجودیت به سایر صفات همان موجودیت</a:t>
            </a:r>
            <a:r>
              <a:rPr lang="fa-IR" dirty="0"/>
              <a:t> وجود داشته باشد.</a:t>
            </a:r>
          </a:p>
          <a:p>
            <a:pPr algn="r" rtl="1"/>
            <a:r>
              <a:rPr lang="fa-IR" b="1" dirty="0"/>
              <a:t>مثال:</a:t>
            </a:r>
            <a:br>
              <a:rPr lang="fa-IR" dirty="0"/>
            </a:br>
            <a:r>
              <a:rPr lang="fa-IR" dirty="0"/>
              <a:t>یک موجودیت </a:t>
            </a:r>
            <a:r>
              <a:rPr lang="fa-IR" i="1" dirty="0"/>
              <a:t>کارمند</a:t>
            </a:r>
            <a:r>
              <a:rPr lang="fa-IR" dirty="0"/>
              <a:t> که دارای </a:t>
            </a:r>
            <a:r>
              <a:rPr lang="fa-IR" dirty="0" err="1"/>
              <a:t>صفت‌های</a:t>
            </a:r>
            <a:endParaRPr lang="fa-IR" dirty="0"/>
          </a:p>
          <a:p>
            <a:pPr algn="r" rtl="1"/>
            <a:r>
              <a:rPr lang="fa-IR" dirty="0" err="1"/>
              <a:t>نامِ</a:t>
            </a:r>
            <a:r>
              <a:rPr lang="fa-IR" dirty="0"/>
              <a:t> بخش</a:t>
            </a:r>
          </a:p>
          <a:p>
            <a:pPr algn="r" rtl="1"/>
            <a:r>
              <a:rPr lang="fa-IR" dirty="0"/>
              <a:t>ساختمان</a:t>
            </a:r>
          </a:p>
          <a:p>
            <a:pPr algn="r" rtl="1"/>
            <a:r>
              <a:rPr lang="fa-IR" dirty="0"/>
              <a:t>باشد، و وابستگی </a:t>
            </a:r>
            <a:r>
              <a:rPr lang="fa-IR" dirty="0" err="1"/>
              <a:t>تابعی</a:t>
            </a:r>
            <a:r>
              <a:rPr lang="fa-IR" dirty="0"/>
              <a:t>:</a:t>
            </a:r>
            <a:br>
              <a:rPr lang="fa-IR" dirty="0"/>
            </a:br>
            <a:r>
              <a:rPr lang="fa-IR" b="1" dirty="0" err="1"/>
              <a:t>نامِ</a:t>
            </a:r>
            <a:r>
              <a:rPr lang="fa-IR" b="1" dirty="0"/>
              <a:t> بخش → ساختمان</a:t>
            </a:r>
            <a:endParaRPr lang="fa-IR" dirty="0"/>
          </a:p>
          <a:p>
            <a:pPr algn="r" rtl="1"/>
            <a:r>
              <a:rPr lang="fa-IR" dirty="0"/>
              <a:t>طراحی خوب، «بخش» را باید به عنوان یک موجودیت جدا در نظر </a:t>
            </a:r>
            <a:r>
              <a:rPr lang="fa-IR" dirty="0" err="1"/>
              <a:t>می‌گرفت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وجود </a:t>
            </a:r>
            <a:r>
              <a:rPr lang="fa-IR" dirty="0" err="1"/>
              <a:t>وابستگی‌های</a:t>
            </a:r>
            <a:r>
              <a:rPr lang="fa-IR" dirty="0"/>
              <a:t> </a:t>
            </a:r>
            <a:r>
              <a:rPr lang="fa-IR" dirty="0" err="1"/>
              <a:t>تابعی</a:t>
            </a:r>
            <a:r>
              <a:rPr lang="fa-IR" dirty="0"/>
              <a:t> از صفات </a:t>
            </a:r>
            <a:r>
              <a:rPr lang="fa-IR" dirty="0" err="1"/>
              <a:t>غیرکلیدی</a:t>
            </a:r>
            <a:r>
              <a:rPr lang="fa-IR" dirty="0"/>
              <a:t> در یک مجموعه‌ رابطه (</a:t>
            </a:r>
            <a:r>
              <a:rPr lang="en-US" dirty="0"/>
              <a:t>relationship set) </a:t>
            </a:r>
            <a:r>
              <a:rPr lang="fa-IR" dirty="0"/>
              <a:t>نیز </a:t>
            </a:r>
            <a:r>
              <a:rPr lang="fa-IR" b="1" dirty="0"/>
              <a:t>ممکن است</a:t>
            </a:r>
            <a:r>
              <a:rPr lang="fa-IR" dirty="0"/>
              <a:t>، اما </a:t>
            </a:r>
            <a:r>
              <a:rPr lang="fa-IR" b="1" dirty="0"/>
              <a:t>نادر</a:t>
            </a:r>
            <a:r>
              <a:rPr lang="fa-IR" dirty="0"/>
              <a:t> است — زیرا اغلب </a:t>
            </a:r>
            <a:r>
              <a:rPr lang="fa-IR" dirty="0" err="1"/>
              <a:t>رابطه‌ها</a:t>
            </a:r>
            <a:r>
              <a:rPr lang="fa-IR" dirty="0"/>
              <a:t> </a:t>
            </a:r>
            <a:r>
              <a:rPr lang="fa-IR" b="1" dirty="0" err="1"/>
              <a:t>دو‌تایی</a:t>
            </a:r>
            <a:r>
              <a:rPr lang="fa-IR" b="1" dirty="0"/>
              <a:t> (</a:t>
            </a:r>
            <a:r>
              <a:rPr lang="en-US" b="1" dirty="0"/>
              <a:t>binary)</a:t>
            </a:r>
            <a:r>
              <a:rPr lang="en-US" dirty="0"/>
              <a:t> </a:t>
            </a:r>
            <a:r>
              <a:rPr lang="fa-IR" dirty="0"/>
              <a:t>هستند.</a:t>
            </a:r>
          </a:p>
          <a:p>
            <a:pPr algn="r" rtl="1"/>
            <a:endParaRPr lang="en-US" altLang="en-US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Denormalization for Performance</a:t>
            </a:r>
          </a:p>
        </p:txBody>
      </p:sp>
      <p:sp>
        <p:nvSpPr>
          <p:cNvPr id="96259" name="Rectangle 3"/>
          <p:cNvSpPr>
            <a:spLocks noGrp="1" noChangeArrowheads="1"/>
          </p:cNvSpPr>
          <p:nvPr>
            <p:ph idx="1"/>
          </p:nvPr>
        </p:nvSpPr>
        <p:spPr>
          <a:xfrm>
            <a:off x="0" y="727075"/>
            <a:ext cx="9056318" cy="5055796"/>
          </a:xfrm>
        </p:spPr>
        <p:txBody>
          <a:bodyPr/>
          <a:lstStyle/>
          <a:p>
            <a:pPr algn="r" rtl="1"/>
            <a:r>
              <a:rPr lang="fa-IR" sz="1800" dirty="0"/>
              <a:t>ممکن است برای دستیابی به کارایی بهتر، بخواهیم از یک طرح </a:t>
            </a:r>
            <a:r>
              <a:rPr lang="fa-IR" sz="1800" b="1" dirty="0" err="1"/>
              <a:t>غیرنرمال‌شده</a:t>
            </a:r>
            <a:r>
              <a:rPr lang="fa-IR" sz="1800" dirty="0"/>
              <a:t> استفاده کنیم.</a:t>
            </a:r>
          </a:p>
          <a:p>
            <a:pPr algn="r" rtl="1"/>
            <a:r>
              <a:rPr lang="fa-IR" sz="1800" dirty="0"/>
              <a:t>برای مثال، نمایش </a:t>
            </a:r>
            <a:r>
              <a:rPr lang="fa-IR" sz="1800" dirty="0" err="1"/>
              <a:t>پیش‌نیازها</a:t>
            </a:r>
            <a:r>
              <a:rPr lang="fa-IR" sz="1800" dirty="0"/>
              <a:t> همراه با </a:t>
            </a:r>
            <a:r>
              <a:rPr lang="fa-IR" sz="1800" dirty="0" err="1"/>
              <a:t>شناسه</a:t>
            </a:r>
            <a:r>
              <a:rPr lang="fa-IR" sz="1800" dirty="0"/>
              <a:t> درس و عنوان درس، نیازمند انجام یک </a:t>
            </a:r>
            <a:r>
              <a:rPr lang="fa-IR" sz="1800" b="1" dirty="0" err="1"/>
              <a:t>جوین</a:t>
            </a:r>
            <a:r>
              <a:rPr lang="fa-IR" sz="1800" dirty="0"/>
              <a:t> بین جدول درس و جدول </a:t>
            </a:r>
            <a:r>
              <a:rPr lang="fa-IR" sz="1800" dirty="0" err="1"/>
              <a:t>پیش‌نیاز</a:t>
            </a:r>
            <a:r>
              <a:rPr lang="fa-IR" sz="1800" dirty="0"/>
              <a:t> است.</a:t>
            </a:r>
          </a:p>
          <a:p>
            <a:pPr algn="r" rtl="1"/>
            <a:r>
              <a:rPr lang="fa-IR" sz="1800" b="1" dirty="0" err="1"/>
              <a:t>راه‌حل</a:t>
            </a:r>
            <a:r>
              <a:rPr lang="fa-IR" sz="1800" b="1" dirty="0"/>
              <a:t> ۱:</a:t>
            </a:r>
            <a:br>
              <a:rPr lang="fa-IR" sz="1800" dirty="0"/>
            </a:br>
            <a:r>
              <a:rPr lang="fa-IR" sz="1800" dirty="0"/>
              <a:t>استفاده از یک رابطه </a:t>
            </a:r>
            <a:r>
              <a:rPr lang="en-US" sz="1800" i="1" dirty="0"/>
              <a:t>denormalized</a:t>
            </a:r>
            <a:r>
              <a:rPr lang="en-US" sz="1800" dirty="0"/>
              <a:t> </a:t>
            </a:r>
            <a:r>
              <a:rPr lang="fa-IR" sz="1800" dirty="0"/>
              <a:t>که شامل </a:t>
            </a:r>
            <a:r>
              <a:rPr lang="fa-IR" sz="1800" dirty="0" err="1"/>
              <a:t>صفت‌های</a:t>
            </a:r>
            <a:r>
              <a:rPr lang="fa-IR" sz="1800" dirty="0"/>
              <a:t> درس </a:t>
            </a:r>
            <a:r>
              <a:rPr lang="fa-IR" sz="1800" b="1" dirty="0"/>
              <a:t>و</a:t>
            </a:r>
            <a:r>
              <a:rPr lang="fa-IR" sz="1800" dirty="0"/>
              <a:t> </a:t>
            </a:r>
            <a:r>
              <a:rPr lang="fa-IR" sz="1800" dirty="0" err="1"/>
              <a:t>پیش‌نیاز</a:t>
            </a:r>
            <a:r>
              <a:rPr lang="fa-IR" sz="1800" dirty="0"/>
              <a:t> باشد، همراه با تمام </a:t>
            </a:r>
            <a:r>
              <a:rPr lang="fa-IR" sz="1800" dirty="0" err="1"/>
              <a:t>صفت‌های</a:t>
            </a:r>
            <a:r>
              <a:rPr lang="fa-IR" sz="1800" dirty="0"/>
              <a:t> موردنیاز.</a:t>
            </a:r>
            <a:br>
              <a:rPr lang="fa-IR" sz="1800" dirty="0"/>
            </a:br>
            <a:r>
              <a:rPr lang="fa-IR" sz="1800" dirty="0"/>
              <a:t>مزایا:</a:t>
            </a:r>
          </a:p>
          <a:p>
            <a:pPr algn="r" rtl="1"/>
            <a:r>
              <a:rPr lang="fa-IR" sz="1800" dirty="0" err="1"/>
              <a:t>جست‌وجوی</a:t>
            </a:r>
            <a:r>
              <a:rPr lang="fa-IR" sz="1800" dirty="0"/>
              <a:t> </a:t>
            </a:r>
            <a:r>
              <a:rPr lang="fa-IR" sz="1800" dirty="0" err="1"/>
              <a:t>سریع‌تر</a:t>
            </a:r>
            <a:endParaRPr lang="fa-IR" sz="1800" dirty="0"/>
          </a:p>
          <a:p>
            <a:pPr algn="r" rtl="1"/>
            <a:r>
              <a:rPr lang="fa-IR" sz="1800" dirty="0"/>
              <a:t>معایب:</a:t>
            </a:r>
          </a:p>
          <a:p>
            <a:pPr algn="r" rtl="1"/>
            <a:r>
              <a:rPr lang="fa-IR" sz="1800" dirty="0"/>
              <a:t>استفاده بیشتر از فضا</a:t>
            </a:r>
          </a:p>
          <a:p>
            <a:pPr algn="r" rtl="1"/>
            <a:r>
              <a:rPr lang="fa-IR" sz="1800" dirty="0"/>
              <a:t>زمان اضافی برای اجرای عملیات </a:t>
            </a:r>
            <a:r>
              <a:rPr lang="fa-IR" sz="1800" dirty="0" err="1"/>
              <a:t>به‌روزرسانی</a:t>
            </a:r>
            <a:endParaRPr lang="fa-IR" sz="1800" dirty="0"/>
          </a:p>
          <a:p>
            <a:pPr algn="r" rtl="1"/>
            <a:r>
              <a:rPr lang="fa-IR" sz="1800" dirty="0"/>
              <a:t>نیاز به </a:t>
            </a:r>
            <a:r>
              <a:rPr lang="fa-IR" sz="1800" dirty="0" err="1"/>
              <a:t>کدنویسی</a:t>
            </a:r>
            <a:r>
              <a:rPr lang="fa-IR" sz="1800" dirty="0"/>
              <a:t> بیشتر توسط </a:t>
            </a:r>
            <a:r>
              <a:rPr lang="fa-IR" sz="1800" dirty="0" err="1"/>
              <a:t>برنامه‌نویس</a:t>
            </a:r>
            <a:r>
              <a:rPr lang="fa-IR" sz="1800" dirty="0"/>
              <a:t> و احتمال خطا در این کد اضافی</a:t>
            </a:r>
          </a:p>
          <a:p>
            <a:pPr algn="r" rtl="1"/>
            <a:r>
              <a:rPr lang="fa-IR" sz="1800" b="1" dirty="0" err="1"/>
              <a:t>راه‌حل</a:t>
            </a:r>
            <a:r>
              <a:rPr lang="fa-IR" sz="1800" b="1" dirty="0"/>
              <a:t> ۲:</a:t>
            </a:r>
            <a:br>
              <a:rPr lang="fa-IR" sz="1800" dirty="0"/>
            </a:br>
            <a:r>
              <a:rPr lang="fa-IR" sz="1800" dirty="0"/>
              <a:t>استفاده از یک </a:t>
            </a:r>
            <a:r>
              <a:rPr lang="fa-IR" sz="1800" b="1" dirty="0"/>
              <a:t>نمای </a:t>
            </a:r>
            <a:r>
              <a:rPr lang="fa-IR" sz="1800" b="1" dirty="0" err="1"/>
              <a:t>مادی‌سازی‌شده</a:t>
            </a:r>
            <a:r>
              <a:rPr lang="fa-IR" sz="1800" b="1" dirty="0"/>
              <a:t> (</a:t>
            </a:r>
            <a:r>
              <a:rPr lang="en-US" sz="1800" b="1" dirty="0"/>
              <a:t>materialized view)</a:t>
            </a:r>
            <a:r>
              <a:rPr lang="en-US" sz="1800" dirty="0"/>
              <a:t> </a:t>
            </a:r>
            <a:r>
              <a:rPr lang="fa-IR" sz="1800" dirty="0"/>
              <a:t>که به صورت ترکیب درس و </a:t>
            </a:r>
            <a:r>
              <a:rPr lang="fa-IR" sz="1800" dirty="0" err="1"/>
              <a:t>پیش‌نیاز</a:t>
            </a:r>
            <a:r>
              <a:rPr lang="fa-IR" sz="1800" dirty="0"/>
              <a:t> تعریف شده باشد.</a:t>
            </a:r>
            <a:br>
              <a:rPr lang="fa-IR" sz="1800" dirty="0"/>
            </a:br>
            <a:r>
              <a:rPr lang="fa-IR" sz="1800" dirty="0"/>
              <a:t>مزایا و معایب مشابه مورد بالا است،</a:t>
            </a:r>
            <a:br>
              <a:rPr lang="fa-IR" sz="1800" dirty="0"/>
            </a:br>
            <a:r>
              <a:rPr lang="fa-IR" sz="1800" dirty="0"/>
              <a:t>با این تفاوت که:</a:t>
            </a:r>
          </a:p>
          <a:p>
            <a:pPr algn="r" rtl="1"/>
            <a:r>
              <a:rPr lang="fa-IR" sz="1800" dirty="0"/>
              <a:t>نیازی به </a:t>
            </a:r>
            <a:r>
              <a:rPr lang="fa-IR" sz="1800" dirty="0" err="1"/>
              <a:t>کدنویسی</a:t>
            </a:r>
            <a:r>
              <a:rPr lang="fa-IR" sz="1800" dirty="0"/>
              <a:t> اضافی توسط </a:t>
            </a:r>
            <a:r>
              <a:rPr lang="fa-IR" sz="1800" dirty="0" err="1"/>
              <a:t>برنامه‌نویس</a:t>
            </a:r>
            <a:r>
              <a:rPr lang="fa-IR" sz="1800" dirty="0"/>
              <a:t> نیست</a:t>
            </a:r>
          </a:p>
          <a:p>
            <a:pPr algn="r" rtl="1"/>
            <a:r>
              <a:rPr lang="fa-IR" sz="1800" dirty="0"/>
              <a:t>احتمال خطا در کد نیز از بین </a:t>
            </a:r>
            <a:r>
              <a:rPr lang="fa-IR" sz="1800" dirty="0" err="1"/>
              <a:t>می‌رود</a:t>
            </a:r>
            <a:endParaRPr lang="fa-IR" sz="1800" dirty="0"/>
          </a:p>
          <a:p>
            <a:pPr marL="0" indent="0" algn="r" rtl="1">
              <a:buNone/>
            </a:pPr>
            <a:br>
              <a:rPr lang="fa-IR" sz="1800" dirty="0"/>
            </a:br>
            <a:endParaRPr lang="en-US" alt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Other Design Issues</a:t>
            </a:r>
          </a:p>
        </p:txBody>
      </p:sp>
      <p:sp>
        <p:nvSpPr>
          <p:cNvPr id="97283" name="Rectangle 3"/>
          <p:cNvSpPr>
            <a:spLocks noGrp="1" noChangeArrowheads="1"/>
          </p:cNvSpPr>
          <p:nvPr>
            <p:ph idx="1"/>
          </p:nvPr>
        </p:nvSpPr>
        <p:spPr>
          <a:xfrm>
            <a:off x="394008" y="727075"/>
            <a:ext cx="8451542" cy="4775201"/>
          </a:xfrm>
        </p:spPr>
        <p:txBody>
          <a:bodyPr/>
          <a:lstStyle/>
          <a:p>
            <a:pPr algn="r" rtl="1"/>
            <a:r>
              <a:rPr lang="fa-IR" sz="1600" dirty="0"/>
              <a:t>برخی </a:t>
            </a:r>
            <a:r>
              <a:rPr lang="fa-IR" sz="1600" dirty="0" err="1"/>
              <a:t>جنبه‌های</a:t>
            </a:r>
            <a:r>
              <a:rPr lang="fa-IR" sz="1600" dirty="0"/>
              <a:t> طراحی پایگاه داده با </a:t>
            </a:r>
            <a:r>
              <a:rPr lang="fa-IR" sz="1600" dirty="0" err="1"/>
              <a:t>نرمال‌سازی</a:t>
            </a:r>
            <a:r>
              <a:rPr lang="fa-IR" sz="1600" dirty="0"/>
              <a:t> قابل تشخیص نیستند.</a:t>
            </a:r>
            <a:br>
              <a:rPr lang="fa-IR" sz="1600" dirty="0"/>
            </a:br>
            <a:r>
              <a:rPr lang="fa-IR" sz="1600" dirty="0" err="1"/>
              <a:t>نمونه‌هایی</a:t>
            </a:r>
            <a:r>
              <a:rPr lang="fa-IR" sz="1600" dirty="0"/>
              <a:t> از طراحی بد پایگاه داده که باید از </a:t>
            </a:r>
            <a:r>
              <a:rPr lang="fa-IR" sz="1600" dirty="0" err="1"/>
              <a:t>آن‌ها</a:t>
            </a:r>
            <a:r>
              <a:rPr lang="fa-IR" sz="1600" dirty="0"/>
              <a:t> پرهیز کرد:</a:t>
            </a:r>
          </a:p>
          <a:p>
            <a:pPr algn="r" rtl="1"/>
            <a:r>
              <a:rPr lang="fa-IR" sz="1600" dirty="0" err="1"/>
              <a:t>به‌جای</a:t>
            </a:r>
            <a:r>
              <a:rPr lang="fa-IR" sz="1600" dirty="0"/>
              <a:t> استفاده از </a:t>
            </a:r>
            <a:r>
              <a:rPr lang="fa-IR" sz="1600" dirty="0" err="1"/>
              <a:t>رابطهٔ</a:t>
            </a:r>
            <a:r>
              <a:rPr lang="fa-IR" sz="1600" dirty="0"/>
              <a:t>:</a:t>
            </a:r>
          </a:p>
          <a:p>
            <a:pPr algn="r" rtl="1"/>
            <a:r>
              <a:rPr lang="en-US" sz="1600" b="1" dirty="0"/>
              <a:t>earnings(</a:t>
            </a:r>
            <a:r>
              <a:rPr lang="en-US" sz="1600" b="1" dirty="0" err="1"/>
              <a:t>company_id</a:t>
            </a:r>
            <a:r>
              <a:rPr lang="en-US" sz="1600" b="1" dirty="0"/>
              <a:t>, year, amount)</a:t>
            </a:r>
            <a:endParaRPr lang="en-US" sz="1600" dirty="0"/>
          </a:p>
          <a:p>
            <a:pPr algn="r" rtl="1"/>
            <a:r>
              <a:rPr lang="fa-IR" sz="1600" dirty="0"/>
              <a:t>استفاده شود از </a:t>
            </a:r>
            <a:r>
              <a:rPr lang="fa-IR" sz="1600" dirty="0" err="1"/>
              <a:t>جداولی</a:t>
            </a:r>
            <a:r>
              <a:rPr lang="fa-IR" sz="1600" dirty="0"/>
              <a:t> مانند:</a:t>
            </a:r>
          </a:p>
          <a:p>
            <a:pPr algn="r" rtl="1"/>
            <a:r>
              <a:rPr lang="en-US" sz="1600" b="1" dirty="0"/>
              <a:t>earnings_2004</a:t>
            </a:r>
            <a:r>
              <a:rPr lang="en-US" sz="1600" dirty="0"/>
              <a:t>,</a:t>
            </a:r>
            <a:r>
              <a:rPr lang="en-US" sz="1600" b="1" dirty="0"/>
              <a:t>earnings_2005</a:t>
            </a:r>
            <a:r>
              <a:rPr lang="en-US" sz="1600" dirty="0"/>
              <a:t>,</a:t>
            </a:r>
            <a:r>
              <a:rPr lang="en-US" sz="1600" b="1" dirty="0"/>
              <a:t>earnings_2006</a:t>
            </a:r>
            <a:r>
              <a:rPr lang="en-US" sz="1600" dirty="0"/>
              <a:t>،</a:t>
            </a:r>
            <a:endParaRPr lang="fa-IR" sz="1600" dirty="0"/>
          </a:p>
          <a:p>
            <a:pPr algn="r" rtl="1"/>
            <a:r>
              <a:rPr lang="fa-IR" sz="1600" dirty="0" err="1"/>
              <a:t>همهٔ</a:t>
            </a:r>
            <a:r>
              <a:rPr lang="fa-IR" sz="1600" dirty="0"/>
              <a:t> </a:t>
            </a:r>
            <a:r>
              <a:rPr lang="fa-IR" sz="1600" dirty="0" err="1"/>
              <a:t>این‌ها</a:t>
            </a:r>
            <a:r>
              <a:rPr lang="fa-IR" sz="1600" dirty="0"/>
              <a:t> با شمای </a:t>
            </a:r>
            <a:r>
              <a:rPr lang="fa-IR" sz="1600" b="1" dirty="0"/>
              <a:t>(</a:t>
            </a:r>
            <a:r>
              <a:rPr lang="en-US" sz="1600" b="1" dirty="0" err="1"/>
              <a:t>company_id</a:t>
            </a:r>
            <a:r>
              <a:rPr lang="en-US" sz="1600" b="1" dirty="0"/>
              <a:t>, earnings)</a:t>
            </a:r>
            <a:r>
              <a:rPr lang="en-US" sz="1600" dirty="0"/>
              <a:t> </a:t>
            </a:r>
            <a:r>
              <a:rPr lang="fa-IR" sz="1600" dirty="0"/>
              <a:t>تعریف </a:t>
            </a:r>
            <a:r>
              <a:rPr lang="fa-IR" sz="1600" dirty="0" err="1"/>
              <a:t>شده‌اند</a:t>
            </a:r>
            <a:r>
              <a:rPr lang="fa-IR" sz="1600" dirty="0"/>
              <a:t>.</a:t>
            </a:r>
          </a:p>
          <a:p>
            <a:pPr algn="r" rtl="1"/>
            <a:r>
              <a:rPr lang="fa-IR" sz="1600" dirty="0"/>
              <a:t>این </a:t>
            </a:r>
            <a:r>
              <a:rPr lang="fa-IR" sz="1600" dirty="0" err="1"/>
              <a:t>طرح‌ها</a:t>
            </a:r>
            <a:r>
              <a:rPr lang="fa-IR" sz="1600" dirty="0"/>
              <a:t> اگرچه در </a:t>
            </a:r>
            <a:r>
              <a:rPr lang="en-US" sz="1600" b="1" dirty="0"/>
              <a:t>BCNF</a:t>
            </a:r>
            <a:r>
              <a:rPr lang="en-US" sz="1600" dirty="0"/>
              <a:t> </a:t>
            </a:r>
            <a:r>
              <a:rPr lang="fa-IR" sz="1600" dirty="0"/>
              <a:t>قرار دارند،</a:t>
            </a:r>
            <a:br>
              <a:rPr lang="fa-IR" sz="1600" dirty="0"/>
            </a:br>
            <a:r>
              <a:rPr lang="fa-IR" sz="1600" dirty="0"/>
              <a:t>اما </a:t>
            </a:r>
            <a:r>
              <a:rPr lang="fa-IR" sz="1600" i="1" dirty="0"/>
              <a:t>انجام </a:t>
            </a:r>
            <a:r>
              <a:rPr lang="fa-IR" sz="1600" i="1" dirty="0" err="1"/>
              <a:t>پرس‌وجو</a:t>
            </a:r>
            <a:r>
              <a:rPr lang="fa-IR" sz="1600" i="1" dirty="0"/>
              <a:t> (</a:t>
            </a:r>
            <a:r>
              <a:rPr lang="en-US" sz="1600" i="1" dirty="0"/>
              <a:t>query) </a:t>
            </a:r>
            <a:r>
              <a:rPr lang="fa-IR" sz="1600" i="1" dirty="0"/>
              <a:t>در بین </a:t>
            </a:r>
            <a:r>
              <a:rPr lang="fa-IR" sz="1600" i="1" dirty="0" err="1"/>
              <a:t>سال‌های</a:t>
            </a:r>
            <a:r>
              <a:rPr lang="fa-IR" sz="1600" i="1" dirty="0"/>
              <a:t> مختلف را دشوار </a:t>
            </a:r>
            <a:r>
              <a:rPr lang="fa-IR" sz="1600" i="1" dirty="0" err="1"/>
              <a:t>می‌کنند</a:t>
            </a:r>
            <a:br>
              <a:rPr lang="fa-IR" sz="1600" dirty="0"/>
            </a:br>
            <a:r>
              <a:rPr lang="fa-IR" sz="1600" dirty="0"/>
              <a:t>و </a:t>
            </a:r>
            <a:r>
              <a:rPr lang="fa-IR" sz="1600" i="1" dirty="0"/>
              <a:t>هر سال نیاز به ایجاد یک جدول جدید دارند.</a:t>
            </a:r>
            <a:endParaRPr lang="fa-IR" sz="1600" dirty="0"/>
          </a:p>
          <a:p>
            <a:pPr algn="r" rtl="1"/>
            <a:r>
              <a:rPr lang="fa-IR" sz="1600" dirty="0" err="1"/>
              <a:t>نمونهٔ</a:t>
            </a:r>
            <a:r>
              <a:rPr lang="fa-IR" sz="1600" dirty="0"/>
              <a:t> دیگر:</a:t>
            </a:r>
          </a:p>
          <a:p>
            <a:pPr algn="r" rtl="1"/>
            <a:r>
              <a:rPr lang="fa-IR" sz="1600" dirty="0"/>
              <a:t>جدول </a:t>
            </a:r>
            <a:r>
              <a:rPr lang="en-US" sz="1600" b="1" dirty="0" err="1"/>
              <a:t>company_year</a:t>
            </a:r>
            <a:r>
              <a:rPr lang="en-US" sz="1600" b="1" dirty="0"/>
              <a:t>(</a:t>
            </a:r>
            <a:r>
              <a:rPr lang="en-US" sz="1600" b="1" dirty="0" err="1"/>
              <a:t>company_id</a:t>
            </a:r>
            <a:r>
              <a:rPr lang="en-US" sz="1600" b="1" dirty="0"/>
              <a:t>, earnings_2004, earnings_2005, earnings_2006)</a:t>
            </a:r>
            <a:endParaRPr lang="en-US" sz="1600" dirty="0"/>
          </a:p>
          <a:p>
            <a:pPr algn="r" rtl="1"/>
            <a:r>
              <a:rPr lang="fa-IR" sz="1600" dirty="0"/>
              <a:t>این جدول نیز در </a:t>
            </a:r>
            <a:r>
              <a:rPr lang="en-US" sz="1600" b="1" dirty="0"/>
              <a:t>BCNF</a:t>
            </a:r>
            <a:r>
              <a:rPr lang="en-US" sz="1600" dirty="0"/>
              <a:t> </a:t>
            </a:r>
            <a:r>
              <a:rPr lang="fa-IR" sz="1600" dirty="0"/>
              <a:t>قرار دارد،</a:t>
            </a:r>
            <a:br>
              <a:rPr lang="fa-IR" sz="1600" dirty="0"/>
            </a:br>
            <a:r>
              <a:rPr lang="fa-IR" sz="1600" dirty="0"/>
              <a:t>اما مانند </a:t>
            </a:r>
            <a:r>
              <a:rPr lang="fa-IR" sz="1600" dirty="0" err="1"/>
              <a:t>نمونهٔ</a:t>
            </a:r>
            <a:r>
              <a:rPr lang="fa-IR" sz="1600" dirty="0"/>
              <a:t> قبل:</a:t>
            </a:r>
          </a:p>
          <a:p>
            <a:pPr algn="r" rtl="1"/>
            <a:r>
              <a:rPr lang="fa-IR" sz="1600" dirty="0" err="1"/>
              <a:t>پرس‌وجو</a:t>
            </a:r>
            <a:r>
              <a:rPr lang="fa-IR" sz="1600" dirty="0"/>
              <a:t> بین </a:t>
            </a:r>
            <a:r>
              <a:rPr lang="fa-IR" sz="1600" dirty="0" err="1"/>
              <a:t>سال‌ها</a:t>
            </a:r>
            <a:r>
              <a:rPr lang="fa-IR" sz="1600" dirty="0"/>
              <a:t> را سخت </a:t>
            </a:r>
            <a:r>
              <a:rPr lang="fa-IR" sz="1600" dirty="0" err="1"/>
              <a:t>می‌کند</a:t>
            </a:r>
            <a:endParaRPr lang="fa-IR" sz="1600" dirty="0"/>
          </a:p>
          <a:p>
            <a:pPr algn="r" rtl="1"/>
            <a:r>
              <a:rPr lang="fa-IR" sz="1600" dirty="0"/>
              <a:t>هر سال نیاز به افزودن یک صفت جدید (ستون جدید) دارد</a:t>
            </a:r>
          </a:p>
          <a:p>
            <a:pPr algn="r" rtl="1"/>
            <a:r>
              <a:rPr lang="fa-IR" sz="1600" dirty="0"/>
              <a:t>این نوع طراحی یک </a:t>
            </a:r>
            <a:r>
              <a:rPr lang="en-US" sz="1600" b="1" dirty="0"/>
              <a:t>crosstab</a:t>
            </a:r>
            <a:r>
              <a:rPr lang="en-US" sz="1600" dirty="0"/>
              <a:t> </a:t>
            </a:r>
            <a:r>
              <a:rPr lang="fa-IR" sz="1600" dirty="0"/>
              <a:t>است،</a:t>
            </a:r>
            <a:br>
              <a:rPr lang="fa-IR" sz="1600" dirty="0"/>
            </a:br>
            <a:r>
              <a:rPr lang="fa-IR" sz="1600" dirty="0"/>
              <a:t>که در آن </a:t>
            </a:r>
            <a:r>
              <a:rPr lang="fa-IR" sz="1600" i="1" dirty="0"/>
              <a:t>مقادیر یک صفت، تبدیل به نام </a:t>
            </a:r>
            <a:r>
              <a:rPr lang="fa-IR" sz="1600" i="1" dirty="0" err="1"/>
              <a:t>ستون‌ها</a:t>
            </a:r>
            <a:r>
              <a:rPr lang="fa-IR" sz="1600" i="1" dirty="0"/>
              <a:t> </a:t>
            </a:r>
            <a:r>
              <a:rPr lang="fa-IR" sz="1600" i="1" dirty="0" err="1"/>
              <a:t>می‌شوند</a:t>
            </a:r>
            <a:r>
              <a:rPr lang="fa-IR" sz="1600" i="1" dirty="0"/>
              <a:t>.</a:t>
            </a:r>
            <a:endParaRPr lang="fa-IR" sz="1600" dirty="0"/>
          </a:p>
          <a:p>
            <a:pPr algn="r" rtl="1"/>
            <a:r>
              <a:rPr lang="fa-IR" sz="1600" dirty="0"/>
              <a:t>این نوع ساختار معمولاً در </a:t>
            </a:r>
            <a:r>
              <a:rPr lang="fa-IR" sz="1600" b="1" dirty="0" err="1"/>
              <a:t>صفحه‌گسترده‌ها</a:t>
            </a:r>
            <a:r>
              <a:rPr lang="fa-IR" sz="1600" b="1" dirty="0"/>
              <a:t> (</a:t>
            </a:r>
            <a:r>
              <a:rPr lang="en-US" sz="1600" b="1" dirty="0"/>
              <a:t>spreadsheets)</a:t>
            </a:r>
            <a:r>
              <a:rPr lang="en-US" sz="1600" dirty="0"/>
              <a:t> </a:t>
            </a:r>
            <a:r>
              <a:rPr lang="fa-IR" sz="1600" dirty="0"/>
              <a:t>و ابزارهای </a:t>
            </a:r>
            <a:r>
              <a:rPr lang="fa-IR" sz="1600" b="1" dirty="0"/>
              <a:t>تحلیل داده</a:t>
            </a:r>
            <a:r>
              <a:rPr lang="fa-IR" sz="1600" dirty="0"/>
              <a:t> استفاده </a:t>
            </a:r>
            <a:r>
              <a:rPr lang="fa-IR" sz="1600" dirty="0" err="1"/>
              <a:t>می‌شود</a:t>
            </a:r>
            <a:r>
              <a:rPr lang="fa-IR" sz="1600" dirty="0"/>
              <a:t>،</a:t>
            </a:r>
            <a:br>
              <a:rPr lang="fa-IR" sz="1600" dirty="0"/>
            </a:br>
            <a:r>
              <a:rPr lang="fa-IR" sz="1600" dirty="0"/>
              <a:t>اما در طراحی پایگاه داده </a:t>
            </a:r>
            <a:r>
              <a:rPr lang="fa-IR" sz="1600" dirty="0" err="1"/>
              <a:t>رابطه‌ای</a:t>
            </a:r>
            <a:r>
              <a:rPr lang="fa-IR" sz="1600" dirty="0"/>
              <a:t> </a:t>
            </a:r>
            <a:r>
              <a:rPr lang="fa-IR" sz="1600" i="1" dirty="0"/>
              <a:t>انتخاب مناسبی نیست.</a:t>
            </a:r>
            <a:endParaRPr lang="fa-IR" sz="1600" dirty="0"/>
          </a:p>
          <a:p>
            <a:pPr algn="r" rtl="1"/>
            <a:endParaRPr lang="en-US" alt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Modeling Temporal Data</a:t>
            </a:r>
          </a:p>
        </p:txBody>
      </p:sp>
      <p:sp>
        <p:nvSpPr>
          <p:cNvPr id="98307" name="Rectangle 3"/>
          <p:cNvSpPr>
            <a:spLocks noGrp="1" noChangeArrowheads="1"/>
          </p:cNvSpPr>
          <p:nvPr>
            <p:ph idx="1"/>
          </p:nvPr>
        </p:nvSpPr>
        <p:spPr>
          <a:xfrm>
            <a:off x="368969" y="838200"/>
            <a:ext cx="8077200" cy="4900863"/>
          </a:xfrm>
        </p:spPr>
        <p:txBody>
          <a:bodyPr/>
          <a:lstStyle/>
          <a:p>
            <a:pPr algn="r" rtl="1"/>
            <a:r>
              <a:rPr lang="fa-IR" dirty="0" err="1"/>
              <a:t>داده‌های</a:t>
            </a:r>
            <a:r>
              <a:rPr lang="fa-IR" dirty="0"/>
              <a:t> زمانی (</a:t>
            </a:r>
            <a:r>
              <a:rPr lang="en-US" dirty="0"/>
              <a:t>Temporal Data) </a:t>
            </a:r>
            <a:r>
              <a:rPr lang="fa-IR" dirty="0"/>
              <a:t>دارای یک </a:t>
            </a:r>
            <a:r>
              <a:rPr lang="fa-IR" b="1" dirty="0"/>
              <a:t>بازه زمانی معتبر</a:t>
            </a:r>
            <a:r>
              <a:rPr lang="fa-IR" dirty="0"/>
              <a:t> هستند؛ یعنی </a:t>
            </a:r>
            <a:r>
              <a:rPr lang="fa-IR" dirty="0" err="1"/>
              <a:t>دوره‌ای</a:t>
            </a:r>
            <a:r>
              <a:rPr lang="fa-IR" dirty="0"/>
              <a:t> که </a:t>
            </a:r>
            <a:r>
              <a:rPr lang="fa-IR" dirty="0" err="1"/>
              <a:t>داده‌ها</a:t>
            </a:r>
            <a:r>
              <a:rPr lang="fa-IR" dirty="0"/>
              <a:t> در آن دوره صحیح و معتبر به شمار </a:t>
            </a:r>
            <a:r>
              <a:rPr lang="fa-IR" dirty="0" err="1"/>
              <a:t>می‌آیند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یک </a:t>
            </a:r>
            <a:r>
              <a:rPr lang="en-US" b="1" dirty="0"/>
              <a:t>snapshot</a:t>
            </a:r>
            <a:r>
              <a:rPr lang="en-US" dirty="0"/>
              <a:t>، </a:t>
            </a:r>
            <a:r>
              <a:rPr lang="fa-IR" dirty="0"/>
              <a:t>مقدار </a:t>
            </a:r>
            <a:r>
              <a:rPr lang="fa-IR" dirty="0" err="1"/>
              <a:t>داده‌ها</a:t>
            </a:r>
            <a:r>
              <a:rPr lang="fa-IR" dirty="0"/>
              <a:t> در یک </a:t>
            </a:r>
            <a:r>
              <a:rPr lang="fa-IR" b="1" dirty="0"/>
              <a:t>لحظه خاص از زمان</a:t>
            </a:r>
            <a:r>
              <a:rPr lang="fa-IR" dirty="0"/>
              <a:t> است.</a:t>
            </a:r>
          </a:p>
          <a:p>
            <a:pPr algn="r" rtl="1"/>
            <a:r>
              <a:rPr lang="fa-IR" dirty="0"/>
              <a:t>پیشنهادهای متعددی برای گسترش مدل </a:t>
            </a:r>
            <a:r>
              <a:rPr lang="en-US" dirty="0"/>
              <a:t>ER </a:t>
            </a:r>
            <a:r>
              <a:rPr lang="fa-IR" dirty="0"/>
              <a:t>با افزودن زمان اعتبار (</a:t>
            </a:r>
            <a:r>
              <a:rPr lang="en-US" dirty="0"/>
              <a:t>valid time) </a:t>
            </a:r>
            <a:r>
              <a:rPr lang="fa-IR" dirty="0"/>
              <a:t>مطرح </a:t>
            </a:r>
            <a:r>
              <a:rPr lang="fa-IR" dirty="0" err="1"/>
              <a:t>شده‌اند</a:t>
            </a:r>
            <a:r>
              <a:rPr lang="fa-IR" dirty="0"/>
              <a:t>؛ مانند افزودن زمان به:</a:t>
            </a:r>
          </a:p>
          <a:p>
            <a:pPr algn="r" rtl="1"/>
            <a:r>
              <a:rPr lang="fa-IR" b="1" dirty="0"/>
              <a:t>صفات (</a:t>
            </a:r>
            <a:r>
              <a:rPr lang="en-US" b="1" dirty="0"/>
              <a:t>attributes)</a:t>
            </a:r>
            <a:br>
              <a:rPr lang="en-US" dirty="0"/>
            </a:br>
            <a:r>
              <a:rPr lang="fa-IR" dirty="0"/>
              <a:t>مانند: آدرس یک استاد در </a:t>
            </a:r>
            <a:r>
              <a:rPr lang="fa-IR" dirty="0" err="1"/>
              <a:t>زمان‌های</a:t>
            </a:r>
            <a:r>
              <a:rPr lang="fa-IR" dirty="0"/>
              <a:t> مختلف</a:t>
            </a:r>
          </a:p>
          <a:p>
            <a:pPr algn="r" rtl="1"/>
            <a:r>
              <a:rPr lang="fa-IR" b="1" dirty="0" err="1"/>
              <a:t>موجودیت‌ها</a:t>
            </a:r>
            <a:r>
              <a:rPr lang="fa-IR" b="1" dirty="0"/>
              <a:t> (</a:t>
            </a:r>
            <a:r>
              <a:rPr lang="en-US" b="1" dirty="0"/>
              <a:t>entities)</a:t>
            </a:r>
            <a:br>
              <a:rPr lang="en-US" dirty="0"/>
            </a:br>
            <a:r>
              <a:rPr lang="fa-IR" dirty="0"/>
              <a:t>مانند: دوره زمانی که یک دانشجو </a:t>
            </a:r>
            <a:r>
              <a:rPr lang="fa-IR" dirty="0" err="1"/>
              <a:t>به‌عنوان</a:t>
            </a:r>
            <a:r>
              <a:rPr lang="fa-IR" dirty="0"/>
              <a:t> یک موجودیت وجود دارد</a:t>
            </a:r>
          </a:p>
          <a:p>
            <a:pPr algn="r" rtl="1"/>
            <a:r>
              <a:rPr lang="fa-IR" b="1" dirty="0"/>
              <a:t>روابط (</a:t>
            </a:r>
            <a:r>
              <a:rPr lang="en-US" b="1" dirty="0"/>
              <a:t>relationships)</a:t>
            </a:r>
            <a:br>
              <a:rPr lang="en-US" dirty="0"/>
            </a:br>
            <a:r>
              <a:rPr lang="fa-IR" dirty="0"/>
              <a:t>مانند: بازه زمانی که یک استاد، مشاور یک دانشجو بوده است</a:t>
            </a:r>
          </a:p>
          <a:p>
            <a:pPr algn="r" rtl="1"/>
            <a:r>
              <a:rPr lang="fa-IR" dirty="0"/>
              <a:t>اما </a:t>
            </a:r>
            <a:r>
              <a:rPr lang="fa-IR" b="1" dirty="0"/>
              <a:t>هیچ استاندارد </a:t>
            </a:r>
            <a:r>
              <a:rPr lang="fa-IR" b="1" dirty="0" err="1"/>
              <a:t>پذیرفته‌شده‌ای</a:t>
            </a:r>
            <a:r>
              <a:rPr lang="fa-IR" dirty="0"/>
              <a:t> برای این گسترش وجود ندارد.</a:t>
            </a:r>
          </a:p>
          <a:p>
            <a:pPr algn="r" rtl="1">
              <a:lnSpc>
                <a:spcPct val="90000"/>
              </a:lnSpc>
            </a:pPr>
            <a:endParaRPr lang="en-US" altLang="en-US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Modeling Temporal Data (Cont.)</a:t>
            </a:r>
          </a:p>
        </p:txBody>
      </p:sp>
      <p:sp>
        <p:nvSpPr>
          <p:cNvPr id="99331" name="Rectangle 3"/>
          <p:cNvSpPr>
            <a:spLocks noGrp="1" noChangeArrowheads="1"/>
          </p:cNvSpPr>
          <p:nvPr>
            <p:ph idx="1"/>
          </p:nvPr>
        </p:nvSpPr>
        <p:spPr>
          <a:xfrm>
            <a:off x="768350" y="1093789"/>
            <a:ext cx="8250390" cy="4267351"/>
          </a:xfrm>
        </p:spPr>
        <p:txBody>
          <a:bodyPr/>
          <a:lstStyle/>
          <a:p>
            <a:pPr lvl="1" algn="r" rtl="1">
              <a:buFont typeface="Monotype Sorts" pitchFamily="-84" charset="2"/>
              <a:buNone/>
            </a:pPr>
            <a:r>
              <a:rPr lang="fa-IR" sz="2400" dirty="0"/>
              <a:t>۱) در عمل، طراحان پایگاه داده معمولاً </a:t>
            </a:r>
            <a:r>
              <a:rPr lang="fa-IR" sz="2400" dirty="0" err="1"/>
              <a:t>ویژگی‌های</a:t>
            </a:r>
            <a:r>
              <a:rPr lang="fa-IR" sz="2400" dirty="0"/>
              <a:t> زمان شروع و پایان را به روابط اضافه </a:t>
            </a:r>
            <a:r>
              <a:rPr lang="fa-IR" sz="2400" dirty="0" err="1"/>
              <a:t>می‌کنند</a:t>
            </a:r>
            <a:r>
              <a:rPr lang="fa-IR" sz="2400" dirty="0"/>
              <a:t>.</a:t>
            </a:r>
            <a:br>
              <a:rPr lang="fa-IR" sz="2400" dirty="0"/>
            </a:br>
            <a:r>
              <a:rPr lang="fa-IR" sz="2400" dirty="0"/>
              <a:t>۲) برای مثال، </a:t>
            </a:r>
            <a:r>
              <a:rPr lang="fa-IR" sz="2400" dirty="0" err="1"/>
              <a:t>رابطه‌ی</a:t>
            </a:r>
            <a:r>
              <a:rPr lang="fa-IR" sz="2400" dirty="0"/>
              <a:t> </a:t>
            </a:r>
            <a:r>
              <a:rPr lang="en-US" sz="2400" dirty="0"/>
              <a:t>course(</a:t>
            </a:r>
            <a:r>
              <a:rPr lang="en-US" sz="2400" dirty="0" err="1"/>
              <a:t>course_id</a:t>
            </a:r>
            <a:r>
              <a:rPr lang="en-US" sz="2400" dirty="0"/>
              <a:t>, </a:t>
            </a:r>
            <a:r>
              <a:rPr lang="en-US" sz="2400" dirty="0" err="1"/>
              <a:t>course_title</a:t>
            </a:r>
            <a:r>
              <a:rPr lang="en-US" sz="2400" dirty="0"/>
              <a:t>) </a:t>
            </a:r>
            <a:r>
              <a:rPr lang="fa-IR" sz="2400" dirty="0"/>
              <a:t>به شکل</a:t>
            </a:r>
            <a:br>
              <a:rPr lang="fa-IR" sz="2400" dirty="0"/>
            </a:br>
            <a:r>
              <a:rPr lang="fa-IR" sz="2400" dirty="0"/>
              <a:t>  </a:t>
            </a:r>
            <a:r>
              <a:rPr lang="en-US" sz="2400" dirty="0"/>
              <a:t>course(</a:t>
            </a:r>
            <a:r>
              <a:rPr lang="en-US" sz="2400" dirty="0" err="1"/>
              <a:t>course_id</a:t>
            </a:r>
            <a:r>
              <a:rPr lang="en-US" sz="2400" dirty="0"/>
              <a:t>, </a:t>
            </a:r>
            <a:r>
              <a:rPr lang="en-US" sz="2400" dirty="0" err="1"/>
              <a:t>course_title</a:t>
            </a:r>
            <a:r>
              <a:rPr lang="en-US" sz="2400" dirty="0"/>
              <a:t>, start, end) </a:t>
            </a:r>
            <a:r>
              <a:rPr lang="fa-IR" sz="2400" dirty="0"/>
              <a:t>جایگزین </a:t>
            </a:r>
            <a:r>
              <a:rPr lang="fa-IR" sz="2400" dirty="0" err="1"/>
              <a:t>می‌شود</a:t>
            </a:r>
            <a:r>
              <a:rPr lang="fa-IR" sz="2400" dirty="0"/>
              <a:t>.</a:t>
            </a:r>
            <a:br>
              <a:rPr lang="fa-IR" sz="2400" dirty="0"/>
            </a:br>
            <a:r>
              <a:rPr lang="fa-IR" sz="2400" dirty="0"/>
              <a:t>۳) محدودیت: هیچ دو </a:t>
            </a:r>
            <a:r>
              <a:rPr lang="fa-IR" sz="2400" dirty="0" err="1"/>
              <a:t>تاپل</a:t>
            </a:r>
            <a:r>
              <a:rPr lang="fa-IR" sz="2400" dirty="0"/>
              <a:t> نباید </a:t>
            </a:r>
            <a:r>
              <a:rPr lang="fa-IR" sz="2400" dirty="0" err="1"/>
              <a:t>بازه‌های</a:t>
            </a:r>
            <a:r>
              <a:rPr lang="fa-IR" sz="2400" dirty="0"/>
              <a:t> زمانی </a:t>
            </a:r>
            <a:r>
              <a:rPr lang="fa-IR" sz="2400" dirty="0" err="1"/>
              <a:t>معتبرِ</a:t>
            </a:r>
            <a:r>
              <a:rPr lang="fa-IR" sz="2400" dirty="0"/>
              <a:t> </a:t>
            </a:r>
            <a:r>
              <a:rPr lang="fa-IR" sz="2400" dirty="0" err="1"/>
              <a:t>هم‌پوشان</a:t>
            </a:r>
            <a:r>
              <a:rPr lang="fa-IR" sz="2400" dirty="0"/>
              <a:t> داشته باشند.</a:t>
            </a:r>
            <a:br>
              <a:rPr lang="fa-IR" sz="2400" dirty="0"/>
            </a:br>
            <a:r>
              <a:rPr lang="fa-IR" sz="2400" dirty="0"/>
              <a:t>۴) اجرای کارآمد این محدودیت دشوار است.</a:t>
            </a:r>
            <a:br>
              <a:rPr lang="fa-IR" sz="2400" dirty="0"/>
            </a:br>
            <a:r>
              <a:rPr lang="fa-IR" sz="2400" dirty="0"/>
              <a:t>۵) ارجاع کلید خارجی ممکن است به نسخه فعلی داده باشد، یا به داده در یک نقطه خاص زمانی.</a:t>
            </a:r>
            <a:br>
              <a:rPr lang="fa-IR" sz="2400" dirty="0"/>
            </a:br>
            <a:r>
              <a:rPr lang="fa-IR" sz="2400" dirty="0"/>
              <a:t>۶) برای نمونه، </a:t>
            </a:r>
            <a:r>
              <a:rPr lang="fa-IR" sz="2400" dirty="0" err="1"/>
              <a:t>ریزنمرات</a:t>
            </a:r>
            <a:r>
              <a:rPr lang="fa-IR" sz="2400" dirty="0"/>
              <a:t> دانشجو باید به اطلاعات درس در زمانی که درس گذرانده شده است ارجاع دهد.</a:t>
            </a:r>
            <a:endParaRPr lang="en-US" altLang="en-US" sz="2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794" name="Rectangle 2"/>
          <p:cNvSpPr>
            <a:spLocks noGrp="1" noChangeArrowheads="1"/>
          </p:cNvSpPr>
          <p:nvPr>
            <p:ph type="ctrTitle"/>
          </p:nvPr>
        </p:nvSpPr>
        <p:spPr>
          <a:extLst>
            <a:ext uri="{909E8E84-426E-40dd-AFC4-6F175D3DCCD1}"/>
            <a:ext uri="{91240B29-F687-4f45-9708-019B960494DF}"/>
            <a:ext uri="{FAA26D3D-D897-4be2-8F04-BA451C77F1D7}"/>
          </a:extLst>
        </p:spPr>
        <p:txBody>
          <a:bodyPr/>
          <a:lstStyle/>
          <a:p>
            <a:pPr>
              <a:defRPr/>
            </a:pPr>
            <a:r>
              <a:rPr lang="fa-IR" dirty="0"/>
              <a:t>پایان فصل ۷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2015231" y="2400300"/>
            <a:ext cx="6112769" cy="1257300"/>
          </a:xfrm>
        </p:spPr>
        <p:txBody>
          <a:bodyPr/>
          <a:lstStyle/>
          <a:p>
            <a:pPr algn="r" rtl="1">
              <a:buFont typeface="Monotype Sorts" charset="2"/>
              <a:buNone/>
              <a:defRPr/>
            </a:pPr>
            <a:r>
              <a:rPr lang="en-US" sz="3200" dirty="0"/>
              <a:t>»</a:t>
            </a:r>
            <a:r>
              <a:rPr lang="fa-IR" sz="3200" dirty="0" err="1"/>
              <a:t>اثباتِ</a:t>
            </a:r>
            <a:r>
              <a:rPr lang="fa-IR" sz="3200" dirty="0"/>
              <a:t> </a:t>
            </a:r>
            <a:r>
              <a:rPr lang="fa-IR" sz="3200" dirty="0" err="1"/>
              <a:t>درستیِ</a:t>
            </a:r>
            <a:r>
              <a:rPr lang="fa-IR" sz="3200" dirty="0"/>
              <a:t> </a:t>
            </a:r>
            <a:r>
              <a:rPr lang="fa-IR" sz="3200" dirty="0" err="1"/>
              <a:t>الگوریتمِ</a:t>
            </a:r>
            <a:r>
              <a:rPr lang="fa-IR" sz="3200" dirty="0"/>
              <a:t> تجزیه به 3</a:t>
            </a:r>
            <a:r>
              <a:rPr lang="en-US" sz="3200" dirty="0"/>
              <a:t>«NF</a:t>
            </a:r>
            <a:endParaRPr lang="en-US" altLang="en-US" sz="3200" b="1" dirty="0">
              <a:solidFill>
                <a:srgbClr val="00206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ＭＳ Ｐゴシック" pitchFamily="34" charset="-128"/>
              <a:cs typeface="+mj-cs"/>
            </a:endParaRPr>
          </a:p>
        </p:txBody>
      </p:sp>
    </p:spTree>
  </p:cSld>
  <p:clrMapOvr>
    <a:masterClrMapping/>
  </p:clrMapOvr>
  <p:transition spd="slow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890" name="Rectangle 2"/>
          <p:cNvSpPr>
            <a:spLocks noGrp="1" noChangeArrowheads="1"/>
          </p:cNvSpPr>
          <p:nvPr>
            <p:ph type="title"/>
          </p:nvPr>
        </p:nvSpPr>
        <p:spPr>
          <a:xfrm>
            <a:off x="682625" y="60325"/>
            <a:ext cx="8461375" cy="644525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Correctness of 3NF Decomposition Algorithm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244601"/>
            <a:ext cx="7986943" cy="2918326"/>
          </a:xfrm>
        </p:spPr>
        <p:txBody>
          <a:bodyPr/>
          <a:lstStyle/>
          <a:p>
            <a:pPr algn="r" rtl="1"/>
            <a:r>
              <a:rPr lang="fa-IR" sz="2800" dirty="0" err="1"/>
              <a:t>الگوریتمِ</a:t>
            </a:r>
            <a:r>
              <a:rPr lang="fa-IR" sz="2800" dirty="0"/>
              <a:t> تجزیه به 3</a:t>
            </a:r>
            <a:r>
              <a:rPr lang="en-US" sz="2800" dirty="0"/>
              <a:t>NF </a:t>
            </a:r>
            <a:r>
              <a:rPr lang="fa-IR" sz="2800" dirty="0" err="1"/>
              <a:t>ویژگیِ</a:t>
            </a:r>
            <a:r>
              <a:rPr lang="fa-IR" sz="2800" dirty="0"/>
              <a:t> </a:t>
            </a:r>
            <a:r>
              <a:rPr lang="fa-IR" sz="2800" dirty="0" err="1"/>
              <a:t>حفظِ</a:t>
            </a:r>
            <a:r>
              <a:rPr lang="fa-IR" sz="2800" dirty="0"/>
              <a:t> </a:t>
            </a:r>
            <a:r>
              <a:rPr lang="fa-IR" sz="2800" dirty="0" err="1"/>
              <a:t>وابستگی‌ها</a:t>
            </a:r>
            <a:r>
              <a:rPr lang="fa-IR" sz="2800" dirty="0"/>
              <a:t> را دارد،</a:t>
            </a:r>
            <a:br>
              <a:rPr lang="fa-IR" sz="2800" dirty="0"/>
            </a:br>
            <a:r>
              <a:rPr lang="fa-IR" sz="2800" dirty="0"/>
              <a:t>زیرا برای هر </a:t>
            </a:r>
            <a:r>
              <a:rPr lang="fa-IR" sz="2800" dirty="0" err="1"/>
              <a:t>وابستگیِ</a:t>
            </a:r>
            <a:r>
              <a:rPr lang="fa-IR" sz="2800" dirty="0"/>
              <a:t> </a:t>
            </a:r>
            <a:r>
              <a:rPr lang="fa-IR" sz="2800" dirty="0" err="1"/>
              <a:t>تابعی</a:t>
            </a:r>
            <a:r>
              <a:rPr lang="fa-IR" sz="2800" dirty="0"/>
              <a:t> در </a:t>
            </a:r>
            <a:r>
              <a:rPr lang="en-US" sz="2800" dirty="0"/>
              <a:t>Fc </a:t>
            </a:r>
            <a:r>
              <a:rPr lang="fa-IR" sz="2800" dirty="0"/>
              <a:t>یک رابطه ساخته </a:t>
            </a:r>
            <a:r>
              <a:rPr lang="fa-IR" sz="2800" dirty="0" err="1"/>
              <a:t>می‌شود</a:t>
            </a:r>
            <a:r>
              <a:rPr lang="fa-IR" sz="2800" dirty="0"/>
              <a:t>.</a:t>
            </a:r>
          </a:p>
          <a:p>
            <a:pPr algn="r" rtl="1"/>
            <a:r>
              <a:rPr lang="fa-IR" sz="2800" dirty="0"/>
              <a:t>این تجزیه </a:t>
            </a:r>
            <a:r>
              <a:rPr lang="fa-IR" sz="2800" dirty="0" err="1"/>
              <a:t>بدونِ</a:t>
            </a:r>
            <a:r>
              <a:rPr lang="fa-IR" sz="2800" dirty="0"/>
              <a:t> اتلاف است.</a:t>
            </a:r>
          </a:p>
          <a:p>
            <a:pPr algn="r" rtl="1"/>
            <a:r>
              <a:rPr lang="fa-IR" sz="2800" dirty="0"/>
              <a:t>یک </a:t>
            </a:r>
            <a:r>
              <a:rPr lang="fa-IR" sz="2800" dirty="0" err="1"/>
              <a:t>کلیدِ</a:t>
            </a:r>
            <a:r>
              <a:rPr lang="fa-IR" sz="2800" dirty="0"/>
              <a:t> نامزد (</a:t>
            </a:r>
            <a:r>
              <a:rPr lang="en-US" sz="2800" dirty="0"/>
              <a:t>C) </a:t>
            </a:r>
            <a:r>
              <a:rPr lang="fa-IR" sz="2800" dirty="0"/>
              <a:t>در یکی از </a:t>
            </a:r>
            <a:r>
              <a:rPr lang="fa-IR" sz="2800" dirty="0" err="1"/>
              <a:t>رابطه‌های</a:t>
            </a:r>
            <a:r>
              <a:rPr lang="fa-IR" sz="2800" dirty="0"/>
              <a:t> </a:t>
            </a:r>
            <a:r>
              <a:rPr lang="en-US" sz="2800" dirty="0"/>
              <a:t>Ri </a:t>
            </a:r>
            <a:r>
              <a:rPr lang="fa-IR" sz="2800" dirty="0"/>
              <a:t>حاصل از تجزیه قرار </a:t>
            </a:r>
            <a:r>
              <a:rPr lang="fa-IR" sz="2800" dirty="0" err="1"/>
              <a:t>می‌گیرد</a:t>
            </a:r>
            <a:r>
              <a:rPr lang="fa-IR" sz="2800" dirty="0"/>
              <a:t>.</a:t>
            </a:r>
          </a:p>
          <a:p>
            <a:pPr algn="r" rtl="1"/>
            <a:r>
              <a:rPr lang="fa-IR" sz="2800" dirty="0" err="1"/>
              <a:t>بستارِ</a:t>
            </a:r>
            <a:r>
              <a:rPr lang="fa-IR" sz="2800" dirty="0"/>
              <a:t> این </a:t>
            </a:r>
            <a:r>
              <a:rPr lang="fa-IR" sz="2800" dirty="0" err="1"/>
              <a:t>کلیدِ</a:t>
            </a:r>
            <a:r>
              <a:rPr lang="fa-IR" sz="2800" dirty="0"/>
              <a:t> نامزد </a:t>
            </a:r>
            <a:r>
              <a:rPr lang="fa-IR" sz="2800" dirty="0" err="1"/>
              <a:t>تحتِ</a:t>
            </a:r>
            <a:r>
              <a:rPr lang="fa-IR" sz="2800" dirty="0"/>
              <a:t> </a:t>
            </a:r>
            <a:r>
              <a:rPr lang="en-US" sz="2800" dirty="0"/>
              <a:t>Fc </a:t>
            </a:r>
            <a:r>
              <a:rPr lang="fa-IR" sz="2800" dirty="0"/>
              <a:t>باید </a:t>
            </a:r>
            <a:r>
              <a:rPr lang="fa-IR" sz="2800" dirty="0" err="1"/>
              <a:t>شاملِ</a:t>
            </a:r>
            <a:r>
              <a:rPr lang="fa-IR" sz="2800" dirty="0"/>
              <a:t> </a:t>
            </a:r>
            <a:r>
              <a:rPr lang="fa-IR" sz="2800" dirty="0" err="1"/>
              <a:t>تمامِ</a:t>
            </a:r>
            <a:r>
              <a:rPr lang="fa-IR" sz="2800" dirty="0"/>
              <a:t> </a:t>
            </a:r>
            <a:r>
              <a:rPr lang="fa-IR" sz="2800" dirty="0" err="1"/>
              <a:t>ویژگی‌های</a:t>
            </a:r>
            <a:r>
              <a:rPr lang="fa-IR" sz="2800" dirty="0"/>
              <a:t> موجود در </a:t>
            </a:r>
            <a:r>
              <a:rPr lang="en-US" sz="2800" dirty="0"/>
              <a:t>R </a:t>
            </a:r>
            <a:r>
              <a:rPr lang="fa-IR" sz="2800" dirty="0"/>
              <a:t>باشد.</a:t>
            </a:r>
          </a:p>
          <a:p>
            <a:pPr algn="r" rtl="1"/>
            <a:r>
              <a:rPr lang="fa-IR" sz="2800" dirty="0"/>
              <a:t>با دنبال کردن مراحل </a:t>
            </a:r>
            <a:r>
              <a:rPr lang="fa-IR" sz="2800" dirty="0" err="1"/>
              <a:t>الگوریتمِ</a:t>
            </a:r>
            <a:r>
              <a:rPr lang="fa-IR" sz="2800" dirty="0"/>
              <a:t> </a:t>
            </a:r>
            <a:r>
              <a:rPr lang="fa-IR" sz="2800" dirty="0" err="1"/>
              <a:t>بستارِ</a:t>
            </a:r>
            <a:r>
              <a:rPr lang="fa-IR" sz="2800" dirty="0"/>
              <a:t> ویژگی </a:t>
            </a:r>
            <a:r>
              <a:rPr lang="fa-IR" sz="2800" dirty="0" err="1"/>
              <a:t>می‌توان</a:t>
            </a:r>
            <a:r>
              <a:rPr lang="fa-IR" sz="2800" dirty="0"/>
              <a:t> نشان داد که برای هر </a:t>
            </a:r>
            <a:r>
              <a:rPr lang="fa-IR" sz="2800" dirty="0" err="1"/>
              <a:t>تاپل</a:t>
            </a:r>
            <a:r>
              <a:rPr lang="fa-IR" sz="2800" dirty="0"/>
              <a:t> در </a:t>
            </a:r>
            <a:r>
              <a:rPr lang="en-US" sz="2800" dirty="0"/>
              <a:t>Ri،</a:t>
            </a:r>
            <a:br>
              <a:rPr lang="en-US" sz="2800" dirty="0"/>
            </a:br>
            <a:r>
              <a:rPr lang="fa-IR" sz="2800" dirty="0"/>
              <a:t>در نتیجه </a:t>
            </a:r>
            <a:r>
              <a:rPr lang="en-US" sz="2800" dirty="0"/>
              <a:t>join </a:t>
            </a:r>
            <a:r>
              <a:rPr lang="fa-IR" sz="2800" dirty="0"/>
              <a:t>فقط یک </a:t>
            </a:r>
            <a:r>
              <a:rPr lang="fa-IR" sz="2800" dirty="0" err="1"/>
              <a:t>تاپل</a:t>
            </a:r>
            <a:r>
              <a:rPr lang="fa-IR" sz="2800" dirty="0"/>
              <a:t> </a:t>
            </a:r>
            <a:r>
              <a:rPr lang="fa-IR" sz="2800" dirty="0" err="1"/>
              <a:t>متناظر</a:t>
            </a:r>
            <a:r>
              <a:rPr lang="fa-IR" sz="2800" dirty="0"/>
              <a:t> وجود خواهد داشت.</a:t>
            </a:r>
          </a:p>
          <a:p>
            <a:pPr algn="r" rtl="1"/>
            <a:endParaRPr lang="en-US" altLang="en-US" sz="2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890" name="Rectangle 2"/>
          <p:cNvSpPr>
            <a:spLocks noGrp="1" noChangeArrowheads="1"/>
          </p:cNvSpPr>
          <p:nvPr>
            <p:ph type="title"/>
          </p:nvPr>
        </p:nvSpPr>
        <p:spPr>
          <a:xfrm>
            <a:off x="682625" y="60325"/>
            <a:ext cx="8461375" cy="644525"/>
          </a:xfrm>
        </p:spPr>
        <p:txBody>
          <a:bodyPr/>
          <a:lstStyle/>
          <a:p>
            <a:pPr>
              <a:defRPr/>
            </a:pPr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Correctness of 3NF Decomposition Algorithm (Cont</a:t>
            </a:r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  <a:ea typeface="ＭＳ Ｐゴシック" pitchFamily="34" charset="-128"/>
              </a:rPr>
              <a:t>.</a:t>
            </a:r>
            <a:r>
              <a:rPr lang="en-US" altLang="ja-JP" sz="24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)</a:t>
            </a:r>
            <a:endParaRPr lang="en-US" altLang="en-US" sz="24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03427" name="Rectangle 3"/>
          <p:cNvSpPr>
            <a:spLocks noGrp="1" noChangeArrowheads="1"/>
          </p:cNvSpPr>
          <p:nvPr>
            <p:ph idx="1"/>
          </p:nvPr>
        </p:nvSpPr>
        <p:spPr>
          <a:xfrm>
            <a:off x="816745" y="1278385"/>
            <a:ext cx="7207735" cy="3058708"/>
          </a:xfrm>
        </p:spPr>
        <p:txBody>
          <a:bodyPr/>
          <a:lstStyle/>
          <a:p>
            <a:pPr algn="r" rtl="1"/>
            <a:r>
              <a:rPr lang="fa-IR" sz="2400" dirty="0"/>
              <a:t>ادعا: اگر رابطه </a:t>
            </a:r>
            <a:r>
              <a:rPr lang="en-US" sz="2400" dirty="0"/>
              <a:t>Ri </a:t>
            </a:r>
            <a:r>
              <a:rPr lang="fa-IR" sz="2400" dirty="0"/>
              <a:t>در </a:t>
            </a:r>
            <a:r>
              <a:rPr lang="fa-IR" sz="2400" dirty="0" err="1"/>
              <a:t>تجزیه‌ای</a:t>
            </a:r>
            <a:r>
              <a:rPr lang="fa-IR" sz="2400" dirty="0"/>
              <a:t> باشد که توسط </a:t>
            </a:r>
            <a:r>
              <a:rPr lang="fa-IR" sz="2400" dirty="0" err="1"/>
              <a:t>الگوریتمِ</a:t>
            </a:r>
            <a:r>
              <a:rPr lang="fa-IR" sz="2400" dirty="0"/>
              <a:t> بالا ساخته شده است، آنگاه </a:t>
            </a:r>
            <a:r>
              <a:rPr lang="en-US" sz="2400" dirty="0"/>
              <a:t>Ri </a:t>
            </a:r>
            <a:r>
              <a:rPr lang="fa-IR" sz="2400" dirty="0"/>
              <a:t>در 3</a:t>
            </a:r>
            <a:r>
              <a:rPr lang="en-US" sz="2400" dirty="0"/>
              <a:t>NF </a:t>
            </a:r>
            <a:r>
              <a:rPr lang="fa-IR" sz="2400" dirty="0"/>
              <a:t>قرار دارد.</a:t>
            </a:r>
          </a:p>
          <a:p>
            <a:pPr algn="r" rtl="1"/>
            <a:r>
              <a:rPr lang="fa-IR" sz="2400" dirty="0"/>
              <a:t>اثبات:</a:t>
            </a:r>
            <a:br>
              <a:rPr lang="fa-IR" sz="2400" dirty="0"/>
            </a:br>
            <a:r>
              <a:rPr lang="fa-IR" sz="2400" dirty="0"/>
              <a:t>فرض کنید </a:t>
            </a:r>
            <a:r>
              <a:rPr lang="en-US" sz="2400" dirty="0"/>
              <a:t>Ri </a:t>
            </a:r>
            <a:r>
              <a:rPr lang="fa-IR" sz="2400" dirty="0"/>
              <a:t>از </a:t>
            </a:r>
            <a:r>
              <a:rPr lang="fa-IR" sz="2400" dirty="0" err="1"/>
              <a:t>وابستگیِ</a:t>
            </a:r>
            <a:r>
              <a:rPr lang="fa-IR" sz="2400" dirty="0"/>
              <a:t> </a:t>
            </a:r>
            <a:r>
              <a:rPr lang="el-GR" sz="2400" dirty="0"/>
              <a:t>α → β </a:t>
            </a:r>
            <a:r>
              <a:rPr lang="fa-IR" sz="2400" dirty="0"/>
              <a:t>ساخته شده باشد.</a:t>
            </a:r>
            <a:br>
              <a:rPr lang="fa-IR" sz="2400" dirty="0"/>
            </a:br>
            <a:r>
              <a:rPr lang="fa-IR" sz="2400" dirty="0"/>
              <a:t>فرض کنید </a:t>
            </a:r>
            <a:r>
              <a:rPr lang="el-GR" sz="2400" dirty="0"/>
              <a:t>γ → </a:t>
            </a:r>
            <a:r>
              <a:rPr lang="en-US" sz="2400" dirty="0"/>
              <a:t>B </a:t>
            </a:r>
            <a:r>
              <a:rPr lang="fa-IR" sz="2400" dirty="0"/>
              <a:t>یک </a:t>
            </a:r>
            <a:r>
              <a:rPr lang="fa-IR" sz="2400" dirty="0" err="1"/>
              <a:t>وابستگیِ</a:t>
            </a:r>
            <a:r>
              <a:rPr lang="fa-IR" sz="2400" dirty="0"/>
              <a:t> </a:t>
            </a:r>
            <a:r>
              <a:rPr lang="fa-IR" sz="2400" dirty="0" err="1"/>
              <a:t>تابعیِ</a:t>
            </a:r>
            <a:r>
              <a:rPr lang="fa-IR" sz="2400" dirty="0"/>
              <a:t> </a:t>
            </a:r>
            <a:r>
              <a:rPr lang="fa-IR" sz="2400" dirty="0" err="1"/>
              <a:t>غیرِ</a:t>
            </a:r>
            <a:r>
              <a:rPr lang="fa-IR" sz="2400" dirty="0"/>
              <a:t> بدیهی روی </a:t>
            </a:r>
            <a:r>
              <a:rPr lang="en-US" sz="2400" dirty="0"/>
              <a:t>Ri </a:t>
            </a:r>
            <a:r>
              <a:rPr lang="fa-IR" sz="2400" dirty="0"/>
              <a:t>باشد.</a:t>
            </a:r>
            <a:br>
              <a:rPr lang="fa-IR" sz="2400" dirty="0"/>
            </a:br>
            <a:r>
              <a:rPr lang="fa-IR" sz="2400" dirty="0"/>
              <a:t>(فقط لازم است </a:t>
            </a:r>
            <a:r>
              <a:rPr lang="fa-IR" sz="2400" dirty="0" err="1"/>
              <a:t>وابستگی‌هایی</a:t>
            </a:r>
            <a:r>
              <a:rPr lang="fa-IR" sz="2400" dirty="0"/>
              <a:t> را در نظر بگیریم که </a:t>
            </a:r>
            <a:r>
              <a:rPr lang="fa-IR" sz="2400" dirty="0" err="1"/>
              <a:t>سمتِ</a:t>
            </a:r>
            <a:r>
              <a:rPr lang="fa-IR" sz="2400" dirty="0"/>
              <a:t> </a:t>
            </a:r>
            <a:r>
              <a:rPr lang="fa-IR" sz="2400" dirty="0" err="1"/>
              <a:t>راستشان</a:t>
            </a:r>
            <a:r>
              <a:rPr lang="fa-IR" sz="2400" dirty="0"/>
              <a:t> یک </a:t>
            </a:r>
            <a:r>
              <a:rPr lang="fa-IR" sz="2400" dirty="0" err="1"/>
              <a:t>تک‌ویژگی</a:t>
            </a:r>
            <a:r>
              <a:rPr lang="fa-IR" sz="2400" dirty="0"/>
              <a:t> است.)</a:t>
            </a:r>
            <a:br>
              <a:rPr lang="fa-IR" sz="2400" dirty="0"/>
            </a:br>
            <a:r>
              <a:rPr lang="fa-IR" sz="2400" dirty="0"/>
              <a:t>اکنون، </a:t>
            </a:r>
            <a:r>
              <a:rPr lang="en-US" sz="2400" dirty="0"/>
              <a:t>B </a:t>
            </a:r>
            <a:r>
              <a:rPr lang="fa-IR" sz="2400" dirty="0" err="1"/>
              <a:t>می‌تواند</a:t>
            </a:r>
            <a:r>
              <a:rPr lang="fa-IR" sz="2400" dirty="0"/>
              <a:t> در </a:t>
            </a:r>
            <a:r>
              <a:rPr lang="el-GR" sz="2400" dirty="0"/>
              <a:t>β </a:t>
            </a:r>
            <a:r>
              <a:rPr lang="fa-IR" sz="2400" dirty="0"/>
              <a:t>باشد یا در </a:t>
            </a:r>
            <a:r>
              <a:rPr lang="el-GR" sz="2400" dirty="0"/>
              <a:t>α، </a:t>
            </a:r>
            <a:r>
              <a:rPr lang="fa-IR" sz="2400" dirty="0"/>
              <a:t>اما </a:t>
            </a:r>
            <a:r>
              <a:rPr lang="fa-IR" sz="2400" dirty="0" err="1"/>
              <a:t>نمی‌تواند</a:t>
            </a:r>
            <a:r>
              <a:rPr lang="fa-IR" sz="2400" dirty="0"/>
              <a:t> در هر دو قرار گیرد.</a:t>
            </a:r>
            <a:br>
              <a:rPr lang="fa-IR" sz="2400" dirty="0"/>
            </a:br>
            <a:r>
              <a:rPr lang="fa-IR" sz="2400" dirty="0"/>
              <a:t>هر حالت را جداگانه بررسی کنید</a:t>
            </a:r>
          </a:p>
          <a:p>
            <a:pPr algn="r" rtl="1"/>
            <a:endParaRPr lang="en-US" altLang="en-US" sz="2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986" name="Rectangle 2"/>
          <p:cNvSpPr>
            <a:spLocks noGrp="1" noChangeArrowheads="1"/>
          </p:cNvSpPr>
          <p:nvPr>
            <p:ph type="title"/>
          </p:nvPr>
        </p:nvSpPr>
        <p:spPr>
          <a:xfrm>
            <a:off x="890588" y="158750"/>
            <a:ext cx="7915275" cy="569913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Correctness of 3NF Decomposition (Cont</a:t>
            </a:r>
            <a:r>
              <a:rPr lang="en-US" altLang="ja-JP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.)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04451" name="Rectangle 3"/>
          <p:cNvSpPr>
            <a:spLocks noGrp="1" noChangeArrowheads="1"/>
          </p:cNvSpPr>
          <p:nvPr>
            <p:ph idx="1"/>
          </p:nvPr>
        </p:nvSpPr>
        <p:spPr>
          <a:xfrm>
            <a:off x="113192" y="1137574"/>
            <a:ext cx="8802208" cy="5364826"/>
          </a:xfrm>
        </p:spPr>
        <p:txBody>
          <a:bodyPr/>
          <a:lstStyle/>
          <a:p>
            <a:pPr algn="r" rtl="1"/>
            <a:r>
              <a:rPr lang="fa-IR" sz="2400" dirty="0"/>
              <a:t>حالت ۱: اگر </a:t>
            </a:r>
            <a:r>
              <a:rPr lang="en-US" sz="2400" dirty="0"/>
              <a:t>B </a:t>
            </a:r>
            <a:r>
              <a:rPr lang="fa-IR" sz="2400" dirty="0"/>
              <a:t>در </a:t>
            </a:r>
            <a:r>
              <a:rPr lang="el-GR" sz="2400" dirty="0"/>
              <a:t>β </a:t>
            </a:r>
            <a:r>
              <a:rPr lang="fa-IR" sz="2400" dirty="0"/>
              <a:t>باشد:</a:t>
            </a:r>
            <a:br>
              <a:rPr lang="fa-IR" sz="2400" dirty="0"/>
            </a:br>
            <a:r>
              <a:rPr lang="fa-IR" sz="2400" dirty="0"/>
              <a:t>اگر </a:t>
            </a:r>
            <a:r>
              <a:rPr lang="el-GR" sz="2400" dirty="0"/>
              <a:t>γ </a:t>
            </a:r>
            <a:r>
              <a:rPr lang="fa-IR" sz="2400" dirty="0"/>
              <a:t>یک </a:t>
            </a:r>
            <a:r>
              <a:rPr lang="fa-IR" sz="2400" b="1" dirty="0" err="1"/>
              <a:t>سوپرکلید</a:t>
            </a:r>
            <a:r>
              <a:rPr lang="fa-IR" sz="2400" dirty="0"/>
              <a:t> باشد، شرط </a:t>
            </a:r>
            <a:r>
              <a:rPr lang="fa-IR" sz="2400" dirty="0" err="1"/>
              <a:t>دومِ</a:t>
            </a:r>
            <a:r>
              <a:rPr lang="fa-IR" sz="2400" dirty="0"/>
              <a:t> 3</a:t>
            </a:r>
            <a:r>
              <a:rPr lang="en-US" sz="2400" dirty="0"/>
              <a:t>NF </a:t>
            </a:r>
            <a:r>
              <a:rPr lang="fa-IR" sz="2400" dirty="0"/>
              <a:t>برقرار است.</a:t>
            </a:r>
            <a:br>
              <a:rPr lang="fa-IR" sz="2400" dirty="0"/>
            </a:br>
            <a:r>
              <a:rPr lang="fa-IR" sz="2400" dirty="0"/>
              <a:t>در غیر این صورت، </a:t>
            </a:r>
            <a:r>
              <a:rPr lang="el-GR" sz="2400" dirty="0"/>
              <a:t>α </a:t>
            </a:r>
            <a:r>
              <a:rPr lang="fa-IR" sz="2400" dirty="0"/>
              <a:t>باید </a:t>
            </a:r>
            <a:r>
              <a:rPr lang="fa-IR" sz="2400" dirty="0" err="1"/>
              <a:t>دست‌کم</a:t>
            </a:r>
            <a:r>
              <a:rPr lang="fa-IR" sz="2400" dirty="0"/>
              <a:t> یک ویژگی داشته باشد که در </a:t>
            </a:r>
            <a:r>
              <a:rPr lang="el-GR" sz="2400" dirty="0"/>
              <a:t>γ </a:t>
            </a:r>
            <a:r>
              <a:rPr lang="fa-IR" sz="2400" dirty="0"/>
              <a:t>وجود نداشته باشد.</a:t>
            </a:r>
            <a:br>
              <a:rPr lang="fa-IR" sz="2400" dirty="0"/>
            </a:br>
            <a:r>
              <a:rPr lang="fa-IR" sz="2400" dirty="0"/>
              <a:t>از آنجا که </a:t>
            </a:r>
            <a:r>
              <a:rPr lang="el-GR" sz="2400" dirty="0"/>
              <a:t>γ → </a:t>
            </a:r>
            <a:r>
              <a:rPr lang="en-US" sz="2400" dirty="0"/>
              <a:t>B </a:t>
            </a:r>
            <a:r>
              <a:rPr lang="fa-IR" sz="2400" dirty="0"/>
              <a:t>در </a:t>
            </a:r>
            <a:r>
              <a:rPr lang="en-US" sz="2400" dirty="0"/>
              <a:t>F⁺ </a:t>
            </a:r>
            <a:r>
              <a:rPr lang="fa-IR" sz="2400" dirty="0"/>
              <a:t>قرار دارد، باید بتوان آن را با استفاده از </a:t>
            </a:r>
            <a:r>
              <a:rPr lang="en-US" sz="2400" dirty="0"/>
              <a:t>Fc </a:t>
            </a:r>
            <a:r>
              <a:rPr lang="fa-IR" sz="2400" dirty="0"/>
              <a:t>و از طریق </a:t>
            </a:r>
            <a:r>
              <a:rPr lang="fa-IR" sz="2400" dirty="0" err="1"/>
              <a:t>بستار</a:t>
            </a:r>
            <a:r>
              <a:rPr lang="fa-IR" sz="2400" dirty="0"/>
              <a:t> </a:t>
            </a:r>
            <a:r>
              <a:rPr lang="el-GR" sz="2400" dirty="0"/>
              <a:t>γ </a:t>
            </a:r>
            <a:r>
              <a:rPr lang="fa-IR" sz="2400" dirty="0"/>
              <a:t>به دست آورد.</a:t>
            </a:r>
            <a:br>
              <a:rPr lang="fa-IR" sz="2400" dirty="0"/>
            </a:br>
            <a:r>
              <a:rPr lang="fa-IR" sz="2400" dirty="0" err="1"/>
              <a:t>بستارِ</a:t>
            </a:r>
            <a:r>
              <a:rPr lang="fa-IR" sz="2400" dirty="0"/>
              <a:t> </a:t>
            </a:r>
            <a:r>
              <a:rPr lang="el-GR" sz="2400" dirty="0"/>
              <a:t>γ </a:t>
            </a:r>
            <a:r>
              <a:rPr lang="fa-IR" sz="2400" dirty="0" err="1"/>
              <a:t>نمی‌تواند</a:t>
            </a:r>
            <a:r>
              <a:rPr lang="fa-IR" sz="2400" dirty="0"/>
              <a:t> از </a:t>
            </a:r>
            <a:r>
              <a:rPr lang="el-GR" sz="2400" dirty="0"/>
              <a:t>α → β </a:t>
            </a:r>
            <a:r>
              <a:rPr lang="fa-IR" sz="2400" dirty="0"/>
              <a:t>استفاده کرده باشد؛ زیرا اگر از آن استفاده </a:t>
            </a:r>
            <a:r>
              <a:rPr lang="fa-IR" sz="2400" dirty="0" err="1"/>
              <a:t>می‌کرد</a:t>
            </a:r>
            <a:r>
              <a:rPr lang="fa-IR" sz="2400" dirty="0"/>
              <a:t>، </a:t>
            </a:r>
            <a:r>
              <a:rPr lang="el-GR" sz="2400" dirty="0"/>
              <a:t>α </a:t>
            </a:r>
            <a:r>
              <a:rPr lang="fa-IR" sz="2400" dirty="0"/>
              <a:t>باید در </a:t>
            </a:r>
            <a:r>
              <a:rPr lang="fa-IR" sz="2400" dirty="0" err="1"/>
              <a:t>بستارِ</a:t>
            </a:r>
            <a:r>
              <a:rPr lang="fa-IR" sz="2400" dirty="0"/>
              <a:t> </a:t>
            </a:r>
            <a:r>
              <a:rPr lang="el-GR" sz="2400" dirty="0"/>
              <a:t>γ </a:t>
            </a:r>
            <a:r>
              <a:rPr lang="fa-IR" sz="2400" dirty="0"/>
              <a:t>قرار </a:t>
            </a:r>
            <a:r>
              <a:rPr lang="fa-IR" sz="2400" dirty="0" err="1"/>
              <a:t>می‌گرفت</a:t>
            </a:r>
            <a:r>
              <a:rPr lang="fa-IR" sz="2400" dirty="0"/>
              <a:t>،</a:t>
            </a:r>
            <a:br>
              <a:rPr lang="fa-IR" sz="2400" dirty="0"/>
            </a:br>
            <a:r>
              <a:rPr lang="fa-IR" sz="2400" dirty="0"/>
              <a:t>و این ممکن نیست چون فرض </a:t>
            </a:r>
            <a:r>
              <a:rPr lang="fa-IR" sz="2400" dirty="0" err="1"/>
              <a:t>کرده‌ایم</a:t>
            </a:r>
            <a:r>
              <a:rPr lang="fa-IR" sz="2400" dirty="0"/>
              <a:t> </a:t>
            </a:r>
            <a:r>
              <a:rPr lang="el-GR" sz="2400" dirty="0"/>
              <a:t>γ </a:t>
            </a:r>
            <a:r>
              <a:rPr lang="fa-IR" sz="2400" dirty="0"/>
              <a:t>یک </a:t>
            </a:r>
            <a:r>
              <a:rPr lang="fa-IR" sz="2400" b="1" dirty="0" err="1"/>
              <a:t>سوپرکلید</a:t>
            </a:r>
            <a:r>
              <a:rPr lang="fa-IR" sz="2400" dirty="0"/>
              <a:t> نیست.</a:t>
            </a:r>
            <a:br>
              <a:rPr lang="fa-IR" sz="2400" dirty="0"/>
            </a:br>
            <a:r>
              <a:rPr lang="fa-IR" sz="2400" dirty="0"/>
              <a:t>اکنون با استفاده از </a:t>
            </a:r>
            <a:r>
              <a:rPr lang="el-GR" sz="2400" dirty="0"/>
              <a:t>α → (β − {</a:t>
            </a:r>
            <a:r>
              <a:rPr lang="en-US" sz="2400" dirty="0"/>
              <a:t>B}) </a:t>
            </a:r>
            <a:r>
              <a:rPr lang="fa-IR" sz="2400" dirty="0"/>
              <a:t>و </a:t>
            </a:r>
            <a:r>
              <a:rPr lang="el-GR" sz="2400" dirty="0"/>
              <a:t>γ → </a:t>
            </a:r>
            <a:r>
              <a:rPr lang="en-US" sz="2400" dirty="0"/>
              <a:t>B </a:t>
            </a:r>
            <a:r>
              <a:rPr lang="fa-IR" sz="2400" dirty="0" err="1"/>
              <a:t>می‌توانیم</a:t>
            </a:r>
            <a:r>
              <a:rPr lang="fa-IR" sz="2400" dirty="0"/>
              <a:t> </a:t>
            </a:r>
            <a:r>
              <a:rPr lang="el-GR" sz="2400" dirty="0"/>
              <a:t>α → </a:t>
            </a:r>
            <a:r>
              <a:rPr lang="en-US" sz="2400" dirty="0"/>
              <a:t>B </a:t>
            </a:r>
            <a:r>
              <a:rPr lang="fa-IR" sz="2400" dirty="0"/>
              <a:t>را نتیجه بگیریم</a:t>
            </a:r>
            <a:br>
              <a:rPr lang="fa-IR" sz="2400" dirty="0"/>
            </a:br>
            <a:r>
              <a:rPr lang="fa-IR" sz="2400" dirty="0"/>
              <a:t>(زیرا </a:t>
            </a:r>
            <a:r>
              <a:rPr lang="el-GR" sz="2400" dirty="0"/>
              <a:t>γ </a:t>
            </a:r>
            <a:r>
              <a:rPr lang="fa-IR" sz="2400" dirty="0" err="1"/>
              <a:t>زیرمجموعه</a:t>
            </a:r>
            <a:r>
              <a:rPr lang="fa-IR" sz="2400" dirty="0"/>
              <a:t> </a:t>
            </a:r>
            <a:r>
              <a:rPr lang="el-GR" sz="2400" dirty="0"/>
              <a:t>αβ </a:t>
            </a:r>
            <a:r>
              <a:rPr lang="fa-IR" sz="2400" dirty="0"/>
              <a:t>است، و </a:t>
            </a:r>
            <a:r>
              <a:rPr lang="en-US" sz="2400" dirty="0"/>
              <a:t>B </a:t>
            </a:r>
            <a:r>
              <a:rPr lang="fa-IR" sz="2400" dirty="0"/>
              <a:t>در </a:t>
            </a:r>
            <a:r>
              <a:rPr lang="el-GR" sz="2400" dirty="0"/>
              <a:t>γ </a:t>
            </a:r>
            <a:r>
              <a:rPr lang="fa-IR" sz="2400" dirty="0"/>
              <a:t>نیست، چون </a:t>
            </a:r>
            <a:r>
              <a:rPr lang="el-GR" sz="2400" dirty="0"/>
              <a:t>γ → </a:t>
            </a:r>
            <a:r>
              <a:rPr lang="en-US" sz="2400" dirty="0"/>
              <a:t>B </a:t>
            </a:r>
            <a:r>
              <a:rPr lang="fa-IR" sz="2400" dirty="0"/>
              <a:t>یک </a:t>
            </a:r>
            <a:r>
              <a:rPr lang="fa-IR" sz="2400" dirty="0" err="1"/>
              <a:t>وابستگیِ</a:t>
            </a:r>
            <a:r>
              <a:rPr lang="fa-IR" sz="2400" dirty="0"/>
              <a:t> </a:t>
            </a:r>
            <a:r>
              <a:rPr lang="fa-IR" sz="2400" dirty="0" err="1"/>
              <a:t>غیرِ</a:t>
            </a:r>
            <a:r>
              <a:rPr lang="fa-IR" sz="2400" dirty="0"/>
              <a:t> بدیهی است).</a:t>
            </a:r>
            <a:br>
              <a:rPr lang="fa-IR" sz="2400" dirty="0"/>
            </a:br>
            <a:r>
              <a:rPr lang="fa-IR" sz="2400" dirty="0"/>
              <a:t>در این صورت </a:t>
            </a:r>
            <a:r>
              <a:rPr lang="en-US" sz="2400" dirty="0"/>
              <a:t>B </a:t>
            </a:r>
            <a:r>
              <a:rPr lang="fa-IR" sz="2400" dirty="0"/>
              <a:t>در سمت </a:t>
            </a:r>
            <a:r>
              <a:rPr lang="fa-IR" sz="2400" dirty="0" err="1"/>
              <a:t>راستِ</a:t>
            </a:r>
            <a:r>
              <a:rPr lang="fa-IR" sz="2400" dirty="0"/>
              <a:t> </a:t>
            </a:r>
            <a:r>
              <a:rPr lang="el-GR" sz="2400" dirty="0"/>
              <a:t>α → β </a:t>
            </a:r>
            <a:r>
              <a:rPr lang="fa-IR" sz="2400" dirty="0"/>
              <a:t>زائد خواهد بود؛ و این ممکن نیست چون </a:t>
            </a:r>
            <a:r>
              <a:rPr lang="el-GR" sz="2400" dirty="0"/>
              <a:t>α → β </a:t>
            </a:r>
            <a:r>
              <a:rPr lang="fa-IR" sz="2400" dirty="0"/>
              <a:t>در </a:t>
            </a:r>
            <a:r>
              <a:rPr lang="en-US" sz="2400" dirty="0"/>
              <a:t>Fc </a:t>
            </a:r>
            <a:r>
              <a:rPr lang="fa-IR" sz="2400" dirty="0"/>
              <a:t>قرار دارد.</a:t>
            </a:r>
            <a:br>
              <a:rPr lang="fa-IR" sz="2400" dirty="0"/>
            </a:br>
            <a:r>
              <a:rPr lang="fa-IR" sz="2400" dirty="0"/>
              <a:t>بنابراین، اگر </a:t>
            </a:r>
            <a:r>
              <a:rPr lang="en-US" sz="2400" dirty="0"/>
              <a:t>B </a:t>
            </a:r>
            <a:r>
              <a:rPr lang="fa-IR" sz="2400" dirty="0"/>
              <a:t>در </a:t>
            </a:r>
            <a:r>
              <a:rPr lang="el-GR" sz="2400" dirty="0"/>
              <a:t>β </a:t>
            </a:r>
            <a:r>
              <a:rPr lang="fa-IR" sz="2400" dirty="0"/>
              <a:t>باشد، آنگاه </a:t>
            </a:r>
            <a:r>
              <a:rPr lang="el-GR" sz="2400" dirty="0"/>
              <a:t>γ </a:t>
            </a:r>
            <a:r>
              <a:rPr lang="fa-IR" sz="2400" dirty="0"/>
              <a:t>باید یک </a:t>
            </a:r>
            <a:r>
              <a:rPr lang="fa-IR" sz="2400" b="1" dirty="0" err="1"/>
              <a:t>سوپرکلید</a:t>
            </a:r>
            <a:r>
              <a:rPr lang="fa-IR" sz="2400" dirty="0"/>
              <a:t> باشد و شرط </a:t>
            </a:r>
            <a:r>
              <a:rPr lang="fa-IR" sz="2400" dirty="0" err="1"/>
              <a:t>دومِ</a:t>
            </a:r>
            <a:r>
              <a:rPr lang="fa-IR" sz="2400" dirty="0"/>
              <a:t> 3</a:t>
            </a:r>
            <a:r>
              <a:rPr lang="en-US" sz="2400" dirty="0"/>
              <a:t>NF </a:t>
            </a:r>
            <a:r>
              <a:rPr lang="fa-IR" sz="2400" dirty="0"/>
              <a:t>برقرار </a:t>
            </a:r>
            <a:r>
              <a:rPr lang="fa-IR" sz="2400" dirty="0" err="1"/>
              <a:t>می‌شود</a:t>
            </a:r>
            <a:r>
              <a:rPr lang="fa-IR" sz="2400" dirty="0"/>
              <a:t>.</a:t>
            </a:r>
            <a:endParaRPr lang="en-US" altLang="en-US" sz="2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034" name="Rectangle 2"/>
          <p:cNvSpPr>
            <a:spLocks noGrp="1" noChangeArrowheads="1"/>
          </p:cNvSpPr>
          <p:nvPr>
            <p:ph type="title"/>
          </p:nvPr>
        </p:nvSpPr>
        <p:spPr>
          <a:xfrm>
            <a:off x="682625" y="96838"/>
            <a:ext cx="8069263" cy="565150"/>
          </a:xfrm>
        </p:spPr>
        <p:txBody>
          <a:bodyPr/>
          <a:lstStyle/>
          <a:p>
            <a:pPr>
              <a:defRPr/>
            </a:pPr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Correctness of 3NF Decomposition (Cont</a:t>
            </a:r>
            <a:r>
              <a:rPr lang="en-US" altLang="ja-JP" sz="2800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.)</a:t>
            </a:r>
            <a:endParaRPr lang="en-US" altLang="en-US" sz="2800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05475" name="Rectangle 3"/>
          <p:cNvSpPr>
            <a:spLocks noGrp="1" noChangeArrowheads="1"/>
          </p:cNvSpPr>
          <p:nvPr>
            <p:ph idx="1"/>
          </p:nvPr>
        </p:nvSpPr>
        <p:spPr>
          <a:xfrm>
            <a:off x="790113" y="1136003"/>
            <a:ext cx="7568682" cy="2735012"/>
          </a:xfrm>
        </p:spPr>
        <p:txBody>
          <a:bodyPr/>
          <a:lstStyle/>
          <a:p>
            <a:pPr algn="r" rtl="1"/>
            <a:r>
              <a:rPr lang="en-US" sz="2400" dirty="0"/>
              <a:t>:Case 2 </a:t>
            </a:r>
            <a:r>
              <a:rPr lang="fa-IR" sz="2400" dirty="0"/>
              <a:t>اگر </a:t>
            </a:r>
            <a:r>
              <a:rPr lang="en-US" sz="2400" dirty="0"/>
              <a:t>B </a:t>
            </a:r>
            <a:r>
              <a:rPr lang="fa-IR" sz="2400" dirty="0"/>
              <a:t>در </a:t>
            </a:r>
            <a:r>
              <a:rPr lang="el-GR" sz="2400" dirty="0"/>
              <a:t>α </a:t>
            </a:r>
            <a:r>
              <a:rPr lang="fa-IR" sz="2400" dirty="0"/>
              <a:t>باشد:</a:t>
            </a:r>
            <a:br>
              <a:rPr lang="fa-IR" sz="2400" dirty="0"/>
            </a:br>
            <a:r>
              <a:rPr lang="fa-IR" sz="2400" dirty="0"/>
              <a:t>چون </a:t>
            </a:r>
            <a:r>
              <a:rPr lang="el-GR" sz="2400" dirty="0"/>
              <a:t>α </a:t>
            </a:r>
            <a:r>
              <a:rPr lang="fa-IR" sz="2400" dirty="0"/>
              <a:t>یک کلید کاندیدا است، گزینه سوم در تعریف 3</a:t>
            </a:r>
            <a:r>
              <a:rPr lang="en-US" sz="2400" dirty="0"/>
              <a:t>NF </a:t>
            </a:r>
            <a:r>
              <a:rPr lang="fa-IR" sz="2400" dirty="0" err="1"/>
              <a:t>به‌طور</a:t>
            </a:r>
            <a:r>
              <a:rPr lang="fa-IR" sz="2400" dirty="0"/>
              <a:t> واضح برقرار است.</a:t>
            </a:r>
            <a:br>
              <a:rPr lang="fa-IR" sz="2400" dirty="0"/>
            </a:br>
            <a:r>
              <a:rPr lang="fa-IR" sz="2400" dirty="0"/>
              <a:t>در واقع، </a:t>
            </a:r>
            <a:r>
              <a:rPr lang="fa-IR" sz="2400" dirty="0" err="1"/>
              <a:t>نمی‌توانیم</a:t>
            </a:r>
            <a:r>
              <a:rPr lang="fa-IR" sz="2400" dirty="0"/>
              <a:t> نشان دهیم که </a:t>
            </a:r>
            <a:r>
              <a:rPr lang="el-GR" sz="2400" dirty="0"/>
              <a:t>γ </a:t>
            </a:r>
            <a:r>
              <a:rPr lang="fa-IR" sz="2400" dirty="0"/>
              <a:t>یک </a:t>
            </a:r>
            <a:r>
              <a:rPr lang="fa-IR" sz="2400" dirty="0" err="1"/>
              <a:t>سوپرکلید</a:t>
            </a:r>
            <a:r>
              <a:rPr lang="fa-IR" sz="2400" dirty="0"/>
              <a:t> است.</a:t>
            </a:r>
            <a:br>
              <a:rPr lang="fa-IR" sz="2400" dirty="0"/>
            </a:br>
            <a:r>
              <a:rPr lang="fa-IR" sz="2400" dirty="0"/>
              <a:t>این دقیقاً دلیل وجود گزینه سوم در تعریف 3</a:t>
            </a:r>
            <a:r>
              <a:rPr lang="en-US" sz="2400" dirty="0"/>
              <a:t>NF </a:t>
            </a:r>
            <a:r>
              <a:rPr lang="fa-IR" sz="2400" dirty="0"/>
              <a:t>را نشان </a:t>
            </a:r>
            <a:r>
              <a:rPr lang="fa-IR" sz="2400" dirty="0" err="1"/>
              <a:t>می‌دهد</a:t>
            </a:r>
            <a:r>
              <a:rPr lang="fa-IR" sz="2400" dirty="0"/>
              <a:t>.</a:t>
            </a:r>
            <a:br>
              <a:rPr lang="fa-IR" sz="2400" dirty="0"/>
            </a:br>
            <a:r>
              <a:rPr lang="en-US" sz="2400" dirty="0"/>
              <a:t>Q.E.D.</a:t>
            </a:r>
            <a:endParaRPr lang="en-US" altLang="en-US" sz="2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First Normal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649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139700" y="1054100"/>
                <a:ext cx="8705850" cy="6096000"/>
              </a:xfrm>
            </p:spPr>
            <p:txBody>
              <a:bodyPr/>
              <a:lstStyle/>
              <a:p>
                <a:pPr algn="r" rtl="1"/>
                <a:r>
                  <a:rPr lang="fa-IR" dirty="0"/>
                  <a:t>دامنه (</a:t>
                </a:r>
                <a:r>
                  <a:rPr lang="en-US" dirty="0"/>
                  <a:t>Domain) </a:t>
                </a:r>
                <a:r>
                  <a:rPr lang="fa-IR" b="1" dirty="0"/>
                  <a:t>اتمی</a:t>
                </a:r>
                <a:r>
                  <a:rPr lang="fa-IR" dirty="0"/>
                  <a:t> است اگر عناصر آن به عنوان واحدهای </a:t>
                </a:r>
                <a:r>
                  <a:rPr lang="fa-IR" dirty="0" err="1"/>
                  <a:t>تجزیه‌ناپذیر</a:t>
                </a:r>
                <a:r>
                  <a:rPr lang="fa-IR" dirty="0"/>
                  <a:t> در نظر گرفته شوند.</a:t>
                </a:r>
              </a:p>
              <a:p>
                <a:pPr algn="r" rtl="1"/>
                <a:r>
                  <a:rPr lang="fa-IR" dirty="0" err="1"/>
                  <a:t>نمونه‌هایی</a:t>
                </a:r>
                <a:r>
                  <a:rPr lang="fa-IR" dirty="0"/>
                  <a:t> از </a:t>
                </a:r>
                <a:r>
                  <a:rPr lang="fa-IR" dirty="0" err="1"/>
                  <a:t>دامنه‌های</a:t>
                </a:r>
                <a:r>
                  <a:rPr lang="fa-IR" dirty="0"/>
                  <a:t> </a:t>
                </a:r>
                <a:r>
                  <a:rPr lang="fa-IR" dirty="0" err="1"/>
                  <a:t>غیراتمی</a:t>
                </a:r>
                <a:r>
                  <a:rPr lang="fa-IR" dirty="0"/>
                  <a:t>:</a:t>
                </a:r>
              </a:p>
              <a:p>
                <a:pPr algn="r" rtl="1"/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نام‌ها</a:t>
                </a:r>
                <a:r>
                  <a:rPr lang="fa-IR" dirty="0"/>
                  <a:t>، صفات مرکب</a:t>
                </a:r>
              </a:p>
              <a:p>
                <a:pPr algn="r" rtl="1"/>
                <a:r>
                  <a:rPr lang="fa-IR" dirty="0" err="1"/>
                  <a:t>شماره‌های</a:t>
                </a:r>
                <a:r>
                  <a:rPr lang="fa-IR" dirty="0"/>
                  <a:t> شناسایی مانند </a:t>
                </a:r>
                <a:r>
                  <a:rPr lang="en-US" dirty="0"/>
                  <a:t>CS101 </a:t>
                </a:r>
                <a:r>
                  <a:rPr lang="fa-IR" dirty="0"/>
                  <a:t>که </a:t>
                </a:r>
                <a:r>
                  <a:rPr lang="fa-IR" dirty="0" err="1"/>
                  <a:t>می‌توان</a:t>
                </a:r>
                <a:r>
                  <a:rPr lang="fa-IR" dirty="0"/>
                  <a:t> </a:t>
                </a:r>
                <a:r>
                  <a:rPr lang="fa-IR" dirty="0" err="1"/>
                  <a:t>آن‌ها</a:t>
                </a:r>
                <a:r>
                  <a:rPr lang="fa-IR" dirty="0"/>
                  <a:t> را به </a:t>
                </a:r>
                <a:r>
                  <a:rPr lang="fa-IR" dirty="0" err="1"/>
                  <a:t>بخش‌هایی</a:t>
                </a:r>
                <a:r>
                  <a:rPr lang="fa-IR" dirty="0"/>
                  <a:t> تقسیم کرد</a:t>
                </a:r>
              </a:p>
              <a:p>
                <a:pPr algn="r" rtl="1"/>
                <a:r>
                  <a:rPr lang="fa-IR" dirty="0"/>
                  <a:t>یک طرح </a:t>
                </a:r>
                <a:r>
                  <a:rPr lang="fa-IR" dirty="0" err="1"/>
                  <a:t>رابطه‌ای</a:t>
                </a:r>
                <a:r>
                  <a:rPr lang="fa-IR" dirty="0"/>
                  <a:t> </a:t>
                </a:r>
                <a14:m>
                  <m:oMath xmlns:m="http://schemas.openxmlformats.org/officeDocument/2006/math">
                    <m:r>
                      <a:rPr lang="fa-IR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fa-IR" dirty="0"/>
                  <a:t>در </a:t>
                </a:r>
                <a:r>
                  <a:rPr lang="fa-IR" b="1" dirty="0"/>
                  <a:t>اولین فرم نرمال (1</a:t>
                </a:r>
                <a:r>
                  <a:rPr lang="en-US" b="1" dirty="0"/>
                  <a:t>NF)</a:t>
                </a:r>
                <a:r>
                  <a:rPr lang="en-US" dirty="0"/>
                  <a:t> </a:t>
                </a:r>
                <a:r>
                  <a:rPr lang="fa-IR" dirty="0"/>
                  <a:t>قرار دارد اگر دامنه تمام صفات آن </a:t>
                </a:r>
                <a:r>
                  <a:rPr lang="fa-IR" b="1" dirty="0"/>
                  <a:t>اتمی</a:t>
                </a:r>
                <a:r>
                  <a:rPr lang="fa-IR" dirty="0"/>
                  <a:t> باشد.</a:t>
                </a:r>
              </a:p>
              <a:p>
                <a:pPr algn="r" rtl="1"/>
                <a:r>
                  <a:rPr lang="fa-IR" dirty="0"/>
                  <a:t>مقادیر </a:t>
                </a:r>
                <a:r>
                  <a:rPr lang="fa-IR" dirty="0" err="1"/>
                  <a:t>غیراتمی</a:t>
                </a:r>
                <a:r>
                  <a:rPr lang="fa-IR" dirty="0"/>
                  <a:t> </a:t>
                </a:r>
                <a:r>
                  <a:rPr lang="fa-IR" dirty="0" err="1"/>
                  <a:t>ذخیره‌سازی</a:t>
                </a:r>
                <a:r>
                  <a:rPr lang="fa-IR" dirty="0"/>
                  <a:t> را پیچیده </a:t>
                </a:r>
                <a:r>
                  <a:rPr lang="fa-IR" dirty="0" err="1"/>
                  <a:t>می‌کنند</a:t>
                </a:r>
                <a:r>
                  <a:rPr lang="fa-IR" dirty="0"/>
                  <a:t> و باعث تشویق به </a:t>
                </a:r>
                <a:r>
                  <a:rPr lang="fa-IR" dirty="0" err="1"/>
                  <a:t>ذخیره‌سازی</a:t>
                </a:r>
                <a:r>
                  <a:rPr lang="fa-IR" dirty="0"/>
                  <a:t> </a:t>
                </a:r>
                <a:r>
                  <a:rPr lang="fa-IR" b="1" dirty="0"/>
                  <a:t>تکراری و اضافی</a:t>
                </a:r>
                <a:r>
                  <a:rPr lang="fa-IR" dirty="0"/>
                  <a:t> </a:t>
                </a:r>
                <a:r>
                  <a:rPr lang="fa-IR" dirty="0" err="1"/>
                  <a:t>داده‌ها</a:t>
                </a:r>
                <a:r>
                  <a:rPr lang="fa-IR" dirty="0"/>
                  <a:t> </a:t>
                </a:r>
                <a:r>
                  <a:rPr lang="fa-IR" dirty="0" err="1"/>
                  <a:t>می‌شوند</a:t>
                </a:r>
                <a:r>
                  <a:rPr lang="fa-IR" dirty="0"/>
                  <a:t>.</a:t>
                </a:r>
              </a:p>
              <a:p>
                <a:pPr algn="r" rtl="1"/>
                <a:r>
                  <a:rPr lang="fa-IR" dirty="0"/>
                  <a:t>مثال:</a:t>
                </a:r>
              </a:p>
              <a:p>
                <a:pPr algn="r" rtl="1"/>
                <a:r>
                  <a:rPr lang="fa-IR" dirty="0" err="1"/>
                  <a:t>مجموعه‌ای</a:t>
                </a:r>
                <a:r>
                  <a:rPr lang="fa-IR" dirty="0"/>
                  <a:t> از </a:t>
                </a:r>
                <a:r>
                  <a:rPr lang="fa-IR" dirty="0" err="1"/>
                  <a:t>حساب‌ها</a:t>
                </a:r>
                <a:r>
                  <a:rPr lang="fa-IR" dirty="0"/>
                  <a:t> که برای هر مشتری ذخیره شده است</a:t>
                </a:r>
              </a:p>
              <a:p>
                <a:pPr algn="r" rtl="1"/>
                <a:r>
                  <a:rPr lang="fa-IR" dirty="0" err="1"/>
                  <a:t>مجموعه‌ای</a:t>
                </a:r>
                <a:r>
                  <a:rPr lang="fa-IR" dirty="0"/>
                  <a:t> از مالکین که برای هر حساب ذخیره شده است</a:t>
                </a:r>
              </a:p>
              <a:p>
                <a:pPr algn="r" rtl="1"/>
                <a:r>
                  <a:rPr lang="fa-IR" dirty="0"/>
                  <a:t>ما فرض </a:t>
                </a:r>
                <a:r>
                  <a:rPr lang="fa-IR" dirty="0" err="1"/>
                  <a:t>می‌کنیم</a:t>
                </a:r>
                <a:r>
                  <a:rPr lang="fa-IR" dirty="0"/>
                  <a:t> که تمام روابط در </a:t>
                </a:r>
                <a:r>
                  <a:rPr lang="fa-IR" b="1" dirty="0"/>
                  <a:t>اولین فرم نرمال</a:t>
                </a:r>
                <a:r>
                  <a:rPr lang="fa-IR" dirty="0"/>
                  <a:t> قرار دارند</a:t>
                </a:r>
                <a:br>
                  <a:rPr lang="fa-IR" dirty="0"/>
                </a:br>
                <a:r>
                  <a:rPr lang="fa-IR" dirty="0"/>
                  <a:t>(و این موضوع در فصل ۲۲: </a:t>
                </a:r>
                <a:r>
                  <a:rPr lang="fa-IR" dirty="0" err="1"/>
                  <a:t>پایگاه‌های</a:t>
                </a:r>
                <a:r>
                  <a:rPr lang="fa-IR" dirty="0"/>
                  <a:t> داده مبتنی بر </a:t>
                </a:r>
                <a:r>
                  <a:rPr lang="fa-IR" dirty="0" err="1"/>
                  <a:t>شیء</a:t>
                </a:r>
                <a:r>
                  <a:rPr lang="fa-IR" dirty="0"/>
                  <a:t> دوباره بررسی خواهد شد).</a:t>
                </a:r>
              </a:p>
              <a:p>
                <a:pPr algn="r" rtl="1"/>
                <a:endParaRPr lang="en-US" altLang="en-US" dirty="0"/>
              </a:p>
            </p:txBody>
          </p:sp>
        </mc:Choice>
        <mc:Fallback>
          <p:sp>
            <p:nvSpPr>
              <p:cNvPr id="10649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700" y="1054100"/>
                <a:ext cx="8705850" cy="6096000"/>
              </a:xfrm>
              <a:blipFill>
                <a:blip r:embed="rId3"/>
                <a:stretch>
                  <a:fillRect t="-1200" r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04775"/>
            <a:ext cx="8077200" cy="609600"/>
          </a:xfrm>
        </p:spPr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First Normal Form (Cont</a:t>
            </a: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  <a:ea typeface="ＭＳ Ｐゴシック" pitchFamily="34" charset="-128"/>
              </a:rPr>
              <a:t>.</a:t>
            </a:r>
            <a:r>
              <a:rPr lang="en-US" altLang="ja-JP" dirty="0"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pitchFamily="34" charset="-128"/>
              </a:rPr>
              <a:t>)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  <a:ea typeface="ＭＳ Ｐゴシック" pitchFamily="34" charset="-128"/>
            </a:endParaRPr>
          </a:p>
        </p:txBody>
      </p:sp>
      <p:sp>
        <p:nvSpPr>
          <p:cNvPr id="107523" name="Rectangle 3"/>
          <p:cNvSpPr>
            <a:spLocks noGrp="1" noChangeArrowheads="1"/>
          </p:cNvSpPr>
          <p:nvPr>
            <p:ph idx="1"/>
          </p:nvPr>
        </p:nvSpPr>
        <p:spPr>
          <a:xfrm>
            <a:off x="1019537" y="840071"/>
            <a:ext cx="7743463" cy="3055854"/>
          </a:xfrm>
        </p:spPr>
        <p:txBody>
          <a:bodyPr/>
          <a:lstStyle/>
          <a:p>
            <a:pPr marL="0" indent="0" algn="r" rtl="1">
              <a:buNone/>
            </a:pPr>
            <a:endParaRPr lang="fa-IR" sz="2400" dirty="0"/>
          </a:p>
          <a:p>
            <a:pPr algn="r" rtl="1"/>
            <a:r>
              <a:rPr lang="fa-IR" sz="2400" dirty="0"/>
              <a:t>اتمی بودن در واقع </a:t>
            </a:r>
            <a:r>
              <a:rPr lang="fa-IR" sz="2400" b="1" dirty="0"/>
              <a:t>ویژگی نحوه استفاده از عناصر دامنه</a:t>
            </a:r>
            <a:r>
              <a:rPr lang="fa-IR" sz="2400" dirty="0"/>
              <a:t> است.</a:t>
            </a:r>
          </a:p>
          <a:p>
            <a:pPr algn="r" rtl="1"/>
            <a:r>
              <a:rPr lang="fa-IR" sz="2400" dirty="0"/>
              <a:t>مثال: </a:t>
            </a:r>
            <a:r>
              <a:rPr lang="fa-IR" sz="2400" dirty="0" err="1"/>
              <a:t>رشته‌ها</a:t>
            </a:r>
            <a:r>
              <a:rPr lang="fa-IR" sz="2400" dirty="0"/>
              <a:t> معمولاً به عنوان واحدهای </a:t>
            </a:r>
            <a:r>
              <a:rPr lang="fa-IR" sz="2400" dirty="0" err="1"/>
              <a:t>تجزیه‌ناپذیر</a:t>
            </a:r>
            <a:r>
              <a:rPr lang="fa-IR" sz="2400" dirty="0"/>
              <a:t> در نظر گرفته </a:t>
            </a:r>
            <a:r>
              <a:rPr lang="fa-IR" sz="2400" dirty="0" err="1"/>
              <a:t>می‌شوند</a:t>
            </a:r>
            <a:r>
              <a:rPr lang="fa-IR" sz="2400" dirty="0"/>
              <a:t>.</a:t>
            </a:r>
          </a:p>
          <a:p>
            <a:pPr algn="r" rtl="1"/>
            <a:r>
              <a:rPr lang="fa-IR" sz="2400" dirty="0"/>
              <a:t>فرض کنید به دانشجویان شماره دانشجویی داده </a:t>
            </a:r>
            <a:r>
              <a:rPr lang="fa-IR" sz="2400" dirty="0" err="1"/>
              <a:t>می‌شود</a:t>
            </a:r>
            <a:r>
              <a:rPr lang="fa-IR" sz="2400" dirty="0"/>
              <a:t> که </a:t>
            </a:r>
            <a:r>
              <a:rPr lang="fa-IR" sz="2400" dirty="0" err="1"/>
              <a:t>رشته‌هایی</a:t>
            </a:r>
            <a:r>
              <a:rPr lang="fa-IR" sz="2400" dirty="0"/>
              <a:t> به شکل </a:t>
            </a:r>
            <a:r>
              <a:rPr lang="en-US" sz="2400" dirty="0"/>
              <a:t>CS0012 </a:t>
            </a:r>
            <a:r>
              <a:rPr lang="fa-IR" sz="2400" dirty="0"/>
              <a:t>یا </a:t>
            </a:r>
            <a:r>
              <a:rPr lang="en-US" sz="2400" dirty="0"/>
              <a:t>EE1127 </a:t>
            </a:r>
            <a:r>
              <a:rPr lang="fa-IR" sz="2400" dirty="0"/>
              <a:t>هستند.</a:t>
            </a:r>
          </a:p>
          <a:p>
            <a:pPr algn="r" rtl="1"/>
            <a:r>
              <a:rPr lang="fa-IR" sz="2400" dirty="0"/>
              <a:t>اگر دو حرف اول استخراج شوند تا دپارتمان مشخص شود، آنگاه دامنه </a:t>
            </a:r>
            <a:r>
              <a:rPr lang="fa-IR" sz="2400" dirty="0" err="1"/>
              <a:t>شماره‌های</a:t>
            </a:r>
            <a:r>
              <a:rPr lang="fa-IR" sz="2400" dirty="0"/>
              <a:t> دانشجویی </a:t>
            </a:r>
            <a:r>
              <a:rPr lang="fa-IR" sz="2400" b="1" dirty="0"/>
              <a:t>اتمی نیست</a:t>
            </a:r>
            <a:r>
              <a:rPr lang="fa-IR" sz="2400" dirty="0"/>
              <a:t>.</a:t>
            </a:r>
          </a:p>
          <a:p>
            <a:pPr algn="r" rtl="1"/>
            <a:r>
              <a:rPr lang="fa-IR" sz="2400" dirty="0"/>
              <a:t>انجام چنین کاری ایده خوبی نیست، زیرا باعث </a:t>
            </a:r>
            <a:r>
              <a:rPr lang="fa-IR" sz="2400" dirty="0" err="1"/>
              <a:t>می‌شود</a:t>
            </a:r>
            <a:r>
              <a:rPr lang="fa-IR" sz="2400" dirty="0"/>
              <a:t> اطلاعات در </a:t>
            </a:r>
            <a:r>
              <a:rPr lang="fa-IR" sz="2400" b="1" dirty="0"/>
              <a:t>برنامه کاربردی</a:t>
            </a:r>
            <a:r>
              <a:rPr lang="fa-IR" sz="2400" dirty="0"/>
              <a:t> </a:t>
            </a:r>
            <a:r>
              <a:rPr lang="fa-IR" sz="2400" dirty="0" err="1"/>
              <a:t>کدگذاری</a:t>
            </a:r>
            <a:r>
              <a:rPr lang="fa-IR" sz="2400" dirty="0"/>
              <a:t> شود، نه در </a:t>
            </a:r>
            <a:r>
              <a:rPr lang="fa-IR" sz="2400" b="1" dirty="0"/>
              <a:t>پایگاه داده</a:t>
            </a:r>
            <a:r>
              <a:rPr lang="fa-IR" sz="2400" dirty="0"/>
              <a:t>.</a:t>
            </a:r>
          </a:p>
          <a:p>
            <a:pPr algn="r" rtl="1"/>
            <a:endParaRPr lang="en-US" alt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db-5-grey">
  <a:themeElements>
    <a:clrScheme name="">
      <a:dk1>
        <a:srgbClr val="000000"/>
      </a:dk1>
      <a:lt1>
        <a:srgbClr val="CCECFF"/>
      </a:lt1>
      <a:dk2>
        <a:srgbClr val="CC3300"/>
      </a:dk2>
      <a:lt2>
        <a:srgbClr val="666699"/>
      </a:lt2>
      <a:accent1>
        <a:srgbClr val="FFFFFF"/>
      </a:accent1>
      <a:accent2>
        <a:srgbClr val="CCCC00"/>
      </a:accent2>
      <a:accent3>
        <a:srgbClr val="E2F4FF"/>
      </a:accent3>
      <a:accent4>
        <a:srgbClr val="000000"/>
      </a:accent4>
      <a:accent5>
        <a:srgbClr val="FFFFFF"/>
      </a:accent5>
      <a:accent6>
        <a:srgbClr val="B9B900"/>
      </a:accent6>
      <a:hlink>
        <a:srgbClr val="FF9900"/>
      </a:hlink>
      <a:folHlink>
        <a:srgbClr val="FF9933"/>
      </a:folHlink>
    </a:clrScheme>
    <a:fontScheme name="2_db-5-grey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lnDef>
  </a:objectDefaults>
  <a:extraClrSchemeLst>
    <a:extraClrScheme>
      <a:clrScheme name="2_db-5-grey 1">
        <a:dk1>
          <a:srgbClr val="333333"/>
        </a:dk1>
        <a:lt1>
          <a:srgbClr val="A9BDA9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D1DBD1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2">
        <a:dk1>
          <a:srgbClr val="333333"/>
        </a:dk1>
        <a:lt1>
          <a:srgbClr val="FFFFFF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FFFFFF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37373"/>
        </a:accent6>
        <a:hlink>
          <a:srgbClr val="B2B2B2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96391</TotalTime>
  <Words>11630</Words>
  <Application>Microsoft Office PowerPoint</Application>
  <PresentationFormat>On-screen Show (4:3)</PresentationFormat>
  <Paragraphs>883</Paragraphs>
  <Slides>102</Slides>
  <Notes>101</Notes>
  <HiddenSlides>8</HiddenSlides>
  <MMClips>0</MMClips>
  <ScaleCrop>false</ScaleCrop>
  <HeadingPairs>
    <vt:vector size="8" baseType="variant">
      <vt:variant>
        <vt:lpstr>Fonts Used</vt:lpstr>
      </vt:variant>
      <vt:variant>
        <vt:i4>18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102</vt:i4>
      </vt:variant>
      <vt:variant>
        <vt:lpstr>Custom Shows</vt:lpstr>
      </vt:variant>
      <vt:variant>
        <vt:i4>1</vt:i4>
      </vt:variant>
    </vt:vector>
  </HeadingPairs>
  <TitlesOfParts>
    <vt:vector size="122" baseType="lpstr">
      <vt:lpstr>ＭＳ Ｐゴシック</vt:lpstr>
      <vt:lpstr>Arial</vt:lpstr>
      <vt:lpstr>B Nazanin</vt:lpstr>
      <vt:lpstr>Calibri</vt:lpstr>
      <vt:lpstr>Cambria Math</vt:lpstr>
      <vt:lpstr>Comic Sans MS</vt:lpstr>
      <vt:lpstr>Consolas</vt:lpstr>
      <vt:lpstr>Greek Symbols</vt:lpstr>
      <vt:lpstr>Helvetica</vt:lpstr>
      <vt:lpstr>Iconic Symbols Ext</vt:lpstr>
      <vt:lpstr>Monotype Sorts</vt:lpstr>
      <vt:lpstr>MS LineDraw</vt:lpstr>
      <vt:lpstr>Söhne</vt:lpstr>
      <vt:lpstr>Symbol</vt:lpstr>
      <vt:lpstr>Times</vt:lpstr>
      <vt:lpstr>Times New Roman</vt:lpstr>
      <vt:lpstr>Webdings</vt:lpstr>
      <vt:lpstr>Wingdings</vt:lpstr>
      <vt:lpstr>3_db-5-grey</vt:lpstr>
      <vt:lpstr>اصول طراحی پایگاه داده </vt:lpstr>
      <vt:lpstr>فصل ۷: نرمال‌سازی</vt:lpstr>
      <vt:lpstr>سرفصل‌ها</vt:lpstr>
      <vt:lpstr>PowerPoint Presentation</vt:lpstr>
      <vt:lpstr>ویژگی‌های یک طراحی رابطه‌ای خوب</vt:lpstr>
      <vt:lpstr>یک شِمای ترکیبی بدون تکرار</vt:lpstr>
      <vt:lpstr>تجزیه (Decomposition)</vt:lpstr>
      <vt:lpstr>یک تجزیه دارای اتلاف</vt:lpstr>
      <vt:lpstr>تجزیه بدون اتلاف</vt:lpstr>
      <vt:lpstr>مثال یک تجزیه بدون اتلاف</vt:lpstr>
      <vt:lpstr>تئوری نرمال‌سازی</vt:lpstr>
      <vt:lpstr>وابستگی‌های تابعی</vt:lpstr>
      <vt:lpstr>وابستگی‌های تابعی – ادامه</vt:lpstr>
      <vt:lpstr>مفهوم وابستگی‌های تابعی </vt:lpstr>
      <vt:lpstr>بسته مجموعه‌ای از وابستگی‌های تابعی</vt:lpstr>
      <vt:lpstr>کلیدها و وابستگی‌های تابعی</vt:lpstr>
      <vt:lpstr>Use of Functional Dependencies</vt:lpstr>
      <vt:lpstr>Trivial Functional Dependencies</vt:lpstr>
      <vt:lpstr>Lossless Decomposition</vt:lpstr>
      <vt:lpstr>Example</vt:lpstr>
      <vt:lpstr>Dependency Preservation</vt:lpstr>
      <vt:lpstr>Dependency Preservation Example</vt:lpstr>
      <vt:lpstr>PowerPoint Presentation</vt:lpstr>
      <vt:lpstr>Boyce-Codd Normal Form</vt:lpstr>
      <vt:lpstr>Boyce-Codd Normal Form (Cont.)</vt:lpstr>
      <vt:lpstr>Decomposing a Schema into BCNF</vt:lpstr>
      <vt:lpstr>Example</vt:lpstr>
      <vt:lpstr>BCNF and Dependency Preservation</vt:lpstr>
      <vt:lpstr>Third Normal Form</vt:lpstr>
      <vt:lpstr>3NF Example</vt:lpstr>
      <vt:lpstr>Redundancy in 3NF</vt:lpstr>
      <vt:lpstr>Comparison of BCNF and 3NF</vt:lpstr>
      <vt:lpstr>Goals of Normalization</vt:lpstr>
      <vt:lpstr>How good is BCNF?</vt:lpstr>
      <vt:lpstr>How good is BCNF? (Cont.)</vt:lpstr>
      <vt:lpstr>Higher Normal Forms </vt:lpstr>
      <vt:lpstr>PowerPoint Presentation</vt:lpstr>
      <vt:lpstr>Functional-Dependency Theory Roadmap</vt:lpstr>
      <vt:lpstr>Closure of a Set of Functional Dependencies</vt:lpstr>
      <vt:lpstr>Closure of a Set of Functional Dependencies</vt:lpstr>
      <vt:lpstr>Example of  F+</vt:lpstr>
      <vt:lpstr>Closure of Functional Dependencies (Cont.)</vt:lpstr>
      <vt:lpstr>Procedure for Computing F+</vt:lpstr>
      <vt:lpstr>Closure of Attribute Sets</vt:lpstr>
      <vt:lpstr>Example of Attribute Set Closure</vt:lpstr>
      <vt:lpstr>Uses of Attribute Closure</vt:lpstr>
      <vt:lpstr>Canonical Cover</vt:lpstr>
      <vt:lpstr>Extraneous Attributes</vt:lpstr>
      <vt:lpstr>Extraneous Attributes (Cont.)</vt:lpstr>
      <vt:lpstr>Extraneous Attributes</vt:lpstr>
      <vt:lpstr>Testing if an Attribute is Extraneous</vt:lpstr>
      <vt:lpstr>Examples of Extraneous Attributes</vt:lpstr>
      <vt:lpstr>Canonical Cover</vt:lpstr>
      <vt:lpstr>Canonical Cover</vt:lpstr>
      <vt:lpstr>Example: Computing a Canonical Cover</vt:lpstr>
      <vt:lpstr>Dependency Preservation</vt:lpstr>
      <vt:lpstr>Dependency Preservation (Cont.)</vt:lpstr>
      <vt:lpstr>Testing for Dependency Preservation</vt:lpstr>
      <vt:lpstr>Example</vt:lpstr>
      <vt:lpstr>PowerPoint Presentation</vt:lpstr>
      <vt:lpstr>Testing for BCNF</vt:lpstr>
      <vt:lpstr>Testing Decomposition for BCNF</vt:lpstr>
      <vt:lpstr>BCNF Decomposition Algorithm</vt:lpstr>
      <vt:lpstr>Example of BCNF Decomposition</vt:lpstr>
      <vt:lpstr>BCNF Decomposition (Cont.)</vt:lpstr>
      <vt:lpstr>Third Normal Form</vt:lpstr>
      <vt:lpstr>3NF Example -- Relation dept_advisor</vt:lpstr>
      <vt:lpstr>Testing for 3NF</vt:lpstr>
      <vt:lpstr>3NF Decomposition Algorithm</vt:lpstr>
      <vt:lpstr>3NF Decomposition Algorithm (Cont.)</vt:lpstr>
      <vt:lpstr>3NF Decomposition: An Example</vt:lpstr>
      <vt:lpstr>3NF Decompsition Example (Cont.)</vt:lpstr>
      <vt:lpstr>Comparison of BCNF and 3NF</vt:lpstr>
      <vt:lpstr>Design Goals</vt:lpstr>
      <vt:lpstr>PowerPoint Presentation</vt:lpstr>
      <vt:lpstr>Multivalued Dependencies (MVDs)</vt:lpstr>
      <vt:lpstr>Multivalued Dependencies</vt:lpstr>
      <vt:lpstr>MVD -- Tabular representation </vt:lpstr>
      <vt:lpstr>MVD (Cont.)</vt:lpstr>
      <vt:lpstr>Example</vt:lpstr>
      <vt:lpstr>Use of Multivalued Dependencies</vt:lpstr>
      <vt:lpstr>Theory of MVDs</vt:lpstr>
      <vt:lpstr>Fourth Normal Form</vt:lpstr>
      <vt:lpstr>Restriction of Multivalued Dependencies</vt:lpstr>
      <vt:lpstr>4NF Decomposition Algorithm</vt:lpstr>
      <vt:lpstr>Example</vt:lpstr>
      <vt:lpstr>PowerPoint Presentation</vt:lpstr>
      <vt:lpstr>Further Normal Forms</vt:lpstr>
      <vt:lpstr>Overall Database Design Process</vt:lpstr>
      <vt:lpstr>ER Model and Normalization</vt:lpstr>
      <vt:lpstr>Denormalization for Performance</vt:lpstr>
      <vt:lpstr>Other Design Issues</vt:lpstr>
      <vt:lpstr>Modeling Temporal Data</vt:lpstr>
      <vt:lpstr>Modeling Temporal Data (Cont.)</vt:lpstr>
      <vt:lpstr>پایان فصل ۷</vt:lpstr>
      <vt:lpstr>PowerPoint Presentation</vt:lpstr>
      <vt:lpstr>Correctness of 3NF Decomposition Algorithm</vt:lpstr>
      <vt:lpstr>Correctness of 3NF Decomposition Algorithm (Cont.)</vt:lpstr>
      <vt:lpstr>Correctness of 3NF Decomposition (Cont.)</vt:lpstr>
      <vt:lpstr>Correctness of 3NF Decomposition (Cont.)</vt:lpstr>
      <vt:lpstr>First Normal Form</vt:lpstr>
      <vt:lpstr>First Normal Form (Cont.)</vt:lpstr>
      <vt:lpstr>Custom Show 1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 Relational Database Design</dc:title>
  <dc:creator>Marilyn Turnamian</dc:creator>
  <cp:lastModifiedBy>Hana siadaty</cp:lastModifiedBy>
  <cp:revision>487</cp:revision>
  <cp:lastPrinted>1999-06-28T19:27:31Z</cp:lastPrinted>
  <dcterms:created xsi:type="dcterms:W3CDTF">2009-12-21T15:40:22Z</dcterms:created>
  <dcterms:modified xsi:type="dcterms:W3CDTF">2025-12-07T07:21:27Z</dcterms:modified>
</cp:coreProperties>
</file>